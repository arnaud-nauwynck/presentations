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sldSz cx="12192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xmlns:p="http://schemas.openxmlformats.org/presentationml/2006/main"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theme" Target="theme/theme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F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395B21-E8EE-4505-87E0-7B7F2C3DBBD0}" type="datetimeFigureOut">
              <a:rPr lang="fr-FR"/>
              <a:t>09/12/2025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DC6D5D-A00E-4AA9-84F2-364CBECE0EEA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609E6-1126-4CCC-8F95-892B304C12E9}" type="datetimeFigureOut">
              <a:rPr lang="fr-FR"/>
              <a:t>09/12/2025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D0F9E-EF7E-4C26-8662-25A73F2263DD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3082BF-5467-4883-8896-824F7369BC9A}" type="datetimeFigureOut">
              <a:rPr lang="fr-FR"/>
              <a:t>09/12/2025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C18080-B33E-4073-8615-72D8F5AE8F78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66248-C912-41CA-84D9-08E1C7982093}" type="datetimeFigureOut">
              <a:rPr lang="fr-FR"/>
              <a:t>09/12/2025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CB9569-04AF-4288-8880-64CE52ABE7A3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FB636-F4D9-4299-85F9-44D23E27C49C}" type="datetimeFigureOut">
              <a:rPr lang="fr-FR"/>
              <a:t>09/12/2025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533E07-937E-4FED-8300-891295843456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CAC346-E4DF-45C0-848B-E2AC5513E0D5}" type="datetimeFigureOut">
              <a:rPr lang="fr-FR"/>
              <a:t>09/12/2025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28B55B-FA15-48BA-860D-0231187503D9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0B29E-DC2A-4D67-887F-3BE2DC8489D6}" type="datetimeFigureOut">
              <a:rPr lang="fr-FR"/>
              <a:t>09/12/2025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E0EBC0-ADA9-4FA7-889C-9287646BC794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C563BD-7186-488E-816C-8F41FA24179F}" type="datetimeFigureOut">
              <a:rPr lang="fr-FR"/>
              <a:t>09/12/2025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25AB8-FB3A-479C-8780-0B7E5F586C0F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02C48-70E8-4C8D-81F4-17FB598144B8}" type="datetimeFigureOut">
              <a:rPr lang="fr-FR"/>
              <a:t>09/12/2025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C29A-6C4F-4141-86E3-1A3E2D58E3A2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602B83-4DFE-444B-8222-D5FF1EA6B44C}" type="datetimeFigureOut">
              <a:rPr lang="fr-FR"/>
              <a:t>09/12/2025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19C649-D3E0-46CB-87C1-67136E4226A6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FA40F9-1701-4EB4-806D-4ED861E7A003}" type="datetimeFigureOut">
              <a:rPr lang="fr-FR"/>
              <a:t>09/12/2025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EBE78A-EB3E-401E-81B5-D7F53201DAF3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Office Them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ADADCF-DC63-475D-8D69-AEBF4EDF3BBC}" type="datetimeFigureOut">
              <a:rPr lang="fr-FR"/>
              <a:t>09/12/2025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3D6AB1-0FDA-49F1-8390-8828CE9E6676}" type="slidenum">
              <a:rPr lang="fr-FR"/>
              <a:t>‹N°›</a:t>
            </a:fld>
            <a:endParaRPr lang="fr-F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2.png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3.png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3.png"/><Relationship Id="rId3" Type="http://schemas.openxmlformats.org/officeDocument/2006/relationships/image" Target="../media/image26.png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6.png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3.png"/><Relationship Id="rId3" Type="http://schemas.openxmlformats.org/officeDocument/2006/relationships/image" Target="../media/image26.png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7.png"/><Relationship Id="rId3" Type="http://schemas.openxmlformats.org/officeDocument/2006/relationships/hyperlink" Target="file:///C:\apps\spark\spark-eventLog" TargetMode="Externa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0.png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1.png"/><Relationship Id="rId3" Type="http://schemas.openxmlformats.org/officeDocument/2006/relationships/hyperlink" Target="https://github.com/apache/spark/blob/master/core/src/main/scala/org/apache/spark/util/JsonProtocol.scala" TargetMode="External"/><Relationship Id="rId4" Type="http://schemas.openxmlformats.org/officeDocument/2006/relationships/image" Target="../media/image32.png"/><Relationship Id="rId5" Type="http://schemas.openxmlformats.org/officeDocument/2006/relationships/hyperlink" Target="https://github.com/apache/spark/blob/master/core/src/main/scala/org/apache/spark/scheduler/SparkListener.scala" TargetMode="Externa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3.png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4.png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7.png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8.png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1.png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8" descr="Apache Spark — Wikipédia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54900" y="157623"/>
            <a:ext cx="3796019" cy="1970766"/>
          </a:xfrm>
          <a:prstGeom prst="rect">
            <a:avLst/>
          </a:prstGeom>
          <a:noFill/>
        </p:spPr>
      </p:pic>
      <p:sp>
        <p:nvSpPr>
          <p:cNvPr id="5" name="Title 1"/>
          <p:cNvSpPr txBox="1"/>
          <p:nvPr/>
        </p:nvSpPr>
        <p:spPr>
          <a:xfrm>
            <a:off x="1051543" y="5692945"/>
            <a:ext cx="10578471" cy="1007432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2400"/>
              <a:t>This document:</a:t>
            </a:r>
          </a:p>
          <a:p>
            <a:r>
              <a:rPr lang="fr-FR" sz="2400"/>
              <a:t>https://github.com/Arnaud-Nauwynck/presentations/</a:t>
            </a:r>
            <a:br>
              <a:rPr lang="fr-FR" sz="2400"/>
            </a:br>
            <a:r>
              <a:rPr lang="fr-FR" sz="2400"/>
              <a:t> /</a:t>
            </a:r>
            <a:r>
              <a:rPr lang="fr-FR" sz="2400"/>
              <a:t>pres-bigdata</a:t>
            </a:r>
            <a:r>
              <a:rPr lang="fr-FR" sz="2400"/>
              <a:t>/12-sparkui-internals-plan-job-stage-task</a:t>
            </a:r>
            <a:endParaRPr lang="fr-FR" sz="2400"/>
          </a:p>
        </p:txBody>
      </p:sp>
      <p:sp>
        <p:nvSpPr>
          <p:cNvPr id="6" name="TextBox 5"/>
          <p:cNvSpPr txBox="1"/>
          <p:nvPr/>
        </p:nvSpPr>
        <p:spPr>
          <a:xfrm>
            <a:off x="3012828" y="2128389"/>
            <a:ext cx="7803035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4400"/>
              <a:t>Spark UI, </a:t>
            </a:r>
            <a:r>
              <a:rPr lang="fr-FR" sz="4400"/>
              <a:t>Optimizer</a:t>
            </a:r>
            <a:r>
              <a:rPr lang="fr-FR" sz="4400"/>
              <a:t> </a:t>
            </a:r>
          </a:p>
          <a:p>
            <a:pPr algn="ctr"/>
            <a:r>
              <a:rPr lang="fr-FR" sz="4400"/>
              <a:t>&amp; </a:t>
            </a:r>
            <a:r>
              <a:rPr lang="fr-FR" sz="4400"/>
              <a:t>Internal</a:t>
            </a:r>
            <a:r>
              <a:rPr lang="fr-FR" sz="4400"/>
              <a:t> concepts </a:t>
            </a:r>
          </a:p>
          <a:p>
            <a:pPr algn="ctr"/>
            <a:r>
              <a:rPr lang="fr-FR" sz="4400"/>
              <a:t>(</a:t>
            </a:r>
            <a:r>
              <a:rPr lang="fr-FR" sz="4400"/>
              <a:t>PhysicalPlan</a:t>
            </a:r>
            <a:r>
              <a:rPr lang="fr-FR" sz="4400"/>
              <a:t>, Jobs, Stages, </a:t>
            </a:r>
            <a:r>
              <a:rPr lang="fr-FR" sz="4400"/>
              <a:t>Tasks</a:t>
            </a:r>
            <a:r>
              <a:rPr lang="fr-FR" sz="4400"/>
              <a:t>)</a:t>
            </a:r>
          </a:p>
        </p:txBody>
      </p:sp>
      <p:sp>
        <p:nvSpPr>
          <p:cNvPr id="36965" name="TextBox 4"/>
          <p:cNvSpPr txBox="1"/>
          <p:nvPr/>
        </p:nvSpPr>
        <p:spPr>
          <a:xfrm>
            <a:off x="3517171" y="4800600"/>
            <a:ext cx="5647216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r-FR" sz="2000"/>
              <a:t>arnaud.nauwynck@gmail.com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626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Outline</a:t>
            </a:r>
            <a:endParaRPr lang="fr-FR"/>
          </a:p>
        </p:txBody>
      </p:sp>
      <p:sp>
        <p:nvSpPr>
          <p:cNvPr id="4" name="TextBox 3"/>
          <p:cNvSpPr txBox="1"/>
          <p:nvPr/>
        </p:nvSpPr>
        <p:spPr>
          <a:xfrm>
            <a:off x="1813559" y="2270760"/>
            <a:ext cx="9711827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/>
              <a:t>What’s</a:t>
            </a:r>
            <a:r>
              <a:rPr lang="fr-FR" sz="2800"/>
              <a:t> visible </a:t>
            </a:r>
            <a:r>
              <a:rPr lang="fr-FR" sz="2800"/>
              <a:t>from</a:t>
            </a:r>
            <a:r>
              <a:rPr lang="fr-FR" sz="2800"/>
              <a:t> Spark-</a:t>
            </a:r>
            <a:r>
              <a:rPr lang="fr-FR" sz="2800"/>
              <a:t>ui</a:t>
            </a:r>
            <a:endParaRPr lang="fr-FR" sz="2800"/>
          </a:p>
          <a:p>
            <a:endParaRPr lang="fr-FR" sz="2800"/>
          </a:p>
          <a:p>
            <a:r>
              <a:rPr lang="fr-FR" sz="2800"/>
              <a:t>The concepts </a:t>
            </a:r>
            <a:r>
              <a:rPr lang="fr-FR" sz="2800"/>
              <a:t>behind</a:t>
            </a:r>
            <a:r>
              <a:rPr lang="fr-FR" sz="2800"/>
              <a:t> </a:t>
            </a:r>
            <a:r>
              <a:rPr lang="fr-FR" sz="2800"/>
              <a:t>Dataset</a:t>
            </a:r>
            <a:r>
              <a:rPr lang="fr-FR" sz="2800"/>
              <a:t>/RDD </a:t>
            </a:r>
            <a:r>
              <a:rPr lang="fr-FR" sz="2800"/>
              <a:t>execution</a:t>
            </a:r>
            <a:r>
              <a:rPr lang="fr-FR" sz="2800"/>
              <a:t> : Job, Stage, </a:t>
            </a:r>
            <a:r>
              <a:rPr lang="fr-FR" sz="2800"/>
              <a:t>Task</a:t>
            </a:r>
            <a:endParaRPr lang="fr-FR" sz="2800"/>
          </a:p>
          <a:p>
            <a:endParaRPr lang="fr-FR" sz="2800"/>
          </a:p>
          <a:p>
            <a:r>
              <a:rPr lang="fr-FR" sz="2800"/>
              <a:t>The architecture of </a:t>
            </a:r>
            <a:r>
              <a:rPr lang="fr-FR" sz="2800"/>
              <a:t>deployment</a:t>
            </a:r>
            <a:r>
              <a:rPr lang="fr-FR" sz="2800"/>
              <a:t> :  Client, Driver, </a:t>
            </a:r>
            <a:r>
              <a:rPr lang="fr-FR" sz="2800"/>
              <a:t>Executor</a:t>
            </a:r>
            <a:endParaRPr lang="fr-FR" sz="2800"/>
          </a:p>
          <a:p>
            <a:endParaRPr lang="fr-FR" sz="28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5360" y="0"/>
            <a:ext cx="10515600" cy="132556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Spark-</a:t>
            </a:r>
            <a:r>
              <a:rPr lang="fr-FR"/>
              <a:t>ui</a:t>
            </a:r>
            <a:endParaRPr lang="fr-FR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31362" y="1395734"/>
            <a:ext cx="6690360" cy="2175916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5332055"/>
            <a:ext cx="12192000" cy="11275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037080" y="3901026"/>
            <a:ext cx="820000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7200"/>
              <a:t>http://localhost:4040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93394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spark-ui</a:t>
            </a:r>
            <a:r>
              <a:rPr lang="fr-FR"/>
              <a:t>  [1/6]: Jobs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249680" y="1704975"/>
            <a:ext cx="9692640" cy="436737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009396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Spark-</a:t>
            </a:r>
            <a:r>
              <a:rPr lang="fr-FR"/>
              <a:t>ui</a:t>
            </a:r>
            <a:r>
              <a:rPr lang="fr-FR"/>
              <a:t> [1/6]: Job </a:t>
            </a:r>
            <a:r>
              <a:rPr lang="fr-FR"/>
              <a:t>details</a:t>
            </a:r>
            <a:r>
              <a:rPr lang="fr-FR"/>
              <a:t>  DAG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938020" y="1141440"/>
            <a:ext cx="8315960" cy="567882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111758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Spark-</a:t>
            </a:r>
            <a:r>
              <a:rPr lang="fr-FR"/>
              <a:t>ui</a:t>
            </a:r>
            <a:r>
              <a:rPr lang="fr-FR"/>
              <a:t> [1/6] </a:t>
            </a:r>
            <a:r>
              <a:rPr lang="fr-FR"/>
              <a:t>detail</a:t>
            </a:r>
            <a:r>
              <a:rPr lang="fr-FR"/>
              <a:t> Job  timeline + </a:t>
            </a:r>
            <a:r>
              <a:rPr lang="fr-FR"/>
              <a:t>statistics</a:t>
            </a:r>
            <a:endParaRPr lang="fr-FR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041320" y="1325563"/>
            <a:ext cx="8109360" cy="52527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157859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Spark-</a:t>
            </a:r>
            <a:r>
              <a:rPr lang="fr-FR"/>
              <a:t>ui</a:t>
            </a:r>
            <a:r>
              <a:rPr lang="fr-FR"/>
              <a:t> [2/6]: </a:t>
            </a:r>
            <a:r>
              <a:rPr lang="fr-FR"/>
              <a:t>detail</a:t>
            </a:r>
            <a:r>
              <a:rPr lang="fr-FR"/>
              <a:t> Job &gt; Stage &gt; </a:t>
            </a:r>
            <a:r>
              <a:rPr lang="fr-FR"/>
              <a:t>Task</a:t>
            </a:r>
            <a:endParaRPr lang="fr-FR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407160" y="1581266"/>
            <a:ext cx="9377680" cy="485240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006475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Spark-</a:t>
            </a:r>
            <a:r>
              <a:rPr lang="fr-FR"/>
              <a:t>ui</a:t>
            </a:r>
            <a:r>
              <a:rPr lang="fr-FR"/>
              <a:t> [3/6] Storage  (cache, </a:t>
            </a:r>
            <a:r>
              <a:rPr lang="fr-FR"/>
              <a:t>persist</a:t>
            </a:r>
            <a:r>
              <a:rPr lang="fr-FR"/>
              <a:t>)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0" y="1853916"/>
            <a:ext cx="12192000" cy="374424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19683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Spark-</a:t>
            </a:r>
            <a:r>
              <a:rPr lang="fr-FR"/>
              <a:t>ui</a:t>
            </a:r>
            <a:r>
              <a:rPr lang="fr-FR"/>
              <a:t> [4/6] </a:t>
            </a:r>
            <a:r>
              <a:rPr lang="fr-FR"/>
              <a:t>Environment</a:t>
            </a:r>
            <a:r>
              <a:rPr lang="fr-FR"/>
              <a:t>: </a:t>
            </a:r>
            <a:r>
              <a:rPr lang="fr-FR"/>
              <a:t>jvm+spark+hadoop</a:t>
            </a:r>
            <a:r>
              <a:rPr lang="fr-FR"/>
              <a:t>+..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45010" y="1296817"/>
            <a:ext cx="10358120" cy="3772096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096000" y="2327309"/>
            <a:ext cx="5619726" cy="453069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144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Spark-</a:t>
            </a:r>
            <a:r>
              <a:rPr lang="fr-FR"/>
              <a:t>ui</a:t>
            </a:r>
            <a:r>
              <a:rPr lang="fr-FR"/>
              <a:t> [5/6]: </a:t>
            </a:r>
            <a:r>
              <a:rPr lang="fr-FR"/>
              <a:t>Executors</a:t>
            </a:r>
            <a:r>
              <a:rPr lang="fr-FR"/>
              <a:t> / Driver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77800" y="1960539"/>
            <a:ext cx="11836400" cy="357189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55218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Spark-</a:t>
            </a:r>
            <a:r>
              <a:rPr lang="fr-FR"/>
              <a:t>ui</a:t>
            </a:r>
            <a:r>
              <a:rPr lang="fr-FR"/>
              <a:t> [6/6] SQL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0" y="1540261"/>
            <a:ext cx="12192000" cy="422451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04112" y="0"/>
            <a:ext cx="10515600" cy="902335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Spark-</a:t>
            </a:r>
            <a:r>
              <a:rPr lang="fr-FR"/>
              <a:t>ui</a:t>
            </a:r>
            <a:r>
              <a:rPr lang="fr-FR"/>
              <a:t> [6/6] </a:t>
            </a:r>
            <a:r>
              <a:rPr lang="fr-FR"/>
              <a:t>Sql</a:t>
            </a:r>
            <a:r>
              <a:rPr lang="fr-FR"/>
              <a:t> </a:t>
            </a:r>
            <a:r>
              <a:rPr lang="fr-FR"/>
              <a:t>detail</a:t>
            </a:r>
            <a:r>
              <a:rPr lang="fr-FR"/>
              <a:t> for </a:t>
            </a:r>
            <a:r>
              <a:rPr lang="fr-FR"/>
              <a:t>query</a:t>
            </a:r>
            <a:endParaRPr lang="fr-FR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534046" y="902316"/>
            <a:ext cx="3770309" cy="5793781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4776721" y="1169957"/>
            <a:ext cx="3813559" cy="5640249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9338194" y="4643120"/>
            <a:ext cx="2758264" cy="22148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3986" y="0"/>
            <a:ext cx="10515600" cy="4180586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Spark </a:t>
            </a:r>
            <a:r>
              <a:rPr lang="fr-FR"/>
              <a:t>Internals</a:t>
            </a:r>
            <a:br>
              <a:rPr lang="fr-FR"/>
            </a:br>
            <a:br>
              <a:rPr lang="fr-FR"/>
            </a:br>
            <a:r>
              <a:rPr lang="fr-FR"/>
              <a:t>Logical</a:t>
            </a:r>
            <a:r>
              <a:rPr lang="fr-FR"/>
              <a:t>/</a:t>
            </a:r>
            <a:r>
              <a:rPr lang="fr-FR"/>
              <a:t>PhysicalPlan</a:t>
            </a:r>
            <a:br>
              <a:rPr lang="fr-FR"/>
            </a:br>
            <a:br>
              <a:rPr lang="fr-FR"/>
            </a:br>
            <a:r>
              <a:rPr lang="fr-FR"/>
              <a:t>Jobs - Stage - </a:t>
            </a:r>
            <a:r>
              <a:rPr lang="fr-FR"/>
              <a:t>Tasks</a:t>
            </a:r>
            <a:endParaRPr lang="fr-F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4046855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Sql</a:t>
            </a:r>
            <a:r>
              <a:rPr lang="fr-FR"/>
              <a:t> -&gt;  </a:t>
            </a:r>
            <a:r>
              <a:rPr lang="fr-FR"/>
              <a:t>parsed</a:t>
            </a:r>
            <a:r>
              <a:rPr lang="fr-FR"/>
              <a:t> AST -&gt;  </a:t>
            </a:r>
            <a:r>
              <a:rPr lang="fr-FR"/>
              <a:t>Dataset</a:t>
            </a:r>
            <a:r>
              <a:rPr lang="fr-FR"/>
              <a:t> + expression API </a:t>
            </a:r>
            <a:br>
              <a:rPr lang="fr-FR"/>
            </a:br>
            <a:br>
              <a:rPr lang="fr-FR"/>
            </a:br>
            <a:r>
              <a:rPr lang="fr-FR"/>
              <a:t>Optimisation: </a:t>
            </a:r>
            <a:r>
              <a:rPr lang="fr-FR"/>
              <a:t>re-write</a:t>
            </a:r>
            <a:br>
              <a:rPr lang="fr-FR"/>
            </a:br>
            <a:r>
              <a:rPr lang="fr-FR"/>
              <a:t>from</a:t>
            </a:r>
            <a:r>
              <a:rPr lang="fr-FR"/>
              <a:t> </a:t>
            </a:r>
            <a:r>
              <a:rPr lang="fr-FR"/>
              <a:t>LogicalPlan</a:t>
            </a:r>
            <a:r>
              <a:rPr lang="fr-FR"/>
              <a:t>  to  </a:t>
            </a:r>
            <a:r>
              <a:rPr lang="fr-FR"/>
              <a:t>PhysicalPlan</a:t>
            </a:r>
            <a:endParaRPr lang="fr-F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" y="0"/>
            <a:ext cx="12049760" cy="1325626"/>
          </a:xfrm>
          <a:prstGeom prst="rect">
            <a:avLst/>
          </a:prstGeom>
        </p:spPr>
        <p:txBody>
          <a:bodyPr>
            <a:normAutofit/>
          </a:bodyPr>
          <a:lstStyle/>
          <a:p>
            <a:pPr algn="ctr"/>
            <a:r>
              <a:rPr lang="fr-FR" sz="4000"/>
              <a:t>SQL / </a:t>
            </a:r>
            <a:r>
              <a:rPr lang="fr-FR" sz="4000"/>
              <a:t>DataSet</a:t>
            </a:r>
            <a:r>
              <a:rPr lang="fr-FR" sz="4000"/>
              <a:t> -&gt;  AST -&gt; Catalyst -&gt; Code + RDD</a:t>
            </a:r>
          </a:p>
        </p:txBody>
      </p:sp>
      <p:pic>
        <p:nvPicPr>
          <p:cNvPr id="10242" name="Picture 2" descr="Catalyst Optimizer Diagram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219200" y="2309813"/>
            <a:ext cx="9753600" cy="223837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626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Compiler </a:t>
            </a:r>
            <a:r>
              <a:rPr lang="fr-FR"/>
              <a:t>chain</a:t>
            </a:r>
            <a:r>
              <a:rPr lang="fr-FR"/>
              <a:t>: </a:t>
            </a:r>
            <a:r>
              <a:rPr lang="fr-FR"/>
              <a:t>Parser</a:t>
            </a:r>
            <a:r>
              <a:rPr lang="fr-FR"/>
              <a:t> -&gt; AST -&gt; 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1783080"/>
            <a:ext cx="43827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/>
              <a:t>Sql</a:t>
            </a:r>
            <a:r>
              <a:rPr lang="fr-FR" sz="3200"/>
              <a:t>&gt;  select  </a:t>
            </a:r>
            <a:r>
              <a:rPr lang="fr-FR" sz="3200" b="1"/>
              <a:t>(a+1)</a:t>
            </a:r>
            <a:r>
              <a:rPr lang="fr-FR" sz="3200"/>
              <a:t> </a:t>
            </a:r>
            <a:r>
              <a:rPr lang="fr-FR" sz="3200"/>
              <a:t>from</a:t>
            </a:r>
            <a:r>
              <a:rPr lang="fr-FR" sz="3200"/>
              <a:t> …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5758686" y="1783080"/>
            <a:ext cx="6153914" cy="4455160"/>
          </a:xfrm>
          <a:prstGeom prst="rect">
            <a:avLst/>
          </a:prstGeom>
        </p:spPr>
      </p:pic>
      <p:sp>
        <p:nvSpPr>
          <p:cNvPr id="9" name="Arrow: Right 8"/>
          <p:cNvSpPr/>
          <p:nvPr/>
        </p:nvSpPr>
        <p:spPr>
          <a:xfrm>
            <a:off x="1270000" y="2611120"/>
            <a:ext cx="756920" cy="58477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/>
          <p:cNvSpPr txBox="1"/>
          <p:nvPr/>
        </p:nvSpPr>
        <p:spPr>
          <a:xfrm>
            <a:off x="2687320" y="3059667"/>
            <a:ext cx="1142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Projection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16200" y="3059668"/>
            <a:ext cx="1213869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TextBox 11"/>
          <p:cNvSpPr txBox="1"/>
          <p:nvPr/>
        </p:nvSpPr>
        <p:spPr>
          <a:xfrm>
            <a:off x="2942448" y="3787615"/>
            <a:ext cx="5613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Add</a:t>
            </a:r>
            <a:endParaRPr lang="fr-FR"/>
          </a:p>
        </p:txBody>
      </p:sp>
      <p:sp>
        <p:nvSpPr>
          <p:cNvPr id="13" name="Rectangle 12"/>
          <p:cNvSpPr/>
          <p:nvPr/>
        </p:nvSpPr>
        <p:spPr>
          <a:xfrm>
            <a:off x="2616200" y="3791188"/>
            <a:ext cx="1213869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5" name="Straight Connector 14"/>
          <p:cNvCxnSpPr/>
          <p:nvPr/>
        </p:nvCxnSpPr>
        <p:spPr>
          <a:xfrm flipH="1">
            <a:off x="2616200" y="4201160"/>
            <a:ext cx="406400" cy="3657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>
          <a:xfrm>
            <a:off x="3461894" y="4201160"/>
            <a:ext cx="368175" cy="3657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190608" y="4661375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Field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64360" y="4664948"/>
            <a:ext cx="1213869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1" name="Straight Connector 20"/>
          <p:cNvCxnSpPr>
            <a:stCxn id="19" idx="2"/>
          </p:cNvCxnSpPr>
          <p:nvPr/>
        </p:nvCxnSpPr>
        <p:spPr>
          <a:xfrm>
            <a:off x="2471295" y="5034280"/>
            <a:ext cx="2665" cy="28448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154540" y="5208229"/>
            <a:ext cx="12859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name</a:t>
            </a:r>
            <a:r>
              <a:rPr lang="fr-FR"/>
              <a:t>: « a 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66137" y="4661375"/>
            <a:ext cx="7641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Literal</a:t>
            </a:r>
            <a:endParaRPr lang="fr-FR"/>
          </a:p>
        </p:txBody>
      </p:sp>
      <p:sp>
        <p:nvSpPr>
          <p:cNvPr id="24" name="Rectangle 23"/>
          <p:cNvSpPr/>
          <p:nvPr/>
        </p:nvSpPr>
        <p:spPr>
          <a:xfrm>
            <a:off x="3539889" y="4664948"/>
            <a:ext cx="1213869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5" name="Straight Connector 24"/>
          <p:cNvCxnSpPr>
            <a:stCxn id="24" idx="2"/>
          </p:cNvCxnSpPr>
          <p:nvPr/>
        </p:nvCxnSpPr>
        <p:spPr>
          <a:xfrm>
            <a:off x="4146824" y="5034280"/>
            <a:ext cx="2665" cy="28448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830069" y="5208229"/>
            <a:ext cx="12616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value: « 1 »</a:t>
            </a:r>
          </a:p>
        </p:txBody>
      </p:sp>
      <p:cxnSp>
        <p:nvCxnSpPr>
          <p:cNvPr id="27" name="Straight Connector 26"/>
          <p:cNvCxnSpPr/>
          <p:nvPr/>
        </p:nvCxnSpPr>
        <p:spPr>
          <a:xfrm>
            <a:off x="3221801" y="3437373"/>
            <a:ext cx="2665" cy="28448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22120" y="0"/>
            <a:ext cx="10515600" cy="1325626"/>
          </a:xfrm>
          <a:prstGeom prst="rect">
            <a:avLst/>
          </a:prstGeom>
        </p:spPr>
        <p:txBody>
          <a:bodyPr/>
          <a:lstStyle/>
          <a:p>
            <a:r>
              <a:rPr lang="fr-FR"/>
              <a:t>Catalyst AST -&gt; </a:t>
            </a:r>
            <a:r>
              <a:rPr lang="fr-FR"/>
              <a:t>CodeGenerator</a:t>
            </a:r>
            <a:endParaRPr lang="fr-FR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91440" y="1001383"/>
            <a:ext cx="11785600" cy="2061801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-91440" y="5032446"/>
            <a:ext cx="12192000" cy="1086798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0" y="6327364"/>
            <a:ext cx="12192000" cy="530636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157480" y="3281351"/>
            <a:ext cx="11877040" cy="175109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120265"/>
            <a:ext cx="10515600" cy="261747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Runtime </a:t>
            </a:r>
            <a:r>
              <a:rPr lang="fr-FR"/>
              <a:t>Execution</a:t>
            </a:r>
            <a:r>
              <a:rPr lang="fr-FR"/>
              <a:t>:</a:t>
            </a:r>
            <a:br>
              <a:rPr lang="fr-FR"/>
            </a:br>
            <a:r>
              <a:rPr lang="fr-FR"/>
              <a:t>  </a:t>
            </a:r>
            <a:br>
              <a:rPr lang="fr-FR"/>
            </a:br>
            <a:r>
              <a:rPr lang="fr-FR"/>
              <a:t>Dataset</a:t>
            </a:r>
            <a:r>
              <a:rPr lang="fr-FR"/>
              <a:t> -&gt; RDD -&gt; Dag </a:t>
            </a:r>
            <a:r>
              <a:rPr lang="fr-FR"/>
              <a:t>Scheduler</a:t>
            </a:r>
            <a:r>
              <a:rPr lang="fr-FR"/>
              <a:t> </a:t>
            </a:r>
            <a:br>
              <a:rPr lang="fr-FR"/>
            </a:br>
            <a:r>
              <a:rPr lang="fr-FR"/>
              <a:t>-&gt; </a:t>
            </a:r>
            <a:r>
              <a:rPr lang="fr-FR"/>
              <a:t>Jobs,Stages,Tasks</a:t>
            </a:r>
            <a:endParaRPr lang="fr-F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866" name="Picture 2" descr="Apache Spark: core concepts, architecture and internals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322005" y="1673942"/>
            <a:ext cx="11753131" cy="3629333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2036" y="0"/>
            <a:ext cx="11318240" cy="1325626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Spark-</a:t>
            </a:r>
            <a:r>
              <a:rPr lang="fr-FR"/>
              <a:t>core</a:t>
            </a:r>
            <a:r>
              <a:rPr lang="fr-FR"/>
              <a:t> </a:t>
            </a:r>
            <a:r>
              <a:rPr lang="fr-FR"/>
              <a:t>Internal</a:t>
            </a:r>
            <a:r>
              <a:rPr lang="fr-FR"/>
              <a:t> Concepts… </a:t>
            </a:r>
            <a:br>
              <a:rPr lang="fr-FR"/>
            </a:br>
            <a:r>
              <a:rPr lang="fr-FR"/>
              <a:t>RDD, Job, Stage, </a:t>
            </a:r>
            <a:r>
              <a:rPr lang="fr-FR"/>
              <a:t>Task</a:t>
            </a:r>
            <a:endParaRPr lang="fr-FR"/>
          </a:p>
        </p:txBody>
      </p:sp>
      <p:sp>
        <p:nvSpPr>
          <p:cNvPr id="42" name="Rectangle 41"/>
          <p:cNvSpPr/>
          <p:nvPr/>
        </p:nvSpPr>
        <p:spPr>
          <a:xfrm>
            <a:off x="6788321" y="3482345"/>
            <a:ext cx="694132" cy="5892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3" name="TextBox 42"/>
          <p:cNvSpPr txBox="1"/>
          <p:nvPr/>
        </p:nvSpPr>
        <p:spPr>
          <a:xfrm>
            <a:off x="6849281" y="3593495"/>
            <a:ext cx="502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Job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482452" y="4294236"/>
            <a:ext cx="884777" cy="5892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7" name="TextBox 46"/>
          <p:cNvSpPr txBox="1"/>
          <p:nvPr/>
        </p:nvSpPr>
        <p:spPr>
          <a:xfrm>
            <a:off x="7543413" y="4405386"/>
            <a:ext cx="6976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Stage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241105" y="5145815"/>
            <a:ext cx="884777" cy="5892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9" name="TextBox 48"/>
          <p:cNvSpPr txBox="1"/>
          <p:nvPr/>
        </p:nvSpPr>
        <p:spPr>
          <a:xfrm>
            <a:off x="8302066" y="5256965"/>
            <a:ext cx="5834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Task</a:t>
            </a:r>
            <a:endParaRPr lang="fr-FR"/>
          </a:p>
        </p:txBody>
      </p:sp>
      <p:cxnSp>
        <p:nvCxnSpPr>
          <p:cNvPr id="55" name="Straight Arrow Connector 54"/>
          <p:cNvCxnSpPr>
            <a:endCxn id="46" idx="1"/>
          </p:cNvCxnSpPr>
          <p:nvPr/>
        </p:nvCxnSpPr>
        <p:spPr>
          <a:xfrm>
            <a:off x="7152882" y="4161068"/>
            <a:ext cx="329570" cy="427808"/>
          </a:xfrm>
          <a:prstGeom prst="bentConnector2">
            <a:avLst/>
          </a:prstGeom>
          <a:ln w="25400">
            <a:headEnd type="diamond" w="lg" len="lg"/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54"/>
          <p:cNvCxnSpPr/>
          <p:nvPr/>
        </p:nvCxnSpPr>
        <p:spPr>
          <a:xfrm rot="16200000" flipH="1">
            <a:off x="7843140" y="4999648"/>
            <a:ext cx="427808" cy="329570"/>
          </a:xfrm>
          <a:prstGeom prst="bentConnector2">
            <a:avLst/>
          </a:prstGeom>
          <a:ln w="25400">
            <a:headEnd type="diamond" w="lg" len="lg"/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30601" y="4625373"/>
            <a:ext cx="728133" cy="369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0" name="Straight Arrow Connector 19"/>
          <p:cNvCxnSpPr/>
          <p:nvPr/>
        </p:nvCxnSpPr>
        <p:spPr>
          <a:xfrm flipH="1">
            <a:off x="5496076" y="5620113"/>
            <a:ext cx="2679170" cy="0"/>
          </a:xfrm>
          <a:prstGeom prst="straightConnector1">
            <a:avLst/>
          </a:prstGeom>
          <a:ln w="25400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597149" y="4625373"/>
            <a:ext cx="5950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RDD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57523" y="5406208"/>
            <a:ext cx="1112762" cy="42780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0" name="TextBox 39"/>
          <p:cNvSpPr txBox="1"/>
          <p:nvPr/>
        </p:nvSpPr>
        <p:spPr>
          <a:xfrm>
            <a:off x="4311975" y="5418155"/>
            <a:ext cx="992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Partition</a:t>
            </a:r>
          </a:p>
        </p:txBody>
      </p:sp>
      <p:cxnSp>
        <p:nvCxnSpPr>
          <p:cNvPr id="54" name="Straight Arrow Connector 53"/>
          <p:cNvCxnSpPr/>
          <p:nvPr/>
        </p:nvCxnSpPr>
        <p:spPr>
          <a:xfrm flipH="1" flipV="1">
            <a:off x="3048593" y="4158948"/>
            <a:ext cx="448734" cy="569484"/>
          </a:xfrm>
          <a:prstGeom prst="straightConnector1">
            <a:avLst/>
          </a:prstGeom>
          <a:ln w="25400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/>
          <p:cNvSpPr/>
          <p:nvPr/>
        </p:nvSpPr>
        <p:spPr>
          <a:xfrm>
            <a:off x="2864540" y="3760765"/>
            <a:ext cx="728133" cy="369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1" name="TextBox 70"/>
          <p:cNvSpPr txBox="1"/>
          <p:nvPr/>
        </p:nvSpPr>
        <p:spPr>
          <a:xfrm>
            <a:off x="2931088" y="3760765"/>
            <a:ext cx="5950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RDD</a:t>
            </a:r>
          </a:p>
        </p:txBody>
      </p:sp>
      <p:cxnSp>
        <p:nvCxnSpPr>
          <p:cNvPr id="72" name="Straight Arrow Connector 71"/>
          <p:cNvCxnSpPr/>
          <p:nvPr/>
        </p:nvCxnSpPr>
        <p:spPr>
          <a:xfrm flipH="1" flipV="1">
            <a:off x="2618727" y="3620426"/>
            <a:ext cx="193912" cy="284037"/>
          </a:xfrm>
          <a:prstGeom prst="straightConnector1">
            <a:avLst/>
          </a:prstGeom>
          <a:ln w="25400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2086479" y="3334006"/>
            <a:ext cx="2534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RDD </a:t>
            </a:r>
            <a:r>
              <a:rPr lang="fr-FR"/>
              <a:t>lineage</a:t>
            </a:r>
            <a:r>
              <a:rPr lang="fr-FR"/>
              <a:t> </a:t>
            </a:r>
            <a:r>
              <a:rPr lang="fr-FR"/>
              <a:t>dependency</a:t>
            </a:r>
            <a:endParaRPr lang="fr-FR"/>
          </a:p>
        </p:txBody>
      </p:sp>
      <p:cxnSp>
        <p:nvCxnSpPr>
          <p:cNvPr id="83" name="Straight Arrow Connector 54"/>
          <p:cNvCxnSpPr/>
          <p:nvPr/>
        </p:nvCxnSpPr>
        <p:spPr>
          <a:xfrm rot="16200000" flipH="1">
            <a:off x="3869196" y="5149078"/>
            <a:ext cx="427808" cy="329570"/>
          </a:xfrm>
          <a:prstGeom prst="bentConnector2">
            <a:avLst/>
          </a:prstGeom>
          <a:ln w="25400">
            <a:headEnd type="diamond" w="lg" len="lg"/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 86"/>
          <p:cNvSpPr/>
          <p:nvPr/>
        </p:nvSpPr>
        <p:spPr>
          <a:xfrm>
            <a:off x="9271581" y="5912239"/>
            <a:ext cx="1493181" cy="5892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8" name="TextBox 87"/>
          <p:cNvSpPr txBox="1"/>
          <p:nvPr/>
        </p:nvSpPr>
        <p:spPr>
          <a:xfrm>
            <a:off x="9332542" y="6023389"/>
            <a:ext cx="1356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TaskAttempt</a:t>
            </a:r>
            <a:endParaRPr lang="fr-FR"/>
          </a:p>
        </p:txBody>
      </p:sp>
      <p:cxnSp>
        <p:nvCxnSpPr>
          <p:cNvPr id="98" name="Straight Arrow Connector 54"/>
          <p:cNvCxnSpPr/>
          <p:nvPr/>
        </p:nvCxnSpPr>
        <p:spPr>
          <a:xfrm rot="16200000" flipH="1">
            <a:off x="8850512" y="5829366"/>
            <a:ext cx="427808" cy="329570"/>
          </a:xfrm>
          <a:prstGeom prst="bentConnector2">
            <a:avLst/>
          </a:prstGeom>
          <a:ln w="25400">
            <a:headEnd type="diamond" w="lg" len="lg"/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445219" y="1901045"/>
            <a:ext cx="429483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using</a:t>
            </a:r>
            <a:r>
              <a:rPr lang="fr-FR"/>
              <a:t> </a:t>
            </a:r>
            <a:r>
              <a:rPr lang="fr-FR"/>
              <a:t>only</a:t>
            </a:r>
            <a:r>
              <a:rPr lang="fr-FR"/>
              <a:t> </a:t>
            </a:r>
            <a:r>
              <a:rPr lang="fr-FR"/>
              <a:t>low-level</a:t>
            </a:r>
            <a:r>
              <a:rPr lang="fr-FR"/>
              <a:t> </a:t>
            </a:r>
            <a:r>
              <a:rPr lang="fr-FR"/>
              <a:t>spark-core</a:t>
            </a:r>
            <a:r>
              <a:rPr lang="fr-FR"/>
              <a:t> "</a:t>
            </a:r>
            <a:r>
              <a:rPr lang="fr-FR"/>
              <a:t>RDD.eval</a:t>
            </a:r>
            <a:r>
              <a:rPr lang="fr-FR"/>
              <a:t>()"</a:t>
            </a:r>
          </a:p>
          <a:p>
            <a:r>
              <a:rPr lang="fr-FR"/>
              <a:t>=&gt; trigger 1 Job,    </a:t>
            </a:r>
            <a:r>
              <a:rPr lang="fr-FR"/>
              <a:t>with</a:t>
            </a:r>
            <a:r>
              <a:rPr lang="fr-FR"/>
              <a:t> 1 or </a:t>
            </a:r>
            <a:r>
              <a:rPr lang="fr-FR"/>
              <a:t>several</a:t>
            </a:r>
            <a:r>
              <a:rPr lang="fr-FR"/>
              <a:t> Stages</a:t>
            </a:r>
          </a:p>
          <a:p>
            <a:endParaRPr lang="fr-FR"/>
          </a:p>
          <a:p>
            <a:endParaRPr lang="fr-FR"/>
          </a:p>
        </p:txBody>
      </p:sp>
      <p:sp>
        <p:nvSpPr>
          <p:cNvPr id="4" name="TextBox 3"/>
          <p:cNvSpPr txBox="1"/>
          <p:nvPr/>
        </p:nvSpPr>
        <p:spPr>
          <a:xfrm>
            <a:off x="5496076" y="567722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6559" y="458119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*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49875" y="536576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*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75246" y="6264413"/>
            <a:ext cx="11496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1 (or 2,3?)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22908" y="564935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*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0"/>
            <a:ext cx="11318240" cy="1325626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Spark-</a:t>
            </a:r>
            <a:r>
              <a:rPr lang="fr-FR"/>
              <a:t>sql</a:t>
            </a:r>
            <a:r>
              <a:rPr lang="fr-FR"/>
              <a:t> </a:t>
            </a:r>
            <a:r>
              <a:rPr lang="fr-FR"/>
              <a:t>Internal</a:t>
            </a:r>
            <a:r>
              <a:rPr lang="fr-FR"/>
              <a:t> Concepts… </a:t>
            </a:r>
            <a:br>
              <a:rPr lang="fr-FR"/>
            </a:br>
            <a:r>
              <a:rPr lang="fr-FR"/>
              <a:t>SQLExecution</a:t>
            </a:r>
            <a:r>
              <a:rPr lang="fr-FR"/>
              <a:t>, Job, Stage, </a:t>
            </a:r>
            <a:r>
              <a:rPr lang="fr-FR"/>
              <a:t>Task</a:t>
            </a:r>
            <a:endParaRPr lang="fr-FR"/>
          </a:p>
        </p:txBody>
      </p:sp>
      <p:sp>
        <p:nvSpPr>
          <p:cNvPr id="42" name="Rectangle 41"/>
          <p:cNvSpPr/>
          <p:nvPr/>
        </p:nvSpPr>
        <p:spPr>
          <a:xfrm>
            <a:off x="6788321" y="3482345"/>
            <a:ext cx="694132" cy="5892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3" name="TextBox 42"/>
          <p:cNvSpPr txBox="1"/>
          <p:nvPr/>
        </p:nvSpPr>
        <p:spPr>
          <a:xfrm>
            <a:off x="6849281" y="3593495"/>
            <a:ext cx="502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Job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482452" y="4294236"/>
            <a:ext cx="884777" cy="5892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7" name="TextBox 46"/>
          <p:cNvSpPr txBox="1"/>
          <p:nvPr/>
        </p:nvSpPr>
        <p:spPr>
          <a:xfrm>
            <a:off x="7543413" y="4405386"/>
            <a:ext cx="6976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Stage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241105" y="5145815"/>
            <a:ext cx="884777" cy="5892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9" name="TextBox 48"/>
          <p:cNvSpPr txBox="1"/>
          <p:nvPr/>
        </p:nvSpPr>
        <p:spPr>
          <a:xfrm>
            <a:off x="8302066" y="5256965"/>
            <a:ext cx="5834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Task</a:t>
            </a:r>
            <a:endParaRPr lang="fr-FR"/>
          </a:p>
        </p:txBody>
      </p:sp>
      <p:sp>
        <p:nvSpPr>
          <p:cNvPr id="50" name="Rectangle 49"/>
          <p:cNvSpPr/>
          <p:nvPr/>
        </p:nvSpPr>
        <p:spPr>
          <a:xfrm>
            <a:off x="6056427" y="2428087"/>
            <a:ext cx="1626521" cy="33049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1" name="TextBox 50"/>
          <p:cNvSpPr txBox="1"/>
          <p:nvPr/>
        </p:nvSpPr>
        <p:spPr>
          <a:xfrm>
            <a:off x="6146952" y="2382221"/>
            <a:ext cx="14577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SQLExecution</a:t>
            </a:r>
            <a:endParaRPr lang="fr-FR"/>
          </a:p>
        </p:txBody>
      </p:sp>
      <p:cxnSp>
        <p:nvCxnSpPr>
          <p:cNvPr id="53" name="Straight Arrow Connector 52"/>
          <p:cNvCxnSpPr/>
          <p:nvPr/>
        </p:nvCxnSpPr>
        <p:spPr>
          <a:xfrm>
            <a:off x="6436602" y="2911441"/>
            <a:ext cx="249489" cy="452485"/>
          </a:xfrm>
          <a:prstGeom prst="straightConnector1">
            <a:avLst/>
          </a:prstGeom>
          <a:ln w="25400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/>
          <p:cNvCxnSpPr>
            <a:endCxn id="46" idx="1"/>
          </p:cNvCxnSpPr>
          <p:nvPr/>
        </p:nvCxnSpPr>
        <p:spPr>
          <a:xfrm>
            <a:off x="7152882" y="4161068"/>
            <a:ext cx="329570" cy="427808"/>
          </a:xfrm>
          <a:prstGeom prst="bentConnector2">
            <a:avLst/>
          </a:prstGeom>
          <a:ln w="25400">
            <a:headEnd type="diamond" w="lg" len="lg"/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54"/>
          <p:cNvCxnSpPr/>
          <p:nvPr/>
        </p:nvCxnSpPr>
        <p:spPr>
          <a:xfrm rot="16200000" flipH="1">
            <a:off x="7843140" y="4999648"/>
            <a:ext cx="427808" cy="329570"/>
          </a:xfrm>
          <a:prstGeom prst="bentConnector2">
            <a:avLst/>
          </a:prstGeom>
          <a:ln w="25400">
            <a:headEnd type="diamond" w="lg" len="lg"/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30601" y="4625373"/>
            <a:ext cx="728133" cy="369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0" name="Straight Arrow Connector 19"/>
          <p:cNvCxnSpPr/>
          <p:nvPr/>
        </p:nvCxnSpPr>
        <p:spPr>
          <a:xfrm flipH="1">
            <a:off x="5496076" y="5620113"/>
            <a:ext cx="2679170" cy="0"/>
          </a:xfrm>
          <a:prstGeom prst="straightConnector1">
            <a:avLst/>
          </a:prstGeom>
          <a:ln w="25400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597149" y="4625373"/>
            <a:ext cx="5950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RDD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57523" y="5406208"/>
            <a:ext cx="1112762" cy="42780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0" name="TextBox 39"/>
          <p:cNvSpPr txBox="1"/>
          <p:nvPr/>
        </p:nvSpPr>
        <p:spPr>
          <a:xfrm>
            <a:off x="4311975" y="5418155"/>
            <a:ext cx="992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Partition</a:t>
            </a:r>
          </a:p>
        </p:txBody>
      </p:sp>
      <p:cxnSp>
        <p:nvCxnSpPr>
          <p:cNvPr id="54" name="Straight Arrow Connector 53"/>
          <p:cNvCxnSpPr/>
          <p:nvPr/>
        </p:nvCxnSpPr>
        <p:spPr>
          <a:xfrm flipH="1" flipV="1">
            <a:off x="3048593" y="4158948"/>
            <a:ext cx="448734" cy="569484"/>
          </a:xfrm>
          <a:prstGeom prst="straightConnector1">
            <a:avLst/>
          </a:prstGeom>
          <a:ln w="25400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/>
          <p:cNvSpPr/>
          <p:nvPr/>
        </p:nvSpPr>
        <p:spPr>
          <a:xfrm>
            <a:off x="2864540" y="3760765"/>
            <a:ext cx="728133" cy="36933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1" name="TextBox 70"/>
          <p:cNvSpPr txBox="1"/>
          <p:nvPr/>
        </p:nvSpPr>
        <p:spPr>
          <a:xfrm>
            <a:off x="2931088" y="3760765"/>
            <a:ext cx="5950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RDD</a:t>
            </a:r>
          </a:p>
        </p:txBody>
      </p:sp>
      <p:cxnSp>
        <p:nvCxnSpPr>
          <p:cNvPr id="72" name="Straight Arrow Connector 71"/>
          <p:cNvCxnSpPr/>
          <p:nvPr/>
        </p:nvCxnSpPr>
        <p:spPr>
          <a:xfrm flipH="1" flipV="1">
            <a:off x="2618727" y="3620426"/>
            <a:ext cx="193912" cy="284037"/>
          </a:xfrm>
          <a:prstGeom prst="straightConnector1">
            <a:avLst/>
          </a:prstGeom>
          <a:ln w="25400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2086479" y="3334006"/>
            <a:ext cx="2534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RDD </a:t>
            </a:r>
            <a:r>
              <a:rPr lang="fr-FR"/>
              <a:t>lineage</a:t>
            </a:r>
            <a:r>
              <a:rPr lang="fr-FR"/>
              <a:t> </a:t>
            </a:r>
            <a:r>
              <a:rPr lang="fr-FR"/>
              <a:t>dependency</a:t>
            </a:r>
            <a:endParaRPr lang="fr-FR"/>
          </a:p>
        </p:txBody>
      </p:sp>
      <p:sp>
        <p:nvSpPr>
          <p:cNvPr id="74" name="Rectangle 73"/>
          <p:cNvSpPr/>
          <p:nvPr/>
        </p:nvSpPr>
        <p:spPr>
          <a:xfrm>
            <a:off x="2812639" y="2419911"/>
            <a:ext cx="1046592" cy="33049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5" name="TextBox 74"/>
          <p:cNvSpPr txBox="1"/>
          <p:nvPr/>
        </p:nvSpPr>
        <p:spPr>
          <a:xfrm>
            <a:off x="2871089" y="2415940"/>
            <a:ext cx="9174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DataSet</a:t>
            </a:r>
            <a:endParaRPr lang="fr-FR"/>
          </a:p>
        </p:txBody>
      </p:sp>
      <p:cxnSp>
        <p:nvCxnSpPr>
          <p:cNvPr id="76" name="Straight Arrow Connector 75"/>
          <p:cNvCxnSpPr/>
          <p:nvPr/>
        </p:nvCxnSpPr>
        <p:spPr>
          <a:xfrm flipH="1">
            <a:off x="3982532" y="2565430"/>
            <a:ext cx="1950594" cy="0"/>
          </a:xfrm>
          <a:prstGeom prst="straightConnector1">
            <a:avLst/>
          </a:prstGeom>
          <a:ln w="25400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54"/>
          <p:cNvCxnSpPr/>
          <p:nvPr/>
        </p:nvCxnSpPr>
        <p:spPr>
          <a:xfrm rot="16200000" flipH="1">
            <a:off x="3869196" y="5149078"/>
            <a:ext cx="427808" cy="329570"/>
          </a:xfrm>
          <a:prstGeom prst="bentConnector2">
            <a:avLst/>
          </a:prstGeom>
          <a:ln w="25400">
            <a:headEnd type="diamond" w="lg" len="lg"/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 86"/>
          <p:cNvSpPr/>
          <p:nvPr/>
        </p:nvSpPr>
        <p:spPr>
          <a:xfrm>
            <a:off x="9271581" y="5912239"/>
            <a:ext cx="1493181" cy="5892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8" name="TextBox 87"/>
          <p:cNvSpPr txBox="1"/>
          <p:nvPr/>
        </p:nvSpPr>
        <p:spPr>
          <a:xfrm>
            <a:off x="9332542" y="6023389"/>
            <a:ext cx="1356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TaskAttempt</a:t>
            </a:r>
            <a:endParaRPr lang="fr-FR"/>
          </a:p>
        </p:txBody>
      </p:sp>
      <p:cxnSp>
        <p:nvCxnSpPr>
          <p:cNvPr id="98" name="Straight Arrow Connector 54"/>
          <p:cNvCxnSpPr/>
          <p:nvPr/>
        </p:nvCxnSpPr>
        <p:spPr>
          <a:xfrm rot="16200000" flipH="1">
            <a:off x="8850512" y="5829366"/>
            <a:ext cx="427808" cy="329570"/>
          </a:xfrm>
          <a:prstGeom prst="bentConnector2">
            <a:avLst/>
          </a:prstGeom>
          <a:ln w="25400">
            <a:headEnd type="diamond" w="lg" len="lg"/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5496076" y="567722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046559" y="458119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*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849875" y="536576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*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175246" y="6264413"/>
            <a:ext cx="11496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1 (or 2,3?)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922908" y="564935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*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812639" y="1681842"/>
            <a:ext cx="50790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using</a:t>
            </a:r>
            <a:r>
              <a:rPr lang="fr-FR"/>
              <a:t> high-</a:t>
            </a:r>
            <a:r>
              <a:rPr lang="fr-FR"/>
              <a:t>level</a:t>
            </a:r>
            <a:r>
              <a:rPr lang="fr-FR"/>
              <a:t> </a:t>
            </a:r>
            <a:r>
              <a:rPr lang="fr-FR"/>
              <a:t>spark-sql</a:t>
            </a:r>
            <a:r>
              <a:rPr lang="fr-FR"/>
              <a:t> "</a:t>
            </a:r>
            <a:r>
              <a:rPr lang="fr-FR"/>
              <a:t>Dataset</a:t>
            </a:r>
            <a:r>
              <a:rPr lang="fr-FR"/>
              <a:t>.&lt;action&gt;()"</a:t>
            </a:r>
          </a:p>
          <a:p>
            <a:r>
              <a:rPr lang="fr-FR"/>
              <a:t>=&gt; trigger 1 or </a:t>
            </a:r>
            <a:r>
              <a:rPr lang="fr-FR"/>
              <a:t>Several</a:t>
            </a:r>
            <a:r>
              <a:rPr lang="fr-FR"/>
              <a:t> Jobs,  </a:t>
            </a:r>
            <a:r>
              <a:rPr lang="fr-FR"/>
              <a:t>with</a:t>
            </a:r>
            <a:r>
              <a:rPr lang="fr-FR"/>
              <a:t> 1 or </a:t>
            </a:r>
            <a:r>
              <a:rPr lang="fr-FR"/>
              <a:t>several</a:t>
            </a:r>
            <a:r>
              <a:rPr lang="fr-FR"/>
              <a:t> Stages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349864" y="331674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*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106680" y="413445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1</a:t>
            </a:r>
          </a:p>
        </p:txBody>
      </p:sp>
      <p:cxnSp>
        <p:nvCxnSpPr>
          <p:cNvPr id="108" name="Straight Arrow Connector 107"/>
          <p:cNvCxnSpPr/>
          <p:nvPr/>
        </p:nvCxnSpPr>
        <p:spPr>
          <a:xfrm>
            <a:off x="3648836" y="2831412"/>
            <a:ext cx="457844" cy="1684478"/>
          </a:xfrm>
          <a:prstGeom prst="straightConnector1">
            <a:avLst/>
          </a:prstGeom>
          <a:ln w="25400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/>
          <p:cNvCxnSpPr/>
          <p:nvPr/>
        </p:nvCxnSpPr>
        <p:spPr>
          <a:xfrm flipH="1" flipV="1">
            <a:off x="2562687" y="2182759"/>
            <a:ext cx="185424" cy="245328"/>
          </a:xfrm>
          <a:prstGeom prst="straightConnector1">
            <a:avLst/>
          </a:prstGeom>
          <a:ln w="25400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1608807" y="1794836"/>
            <a:ext cx="1046592" cy="33049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TextBox 5"/>
          <p:cNvSpPr txBox="1"/>
          <p:nvPr/>
        </p:nvSpPr>
        <p:spPr>
          <a:xfrm>
            <a:off x="1673355" y="1749912"/>
            <a:ext cx="9174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DataSet</a:t>
            </a:r>
            <a:endParaRPr lang="fr-FR"/>
          </a:p>
        </p:txBody>
      </p:sp>
      <p:cxnSp>
        <p:nvCxnSpPr>
          <p:cNvPr id="7" name="Straight Arrow Connector 6"/>
          <p:cNvCxnSpPr/>
          <p:nvPr/>
        </p:nvCxnSpPr>
        <p:spPr>
          <a:xfrm flipH="1" flipV="1">
            <a:off x="1368549" y="1628022"/>
            <a:ext cx="193912" cy="284037"/>
          </a:xfrm>
          <a:prstGeom prst="straightConnector1">
            <a:avLst/>
          </a:prstGeom>
          <a:ln w="25400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84319" y="1262182"/>
            <a:ext cx="20710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lineage</a:t>
            </a:r>
            <a:r>
              <a:rPr lang="fr-FR"/>
              <a:t> </a:t>
            </a:r>
            <a:r>
              <a:rPr lang="fr-FR"/>
              <a:t>dependency</a:t>
            </a:r>
            <a:endParaRPr lang="fr-F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0"/>
            <a:ext cx="11318240" cy="1325626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Spark </a:t>
            </a:r>
            <a:r>
              <a:rPr lang="fr-FR"/>
              <a:t>Internal</a:t>
            </a:r>
            <a:r>
              <a:rPr lang="fr-FR"/>
              <a:t> Concepts… </a:t>
            </a:r>
            <a:br>
              <a:rPr lang="fr-FR"/>
            </a:br>
            <a:r>
              <a:rPr lang="fr-FR"/>
              <a:t>SQL, Job, Stage, </a:t>
            </a:r>
            <a:r>
              <a:rPr lang="fr-FR"/>
              <a:t>Task</a:t>
            </a:r>
            <a:endParaRPr lang="fr-FR"/>
          </a:p>
        </p:txBody>
      </p:sp>
      <p:sp>
        <p:nvSpPr>
          <p:cNvPr id="4" name="Rectangle 3"/>
          <p:cNvSpPr/>
          <p:nvPr/>
        </p:nvSpPr>
        <p:spPr>
          <a:xfrm>
            <a:off x="942340" y="2054736"/>
            <a:ext cx="1183640" cy="5892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TextBox 4"/>
          <p:cNvSpPr txBox="1"/>
          <p:nvPr/>
        </p:nvSpPr>
        <p:spPr>
          <a:xfrm>
            <a:off x="1079500" y="2136770"/>
            <a:ext cx="9174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DataSet</a:t>
            </a:r>
            <a:endParaRPr lang="fr-FR"/>
          </a:p>
        </p:txBody>
      </p:sp>
      <p:sp>
        <p:nvSpPr>
          <p:cNvPr id="6" name="Rectangle 5"/>
          <p:cNvSpPr/>
          <p:nvPr/>
        </p:nvSpPr>
        <p:spPr>
          <a:xfrm>
            <a:off x="995680" y="4185920"/>
            <a:ext cx="1183640" cy="5892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TextBox 6"/>
          <p:cNvSpPr txBox="1"/>
          <p:nvPr/>
        </p:nvSpPr>
        <p:spPr>
          <a:xfrm>
            <a:off x="1132840" y="4267954"/>
            <a:ext cx="5950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RDD</a:t>
            </a:r>
          </a:p>
        </p:txBody>
      </p:sp>
      <p:sp>
        <p:nvSpPr>
          <p:cNvPr id="8" name="Rectangle 7"/>
          <p:cNvSpPr/>
          <p:nvPr/>
        </p:nvSpPr>
        <p:spPr>
          <a:xfrm>
            <a:off x="3149600" y="4185920"/>
            <a:ext cx="1683164" cy="5892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TextBox 8"/>
          <p:cNvSpPr txBox="1"/>
          <p:nvPr/>
        </p:nvSpPr>
        <p:spPr>
          <a:xfrm>
            <a:off x="3149600" y="4185920"/>
            <a:ext cx="16120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RDD </a:t>
            </a:r>
          </a:p>
          <a:p>
            <a:r>
              <a:rPr lang="fr-FR"/>
              <a:t>Transformation</a:t>
            </a:r>
          </a:p>
        </p:txBody>
      </p:sp>
      <p:cxnSp>
        <p:nvCxnSpPr>
          <p:cNvPr id="11" name="Straight Arrow Connector 10"/>
          <p:cNvCxnSpPr/>
          <p:nvPr/>
        </p:nvCxnSpPr>
        <p:spPr>
          <a:xfrm flipH="1">
            <a:off x="2260600" y="4683760"/>
            <a:ext cx="853440" cy="0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131060" y="4663422"/>
            <a:ext cx="1112520" cy="3657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1 output</a:t>
            </a:r>
          </a:p>
        </p:txBody>
      </p:sp>
      <p:cxnSp>
        <p:nvCxnSpPr>
          <p:cNvPr id="13" name="Straight Arrow Connector 12"/>
          <p:cNvCxnSpPr/>
          <p:nvPr/>
        </p:nvCxnSpPr>
        <p:spPr>
          <a:xfrm flipH="1">
            <a:off x="2260600" y="4275571"/>
            <a:ext cx="853440" cy="0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179320" y="3924434"/>
            <a:ext cx="1112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1..* input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5367440"/>
            <a:ext cx="1683164" cy="5892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TextBox 15"/>
          <p:cNvSpPr txBox="1"/>
          <p:nvPr/>
        </p:nvSpPr>
        <p:spPr>
          <a:xfrm>
            <a:off x="4410280" y="5424491"/>
            <a:ext cx="13868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RDD Action</a:t>
            </a:r>
          </a:p>
        </p:txBody>
      </p:sp>
      <p:cxnSp>
        <p:nvCxnSpPr>
          <p:cNvPr id="17" name="Straight Arrow Connector 16"/>
          <p:cNvCxnSpPr/>
          <p:nvPr/>
        </p:nvCxnSpPr>
        <p:spPr>
          <a:xfrm flipH="1" flipV="1">
            <a:off x="1854200" y="4998722"/>
            <a:ext cx="2372360" cy="663358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242850" y="5179816"/>
            <a:ext cx="1112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1 input</a:t>
            </a:r>
          </a:p>
        </p:txBody>
      </p:sp>
      <p:cxnSp>
        <p:nvCxnSpPr>
          <p:cNvPr id="24" name="Straight Arrow Connector 23"/>
          <p:cNvCxnSpPr/>
          <p:nvPr/>
        </p:nvCxnSpPr>
        <p:spPr>
          <a:xfrm>
            <a:off x="1587500" y="3332270"/>
            <a:ext cx="0" cy="736320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3215640" y="1981116"/>
            <a:ext cx="1683164" cy="5892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TextBox 26"/>
          <p:cNvSpPr txBox="1"/>
          <p:nvPr/>
        </p:nvSpPr>
        <p:spPr>
          <a:xfrm>
            <a:off x="3215640" y="1981116"/>
            <a:ext cx="16120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Dataset</a:t>
            </a:r>
            <a:r>
              <a:rPr lang="fr-FR"/>
              <a:t> </a:t>
            </a:r>
          </a:p>
          <a:p>
            <a:r>
              <a:rPr lang="fr-FR"/>
              <a:t>Transformation</a:t>
            </a:r>
          </a:p>
        </p:txBody>
      </p:sp>
      <p:cxnSp>
        <p:nvCxnSpPr>
          <p:cNvPr id="28" name="Straight Arrow Connector 27"/>
          <p:cNvCxnSpPr/>
          <p:nvPr/>
        </p:nvCxnSpPr>
        <p:spPr>
          <a:xfrm flipH="1">
            <a:off x="2326640" y="2478956"/>
            <a:ext cx="853440" cy="0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161540" y="2447872"/>
            <a:ext cx="1112520" cy="3657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1 output</a:t>
            </a:r>
          </a:p>
        </p:txBody>
      </p:sp>
      <p:cxnSp>
        <p:nvCxnSpPr>
          <p:cNvPr id="30" name="Straight Arrow Connector 29"/>
          <p:cNvCxnSpPr/>
          <p:nvPr/>
        </p:nvCxnSpPr>
        <p:spPr>
          <a:xfrm flipH="1">
            <a:off x="2326640" y="2070767"/>
            <a:ext cx="853440" cy="0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2179320" y="1734380"/>
            <a:ext cx="1112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1..* input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63720" y="3162636"/>
            <a:ext cx="1683164" cy="5892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" name="TextBox 32"/>
          <p:cNvSpPr txBox="1"/>
          <p:nvPr/>
        </p:nvSpPr>
        <p:spPr>
          <a:xfrm>
            <a:off x="4476320" y="3219687"/>
            <a:ext cx="1787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DataSet</a:t>
            </a:r>
            <a:r>
              <a:rPr lang="fr-FR"/>
              <a:t> Action</a:t>
            </a:r>
          </a:p>
        </p:txBody>
      </p:sp>
      <p:cxnSp>
        <p:nvCxnSpPr>
          <p:cNvPr id="34" name="Straight Arrow Connector 33"/>
          <p:cNvCxnSpPr/>
          <p:nvPr/>
        </p:nvCxnSpPr>
        <p:spPr>
          <a:xfrm flipH="1" flipV="1">
            <a:off x="1920240" y="2793918"/>
            <a:ext cx="2372360" cy="663358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1770380" y="2986916"/>
            <a:ext cx="1112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1 input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58015" y="2447872"/>
            <a:ext cx="1183640" cy="5892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7" name="TextBox 36"/>
          <p:cNvSpPr txBox="1"/>
          <p:nvPr/>
        </p:nvSpPr>
        <p:spPr>
          <a:xfrm>
            <a:off x="6658015" y="2559022"/>
            <a:ext cx="12295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LogicalPlan</a:t>
            </a:r>
            <a:endParaRPr lang="fr-FR"/>
          </a:p>
        </p:txBody>
      </p:sp>
      <p:sp>
        <p:nvSpPr>
          <p:cNvPr id="38" name="Rectangle 37"/>
          <p:cNvSpPr/>
          <p:nvPr/>
        </p:nvSpPr>
        <p:spPr>
          <a:xfrm>
            <a:off x="6609611" y="4528400"/>
            <a:ext cx="1402224" cy="5892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9" name="TextBox 38"/>
          <p:cNvSpPr txBox="1"/>
          <p:nvPr/>
        </p:nvSpPr>
        <p:spPr>
          <a:xfrm>
            <a:off x="6609611" y="4639550"/>
            <a:ext cx="13288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PhysicalPlan</a:t>
            </a:r>
            <a:endParaRPr lang="fr-FR"/>
          </a:p>
        </p:txBody>
      </p:sp>
      <p:sp>
        <p:nvSpPr>
          <p:cNvPr id="42" name="Rectangle 41"/>
          <p:cNvSpPr/>
          <p:nvPr/>
        </p:nvSpPr>
        <p:spPr>
          <a:xfrm>
            <a:off x="9739559" y="2861619"/>
            <a:ext cx="694132" cy="5892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3" name="TextBox 42"/>
          <p:cNvSpPr txBox="1"/>
          <p:nvPr/>
        </p:nvSpPr>
        <p:spPr>
          <a:xfrm>
            <a:off x="9800519" y="2972769"/>
            <a:ext cx="502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Job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326640" y="5865891"/>
            <a:ext cx="691024" cy="5892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5" name="TextBox 44"/>
          <p:cNvSpPr txBox="1"/>
          <p:nvPr/>
        </p:nvSpPr>
        <p:spPr>
          <a:xfrm>
            <a:off x="2326640" y="5977041"/>
            <a:ext cx="6011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DAG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433690" y="3673510"/>
            <a:ext cx="884777" cy="5892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7" name="TextBox 46"/>
          <p:cNvSpPr txBox="1"/>
          <p:nvPr/>
        </p:nvSpPr>
        <p:spPr>
          <a:xfrm>
            <a:off x="10494651" y="3784660"/>
            <a:ext cx="6976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Stage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358130" y="5129851"/>
            <a:ext cx="884777" cy="5892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9" name="TextBox 48"/>
          <p:cNvSpPr txBox="1"/>
          <p:nvPr/>
        </p:nvSpPr>
        <p:spPr>
          <a:xfrm>
            <a:off x="9419091" y="5241001"/>
            <a:ext cx="5834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Task</a:t>
            </a:r>
            <a:endParaRPr lang="fr-FR"/>
          </a:p>
        </p:txBody>
      </p:sp>
      <p:sp>
        <p:nvSpPr>
          <p:cNvPr id="50" name="Rectangle 49"/>
          <p:cNvSpPr/>
          <p:nvPr/>
        </p:nvSpPr>
        <p:spPr>
          <a:xfrm>
            <a:off x="9007665" y="1591461"/>
            <a:ext cx="1486985" cy="54530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1" name="TextBox 50"/>
          <p:cNvSpPr txBox="1"/>
          <p:nvPr/>
        </p:nvSpPr>
        <p:spPr>
          <a:xfrm>
            <a:off x="9093590" y="1701435"/>
            <a:ext cx="14577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SQLExecution</a:t>
            </a:r>
            <a:endParaRPr lang="fr-FR"/>
          </a:p>
        </p:txBody>
      </p:sp>
      <p:cxnSp>
        <p:nvCxnSpPr>
          <p:cNvPr id="53" name="Straight Arrow Connector 52"/>
          <p:cNvCxnSpPr/>
          <p:nvPr/>
        </p:nvCxnSpPr>
        <p:spPr>
          <a:xfrm>
            <a:off x="9387840" y="2290715"/>
            <a:ext cx="249489" cy="45248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/>
          <p:cNvCxnSpPr>
            <a:endCxn id="46" idx="1"/>
          </p:cNvCxnSpPr>
          <p:nvPr/>
        </p:nvCxnSpPr>
        <p:spPr>
          <a:xfrm>
            <a:off x="10104120" y="3540342"/>
            <a:ext cx="329570" cy="427808"/>
          </a:xfrm>
          <a:prstGeom prst="bentConnector2">
            <a:avLst/>
          </a:prstGeom>
          <a:ln>
            <a:headEnd type="diamond" w="lg" len="lg"/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/>
          <p:nvPr/>
        </p:nvCxnSpPr>
        <p:spPr>
          <a:xfrm flipH="1">
            <a:off x="10060940" y="4395958"/>
            <a:ext cx="739140" cy="612924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7606006" y="1739445"/>
            <a:ext cx="1183640" cy="5892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9" name="TextBox 58"/>
          <p:cNvSpPr txBox="1"/>
          <p:nvPr/>
        </p:nvSpPr>
        <p:spPr>
          <a:xfrm>
            <a:off x="7606006" y="1850595"/>
            <a:ext cx="9870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Analyzer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606006" y="3475204"/>
            <a:ext cx="1183640" cy="5892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1" name="TextBox 60"/>
          <p:cNvSpPr txBox="1"/>
          <p:nvPr/>
        </p:nvSpPr>
        <p:spPr>
          <a:xfrm>
            <a:off x="7606006" y="3586354"/>
            <a:ext cx="1106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Optimizer</a:t>
            </a:r>
            <a:endParaRPr lang="fr-FR"/>
          </a:p>
        </p:txBody>
      </p:sp>
      <p:sp>
        <p:nvSpPr>
          <p:cNvPr id="62" name="Rectangle 61"/>
          <p:cNvSpPr/>
          <p:nvPr/>
        </p:nvSpPr>
        <p:spPr>
          <a:xfrm>
            <a:off x="7582924" y="5364482"/>
            <a:ext cx="1183640" cy="5892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3" name="TextBox 62"/>
          <p:cNvSpPr txBox="1"/>
          <p:nvPr/>
        </p:nvSpPr>
        <p:spPr>
          <a:xfrm>
            <a:off x="7582924" y="5475632"/>
            <a:ext cx="11176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Scheduler</a:t>
            </a:r>
            <a:endParaRPr lang="fr-FR"/>
          </a:p>
        </p:txBody>
      </p:sp>
      <p:sp>
        <p:nvSpPr>
          <p:cNvPr id="64" name="Arrow: Down 63"/>
          <p:cNvSpPr/>
          <p:nvPr/>
        </p:nvSpPr>
        <p:spPr>
          <a:xfrm rot="3663954">
            <a:off x="8480474" y="2048696"/>
            <a:ext cx="182340" cy="923499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5" name="Arrow: Down 64"/>
          <p:cNvSpPr/>
          <p:nvPr/>
        </p:nvSpPr>
        <p:spPr>
          <a:xfrm>
            <a:off x="7305060" y="3359099"/>
            <a:ext cx="182340" cy="923499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6" name="Arrow: Down 65"/>
          <p:cNvSpPr/>
          <p:nvPr/>
        </p:nvSpPr>
        <p:spPr>
          <a:xfrm rot="16924185">
            <a:off x="8591712" y="4793933"/>
            <a:ext cx="182340" cy="923499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873504"/>
          </a:xfrm>
          <a:prstGeom prst="rect">
            <a:avLst/>
          </a:prstGeom>
        </p:spPr>
        <p:txBody>
          <a:bodyPr>
            <a:normAutofit fontScale="90000"/>
          </a:bodyPr>
          <a:lstStyle/>
          <a:p>
            <a:pPr algn="ctr"/>
            <a:r>
              <a:rPr lang="fr-FR"/>
              <a:t>DAG Job =  </a:t>
            </a:r>
            <a:r>
              <a:rPr lang="fr-FR"/>
              <a:t>list</a:t>
            </a:r>
            <a:r>
              <a:rPr lang="fr-FR"/>
              <a:t> of Stages</a:t>
            </a:r>
            <a:br>
              <a:rPr lang="fr-FR"/>
            </a:br>
            <a:r>
              <a:rPr lang="fr-FR"/>
              <a:t>each</a:t>
            </a:r>
            <a:r>
              <a:rPr lang="fr-FR"/>
              <a:t> Stage = N "</a:t>
            </a:r>
            <a:r>
              <a:rPr lang="fr-FR"/>
              <a:t>narrow</a:t>
            </a:r>
            <a:r>
              <a:rPr lang="fr-FR"/>
              <a:t>" transformations</a:t>
            </a:r>
            <a:br>
              <a:rPr lang="fr-FR"/>
            </a:br>
            <a:r>
              <a:rPr lang="fr-FR"/>
              <a:t>between</a:t>
            </a:r>
            <a:r>
              <a:rPr lang="fr-FR"/>
              <a:t> Stages = Exchange </a:t>
            </a:r>
            <a:r>
              <a:rPr lang="fr-FR"/>
              <a:t>Shuffle</a:t>
            </a:r>
            <a:r>
              <a:rPr lang="fr-FR"/>
              <a:t> ("Wide" transfo.)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104892" y="1981200"/>
            <a:ext cx="3235708" cy="3505200"/>
          </a:xfrm>
          <a:prstGeom prst="rect">
            <a:avLst/>
          </a:prstGeom>
        </p:spPr>
      </p:pic>
      <p:sp>
        <p:nvSpPr>
          <p:cNvPr id="7" name="Arrow: Down 6"/>
          <p:cNvSpPr/>
          <p:nvPr/>
        </p:nvSpPr>
        <p:spPr>
          <a:xfrm>
            <a:off x="3850640" y="2387600"/>
            <a:ext cx="304800" cy="2783840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TextBox 7"/>
          <p:cNvSpPr txBox="1"/>
          <p:nvPr/>
        </p:nvSpPr>
        <p:spPr>
          <a:xfrm>
            <a:off x="523240" y="2717800"/>
            <a:ext cx="372364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1 stage = </a:t>
            </a:r>
          </a:p>
          <a:p>
            <a:r>
              <a:rPr lang="fr-FR"/>
              <a:t>Successive </a:t>
            </a:r>
            <a:r>
              <a:rPr lang="fr-FR" b="1"/>
              <a:t>Narrow </a:t>
            </a:r>
            <a:r>
              <a:rPr lang="fr-FR"/>
              <a:t>transformations</a:t>
            </a:r>
          </a:p>
          <a:p>
            <a:endParaRPr lang="fr-FR"/>
          </a:p>
          <a:p>
            <a:r>
              <a:rPr lang="fr-FR"/>
              <a:t>Bytecode</a:t>
            </a:r>
            <a:r>
              <a:rPr lang="fr-FR"/>
              <a:t> </a:t>
            </a:r>
            <a:r>
              <a:rPr lang="fr-FR"/>
              <a:t>generated</a:t>
            </a:r>
            <a:endParaRPr lang="fr-FR"/>
          </a:p>
          <a:p>
            <a:r>
              <a:rPr lang="fr-FR"/>
              <a:t>… </a:t>
            </a:r>
            <a:r>
              <a:rPr lang="fr-FR"/>
              <a:t>executed</a:t>
            </a:r>
            <a:r>
              <a:rPr lang="fr-FR"/>
              <a:t> </a:t>
            </a:r>
            <a:r>
              <a:rPr lang="fr-FR"/>
              <a:t>within</a:t>
            </a:r>
            <a:r>
              <a:rPr lang="fr-FR"/>
              <a:t> </a:t>
            </a:r>
            <a:r>
              <a:rPr lang="fr-FR"/>
              <a:t>same</a:t>
            </a:r>
            <a:r>
              <a:rPr lang="fr-FR"/>
              <a:t> Thread/Process</a:t>
            </a:r>
          </a:p>
        </p:txBody>
      </p:sp>
      <p:sp>
        <p:nvSpPr>
          <p:cNvPr id="9" name="Arrow: Down 8"/>
          <p:cNvSpPr/>
          <p:nvPr/>
        </p:nvSpPr>
        <p:spPr>
          <a:xfrm rot="16200000">
            <a:off x="5711273" y="5459412"/>
            <a:ext cx="304800" cy="939800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/>
          <p:cNvSpPr txBox="1"/>
          <p:nvPr/>
        </p:nvSpPr>
        <p:spPr>
          <a:xfrm>
            <a:off x="4328160" y="5842951"/>
            <a:ext cx="10656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Exchange</a:t>
            </a:r>
          </a:p>
          <a:p>
            <a:r>
              <a:rPr lang="fr-FR"/>
              <a:t>Output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3573" y="5435381"/>
            <a:ext cx="10656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Exchange</a:t>
            </a:r>
          </a:p>
          <a:p>
            <a:r>
              <a:rPr lang="fr-FR"/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04560" y="6348945"/>
            <a:ext cx="6014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Wide</a:t>
            </a:r>
            <a:r>
              <a:rPr lang="fr-FR"/>
              <a:t> transformation  … </a:t>
            </a:r>
            <a:r>
              <a:rPr lang="fr-FR"/>
              <a:t>separation</a:t>
            </a:r>
            <a:r>
              <a:rPr lang="fr-FR"/>
              <a:t> </a:t>
            </a:r>
            <a:r>
              <a:rPr lang="fr-FR"/>
              <a:t>between</a:t>
            </a:r>
            <a:r>
              <a:rPr lang="fr-FR"/>
              <a:t> successive </a:t>
            </a:r>
            <a:r>
              <a:rPr lang="fr-FR" b="1"/>
              <a:t>Stages</a:t>
            </a:r>
          </a:p>
        </p:txBody>
      </p:sp>
      <p:sp>
        <p:nvSpPr>
          <p:cNvPr id="13" name="Left Brace 12"/>
          <p:cNvSpPr/>
          <p:nvPr/>
        </p:nvSpPr>
        <p:spPr>
          <a:xfrm rot="19192059">
            <a:off x="1699980" y="4614561"/>
            <a:ext cx="439932" cy="2223715"/>
          </a:xfrm>
          <a:prstGeom prst="lef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TextBox 13"/>
          <p:cNvSpPr txBox="1"/>
          <p:nvPr/>
        </p:nvSpPr>
        <p:spPr>
          <a:xfrm>
            <a:off x="184577" y="5612565"/>
            <a:ext cx="20194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Job = </a:t>
            </a:r>
            <a:r>
              <a:rPr lang="fr-FR"/>
              <a:t> </a:t>
            </a:r>
          </a:p>
          <a:p>
            <a:r>
              <a:rPr lang="fr-FR"/>
              <a:t>Full DAG of Stages 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626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example</a:t>
            </a:r>
            <a:r>
              <a:rPr lang="fr-FR"/>
              <a:t> Word Count </a:t>
            </a:r>
            <a:r>
              <a:rPr lang="fr-FR"/>
              <a:t>DAGs</a:t>
            </a:r>
            <a:br>
              <a:rPr lang="fr-FR"/>
            </a:br>
            <a:r>
              <a:rPr lang="fr-FR"/>
              <a:t>simple -vs- </a:t>
            </a:r>
            <a:r>
              <a:rPr lang="fr-FR"/>
              <a:t>repartition</a:t>
            </a:r>
            <a:r>
              <a:rPr lang="fr-FR"/>
              <a:t>()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6995160" y="1387668"/>
            <a:ext cx="3810024" cy="5460171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549400" y="1387667"/>
            <a:ext cx="3479800" cy="5475271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291463"/>
          </a:xfrm>
          <a:prstGeom prst="rect">
            <a:avLst/>
          </a:prstGeom>
        </p:spPr>
        <p:txBody>
          <a:bodyPr>
            <a:normAutofit fontScale="90000"/>
          </a:bodyPr>
          <a:lstStyle/>
          <a:p>
            <a:pPr algn="ctr"/>
            <a:r>
              <a:rPr lang="fr-FR"/>
              <a:t>Stage = </a:t>
            </a:r>
            <a:r>
              <a:rPr lang="fr-FR"/>
              <a:t>list</a:t>
            </a:r>
            <a:r>
              <a:rPr lang="fr-FR"/>
              <a:t> of </a:t>
            </a:r>
            <a:r>
              <a:rPr lang="fr-FR"/>
              <a:t>Tasks</a:t>
            </a:r>
            <a:r>
              <a:rPr lang="fr-FR"/>
              <a:t> : 1 per Partition</a:t>
            </a:r>
            <a:br>
              <a:rPr lang="fr-FR"/>
            </a:br>
            <a:r>
              <a:rPr lang="fr-FR"/>
              <a:t>... </a:t>
            </a:r>
            <a:r>
              <a:rPr lang="fr-FR"/>
              <a:t>each</a:t>
            </a:r>
            <a:r>
              <a:rPr lang="fr-FR"/>
              <a:t> </a:t>
            </a:r>
            <a:r>
              <a:rPr lang="fr-FR"/>
              <a:t>scheduled</a:t>
            </a:r>
            <a:r>
              <a:rPr lang="fr-FR"/>
              <a:t> on an </a:t>
            </a:r>
            <a:r>
              <a:rPr lang="fr-FR"/>
              <a:t>executor</a:t>
            </a:r>
            <a:endParaRPr lang="fr-FR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542347" y="1466861"/>
            <a:ext cx="3235708" cy="3505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260864" y="3291808"/>
            <a:ext cx="47922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/>
              <a:t>Tasks</a:t>
            </a:r>
            <a:r>
              <a:rPr lang="fr-FR" sz="2800"/>
              <a:t> "</a:t>
            </a:r>
            <a:r>
              <a:rPr lang="fr-FR" sz="2800" b="1"/>
              <a:t>eventTimeline</a:t>
            </a:r>
            <a:r>
              <a:rPr lang="fr-FR" sz="2800"/>
              <a:t>" for stage</a:t>
            </a:r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4912628" y="3883279"/>
            <a:ext cx="2116763" cy="2427348"/>
          </a:xfrm>
          <a:prstGeom prst="rect">
            <a:avLst/>
          </a:prstGeom>
        </p:spPr>
      </p:pic>
      <p:sp>
        <p:nvSpPr>
          <p:cNvPr id="21" name="Arrow: Down 20"/>
          <p:cNvSpPr/>
          <p:nvPr/>
        </p:nvSpPr>
        <p:spPr>
          <a:xfrm rot="18927780">
            <a:off x="4187529" y="3419840"/>
            <a:ext cx="467139" cy="92687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TextBox 22"/>
          <p:cNvSpPr txBox="1"/>
          <p:nvPr/>
        </p:nvSpPr>
        <p:spPr>
          <a:xfrm>
            <a:off x="7599093" y="4096957"/>
            <a:ext cx="29122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Tasks</a:t>
            </a:r>
            <a:r>
              <a:rPr lang="fr-FR"/>
              <a:t> </a:t>
            </a:r>
            <a:r>
              <a:rPr lang="fr-FR"/>
              <a:t>executed</a:t>
            </a:r>
            <a:r>
              <a:rPr lang="fr-FR"/>
              <a:t> on </a:t>
            </a:r>
            <a:r>
              <a:rPr lang="fr-FR"/>
              <a:t>executor</a:t>
            </a:r>
            <a:r>
              <a:rPr lang="fr-FR"/>
              <a:t> 1</a:t>
            </a:r>
          </a:p>
        </p:txBody>
      </p:sp>
      <p:sp>
        <p:nvSpPr>
          <p:cNvPr id="24" name="Right Brace 23"/>
          <p:cNvSpPr/>
          <p:nvPr/>
        </p:nvSpPr>
        <p:spPr>
          <a:xfrm>
            <a:off x="7180694" y="3883278"/>
            <a:ext cx="267096" cy="870199"/>
          </a:xfrm>
          <a:prstGeom prst="righ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TextBox 24"/>
          <p:cNvSpPr txBox="1"/>
          <p:nvPr/>
        </p:nvSpPr>
        <p:spPr>
          <a:xfrm>
            <a:off x="7599093" y="5035406"/>
            <a:ext cx="29122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Tasks</a:t>
            </a:r>
            <a:r>
              <a:rPr lang="fr-FR"/>
              <a:t> </a:t>
            </a:r>
            <a:r>
              <a:rPr lang="fr-FR"/>
              <a:t>executed</a:t>
            </a:r>
            <a:r>
              <a:rPr lang="fr-FR"/>
              <a:t> on </a:t>
            </a:r>
            <a:r>
              <a:rPr lang="fr-FR"/>
              <a:t>executor</a:t>
            </a:r>
            <a:r>
              <a:rPr lang="fr-FR"/>
              <a:t> 2</a:t>
            </a:r>
          </a:p>
        </p:txBody>
      </p:sp>
      <p:sp>
        <p:nvSpPr>
          <p:cNvPr id="26" name="Right Brace 25"/>
          <p:cNvSpPr/>
          <p:nvPr/>
        </p:nvSpPr>
        <p:spPr>
          <a:xfrm>
            <a:off x="7180694" y="4821727"/>
            <a:ext cx="267096" cy="870199"/>
          </a:xfrm>
          <a:prstGeom prst="righ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TextBox 26"/>
          <p:cNvSpPr txBox="1"/>
          <p:nvPr/>
        </p:nvSpPr>
        <p:spPr>
          <a:xfrm>
            <a:off x="7599093" y="5973855"/>
            <a:ext cx="29122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Tasks</a:t>
            </a:r>
            <a:r>
              <a:rPr lang="fr-FR"/>
              <a:t> </a:t>
            </a:r>
            <a:r>
              <a:rPr lang="fr-FR"/>
              <a:t>executed</a:t>
            </a:r>
            <a:r>
              <a:rPr lang="fr-FR"/>
              <a:t> on </a:t>
            </a:r>
            <a:r>
              <a:rPr lang="fr-FR"/>
              <a:t>executor</a:t>
            </a:r>
            <a:r>
              <a:rPr lang="fr-FR"/>
              <a:t> 3</a:t>
            </a:r>
          </a:p>
        </p:txBody>
      </p:sp>
      <p:sp>
        <p:nvSpPr>
          <p:cNvPr id="29" name="Right Brace 28"/>
          <p:cNvSpPr/>
          <p:nvPr/>
        </p:nvSpPr>
        <p:spPr>
          <a:xfrm>
            <a:off x="7180694" y="5760176"/>
            <a:ext cx="267096" cy="870199"/>
          </a:xfrm>
          <a:prstGeom prst="righ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80186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Tasks</a:t>
            </a:r>
            <a:r>
              <a:rPr lang="fr-FR"/>
              <a:t> </a:t>
            </a:r>
            <a:r>
              <a:rPr lang="fr-FR"/>
              <a:t>may</a:t>
            </a:r>
            <a:r>
              <a:rPr lang="fr-FR"/>
              <a:t> fail, </a:t>
            </a:r>
            <a:r>
              <a:rPr lang="fr-FR"/>
              <a:t>Retry</a:t>
            </a:r>
            <a:r>
              <a:rPr lang="fr-FR"/>
              <a:t> </a:t>
            </a:r>
            <a:r>
              <a:rPr lang="fr-FR"/>
              <a:t>individually</a:t>
            </a:r>
            <a:endParaRPr lang="fr-FR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380018" y="2528125"/>
            <a:ext cx="2116763" cy="2427348"/>
          </a:xfrm>
          <a:prstGeom prst="rect">
            <a:avLst/>
          </a:prstGeom>
        </p:spPr>
      </p:pic>
      <p:sp>
        <p:nvSpPr>
          <p:cNvPr id="5" name="&quot;Not Allowed&quot; Symbol 4"/>
          <p:cNvSpPr/>
          <p:nvPr/>
        </p:nvSpPr>
        <p:spPr>
          <a:xfrm>
            <a:off x="2434014" y="3070474"/>
            <a:ext cx="217088" cy="203931"/>
          </a:xfrm>
          <a:prstGeom prst="noSmoking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6" name="Arrow: Curved Left 5"/>
          <p:cNvSpPr/>
          <p:nvPr/>
        </p:nvSpPr>
        <p:spPr>
          <a:xfrm rot="20429407">
            <a:off x="2800228" y="3059520"/>
            <a:ext cx="330340" cy="623306"/>
          </a:xfrm>
          <a:prstGeom prst="curved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651102" y="3618129"/>
            <a:ext cx="217088" cy="203931"/>
          </a:xfrm>
          <a:prstGeom prst="rect">
            <a:avLst/>
          </a:prstGeom>
          <a:noFill/>
          <a:ln w="412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TextBox 8"/>
          <p:cNvSpPr txBox="1"/>
          <p:nvPr/>
        </p:nvSpPr>
        <p:spPr>
          <a:xfrm>
            <a:off x="4690413" y="2717588"/>
            <a:ext cx="6538946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/>
              <a:t>Tasks</a:t>
            </a:r>
            <a:r>
              <a:rPr lang="fr-FR" sz="3200"/>
              <a:t> </a:t>
            </a:r>
            <a:r>
              <a:rPr lang="fr-FR" sz="3200"/>
              <a:t>errors</a:t>
            </a:r>
            <a:r>
              <a:rPr lang="fr-FR" sz="3200"/>
              <a:t> are </a:t>
            </a:r>
            <a:r>
              <a:rPr lang="fr-FR" sz="3200"/>
              <a:t>automatically</a:t>
            </a:r>
            <a:r>
              <a:rPr lang="fr-FR" sz="3200"/>
              <a:t> </a:t>
            </a:r>
            <a:r>
              <a:rPr lang="fr-FR" sz="3200"/>
              <a:t>retried</a:t>
            </a:r>
            <a:r>
              <a:rPr lang="fr-FR" sz="3200"/>
              <a:t> (</a:t>
            </a:r>
            <a:r>
              <a:rPr lang="fr-FR" sz="3200"/>
              <a:t>rescheduled</a:t>
            </a:r>
            <a:r>
              <a:rPr lang="fr-FR" sz="3200"/>
              <a:t>)</a:t>
            </a:r>
          </a:p>
          <a:p>
            <a:endParaRPr lang="fr-FR" sz="3200"/>
          </a:p>
          <a:p>
            <a:r>
              <a:rPr lang="fr-FR" sz="3200"/>
              <a:t>By default, </a:t>
            </a:r>
          </a:p>
          <a:p>
            <a:r>
              <a:rPr lang="fr-FR" sz="3200"/>
              <a:t>     </a:t>
            </a:r>
            <a:r>
              <a:rPr lang="fr-FR" sz="3200" b="1"/>
              <a:t>spark.task.maxFailures</a:t>
            </a:r>
            <a:r>
              <a:rPr lang="fr-FR" sz="3200" b="1"/>
              <a:t> = 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50468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Stage </a:t>
            </a:r>
            <a:r>
              <a:rPr lang="fr-FR"/>
              <a:t>Retry</a:t>
            </a:r>
            <a:r>
              <a:rPr lang="fr-FR"/>
              <a:t>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14037" y="1160512"/>
            <a:ext cx="6514059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/>
              <a:t>"Stage" </a:t>
            </a:r>
            <a:r>
              <a:rPr lang="fr-FR" sz="2800"/>
              <a:t>failures</a:t>
            </a:r>
            <a:r>
              <a:rPr lang="fr-FR" sz="2800"/>
              <a:t>, are </a:t>
            </a:r>
            <a:r>
              <a:rPr lang="fr-FR" sz="2800"/>
              <a:t>also</a:t>
            </a:r>
            <a:r>
              <a:rPr lang="fr-FR" sz="2800"/>
              <a:t> </a:t>
            </a:r>
            <a:r>
              <a:rPr lang="fr-FR" sz="2800"/>
              <a:t>retried</a:t>
            </a:r>
            <a:endParaRPr lang="fr-FR" sz="2800"/>
          </a:p>
          <a:p>
            <a:endParaRPr lang="fr-FR" sz="2800"/>
          </a:p>
          <a:p>
            <a:r>
              <a:rPr lang="fr-FR" sz="2800"/>
              <a:t>By default</a:t>
            </a:r>
          </a:p>
          <a:p>
            <a:r>
              <a:rPr lang="fr-FR" sz="2800" b="1"/>
              <a:t>spark.stage.maxConsecutiveAttempts</a:t>
            </a:r>
            <a:r>
              <a:rPr lang="fr-FR" sz="2800" b="1"/>
              <a:t> = 4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62978" y="1355029"/>
            <a:ext cx="3235708" cy="3505200"/>
          </a:xfrm>
          <a:prstGeom prst="rect">
            <a:avLst/>
          </a:prstGeom>
        </p:spPr>
      </p:pic>
      <p:sp>
        <p:nvSpPr>
          <p:cNvPr id="7" name="Arrow: Down 6"/>
          <p:cNvSpPr/>
          <p:nvPr/>
        </p:nvSpPr>
        <p:spPr>
          <a:xfrm rot="18927780">
            <a:off x="3221635" y="3522709"/>
            <a:ext cx="467139" cy="48822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Arrow: Down 7"/>
          <p:cNvSpPr/>
          <p:nvPr/>
        </p:nvSpPr>
        <p:spPr>
          <a:xfrm rot="18927780">
            <a:off x="4022772" y="4385031"/>
            <a:ext cx="467139" cy="47419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Arrow: Down 8"/>
          <p:cNvSpPr/>
          <p:nvPr/>
        </p:nvSpPr>
        <p:spPr>
          <a:xfrm rot="18927780">
            <a:off x="5518776" y="5866121"/>
            <a:ext cx="467139" cy="50520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/>
          <p:cNvSpPr txBox="1"/>
          <p:nvPr/>
        </p:nvSpPr>
        <p:spPr>
          <a:xfrm>
            <a:off x="3489055" y="3919976"/>
            <a:ext cx="1689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stage 6 (</a:t>
            </a:r>
            <a:r>
              <a:rPr lang="fr-FR" b="1"/>
              <a:t>retry</a:t>
            </a:r>
            <a:r>
              <a:rPr lang="fr-FR" b="1"/>
              <a:t> 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45805" y="4757320"/>
            <a:ext cx="1689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stage 6 (</a:t>
            </a:r>
            <a:r>
              <a:rPr lang="fr-FR" b="1"/>
              <a:t>retry</a:t>
            </a:r>
            <a:r>
              <a:rPr lang="fr-FR" b="1"/>
              <a:t>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0" y="6231643"/>
            <a:ext cx="18348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throw</a:t>
            </a:r>
            <a:r>
              <a:rPr lang="fr-FR"/>
              <a:t> </a:t>
            </a:r>
            <a:r>
              <a:rPr lang="fr-FR" b="1"/>
              <a:t>Job Failure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93402" y="5538212"/>
            <a:ext cx="1689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stage 6 (</a:t>
            </a:r>
            <a:r>
              <a:rPr lang="fr-FR" b="1"/>
              <a:t>retry</a:t>
            </a:r>
            <a:r>
              <a:rPr lang="fr-FR" b="1"/>
              <a:t> 3)</a:t>
            </a:r>
          </a:p>
        </p:txBody>
      </p:sp>
      <p:sp>
        <p:nvSpPr>
          <p:cNvPr id="14" name="Arrow: Down 13"/>
          <p:cNvSpPr/>
          <p:nvPr/>
        </p:nvSpPr>
        <p:spPr>
          <a:xfrm rot="18927780">
            <a:off x="4759833" y="5127301"/>
            <a:ext cx="467139" cy="46490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73325" y="3500264"/>
            <a:ext cx="878571" cy="1007481"/>
          </a:xfrm>
          <a:prstGeom prst="rect">
            <a:avLst/>
          </a:prstGeom>
        </p:spPr>
      </p:pic>
      <p:pic>
        <p:nvPicPr>
          <p:cNvPr id="16" name="Picture 15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934857" y="4520270"/>
            <a:ext cx="878571" cy="1007481"/>
          </a:xfrm>
          <a:prstGeom prst="rect">
            <a:avLst/>
          </a:prstGeom>
        </p:spPr>
      </p:pic>
      <p:pic>
        <p:nvPicPr>
          <p:cNvPr id="17" name="Picture 16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930479" y="5224162"/>
            <a:ext cx="878571" cy="1007481"/>
          </a:xfrm>
          <a:prstGeom prst="rect">
            <a:avLst/>
          </a:prstGeom>
        </p:spPr>
      </p:pic>
      <p:pic>
        <p:nvPicPr>
          <p:cNvPr id="18" name="Picture 17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4114831" y="2702639"/>
            <a:ext cx="878571" cy="1007481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73709" y="0"/>
            <a:ext cx="10515600" cy="1325626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Spark </a:t>
            </a:r>
            <a:r>
              <a:rPr lang="fr-FR"/>
              <a:t>History</a:t>
            </a:r>
            <a:r>
              <a:rPr lang="fr-FR"/>
              <a:t> Server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626"/>
          </a:xfrm>
          <a:prstGeom prst="rect">
            <a:avLst/>
          </a:prstGeom>
        </p:spPr>
        <p:txBody>
          <a:bodyPr/>
          <a:lstStyle/>
          <a:p>
            <a:r>
              <a:rPr lang="fr-FR"/>
              <a:t>How to </a:t>
            </a:r>
            <a:r>
              <a:rPr lang="fr-FR"/>
              <a:t>analyze</a:t>
            </a:r>
            <a:r>
              <a:rPr lang="fr-FR"/>
              <a:t> a </a:t>
            </a:r>
            <a:r>
              <a:rPr lang="fr-FR"/>
              <a:t>finished</a:t>
            </a:r>
            <a:r>
              <a:rPr lang="fr-FR"/>
              <a:t> </a:t>
            </a:r>
            <a:r>
              <a:rPr lang="fr-FR"/>
              <a:t>spark-submit</a:t>
            </a:r>
            <a:r>
              <a:rPr lang="fr-FR"/>
              <a:t> App?</a:t>
            </a:r>
          </a:p>
        </p:txBody>
      </p:sp>
      <p:sp>
        <p:nvSpPr>
          <p:cNvPr id="4" name="ZoneTexte 3"/>
          <p:cNvSpPr txBox="1"/>
          <p:nvPr/>
        </p:nvSpPr>
        <p:spPr>
          <a:xfrm>
            <a:off x="1608666" y="2599267"/>
            <a:ext cx="7539436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/>
              <a:t>Typical</a:t>
            </a:r>
            <a:r>
              <a:rPr lang="fr-FR" sz="2000"/>
              <a:t> use-case :  </a:t>
            </a:r>
            <a:br>
              <a:rPr lang="fr-FR" sz="2000"/>
            </a:br>
            <a:br>
              <a:rPr lang="fr-FR" sz="2000"/>
            </a:br>
            <a:r>
              <a:rPr lang="fr-FR" sz="2000"/>
              <a:t>    </a:t>
            </a:r>
            <a:r>
              <a:rPr lang="fr-FR" sz="2000"/>
              <a:t>most</a:t>
            </a:r>
            <a:r>
              <a:rPr lang="fr-FR" sz="2000"/>
              <a:t> </a:t>
            </a:r>
            <a:r>
              <a:rPr lang="fr-FR" sz="2000"/>
              <a:t>daily</a:t>
            </a:r>
            <a:r>
              <a:rPr lang="fr-FR" sz="2000"/>
              <a:t> </a:t>
            </a:r>
            <a:r>
              <a:rPr lang="fr-FR" sz="2000"/>
              <a:t>batches</a:t>
            </a:r>
            <a:r>
              <a:rPr lang="fr-FR" sz="2000"/>
              <a:t> run once per </a:t>
            </a:r>
            <a:r>
              <a:rPr lang="fr-FR" sz="2000"/>
              <a:t>day</a:t>
            </a:r>
            <a:r>
              <a:rPr lang="fr-FR" sz="2000"/>
              <a:t>, </a:t>
            </a:r>
            <a:r>
              <a:rPr lang="fr-FR" sz="2000"/>
              <a:t>late</a:t>
            </a:r>
            <a:r>
              <a:rPr lang="fr-FR" sz="2000"/>
              <a:t> or </a:t>
            </a:r>
            <a:r>
              <a:rPr lang="fr-FR" sz="2000"/>
              <a:t>during</a:t>
            </a:r>
            <a:r>
              <a:rPr lang="fr-FR" sz="2000"/>
              <a:t> night </a:t>
            </a:r>
          </a:p>
          <a:p>
            <a:endParaRPr lang="fr-FR" sz="2000"/>
          </a:p>
          <a:p>
            <a:endParaRPr lang="fr-FR" sz="2000"/>
          </a:p>
          <a:p>
            <a:r>
              <a:rPr lang="fr-FR" sz="2000"/>
              <a:t>How to </a:t>
            </a:r>
            <a:r>
              <a:rPr lang="fr-FR" sz="2000"/>
              <a:t>analyze</a:t>
            </a:r>
            <a:r>
              <a:rPr lang="fr-FR" sz="2000"/>
              <a:t> performances, but OFFLINE ?</a:t>
            </a:r>
          </a:p>
          <a:p>
            <a:r>
              <a:rPr lang="fr-FR" sz="2000"/>
              <a:t>(process </a:t>
            </a:r>
            <a:r>
              <a:rPr lang="fr-FR" sz="2000"/>
              <a:t>finished</a:t>
            </a:r>
            <a:r>
              <a:rPr lang="fr-FR" sz="2000"/>
              <a:t>  =&gt; not able to </a:t>
            </a:r>
            <a:r>
              <a:rPr lang="fr-FR" sz="2000"/>
              <a:t>connect</a:t>
            </a:r>
            <a:r>
              <a:rPr lang="fr-FR" sz="2000"/>
              <a:t> to « http://localhost:4040 »  )</a:t>
            </a:r>
          </a:p>
          <a:p>
            <a:endParaRPr lang="fr-FR" sz="2000"/>
          </a:p>
          <a:p>
            <a:r>
              <a:rPr lang="fr-FR" sz="2000"/>
              <a:t>How to compare performances </a:t>
            </a:r>
            <a:r>
              <a:rPr lang="fr-FR" sz="2000"/>
              <a:t>with</a:t>
            </a:r>
            <a:r>
              <a:rPr lang="fr-FR" sz="2000"/>
              <a:t> </a:t>
            </a:r>
            <a:r>
              <a:rPr lang="fr-FR" sz="2000"/>
              <a:t>older</a:t>
            </a:r>
            <a:r>
              <a:rPr lang="fr-FR" sz="2000"/>
              <a:t> applications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06680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eventLog</a:t>
            </a:r>
            <a:r>
              <a:rPr lang="fr-FR"/>
              <a:t> Files, </a:t>
            </a:r>
            <a:r>
              <a:rPr lang="fr-FR"/>
              <a:t>disabled</a:t>
            </a:r>
            <a:r>
              <a:rPr lang="fr-FR"/>
              <a:t> by default</a:t>
            </a:r>
          </a:p>
        </p:txBody>
      </p:sp>
      <p:sp>
        <p:nvSpPr>
          <p:cNvPr id="5" name="ZoneTexte 4"/>
          <p:cNvSpPr txBox="1"/>
          <p:nvPr/>
        </p:nvSpPr>
        <p:spPr>
          <a:xfrm>
            <a:off x="2980265" y="2258537"/>
            <a:ext cx="730673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/>
              <a:t># </a:t>
            </a:r>
            <a:r>
              <a:rPr lang="fr-FR"/>
              <a:t>spark.eventLog.enabled</a:t>
            </a:r>
            <a:r>
              <a:rPr lang="fr-FR"/>
              <a:t>     </a:t>
            </a:r>
            <a:r>
              <a:rPr lang="fr-FR"/>
              <a:t>true</a:t>
            </a:r>
            <a:endParaRPr lang="fr-FR"/>
          </a:p>
          <a:p>
            <a:r>
              <a:rPr lang="fr-FR"/>
              <a:t># </a:t>
            </a:r>
            <a:r>
              <a:rPr lang="fr-FR"/>
              <a:t>spark.eventLog.dir</a:t>
            </a:r>
            <a:r>
              <a:rPr lang="fr-FR"/>
              <a:t>               hdfs://namenode:8021/directory</a:t>
            </a:r>
          </a:p>
          <a:p>
            <a:r>
              <a:rPr lang="fr-FR"/>
              <a:t>…</a:t>
            </a:r>
          </a:p>
        </p:txBody>
      </p:sp>
      <p:sp>
        <p:nvSpPr>
          <p:cNvPr id="7" name="ZoneTexte 6"/>
          <p:cNvSpPr txBox="1"/>
          <p:nvPr/>
        </p:nvSpPr>
        <p:spPr>
          <a:xfrm>
            <a:off x="914400" y="1673413"/>
            <a:ext cx="7645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/>
              <a:t>Extract</a:t>
            </a:r>
            <a:r>
              <a:rPr lang="fr-FR"/>
              <a:t> of file ${SPARK_HOME} / conf / </a:t>
            </a:r>
            <a:r>
              <a:rPr lang="fr-FR"/>
              <a:t>spark-defaults.conf.template</a:t>
            </a:r>
            <a:endParaRPr lang="fr-FR"/>
          </a:p>
        </p:txBody>
      </p:sp>
      <p:sp>
        <p:nvSpPr>
          <p:cNvPr id="14" name="ZoneTexte 13"/>
          <p:cNvSpPr txBox="1"/>
          <p:nvPr/>
        </p:nvSpPr>
        <p:spPr>
          <a:xfrm>
            <a:off x="914400" y="3903133"/>
            <a:ext cx="720960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By default, </a:t>
            </a:r>
            <a:r>
              <a:rPr lang="fr-FR" b="1"/>
              <a:t>eventLog</a:t>
            </a:r>
            <a:r>
              <a:rPr lang="fr-FR" b="1"/>
              <a:t>  Files are </a:t>
            </a:r>
            <a:r>
              <a:rPr lang="fr-FR" b="1"/>
              <a:t>disabled</a:t>
            </a:r>
            <a:endParaRPr lang="fr-FR" b="1"/>
          </a:p>
          <a:p>
            <a:endParaRPr lang="fr-FR"/>
          </a:p>
          <a:p>
            <a:r>
              <a:rPr lang="fr-FR"/>
              <a:t>(no « </a:t>
            </a:r>
            <a:r>
              <a:rPr lang="fr-FR"/>
              <a:t>spark-defaults.conf</a:t>
            </a:r>
            <a:r>
              <a:rPr lang="fr-FR"/>
              <a:t> » file, and in the </a:t>
            </a:r>
            <a:r>
              <a:rPr lang="fr-FR"/>
              <a:t>template</a:t>
            </a:r>
            <a:r>
              <a:rPr lang="fr-FR"/>
              <a:t> </a:t>
            </a:r>
            <a:r>
              <a:rPr lang="fr-FR"/>
              <a:t>it</a:t>
            </a:r>
            <a:r>
              <a:rPr lang="fr-FR"/>
              <a:t> </a:t>
            </a:r>
            <a:r>
              <a:rPr lang="fr-FR"/>
              <a:t>is</a:t>
            </a:r>
            <a:r>
              <a:rPr lang="fr-FR"/>
              <a:t> </a:t>
            </a:r>
            <a:r>
              <a:rPr lang="fr-FR"/>
              <a:t>commented</a:t>
            </a:r>
            <a:r>
              <a:rPr lang="fr-FR"/>
              <a:t> « # »  )</a:t>
            </a:r>
          </a:p>
        </p:txBody>
      </p:sp>
      <p:sp>
        <p:nvSpPr>
          <p:cNvPr id="15" name="ZoneTexte 14"/>
          <p:cNvSpPr txBox="1"/>
          <p:nvPr/>
        </p:nvSpPr>
        <p:spPr>
          <a:xfrm>
            <a:off x="926235" y="5300133"/>
            <a:ext cx="76335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Notice:  </a:t>
            </a:r>
            <a:r>
              <a:rPr lang="fr-FR"/>
              <a:t>eventLog</a:t>
            </a:r>
            <a:r>
              <a:rPr lang="fr-FR"/>
              <a:t> Files  are DIFFERENT FROM   log4j  </a:t>
            </a:r>
            <a:r>
              <a:rPr lang="fr-FR"/>
              <a:t>stdout</a:t>
            </a:r>
            <a:r>
              <a:rPr lang="fr-FR"/>
              <a:t> files</a:t>
            </a:r>
          </a:p>
          <a:p>
            <a:r>
              <a:rPr lang="fr-FR"/>
              <a:t>By default, </a:t>
            </a:r>
            <a:r>
              <a:rPr lang="fr-FR"/>
              <a:t>there</a:t>
            </a:r>
            <a:r>
              <a:rPr lang="fr-FR"/>
              <a:t> </a:t>
            </a:r>
            <a:r>
              <a:rPr lang="fr-FR"/>
              <a:t>is</a:t>
            </a:r>
            <a:r>
              <a:rPr lang="fr-FR"/>
              <a:t> </a:t>
            </a:r>
            <a:r>
              <a:rPr lang="fr-FR"/>
              <a:t>also</a:t>
            </a:r>
            <a:r>
              <a:rPr lang="fr-FR"/>
              <a:t> NO log file (</a:t>
            </a:r>
            <a:r>
              <a:rPr lang="fr-FR"/>
              <a:t>only</a:t>
            </a:r>
            <a:r>
              <a:rPr lang="fr-FR"/>
              <a:t> WARN message are </a:t>
            </a:r>
            <a:r>
              <a:rPr lang="fr-FR"/>
              <a:t>written</a:t>
            </a:r>
            <a:r>
              <a:rPr lang="fr-FR"/>
              <a:t> to console)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55091"/>
          </a:xfrm>
          <a:prstGeom prst="rect">
            <a:avLst/>
          </a:prstGeom>
        </p:spPr>
        <p:txBody>
          <a:bodyPr>
            <a:normAutofit/>
          </a:bodyPr>
          <a:lstStyle/>
          <a:p>
            <a:pPr algn="ctr"/>
            <a:r>
              <a:rPr lang="fr-FR"/>
              <a:t>Enabling</a:t>
            </a:r>
            <a:r>
              <a:rPr lang="fr-FR"/>
              <a:t> </a:t>
            </a:r>
            <a:r>
              <a:rPr lang="fr-FR"/>
              <a:t>eventLog</a:t>
            </a:r>
            <a:r>
              <a:rPr lang="fr-FR"/>
              <a:t> Files</a:t>
            </a:r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6578599" y="875979"/>
            <a:ext cx="3392925" cy="1992507"/>
          </a:xfrm>
          <a:prstGeom prst="rect">
            <a:avLst/>
          </a:prstGeom>
        </p:spPr>
      </p:pic>
      <p:sp>
        <p:nvSpPr>
          <p:cNvPr id="6" name="ZoneTexte 5"/>
          <p:cNvSpPr txBox="1"/>
          <p:nvPr/>
        </p:nvSpPr>
        <p:spPr>
          <a:xfrm>
            <a:off x="714329" y="3051538"/>
            <a:ext cx="7645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/>
              <a:t>+ Edit to </a:t>
            </a:r>
            <a:r>
              <a:rPr lang="fr-FR"/>
              <a:t>uncomment</a:t>
            </a:r>
            <a:r>
              <a:rPr lang="fr-FR"/>
              <a:t> and configure log </a:t>
            </a:r>
            <a:r>
              <a:rPr lang="fr-FR"/>
              <a:t>dir</a:t>
            </a:r>
            <a:endParaRPr lang="fr-FR"/>
          </a:p>
        </p:txBody>
      </p:sp>
      <p:sp>
        <p:nvSpPr>
          <p:cNvPr id="7" name="ZoneTexte 6"/>
          <p:cNvSpPr txBox="1"/>
          <p:nvPr/>
        </p:nvSpPr>
        <p:spPr>
          <a:xfrm>
            <a:off x="2910323" y="3506675"/>
            <a:ext cx="719666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/>
              <a:t>spark.eventLog.enabled</a:t>
            </a:r>
            <a:r>
              <a:rPr lang="fr-FR"/>
              <a:t>     </a:t>
            </a:r>
            <a:r>
              <a:rPr lang="fr-FR"/>
              <a:t>true</a:t>
            </a:r>
            <a:endParaRPr lang="fr-FR"/>
          </a:p>
          <a:p>
            <a:r>
              <a:rPr lang="fr-FR" b="1"/>
              <a:t>spark.eventLog.dir</a:t>
            </a:r>
            <a:r>
              <a:rPr lang="fr-FR"/>
              <a:t>               </a:t>
            </a:r>
            <a:r>
              <a:rPr lang="fr-FR">
                <a:hlinkClick r:id="rId3"/>
              </a:rPr>
              <a:t>file:///C:/apps/spark/spark-eventLog</a:t>
            </a:r>
            <a:br>
              <a:rPr lang="fr-FR"/>
            </a:br>
            <a:endParaRPr lang="fr-FR"/>
          </a:p>
          <a:p>
            <a:r>
              <a:rPr lang="fr-FR"/>
              <a:t># </a:t>
            </a:r>
            <a:r>
              <a:rPr lang="fr-FR"/>
              <a:t>also</a:t>
            </a:r>
            <a:r>
              <a:rPr lang="fr-FR"/>
              <a:t> </a:t>
            </a:r>
            <a:r>
              <a:rPr lang="fr-FR"/>
              <a:t>edit</a:t>
            </a:r>
            <a:r>
              <a:rPr lang="fr-FR"/>
              <a:t> for </a:t>
            </a:r>
            <a:r>
              <a:rPr lang="fr-FR"/>
              <a:t>HistoryServer</a:t>
            </a:r>
            <a:endParaRPr lang="fr-FR"/>
          </a:p>
          <a:p>
            <a:r>
              <a:rPr lang="en-US" b="1"/>
              <a:t>spark.history.fs.logDirectory</a:t>
            </a:r>
            <a:r>
              <a:rPr lang="en-US"/>
              <a:t>	file:///C:/apps/spark/spark-eventLog</a:t>
            </a:r>
            <a:br>
              <a:rPr lang="fr-FR"/>
            </a:br>
            <a:endParaRPr lang="fr-FR"/>
          </a:p>
        </p:txBody>
      </p:sp>
      <p:sp>
        <p:nvSpPr>
          <p:cNvPr id="8" name="ZoneTexte 7"/>
          <p:cNvSpPr txBox="1"/>
          <p:nvPr/>
        </p:nvSpPr>
        <p:spPr>
          <a:xfrm>
            <a:off x="714329" y="5318667"/>
            <a:ext cx="28109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/>
              <a:t>Or </a:t>
            </a:r>
            <a:r>
              <a:rPr lang="fr-FR"/>
              <a:t>also</a:t>
            </a:r>
            <a:r>
              <a:rPr lang="fr-FR"/>
              <a:t> explicit launch:</a:t>
            </a:r>
          </a:p>
        </p:txBody>
      </p:sp>
      <p:sp>
        <p:nvSpPr>
          <p:cNvPr id="9" name="ZoneTexte 8"/>
          <p:cNvSpPr txBox="1"/>
          <p:nvPr/>
        </p:nvSpPr>
        <p:spPr>
          <a:xfrm>
            <a:off x="714329" y="1244831"/>
            <a:ext cx="7645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/>
              <a:t>Copy file </a:t>
            </a:r>
            <a:r>
              <a:rPr lang="fr-FR"/>
              <a:t>spark-defaults.conf.template</a:t>
            </a:r>
            <a:r>
              <a:rPr lang="fr-FR"/>
              <a:t> to </a:t>
            </a:r>
            <a:r>
              <a:rPr lang="fr-FR"/>
              <a:t>spark-defaults.conf</a:t>
            </a:r>
            <a:endParaRPr lang="fr-FR"/>
          </a:p>
        </p:txBody>
      </p:sp>
      <p:sp>
        <p:nvSpPr>
          <p:cNvPr id="10" name="ZoneTexte 9"/>
          <p:cNvSpPr txBox="1"/>
          <p:nvPr/>
        </p:nvSpPr>
        <p:spPr>
          <a:xfrm>
            <a:off x="2980265" y="5617275"/>
            <a:ext cx="881380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/>
              <a:t>spark-shell</a:t>
            </a:r>
            <a:r>
              <a:rPr lang="fr-FR"/>
              <a:t> \</a:t>
            </a:r>
          </a:p>
          <a:p>
            <a:r>
              <a:rPr lang="fr-FR"/>
              <a:t>          --conf </a:t>
            </a:r>
            <a:r>
              <a:rPr lang="fr-FR"/>
              <a:t>spark.eventLog.enabled</a:t>
            </a:r>
            <a:r>
              <a:rPr lang="fr-FR"/>
              <a:t>=</a:t>
            </a:r>
            <a:r>
              <a:rPr lang="fr-FR"/>
              <a:t>true</a:t>
            </a:r>
            <a:r>
              <a:rPr lang="fr-FR"/>
              <a:t>  \</a:t>
            </a:r>
            <a:br>
              <a:rPr lang="fr-FR"/>
            </a:br>
            <a:r>
              <a:rPr lang="fr-FR"/>
              <a:t>          --conf </a:t>
            </a:r>
            <a:r>
              <a:rPr lang="fr-FR"/>
              <a:t>spark.eventLog.dir</a:t>
            </a:r>
            <a:r>
              <a:rPr lang="fr-FR"/>
              <a:t>=file:///C:/apps/spark/spark-eventLog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22909"/>
          </a:xfrm>
          <a:prstGeom prst="rect">
            <a:avLst/>
          </a:prstGeom>
        </p:spPr>
        <p:txBody>
          <a:bodyPr>
            <a:normAutofit/>
          </a:bodyPr>
          <a:lstStyle/>
          <a:p>
            <a:pPr algn="ctr"/>
            <a:r>
              <a:rPr lang="fr-FR"/>
              <a:t>Launching</a:t>
            </a:r>
            <a:r>
              <a:rPr lang="fr-FR"/>
              <a:t> </a:t>
            </a:r>
            <a:r>
              <a:rPr lang="fr-FR"/>
              <a:t>spark</a:t>
            </a:r>
            <a:r>
              <a:rPr lang="fr-FR"/>
              <a:t> =&gt; 1 </a:t>
            </a:r>
            <a:r>
              <a:rPr lang="fr-FR"/>
              <a:t>Dir</a:t>
            </a:r>
            <a:r>
              <a:rPr lang="fr-FR"/>
              <a:t> + N x </a:t>
            </a:r>
            <a:r>
              <a:rPr lang="fr-FR"/>
              <a:t>written</a:t>
            </a:r>
            <a:r>
              <a:rPr lang="fr-FR"/>
              <a:t> Files</a:t>
            </a:r>
          </a:p>
        </p:txBody>
      </p:sp>
      <p:pic>
        <p:nvPicPr>
          <p:cNvPr id="7" name="Image 6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399595" y="1281379"/>
            <a:ext cx="6516009" cy="1876687"/>
          </a:xfrm>
          <a:prstGeom prst="rect">
            <a:avLst/>
          </a:prstGeom>
        </p:spPr>
      </p:pic>
      <p:pic>
        <p:nvPicPr>
          <p:cNvPr id="9" name="Image 8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3502581" y="3516577"/>
            <a:ext cx="7201905" cy="3134162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29691"/>
          </a:xfrm>
          <a:prstGeom prst="rect">
            <a:avLst/>
          </a:prstGeom>
        </p:spPr>
        <p:txBody>
          <a:bodyPr>
            <a:normAutofit/>
          </a:bodyPr>
          <a:lstStyle/>
          <a:p>
            <a:pPr algn="ctr"/>
            <a:r>
              <a:rPr lang="fr-FR"/>
              <a:t>Uncompressing</a:t>
            </a:r>
            <a:r>
              <a:rPr lang="fr-FR"/>
              <a:t> </a:t>
            </a:r>
            <a:r>
              <a:rPr lang="fr-FR"/>
              <a:t>EventLog</a:t>
            </a:r>
            <a:r>
              <a:rPr lang="fr-FR"/>
              <a:t> Files, </a:t>
            </a:r>
            <a:r>
              <a:rPr lang="fr-FR"/>
              <a:t>internal</a:t>
            </a:r>
            <a:r>
              <a:rPr lang="fr-FR"/>
              <a:t> Check</a:t>
            </a:r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0" y="1650694"/>
            <a:ext cx="12192000" cy="511447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778891"/>
          </a:xfrm>
          <a:prstGeom prst="rect">
            <a:avLst/>
          </a:prstGeom>
        </p:spPr>
        <p:txBody>
          <a:bodyPr>
            <a:normAutofit/>
          </a:bodyPr>
          <a:lstStyle/>
          <a:p>
            <a:pPr algn="ctr"/>
            <a:r>
              <a:rPr lang="fr-FR"/>
              <a:t>eventLog</a:t>
            </a:r>
            <a:r>
              <a:rPr lang="fr-FR"/>
              <a:t> Files Source Details…</a:t>
            </a:r>
          </a:p>
        </p:txBody>
      </p:sp>
      <p:sp>
        <p:nvSpPr>
          <p:cNvPr id="4" name="ZoneTexte 3"/>
          <p:cNvSpPr txBox="1"/>
          <p:nvPr/>
        </p:nvSpPr>
        <p:spPr>
          <a:xfrm>
            <a:off x="482601" y="649772"/>
            <a:ext cx="95673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/>
              <a:t>eventLog</a:t>
            </a:r>
            <a:r>
              <a:rPr lang="fr-FR"/>
              <a:t> = ND-JSON file </a:t>
            </a:r>
            <a:r>
              <a:rPr lang="fr-FR"/>
              <a:t>containing</a:t>
            </a:r>
            <a:r>
              <a:rPr lang="fr-FR"/>
              <a:t> </a:t>
            </a:r>
            <a:r>
              <a:rPr lang="fr-FR"/>
              <a:t>internal</a:t>
            </a:r>
            <a:r>
              <a:rPr lang="fr-FR"/>
              <a:t> </a:t>
            </a:r>
            <a:r>
              <a:rPr lang="fr-FR"/>
              <a:t>SparkListener</a:t>
            </a:r>
            <a:r>
              <a:rPr lang="fr-FR"/>
              <a:t> Bus </a:t>
            </a:r>
            <a:r>
              <a:rPr lang="fr-FR"/>
              <a:t>events</a:t>
            </a:r>
            <a:endParaRPr lang="fr-FR"/>
          </a:p>
        </p:txBody>
      </p:sp>
      <p:pic>
        <p:nvPicPr>
          <p:cNvPr id="6" name="Image 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6713139" y="2119923"/>
            <a:ext cx="4771295" cy="4592542"/>
          </a:xfrm>
          <a:prstGeom prst="rect">
            <a:avLst/>
          </a:prstGeom>
        </p:spPr>
      </p:pic>
      <p:sp>
        <p:nvSpPr>
          <p:cNvPr id="8" name="ZoneTexte 7"/>
          <p:cNvSpPr txBox="1"/>
          <p:nvPr/>
        </p:nvSpPr>
        <p:spPr>
          <a:xfrm>
            <a:off x="6713139" y="1207211"/>
            <a:ext cx="445346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>
                <a:hlinkClick r:id="rId3"/>
              </a:rPr>
              <a:t>https://github.com/apache/spark/blob/master/core/src/main/scala/org/apache/spark/util/JsonProtocol.scala</a:t>
            </a:r>
            <a:r>
              <a:rPr lang="fr-FR"/>
              <a:t> </a:t>
            </a:r>
          </a:p>
        </p:txBody>
      </p:sp>
      <p:pic>
        <p:nvPicPr>
          <p:cNvPr id="13" name="Image 12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838200" y="2119923"/>
            <a:ext cx="4505749" cy="4738077"/>
          </a:xfrm>
          <a:prstGeom prst="rect">
            <a:avLst/>
          </a:prstGeom>
        </p:spPr>
      </p:pic>
      <p:sp>
        <p:nvSpPr>
          <p:cNvPr id="15" name="ZoneTexte 14"/>
          <p:cNvSpPr txBox="1"/>
          <p:nvPr/>
        </p:nvSpPr>
        <p:spPr>
          <a:xfrm>
            <a:off x="230081" y="1196593"/>
            <a:ext cx="47244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>
                <a:hlinkClick r:id="rId5"/>
              </a:rPr>
              <a:t>https://github.com/apache/spark/blob/master/core/src/main/scala/org/apache/spark/scheduler/SparkListener.scala</a:t>
            </a:r>
            <a:r>
              <a:rPr lang="fr-FR"/>
              <a:t> 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16686"/>
          </a:xfrm>
          <a:prstGeom prst="rect">
            <a:avLst/>
          </a:prstGeom>
        </p:spPr>
        <p:txBody>
          <a:bodyPr>
            <a:normAutofit/>
          </a:bodyPr>
          <a:lstStyle/>
          <a:p>
            <a:pPr algn="ctr"/>
            <a:r>
              <a:rPr lang="fr-FR"/>
              <a:t>Running Spark </a:t>
            </a:r>
            <a:r>
              <a:rPr lang="fr-FR"/>
              <a:t>History</a:t>
            </a:r>
            <a:r>
              <a:rPr lang="fr-FR"/>
              <a:t> Server</a:t>
            </a:r>
          </a:p>
        </p:txBody>
      </p:sp>
      <p:sp>
        <p:nvSpPr>
          <p:cNvPr id="4" name="ZoneTexte 3"/>
          <p:cNvSpPr txBox="1"/>
          <p:nvPr/>
        </p:nvSpPr>
        <p:spPr>
          <a:xfrm>
            <a:off x="584200" y="1690688"/>
            <a:ext cx="53128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The History Server is</a:t>
            </a:r>
            <a:r>
              <a:rPr lang="fr-FR"/>
              <a:t> the </a:t>
            </a:r>
            <a:r>
              <a:rPr lang="fr-FR"/>
              <a:t>same</a:t>
            </a:r>
            <a:r>
              <a:rPr lang="fr-FR"/>
              <a:t> code </a:t>
            </a:r>
            <a:r>
              <a:rPr lang="fr-FR"/>
              <a:t>that</a:t>
            </a:r>
            <a:r>
              <a:rPr lang="fr-FR"/>
              <a:t> Spark UI, </a:t>
            </a:r>
          </a:p>
          <a:p>
            <a:r>
              <a:rPr lang="fr-FR"/>
              <a:t>but running as a Web Server to </a:t>
            </a:r>
            <a:r>
              <a:rPr lang="fr-FR"/>
              <a:t>view</a:t>
            </a:r>
            <a:r>
              <a:rPr lang="fr-FR"/>
              <a:t> </a:t>
            </a:r>
            <a:r>
              <a:rPr lang="fr-FR"/>
              <a:t>old</a:t>
            </a:r>
            <a:r>
              <a:rPr lang="fr-FR"/>
              <a:t> </a:t>
            </a:r>
            <a:r>
              <a:rPr lang="fr-FR"/>
              <a:t>eventLog</a:t>
            </a:r>
            <a:r>
              <a:rPr lang="fr-FR"/>
              <a:t> Files</a:t>
            </a:r>
          </a:p>
        </p:txBody>
      </p:sp>
      <p:pic>
        <p:nvPicPr>
          <p:cNvPr id="6" name="Image 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6620934" y="1569813"/>
            <a:ext cx="4553383" cy="4888602"/>
          </a:xfrm>
          <a:prstGeom prst="rect">
            <a:avLst/>
          </a:prstGeom>
        </p:spPr>
      </p:pic>
      <p:sp>
        <p:nvSpPr>
          <p:cNvPr id="7" name="ZoneTexte 6"/>
          <p:cNvSpPr txBox="1"/>
          <p:nvPr/>
        </p:nvSpPr>
        <p:spPr>
          <a:xfrm>
            <a:off x="838200" y="3191933"/>
            <a:ext cx="448142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To run </a:t>
            </a:r>
            <a:r>
              <a:rPr lang="fr-FR"/>
              <a:t>it</a:t>
            </a:r>
            <a:r>
              <a:rPr lang="fr-FR"/>
              <a:t> …</a:t>
            </a:r>
          </a:p>
          <a:p>
            <a:endParaRPr lang="fr-FR"/>
          </a:p>
          <a:p>
            <a:r>
              <a:rPr lang="fr-FR" b="1"/>
              <a:t>${SPARK_HOME}/sbin/start-history-server.sh</a:t>
            </a:r>
          </a:p>
        </p:txBody>
      </p:sp>
      <p:sp>
        <p:nvSpPr>
          <p:cNvPr id="8" name="ZoneTexte 7"/>
          <p:cNvSpPr txBox="1"/>
          <p:nvPr/>
        </p:nvSpPr>
        <p:spPr>
          <a:xfrm>
            <a:off x="838200" y="4876800"/>
            <a:ext cx="551086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Notice:</a:t>
            </a:r>
            <a:br>
              <a:rPr lang="fr-FR"/>
            </a:br>
            <a:r>
              <a:rPr lang="fr-FR"/>
              <a:t>- in « </a:t>
            </a:r>
            <a:r>
              <a:rPr lang="fr-FR"/>
              <a:t>sbin</a:t>
            </a:r>
            <a:r>
              <a:rPr lang="fr-FR"/>
              <a:t> » directory, not in « bin » (</a:t>
            </a:r>
            <a:r>
              <a:rPr lang="fr-FR"/>
              <a:t>so</a:t>
            </a:r>
            <a:r>
              <a:rPr lang="fr-FR"/>
              <a:t> not in </a:t>
            </a:r>
            <a:r>
              <a:rPr lang="fr-FR"/>
              <a:t>your</a:t>
            </a:r>
            <a:r>
              <a:rPr lang="fr-FR"/>
              <a:t> PATH)</a:t>
            </a:r>
          </a:p>
          <a:p>
            <a:r>
              <a:rPr lang="fr-FR"/>
              <a:t>- </a:t>
            </a:r>
            <a:r>
              <a:rPr lang="fr-FR"/>
              <a:t>Only</a:t>
            </a:r>
            <a:r>
              <a:rPr lang="fr-FR"/>
              <a:t> « .sh » </a:t>
            </a:r>
            <a:r>
              <a:rPr lang="fr-FR"/>
              <a:t>bash</a:t>
            </a:r>
            <a:r>
              <a:rPr lang="fr-FR"/>
              <a:t> script,  no </a:t>
            </a:r>
            <a:r>
              <a:rPr lang="fr-FR"/>
              <a:t>windows</a:t>
            </a:r>
            <a:r>
              <a:rPr lang="fr-FR"/>
              <a:t> « .cmd »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14400"/>
          </a:xfrm>
          <a:prstGeom prst="rect">
            <a:avLst/>
          </a:prstGeom>
        </p:spPr>
        <p:txBody>
          <a:bodyPr>
            <a:normAutofit/>
          </a:bodyPr>
          <a:lstStyle/>
          <a:p>
            <a:pPr algn="ctr"/>
            <a:r>
              <a:rPr lang="fr-FR"/>
              <a:t>Spark </a:t>
            </a:r>
            <a:r>
              <a:rPr lang="fr-FR"/>
              <a:t>History</a:t>
            </a:r>
            <a:r>
              <a:rPr lang="fr-FR"/>
              <a:t> Server …</a:t>
            </a:r>
          </a:p>
        </p:txBody>
      </p:sp>
      <p:sp>
        <p:nvSpPr>
          <p:cNvPr id="5" name="ZoneTexte 4"/>
          <p:cNvSpPr txBox="1"/>
          <p:nvPr/>
        </p:nvSpPr>
        <p:spPr>
          <a:xfrm>
            <a:off x="2074332" y="2724326"/>
            <a:ext cx="854286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b="1"/>
              <a:t>spark-class.cmd </a:t>
            </a:r>
            <a:r>
              <a:rPr lang="fr-FR" sz="2400" b="1"/>
              <a:t>org.apache.spark.deploy.history.HistoryServer</a:t>
            </a:r>
            <a:endParaRPr lang="fr-FR" sz="2400" b="1"/>
          </a:p>
        </p:txBody>
      </p:sp>
      <p:pic>
        <p:nvPicPr>
          <p:cNvPr id="7" name="Image 6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0" y="5069704"/>
            <a:ext cx="12192000" cy="1000895"/>
          </a:xfrm>
          <a:prstGeom prst="rect">
            <a:avLst/>
          </a:prstGeom>
        </p:spPr>
      </p:pic>
      <p:sp>
        <p:nvSpPr>
          <p:cNvPr id="8" name="ZoneTexte 7"/>
          <p:cNvSpPr txBox="1"/>
          <p:nvPr/>
        </p:nvSpPr>
        <p:spPr>
          <a:xfrm>
            <a:off x="474133" y="1800996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/>
              <a:t>sbin/spark-history-server.sh </a:t>
            </a:r>
          </a:p>
          <a:p>
            <a:r>
              <a:rPr lang="fr-FR">
                <a:sym typeface="Wingdings"/>
              </a:rPr>
              <a:t>   </a:t>
            </a:r>
            <a:r>
              <a:rPr lang="fr-FR">
                <a:sym typeface="Wingdings"/>
              </a:rPr>
              <a:t>does</a:t>
            </a:r>
            <a:r>
              <a:rPr lang="fr-FR">
                <a:sym typeface="Wingdings"/>
              </a:rPr>
              <a:t> not </a:t>
            </a:r>
            <a:r>
              <a:rPr lang="fr-FR">
                <a:sym typeface="Wingdings"/>
              </a:rPr>
              <a:t>work</a:t>
            </a:r>
            <a:r>
              <a:rPr lang="fr-FR">
                <a:sym typeface="Wingdings"/>
              </a:rPr>
              <a:t> on </a:t>
            </a:r>
            <a:r>
              <a:rPr lang="fr-FR">
                <a:sym typeface="Wingdings"/>
              </a:rPr>
              <a:t>windows</a:t>
            </a:r>
            <a:r>
              <a:rPr lang="fr-FR">
                <a:sym typeface="Wingdings"/>
              </a:rPr>
              <a:t>, </a:t>
            </a:r>
            <a:r>
              <a:rPr lang="fr-FR">
                <a:sym typeface="Wingdings"/>
              </a:rPr>
              <a:t>even</a:t>
            </a:r>
            <a:r>
              <a:rPr lang="fr-FR">
                <a:sym typeface="Wingdings"/>
              </a:rPr>
              <a:t> </a:t>
            </a:r>
            <a:r>
              <a:rPr lang="fr-FR">
                <a:sym typeface="Wingdings"/>
              </a:rPr>
              <a:t>with</a:t>
            </a:r>
            <a:r>
              <a:rPr lang="fr-FR">
                <a:sym typeface="Wingdings"/>
              </a:rPr>
              <a:t> </a:t>
            </a:r>
            <a:r>
              <a:rPr lang="fr-FR">
                <a:sym typeface="Wingdings"/>
              </a:rPr>
              <a:t>cmder</a:t>
            </a:r>
            <a:r>
              <a:rPr lang="fr-FR">
                <a:sym typeface="Wingdings"/>
              </a:rPr>
              <a:t> + </a:t>
            </a:r>
            <a:r>
              <a:rPr lang="fr-FR">
                <a:sym typeface="Wingdings"/>
              </a:rPr>
              <a:t>bash</a:t>
            </a:r>
            <a:endParaRPr lang="fr-FR"/>
          </a:p>
          <a:p>
            <a:r>
              <a:rPr lang="fr-FR"/>
              <a:t>  </a:t>
            </a:r>
            <a:r>
              <a:rPr lang="fr-FR">
                <a:sym typeface="Wingdings"/>
              </a:rPr>
              <a:t> </a:t>
            </a:r>
            <a:r>
              <a:rPr lang="fr-FR">
                <a:sym typeface="Wingdings"/>
              </a:rPr>
              <a:t>is</a:t>
            </a:r>
            <a:r>
              <a:rPr lang="fr-FR">
                <a:sym typeface="Wingdings"/>
              </a:rPr>
              <a:t> </a:t>
            </a:r>
            <a:r>
              <a:rPr lang="fr-FR">
                <a:sym typeface="Wingdings"/>
              </a:rPr>
              <a:t>almost</a:t>
            </a:r>
            <a:r>
              <a:rPr lang="fr-FR">
                <a:sym typeface="Wingdings"/>
              </a:rPr>
              <a:t> </a:t>
            </a:r>
            <a:r>
              <a:rPr lang="fr-FR">
                <a:sym typeface="Wingdings"/>
              </a:rPr>
              <a:t>equivalent</a:t>
            </a:r>
            <a:r>
              <a:rPr lang="fr-FR">
                <a:sym typeface="Wingdings"/>
              </a:rPr>
              <a:t> to …</a:t>
            </a:r>
            <a:endParaRPr lang="fr-FR"/>
          </a:p>
        </p:txBody>
      </p:sp>
      <p:sp>
        <p:nvSpPr>
          <p:cNvPr id="10" name="ZoneTexte 9"/>
          <p:cNvSpPr txBox="1"/>
          <p:nvPr/>
        </p:nvSpPr>
        <p:spPr>
          <a:xfrm>
            <a:off x="474133" y="3934086"/>
            <a:ext cx="95504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/>
              <a:t> </a:t>
            </a:r>
            <a:r>
              <a:rPr lang="fr-FR">
                <a:sym typeface="Wingdings"/>
              </a:rPr>
              <a:t> start but </a:t>
            </a:r>
            <a:r>
              <a:rPr lang="fr-FR">
                <a:sym typeface="Wingdings"/>
              </a:rPr>
              <a:t>expect</a:t>
            </a:r>
            <a:r>
              <a:rPr lang="fr-FR">
                <a:sym typeface="Wingdings"/>
              </a:rPr>
              <a:t> </a:t>
            </a:r>
            <a:r>
              <a:rPr lang="fr-FR">
                <a:sym typeface="Wingdings"/>
              </a:rPr>
              <a:t>different</a:t>
            </a:r>
            <a:r>
              <a:rPr lang="fr-FR">
                <a:sym typeface="Wingdings"/>
              </a:rPr>
              <a:t> conf</a:t>
            </a:r>
          </a:p>
          <a:p>
            <a:r>
              <a:rPr lang="fr-FR"/>
              <a:t>spark.eventLog.dir</a:t>
            </a:r>
            <a:r>
              <a:rPr lang="fr-FR"/>
              <a:t>               file:///C:/apps/spark/spark-eventLog</a:t>
            </a:r>
            <a:br>
              <a:rPr lang="fr-FR"/>
            </a:br>
            <a:r>
              <a:rPr lang="fr-FR" b="1"/>
              <a:t>spark.history.fs.logDirectory</a:t>
            </a:r>
            <a:r>
              <a:rPr lang="fr-FR"/>
              <a:t>	file:///C:/apps/spark/spark-eventLog</a:t>
            </a:r>
            <a:br>
              <a:rPr lang="fr-FR"/>
            </a:br>
            <a:endParaRPr lang="fr-FR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719709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http://localhost:18080</a:t>
            </a:r>
          </a:p>
        </p:txBody>
      </p:sp>
      <p:pic>
        <p:nvPicPr>
          <p:cNvPr id="7" name="Image 6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07526" y="3039533"/>
            <a:ext cx="10503096" cy="3818467"/>
          </a:xfrm>
          <a:prstGeom prst="rect">
            <a:avLst/>
          </a:prstGeom>
        </p:spPr>
      </p:pic>
      <p:pic>
        <p:nvPicPr>
          <p:cNvPr id="9" name="Image 8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215227"/>
            <a:ext cx="12192000" cy="1040878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694309"/>
          </a:xfrm>
          <a:prstGeom prst="rect">
            <a:avLst/>
          </a:prstGeom>
        </p:spPr>
        <p:txBody>
          <a:bodyPr>
            <a:normAutofit fontScale="90000"/>
          </a:bodyPr>
          <a:lstStyle/>
          <a:p>
            <a:pPr algn="ctr"/>
            <a:r>
              <a:rPr lang="fr-FR"/>
              <a:t>Incomplete</a:t>
            </a:r>
            <a:r>
              <a:rPr lang="fr-FR"/>
              <a:t> / Complete  Applications</a:t>
            </a:r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0" y="1454655"/>
            <a:ext cx="12192000" cy="3948689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73709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http://localhost:18080/history/${appId}</a:t>
            </a:r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584199" y="1488829"/>
            <a:ext cx="10854267" cy="5198346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134491"/>
          </a:xfrm>
          <a:prstGeom prst="rect">
            <a:avLst/>
          </a:prstGeom>
        </p:spPr>
        <p:txBody>
          <a:bodyPr>
            <a:normAutofit fontScale="90000"/>
          </a:bodyPr>
          <a:lstStyle/>
          <a:p>
            <a:pPr algn="ctr"/>
            <a:r>
              <a:rPr lang="fr-FR"/>
              <a:t>Things</a:t>
            </a:r>
            <a:r>
              <a:rPr lang="fr-FR"/>
              <a:t> You Can NOT Do in Spark </a:t>
            </a:r>
            <a:r>
              <a:rPr lang="fr-FR"/>
              <a:t>History</a:t>
            </a:r>
            <a:r>
              <a:rPr lang="fr-FR"/>
              <a:t> Server … </a:t>
            </a:r>
            <a:r>
              <a:rPr lang="fr-FR"/>
              <a:t>ThreadDumps</a:t>
            </a:r>
            <a:r>
              <a:rPr lang="fr-FR"/>
              <a:t>, Kill </a:t>
            </a:r>
            <a:r>
              <a:rPr lang="fr-FR"/>
              <a:t>Task</a:t>
            </a:r>
            <a:endParaRPr lang="fr-FR"/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140200" y="1206609"/>
            <a:ext cx="7814732" cy="2357893"/>
          </a:xfrm>
          <a:prstGeom prst="rect">
            <a:avLst/>
          </a:prstGeom>
        </p:spPr>
      </p:pic>
      <p:sp>
        <p:nvSpPr>
          <p:cNvPr id="6" name="ZoneTexte 5"/>
          <p:cNvSpPr txBox="1"/>
          <p:nvPr/>
        </p:nvSpPr>
        <p:spPr>
          <a:xfrm>
            <a:off x="1308698" y="2296957"/>
            <a:ext cx="19425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Spark UI  (live app)</a:t>
            </a:r>
          </a:p>
        </p:txBody>
      </p:sp>
      <p:sp>
        <p:nvSpPr>
          <p:cNvPr id="7" name="ZoneTexte 6"/>
          <p:cNvSpPr txBox="1"/>
          <p:nvPr/>
        </p:nvSpPr>
        <p:spPr>
          <a:xfrm>
            <a:off x="1308698" y="4877158"/>
            <a:ext cx="20804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Spark </a:t>
            </a:r>
            <a:r>
              <a:rPr lang="fr-FR"/>
              <a:t>HistoryServer</a:t>
            </a:r>
            <a:r>
              <a:rPr lang="fr-FR"/>
              <a:t> </a:t>
            </a:r>
          </a:p>
          <a:p>
            <a:r>
              <a:rPr lang="fr-FR"/>
              <a:t>(Offline)</a:t>
            </a:r>
          </a:p>
        </p:txBody>
      </p:sp>
      <p:pic>
        <p:nvPicPr>
          <p:cNvPr id="9" name="Image 8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4140200" y="3828712"/>
            <a:ext cx="6536267" cy="2817434"/>
          </a:xfrm>
          <a:prstGeom prst="rect">
            <a:avLst/>
          </a:prstGeom>
        </p:spPr>
      </p:pic>
      <p:sp>
        <p:nvSpPr>
          <p:cNvPr id="10" name="Non égal 9"/>
          <p:cNvSpPr/>
          <p:nvPr/>
        </p:nvSpPr>
        <p:spPr>
          <a:xfrm>
            <a:off x="7806267" y="3467100"/>
            <a:ext cx="651934" cy="431800"/>
          </a:xfrm>
          <a:prstGeom prst="mathNotEqual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9955762" y="2883159"/>
            <a:ext cx="1017037" cy="545841"/>
          </a:xfrm>
          <a:prstGeom prst="rect">
            <a:avLst/>
          </a:prstGeom>
          <a:noFill/>
          <a:ln w="349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99033"/>
          </a:xfrm>
          <a:prstGeom prst="rect">
            <a:avLst/>
          </a:prstGeom>
        </p:spPr>
        <p:txBody>
          <a:bodyPr>
            <a:normAutofit/>
          </a:bodyPr>
          <a:lstStyle/>
          <a:p>
            <a:pPr algn="ctr"/>
            <a:r>
              <a:rPr lang="fr-FR"/>
              <a:t>Tip&amp;Tricks</a:t>
            </a:r>
            <a:r>
              <a:rPr lang="fr-FR"/>
              <a:t>  for </a:t>
            </a:r>
            <a:r>
              <a:rPr lang="fr-FR"/>
              <a:t>EventLog</a:t>
            </a:r>
            <a:r>
              <a:rPr lang="fr-FR"/>
              <a:t> : Download </a:t>
            </a:r>
            <a:r>
              <a:rPr lang="fr-FR"/>
              <a:t>them</a:t>
            </a:r>
            <a:endParaRPr lang="fr-FR"/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6537416" y="1549021"/>
            <a:ext cx="4715533" cy="486795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9311949" y="4668798"/>
            <a:ext cx="1017037" cy="545841"/>
          </a:xfrm>
          <a:prstGeom prst="rect">
            <a:avLst/>
          </a:prstGeom>
          <a:noFill/>
          <a:ln w="349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/>
          <p:cNvSpPr/>
          <p:nvPr/>
        </p:nvSpPr>
        <p:spPr>
          <a:xfrm>
            <a:off x="10170367" y="1944261"/>
            <a:ext cx="457198" cy="429208"/>
          </a:xfrm>
          <a:prstGeom prst="rect">
            <a:avLst/>
          </a:prstGeom>
          <a:noFill/>
          <a:ln w="349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ZoneTexte 8"/>
          <p:cNvSpPr txBox="1"/>
          <p:nvPr/>
        </p:nvSpPr>
        <p:spPr>
          <a:xfrm>
            <a:off x="297025" y="2356395"/>
            <a:ext cx="6097554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/>
              <a:t>On PROD clusters, </a:t>
            </a:r>
            <a:r>
              <a:rPr lang="fr-FR"/>
              <a:t>eventLogs</a:t>
            </a:r>
            <a:r>
              <a:rPr lang="fr-FR"/>
              <a:t> Files are </a:t>
            </a:r>
            <a:r>
              <a:rPr lang="fr-FR"/>
              <a:t>removed</a:t>
            </a:r>
            <a:r>
              <a:rPr lang="fr-FR"/>
              <a:t> </a:t>
            </a:r>
            <a:r>
              <a:rPr lang="fr-FR"/>
              <a:t>after</a:t>
            </a:r>
            <a:r>
              <a:rPr lang="fr-FR"/>
              <a:t> ~3days</a:t>
            </a:r>
          </a:p>
          <a:p>
            <a:r>
              <a:rPr lang="fr-FR"/>
              <a:t>(and </a:t>
            </a:r>
            <a:r>
              <a:rPr lang="fr-FR"/>
              <a:t>may</a:t>
            </a:r>
            <a:r>
              <a:rPr lang="fr-FR"/>
              <a:t> </a:t>
            </a:r>
            <a:r>
              <a:rPr lang="fr-FR"/>
              <a:t>be</a:t>
            </a:r>
            <a:r>
              <a:rPr lang="fr-FR"/>
              <a:t> </a:t>
            </a:r>
            <a:r>
              <a:rPr lang="fr-FR"/>
              <a:t>rewritten</a:t>
            </a:r>
            <a:r>
              <a:rPr lang="fr-FR"/>
              <a:t>, by </a:t>
            </a:r>
            <a:r>
              <a:rPr lang="fr-FR"/>
              <a:t>purging</a:t>
            </a:r>
            <a:r>
              <a:rPr lang="fr-FR"/>
              <a:t> </a:t>
            </a:r>
            <a:r>
              <a:rPr lang="fr-FR"/>
              <a:t>low-level</a:t>
            </a:r>
            <a:r>
              <a:rPr lang="fr-FR"/>
              <a:t> « </a:t>
            </a:r>
            <a:r>
              <a:rPr lang="fr-FR"/>
              <a:t>Task</a:t>
            </a:r>
            <a:r>
              <a:rPr lang="fr-FR"/>
              <a:t> » </a:t>
            </a:r>
            <a:r>
              <a:rPr lang="fr-FR"/>
              <a:t>events</a:t>
            </a:r>
            <a:r>
              <a:rPr lang="fr-FR"/>
              <a:t>)</a:t>
            </a:r>
          </a:p>
          <a:p>
            <a:endParaRPr lang="fr-FR"/>
          </a:p>
          <a:p>
            <a:r>
              <a:rPr lang="fr-FR"/>
              <a:t>Download </a:t>
            </a:r>
            <a:r>
              <a:rPr lang="fr-FR"/>
              <a:t>them</a:t>
            </a:r>
            <a:r>
              <a:rPr lang="fr-FR"/>
              <a:t> !! </a:t>
            </a:r>
          </a:p>
          <a:p>
            <a:pPr marL="285750" indent="-285750">
              <a:buFont typeface="Symbol"/>
              <a:buChar char="Þ"/>
            </a:pPr>
            <a:endParaRPr lang="fr-FR"/>
          </a:p>
          <a:p>
            <a:pPr marL="285750" indent="-285750">
              <a:buFont typeface="Symbol"/>
              <a:buChar char="Þ"/>
            </a:pPr>
            <a:r>
              <a:rPr lang="fr-FR"/>
              <a:t>for </a:t>
            </a:r>
            <a:r>
              <a:rPr lang="fr-FR"/>
              <a:t>later</a:t>
            </a:r>
            <a:r>
              <a:rPr lang="fr-FR"/>
              <a:t> analyses </a:t>
            </a:r>
          </a:p>
          <a:p>
            <a:endParaRPr lang="fr-FR"/>
          </a:p>
          <a:p>
            <a:pPr marL="285750" indent="-285750">
              <a:buFont typeface="Symbol"/>
              <a:buChar char="Þ"/>
            </a:pPr>
            <a:r>
              <a:rPr lang="fr-FR"/>
              <a:t>for </a:t>
            </a:r>
            <a:r>
              <a:rPr lang="fr-FR"/>
              <a:t>Requesting</a:t>
            </a:r>
            <a:r>
              <a:rPr lang="fr-FR"/>
              <a:t> Assistance  (no </a:t>
            </a:r>
            <a:r>
              <a:rPr lang="fr-FR"/>
              <a:t>credentials</a:t>
            </a:r>
            <a:r>
              <a:rPr lang="fr-FR"/>
              <a:t> / </a:t>
            </a:r>
            <a:r>
              <a:rPr lang="fr-FR"/>
              <a:t>access</a:t>
            </a:r>
            <a:r>
              <a:rPr lang="fr-FR"/>
              <a:t> </a:t>
            </a:r>
            <a:r>
              <a:rPr lang="fr-FR"/>
              <a:t>required</a:t>
            </a:r>
            <a:r>
              <a:rPr lang="fr-FR"/>
              <a:t>)</a:t>
            </a:r>
          </a:p>
          <a:p>
            <a:pPr marL="285750" indent="-285750">
              <a:buFont typeface="Symbol"/>
              <a:buChar char="Þ"/>
            </a:pPr>
            <a:endParaRPr lang="fr-FR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129030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fr-FR"/>
              <a:t>Spark </a:t>
            </a:r>
            <a:r>
              <a:rPr lang="fr-FR"/>
              <a:t>History</a:t>
            </a:r>
            <a:r>
              <a:rPr lang="fr-FR"/>
              <a:t> Server &amp; Spark UI  Limitations</a:t>
            </a:r>
          </a:p>
        </p:txBody>
      </p:sp>
      <p:sp>
        <p:nvSpPr>
          <p:cNvPr id="4" name="ZoneTexte 3"/>
          <p:cNvSpPr txBox="1"/>
          <p:nvPr/>
        </p:nvSpPr>
        <p:spPr>
          <a:xfrm>
            <a:off x="1175657" y="1705383"/>
            <a:ext cx="10689786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/>
              <a:t>Spark History can</a:t>
            </a:r>
            <a:r>
              <a:rPr lang="fr-FR" sz="2400"/>
              <a:t> do </a:t>
            </a:r>
            <a:r>
              <a:rPr lang="fr-FR" sz="2400"/>
              <a:t>OutOfMemoryError</a:t>
            </a:r>
            <a:r>
              <a:rPr lang="fr-FR" sz="2400"/>
              <a:t> </a:t>
            </a:r>
            <a:r>
              <a:rPr lang="fr-FR" sz="2400"/>
              <a:t>while</a:t>
            </a:r>
            <a:r>
              <a:rPr lang="fr-FR" sz="2400"/>
              <a:t> </a:t>
            </a:r>
            <a:r>
              <a:rPr lang="fr-FR" sz="2400"/>
              <a:t>reloading</a:t>
            </a:r>
            <a:r>
              <a:rPr lang="fr-FR" sz="2400"/>
              <a:t> </a:t>
            </a:r>
            <a:r>
              <a:rPr lang="fr-FR" sz="2400"/>
              <a:t>huge</a:t>
            </a:r>
            <a:r>
              <a:rPr lang="fr-FR" sz="2400"/>
              <a:t> </a:t>
            </a:r>
            <a:r>
              <a:rPr lang="fr-FR" sz="2400"/>
              <a:t>spark</a:t>
            </a:r>
            <a:r>
              <a:rPr lang="fr-FR" sz="2400"/>
              <a:t> </a:t>
            </a:r>
            <a:r>
              <a:rPr lang="fr-FR" sz="2400"/>
              <a:t>eventLog</a:t>
            </a:r>
            <a:r>
              <a:rPr lang="fr-FR" sz="2400"/>
              <a:t> files !!</a:t>
            </a:r>
          </a:p>
          <a:p>
            <a:endParaRPr lang="fr-FR" sz="2400"/>
          </a:p>
          <a:p>
            <a:endParaRPr lang="fr-FR" sz="2400"/>
          </a:p>
          <a:p>
            <a:r>
              <a:rPr lang="fr-FR" sz="2400"/>
              <a:t>Both</a:t>
            </a:r>
            <a:r>
              <a:rPr lang="fr-FR" sz="2400"/>
              <a:t> </a:t>
            </a:r>
            <a:r>
              <a:rPr lang="fr-FR" sz="2400"/>
              <a:t>SparkUI</a:t>
            </a:r>
            <a:r>
              <a:rPr lang="fr-FR" sz="2400"/>
              <a:t> &amp; Spark </a:t>
            </a:r>
            <a:r>
              <a:rPr lang="fr-FR" sz="2400"/>
              <a:t>History</a:t>
            </a:r>
            <a:r>
              <a:rPr lang="fr-FR" sz="2400"/>
              <a:t> </a:t>
            </a:r>
            <a:r>
              <a:rPr lang="fr-FR" sz="2400"/>
              <a:t>produce</a:t>
            </a:r>
            <a:r>
              <a:rPr lang="fr-FR" sz="2400"/>
              <a:t> </a:t>
            </a:r>
            <a:r>
              <a:rPr lang="fr-FR" sz="2400"/>
              <a:t>amazingly</a:t>
            </a:r>
            <a:r>
              <a:rPr lang="fr-FR" sz="2400"/>
              <a:t> large &amp; </a:t>
            </a:r>
            <a:r>
              <a:rPr lang="fr-FR" sz="2400"/>
              <a:t>complex</a:t>
            </a:r>
            <a:r>
              <a:rPr lang="fr-FR" sz="2400"/>
              <a:t> web pages</a:t>
            </a:r>
          </a:p>
          <a:p>
            <a:r>
              <a:rPr lang="fr-FR" sz="2400"/>
              <a:t>With</a:t>
            </a:r>
            <a:r>
              <a:rPr lang="fr-FR" sz="2400"/>
              <a:t> </a:t>
            </a:r>
            <a:r>
              <a:rPr lang="fr-FR" sz="2400"/>
              <a:t>tons of arrows</a:t>
            </a:r>
            <a:r>
              <a:rPr lang="fr-FR" sz="2400"/>
              <a:t> and </a:t>
            </a:r>
            <a:r>
              <a:rPr lang="fr-FR" sz="2400"/>
              <a:t>blue</a:t>
            </a:r>
            <a:r>
              <a:rPr lang="fr-FR" sz="2400"/>
              <a:t> boxes…</a:t>
            </a:r>
          </a:p>
          <a:p>
            <a:endParaRPr lang="fr-FR" sz="2400"/>
          </a:p>
          <a:p>
            <a:endParaRPr lang="fr-FR" sz="2400"/>
          </a:p>
          <a:p>
            <a:r>
              <a:rPr lang="fr-FR" sz="2400"/>
              <a:t>Keep</a:t>
            </a:r>
            <a:r>
              <a:rPr lang="fr-FR" sz="2400"/>
              <a:t> </a:t>
            </a:r>
            <a:r>
              <a:rPr lang="fr-FR" sz="2400"/>
              <a:t>only</a:t>
            </a:r>
            <a:r>
              <a:rPr lang="fr-FR" sz="2400"/>
              <a:t> the last 10 000  </a:t>
            </a:r>
            <a:r>
              <a:rPr lang="fr-FR" sz="2400"/>
              <a:t>spark</a:t>
            </a:r>
            <a:r>
              <a:rPr lang="fr-FR" sz="2400"/>
              <a:t> </a:t>
            </a:r>
            <a:r>
              <a:rPr lang="fr-FR" sz="2400"/>
              <a:t>events</a:t>
            </a:r>
            <a:r>
              <a:rPr lang="fr-FR" sz="2400"/>
              <a:t>,  and ignore all </a:t>
            </a:r>
            <a:r>
              <a:rPr lang="fr-FR" sz="2400"/>
              <a:t>others</a:t>
            </a:r>
            <a:r>
              <a:rPr lang="fr-FR" sz="2400"/>
              <a:t> !!</a:t>
            </a:r>
          </a:p>
          <a:p>
            <a:endParaRPr lang="fr-FR" sz="2400"/>
          </a:p>
          <a:p>
            <a:r>
              <a:rPr lang="fr-FR" sz="2400"/>
              <a:t>Impossible to Analyse « offline » a </a:t>
            </a:r>
            <a:r>
              <a:rPr lang="fr-FR" sz="2400"/>
              <a:t>very</a:t>
            </a:r>
            <a:r>
              <a:rPr lang="fr-FR" sz="2400"/>
              <a:t> long-running application</a:t>
            </a:r>
          </a:p>
          <a:p>
            <a:r>
              <a:rPr lang="fr-FR" sz="2400"/>
              <a:t>(</a:t>
            </a:r>
            <a:r>
              <a:rPr lang="fr-FR" sz="2400"/>
              <a:t>need</a:t>
            </a:r>
            <a:r>
              <a:rPr lang="fr-FR" sz="2400"/>
              <a:t> to </a:t>
            </a:r>
            <a:r>
              <a:rPr lang="fr-FR" sz="2400"/>
              <a:t>manually</a:t>
            </a:r>
            <a:r>
              <a:rPr lang="fr-FR" sz="2400"/>
              <a:t> </a:t>
            </a:r>
            <a:r>
              <a:rPr lang="fr-FR" sz="2400"/>
              <a:t>uncompress</a:t>
            </a:r>
            <a:r>
              <a:rPr lang="fr-FR" sz="2400"/>
              <a:t> + prune </a:t>
            </a:r>
            <a:r>
              <a:rPr lang="fr-FR" sz="2400"/>
              <a:t>spark</a:t>
            </a:r>
            <a:r>
              <a:rPr lang="fr-FR" sz="2400"/>
              <a:t> </a:t>
            </a:r>
            <a:r>
              <a:rPr lang="fr-FR" sz="2400"/>
              <a:t>events</a:t>
            </a:r>
            <a:r>
              <a:rPr lang="fr-FR" sz="2400"/>
              <a:t> …)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8840" y="0"/>
            <a:ext cx="10515600" cy="2667635"/>
          </a:xfrm>
          <a:prstGeom prst="rect">
            <a:avLst/>
          </a:prstGeom>
        </p:spPr>
        <p:txBody>
          <a:bodyPr>
            <a:normAutofit fontScale="90000"/>
          </a:bodyPr>
          <a:lstStyle/>
          <a:p>
            <a:pPr algn="ctr"/>
            <a:r>
              <a:rPr lang="fr-FR"/>
              <a:t>Architecture Components</a:t>
            </a:r>
            <a:br>
              <a:rPr lang="fr-FR"/>
            </a:br>
            <a:br>
              <a:rPr lang="fr-FR"/>
            </a:br>
            <a:r>
              <a:rPr lang="fr-FR"/>
              <a:t>Client-Cluster … Driver &amp; </a:t>
            </a:r>
            <a:r>
              <a:rPr lang="fr-FR"/>
              <a:t>Executors</a:t>
            </a:r>
            <a:br>
              <a:rPr lang="fr-FR"/>
            </a:br>
            <a:br>
              <a:rPr lang="fr-FR"/>
            </a:br>
            <a:r>
              <a:rPr lang="fr-FR"/>
              <a:t>program/</a:t>
            </a:r>
            <a:r>
              <a:rPr lang="fr-FR"/>
              <a:t>library</a:t>
            </a:r>
            <a:r>
              <a:rPr lang="fr-FR"/>
              <a:t>/servers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626"/>
          </a:xfrm>
          <a:prstGeom prst="rect">
            <a:avLst/>
          </a:prstGeom>
        </p:spPr>
        <p:txBody>
          <a:bodyPr/>
          <a:lstStyle/>
          <a:p>
            <a:r>
              <a:rPr lang="fr-FR"/>
              <a:t>Cluster Client -&gt; Driver (-&gt; </a:t>
            </a:r>
            <a:r>
              <a:rPr lang="fr-FR"/>
              <a:t>SparkContext</a:t>
            </a:r>
            <a:r>
              <a:rPr lang="fr-FR"/>
              <a:t>) -&gt; </a:t>
            </a:r>
            <a:r>
              <a:rPr lang="fr-FR"/>
              <a:t>Executor</a:t>
            </a:r>
            <a:endParaRPr lang="fr-FR"/>
          </a:p>
        </p:txBody>
      </p:sp>
      <p:sp>
        <p:nvSpPr>
          <p:cNvPr id="4" name="Rectangle 3"/>
          <p:cNvSpPr/>
          <p:nvPr/>
        </p:nvSpPr>
        <p:spPr>
          <a:xfrm>
            <a:off x="105205" y="5176125"/>
            <a:ext cx="2112010" cy="406400"/>
          </a:xfrm>
          <a:prstGeom prst="rect">
            <a:avLst/>
          </a:prstGeom>
          <a:noFill/>
          <a:ln w="25400"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TextBox 4"/>
          <p:cNvSpPr txBox="1"/>
          <p:nvPr/>
        </p:nvSpPr>
        <p:spPr>
          <a:xfrm>
            <a:off x="3837464" y="4418360"/>
            <a:ext cx="25423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OS </a:t>
            </a:r>
            <a:r>
              <a:rPr lang="fr-FR"/>
              <a:t>WorkerNode</a:t>
            </a:r>
            <a:endParaRPr lang="fr-FR"/>
          </a:p>
          <a:p>
            <a:r>
              <a:rPr lang="fr-FR"/>
              <a:t>( + </a:t>
            </a:r>
            <a:r>
              <a:rPr lang="fr-FR"/>
              <a:t>YarnNodeManager</a:t>
            </a:r>
            <a:r>
              <a:rPr lang="fr-FR"/>
              <a:t>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815" y="5176125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3485" y="4032223"/>
            <a:ext cx="1781810" cy="100091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/>
          <p:cNvSpPr txBox="1"/>
          <p:nvPr/>
        </p:nvSpPr>
        <p:spPr>
          <a:xfrm>
            <a:off x="313485" y="4069291"/>
            <a:ext cx="185416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Java </a:t>
            </a:r>
            <a:r>
              <a:rPr lang="fr-FR"/>
              <a:t>spark-submit</a:t>
            </a:r>
            <a:endParaRPr lang="fr-FR"/>
          </a:p>
          <a:p>
            <a:r>
              <a:rPr lang="fr-FR"/>
              <a:t>  -master </a:t>
            </a:r>
            <a:r>
              <a:rPr lang="fr-FR"/>
              <a:t>yarn</a:t>
            </a:r>
            <a:br>
              <a:rPr lang="fr-FR"/>
            </a:br>
            <a:r>
              <a:rPr lang="fr-FR"/>
              <a:t>   -mode cluster</a:t>
            </a:r>
          </a:p>
        </p:txBody>
      </p:sp>
      <p:sp>
        <p:nvSpPr>
          <p:cNvPr id="12" name="Arrow: Curved Down 11"/>
          <p:cNvSpPr/>
          <p:nvPr/>
        </p:nvSpPr>
        <p:spPr>
          <a:xfrm>
            <a:off x="2368187" y="4474388"/>
            <a:ext cx="1254760" cy="391002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11930" y="3067256"/>
            <a:ext cx="323710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Case 3</a:t>
            </a:r>
            <a:r>
              <a:rPr lang="fr-FR"/>
              <a:t>/ </a:t>
            </a:r>
          </a:p>
          <a:p>
            <a:r>
              <a:rPr lang="fr-FR"/>
              <a:t>Yarn</a:t>
            </a:r>
            <a:r>
              <a:rPr lang="fr-FR"/>
              <a:t> launch </a:t>
            </a:r>
            <a:r>
              <a:rPr lang="fr-FR"/>
              <a:t>spark</a:t>
            </a:r>
            <a:r>
              <a:rPr lang="fr-FR"/>
              <a:t> –mode </a:t>
            </a:r>
            <a:r>
              <a:rPr lang="fr-FR" b="1"/>
              <a:t>cluster</a:t>
            </a:r>
          </a:p>
          <a:p>
            <a:r>
              <a:rPr lang="fr-FR"/>
              <a:t>+ </a:t>
            </a:r>
            <a:r>
              <a:rPr lang="fr-FR"/>
              <a:t>relaunch</a:t>
            </a:r>
            <a:r>
              <a:rPr lang="fr-FR"/>
              <a:t> if </a:t>
            </a:r>
            <a:r>
              <a:rPr lang="fr-FR"/>
              <a:t>failed</a:t>
            </a:r>
            <a:endParaRPr lang="fr-FR"/>
          </a:p>
        </p:txBody>
      </p:sp>
      <p:sp>
        <p:nvSpPr>
          <p:cNvPr id="15" name="Rectangle 14"/>
          <p:cNvSpPr/>
          <p:nvPr/>
        </p:nvSpPr>
        <p:spPr>
          <a:xfrm>
            <a:off x="4105459" y="1994021"/>
            <a:ext cx="2645862" cy="231257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TextBox 15"/>
          <p:cNvSpPr txBox="1"/>
          <p:nvPr/>
        </p:nvSpPr>
        <p:spPr>
          <a:xfrm>
            <a:off x="4093210" y="1931187"/>
            <a:ext cx="185416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Java </a:t>
            </a:r>
            <a:r>
              <a:rPr lang="fr-FR"/>
              <a:t>spark-submit</a:t>
            </a:r>
            <a:endParaRPr lang="fr-FR"/>
          </a:p>
          <a:p>
            <a:r>
              <a:rPr lang="fr-FR"/>
              <a:t>  -master </a:t>
            </a:r>
            <a:r>
              <a:rPr lang="fr-FR"/>
              <a:t>yarn</a:t>
            </a:r>
            <a:br>
              <a:rPr lang="fr-FR"/>
            </a:br>
            <a:r>
              <a:rPr lang="fr-FR"/>
              <a:t>   -mode client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84599" y="4418360"/>
            <a:ext cx="2870202" cy="664864"/>
          </a:xfrm>
          <a:prstGeom prst="rect">
            <a:avLst/>
          </a:prstGeom>
          <a:noFill/>
          <a:ln w="25400"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TextBox 18"/>
          <p:cNvSpPr txBox="1"/>
          <p:nvPr/>
        </p:nvSpPr>
        <p:spPr>
          <a:xfrm>
            <a:off x="8254536" y="6037263"/>
            <a:ext cx="25423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OS </a:t>
            </a:r>
            <a:r>
              <a:rPr lang="fr-FR"/>
              <a:t>WorkerNode</a:t>
            </a:r>
            <a:endParaRPr lang="fr-FR"/>
          </a:p>
          <a:p>
            <a:r>
              <a:rPr lang="fr-FR"/>
              <a:t>( + </a:t>
            </a:r>
            <a:r>
              <a:rPr lang="fr-FR"/>
              <a:t>YarnNodeManager</a:t>
            </a:r>
            <a:r>
              <a:rPr lang="fr-FR"/>
              <a:t>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69445" y="6018730"/>
            <a:ext cx="2870202" cy="664864"/>
          </a:xfrm>
          <a:prstGeom prst="rect">
            <a:avLst/>
          </a:prstGeom>
          <a:noFill/>
          <a:ln w="25400"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TextBox 22"/>
          <p:cNvSpPr txBox="1"/>
          <p:nvPr/>
        </p:nvSpPr>
        <p:spPr>
          <a:xfrm>
            <a:off x="8287540" y="3265219"/>
            <a:ext cx="25423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OS </a:t>
            </a:r>
            <a:r>
              <a:rPr lang="fr-FR"/>
              <a:t>WorkerNode</a:t>
            </a:r>
            <a:endParaRPr lang="fr-FR"/>
          </a:p>
          <a:p>
            <a:r>
              <a:rPr lang="fr-FR"/>
              <a:t>( + </a:t>
            </a:r>
            <a:r>
              <a:rPr lang="fr-FR"/>
              <a:t>YarnNodeManager</a:t>
            </a:r>
            <a:r>
              <a:rPr lang="fr-FR"/>
              <a:t>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02449" y="3246686"/>
            <a:ext cx="2870202" cy="664864"/>
          </a:xfrm>
          <a:prstGeom prst="rect">
            <a:avLst/>
          </a:prstGeom>
          <a:noFill/>
          <a:ln w="25400"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Rectangle 24"/>
          <p:cNvSpPr/>
          <p:nvPr/>
        </p:nvSpPr>
        <p:spPr>
          <a:xfrm>
            <a:off x="8436780" y="1795821"/>
            <a:ext cx="2511622" cy="140331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Rectangle 26"/>
          <p:cNvSpPr/>
          <p:nvPr/>
        </p:nvSpPr>
        <p:spPr>
          <a:xfrm>
            <a:off x="4271552" y="2822928"/>
            <a:ext cx="1852927" cy="1337592"/>
          </a:xfrm>
          <a:prstGeom prst="rect">
            <a:avLst/>
          </a:prstGeom>
          <a:noFill/>
          <a:ln w="25400"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TextBox 13"/>
          <p:cNvSpPr txBox="1"/>
          <p:nvPr/>
        </p:nvSpPr>
        <p:spPr>
          <a:xfrm>
            <a:off x="4337570" y="2813650"/>
            <a:ext cx="14356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SparkContext</a:t>
            </a:r>
            <a:endParaRPr lang="fr-FR"/>
          </a:p>
        </p:txBody>
      </p:sp>
      <p:sp>
        <p:nvSpPr>
          <p:cNvPr id="31" name="Rectangle 30"/>
          <p:cNvSpPr/>
          <p:nvPr/>
        </p:nvSpPr>
        <p:spPr>
          <a:xfrm>
            <a:off x="4320378" y="3389158"/>
            <a:ext cx="1349267" cy="49066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2" name="Rectangle 31"/>
          <p:cNvSpPr/>
          <p:nvPr/>
        </p:nvSpPr>
        <p:spPr>
          <a:xfrm>
            <a:off x="4472778" y="3541558"/>
            <a:ext cx="1349267" cy="49066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" name="TextBox 32"/>
          <p:cNvSpPr txBox="1"/>
          <p:nvPr/>
        </p:nvSpPr>
        <p:spPr>
          <a:xfrm>
            <a:off x="4445115" y="3509024"/>
            <a:ext cx="14045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SparkSession</a:t>
            </a:r>
            <a:endParaRPr lang="fr-FR"/>
          </a:p>
        </p:txBody>
      </p:sp>
      <p:sp>
        <p:nvSpPr>
          <p:cNvPr id="28" name="TextBox 27"/>
          <p:cNvSpPr txBox="1"/>
          <p:nvPr/>
        </p:nvSpPr>
        <p:spPr>
          <a:xfrm rot="16200000">
            <a:off x="5538315" y="3163262"/>
            <a:ext cx="16828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ClusterManager</a:t>
            </a:r>
            <a:endParaRPr lang="fr-FR"/>
          </a:p>
        </p:txBody>
      </p:sp>
      <p:sp>
        <p:nvSpPr>
          <p:cNvPr id="35" name="Rectangle 34"/>
          <p:cNvSpPr/>
          <p:nvPr/>
        </p:nvSpPr>
        <p:spPr>
          <a:xfrm>
            <a:off x="6173305" y="2452682"/>
            <a:ext cx="440855" cy="1731546"/>
          </a:xfrm>
          <a:prstGeom prst="rect">
            <a:avLst/>
          </a:prstGeom>
          <a:noFill/>
          <a:ln w="25400"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" name="Arrow: Curved Down 35"/>
          <p:cNvSpPr/>
          <p:nvPr/>
        </p:nvSpPr>
        <p:spPr>
          <a:xfrm>
            <a:off x="6814342" y="1774151"/>
            <a:ext cx="1254760" cy="391002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37" name="Arrow: Curved Down 36"/>
          <p:cNvSpPr/>
          <p:nvPr/>
        </p:nvSpPr>
        <p:spPr>
          <a:xfrm>
            <a:off x="6800147" y="3873790"/>
            <a:ext cx="1254760" cy="391002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8406837" y="1795821"/>
            <a:ext cx="25905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Java </a:t>
            </a:r>
            <a:r>
              <a:rPr lang="fr-FR"/>
              <a:t>CoarseGrainExecutor</a:t>
            </a:r>
            <a:endParaRPr lang="fr-FR"/>
          </a:p>
        </p:txBody>
      </p:sp>
      <p:sp>
        <p:nvSpPr>
          <p:cNvPr id="39" name="Rectangle 38"/>
          <p:cNvSpPr/>
          <p:nvPr/>
        </p:nvSpPr>
        <p:spPr>
          <a:xfrm>
            <a:off x="8438516" y="4418360"/>
            <a:ext cx="2511622" cy="150632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0" name="TextBox 39"/>
          <p:cNvSpPr txBox="1"/>
          <p:nvPr/>
        </p:nvSpPr>
        <p:spPr>
          <a:xfrm>
            <a:off x="8406837" y="4418361"/>
            <a:ext cx="25905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Java </a:t>
            </a:r>
            <a:r>
              <a:rPr lang="fr-FR"/>
              <a:t>CoarseGrainExecutor</a:t>
            </a:r>
            <a:endParaRPr lang="fr-FR"/>
          </a:p>
        </p:txBody>
      </p:sp>
      <p:sp>
        <p:nvSpPr>
          <p:cNvPr id="41" name="TextBox 40"/>
          <p:cNvSpPr txBox="1"/>
          <p:nvPr/>
        </p:nvSpPr>
        <p:spPr>
          <a:xfrm>
            <a:off x="105205" y="1308406"/>
            <a:ext cx="5088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Case 1</a:t>
            </a:r>
            <a:r>
              <a:rPr lang="fr-FR"/>
              <a:t>/ </a:t>
            </a:r>
            <a:r>
              <a:rPr lang="fr-FR"/>
              <a:t>Launch directly</a:t>
            </a:r>
            <a:r>
              <a:rPr lang="fr-FR"/>
              <a:t> java.. main(String[] args) {</a:t>
            </a:r>
          </a:p>
          <a:p>
            <a:r>
              <a:rPr lang="fr-FR"/>
              <a:t>   </a:t>
            </a:r>
            <a:r>
              <a:rPr lang="fr-FR" b="1"/>
              <a:t>SparkContext</a:t>
            </a:r>
            <a:r>
              <a:rPr lang="fr-FR"/>
              <a:t>.getOrCreate</a:t>
            </a:r>
            <a:r>
              <a:rPr lang="fr-FR"/>
              <a:t>()..</a:t>
            </a:r>
          </a:p>
          <a:p>
            <a:r>
              <a:rPr lang="fr-FR"/>
              <a:t>}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998" y="2225967"/>
            <a:ext cx="5088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/>
              <a:t>Case 2</a:t>
            </a:r>
            <a:r>
              <a:rPr lang="fr-FR"/>
              <a:t>/ </a:t>
            </a:r>
            <a:r>
              <a:rPr lang="fr-FR"/>
              <a:t>spark-submit</a:t>
            </a:r>
            <a:r>
              <a:rPr lang="fr-FR"/>
              <a:t> –mode </a:t>
            </a:r>
            <a:r>
              <a:rPr lang="fr-FR" b="1"/>
              <a:t>client</a:t>
            </a:r>
          </a:p>
        </p:txBody>
      </p:sp>
      <p:sp>
        <p:nvSpPr>
          <p:cNvPr id="43" name="Arrow: Curved Down 42"/>
          <p:cNvSpPr/>
          <p:nvPr/>
        </p:nvSpPr>
        <p:spPr>
          <a:xfrm>
            <a:off x="2775429" y="1810959"/>
            <a:ext cx="1254760" cy="391002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44" name="Arrow: Curved Down 43"/>
          <p:cNvSpPr/>
          <p:nvPr/>
        </p:nvSpPr>
        <p:spPr>
          <a:xfrm>
            <a:off x="2800969" y="2553704"/>
            <a:ext cx="1254760" cy="391002"/>
          </a:xfrm>
          <a:prstGeom prst="curved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4767248" y="1639650"/>
            <a:ext cx="13639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Spark Driver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642123" y="4938645"/>
            <a:ext cx="781123" cy="49066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7" name="Rectangle 46"/>
          <p:cNvSpPr/>
          <p:nvPr/>
        </p:nvSpPr>
        <p:spPr>
          <a:xfrm>
            <a:off x="8714475" y="5050079"/>
            <a:ext cx="781123" cy="49066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0" name="Rectangle 49"/>
          <p:cNvSpPr/>
          <p:nvPr/>
        </p:nvSpPr>
        <p:spPr>
          <a:xfrm>
            <a:off x="8801751" y="5182154"/>
            <a:ext cx="781123" cy="49066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8" name="TextBox 47"/>
          <p:cNvSpPr txBox="1"/>
          <p:nvPr/>
        </p:nvSpPr>
        <p:spPr>
          <a:xfrm>
            <a:off x="8875993" y="5218433"/>
            <a:ext cx="5834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Task</a:t>
            </a:r>
            <a:endParaRPr lang="fr-FR"/>
          </a:p>
        </p:txBody>
      </p:sp>
      <p:sp>
        <p:nvSpPr>
          <p:cNvPr id="51" name="Rectangle 50"/>
          <p:cNvSpPr/>
          <p:nvPr/>
        </p:nvSpPr>
        <p:spPr>
          <a:xfrm>
            <a:off x="9852291" y="4949818"/>
            <a:ext cx="781123" cy="49066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2" name="TextBox 51"/>
          <p:cNvSpPr txBox="1"/>
          <p:nvPr/>
        </p:nvSpPr>
        <p:spPr>
          <a:xfrm>
            <a:off x="9926533" y="4986097"/>
            <a:ext cx="7537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Cache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640357" y="2355681"/>
            <a:ext cx="781123" cy="49066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4" name="Rectangle 53"/>
          <p:cNvSpPr/>
          <p:nvPr/>
        </p:nvSpPr>
        <p:spPr>
          <a:xfrm>
            <a:off x="8712709" y="2467115"/>
            <a:ext cx="781123" cy="49066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5" name="Rectangle 54"/>
          <p:cNvSpPr/>
          <p:nvPr/>
        </p:nvSpPr>
        <p:spPr>
          <a:xfrm>
            <a:off x="8799985" y="2599190"/>
            <a:ext cx="781123" cy="49066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6" name="TextBox 55"/>
          <p:cNvSpPr txBox="1"/>
          <p:nvPr/>
        </p:nvSpPr>
        <p:spPr>
          <a:xfrm>
            <a:off x="8874227" y="2635469"/>
            <a:ext cx="5834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Task</a:t>
            </a:r>
            <a:endParaRPr lang="fr-FR"/>
          </a:p>
        </p:txBody>
      </p:sp>
      <p:sp>
        <p:nvSpPr>
          <p:cNvPr id="57" name="Rectangle 56"/>
          <p:cNvSpPr/>
          <p:nvPr/>
        </p:nvSpPr>
        <p:spPr>
          <a:xfrm>
            <a:off x="9850525" y="2366854"/>
            <a:ext cx="781123" cy="49066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8" name="TextBox 57"/>
          <p:cNvSpPr txBox="1"/>
          <p:nvPr/>
        </p:nvSpPr>
        <p:spPr>
          <a:xfrm>
            <a:off x="9924767" y="2403133"/>
            <a:ext cx="7537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/>
              <a:t>Cache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943412" y="1447291"/>
            <a:ext cx="16067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Spark </a:t>
            </a:r>
            <a:r>
              <a:rPr lang="fr-FR" b="1"/>
              <a:t>Executor</a:t>
            </a:r>
            <a:endParaRPr lang="fr-FR" b="1"/>
          </a:p>
        </p:txBody>
      </p:sp>
      <p:sp>
        <p:nvSpPr>
          <p:cNvPr id="60" name="TextBox 59"/>
          <p:cNvSpPr txBox="1"/>
          <p:nvPr/>
        </p:nvSpPr>
        <p:spPr>
          <a:xfrm>
            <a:off x="8892024" y="4084531"/>
            <a:ext cx="16067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/>
              <a:t>Spark </a:t>
            </a:r>
            <a:r>
              <a:rPr lang="fr-FR" b="1"/>
              <a:t>Executor</a:t>
            </a:r>
            <a:endParaRPr lang="fr-FR" b="1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8320" y="0"/>
            <a:ext cx="10515600" cy="978951"/>
          </a:xfrm>
          <a:prstGeom prst="rect">
            <a:avLst/>
          </a:prstGeom>
        </p:spPr>
        <p:txBody>
          <a:bodyPr>
            <a:normAutofit fontScale="100000"/>
          </a:bodyPr>
          <a:lstStyle/>
          <a:p>
            <a:pPr algn="ctr"/>
            <a:r>
              <a:rPr lang="fr-FR"/>
              <a:t>Questions ?</a:t>
            </a:r>
          </a:p>
        </p:txBody>
      </p:sp>
      <p:sp>
        <p:nvSpPr>
          <p:cNvPr id="36966" name="TextBox 2"/>
          <p:cNvSpPr txBox="1"/>
          <p:nvPr/>
        </p:nvSpPr>
        <p:spPr>
          <a:xfrm>
            <a:off x="3585570" y="3200400"/>
            <a:ext cx="5035095" cy="640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r-FR" sz="3600"/>
              <a:t>... Next Steps ?</a:t>
            </a:r>
            <a:endParaRPr sz="36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>
          <a:solidFill>
            <a:schemeClr val="phClr"/>
          </a:solidFill>
          <a:prstDash val="solid"/>
          <a:miter/>
        </a:ln>
        <a:ln w="12700" cap="flat" cmpd="sng">
          <a:solidFill>
            <a:schemeClr val="phClr"/>
          </a:solidFill>
          <a:prstDash val="solid"/>
          <a:miter/>
        </a:ln>
        <a:ln w="19050" cap="flat" cmpd="sng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 xmlns:a="http://schemas.openxmlformats.org/drawingml/2006/main"/>
  <a:extraClrSchemeLst xmlns:a="http://schemas.openxmlformats.org/drawingml/2006/main"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DeckCraft</Application>
  <Slides>45</Slides>
  <Notes>0</Notes>
  <HiddenSlides>2</Hidden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</dc:title>
  <dc:creator>arnaud.nauwynck@gmail.com</dc:creator>
  <cp:lastModifiedBy>arnaud</cp:lastModifiedBy>
  <cp:revision>93</cp:revision>
  <dcterms:created xsi:type="dcterms:W3CDTF">2021-12-30T18:19:08Z</dcterms:created>
  <dcterms:modified xsi:type="dcterms:W3CDTF">2025-12-09T14:34:49Z</dcterms:modified>
</cp:coreProperties>
</file>