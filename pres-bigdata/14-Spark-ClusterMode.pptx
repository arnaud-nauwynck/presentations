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bin" ContentType="application/vnd.openxmlformats-officedocument.oleObject"/>
  <Default Extension="wmf" ContentType="image/x-wmf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  <p:sldId id="340" r:id="rId87"/>
    <p:sldId id="341" r:id="rId88"/>
    <p:sldId id="342" r:id="rId89"/>
    <p:sldId id="343" r:id="rId90"/>
    <p:sldId id="344" r:id="rId91"/>
    <p:sldId id="345" r:id="rId92"/>
    <p:sldId id="346" r:id="rId93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C8753EA-CB70-4392-8250-16E8700934D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</p14:sldIdLst>
        </p14:section>
      </p14:sectionLst>
    </p:ex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slide" Target="slides/slide62.xml"/><Relationship Id="rId65" Type="http://schemas.openxmlformats.org/officeDocument/2006/relationships/slide" Target="slides/slide63.xml"/><Relationship Id="rId66" Type="http://schemas.openxmlformats.org/officeDocument/2006/relationships/slide" Target="slides/slide64.xml"/><Relationship Id="rId67" Type="http://schemas.openxmlformats.org/officeDocument/2006/relationships/slide" Target="slides/slide65.xml"/><Relationship Id="rId68" Type="http://schemas.openxmlformats.org/officeDocument/2006/relationships/slide" Target="slides/slide66.xml"/><Relationship Id="rId69" Type="http://schemas.openxmlformats.org/officeDocument/2006/relationships/slide" Target="slides/slide67.xml"/><Relationship Id="rId70" Type="http://schemas.openxmlformats.org/officeDocument/2006/relationships/slide" Target="slides/slide68.xml"/><Relationship Id="rId71" Type="http://schemas.openxmlformats.org/officeDocument/2006/relationships/slide" Target="slides/slide69.xml"/><Relationship Id="rId72" Type="http://schemas.openxmlformats.org/officeDocument/2006/relationships/slide" Target="slides/slide70.xml"/><Relationship Id="rId73" Type="http://schemas.openxmlformats.org/officeDocument/2006/relationships/slide" Target="slides/slide71.xml"/><Relationship Id="rId74" Type="http://schemas.openxmlformats.org/officeDocument/2006/relationships/slide" Target="slides/slide72.xml"/><Relationship Id="rId75" Type="http://schemas.openxmlformats.org/officeDocument/2006/relationships/slide" Target="slides/slide73.xml"/><Relationship Id="rId76" Type="http://schemas.openxmlformats.org/officeDocument/2006/relationships/slide" Target="slides/slide74.xml"/><Relationship Id="rId77" Type="http://schemas.openxmlformats.org/officeDocument/2006/relationships/slide" Target="slides/slide75.xml"/><Relationship Id="rId78" Type="http://schemas.openxmlformats.org/officeDocument/2006/relationships/slide" Target="slides/slide76.xml"/><Relationship Id="rId79" Type="http://schemas.openxmlformats.org/officeDocument/2006/relationships/slide" Target="slides/slide77.xml"/><Relationship Id="rId80" Type="http://schemas.openxmlformats.org/officeDocument/2006/relationships/slide" Target="slides/slide78.xml"/><Relationship Id="rId81" Type="http://schemas.openxmlformats.org/officeDocument/2006/relationships/slide" Target="slides/slide79.xml"/><Relationship Id="rId82" Type="http://schemas.openxmlformats.org/officeDocument/2006/relationships/slide" Target="slides/slide80.xml"/><Relationship Id="rId83" Type="http://schemas.openxmlformats.org/officeDocument/2006/relationships/slide" Target="slides/slide81.xml"/><Relationship Id="rId84" Type="http://schemas.openxmlformats.org/officeDocument/2006/relationships/slide" Target="slides/slide82.xml"/><Relationship Id="rId85" Type="http://schemas.openxmlformats.org/officeDocument/2006/relationships/slide" Target="slides/slide83.xml"/><Relationship Id="rId86" Type="http://schemas.openxmlformats.org/officeDocument/2006/relationships/slide" Target="slides/slide84.xml"/><Relationship Id="rId87" Type="http://schemas.openxmlformats.org/officeDocument/2006/relationships/slide" Target="slides/slide85.xml"/><Relationship Id="rId88" Type="http://schemas.openxmlformats.org/officeDocument/2006/relationships/slide" Target="slides/slide86.xml"/><Relationship Id="rId89" Type="http://schemas.openxmlformats.org/officeDocument/2006/relationships/slide" Target="slides/slide87.xml"/><Relationship Id="rId90" Type="http://schemas.openxmlformats.org/officeDocument/2006/relationships/slide" Target="slides/slide88.xml"/><Relationship Id="rId91" Type="http://schemas.openxmlformats.org/officeDocument/2006/relationships/slide" Target="slides/slide89.xml"/><Relationship Id="rId92" Type="http://schemas.openxmlformats.org/officeDocument/2006/relationships/slide" Target="slides/slide90.xml"/><Relationship Id="rId93" Type="http://schemas.openxmlformats.org/officeDocument/2006/relationships/slide" Target="slides/slide91.xml"/><Relationship Id="rId94" Type="http://schemas.openxmlformats.org/officeDocument/2006/relationships/theme" Target="theme/theme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fr-FR"/>
              <a:t>08/01/2025</a:t>
            </a:fld>
            <a:endParaRPr lang="fr-FR"/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5B21-E8EE-4505-87E0-7B7F2C3DBBD0}" type="datetimeFigureOut">
              <a:rPr lang="fr-FR"/>
              <a:t>08/01/2025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C6D5D-A00E-4AA9-84F2-364CBECE0EEA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609E6-1126-4CCC-8F95-892B304C12E9}" type="datetimeFigureOut">
              <a:rPr lang="fr-FR"/>
              <a:t>08/01/2025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082BF-5467-4883-8896-824F7369BC9A}" type="datetimeFigureOut">
              <a:rPr lang="fr-FR"/>
              <a:t>08/01/2025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66248-C912-41CA-84D9-08E1C7982093}" type="datetimeFigureOut">
              <a:rPr lang="fr-FR"/>
              <a:t>08/01/2025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FB636-F4D9-4299-85F9-44D23E27C49C}" type="datetimeFigureOut">
              <a:rPr lang="fr-FR"/>
              <a:t>08/01/2025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C346-E4DF-45C0-848B-E2AC5513E0D5}" type="datetimeFigureOut">
              <a:rPr lang="fr-FR"/>
              <a:t>08/01/2025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B29E-DC2A-4D67-887F-3BE2DC8489D6}" type="datetimeFigureOut">
              <a:rPr lang="fr-FR"/>
              <a:t>08/01/2025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563BD-7186-488E-816C-8F41FA24179F}" type="datetimeFigureOut">
              <a:rPr lang="fr-FR"/>
              <a:t>08/01/2025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02C48-70E8-4C8D-81F4-17FB598144B8}" type="datetimeFigureOut">
              <a:rPr lang="fr-FR"/>
              <a:t>08/01/2025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02B83-4DFE-444B-8222-D5FF1EA6B44C}" type="datetimeFigureOut">
              <a:rPr lang="fr-FR"/>
              <a:t>08/01/2025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40F9-1701-4EB4-806D-4ED861E7A003}" type="datetimeFigureOut">
              <a:rPr lang="fr-FR"/>
              <a:t>08/01/2025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DADCF-DC63-475D-8D69-AEBF4EDF3BBC}" type="datetimeFigureOut">
              <a:rPr lang="fr-FR"/>
              <a:t>08/01/2025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png"/><Relationship Id="rId8" Type="http://schemas.openxmlformats.org/officeDocument/2006/relationships/image" Target="../media/image7.jpe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jpe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eg"/><Relationship Id="rId3" Type="http://schemas.openxmlformats.org/officeDocument/2006/relationships/image" Target="../media/image23.jpe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eg"/><Relationship Id="rId3" Type="http://schemas.openxmlformats.org/officeDocument/2006/relationships/oleObject" Target="../media/media1.bin"/><Relationship Id="rId4" Type="http://schemas.openxmlformats.org/officeDocument/2006/relationships/image" Target="../media/image24.wmf"/><Relationship Id="rId5" Type="http://schemas.openxmlformats.org/officeDocument/2006/relationships/oleObject" Target="../media/media2.bin"/><Relationship Id="rId6" Type="http://schemas.openxmlformats.org/officeDocument/2006/relationships/image" Target="../media/image25.wmf"/><Relationship Id="rId7" Type="http://schemas.openxmlformats.org/officeDocument/2006/relationships/image" Target="../media/image26.jpe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eg"/><Relationship Id="rId3" Type="http://schemas.openxmlformats.org/officeDocument/2006/relationships/image" Target="../media/image22.jpeg"/><Relationship Id="rId4" Type="http://schemas.openxmlformats.org/officeDocument/2006/relationships/oleObject" Target="../media/media3.bin"/><Relationship Id="rId5" Type="http://schemas.openxmlformats.org/officeDocument/2006/relationships/image" Target="../media/image28.wmf"/><Relationship Id="rId6" Type="http://schemas.openxmlformats.org/officeDocument/2006/relationships/image" Target="../media/image26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18.jpeg"/><Relationship Id="rId5" Type="http://schemas.openxmlformats.org/officeDocument/2006/relationships/image" Target="../media/image29.png"/><Relationship Id="rId6" Type="http://schemas.openxmlformats.org/officeDocument/2006/relationships/image" Target="../media/image10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24.wmf"/><Relationship Id="rId4" Type="http://schemas.openxmlformats.org/officeDocument/2006/relationships/image" Target="../media/image22.jpeg"/><Relationship Id="rId5" Type="http://schemas.openxmlformats.org/officeDocument/2006/relationships/image" Target="../media/image26.jpe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jpe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24.wmf"/><Relationship Id="rId4" Type="http://schemas.openxmlformats.org/officeDocument/2006/relationships/oleObject" Target="../media/media2.bin"/><Relationship Id="rId5" Type="http://schemas.openxmlformats.org/officeDocument/2006/relationships/image" Target="../media/image25.wmf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24.wmf"/><Relationship Id="rId4" Type="http://schemas.openxmlformats.org/officeDocument/2006/relationships/oleObject" Target="../media/media2.bin"/><Relationship Id="rId5" Type="http://schemas.openxmlformats.org/officeDocument/2006/relationships/image" Target="../media/image25.wmf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2.bin"/><Relationship Id="rId3" Type="http://schemas.openxmlformats.org/officeDocument/2006/relationships/image" Target="../media/image25.wmf"/><Relationship Id="rId4" Type="http://schemas.openxmlformats.org/officeDocument/2006/relationships/oleObject" Target="../media/media1.bin"/><Relationship Id="rId5" Type="http://schemas.openxmlformats.org/officeDocument/2006/relationships/image" Target="../media/image24.wmf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4.bin"/><Relationship Id="rId3" Type="http://schemas.openxmlformats.org/officeDocument/2006/relationships/image" Target="../media/image33.wmf"/><Relationship Id="rId4" Type="http://schemas.openxmlformats.org/officeDocument/2006/relationships/oleObject" Target="../media/media1.bin"/><Relationship Id="rId5" Type="http://schemas.openxmlformats.org/officeDocument/2006/relationships/image" Target="../media/image24.wmf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1.bin"/><Relationship Id="rId3" Type="http://schemas.openxmlformats.org/officeDocument/2006/relationships/image" Target="../media/image24.wmf"/><Relationship Id="rId4" Type="http://schemas.openxmlformats.org/officeDocument/2006/relationships/oleObject" Target="../media/media4.bin"/><Relationship Id="rId5" Type="http://schemas.openxmlformats.org/officeDocument/2006/relationships/image" Target="../media/image33.wmf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eg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22.jpeg"/><Relationship Id="rId4" Type="http://schemas.openxmlformats.org/officeDocument/2006/relationships/image" Target="../media/image39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39.png"/><Relationship Id="rId4" Type="http://schemas.openxmlformats.org/officeDocument/2006/relationships/image" Target="../media/image22.jpe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eg"/><Relationship Id="rId3" Type="http://schemas.openxmlformats.org/officeDocument/2006/relationships/image" Target="../media/image40.jpeg"/><Relationship Id="rId4" Type="http://schemas.openxmlformats.org/officeDocument/2006/relationships/image" Target="../media/image41.jpe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2.png"/><Relationship Id="rId3" Type="http://schemas.openxmlformats.org/officeDocument/2006/relationships/image" Target="../media/image26.jpe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3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4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e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5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6.jpe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eg"/><Relationship Id="rId3" Type="http://schemas.openxmlformats.org/officeDocument/2006/relationships/image" Target="../media/image47.jpe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8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6.jpe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0.png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0.png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2.pn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4.png"/><Relationship Id="rId3" Type="http://schemas.openxmlformats.org/officeDocument/2006/relationships/image" Target="../media/image55.jpe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47.jpeg"/><Relationship Id="rId7" Type="http://schemas.openxmlformats.org/officeDocument/2006/relationships/image" Target="../media/image58.png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8.png"/><Relationship Id="rId3" Type="http://schemas.openxmlformats.org/officeDocument/2006/relationships/image" Target="../media/image60.png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8.png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8.png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8.png"/><Relationship Id="rId3" Type="http://schemas.openxmlformats.org/officeDocument/2006/relationships/image" Target="../media/image61.png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2.jpeg"/><Relationship Id="rId3" Type="http://schemas.openxmlformats.org/officeDocument/2006/relationships/image" Target="../media/image47.jpeg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3.png"/><Relationship Id="rId3" Type="http://schemas.openxmlformats.org/officeDocument/2006/relationships/image" Target="../media/image47.jpeg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.jpeg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7.png"/><Relationship Id="rId3" Type="http://schemas.openxmlformats.org/officeDocument/2006/relationships/image" Target="../media/image66.png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7.png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7.png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7.png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7.png"/><Relationship Id="rId3" Type="http://schemas.openxmlformats.org/officeDocument/2006/relationships/image" Target="../media/image54.png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8.png"/><Relationship Id="rId3" Type="http://schemas.openxmlformats.org/officeDocument/2006/relationships/image" Target="../media/image54.png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9.png"/><Relationship Id="rId3" Type="http://schemas.openxmlformats.org/officeDocument/2006/relationships/image" Target="../media/image54.png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5.bin"/><Relationship Id="rId3" Type="http://schemas.openxmlformats.org/officeDocument/2006/relationships/image" Target="../media/image70.wmf"/><Relationship Id="rId4" Type="http://schemas.openxmlformats.org/officeDocument/2006/relationships/image" Target="../media/image71.png"/><Relationship Id="rId5" Type="http://schemas.openxmlformats.org/officeDocument/2006/relationships/oleObject" Target="../media/media6.bin"/><Relationship Id="rId6" Type="http://schemas.openxmlformats.org/officeDocument/2006/relationships/image" Target="../media/image72.wmf"/><Relationship Id="rId7" Type="http://schemas.openxmlformats.org/officeDocument/2006/relationships/image" Target="../media/image54.png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6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_rels/slide7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6.png"/><Relationship Id="rId3" Type="http://schemas.openxmlformats.org/officeDocument/2006/relationships/image" Target="../media/image75.png"/></Relationships>
</file>

<file path=ppt/slides/_rels/slide7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6.png"/><Relationship Id="rId3" Type="http://schemas.openxmlformats.org/officeDocument/2006/relationships/image" Target="../media/image76.jpeg"/></Relationships>
</file>

<file path=ppt/slides/_rels/slide7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Relationship Id="rId3" Type="http://schemas.openxmlformats.org/officeDocument/2006/relationships/image" Target="../media/image55.jpeg"/></Relationships>
</file>

<file path=ppt/slides/_rels/slide7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7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e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58.png"/><Relationship Id="rId6" Type="http://schemas.openxmlformats.org/officeDocument/2006/relationships/image" Target="../media/image55.jpeg"/></Relationships>
</file>

<file path=ppt/slides/_rels/slide7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eg"/><Relationship Id="rId3" Type="http://schemas.openxmlformats.org/officeDocument/2006/relationships/image" Target="../media/image81.png"/><Relationship Id="rId4" Type="http://schemas.openxmlformats.org/officeDocument/2006/relationships/image" Target="../media/image58.png"/><Relationship Id="rId5" Type="http://schemas.openxmlformats.org/officeDocument/2006/relationships/image" Target="../media/image55.jpeg"/></Relationships>
</file>

<file path=ppt/slides/_rels/slide8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eg"/><Relationship Id="rId3" Type="http://schemas.openxmlformats.org/officeDocument/2006/relationships/image" Target="../media/image82.png"/><Relationship Id="rId4" Type="http://schemas.openxmlformats.org/officeDocument/2006/relationships/image" Target="../media/image22.jpeg"/><Relationship Id="rId5" Type="http://schemas.openxmlformats.org/officeDocument/2006/relationships/oleObject" Target="../media/media1.bin"/><Relationship Id="rId6" Type="http://schemas.openxmlformats.org/officeDocument/2006/relationships/image" Target="../media/image24.wmf"/><Relationship Id="rId7" Type="http://schemas.openxmlformats.org/officeDocument/2006/relationships/image" Target="../media/image58.png"/><Relationship Id="rId8" Type="http://schemas.openxmlformats.org/officeDocument/2006/relationships/oleObject" Target="../media/media2.bin"/><Relationship Id="rId9" Type="http://schemas.openxmlformats.org/officeDocument/2006/relationships/image" Target="../media/image25.wmf"/><Relationship Id="rId10" Type="http://schemas.openxmlformats.org/officeDocument/2006/relationships/image" Target="../media/image55.jpeg"/></Relationships>
</file>

<file path=ppt/slides/_rels/slide8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3.png"/><Relationship Id="rId3" Type="http://schemas.openxmlformats.org/officeDocument/2006/relationships/image" Target="../media/image55.jpeg"/></Relationships>
</file>

<file path=ppt/slides/_rels/slide8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56.png"/><Relationship Id="rId5" Type="http://schemas.openxmlformats.org/officeDocument/2006/relationships/image" Target="../media/image61.png"/></Relationships>
</file>

<file path=ppt/slides/_rels/slide8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56.png"/><Relationship Id="rId6" Type="http://schemas.openxmlformats.org/officeDocument/2006/relationships/image" Target="../media/image61.png"/></Relationships>
</file>

<file path=ppt/slides/_rels/slide8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6.png"/><Relationship Id="rId3" Type="http://schemas.openxmlformats.org/officeDocument/2006/relationships/image" Target="../media/image61.png"/><Relationship Id="rId4" Type="http://schemas.openxmlformats.org/officeDocument/2006/relationships/image" Target="../media/image22.jpeg"/><Relationship Id="rId5" Type="http://schemas.openxmlformats.org/officeDocument/2006/relationships/oleObject" Target="../media/media1.bin"/><Relationship Id="rId6" Type="http://schemas.openxmlformats.org/officeDocument/2006/relationships/image" Target="../media/image24.wmf"/><Relationship Id="rId7" Type="http://schemas.openxmlformats.org/officeDocument/2006/relationships/oleObject" Target="../media/media2.bin"/><Relationship Id="rId8" Type="http://schemas.openxmlformats.org/officeDocument/2006/relationships/image" Target="../media/image25.wmf"/><Relationship Id="rId9" Type="http://schemas.openxmlformats.org/officeDocument/2006/relationships/image" Target="../media/image58.png"/><Relationship Id="rId10" Type="http://schemas.openxmlformats.org/officeDocument/2006/relationships/image" Target="../media/image78.jpeg"/><Relationship Id="rId11" Type="http://schemas.openxmlformats.org/officeDocument/2006/relationships/image" Target="../media/image74.png"/></Relationships>
</file>

<file path=ppt/slides/_rels/slide8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9.png"/></Relationships>
</file>

<file path=ppt/slides/_rels/slide8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Relationship Id="rId4" Type="http://schemas.openxmlformats.org/officeDocument/2006/relationships/oleObject" Target="../media/media1.bin"/><Relationship Id="rId5" Type="http://schemas.openxmlformats.org/officeDocument/2006/relationships/image" Target="../media/image24.wmf"/><Relationship Id="rId6" Type="http://schemas.openxmlformats.org/officeDocument/2006/relationships/image" Target="../media/image58.png"/></Relationships>
</file>

<file path=ppt/slides/_rels/slide8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2.png"/></Relationships>
</file>

<file path=ppt/slides/_rels/slide8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3267645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fr-FR"/>
              <a:t>BigData</a:t>
            </a:r>
            <a:r>
              <a:rPr lang="fr-FR"/>
              <a:t> – Spark – </a:t>
            </a:r>
            <a:r>
              <a:rPr lang="fr-FR"/>
              <a:t>Processing</a:t>
            </a:r>
            <a:br>
              <a:rPr lang="fr-FR"/>
            </a:br>
            <a:br>
              <a:rPr lang="fr-FR"/>
            </a:br>
            <a:r>
              <a:rPr lang="fr-FR"/>
              <a:t>Spark cluster mode</a:t>
            </a:r>
            <a:br>
              <a:rPr lang="fr-FR"/>
            </a:br>
            <a:r>
              <a:rPr lang="fr-FR"/>
              <a:t>distribution &amp;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4130040"/>
            <a:ext cx="11587480" cy="2590800"/>
          </a:xfrm>
          <a:prstGeom prst="rect">
            <a:avLst/>
          </a:prstGeom>
        </p:spPr>
        <p:txBody>
          <a:bodyPr/>
          <a:lstStyle/>
          <a:p>
            <a:r>
              <a:rPr lang="fr-FR"/>
              <a:t>Course Esilv 2026</a:t>
            </a:r>
          </a:p>
          <a:p>
            <a:r>
              <a:rPr lang="fr-FR"/>
              <a:t>arnaud.nauwynck@gmail.com</a:t>
            </a:r>
          </a:p>
          <a:p>
            <a:endParaRPr lang="fr-FR"/>
          </a:p>
          <a:p>
            <a:r>
              <a:rPr lang="fr-FR"/>
              <a:t>this</a:t>
            </a:r>
            <a:r>
              <a:rPr lang="fr-FR"/>
              <a:t> document:</a:t>
            </a:r>
          </a:p>
          <a:p>
            <a:r>
              <a:rPr lang="fr-FR" sz="2400"/>
              <a:t>https://github.com/Arnaud-Nauwynck/presentations/pres-bigdata/</a:t>
            </a:r>
            <a:br>
              <a:rPr lang="fr-FR" sz="2400"/>
            </a:br>
            <a:r>
              <a:rPr lang="fr-FR" sz="2400"/>
              <a:t>14-Spark-ClusterMode</a:t>
            </a:r>
            <a:endParaRPr lang="fr-FR"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Outline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314047" y="2423252"/>
            <a:ext cx="7398949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Reminder</a:t>
            </a:r>
            <a:r>
              <a:rPr lang="fr-FR" sz="2400"/>
              <a:t> Spark-driver / </a:t>
            </a:r>
            <a:r>
              <a:rPr lang="fr-FR" sz="2400"/>
              <a:t>spark-executors</a:t>
            </a:r>
            <a:endParaRPr lang="fr-FR" sz="2400"/>
          </a:p>
          <a:p>
            <a:endParaRPr lang="fr-FR" sz="2400"/>
          </a:p>
          <a:p>
            <a:r>
              <a:rPr lang="fr-FR" sz="2400"/>
              <a:t>Cluster Tuning Params</a:t>
            </a:r>
          </a:p>
          <a:p>
            <a:endParaRPr lang="fr-FR" sz="2400"/>
          </a:p>
          <a:p>
            <a:r>
              <a:rPr lang="fr-FR" sz="2400"/>
              <a:t>deployMode</a:t>
            </a:r>
            <a:r>
              <a:rPr lang="fr-FR" sz="2400"/>
              <a:t> (local, spark://, </a:t>
            </a:r>
            <a:r>
              <a:rPr lang="fr-FR" sz="2400"/>
              <a:t>yarn</a:t>
            </a:r>
            <a:r>
              <a:rPr lang="fr-FR" sz="2400"/>
              <a:t>, k8s)</a:t>
            </a:r>
          </a:p>
          <a:p>
            <a:endParaRPr lang="fr-FR" sz="2400"/>
          </a:p>
          <a:p>
            <a:r>
              <a:rPr lang="fr-FR" sz="2400"/>
              <a:t>Other launchers</a:t>
            </a:r>
            <a:r>
              <a:rPr lang="fr-FR" sz="2400"/>
              <a:t> (java </a:t>
            </a:r>
            <a:r>
              <a:rPr lang="fr-FR" sz="2400"/>
              <a:t>embedded</a:t>
            </a:r>
            <a:r>
              <a:rPr lang="fr-FR" sz="2400"/>
              <a:t>, </a:t>
            </a:r>
            <a:r>
              <a:rPr lang="fr-FR" sz="2400"/>
              <a:t>livy</a:t>
            </a:r>
            <a:r>
              <a:rPr lang="fr-FR" sz="2400"/>
              <a:t>, </a:t>
            </a:r>
            <a:r>
              <a:rPr lang="fr-FR" sz="2400"/>
              <a:t>jupyter</a:t>
            </a:r>
            <a:r>
              <a:rPr lang="fr-FR" sz="2400"/>
              <a:t>, </a:t>
            </a:r>
            <a:r>
              <a:rPr lang="fr-FR" sz="2400"/>
              <a:t>pyspark</a:t>
            </a:r>
            <a:r>
              <a:rPr lang="fr-FR" sz="2400"/>
              <a:t> ..)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6" name="Picture 14" descr="Streamlio Claims Pulsar Performance Advantages Over Kafk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91744" y="649749"/>
            <a:ext cx="1431056" cy="951917"/>
          </a:xfrm>
          <a:prstGeom prst="rect">
            <a:avLst/>
          </a:prstGeom>
          <a:noFill/>
        </p:spPr>
      </p:pic>
      <p:pic>
        <p:nvPicPr>
          <p:cNvPr id="3114" name="Picture 42" descr="William Ardila, Author at Nub8 » Page 3 of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993706" y="3861635"/>
            <a:ext cx="2198294" cy="1099147"/>
          </a:xfrm>
          <a:prstGeom prst="rect">
            <a:avLst/>
          </a:prstGeom>
          <a:noFill/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028063" y="806791"/>
            <a:ext cx="791712" cy="79171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254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Core</a:t>
            </a:r>
            <a:r>
              <a:rPr lang="fr-FR"/>
              <a:t> + …</a:t>
            </a:r>
          </a:p>
        </p:txBody>
      </p:sp>
      <p:pic>
        <p:nvPicPr>
          <p:cNvPr id="3076" name="Picture 4" descr="Upcoming Meetups - airisData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694928" y="1546686"/>
            <a:ext cx="1994595" cy="1356618"/>
          </a:xfrm>
          <a:prstGeom prst="rect">
            <a:avLst/>
          </a:prstGeom>
          <a:noFill/>
        </p:spPr>
      </p:pic>
      <p:pic>
        <p:nvPicPr>
          <p:cNvPr id="3080" name="Picture 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1076" y="1546686"/>
            <a:ext cx="2482088" cy="1422400"/>
          </a:xfrm>
          <a:prstGeom prst="rect">
            <a:avLst/>
          </a:prstGeom>
          <a:noFill/>
        </p:spPr>
      </p:pic>
      <p:pic>
        <p:nvPicPr>
          <p:cNvPr id="3082" name="Picture 10" descr="My First Foray into Spark MLlib. As a data science team that&amp;#39;s always… | by  Dan Piltzer | Red Ventures Data Science &amp;amp; Engineering | Medium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428265" y="1695311"/>
            <a:ext cx="2665230" cy="951917"/>
          </a:xfrm>
          <a:prstGeom prst="rect">
            <a:avLst/>
          </a:prstGeom>
          <a:noFill/>
        </p:spPr>
      </p:pic>
      <p:pic>
        <p:nvPicPr>
          <p:cNvPr id="3084" name="Picture 12" descr="Big Data Processing Using Apache Spark - Part 6: Graph Data Analytics with Spark  GraphX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9355712" y="1531425"/>
            <a:ext cx="1849623" cy="1325563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619680" y="872292"/>
            <a:ext cx="1180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Structured</a:t>
            </a:r>
            <a:br>
              <a:rPr lang="fr-FR"/>
            </a:br>
            <a:r>
              <a:rPr lang="fr-FR"/>
              <a:t> Data</a:t>
            </a:r>
          </a:p>
        </p:txBody>
      </p:sp>
      <p:sp>
        <p:nvSpPr>
          <p:cNvPr id="7" name="Cylinder 6"/>
          <p:cNvSpPr/>
          <p:nvPr/>
        </p:nvSpPr>
        <p:spPr>
          <a:xfrm>
            <a:off x="1800003" y="979224"/>
            <a:ext cx="901700" cy="61110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Cylinder 7"/>
          <p:cNvSpPr/>
          <p:nvPr/>
        </p:nvSpPr>
        <p:spPr>
          <a:xfrm rot="16200000">
            <a:off x="4899374" y="910516"/>
            <a:ext cx="259006" cy="84597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88" name="Picture 16" descr="Apache Kafka : Flux de données temps réel | OVHcloud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3789512" y="1215863"/>
            <a:ext cx="718608" cy="277919"/>
          </a:xfrm>
          <a:prstGeom prst="rect">
            <a:avLst/>
          </a:prstGeom>
          <a:noFill/>
        </p:spPr>
      </p:pic>
      <p:sp>
        <p:nvSpPr>
          <p:cNvPr id="12" name="Rectangle: Rounded Corners 11"/>
          <p:cNvSpPr/>
          <p:nvPr/>
        </p:nvSpPr>
        <p:spPr>
          <a:xfrm>
            <a:off x="809962" y="1640553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: Rounded Corners 22"/>
          <p:cNvSpPr/>
          <p:nvPr/>
        </p:nvSpPr>
        <p:spPr>
          <a:xfrm>
            <a:off x="3551468" y="1635335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: Rounded Corners 23"/>
          <p:cNvSpPr/>
          <p:nvPr/>
        </p:nvSpPr>
        <p:spPr>
          <a:xfrm>
            <a:off x="6286574" y="1623253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: Rounded Corners 24"/>
          <p:cNvSpPr/>
          <p:nvPr/>
        </p:nvSpPr>
        <p:spPr>
          <a:xfrm>
            <a:off x="9031816" y="1590324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94" name="Picture 22" descr="The Quantum Graph Recurrent Neural Network — PennyLane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9778999" y="817930"/>
            <a:ext cx="889451" cy="669529"/>
          </a:xfrm>
          <a:prstGeom prst="rect">
            <a:avLst/>
          </a:prstGeom>
          <a:noFill/>
        </p:spPr>
      </p:pic>
      <p:sp>
        <p:nvSpPr>
          <p:cNvPr id="13" name="Rectangle: Rounded Corners 12"/>
          <p:cNvSpPr/>
          <p:nvPr/>
        </p:nvSpPr>
        <p:spPr>
          <a:xfrm>
            <a:off x="4018354" y="3850382"/>
            <a:ext cx="4536440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8" name="Picture 8" descr="Apache Spark — Wikipédia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975554" y="3945924"/>
            <a:ext cx="1731327" cy="898847"/>
          </a:xfrm>
          <a:prstGeom prst="rect">
            <a:avLst/>
          </a:prstGeom>
          <a:noFill/>
        </p:spPr>
      </p:pic>
      <p:sp>
        <p:nvSpPr>
          <p:cNvPr id="14" name="TextBox 13"/>
          <p:cNvSpPr txBox="1"/>
          <p:nvPr/>
        </p:nvSpPr>
        <p:spPr>
          <a:xfrm>
            <a:off x="6755663" y="4129785"/>
            <a:ext cx="13623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/>
              <a:t>Core</a:t>
            </a:r>
            <a:endParaRPr lang="fr-FR" sz="4800" b="1"/>
          </a:p>
        </p:txBody>
      </p:sp>
      <p:sp>
        <p:nvSpPr>
          <p:cNvPr id="15" name="TextBox 14"/>
          <p:cNvSpPr txBox="1"/>
          <p:nvPr/>
        </p:nvSpPr>
        <p:spPr>
          <a:xfrm>
            <a:off x="1650900" y="3790947"/>
            <a:ext cx="23774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DataSource</a:t>
            </a:r>
            <a:r>
              <a:rPr lang="fr-FR"/>
              <a:t> </a:t>
            </a:r>
            <a:r>
              <a:rPr lang="fr-FR"/>
              <a:t>Connectors</a:t>
            </a:r>
            <a:endParaRPr lang="fr-FR"/>
          </a:p>
          <a:p>
            <a:r>
              <a:rPr lang="fr-FR"/>
              <a:t>(Hadoop API)</a:t>
            </a:r>
          </a:p>
        </p:txBody>
      </p:sp>
      <p:sp>
        <p:nvSpPr>
          <p:cNvPr id="17" name="Arrow: Up-Down 16"/>
          <p:cNvSpPr/>
          <p:nvPr/>
        </p:nvSpPr>
        <p:spPr>
          <a:xfrm rot="5400000">
            <a:off x="2522832" y="411830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8709460" y="3943031"/>
            <a:ext cx="1735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Cluster Manager</a:t>
            </a:r>
          </a:p>
        </p:txBody>
      </p:sp>
      <p:sp>
        <p:nvSpPr>
          <p:cNvPr id="35" name="Arrow: Up-Down 34"/>
          <p:cNvSpPr/>
          <p:nvPr/>
        </p:nvSpPr>
        <p:spPr>
          <a:xfrm rot="5400000">
            <a:off x="9400610" y="411830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/>
          <p:cNvSpPr txBox="1"/>
          <p:nvPr/>
        </p:nvSpPr>
        <p:spPr>
          <a:xfrm>
            <a:off x="6250010" y="5261663"/>
            <a:ext cx="1845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Languages Support</a:t>
            </a:r>
          </a:p>
        </p:txBody>
      </p:sp>
      <p:sp>
        <p:nvSpPr>
          <p:cNvPr id="37" name="Arrow: Up-Down 36"/>
          <p:cNvSpPr/>
          <p:nvPr/>
        </p:nvSpPr>
        <p:spPr>
          <a:xfrm rot="10800000">
            <a:off x="5928832" y="5190670"/>
            <a:ext cx="357742" cy="59018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/>
          <p:cNvSpPr txBox="1"/>
          <p:nvPr/>
        </p:nvSpPr>
        <p:spPr>
          <a:xfrm>
            <a:off x="6474534" y="3060431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Modules</a:t>
            </a:r>
          </a:p>
        </p:txBody>
      </p:sp>
      <p:sp>
        <p:nvSpPr>
          <p:cNvPr id="39" name="Arrow: Up-Down 38"/>
          <p:cNvSpPr/>
          <p:nvPr/>
        </p:nvSpPr>
        <p:spPr>
          <a:xfrm rot="10800000">
            <a:off x="5965396" y="2979059"/>
            <a:ext cx="357742" cy="59018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96" name="Picture 24" descr="Java (langage) — Wikipédia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4561705" y="5554641"/>
            <a:ext cx="637540" cy="1186632"/>
          </a:xfrm>
          <a:prstGeom prst="rect">
            <a:avLst/>
          </a:prstGeom>
          <a:noFill/>
        </p:spPr>
      </p:pic>
      <p:pic>
        <p:nvPicPr>
          <p:cNvPr id="3098" name="Picture 26" descr="Scala (langage) — Wikipédia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5567553" y="6066414"/>
            <a:ext cx="1719743" cy="705535"/>
          </a:xfrm>
          <a:prstGeom prst="rect">
            <a:avLst/>
          </a:prstGeom>
          <a:noFill/>
        </p:spPr>
      </p:pic>
      <p:pic>
        <p:nvPicPr>
          <p:cNvPr id="3102" name="Picture 30" descr="Python-Logo-PNG-Image - Indigo.amsterdam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6865951" y="5799353"/>
            <a:ext cx="2015656" cy="1007828"/>
          </a:xfrm>
          <a:prstGeom prst="rect">
            <a:avLst/>
          </a:prstGeom>
          <a:noFill/>
        </p:spPr>
      </p:pic>
      <p:pic>
        <p:nvPicPr>
          <p:cNvPr id="3106" name="Picture 34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426061" y="5989133"/>
            <a:ext cx="911091" cy="706120"/>
          </a:xfrm>
          <a:prstGeom prst="rect">
            <a:avLst/>
          </a:prstGeom>
          <a:noFill/>
        </p:spPr>
      </p:pic>
      <p:pic>
        <p:nvPicPr>
          <p:cNvPr id="3110" name="Picture 38" descr="Présentation Hadoop Distributed File System – Blog technique Groupe SII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334928" y="3327277"/>
            <a:ext cx="1393418" cy="657519"/>
          </a:xfrm>
          <a:prstGeom prst="rect">
            <a:avLst/>
          </a:prstGeom>
          <a:noFill/>
        </p:spPr>
      </p:pic>
      <p:pic>
        <p:nvPicPr>
          <p:cNvPr id="3112" name="Picture 40" descr="Upload/Download your Azure Storage files by using Azure Data Lake Storage  Plugin with Workload Automation - WORKLOAD AUTOMATION COMMUNITY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165341" y="4499093"/>
            <a:ext cx="1447594" cy="836499"/>
          </a:xfrm>
          <a:prstGeom prst="rect">
            <a:avLst/>
          </a:prstGeom>
          <a:noFill/>
        </p:spPr>
      </p:pic>
      <p:pic>
        <p:nvPicPr>
          <p:cNvPr id="50" name="Picture 2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10688770" y="4775421"/>
            <a:ext cx="896605" cy="875258"/>
          </a:xfrm>
          <a:prstGeom prst="rect">
            <a:avLst/>
          </a:prstGeom>
          <a:noFill/>
        </p:spPr>
      </p:pic>
      <p:pic>
        <p:nvPicPr>
          <p:cNvPr id="3116" name="Picture 44" descr="How to Run an Application on Spark Standalone Cluster | by Chuan Xu | Medium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10346550" y="3171738"/>
            <a:ext cx="1676749" cy="943171"/>
          </a:xfrm>
          <a:prstGeom prst="rect">
            <a:avLst/>
          </a:prstGeom>
          <a:noFill/>
        </p:spPr>
      </p:pic>
      <p:pic>
        <p:nvPicPr>
          <p:cNvPr id="3118" name="Picture 46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8759" y="5306801"/>
            <a:ext cx="698767" cy="571975"/>
          </a:xfrm>
          <a:prstGeom prst="rect">
            <a:avLst/>
          </a:prstGeom>
          <a:noFill/>
        </p:spPr>
      </p:pic>
      <p:pic>
        <p:nvPicPr>
          <p:cNvPr id="3120" name="Picture 48" descr="Apache Iceber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643695" y="5349397"/>
            <a:ext cx="1447594" cy="394469"/>
          </a:xfrm>
          <a:prstGeom prst="rect">
            <a:avLst/>
          </a:prstGeom>
          <a:noFill/>
        </p:spPr>
      </p:pic>
      <p:pic>
        <p:nvPicPr>
          <p:cNvPr id="3108" name="Picture 36" descr="Amazon S3 101. S3 is a Simple Storage Service that is… | by Vedha Sankar |  featurepreneur | Medium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437402" y="3952271"/>
            <a:ext cx="903472" cy="676732"/>
          </a:xfrm>
          <a:prstGeom prst="rect">
            <a:avLst/>
          </a:prstGeom>
          <a:noFill/>
        </p:spPr>
      </p:pic>
      <p:sp>
        <p:nvSpPr>
          <p:cNvPr id="3" name="Rectangle 2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6056" y="0"/>
            <a:ext cx="10942468" cy="1650423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1 Spark application </a:t>
            </a:r>
            <a:br>
              <a:rPr lang="fr-FR"/>
            </a:br>
            <a:br>
              <a:rPr lang="fr-FR"/>
            </a:br>
            <a:r>
              <a:rPr lang="fr-FR"/>
              <a:t>= 1 Spark-driver  +  N </a:t>
            </a:r>
            <a:r>
              <a:rPr lang="fr-FR"/>
              <a:t>spark-executors</a:t>
            </a:r>
            <a:endParaRPr lang="fr-FR"/>
          </a:p>
        </p:txBody>
      </p:sp>
      <p:sp>
        <p:nvSpPr>
          <p:cNvPr id="3" name="Rectangle 2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087" y="0"/>
            <a:ext cx="11879826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Read N Files – </a:t>
            </a:r>
            <a:r>
              <a:rPr lang="fr-FR"/>
              <a:t>assign</a:t>
            </a:r>
            <a:r>
              <a:rPr lang="fr-FR"/>
              <a:t> </a:t>
            </a:r>
            <a:r>
              <a:rPr lang="fr-FR"/>
              <a:t>Tasks</a:t>
            </a:r>
            <a:r>
              <a:rPr lang="fr-FR"/>
              <a:t> to </a:t>
            </a:r>
            <a:r>
              <a:rPr lang="fr-FR"/>
              <a:t>Executors</a:t>
            </a:r>
            <a:endParaRPr lang="fr-FR"/>
          </a:p>
        </p:txBody>
      </p:sp>
      <p:sp>
        <p:nvSpPr>
          <p:cNvPr id="4" name="Rectangle: Folded Corner 3"/>
          <p:cNvSpPr/>
          <p:nvPr/>
        </p:nvSpPr>
        <p:spPr>
          <a:xfrm>
            <a:off x="2945597" y="2927984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: Folded Corner 4"/>
          <p:cNvSpPr/>
          <p:nvPr/>
        </p:nvSpPr>
        <p:spPr>
          <a:xfrm>
            <a:off x="3097997" y="3080384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: Folded Corner 5"/>
          <p:cNvSpPr/>
          <p:nvPr/>
        </p:nvSpPr>
        <p:spPr>
          <a:xfrm>
            <a:off x="3250397" y="3232784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726866" y="3906668"/>
            <a:ext cx="1008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N Files</a:t>
            </a:r>
          </a:p>
        </p:txBody>
      </p:sp>
      <p:sp>
        <p:nvSpPr>
          <p:cNvPr id="8" name="Arrow: Right 7"/>
          <p:cNvSpPr/>
          <p:nvPr/>
        </p:nvSpPr>
        <p:spPr>
          <a:xfrm rot="20831593">
            <a:off x="5757841" y="2466301"/>
            <a:ext cx="745725" cy="4838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/>
          <p:cNvSpPr/>
          <p:nvPr/>
        </p:nvSpPr>
        <p:spPr>
          <a:xfrm>
            <a:off x="5814276" y="2969167"/>
            <a:ext cx="745725" cy="4123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/>
          <p:cNvSpPr/>
          <p:nvPr/>
        </p:nvSpPr>
        <p:spPr>
          <a:xfrm rot="1413933">
            <a:off x="5768242" y="3451075"/>
            <a:ext cx="745725" cy="4661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: Rounded Corners 10"/>
          <p:cNvSpPr/>
          <p:nvPr/>
        </p:nvSpPr>
        <p:spPr>
          <a:xfrm>
            <a:off x="9248387" y="184657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: Rounded Corners 11"/>
          <p:cNvSpPr/>
          <p:nvPr/>
        </p:nvSpPr>
        <p:spPr>
          <a:xfrm>
            <a:off x="9232343" y="286948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: Rounded Corners 12"/>
          <p:cNvSpPr/>
          <p:nvPr/>
        </p:nvSpPr>
        <p:spPr>
          <a:xfrm>
            <a:off x="9246403" y="389394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9710026" y="2034816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/>
          <p:cNvSpPr/>
          <p:nvPr/>
        </p:nvSpPr>
        <p:spPr>
          <a:xfrm>
            <a:off x="9704821" y="3033747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/>
          <p:cNvSpPr/>
          <p:nvPr/>
        </p:nvSpPr>
        <p:spPr>
          <a:xfrm>
            <a:off x="9870234" y="3997904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/>
          <p:cNvSpPr/>
          <p:nvPr/>
        </p:nvSpPr>
        <p:spPr>
          <a:xfrm>
            <a:off x="10177299" y="3187636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10173814" y="223335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9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76707" y="1675424"/>
            <a:ext cx="663946" cy="1032806"/>
          </a:xfrm>
          <a:prstGeom prst="rect">
            <a:avLst/>
          </a:prstGeom>
          <a:noFill/>
        </p:spPr>
      </p:pic>
      <p:pic>
        <p:nvPicPr>
          <p:cNvPr id="20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76707" y="2756336"/>
            <a:ext cx="663945" cy="1032803"/>
          </a:xfrm>
          <a:prstGeom prst="rect">
            <a:avLst/>
          </a:prstGeom>
          <a:noFill/>
        </p:spPr>
      </p:pic>
      <p:pic>
        <p:nvPicPr>
          <p:cNvPr id="21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76708" y="3830855"/>
            <a:ext cx="662943" cy="1031245"/>
          </a:xfrm>
          <a:prstGeom prst="rect">
            <a:avLst/>
          </a:prstGeom>
          <a:noFill/>
        </p:spPr>
      </p:pic>
      <p:pic>
        <p:nvPicPr>
          <p:cNvPr id="22" name="Picture 6" descr="HDFS Storage Efficiency Using Tiered Storag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4852" y="2587177"/>
            <a:ext cx="2313456" cy="1279295"/>
          </a:xfrm>
          <a:prstGeom prst="rect">
            <a:avLst/>
          </a:prstGeom>
          <a:noFill/>
        </p:spPr>
      </p:pic>
      <p:pic>
        <p:nvPicPr>
          <p:cNvPr id="27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974370" y="4834414"/>
            <a:ext cx="724351" cy="1126769"/>
          </a:xfrm>
          <a:prstGeom prst="rect">
            <a:avLst/>
          </a:prstGeom>
          <a:noFill/>
        </p:spPr>
      </p:pic>
      <p:sp>
        <p:nvSpPr>
          <p:cNvPr id="28" name="Arrow: Right 27"/>
          <p:cNvSpPr/>
          <p:nvPr/>
        </p:nvSpPr>
        <p:spPr>
          <a:xfrm rot="19144861">
            <a:off x="5822438" y="4490460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row: Right 28"/>
          <p:cNvSpPr/>
          <p:nvPr/>
        </p:nvSpPr>
        <p:spPr>
          <a:xfrm rot="19363560">
            <a:off x="6015724" y="4771820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row: Right 29"/>
          <p:cNvSpPr/>
          <p:nvPr/>
        </p:nvSpPr>
        <p:spPr>
          <a:xfrm rot="20050494">
            <a:off x="6091850" y="4994406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row: Bent-Up 30"/>
          <p:cNvSpPr/>
          <p:nvPr/>
        </p:nvSpPr>
        <p:spPr>
          <a:xfrm flipH="1">
            <a:off x="1361541" y="5261382"/>
            <a:ext cx="1195002" cy="917432"/>
          </a:xfrm>
          <a:prstGeom prst="bentUpArrow">
            <a:avLst>
              <a:gd name="adj1" fmla="val 13747"/>
              <a:gd name="adj2" fmla="val 25000"/>
              <a:gd name="adj3" fmla="val 2821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TextBox 31"/>
          <p:cNvSpPr txBox="1"/>
          <p:nvPr/>
        </p:nvSpPr>
        <p:spPr>
          <a:xfrm>
            <a:off x="484852" y="6070201"/>
            <a:ext cx="33389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(1) Directory List files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4224" y="6179002"/>
            <a:ext cx="24851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/>
              <a:t>spark</a:t>
            </a:r>
            <a:r>
              <a:rPr lang="fr-FR" sz="3200"/>
              <a:t>-driver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8867" y="6190217"/>
            <a:ext cx="33000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/>
              <a:t>spark-executors</a:t>
            </a:r>
            <a:endParaRPr lang="fr-FR" sz="3200"/>
          </a:p>
        </p:txBody>
      </p:sp>
      <p:sp>
        <p:nvSpPr>
          <p:cNvPr id="35" name="Arrow: Bent-Up 34"/>
          <p:cNvSpPr/>
          <p:nvPr/>
        </p:nvSpPr>
        <p:spPr>
          <a:xfrm flipH="1">
            <a:off x="3044208" y="4243551"/>
            <a:ext cx="1195002" cy="917432"/>
          </a:xfrm>
          <a:prstGeom prst="bentUpArrow">
            <a:avLst>
              <a:gd name="adj1" fmla="val 5709"/>
              <a:gd name="adj2" fmla="val 11738"/>
              <a:gd name="adj3" fmla="val 338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Arrow: Bent-Up 35"/>
          <p:cNvSpPr/>
          <p:nvPr/>
        </p:nvSpPr>
        <p:spPr>
          <a:xfrm flipH="1">
            <a:off x="3225078" y="4128021"/>
            <a:ext cx="1195002" cy="917432"/>
          </a:xfrm>
          <a:prstGeom prst="bentUpArrow">
            <a:avLst>
              <a:gd name="adj1" fmla="val 5709"/>
              <a:gd name="adj2" fmla="val 11738"/>
              <a:gd name="adj3" fmla="val 338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Arrow: Bent-Up 36"/>
          <p:cNvSpPr/>
          <p:nvPr/>
        </p:nvSpPr>
        <p:spPr>
          <a:xfrm flipH="1">
            <a:off x="3431830" y="3991355"/>
            <a:ext cx="1195002" cy="917432"/>
          </a:xfrm>
          <a:prstGeom prst="bentUpArrow">
            <a:avLst>
              <a:gd name="adj1" fmla="val 5709"/>
              <a:gd name="adj2" fmla="val 11738"/>
              <a:gd name="adj3" fmla="val 338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/>
          <p:cNvSpPr txBox="1"/>
          <p:nvPr/>
        </p:nvSpPr>
        <p:spPr>
          <a:xfrm>
            <a:off x="2502904" y="5059368"/>
            <a:ext cx="236391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(2) </a:t>
            </a:r>
            <a:r>
              <a:rPr lang="fr-FR" sz="2800" b="1"/>
              <a:t>read</a:t>
            </a:r>
            <a:r>
              <a:rPr lang="fr-FR" sz="2800" b="1"/>
              <a:t> N files</a:t>
            </a:r>
          </a:p>
          <a:p>
            <a:r>
              <a:rPr lang="fr-FR" sz="2800" b="1"/>
              <a:t> </a:t>
            </a:r>
            <a:r>
              <a:rPr lang="fr-FR" sz="2800" b="1"/>
              <a:t>metadata</a:t>
            </a:r>
            <a:endParaRPr lang="fr-FR" sz="2800" b="1"/>
          </a:p>
        </p:txBody>
      </p:sp>
      <p:sp>
        <p:nvSpPr>
          <p:cNvPr id="39" name="TextBox 38"/>
          <p:cNvSpPr txBox="1"/>
          <p:nvPr/>
        </p:nvSpPr>
        <p:spPr>
          <a:xfrm>
            <a:off x="6065914" y="5109308"/>
            <a:ext cx="416005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(3) </a:t>
            </a:r>
            <a:r>
              <a:rPr lang="fr-FR" sz="2800" b="1"/>
              <a:t>Send</a:t>
            </a:r>
            <a:r>
              <a:rPr lang="fr-FR" sz="2800" b="1"/>
              <a:t> </a:t>
            </a:r>
            <a:r>
              <a:rPr lang="fr-FR" sz="2800" b="1"/>
              <a:t>tasks</a:t>
            </a:r>
            <a:r>
              <a:rPr lang="fr-FR" sz="2800" b="1"/>
              <a:t> to </a:t>
            </a:r>
            <a:r>
              <a:rPr lang="fr-FR" sz="2800" b="1"/>
              <a:t>executors</a:t>
            </a:r>
            <a:endParaRPr lang="fr-FR" sz="2800" b="1"/>
          </a:p>
          <a:p>
            <a:r>
              <a:rPr lang="fr-FR" sz="2800" b="1"/>
              <a:t>Task_i</a:t>
            </a:r>
            <a:r>
              <a:rPr lang="fr-FR" sz="2800" b="1"/>
              <a:t> = « </a:t>
            </a:r>
            <a:r>
              <a:rPr lang="fr-FR" sz="2800" b="1"/>
              <a:t>read</a:t>
            </a:r>
            <a:r>
              <a:rPr lang="fr-FR" sz="2800" b="1"/>
              <a:t> </a:t>
            </a:r>
            <a:r>
              <a:rPr lang="fr-FR" sz="2800" b="1"/>
              <a:t>file_j</a:t>
            </a:r>
            <a:r>
              <a:rPr lang="fr-FR" sz="2800" b="1"/>
              <a:t> 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2826" y="1836100"/>
            <a:ext cx="27917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(4) </a:t>
            </a:r>
            <a:r>
              <a:rPr lang="fr-FR" sz="2800" b="1"/>
              <a:t>exec</a:t>
            </a:r>
            <a:r>
              <a:rPr lang="fr-FR" sz="2800" b="1"/>
              <a:t> </a:t>
            </a:r>
            <a:r>
              <a:rPr lang="fr-FR" sz="2800" b="1"/>
              <a:t>read</a:t>
            </a:r>
            <a:r>
              <a:rPr lang="fr-FR" sz="2800" b="1"/>
              <a:t> </a:t>
            </a:r>
            <a:r>
              <a:rPr lang="fr-FR" sz="2800" b="1"/>
              <a:t>task</a:t>
            </a:r>
            <a:endParaRPr lang="fr-FR" sz="2800" b="1"/>
          </a:p>
        </p:txBody>
      </p:sp>
      <p:sp>
        <p:nvSpPr>
          <p:cNvPr id="41" name="Arrow: Right 40"/>
          <p:cNvSpPr/>
          <p:nvPr/>
        </p:nvSpPr>
        <p:spPr>
          <a:xfrm rot="19144861" flipH="1" flipV="1">
            <a:off x="7645909" y="2765005"/>
            <a:ext cx="673741" cy="1084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Arrow: Right 41"/>
          <p:cNvSpPr/>
          <p:nvPr/>
        </p:nvSpPr>
        <p:spPr>
          <a:xfrm rot="19470135" flipH="1" flipV="1">
            <a:off x="7532957" y="3671287"/>
            <a:ext cx="673741" cy="1084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Arrow: Right 42"/>
          <p:cNvSpPr/>
          <p:nvPr/>
        </p:nvSpPr>
        <p:spPr>
          <a:xfrm rot="20085989" flipH="1" flipV="1">
            <a:off x="7555053" y="4436512"/>
            <a:ext cx="673741" cy="1084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TextBox 43"/>
          <p:cNvSpPr txBox="1"/>
          <p:nvPr/>
        </p:nvSpPr>
        <p:spPr>
          <a:xfrm>
            <a:off x="7166378" y="1074496"/>
            <a:ext cx="46360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(5) </a:t>
            </a:r>
            <a:r>
              <a:rPr lang="fr-FR" sz="2800" b="1"/>
              <a:t>Send</a:t>
            </a:r>
            <a:r>
              <a:rPr lang="fr-FR" sz="2800" b="1"/>
              <a:t> </a:t>
            </a:r>
            <a:r>
              <a:rPr lang="fr-FR" sz="2800" b="1"/>
              <a:t>tasks</a:t>
            </a:r>
            <a:r>
              <a:rPr lang="fr-FR" sz="2800" b="1"/>
              <a:t> </a:t>
            </a:r>
            <a:r>
              <a:rPr lang="fr-FR" sz="2800" b="1"/>
              <a:t>progress</a:t>
            </a:r>
            <a:r>
              <a:rPr lang="fr-FR" sz="2800" b="1"/>
              <a:t>/</a:t>
            </a:r>
            <a:r>
              <a:rPr lang="fr-FR" sz="2800" b="1"/>
              <a:t>status</a:t>
            </a:r>
            <a:endParaRPr lang="fr-FR" sz="2800" b="1"/>
          </a:p>
        </p:txBody>
      </p:sp>
      <p:sp>
        <p:nvSpPr>
          <p:cNvPr id="45" name="Rectangle 44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77815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Parallelizable</a:t>
            </a:r>
            <a:r>
              <a:rPr lang="fr-FR"/>
              <a:t> per partition / </a:t>
            </a:r>
            <a:r>
              <a:rPr lang="fr-FR"/>
              <a:t>available</a:t>
            </a:r>
            <a:r>
              <a:rPr lang="fr-FR"/>
              <a:t> </a:t>
            </a:r>
            <a:r>
              <a:rPr lang="fr-FR"/>
              <a:t>CPU</a:t>
            </a:r>
            <a:br>
              <a:rPr lang="fr-FR"/>
            </a:br>
            <a:r>
              <a:rPr lang="fr-FR"/>
              <a:t>1 or </a:t>
            </a:r>
            <a:r>
              <a:rPr lang="fr-FR"/>
              <a:t>several</a:t>
            </a:r>
            <a:r>
              <a:rPr lang="fr-FR"/>
              <a:t> partitions per </a:t>
            </a:r>
            <a:r>
              <a:rPr lang="fr-FR"/>
              <a:t>Executor</a:t>
            </a:r>
            <a:br>
              <a:rPr lang="fr-FR"/>
            </a:br>
            <a:r>
              <a:rPr lang="fr-FR"/>
              <a:t>..1 or </a:t>
            </a:r>
            <a:r>
              <a:rPr lang="fr-FR"/>
              <a:t>several</a:t>
            </a:r>
            <a:r>
              <a:rPr lang="fr-FR"/>
              <a:t> </a:t>
            </a:r>
            <a:r>
              <a:rPr lang="fr-FR"/>
              <a:t>Executors</a:t>
            </a:r>
            <a:endParaRPr lang="fr-FR"/>
          </a:p>
        </p:txBody>
      </p:sp>
      <p:sp>
        <p:nvSpPr>
          <p:cNvPr id="33" name="Rectangle 32"/>
          <p:cNvSpPr/>
          <p:nvPr/>
        </p:nvSpPr>
        <p:spPr>
          <a:xfrm>
            <a:off x="599444" y="2481069"/>
            <a:ext cx="5125587" cy="40118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: Rounded Corners 33"/>
          <p:cNvSpPr/>
          <p:nvPr/>
        </p:nvSpPr>
        <p:spPr>
          <a:xfrm>
            <a:off x="1262533" y="2900927"/>
            <a:ext cx="3848062" cy="107877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5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0897" y="3645329"/>
            <a:ext cx="915912" cy="1373375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A1B1FCB9-E24A-AE49-4F6A-CB019FEA4BB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21759311"/>
              </p:ext>
            </p:extLst>
          </p:nvPr>
        </p:nvGraphicFramePr>
        <p:xfrm>
          <a:off x="1514407" y="296202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A1B1FCB9-E24A-AE49-4F6A-CB019FEA4BBF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514407" y="296202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113B41C0-ED22-B4BA-16DA-73CCD462D4D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45319428"/>
              </p:ext>
            </p:extLst>
          </p:nvPr>
        </p:nvGraphicFramePr>
        <p:xfrm>
          <a:off x="1744745" y="310448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113B41C0-ED22-B4BA-16DA-73CCD462D4D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744745" y="310448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74AD9270-774A-5825-1147-2AB644E7D1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4604446"/>
              </p:ext>
            </p:extLst>
          </p:nvPr>
        </p:nvGraphicFramePr>
        <p:xfrm>
          <a:off x="1744745" y="332363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74AD9270-774A-5825-1147-2AB644E7D1C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744745" y="332363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" name="Object 8">
            <a:extLst>
              <a:ext uri="{FF2B5EF4-FFF2-40B4-BE49-F238E27FC236}">
                <a16:creationId xmlns:a16="http://schemas.microsoft.com/office/drawing/2014/main" id="{1227B26D-786E-4027-6893-ABEE70D0FF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6674368"/>
              </p:ext>
            </p:extLst>
          </p:nvPr>
        </p:nvGraphicFramePr>
        <p:xfrm>
          <a:off x="1751779" y="356670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" name="Object 8">
                    <a:extLst>
                      <a:ext uri="{FF2B5EF4-FFF2-40B4-BE49-F238E27FC236}">
                        <a16:creationId xmlns:a16="http://schemas.microsoft.com/office/drawing/2014/main" id="{1227B26D-786E-4027-6893-ABEE70D0FF12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751779" y="356670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6" name="Arrow: Right 25"/>
          <p:cNvSpPr/>
          <p:nvPr/>
        </p:nvSpPr>
        <p:spPr>
          <a:xfrm>
            <a:off x="2783040" y="3353525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7" name="Picture 26" descr="CPU X : Infos Smartphones – Applications sur Google Play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940299" y="3183593"/>
            <a:ext cx="505279" cy="50527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" name="Object 35">
            <a:extLst>
              <a:ext uri="{FF2B5EF4-FFF2-40B4-BE49-F238E27FC236}">
                <a16:creationId xmlns:a16="http://schemas.microsoft.com/office/drawing/2014/main" id="{8EEBFBFC-BEB3-94E3-CED0-7672513DEF7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7410351"/>
              </p:ext>
            </p:extLst>
          </p:nvPr>
        </p:nvGraphicFramePr>
        <p:xfrm>
          <a:off x="3792673" y="296202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36" name="Object 35">
                    <a:extLst>
                      <a:ext uri="{FF2B5EF4-FFF2-40B4-BE49-F238E27FC236}">
                        <a16:creationId xmlns:a16="http://schemas.microsoft.com/office/drawing/2014/main" id="{8EEBFBFC-BEB3-94E3-CED0-7672513DEF73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3792673" y="296202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7" name="Object 36">
            <a:extLst>
              <a:ext uri="{FF2B5EF4-FFF2-40B4-BE49-F238E27FC236}">
                <a16:creationId xmlns:a16="http://schemas.microsoft.com/office/drawing/2014/main" id="{03EC4754-EDB4-5F62-4658-4E9823E6482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38637269"/>
              </p:ext>
            </p:extLst>
          </p:nvPr>
        </p:nvGraphicFramePr>
        <p:xfrm>
          <a:off x="4023011" y="310448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37" name="Object 36">
                    <a:extLst>
                      <a:ext uri="{FF2B5EF4-FFF2-40B4-BE49-F238E27FC236}">
                        <a16:creationId xmlns:a16="http://schemas.microsoft.com/office/drawing/2014/main" id="{03EC4754-EDB4-5F62-4658-4E9823E6482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4023011" y="310448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8" name="Object 37">
            <a:extLst>
              <a:ext uri="{FF2B5EF4-FFF2-40B4-BE49-F238E27FC236}">
                <a16:creationId xmlns:a16="http://schemas.microsoft.com/office/drawing/2014/main" id="{DF7ACE04-07F5-F706-E1AC-737917EF03F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91057004"/>
              </p:ext>
            </p:extLst>
          </p:nvPr>
        </p:nvGraphicFramePr>
        <p:xfrm>
          <a:off x="4023011" y="332363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38" name="Object 37">
                    <a:extLst>
                      <a:ext uri="{FF2B5EF4-FFF2-40B4-BE49-F238E27FC236}">
                        <a16:creationId xmlns:a16="http://schemas.microsoft.com/office/drawing/2014/main" id="{DF7ACE04-07F5-F706-E1AC-737917EF03F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4023011" y="332363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" name="Object 38">
            <a:extLst>
              <a:ext uri="{FF2B5EF4-FFF2-40B4-BE49-F238E27FC236}">
                <a16:creationId xmlns:a16="http://schemas.microsoft.com/office/drawing/2014/main" id="{4C94F87D-0976-B2B9-6926-8D01F2B7E8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0806224"/>
              </p:ext>
            </p:extLst>
          </p:nvPr>
        </p:nvGraphicFramePr>
        <p:xfrm>
          <a:off x="4030045" y="356670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39" name="Object 38">
                    <a:extLst>
                      <a:ext uri="{FF2B5EF4-FFF2-40B4-BE49-F238E27FC236}">
                        <a16:creationId xmlns:a16="http://schemas.microsoft.com/office/drawing/2014/main" id="{4C94F87D-0976-B2B9-6926-8D01F2B7E8ED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4030045" y="356670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751470" y="2148097"/>
            <a:ext cx="1578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Worker</a:t>
            </a:r>
            <a:r>
              <a:rPr lang="fr-FR"/>
              <a:t> </a:t>
            </a:r>
            <a:r>
              <a:rPr lang="fr-FR"/>
              <a:t>node</a:t>
            </a:r>
            <a:r>
              <a:rPr lang="fr-FR"/>
              <a:t>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97280" y="2567429"/>
            <a:ext cx="2512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executor</a:t>
            </a:r>
            <a:r>
              <a:rPr lang="fr-FR"/>
              <a:t> process 1</a:t>
            </a:r>
          </a:p>
        </p:txBody>
      </p:sp>
      <p:sp>
        <p:nvSpPr>
          <p:cNvPr id="42" name="Rectangle: Rounded Corners 41"/>
          <p:cNvSpPr/>
          <p:nvPr/>
        </p:nvSpPr>
        <p:spPr>
          <a:xfrm>
            <a:off x="1262533" y="4373851"/>
            <a:ext cx="3848062" cy="200435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3" name="Object 42">
            <a:extLst>
              <a:ext uri="{FF2B5EF4-FFF2-40B4-BE49-F238E27FC236}">
                <a16:creationId xmlns:a16="http://schemas.microsoft.com/office/drawing/2014/main" id="{03136892-0F9E-4962-D2EB-1D0AE58A9D6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9067140"/>
              </p:ext>
            </p:extLst>
          </p:nvPr>
        </p:nvGraphicFramePr>
        <p:xfrm>
          <a:off x="1514407" y="4434948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43" name="Object 42">
                    <a:extLst>
                      <a:ext uri="{FF2B5EF4-FFF2-40B4-BE49-F238E27FC236}">
                        <a16:creationId xmlns:a16="http://schemas.microsoft.com/office/drawing/2014/main" id="{03136892-0F9E-4962-D2EB-1D0AE58A9D63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514407" y="4434948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4" name="Object 43">
            <a:extLst>
              <a:ext uri="{FF2B5EF4-FFF2-40B4-BE49-F238E27FC236}">
                <a16:creationId xmlns:a16="http://schemas.microsoft.com/office/drawing/2014/main" id="{44677C95-7716-590C-6B48-B44422C640B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54915781"/>
              </p:ext>
            </p:extLst>
          </p:nvPr>
        </p:nvGraphicFramePr>
        <p:xfrm>
          <a:off x="1744745" y="457740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44" name="Object 43">
                    <a:extLst>
                      <a:ext uri="{FF2B5EF4-FFF2-40B4-BE49-F238E27FC236}">
                        <a16:creationId xmlns:a16="http://schemas.microsoft.com/office/drawing/2014/main" id="{44677C95-7716-590C-6B48-B44422C640B2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744745" y="457740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" name="Object 44">
            <a:extLst>
              <a:ext uri="{FF2B5EF4-FFF2-40B4-BE49-F238E27FC236}">
                <a16:creationId xmlns:a16="http://schemas.microsoft.com/office/drawing/2014/main" id="{AEB3B7AE-1339-D020-147F-B70FAD298ED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5258"/>
              </p:ext>
            </p:extLst>
          </p:nvPr>
        </p:nvGraphicFramePr>
        <p:xfrm>
          <a:off x="1744745" y="479656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45" name="Object 44">
                    <a:extLst>
                      <a:ext uri="{FF2B5EF4-FFF2-40B4-BE49-F238E27FC236}">
                        <a16:creationId xmlns:a16="http://schemas.microsoft.com/office/drawing/2014/main" id="{AEB3B7AE-1339-D020-147F-B70FAD298ED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744745" y="479656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6" name="Object 45">
            <a:extLst>
              <a:ext uri="{FF2B5EF4-FFF2-40B4-BE49-F238E27FC236}">
                <a16:creationId xmlns:a16="http://schemas.microsoft.com/office/drawing/2014/main" id="{2B7FD10C-DC4B-CF7A-CC04-EECD0073169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124259"/>
              </p:ext>
            </p:extLst>
          </p:nvPr>
        </p:nvGraphicFramePr>
        <p:xfrm>
          <a:off x="1751779" y="503962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46" name="Object 45">
                    <a:extLst>
                      <a:ext uri="{FF2B5EF4-FFF2-40B4-BE49-F238E27FC236}">
                        <a16:creationId xmlns:a16="http://schemas.microsoft.com/office/drawing/2014/main" id="{2B7FD10C-DC4B-CF7A-CC04-EECD0073169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751779" y="503962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7" name="Arrow: Right 46"/>
          <p:cNvSpPr/>
          <p:nvPr/>
        </p:nvSpPr>
        <p:spPr>
          <a:xfrm>
            <a:off x="2783040" y="4826450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8" name="Picture 47" descr="CPU X : Infos Smartphones – Applications sur Google Play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940299" y="4656518"/>
            <a:ext cx="505279" cy="50527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9" name="Object 48">
            <a:extLst>
              <a:ext uri="{FF2B5EF4-FFF2-40B4-BE49-F238E27FC236}">
                <a16:creationId xmlns:a16="http://schemas.microsoft.com/office/drawing/2014/main" id="{DD2F7397-8897-4608-84F5-C0D66731DB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76014986"/>
              </p:ext>
            </p:extLst>
          </p:nvPr>
        </p:nvGraphicFramePr>
        <p:xfrm>
          <a:off x="3792673" y="4434948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49" name="Object 48">
                    <a:extLst>
                      <a:ext uri="{FF2B5EF4-FFF2-40B4-BE49-F238E27FC236}">
                        <a16:creationId xmlns:a16="http://schemas.microsoft.com/office/drawing/2014/main" id="{DD2F7397-8897-4608-84F5-C0D66731DBF9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3792673" y="4434948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0" name="Object 49">
            <a:extLst>
              <a:ext uri="{FF2B5EF4-FFF2-40B4-BE49-F238E27FC236}">
                <a16:creationId xmlns:a16="http://schemas.microsoft.com/office/drawing/2014/main" id="{15A42233-1F8D-8876-0984-FFBAC2DA5EF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05009022"/>
              </p:ext>
            </p:extLst>
          </p:nvPr>
        </p:nvGraphicFramePr>
        <p:xfrm>
          <a:off x="4023011" y="457740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50" name="Object 49">
                    <a:extLst>
                      <a:ext uri="{FF2B5EF4-FFF2-40B4-BE49-F238E27FC236}">
                        <a16:creationId xmlns:a16="http://schemas.microsoft.com/office/drawing/2014/main" id="{15A42233-1F8D-8876-0984-FFBAC2DA5EF3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4023011" y="457740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1" name="Object 50">
            <a:extLst>
              <a:ext uri="{FF2B5EF4-FFF2-40B4-BE49-F238E27FC236}">
                <a16:creationId xmlns:a16="http://schemas.microsoft.com/office/drawing/2014/main" id="{0D8DA929-B358-923B-B0D2-349F5E024C1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2579044"/>
              </p:ext>
            </p:extLst>
          </p:nvPr>
        </p:nvGraphicFramePr>
        <p:xfrm>
          <a:off x="4023011" y="479656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51" name="Object 50">
                    <a:extLst>
                      <a:ext uri="{FF2B5EF4-FFF2-40B4-BE49-F238E27FC236}">
                        <a16:creationId xmlns:a16="http://schemas.microsoft.com/office/drawing/2014/main" id="{0D8DA929-B358-923B-B0D2-349F5E024C1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4023011" y="479656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2" name="Object 51">
            <a:extLst>
              <a:ext uri="{FF2B5EF4-FFF2-40B4-BE49-F238E27FC236}">
                <a16:creationId xmlns:a16="http://schemas.microsoft.com/office/drawing/2014/main" id="{7D809001-6DD2-2C86-7704-118154E0454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389310"/>
              </p:ext>
            </p:extLst>
          </p:nvPr>
        </p:nvGraphicFramePr>
        <p:xfrm>
          <a:off x="4030045" y="503962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52" name="Object 51">
                    <a:extLst>
                      <a:ext uri="{FF2B5EF4-FFF2-40B4-BE49-F238E27FC236}">
                        <a16:creationId xmlns:a16="http://schemas.microsoft.com/office/drawing/2014/main" id="{7D809001-6DD2-2C86-7704-118154E0454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4030045" y="503962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1397280" y="4040354"/>
            <a:ext cx="2512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executor</a:t>
            </a:r>
            <a:r>
              <a:rPr lang="fr-FR"/>
              <a:t> process 2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4" name="Object 53">
            <a:extLst>
              <a:ext uri="{FF2B5EF4-FFF2-40B4-BE49-F238E27FC236}">
                <a16:creationId xmlns:a16="http://schemas.microsoft.com/office/drawing/2014/main" id="{20CDCE83-1C58-F416-901B-F61A5825074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41198382"/>
              </p:ext>
            </p:extLst>
          </p:nvPr>
        </p:nvGraphicFramePr>
        <p:xfrm>
          <a:off x="1514407" y="540616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54" name="Object 53">
                    <a:extLst>
                      <a:ext uri="{FF2B5EF4-FFF2-40B4-BE49-F238E27FC236}">
                        <a16:creationId xmlns:a16="http://schemas.microsoft.com/office/drawing/2014/main" id="{20CDCE83-1C58-F416-901B-F61A58250749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514407" y="540616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5" name="Object 54">
            <a:extLst>
              <a:ext uri="{FF2B5EF4-FFF2-40B4-BE49-F238E27FC236}">
                <a16:creationId xmlns:a16="http://schemas.microsoft.com/office/drawing/2014/main" id="{075BCF1F-8BA2-EF09-33EE-8265BA77882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177484"/>
              </p:ext>
            </p:extLst>
          </p:nvPr>
        </p:nvGraphicFramePr>
        <p:xfrm>
          <a:off x="1744745" y="554862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55" name="Object 54">
                    <a:extLst>
                      <a:ext uri="{FF2B5EF4-FFF2-40B4-BE49-F238E27FC236}">
                        <a16:creationId xmlns:a16="http://schemas.microsoft.com/office/drawing/2014/main" id="{075BCF1F-8BA2-EF09-33EE-8265BA77882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744745" y="554862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" name="Object 55">
            <a:extLst>
              <a:ext uri="{FF2B5EF4-FFF2-40B4-BE49-F238E27FC236}">
                <a16:creationId xmlns:a16="http://schemas.microsoft.com/office/drawing/2014/main" id="{BAD22D1D-616F-EB8A-D1B9-3C834E933CD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14911634"/>
              </p:ext>
            </p:extLst>
          </p:nvPr>
        </p:nvGraphicFramePr>
        <p:xfrm>
          <a:off x="1744745" y="576777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56" name="Object 55">
                    <a:extLst>
                      <a:ext uri="{FF2B5EF4-FFF2-40B4-BE49-F238E27FC236}">
                        <a16:creationId xmlns:a16="http://schemas.microsoft.com/office/drawing/2014/main" id="{BAD22D1D-616F-EB8A-D1B9-3C834E933CD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744745" y="576777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7" name="Object 56">
            <a:extLst>
              <a:ext uri="{FF2B5EF4-FFF2-40B4-BE49-F238E27FC236}">
                <a16:creationId xmlns:a16="http://schemas.microsoft.com/office/drawing/2014/main" id="{35A1A810-2588-F957-A1CA-F582AB12987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5036040"/>
              </p:ext>
            </p:extLst>
          </p:nvPr>
        </p:nvGraphicFramePr>
        <p:xfrm>
          <a:off x="1751779" y="601084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57" name="Object 56">
                    <a:extLst>
                      <a:ext uri="{FF2B5EF4-FFF2-40B4-BE49-F238E27FC236}">
                        <a16:creationId xmlns:a16="http://schemas.microsoft.com/office/drawing/2014/main" id="{35A1A810-2588-F957-A1CA-F582AB12987D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751779" y="601084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8" name="Arrow: Right 57"/>
          <p:cNvSpPr/>
          <p:nvPr/>
        </p:nvSpPr>
        <p:spPr>
          <a:xfrm>
            <a:off x="2783040" y="5797665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9" name="Picture 58" descr="CPU X : Infos Smartphones – Applications sur Google Play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940299" y="5627733"/>
            <a:ext cx="505279" cy="50527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0" name="Object 59">
            <a:extLst>
              <a:ext uri="{FF2B5EF4-FFF2-40B4-BE49-F238E27FC236}">
                <a16:creationId xmlns:a16="http://schemas.microsoft.com/office/drawing/2014/main" id="{4D68212E-B01F-AEE0-30AE-9CBBFD1607E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9399041"/>
              </p:ext>
            </p:extLst>
          </p:nvPr>
        </p:nvGraphicFramePr>
        <p:xfrm>
          <a:off x="3792673" y="540616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60" name="Object 59">
                    <a:extLst>
                      <a:ext uri="{FF2B5EF4-FFF2-40B4-BE49-F238E27FC236}">
                        <a16:creationId xmlns:a16="http://schemas.microsoft.com/office/drawing/2014/main" id="{4D68212E-B01F-AEE0-30AE-9CBBFD1607E1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3792673" y="540616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" name="Object 60">
            <a:extLst>
              <a:ext uri="{FF2B5EF4-FFF2-40B4-BE49-F238E27FC236}">
                <a16:creationId xmlns:a16="http://schemas.microsoft.com/office/drawing/2014/main" id="{7E74A659-3AC2-B100-4696-93B6098D6E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56306638"/>
              </p:ext>
            </p:extLst>
          </p:nvPr>
        </p:nvGraphicFramePr>
        <p:xfrm>
          <a:off x="4023011" y="554862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61" name="Object 60">
                    <a:extLst>
                      <a:ext uri="{FF2B5EF4-FFF2-40B4-BE49-F238E27FC236}">
                        <a16:creationId xmlns:a16="http://schemas.microsoft.com/office/drawing/2014/main" id="{7E74A659-3AC2-B100-4696-93B6098D6E6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4023011" y="554862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2" name="Object 61">
            <a:extLst>
              <a:ext uri="{FF2B5EF4-FFF2-40B4-BE49-F238E27FC236}">
                <a16:creationId xmlns:a16="http://schemas.microsoft.com/office/drawing/2014/main" id="{268C6446-95D1-D6FC-DDAB-65E6EEB4842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2627292"/>
              </p:ext>
            </p:extLst>
          </p:nvPr>
        </p:nvGraphicFramePr>
        <p:xfrm>
          <a:off x="4023011" y="576777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62" name="Object 61">
                    <a:extLst>
                      <a:ext uri="{FF2B5EF4-FFF2-40B4-BE49-F238E27FC236}">
                        <a16:creationId xmlns:a16="http://schemas.microsoft.com/office/drawing/2014/main" id="{268C6446-95D1-D6FC-DDAB-65E6EEB4842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4023011" y="576777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3" name="Object 62">
            <a:extLst>
              <a:ext uri="{FF2B5EF4-FFF2-40B4-BE49-F238E27FC236}">
                <a16:creationId xmlns:a16="http://schemas.microsoft.com/office/drawing/2014/main" id="{3F36C7F8-1CBB-8F54-560D-0CFF3F381C4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09191491"/>
              </p:ext>
            </p:extLst>
          </p:nvPr>
        </p:nvGraphicFramePr>
        <p:xfrm>
          <a:off x="4030045" y="601084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63" name="Object 62">
                    <a:extLst>
                      <a:ext uri="{FF2B5EF4-FFF2-40B4-BE49-F238E27FC236}">
                        <a16:creationId xmlns:a16="http://schemas.microsoft.com/office/drawing/2014/main" id="{3F36C7F8-1CBB-8F54-560D-0CFF3F381C4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4030045" y="601084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4" name="Rectangle 63"/>
          <p:cNvSpPr/>
          <p:nvPr/>
        </p:nvSpPr>
        <p:spPr>
          <a:xfrm>
            <a:off x="6522867" y="2487527"/>
            <a:ext cx="5461095" cy="40118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5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004320" y="3651787"/>
            <a:ext cx="915912" cy="1373375"/>
          </a:xfrm>
          <a:prstGeom prst="rect">
            <a:avLst/>
          </a:prstGeom>
          <a:noFill/>
        </p:spPr>
      </p:pic>
      <p:sp>
        <p:nvSpPr>
          <p:cNvPr id="66" name="TextBox 65"/>
          <p:cNvSpPr txBox="1"/>
          <p:nvPr/>
        </p:nvSpPr>
        <p:spPr>
          <a:xfrm>
            <a:off x="6674893" y="2154555"/>
            <a:ext cx="1578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Worker</a:t>
            </a:r>
            <a:r>
              <a:rPr lang="fr-FR"/>
              <a:t> </a:t>
            </a:r>
            <a:r>
              <a:rPr lang="fr-FR"/>
              <a:t>node</a:t>
            </a:r>
            <a:r>
              <a:rPr lang="fr-FR"/>
              <a:t> 2</a:t>
            </a:r>
          </a:p>
        </p:txBody>
      </p:sp>
      <p:sp>
        <p:nvSpPr>
          <p:cNvPr id="67" name="Rectangle: Rounded Corners 66"/>
          <p:cNvSpPr/>
          <p:nvPr/>
        </p:nvSpPr>
        <p:spPr>
          <a:xfrm>
            <a:off x="7082960" y="3104479"/>
            <a:ext cx="4509595" cy="313884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8" name="Object 67">
            <a:extLst>
              <a:ext uri="{FF2B5EF4-FFF2-40B4-BE49-F238E27FC236}">
                <a16:creationId xmlns:a16="http://schemas.microsoft.com/office/drawing/2014/main" id="{4882CF32-C35D-EC42-790A-93FD3DA1BC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96259515"/>
              </p:ext>
            </p:extLst>
          </p:nvPr>
        </p:nvGraphicFramePr>
        <p:xfrm>
          <a:off x="7334835" y="3165577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68" name="Object 67">
                    <a:extLst>
                      <a:ext uri="{FF2B5EF4-FFF2-40B4-BE49-F238E27FC236}">
                        <a16:creationId xmlns:a16="http://schemas.microsoft.com/office/drawing/2014/main" id="{4882CF32-C35D-EC42-790A-93FD3DA1BCC3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7334835" y="3165577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" name="Object 68">
            <a:extLst>
              <a:ext uri="{FF2B5EF4-FFF2-40B4-BE49-F238E27FC236}">
                <a16:creationId xmlns:a16="http://schemas.microsoft.com/office/drawing/2014/main" id="{53B77C13-B183-DD31-C37D-6656AE85E0D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77444861"/>
              </p:ext>
            </p:extLst>
          </p:nvPr>
        </p:nvGraphicFramePr>
        <p:xfrm>
          <a:off x="7565173" y="330803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69" name="Object 68">
                    <a:extLst>
                      <a:ext uri="{FF2B5EF4-FFF2-40B4-BE49-F238E27FC236}">
                        <a16:creationId xmlns:a16="http://schemas.microsoft.com/office/drawing/2014/main" id="{53B77C13-B183-DD31-C37D-6656AE85E0DB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565173" y="330803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0" name="Object 69">
            <a:extLst>
              <a:ext uri="{FF2B5EF4-FFF2-40B4-BE49-F238E27FC236}">
                <a16:creationId xmlns:a16="http://schemas.microsoft.com/office/drawing/2014/main" id="{33FB7FDD-ACC5-574A-1009-A1CF2805FE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92220637"/>
              </p:ext>
            </p:extLst>
          </p:nvPr>
        </p:nvGraphicFramePr>
        <p:xfrm>
          <a:off x="7565173" y="3527193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0" name="Object 69">
                    <a:extLst>
                      <a:ext uri="{FF2B5EF4-FFF2-40B4-BE49-F238E27FC236}">
                        <a16:creationId xmlns:a16="http://schemas.microsoft.com/office/drawing/2014/main" id="{33FB7FDD-ACC5-574A-1009-A1CF2805FEF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565173" y="3527193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1" name="Object 70">
            <a:extLst>
              <a:ext uri="{FF2B5EF4-FFF2-40B4-BE49-F238E27FC236}">
                <a16:creationId xmlns:a16="http://schemas.microsoft.com/office/drawing/2014/main" id="{7C21B8FB-6586-40CF-347E-F195E6674C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44740585"/>
              </p:ext>
            </p:extLst>
          </p:nvPr>
        </p:nvGraphicFramePr>
        <p:xfrm>
          <a:off x="7572207" y="377025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1" name="Object 70">
                    <a:extLst>
                      <a:ext uri="{FF2B5EF4-FFF2-40B4-BE49-F238E27FC236}">
                        <a16:creationId xmlns:a16="http://schemas.microsoft.com/office/drawing/2014/main" id="{7C21B8FB-6586-40CF-347E-F195E6674CA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572207" y="377025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2" name="Arrow: Right 71"/>
          <p:cNvSpPr/>
          <p:nvPr/>
        </p:nvSpPr>
        <p:spPr>
          <a:xfrm>
            <a:off x="8603468" y="3557079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3" name="Picture 72" descr="CPU X : Infos Smartphones – Applications sur Google Play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8760727" y="3387147"/>
            <a:ext cx="505279" cy="50527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4" name="Object 73">
            <a:extLst>
              <a:ext uri="{FF2B5EF4-FFF2-40B4-BE49-F238E27FC236}">
                <a16:creationId xmlns:a16="http://schemas.microsoft.com/office/drawing/2014/main" id="{C2301E09-9F3E-348C-B87F-161490BDC3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0869390"/>
              </p:ext>
            </p:extLst>
          </p:nvPr>
        </p:nvGraphicFramePr>
        <p:xfrm>
          <a:off x="9613101" y="3165577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74" name="Object 73">
                    <a:extLst>
                      <a:ext uri="{FF2B5EF4-FFF2-40B4-BE49-F238E27FC236}">
                        <a16:creationId xmlns:a16="http://schemas.microsoft.com/office/drawing/2014/main" id="{C2301E09-9F3E-348C-B87F-161490BDC3D4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13101" y="3165577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5" name="Object 74">
            <a:extLst>
              <a:ext uri="{FF2B5EF4-FFF2-40B4-BE49-F238E27FC236}">
                <a16:creationId xmlns:a16="http://schemas.microsoft.com/office/drawing/2014/main" id="{8D4EFD97-4C2E-34B7-008E-3DCDCCE5837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5868589"/>
              </p:ext>
            </p:extLst>
          </p:nvPr>
        </p:nvGraphicFramePr>
        <p:xfrm>
          <a:off x="9843439" y="330803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5" name="Object 74">
                    <a:extLst>
                      <a:ext uri="{FF2B5EF4-FFF2-40B4-BE49-F238E27FC236}">
                        <a16:creationId xmlns:a16="http://schemas.microsoft.com/office/drawing/2014/main" id="{8D4EFD97-4C2E-34B7-008E-3DCDCCE58373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843439" y="330803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" name="Object 75">
            <a:extLst>
              <a:ext uri="{FF2B5EF4-FFF2-40B4-BE49-F238E27FC236}">
                <a16:creationId xmlns:a16="http://schemas.microsoft.com/office/drawing/2014/main" id="{D3A21008-D433-16A4-D7D6-D837307F1EC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29888218"/>
              </p:ext>
            </p:extLst>
          </p:nvPr>
        </p:nvGraphicFramePr>
        <p:xfrm>
          <a:off x="9843439" y="3527193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6" name="Object 75">
                    <a:extLst>
                      <a:ext uri="{FF2B5EF4-FFF2-40B4-BE49-F238E27FC236}">
                        <a16:creationId xmlns:a16="http://schemas.microsoft.com/office/drawing/2014/main" id="{D3A21008-D433-16A4-D7D6-D837307F1ECC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843439" y="3527193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7" name="Object 76">
            <a:extLst>
              <a:ext uri="{FF2B5EF4-FFF2-40B4-BE49-F238E27FC236}">
                <a16:creationId xmlns:a16="http://schemas.microsoft.com/office/drawing/2014/main" id="{5D96B77B-64A1-5711-A43E-82583D96B96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0177534"/>
              </p:ext>
            </p:extLst>
          </p:nvPr>
        </p:nvGraphicFramePr>
        <p:xfrm>
          <a:off x="9850473" y="377025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7" name="Object 76">
                    <a:extLst>
                      <a:ext uri="{FF2B5EF4-FFF2-40B4-BE49-F238E27FC236}">
                        <a16:creationId xmlns:a16="http://schemas.microsoft.com/office/drawing/2014/main" id="{5D96B77B-64A1-5711-A43E-82583D96B96B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850473" y="377025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8" name="TextBox 77"/>
          <p:cNvSpPr txBox="1"/>
          <p:nvPr/>
        </p:nvSpPr>
        <p:spPr>
          <a:xfrm>
            <a:off x="7217708" y="2770983"/>
            <a:ext cx="2512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executor</a:t>
            </a:r>
            <a:r>
              <a:rPr lang="fr-FR"/>
              <a:t> process 3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9" name="Object 78">
            <a:extLst>
              <a:ext uri="{FF2B5EF4-FFF2-40B4-BE49-F238E27FC236}">
                <a16:creationId xmlns:a16="http://schemas.microsoft.com/office/drawing/2014/main" id="{DA65AB5C-E2B8-8CE5-2C33-54962248B5B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7869629"/>
              </p:ext>
            </p:extLst>
          </p:nvPr>
        </p:nvGraphicFramePr>
        <p:xfrm>
          <a:off x="7334835" y="41367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79" name="Object 78">
                    <a:extLst>
                      <a:ext uri="{FF2B5EF4-FFF2-40B4-BE49-F238E27FC236}">
                        <a16:creationId xmlns:a16="http://schemas.microsoft.com/office/drawing/2014/main" id="{DA65AB5C-E2B8-8CE5-2C33-54962248B5B7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7334835" y="41367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0" name="Object 79">
            <a:extLst>
              <a:ext uri="{FF2B5EF4-FFF2-40B4-BE49-F238E27FC236}">
                <a16:creationId xmlns:a16="http://schemas.microsoft.com/office/drawing/2014/main" id="{34C01630-63C1-2D9C-3A2F-4966EC26133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08258806"/>
              </p:ext>
            </p:extLst>
          </p:nvPr>
        </p:nvGraphicFramePr>
        <p:xfrm>
          <a:off x="7565173" y="42792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0" name="Object 79">
                    <a:extLst>
                      <a:ext uri="{FF2B5EF4-FFF2-40B4-BE49-F238E27FC236}">
                        <a16:creationId xmlns:a16="http://schemas.microsoft.com/office/drawing/2014/main" id="{34C01630-63C1-2D9C-3A2F-4966EC26133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565173" y="42792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1" name="Object 80">
            <a:extLst>
              <a:ext uri="{FF2B5EF4-FFF2-40B4-BE49-F238E27FC236}">
                <a16:creationId xmlns:a16="http://schemas.microsoft.com/office/drawing/2014/main" id="{8B23F6E6-5A13-9C74-8C3B-3F4C1601A9F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7009752"/>
              </p:ext>
            </p:extLst>
          </p:nvPr>
        </p:nvGraphicFramePr>
        <p:xfrm>
          <a:off x="7565173" y="44984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1" name="Object 80">
                    <a:extLst>
                      <a:ext uri="{FF2B5EF4-FFF2-40B4-BE49-F238E27FC236}">
                        <a16:creationId xmlns:a16="http://schemas.microsoft.com/office/drawing/2014/main" id="{8B23F6E6-5A13-9C74-8C3B-3F4C1601A9F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565173" y="44984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2" name="Object 81">
            <a:extLst>
              <a:ext uri="{FF2B5EF4-FFF2-40B4-BE49-F238E27FC236}">
                <a16:creationId xmlns:a16="http://schemas.microsoft.com/office/drawing/2014/main" id="{D38526AE-BB76-5F5C-CF1D-7FF13605547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11355915"/>
              </p:ext>
            </p:extLst>
          </p:nvPr>
        </p:nvGraphicFramePr>
        <p:xfrm>
          <a:off x="7572207" y="47414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2" name="Object 81">
                    <a:extLst>
                      <a:ext uri="{FF2B5EF4-FFF2-40B4-BE49-F238E27FC236}">
                        <a16:creationId xmlns:a16="http://schemas.microsoft.com/office/drawing/2014/main" id="{D38526AE-BB76-5F5C-CF1D-7FF13605547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572207" y="47414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83" name="Arrow: Right 82"/>
          <p:cNvSpPr/>
          <p:nvPr/>
        </p:nvSpPr>
        <p:spPr>
          <a:xfrm>
            <a:off x="8603468" y="4528294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4" name="Picture 83" descr="CPU X : Infos Smartphones – Applications sur Google Play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8760727" y="4358362"/>
            <a:ext cx="505279" cy="50527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5" name="Object 84">
            <a:extLst>
              <a:ext uri="{FF2B5EF4-FFF2-40B4-BE49-F238E27FC236}">
                <a16:creationId xmlns:a16="http://schemas.microsoft.com/office/drawing/2014/main" id="{D6345E4C-A2F6-24E0-CD71-456AFA8F66E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2223976"/>
              </p:ext>
            </p:extLst>
          </p:nvPr>
        </p:nvGraphicFramePr>
        <p:xfrm>
          <a:off x="9613101" y="41367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85" name="Object 84">
                    <a:extLst>
                      <a:ext uri="{FF2B5EF4-FFF2-40B4-BE49-F238E27FC236}">
                        <a16:creationId xmlns:a16="http://schemas.microsoft.com/office/drawing/2014/main" id="{D6345E4C-A2F6-24E0-CD71-456AFA8F66E0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13101" y="41367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" name="Object 85">
            <a:extLst>
              <a:ext uri="{FF2B5EF4-FFF2-40B4-BE49-F238E27FC236}">
                <a16:creationId xmlns:a16="http://schemas.microsoft.com/office/drawing/2014/main" id="{6515DFA6-226F-67C6-A1F4-CD359E63EB4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455306"/>
              </p:ext>
            </p:extLst>
          </p:nvPr>
        </p:nvGraphicFramePr>
        <p:xfrm>
          <a:off x="9843439" y="42792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6" name="Object 85">
                    <a:extLst>
                      <a:ext uri="{FF2B5EF4-FFF2-40B4-BE49-F238E27FC236}">
                        <a16:creationId xmlns:a16="http://schemas.microsoft.com/office/drawing/2014/main" id="{6515DFA6-226F-67C6-A1F4-CD359E63EB4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843439" y="42792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7" name="Object 86">
            <a:extLst>
              <a:ext uri="{FF2B5EF4-FFF2-40B4-BE49-F238E27FC236}">
                <a16:creationId xmlns:a16="http://schemas.microsoft.com/office/drawing/2014/main" id="{2D995612-65F8-BC48-4B27-7F922F8D5B4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926707"/>
              </p:ext>
            </p:extLst>
          </p:nvPr>
        </p:nvGraphicFramePr>
        <p:xfrm>
          <a:off x="9843439" y="44984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7" name="Object 86">
                    <a:extLst>
                      <a:ext uri="{FF2B5EF4-FFF2-40B4-BE49-F238E27FC236}">
                        <a16:creationId xmlns:a16="http://schemas.microsoft.com/office/drawing/2014/main" id="{2D995612-65F8-BC48-4B27-7F922F8D5B4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843439" y="44984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8" name="Object 87">
            <a:extLst>
              <a:ext uri="{FF2B5EF4-FFF2-40B4-BE49-F238E27FC236}">
                <a16:creationId xmlns:a16="http://schemas.microsoft.com/office/drawing/2014/main" id="{E5EA0E40-BB60-7BE6-FCCC-3EA48C59D52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8884530"/>
              </p:ext>
            </p:extLst>
          </p:nvPr>
        </p:nvGraphicFramePr>
        <p:xfrm>
          <a:off x="9850473" y="47414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8" name="Object 87">
                    <a:extLst>
                      <a:ext uri="{FF2B5EF4-FFF2-40B4-BE49-F238E27FC236}">
                        <a16:creationId xmlns:a16="http://schemas.microsoft.com/office/drawing/2014/main" id="{E5EA0E40-BB60-7BE6-FCCC-3EA48C59D52B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850473" y="47414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9" name="Object 88">
            <a:extLst>
              <a:ext uri="{FF2B5EF4-FFF2-40B4-BE49-F238E27FC236}">
                <a16:creationId xmlns:a16="http://schemas.microsoft.com/office/drawing/2014/main" id="{E3583797-4C87-1C4A-87E2-339DD164A96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184648"/>
              </p:ext>
            </p:extLst>
          </p:nvPr>
        </p:nvGraphicFramePr>
        <p:xfrm>
          <a:off x="7487235" y="42891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89" name="Object 88">
                    <a:extLst>
                      <a:ext uri="{FF2B5EF4-FFF2-40B4-BE49-F238E27FC236}">
                        <a16:creationId xmlns:a16="http://schemas.microsoft.com/office/drawing/2014/main" id="{E3583797-4C87-1C4A-87E2-339DD164A961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7487235" y="42891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0" name="Object 89">
            <a:extLst>
              <a:ext uri="{FF2B5EF4-FFF2-40B4-BE49-F238E27FC236}">
                <a16:creationId xmlns:a16="http://schemas.microsoft.com/office/drawing/2014/main" id="{1E350B34-77BD-1D83-6436-61B2F168E6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0064314"/>
              </p:ext>
            </p:extLst>
          </p:nvPr>
        </p:nvGraphicFramePr>
        <p:xfrm>
          <a:off x="7717573" y="44316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0" name="Object 89">
                    <a:extLst>
                      <a:ext uri="{FF2B5EF4-FFF2-40B4-BE49-F238E27FC236}">
                        <a16:creationId xmlns:a16="http://schemas.microsoft.com/office/drawing/2014/main" id="{1E350B34-77BD-1D83-6436-61B2F168E68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717573" y="44316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1" name="Object 90">
            <a:extLst>
              <a:ext uri="{FF2B5EF4-FFF2-40B4-BE49-F238E27FC236}">
                <a16:creationId xmlns:a16="http://schemas.microsoft.com/office/drawing/2014/main" id="{D2A358CD-DDDA-D044-BF6D-A571CE3EBD3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8919562"/>
              </p:ext>
            </p:extLst>
          </p:nvPr>
        </p:nvGraphicFramePr>
        <p:xfrm>
          <a:off x="7717573" y="46508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1" name="Object 90">
                    <a:extLst>
                      <a:ext uri="{FF2B5EF4-FFF2-40B4-BE49-F238E27FC236}">
                        <a16:creationId xmlns:a16="http://schemas.microsoft.com/office/drawing/2014/main" id="{D2A358CD-DDDA-D044-BF6D-A571CE3EBD36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717573" y="46508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2" name="Object 91">
            <a:extLst>
              <a:ext uri="{FF2B5EF4-FFF2-40B4-BE49-F238E27FC236}">
                <a16:creationId xmlns:a16="http://schemas.microsoft.com/office/drawing/2014/main" id="{653539FE-FE5F-4EE5-F351-0AB141873A1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45797515"/>
              </p:ext>
            </p:extLst>
          </p:nvPr>
        </p:nvGraphicFramePr>
        <p:xfrm>
          <a:off x="7724607" y="48938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2" name="Object 91">
                    <a:extLst>
                      <a:ext uri="{FF2B5EF4-FFF2-40B4-BE49-F238E27FC236}">
                        <a16:creationId xmlns:a16="http://schemas.microsoft.com/office/drawing/2014/main" id="{653539FE-FE5F-4EE5-F351-0AB141873A1B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724607" y="48938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3" name="Object 92">
            <a:extLst>
              <a:ext uri="{FF2B5EF4-FFF2-40B4-BE49-F238E27FC236}">
                <a16:creationId xmlns:a16="http://schemas.microsoft.com/office/drawing/2014/main" id="{83963EFD-2084-91CF-A9C1-F555008507F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184648"/>
              </p:ext>
            </p:extLst>
          </p:nvPr>
        </p:nvGraphicFramePr>
        <p:xfrm>
          <a:off x="7639635" y="44415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93" name="Object 92">
                    <a:extLst>
                      <a:ext uri="{FF2B5EF4-FFF2-40B4-BE49-F238E27FC236}">
                        <a16:creationId xmlns:a16="http://schemas.microsoft.com/office/drawing/2014/main" id="{83963EFD-2084-91CF-A9C1-F555008507F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7639635" y="44415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4" name="Object 93">
            <a:extLst>
              <a:ext uri="{FF2B5EF4-FFF2-40B4-BE49-F238E27FC236}">
                <a16:creationId xmlns:a16="http://schemas.microsoft.com/office/drawing/2014/main" id="{21CA15BC-16A8-B2EB-0519-46344F36915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0064314"/>
              </p:ext>
            </p:extLst>
          </p:nvPr>
        </p:nvGraphicFramePr>
        <p:xfrm>
          <a:off x="7869973" y="45840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4" name="Object 93">
                    <a:extLst>
                      <a:ext uri="{FF2B5EF4-FFF2-40B4-BE49-F238E27FC236}">
                        <a16:creationId xmlns:a16="http://schemas.microsoft.com/office/drawing/2014/main" id="{21CA15BC-16A8-B2EB-0519-46344F36915C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869973" y="45840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5" name="Object 94">
            <a:extLst>
              <a:ext uri="{FF2B5EF4-FFF2-40B4-BE49-F238E27FC236}">
                <a16:creationId xmlns:a16="http://schemas.microsoft.com/office/drawing/2014/main" id="{08B3FCC5-6D60-FD3E-57B2-B6005FB031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8919562"/>
              </p:ext>
            </p:extLst>
          </p:nvPr>
        </p:nvGraphicFramePr>
        <p:xfrm>
          <a:off x="7869973" y="48032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5" name="Object 94">
                    <a:extLst>
                      <a:ext uri="{FF2B5EF4-FFF2-40B4-BE49-F238E27FC236}">
                        <a16:creationId xmlns:a16="http://schemas.microsoft.com/office/drawing/2014/main" id="{08B3FCC5-6D60-FD3E-57B2-B6005FB031D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869973" y="48032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6" name="Object 95">
            <a:extLst>
              <a:ext uri="{FF2B5EF4-FFF2-40B4-BE49-F238E27FC236}">
                <a16:creationId xmlns:a16="http://schemas.microsoft.com/office/drawing/2014/main" id="{DB10B082-BCFC-6ECB-25CC-085042D172B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45797515"/>
              </p:ext>
            </p:extLst>
          </p:nvPr>
        </p:nvGraphicFramePr>
        <p:xfrm>
          <a:off x="7877007" y="50462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6" name="Object 95">
                    <a:extLst>
                      <a:ext uri="{FF2B5EF4-FFF2-40B4-BE49-F238E27FC236}">
                        <a16:creationId xmlns:a16="http://schemas.microsoft.com/office/drawing/2014/main" id="{DB10B082-BCFC-6ECB-25CC-085042D172B3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877007" y="50462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7" name="Object 96">
            <a:extLst>
              <a:ext uri="{FF2B5EF4-FFF2-40B4-BE49-F238E27FC236}">
                <a16:creationId xmlns:a16="http://schemas.microsoft.com/office/drawing/2014/main" id="{56B94963-5BA2-2475-524C-FD2ADE5798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184648"/>
              </p:ext>
            </p:extLst>
          </p:nvPr>
        </p:nvGraphicFramePr>
        <p:xfrm>
          <a:off x="7792035" y="45939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97" name="Object 96">
                    <a:extLst>
                      <a:ext uri="{FF2B5EF4-FFF2-40B4-BE49-F238E27FC236}">
                        <a16:creationId xmlns:a16="http://schemas.microsoft.com/office/drawing/2014/main" id="{56B94963-5BA2-2475-524C-FD2ADE5798C6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7792035" y="45939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8" name="Object 97">
            <a:extLst>
              <a:ext uri="{FF2B5EF4-FFF2-40B4-BE49-F238E27FC236}">
                <a16:creationId xmlns:a16="http://schemas.microsoft.com/office/drawing/2014/main" id="{3D22232D-1BBB-47E7-F258-D58FD8126E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0064314"/>
              </p:ext>
            </p:extLst>
          </p:nvPr>
        </p:nvGraphicFramePr>
        <p:xfrm>
          <a:off x="8022373" y="47364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8" name="Object 97">
                    <a:extLst>
                      <a:ext uri="{FF2B5EF4-FFF2-40B4-BE49-F238E27FC236}">
                        <a16:creationId xmlns:a16="http://schemas.microsoft.com/office/drawing/2014/main" id="{3D22232D-1BBB-47E7-F258-D58FD8126E02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022373" y="47364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9" name="Object 98">
            <a:extLst>
              <a:ext uri="{FF2B5EF4-FFF2-40B4-BE49-F238E27FC236}">
                <a16:creationId xmlns:a16="http://schemas.microsoft.com/office/drawing/2014/main" id="{32AC2BE1-51AF-9CC6-C24F-B99C23E5BF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8919562"/>
              </p:ext>
            </p:extLst>
          </p:nvPr>
        </p:nvGraphicFramePr>
        <p:xfrm>
          <a:off x="8022373" y="49556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9" name="Object 98">
                    <a:extLst>
                      <a:ext uri="{FF2B5EF4-FFF2-40B4-BE49-F238E27FC236}">
                        <a16:creationId xmlns:a16="http://schemas.microsoft.com/office/drawing/2014/main" id="{32AC2BE1-51AF-9CC6-C24F-B99C23E5BFE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022373" y="49556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0" name="Object 99">
            <a:extLst>
              <a:ext uri="{FF2B5EF4-FFF2-40B4-BE49-F238E27FC236}">
                <a16:creationId xmlns:a16="http://schemas.microsoft.com/office/drawing/2014/main" id="{E1BC3F6D-5559-FCD8-41B2-5815CE403A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45797515"/>
              </p:ext>
            </p:extLst>
          </p:nvPr>
        </p:nvGraphicFramePr>
        <p:xfrm>
          <a:off x="8029407" y="51986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00" name="Object 99">
                    <a:extLst>
                      <a:ext uri="{FF2B5EF4-FFF2-40B4-BE49-F238E27FC236}">
                        <a16:creationId xmlns:a16="http://schemas.microsoft.com/office/drawing/2014/main" id="{E1BC3F6D-5559-FCD8-41B2-5815CE403A0D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029407" y="51986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1" name="Object 100">
            <a:extLst>
              <a:ext uri="{FF2B5EF4-FFF2-40B4-BE49-F238E27FC236}">
                <a16:creationId xmlns:a16="http://schemas.microsoft.com/office/drawing/2014/main" id="{9CAAEBEA-CD42-DC51-7CF3-F020B87581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184648"/>
              </p:ext>
            </p:extLst>
          </p:nvPr>
        </p:nvGraphicFramePr>
        <p:xfrm>
          <a:off x="7944435" y="47463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01" name="Object 100">
                    <a:extLst>
                      <a:ext uri="{FF2B5EF4-FFF2-40B4-BE49-F238E27FC236}">
                        <a16:creationId xmlns:a16="http://schemas.microsoft.com/office/drawing/2014/main" id="{9CAAEBEA-CD42-DC51-7CF3-F020B87581C9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7944435" y="47463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2" name="Object 101">
            <a:extLst>
              <a:ext uri="{FF2B5EF4-FFF2-40B4-BE49-F238E27FC236}">
                <a16:creationId xmlns:a16="http://schemas.microsoft.com/office/drawing/2014/main" id="{38E6510F-8DDD-972C-A237-5E6EC9F38C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0064314"/>
              </p:ext>
            </p:extLst>
          </p:nvPr>
        </p:nvGraphicFramePr>
        <p:xfrm>
          <a:off x="8174773" y="48888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02" name="Object 101">
                    <a:extLst>
                      <a:ext uri="{FF2B5EF4-FFF2-40B4-BE49-F238E27FC236}">
                        <a16:creationId xmlns:a16="http://schemas.microsoft.com/office/drawing/2014/main" id="{38E6510F-8DDD-972C-A237-5E6EC9F38C4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174773" y="48888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3" name="Object 102">
            <a:extLst>
              <a:ext uri="{FF2B5EF4-FFF2-40B4-BE49-F238E27FC236}">
                <a16:creationId xmlns:a16="http://schemas.microsoft.com/office/drawing/2014/main" id="{C2D16A2F-50EA-BF61-6CB4-8D34E8FF56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8919562"/>
              </p:ext>
            </p:extLst>
          </p:nvPr>
        </p:nvGraphicFramePr>
        <p:xfrm>
          <a:off x="8174773" y="51080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03" name="Object 102">
                    <a:extLst>
                      <a:ext uri="{FF2B5EF4-FFF2-40B4-BE49-F238E27FC236}">
                        <a16:creationId xmlns:a16="http://schemas.microsoft.com/office/drawing/2014/main" id="{C2D16A2F-50EA-BF61-6CB4-8D34E8FF56C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174773" y="51080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4" name="Object 103">
            <a:extLst>
              <a:ext uri="{FF2B5EF4-FFF2-40B4-BE49-F238E27FC236}">
                <a16:creationId xmlns:a16="http://schemas.microsoft.com/office/drawing/2014/main" id="{FD0C3141-3A45-3E12-1E8E-392D2FFA9BE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45797515"/>
              </p:ext>
            </p:extLst>
          </p:nvPr>
        </p:nvGraphicFramePr>
        <p:xfrm>
          <a:off x="8181807" y="53510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04" name="Object 103">
                    <a:extLst>
                      <a:ext uri="{FF2B5EF4-FFF2-40B4-BE49-F238E27FC236}">
                        <a16:creationId xmlns:a16="http://schemas.microsoft.com/office/drawing/2014/main" id="{FD0C3141-3A45-3E12-1E8E-392D2FFA9BEC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181807" y="53510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5" name="Object 104">
            <a:extLst>
              <a:ext uri="{FF2B5EF4-FFF2-40B4-BE49-F238E27FC236}">
                <a16:creationId xmlns:a16="http://schemas.microsoft.com/office/drawing/2014/main" id="{CEA39A9A-19B4-0C0B-C12F-AAB267F7A08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184648"/>
              </p:ext>
            </p:extLst>
          </p:nvPr>
        </p:nvGraphicFramePr>
        <p:xfrm>
          <a:off x="8096835" y="48987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05" name="Object 104">
                    <a:extLst>
                      <a:ext uri="{FF2B5EF4-FFF2-40B4-BE49-F238E27FC236}">
                        <a16:creationId xmlns:a16="http://schemas.microsoft.com/office/drawing/2014/main" id="{CEA39A9A-19B4-0C0B-C12F-AAB267F7A082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096835" y="48987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6" name="Object 105">
            <a:extLst>
              <a:ext uri="{FF2B5EF4-FFF2-40B4-BE49-F238E27FC236}">
                <a16:creationId xmlns:a16="http://schemas.microsoft.com/office/drawing/2014/main" id="{A404055B-D69A-B856-E9A5-2E15B66DB8F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0064314"/>
              </p:ext>
            </p:extLst>
          </p:nvPr>
        </p:nvGraphicFramePr>
        <p:xfrm>
          <a:off x="8327173" y="50412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06" name="Object 105">
                    <a:extLst>
                      <a:ext uri="{FF2B5EF4-FFF2-40B4-BE49-F238E27FC236}">
                        <a16:creationId xmlns:a16="http://schemas.microsoft.com/office/drawing/2014/main" id="{A404055B-D69A-B856-E9A5-2E15B66DB8F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327173" y="50412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7" name="Object 106">
            <a:extLst>
              <a:ext uri="{FF2B5EF4-FFF2-40B4-BE49-F238E27FC236}">
                <a16:creationId xmlns:a16="http://schemas.microsoft.com/office/drawing/2014/main" id="{9609D45B-D31C-9F16-8DAD-5CF39797C6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8919562"/>
              </p:ext>
            </p:extLst>
          </p:nvPr>
        </p:nvGraphicFramePr>
        <p:xfrm>
          <a:off x="8327173" y="52604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07" name="Object 106">
                    <a:extLst>
                      <a:ext uri="{FF2B5EF4-FFF2-40B4-BE49-F238E27FC236}">
                        <a16:creationId xmlns:a16="http://schemas.microsoft.com/office/drawing/2014/main" id="{9609D45B-D31C-9F16-8DAD-5CF39797C677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327173" y="52604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8" name="Object 107">
            <a:extLst>
              <a:ext uri="{FF2B5EF4-FFF2-40B4-BE49-F238E27FC236}">
                <a16:creationId xmlns:a16="http://schemas.microsoft.com/office/drawing/2014/main" id="{7901BD2A-2A33-7A82-16F4-A94FE083C60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45797515"/>
              </p:ext>
            </p:extLst>
          </p:nvPr>
        </p:nvGraphicFramePr>
        <p:xfrm>
          <a:off x="8334207" y="55034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08" name="Object 107">
                    <a:extLst>
                      <a:ext uri="{FF2B5EF4-FFF2-40B4-BE49-F238E27FC236}">
                        <a16:creationId xmlns:a16="http://schemas.microsoft.com/office/drawing/2014/main" id="{7901BD2A-2A33-7A82-16F4-A94FE083C60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334207" y="55034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9" name="Object 108">
            <a:extLst>
              <a:ext uri="{FF2B5EF4-FFF2-40B4-BE49-F238E27FC236}">
                <a16:creationId xmlns:a16="http://schemas.microsoft.com/office/drawing/2014/main" id="{2CF769AE-B0A5-61E5-A0B2-40ED196F8B3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1661357"/>
              </p:ext>
            </p:extLst>
          </p:nvPr>
        </p:nvGraphicFramePr>
        <p:xfrm>
          <a:off x="9765501" y="42891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09" name="Object 108">
                    <a:extLst>
                      <a:ext uri="{FF2B5EF4-FFF2-40B4-BE49-F238E27FC236}">
                        <a16:creationId xmlns:a16="http://schemas.microsoft.com/office/drawing/2014/main" id="{2CF769AE-B0A5-61E5-A0B2-40ED196F8B3F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765501" y="42891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0" name="Object 109">
            <a:extLst>
              <a:ext uri="{FF2B5EF4-FFF2-40B4-BE49-F238E27FC236}">
                <a16:creationId xmlns:a16="http://schemas.microsoft.com/office/drawing/2014/main" id="{B5097DFB-E4F5-6A09-4536-F83FC05EE0D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0421565"/>
              </p:ext>
            </p:extLst>
          </p:nvPr>
        </p:nvGraphicFramePr>
        <p:xfrm>
          <a:off x="9995839" y="44316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0" name="Object 109">
                    <a:extLst>
                      <a:ext uri="{FF2B5EF4-FFF2-40B4-BE49-F238E27FC236}">
                        <a16:creationId xmlns:a16="http://schemas.microsoft.com/office/drawing/2014/main" id="{B5097DFB-E4F5-6A09-4536-F83FC05EE0D6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995839" y="44316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1" name="Object 110">
            <a:extLst>
              <a:ext uri="{FF2B5EF4-FFF2-40B4-BE49-F238E27FC236}">
                <a16:creationId xmlns:a16="http://schemas.microsoft.com/office/drawing/2014/main" id="{E7AEE62E-47E4-E044-8A6E-A39A58F7CA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046231"/>
              </p:ext>
            </p:extLst>
          </p:nvPr>
        </p:nvGraphicFramePr>
        <p:xfrm>
          <a:off x="9995839" y="46508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1" name="Object 110">
                    <a:extLst>
                      <a:ext uri="{FF2B5EF4-FFF2-40B4-BE49-F238E27FC236}">
                        <a16:creationId xmlns:a16="http://schemas.microsoft.com/office/drawing/2014/main" id="{E7AEE62E-47E4-E044-8A6E-A39A58F7CA8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995839" y="46508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2" name="Object 111">
            <a:extLst>
              <a:ext uri="{FF2B5EF4-FFF2-40B4-BE49-F238E27FC236}">
                <a16:creationId xmlns:a16="http://schemas.microsoft.com/office/drawing/2014/main" id="{F7EA40BB-FE77-BD7B-2F81-B77F17C2FEB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6843358"/>
              </p:ext>
            </p:extLst>
          </p:nvPr>
        </p:nvGraphicFramePr>
        <p:xfrm>
          <a:off x="10002873" y="48938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2" name="Object 111">
                    <a:extLst>
                      <a:ext uri="{FF2B5EF4-FFF2-40B4-BE49-F238E27FC236}">
                        <a16:creationId xmlns:a16="http://schemas.microsoft.com/office/drawing/2014/main" id="{F7EA40BB-FE77-BD7B-2F81-B77F17C2FEB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002873" y="48938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3" name="Object 112">
            <a:extLst>
              <a:ext uri="{FF2B5EF4-FFF2-40B4-BE49-F238E27FC236}">
                <a16:creationId xmlns:a16="http://schemas.microsoft.com/office/drawing/2014/main" id="{4E4D820E-DBDF-D3FA-30EE-F3C18906924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1661357"/>
              </p:ext>
            </p:extLst>
          </p:nvPr>
        </p:nvGraphicFramePr>
        <p:xfrm>
          <a:off x="9917901" y="44415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13" name="Object 112">
                    <a:extLst>
                      <a:ext uri="{FF2B5EF4-FFF2-40B4-BE49-F238E27FC236}">
                        <a16:creationId xmlns:a16="http://schemas.microsoft.com/office/drawing/2014/main" id="{4E4D820E-DBDF-D3FA-30EE-F3C189069242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917901" y="44415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4" name="Object 113">
            <a:extLst>
              <a:ext uri="{FF2B5EF4-FFF2-40B4-BE49-F238E27FC236}">
                <a16:creationId xmlns:a16="http://schemas.microsoft.com/office/drawing/2014/main" id="{A722D839-B733-2497-2B0E-45E1EB9B80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0421565"/>
              </p:ext>
            </p:extLst>
          </p:nvPr>
        </p:nvGraphicFramePr>
        <p:xfrm>
          <a:off x="10148239" y="45840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4" name="Object 113">
                    <a:extLst>
                      <a:ext uri="{FF2B5EF4-FFF2-40B4-BE49-F238E27FC236}">
                        <a16:creationId xmlns:a16="http://schemas.microsoft.com/office/drawing/2014/main" id="{A722D839-B733-2497-2B0E-45E1EB9B801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148239" y="45840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5" name="Object 114">
            <a:extLst>
              <a:ext uri="{FF2B5EF4-FFF2-40B4-BE49-F238E27FC236}">
                <a16:creationId xmlns:a16="http://schemas.microsoft.com/office/drawing/2014/main" id="{DF42C530-4864-6856-529E-7E54F3C22F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046231"/>
              </p:ext>
            </p:extLst>
          </p:nvPr>
        </p:nvGraphicFramePr>
        <p:xfrm>
          <a:off x="10148239" y="48032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5" name="Object 114">
                    <a:extLst>
                      <a:ext uri="{FF2B5EF4-FFF2-40B4-BE49-F238E27FC236}">
                        <a16:creationId xmlns:a16="http://schemas.microsoft.com/office/drawing/2014/main" id="{DF42C530-4864-6856-529E-7E54F3C22F7C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148239" y="48032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6" name="Object 115">
            <a:extLst>
              <a:ext uri="{FF2B5EF4-FFF2-40B4-BE49-F238E27FC236}">
                <a16:creationId xmlns:a16="http://schemas.microsoft.com/office/drawing/2014/main" id="{FC0DD69D-6584-699A-7495-B231A6B866A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6843358"/>
              </p:ext>
            </p:extLst>
          </p:nvPr>
        </p:nvGraphicFramePr>
        <p:xfrm>
          <a:off x="10155273" y="50462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6" name="Object 115">
                    <a:extLst>
                      <a:ext uri="{FF2B5EF4-FFF2-40B4-BE49-F238E27FC236}">
                        <a16:creationId xmlns:a16="http://schemas.microsoft.com/office/drawing/2014/main" id="{FC0DD69D-6584-699A-7495-B231A6B866A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155273" y="50462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7" name="Object 116">
            <a:extLst>
              <a:ext uri="{FF2B5EF4-FFF2-40B4-BE49-F238E27FC236}">
                <a16:creationId xmlns:a16="http://schemas.microsoft.com/office/drawing/2014/main" id="{AAC3CAF9-91C8-CDA6-2224-B26D0B46F52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1661357"/>
              </p:ext>
            </p:extLst>
          </p:nvPr>
        </p:nvGraphicFramePr>
        <p:xfrm>
          <a:off x="10070301" y="45939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17" name="Object 116">
                    <a:extLst>
                      <a:ext uri="{FF2B5EF4-FFF2-40B4-BE49-F238E27FC236}">
                        <a16:creationId xmlns:a16="http://schemas.microsoft.com/office/drawing/2014/main" id="{AAC3CAF9-91C8-CDA6-2224-B26D0B46F52E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070301" y="45939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8" name="Object 117">
            <a:extLst>
              <a:ext uri="{FF2B5EF4-FFF2-40B4-BE49-F238E27FC236}">
                <a16:creationId xmlns:a16="http://schemas.microsoft.com/office/drawing/2014/main" id="{D643BA46-97CC-FFC0-F592-80F4CF08044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0421565"/>
              </p:ext>
            </p:extLst>
          </p:nvPr>
        </p:nvGraphicFramePr>
        <p:xfrm>
          <a:off x="10300639" y="47364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8" name="Object 117">
                    <a:extLst>
                      <a:ext uri="{FF2B5EF4-FFF2-40B4-BE49-F238E27FC236}">
                        <a16:creationId xmlns:a16="http://schemas.microsoft.com/office/drawing/2014/main" id="{D643BA46-97CC-FFC0-F592-80F4CF08044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300639" y="47364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9" name="Object 118">
            <a:extLst>
              <a:ext uri="{FF2B5EF4-FFF2-40B4-BE49-F238E27FC236}">
                <a16:creationId xmlns:a16="http://schemas.microsoft.com/office/drawing/2014/main" id="{C8172161-60E2-51C7-B03A-A65270E1373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046231"/>
              </p:ext>
            </p:extLst>
          </p:nvPr>
        </p:nvGraphicFramePr>
        <p:xfrm>
          <a:off x="10300639" y="49556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9" name="Object 118">
                    <a:extLst>
                      <a:ext uri="{FF2B5EF4-FFF2-40B4-BE49-F238E27FC236}">
                        <a16:creationId xmlns:a16="http://schemas.microsoft.com/office/drawing/2014/main" id="{C8172161-60E2-51C7-B03A-A65270E1373D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300639" y="49556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0" name="Object 119">
            <a:extLst>
              <a:ext uri="{FF2B5EF4-FFF2-40B4-BE49-F238E27FC236}">
                <a16:creationId xmlns:a16="http://schemas.microsoft.com/office/drawing/2014/main" id="{0349BBDD-F6D2-6D55-94CE-3EFCEAF1CF1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6843358"/>
              </p:ext>
            </p:extLst>
          </p:nvPr>
        </p:nvGraphicFramePr>
        <p:xfrm>
          <a:off x="10307673" y="51986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20" name="Object 119">
                    <a:extLst>
                      <a:ext uri="{FF2B5EF4-FFF2-40B4-BE49-F238E27FC236}">
                        <a16:creationId xmlns:a16="http://schemas.microsoft.com/office/drawing/2014/main" id="{0349BBDD-F6D2-6D55-94CE-3EFCEAF1CF1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307673" y="51986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1" name="Object 120">
            <a:extLst>
              <a:ext uri="{FF2B5EF4-FFF2-40B4-BE49-F238E27FC236}">
                <a16:creationId xmlns:a16="http://schemas.microsoft.com/office/drawing/2014/main" id="{FD875BD1-301B-4208-5909-60598763155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1661357"/>
              </p:ext>
            </p:extLst>
          </p:nvPr>
        </p:nvGraphicFramePr>
        <p:xfrm>
          <a:off x="10222701" y="47463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21" name="Object 120">
                    <a:extLst>
                      <a:ext uri="{FF2B5EF4-FFF2-40B4-BE49-F238E27FC236}">
                        <a16:creationId xmlns:a16="http://schemas.microsoft.com/office/drawing/2014/main" id="{FD875BD1-301B-4208-5909-605987631558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222701" y="47463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2" name="Object 121">
            <a:extLst>
              <a:ext uri="{FF2B5EF4-FFF2-40B4-BE49-F238E27FC236}">
                <a16:creationId xmlns:a16="http://schemas.microsoft.com/office/drawing/2014/main" id="{5152FFC4-F33B-8846-CE84-392497281C3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0421565"/>
              </p:ext>
            </p:extLst>
          </p:nvPr>
        </p:nvGraphicFramePr>
        <p:xfrm>
          <a:off x="10453039" y="48888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22" name="Object 121">
                    <a:extLst>
                      <a:ext uri="{FF2B5EF4-FFF2-40B4-BE49-F238E27FC236}">
                        <a16:creationId xmlns:a16="http://schemas.microsoft.com/office/drawing/2014/main" id="{5152FFC4-F33B-8846-CE84-392497281C3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453039" y="48888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3" name="Object 122">
            <a:extLst>
              <a:ext uri="{FF2B5EF4-FFF2-40B4-BE49-F238E27FC236}">
                <a16:creationId xmlns:a16="http://schemas.microsoft.com/office/drawing/2014/main" id="{79980E56-9750-A0E4-8DFF-56F137A17DD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046231"/>
              </p:ext>
            </p:extLst>
          </p:nvPr>
        </p:nvGraphicFramePr>
        <p:xfrm>
          <a:off x="10453039" y="51080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23" name="Object 122">
                    <a:extLst>
                      <a:ext uri="{FF2B5EF4-FFF2-40B4-BE49-F238E27FC236}">
                        <a16:creationId xmlns:a16="http://schemas.microsoft.com/office/drawing/2014/main" id="{79980E56-9750-A0E4-8DFF-56F137A17DD6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453039" y="51080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4" name="Object 123">
            <a:extLst>
              <a:ext uri="{FF2B5EF4-FFF2-40B4-BE49-F238E27FC236}">
                <a16:creationId xmlns:a16="http://schemas.microsoft.com/office/drawing/2014/main" id="{05AA54C5-8210-435B-26B8-1411D063D55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6843358"/>
              </p:ext>
            </p:extLst>
          </p:nvPr>
        </p:nvGraphicFramePr>
        <p:xfrm>
          <a:off x="10460073" y="53510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24" name="Object 123">
                    <a:extLst>
                      <a:ext uri="{FF2B5EF4-FFF2-40B4-BE49-F238E27FC236}">
                        <a16:creationId xmlns:a16="http://schemas.microsoft.com/office/drawing/2014/main" id="{05AA54C5-8210-435B-26B8-1411D063D55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460073" y="53510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25" name="Rectangle 124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202438" y="4001647"/>
            <a:ext cx="850991" cy="1105856"/>
          </a:xfrm>
          <a:prstGeom prst="rect">
            <a:avLst/>
          </a:prstGeom>
          <a:noFill/>
        </p:spPr>
      </p:pic>
      <p:pic>
        <p:nvPicPr>
          <p:cNvPr id="40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199849" y="2776353"/>
            <a:ext cx="850991" cy="1105856"/>
          </a:xfrm>
          <a:prstGeom prst="rect">
            <a:avLst/>
          </a:prstGeom>
          <a:noFill/>
        </p:spPr>
      </p:pic>
      <p:pic>
        <p:nvPicPr>
          <p:cNvPr id="39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197982" y="1591265"/>
            <a:ext cx="850991" cy="1105856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WholeStageCodeGen</a:t>
            </a:r>
            <a:endParaRPr lang="fr-FR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15646" y="1718048"/>
            <a:ext cx="663946" cy="1032806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15646" y="2798960"/>
            <a:ext cx="663945" cy="1032803"/>
          </a:xfrm>
          <a:prstGeom prst="rect">
            <a:avLst/>
          </a:prstGeom>
          <a:noFill/>
        </p:spPr>
      </p:pic>
      <p:pic>
        <p:nvPicPr>
          <p:cNvPr id="6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15647" y="3873479"/>
            <a:ext cx="662943" cy="1031245"/>
          </a:xfrm>
          <a:prstGeom prst="rect">
            <a:avLst/>
          </a:prstGeom>
          <a:noFill/>
        </p:spPr>
      </p:pic>
      <p:pic>
        <p:nvPicPr>
          <p:cNvPr id="7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8187" y="3795069"/>
            <a:ext cx="724351" cy="112676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38DCA365-8240-1AF8-0E17-6B45C6A519F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9257505"/>
              </p:ext>
            </p:extLst>
          </p:nvPr>
        </p:nvGraphicFramePr>
        <p:xfrm>
          <a:off x="45100" y="2396561"/>
          <a:ext cx="4637087" cy="1169987"/>
        </p:xfrm>
        <a:graphic>
          <a:graphicData uri="http://schemas.openxmlformats.org/presentationml/2006/ole">
            <p:oleObj xmlns:mc="http://schemas.openxmlformats.org/markup-compatibility/2006" name="Bitmap Image" r:id="rId4" imgW="4636800" imgH="116964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38DCA365-8240-1AF8-0E17-6B45C6A519F2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45100" y="2396561"/>
                    <a:ext cx="4637087" cy="11699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18110" y="1117095"/>
            <a:ext cx="335777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Program</a:t>
            </a:r>
          </a:p>
          <a:p>
            <a:r>
              <a:rPr lang="fr-FR" sz="2800"/>
              <a:t>= </a:t>
            </a:r>
            <a:r>
              <a:rPr lang="fr-FR" sz="2800"/>
              <a:t>Dataset</a:t>
            </a:r>
            <a:r>
              <a:rPr lang="fr-FR" sz="2800"/>
              <a:t> instructions</a:t>
            </a:r>
          </a:p>
        </p:txBody>
      </p:sp>
      <p:pic>
        <p:nvPicPr>
          <p:cNvPr id="43010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089698" y="3768763"/>
            <a:ext cx="900342" cy="1169988"/>
          </a:xfrm>
          <a:prstGeom prst="rect">
            <a:avLst/>
          </a:prstGeom>
          <a:noFill/>
        </p:spPr>
      </p:pic>
      <p:sp>
        <p:nvSpPr>
          <p:cNvPr id="11" name="Rectangle: Rounded Corners 10"/>
          <p:cNvSpPr/>
          <p:nvPr/>
        </p:nvSpPr>
        <p:spPr>
          <a:xfrm>
            <a:off x="7498363" y="1851319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: Rounded Corners 11"/>
          <p:cNvSpPr/>
          <p:nvPr/>
        </p:nvSpPr>
        <p:spPr>
          <a:xfrm>
            <a:off x="7493234" y="294226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: Rounded Corners 12"/>
          <p:cNvSpPr/>
          <p:nvPr/>
        </p:nvSpPr>
        <p:spPr>
          <a:xfrm>
            <a:off x="7493234" y="4012406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7960002" y="2004731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/>
          <p:cNvSpPr/>
          <p:nvPr/>
        </p:nvSpPr>
        <p:spPr>
          <a:xfrm>
            <a:off x="7965712" y="3106531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/>
          <p:cNvSpPr/>
          <p:nvPr/>
        </p:nvSpPr>
        <p:spPr>
          <a:xfrm>
            <a:off x="8117065" y="4116369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/>
          <p:cNvSpPr/>
          <p:nvPr/>
        </p:nvSpPr>
        <p:spPr>
          <a:xfrm>
            <a:off x="8438190" y="326042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8423790" y="2238098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: Rounded Corners 18"/>
          <p:cNvSpPr/>
          <p:nvPr/>
        </p:nvSpPr>
        <p:spPr>
          <a:xfrm>
            <a:off x="10330768" y="1851319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: Rounded Corners 19"/>
          <p:cNvSpPr/>
          <p:nvPr/>
        </p:nvSpPr>
        <p:spPr>
          <a:xfrm>
            <a:off x="10325639" y="294226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: Rounded Corners 20"/>
          <p:cNvSpPr/>
          <p:nvPr/>
        </p:nvSpPr>
        <p:spPr>
          <a:xfrm>
            <a:off x="10325639" y="4012406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Straight Arrow Connector 21"/>
          <p:cNvCxnSpPr/>
          <p:nvPr/>
        </p:nvCxnSpPr>
        <p:spPr>
          <a:xfrm flipV="1">
            <a:off x="8330268" y="2089027"/>
            <a:ext cx="2272939" cy="5379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>
            <a:off x="10673015" y="1969139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8787879" y="2396561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>
            <a:off x="11167661" y="2179700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Isosceles Triangle 25"/>
          <p:cNvSpPr/>
          <p:nvPr/>
        </p:nvSpPr>
        <p:spPr>
          <a:xfrm>
            <a:off x="10609898" y="3044540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Isosceles Triangle 26"/>
          <p:cNvSpPr/>
          <p:nvPr/>
        </p:nvSpPr>
        <p:spPr>
          <a:xfrm>
            <a:off x="11162533" y="3245126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Isosceles Triangle 27"/>
          <p:cNvSpPr/>
          <p:nvPr/>
        </p:nvSpPr>
        <p:spPr>
          <a:xfrm>
            <a:off x="10791952" y="4128595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8854127" y="3450659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>
            <a:off x="8325141" y="3154270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8496021" y="4216652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43387" y="1823654"/>
            <a:ext cx="423791" cy="423791"/>
          </a:xfrm>
          <a:prstGeom prst="rect">
            <a:avLst/>
          </a:prstGeom>
          <a:noFill/>
        </p:spPr>
      </p:pic>
      <p:pic>
        <p:nvPicPr>
          <p:cNvPr id="33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43387" y="2247555"/>
            <a:ext cx="423791" cy="423791"/>
          </a:xfrm>
          <a:prstGeom prst="rect">
            <a:avLst/>
          </a:prstGeom>
          <a:noFill/>
        </p:spPr>
      </p:pic>
      <p:pic>
        <p:nvPicPr>
          <p:cNvPr id="34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29964" y="4027487"/>
            <a:ext cx="423791" cy="423791"/>
          </a:xfrm>
          <a:prstGeom prst="rect">
            <a:avLst/>
          </a:prstGeom>
          <a:noFill/>
        </p:spPr>
      </p:pic>
      <p:pic>
        <p:nvPicPr>
          <p:cNvPr id="35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51362" y="2930533"/>
            <a:ext cx="423791" cy="423791"/>
          </a:xfrm>
          <a:prstGeom prst="rect">
            <a:avLst/>
          </a:prstGeom>
          <a:noFill/>
        </p:spPr>
      </p:pic>
      <p:pic>
        <p:nvPicPr>
          <p:cNvPr id="36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43387" y="3337205"/>
            <a:ext cx="423791" cy="423791"/>
          </a:xfrm>
          <a:prstGeom prst="rect">
            <a:avLst/>
          </a:prstGeom>
          <a:noFill/>
        </p:spPr>
      </p:pic>
      <p:pic>
        <p:nvPicPr>
          <p:cNvPr id="37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611184" y="1919404"/>
            <a:ext cx="572762" cy="744300"/>
          </a:xfrm>
          <a:prstGeom prst="rect">
            <a:avLst/>
          </a:prstGeom>
          <a:noFill/>
        </p:spPr>
      </p:pic>
      <p:pic>
        <p:nvPicPr>
          <p:cNvPr id="38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43386" y="4441136"/>
            <a:ext cx="423791" cy="423791"/>
          </a:xfrm>
          <a:prstGeom prst="rect">
            <a:avLst/>
          </a:prstGeom>
          <a:noFill/>
        </p:spPr>
      </p:pic>
      <p:sp>
        <p:nvSpPr>
          <p:cNvPr id="42" name="Arrow: Right 41"/>
          <p:cNvSpPr/>
          <p:nvPr/>
        </p:nvSpPr>
        <p:spPr>
          <a:xfrm rot="21364960">
            <a:off x="4182672" y="4069832"/>
            <a:ext cx="936824" cy="24771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Arrow: Right 42"/>
          <p:cNvSpPr/>
          <p:nvPr/>
        </p:nvSpPr>
        <p:spPr>
          <a:xfrm rot="19887695">
            <a:off x="4018260" y="3654668"/>
            <a:ext cx="1072886" cy="2441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4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626096" y="4068986"/>
            <a:ext cx="572762" cy="744300"/>
          </a:xfrm>
          <a:prstGeom prst="rect">
            <a:avLst/>
          </a:prstGeom>
          <a:noFill/>
        </p:spPr>
      </p:pic>
      <p:pic>
        <p:nvPicPr>
          <p:cNvPr id="45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606645" y="2946962"/>
            <a:ext cx="572762" cy="744300"/>
          </a:xfrm>
          <a:prstGeom prst="rect">
            <a:avLst/>
          </a:prstGeom>
          <a:noFill/>
        </p:spPr>
      </p:pic>
      <p:sp>
        <p:nvSpPr>
          <p:cNvPr id="46" name="Arrow: Right 45"/>
          <p:cNvSpPr/>
          <p:nvPr/>
        </p:nvSpPr>
        <p:spPr>
          <a:xfrm rot="19256865">
            <a:off x="3799256" y="3278704"/>
            <a:ext cx="1314183" cy="2415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/>
          <p:cNvSpPr txBox="1"/>
          <p:nvPr/>
        </p:nvSpPr>
        <p:spPr>
          <a:xfrm>
            <a:off x="144368" y="5350353"/>
            <a:ext cx="71634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arenBoth"/>
            </a:pPr>
            <a:r>
              <a:rPr lang="fr-FR" sz="2400" b="1"/>
              <a:t>Generate</a:t>
            </a:r>
            <a:r>
              <a:rPr lang="fr-FR" sz="2400" b="1"/>
              <a:t> java code</a:t>
            </a:r>
            <a:br>
              <a:rPr lang="fr-FR" sz="2400" b="1"/>
            </a:br>
            <a:r>
              <a:rPr lang="fr-FR" sz="2400" b="1"/>
              <a:t>   (</a:t>
            </a:r>
            <a:r>
              <a:rPr lang="fr-FR" sz="2400"/>
              <a:t>RDD Spark </a:t>
            </a:r>
            <a:r>
              <a:rPr lang="fr-FR" sz="2400"/>
              <a:t>sub</a:t>
            </a:r>
            <a:r>
              <a:rPr lang="fr-FR" sz="2400"/>
              <a:t>-class « </a:t>
            </a:r>
            <a:r>
              <a:rPr lang="fr-FR" sz="2400"/>
              <a:t>WholeStageCodeGen$i</a:t>
            </a:r>
            <a:r>
              <a:rPr lang="fr-FR" sz="2400"/>
              <a:t> »)</a:t>
            </a:r>
          </a:p>
          <a:p>
            <a:r>
              <a:rPr lang="fr-FR" sz="2400" b="1"/>
              <a:t>(2) Compile </a:t>
            </a:r>
            <a:r>
              <a:rPr lang="fr-FR" sz="2400" b="1"/>
              <a:t>Bytecode</a:t>
            </a:r>
            <a:endParaRPr lang="fr-FR" sz="2400" b="1"/>
          </a:p>
        </p:txBody>
      </p:sp>
      <p:sp>
        <p:nvSpPr>
          <p:cNvPr id="48" name="Arrow: Curved Up 47"/>
          <p:cNvSpPr/>
          <p:nvPr/>
        </p:nvSpPr>
        <p:spPr>
          <a:xfrm rot="3306766">
            <a:off x="1870072" y="3829206"/>
            <a:ext cx="1123339" cy="403485"/>
          </a:xfrm>
          <a:prstGeom prst="curvedUpArrow">
            <a:avLst>
              <a:gd name="adj1" fmla="val 25000"/>
              <a:gd name="adj2" fmla="val 92148"/>
              <a:gd name="adj3" fmla="val 651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716046" y="4886631"/>
            <a:ext cx="33577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(3) </a:t>
            </a:r>
            <a:r>
              <a:rPr lang="fr-FR" sz="2400" b="1"/>
              <a:t>Send</a:t>
            </a:r>
            <a:r>
              <a:rPr lang="fr-FR" sz="2400" b="1"/>
              <a:t> </a:t>
            </a:r>
            <a:r>
              <a:rPr lang="fr-FR" sz="2400" b="1"/>
              <a:t>task</a:t>
            </a:r>
            <a:r>
              <a:rPr lang="fr-FR" sz="2400" b="1"/>
              <a:t> + </a:t>
            </a:r>
            <a:r>
              <a:rPr lang="fr-FR" sz="2400" b="1"/>
              <a:t>bytecode</a:t>
            </a:r>
            <a:endParaRPr lang="fr-FR" sz="2400" b="1"/>
          </a:p>
          <a:p>
            <a:r>
              <a:rPr lang="fr-FR" sz="2400" b="1"/>
              <a:t>   to </a:t>
            </a:r>
            <a:r>
              <a:rPr lang="fr-FR" sz="2400" b="1"/>
              <a:t>spark-executors</a:t>
            </a:r>
            <a:endParaRPr lang="fr-FR" sz="2400" b="1"/>
          </a:p>
        </p:txBody>
      </p:sp>
      <p:sp>
        <p:nvSpPr>
          <p:cNvPr id="50" name="TextBox 49"/>
          <p:cNvSpPr txBox="1"/>
          <p:nvPr/>
        </p:nvSpPr>
        <p:spPr>
          <a:xfrm>
            <a:off x="8582277" y="5286794"/>
            <a:ext cx="33577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(4) </a:t>
            </a:r>
            <a:r>
              <a:rPr lang="fr-FR" sz="2400" b="1"/>
              <a:t>Execute</a:t>
            </a:r>
            <a:r>
              <a:rPr lang="fr-FR" sz="2400" b="1"/>
              <a:t> </a:t>
            </a:r>
            <a:r>
              <a:rPr lang="fr-FR" sz="2400" b="1"/>
              <a:t>tasks</a:t>
            </a:r>
            <a:endParaRPr lang="fr-FR" sz="2400" b="1"/>
          </a:p>
        </p:txBody>
      </p:sp>
      <p:sp>
        <p:nvSpPr>
          <p:cNvPr id="51" name="Rectangle 50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Cluster Manager Extensions: </a:t>
            </a:r>
            <a:br>
              <a:rPr lang="fr-FR"/>
            </a:br>
            <a:r>
              <a:rPr lang="fr-FR"/>
              <a:t>TaskScheduler</a:t>
            </a:r>
            <a:r>
              <a:rPr lang="fr-FR"/>
              <a:t> API</a:t>
            </a:r>
          </a:p>
        </p:txBody>
      </p:sp>
      <p:pic>
        <p:nvPicPr>
          <p:cNvPr id="3" name="Picture 42" descr="William Ardila, Author at Nub8 » Page 3 of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416963" y="3767918"/>
            <a:ext cx="2198294" cy="1099147"/>
          </a:xfrm>
          <a:prstGeom prst="rect">
            <a:avLst/>
          </a:prstGeom>
          <a:noFill/>
        </p:spPr>
      </p:pic>
      <p:sp>
        <p:nvSpPr>
          <p:cNvPr id="22" name="Arrow: Up-Down 21"/>
          <p:cNvSpPr/>
          <p:nvPr/>
        </p:nvSpPr>
        <p:spPr>
          <a:xfrm rot="5400000">
            <a:off x="2331583" y="3639393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3" name="Picture 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067807" y="5258739"/>
            <a:ext cx="896605" cy="875258"/>
          </a:xfrm>
          <a:prstGeom prst="rect">
            <a:avLst/>
          </a:prstGeom>
          <a:noFill/>
        </p:spPr>
      </p:pic>
      <p:pic>
        <p:nvPicPr>
          <p:cNvPr id="24" name="Picture 44" descr="How to Run an Application on Spark Standalone Cluster | by Chuan Xu | Medium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769807" y="2568068"/>
            <a:ext cx="1676749" cy="943171"/>
          </a:xfrm>
          <a:prstGeom prst="rect">
            <a:avLst/>
          </a:prstGeom>
          <a:noFill/>
        </p:spPr>
      </p:pic>
      <p:pic>
        <p:nvPicPr>
          <p:cNvPr id="33794" name="Picture 2" descr="Apache Mesos - Wikipedia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868513" y="1751330"/>
            <a:ext cx="1832248" cy="633133"/>
          </a:xfrm>
          <a:prstGeom prst="rect">
            <a:avLst/>
          </a:prstGeom>
          <a:noFill/>
        </p:spPr>
      </p:pic>
      <p:sp>
        <p:nvSpPr>
          <p:cNvPr id="25" name="Arrow: Up-Down 24"/>
          <p:cNvSpPr/>
          <p:nvPr/>
        </p:nvSpPr>
        <p:spPr>
          <a:xfrm rot="18728148">
            <a:off x="8519446" y="4898880"/>
            <a:ext cx="382385" cy="961878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Arrow: Up-Down 25"/>
          <p:cNvSpPr/>
          <p:nvPr/>
        </p:nvSpPr>
        <p:spPr>
          <a:xfrm rot="16200000">
            <a:off x="8782735" y="3639269"/>
            <a:ext cx="382385" cy="837106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Arrow: Up-Down 26"/>
          <p:cNvSpPr/>
          <p:nvPr/>
        </p:nvSpPr>
        <p:spPr>
          <a:xfrm rot="13801363">
            <a:off x="8535855" y="2225852"/>
            <a:ext cx="369689" cy="1122020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8" name="Picture 8" descr="Apache Spark — Wikipédia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18586" y="3481642"/>
            <a:ext cx="1731327" cy="898847"/>
          </a:xfrm>
          <a:prstGeom prst="rect">
            <a:avLst/>
          </a:prstGeom>
          <a:noFill/>
        </p:spPr>
      </p:pic>
      <p:sp>
        <p:nvSpPr>
          <p:cNvPr id="30" name="Rectangle 29"/>
          <p:cNvSpPr/>
          <p:nvPr/>
        </p:nvSpPr>
        <p:spPr>
          <a:xfrm>
            <a:off x="3293792" y="2865083"/>
            <a:ext cx="4559723" cy="282779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/>
          <p:cNvSpPr txBox="1"/>
          <p:nvPr/>
        </p:nvSpPr>
        <p:spPr>
          <a:xfrm>
            <a:off x="3293792" y="2992160"/>
            <a:ext cx="469019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abstract class </a:t>
            </a:r>
            <a:r>
              <a:rPr lang="fr-FR" sz="2400" b="1"/>
              <a:t>TaskScheduler</a:t>
            </a:r>
            <a:r>
              <a:rPr lang="fr-FR" sz="2400" b="1"/>
              <a:t> {</a:t>
            </a:r>
          </a:p>
          <a:p>
            <a:r>
              <a:rPr lang="fr-FR" sz="2400" b="1"/>
              <a:t>  ..start(), stop(),</a:t>
            </a:r>
          </a:p>
          <a:p>
            <a:br>
              <a:rPr lang="fr-FR" sz="2400" b="1"/>
            </a:br>
            <a:r>
              <a:rPr lang="fr-FR" sz="2400" b="1"/>
              <a:t>  </a:t>
            </a:r>
            <a:r>
              <a:rPr lang="fr-FR" sz="2400" b="1"/>
              <a:t>submitTasks,cancelTasks</a:t>
            </a:r>
            <a:r>
              <a:rPr lang="fr-FR" sz="2400" b="1"/>
              <a:t>,</a:t>
            </a:r>
          </a:p>
          <a:p>
            <a:endParaRPr lang="fr-FR" sz="2400" b="1"/>
          </a:p>
          <a:p>
            <a:r>
              <a:rPr lang="fr-FR" sz="2400" b="1"/>
              <a:t>  </a:t>
            </a:r>
            <a:r>
              <a:rPr lang="fr-FR" sz="2400" b="1"/>
              <a:t>notify</a:t>
            </a:r>
            <a:r>
              <a:rPr lang="fr-FR" sz="2400" b="1"/>
              <a:t> Host-</a:t>
            </a:r>
            <a:r>
              <a:rPr lang="fr-FR" sz="2400" b="1"/>
              <a:t>Executor</a:t>
            </a:r>
            <a:r>
              <a:rPr lang="fr-FR" sz="2400" b="1"/>
              <a:t>-</a:t>
            </a:r>
            <a:r>
              <a:rPr lang="fr-FR" sz="2400" b="1"/>
              <a:t>Task</a:t>
            </a:r>
            <a:r>
              <a:rPr lang="fr-FR" sz="2400" b="1"/>
              <a:t> changes</a:t>
            </a:r>
          </a:p>
          <a:p>
            <a:r>
              <a:rPr lang="fr-FR" sz="2400" b="1"/>
              <a:t>}</a:t>
            </a:r>
          </a:p>
        </p:txBody>
      </p:sp>
      <p:sp>
        <p:nvSpPr>
          <p:cNvPr id="32" name="Rectangle 31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6" name="Picture 2" descr="Apache Spark: core concepts, architecture and internal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22005" y="1673942"/>
            <a:ext cx="11753131" cy="3629333"/>
          </a:xfrm>
          <a:prstGeom prst="rect">
            <a:avLst/>
          </a:prstGeom>
          <a:noFill/>
        </p:spPr>
      </p:pic>
      <p:sp>
        <p:nvSpPr>
          <p:cNvPr id="4" name="Rectangle 3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CoarseGrainScheduler</a:t>
            </a:r>
            <a:br>
              <a:rPr lang="fr-FR"/>
            </a:br>
            <a:r>
              <a:rPr lang="fr-FR"/>
              <a:t> … </a:t>
            </a:r>
            <a:r>
              <a:rPr lang="fr-FR"/>
              <a:t>CoarseGrain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C4C4AD06-F01D-4E7D-1AF1-4DDB8C74067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734314"/>
              </p:ext>
            </p:extLst>
          </p:nvPr>
        </p:nvGraphicFramePr>
        <p:xfrm>
          <a:off x="5121338" y="450817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C4C4AD06-F01D-4E7D-1AF1-4DDB8C74067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121338" y="450817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" name="Left Brace 4"/>
          <p:cNvSpPr/>
          <p:nvPr/>
        </p:nvSpPr>
        <p:spPr>
          <a:xfrm>
            <a:off x="4545711" y="4508174"/>
            <a:ext cx="351583" cy="1553912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450807" y="4411848"/>
            <a:ext cx="417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CoarseGrain</a:t>
            </a:r>
            <a:endParaRPr lang="fr-FR" sz="3200" b="1"/>
          </a:p>
          <a:p>
            <a:r>
              <a:rPr lang="fr-FR" sz="3200"/>
              <a:t>partition</a:t>
            </a:r>
          </a:p>
          <a:p>
            <a:r>
              <a:rPr lang="fr-FR" sz="3200"/>
              <a:t>= unit or </a:t>
            </a:r>
            <a:r>
              <a:rPr lang="fr-FR" sz="3200"/>
              <a:t>recomputation</a:t>
            </a:r>
            <a:endParaRPr lang="fr-FR" sz="3200"/>
          </a:p>
        </p:txBody>
      </p:sp>
      <p:pic>
        <p:nvPicPr>
          <p:cNvPr id="7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638043" y="2167811"/>
            <a:ext cx="915912" cy="1373375"/>
          </a:xfrm>
          <a:prstGeom prst="rect">
            <a:avLst/>
          </a:prstGeom>
          <a:noFill/>
        </p:spPr>
      </p:pic>
      <p:pic>
        <p:nvPicPr>
          <p:cNvPr id="8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736603" y="2162269"/>
            <a:ext cx="915912" cy="1373375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>
          <a:xfrm>
            <a:off x="5299818" y="1515938"/>
            <a:ext cx="53403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</a:t>
            </a:r>
            <a:r>
              <a:rPr lang="fr-FR"/>
              <a:t>executor</a:t>
            </a:r>
            <a:endParaRPr lang="fr-FR"/>
          </a:p>
          <a:p>
            <a:r>
              <a:rPr lang="fr-FR"/>
              <a:t> … </a:t>
            </a:r>
            <a:r>
              <a:rPr lang="fr-FR"/>
              <a:t>internally</a:t>
            </a:r>
            <a:r>
              <a:rPr lang="fr-FR"/>
              <a:t> </a:t>
            </a:r>
            <a:r>
              <a:rPr lang="fr-FR"/>
              <a:t>called</a:t>
            </a:r>
            <a:r>
              <a:rPr lang="fr-FR"/>
              <a:t> « </a:t>
            </a:r>
            <a:r>
              <a:rPr lang="fr-FR"/>
              <a:t>CoarseGrainExecutor</a:t>
            </a:r>
            <a:r>
              <a:rPr lang="fr-FR"/>
              <a:t> » main  </a:t>
            </a:r>
            <a:r>
              <a:rPr lang="fr-FR"/>
              <a:t>loop</a:t>
            </a:r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587294" y="1458320"/>
            <a:ext cx="3998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Spark-driver</a:t>
            </a:r>
          </a:p>
          <a:p>
            <a:r>
              <a:rPr lang="fr-FR"/>
              <a:t>Implements</a:t>
            </a:r>
            <a:r>
              <a:rPr lang="fr-FR"/>
              <a:t> </a:t>
            </a:r>
            <a:r>
              <a:rPr lang="fr-FR"/>
              <a:t>Fault</a:t>
            </a:r>
            <a:r>
              <a:rPr lang="fr-FR"/>
              <a:t> </a:t>
            </a:r>
            <a:r>
              <a:rPr lang="fr-FR"/>
              <a:t>Tolerance+Distribution</a:t>
            </a:r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" name="Object 10">
            <a:extLst>
              <a:ext uri="{FF2B5EF4-FFF2-40B4-BE49-F238E27FC236}">
                <a16:creationId xmlns:a16="http://schemas.microsoft.com/office/drawing/2014/main" id="{0630D65A-833B-5A97-EFE2-BCE7684EE11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73978503"/>
              </p:ext>
            </p:extLst>
          </p:nvPr>
        </p:nvGraphicFramePr>
        <p:xfrm>
          <a:off x="9839163" y="4453897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1" name="Object 10">
                    <a:extLst>
                      <a:ext uri="{FF2B5EF4-FFF2-40B4-BE49-F238E27FC236}">
                        <a16:creationId xmlns:a16="http://schemas.microsoft.com/office/drawing/2014/main" id="{0630D65A-833B-5A97-EFE2-BCE7684EE11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839163" y="4453897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4" name="Arrow: Right 13"/>
          <p:cNvSpPr/>
          <p:nvPr/>
        </p:nvSpPr>
        <p:spPr>
          <a:xfrm>
            <a:off x="7353084" y="5003762"/>
            <a:ext cx="2266469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14" descr="CPU X : Infos Smartphones – Applications sur Google Play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065719" y="4777199"/>
            <a:ext cx="838958" cy="838958"/>
          </a:xfrm>
          <a:prstGeom prst="rect">
            <a:avLst/>
          </a:prstGeom>
          <a:noFill/>
        </p:spPr>
      </p:pic>
      <p:sp>
        <p:nvSpPr>
          <p:cNvPr id="16" name="Rectangle 15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Outline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314047" y="2423252"/>
            <a:ext cx="7398949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Reminder</a:t>
            </a:r>
            <a:r>
              <a:rPr lang="fr-FR" sz="2400"/>
              <a:t> Spark-driver / </a:t>
            </a:r>
            <a:r>
              <a:rPr lang="fr-FR" sz="2400"/>
              <a:t>spark-executors</a:t>
            </a:r>
            <a:endParaRPr lang="fr-FR" sz="2400"/>
          </a:p>
          <a:p>
            <a:endParaRPr lang="fr-FR" sz="2400"/>
          </a:p>
          <a:p>
            <a:r>
              <a:rPr lang="fr-FR" sz="2400"/>
              <a:t>Cluster Tuning Params</a:t>
            </a:r>
          </a:p>
          <a:p>
            <a:endParaRPr lang="fr-FR" sz="2400"/>
          </a:p>
          <a:p>
            <a:r>
              <a:rPr lang="fr-FR" sz="2400"/>
              <a:t>deployMode</a:t>
            </a:r>
            <a:r>
              <a:rPr lang="fr-FR" sz="2400"/>
              <a:t> (local, spark://, </a:t>
            </a:r>
            <a:r>
              <a:rPr lang="fr-FR" sz="2400"/>
              <a:t>yarn</a:t>
            </a:r>
            <a:r>
              <a:rPr lang="fr-FR" sz="2400"/>
              <a:t>, k8s)</a:t>
            </a:r>
          </a:p>
          <a:p>
            <a:endParaRPr lang="fr-FR" sz="2400"/>
          </a:p>
          <a:p>
            <a:r>
              <a:rPr lang="fr-FR" sz="2400"/>
              <a:t>Other launchers</a:t>
            </a:r>
            <a:r>
              <a:rPr lang="fr-FR" sz="2400"/>
              <a:t> (java </a:t>
            </a:r>
            <a:r>
              <a:rPr lang="fr-FR" sz="2400"/>
              <a:t>embedded</a:t>
            </a:r>
            <a:r>
              <a:rPr lang="fr-FR" sz="2400"/>
              <a:t>, </a:t>
            </a:r>
            <a:r>
              <a:rPr lang="fr-FR" sz="2400"/>
              <a:t>livy</a:t>
            </a:r>
            <a:r>
              <a:rPr lang="fr-FR" sz="2400"/>
              <a:t>, </a:t>
            </a:r>
            <a:r>
              <a:rPr lang="fr-FR" sz="2400"/>
              <a:t>jupyter</a:t>
            </a:r>
            <a:r>
              <a:rPr lang="fr-FR" sz="2400"/>
              <a:t>, </a:t>
            </a:r>
            <a:r>
              <a:rPr lang="fr-FR" sz="2400"/>
              <a:t>pyspark</a:t>
            </a:r>
            <a:r>
              <a:rPr lang="fr-FR" sz="2400"/>
              <a:t> ..)</a:t>
            </a:r>
          </a:p>
        </p:txBody>
      </p:sp>
      <p:pic>
        <p:nvPicPr>
          <p:cNvPr id="3" name="Picture 2" descr="Image result for checkmark icon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99693" y="2280258"/>
            <a:ext cx="664931" cy="664931"/>
          </a:xfrm>
          <a:prstGeom prst="rect">
            <a:avLst/>
          </a:prstGeom>
          <a:noFill/>
        </p:spPr>
      </p:pic>
      <p:sp>
        <p:nvSpPr>
          <p:cNvPr id="5" name="Arrow: Right 4"/>
          <p:cNvSpPr/>
          <p:nvPr/>
        </p:nvSpPr>
        <p:spPr>
          <a:xfrm>
            <a:off x="2399693" y="3159276"/>
            <a:ext cx="619276" cy="4354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9999" y="0"/>
            <a:ext cx="10515600" cy="1851815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Tuning Spark to use cluster power ?</a:t>
            </a:r>
            <a:br>
              <a:rPr lang="fr-FR"/>
            </a:br>
            <a:br>
              <a:rPr lang="fr-FR"/>
            </a:br>
            <a:r>
              <a:rPr lang="fr-FR"/>
              <a:t>Distribution / Partitions / </a:t>
            </a:r>
            <a:r>
              <a:rPr lang="fr-FR"/>
              <a:t>Parallelism</a:t>
            </a:r>
            <a:endParaRPr lang="fr-FR"/>
          </a:p>
        </p:txBody>
      </p:sp>
      <p:pic>
        <p:nvPicPr>
          <p:cNvPr id="47108" name="Picture 4" descr="image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80090" y="3536904"/>
            <a:ext cx="3895418" cy="296498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90237"/>
            <a:ext cx="10515600" cy="1677526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Memory </a:t>
            </a:r>
            <a:r>
              <a:rPr lang="fr-FR"/>
              <a:t>needs</a:t>
            </a:r>
            <a:r>
              <a:rPr lang="fr-FR"/>
              <a:t> for </a:t>
            </a:r>
            <a:r>
              <a:rPr lang="fr-FR"/>
              <a:t>Dataset</a:t>
            </a:r>
            <a:br>
              <a:rPr lang="fr-FR"/>
            </a:br>
            <a:br>
              <a:rPr lang="fr-FR"/>
            </a:br>
            <a:r>
              <a:rPr lang="fr-FR"/>
              <a:t>driver != </a:t>
            </a:r>
            <a:r>
              <a:rPr lang="fr-FR"/>
              <a:t>executor</a:t>
            </a:r>
            <a:endParaRPr lang="fr-F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1519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= Partitions </a:t>
            </a:r>
            <a:r>
              <a:rPr lang="fr-FR"/>
              <a:t>metadata</a:t>
            </a:r>
            <a:r>
              <a:rPr lang="fr-FR"/>
              <a:t> / data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6571143" y="1185254"/>
            <a:ext cx="3026744" cy="5458912"/>
          </a:xfrm>
          <a:prstGeom prst="round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4E3F015D-5ACE-084F-C95B-47C4BB3B6B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92371904"/>
              </p:ext>
            </p:extLst>
          </p:nvPr>
        </p:nvGraphicFramePr>
        <p:xfrm>
          <a:off x="7148744" y="1321563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4E3F015D-5ACE-084F-C95B-47C4BB3B6BCB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148744" y="1321563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3918A94A-E8B4-1A9E-F868-DEF5656EA45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8313921"/>
              </p:ext>
            </p:extLst>
          </p:nvPr>
        </p:nvGraphicFramePr>
        <p:xfrm>
          <a:off x="7570984" y="1644865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3918A94A-E8B4-1A9E-F868-DEF5656EA45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4" y="1644865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B2C6DE0C-29BF-266B-4D05-B526C5EB85F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9549993"/>
              </p:ext>
            </p:extLst>
          </p:nvPr>
        </p:nvGraphicFramePr>
        <p:xfrm>
          <a:off x="7570985" y="2022482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B2C6DE0C-29BF-266B-4D05-B526C5EB85F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5" y="2022482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F973C8F0-9D42-08AE-E67A-68B26865E9C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67956635"/>
              </p:ext>
            </p:extLst>
          </p:nvPr>
        </p:nvGraphicFramePr>
        <p:xfrm>
          <a:off x="7583435" y="2395504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F973C8F0-9D42-08AE-E67A-68B26865E9C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83435" y="2395504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70983" y="1543554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0983" y="1913853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7505" y="2294193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" name="Object 11">
            <a:extLst>
              <a:ext uri="{FF2B5EF4-FFF2-40B4-BE49-F238E27FC236}">
                <a16:creationId xmlns:a16="http://schemas.microsoft.com/office/drawing/2014/main" id="{8219C8DD-EC27-881E-420A-8395870569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0872613"/>
              </p:ext>
            </p:extLst>
          </p:nvPr>
        </p:nvGraphicFramePr>
        <p:xfrm>
          <a:off x="7148744" y="2973586"/>
          <a:ext cx="1949323" cy="199731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2" name="Object 11">
                    <a:extLst>
                      <a:ext uri="{FF2B5EF4-FFF2-40B4-BE49-F238E27FC236}">
                        <a16:creationId xmlns:a16="http://schemas.microsoft.com/office/drawing/2014/main" id="{8219C8DD-EC27-881E-420A-839587056946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148744" y="2973586"/>
                    <a:ext cx="1949323" cy="199731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B350948F-C985-9A8F-2D35-96F9F6A23B9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15153074"/>
              </p:ext>
            </p:extLst>
          </p:nvPr>
        </p:nvGraphicFramePr>
        <p:xfrm>
          <a:off x="7570984" y="3250388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B350948F-C985-9A8F-2D35-96F9F6A23B9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4" y="3250388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1C092A6E-065B-3D13-94CC-CF661E67F67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08695831"/>
              </p:ext>
            </p:extLst>
          </p:nvPr>
        </p:nvGraphicFramePr>
        <p:xfrm>
          <a:off x="7570985" y="3628005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1C092A6E-065B-3D13-94CC-CF661E67F670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5" y="3628005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DDFDC60D-D977-3539-9906-FFA2ABBF05E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9842140"/>
              </p:ext>
            </p:extLst>
          </p:nvPr>
        </p:nvGraphicFramePr>
        <p:xfrm>
          <a:off x="7583435" y="4001027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DDFDC60D-D977-3539-9906-FFA2ABBF05E3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83435" y="4001027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70983" y="3149077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70983" y="3519376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7505" y="3899716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9" name="Object 18">
            <a:extLst>
              <a:ext uri="{FF2B5EF4-FFF2-40B4-BE49-F238E27FC236}">
                <a16:creationId xmlns:a16="http://schemas.microsoft.com/office/drawing/2014/main" id="{A05D7C15-7AFD-0B9A-F1D3-BC0B641DB43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28143007"/>
              </p:ext>
            </p:extLst>
          </p:nvPr>
        </p:nvGraphicFramePr>
        <p:xfrm>
          <a:off x="7148744" y="5030577"/>
          <a:ext cx="1949323" cy="123959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9" name="Object 18">
                    <a:extLst>
                      <a:ext uri="{FF2B5EF4-FFF2-40B4-BE49-F238E27FC236}">
                        <a16:creationId xmlns:a16="http://schemas.microsoft.com/office/drawing/2014/main" id="{A05D7C15-7AFD-0B9A-F1D3-BC0B641DB43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148744" y="5030577"/>
                    <a:ext cx="1949323" cy="123959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C1835B60-8F27-ADFB-2C73-F863C79F4B7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285930"/>
              </p:ext>
            </p:extLst>
          </p:nvPr>
        </p:nvGraphicFramePr>
        <p:xfrm>
          <a:off x="7570984" y="5367055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20" name="Object 19">
                    <a:extLst>
                      <a:ext uri="{FF2B5EF4-FFF2-40B4-BE49-F238E27FC236}">
                        <a16:creationId xmlns:a16="http://schemas.microsoft.com/office/drawing/2014/main" id="{C1835B60-8F27-ADFB-2C73-F863C79F4B7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4" y="5367055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" name="Object 20">
            <a:extLst>
              <a:ext uri="{FF2B5EF4-FFF2-40B4-BE49-F238E27FC236}">
                <a16:creationId xmlns:a16="http://schemas.microsoft.com/office/drawing/2014/main" id="{DE104EBB-F51E-BC68-CA45-9D2350A1F0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38409158"/>
              </p:ext>
            </p:extLst>
          </p:nvPr>
        </p:nvGraphicFramePr>
        <p:xfrm>
          <a:off x="7570985" y="5744672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21" name="Object 20">
                    <a:extLst>
                      <a:ext uri="{FF2B5EF4-FFF2-40B4-BE49-F238E27FC236}">
                        <a16:creationId xmlns:a16="http://schemas.microsoft.com/office/drawing/2014/main" id="{DE104EBB-F51E-BC68-CA45-9D2350A1F06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5" y="5744672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7570983" y="5265744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0983" y="5636043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7474" y="3590958"/>
            <a:ext cx="19511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1 </a:t>
            </a:r>
            <a:r>
              <a:rPr lang="fr-FR" sz="2400"/>
              <a:t>Dataset</a:t>
            </a:r>
            <a:endParaRPr lang="fr-FR" sz="2400"/>
          </a:p>
          <a:p>
            <a:r>
              <a:rPr lang="fr-FR" sz="2400"/>
              <a:t> = N partitions</a:t>
            </a:r>
          </a:p>
        </p:txBody>
      </p:sp>
      <p:sp>
        <p:nvSpPr>
          <p:cNvPr id="27" name="Left Brace 26"/>
          <p:cNvSpPr/>
          <p:nvPr/>
        </p:nvSpPr>
        <p:spPr>
          <a:xfrm>
            <a:off x="1954260" y="1185254"/>
            <a:ext cx="512838" cy="5389651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Left Brace 27"/>
          <p:cNvSpPr/>
          <p:nvPr/>
        </p:nvSpPr>
        <p:spPr>
          <a:xfrm>
            <a:off x="4895467" y="1355559"/>
            <a:ext cx="342585" cy="142596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2708744" y="1644865"/>
            <a:ext cx="23743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1 Partition</a:t>
            </a:r>
          </a:p>
          <a:p>
            <a:r>
              <a:rPr lang="fr-FR" sz="2400"/>
              <a:t>  = p  </a:t>
            </a:r>
            <a:r>
              <a:rPr lang="fr-FR" sz="2400"/>
              <a:t>rows</a:t>
            </a:r>
            <a:endParaRPr lang="fr-FR" sz="2400"/>
          </a:p>
          <a:p>
            <a:r>
              <a:rPr lang="fr-FR" sz="2400"/>
              <a:t> (p1 != p2 != ..</a:t>
            </a:r>
            <a:r>
              <a:rPr lang="fr-FR" sz="2400"/>
              <a:t>pN</a:t>
            </a:r>
            <a:r>
              <a:rPr lang="fr-FR" sz="2400"/>
              <a:t>)</a:t>
            </a:r>
          </a:p>
        </p:txBody>
      </p:sp>
      <p:sp>
        <p:nvSpPr>
          <p:cNvPr id="30" name="Left Brace 29"/>
          <p:cNvSpPr/>
          <p:nvPr/>
        </p:nvSpPr>
        <p:spPr>
          <a:xfrm>
            <a:off x="5910905" y="1618412"/>
            <a:ext cx="296297" cy="412471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1" name="Object 30">
            <a:extLst>
              <a:ext uri="{FF2B5EF4-FFF2-40B4-BE49-F238E27FC236}">
                <a16:creationId xmlns:a16="http://schemas.microsoft.com/office/drawing/2014/main" id="{58903DB6-105A-3524-ADAE-25EC299EDA3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06977091"/>
              </p:ext>
            </p:extLst>
          </p:nvPr>
        </p:nvGraphicFramePr>
        <p:xfrm>
          <a:off x="7583435" y="4360332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1" name="Object 30">
                    <a:extLst>
                      <a:ext uri="{FF2B5EF4-FFF2-40B4-BE49-F238E27FC236}">
                        <a16:creationId xmlns:a16="http://schemas.microsoft.com/office/drawing/2014/main" id="{58903DB6-105A-3524-ADAE-25EC299EDA3B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83435" y="4360332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7577505" y="4259021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9409" y="1569218"/>
            <a:ext cx="725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Row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On Driver = </a:t>
            </a:r>
            <a:r>
              <a:rPr lang="fr-FR"/>
              <a:t>metadata</a:t>
            </a:r>
            <a:r>
              <a:rPr lang="fr-FR"/>
              <a:t> / on </a:t>
            </a:r>
            <a:r>
              <a:rPr lang="fr-FR"/>
              <a:t>Executor</a:t>
            </a:r>
            <a:r>
              <a:rPr lang="fr-FR"/>
              <a:t> = Data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3099897" y="1216742"/>
            <a:ext cx="1533096" cy="5117690"/>
          </a:xfrm>
          <a:prstGeom prst="round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EACB39CD-B7B4-5A90-5C11-ADCED0F3055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73451125"/>
              </p:ext>
            </p:extLst>
          </p:nvPr>
        </p:nvGraphicFramePr>
        <p:xfrm>
          <a:off x="7148744" y="1321563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EACB39CD-B7B4-5A90-5C11-ADCED0F3055E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148744" y="1321563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7831ABC3-4E53-6AEF-01F5-C7FD1CCEAB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8729620"/>
              </p:ext>
            </p:extLst>
          </p:nvPr>
        </p:nvGraphicFramePr>
        <p:xfrm>
          <a:off x="7570984" y="1644865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7831ABC3-4E53-6AEF-01F5-C7FD1CCEAB4B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4" y="1644865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5CF67EFC-DDA4-C429-C4CE-40C79792670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81578560"/>
              </p:ext>
            </p:extLst>
          </p:nvPr>
        </p:nvGraphicFramePr>
        <p:xfrm>
          <a:off x="7570985" y="2022482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5CF67EFC-DDA4-C429-C4CE-40C797926707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5" y="2022482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6B01A100-19F7-2B18-A9CD-EF2493AC23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9154879"/>
              </p:ext>
            </p:extLst>
          </p:nvPr>
        </p:nvGraphicFramePr>
        <p:xfrm>
          <a:off x="7583435" y="2395504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6B01A100-19F7-2B18-A9CD-EF2493AC236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83435" y="2395504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70983" y="1543554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0983" y="1913853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7505" y="2294193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" name="Object 11">
            <a:extLst>
              <a:ext uri="{FF2B5EF4-FFF2-40B4-BE49-F238E27FC236}">
                <a16:creationId xmlns:a16="http://schemas.microsoft.com/office/drawing/2014/main" id="{E544ABDC-CB49-B01C-AAAA-D6D6EEF6C48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77888509"/>
              </p:ext>
            </p:extLst>
          </p:nvPr>
        </p:nvGraphicFramePr>
        <p:xfrm>
          <a:off x="7148744" y="2973586"/>
          <a:ext cx="1949323" cy="199731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2" name="Object 11">
                    <a:extLst>
                      <a:ext uri="{FF2B5EF4-FFF2-40B4-BE49-F238E27FC236}">
                        <a16:creationId xmlns:a16="http://schemas.microsoft.com/office/drawing/2014/main" id="{E544ABDC-CB49-B01C-AAAA-D6D6EEF6C48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148744" y="2973586"/>
                    <a:ext cx="1949323" cy="199731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2B4075AA-E341-C351-D599-F24AE75641B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967015"/>
              </p:ext>
            </p:extLst>
          </p:nvPr>
        </p:nvGraphicFramePr>
        <p:xfrm>
          <a:off x="7570984" y="3250388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2B4075AA-E341-C351-D599-F24AE75641B2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4" y="3250388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74D69EE7-3CDE-93A6-B3B4-542823C9465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27669993"/>
              </p:ext>
            </p:extLst>
          </p:nvPr>
        </p:nvGraphicFramePr>
        <p:xfrm>
          <a:off x="7570985" y="3628005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74D69EE7-3CDE-93A6-B3B4-542823C9465B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5" y="3628005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AD4BA560-AED4-76C6-5378-98D8DB0F22A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613929"/>
              </p:ext>
            </p:extLst>
          </p:nvPr>
        </p:nvGraphicFramePr>
        <p:xfrm>
          <a:off x="7583435" y="4001027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AD4BA560-AED4-76C6-5378-98D8DB0F22A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83435" y="4001027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70983" y="3149077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70983" y="3519376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7505" y="3899716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9" name="Object 18">
            <a:extLst>
              <a:ext uri="{FF2B5EF4-FFF2-40B4-BE49-F238E27FC236}">
                <a16:creationId xmlns:a16="http://schemas.microsoft.com/office/drawing/2014/main" id="{58BBF1A1-B48A-46EB-6D82-C2A20E180E8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79251553"/>
              </p:ext>
            </p:extLst>
          </p:nvPr>
        </p:nvGraphicFramePr>
        <p:xfrm>
          <a:off x="7148744" y="5030577"/>
          <a:ext cx="1949323" cy="123959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9" name="Object 18">
                    <a:extLst>
                      <a:ext uri="{FF2B5EF4-FFF2-40B4-BE49-F238E27FC236}">
                        <a16:creationId xmlns:a16="http://schemas.microsoft.com/office/drawing/2014/main" id="{58BBF1A1-B48A-46EB-6D82-C2A20E180E8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148744" y="5030577"/>
                    <a:ext cx="1949323" cy="123959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31FCF786-B515-ED7E-A373-7489550A9A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7066035"/>
              </p:ext>
            </p:extLst>
          </p:nvPr>
        </p:nvGraphicFramePr>
        <p:xfrm>
          <a:off x="7570984" y="5367055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20" name="Object 19">
                    <a:extLst>
                      <a:ext uri="{FF2B5EF4-FFF2-40B4-BE49-F238E27FC236}">
                        <a16:creationId xmlns:a16="http://schemas.microsoft.com/office/drawing/2014/main" id="{31FCF786-B515-ED7E-A373-7489550A9A76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4" y="5367055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" name="Object 20">
            <a:extLst>
              <a:ext uri="{FF2B5EF4-FFF2-40B4-BE49-F238E27FC236}">
                <a16:creationId xmlns:a16="http://schemas.microsoft.com/office/drawing/2014/main" id="{29138215-D5C3-A1FF-995C-CB847B285E6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7395981"/>
              </p:ext>
            </p:extLst>
          </p:nvPr>
        </p:nvGraphicFramePr>
        <p:xfrm>
          <a:off x="7570985" y="5744672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21" name="Object 20">
                    <a:extLst>
                      <a:ext uri="{FF2B5EF4-FFF2-40B4-BE49-F238E27FC236}">
                        <a16:creationId xmlns:a16="http://schemas.microsoft.com/office/drawing/2014/main" id="{29138215-D5C3-A1FF-995C-CB847B285E6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0985" y="5744672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7570983" y="5265744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0983" y="5636043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4" name="Object 23">
            <a:extLst>
              <a:ext uri="{FF2B5EF4-FFF2-40B4-BE49-F238E27FC236}">
                <a16:creationId xmlns:a16="http://schemas.microsoft.com/office/drawing/2014/main" id="{B6067A81-5CB9-0204-B8DC-A6EC4459674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65601078"/>
              </p:ext>
            </p:extLst>
          </p:nvPr>
        </p:nvGraphicFramePr>
        <p:xfrm>
          <a:off x="7583435" y="4360332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24" name="Object 23">
                    <a:extLst>
                      <a:ext uri="{FF2B5EF4-FFF2-40B4-BE49-F238E27FC236}">
                        <a16:creationId xmlns:a16="http://schemas.microsoft.com/office/drawing/2014/main" id="{B6067A81-5CB9-0204-B8DC-A6EC4459674C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83435" y="4360332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7577505" y="4259021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6" name="Object 25">
            <a:extLst>
              <a:ext uri="{FF2B5EF4-FFF2-40B4-BE49-F238E27FC236}">
                <a16:creationId xmlns:a16="http://schemas.microsoft.com/office/drawing/2014/main" id="{40F3F041-F83A-AC1A-6B6F-F1DB7BB21D7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8115019"/>
              </p:ext>
            </p:extLst>
          </p:nvPr>
        </p:nvGraphicFramePr>
        <p:xfrm>
          <a:off x="3395824" y="1988904"/>
          <a:ext cx="1020127" cy="81319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26" name="Object 25">
                    <a:extLst>
                      <a:ext uri="{FF2B5EF4-FFF2-40B4-BE49-F238E27FC236}">
                        <a16:creationId xmlns:a16="http://schemas.microsoft.com/office/drawing/2014/main" id="{40F3F041-F83A-AC1A-6B6F-F1DB7BB21D7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395824" y="1988904"/>
                    <a:ext cx="1020127" cy="81319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cxnSp>
        <p:nvCxnSpPr>
          <p:cNvPr id="30" name="Straight Arrow Connector 29"/>
          <p:cNvCxnSpPr/>
          <p:nvPr/>
        </p:nvCxnSpPr>
        <p:spPr>
          <a:xfrm flipV="1">
            <a:off x="4342304" y="1460184"/>
            <a:ext cx="2768177" cy="1036847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29922" y="2059129"/>
            <a:ext cx="937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Id</a:t>
            </a:r>
          </a:p>
          <a:p>
            <a:r>
              <a:rPr lang="fr-FR"/>
              <a:t>location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4" name="Object 33">
            <a:extLst>
              <a:ext uri="{FF2B5EF4-FFF2-40B4-BE49-F238E27FC236}">
                <a16:creationId xmlns:a16="http://schemas.microsoft.com/office/drawing/2014/main" id="{31A680C9-258E-07B9-474E-B85484F77B8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3725312"/>
              </p:ext>
            </p:extLst>
          </p:nvPr>
        </p:nvGraphicFramePr>
        <p:xfrm>
          <a:off x="3395824" y="3472875"/>
          <a:ext cx="1020127" cy="81319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34" name="Object 33">
                    <a:extLst>
                      <a:ext uri="{FF2B5EF4-FFF2-40B4-BE49-F238E27FC236}">
                        <a16:creationId xmlns:a16="http://schemas.microsoft.com/office/drawing/2014/main" id="{31A680C9-258E-07B9-474E-B85484F77B89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395824" y="3472875"/>
                    <a:ext cx="1020127" cy="81319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3429922" y="3543100"/>
            <a:ext cx="937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Id</a:t>
            </a:r>
          </a:p>
          <a:p>
            <a:r>
              <a:rPr lang="fr-FR"/>
              <a:t>location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" name="Object 35">
            <a:extLst>
              <a:ext uri="{FF2B5EF4-FFF2-40B4-BE49-F238E27FC236}">
                <a16:creationId xmlns:a16="http://schemas.microsoft.com/office/drawing/2014/main" id="{6FA845B1-6D1D-D8B7-FBDB-BC85AA5FFF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0932203"/>
              </p:ext>
            </p:extLst>
          </p:nvPr>
        </p:nvGraphicFramePr>
        <p:xfrm>
          <a:off x="3395824" y="5030577"/>
          <a:ext cx="1020127" cy="81319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36" name="Object 35">
                    <a:extLst>
                      <a:ext uri="{FF2B5EF4-FFF2-40B4-BE49-F238E27FC236}">
                        <a16:creationId xmlns:a16="http://schemas.microsoft.com/office/drawing/2014/main" id="{6FA845B1-6D1D-D8B7-FBDB-BC85AA5FFF4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395824" y="5030577"/>
                    <a:ext cx="1020127" cy="81319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3429922" y="5100802"/>
            <a:ext cx="937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Id</a:t>
            </a:r>
          </a:p>
          <a:p>
            <a:r>
              <a:rPr lang="fr-FR"/>
              <a:t>location</a:t>
            </a:r>
          </a:p>
        </p:txBody>
      </p:sp>
      <p:cxnSp>
        <p:nvCxnSpPr>
          <p:cNvPr id="39" name="Straight Arrow Connector 38"/>
          <p:cNvCxnSpPr/>
          <p:nvPr/>
        </p:nvCxnSpPr>
        <p:spPr>
          <a:xfrm>
            <a:off x="4303276" y="4014023"/>
            <a:ext cx="2768432" cy="990136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V="1">
            <a:off x="4303149" y="3034823"/>
            <a:ext cx="2768432" cy="2525241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352926" y="6334432"/>
            <a:ext cx="33344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1 </a:t>
            </a:r>
            <a:r>
              <a:rPr lang="fr-FR" sz="2400"/>
              <a:t>Dataset</a:t>
            </a:r>
            <a:r>
              <a:rPr lang="fr-FR" sz="2400"/>
              <a:t> on </a:t>
            </a:r>
            <a:r>
              <a:rPr lang="fr-FR" sz="2400"/>
              <a:t>spark</a:t>
            </a:r>
            <a:r>
              <a:rPr lang="fr-FR" sz="2400"/>
              <a:t>-driver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21920" y="6329849"/>
            <a:ext cx="53237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N x Partitions (blocks) on </a:t>
            </a:r>
            <a:r>
              <a:rPr lang="fr-FR" sz="2400"/>
              <a:t>spark-executors</a:t>
            </a:r>
            <a:endParaRPr lang="fr-FR" sz="2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: Rounded Corners 81"/>
          <p:cNvSpPr/>
          <p:nvPr/>
        </p:nvSpPr>
        <p:spPr>
          <a:xfrm>
            <a:off x="1843314" y="3401968"/>
            <a:ext cx="1328856" cy="1124716"/>
          </a:xfrm>
          <a:prstGeom prst="round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3" name="Object 52">
            <a:extLst>
              <a:ext uri="{FF2B5EF4-FFF2-40B4-BE49-F238E27FC236}">
                <a16:creationId xmlns:a16="http://schemas.microsoft.com/office/drawing/2014/main" id="{7FACAF7F-CDB0-8476-5729-C79DD569D7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0936068"/>
              </p:ext>
            </p:extLst>
          </p:nvPr>
        </p:nvGraphicFramePr>
        <p:xfrm>
          <a:off x="8594894" y="484473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53" name="Object 52">
                    <a:extLst>
                      <a:ext uri="{FF2B5EF4-FFF2-40B4-BE49-F238E27FC236}">
                        <a16:creationId xmlns:a16="http://schemas.microsoft.com/office/drawing/2014/main" id="{7FACAF7F-CDB0-8476-5729-C79DD569D75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594894" y="484473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8234739" y="4657406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17" name="Rectangle: Rounded Corners 16"/>
          <p:cNvSpPr/>
          <p:nvPr/>
        </p:nvSpPr>
        <p:spPr>
          <a:xfrm>
            <a:off x="5183631" y="1548914"/>
            <a:ext cx="4088124" cy="2179512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618D1D52-382A-AB7D-7B85-A3F744FD19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1835304"/>
              </p:ext>
            </p:extLst>
          </p:nvPr>
        </p:nvGraphicFramePr>
        <p:xfrm>
          <a:off x="5532285" y="1848932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618D1D52-382A-AB7D-7B85-A3F744FD1946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5532285" y="1848932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CE733F5F-8ADB-E35C-D901-1C0DF82F84B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0934537"/>
              </p:ext>
            </p:extLst>
          </p:nvPr>
        </p:nvGraphicFramePr>
        <p:xfrm>
          <a:off x="5954525" y="212573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CE733F5F-8ADB-E35C-D901-1C0DF82F84B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954525" y="212573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68D3D9FE-338A-2563-5947-C3CBF072BB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8466480"/>
              </p:ext>
            </p:extLst>
          </p:nvPr>
        </p:nvGraphicFramePr>
        <p:xfrm>
          <a:off x="5954526" y="2503350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68D3D9FE-338A-2563-5947-C3CBF072BB69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954526" y="2503350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42086054-8FFB-0341-50AC-459FFBB786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65656"/>
              </p:ext>
            </p:extLst>
          </p:nvPr>
        </p:nvGraphicFramePr>
        <p:xfrm>
          <a:off x="5966976" y="2876372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42086054-8FFB-0341-50AC-459FFBB7869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966976" y="2876372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54524" y="2024422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4524" y="2394721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1046" y="2775061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26" name="Rectangle: Rounded Corners 25"/>
          <p:cNvSpPr/>
          <p:nvPr/>
        </p:nvSpPr>
        <p:spPr>
          <a:xfrm>
            <a:off x="5735002" y="2946102"/>
            <a:ext cx="4414696" cy="2230415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88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… Partitions Distributed on </a:t>
            </a:r>
            <a:r>
              <a:rPr lang="fr-FR"/>
              <a:t>Executors</a:t>
            </a:r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503875" y="2652978"/>
            <a:ext cx="34971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1 </a:t>
            </a:r>
            <a:r>
              <a:rPr lang="fr-FR" sz="2400"/>
              <a:t>Dataset</a:t>
            </a:r>
            <a:r>
              <a:rPr lang="fr-FR" sz="2400"/>
              <a:t>&lt;Row&gt;</a:t>
            </a:r>
          </a:p>
          <a:p>
            <a:r>
              <a:rPr lang="fr-FR" sz="2400"/>
              <a:t> = N « </a:t>
            </a:r>
            <a:r>
              <a:rPr lang="fr-FR" sz="2400"/>
              <a:t>views</a:t>
            </a:r>
            <a:r>
              <a:rPr lang="fr-FR" sz="2400"/>
              <a:t> » of partitions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31B907C6-B561-EF5F-DD2C-48F6E11314A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32244808"/>
              </p:ext>
            </p:extLst>
          </p:nvPr>
        </p:nvGraphicFramePr>
        <p:xfrm>
          <a:off x="2043570" y="3482228"/>
          <a:ext cx="454617" cy="36957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31B907C6-B561-EF5F-DD2C-48F6E11314A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043570" y="3482228"/>
                    <a:ext cx="454617" cy="36957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83547D6F-C039-B6C6-F11B-5C1F99DE282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1344592"/>
              </p:ext>
            </p:extLst>
          </p:nvPr>
        </p:nvGraphicFramePr>
        <p:xfrm>
          <a:off x="2124206" y="3617994"/>
          <a:ext cx="454617" cy="36957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83547D6F-C039-B6C6-F11B-5C1F99DE282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124206" y="3617994"/>
                    <a:ext cx="454617" cy="36957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1B060260-0D35-5267-7361-9520BE168F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3631217"/>
              </p:ext>
            </p:extLst>
          </p:nvPr>
        </p:nvGraphicFramePr>
        <p:xfrm>
          <a:off x="2212130" y="3753760"/>
          <a:ext cx="454617" cy="36957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1B060260-0D35-5267-7361-9520BE168FF9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212130" y="3753760"/>
                    <a:ext cx="454617" cy="36957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8" name="Rectangle: Rounded Corners 17"/>
          <p:cNvSpPr/>
          <p:nvPr/>
        </p:nvSpPr>
        <p:spPr>
          <a:xfrm>
            <a:off x="538500" y="2122639"/>
            <a:ext cx="3423566" cy="2588381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9" name="Object 18">
            <a:extLst>
              <a:ext uri="{FF2B5EF4-FFF2-40B4-BE49-F238E27FC236}">
                <a16:creationId xmlns:a16="http://schemas.microsoft.com/office/drawing/2014/main" id="{1D34C3CE-A34D-949A-1858-1CD2564152F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6485276"/>
              </p:ext>
            </p:extLst>
          </p:nvPr>
        </p:nvGraphicFramePr>
        <p:xfrm>
          <a:off x="6528265" y="328435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19" name="Object 18">
                    <a:extLst>
                      <a:ext uri="{FF2B5EF4-FFF2-40B4-BE49-F238E27FC236}">
                        <a16:creationId xmlns:a16="http://schemas.microsoft.com/office/drawing/2014/main" id="{1D34C3CE-A34D-949A-1858-1CD2564152F7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6528265" y="328435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" name="Object 15">
            <a:extLst>
              <a:ext uri="{FF2B5EF4-FFF2-40B4-BE49-F238E27FC236}">
                <a16:creationId xmlns:a16="http://schemas.microsoft.com/office/drawing/2014/main" id="{23C32983-F49A-1753-9F89-E8BE444A3D2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422678"/>
              </p:ext>
            </p:extLst>
          </p:nvPr>
        </p:nvGraphicFramePr>
        <p:xfrm>
          <a:off x="2304059" y="3883601"/>
          <a:ext cx="454617" cy="36957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16" name="Object 15">
                    <a:extLst>
                      <a:ext uri="{FF2B5EF4-FFF2-40B4-BE49-F238E27FC236}">
                        <a16:creationId xmlns:a16="http://schemas.microsoft.com/office/drawing/2014/main" id="{23C32983-F49A-1753-9F89-E8BE444A3D27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304059" y="3883601"/>
                    <a:ext cx="454617" cy="36957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D315339E-DC9A-44D5-7F96-E2A698A0C36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1528312"/>
              </p:ext>
            </p:extLst>
          </p:nvPr>
        </p:nvGraphicFramePr>
        <p:xfrm>
          <a:off x="6950505" y="3561155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20" name="Object 19">
                    <a:extLst>
                      <a:ext uri="{FF2B5EF4-FFF2-40B4-BE49-F238E27FC236}">
                        <a16:creationId xmlns:a16="http://schemas.microsoft.com/office/drawing/2014/main" id="{D315339E-DC9A-44D5-7F96-E2A698A0C36C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950505" y="3561155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" name="Object 20">
            <a:extLst>
              <a:ext uri="{FF2B5EF4-FFF2-40B4-BE49-F238E27FC236}">
                <a16:creationId xmlns:a16="http://schemas.microsoft.com/office/drawing/2014/main" id="{5BA6553D-9967-F524-29AB-75EE041429F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062387"/>
              </p:ext>
            </p:extLst>
          </p:nvPr>
        </p:nvGraphicFramePr>
        <p:xfrm>
          <a:off x="6950506" y="3938772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21" name="Object 20">
                    <a:extLst>
                      <a:ext uri="{FF2B5EF4-FFF2-40B4-BE49-F238E27FC236}">
                        <a16:creationId xmlns:a16="http://schemas.microsoft.com/office/drawing/2014/main" id="{5BA6553D-9967-F524-29AB-75EE041429F6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950506" y="3938772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2" name="Object 21">
            <a:extLst>
              <a:ext uri="{FF2B5EF4-FFF2-40B4-BE49-F238E27FC236}">
                <a16:creationId xmlns:a16="http://schemas.microsoft.com/office/drawing/2014/main" id="{A77D43BD-AAD0-55C3-FF63-44E345C1641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55692663"/>
              </p:ext>
            </p:extLst>
          </p:nvPr>
        </p:nvGraphicFramePr>
        <p:xfrm>
          <a:off x="6962956" y="4311794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22" name="Object 21">
                    <a:extLst>
                      <a:ext uri="{FF2B5EF4-FFF2-40B4-BE49-F238E27FC236}">
                        <a16:creationId xmlns:a16="http://schemas.microsoft.com/office/drawing/2014/main" id="{A77D43BD-AAD0-55C3-FF63-44E345C16419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962956" y="4311794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950504" y="3459844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0504" y="3830143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7026" y="4210483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cxnSp>
        <p:nvCxnSpPr>
          <p:cNvPr id="37" name="Straight Connector 36"/>
          <p:cNvCxnSpPr>
            <a:endCxn id="19" idx="1"/>
          </p:cNvCxnSpPr>
          <p:nvPr/>
        </p:nvCxnSpPr>
        <p:spPr>
          <a:xfrm>
            <a:off x="2515207" y="3553760"/>
            <a:ext cx="4013058" cy="5075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endCxn id="4" idx="1"/>
          </p:cNvCxnSpPr>
          <p:nvPr/>
        </p:nvCxnSpPr>
        <p:spPr>
          <a:xfrm flipV="1">
            <a:off x="2808792" y="2625888"/>
            <a:ext cx="2723493" cy="134805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2683767" y="3821417"/>
            <a:ext cx="4925512" cy="36973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0" name="Object 49">
            <a:extLst>
              <a:ext uri="{FF2B5EF4-FFF2-40B4-BE49-F238E27FC236}">
                <a16:creationId xmlns:a16="http://schemas.microsoft.com/office/drawing/2014/main" id="{4FC1D01B-17E7-13ED-9A34-50652A9C57A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5606785"/>
              </p:ext>
            </p:extLst>
          </p:nvPr>
        </p:nvGraphicFramePr>
        <p:xfrm>
          <a:off x="8018356" y="3611563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50" name="Object 49">
                    <a:extLst>
                      <a:ext uri="{FF2B5EF4-FFF2-40B4-BE49-F238E27FC236}">
                        <a16:creationId xmlns:a16="http://schemas.microsoft.com/office/drawing/2014/main" id="{4FC1D01B-17E7-13ED-9A34-50652A9C57A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018356" y="3611563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1" name="Object 50">
            <a:extLst>
              <a:ext uri="{FF2B5EF4-FFF2-40B4-BE49-F238E27FC236}">
                <a16:creationId xmlns:a16="http://schemas.microsoft.com/office/drawing/2014/main" id="{99F33456-B873-7478-6432-50DE9D69884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88563923"/>
              </p:ext>
            </p:extLst>
          </p:nvPr>
        </p:nvGraphicFramePr>
        <p:xfrm>
          <a:off x="8440596" y="3888364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51" name="Object 50">
                    <a:extLst>
                      <a:ext uri="{FF2B5EF4-FFF2-40B4-BE49-F238E27FC236}">
                        <a16:creationId xmlns:a16="http://schemas.microsoft.com/office/drawing/2014/main" id="{99F33456-B873-7478-6432-50DE9D69884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440596" y="3888364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440595" y="3787053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2" name="Object 51">
            <a:extLst>
              <a:ext uri="{FF2B5EF4-FFF2-40B4-BE49-F238E27FC236}">
                <a16:creationId xmlns:a16="http://schemas.microsoft.com/office/drawing/2014/main" id="{24426769-F2B3-E296-139D-6149627EACA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5812701"/>
              </p:ext>
            </p:extLst>
          </p:nvPr>
        </p:nvGraphicFramePr>
        <p:xfrm>
          <a:off x="8563820" y="425488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52" name="Object 51">
                    <a:extLst>
                      <a:ext uri="{FF2B5EF4-FFF2-40B4-BE49-F238E27FC236}">
                        <a16:creationId xmlns:a16="http://schemas.microsoft.com/office/drawing/2014/main" id="{24426769-F2B3-E296-139D-6149627EACAC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563820" y="425488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8563818" y="4146254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27" name="Rectangle: Rounded Corners 26"/>
          <p:cNvSpPr/>
          <p:nvPr/>
        </p:nvSpPr>
        <p:spPr>
          <a:xfrm>
            <a:off x="7256934" y="4272269"/>
            <a:ext cx="4414696" cy="2230415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8" name="Object 27">
            <a:extLst>
              <a:ext uri="{FF2B5EF4-FFF2-40B4-BE49-F238E27FC236}">
                <a16:creationId xmlns:a16="http://schemas.microsoft.com/office/drawing/2014/main" id="{5A2ACB0F-D19B-8863-C81B-6AA21E7733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762594"/>
              </p:ext>
            </p:extLst>
          </p:nvPr>
        </p:nvGraphicFramePr>
        <p:xfrm>
          <a:off x="8073534" y="4594249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28" name="Object 27">
                    <a:extLst>
                      <a:ext uri="{FF2B5EF4-FFF2-40B4-BE49-F238E27FC236}">
                        <a16:creationId xmlns:a16="http://schemas.microsoft.com/office/drawing/2014/main" id="{5A2ACB0F-D19B-8863-C81B-6AA21E77337B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073534" y="4594249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9" name="Object 28">
            <a:extLst>
              <a:ext uri="{FF2B5EF4-FFF2-40B4-BE49-F238E27FC236}">
                <a16:creationId xmlns:a16="http://schemas.microsoft.com/office/drawing/2014/main" id="{7D37898F-AD76-96CE-ED45-463B2567DE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413844"/>
              </p:ext>
            </p:extLst>
          </p:nvPr>
        </p:nvGraphicFramePr>
        <p:xfrm>
          <a:off x="8495774" y="4871050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29" name="Object 28">
                    <a:extLst>
                      <a:ext uri="{FF2B5EF4-FFF2-40B4-BE49-F238E27FC236}">
                        <a16:creationId xmlns:a16="http://schemas.microsoft.com/office/drawing/2014/main" id="{7D37898F-AD76-96CE-ED45-463B2567DEF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495774" y="4871050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0" name="Object 29">
            <a:extLst>
              <a:ext uri="{FF2B5EF4-FFF2-40B4-BE49-F238E27FC236}">
                <a16:creationId xmlns:a16="http://schemas.microsoft.com/office/drawing/2014/main" id="{181CA6E5-9E25-20DE-241F-F4DAB7E1E2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717038"/>
              </p:ext>
            </p:extLst>
          </p:nvPr>
        </p:nvGraphicFramePr>
        <p:xfrm>
          <a:off x="8495775" y="5248667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30" name="Object 29">
                    <a:extLst>
                      <a:ext uri="{FF2B5EF4-FFF2-40B4-BE49-F238E27FC236}">
                        <a16:creationId xmlns:a16="http://schemas.microsoft.com/office/drawing/2014/main" id="{181CA6E5-9E25-20DE-241F-F4DAB7E1E20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495775" y="5248667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1" name="Object 30">
            <a:extLst>
              <a:ext uri="{FF2B5EF4-FFF2-40B4-BE49-F238E27FC236}">
                <a16:creationId xmlns:a16="http://schemas.microsoft.com/office/drawing/2014/main" id="{E8FFD29B-3E8F-4C0C-189F-11450A4D07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1104797"/>
              </p:ext>
            </p:extLst>
          </p:nvPr>
        </p:nvGraphicFramePr>
        <p:xfrm>
          <a:off x="8508225" y="5621689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31" name="Object 30">
                    <a:extLst>
                      <a:ext uri="{FF2B5EF4-FFF2-40B4-BE49-F238E27FC236}">
                        <a16:creationId xmlns:a16="http://schemas.microsoft.com/office/drawing/2014/main" id="{E8FFD29B-3E8F-4C0C-189F-11450A4D0776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508225" y="5621689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8488186" y="4785796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95773" y="5140038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2295" y="5520378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7" name="Object 56">
            <a:extLst>
              <a:ext uri="{FF2B5EF4-FFF2-40B4-BE49-F238E27FC236}">
                <a16:creationId xmlns:a16="http://schemas.microsoft.com/office/drawing/2014/main" id="{B58B98CC-989A-83F6-8689-51973FA119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02671318"/>
              </p:ext>
            </p:extLst>
          </p:nvPr>
        </p:nvGraphicFramePr>
        <p:xfrm>
          <a:off x="2456459" y="4036001"/>
          <a:ext cx="454617" cy="36957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57" name="Object 56">
                    <a:extLst>
                      <a:ext uri="{FF2B5EF4-FFF2-40B4-BE49-F238E27FC236}">
                        <a16:creationId xmlns:a16="http://schemas.microsoft.com/office/drawing/2014/main" id="{B58B98CC-989A-83F6-8689-51973FA1194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456459" y="4036001"/>
                    <a:ext cx="454617" cy="36957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cxnSp>
        <p:nvCxnSpPr>
          <p:cNvPr id="41" name="Straight Connector 40"/>
          <p:cNvCxnSpPr/>
          <p:nvPr/>
        </p:nvCxnSpPr>
        <p:spPr>
          <a:xfrm>
            <a:off x="2911076" y="4188366"/>
            <a:ext cx="5116097" cy="102590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2657252" y="3738619"/>
            <a:ext cx="6947364" cy="166091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3" name="Object 72">
            <a:extLst>
              <a:ext uri="{FF2B5EF4-FFF2-40B4-BE49-F238E27FC236}">
                <a16:creationId xmlns:a16="http://schemas.microsoft.com/office/drawing/2014/main" id="{F04909ED-49EF-C937-5135-F9F69F55B8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0588963"/>
              </p:ext>
            </p:extLst>
          </p:nvPr>
        </p:nvGraphicFramePr>
        <p:xfrm>
          <a:off x="9635691" y="4839403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73" name="Object 72">
                    <a:extLst>
                      <a:ext uri="{FF2B5EF4-FFF2-40B4-BE49-F238E27FC236}">
                        <a16:creationId xmlns:a16="http://schemas.microsoft.com/office/drawing/2014/main" id="{F04909ED-49EF-C937-5135-F9F69F55B8A3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9635691" y="4839403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4" name="Object 73">
            <a:extLst>
              <a:ext uri="{FF2B5EF4-FFF2-40B4-BE49-F238E27FC236}">
                <a16:creationId xmlns:a16="http://schemas.microsoft.com/office/drawing/2014/main" id="{91639543-E5AC-7B8D-AF51-2A5EB1FC648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8301239"/>
              </p:ext>
            </p:extLst>
          </p:nvPr>
        </p:nvGraphicFramePr>
        <p:xfrm>
          <a:off x="10057931" y="5116204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74" name="Object 73">
                    <a:extLst>
                      <a:ext uri="{FF2B5EF4-FFF2-40B4-BE49-F238E27FC236}">
                        <a16:creationId xmlns:a16="http://schemas.microsoft.com/office/drawing/2014/main" id="{91639543-E5AC-7B8D-AF51-2A5EB1FC6485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0057931" y="5116204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5" name="Object 74">
            <a:extLst>
              <a:ext uri="{FF2B5EF4-FFF2-40B4-BE49-F238E27FC236}">
                <a16:creationId xmlns:a16="http://schemas.microsoft.com/office/drawing/2014/main" id="{C0AE02E3-04D0-2C20-A241-B16000A107C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6132724"/>
              </p:ext>
            </p:extLst>
          </p:nvPr>
        </p:nvGraphicFramePr>
        <p:xfrm>
          <a:off x="10057932" y="5493821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75" name="Object 74">
                    <a:extLst>
                      <a:ext uri="{FF2B5EF4-FFF2-40B4-BE49-F238E27FC236}">
                        <a16:creationId xmlns:a16="http://schemas.microsoft.com/office/drawing/2014/main" id="{C0AE02E3-04D0-2C20-A241-B16000A107CE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0057932" y="5493821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" name="Object 75">
            <a:extLst>
              <a:ext uri="{FF2B5EF4-FFF2-40B4-BE49-F238E27FC236}">
                <a16:creationId xmlns:a16="http://schemas.microsoft.com/office/drawing/2014/main" id="{15FBA3C3-0A26-A40C-9A50-4DA7519F8AF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0902765"/>
              </p:ext>
            </p:extLst>
          </p:nvPr>
        </p:nvGraphicFramePr>
        <p:xfrm>
          <a:off x="10070382" y="586684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76" name="Object 75">
                    <a:extLst>
                      <a:ext uri="{FF2B5EF4-FFF2-40B4-BE49-F238E27FC236}">
                        <a16:creationId xmlns:a16="http://schemas.microsoft.com/office/drawing/2014/main" id="{15FBA3C3-0A26-A40C-9A50-4DA7519F8AFE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0070382" y="586684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10057930" y="5014893"/>
            <a:ext cx="933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57930" y="5385192"/>
            <a:ext cx="884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64452" y="5765532"/>
            <a:ext cx="652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9426" y="2076857"/>
            <a:ext cx="2780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Driver</a:t>
            </a:r>
            <a:r>
              <a:rPr lang="fr-FR" sz="2400"/>
              <a:t> (JVM process)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73309" y="1436928"/>
            <a:ext cx="33304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Executor</a:t>
            </a:r>
            <a:r>
              <a:rPr lang="fr-FR" sz="2400" b="1"/>
              <a:t> 1</a:t>
            </a:r>
            <a:r>
              <a:rPr lang="fr-FR" sz="2400"/>
              <a:t> (JVM process)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63532" y="2861047"/>
            <a:ext cx="33304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Executor</a:t>
            </a:r>
            <a:r>
              <a:rPr lang="fr-FR" sz="2400" b="1"/>
              <a:t> 2</a:t>
            </a:r>
            <a:r>
              <a:rPr lang="fr-FR" sz="2400"/>
              <a:t> (JVM process)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82499" y="4189616"/>
            <a:ext cx="33304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Executor</a:t>
            </a:r>
            <a:r>
              <a:rPr lang="fr-FR" sz="2400" b="1"/>
              <a:t> 3</a:t>
            </a:r>
            <a:r>
              <a:rPr lang="fr-FR" sz="2400"/>
              <a:t> (JVM process)</a:t>
            </a:r>
          </a:p>
        </p:txBody>
      </p:sp>
      <p:sp>
        <p:nvSpPr>
          <p:cNvPr id="89" name="Arrow: Right 88"/>
          <p:cNvSpPr/>
          <p:nvPr/>
        </p:nvSpPr>
        <p:spPr>
          <a:xfrm rot="16200000">
            <a:off x="2254081" y="4799222"/>
            <a:ext cx="461638" cy="3447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0" name="TextBox 89"/>
          <p:cNvSpPr txBox="1"/>
          <p:nvPr/>
        </p:nvSpPr>
        <p:spPr>
          <a:xfrm>
            <a:off x="1139720" y="5349716"/>
            <a:ext cx="33820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NO data </a:t>
            </a:r>
            <a:r>
              <a:rPr lang="fr-FR"/>
              <a:t>here</a:t>
            </a:r>
            <a:endParaRPr lang="fr-FR"/>
          </a:p>
          <a:p>
            <a:r>
              <a:rPr lang="fr-FR"/>
              <a:t>Only</a:t>
            </a:r>
            <a:r>
              <a:rPr lang="fr-FR"/>
              <a:t> « location » info of partitions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831286" cy="1197419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dataset</a:t>
            </a:r>
            <a:r>
              <a:rPr lang="fr-FR"/>
              <a:t> = </a:t>
            </a:r>
            <a:r>
              <a:rPr lang="fr-FR"/>
              <a:t>Spark.createDataset</a:t>
            </a:r>
            <a:r>
              <a:rPr lang="fr-FR"/>
              <a:t>( </a:t>
            </a:r>
            <a:r>
              <a:rPr lang="fr-FR"/>
              <a:t>inmemoryList</a:t>
            </a:r>
            <a:r>
              <a:rPr lang="fr-FR"/>
              <a:t> ) </a:t>
            </a:r>
            <a:br>
              <a:rPr lang="fr-FR"/>
            </a:br>
            <a:r>
              <a:rPr lang="fr-FR"/>
              <a:t>… </a:t>
            </a:r>
            <a:r>
              <a:rPr lang="fr-FR"/>
              <a:t>serialize</a:t>
            </a:r>
            <a:r>
              <a:rPr lang="fr-FR"/>
              <a:t> (</a:t>
            </a:r>
            <a:r>
              <a:rPr lang="fr-FR"/>
              <a:t>send</a:t>
            </a:r>
            <a:r>
              <a:rPr lang="fr-FR"/>
              <a:t>) data to </a:t>
            </a:r>
            <a:r>
              <a:rPr lang="fr-FR"/>
              <a:t>Executors</a:t>
            </a:r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50B11707-EE9E-9690-5D99-B83215227E2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76997" y="2338831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50B11707-EE9E-9690-5D99-B83215227E2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576997" y="2338831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90027" y="2272967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Object[0]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B6466896-3653-3A8C-5AA0-AE75238E5D4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67396" y="2761229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B6466896-3653-3A8C-5AA0-AE75238E5D45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567396" y="2761229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80426" y="2695365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Object[1]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E90211D4-69A8-E8E3-09F4-C3A2E66FC71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76997" y="3168490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E90211D4-69A8-E8E3-09F4-C3A2E66FC71C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576997" y="3168490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90027" y="3102626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Object[2]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" name="Object 9">
            <a:extLst>
              <a:ext uri="{FF2B5EF4-FFF2-40B4-BE49-F238E27FC236}">
                <a16:creationId xmlns:a16="http://schemas.microsoft.com/office/drawing/2014/main" id="{450A8461-2D77-F776-BC90-195F6DA0DA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74114" y="3585957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10" name="Object 9">
                    <a:extLst>
                      <a:ext uri="{FF2B5EF4-FFF2-40B4-BE49-F238E27FC236}">
                        <a16:creationId xmlns:a16="http://schemas.microsoft.com/office/drawing/2014/main" id="{450A8461-2D77-F776-BC90-195F6DA0DAFE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574114" y="3585957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87144" y="3520093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Object[3]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5FB99EB3-4EB5-4B09-FECF-1E43F44DADA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74114" y="4225796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5FB99EB3-4EB5-4B09-FECF-1E43F44DADA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574114" y="4225796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687144" y="4159932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Object[N]</a:t>
            </a:r>
          </a:p>
        </p:txBody>
      </p:sp>
      <p:sp>
        <p:nvSpPr>
          <p:cNvPr id="16" name="Rectangle: Rounded Corners 15"/>
          <p:cNvSpPr/>
          <p:nvPr/>
        </p:nvSpPr>
        <p:spPr>
          <a:xfrm>
            <a:off x="667666" y="1964293"/>
            <a:ext cx="4233333" cy="409061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Left Brace 16"/>
          <p:cNvSpPr/>
          <p:nvPr/>
        </p:nvSpPr>
        <p:spPr>
          <a:xfrm>
            <a:off x="1858809" y="2049722"/>
            <a:ext cx="188094" cy="2679542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/>
          <p:cNvSpPr txBox="1"/>
          <p:nvPr/>
        </p:nvSpPr>
        <p:spPr>
          <a:xfrm>
            <a:off x="749914" y="3038107"/>
            <a:ext cx="12790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Before</a:t>
            </a:r>
            <a:r>
              <a:rPr lang="fr-FR"/>
              <a:t> :</a:t>
            </a:r>
          </a:p>
          <a:p>
            <a:r>
              <a:rPr lang="fr-FR"/>
              <a:t>In-memory </a:t>
            </a:r>
          </a:p>
          <a:p>
            <a:r>
              <a:rPr lang="fr-FR"/>
              <a:t>objects</a:t>
            </a:r>
            <a:endParaRPr lang="fr-FR"/>
          </a:p>
          <a:p>
            <a:r>
              <a:rPr lang="fr-FR"/>
              <a:t>On Driver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9" name="Object 18">
            <a:extLst>
              <a:ext uri="{FF2B5EF4-FFF2-40B4-BE49-F238E27FC236}">
                <a16:creationId xmlns:a16="http://schemas.microsoft.com/office/drawing/2014/main" id="{7EADB4AE-DDDB-A7F4-1A23-9E6E9834CAD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059386" y="2102269"/>
          <a:ext cx="1450745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19" name="Object 18">
                    <a:extLst>
                      <a:ext uri="{FF2B5EF4-FFF2-40B4-BE49-F238E27FC236}">
                        <a16:creationId xmlns:a16="http://schemas.microsoft.com/office/drawing/2014/main" id="{7EADB4AE-DDDB-A7F4-1A23-9E6E9834CAD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059386" y="2102269"/>
                    <a:ext cx="1450745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2172417" y="2036405"/>
            <a:ext cx="1349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List&lt;Object&gt;</a:t>
            </a:r>
          </a:p>
        </p:txBody>
      </p:sp>
      <p:cxnSp>
        <p:nvCxnSpPr>
          <p:cNvPr id="21" name="Straight Connector 20"/>
          <p:cNvCxnSpPr/>
          <p:nvPr/>
        </p:nvCxnSpPr>
        <p:spPr>
          <a:xfrm>
            <a:off x="2994790" y="2480747"/>
            <a:ext cx="515341" cy="9556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2994790" y="2527931"/>
            <a:ext cx="469295" cy="37253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2994790" y="2576312"/>
            <a:ext cx="526714" cy="72571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2994790" y="2642299"/>
            <a:ext cx="526714" cy="111450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2960923" y="2642299"/>
            <a:ext cx="560581" cy="126331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2912542" y="2576312"/>
            <a:ext cx="608962" cy="179009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Arrow: Right 38"/>
          <p:cNvSpPr/>
          <p:nvPr/>
        </p:nvSpPr>
        <p:spPr>
          <a:xfrm rot="20231836">
            <a:off x="5107516" y="2152106"/>
            <a:ext cx="968444" cy="2788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Arrow: Right 39"/>
          <p:cNvSpPr/>
          <p:nvPr/>
        </p:nvSpPr>
        <p:spPr>
          <a:xfrm rot="2484295">
            <a:off x="5106522" y="3074058"/>
            <a:ext cx="968444" cy="2788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Arrow: Right 40"/>
          <p:cNvSpPr/>
          <p:nvPr/>
        </p:nvSpPr>
        <p:spPr>
          <a:xfrm rot="19512590">
            <a:off x="5128337" y="3000305"/>
            <a:ext cx="968444" cy="2788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Arrow: Right 41"/>
          <p:cNvSpPr/>
          <p:nvPr/>
        </p:nvSpPr>
        <p:spPr>
          <a:xfrm rot="423792">
            <a:off x="5193402" y="4399297"/>
            <a:ext cx="968444" cy="2788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Arrow: Right 42"/>
          <p:cNvSpPr/>
          <p:nvPr/>
        </p:nvSpPr>
        <p:spPr>
          <a:xfrm rot="20753104">
            <a:off x="5193400" y="3833115"/>
            <a:ext cx="968444" cy="2788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: Rounded Corners 43"/>
          <p:cNvSpPr/>
          <p:nvPr/>
        </p:nvSpPr>
        <p:spPr>
          <a:xfrm>
            <a:off x="2684049" y="5021270"/>
            <a:ext cx="883347" cy="673712"/>
          </a:xfrm>
          <a:prstGeom prst="round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" name="Object 44">
            <a:extLst>
              <a:ext uri="{FF2B5EF4-FFF2-40B4-BE49-F238E27FC236}">
                <a16:creationId xmlns:a16="http://schemas.microsoft.com/office/drawing/2014/main" id="{B4C3654B-426D-BDF1-3272-8CAAB58368B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77587" y="5107356"/>
          <a:ext cx="454617" cy="36957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45" name="Object 44">
                    <a:extLst>
                      <a:ext uri="{FF2B5EF4-FFF2-40B4-BE49-F238E27FC236}">
                        <a16:creationId xmlns:a16="http://schemas.microsoft.com/office/drawing/2014/main" id="{B4C3654B-426D-BDF1-3272-8CAAB58368B5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877587" y="5107356"/>
                    <a:ext cx="454617" cy="36957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6" name="Object 45">
            <a:extLst>
              <a:ext uri="{FF2B5EF4-FFF2-40B4-BE49-F238E27FC236}">
                <a16:creationId xmlns:a16="http://schemas.microsoft.com/office/drawing/2014/main" id="{E4A0724D-B481-9DF4-6669-8A165B9B067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58223" y="5243122"/>
          <a:ext cx="454617" cy="369572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46" name="Object 45">
                    <a:extLst>
                      <a:ext uri="{FF2B5EF4-FFF2-40B4-BE49-F238E27FC236}">
                        <a16:creationId xmlns:a16="http://schemas.microsoft.com/office/drawing/2014/main" id="{E4A0724D-B481-9DF4-6669-8A165B9B0670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958223" y="5243122"/>
                    <a:ext cx="454617" cy="36957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0" name="Left Brace 49"/>
          <p:cNvSpPr/>
          <p:nvPr/>
        </p:nvSpPr>
        <p:spPr>
          <a:xfrm>
            <a:off x="1840888" y="4925969"/>
            <a:ext cx="218498" cy="1027570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Arrow: Down 50"/>
          <p:cNvSpPr/>
          <p:nvPr/>
        </p:nvSpPr>
        <p:spPr>
          <a:xfrm>
            <a:off x="2664844" y="4689038"/>
            <a:ext cx="981907" cy="2661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TextBox 51"/>
          <p:cNvSpPr txBox="1"/>
          <p:nvPr/>
        </p:nvSpPr>
        <p:spPr>
          <a:xfrm>
            <a:off x="767835" y="4876763"/>
            <a:ext cx="9924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After</a:t>
            </a:r>
            <a:r>
              <a:rPr lang="fr-FR"/>
              <a:t> :</a:t>
            </a:r>
          </a:p>
          <a:p>
            <a:r>
              <a:rPr lang="fr-FR"/>
              <a:t>Partition</a:t>
            </a:r>
          </a:p>
          <a:p>
            <a:r>
              <a:rPr lang="fr-FR"/>
              <a:t> infos</a:t>
            </a:r>
          </a:p>
        </p:txBody>
      </p:sp>
      <p:cxnSp>
        <p:nvCxnSpPr>
          <p:cNvPr id="53" name="Straight Connector 52"/>
          <p:cNvCxnSpPr/>
          <p:nvPr/>
        </p:nvCxnSpPr>
        <p:spPr>
          <a:xfrm flipV="1">
            <a:off x="3362778" y="2612157"/>
            <a:ext cx="4986092" cy="256683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3432992" y="5400515"/>
            <a:ext cx="5035147" cy="3668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/>
          <p:cNvSpPr/>
          <p:nvPr/>
        </p:nvSpPr>
        <p:spPr>
          <a:xfrm>
            <a:off x="7395535" y="1659644"/>
            <a:ext cx="4233333" cy="2199639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Rectangle: Rounded Corners 58"/>
          <p:cNvSpPr/>
          <p:nvPr/>
        </p:nvSpPr>
        <p:spPr>
          <a:xfrm>
            <a:off x="7359926" y="4194776"/>
            <a:ext cx="4233333" cy="2199639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2" name="Object 61">
            <a:extLst>
              <a:ext uri="{FF2B5EF4-FFF2-40B4-BE49-F238E27FC236}">
                <a16:creationId xmlns:a16="http://schemas.microsoft.com/office/drawing/2014/main" id="{675BE416-1AA5-E712-7860-A921CDCCE25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13214" y="1796608"/>
          <a:ext cx="2237173" cy="1818666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62" name="Object 61">
                    <a:extLst>
                      <a:ext uri="{FF2B5EF4-FFF2-40B4-BE49-F238E27FC236}">
                        <a16:creationId xmlns:a16="http://schemas.microsoft.com/office/drawing/2014/main" id="{675BE416-1AA5-E712-7860-A921CDCCE251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313214" y="1796608"/>
                    <a:ext cx="2237173" cy="181866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" name="Object 68">
            <a:extLst>
              <a:ext uri="{FF2B5EF4-FFF2-40B4-BE49-F238E27FC236}">
                <a16:creationId xmlns:a16="http://schemas.microsoft.com/office/drawing/2014/main" id="{C0918E41-0123-12BC-585E-691CE3CC87A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16885" y="2192606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69" name="Object 68">
                    <a:extLst>
                      <a:ext uri="{FF2B5EF4-FFF2-40B4-BE49-F238E27FC236}">
                        <a16:creationId xmlns:a16="http://schemas.microsoft.com/office/drawing/2014/main" id="{C0918E41-0123-12BC-585E-691CE3CC87A6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816885" y="2192606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0" name="TextBox 69"/>
          <p:cNvSpPr txBox="1"/>
          <p:nvPr/>
        </p:nvSpPr>
        <p:spPr>
          <a:xfrm>
            <a:off x="8929915" y="2126742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Object[0]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1" name="Object 70">
            <a:extLst>
              <a:ext uri="{FF2B5EF4-FFF2-40B4-BE49-F238E27FC236}">
                <a16:creationId xmlns:a16="http://schemas.microsoft.com/office/drawing/2014/main" id="{394DC0F6-941E-DC3D-69EA-41660AA8E7B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07284" y="2615004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71" name="Object 70">
                    <a:extLst>
                      <a:ext uri="{FF2B5EF4-FFF2-40B4-BE49-F238E27FC236}">
                        <a16:creationId xmlns:a16="http://schemas.microsoft.com/office/drawing/2014/main" id="{394DC0F6-941E-DC3D-69EA-41660AA8E7B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807284" y="2615004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8920314" y="2549140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Object[2]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3" name="Object 72">
            <a:extLst>
              <a:ext uri="{FF2B5EF4-FFF2-40B4-BE49-F238E27FC236}">
                <a16:creationId xmlns:a16="http://schemas.microsoft.com/office/drawing/2014/main" id="{591A54C4-A744-FD18-ED93-7BE9D66B9BE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16885" y="3022265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73" name="Object 72">
                    <a:extLst>
                      <a:ext uri="{FF2B5EF4-FFF2-40B4-BE49-F238E27FC236}">
                        <a16:creationId xmlns:a16="http://schemas.microsoft.com/office/drawing/2014/main" id="{591A54C4-A744-FD18-ED93-7BE9D66B9BE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816885" y="3022265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8929915" y="2956401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Object[4]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5" name="Object 74">
            <a:extLst>
              <a:ext uri="{FF2B5EF4-FFF2-40B4-BE49-F238E27FC236}">
                <a16:creationId xmlns:a16="http://schemas.microsoft.com/office/drawing/2014/main" id="{ECD5AA91-7D07-0893-FAD2-9241CD3DCF7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69022" y="4308660"/>
          <a:ext cx="2237173" cy="1818666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75" name="Object 74">
                    <a:extLst>
                      <a:ext uri="{FF2B5EF4-FFF2-40B4-BE49-F238E27FC236}">
                        <a16:creationId xmlns:a16="http://schemas.microsoft.com/office/drawing/2014/main" id="{ECD5AA91-7D07-0893-FAD2-9241CD3DCF75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369022" y="4308660"/>
                    <a:ext cx="2237173" cy="181866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" name="Object 75">
            <a:extLst>
              <a:ext uri="{FF2B5EF4-FFF2-40B4-BE49-F238E27FC236}">
                <a16:creationId xmlns:a16="http://schemas.microsoft.com/office/drawing/2014/main" id="{9BCD3C77-812A-5B5E-D81E-598A3A33987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72693" y="4704658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76" name="Object 75">
                    <a:extLst>
                      <a:ext uri="{FF2B5EF4-FFF2-40B4-BE49-F238E27FC236}">
                        <a16:creationId xmlns:a16="http://schemas.microsoft.com/office/drawing/2014/main" id="{9BCD3C77-812A-5B5E-D81E-598A3A33987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872693" y="4704658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8985723" y="4638794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Object[1]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" name="Object 77">
            <a:extLst>
              <a:ext uri="{FF2B5EF4-FFF2-40B4-BE49-F238E27FC236}">
                <a16:creationId xmlns:a16="http://schemas.microsoft.com/office/drawing/2014/main" id="{FB184417-A513-3B14-131A-8A9400988EC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63092" y="5127056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78" name="Object 77">
                    <a:extLst>
                      <a:ext uri="{FF2B5EF4-FFF2-40B4-BE49-F238E27FC236}">
                        <a16:creationId xmlns:a16="http://schemas.microsoft.com/office/drawing/2014/main" id="{FB184417-A513-3B14-131A-8A9400988EC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863092" y="5127056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8976122" y="5061192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Object[3]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0" name="Object 79">
            <a:extLst>
              <a:ext uri="{FF2B5EF4-FFF2-40B4-BE49-F238E27FC236}">
                <a16:creationId xmlns:a16="http://schemas.microsoft.com/office/drawing/2014/main" id="{43E19F0D-1894-0D8B-45E1-32EF806C64F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72693" y="5534317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2" imgW="1489680" imgH="480240" progId="PBrush">
              <p:embed/>
              <p:pic>
                <p:nvPicPr>
                  <p:cNvPr id="80" name="Object 79">
                    <a:extLst>
                      <a:ext uri="{FF2B5EF4-FFF2-40B4-BE49-F238E27FC236}">
                        <a16:creationId xmlns:a16="http://schemas.microsoft.com/office/drawing/2014/main" id="{43E19F0D-1894-0D8B-45E1-32EF806C64F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872693" y="5534317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81" name="TextBox 80"/>
          <p:cNvSpPr txBox="1"/>
          <p:nvPr/>
        </p:nvSpPr>
        <p:spPr>
          <a:xfrm>
            <a:off x="8985723" y="5468453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Object[5]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44594" y="1251825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  <p:sp>
        <p:nvSpPr>
          <p:cNvPr id="12" name="TextBox 11"/>
          <p:cNvSpPr txBox="1"/>
          <p:nvPr/>
        </p:nvSpPr>
        <p:spPr>
          <a:xfrm>
            <a:off x="7644594" y="3809066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  <p:sp>
        <p:nvSpPr>
          <p:cNvPr id="13" name="TextBox 12"/>
          <p:cNvSpPr txBox="1"/>
          <p:nvPr/>
        </p:nvSpPr>
        <p:spPr>
          <a:xfrm>
            <a:off x="1250513" y="1554126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Driver</a:t>
            </a:r>
            <a:endParaRPr lang="fr-FR" sz="24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831286" cy="868445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Memory </a:t>
            </a:r>
            <a:r>
              <a:rPr lang="fr-FR"/>
              <a:t>needs</a:t>
            </a:r>
            <a:r>
              <a:rPr lang="fr-FR"/>
              <a:t> on Driver &lt;&lt; </a:t>
            </a:r>
            <a:r>
              <a:rPr lang="fr-FR"/>
              <a:t>Executors</a:t>
            </a:r>
            <a:endParaRPr lang="fr-FR"/>
          </a:p>
        </p:txBody>
      </p:sp>
      <p:sp>
        <p:nvSpPr>
          <p:cNvPr id="101" name="Rectangle: Rounded Corners 100"/>
          <p:cNvSpPr/>
          <p:nvPr/>
        </p:nvSpPr>
        <p:spPr>
          <a:xfrm>
            <a:off x="667666" y="4977345"/>
            <a:ext cx="4233333" cy="755913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Rectangle: Rounded Corners 116"/>
          <p:cNvSpPr/>
          <p:nvPr/>
        </p:nvSpPr>
        <p:spPr>
          <a:xfrm>
            <a:off x="2684049" y="5021270"/>
            <a:ext cx="883347" cy="673712"/>
          </a:xfrm>
          <a:prstGeom prst="round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8" name="Object 117">
            <a:extLst>
              <a:ext uri="{FF2B5EF4-FFF2-40B4-BE49-F238E27FC236}">
                <a16:creationId xmlns:a16="http://schemas.microsoft.com/office/drawing/2014/main" id="{721C82C7-927C-0D9A-4556-5B0AC0692C6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77587" y="5107356"/>
          <a:ext cx="454617" cy="36957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18" name="Object 117">
                    <a:extLst>
                      <a:ext uri="{FF2B5EF4-FFF2-40B4-BE49-F238E27FC236}">
                        <a16:creationId xmlns:a16="http://schemas.microsoft.com/office/drawing/2014/main" id="{721C82C7-927C-0D9A-4556-5B0AC0692C6D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877587" y="5107356"/>
                    <a:ext cx="454617" cy="36957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9" name="Object 118">
            <a:extLst>
              <a:ext uri="{FF2B5EF4-FFF2-40B4-BE49-F238E27FC236}">
                <a16:creationId xmlns:a16="http://schemas.microsoft.com/office/drawing/2014/main" id="{3E83A59E-5E7C-1A1F-8273-331AB2BA425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58223" y="5243122"/>
          <a:ext cx="454617" cy="36957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19" name="Object 118">
                    <a:extLst>
                      <a:ext uri="{FF2B5EF4-FFF2-40B4-BE49-F238E27FC236}">
                        <a16:creationId xmlns:a16="http://schemas.microsoft.com/office/drawing/2014/main" id="{3E83A59E-5E7C-1A1F-8273-331AB2BA425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958223" y="5243122"/>
                    <a:ext cx="454617" cy="36957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cxnSp>
        <p:nvCxnSpPr>
          <p:cNvPr id="123" name="Straight Connector 122"/>
          <p:cNvCxnSpPr/>
          <p:nvPr/>
        </p:nvCxnSpPr>
        <p:spPr>
          <a:xfrm flipV="1">
            <a:off x="3362778" y="2612157"/>
            <a:ext cx="4986092" cy="256683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/>
          <p:cNvCxnSpPr/>
          <p:nvPr/>
        </p:nvCxnSpPr>
        <p:spPr>
          <a:xfrm flipV="1">
            <a:off x="3432992" y="5400515"/>
            <a:ext cx="5035147" cy="3668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: Rounded Corners 124"/>
          <p:cNvSpPr/>
          <p:nvPr/>
        </p:nvSpPr>
        <p:spPr>
          <a:xfrm>
            <a:off x="7395535" y="1659644"/>
            <a:ext cx="4233333" cy="2199639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6" name="Rectangle: Rounded Corners 125"/>
          <p:cNvSpPr/>
          <p:nvPr/>
        </p:nvSpPr>
        <p:spPr>
          <a:xfrm>
            <a:off x="7359926" y="4194776"/>
            <a:ext cx="4233333" cy="2199639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7" name="Object 126">
            <a:extLst>
              <a:ext uri="{FF2B5EF4-FFF2-40B4-BE49-F238E27FC236}">
                <a16:creationId xmlns:a16="http://schemas.microsoft.com/office/drawing/2014/main" id="{0219FE78-B89A-4F99-370F-1AECCA7F14F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13214" y="1796608"/>
          <a:ext cx="2237173" cy="1818666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27" name="Object 126">
                    <a:extLst>
                      <a:ext uri="{FF2B5EF4-FFF2-40B4-BE49-F238E27FC236}">
                        <a16:creationId xmlns:a16="http://schemas.microsoft.com/office/drawing/2014/main" id="{0219FE78-B89A-4F99-370F-1AECCA7F14FC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313214" y="1796608"/>
                    <a:ext cx="2237173" cy="181866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8" name="Object 127">
            <a:extLst>
              <a:ext uri="{FF2B5EF4-FFF2-40B4-BE49-F238E27FC236}">
                <a16:creationId xmlns:a16="http://schemas.microsoft.com/office/drawing/2014/main" id="{C8B5A1C2-E824-814B-4D60-FB8EFF0BB0C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16885" y="2192606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128" name="Object 127">
                    <a:extLst>
                      <a:ext uri="{FF2B5EF4-FFF2-40B4-BE49-F238E27FC236}">
                        <a16:creationId xmlns:a16="http://schemas.microsoft.com/office/drawing/2014/main" id="{C8B5A1C2-E824-814B-4D60-FB8EFF0BB0C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816885" y="2192606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8929915" y="2126742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Object[0]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0" name="Object 129">
            <a:extLst>
              <a:ext uri="{FF2B5EF4-FFF2-40B4-BE49-F238E27FC236}">
                <a16:creationId xmlns:a16="http://schemas.microsoft.com/office/drawing/2014/main" id="{DB101CF3-C322-162C-8B56-2F00C5AB76C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07284" y="2615004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130" name="Object 129">
                    <a:extLst>
                      <a:ext uri="{FF2B5EF4-FFF2-40B4-BE49-F238E27FC236}">
                        <a16:creationId xmlns:a16="http://schemas.microsoft.com/office/drawing/2014/main" id="{DB101CF3-C322-162C-8B56-2F00C5AB76C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807284" y="2615004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31" name="TextBox 130"/>
          <p:cNvSpPr txBox="1"/>
          <p:nvPr/>
        </p:nvSpPr>
        <p:spPr>
          <a:xfrm>
            <a:off x="8920314" y="2549140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Object[2]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2" name="Object 131">
            <a:extLst>
              <a:ext uri="{FF2B5EF4-FFF2-40B4-BE49-F238E27FC236}">
                <a16:creationId xmlns:a16="http://schemas.microsoft.com/office/drawing/2014/main" id="{D9AB2AC3-BC39-51E9-C951-EADF37F32BA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16885" y="3022265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132" name="Object 131">
                    <a:extLst>
                      <a:ext uri="{FF2B5EF4-FFF2-40B4-BE49-F238E27FC236}">
                        <a16:creationId xmlns:a16="http://schemas.microsoft.com/office/drawing/2014/main" id="{D9AB2AC3-BC39-51E9-C951-EADF37F32BA8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816885" y="3022265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33" name="TextBox 132"/>
          <p:cNvSpPr txBox="1"/>
          <p:nvPr/>
        </p:nvSpPr>
        <p:spPr>
          <a:xfrm>
            <a:off x="8929915" y="2956401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Object[4]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4" name="Object 133">
            <a:extLst>
              <a:ext uri="{FF2B5EF4-FFF2-40B4-BE49-F238E27FC236}">
                <a16:creationId xmlns:a16="http://schemas.microsoft.com/office/drawing/2014/main" id="{3029C2DE-F88E-2E0F-380B-7735BF283CD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69022" y="4308660"/>
          <a:ext cx="2237173" cy="1818666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34" name="Object 133">
                    <a:extLst>
                      <a:ext uri="{FF2B5EF4-FFF2-40B4-BE49-F238E27FC236}">
                        <a16:creationId xmlns:a16="http://schemas.microsoft.com/office/drawing/2014/main" id="{3029C2DE-F88E-2E0F-380B-7735BF283CD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369022" y="4308660"/>
                    <a:ext cx="2237173" cy="181866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5" name="Object 134">
            <a:extLst>
              <a:ext uri="{FF2B5EF4-FFF2-40B4-BE49-F238E27FC236}">
                <a16:creationId xmlns:a16="http://schemas.microsoft.com/office/drawing/2014/main" id="{C26117A1-962E-08A1-3D6E-40BC4DA98C5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72693" y="4704658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135" name="Object 134">
                    <a:extLst>
                      <a:ext uri="{FF2B5EF4-FFF2-40B4-BE49-F238E27FC236}">
                        <a16:creationId xmlns:a16="http://schemas.microsoft.com/office/drawing/2014/main" id="{C26117A1-962E-08A1-3D6E-40BC4DA98C54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872693" y="4704658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36" name="TextBox 135"/>
          <p:cNvSpPr txBox="1"/>
          <p:nvPr/>
        </p:nvSpPr>
        <p:spPr>
          <a:xfrm>
            <a:off x="8985723" y="4638794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Object[1]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7" name="Object 136">
            <a:extLst>
              <a:ext uri="{FF2B5EF4-FFF2-40B4-BE49-F238E27FC236}">
                <a16:creationId xmlns:a16="http://schemas.microsoft.com/office/drawing/2014/main" id="{9D221A20-6036-7B9A-8B11-716287FFA21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63092" y="5127056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137" name="Object 136">
                    <a:extLst>
                      <a:ext uri="{FF2B5EF4-FFF2-40B4-BE49-F238E27FC236}">
                        <a16:creationId xmlns:a16="http://schemas.microsoft.com/office/drawing/2014/main" id="{9D221A20-6036-7B9A-8B11-716287FFA216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863092" y="5127056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38" name="TextBox 137"/>
          <p:cNvSpPr txBox="1"/>
          <p:nvPr/>
        </p:nvSpPr>
        <p:spPr>
          <a:xfrm>
            <a:off x="8976122" y="5061192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Object[3]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9" name="Object 138">
            <a:extLst>
              <a:ext uri="{FF2B5EF4-FFF2-40B4-BE49-F238E27FC236}">
                <a16:creationId xmlns:a16="http://schemas.microsoft.com/office/drawing/2014/main" id="{4D919E92-9A35-5EE6-A19D-3995F7876FB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872693" y="5534317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139" name="Object 138">
                    <a:extLst>
                      <a:ext uri="{FF2B5EF4-FFF2-40B4-BE49-F238E27FC236}">
                        <a16:creationId xmlns:a16="http://schemas.microsoft.com/office/drawing/2014/main" id="{4D919E92-9A35-5EE6-A19D-3995F7876FBC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872693" y="5534317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40" name="TextBox 139"/>
          <p:cNvSpPr txBox="1"/>
          <p:nvPr/>
        </p:nvSpPr>
        <p:spPr>
          <a:xfrm>
            <a:off x="8985723" y="5468453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Object[5]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644594" y="3809066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  <p:sp>
        <p:nvSpPr>
          <p:cNvPr id="143" name="TextBox 142"/>
          <p:cNvSpPr txBox="1"/>
          <p:nvPr/>
        </p:nvSpPr>
        <p:spPr>
          <a:xfrm>
            <a:off x="843957" y="4560002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Driver</a:t>
            </a:r>
            <a:endParaRPr lang="fr-FR" sz="2400"/>
          </a:p>
        </p:txBody>
      </p:sp>
      <p:sp>
        <p:nvSpPr>
          <p:cNvPr id="144" name="TextBox 143"/>
          <p:cNvSpPr txBox="1"/>
          <p:nvPr/>
        </p:nvSpPr>
        <p:spPr>
          <a:xfrm>
            <a:off x="7644594" y="1251825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Memory Arguments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2823178" y="3289583"/>
            <a:ext cx="1144499" cy="649649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: Rounded Corners 8"/>
          <p:cNvSpPr/>
          <p:nvPr/>
        </p:nvSpPr>
        <p:spPr>
          <a:xfrm>
            <a:off x="5932687" y="2329180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6294764" y="1808415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  <p:sp>
        <p:nvSpPr>
          <p:cNvPr id="18" name="TextBox 17"/>
          <p:cNvSpPr txBox="1"/>
          <p:nvPr/>
        </p:nvSpPr>
        <p:spPr>
          <a:xfrm>
            <a:off x="2886073" y="2786380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Driver</a:t>
            </a:r>
            <a:endParaRPr lang="fr-FR" sz="2400"/>
          </a:p>
        </p:txBody>
      </p:sp>
      <p:sp>
        <p:nvSpPr>
          <p:cNvPr id="23" name="Rectangle: Rounded Corners 22"/>
          <p:cNvSpPr/>
          <p:nvPr/>
        </p:nvSpPr>
        <p:spPr>
          <a:xfrm>
            <a:off x="6085087" y="2481580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: Rounded Corners 23"/>
          <p:cNvSpPr/>
          <p:nvPr/>
        </p:nvSpPr>
        <p:spPr>
          <a:xfrm>
            <a:off x="6237487" y="2633980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: Rounded Corners 24"/>
          <p:cNvSpPr/>
          <p:nvPr/>
        </p:nvSpPr>
        <p:spPr>
          <a:xfrm>
            <a:off x="6389887" y="2786380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Arrow: Up-Down 25"/>
          <p:cNvSpPr/>
          <p:nvPr/>
        </p:nvSpPr>
        <p:spPr>
          <a:xfrm rot="17741828">
            <a:off x="3283796" y="3101569"/>
            <a:ext cx="227390" cy="1025677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Arrow: Up-Down 26"/>
          <p:cNvSpPr/>
          <p:nvPr/>
        </p:nvSpPr>
        <p:spPr>
          <a:xfrm rot="17741828">
            <a:off x="8273397" y="1746542"/>
            <a:ext cx="482113" cy="4279313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27"/>
          <p:cNvSpPr txBox="1"/>
          <p:nvPr/>
        </p:nvSpPr>
        <p:spPr>
          <a:xfrm>
            <a:off x="1644979" y="5337363"/>
            <a:ext cx="35008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--driver-memory 1g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4764" y="5332123"/>
            <a:ext cx="41833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--</a:t>
            </a:r>
            <a:r>
              <a:rPr lang="fr-FR" sz="3200" b="1"/>
              <a:t>executor</a:t>
            </a:r>
            <a:r>
              <a:rPr lang="fr-FR" sz="3200" b="1"/>
              <a:t>-memory 50g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04610" y="6123543"/>
            <a:ext cx="3229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spark.driver.memory</a:t>
            </a:r>
            <a:r>
              <a:rPr lang="fr-FR" sz="2400"/>
              <a:t>=1g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4764" y="6123543"/>
            <a:ext cx="37364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spark.executor.memory</a:t>
            </a:r>
            <a:r>
              <a:rPr lang="fr-FR" sz="2400"/>
              <a:t>=50g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4395" y="0"/>
            <a:ext cx="10923210" cy="1325563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Spark Memory …   </a:t>
            </a:r>
            <a:br>
              <a:rPr lang="fr-FR"/>
            </a:br>
            <a:r>
              <a:rPr lang="fr-FR"/>
              <a:t>to {</a:t>
            </a:r>
            <a:r>
              <a:rPr lang="fr-FR"/>
              <a:t>driver|executor</a:t>
            </a:r>
            <a:r>
              <a:rPr lang="fr-FR"/>
              <a:t>}  java –</a:t>
            </a:r>
            <a:r>
              <a:rPr lang="fr-FR"/>
              <a:t>Xms</a:t>
            </a:r>
            <a:r>
              <a:rPr lang="fr-FR"/>
              <a:t> .. –</a:t>
            </a:r>
            <a:r>
              <a:rPr lang="fr-FR"/>
              <a:t>Xmx</a:t>
            </a:r>
            <a:r>
              <a:rPr lang="fr-FR"/>
              <a:t> ..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51270" y="4641532"/>
            <a:ext cx="8575510" cy="85235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080324" y="2424965"/>
            <a:ext cx="8523594" cy="210710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374491"/>
            <a:ext cx="10515600" cy="2109019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Use Cluster </a:t>
            </a:r>
            <a:r>
              <a:rPr lang="fr-FR"/>
              <a:t>Resources</a:t>
            </a:r>
            <a:r>
              <a:rPr lang="fr-FR"/>
              <a:t> :</a:t>
            </a:r>
            <a:br>
              <a:rPr lang="fr-FR"/>
            </a:br>
            <a:br>
              <a:rPr lang="fr-FR"/>
            </a:br>
            <a:r>
              <a:rPr lang="fr-FR"/>
              <a:t>Distributing</a:t>
            </a:r>
            <a:r>
              <a:rPr lang="fr-FR"/>
              <a:t> N </a:t>
            </a:r>
            <a:r>
              <a:rPr lang="fr-FR"/>
              <a:t>executors</a:t>
            </a:r>
            <a:endParaRPr lang="fr-F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Cluster Manager (SPI)</a:t>
            </a:r>
          </a:p>
        </p:txBody>
      </p:sp>
      <p:pic>
        <p:nvPicPr>
          <p:cNvPr id="2048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42095" y="2035853"/>
            <a:ext cx="7743825" cy="3638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4366756" y="1523198"/>
            <a:ext cx="3146806" cy="247930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495" y="0"/>
            <a:ext cx="11145762" cy="906723"/>
          </a:xfrm>
          <a:prstGeom prst="rect">
            <a:avLst/>
          </a:prstGeom>
        </p:spPr>
        <p:txBody>
          <a:bodyPr/>
          <a:lstStyle/>
          <a:p>
            <a:r>
              <a:rPr lang="fr-FR"/>
              <a:t>Executors</a:t>
            </a:r>
            <a:r>
              <a:rPr lang="fr-FR"/>
              <a:t> .. JVM </a:t>
            </a:r>
            <a:r>
              <a:rPr lang="fr-FR"/>
              <a:t>processes</a:t>
            </a:r>
            <a:r>
              <a:rPr lang="fr-FR"/>
              <a:t> </a:t>
            </a:r>
            <a:r>
              <a:rPr lang="fr-FR"/>
              <a:t>launched</a:t>
            </a:r>
            <a:r>
              <a:rPr lang="fr-FR"/>
              <a:t> on Cluster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5025006" y="1852799"/>
            <a:ext cx="2089684" cy="107877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5120055" y="1917755"/>
            <a:ext cx="20019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 b="1"/>
          </a:p>
          <a:p>
            <a:r>
              <a:rPr lang="fr-FR" sz="2400" b="1"/>
              <a:t> </a:t>
            </a:r>
            <a:r>
              <a:rPr lang="fr-FR" sz="2400"/>
              <a:t>(JVM process)</a:t>
            </a:r>
          </a:p>
        </p:txBody>
      </p:sp>
      <p:sp>
        <p:nvSpPr>
          <p:cNvPr id="13" name="Rectangle: Rounded Corners 12"/>
          <p:cNvSpPr/>
          <p:nvPr/>
        </p:nvSpPr>
        <p:spPr>
          <a:xfrm>
            <a:off x="5864181" y="3128721"/>
            <a:ext cx="1313167" cy="6798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: Rounded Corners 13"/>
          <p:cNvSpPr/>
          <p:nvPr/>
        </p:nvSpPr>
        <p:spPr>
          <a:xfrm>
            <a:off x="6016581" y="3281121"/>
            <a:ext cx="1313167" cy="6798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6102529" y="3293914"/>
            <a:ext cx="13778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Other</a:t>
            </a:r>
            <a:r>
              <a:rPr lang="fr-FR"/>
              <a:t> </a:t>
            </a:r>
          </a:p>
          <a:p>
            <a:r>
              <a:rPr lang="fr-FR"/>
              <a:t>processes</a:t>
            </a:r>
            <a:endParaRPr lang="fr-FR"/>
          </a:p>
        </p:txBody>
      </p:sp>
      <p:pic>
        <p:nvPicPr>
          <p:cNvPr id="1026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848208" y="2324325"/>
            <a:ext cx="915912" cy="1373375"/>
          </a:xfrm>
          <a:prstGeom prst="rect">
            <a:avLst/>
          </a:prstGeom>
          <a:noFill/>
        </p:spPr>
      </p:pic>
      <p:sp>
        <p:nvSpPr>
          <p:cNvPr id="17" name="Rectangle 16"/>
          <p:cNvSpPr/>
          <p:nvPr/>
        </p:nvSpPr>
        <p:spPr>
          <a:xfrm>
            <a:off x="8145178" y="1523198"/>
            <a:ext cx="3098555" cy="247930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/>
          <p:cNvSpPr/>
          <p:nvPr/>
        </p:nvSpPr>
        <p:spPr>
          <a:xfrm>
            <a:off x="709169" y="3219246"/>
            <a:ext cx="2910115" cy="233722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4387" y="3540276"/>
            <a:ext cx="915912" cy="1373375"/>
          </a:xfrm>
          <a:prstGeom prst="rect">
            <a:avLst/>
          </a:prstGeom>
          <a:noFill/>
        </p:spPr>
      </p:pic>
      <p:sp>
        <p:nvSpPr>
          <p:cNvPr id="6" name="Rectangle: Rounded Corners 5"/>
          <p:cNvSpPr/>
          <p:nvPr/>
        </p:nvSpPr>
        <p:spPr>
          <a:xfrm>
            <a:off x="1292661" y="3658889"/>
            <a:ext cx="1994329" cy="114861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1332638" y="3651329"/>
            <a:ext cx="1994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Driver</a:t>
            </a:r>
          </a:p>
          <a:p>
            <a:r>
              <a:rPr lang="fr-FR" sz="2400"/>
              <a:t> (JVM process)</a:t>
            </a:r>
          </a:p>
        </p:txBody>
      </p:sp>
      <p:pic>
        <p:nvPicPr>
          <p:cNvPr id="2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559011" y="2324325"/>
            <a:ext cx="915912" cy="1373375"/>
          </a:xfrm>
          <a:prstGeom prst="rect">
            <a:avLst/>
          </a:prstGeom>
          <a:noFill/>
        </p:spPr>
      </p:pic>
      <p:sp>
        <p:nvSpPr>
          <p:cNvPr id="23" name="Rectangle 22"/>
          <p:cNvSpPr/>
          <p:nvPr/>
        </p:nvSpPr>
        <p:spPr>
          <a:xfrm>
            <a:off x="4354530" y="5007302"/>
            <a:ext cx="3159032" cy="17752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768363" y="5151298"/>
            <a:ext cx="915912" cy="1373375"/>
          </a:xfrm>
          <a:prstGeom prst="rect">
            <a:avLst/>
          </a:prstGeom>
          <a:noFill/>
        </p:spPr>
      </p:pic>
      <p:sp>
        <p:nvSpPr>
          <p:cNvPr id="25" name="Rectangle 24"/>
          <p:cNvSpPr/>
          <p:nvPr/>
        </p:nvSpPr>
        <p:spPr>
          <a:xfrm>
            <a:off x="8127622" y="5007302"/>
            <a:ext cx="3098555" cy="17752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6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559011" y="5151298"/>
            <a:ext cx="915912" cy="1373375"/>
          </a:xfrm>
          <a:prstGeom prst="rect">
            <a:avLst/>
          </a:prstGeom>
          <a:noFill/>
        </p:spPr>
      </p:pic>
      <p:sp>
        <p:nvSpPr>
          <p:cNvPr id="27" name="Rectangle: Rounded Corners 26"/>
          <p:cNvSpPr/>
          <p:nvPr/>
        </p:nvSpPr>
        <p:spPr>
          <a:xfrm>
            <a:off x="8798645" y="5136303"/>
            <a:ext cx="2077591" cy="108017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27"/>
          <p:cNvSpPr txBox="1"/>
          <p:nvPr/>
        </p:nvSpPr>
        <p:spPr>
          <a:xfrm>
            <a:off x="8874289" y="5099267"/>
            <a:ext cx="20019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 b="1"/>
          </a:p>
          <a:p>
            <a:r>
              <a:rPr lang="fr-FR" sz="2400" b="1"/>
              <a:t> </a:t>
            </a:r>
            <a:r>
              <a:rPr lang="fr-FR" sz="2400"/>
              <a:t>(JVM process)</a:t>
            </a:r>
          </a:p>
        </p:txBody>
      </p:sp>
      <p:cxnSp>
        <p:nvCxnSpPr>
          <p:cNvPr id="36" name="Straight Connector 35"/>
          <p:cNvCxnSpPr>
            <a:stCxn id="7" idx="3"/>
          </p:cNvCxnSpPr>
          <p:nvPr/>
        </p:nvCxnSpPr>
        <p:spPr>
          <a:xfrm flipV="1">
            <a:off x="3326967" y="2371980"/>
            <a:ext cx="1603713" cy="169484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3393356" y="4482326"/>
            <a:ext cx="5339406" cy="118217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286700" y="1183484"/>
            <a:ext cx="1459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Worker</a:t>
            </a:r>
            <a:r>
              <a:rPr lang="fr-FR" b="1"/>
              <a:t> Node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5382" y="1172108"/>
            <a:ext cx="1459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Worker</a:t>
            </a:r>
            <a:r>
              <a:rPr lang="fr-FR" b="1"/>
              <a:t> Node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86701" y="4665435"/>
            <a:ext cx="1459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Worker</a:t>
            </a:r>
            <a:r>
              <a:rPr lang="fr-FR" b="1"/>
              <a:t> Node</a:t>
            </a:r>
          </a:p>
        </p:txBody>
      </p:sp>
      <p:sp>
        <p:nvSpPr>
          <p:cNvPr id="46" name="Rectangle: Rounded Corners 45"/>
          <p:cNvSpPr/>
          <p:nvPr/>
        </p:nvSpPr>
        <p:spPr>
          <a:xfrm>
            <a:off x="5897373" y="5824816"/>
            <a:ext cx="1313167" cy="6798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: Rounded Corners 46"/>
          <p:cNvSpPr/>
          <p:nvPr/>
        </p:nvSpPr>
        <p:spPr>
          <a:xfrm>
            <a:off x="6049773" y="5977216"/>
            <a:ext cx="1313167" cy="6798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TextBox 47"/>
          <p:cNvSpPr txBox="1"/>
          <p:nvPr/>
        </p:nvSpPr>
        <p:spPr>
          <a:xfrm>
            <a:off x="6135721" y="5990009"/>
            <a:ext cx="13778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Other</a:t>
            </a:r>
            <a:r>
              <a:rPr lang="fr-FR"/>
              <a:t> </a:t>
            </a:r>
          </a:p>
          <a:p>
            <a:r>
              <a:rPr lang="fr-FR"/>
              <a:t>processes</a:t>
            </a:r>
            <a:endParaRPr lang="fr-FR"/>
          </a:p>
        </p:txBody>
      </p:sp>
      <p:sp>
        <p:nvSpPr>
          <p:cNvPr id="49" name="Arrow: Right 48"/>
          <p:cNvSpPr/>
          <p:nvPr/>
        </p:nvSpPr>
        <p:spPr>
          <a:xfrm rot="16200000">
            <a:off x="1204239" y="2520646"/>
            <a:ext cx="1595052" cy="4629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Arrow: Right 49"/>
          <p:cNvSpPr/>
          <p:nvPr/>
        </p:nvSpPr>
        <p:spPr>
          <a:xfrm rot="3309348">
            <a:off x="8383054" y="1294939"/>
            <a:ext cx="608746" cy="692215"/>
          </a:xfrm>
          <a:prstGeom prst="rightArrow">
            <a:avLst>
              <a:gd name="adj1" fmla="val 36377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1" name="Picture 42" descr="William Ardila, Author at Nub8 » Page 3 of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1351" y="775026"/>
            <a:ext cx="2198294" cy="1062604"/>
          </a:xfrm>
          <a:prstGeom prst="rect">
            <a:avLst/>
          </a:prstGeom>
          <a:noFill/>
        </p:spPr>
      </p:pic>
      <p:pic>
        <p:nvPicPr>
          <p:cNvPr id="52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67601" y="960936"/>
            <a:ext cx="762350" cy="744199"/>
          </a:xfrm>
          <a:prstGeom prst="rect">
            <a:avLst/>
          </a:prstGeom>
          <a:noFill/>
        </p:spPr>
      </p:pic>
      <p:sp>
        <p:nvSpPr>
          <p:cNvPr id="54" name="Rectangle: Rounded Corners 53"/>
          <p:cNvSpPr/>
          <p:nvPr/>
        </p:nvSpPr>
        <p:spPr>
          <a:xfrm>
            <a:off x="8847480" y="1863536"/>
            <a:ext cx="1978995" cy="1057296"/>
          </a:xfrm>
          <a:prstGeom prst="roundRect">
            <a:avLst/>
          </a:prstGeom>
          <a:pattFill prst="wdUpDiag">
            <a:fgClr>
              <a:schemeClr val="accent5">
                <a:lumMod val="20000"/>
                <a:lumOff val="80000"/>
              </a:schemeClr>
            </a:fgClr>
            <a:bgClr>
              <a:schemeClr val="bg1"/>
            </a:bgClr>
          </a:patt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3347182" y="4002501"/>
            <a:ext cx="873309" cy="313993"/>
          </a:xfrm>
          <a:prstGeom prst="line">
            <a:avLst/>
          </a:prstGeom>
          <a:ln w="254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982651" y="4665435"/>
            <a:ext cx="1459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Worker</a:t>
            </a:r>
            <a:r>
              <a:rPr lang="fr-FR" b="1"/>
              <a:t> Node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343" y="2010087"/>
            <a:ext cx="11063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Ask</a:t>
            </a:r>
            <a:r>
              <a:rPr lang="fr-FR" b="1"/>
              <a:t> NEW </a:t>
            </a:r>
            <a:br>
              <a:rPr lang="fr-FR" b="1"/>
            </a:br>
            <a:r>
              <a:rPr lang="fr-FR" b="1"/>
              <a:t>resource</a:t>
            </a:r>
            <a:endParaRPr lang="fr-FR" b="1"/>
          </a:p>
        </p:txBody>
      </p:sp>
      <p:sp>
        <p:nvSpPr>
          <p:cNvPr id="63" name="TextBox 62"/>
          <p:cNvSpPr txBox="1"/>
          <p:nvPr/>
        </p:nvSpPr>
        <p:spPr>
          <a:xfrm>
            <a:off x="7487299" y="829842"/>
            <a:ext cx="1360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create</a:t>
            </a:r>
            <a:r>
              <a:rPr lang="fr-FR" b="1"/>
              <a:t> NEW </a:t>
            </a:r>
            <a:br>
              <a:rPr lang="fr-FR" b="1"/>
            </a:br>
            <a:r>
              <a:rPr lang="fr-FR" b="1"/>
              <a:t>resource</a:t>
            </a:r>
            <a:endParaRPr lang="fr-FR" b="1"/>
          </a:p>
        </p:txBody>
      </p:sp>
      <p:sp>
        <p:nvSpPr>
          <p:cNvPr id="1024" name="Arrow: Right 1023"/>
          <p:cNvSpPr/>
          <p:nvPr/>
        </p:nvSpPr>
        <p:spPr>
          <a:xfrm>
            <a:off x="2911708" y="911529"/>
            <a:ext cx="870949" cy="4629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5" name="Arrow: Right 1024"/>
          <p:cNvSpPr/>
          <p:nvPr/>
        </p:nvSpPr>
        <p:spPr>
          <a:xfrm>
            <a:off x="7006907" y="870096"/>
            <a:ext cx="438245" cy="46293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30" name="Straight Connector 1029"/>
          <p:cNvCxnSpPr/>
          <p:nvPr/>
        </p:nvCxnSpPr>
        <p:spPr>
          <a:xfrm flipV="1">
            <a:off x="8363140" y="2391929"/>
            <a:ext cx="494017" cy="221643"/>
          </a:xfrm>
          <a:prstGeom prst="line">
            <a:avLst/>
          </a:prstGeom>
          <a:ln w="254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Driver … Launch </a:t>
            </a:r>
            <a:r>
              <a:rPr lang="fr-FR"/>
              <a:t>spark-executors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1940707" y="1629697"/>
            <a:ext cx="10335522" cy="461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${JAVA_HOME}/bin/java</a:t>
            </a:r>
            <a:r>
              <a:rPr lang="fr-FR"/>
              <a:t> </a:t>
            </a:r>
          </a:p>
          <a:p>
            <a:br>
              <a:rPr lang="fr-FR"/>
            </a:br>
            <a:r>
              <a:rPr lang="fr-FR"/>
              <a:t>-server -Xmx30720m</a:t>
            </a:r>
          </a:p>
          <a:p>
            <a:r>
              <a:rPr lang="fr-FR"/>
              <a:t>-</a:t>
            </a:r>
            <a:r>
              <a:rPr lang="fr-FR"/>
              <a:t>Djava.io.tmpdir</a:t>
            </a:r>
            <a:r>
              <a:rPr lang="fr-FR"/>
              <a:t>=/</a:t>
            </a:r>
            <a:r>
              <a:rPr lang="fr-FR"/>
              <a:t>yarn</a:t>
            </a:r>
            <a:r>
              <a:rPr lang="fr-FR"/>
              <a:t>/local/</a:t>
            </a:r>
            <a:r>
              <a:rPr lang="fr-FR"/>
              <a:t>usercache</a:t>
            </a:r>
            <a:r>
              <a:rPr lang="fr-FR"/>
              <a:t>/&lt;user&gt; /</a:t>
            </a:r>
            <a:r>
              <a:rPr lang="fr-FR"/>
              <a:t>appcache</a:t>
            </a:r>
            <a:r>
              <a:rPr lang="fr-FR"/>
              <a:t>/&lt;</a:t>
            </a:r>
            <a:r>
              <a:rPr lang="fr-FR"/>
              <a:t>application_id</a:t>
            </a:r>
            <a:r>
              <a:rPr lang="fr-FR"/>
              <a:t>&gt;/&lt;</a:t>
            </a:r>
            <a:r>
              <a:rPr lang="fr-FR"/>
              <a:t>container_id</a:t>
            </a:r>
            <a:r>
              <a:rPr lang="fr-FR"/>
              <a:t>&gt;/</a:t>
            </a:r>
            <a:r>
              <a:rPr lang="fr-FR"/>
              <a:t>tmp</a:t>
            </a:r>
            <a:endParaRPr lang="fr-FR"/>
          </a:p>
          <a:p>
            <a:r>
              <a:rPr lang="fr-FR"/>
              <a:t>-</a:t>
            </a:r>
            <a:r>
              <a:rPr lang="fr-FR"/>
              <a:t>Dspark.history.ui.port</a:t>
            </a:r>
            <a:r>
              <a:rPr lang="fr-FR"/>
              <a:t>=18080</a:t>
            </a:r>
          </a:p>
          <a:p>
            <a:r>
              <a:rPr lang="fr-FR"/>
              <a:t>-</a:t>
            </a:r>
            <a:r>
              <a:rPr lang="fr-FR"/>
              <a:t>Dspark.driver.port</a:t>
            </a:r>
            <a:r>
              <a:rPr lang="fr-FR"/>
              <a:t>=33029</a:t>
            </a:r>
          </a:p>
          <a:p>
            <a:r>
              <a:rPr lang="fr-FR"/>
              <a:t>-</a:t>
            </a:r>
            <a:r>
              <a:rPr lang="fr-FR"/>
              <a:t>Dspark.yarn.app.container.log.dir</a:t>
            </a:r>
            <a:r>
              <a:rPr lang="fr-FR"/>
              <a:t> /</a:t>
            </a:r>
            <a:r>
              <a:rPr lang="fr-FR"/>
              <a:t>yarn</a:t>
            </a:r>
            <a:r>
              <a:rPr lang="fr-FR"/>
              <a:t>/log/&lt;</a:t>
            </a:r>
            <a:r>
              <a:rPr lang="fr-FR"/>
              <a:t>application_id</a:t>
            </a:r>
            <a:r>
              <a:rPr lang="fr-FR"/>
              <a:t>&gt;/&lt;</a:t>
            </a:r>
            <a:r>
              <a:rPr lang="fr-FR"/>
              <a:t>container_id</a:t>
            </a:r>
            <a:r>
              <a:rPr lang="fr-FR"/>
              <a:t>&gt;/</a:t>
            </a:r>
          </a:p>
          <a:p>
            <a:br>
              <a:rPr lang="fr-FR"/>
            </a:br>
            <a:r>
              <a:rPr lang="fr-FR"/>
              <a:t>org.apache.spark.executor.</a:t>
            </a:r>
            <a:r>
              <a:rPr lang="fr-FR" b="1"/>
              <a:t>CoarseGrainedExecutorBackend</a:t>
            </a:r>
            <a:endParaRPr lang="fr-FR" b="1"/>
          </a:p>
          <a:p>
            <a:endParaRPr lang="fr-FR"/>
          </a:p>
          <a:p>
            <a:r>
              <a:rPr lang="fr-FR"/>
              <a:t>--driver-url spark://CoarseGrainedScheduler@&lt;driverhost&gt;:33029</a:t>
            </a:r>
          </a:p>
          <a:p>
            <a:r>
              <a:rPr lang="fr-FR"/>
              <a:t>--</a:t>
            </a:r>
            <a:r>
              <a:rPr lang="fr-FR"/>
              <a:t>executor</a:t>
            </a:r>
            <a:r>
              <a:rPr lang="fr-FR"/>
              <a:t>-id 1</a:t>
            </a:r>
          </a:p>
          <a:p>
            <a:r>
              <a:rPr lang="fr-FR"/>
              <a:t>--</a:t>
            </a:r>
            <a:r>
              <a:rPr lang="fr-FR"/>
              <a:t>hostname</a:t>
            </a:r>
            <a:r>
              <a:rPr lang="fr-FR"/>
              <a:t> &lt;</a:t>
            </a:r>
            <a:r>
              <a:rPr lang="fr-FR"/>
              <a:t>executorhost</a:t>
            </a:r>
            <a:r>
              <a:rPr lang="fr-FR"/>
              <a:t>&gt;</a:t>
            </a:r>
          </a:p>
          <a:p>
            <a:r>
              <a:rPr lang="fr-FR"/>
              <a:t>--</a:t>
            </a:r>
            <a:r>
              <a:rPr lang="fr-FR"/>
              <a:t>cores</a:t>
            </a:r>
            <a:r>
              <a:rPr lang="fr-FR"/>
              <a:t> 5</a:t>
            </a:r>
          </a:p>
          <a:p>
            <a:r>
              <a:rPr lang="fr-FR"/>
              <a:t>--app-id &lt;</a:t>
            </a:r>
            <a:r>
              <a:rPr lang="fr-FR"/>
              <a:t>application_id</a:t>
            </a:r>
            <a:r>
              <a:rPr lang="fr-FR"/>
              <a:t>&gt;</a:t>
            </a:r>
          </a:p>
          <a:p>
            <a:r>
              <a:rPr lang="fr-FR"/>
              <a:t>--user-class-</a:t>
            </a:r>
            <a:r>
              <a:rPr lang="fr-FR"/>
              <a:t>path</a:t>
            </a:r>
            <a:r>
              <a:rPr lang="fr-FR"/>
              <a:t> file:/yarn/local/usercache/&lt;user&gt; /</a:t>
            </a:r>
            <a:r>
              <a:rPr lang="fr-FR"/>
              <a:t>appcache</a:t>
            </a:r>
            <a:r>
              <a:rPr lang="fr-FR"/>
              <a:t>/&lt;</a:t>
            </a:r>
            <a:r>
              <a:rPr lang="fr-FR"/>
              <a:t>application_id</a:t>
            </a:r>
            <a:r>
              <a:rPr lang="fr-FR"/>
              <a:t>&gt;/&lt;</a:t>
            </a:r>
            <a:r>
              <a:rPr lang="fr-FR"/>
              <a:t>container_id</a:t>
            </a:r>
            <a:r>
              <a:rPr lang="fr-FR"/>
              <a:t>&gt;/__app__.jar</a:t>
            </a:r>
          </a:p>
        </p:txBody>
      </p:sp>
      <p:sp>
        <p:nvSpPr>
          <p:cNvPr id="5" name="Left Brace 4"/>
          <p:cNvSpPr/>
          <p:nvPr/>
        </p:nvSpPr>
        <p:spPr>
          <a:xfrm>
            <a:off x="1395017" y="2330246"/>
            <a:ext cx="309716" cy="132556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Left Brace 5"/>
          <p:cNvSpPr/>
          <p:nvPr/>
        </p:nvSpPr>
        <p:spPr>
          <a:xfrm>
            <a:off x="1395017" y="4717026"/>
            <a:ext cx="309716" cy="132556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197809" y="2805028"/>
            <a:ext cx="1026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JVM args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43" y="5056641"/>
            <a:ext cx="1487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main(</a:t>
            </a:r>
          </a:p>
          <a:p>
            <a:r>
              <a:rPr lang="fr-FR"/>
              <a:t> String[] args)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14" y="3900887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Main class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Cluster arguments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1464911" y="3071869"/>
            <a:ext cx="1144499" cy="649649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: Rounded Corners 4"/>
          <p:cNvSpPr/>
          <p:nvPr/>
        </p:nvSpPr>
        <p:spPr>
          <a:xfrm>
            <a:off x="5561391" y="2111466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5923468" y="1590701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  <p:sp>
        <p:nvSpPr>
          <p:cNvPr id="7" name="TextBox 6"/>
          <p:cNvSpPr txBox="1"/>
          <p:nvPr/>
        </p:nvSpPr>
        <p:spPr>
          <a:xfrm>
            <a:off x="1527806" y="2568666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Driver</a:t>
            </a:r>
            <a:endParaRPr lang="fr-FR" sz="2400"/>
          </a:p>
        </p:txBody>
      </p:sp>
      <p:sp>
        <p:nvSpPr>
          <p:cNvPr id="8" name="Rectangle: Rounded Corners 7"/>
          <p:cNvSpPr/>
          <p:nvPr/>
        </p:nvSpPr>
        <p:spPr>
          <a:xfrm>
            <a:off x="5713791" y="2263866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: Rounded Corners 8"/>
          <p:cNvSpPr/>
          <p:nvPr/>
        </p:nvSpPr>
        <p:spPr>
          <a:xfrm>
            <a:off x="5866191" y="2416266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: Rounded Corners 9"/>
          <p:cNvSpPr/>
          <p:nvPr/>
        </p:nvSpPr>
        <p:spPr>
          <a:xfrm>
            <a:off x="6018591" y="2568666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: Rounded Corners 12"/>
          <p:cNvSpPr/>
          <p:nvPr/>
        </p:nvSpPr>
        <p:spPr>
          <a:xfrm>
            <a:off x="7167639" y="3363685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Up-Down 13"/>
          <p:cNvSpPr/>
          <p:nvPr/>
        </p:nvSpPr>
        <p:spPr>
          <a:xfrm>
            <a:off x="4564743" y="2111466"/>
            <a:ext cx="482113" cy="351815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3849427" y="5706608"/>
            <a:ext cx="28029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/>
              <a:t>--</a:t>
            </a:r>
            <a:r>
              <a:rPr lang="fr-FR" sz="2400" b="1"/>
              <a:t>num-executors</a:t>
            </a:r>
            <a:r>
              <a:rPr lang="fr-FR" sz="2400" b="1"/>
              <a:t> 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47886" y="6284695"/>
            <a:ext cx="36963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/>
              <a:t>spark.executor.instances</a:t>
            </a:r>
            <a:r>
              <a:rPr lang="fr-FR" sz="2400"/>
              <a:t>=5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spark.executor.instances</a:t>
            </a:r>
            <a:br>
              <a:rPr lang="fr-FR"/>
            </a:br>
            <a:r>
              <a:rPr lang="fr-FR"/>
              <a:t>.. for </a:t>
            </a:r>
            <a:r>
              <a:rPr lang="fr-FR"/>
              <a:t>Static</a:t>
            </a:r>
            <a:r>
              <a:rPr lang="fr-FR"/>
              <a:t> allocation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442207" y="2827557"/>
            <a:ext cx="9307586" cy="854233"/>
          </a:xfrm>
          <a:prstGeom prst="rect">
            <a:avLst/>
          </a:prstGeom>
        </p:spPr>
      </p:pic>
      <p:sp>
        <p:nvSpPr>
          <p:cNvPr id="6" name="Title 1"/>
          <p:cNvSpPr txBox="1"/>
          <p:nvPr/>
        </p:nvSpPr>
        <p:spPr>
          <a:xfrm>
            <a:off x="724504" y="423318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/>
              <a:t>.. </a:t>
            </a:r>
            <a:r>
              <a:rPr lang="fr-FR"/>
              <a:t>See</a:t>
            </a:r>
            <a:r>
              <a:rPr lang="fr-FR"/>
              <a:t> </a:t>
            </a:r>
            <a:r>
              <a:rPr lang="fr-FR"/>
              <a:t>also</a:t>
            </a:r>
            <a:r>
              <a:rPr lang="fr-FR"/>
              <a:t>  Dynamic Allocation</a:t>
            </a:r>
          </a:p>
        </p:txBody>
      </p:sp>
      <p:sp>
        <p:nvSpPr>
          <p:cNvPr id="7" name="Oval 6"/>
          <p:cNvSpPr/>
          <p:nvPr/>
        </p:nvSpPr>
        <p:spPr>
          <a:xfrm>
            <a:off x="6637867" y="3125410"/>
            <a:ext cx="2327123" cy="30359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Down 7"/>
          <p:cNvSpPr/>
          <p:nvPr/>
        </p:nvSpPr>
        <p:spPr>
          <a:xfrm rot="1041316">
            <a:off x="6681408" y="3614915"/>
            <a:ext cx="270934" cy="9095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3518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Dynamic Allocation</a:t>
            </a:r>
          </a:p>
        </p:txBody>
      </p:sp>
      <p:sp>
        <p:nvSpPr>
          <p:cNvPr id="6" name="Rectangle: Rounded Corners 5"/>
          <p:cNvSpPr/>
          <p:nvPr/>
        </p:nvSpPr>
        <p:spPr>
          <a:xfrm>
            <a:off x="1820729" y="2718510"/>
            <a:ext cx="1144499" cy="649649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1962787" y="2256845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Driver</a:t>
            </a:r>
            <a:endParaRPr lang="fr-FR" sz="2400"/>
          </a:p>
        </p:txBody>
      </p:sp>
      <p:sp>
        <p:nvSpPr>
          <p:cNvPr id="8" name="Rectangle: Rounded Corners 7"/>
          <p:cNvSpPr/>
          <p:nvPr/>
        </p:nvSpPr>
        <p:spPr>
          <a:xfrm>
            <a:off x="4964788" y="2256845"/>
            <a:ext cx="2496457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: Rounded Corners 8"/>
          <p:cNvSpPr/>
          <p:nvPr/>
        </p:nvSpPr>
        <p:spPr>
          <a:xfrm>
            <a:off x="5273174" y="1986280"/>
            <a:ext cx="2496457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Down 9"/>
          <p:cNvSpPr/>
          <p:nvPr/>
        </p:nvSpPr>
        <p:spPr>
          <a:xfrm rot="19043743">
            <a:off x="8081085" y="3392489"/>
            <a:ext cx="575733" cy="7063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8742316" y="2523176"/>
            <a:ext cx="929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Upscale</a:t>
            </a:r>
            <a:endParaRPr lang="fr-FR" b="1"/>
          </a:p>
        </p:txBody>
      </p:sp>
      <p:sp>
        <p:nvSpPr>
          <p:cNvPr id="12" name="Arrow: Down 11"/>
          <p:cNvSpPr/>
          <p:nvPr/>
        </p:nvSpPr>
        <p:spPr>
          <a:xfrm rot="12828780">
            <a:off x="8737223" y="2937665"/>
            <a:ext cx="575733" cy="7063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8528423" y="4030893"/>
            <a:ext cx="1220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Downscale</a:t>
            </a:r>
            <a:endParaRPr lang="fr-FR" b="1"/>
          </a:p>
        </p:txBody>
      </p:sp>
      <p:sp>
        <p:nvSpPr>
          <p:cNvPr id="14" name="Arrow: Down 13"/>
          <p:cNvSpPr/>
          <p:nvPr/>
        </p:nvSpPr>
        <p:spPr>
          <a:xfrm rot="12828780">
            <a:off x="10557309" y="2413911"/>
            <a:ext cx="575733" cy="7063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Down 14"/>
          <p:cNvSpPr/>
          <p:nvPr/>
        </p:nvSpPr>
        <p:spPr>
          <a:xfrm rot="19043743">
            <a:off x="9808521" y="2923854"/>
            <a:ext cx="575733" cy="7063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3898009" y="5271879"/>
            <a:ext cx="52951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--conf spark.dynamic</a:t>
            </a:r>
            <a:r>
              <a:rPr lang="fr-FR" sz="2400" b="1"/>
              <a:t>.allocation.enabled</a:t>
            </a:r>
            <a:r>
              <a:rPr lang="fr-FR" sz="2400" b="1"/>
              <a:t> </a:t>
            </a:r>
            <a:r>
              <a:rPr lang="fr-FR" sz="2400" b="1"/>
              <a:t>true</a:t>
            </a:r>
            <a:endParaRPr lang="fr-FR" sz="2400" b="1"/>
          </a:p>
        </p:txBody>
      </p:sp>
      <p:sp>
        <p:nvSpPr>
          <p:cNvPr id="18" name="TextBox 17"/>
          <p:cNvSpPr txBox="1"/>
          <p:nvPr/>
        </p:nvSpPr>
        <p:spPr>
          <a:xfrm>
            <a:off x="2736895" y="6212328"/>
            <a:ext cx="81687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/>
              <a:t>--conf spark.dynamic</a:t>
            </a:r>
            <a:r>
              <a:rPr lang="fr-FR" sz="1800" b="1"/>
              <a:t>.allocation</a:t>
            </a:r>
            <a:r>
              <a:rPr lang="fr-FR" sz="1800" b="1"/>
              <a:t>.</a:t>
            </a:r>
            <a:r>
              <a:rPr lang="fr-FR" b="1" i="0">
                <a:solidFill>
                  <a:srgbClr val="444444"/>
                </a:solidFill>
                <a:latin typeface="Menlo"/>
              </a:rPr>
              <a:t>{min | max | </a:t>
            </a:r>
            <a:r>
              <a:rPr lang="fr-FR" b="1" i="0">
                <a:solidFill>
                  <a:srgbClr val="444444"/>
                </a:solidFill>
                <a:latin typeface="Menlo"/>
              </a:rPr>
              <a:t>initialExecutors</a:t>
            </a:r>
            <a:r>
              <a:rPr lang="fr-FR" b="1" i="0">
                <a:solidFill>
                  <a:srgbClr val="444444"/>
                </a:solidFill>
                <a:latin typeface="Menlo"/>
              </a:rPr>
              <a:t> | </a:t>
            </a:r>
            <a:r>
              <a:rPr lang="fr-FR" b="1" i="0">
                <a:solidFill>
                  <a:srgbClr val="444444"/>
                </a:solidFill>
                <a:latin typeface="Menlo"/>
              </a:rPr>
              <a:t>executorIdleTimeout</a:t>
            </a:r>
            <a:r>
              <a:rPr lang="fr-FR" b="1" i="0">
                <a:solidFill>
                  <a:srgbClr val="444444"/>
                </a:solidFill>
                <a:latin typeface="Menlo"/>
              </a:rPr>
              <a:t> | … }</a:t>
            </a:r>
            <a:endParaRPr lang="fr-FR" b="1"/>
          </a:p>
        </p:txBody>
      </p:sp>
      <p:sp>
        <p:nvSpPr>
          <p:cNvPr id="19" name="TextBox 18"/>
          <p:cNvSpPr txBox="1"/>
          <p:nvPr/>
        </p:nvSpPr>
        <p:spPr>
          <a:xfrm>
            <a:off x="5368028" y="1409877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998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Dynamic Allocation arguments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028496" y="1227731"/>
            <a:ext cx="5762323" cy="561585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44" y="0"/>
            <a:ext cx="11925903" cy="92912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Dynamic Spark + Dynamic K8s Cloud Cluster</a:t>
            </a:r>
          </a:p>
        </p:txBody>
      </p:sp>
      <p:pic>
        <p:nvPicPr>
          <p:cNvPr id="4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9381" y="2754833"/>
            <a:ext cx="1003781" cy="979882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>
          <a:xfrm>
            <a:off x="4044087" y="3589610"/>
            <a:ext cx="3989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Worker Node</a:t>
            </a:r>
            <a:r>
              <a:rPr lang="fr-FR"/>
              <a:t> (Virtual Machine via Cloud)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7099" y="4037964"/>
            <a:ext cx="3619724" cy="23744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765317" y="4592142"/>
            <a:ext cx="915912" cy="1373375"/>
          </a:xfrm>
          <a:prstGeom prst="rect">
            <a:avLst/>
          </a:prstGeom>
          <a:noFill/>
        </p:spPr>
      </p:pic>
      <p:sp>
        <p:nvSpPr>
          <p:cNvPr id="12" name="Rectangle: Rounded Corners 11"/>
          <p:cNvSpPr/>
          <p:nvPr/>
        </p:nvSpPr>
        <p:spPr>
          <a:xfrm>
            <a:off x="4676489" y="5572663"/>
            <a:ext cx="1327692" cy="369332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: Rounded Corners 12"/>
          <p:cNvSpPr/>
          <p:nvPr/>
        </p:nvSpPr>
        <p:spPr>
          <a:xfrm>
            <a:off x="5485544" y="4176418"/>
            <a:ext cx="1327692" cy="367960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Down 14"/>
          <p:cNvSpPr/>
          <p:nvPr/>
        </p:nvSpPr>
        <p:spPr>
          <a:xfrm rot="13518465">
            <a:off x="5702181" y="4678196"/>
            <a:ext cx="452123" cy="42005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6136237" y="4587878"/>
            <a:ext cx="16857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1) </a:t>
            </a:r>
            <a:r>
              <a:rPr lang="fr-FR"/>
              <a:t>Upscale</a:t>
            </a:r>
            <a:endParaRPr lang="fr-FR"/>
          </a:p>
          <a:p>
            <a:r>
              <a:rPr lang="fr-FR"/>
              <a:t>.. </a:t>
            </a:r>
            <a:r>
              <a:rPr lang="fr-FR"/>
              <a:t>Add</a:t>
            </a:r>
            <a:r>
              <a:rPr lang="fr-FR"/>
              <a:t> POD </a:t>
            </a:r>
          </a:p>
          <a:p>
            <a:r>
              <a:rPr lang="fr-FR"/>
              <a:t>in </a:t>
            </a:r>
            <a:r>
              <a:rPr lang="fr-FR"/>
              <a:t>Existing</a:t>
            </a:r>
            <a:r>
              <a:rPr lang="fr-FR"/>
              <a:t> Node</a:t>
            </a:r>
          </a:p>
        </p:txBody>
      </p:sp>
      <p:sp>
        <p:nvSpPr>
          <p:cNvPr id="17" name="Arrow: Down 16"/>
          <p:cNvSpPr/>
          <p:nvPr/>
        </p:nvSpPr>
        <p:spPr>
          <a:xfrm rot="19043743">
            <a:off x="9601055" y="3552396"/>
            <a:ext cx="575733" cy="7063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8380748" y="1387323"/>
            <a:ext cx="2496320" cy="204167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" name="Picture 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960132" y="1978241"/>
            <a:ext cx="915912" cy="1373375"/>
          </a:xfrm>
          <a:prstGeom prst="rect">
            <a:avLst/>
          </a:prstGeom>
          <a:noFill/>
        </p:spPr>
      </p:pic>
      <p:sp>
        <p:nvSpPr>
          <p:cNvPr id="21" name="TextBox 20"/>
          <p:cNvSpPr txBox="1"/>
          <p:nvPr/>
        </p:nvSpPr>
        <p:spPr>
          <a:xfrm>
            <a:off x="4499165" y="1635195"/>
            <a:ext cx="320267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2) </a:t>
            </a:r>
            <a:r>
              <a:rPr lang="fr-FR"/>
              <a:t>Upscale</a:t>
            </a:r>
            <a:r>
              <a:rPr lang="fr-FR"/>
              <a:t> "</a:t>
            </a:r>
            <a:r>
              <a:rPr lang="fr-FR"/>
              <a:t>NodePool</a:t>
            </a:r>
            <a:r>
              <a:rPr lang="fr-FR"/>
              <a:t>"</a:t>
            </a:r>
          </a:p>
          <a:p>
            <a:r>
              <a:rPr lang="fr-FR"/>
              <a:t>=&gt; </a:t>
            </a:r>
            <a:r>
              <a:rPr lang="fr-FR"/>
              <a:t>Allocate</a:t>
            </a:r>
            <a:r>
              <a:rPr lang="fr-FR"/>
              <a:t> NEW </a:t>
            </a:r>
            <a:r>
              <a:rPr lang="fr-FR"/>
              <a:t>Worker</a:t>
            </a:r>
            <a:r>
              <a:rPr lang="fr-FR"/>
              <a:t> (VM)</a:t>
            </a:r>
          </a:p>
          <a:p>
            <a:br>
              <a:rPr lang="fr-FR"/>
            </a:br>
            <a:r>
              <a:rPr lang="fr-FR"/>
              <a:t>.. for </a:t>
            </a:r>
            <a:r>
              <a:rPr lang="fr-FR"/>
              <a:t>Pending</a:t>
            </a:r>
            <a:r>
              <a:rPr lang="fr-FR"/>
              <a:t> « </a:t>
            </a:r>
            <a:r>
              <a:rPr lang="fr-FR"/>
              <a:t>spark</a:t>
            </a:r>
            <a:r>
              <a:rPr lang="fr-FR"/>
              <a:t> </a:t>
            </a:r>
            <a:r>
              <a:rPr lang="fr-FR"/>
              <a:t>executor</a:t>
            </a:r>
            <a:r>
              <a:rPr lang="fr-FR"/>
              <a:t> »</a:t>
            </a:r>
          </a:p>
          <a:p>
            <a:endParaRPr lang="fr-FR"/>
          </a:p>
        </p:txBody>
      </p:sp>
      <p:sp>
        <p:nvSpPr>
          <p:cNvPr id="23" name="Rectangle 22"/>
          <p:cNvSpPr/>
          <p:nvPr/>
        </p:nvSpPr>
        <p:spPr>
          <a:xfrm>
            <a:off x="874729" y="4357733"/>
            <a:ext cx="2212938" cy="167782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Picture 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53735" y="4662179"/>
            <a:ext cx="915912" cy="1373375"/>
          </a:xfrm>
          <a:prstGeom prst="rect">
            <a:avLst/>
          </a:prstGeom>
          <a:noFill/>
        </p:spPr>
      </p:pic>
      <p:sp>
        <p:nvSpPr>
          <p:cNvPr id="25" name="Rectangle: Rounded Corners 24"/>
          <p:cNvSpPr/>
          <p:nvPr/>
        </p:nvSpPr>
        <p:spPr>
          <a:xfrm>
            <a:off x="1471739" y="4801871"/>
            <a:ext cx="1327692" cy="429701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Box 25"/>
          <p:cNvSpPr txBox="1"/>
          <p:nvPr/>
        </p:nvSpPr>
        <p:spPr>
          <a:xfrm>
            <a:off x="1519607" y="4749917"/>
            <a:ext cx="1042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Driver</a:t>
            </a:r>
            <a:endParaRPr lang="fr-FR" sz="2400"/>
          </a:p>
        </p:txBody>
      </p:sp>
      <p:sp>
        <p:nvSpPr>
          <p:cNvPr id="27" name="TextBox 26"/>
          <p:cNvSpPr txBox="1"/>
          <p:nvPr/>
        </p:nvSpPr>
        <p:spPr>
          <a:xfrm>
            <a:off x="4694765" y="5522247"/>
            <a:ext cx="1327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  <p:sp>
        <p:nvSpPr>
          <p:cNvPr id="28" name="TextBox 27"/>
          <p:cNvSpPr txBox="1"/>
          <p:nvPr/>
        </p:nvSpPr>
        <p:spPr>
          <a:xfrm>
            <a:off x="5523482" y="4120338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  <p:sp>
        <p:nvSpPr>
          <p:cNvPr id="30" name="Arrow: Down 29"/>
          <p:cNvSpPr/>
          <p:nvPr/>
        </p:nvSpPr>
        <p:spPr>
          <a:xfrm rot="13276045">
            <a:off x="6893242" y="2810014"/>
            <a:ext cx="575733" cy="7063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/>
          <p:cNvSpPr txBox="1"/>
          <p:nvPr/>
        </p:nvSpPr>
        <p:spPr>
          <a:xfrm>
            <a:off x="9015489" y="4193108"/>
            <a:ext cx="31765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3) </a:t>
            </a:r>
            <a:r>
              <a:rPr lang="fr-FR"/>
              <a:t>Downscale</a:t>
            </a:r>
            <a:r>
              <a:rPr lang="fr-FR"/>
              <a:t> "</a:t>
            </a:r>
            <a:r>
              <a:rPr lang="fr-FR"/>
              <a:t>NodePool</a:t>
            </a:r>
            <a:r>
              <a:rPr lang="fr-FR"/>
              <a:t>"</a:t>
            </a:r>
          </a:p>
          <a:p>
            <a:r>
              <a:rPr lang="fr-FR"/>
              <a:t>OR Spot VM </a:t>
            </a:r>
            <a:r>
              <a:rPr lang="fr-FR"/>
              <a:t>reclaimed</a:t>
            </a:r>
            <a:r>
              <a:rPr lang="fr-FR"/>
              <a:t> by Cloud</a:t>
            </a:r>
          </a:p>
        </p:txBody>
      </p:sp>
      <p:sp>
        <p:nvSpPr>
          <p:cNvPr id="33" name="Arrow: Down 32"/>
          <p:cNvSpPr/>
          <p:nvPr/>
        </p:nvSpPr>
        <p:spPr>
          <a:xfrm rot="8806669">
            <a:off x="1663267" y="2134409"/>
            <a:ext cx="374397" cy="5639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Arrow: Down 33"/>
          <p:cNvSpPr/>
          <p:nvPr/>
        </p:nvSpPr>
        <p:spPr>
          <a:xfrm rot="12654412">
            <a:off x="1497510" y="3737669"/>
            <a:ext cx="374397" cy="5639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Arrow: Down 34"/>
          <p:cNvSpPr/>
          <p:nvPr/>
        </p:nvSpPr>
        <p:spPr>
          <a:xfrm rot="2236944">
            <a:off x="2363823" y="2158536"/>
            <a:ext cx="374397" cy="5639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122" name="Picture 2" descr="Découverte de AKS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354996" y="982001"/>
            <a:ext cx="1722660" cy="965643"/>
          </a:xfrm>
          <a:prstGeom prst="rect">
            <a:avLst/>
          </a:prstGeom>
          <a:noFill/>
        </p:spPr>
      </p:pic>
      <p:pic>
        <p:nvPicPr>
          <p:cNvPr id="36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898104" y="4072176"/>
            <a:ext cx="518763" cy="506412"/>
          </a:xfrm>
          <a:prstGeom prst="rect">
            <a:avLst/>
          </a:prstGeom>
          <a:noFill/>
        </p:spPr>
      </p:pic>
      <p:pic>
        <p:nvPicPr>
          <p:cNvPr id="37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041194" y="1445033"/>
            <a:ext cx="518763" cy="506412"/>
          </a:xfrm>
          <a:prstGeom prst="rect">
            <a:avLst/>
          </a:prstGeom>
          <a:noFill/>
        </p:spPr>
      </p:pic>
      <p:sp>
        <p:nvSpPr>
          <p:cNvPr id="38" name="TextBox 37"/>
          <p:cNvSpPr txBox="1"/>
          <p:nvPr/>
        </p:nvSpPr>
        <p:spPr>
          <a:xfrm>
            <a:off x="522984" y="2161383"/>
            <a:ext cx="11113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Alloc/free</a:t>
            </a:r>
          </a:p>
          <a:p>
            <a:r>
              <a:rPr lang="fr-FR"/>
              <a:t>resource</a:t>
            </a:r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2775660" y="2164544"/>
            <a:ext cx="10903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1mn to </a:t>
            </a:r>
          </a:p>
          <a:p>
            <a:r>
              <a:rPr lang="fr-FR"/>
              <a:t>quit</a:t>
            </a:r>
            <a:r>
              <a:rPr lang="fr-FR"/>
              <a:t> Spot </a:t>
            </a:r>
          </a:p>
        </p:txBody>
      </p:sp>
      <p:sp>
        <p:nvSpPr>
          <p:cNvPr id="3" name="Rectangle: Rounded Corners 2"/>
          <p:cNvSpPr/>
          <p:nvPr/>
        </p:nvSpPr>
        <p:spPr>
          <a:xfrm>
            <a:off x="4460556" y="5986113"/>
            <a:ext cx="1327692" cy="369332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4499165" y="5914475"/>
            <a:ext cx="1327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783" y="0"/>
            <a:ext cx="11993217" cy="115294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dynamicAllocation</a:t>
            </a:r>
            <a:r>
              <a:rPr lang="fr-FR"/>
              <a:t> </a:t>
            </a:r>
            <a:br>
              <a:rPr lang="fr-FR"/>
            </a:br>
            <a:r>
              <a:rPr lang="fr-FR"/>
              <a:t>&lt;==&gt;  K8s </a:t>
            </a:r>
            <a:r>
              <a:rPr lang="fr-FR"/>
              <a:t>NodePool</a:t>
            </a:r>
            <a:r>
              <a:rPr lang="fr-FR"/>
              <a:t> </a:t>
            </a:r>
            <a:r>
              <a:rPr lang="fr-FR"/>
              <a:t>autoScaling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1010346" y="2881560"/>
            <a:ext cx="3856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allocating</a:t>
            </a:r>
            <a:r>
              <a:rPr lang="fr-FR"/>
              <a:t>  new (applicative) "</a:t>
            </a:r>
            <a:r>
              <a:rPr lang="fr-FR"/>
              <a:t>executor</a:t>
            </a:r>
            <a:r>
              <a:rPr lang="fr-FR"/>
              <a:t>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346" y="3896135"/>
            <a:ext cx="3291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releasing (applicative) "</a:t>
            </a:r>
            <a:r>
              <a:rPr lang="fr-FR"/>
              <a:t>executor</a:t>
            </a:r>
            <a:r>
              <a:rPr lang="fr-FR"/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65" y="2510648"/>
            <a:ext cx="7149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 =&gt;   </a:t>
            </a:r>
            <a:r>
              <a:rPr lang="fr-FR"/>
              <a:t>need</a:t>
            </a:r>
            <a:r>
              <a:rPr lang="fr-FR"/>
              <a:t> more k8s </a:t>
            </a:r>
            <a:r>
              <a:rPr lang="fr-FR"/>
              <a:t>resources</a:t>
            </a:r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4299916" y="2175616"/>
            <a:ext cx="7656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 =&gt; </a:t>
            </a:r>
            <a:r>
              <a:rPr lang="fr-FR"/>
              <a:t>when</a:t>
            </a:r>
            <a:r>
              <a:rPr lang="fr-FR"/>
              <a:t> full:  </a:t>
            </a:r>
            <a:r>
              <a:rPr lang="fr-FR"/>
              <a:t>NodePool</a:t>
            </a:r>
            <a:r>
              <a:rPr lang="fr-FR"/>
              <a:t> "</a:t>
            </a:r>
            <a:r>
              <a:rPr lang="fr-FR"/>
              <a:t>TriggerScaleUp</a:t>
            </a:r>
            <a:r>
              <a:rPr lang="fr-FR"/>
              <a:t>"   (VM </a:t>
            </a:r>
            <a:r>
              <a:rPr lang="fr-FR"/>
              <a:t>provisioning</a:t>
            </a:r>
            <a:r>
              <a:rPr lang="fr-FR"/>
              <a:t> </a:t>
            </a:r>
            <a:r>
              <a:rPr lang="fr-FR"/>
              <a:t>may</a:t>
            </a:r>
            <a:r>
              <a:rPr lang="fr-FR"/>
              <a:t> </a:t>
            </a:r>
            <a:r>
              <a:rPr lang="fr-FR"/>
              <a:t>take</a:t>
            </a:r>
            <a:r>
              <a:rPr lang="fr-FR"/>
              <a:t> ~3mn)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6551" y="4267047"/>
            <a:ext cx="6095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 =&gt;   use </a:t>
            </a:r>
            <a:r>
              <a:rPr lang="fr-FR"/>
              <a:t>less</a:t>
            </a:r>
            <a:r>
              <a:rPr lang="fr-FR"/>
              <a:t> k8s </a:t>
            </a:r>
            <a:r>
              <a:rPr lang="fr-FR"/>
              <a:t>resources</a:t>
            </a:r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4303644" y="4656737"/>
            <a:ext cx="77922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=&gt; </a:t>
            </a:r>
            <a:r>
              <a:rPr lang="fr-FR"/>
              <a:t>when</a:t>
            </a:r>
            <a:r>
              <a:rPr lang="fr-FR"/>
              <a:t> </a:t>
            </a:r>
            <a:r>
              <a:rPr lang="fr-FR"/>
              <a:t>empty</a:t>
            </a:r>
            <a:r>
              <a:rPr lang="fr-FR"/>
              <a:t>  (0 running </a:t>
            </a:r>
            <a:r>
              <a:rPr lang="fr-FR"/>
              <a:t>pod</a:t>
            </a:r>
            <a:r>
              <a:rPr lang="fr-FR"/>
              <a:t> on Node), VM </a:t>
            </a:r>
            <a:r>
              <a:rPr lang="fr-FR"/>
              <a:t>could</a:t>
            </a:r>
            <a:r>
              <a:rPr lang="fr-FR"/>
              <a:t> </a:t>
            </a:r>
            <a:r>
              <a:rPr lang="fr-FR"/>
              <a:t>be</a:t>
            </a:r>
            <a:r>
              <a:rPr lang="fr-FR"/>
              <a:t> </a:t>
            </a:r>
            <a:r>
              <a:rPr lang="fr-FR"/>
              <a:t>evicted</a:t>
            </a:r>
            <a:r>
              <a:rPr lang="fr-FR"/>
              <a:t> </a:t>
            </a:r>
            <a:r>
              <a:rPr lang="fr-FR"/>
              <a:t>from</a:t>
            </a:r>
            <a:r>
              <a:rPr lang="fr-FR"/>
              <a:t> </a:t>
            </a:r>
            <a:r>
              <a:rPr lang="fr-FR"/>
              <a:t>NodePool</a:t>
            </a:r>
            <a:endParaRPr lang="fr-FR"/>
          </a:p>
          <a:p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5065231" y="1745171"/>
            <a:ext cx="6095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=&gt; more (system) </a:t>
            </a:r>
            <a:r>
              <a:rPr lang="fr-FR"/>
              <a:t>VMs</a:t>
            </a:r>
            <a:r>
              <a:rPr lang="fr-FR"/>
              <a:t> </a:t>
            </a:r>
            <a:r>
              <a:rPr lang="fr-FR"/>
              <a:t>from</a:t>
            </a:r>
            <a:r>
              <a:rPr lang="fr-FR"/>
              <a:t> Cloud Provider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2258" y="5499030"/>
            <a:ext cx="6269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=&gt; </a:t>
            </a:r>
            <a:r>
              <a:rPr lang="fr-FR"/>
              <a:t>less</a:t>
            </a:r>
            <a:r>
              <a:rPr lang="fr-FR"/>
              <a:t> (system) </a:t>
            </a:r>
            <a:r>
              <a:rPr lang="fr-FR"/>
              <a:t>VMs</a:t>
            </a:r>
            <a:r>
              <a:rPr lang="fr-FR"/>
              <a:t> </a:t>
            </a:r>
            <a:r>
              <a:rPr lang="fr-FR"/>
              <a:t>from</a:t>
            </a:r>
            <a:r>
              <a:rPr lang="fr-FR"/>
              <a:t> Cloud Provider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783" y="4991769"/>
            <a:ext cx="37495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(</a:t>
            </a:r>
            <a:r>
              <a:rPr lang="fr-FR"/>
              <a:t>example</a:t>
            </a:r>
            <a:r>
              <a:rPr lang="fr-FR"/>
              <a:t>: configure </a:t>
            </a:r>
            <a:r>
              <a:rPr lang="fr-FR"/>
              <a:t>with</a:t>
            </a:r>
            <a:r>
              <a:rPr lang="fr-FR"/>
              <a:t> 15mn </a:t>
            </a:r>
            <a:r>
              <a:rPr lang="fr-FR"/>
              <a:t>delay</a:t>
            </a:r>
            <a:r>
              <a:rPr lang="fr-FR"/>
              <a:t>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K8s </a:t>
            </a:r>
            <a:r>
              <a:rPr lang="fr-FR"/>
              <a:t>NodePool</a:t>
            </a:r>
            <a:r>
              <a:rPr lang="fr-FR"/>
              <a:t>, </a:t>
            </a:r>
            <a:r>
              <a:rPr lang="fr-FR"/>
              <a:t>Affinity</a:t>
            </a:r>
            <a:r>
              <a:rPr lang="fr-FR"/>
              <a:t>, </a:t>
            </a:r>
            <a:r>
              <a:rPr lang="fr-FR"/>
              <a:t>Toleration</a:t>
            </a:r>
            <a:r>
              <a:rPr lang="fr-FR"/>
              <a:t>, Spot VM ..</a:t>
            </a:r>
          </a:p>
        </p:txBody>
      </p:sp>
      <p:pic>
        <p:nvPicPr>
          <p:cNvPr id="4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04042" y="4328782"/>
            <a:ext cx="1003781" cy="979882"/>
          </a:xfrm>
          <a:prstGeom prst="rect">
            <a:avLst/>
          </a:prstGeom>
          <a:noFill/>
        </p:spPr>
      </p:pic>
      <p:pic>
        <p:nvPicPr>
          <p:cNvPr id="5" name="Picture 2" descr="Découverte de AKS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4139" y="2152820"/>
            <a:ext cx="1722660" cy="965643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3034578" y="3959961"/>
            <a:ext cx="3003365" cy="1717524"/>
          </a:xfrm>
          <a:prstGeom prst="rect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33448" y="4405066"/>
            <a:ext cx="645166" cy="967402"/>
          </a:xfrm>
          <a:prstGeom prst="rect">
            <a:avLst/>
          </a:prstGeom>
          <a:noFill/>
        </p:spPr>
      </p:pic>
      <p:pic>
        <p:nvPicPr>
          <p:cNvPr id="10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251598" y="4405064"/>
            <a:ext cx="645167" cy="967403"/>
          </a:xfrm>
          <a:prstGeom prst="rect">
            <a:avLst/>
          </a:prstGeom>
          <a:noFill/>
        </p:spPr>
      </p:pic>
      <p:pic>
        <p:nvPicPr>
          <p:cNvPr id="11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169749" y="4405064"/>
            <a:ext cx="645167" cy="967403"/>
          </a:xfrm>
          <a:prstGeom prst="rect">
            <a:avLst/>
          </a:prstGeom>
          <a:noFill/>
        </p:spPr>
      </p:pic>
      <p:sp>
        <p:nvSpPr>
          <p:cNvPr id="12" name="TextBox 11"/>
          <p:cNvSpPr txBox="1"/>
          <p:nvPr/>
        </p:nvSpPr>
        <p:spPr>
          <a:xfrm>
            <a:off x="2685142" y="2599908"/>
            <a:ext cx="41591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Node Pool 1</a:t>
            </a:r>
          </a:p>
          <a:p>
            <a:endParaRPr lang="fr-FR"/>
          </a:p>
          <a:p>
            <a:r>
              <a:rPr lang="fr-FR"/>
              <a:t>Small </a:t>
            </a:r>
            <a:r>
              <a:rPr lang="fr-FR"/>
              <a:t>VMs</a:t>
            </a:r>
            <a:r>
              <a:rPr lang="fr-FR"/>
              <a:t>  … </a:t>
            </a:r>
            <a:r>
              <a:rPr lang="fr-FR"/>
              <a:t>reserved</a:t>
            </a:r>
            <a:endParaRPr lang="fr-FR"/>
          </a:p>
          <a:p>
            <a:r>
              <a:rPr lang="fr-FR"/>
              <a:t> =&gt; for long running services, </a:t>
            </a:r>
            <a:r>
              <a:rPr lang="fr-FR"/>
              <a:t>spark</a:t>
            </a:r>
            <a:r>
              <a:rPr lang="fr-FR"/>
              <a:t> Drivers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17374" y="3635808"/>
            <a:ext cx="4878128" cy="2281182"/>
          </a:xfrm>
          <a:prstGeom prst="rect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416875" y="3823256"/>
            <a:ext cx="1220885" cy="1830671"/>
          </a:xfrm>
          <a:prstGeom prst="rect">
            <a:avLst/>
          </a:prstGeom>
          <a:noFill/>
        </p:spPr>
      </p:pic>
      <p:sp>
        <p:nvSpPr>
          <p:cNvPr id="17" name="Arrow: Down 16"/>
          <p:cNvSpPr/>
          <p:nvPr/>
        </p:nvSpPr>
        <p:spPr>
          <a:xfrm rot="19043743">
            <a:off x="8190411" y="6018633"/>
            <a:ext cx="575733" cy="7063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Down 17"/>
          <p:cNvSpPr/>
          <p:nvPr/>
        </p:nvSpPr>
        <p:spPr>
          <a:xfrm rot="12828780">
            <a:off x="8943966" y="5659340"/>
            <a:ext cx="575733" cy="7063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Down 18"/>
          <p:cNvSpPr/>
          <p:nvPr/>
        </p:nvSpPr>
        <p:spPr>
          <a:xfrm rot="12828780">
            <a:off x="10709596" y="4945032"/>
            <a:ext cx="575733" cy="7063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789622" y="3800237"/>
            <a:ext cx="1220885" cy="1830671"/>
          </a:xfrm>
          <a:prstGeom prst="rect">
            <a:avLst/>
          </a:prstGeom>
          <a:noFill/>
        </p:spPr>
      </p:pic>
      <p:sp>
        <p:nvSpPr>
          <p:cNvPr id="20" name="Arrow: Down 19"/>
          <p:cNvSpPr/>
          <p:nvPr/>
        </p:nvSpPr>
        <p:spPr>
          <a:xfrm rot="19043743">
            <a:off x="9857251" y="5432278"/>
            <a:ext cx="575733" cy="7063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7322637" y="1895053"/>
            <a:ext cx="36926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Node Pool 2</a:t>
            </a:r>
          </a:p>
          <a:p>
            <a:endParaRPr lang="fr-FR"/>
          </a:p>
          <a:p>
            <a:r>
              <a:rPr lang="fr-FR"/>
              <a:t>Big </a:t>
            </a:r>
            <a:r>
              <a:rPr lang="fr-FR"/>
              <a:t>VMs</a:t>
            </a:r>
            <a:r>
              <a:rPr lang="fr-FR"/>
              <a:t>  … « SPOT »  </a:t>
            </a:r>
          </a:p>
          <a:p>
            <a:r>
              <a:rPr lang="fr-FR"/>
              <a:t>(</a:t>
            </a:r>
            <a:r>
              <a:rPr lang="fr-FR"/>
              <a:t>cheaper</a:t>
            </a:r>
            <a:r>
              <a:rPr lang="fr-FR"/>
              <a:t>, </a:t>
            </a:r>
            <a:r>
              <a:rPr lang="fr-FR"/>
              <a:t>may</a:t>
            </a:r>
            <a:r>
              <a:rPr lang="fr-FR"/>
              <a:t> </a:t>
            </a:r>
            <a:r>
              <a:rPr lang="fr-FR"/>
              <a:t>be</a:t>
            </a:r>
            <a:r>
              <a:rPr lang="fr-FR"/>
              <a:t> </a:t>
            </a:r>
            <a:r>
              <a:rPr lang="fr-FR"/>
              <a:t>reclaimed</a:t>
            </a:r>
            <a:r>
              <a:rPr lang="fr-FR"/>
              <a:t> by cloud)</a:t>
            </a:r>
          </a:p>
          <a:p>
            <a:r>
              <a:rPr lang="fr-FR"/>
              <a:t> =&gt; for </a:t>
            </a:r>
            <a:r>
              <a:rPr lang="fr-FR"/>
              <a:t>spark</a:t>
            </a:r>
            <a:r>
              <a:rPr lang="fr-FR"/>
              <a:t> </a:t>
            </a:r>
            <a:r>
              <a:rPr lang="fr-FR"/>
              <a:t>Executors</a:t>
            </a:r>
            <a:endParaRPr lang="fr-F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374491"/>
            <a:ext cx="10515600" cy="2109019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Use CPU Resource: 100% or sharing 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431" y="0"/>
            <a:ext cx="11722704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CPU</a:t>
            </a:r>
            <a:r>
              <a:rPr lang="fr-FR"/>
              <a:t> </a:t>
            </a:r>
            <a:r>
              <a:rPr lang="fr-FR"/>
              <a:t>Cores</a:t>
            </a:r>
            <a:r>
              <a:rPr lang="fr-FR"/>
              <a:t> &lt;-&gt; Threads &lt;-&gt; max Active </a:t>
            </a:r>
            <a:r>
              <a:rPr lang="fr-FR"/>
              <a:t>Tasks</a:t>
            </a:r>
            <a:endParaRPr lang="fr-FR"/>
          </a:p>
        </p:txBody>
      </p:sp>
      <p:pic>
        <p:nvPicPr>
          <p:cNvPr id="4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901802" y="1524891"/>
            <a:ext cx="828887" cy="1242884"/>
          </a:xfrm>
          <a:prstGeom prst="rect">
            <a:avLst/>
          </a:prstGeom>
          <a:noFill/>
        </p:spPr>
      </p:pic>
      <p:pic>
        <p:nvPicPr>
          <p:cNvPr id="10242" name="Picture 2" descr="What is the difference between 4 core and 4 CPU? - Quor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73943" y="4538714"/>
            <a:ext cx="2733675" cy="1666875"/>
          </a:xfrm>
          <a:prstGeom prst="rect">
            <a:avLst/>
          </a:prstGeom>
          <a:noFill/>
        </p:spPr>
      </p:pic>
      <p:pic>
        <p:nvPicPr>
          <p:cNvPr id="10244" name="Picture 4" descr="How many CPU cores do you have? How to check | PCWorld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642481" y="3085117"/>
            <a:ext cx="1473242" cy="1029626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>
          <a:xfrm>
            <a:off x="6870095" y="2972499"/>
            <a:ext cx="1477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Pool Thread 1</a:t>
            </a:r>
          </a:p>
        </p:txBody>
      </p:sp>
      <p:grpSp>
        <p:nvGrpSpPr>
          <p:cNvPr id="42" name="Group 41"/>
          <p:cNvGrpSpPr/>
          <p:nvPr/>
        </p:nvGrpSpPr>
        <p:grpSpPr>
          <a:xfrm>
            <a:off x="8302170" y="3950378"/>
            <a:ext cx="287866" cy="1088332"/>
            <a:chOff x="7799008" y="3561078"/>
            <a:chExt cx="287866" cy="1088332"/>
          </a:xfrm>
        </p:grpSpPr>
        <p:cxnSp>
          <p:nvCxnSpPr>
            <p:cNvPr id="10" name="Straight Connector 9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762723" y="3581046"/>
            <a:ext cx="1477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Pool Thread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7763" y="2999269"/>
            <a:ext cx="1477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Pool Thread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41617" y="3654951"/>
            <a:ext cx="1509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Pool Thread N</a:t>
            </a:r>
          </a:p>
        </p:txBody>
      </p:sp>
      <p:sp>
        <p:nvSpPr>
          <p:cNvPr id="22" name="Rectangle: Rounded Corners 21"/>
          <p:cNvSpPr/>
          <p:nvPr/>
        </p:nvSpPr>
        <p:spPr>
          <a:xfrm>
            <a:off x="6729791" y="2767775"/>
            <a:ext cx="4422020" cy="2492508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8084028" y="2366623"/>
            <a:ext cx="1713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Thread Pool</a:t>
            </a:r>
          </a:p>
        </p:txBody>
      </p:sp>
      <p:cxnSp>
        <p:nvCxnSpPr>
          <p:cNvPr id="25" name="Straight Connector 24"/>
          <p:cNvCxnSpPr>
            <a:stCxn id="24" idx="0"/>
          </p:cNvCxnSpPr>
          <p:nvPr/>
        </p:nvCxnSpPr>
        <p:spPr>
          <a:xfrm>
            <a:off x="4875574" y="3636738"/>
            <a:ext cx="1854215" cy="1821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4875574" y="4318918"/>
            <a:ext cx="1854215" cy="1821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/>
          <p:cNvSpPr/>
          <p:nvPr/>
        </p:nvSpPr>
        <p:spPr>
          <a:xfrm>
            <a:off x="4875572" y="2295127"/>
            <a:ext cx="6411702" cy="3147630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TextBox 29"/>
          <p:cNvSpPr txBox="1"/>
          <p:nvPr/>
        </p:nvSpPr>
        <p:spPr>
          <a:xfrm>
            <a:off x="7205507" y="1860014"/>
            <a:ext cx="22833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Executor</a:t>
            </a:r>
            <a:r>
              <a:rPr lang="fr-FR" sz="2400" b="1"/>
              <a:t> Service</a:t>
            </a:r>
          </a:p>
        </p:txBody>
      </p:sp>
      <p:sp>
        <p:nvSpPr>
          <p:cNvPr id="24" name="Oval 23"/>
          <p:cNvSpPr/>
          <p:nvPr/>
        </p:nvSpPr>
        <p:spPr>
          <a:xfrm>
            <a:off x="4712901" y="3636738"/>
            <a:ext cx="325345" cy="69128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/>
          <p:cNvSpPr/>
          <p:nvPr/>
        </p:nvSpPr>
        <p:spPr>
          <a:xfrm>
            <a:off x="5641073" y="3780540"/>
            <a:ext cx="91890" cy="4127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/>
          <p:cNvSpPr/>
          <p:nvPr/>
        </p:nvSpPr>
        <p:spPr>
          <a:xfrm>
            <a:off x="5821574" y="3780540"/>
            <a:ext cx="91890" cy="4127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/>
          <p:cNvSpPr/>
          <p:nvPr/>
        </p:nvSpPr>
        <p:spPr>
          <a:xfrm>
            <a:off x="6007828" y="3780540"/>
            <a:ext cx="91890" cy="4127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/>
          <p:cNvSpPr/>
          <p:nvPr/>
        </p:nvSpPr>
        <p:spPr>
          <a:xfrm>
            <a:off x="6188329" y="3780540"/>
            <a:ext cx="91890" cy="4127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358553" y="3780540"/>
            <a:ext cx="91890" cy="4127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6539054" y="3780540"/>
            <a:ext cx="91890" cy="4127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/>
          <p:cNvSpPr/>
          <p:nvPr/>
        </p:nvSpPr>
        <p:spPr>
          <a:xfrm>
            <a:off x="7478736" y="3611905"/>
            <a:ext cx="283977" cy="543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/>
          <p:cNvSpPr/>
          <p:nvPr/>
        </p:nvSpPr>
        <p:spPr>
          <a:xfrm>
            <a:off x="8501258" y="4167054"/>
            <a:ext cx="287863" cy="5637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3" name="Group 42"/>
          <p:cNvGrpSpPr/>
          <p:nvPr/>
        </p:nvGrpSpPr>
        <p:grpSpPr>
          <a:xfrm>
            <a:off x="7269237" y="3347267"/>
            <a:ext cx="287866" cy="1088332"/>
            <a:chOff x="7799008" y="3561078"/>
            <a:chExt cx="287866" cy="1088332"/>
          </a:xfrm>
        </p:grpSpPr>
        <p:cxnSp>
          <p:nvCxnSpPr>
            <p:cNvPr id="44" name="Straight Connector 43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740018" y="2661146"/>
            <a:ext cx="110773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CPU </a:t>
            </a:r>
          </a:p>
          <a:p>
            <a:endParaRPr lang="fr-FR" sz="2400" b="1"/>
          </a:p>
          <a:p>
            <a:endParaRPr lang="fr-FR" sz="2400" b="1"/>
          </a:p>
          <a:p>
            <a:endParaRPr lang="fr-FR" sz="2400" b="1"/>
          </a:p>
          <a:p>
            <a:r>
              <a:rPr lang="fr-FR" sz="2400" b="1"/>
              <a:t>x </a:t>
            </a:r>
            <a:r>
              <a:rPr lang="fr-FR" sz="2400" b="1"/>
              <a:t>Cores</a:t>
            </a:r>
            <a:endParaRPr lang="fr-FR" sz="2400" b="1"/>
          </a:p>
        </p:txBody>
      </p:sp>
      <p:grpSp>
        <p:nvGrpSpPr>
          <p:cNvPr id="47" name="Group 46"/>
          <p:cNvGrpSpPr/>
          <p:nvPr/>
        </p:nvGrpSpPr>
        <p:grpSpPr>
          <a:xfrm>
            <a:off x="9160235" y="3338302"/>
            <a:ext cx="287866" cy="1088332"/>
            <a:chOff x="7799008" y="3561078"/>
            <a:chExt cx="287866" cy="1088332"/>
          </a:xfrm>
        </p:grpSpPr>
        <p:cxnSp>
          <p:nvCxnSpPr>
            <p:cNvPr id="48" name="Straight Connector 47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Rectangle 49"/>
          <p:cNvSpPr/>
          <p:nvPr/>
        </p:nvSpPr>
        <p:spPr>
          <a:xfrm>
            <a:off x="9359323" y="3554978"/>
            <a:ext cx="287863" cy="5637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1" name="Group 50"/>
          <p:cNvGrpSpPr/>
          <p:nvPr/>
        </p:nvGrpSpPr>
        <p:grpSpPr>
          <a:xfrm>
            <a:off x="10481030" y="3990203"/>
            <a:ext cx="287866" cy="1088332"/>
            <a:chOff x="7799008" y="3561078"/>
            <a:chExt cx="287866" cy="1088332"/>
          </a:xfrm>
        </p:grpSpPr>
        <p:cxnSp>
          <p:nvCxnSpPr>
            <p:cNvPr id="52" name="Straight Connector 51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Rectangle 53"/>
          <p:cNvSpPr/>
          <p:nvPr/>
        </p:nvSpPr>
        <p:spPr>
          <a:xfrm>
            <a:off x="10680118" y="4206879"/>
            <a:ext cx="287863" cy="5637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TextBox 54"/>
          <p:cNvSpPr txBox="1"/>
          <p:nvPr/>
        </p:nvSpPr>
        <p:spPr>
          <a:xfrm>
            <a:off x="9738570" y="430408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081" y="2849620"/>
            <a:ext cx="13758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Task</a:t>
            </a:r>
            <a:r>
              <a:rPr lang="fr-FR" sz="2400" b="1"/>
              <a:t> FIFO</a:t>
            </a:r>
          </a:p>
          <a:p>
            <a:r>
              <a:rPr lang="fr-FR" sz="2400" b="1"/>
              <a:t>Queue</a:t>
            </a:r>
          </a:p>
        </p:txBody>
      </p:sp>
      <p:sp>
        <p:nvSpPr>
          <p:cNvPr id="57" name="Left Brace 56"/>
          <p:cNvSpPr/>
          <p:nvPr/>
        </p:nvSpPr>
        <p:spPr>
          <a:xfrm rot="16200000">
            <a:off x="6010754" y="5205213"/>
            <a:ext cx="283032" cy="1155042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Left Brace 57"/>
          <p:cNvSpPr/>
          <p:nvPr/>
        </p:nvSpPr>
        <p:spPr>
          <a:xfrm rot="16200000">
            <a:off x="9142800" y="4002322"/>
            <a:ext cx="283031" cy="356082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TextBox 58"/>
          <p:cNvSpPr txBox="1"/>
          <p:nvPr/>
        </p:nvSpPr>
        <p:spPr>
          <a:xfrm>
            <a:off x="5493879" y="5944580"/>
            <a:ext cx="1480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Pending</a:t>
            </a:r>
            <a:r>
              <a:rPr lang="fr-FR"/>
              <a:t> </a:t>
            </a:r>
            <a:r>
              <a:rPr lang="fr-FR"/>
              <a:t>Tasks</a:t>
            </a:r>
            <a:endParaRPr lang="fr-FR"/>
          </a:p>
        </p:txBody>
      </p:sp>
      <p:sp>
        <p:nvSpPr>
          <p:cNvPr id="60" name="TextBox 59"/>
          <p:cNvSpPr txBox="1"/>
          <p:nvPr/>
        </p:nvSpPr>
        <p:spPr>
          <a:xfrm>
            <a:off x="8268660" y="5924250"/>
            <a:ext cx="29493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Active </a:t>
            </a:r>
            <a:r>
              <a:rPr lang="fr-FR"/>
              <a:t>Tasks</a:t>
            </a:r>
            <a:endParaRPr lang="fr-FR"/>
          </a:p>
          <a:p>
            <a:r>
              <a:rPr lang="fr-FR"/>
              <a:t> (</a:t>
            </a:r>
            <a:r>
              <a:rPr lang="fr-FR"/>
              <a:t>assigned</a:t>
            </a:r>
            <a:r>
              <a:rPr lang="fr-FR"/>
              <a:t> to </a:t>
            </a:r>
            <a:r>
              <a:rPr lang="fr-FR"/>
              <a:t>pooled</a:t>
            </a:r>
            <a:r>
              <a:rPr lang="fr-FR"/>
              <a:t> Threads)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Executor</a:t>
            </a:r>
            <a:r>
              <a:rPr lang="fr-FR"/>
              <a:t> </a:t>
            </a:r>
            <a:r>
              <a:rPr lang="fr-FR"/>
              <a:t>Cores</a:t>
            </a:r>
            <a:r>
              <a:rPr lang="fr-FR"/>
              <a:t> argument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7199254" y="2261720"/>
            <a:ext cx="287866" cy="1772336"/>
            <a:chOff x="7799008" y="3561078"/>
            <a:chExt cx="287866" cy="1088332"/>
          </a:xfrm>
        </p:grpSpPr>
        <p:cxnSp>
          <p:nvCxnSpPr>
            <p:cNvPr id="6" name="Straight Connector 5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ectangle: Rounded Corners 10"/>
          <p:cNvSpPr/>
          <p:nvPr/>
        </p:nvSpPr>
        <p:spPr>
          <a:xfrm>
            <a:off x="5486401" y="1885438"/>
            <a:ext cx="2922352" cy="2405953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: Rounded Corners 14"/>
          <p:cNvSpPr/>
          <p:nvPr/>
        </p:nvSpPr>
        <p:spPr>
          <a:xfrm>
            <a:off x="3168952" y="1559737"/>
            <a:ext cx="5650893" cy="3147630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6" name="Group 25"/>
          <p:cNvGrpSpPr/>
          <p:nvPr/>
        </p:nvGrpSpPr>
        <p:grpSpPr>
          <a:xfrm>
            <a:off x="6406270" y="2261720"/>
            <a:ext cx="287866" cy="1592547"/>
            <a:chOff x="7799008" y="3561078"/>
            <a:chExt cx="287866" cy="1088332"/>
          </a:xfrm>
        </p:grpSpPr>
        <p:cxnSp>
          <p:nvCxnSpPr>
            <p:cNvPr id="27" name="Straight Connector 26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6849740" y="2075521"/>
            <a:ext cx="287866" cy="1654989"/>
            <a:chOff x="7799008" y="3561078"/>
            <a:chExt cx="287866" cy="1088332"/>
          </a:xfrm>
        </p:grpSpPr>
        <p:cxnSp>
          <p:nvCxnSpPr>
            <p:cNvPr id="30" name="Straight Connector 29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7743939" y="2075521"/>
            <a:ext cx="287866" cy="1456967"/>
            <a:chOff x="7799008" y="3561078"/>
            <a:chExt cx="287866" cy="1088332"/>
          </a:xfrm>
        </p:grpSpPr>
        <p:cxnSp>
          <p:nvCxnSpPr>
            <p:cNvPr id="34" name="Straight Connector 33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Arrow: Up-Down 38"/>
          <p:cNvSpPr/>
          <p:nvPr/>
        </p:nvSpPr>
        <p:spPr>
          <a:xfrm rot="7632075">
            <a:off x="6730180" y="1436222"/>
            <a:ext cx="482113" cy="3243545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6714623" y="5440314"/>
            <a:ext cx="2527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--</a:t>
            </a:r>
            <a:r>
              <a:rPr lang="fr-FR" sz="2400" b="1"/>
              <a:t>executor-cores</a:t>
            </a:r>
            <a:r>
              <a:rPr lang="fr-FR" sz="2400" b="1"/>
              <a:t> 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54341" y="6035598"/>
            <a:ext cx="3754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b="1"/>
              <a:t>spark.executor.cores</a:t>
            </a:r>
            <a:r>
              <a:rPr lang="fr-FR" sz="1800" b="1"/>
              <a:t>=N</a:t>
            </a:r>
            <a:endParaRPr lang="fr-FR" b="1"/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2508" y="4977215"/>
            <a:ext cx="6046994" cy="1741321"/>
          </a:xfrm>
          <a:prstGeom prst="rect">
            <a:avLst/>
          </a:prstGeom>
        </p:spPr>
      </p:pic>
      <p:pic>
        <p:nvPicPr>
          <p:cNvPr id="44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639252" y="2528496"/>
            <a:ext cx="423791" cy="423791"/>
          </a:xfrm>
          <a:prstGeom prst="rect">
            <a:avLst/>
          </a:prstGeom>
          <a:noFill/>
        </p:spPr>
      </p:pic>
      <p:pic>
        <p:nvPicPr>
          <p:cNvPr id="45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644380" y="3754922"/>
            <a:ext cx="423791" cy="423791"/>
          </a:xfrm>
          <a:prstGeom prst="rect">
            <a:avLst/>
          </a:prstGeom>
          <a:noFill/>
        </p:spPr>
      </p:pic>
      <p:pic>
        <p:nvPicPr>
          <p:cNvPr id="46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652355" y="2946899"/>
            <a:ext cx="423791" cy="423791"/>
          </a:xfrm>
          <a:prstGeom prst="rect">
            <a:avLst/>
          </a:prstGeom>
          <a:noFill/>
        </p:spPr>
      </p:pic>
      <p:pic>
        <p:nvPicPr>
          <p:cNvPr id="47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644380" y="3353571"/>
            <a:ext cx="423791" cy="42379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3989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Relationship </a:t>
            </a:r>
            <a:r>
              <a:rPr lang="fr-FR"/>
              <a:t>executor.cores</a:t>
            </a:r>
            <a:r>
              <a:rPr lang="fr-FR"/>
              <a:t> &lt;-&gt; .memory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1862667" y="2537924"/>
            <a:ext cx="5641219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Up-Down 4"/>
          <p:cNvSpPr/>
          <p:nvPr/>
        </p:nvSpPr>
        <p:spPr>
          <a:xfrm rot="18117380">
            <a:off x="3180011" y="1922799"/>
            <a:ext cx="482113" cy="3482483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1691394" y="4826811"/>
            <a:ext cx="3182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--</a:t>
            </a:r>
            <a:r>
              <a:rPr lang="fr-FR" sz="2400" b="1"/>
              <a:t>executor</a:t>
            </a:r>
            <a:r>
              <a:rPr lang="fr-FR" sz="2400" b="1"/>
              <a:t>-memory 50g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028962" y="2748984"/>
            <a:ext cx="294171" cy="980898"/>
            <a:chOff x="7799008" y="3561078"/>
            <a:chExt cx="287866" cy="1088332"/>
          </a:xfrm>
        </p:grpSpPr>
        <p:cxnSp>
          <p:nvCxnSpPr>
            <p:cNvPr id="8" name="Straight Connector 7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Rectangle: Rounded Corners 9"/>
          <p:cNvSpPr/>
          <p:nvPr/>
        </p:nvSpPr>
        <p:spPr>
          <a:xfrm>
            <a:off x="3605618" y="2615444"/>
            <a:ext cx="2376081" cy="1587148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1" name="Group 10"/>
          <p:cNvGrpSpPr/>
          <p:nvPr/>
        </p:nvGrpSpPr>
        <p:grpSpPr>
          <a:xfrm>
            <a:off x="4234337" y="2865420"/>
            <a:ext cx="285669" cy="984942"/>
            <a:chOff x="7799008" y="3561078"/>
            <a:chExt cx="287866" cy="1088332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640197" y="3021566"/>
            <a:ext cx="234056" cy="1091755"/>
            <a:chOff x="7799008" y="3561078"/>
            <a:chExt cx="287866" cy="1088332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5460357" y="2885388"/>
            <a:ext cx="234056" cy="961125"/>
            <a:chOff x="7799008" y="3561078"/>
            <a:chExt cx="287866" cy="1088332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Arrow: Up-Down 19"/>
          <p:cNvSpPr/>
          <p:nvPr/>
        </p:nvSpPr>
        <p:spPr>
          <a:xfrm rot="7324825">
            <a:off x="4336433" y="2514619"/>
            <a:ext cx="318038" cy="2071013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3720795" y="2037343"/>
            <a:ext cx="2636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--</a:t>
            </a:r>
            <a:r>
              <a:rPr lang="fr-FR" sz="2400" b="1"/>
              <a:t>executor-cores</a:t>
            </a:r>
            <a:r>
              <a:rPr lang="fr-FR" sz="2400" b="1"/>
              <a:t> 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9706" y="2621577"/>
            <a:ext cx="609988" cy="52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Cylinder 25"/>
          <p:cNvSpPr/>
          <p:nvPr/>
        </p:nvSpPr>
        <p:spPr>
          <a:xfrm>
            <a:off x="8973086" y="2071311"/>
            <a:ext cx="1919466" cy="2911927"/>
          </a:xfrm>
          <a:prstGeom prst="can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4576207" y="2748984"/>
            <a:ext cx="1466574" cy="116436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V="1">
            <a:off x="4824168" y="3247832"/>
            <a:ext cx="1483764" cy="1618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5238501" y="3482030"/>
            <a:ext cx="1336503" cy="148357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643544" y="3689503"/>
            <a:ext cx="1053408" cy="48271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6330727" y="3025245"/>
            <a:ext cx="609988" cy="52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/>
          <p:cNvSpPr/>
          <p:nvPr/>
        </p:nvSpPr>
        <p:spPr>
          <a:xfrm>
            <a:off x="6575004" y="3475549"/>
            <a:ext cx="609988" cy="52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/>
          <p:cNvSpPr/>
          <p:nvPr/>
        </p:nvSpPr>
        <p:spPr>
          <a:xfrm>
            <a:off x="6800279" y="3916225"/>
            <a:ext cx="609988" cy="52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/>
          <p:cNvSpPr/>
          <p:nvPr/>
        </p:nvSpPr>
        <p:spPr>
          <a:xfrm>
            <a:off x="9316261" y="2644133"/>
            <a:ext cx="609988" cy="52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/>
          <p:cNvSpPr/>
          <p:nvPr/>
        </p:nvSpPr>
        <p:spPr>
          <a:xfrm>
            <a:off x="9517282" y="3047801"/>
            <a:ext cx="609988" cy="52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/>
          <p:cNvSpPr/>
          <p:nvPr/>
        </p:nvSpPr>
        <p:spPr>
          <a:xfrm>
            <a:off x="9761559" y="3498105"/>
            <a:ext cx="609988" cy="52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/>
          <p:cNvSpPr/>
          <p:nvPr/>
        </p:nvSpPr>
        <p:spPr>
          <a:xfrm>
            <a:off x="9986834" y="3938781"/>
            <a:ext cx="609988" cy="52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Arrow: Right 55"/>
          <p:cNvSpPr/>
          <p:nvPr/>
        </p:nvSpPr>
        <p:spPr>
          <a:xfrm flipH="1">
            <a:off x="7013370" y="2739109"/>
            <a:ext cx="2161053" cy="275771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Arrow: Right 56"/>
          <p:cNvSpPr/>
          <p:nvPr/>
        </p:nvSpPr>
        <p:spPr>
          <a:xfrm flipH="1">
            <a:off x="7155208" y="3197044"/>
            <a:ext cx="2161053" cy="275771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Arrow: Right 57"/>
          <p:cNvSpPr/>
          <p:nvPr/>
        </p:nvSpPr>
        <p:spPr>
          <a:xfrm flipH="1">
            <a:off x="7375231" y="3625710"/>
            <a:ext cx="2161053" cy="275771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Arrow: Right 58"/>
          <p:cNvSpPr/>
          <p:nvPr/>
        </p:nvSpPr>
        <p:spPr>
          <a:xfrm flipH="1">
            <a:off x="7623865" y="4090826"/>
            <a:ext cx="2161053" cy="275771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TextBox 59"/>
          <p:cNvSpPr txBox="1"/>
          <p:nvPr/>
        </p:nvSpPr>
        <p:spPr>
          <a:xfrm>
            <a:off x="459760" y="5713983"/>
            <a:ext cx="116963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1 Active </a:t>
            </a:r>
            <a:r>
              <a:rPr lang="fr-FR" sz="2400"/>
              <a:t>Core</a:t>
            </a:r>
            <a:r>
              <a:rPr lang="fr-FR" sz="2400"/>
              <a:t> =&gt; 1 </a:t>
            </a:r>
            <a:r>
              <a:rPr lang="fr-FR" sz="2400"/>
              <a:t>Task</a:t>
            </a:r>
            <a:r>
              <a:rPr lang="fr-FR" sz="2400"/>
              <a:t> =&gt; </a:t>
            </a:r>
            <a:r>
              <a:rPr lang="fr-FR" sz="2400"/>
              <a:t>read</a:t>
            </a:r>
            <a:r>
              <a:rPr lang="fr-FR" sz="2400"/>
              <a:t> 1 File Block =&gt; 1 </a:t>
            </a:r>
            <a:r>
              <a:rPr lang="fr-FR" sz="2400"/>
              <a:t>Dataset</a:t>
            </a:r>
            <a:r>
              <a:rPr lang="fr-FR" sz="2400"/>
              <a:t> Partition </a:t>
            </a:r>
            <a:br>
              <a:rPr lang="fr-FR" sz="2400"/>
            </a:br>
            <a:r>
              <a:rPr lang="fr-FR" sz="2400"/>
              <a:t>                                                                              =&gt; … </a:t>
            </a:r>
            <a:r>
              <a:rPr lang="fr-FR" sz="2400"/>
              <a:t>maybe</a:t>
            </a:r>
            <a:r>
              <a:rPr lang="fr-FR" sz="2400"/>
              <a:t> 1 x 256 MB (</a:t>
            </a:r>
            <a:r>
              <a:rPr lang="fr-FR" sz="2400"/>
              <a:t>compressed</a:t>
            </a:r>
            <a:r>
              <a:rPr lang="fr-FR" sz="2400"/>
              <a:t>) …  1 x GB 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7287" y="0"/>
            <a:ext cx="10515600" cy="878741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Summary</a:t>
            </a:r>
            <a:r>
              <a:rPr lang="fr-FR"/>
              <a:t> main arguments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1962900" y="3151484"/>
            <a:ext cx="1144499" cy="649649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: Rounded Corners 4"/>
          <p:cNvSpPr/>
          <p:nvPr/>
        </p:nvSpPr>
        <p:spPr>
          <a:xfrm>
            <a:off x="6608555" y="2346820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6970632" y="1826055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Executor</a:t>
            </a:r>
            <a:endParaRPr lang="fr-FR" sz="2400"/>
          </a:p>
        </p:txBody>
      </p:sp>
      <p:sp>
        <p:nvSpPr>
          <p:cNvPr id="7" name="TextBox 6"/>
          <p:cNvSpPr txBox="1"/>
          <p:nvPr/>
        </p:nvSpPr>
        <p:spPr>
          <a:xfrm>
            <a:off x="2025795" y="2648281"/>
            <a:ext cx="2001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Driver</a:t>
            </a:r>
            <a:endParaRPr lang="fr-FR" sz="2400"/>
          </a:p>
        </p:txBody>
      </p:sp>
      <p:sp>
        <p:nvSpPr>
          <p:cNvPr id="8" name="Rectangle: Rounded Corners 7"/>
          <p:cNvSpPr/>
          <p:nvPr/>
        </p:nvSpPr>
        <p:spPr>
          <a:xfrm>
            <a:off x="6760955" y="2499220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: Rounded Corners 8"/>
          <p:cNvSpPr/>
          <p:nvPr/>
        </p:nvSpPr>
        <p:spPr>
          <a:xfrm>
            <a:off x="6913355" y="2651620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: Rounded Corners 9"/>
          <p:cNvSpPr/>
          <p:nvPr/>
        </p:nvSpPr>
        <p:spPr>
          <a:xfrm>
            <a:off x="7065755" y="2804020"/>
            <a:ext cx="4233333" cy="2199639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Up-Down 10"/>
          <p:cNvSpPr/>
          <p:nvPr/>
        </p:nvSpPr>
        <p:spPr>
          <a:xfrm rot="17741828">
            <a:off x="2423518" y="2963470"/>
            <a:ext cx="227390" cy="1025677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Up-Down 11"/>
          <p:cNvSpPr/>
          <p:nvPr/>
        </p:nvSpPr>
        <p:spPr>
          <a:xfrm rot="18117380">
            <a:off x="8383099" y="2188895"/>
            <a:ext cx="482113" cy="3482483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1127026" y="4048613"/>
            <a:ext cx="2672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--driver-memory 1g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5461" y="5201619"/>
            <a:ext cx="3182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--</a:t>
            </a:r>
            <a:r>
              <a:rPr lang="fr-FR" sz="2400" b="1"/>
              <a:t>executor</a:t>
            </a:r>
            <a:r>
              <a:rPr lang="fr-FR" sz="2400" b="1"/>
              <a:t>-memory 50g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123" y="4451463"/>
            <a:ext cx="3229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spark.driver.memory</a:t>
            </a:r>
            <a:r>
              <a:rPr lang="fr-FR" sz="2400"/>
              <a:t>=1g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5755" y="5592176"/>
            <a:ext cx="37364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spark.executor.memory</a:t>
            </a:r>
            <a:r>
              <a:rPr lang="fr-FR" sz="2400"/>
              <a:t>=50g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10232050" y="3015080"/>
            <a:ext cx="294171" cy="980898"/>
            <a:chOff x="7799008" y="3561078"/>
            <a:chExt cx="287866" cy="1088332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Rectangle: Rounded Corners 19"/>
          <p:cNvSpPr/>
          <p:nvPr/>
        </p:nvSpPr>
        <p:spPr>
          <a:xfrm>
            <a:off x="8808706" y="2881540"/>
            <a:ext cx="2376081" cy="1587148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1" name="Group 20"/>
          <p:cNvGrpSpPr/>
          <p:nvPr/>
        </p:nvGrpSpPr>
        <p:grpSpPr>
          <a:xfrm>
            <a:off x="9437425" y="3131516"/>
            <a:ext cx="285669" cy="984942"/>
            <a:chOff x="7799008" y="3561078"/>
            <a:chExt cx="287866" cy="1088332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9843285" y="3287662"/>
            <a:ext cx="234056" cy="1091755"/>
            <a:chOff x="7799008" y="3561078"/>
            <a:chExt cx="287866" cy="1088332"/>
          </a:xfrm>
        </p:grpSpPr>
        <p:cxnSp>
          <p:nvCxnSpPr>
            <p:cNvPr id="25" name="Straight Connector 24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10663445" y="3151484"/>
            <a:ext cx="234056" cy="961125"/>
            <a:chOff x="7799008" y="3561078"/>
            <a:chExt cx="287866" cy="1088332"/>
          </a:xfrm>
        </p:grpSpPr>
        <p:cxnSp>
          <p:nvCxnSpPr>
            <p:cNvPr id="28" name="Straight Connector 27"/>
            <p:cNvCxnSpPr/>
            <p:nvPr/>
          </p:nvCxnSpPr>
          <p:spPr>
            <a:xfrm>
              <a:off x="7946570" y="3561079"/>
              <a:ext cx="0" cy="108833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7799008" y="3561078"/>
              <a:ext cx="287866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Arrow: Up-Down 29"/>
          <p:cNvSpPr/>
          <p:nvPr/>
        </p:nvSpPr>
        <p:spPr>
          <a:xfrm rot="7324825">
            <a:off x="9539521" y="2780715"/>
            <a:ext cx="318038" cy="2071013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row: Up-Down 30"/>
          <p:cNvSpPr/>
          <p:nvPr/>
        </p:nvSpPr>
        <p:spPr>
          <a:xfrm>
            <a:off x="5602974" y="1855331"/>
            <a:ext cx="482113" cy="351815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TextBox 31"/>
          <p:cNvSpPr txBox="1"/>
          <p:nvPr/>
        </p:nvSpPr>
        <p:spPr>
          <a:xfrm>
            <a:off x="3459238" y="5373483"/>
            <a:ext cx="33622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/>
              <a:t>--</a:t>
            </a:r>
            <a:r>
              <a:rPr lang="fr-FR" sz="2400" b="1"/>
              <a:t>num-executors</a:t>
            </a:r>
            <a:r>
              <a:rPr lang="fr-FR" sz="2400" b="1"/>
              <a:t> 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84843" y="5823009"/>
            <a:ext cx="36963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/>
              <a:t>spark.executor.instances</a:t>
            </a:r>
            <a:r>
              <a:rPr lang="fr-FR" sz="2400"/>
              <a:t>=5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31883" y="1514596"/>
            <a:ext cx="2527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--</a:t>
            </a:r>
            <a:r>
              <a:rPr lang="fr-FR" sz="2400" b="1"/>
              <a:t>executor-cores</a:t>
            </a:r>
            <a:r>
              <a:rPr lang="fr-FR" sz="2400" b="1"/>
              <a:t>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18099" y="1931928"/>
            <a:ext cx="3754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b="1"/>
              <a:t>spark.executor.cores</a:t>
            </a:r>
            <a:r>
              <a:rPr lang="fr-FR" sz="1800" b="1"/>
              <a:t>=N</a:t>
            </a:r>
            <a:endParaRPr lang="fr-FR" b="1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Outline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314047" y="2423252"/>
            <a:ext cx="7398949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Reminder</a:t>
            </a:r>
            <a:r>
              <a:rPr lang="fr-FR" sz="2400"/>
              <a:t> Spark-driver / </a:t>
            </a:r>
            <a:r>
              <a:rPr lang="fr-FR" sz="2400"/>
              <a:t>spark-executors</a:t>
            </a:r>
            <a:endParaRPr lang="fr-FR" sz="2400"/>
          </a:p>
          <a:p>
            <a:endParaRPr lang="fr-FR" sz="2400"/>
          </a:p>
          <a:p>
            <a:r>
              <a:rPr lang="fr-FR" sz="2400"/>
              <a:t>Cluster Tuning Params</a:t>
            </a:r>
          </a:p>
          <a:p>
            <a:endParaRPr lang="fr-FR" sz="2400"/>
          </a:p>
          <a:p>
            <a:r>
              <a:rPr lang="fr-FR" sz="2400"/>
              <a:t>deployMode</a:t>
            </a:r>
            <a:r>
              <a:rPr lang="fr-FR" sz="2400"/>
              <a:t> (local, spark://, </a:t>
            </a:r>
            <a:r>
              <a:rPr lang="fr-FR" sz="2400"/>
              <a:t>yarn</a:t>
            </a:r>
            <a:r>
              <a:rPr lang="fr-FR" sz="2400"/>
              <a:t>, k8s)</a:t>
            </a:r>
          </a:p>
          <a:p>
            <a:endParaRPr lang="fr-FR" sz="2400"/>
          </a:p>
          <a:p>
            <a:r>
              <a:rPr lang="fr-FR" sz="2400"/>
              <a:t>Other launchers</a:t>
            </a:r>
            <a:r>
              <a:rPr lang="fr-FR" sz="2400"/>
              <a:t> (java </a:t>
            </a:r>
            <a:r>
              <a:rPr lang="fr-FR" sz="2400"/>
              <a:t>embedded</a:t>
            </a:r>
            <a:r>
              <a:rPr lang="fr-FR" sz="2400"/>
              <a:t>, </a:t>
            </a:r>
            <a:r>
              <a:rPr lang="fr-FR" sz="2400"/>
              <a:t>livy</a:t>
            </a:r>
            <a:r>
              <a:rPr lang="fr-FR" sz="2400"/>
              <a:t>, </a:t>
            </a:r>
            <a:r>
              <a:rPr lang="fr-FR" sz="2400"/>
              <a:t>jupyter</a:t>
            </a:r>
            <a:r>
              <a:rPr lang="fr-FR" sz="2400"/>
              <a:t>, </a:t>
            </a:r>
            <a:r>
              <a:rPr lang="fr-FR" sz="2400"/>
              <a:t>pyspark</a:t>
            </a:r>
            <a:r>
              <a:rPr lang="fr-FR" sz="2400"/>
              <a:t> ..)</a:t>
            </a:r>
          </a:p>
        </p:txBody>
      </p:sp>
      <p:pic>
        <p:nvPicPr>
          <p:cNvPr id="3" name="Picture 2" descr="Image result for checkmark icon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99693" y="2280258"/>
            <a:ext cx="664931" cy="664931"/>
          </a:xfrm>
          <a:prstGeom prst="rect">
            <a:avLst/>
          </a:prstGeom>
          <a:noFill/>
        </p:spPr>
      </p:pic>
      <p:sp>
        <p:nvSpPr>
          <p:cNvPr id="5" name="Arrow: Right 4"/>
          <p:cNvSpPr/>
          <p:nvPr/>
        </p:nvSpPr>
        <p:spPr>
          <a:xfrm>
            <a:off x="2445348" y="3935793"/>
            <a:ext cx="619276" cy="4354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5" descr="Image result for checkmark icon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99692" y="3096534"/>
            <a:ext cx="664931" cy="66493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Grp="1"/>
          </p:cNvSpPr>
          <p:nvPr>
            <p:ph type="title"/>
          </p:nvPr>
        </p:nvSpPr>
        <p:spPr>
          <a:xfrm>
            <a:off x="2819400" y="457200"/>
            <a:ext cx="6747745" cy="60016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txBody>
          <a:bodyPr vert="horz" wrap="none" lIns="91440" tIns="0" rIns="91440" bIns="45720" numCol="1" anchor="ctr" anchorCtr="0">
            <a:spAutoFit/>
          </a:bodyPr>
          <a:lstStyle/>
          <a:p>
            <a:pPr marL="0" marR="0" indent="0" algn="l" defTabSz="914400" rtl="0" eaLnBrk="0" latinLnBrk="0" hangingPunc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tabLst/>
            </a:pPr>
            <a:r>
              <a:rPr lang="fr-FR" sz="3600" b="0" i="0" u="none" strike="noStrike" cap="none" baseline="0">
                <a:ln>
                  <a:noFill/>
                </a:ln>
                <a:solidFill>
                  <a:srgbClr val="212529"/>
                </a:solidFill>
                <a:latin typeface="Menlo"/>
              </a:rPr>
              <a:t>$ </a:t>
            </a:r>
            <a:r>
              <a:rPr lang="fr-FR" sz="3600" b="0" i="0" u="none" strike="noStrike" cap="none" baseline="0">
                <a:ln>
                  <a:noFill/>
                </a:ln>
                <a:solidFill>
                  <a:srgbClr val="212529"/>
                </a:solidFill>
                <a:latin typeface="Menlo"/>
              </a:rPr>
              <a:t>spark-submit</a:t>
            </a:r>
            <a:r>
              <a:rPr lang="fr-FR" sz="3600" b="0" i="0" u="none" strike="noStrike" cap="none" baseline="0">
                <a:ln>
                  <a:noFill/>
                </a:ln>
                <a:solidFill>
                  <a:srgbClr val="212529"/>
                </a:solidFill>
                <a:latin typeface="Menlo"/>
              </a:rPr>
              <a:t> </a:t>
            </a:r>
            <a:r>
              <a:rPr lang="fr-FR" sz="3600" b="1" i="0" u="none" strike="noStrike" cap="none" baseline="0">
                <a:ln>
                  <a:noFill/>
                </a:ln>
                <a:solidFill>
                  <a:srgbClr val="062873"/>
                </a:solidFill>
                <a:latin typeface="Menlo"/>
              </a:rPr>
              <a:t>--master</a:t>
            </a:r>
            <a:r>
              <a:rPr lang="fr-FR" sz="3600" b="0" i="0" u="none" strike="noStrike" cap="none" baseline="0">
                <a:ln>
                  <a:noFill/>
                </a:ln>
                <a:solidFill>
                  <a:srgbClr val="212529"/>
                </a:solidFill>
                <a:latin typeface="Menlo"/>
              </a:rPr>
              <a:t> ${mode} </a:t>
            </a:r>
            <a:r>
              <a:rPr lang="fr-FR" sz="1600">
                <a:latin typeface="Menlo"/>
              </a:rPr>
              <a:t>…. </a:t>
            </a:r>
            <a:endParaRPr lang="fr-FR" sz="6600" b="0" i="0" u="none" strike="noStrike" cap="none" baseline="0">
              <a:ln>
                <a:noFill/>
              </a:ln>
              <a:solidFill>
                <a:schemeClr val="tx1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988075" y="3110896"/>
            <a:ext cx="400962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${mode}: one of </a:t>
            </a:r>
          </a:p>
          <a:p>
            <a:pPr marL="457200" indent="-457200">
              <a:buChar char="-"/>
            </a:pPr>
            <a:r>
              <a:rPr lang="fr-FR" sz="3200" b="1"/>
              <a:t>local[N]</a:t>
            </a:r>
          </a:p>
          <a:p>
            <a:pPr marL="457200" indent="-457200">
              <a:buChar char="-"/>
            </a:pPr>
            <a:r>
              <a:rPr lang="fr-FR" sz="3200" b="1"/>
              <a:t>mesos</a:t>
            </a:r>
            <a:r>
              <a:rPr lang="fr-FR" sz="3200" b="1"/>
              <a:t> (</a:t>
            </a:r>
            <a:r>
              <a:rPr lang="fr-FR" sz="3200" b="1"/>
              <a:t>deprecated</a:t>
            </a:r>
            <a:r>
              <a:rPr lang="fr-FR" sz="3200" b="1"/>
              <a:t>)</a:t>
            </a:r>
          </a:p>
          <a:p>
            <a:pPr marL="457200" indent="-457200">
              <a:buChar char="-"/>
            </a:pPr>
            <a:r>
              <a:rPr lang="fr-FR" sz="3200" b="1"/>
              <a:t>spark://</a:t>
            </a:r>
          </a:p>
          <a:p>
            <a:pPr marL="457200" indent="-457200">
              <a:buChar char="-"/>
            </a:pPr>
            <a:r>
              <a:rPr lang="fr-FR" sz="3200" b="1"/>
              <a:t>yarn</a:t>
            </a:r>
            <a:endParaRPr lang="fr-FR" sz="3200" b="1"/>
          </a:p>
          <a:p>
            <a:pPr marL="457200" indent="-457200">
              <a:buChar char="-"/>
            </a:pPr>
            <a:r>
              <a:rPr lang="fr-FR" sz="3200" b="1"/>
              <a:t>k8s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--master local[*]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187675" y="2674496"/>
            <a:ext cx="6088535" cy="141341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Local mode: 1 JVM</a:t>
            </a:r>
            <a:br>
              <a:rPr lang="fr-FR"/>
            </a:br>
            <a:r>
              <a:rPr lang="fr-FR"/>
              <a:t>client = driver = </a:t>
            </a:r>
            <a:r>
              <a:rPr lang="fr-FR"/>
              <a:t>executors</a:t>
            </a:r>
            <a:endParaRPr lang="fr-FR"/>
          </a:p>
        </p:txBody>
      </p:sp>
      <p:sp>
        <p:nvSpPr>
          <p:cNvPr id="4" name="Rectangle: Rounded Corners 3"/>
          <p:cNvSpPr/>
          <p:nvPr/>
        </p:nvSpPr>
        <p:spPr>
          <a:xfrm>
            <a:off x="2028690" y="2916772"/>
            <a:ext cx="8134619" cy="228112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4821381" y="2547440"/>
            <a:ext cx="1823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JVM process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3770066" y="2920430"/>
            <a:ext cx="0" cy="2281128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376462" y="3017030"/>
            <a:ext cx="116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Client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3007" y="3017030"/>
            <a:ext cx="1200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Driver part</a:t>
            </a:r>
          </a:p>
        </p:txBody>
      </p:sp>
      <p:cxnSp>
        <p:nvCxnSpPr>
          <p:cNvPr id="10" name="Straight Connector 9"/>
          <p:cNvCxnSpPr/>
          <p:nvPr/>
        </p:nvCxnSpPr>
        <p:spPr>
          <a:xfrm>
            <a:off x="6323377" y="2916772"/>
            <a:ext cx="0" cy="2281128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99752" y="3017030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52556" y="4159631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7438508" y="3429000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7438508" y="3738133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15" name="Rectangle 14"/>
          <p:cNvSpPr/>
          <p:nvPr/>
        </p:nvSpPr>
        <p:spPr>
          <a:xfrm>
            <a:off x="4720450" y="4185407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4404535" y="3773524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2103080" y="3798332"/>
            <a:ext cx="1425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</a:t>
            </a:r>
            <a:r>
              <a:rPr lang="fr-FR"/>
              <a:t>submit</a:t>
            </a:r>
            <a:br>
              <a:rPr lang="fr-FR"/>
            </a:br>
            <a:r>
              <a:rPr lang="fr-FR"/>
              <a:t>main</a:t>
            </a:r>
          </a:p>
        </p:txBody>
      </p:sp>
      <p:sp>
        <p:nvSpPr>
          <p:cNvPr id="18" name="Arrow: Left 17"/>
          <p:cNvSpPr/>
          <p:nvPr/>
        </p:nvSpPr>
        <p:spPr>
          <a:xfrm flipH="1">
            <a:off x="3544859" y="4330775"/>
            <a:ext cx="484908" cy="22493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Left 18"/>
          <p:cNvSpPr/>
          <p:nvPr/>
        </p:nvSpPr>
        <p:spPr>
          <a:xfrm flipH="1">
            <a:off x="6095999" y="4330774"/>
            <a:ext cx="484908" cy="22493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2976572" y="4490829"/>
            <a:ext cx="885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Create</a:t>
            </a:r>
            <a:r>
              <a:rPr lang="fr-FR"/>
              <a:t> </a:t>
            </a:r>
          </a:p>
          <a:p>
            <a:r>
              <a:rPr lang="fr-FR"/>
              <a:t>context</a:t>
            </a:r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5733336" y="4469018"/>
            <a:ext cx="7039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Send</a:t>
            </a:r>
            <a:r>
              <a:rPr lang="fr-FR"/>
              <a:t> </a:t>
            </a:r>
          </a:p>
          <a:p>
            <a:r>
              <a:rPr lang="fr-FR"/>
              <a:t>tasks</a:t>
            </a:r>
            <a:r>
              <a:rPr lang="fr-FR"/>
              <a:t> 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--master spark://&lt;sparkServer&gt;:&lt;port&gt;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251661" y="2830780"/>
            <a:ext cx="5786730" cy="166121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Standalone Cluster</a:t>
            </a:r>
          </a:p>
        </p:txBody>
      </p:sp>
      <p:pic>
        <p:nvPicPr>
          <p:cNvPr id="4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375881" y="2522836"/>
            <a:ext cx="915912" cy="1373375"/>
          </a:xfrm>
          <a:prstGeom prst="rect">
            <a:avLst/>
          </a:prstGeom>
          <a:noFill/>
        </p:spPr>
      </p:pic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508988" y="4002700"/>
            <a:ext cx="915912" cy="1373375"/>
          </a:xfrm>
          <a:prstGeom prst="rect">
            <a:avLst/>
          </a:prstGeom>
          <a:noFill/>
        </p:spPr>
      </p:pic>
      <p:pic>
        <p:nvPicPr>
          <p:cNvPr id="7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375881" y="3950709"/>
            <a:ext cx="915912" cy="1373375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508988" y="2522835"/>
            <a:ext cx="915912" cy="1373375"/>
          </a:xfrm>
          <a:prstGeom prst="rect">
            <a:avLst/>
          </a:prstGeom>
          <a:noFill/>
        </p:spPr>
      </p:pic>
      <p:pic>
        <p:nvPicPr>
          <p:cNvPr id="1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676496" y="3103861"/>
            <a:ext cx="915912" cy="1373375"/>
          </a:xfrm>
          <a:prstGeom prst="rect">
            <a:avLst/>
          </a:prstGeom>
          <a:noFill/>
        </p:spPr>
      </p:pic>
      <p:sp>
        <p:nvSpPr>
          <p:cNvPr id="13" name="TextBox 12"/>
          <p:cNvSpPr txBox="1"/>
          <p:nvPr/>
        </p:nvSpPr>
        <p:spPr>
          <a:xfrm>
            <a:off x="2794803" y="4975648"/>
            <a:ext cx="1440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 master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41730" y="5326626"/>
            <a:ext cx="1540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 </a:t>
            </a:r>
            <a:r>
              <a:rPr lang="fr-FR" b="1"/>
              <a:t>workers</a:t>
            </a:r>
            <a:endParaRPr lang="fr-FR" b="1"/>
          </a:p>
        </p:txBody>
      </p:sp>
      <p:sp>
        <p:nvSpPr>
          <p:cNvPr id="15" name="Rectangle 14"/>
          <p:cNvSpPr/>
          <p:nvPr/>
        </p:nvSpPr>
        <p:spPr>
          <a:xfrm>
            <a:off x="3219239" y="4257675"/>
            <a:ext cx="428625" cy="64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/>
          <p:cNvSpPr/>
          <p:nvPr/>
        </p:nvSpPr>
        <p:spPr>
          <a:xfrm>
            <a:off x="6077480" y="2864302"/>
            <a:ext cx="428625" cy="64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: Rounded Corners 16"/>
          <p:cNvSpPr/>
          <p:nvPr/>
        </p:nvSpPr>
        <p:spPr>
          <a:xfrm>
            <a:off x="6604121" y="2864302"/>
            <a:ext cx="778541" cy="298502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: Rounded Corners 19"/>
          <p:cNvSpPr/>
          <p:nvPr/>
        </p:nvSpPr>
        <p:spPr>
          <a:xfrm>
            <a:off x="6756521" y="3016702"/>
            <a:ext cx="778541" cy="298502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/>
          <p:cNvSpPr/>
          <p:nvPr/>
        </p:nvSpPr>
        <p:spPr>
          <a:xfrm>
            <a:off x="6035570" y="4237677"/>
            <a:ext cx="428625" cy="64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9210587" y="4262858"/>
            <a:ext cx="428625" cy="64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/>
          <p:cNvSpPr/>
          <p:nvPr/>
        </p:nvSpPr>
        <p:spPr>
          <a:xfrm>
            <a:off x="9109320" y="2826297"/>
            <a:ext cx="428625" cy="64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Arrow: Curved Down 25"/>
          <p:cNvSpPr/>
          <p:nvPr/>
        </p:nvSpPr>
        <p:spPr>
          <a:xfrm>
            <a:off x="6412230" y="2371725"/>
            <a:ext cx="572167" cy="412096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833837" y="1849993"/>
            <a:ext cx="2225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Create</a:t>
            </a:r>
            <a:r>
              <a:rPr lang="fr-FR"/>
              <a:t> JVM </a:t>
            </a:r>
            <a:r>
              <a:rPr lang="fr-FR"/>
              <a:t>processes</a:t>
            </a:r>
            <a:endParaRPr lang="fr-FR"/>
          </a:p>
        </p:txBody>
      </p:sp>
      <p:sp>
        <p:nvSpPr>
          <p:cNvPr id="28" name="TextBox 27"/>
          <p:cNvSpPr txBox="1"/>
          <p:nvPr/>
        </p:nvSpPr>
        <p:spPr>
          <a:xfrm>
            <a:off x="6506428" y="3233039"/>
            <a:ext cx="1752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</a:t>
            </a:r>
            <a:r>
              <a:rPr lang="fr-FR" b="1"/>
              <a:t>-driver</a:t>
            </a:r>
          </a:p>
          <a:p>
            <a:r>
              <a:rPr lang="fr-FR" b="1"/>
              <a:t> /</a:t>
            </a:r>
            <a:r>
              <a:rPr lang="fr-FR" b="1"/>
              <a:t>spark-executor</a:t>
            </a:r>
            <a:endParaRPr lang="fr-FR" b="1"/>
          </a:p>
        </p:txBody>
      </p:sp>
      <p:sp>
        <p:nvSpPr>
          <p:cNvPr id="31" name="Rectangle: Rounded Corners 30"/>
          <p:cNvSpPr/>
          <p:nvPr/>
        </p:nvSpPr>
        <p:spPr>
          <a:xfrm>
            <a:off x="9675255" y="4364075"/>
            <a:ext cx="778541" cy="298502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: Rounded Corners 31"/>
          <p:cNvSpPr/>
          <p:nvPr/>
        </p:nvSpPr>
        <p:spPr>
          <a:xfrm>
            <a:off x="9614777" y="2949315"/>
            <a:ext cx="778541" cy="298502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: Rounded Corners 32"/>
          <p:cNvSpPr/>
          <p:nvPr/>
        </p:nvSpPr>
        <p:spPr>
          <a:xfrm>
            <a:off x="9767177" y="3101715"/>
            <a:ext cx="778541" cy="298502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: Rounded Corners 33"/>
          <p:cNvSpPr/>
          <p:nvPr/>
        </p:nvSpPr>
        <p:spPr>
          <a:xfrm>
            <a:off x="9919577" y="3254115"/>
            <a:ext cx="778541" cy="298502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: Rounded Corners 34"/>
          <p:cNvSpPr/>
          <p:nvPr/>
        </p:nvSpPr>
        <p:spPr>
          <a:xfrm>
            <a:off x="10071977" y="3406515"/>
            <a:ext cx="778541" cy="298502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Arrow: Up-Down 35"/>
          <p:cNvSpPr/>
          <p:nvPr/>
        </p:nvSpPr>
        <p:spPr>
          <a:xfrm rot="3489527">
            <a:off x="4770037" y="2574838"/>
            <a:ext cx="237542" cy="254578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--master </a:t>
            </a:r>
            <a:r>
              <a:rPr lang="fr-FR"/>
              <a:t>yarn</a:t>
            </a:r>
            <a:r>
              <a:rPr lang="fr-FR"/>
              <a:t> --</a:t>
            </a:r>
            <a:r>
              <a:rPr lang="fr-FR"/>
              <a:t>deploy</a:t>
            </a:r>
            <a:r>
              <a:rPr lang="fr-FR"/>
              <a:t>-mode client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447791" y="2746948"/>
            <a:ext cx="5189633" cy="2053651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6154421" y="339206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Yarn</a:t>
            </a:r>
            <a:r>
              <a:rPr lang="fr-FR"/>
              <a:t> Client Mode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1074286" y="3379687"/>
            <a:ext cx="4244974" cy="228112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1691639" y="2930328"/>
            <a:ext cx="3578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Client+driver</a:t>
            </a:r>
            <a:r>
              <a:rPr lang="fr-FR"/>
              <a:t> (=JVM process)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2815661" y="3383345"/>
            <a:ext cx="0" cy="2281128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422057" y="3479945"/>
            <a:ext cx="116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Client 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8602" y="3479945"/>
            <a:ext cx="1200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Driver part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5347" y="347994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98151" y="462254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6484103" y="389191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6484103" y="420104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15" name="Rectangle 14"/>
          <p:cNvSpPr/>
          <p:nvPr/>
        </p:nvSpPr>
        <p:spPr>
          <a:xfrm>
            <a:off x="3766045" y="4648322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3450130" y="4236439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1148675" y="4261247"/>
            <a:ext cx="1425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</a:t>
            </a:r>
            <a:r>
              <a:rPr lang="fr-FR"/>
              <a:t>submit</a:t>
            </a:r>
            <a:br>
              <a:rPr lang="fr-FR"/>
            </a:br>
            <a:r>
              <a:rPr lang="fr-FR"/>
              <a:t>main</a:t>
            </a:r>
          </a:p>
        </p:txBody>
      </p:sp>
      <p:sp>
        <p:nvSpPr>
          <p:cNvPr id="18" name="Arrow: Left 17"/>
          <p:cNvSpPr/>
          <p:nvPr/>
        </p:nvSpPr>
        <p:spPr>
          <a:xfrm flipH="1">
            <a:off x="2590454" y="4793690"/>
            <a:ext cx="484908" cy="22493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Left 18"/>
          <p:cNvSpPr/>
          <p:nvPr/>
        </p:nvSpPr>
        <p:spPr>
          <a:xfrm flipH="1">
            <a:off x="5141594" y="4793689"/>
            <a:ext cx="484908" cy="22493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2022167" y="4953744"/>
            <a:ext cx="885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Create</a:t>
            </a:r>
            <a:r>
              <a:rPr lang="fr-FR"/>
              <a:t> </a:t>
            </a:r>
          </a:p>
          <a:p>
            <a:r>
              <a:rPr lang="fr-FR"/>
              <a:t>context</a:t>
            </a:r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4778931" y="4931933"/>
            <a:ext cx="7039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Send</a:t>
            </a:r>
            <a:r>
              <a:rPr lang="fr-FR"/>
              <a:t> </a:t>
            </a:r>
          </a:p>
          <a:p>
            <a:r>
              <a:rPr lang="fr-FR"/>
              <a:t>tasks</a:t>
            </a:r>
            <a:r>
              <a:rPr lang="fr-FR"/>
              <a:t> </a:t>
            </a:r>
          </a:p>
        </p:txBody>
      </p:sp>
      <p:sp>
        <p:nvSpPr>
          <p:cNvPr id="26" name="Rectangle: Rounded Corners 25"/>
          <p:cNvSpPr/>
          <p:nvPr/>
        </p:nvSpPr>
        <p:spPr>
          <a:xfrm>
            <a:off x="6306821" y="354446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6797747" y="363234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50551" y="477494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6636503" y="404431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30" name="TextBox 29"/>
          <p:cNvSpPr txBox="1"/>
          <p:nvPr/>
        </p:nvSpPr>
        <p:spPr>
          <a:xfrm>
            <a:off x="6636503" y="435344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31" name="Rectangle: Rounded Corners 30"/>
          <p:cNvSpPr/>
          <p:nvPr/>
        </p:nvSpPr>
        <p:spPr>
          <a:xfrm>
            <a:off x="6459221" y="369686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TextBox 31"/>
          <p:cNvSpPr txBox="1"/>
          <p:nvPr/>
        </p:nvSpPr>
        <p:spPr>
          <a:xfrm>
            <a:off x="6950147" y="378474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02951" y="492734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6788903" y="419671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35" name="TextBox 34"/>
          <p:cNvSpPr txBox="1"/>
          <p:nvPr/>
        </p:nvSpPr>
        <p:spPr>
          <a:xfrm>
            <a:off x="6788903" y="450584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36" name="Rectangle: Rounded Corners 35"/>
          <p:cNvSpPr/>
          <p:nvPr/>
        </p:nvSpPr>
        <p:spPr>
          <a:xfrm>
            <a:off x="6611621" y="3878058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/>
          <p:cNvSpPr txBox="1"/>
          <p:nvPr/>
        </p:nvSpPr>
        <p:spPr>
          <a:xfrm>
            <a:off x="7411110" y="2925201"/>
            <a:ext cx="2290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spark-executor</a:t>
            </a:r>
            <a:r>
              <a:rPr lang="fr-FR"/>
              <a:t> (=JVM)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55351" y="507974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6941303" y="434911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6941303" y="465824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41" name="TextBox 40"/>
          <p:cNvSpPr txBox="1"/>
          <p:nvPr/>
        </p:nvSpPr>
        <p:spPr>
          <a:xfrm>
            <a:off x="7337513" y="3869422"/>
            <a:ext cx="2934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CoarseGrainExecutorBackend</a:t>
            </a:r>
            <a:endParaRPr lang="fr-FR"/>
          </a:p>
        </p:txBody>
      </p:sp>
      <p:pic>
        <p:nvPicPr>
          <p:cNvPr id="42" name="Picture 2" descr="What is Apache Hadoop YARN? | Hadoop YARN Tutorial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500044" y="1561288"/>
            <a:ext cx="2529266" cy="1067263"/>
          </a:xfrm>
          <a:prstGeom prst="rect">
            <a:avLst/>
          </a:prstGeom>
          <a:noFill/>
        </p:spPr>
      </p:pic>
      <p:sp>
        <p:nvSpPr>
          <p:cNvPr id="43" name="Arrow: Left 42"/>
          <p:cNvSpPr/>
          <p:nvPr/>
        </p:nvSpPr>
        <p:spPr>
          <a:xfrm rot="18291368" flipH="1">
            <a:off x="4813690" y="2934395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Arrow: Left 43"/>
          <p:cNvSpPr/>
          <p:nvPr/>
        </p:nvSpPr>
        <p:spPr>
          <a:xfrm rot="3544233" flipH="1">
            <a:off x="5683583" y="2992918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7462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Pros/Cons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18388" y="987836"/>
            <a:ext cx="444923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Client = Driver   …  </a:t>
            </a:r>
            <a:r>
              <a:rPr lang="fr-FR"/>
              <a:t>within</a:t>
            </a:r>
            <a:r>
              <a:rPr lang="fr-FR"/>
              <a:t> firewall</a:t>
            </a:r>
          </a:p>
          <a:p>
            <a:endParaRPr lang="fr-FR"/>
          </a:p>
          <a:p>
            <a:r>
              <a:rPr lang="fr-FR"/>
              <a:t>Need to </a:t>
            </a:r>
            <a:r>
              <a:rPr lang="fr-FR"/>
              <a:t>choose</a:t>
            </a:r>
            <a:r>
              <a:rPr lang="fr-FR"/>
              <a:t> 1 server of cluster + SSH on </a:t>
            </a:r>
            <a:r>
              <a:rPr lang="fr-FR"/>
              <a:t>it</a:t>
            </a:r>
            <a:endParaRPr lang="fr-FR"/>
          </a:p>
          <a:p>
            <a:r>
              <a:rPr lang="fr-FR"/>
              <a:t>Or use </a:t>
            </a:r>
            <a:r>
              <a:rPr lang="fr-FR"/>
              <a:t>Oozie</a:t>
            </a:r>
            <a:endParaRPr lang="fr-FR"/>
          </a:p>
          <a:p>
            <a:endParaRPr lang="fr-FR"/>
          </a:p>
          <a:p>
            <a:r>
              <a:rPr lang="fr-FR"/>
              <a:t>If driver crash..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23517" y="1026101"/>
            <a:ext cx="344517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Easy</a:t>
            </a:r>
            <a:r>
              <a:rPr lang="fr-FR"/>
              <a:t> to start:  spark-submit.sh</a:t>
            </a:r>
          </a:p>
          <a:p>
            <a:endParaRPr lang="fr-FR"/>
          </a:p>
          <a:p>
            <a:r>
              <a:rPr lang="fr-FR"/>
              <a:t>Easy</a:t>
            </a:r>
            <a:r>
              <a:rPr lang="fr-FR"/>
              <a:t> to </a:t>
            </a:r>
            <a:r>
              <a:rPr lang="fr-FR"/>
              <a:t>see</a:t>
            </a:r>
            <a:r>
              <a:rPr lang="fr-FR"/>
              <a:t> driver logs… as </a:t>
            </a:r>
            <a:r>
              <a:rPr lang="fr-FR"/>
              <a:t>stdout</a:t>
            </a:r>
            <a:r>
              <a:rPr lang="fr-FR"/>
              <a:t> !</a:t>
            </a:r>
          </a:p>
          <a:p>
            <a:endParaRPr lang="fr-FR"/>
          </a:p>
          <a:p>
            <a:r>
              <a:rPr lang="fr-FR"/>
              <a:t>Easy</a:t>
            </a:r>
            <a:r>
              <a:rPr lang="fr-FR"/>
              <a:t> to </a:t>
            </a:r>
            <a:r>
              <a:rPr lang="fr-FR"/>
              <a:t>kill</a:t>
            </a:r>
            <a:r>
              <a:rPr lang="fr-FR"/>
              <a:t>   (</a:t>
            </a:r>
            <a:r>
              <a:rPr lang="fr-FR"/>
              <a:t>Ctrl+C</a:t>
            </a:r>
            <a:r>
              <a:rPr lang="fr-FR"/>
              <a:t>  / </a:t>
            </a:r>
            <a:r>
              <a:rPr lang="fr-FR"/>
              <a:t>kill</a:t>
            </a:r>
            <a:r>
              <a:rPr lang="fr-FR"/>
              <a:t> -9 )</a:t>
            </a:r>
          </a:p>
          <a:p>
            <a:endParaRPr lang="fr-FR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890356" y="3488671"/>
            <a:ext cx="915912" cy="1373375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445992" y="4916544"/>
            <a:ext cx="915912" cy="1373375"/>
          </a:xfrm>
          <a:prstGeom prst="rect">
            <a:avLst/>
          </a:prstGeom>
          <a:noFill/>
        </p:spPr>
      </p:pic>
      <p:pic>
        <p:nvPicPr>
          <p:cNvPr id="10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93376" y="4948693"/>
            <a:ext cx="915912" cy="1373375"/>
          </a:xfrm>
          <a:prstGeom prst="rect">
            <a:avLst/>
          </a:prstGeom>
          <a:noFill/>
        </p:spPr>
      </p:pic>
      <p:pic>
        <p:nvPicPr>
          <p:cNvPr id="11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890356" y="4916544"/>
            <a:ext cx="915912" cy="1373375"/>
          </a:xfrm>
          <a:prstGeom prst="rect">
            <a:avLst/>
          </a:prstGeom>
          <a:noFill/>
        </p:spPr>
      </p:pic>
      <p:pic>
        <p:nvPicPr>
          <p:cNvPr id="1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445992" y="3468827"/>
            <a:ext cx="915912" cy="1373375"/>
          </a:xfrm>
          <a:prstGeom prst="rect">
            <a:avLst/>
          </a:prstGeom>
          <a:noFill/>
        </p:spPr>
      </p:pic>
      <p:pic>
        <p:nvPicPr>
          <p:cNvPr id="13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93376" y="3468828"/>
            <a:ext cx="915912" cy="1373375"/>
          </a:xfrm>
          <a:prstGeom prst="rect">
            <a:avLst/>
          </a:prstGeom>
          <a:noFill/>
        </p:spPr>
      </p:pic>
      <p:pic>
        <p:nvPicPr>
          <p:cNvPr id="14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49012" y="4916544"/>
            <a:ext cx="915912" cy="1373375"/>
          </a:xfrm>
          <a:prstGeom prst="rect">
            <a:avLst/>
          </a:prstGeom>
          <a:noFill/>
        </p:spPr>
      </p:pic>
      <p:pic>
        <p:nvPicPr>
          <p:cNvPr id="15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49012" y="3468827"/>
            <a:ext cx="915912" cy="1373375"/>
          </a:xfrm>
          <a:prstGeom prst="rect">
            <a:avLst/>
          </a:prstGeom>
          <a:noFill/>
        </p:spPr>
      </p:pic>
      <p:sp>
        <p:nvSpPr>
          <p:cNvPr id="16" name="Rectangle 15"/>
          <p:cNvSpPr/>
          <p:nvPr/>
        </p:nvSpPr>
        <p:spPr>
          <a:xfrm>
            <a:off x="6096000" y="3206115"/>
            <a:ext cx="5882640" cy="32867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/>
          <p:cNvSpPr/>
          <p:nvPr/>
        </p:nvSpPr>
        <p:spPr>
          <a:xfrm>
            <a:off x="6006465" y="3103424"/>
            <a:ext cx="6124575" cy="354185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Cylinder 17"/>
          <p:cNvSpPr/>
          <p:nvPr/>
        </p:nvSpPr>
        <p:spPr>
          <a:xfrm rot="19390230">
            <a:off x="8876337" y="1738741"/>
            <a:ext cx="135594" cy="2373513"/>
          </a:xfrm>
          <a:prstGeom prst="ca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/>
          <p:cNvSpPr txBox="1"/>
          <p:nvPr/>
        </p:nvSpPr>
        <p:spPr>
          <a:xfrm rot="3190728">
            <a:off x="8669501" y="23839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SSH to</a:t>
            </a:r>
          </a:p>
          <a:p>
            <a:r>
              <a:rPr lang="fr-FR"/>
              <a:t> node42 ??</a:t>
            </a:r>
          </a:p>
        </p:txBody>
      </p:sp>
      <p:pic>
        <p:nvPicPr>
          <p:cNvPr id="20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723472" y="4986394"/>
            <a:ext cx="626323" cy="939147"/>
          </a:xfrm>
          <a:prstGeom prst="rect">
            <a:avLst/>
          </a:prstGeom>
          <a:noFill/>
        </p:spPr>
      </p:pic>
      <p:pic>
        <p:nvPicPr>
          <p:cNvPr id="48130" name="Picture 2" descr="Oozi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53780" y="3700803"/>
            <a:ext cx="2052638" cy="491918"/>
          </a:xfrm>
          <a:prstGeom prst="rect">
            <a:avLst/>
          </a:prstGeom>
          <a:noFill/>
        </p:spPr>
      </p:pic>
      <p:sp>
        <p:nvSpPr>
          <p:cNvPr id="21" name="Arrow: Left 20"/>
          <p:cNvSpPr/>
          <p:nvPr/>
        </p:nvSpPr>
        <p:spPr>
          <a:xfrm rot="13819818">
            <a:off x="8561748" y="1851470"/>
            <a:ext cx="422910" cy="41719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9833419" y="2740831"/>
            <a:ext cx="935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Firewall</a:t>
            </a:r>
          </a:p>
        </p:txBody>
      </p:sp>
      <p:sp>
        <p:nvSpPr>
          <p:cNvPr id="23" name="Arrow: Left 22"/>
          <p:cNvSpPr/>
          <p:nvPr/>
        </p:nvSpPr>
        <p:spPr>
          <a:xfrm rot="13819818">
            <a:off x="6626253" y="4262453"/>
            <a:ext cx="594976" cy="28610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Arrow: Left 23"/>
          <p:cNvSpPr/>
          <p:nvPr/>
        </p:nvSpPr>
        <p:spPr>
          <a:xfrm rot="12691214">
            <a:off x="6681144" y="3984979"/>
            <a:ext cx="594976" cy="28610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Arrow: Left 24"/>
          <p:cNvSpPr/>
          <p:nvPr/>
        </p:nvSpPr>
        <p:spPr>
          <a:xfrm rot="11720197">
            <a:off x="6714843" y="3725503"/>
            <a:ext cx="594976" cy="28610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Arrow: Left 25"/>
          <p:cNvSpPr/>
          <p:nvPr/>
        </p:nvSpPr>
        <p:spPr>
          <a:xfrm rot="10800000">
            <a:off x="5101820" y="5247369"/>
            <a:ext cx="422910" cy="41719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3388583" y="5185568"/>
            <a:ext cx="1604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Or </a:t>
            </a:r>
            <a:r>
              <a:rPr lang="fr-FR"/>
              <a:t>Connect</a:t>
            </a:r>
            <a:r>
              <a:rPr lang="fr-FR"/>
              <a:t> to </a:t>
            </a:r>
          </a:p>
          <a:p>
            <a:r>
              <a:rPr lang="fr-FR"/>
              <a:t>« Edge » </a:t>
            </a:r>
            <a:r>
              <a:rPr lang="fr-FR"/>
              <a:t>node</a:t>
            </a:r>
            <a:endParaRPr lang="fr-FR"/>
          </a:p>
        </p:txBody>
      </p:sp>
      <p:sp>
        <p:nvSpPr>
          <p:cNvPr id="28" name="Arrow: Left 27"/>
          <p:cNvSpPr/>
          <p:nvPr/>
        </p:nvSpPr>
        <p:spPr>
          <a:xfrm rot="10800000">
            <a:off x="3707504" y="3775526"/>
            <a:ext cx="422910" cy="41719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--master </a:t>
            </a:r>
            <a:r>
              <a:rPr lang="fr-FR"/>
              <a:t>yarn</a:t>
            </a:r>
            <a:r>
              <a:rPr lang="fr-FR"/>
              <a:t> --</a:t>
            </a:r>
            <a:r>
              <a:rPr lang="fr-FR"/>
              <a:t>deploy</a:t>
            </a:r>
            <a:r>
              <a:rPr lang="fr-FR"/>
              <a:t>-mode cluster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303113" y="2708638"/>
            <a:ext cx="5377972" cy="216251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7074536" y="346064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Yarn</a:t>
            </a:r>
            <a:r>
              <a:rPr lang="fr-FR"/>
              <a:t> Cluster Mode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3897935" y="3448267"/>
            <a:ext cx="2341440" cy="228112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3935301" y="3027516"/>
            <a:ext cx="2529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spark</a:t>
            </a:r>
            <a:r>
              <a:rPr lang="fr-FR"/>
              <a:t>-driver (=</a:t>
            </a:r>
            <a:r>
              <a:rPr lang="fr-FR"/>
              <a:t>Yarn</a:t>
            </a:r>
            <a:r>
              <a:rPr lang="fr-FR"/>
              <a:t> JVM)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285" y="3042048"/>
            <a:ext cx="1437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Client (=JVM)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65462" y="354852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18266" y="469112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7404218" y="396049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7404218" y="426962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15" name="Rectangle 14"/>
          <p:cNvSpPr/>
          <p:nvPr/>
        </p:nvSpPr>
        <p:spPr>
          <a:xfrm>
            <a:off x="4686160" y="4716902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4370245" y="4305019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945741" y="4387541"/>
            <a:ext cx="14093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spark-submit</a:t>
            </a:r>
            <a:br>
              <a:rPr lang="fr-FR"/>
            </a:br>
            <a:r>
              <a:rPr lang="fr-FR"/>
              <a:t>main</a:t>
            </a:r>
          </a:p>
        </p:txBody>
      </p:sp>
      <p:sp>
        <p:nvSpPr>
          <p:cNvPr id="18" name="Arrow: Left 17"/>
          <p:cNvSpPr/>
          <p:nvPr/>
        </p:nvSpPr>
        <p:spPr>
          <a:xfrm rot="18291368" flipH="1">
            <a:off x="2506530" y="3133608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Left 18"/>
          <p:cNvSpPr/>
          <p:nvPr/>
        </p:nvSpPr>
        <p:spPr>
          <a:xfrm flipH="1">
            <a:off x="6061709" y="4862269"/>
            <a:ext cx="484908" cy="22493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1767256" y="3754808"/>
            <a:ext cx="1237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Start driver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9046" y="5000513"/>
            <a:ext cx="7039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Send</a:t>
            </a:r>
            <a:r>
              <a:rPr lang="fr-FR"/>
              <a:t> </a:t>
            </a:r>
          </a:p>
          <a:p>
            <a:r>
              <a:rPr lang="fr-FR"/>
              <a:t>tasks</a:t>
            </a:r>
            <a:r>
              <a:rPr lang="fr-FR"/>
              <a:t> </a:t>
            </a:r>
          </a:p>
        </p:txBody>
      </p:sp>
      <p:sp>
        <p:nvSpPr>
          <p:cNvPr id="26" name="Rectangle: Rounded Corners 25"/>
          <p:cNvSpPr/>
          <p:nvPr/>
        </p:nvSpPr>
        <p:spPr>
          <a:xfrm>
            <a:off x="7226936" y="361304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7717862" y="370092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70666" y="484352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7556618" y="411289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30" name="TextBox 29"/>
          <p:cNvSpPr txBox="1"/>
          <p:nvPr/>
        </p:nvSpPr>
        <p:spPr>
          <a:xfrm>
            <a:off x="7556618" y="442202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31" name="Rectangle: Rounded Corners 30"/>
          <p:cNvSpPr/>
          <p:nvPr/>
        </p:nvSpPr>
        <p:spPr>
          <a:xfrm>
            <a:off x="7379336" y="376544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TextBox 31"/>
          <p:cNvSpPr txBox="1"/>
          <p:nvPr/>
        </p:nvSpPr>
        <p:spPr>
          <a:xfrm>
            <a:off x="7870262" y="385332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23066" y="499592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7709018" y="426529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35" name="TextBox 34"/>
          <p:cNvSpPr txBox="1"/>
          <p:nvPr/>
        </p:nvSpPr>
        <p:spPr>
          <a:xfrm>
            <a:off x="7709018" y="457442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36" name="Rectangle: Rounded Corners 35"/>
          <p:cNvSpPr/>
          <p:nvPr/>
        </p:nvSpPr>
        <p:spPr>
          <a:xfrm>
            <a:off x="7531736" y="3946638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/>
          <p:cNvSpPr txBox="1"/>
          <p:nvPr/>
        </p:nvSpPr>
        <p:spPr>
          <a:xfrm>
            <a:off x="8331225" y="2993781"/>
            <a:ext cx="2752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spark-executor</a:t>
            </a:r>
            <a:r>
              <a:rPr lang="fr-FR"/>
              <a:t> (=</a:t>
            </a:r>
            <a:r>
              <a:rPr lang="fr-FR"/>
              <a:t>Yarn</a:t>
            </a:r>
            <a:r>
              <a:rPr lang="fr-FR"/>
              <a:t> JVM)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75466" y="514832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7861418" y="441769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7861418" y="472682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41" name="TextBox 40"/>
          <p:cNvSpPr txBox="1"/>
          <p:nvPr/>
        </p:nvSpPr>
        <p:spPr>
          <a:xfrm>
            <a:off x="8257628" y="3938002"/>
            <a:ext cx="2934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CoarseGrainExecutorBackend</a:t>
            </a:r>
            <a:endParaRPr lang="fr-FR"/>
          </a:p>
        </p:txBody>
      </p:sp>
      <p:sp>
        <p:nvSpPr>
          <p:cNvPr id="6" name="Rectangle: Rounded Corners 5"/>
          <p:cNvSpPr/>
          <p:nvPr/>
        </p:nvSpPr>
        <p:spPr>
          <a:xfrm>
            <a:off x="707676" y="3491407"/>
            <a:ext cx="2341440" cy="228112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9154" name="Picture 2" descr="What is Apache Hadoop YARN? | Hadoop YARN Tutorial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191184" y="1464273"/>
            <a:ext cx="2529266" cy="1067263"/>
          </a:xfrm>
          <a:prstGeom prst="rect">
            <a:avLst/>
          </a:prstGeom>
          <a:noFill/>
        </p:spPr>
      </p:pic>
      <p:sp>
        <p:nvSpPr>
          <p:cNvPr id="10" name="Arrow: Left 9"/>
          <p:cNvSpPr/>
          <p:nvPr/>
        </p:nvSpPr>
        <p:spPr>
          <a:xfrm rot="3544233" flipH="1">
            <a:off x="3376423" y="3192131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4198902" y="3525530"/>
            <a:ext cx="21457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CoarseGrainExecutor</a:t>
            </a:r>
            <a:endParaRPr lang="fr-FR"/>
          </a:p>
          <a:p>
            <a:r>
              <a:rPr lang="fr-FR"/>
              <a:t>Scheduler</a:t>
            </a:r>
            <a:endParaRPr lang="fr-FR"/>
          </a:p>
        </p:txBody>
      </p:sp>
      <p:sp>
        <p:nvSpPr>
          <p:cNvPr id="23" name="Arrow: Left 22"/>
          <p:cNvSpPr/>
          <p:nvPr/>
        </p:nvSpPr>
        <p:spPr>
          <a:xfrm rot="18291368" flipH="1">
            <a:off x="6043629" y="3014709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Arrow: Left 23"/>
          <p:cNvSpPr/>
          <p:nvPr/>
        </p:nvSpPr>
        <p:spPr>
          <a:xfrm rot="3544233" flipH="1">
            <a:off x="6839893" y="3071441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5" name="Picture 2" descr="What is Apache Hadoop YARN? | Hadoop YARN Tutorial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55004" y="1487268"/>
            <a:ext cx="2529266" cy="106726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Pros-Cons </a:t>
            </a:r>
            <a:r>
              <a:rPr lang="fr-FR"/>
              <a:t>Yarn</a:t>
            </a:r>
            <a:r>
              <a:rPr lang="fr-FR"/>
              <a:t> « Cluster » vs « Client »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9207" y="2146241"/>
            <a:ext cx="434933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Client can run </a:t>
            </a:r>
            <a:r>
              <a:rPr lang="fr-FR"/>
              <a:t>outside</a:t>
            </a:r>
            <a:r>
              <a:rPr lang="fr-FR"/>
              <a:t> firewall / cluster</a:t>
            </a:r>
          </a:p>
          <a:p>
            <a:endParaRPr lang="fr-FR"/>
          </a:p>
          <a:p>
            <a:r>
              <a:rPr lang="fr-FR"/>
              <a:t>Client </a:t>
            </a:r>
            <a:r>
              <a:rPr lang="fr-FR"/>
              <a:t>is</a:t>
            </a:r>
            <a:r>
              <a:rPr lang="fr-FR"/>
              <a:t> </a:t>
            </a:r>
            <a:r>
              <a:rPr lang="fr-FR"/>
              <a:t>lightweight</a:t>
            </a:r>
            <a:endParaRPr lang="fr-FR"/>
          </a:p>
          <a:p>
            <a:r>
              <a:rPr lang="fr-FR"/>
              <a:t>Many</a:t>
            </a:r>
            <a:r>
              <a:rPr lang="fr-FR"/>
              <a:t> Clients can run on « Edge » Node</a:t>
            </a:r>
          </a:p>
          <a:p>
            <a:endParaRPr lang="fr-FR"/>
          </a:p>
          <a:p>
            <a:endParaRPr lang="fr-FR"/>
          </a:p>
          <a:p>
            <a:r>
              <a:rPr lang="fr-FR"/>
              <a:t>If Driver crashes… client </a:t>
            </a:r>
            <a:r>
              <a:rPr lang="fr-FR"/>
              <a:t>will</a:t>
            </a:r>
            <a:r>
              <a:rPr lang="fr-FR"/>
              <a:t> </a:t>
            </a:r>
            <a:r>
              <a:rPr lang="fr-FR"/>
              <a:t>relaunch</a:t>
            </a:r>
            <a:r>
              <a:rPr lang="fr-FR"/>
              <a:t> driver!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3667" y="2146240"/>
            <a:ext cx="508767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More </a:t>
            </a:r>
            <a:r>
              <a:rPr lang="fr-FR"/>
              <a:t>difficult</a:t>
            </a:r>
            <a:r>
              <a:rPr lang="fr-FR"/>
              <a:t> to </a:t>
            </a:r>
            <a:r>
              <a:rPr lang="fr-FR"/>
              <a:t>see</a:t>
            </a:r>
            <a:r>
              <a:rPr lang="fr-FR"/>
              <a:t> logs  (</a:t>
            </a:r>
            <a:r>
              <a:rPr lang="fr-FR"/>
              <a:t>Yarn</a:t>
            </a:r>
            <a:r>
              <a:rPr lang="fr-FR"/>
              <a:t> Logs!!)</a:t>
            </a:r>
          </a:p>
          <a:p>
            <a:endParaRPr lang="fr-FR"/>
          </a:p>
          <a:p>
            <a:r>
              <a:rPr lang="fr-FR"/>
              <a:t>More </a:t>
            </a:r>
            <a:r>
              <a:rPr lang="fr-FR"/>
              <a:t>difficult</a:t>
            </a:r>
            <a:r>
              <a:rPr lang="fr-FR"/>
              <a:t> to </a:t>
            </a:r>
            <a:r>
              <a:rPr lang="fr-FR"/>
              <a:t>kill</a:t>
            </a:r>
            <a:r>
              <a:rPr lang="fr-FR"/>
              <a:t> :  </a:t>
            </a:r>
            <a:r>
              <a:rPr lang="fr-FR"/>
              <a:t>yarn</a:t>
            </a:r>
            <a:r>
              <a:rPr lang="fr-FR"/>
              <a:t> app –</a:t>
            </a:r>
            <a:r>
              <a:rPr lang="fr-FR"/>
              <a:t>kill</a:t>
            </a:r>
            <a:r>
              <a:rPr lang="fr-FR"/>
              <a:t> ${</a:t>
            </a:r>
            <a:r>
              <a:rPr lang="fr-FR"/>
              <a:t>applicationId</a:t>
            </a:r>
            <a:r>
              <a:rPr lang="fr-FR"/>
              <a:t>} </a:t>
            </a:r>
          </a:p>
          <a:p>
            <a:endParaRPr lang="fr-FR"/>
          </a:p>
          <a:p>
            <a:r>
              <a:rPr lang="fr-FR"/>
              <a:t>Kill client =&gt; </a:t>
            </a:r>
            <a:r>
              <a:rPr lang="fr-FR"/>
              <a:t>does</a:t>
            </a:r>
            <a:r>
              <a:rPr lang="fr-FR"/>
              <a:t> not </a:t>
            </a:r>
            <a:r>
              <a:rPr lang="fr-FR"/>
              <a:t>kill</a:t>
            </a:r>
            <a:r>
              <a:rPr lang="fr-FR"/>
              <a:t> driver !!</a:t>
            </a:r>
          </a:p>
          <a:p>
            <a:r>
              <a:rPr lang="fr-FR"/>
              <a:t>                      ( Zombie </a:t>
            </a:r>
            <a:r>
              <a:rPr lang="fr-FR"/>
              <a:t>yarn</a:t>
            </a:r>
            <a:r>
              <a:rPr lang="fr-FR"/>
              <a:t> driver ? 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--master k8s://&lt;k8sApiServer&gt;:443</a:t>
            </a:r>
            <a:br>
              <a:rPr lang="fr-FR"/>
            </a:br>
            <a:r>
              <a:rPr lang="fr-FR"/>
              <a:t>( basic </a:t>
            </a:r>
            <a:r>
              <a:rPr lang="fr-FR"/>
              <a:t>without</a:t>
            </a:r>
            <a:r>
              <a:rPr lang="fr-FR"/>
              <a:t> K8s </a:t>
            </a:r>
            <a:r>
              <a:rPr lang="fr-FR"/>
              <a:t>operator</a:t>
            </a:r>
            <a:r>
              <a:rPr lang="fr-FR"/>
              <a:t>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598379" y="2983231"/>
            <a:ext cx="5206009" cy="171455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on </a:t>
            </a:r>
            <a:r>
              <a:rPr lang="fr-FR"/>
              <a:t>Kubernetes</a:t>
            </a:r>
            <a:r>
              <a:rPr lang="fr-FR"/>
              <a:t> … Docker Images/Jars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3655322" y="3013459"/>
            <a:ext cx="2341440" cy="228112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3851046" y="3429000"/>
            <a:ext cx="21457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CoarseGrainExecutor</a:t>
            </a:r>
            <a:endParaRPr lang="fr-FR"/>
          </a:p>
          <a:p>
            <a:r>
              <a:rPr lang="fr-FR"/>
              <a:t>Scheduler</a:t>
            </a:r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3256426" y="2410365"/>
            <a:ext cx="3286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Executor</a:t>
            </a:r>
            <a:r>
              <a:rPr lang="fr-FR"/>
              <a:t> = </a:t>
            </a:r>
            <a:r>
              <a:rPr lang="fr-FR"/>
              <a:t>pod</a:t>
            </a:r>
            <a:r>
              <a:rPr lang="fr-FR"/>
              <a:t> </a:t>
            </a:r>
          </a:p>
          <a:p>
            <a:r>
              <a:rPr lang="fr-FR"/>
              <a:t>               (</a:t>
            </a:r>
            <a:r>
              <a:rPr lang="fr-FR"/>
              <a:t>using</a:t>
            </a:r>
            <a:r>
              <a:rPr lang="fr-FR"/>
              <a:t> </a:t>
            </a:r>
            <a:r>
              <a:rPr lang="fr-FR"/>
              <a:t>dockerImageX</a:t>
            </a:r>
            <a:r>
              <a:rPr lang="fr-FR"/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8306" y="4647854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4112391" y="4235971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sp>
        <p:nvSpPr>
          <p:cNvPr id="9" name="Rectangle: Rounded Corners 8"/>
          <p:cNvSpPr/>
          <p:nvPr/>
        </p:nvSpPr>
        <p:spPr>
          <a:xfrm>
            <a:off x="7291706" y="301033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7782632" y="309821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5436" y="424081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/>
          <p:cNvSpPr txBox="1"/>
          <p:nvPr/>
        </p:nvSpPr>
        <p:spPr>
          <a:xfrm>
            <a:off x="7621388" y="351018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7621388" y="381931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14" name="Rectangle: Rounded Corners 13"/>
          <p:cNvSpPr/>
          <p:nvPr/>
        </p:nvSpPr>
        <p:spPr>
          <a:xfrm>
            <a:off x="7444106" y="316273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7935032" y="325061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7836" y="439321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7773788" y="366258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18" name="TextBox 17"/>
          <p:cNvSpPr txBox="1"/>
          <p:nvPr/>
        </p:nvSpPr>
        <p:spPr>
          <a:xfrm>
            <a:off x="7773788" y="397171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19" name="Rectangle: Rounded Corners 18"/>
          <p:cNvSpPr/>
          <p:nvPr/>
        </p:nvSpPr>
        <p:spPr>
          <a:xfrm>
            <a:off x="7596506" y="331513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8087432" y="340301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40236" y="454561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7926188" y="381498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7926188" y="412411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24" name="Rectangle: Rounded Corners 23"/>
          <p:cNvSpPr/>
          <p:nvPr/>
        </p:nvSpPr>
        <p:spPr>
          <a:xfrm>
            <a:off x="7748906" y="3496328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/>
          <p:cNvSpPr txBox="1"/>
          <p:nvPr/>
        </p:nvSpPr>
        <p:spPr>
          <a:xfrm>
            <a:off x="8248515" y="2354356"/>
            <a:ext cx="33043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spark-executor</a:t>
            </a:r>
            <a:r>
              <a:rPr lang="fr-FR"/>
              <a:t>  = </a:t>
            </a:r>
            <a:r>
              <a:rPr lang="fr-FR"/>
              <a:t>pod</a:t>
            </a:r>
            <a:endParaRPr lang="fr-FR"/>
          </a:p>
          <a:p>
            <a:r>
              <a:rPr lang="fr-FR"/>
              <a:t>                 (</a:t>
            </a:r>
            <a:r>
              <a:rPr lang="fr-FR"/>
              <a:t>using</a:t>
            </a:r>
            <a:r>
              <a:rPr lang="fr-FR"/>
              <a:t> </a:t>
            </a:r>
            <a:r>
              <a:rPr lang="fr-FR"/>
              <a:t>dockerImageX</a:t>
            </a:r>
            <a:r>
              <a:rPr lang="fr-FR"/>
              <a:t>/Y)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92636" y="469801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8078588" y="396738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28" name="TextBox 27"/>
          <p:cNvSpPr txBox="1"/>
          <p:nvPr/>
        </p:nvSpPr>
        <p:spPr>
          <a:xfrm>
            <a:off x="8078588" y="427651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8474798" y="3487692"/>
            <a:ext cx="2934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CoarseGrainExecutorBackend</a:t>
            </a:r>
            <a:endParaRPr lang="fr-FR"/>
          </a:p>
        </p:txBody>
      </p:sp>
      <p:sp>
        <p:nvSpPr>
          <p:cNvPr id="30" name="Arrow: Left 29"/>
          <p:cNvSpPr/>
          <p:nvPr/>
        </p:nvSpPr>
        <p:spPr>
          <a:xfrm rot="18291368" flipH="1">
            <a:off x="6034697" y="2562706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row: Left 30"/>
          <p:cNvSpPr/>
          <p:nvPr/>
        </p:nvSpPr>
        <p:spPr>
          <a:xfrm rot="3544233" flipH="1">
            <a:off x="6904590" y="2621229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304980" y="3477919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</a:t>
            </a:r>
            <a:r>
              <a:rPr lang="fr-FR"/>
              <a:t>submit</a:t>
            </a:r>
            <a:r>
              <a:rPr lang="fr-FR"/>
              <a:t> .. k8s</a:t>
            </a:r>
          </a:p>
        </p:txBody>
      </p:sp>
      <p:sp>
        <p:nvSpPr>
          <p:cNvPr id="34" name="Rectangle: Rounded Corners 33"/>
          <p:cNvSpPr/>
          <p:nvPr/>
        </p:nvSpPr>
        <p:spPr>
          <a:xfrm>
            <a:off x="272185" y="3002497"/>
            <a:ext cx="1943102" cy="228112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Arrow: Left 34"/>
          <p:cNvSpPr/>
          <p:nvPr/>
        </p:nvSpPr>
        <p:spPr>
          <a:xfrm rot="18291368" flipH="1">
            <a:off x="1680342" y="2602455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Arrow: Left 35"/>
          <p:cNvSpPr/>
          <p:nvPr/>
        </p:nvSpPr>
        <p:spPr>
          <a:xfrm rot="3544233" flipH="1">
            <a:off x="2588884" y="2621230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7" name="Picture 2" descr="Image result for k8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28342" y="1426454"/>
            <a:ext cx="829747" cy="808026"/>
          </a:xfrm>
          <a:prstGeom prst="rect">
            <a:avLst/>
          </a:prstGeom>
          <a:noFill/>
        </p:spPr>
      </p:pic>
      <p:pic>
        <p:nvPicPr>
          <p:cNvPr id="39" name="Picture 2" descr="Image result for k8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532675" y="1426454"/>
            <a:ext cx="829747" cy="8080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117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Spark on K8s   </a:t>
            </a:r>
            <a:r>
              <a:rPr lang="fr-FR"/>
              <a:t>with</a:t>
            </a:r>
            <a:r>
              <a:rPr lang="fr-FR"/>
              <a:t>  </a:t>
            </a:r>
            <a:r>
              <a:rPr lang="fr-FR"/>
              <a:t>SparkOperator</a:t>
            </a:r>
            <a:r>
              <a:rPr lang="fr-FR"/>
              <a:t> mode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998743" y="3026083"/>
            <a:ext cx="7214117" cy="805833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Spark on K8S, </a:t>
            </a:r>
            <a:r>
              <a:rPr lang="fr-FR"/>
              <a:t>using</a:t>
            </a:r>
            <a:r>
              <a:rPr lang="fr-FR"/>
              <a:t> K8s </a:t>
            </a:r>
            <a:r>
              <a:rPr lang="fr-FR"/>
              <a:t>SparkOperator</a:t>
            </a:r>
            <a:endParaRPr lang="fr-FR"/>
          </a:p>
        </p:txBody>
      </p:sp>
      <p:sp>
        <p:nvSpPr>
          <p:cNvPr id="3" name="Rectangle: Rounded Corners 2"/>
          <p:cNvSpPr/>
          <p:nvPr/>
        </p:nvSpPr>
        <p:spPr>
          <a:xfrm>
            <a:off x="4124673" y="2972355"/>
            <a:ext cx="2341440" cy="228112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4320397" y="3387896"/>
            <a:ext cx="21457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CoarseGrainExecutor</a:t>
            </a:r>
            <a:endParaRPr lang="fr-FR"/>
          </a:p>
          <a:p>
            <a:r>
              <a:rPr lang="fr-FR"/>
              <a:t>Scheduler</a:t>
            </a:r>
            <a:endParaRPr lang="fr-FR"/>
          </a:p>
        </p:txBody>
      </p:sp>
      <p:sp>
        <p:nvSpPr>
          <p:cNvPr id="35" name="TextBox 34"/>
          <p:cNvSpPr txBox="1"/>
          <p:nvPr/>
        </p:nvSpPr>
        <p:spPr>
          <a:xfrm>
            <a:off x="4374328" y="2205678"/>
            <a:ext cx="3286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spark</a:t>
            </a:r>
            <a:r>
              <a:rPr lang="fr-FR"/>
              <a:t>-driver = </a:t>
            </a:r>
            <a:r>
              <a:rPr lang="fr-FR"/>
              <a:t>pod</a:t>
            </a:r>
            <a:r>
              <a:rPr lang="fr-FR"/>
              <a:t> </a:t>
            </a:r>
          </a:p>
          <a:p>
            <a:r>
              <a:rPr lang="fr-FR"/>
              <a:t> (</a:t>
            </a:r>
            <a:r>
              <a:rPr lang="fr-FR"/>
              <a:t>using</a:t>
            </a:r>
            <a:r>
              <a:rPr lang="fr-FR"/>
              <a:t> </a:t>
            </a:r>
            <a:r>
              <a:rPr lang="fr-FR"/>
              <a:t>dockerImageX</a:t>
            </a:r>
            <a:r>
              <a:rPr lang="fr-FR"/>
              <a:t>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97657" y="4606750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/>
          <p:cNvSpPr txBox="1"/>
          <p:nvPr/>
        </p:nvSpPr>
        <p:spPr>
          <a:xfrm>
            <a:off x="4581742" y="4194867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sp>
        <p:nvSpPr>
          <p:cNvPr id="38" name="Rectangle: Rounded Corners 37"/>
          <p:cNvSpPr/>
          <p:nvPr/>
        </p:nvSpPr>
        <p:spPr>
          <a:xfrm>
            <a:off x="7291706" y="301033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7782632" y="309821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35436" y="424081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/>
          <p:cNvSpPr txBox="1"/>
          <p:nvPr/>
        </p:nvSpPr>
        <p:spPr>
          <a:xfrm>
            <a:off x="7621388" y="351018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42" name="TextBox 41"/>
          <p:cNvSpPr txBox="1"/>
          <p:nvPr/>
        </p:nvSpPr>
        <p:spPr>
          <a:xfrm>
            <a:off x="7621388" y="381931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43" name="Rectangle: Rounded Corners 42"/>
          <p:cNvSpPr/>
          <p:nvPr/>
        </p:nvSpPr>
        <p:spPr>
          <a:xfrm>
            <a:off x="7444106" y="316273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TextBox 43"/>
          <p:cNvSpPr txBox="1"/>
          <p:nvPr/>
        </p:nvSpPr>
        <p:spPr>
          <a:xfrm>
            <a:off x="7935032" y="325061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87836" y="439321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TextBox 45"/>
          <p:cNvSpPr txBox="1"/>
          <p:nvPr/>
        </p:nvSpPr>
        <p:spPr>
          <a:xfrm>
            <a:off x="7773788" y="366258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47" name="TextBox 46"/>
          <p:cNvSpPr txBox="1"/>
          <p:nvPr/>
        </p:nvSpPr>
        <p:spPr>
          <a:xfrm>
            <a:off x="7773788" y="397171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48" name="Rectangle: Rounded Corners 47"/>
          <p:cNvSpPr/>
          <p:nvPr/>
        </p:nvSpPr>
        <p:spPr>
          <a:xfrm>
            <a:off x="7596506" y="3315130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TextBox 48"/>
          <p:cNvSpPr txBox="1"/>
          <p:nvPr/>
        </p:nvSpPr>
        <p:spPr>
          <a:xfrm>
            <a:off x="8087432" y="3403015"/>
            <a:ext cx="153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Executors</a:t>
            </a:r>
            <a:r>
              <a:rPr lang="fr-FR"/>
              <a:t> part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40236" y="454561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TextBox 50"/>
          <p:cNvSpPr txBox="1"/>
          <p:nvPr/>
        </p:nvSpPr>
        <p:spPr>
          <a:xfrm>
            <a:off x="7926188" y="381498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52" name="TextBox 51"/>
          <p:cNvSpPr txBox="1"/>
          <p:nvPr/>
        </p:nvSpPr>
        <p:spPr>
          <a:xfrm>
            <a:off x="7926188" y="412411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53" name="Rectangle: Rounded Corners 52"/>
          <p:cNvSpPr/>
          <p:nvPr/>
        </p:nvSpPr>
        <p:spPr>
          <a:xfrm>
            <a:off x="7748906" y="3496328"/>
            <a:ext cx="4244974" cy="2281128"/>
          </a:xfrm>
          <a:prstGeom prst="roundRect">
            <a:avLst/>
          </a:prstGeom>
          <a:solidFill>
            <a:schemeClr val="bg1"/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/>
          <p:cNvSpPr txBox="1"/>
          <p:nvPr/>
        </p:nvSpPr>
        <p:spPr>
          <a:xfrm>
            <a:off x="8177186" y="2160579"/>
            <a:ext cx="24050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spark-executor</a:t>
            </a:r>
            <a:r>
              <a:rPr lang="fr-FR"/>
              <a:t>  = </a:t>
            </a:r>
            <a:r>
              <a:rPr lang="fr-FR"/>
              <a:t>pod</a:t>
            </a:r>
            <a:endParaRPr lang="fr-FR"/>
          </a:p>
          <a:p>
            <a:r>
              <a:rPr lang="fr-FR"/>
              <a:t>(</a:t>
            </a:r>
            <a:r>
              <a:rPr lang="fr-FR"/>
              <a:t>using</a:t>
            </a:r>
            <a:r>
              <a:rPr lang="fr-FR"/>
              <a:t> </a:t>
            </a:r>
            <a:r>
              <a:rPr lang="fr-FR"/>
              <a:t>dockerImageX</a:t>
            </a:r>
            <a:r>
              <a:rPr lang="fr-FR"/>
              <a:t>/Y)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92636" y="4698016"/>
            <a:ext cx="825442" cy="5672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TextBox 55"/>
          <p:cNvSpPr txBox="1"/>
          <p:nvPr/>
        </p:nvSpPr>
        <p:spPr>
          <a:xfrm>
            <a:off x="8078588" y="3967385"/>
            <a:ext cx="1453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57" name="TextBox 56"/>
          <p:cNvSpPr txBox="1"/>
          <p:nvPr/>
        </p:nvSpPr>
        <p:spPr>
          <a:xfrm>
            <a:off x="8078588" y="4276518"/>
            <a:ext cx="125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ThreadPool</a:t>
            </a:r>
            <a:endParaRPr lang="fr-FR"/>
          </a:p>
        </p:txBody>
      </p:sp>
      <p:sp>
        <p:nvSpPr>
          <p:cNvPr id="58" name="TextBox 57"/>
          <p:cNvSpPr txBox="1"/>
          <p:nvPr/>
        </p:nvSpPr>
        <p:spPr>
          <a:xfrm>
            <a:off x="8474798" y="3487692"/>
            <a:ext cx="2934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CoarseGrainExecutorBackend</a:t>
            </a:r>
            <a:endParaRPr lang="fr-FR"/>
          </a:p>
        </p:txBody>
      </p:sp>
      <p:sp>
        <p:nvSpPr>
          <p:cNvPr id="59" name="Arrow: Left 58"/>
          <p:cNvSpPr/>
          <p:nvPr/>
        </p:nvSpPr>
        <p:spPr>
          <a:xfrm rot="18291368" flipH="1">
            <a:off x="6034697" y="2562706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Arrow: Left 59"/>
          <p:cNvSpPr/>
          <p:nvPr/>
        </p:nvSpPr>
        <p:spPr>
          <a:xfrm rot="3544233" flipH="1">
            <a:off x="6904590" y="2621229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TextBox 61"/>
          <p:cNvSpPr txBox="1"/>
          <p:nvPr/>
        </p:nvSpPr>
        <p:spPr>
          <a:xfrm>
            <a:off x="12315" y="3210226"/>
            <a:ext cx="15341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$ </a:t>
            </a:r>
            <a:r>
              <a:rPr lang="fr-FR"/>
              <a:t>kubectl</a:t>
            </a:r>
            <a:r>
              <a:rPr lang="fr-FR"/>
              <a:t> </a:t>
            </a:r>
            <a:br>
              <a:rPr lang="fr-FR"/>
            </a:br>
            <a:r>
              <a:rPr lang="fr-FR"/>
              <a:t>  </a:t>
            </a:r>
            <a:r>
              <a:rPr lang="fr-FR"/>
              <a:t>apply</a:t>
            </a:r>
            <a:r>
              <a:rPr lang="fr-FR"/>
              <a:t> &lt;</a:t>
            </a:r>
            <a:r>
              <a:rPr lang="fr-FR"/>
              <a:t>yaml</a:t>
            </a:r>
            <a:r>
              <a:rPr lang="fr-FR"/>
              <a:t>&gt;</a:t>
            </a:r>
          </a:p>
        </p:txBody>
      </p:sp>
      <p:sp>
        <p:nvSpPr>
          <p:cNvPr id="63" name="Rectangle: Rounded Corners 62"/>
          <p:cNvSpPr/>
          <p:nvPr/>
        </p:nvSpPr>
        <p:spPr>
          <a:xfrm>
            <a:off x="84188" y="3955309"/>
            <a:ext cx="1032206" cy="740639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TextBox 63"/>
          <p:cNvSpPr txBox="1"/>
          <p:nvPr/>
        </p:nvSpPr>
        <p:spPr>
          <a:xfrm>
            <a:off x="167592" y="4112919"/>
            <a:ext cx="995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kubectl</a:t>
            </a:r>
            <a:endParaRPr lang="fr-FR"/>
          </a:p>
        </p:txBody>
      </p:sp>
      <p:sp>
        <p:nvSpPr>
          <p:cNvPr id="65" name="Arrow: Left 64"/>
          <p:cNvSpPr/>
          <p:nvPr/>
        </p:nvSpPr>
        <p:spPr>
          <a:xfrm rot="18291368" flipH="1">
            <a:off x="356660" y="2583853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Arrow: Left 65"/>
          <p:cNvSpPr/>
          <p:nvPr/>
        </p:nvSpPr>
        <p:spPr>
          <a:xfrm rot="3544233" flipH="1">
            <a:off x="1142870" y="2638797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Rectangle: Rounded Corners 66"/>
          <p:cNvSpPr/>
          <p:nvPr/>
        </p:nvSpPr>
        <p:spPr>
          <a:xfrm>
            <a:off x="1558382" y="2922986"/>
            <a:ext cx="1985069" cy="228112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TextBox 67"/>
          <p:cNvSpPr txBox="1"/>
          <p:nvPr/>
        </p:nvSpPr>
        <p:spPr>
          <a:xfrm>
            <a:off x="1547821" y="3142416"/>
            <a:ext cx="2006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K8S Spark </a:t>
            </a:r>
            <a:r>
              <a:rPr lang="fr-FR"/>
              <a:t>Operator</a:t>
            </a:r>
            <a:endParaRPr lang="fr-FR"/>
          </a:p>
        </p:txBody>
      </p:sp>
      <p:sp>
        <p:nvSpPr>
          <p:cNvPr id="71" name="TextBox 70"/>
          <p:cNvSpPr txBox="1"/>
          <p:nvPr/>
        </p:nvSpPr>
        <p:spPr>
          <a:xfrm>
            <a:off x="1632483" y="4008689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</a:t>
            </a:r>
            <a:r>
              <a:rPr lang="fr-FR"/>
              <a:t>submit</a:t>
            </a:r>
            <a:r>
              <a:rPr lang="fr-FR"/>
              <a:t> .. k8s</a:t>
            </a:r>
          </a:p>
        </p:txBody>
      </p:sp>
      <p:sp>
        <p:nvSpPr>
          <p:cNvPr id="72" name="Arrow: Left 71"/>
          <p:cNvSpPr/>
          <p:nvPr/>
        </p:nvSpPr>
        <p:spPr>
          <a:xfrm rot="18291368" flipH="1">
            <a:off x="2945495" y="2546157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Arrow: Left 72"/>
          <p:cNvSpPr/>
          <p:nvPr/>
        </p:nvSpPr>
        <p:spPr>
          <a:xfrm rot="3544233" flipH="1">
            <a:off x="3731705" y="2601101"/>
            <a:ext cx="1015709" cy="34058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6322" name="Picture 2" descr="Image result for k8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60785" y="1426454"/>
            <a:ext cx="829747" cy="808026"/>
          </a:xfrm>
          <a:prstGeom prst="rect">
            <a:avLst/>
          </a:prstGeom>
          <a:noFill/>
        </p:spPr>
      </p:pic>
      <p:pic>
        <p:nvPicPr>
          <p:cNvPr id="74" name="Picture 2" descr="Image result for k8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409812" y="1426454"/>
            <a:ext cx="829747" cy="808026"/>
          </a:xfrm>
          <a:prstGeom prst="rect">
            <a:avLst/>
          </a:prstGeom>
          <a:noFill/>
        </p:spPr>
      </p:pic>
      <p:pic>
        <p:nvPicPr>
          <p:cNvPr id="75" name="Picture 2" descr="Image result for k8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532675" y="1426454"/>
            <a:ext cx="829747" cy="808026"/>
          </a:xfrm>
          <a:prstGeom prst="rect">
            <a:avLst/>
          </a:prstGeom>
          <a:noFill/>
        </p:spPr>
      </p:pic>
      <p:sp>
        <p:nvSpPr>
          <p:cNvPr id="76" name="TextBox 75"/>
          <p:cNvSpPr txBox="1"/>
          <p:nvPr/>
        </p:nvSpPr>
        <p:spPr>
          <a:xfrm>
            <a:off x="1611532" y="5364754"/>
            <a:ext cx="3286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Spark-client… run in </a:t>
            </a:r>
            <a:r>
              <a:rPr lang="fr-FR"/>
              <a:t>SparkOperator</a:t>
            </a:r>
            <a:r>
              <a:rPr lang="fr-FR"/>
              <a:t> service(GO)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0"/>
            <a:ext cx="10871835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spark-on-k8s-operator  :  K8s CRD </a:t>
            </a:r>
            <a:r>
              <a:rPr lang="fr-FR"/>
              <a:t>from</a:t>
            </a:r>
            <a:r>
              <a:rPr lang="fr-FR"/>
              <a:t> Google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71947" y="1855322"/>
            <a:ext cx="11362405" cy="339881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669206" y="140484"/>
            <a:ext cx="5280859" cy="6686745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4295" y="0"/>
            <a:ext cx="6160770" cy="207518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en-US"/>
              <a:t>$ </a:t>
            </a:r>
            <a:r>
              <a:rPr lang="en-US"/>
              <a:t>kubectl</a:t>
            </a:r>
            <a:r>
              <a:rPr lang="en-US"/>
              <a:t> get </a:t>
            </a:r>
            <a:br>
              <a:rPr lang="en-US"/>
            </a:br>
            <a:r>
              <a:rPr lang="en-US"/>
              <a:t>  </a:t>
            </a:r>
            <a:r>
              <a:rPr lang="en-US"/>
              <a:t>sparkapplications</a:t>
            </a:r>
            <a:r>
              <a:rPr lang="en-US"/>
              <a:t> .. -o=</a:t>
            </a:r>
            <a:r>
              <a:rPr lang="en-US"/>
              <a:t>yaml</a:t>
            </a:r>
            <a:r>
              <a:rPr lang="en-US"/>
              <a:t> </a:t>
            </a:r>
            <a:br>
              <a:rPr lang="en-US"/>
            </a:br>
            <a:endParaRPr lang="fr-FR"/>
          </a:p>
        </p:txBody>
      </p:sp>
      <p:sp>
        <p:nvSpPr>
          <p:cNvPr id="9" name="Left Brace 8"/>
          <p:cNvSpPr/>
          <p:nvPr/>
        </p:nvSpPr>
        <p:spPr>
          <a:xfrm>
            <a:off x="2429381" y="1291589"/>
            <a:ext cx="280035" cy="345361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Left Brace 9"/>
          <p:cNvSpPr/>
          <p:nvPr/>
        </p:nvSpPr>
        <p:spPr>
          <a:xfrm>
            <a:off x="2429380" y="4909184"/>
            <a:ext cx="280036" cy="1849755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1252091" y="2707034"/>
            <a:ext cx="8451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spec</a:t>
            </a:r>
            <a:endParaRPr lang="fr-FR" sz="2800"/>
          </a:p>
        </p:txBody>
      </p:sp>
      <p:sp>
        <p:nvSpPr>
          <p:cNvPr id="12" name="TextBox 11"/>
          <p:cNvSpPr txBox="1"/>
          <p:nvPr/>
        </p:nvSpPr>
        <p:spPr>
          <a:xfrm>
            <a:off x="1315771" y="5509586"/>
            <a:ext cx="10561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status</a:t>
            </a:r>
            <a:endParaRPr lang="fr-FR" sz="2800"/>
          </a:p>
        </p:txBody>
      </p:sp>
      <p:sp>
        <p:nvSpPr>
          <p:cNvPr id="13" name="Left Brace 12"/>
          <p:cNvSpPr/>
          <p:nvPr/>
        </p:nvSpPr>
        <p:spPr>
          <a:xfrm>
            <a:off x="5560240" y="1372880"/>
            <a:ext cx="280034" cy="667375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Left Brace 13"/>
          <p:cNvSpPr/>
          <p:nvPr/>
        </p:nvSpPr>
        <p:spPr>
          <a:xfrm>
            <a:off x="5613781" y="2235845"/>
            <a:ext cx="206591" cy="667375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Left Brace 14"/>
          <p:cNvSpPr/>
          <p:nvPr/>
        </p:nvSpPr>
        <p:spPr>
          <a:xfrm>
            <a:off x="5596961" y="3018398"/>
            <a:ext cx="206591" cy="1336432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3659946" y="1444957"/>
            <a:ext cx="16911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driver </a:t>
            </a:r>
            <a:r>
              <a:rPr lang="fr-FR" sz="2800"/>
              <a:t>pod</a:t>
            </a:r>
            <a:endParaRPr lang="fr-FR" sz="2800"/>
          </a:p>
        </p:txBody>
      </p:sp>
      <p:sp>
        <p:nvSpPr>
          <p:cNvPr id="18" name="TextBox 17"/>
          <p:cNvSpPr txBox="1"/>
          <p:nvPr/>
        </p:nvSpPr>
        <p:spPr>
          <a:xfrm>
            <a:off x="3455368" y="2235845"/>
            <a:ext cx="21026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executor</a:t>
            </a:r>
            <a:r>
              <a:rPr lang="fr-FR" sz="2800"/>
              <a:t> </a:t>
            </a:r>
            <a:r>
              <a:rPr lang="fr-FR" sz="2800"/>
              <a:t>pod</a:t>
            </a:r>
            <a:endParaRPr lang="fr-FR" sz="2800"/>
          </a:p>
        </p:txBody>
      </p:sp>
      <p:sp>
        <p:nvSpPr>
          <p:cNvPr id="19" name="TextBox 18"/>
          <p:cNvSpPr txBox="1"/>
          <p:nvPr/>
        </p:nvSpPr>
        <p:spPr>
          <a:xfrm>
            <a:off x="3722176" y="3331220"/>
            <a:ext cx="16817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Spark args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Outline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314047" y="2423252"/>
            <a:ext cx="7398949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Reminder</a:t>
            </a:r>
            <a:r>
              <a:rPr lang="fr-FR" sz="2400"/>
              <a:t> Spark-driver / </a:t>
            </a:r>
            <a:r>
              <a:rPr lang="fr-FR" sz="2400"/>
              <a:t>spark-executors</a:t>
            </a:r>
            <a:endParaRPr lang="fr-FR" sz="2400"/>
          </a:p>
          <a:p>
            <a:endParaRPr lang="fr-FR" sz="2400"/>
          </a:p>
          <a:p>
            <a:r>
              <a:rPr lang="fr-FR" sz="2400"/>
              <a:t>Cluster Tuning Params</a:t>
            </a:r>
          </a:p>
          <a:p>
            <a:endParaRPr lang="fr-FR" sz="2400"/>
          </a:p>
          <a:p>
            <a:r>
              <a:rPr lang="fr-FR" sz="2400"/>
              <a:t>deployMode</a:t>
            </a:r>
            <a:r>
              <a:rPr lang="fr-FR" sz="2400"/>
              <a:t> (local, spark://, </a:t>
            </a:r>
            <a:r>
              <a:rPr lang="fr-FR" sz="2400"/>
              <a:t>yarn</a:t>
            </a:r>
            <a:r>
              <a:rPr lang="fr-FR" sz="2400"/>
              <a:t>, k8s)</a:t>
            </a:r>
          </a:p>
          <a:p>
            <a:endParaRPr lang="fr-FR" sz="2400"/>
          </a:p>
          <a:p>
            <a:r>
              <a:rPr lang="fr-FR" sz="2400"/>
              <a:t>Other launchers</a:t>
            </a:r>
            <a:r>
              <a:rPr lang="fr-FR" sz="2400"/>
              <a:t> (java </a:t>
            </a:r>
            <a:r>
              <a:rPr lang="fr-FR" sz="2400"/>
              <a:t>embedded</a:t>
            </a:r>
            <a:r>
              <a:rPr lang="fr-FR" sz="2400"/>
              <a:t>, </a:t>
            </a:r>
            <a:r>
              <a:rPr lang="fr-FR" sz="2400"/>
              <a:t>livy</a:t>
            </a:r>
            <a:r>
              <a:rPr lang="fr-FR" sz="2400"/>
              <a:t>, </a:t>
            </a:r>
            <a:r>
              <a:rPr lang="fr-FR" sz="2400"/>
              <a:t>jupyter</a:t>
            </a:r>
            <a:r>
              <a:rPr lang="fr-FR" sz="2400"/>
              <a:t>, </a:t>
            </a:r>
            <a:r>
              <a:rPr lang="fr-FR" sz="2400"/>
              <a:t>pyspark</a:t>
            </a:r>
            <a:r>
              <a:rPr lang="fr-FR" sz="2400"/>
              <a:t> ..)</a:t>
            </a:r>
          </a:p>
        </p:txBody>
      </p:sp>
      <p:pic>
        <p:nvPicPr>
          <p:cNvPr id="3" name="Picture 2" descr="Image result for checkmark icon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99693" y="2280258"/>
            <a:ext cx="664931" cy="664931"/>
          </a:xfrm>
          <a:prstGeom prst="rect">
            <a:avLst/>
          </a:prstGeom>
          <a:noFill/>
        </p:spPr>
      </p:pic>
      <p:sp>
        <p:nvSpPr>
          <p:cNvPr id="5" name="Arrow: Right 4"/>
          <p:cNvSpPr/>
          <p:nvPr/>
        </p:nvSpPr>
        <p:spPr>
          <a:xfrm>
            <a:off x="2399692" y="4665480"/>
            <a:ext cx="619276" cy="4354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5" descr="Image result for checkmark icon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99692" y="3043009"/>
            <a:ext cx="664931" cy="664931"/>
          </a:xfrm>
          <a:prstGeom prst="rect">
            <a:avLst/>
          </a:prstGeom>
          <a:noFill/>
        </p:spPr>
      </p:pic>
      <p:pic>
        <p:nvPicPr>
          <p:cNvPr id="7" name="Picture 6" descr="Image result for checkmark icon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03448" y="3814991"/>
            <a:ext cx="664931" cy="66493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772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More </a:t>
            </a:r>
            <a:r>
              <a:rPr lang="fr-FR"/>
              <a:t>ways</a:t>
            </a:r>
            <a:r>
              <a:rPr lang="fr-FR"/>
              <a:t> to start </a:t>
            </a:r>
            <a:r>
              <a:rPr lang="fr-FR"/>
              <a:t>spark</a:t>
            </a:r>
            <a:endParaRPr lang="fr-FR"/>
          </a:p>
        </p:txBody>
      </p:sp>
      <p:pic>
        <p:nvPicPr>
          <p:cNvPr id="1026" name="Picture 2" descr="Les formations Apache Zeppelin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008588" y="3812075"/>
            <a:ext cx="1800225" cy="952500"/>
          </a:xfrm>
          <a:prstGeom prst="rect">
            <a:avLst/>
          </a:prstGeom>
          <a:noFill/>
        </p:spPr>
      </p:pic>
      <p:pic>
        <p:nvPicPr>
          <p:cNvPr id="1028" name="Picture 4" descr="PySpark debugging — 6 common issues | by Maria Karanasou | Towards Data  Scienc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58931" y="5102771"/>
            <a:ext cx="2175342" cy="1187851"/>
          </a:xfrm>
          <a:prstGeom prst="rect">
            <a:avLst/>
          </a:prstGeom>
          <a:noFill/>
        </p:spPr>
      </p:pic>
      <p:pic>
        <p:nvPicPr>
          <p:cNvPr id="1030" name="Picture 6" descr="Jupyter — Wikipédia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515157" y="5241074"/>
            <a:ext cx="1091424" cy="1269830"/>
          </a:xfrm>
          <a:prstGeom prst="rect">
            <a:avLst/>
          </a:prstGeom>
          <a:noFill/>
        </p:spPr>
      </p:pic>
      <p:pic>
        <p:nvPicPr>
          <p:cNvPr id="1032" name="Picture 8" descr="Apache Livy – a REST gateway for Spark – Old dog, New tricks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99625" y="3962210"/>
            <a:ext cx="1947041" cy="724732"/>
          </a:xfrm>
          <a:prstGeom prst="rect">
            <a:avLst/>
          </a:prstGeom>
          <a:noFill/>
        </p:spPr>
      </p:pic>
      <p:pic>
        <p:nvPicPr>
          <p:cNvPr id="1034" name="Picture 10" descr="Oozie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651442" y="4028420"/>
            <a:ext cx="2471553" cy="592311"/>
          </a:xfrm>
          <a:prstGeom prst="rect">
            <a:avLst/>
          </a:prstGeom>
          <a:noFill/>
        </p:spPr>
      </p:pic>
      <p:pic>
        <p:nvPicPr>
          <p:cNvPr id="4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122995" y="1649972"/>
            <a:ext cx="2083535" cy="15626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257" y="0"/>
            <a:ext cx="10515600" cy="1074055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Plain </a:t>
            </a:r>
            <a:r>
              <a:rPr lang="fr-FR"/>
              <a:t>old</a:t>
            </a:r>
            <a:r>
              <a:rPr lang="fr-FR"/>
              <a:t> java main(String[] args)</a:t>
            </a:r>
            <a:br>
              <a:rPr lang="fr-FR"/>
            </a:br>
            <a:r>
              <a:rPr lang="fr-FR"/>
              <a:t>Spark « Hello World »</a:t>
            </a:r>
          </a:p>
        </p:txBody>
      </p:sp>
      <p:pic>
        <p:nvPicPr>
          <p:cNvPr id="4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03990" y="132365"/>
            <a:ext cx="1445148" cy="1083861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733383" y="1133047"/>
            <a:ext cx="6725233" cy="5665961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maven</a:t>
            </a:r>
            <a:r>
              <a:rPr lang="fr-FR"/>
              <a:t> pom.xml &lt;</a:t>
            </a:r>
            <a:r>
              <a:rPr lang="fr-FR"/>
              <a:t>dependency</a:t>
            </a:r>
            <a:r>
              <a:rPr lang="fr-FR"/>
              <a:t>&gt;</a:t>
            </a:r>
          </a:p>
        </p:txBody>
      </p:sp>
      <p:pic>
        <p:nvPicPr>
          <p:cNvPr id="4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03990" y="132365"/>
            <a:ext cx="1445148" cy="1083861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245308" y="2491338"/>
            <a:ext cx="5701383" cy="25552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48952" y="4639733"/>
            <a:ext cx="34392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Use &lt;scope&gt;</a:t>
            </a:r>
            <a:r>
              <a:rPr lang="fr-FR"/>
              <a:t>provided</a:t>
            </a:r>
            <a:r>
              <a:rPr lang="fr-FR"/>
              <a:t>&lt;/scope&gt; </a:t>
            </a:r>
            <a:br>
              <a:rPr lang="fr-FR"/>
            </a:br>
            <a:r>
              <a:rPr lang="fr-FR"/>
              <a:t>when</a:t>
            </a:r>
            <a:r>
              <a:rPr lang="fr-FR"/>
              <a:t> </a:t>
            </a:r>
            <a:r>
              <a:rPr lang="fr-FR"/>
              <a:t>deployed</a:t>
            </a:r>
            <a:r>
              <a:rPr lang="fr-FR"/>
              <a:t> in HADOOP cluster</a:t>
            </a:r>
          </a:p>
        </p:txBody>
      </p:sp>
      <p:sp>
        <p:nvSpPr>
          <p:cNvPr id="8" name="Speech Bubble: Oval 7"/>
          <p:cNvSpPr/>
          <p:nvPr/>
        </p:nvSpPr>
        <p:spPr>
          <a:xfrm>
            <a:off x="8011885" y="4618407"/>
            <a:ext cx="3705981" cy="793448"/>
          </a:xfrm>
          <a:prstGeom prst="wedgeEllipseCallout">
            <a:avLst>
              <a:gd name="adj1" fmla="val -70703"/>
              <a:gd name="adj2" fmla="val -35061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SparkContext</a:t>
            </a:r>
            <a:r>
              <a:rPr lang="fr-FR"/>
              <a:t> / </a:t>
            </a:r>
            <a:r>
              <a:rPr lang="fr-FR"/>
              <a:t>SparkSession</a:t>
            </a:r>
            <a:r>
              <a:rPr lang="fr-FR"/>
              <a:t> ?</a:t>
            </a:r>
          </a:p>
        </p:txBody>
      </p:sp>
      <p:pic>
        <p:nvPicPr>
          <p:cNvPr id="4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03990" y="132365"/>
            <a:ext cx="1445148" cy="1083861"/>
          </a:xfrm>
          <a:prstGeom prst="rect">
            <a:avLst/>
          </a:prstGeom>
          <a:noFill/>
        </p:spPr>
      </p:pic>
      <p:sp>
        <p:nvSpPr>
          <p:cNvPr id="5" name="TextBox 4"/>
          <p:cNvSpPr txBox="1"/>
          <p:nvPr/>
        </p:nvSpPr>
        <p:spPr>
          <a:xfrm>
            <a:off x="1775582" y="2085218"/>
            <a:ext cx="9505103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SparkContext</a:t>
            </a:r>
            <a:r>
              <a:rPr lang="fr-FR" sz="2400"/>
              <a:t>   =   in module </a:t>
            </a:r>
            <a:r>
              <a:rPr lang="fr-FR" sz="2400"/>
              <a:t>spark-core</a:t>
            </a:r>
            <a:br>
              <a:rPr lang="fr-FR" sz="2400"/>
            </a:br>
            <a:r>
              <a:rPr lang="fr-FR" sz="2400"/>
              <a:t>       singleton,   instantiable </a:t>
            </a:r>
            <a:r>
              <a:rPr lang="fr-FR" sz="2400"/>
              <a:t>only</a:t>
            </a:r>
            <a:r>
              <a:rPr lang="fr-FR" sz="2400"/>
              <a:t> on Driver, </a:t>
            </a:r>
            <a:r>
              <a:rPr lang="fr-FR" sz="2400"/>
              <a:t>multi-thread</a:t>
            </a:r>
            <a:r>
              <a:rPr lang="fr-FR" sz="2400"/>
              <a:t> </a:t>
            </a:r>
            <a:r>
              <a:rPr lang="fr-FR" sz="2400"/>
              <a:t>safe</a:t>
            </a:r>
            <a:endParaRPr lang="fr-FR" sz="2400"/>
          </a:p>
          <a:p>
            <a:endParaRPr lang="fr-FR" sz="2400"/>
          </a:p>
          <a:p>
            <a:r>
              <a:rPr lang="fr-FR" sz="2400"/>
              <a:t>SparkSession</a:t>
            </a:r>
            <a:r>
              <a:rPr lang="fr-FR" sz="2400"/>
              <a:t>  = in module </a:t>
            </a:r>
            <a:r>
              <a:rPr lang="fr-FR" sz="2400"/>
              <a:t>spark-sql</a:t>
            </a:r>
            <a:br>
              <a:rPr lang="fr-FR" sz="2400"/>
            </a:br>
            <a:r>
              <a:rPr lang="fr-FR" sz="2400"/>
              <a:t>        </a:t>
            </a:r>
            <a:r>
              <a:rPr lang="fr-FR" sz="2400"/>
              <a:t>also</a:t>
            </a:r>
            <a:r>
              <a:rPr lang="fr-FR" sz="2400"/>
              <a:t> </a:t>
            </a:r>
            <a:r>
              <a:rPr lang="fr-FR" sz="2400"/>
              <a:t>multi-thread</a:t>
            </a:r>
            <a:r>
              <a:rPr lang="fr-FR" sz="2400"/>
              <a:t> </a:t>
            </a:r>
            <a:r>
              <a:rPr lang="fr-FR" sz="2400"/>
              <a:t>safe</a:t>
            </a:r>
            <a:r>
              <a:rPr lang="fr-FR" sz="2400"/>
              <a:t> ( ~ </a:t>
            </a:r>
            <a:r>
              <a:rPr lang="fr-FR" sz="2400"/>
              <a:t>SparkContext</a:t>
            </a:r>
            <a:r>
              <a:rPr lang="fr-FR" sz="2400"/>
              <a:t> + SQL </a:t>
            </a:r>
            <a:r>
              <a:rPr lang="fr-FR" sz="2400"/>
              <a:t>UDFs</a:t>
            </a:r>
            <a:r>
              <a:rPr lang="fr-FR" sz="2400"/>
              <a:t>, </a:t>
            </a:r>
            <a:r>
              <a:rPr lang="fr-FR" sz="2400"/>
              <a:t>temporaryViews</a:t>
            </a:r>
            <a:r>
              <a:rPr lang="fr-FR" sz="2400"/>
              <a:t>..)</a:t>
            </a:r>
            <a:br>
              <a:rPr lang="fr-FR" sz="2400"/>
            </a:br>
            <a:endParaRPr lang="fr-FR" sz="2400"/>
          </a:p>
          <a:p>
            <a:r>
              <a:rPr lang="fr-FR" sz="2400"/>
              <a:t>When</a:t>
            </a:r>
            <a:r>
              <a:rPr lang="fr-FR" sz="2400"/>
              <a:t> </a:t>
            </a:r>
            <a:r>
              <a:rPr lang="fr-FR" sz="2400"/>
              <a:t>creating</a:t>
            </a:r>
            <a:r>
              <a:rPr lang="fr-FR" sz="2400"/>
              <a:t> a </a:t>
            </a:r>
            <a:r>
              <a:rPr lang="fr-FR" sz="2400"/>
              <a:t>SparkSession</a:t>
            </a:r>
            <a:r>
              <a:rPr lang="fr-FR" sz="2400"/>
              <a:t>, </a:t>
            </a:r>
            <a:r>
              <a:rPr lang="fr-FR" sz="2400"/>
              <a:t>it</a:t>
            </a:r>
            <a:r>
              <a:rPr lang="fr-FR" sz="2400"/>
              <a:t> </a:t>
            </a:r>
            <a:r>
              <a:rPr lang="fr-FR" sz="2400"/>
              <a:t>internally</a:t>
            </a:r>
            <a:r>
              <a:rPr lang="fr-FR" sz="2400"/>
              <a:t> checks/creates</a:t>
            </a:r>
            <a:r>
              <a:rPr lang="fr-FR" sz="2400"/>
              <a:t> </a:t>
            </a:r>
            <a:r>
              <a:rPr lang="fr-FR" sz="2400"/>
              <a:t>SparkContext</a:t>
            </a:r>
            <a:endParaRPr lang="fr-FR" sz="2400"/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It </a:t>
            </a:r>
            <a:r>
              <a:rPr lang="fr-FR" sz="2400"/>
              <a:t>is</a:t>
            </a:r>
            <a:r>
              <a:rPr lang="fr-FR" sz="2400"/>
              <a:t> possible to have multiple sessions </a:t>
            </a:r>
            <a:br>
              <a:rPr lang="fr-FR" sz="2400"/>
            </a:br>
            <a:r>
              <a:rPr lang="fr-FR" sz="2400"/>
              <a:t>    ( for </a:t>
            </a:r>
            <a:r>
              <a:rPr lang="fr-FR" sz="2400"/>
              <a:t>having</a:t>
            </a:r>
            <a:r>
              <a:rPr lang="fr-FR" sz="2400"/>
              <a:t> </a:t>
            </a:r>
            <a:r>
              <a:rPr lang="fr-FR" sz="2400"/>
              <a:t>different</a:t>
            </a:r>
            <a:r>
              <a:rPr lang="fr-FR" sz="2400"/>
              <a:t> SQL UDF, </a:t>
            </a:r>
            <a:r>
              <a:rPr lang="fr-FR" sz="2400"/>
              <a:t>temporaryView</a:t>
            </a:r>
            <a:r>
              <a:rPr lang="fr-FR" sz="2400"/>
              <a:t>, .. per user session)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SparkConf</a:t>
            </a:r>
            <a:r>
              <a:rPr lang="fr-FR"/>
              <a:t> – </a:t>
            </a:r>
            <a:r>
              <a:rPr lang="fr-FR"/>
              <a:t>SparkContext</a:t>
            </a:r>
            <a:r>
              <a:rPr lang="fr-FR"/>
              <a:t> - </a:t>
            </a:r>
            <a:r>
              <a:rPr lang="fr-FR"/>
              <a:t>SparkSession</a:t>
            </a:r>
            <a:endParaRPr lang="fr-FR"/>
          </a:p>
        </p:txBody>
      </p:sp>
      <p:pic>
        <p:nvPicPr>
          <p:cNvPr id="4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03990" y="132365"/>
            <a:ext cx="1445148" cy="1083861"/>
          </a:xfrm>
          <a:prstGeom prst="rect">
            <a:avLst/>
          </a:prstGeom>
          <a:noFill/>
        </p:spPr>
      </p:pic>
      <p:sp>
        <p:nvSpPr>
          <p:cNvPr id="5" name="TextBox 4"/>
          <p:cNvSpPr txBox="1"/>
          <p:nvPr/>
        </p:nvSpPr>
        <p:spPr>
          <a:xfrm>
            <a:off x="2999620" y="3415695"/>
            <a:ext cx="267374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class </a:t>
            </a:r>
            <a:r>
              <a:rPr lang="fr-FR" sz="2400"/>
              <a:t>SparkContext</a:t>
            </a:r>
            <a:r>
              <a:rPr lang="fr-FR" sz="2400"/>
              <a:t> {</a:t>
            </a:r>
          </a:p>
          <a:p>
            <a:r>
              <a:rPr lang="fr-FR" sz="2400"/>
              <a:t>…</a:t>
            </a:r>
          </a:p>
          <a:p>
            <a:r>
              <a:rPr lang="fr-FR" sz="2400"/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2999619" y="3415695"/>
            <a:ext cx="2673745" cy="1325563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Straight Arrow Connector 7"/>
          <p:cNvCxnSpPr/>
          <p:nvPr/>
        </p:nvCxnSpPr>
        <p:spPr>
          <a:xfrm flipH="1" flipV="1">
            <a:off x="2399696" y="3357638"/>
            <a:ext cx="459619" cy="609600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5885" y="1630515"/>
            <a:ext cx="228440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class </a:t>
            </a:r>
            <a:r>
              <a:rPr lang="fr-FR" sz="2400"/>
              <a:t>SparkConf</a:t>
            </a:r>
            <a:r>
              <a:rPr lang="fr-FR" sz="2400"/>
              <a:t> {</a:t>
            </a:r>
          </a:p>
          <a:p>
            <a:r>
              <a:rPr lang="fr-FR" sz="2400"/>
              <a:t>… key=value   </a:t>
            </a:r>
            <a:br>
              <a:rPr lang="fr-FR" sz="2400"/>
            </a:br>
            <a:r>
              <a:rPr lang="fr-FR" sz="2400"/>
              <a:t>+ </a:t>
            </a:r>
            <a:r>
              <a:rPr lang="fr-FR" sz="2400"/>
              <a:t>hadoopConf</a:t>
            </a:r>
            <a:endParaRPr lang="fr-FR" sz="2400"/>
          </a:p>
          <a:p>
            <a:r>
              <a:rPr lang="fr-FR" sz="2400"/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5885" y="1634219"/>
            <a:ext cx="2673745" cy="1569659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5556553" y="4953075"/>
            <a:ext cx="263405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class </a:t>
            </a:r>
            <a:r>
              <a:rPr lang="fr-FR" sz="2400"/>
              <a:t>SparkSession</a:t>
            </a:r>
            <a:r>
              <a:rPr lang="fr-FR" sz="2400"/>
              <a:t> {</a:t>
            </a:r>
          </a:p>
          <a:p>
            <a:r>
              <a:rPr lang="fr-FR" sz="2400"/>
              <a:t>…</a:t>
            </a:r>
          </a:p>
          <a:p>
            <a:r>
              <a:rPr lang="fr-FR" sz="2400"/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6552" y="4953075"/>
            <a:ext cx="2673745" cy="1325563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4956629" y="4895018"/>
            <a:ext cx="459619" cy="609600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52953" y="3292552"/>
            <a:ext cx="457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1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>
            <a:off x="1583025" y="4223657"/>
            <a:ext cx="1231294" cy="0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78474" y="4312331"/>
            <a:ext cx="821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0..1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689" y="3912145"/>
            <a:ext cx="1468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activeContext</a:t>
            </a:r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4651829" y="4807659"/>
            <a:ext cx="457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4147" y="5246524"/>
            <a:ext cx="1470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getOrCreate</a:t>
            </a:r>
            <a:r>
              <a:rPr lang="fr-FR"/>
              <a:t>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3085" y="4555722"/>
            <a:ext cx="4790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package </a:t>
            </a:r>
            <a:r>
              <a:rPr lang="fr-FR"/>
              <a:t>org.apache.spark.sql</a:t>
            </a:r>
            <a:r>
              <a:rPr lang="fr-FR"/>
              <a:t>  (module </a:t>
            </a:r>
            <a:r>
              <a:rPr lang="fr-FR"/>
              <a:t>spark-sql</a:t>
            </a:r>
            <a:r>
              <a:rPr lang="fr-FR"/>
              <a:t>)</a:t>
            </a:r>
          </a:p>
          <a:p>
            <a:endParaRPr lang="fr-FR"/>
          </a:p>
        </p:txBody>
      </p:sp>
      <p:sp>
        <p:nvSpPr>
          <p:cNvPr id="42" name="TextBox 41"/>
          <p:cNvSpPr txBox="1"/>
          <p:nvPr/>
        </p:nvSpPr>
        <p:spPr>
          <a:xfrm>
            <a:off x="3720844" y="3059329"/>
            <a:ext cx="461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package </a:t>
            </a:r>
            <a:r>
              <a:rPr lang="fr-FR"/>
              <a:t>org.apache.spark</a:t>
            </a:r>
            <a:r>
              <a:rPr lang="fr-FR"/>
              <a:t>  (module </a:t>
            </a:r>
            <a:r>
              <a:rPr lang="fr-FR"/>
              <a:t>spark-core</a:t>
            </a:r>
            <a:r>
              <a:rPr lang="fr-FR"/>
              <a:t>)</a:t>
            </a:r>
          </a:p>
          <a:p>
            <a:endParaRPr lang="fr-FR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2153" y="4042711"/>
            <a:ext cx="677333" cy="1360"/>
          </a:xfrm>
          <a:prstGeom prst="straightConnector1">
            <a:avLst/>
          </a:prstGeom>
          <a:ln w="28575"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40" idx="1"/>
          </p:cNvCxnSpPr>
          <p:nvPr/>
        </p:nvCxnSpPr>
        <p:spPr>
          <a:xfrm flipH="1">
            <a:off x="8335056" y="5431190"/>
            <a:ext cx="409091" cy="0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706692" y="3827102"/>
            <a:ext cx="2284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new RDD + </a:t>
            </a:r>
            <a:r>
              <a:rPr lang="fr-FR"/>
              <a:t>transforms</a:t>
            </a:r>
            <a:endParaRPr lang="fr-FR"/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8488812" y="5975245"/>
            <a:ext cx="677333" cy="1360"/>
          </a:xfrm>
          <a:prstGeom prst="straightConnector1">
            <a:avLst/>
          </a:prstGeom>
          <a:ln w="28575"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254322" y="5784072"/>
            <a:ext cx="2821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new </a:t>
            </a:r>
            <a:r>
              <a:rPr lang="fr-FR"/>
              <a:t>Dataset</a:t>
            </a:r>
            <a:r>
              <a:rPr lang="fr-FR"/>
              <a:t>&lt;&gt; + </a:t>
            </a:r>
            <a:r>
              <a:rPr lang="fr-FR"/>
              <a:t>transforms</a:t>
            </a:r>
            <a:endParaRPr lang="fr-F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JavaSparkContext</a:t>
            </a:r>
            <a:r>
              <a:rPr lang="fr-FR"/>
              <a:t>, </a:t>
            </a:r>
            <a:r>
              <a:rPr lang="fr-FR"/>
              <a:t>JavaRDD</a:t>
            </a:r>
            <a:r>
              <a:rPr lang="fr-FR"/>
              <a:t>, </a:t>
            </a:r>
            <a:r>
              <a:rPr lang="fr-FR"/>
              <a:t>JavaFunction</a:t>
            </a:r>
            <a:r>
              <a:rPr lang="fr-FR"/>
              <a:t> ?</a:t>
            </a:r>
          </a:p>
        </p:txBody>
      </p:sp>
      <p:pic>
        <p:nvPicPr>
          <p:cNvPr id="4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03990" y="132365"/>
            <a:ext cx="1445148" cy="1083861"/>
          </a:xfrm>
          <a:prstGeom prst="rect">
            <a:avLst/>
          </a:prstGeom>
          <a:noFill/>
        </p:spPr>
      </p:pic>
      <p:sp>
        <p:nvSpPr>
          <p:cNvPr id="3" name="TextBox 2"/>
          <p:cNvSpPr txBox="1"/>
          <p:nvPr/>
        </p:nvSpPr>
        <p:spPr>
          <a:xfrm>
            <a:off x="838200" y="3114524"/>
            <a:ext cx="10891508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Because</a:t>
            </a:r>
            <a:r>
              <a:rPr lang="fr-FR" sz="2800"/>
              <a:t> Spark has a </a:t>
            </a:r>
            <a:r>
              <a:rPr lang="fr-FR" sz="2800"/>
              <a:t>cleaner</a:t>
            </a:r>
            <a:r>
              <a:rPr lang="fr-FR" sz="2800"/>
              <a:t> API </a:t>
            </a:r>
          </a:p>
          <a:p>
            <a:r>
              <a:rPr lang="fr-FR" sz="2800"/>
              <a:t>( </a:t>
            </a:r>
            <a:r>
              <a:rPr lang="fr-FR" sz="2800"/>
              <a:t>less</a:t>
            </a:r>
            <a:r>
              <a:rPr lang="fr-FR" sz="2800"/>
              <a:t> </a:t>
            </a:r>
            <a:r>
              <a:rPr lang="fr-FR" sz="2800"/>
              <a:t>verbose</a:t>
            </a:r>
            <a:r>
              <a:rPr lang="fr-FR" sz="2800"/>
              <a:t>, </a:t>
            </a:r>
            <a:r>
              <a:rPr lang="fr-FR" sz="2800"/>
              <a:t>using</a:t>
            </a:r>
            <a:r>
              <a:rPr lang="fr-FR" sz="2800"/>
              <a:t> </a:t>
            </a:r>
            <a:r>
              <a:rPr lang="fr-FR" sz="2800"/>
              <a:t>implicits</a:t>
            </a:r>
            <a:r>
              <a:rPr lang="fr-FR" sz="2800"/>
              <a:t> + </a:t>
            </a:r>
            <a:r>
              <a:rPr lang="fr-FR" sz="2800"/>
              <a:t>operator</a:t>
            </a:r>
            <a:r>
              <a:rPr lang="fr-FR" sz="2800"/>
              <a:t> </a:t>
            </a:r>
            <a:r>
              <a:rPr lang="fr-FR" sz="2800"/>
              <a:t>overload</a:t>
            </a:r>
            <a:r>
              <a:rPr lang="fr-FR" sz="2800"/>
              <a:t> ),</a:t>
            </a:r>
          </a:p>
          <a:p>
            <a:endParaRPr lang="fr-FR" sz="2800"/>
          </a:p>
          <a:p>
            <a:r>
              <a:rPr lang="fr-FR" sz="2800"/>
              <a:t>some</a:t>
            </a:r>
            <a:r>
              <a:rPr lang="fr-FR" sz="2800"/>
              <a:t> </a:t>
            </a:r>
            <a:r>
              <a:rPr lang="fr-FR" sz="2800"/>
              <a:t>specific</a:t>
            </a:r>
            <a:r>
              <a:rPr lang="fr-FR" sz="2800"/>
              <a:t>            helper classes have been </a:t>
            </a:r>
            <a:r>
              <a:rPr lang="fr-FR" sz="2800"/>
              <a:t>added</a:t>
            </a:r>
            <a:r>
              <a:rPr lang="fr-FR" sz="2800"/>
              <a:t>, for Java </a:t>
            </a:r>
            <a:r>
              <a:rPr lang="fr-FR" sz="2800"/>
              <a:t>developers</a:t>
            </a:r>
            <a:endParaRPr lang="fr-FR" sz="2800"/>
          </a:p>
          <a:p>
            <a:endParaRPr lang="fr-FR" sz="2800"/>
          </a:p>
          <a:p>
            <a:endParaRPr lang="fr-FR" sz="2800"/>
          </a:p>
          <a:p>
            <a:r>
              <a:rPr lang="fr-FR" sz="2800"/>
              <a:t>some</a:t>
            </a:r>
            <a:r>
              <a:rPr lang="fr-FR" sz="2800"/>
              <a:t> </a:t>
            </a:r>
            <a:r>
              <a:rPr lang="fr-FR" sz="2800"/>
              <a:t>deprecated</a:t>
            </a:r>
            <a:r>
              <a:rPr lang="fr-FR" sz="2800"/>
              <a:t>, ex: </a:t>
            </a:r>
            <a:r>
              <a:rPr lang="fr-FR" sz="2800"/>
              <a:t>SQLContext</a:t>
            </a:r>
            <a:endParaRPr lang="fr-FR" sz="2800"/>
          </a:p>
        </p:txBody>
      </p:sp>
      <p:pic>
        <p:nvPicPr>
          <p:cNvPr id="5" name="Picture 2" descr="Scala (langage)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65592" y="3056991"/>
            <a:ext cx="1349607" cy="617893"/>
          </a:xfrm>
          <a:prstGeom prst="rect">
            <a:avLst/>
          </a:prstGeom>
          <a:noFill/>
        </p:spPr>
      </p:pic>
      <p:pic>
        <p:nvPicPr>
          <p:cNvPr id="6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642524" y="4055264"/>
            <a:ext cx="1346962" cy="101022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Oozie</a:t>
            </a:r>
            <a:r>
              <a:rPr lang="fr-FR"/>
              <a:t> … http Api </a:t>
            </a:r>
            <a:r>
              <a:rPr lang="fr-FR"/>
              <a:t>wrapper</a:t>
            </a:r>
            <a:r>
              <a:rPr lang="fr-FR"/>
              <a:t> for </a:t>
            </a:r>
            <a:r>
              <a:rPr lang="fr-FR"/>
              <a:t>Yarn</a:t>
            </a:r>
            <a:r>
              <a:rPr lang="fr-FR"/>
              <a:t> + UI</a:t>
            </a:r>
          </a:p>
        </p:txBody>
      </p:sp>
      <p:pic>
        <p:nvPicPr>
          <p:cNvPr id="8194" name="Picture 2" descr="Oozie web console | Apache Oozie Essential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469964" y="1886855"/>
            <a:ext cx="7446265" cy="4184801"/>
          </a:xfrm>
          <a:prstGeom prst="rect">
            <a:avLst/>
          </a:prstGeom>
          <a:noFill/>
        </p:spPr>
      </p:pic>
      <p:sp>
        <p:nvSpPr>
          <p:cNvPr id="5" name="TextBox 4"/>
          <p:cNvSpPr txBox="1"/>
          <p:nvPr/>
        </p:nvSpPr>
        <p:spPr>
          <a:xfrm>
            <a:off x="275771" y="3191933"/>
            <a:ext cx="3911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$ </a:t>
            </a:r>
            <a:r>
              <a:rPr lang="fr-FR" sz="2400" b="1"/>
              <a:t>curl</a:t>
            </a:r>
            <a:r>
              <a:rPr lang="fr-FR" sz="2400" b="1"/>
              <a:t>    http://&lt;knox&gt;/oozie/</a:t>
            </a:r>
          </a:p>
        </p:txBody>
      </p:sp>
      <p:pic>
        <p:nvPicPr>
          <p:cNvPr id="6" name="Picture 10" descr="Oozi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6663" y="206588"/>
            <a:ext cx="1997193" cy="47863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Oozie</a:t>
            </a:r>
            <a:r>
              <a:rPr lang="fr-FR"/>
              <a:t> &lt;</a:t>
            </a:r>
            <a:r>
              <a:rPr lang="fr-FR"/>
              <a:t>shell</a:t>
            </a:r>
            <a:r>
              <a:rPr lang="fr-FR"/>
              <a:t>&gt;  -&gt;   </a:t>
            </a:r>
            <a:r>
              <a:rPr lang="fr-FR"/>
              <a:t>bash</a:t>
            </a:r>
            <a:r>
              <a:rPr lang="fr-FR"/>
              <a:t> spark-submit.sh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576627" y="2422670"/>
            <a:ext cx="4777173" cy="37555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01562" y="3023810"/>
            <a:ext cx="4713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$ </a:t>
            </a:r>
            <a:r>
              <a:rPr lang="fr-FR" b="1"/>
              <a:t>curl</a:t>
            </a:r>
            <a:r>
              <a:rPr lang="fr-FR" b="1"/>
              <a:t> </a:t>
            </a:r>
            <a:r>
              <a:rPr lang="fr-FR"/>
              <a:t>-X POST /</a:t>
            </a:r>
            <a:r>
              <a:rPr lang="fr-FR"/>
              <a:t>oozie</a:t>
            </a:r>
            <a:r>
              <a:rPr lang="fr-FR"/>
              <a:t>/job -d @config.properties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6125" y="3769254"/>
            <a:ext cx="49010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config.properties</a:t>
            </a:r>
            <a:endParaRPr lang="fr-FR" b="1"/>
          </a:p>
          <a:p>
            <a:r>
              <a:rPr lang="fr-FR"/>
              <a:t>oozie.wf.application.path</a:t>
            </a:r>
            <a:r>
              <a:rPr lang="fr-FR"/>
              <a:t>=hdfs://app/workflow.xml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7617" y="2119364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workflow.xml</a:t>
            </a:r>
            <a:endParaRPr lang="fr-FR"/>
          </a:p>
        </p:txBody>
      </p:sp>
      <p:sp>
        <p:nvSpPr>
          <p:cNvPr id="9" name="Arrow: Down 8"/>
          <p:cNvSpPr/>
          <p:nvPr/>
        </p:nvSpPr>
        <p:spPr>
          <a:xfrm>
            <a:off x="3657600" y="3429000"/>
            <a:ext cx="149981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Down 9"/>
          <p:cNvSpPr/>
          <p:nvPr/>
        </p:nvSpPr>
        <p:spPr>
          <a:xfrm rot="13318063">
            <a:off x="5615593" y="2522436"/>
            <a:ext cx="134150" cy="174141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Down 10"/>
          <p:cNvSpPr/>
          <p:nvPr/>
        </p:nvSpPr>
        <p:spPr>
          <a:xfrm rot="17258845">
            <a:off x="6909942" y="2915734"/>
            <a:ext cx="104028" cy="4524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Down 11"/>
          <p:cNvSpPr/>
          <p:nvPr/>
        </p:nvSpPr>
        <p:spPr>
          <a:xfrm rot="19680016">
            <a:off x="7305278" y="3349583"/>
            <a:ext cx="104028" cy="4524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10" descr="Oozi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6663" y="206588"/>
            <a:ext cx="1997193" cy="47863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45999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Oozie</a:t>
            </a:r>
            <a:r>
              <a:rPr lang="fr-FR"/>
              <a:t> Workflow.xml - &lt;</a:t>
            </a:r>
            <a:r>
              <a:rPr lang="fr-FR"/>
              <a:t>spark</a:t>
            </a:r>
            <a:r>
              <a:rPr lang="fr-FR"/>
              <a:t>&gt;</a:t>
            </a:r>
          </a:p>
        </p:txBody>
      </p:sp>
      <p:pic>
        <p:nvPicPr>
          <p:cNvPr id="4" name="Picture 10" descr="Oozie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6663" y="206588"/>
            <a:ext cx="1997193" cy="47863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060726" y="1093871"/>
            <a:ext cx="4100759" cy="57211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465908" y="2381409"/>
            <a:ext cx="4286621" cy="2617697"/>
          </a:xfrm>
          <a:prstGeom prst="rect">
            <a:avLst/>
          </a:prstGeom>
        </p:spPr>
      </p:pic>
      <p:sp>
        <p:nvSpPr>
          <p:cNvPr id="9" name="Arrow: Down 8"/>
          <p:cNvSpPr/>
          <p:nvPr/>
        </p:nvSpPr>
        <p:spPr>
          <a:xfrm rot="16200000">
            <a:off x="7150479" y="1680111"/>
            <a:ext cx="144086" cy="5754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Down 9"/>
          <p:cNvSpPr/>
          <p:nvPr/>
        </p:nvSpPr>
        <p:spPr>
          <a:xfrm rot="16200000">
            <a:off x="7341584" y="4711390"/>
            <a:ext cx="144086" cy="5754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Apache Livy – a REST gateway for Spark – Old dog, New trick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8332" y="236645"/>
            <a:ext cx="1371843" cy="510631"/>
          </a:xfrm>
          <a:prstGeom prst="rect">
            <a:avLst/>
          </a:prstGeom>
          <a:noFill/>
        </p:spPr>
      </p:pic>
      <p:sp>
        <p:nvSpPr>
          <p:cNvPr id="5" name="TextBox 4"/>
          <p:cNvSpPr txBox="1"/>
          <p:nvPr/>
        </p:nvSpPr>
        <p:spPr>
          <a:xfrm>
            <a:off x="248332" y="1771095"/>
            <a:ext cx="46199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/>
              <a:t>https://livy.apache.org/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929387" y="78994"/>
            <a:ext cx="5825083" cy="6774567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12754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Livy</a:t>
            </a:r>
            <a:r>
              <a:rPr lang="fr-FR"/>
              <a:t> … </a:t>
            </a:r>
            <a:r>
              <a:rPr lang="fr-FR"/>
              <a:t>submit</a:t>
            </a:r>
            <a:r>
              <a:rPr lang="fr-FR"/>
              <a:t> via http </a:t>
            </a:r>
            <a:br>
              <a:rPr lang="fr-FR"/>
            </a:br>
            <a:r>
              <a:rPr lang="fr-FR"/>
              <a:t>Stateful</a:t>
            </a:r>
            <a:r>
              <a:rPr lang="fr-FR"/>
              <a:t>  batch /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7452" y="1892720"/>
            <a:ext cx="381168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POST /</a:t>
            </a:r>
            <a:r>
              <a:rPr lang="fr-FR" sz="2400"/>
              <a:t>batches</a:t>
            </a:r>
            <a:endParaRPr lang="fr-FR" sz="2400"/>
          </a:p>
          <a:p>
            <a:r>
              <a:rPr lang="fr-FR" sz="2400"/>
              <a:t>GET /</a:t>
            </a:r>
            <a:r>
              <a:rPr lang="fr-FR" sz="2400"/>
              <a:t>batches</a:t>
            </a:r>
            <a:endParaRPr lang="fr-FR" sz="2400"/>
          </a:p>
          <a:p>
            <a:r>
              <a:rPr lang="fr-FR" sz="2400"/>
              <a:t>GET /</a:t>
            </a:r>
            <a:r>
              <a:rPr lang="fr-FR" sz="2400"/>
              <a:t>batches</a:t>
            </a:r>
            <a:r>
              <a:rPr lang="fr-FR" sz="2400"/>
              <a:t>/{</a:t>
            </a:r>
            <a:r>
              <a:rPr lang="fr-FR" sz="2400"/>
              <a:t>batchId</a:t>
            </a:r>
            <a:r>
              <a:rPr lang="fr-FR" sz="2400"/>
              <a:t>}</a:t>
            </a:r>
          </a:p>
          <a:p>
            <a:r>
              <a:rPr lang="fr-FR" sz="2400"/>
              <a:t>GET /</a:t>
            </a:r>
            <a:r>
              <a:rPr lang="fr-FR" sz="2400"/>
              <a:t>batches</a:t>
            </a:r>
            <a:r>
              <a:rPr lang="fr-FR" sz="2400"/>
              <a:t>/{</a:t>
            </a:r>
            <a:r>
              <a:rPr lang="fr-FR" sz="2400"/>
              <a:t>batchId</a:t>
            </a:r>
            <a:r>
              <a:rPr lang="fr-FR" sz="2400"/>
              <a:t>}/state</a:t>
            </a:r>
          </a:p>
          <a:p>
            <a:r>
              <a:rPr lang="fr-FR" sz="2400"/>
              <a:t>GET /</a:t>
            </a:r>
            <a:r>
              <a:rPr lang="fr-FR" sz="2400"/>
              <a:t>batches</a:t>
            </a:r>
            <a:r>
              <a:rPr lang="fr-FR" sz="2400"/>
              <a:t>/{</a:t>
            </a:r>
            <a:r>
              <a:rPr lang="fr-FR" sz="2400"/>
              <a:t>batchId</a:t>
            </a:r>
            <a:r>
              <a:rPr lang="fr-FR" sz="2400"/>
              <a:t>}/log</a:t>
            </a:r>
          </a:p>
          <a:p>
            <a:r>
              <a:rPr lang="fr-FR" sz="2400"/>
              <a:t>DELETE /</a:t>
            </a:r>
            <a:r>
              <a:rPr lang="fr-FR" sz="2400"/>
              <a:t>batches</a:t>
            </a:r>
            <a:r>
              <a:rPr lang="fr-FR" sz="2400"/>
              <a:t>/{</a:t>
            </a:r>
            <a:r>
              <a:rPr lang="fr-FR" sz="2400"/>
              <a:t>batchId</a:t>
            </a:r>
            <a:r>
              <a:rPr lang="fr-FR" sz="2400"/>
              <a:t>}</a:t>
            </a:r>
          </a:p>
          <a:p>
            <a:endParaRPr lang="fr-FR" sz="2400"/>
          </a:p>
        </p:txBody>
      </p:sp>
      <p:sp>
        <p:nvSpPr>
          <p:cNvPr id="4" name="TextBox 3"/>
          <p:cNvSpPr txBox="1"/>
          <p:nvPr/>
        </p:nvSpPr>
        <p:spPr>
          <a:xfrm>
            <a:off x="4203577" y="1892720"/>
            <a:ext cx="503522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POST /sessions</a:t>
            </a:r>
          </a:p>
          <a:p>
            <a:r>
              <a:rPr lang="fr-FR" sz="2400"/>
              <a:t>GET /sessions</a:t>
            </a:r>
          </a:p>
          <a:p>
            <a:r>
              <a:rPr lang="fr-FR" sz="2400"/>
              <a:t>GET /sessions/{</a:t>
            </a:r>
            <a:r>
              <a:rPr lang="fr-FR" sz="2400"/>
              <a:t>sessionId</a:t>
            </a:r>
            <a:r>
              <a:rPr lang="fr-FR" sz="2400"/>
              <a:t>}</a:t>
            </a:r>
          </a:p>
          <a:p>
            <a:r>
              <a:rPr lang="fr-FR" sz="2400"/>
              <a:t>GET /sessions/{</a:t>
            </a:r>
            <a:r>
              <a:rPr lang="fr-FR" sz="2400"/>
              <a:t>sessionId</a:t>
            </a:r>
            <a:r>
              <a:rPr lang="fr-FR" sz="2400"/>
              <a:t>}/state</a:t>
            </a:r>
          </a:p>
          <a:p>
            <a:r>
              <a:rPr lang="fr-FR" sz="2400"/>
              <a:t>GET /sessions/{</a:t>
            </a:r>
            <a:r>
              <a:rPr lang="fr-FR" sz="2400"/>
              <a:t>sessionId</a:t>
            </a:r>
            <a:r>
              <a:rPr lang="fr-FR" sz="2400"/>
              <a:t>}/log</a:t>
            </a:r>
          </a:p>
          <a:p>
            <a:r>
              <a:rPr lang="fr-FR" sz="2400"/>
              <a:t>POST /sessions/{</a:t>
            </a:r>
            <a:r>
              <a:rPr lang="fr-FR" sz="2400"/>
              <a:t>sessionId</a:t>
            </a:r>
            <a:r>
              <a:rPr lang="fr-FR" sz="2400"/>
              <a:t>}/</a:t>
            </a:r>
            <a:r>
              <a:rPr lang="fr-FR" sz="2400"/>
              <a:t>completion</a:t>
            </a:r>
            <a:endParaRPr lang="fr-FR" sz="2400"/>
          </a:p>
          <a:p>
            <a:r>
              <a:rPr lang="fr-FR" sz="2400"/>
              <a:t>DELETE /sessions/{</a:t>
            </a:r>
            <a:r>
              <a:rPr lang="fr-FR" sz="2400"/>
              <a:t>sessionId</a:t>
            </a:r>
            <a:r>
              <a:rPr lang="fr-FR" sz="2400"/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7510" y="4705165"/>
            <a:ext cx="774109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POST /sessions/{</a:t>
            </a:r>
            <a:r>
              <a:rPr lang="fr-FR" sz="2400"/>
              <a:t>sessionId</a:t>
            </a:r>
            <a:r>
              <a:rPr lang="fr-FR" sz="2400"/>
              <a:t>}/</a:t>
            </a:r>
            <a:r>
              <a:rPr lang="fr-FR" sz="2400"/>
              <a:t>statements</a:t>
            </a:r>
            <a:endParaRPr lang="fr-FR" sz="2400"/>
          </a:p>
          <a:p>
            <a:r>
              <a:rPr lang="fr-FR" sz="2400"/>
              <a:t>POST /sessions/{</a:t>
            </a:r>
            <a:r>
              <a:rPr lang="fr-FR" sz="2400"/>
              <a:t>sessionId</a:t>
            </a:r>
            <a:r>
              <a:rPr lang="fr-FR" sz="2400"/>
              <a:t>}/</a:t>
            </a:r>
            <a:r>
              <a:rPr lang="fr-FR" sz="2400"/>
              <a:t>statements</a:t>
            </a:r>
            <a:r>
              <a:rPr lang="fr-FR" sz="2400"/>
              <a:t>/{</a:t>
            </a:r>
            <a:r>
              <a:rPr lang="fr-FR" sz="2400"/>
              <a:t>statementId</a:t>
            </a:r>
            <a:r>
              <a:rPr lang="fr-FR" sz="2400"/>
              <a:t>}/cancel</a:t>
            </a:r>
          </a:p>
          <a:p>
            <a:r>
              <a:rPr lang="fr-FR" sz="2400"/>
              <a:t>GET /sessions/{</a:t>
            </a:r>
            <a:r>
              <a:rPr lang="fr-FR" sz="2400"/>
              <a:t>sessionId</a:t>
            </a:r>
            <a:r>
              <a:rPr lang="fr-FR" sz="2400"/>
              <a:t>}/</a:t>
            </a:r>
            <a:r>
              <a:rPr lang="fr-FR" sz="2400"/>
              <a:t>statements</a:t>
            </a:r>
            <a:endParaRPr lang="fr-FR" sz="2400"/>
          </a:p>
          <a:p>
            <a:r>
              <a:rPr lang="fr-FR" sz="2400"/>
              <a:t>GET /sessions/{</a:t>
            </a:r>
            <a:r>
              <a:rPr lang="fr-FR" sz="2400"/>
              <a:t>sessionId</a:t>
            </a:r>
            <a:r>
              <a:rPr lang="fr-FR" sz="2400"/>
              <a:t>}/</a:t>
            </a:r>
            <a:r>
              <a:rPr lang="fr-FR" sz="2400"/>
              <a:t>statements</a:t>
            </a:r>
            <a:r>
              <a:rPr lang="fr-FR" sz="2400"/>
              <a:t>/{</a:t>
            </a:r>
            <a:r>
              <a:rPr lang="fr-FR" sz="2400"/>
              <a:t>statementId</a:t>
            </a:r>
            <a:r>
              <a:rPr lang="fr-FR" sz="2400"/>
              <a:t>}</a:t>
            </a:r>
          </a:p>
          <a:p>
            <a:endParaRPr lang="fr-FR" sz="2400"/>
          </a:p>
        </p:txBody>
      </p:sp>
      <p:pic>
        <p:nvPicPr>
          <p:cNvPr id="6" name="Picture 8" descr="Apache Livy – a REST gateway for Spark – Old dog, New trick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8332" y="236645"/>
            <a:ext cx="1371843" cy="51063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Livy</a:t>
            </a:r>
            <a:r>
              <a:rPr lang="fr-FR"/>
              <a:t> Batch </a:t>
            </a:r>
            <a:r>
              <a:rPr lang="fr-FR"/>
              <a:t>Sample</a:t>
            </a:r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5930284" y="2519962"/>
            <a:ext cx="594143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$ </a:t>
            </a:r>
            <a:r>
              <a:rPr lang="fr-FR" b="1"/>
              <a:t>curl</a:t>
            </a:r>
            <a:r>
              <a:rPr lang="fr-FR" b="1"/>
              <a:t> -X POST http://&lt;livyhost&gt;:8998/batches  -d @req.json</a:t>
            </a:r>
          </a:p>
          <a:p>
            <a:endParaRPr lang="fr-FR" b="1"/>
          </a:p>
          <a:p>
            <a:r>
              <a:rPr lang="fr-FR" b="1"/>
              <a:t>req.json</a:t>
            </a:r>
            <a:r>
              <a:rPr lang="fr-FR" b="1"/>
              <a:t>:</a:t>
            </a:r>
          </a:p>
          <a:p>
            <a:r>
              <a:rPr lang="fr-FR"/>
              <a:t>{ </a:t>
            </a:r>
          </a:p>
          <a:p>
            <a:r>
              <a:rPr lang="fr-FR"/>
              <a:t>  "</a:t>
            </a:r>
            <a:r>
              <a:rPr lang="fr-FR"/>
              <a:t>executorMemory</a:t>
            </a:r>
            <a:r>
              <a:rPr lang="fr-FR"/>
              <a:t>": "20g", </a:t>
            </a:r>
          </a:p>
          <a:p>
            <a:r>
              <a:rPr lang="fr-FR"/>
              <a:t>   "</a:t>
            </a:r>
            <a:r>
              <a:rPr lang="fr-FR"/>
              <a:t>className</a:t>
            </a:r>
            <a:r>
              <a:rPr lang="fr-FR"/>
              <a:t>": "</a:t>
            </a:r>
            <a:r>
              <a:rPr lang="fr-FR"/>
              <a:t>org.apache.spark.examples.SparkPi</a:t>
            </a:r>
            <a:r>
              <a:rPr lang="fr-FR"/>
              <a:t>", </a:t>
            </a:r>
          </a:p>
          <a:p>
            <a:r>
              <a:rPr lang="fr-FR"/>
              <a:t>   "file": "/</a:t>
            </a:r>
            <a:r>
              <a:rPr lang="fr-FR"/>
              <a:t>path</a:t>
            </a:r>
            <a:r>
              <a:rPr lang="fr-FR"/>
              <a:t>/to/examples.jar",</a:t>
            </a:r>
            <a:br>
              <a:rPr lang="fr-FR"/>
            </a:br>
            <a:r>
              <a:rPr lang="fr-FR"/>
              <a:t>   "args": [1000]</a:t>
            </a:r>
          </a:p>
          <a:p>
            <a:r>
              <a:rPr lang="fr-FR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2862" y="3200400"/>
            <a:ext cx="442024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spark-submit</a:t>
            </a:r>
            <a:r>
              <a:rPr lang="fr-FR"/>
              <a:t> \</a:t>
            </a:r>
          </a:p>
          <a:p>
            <a:r>
              <a:rPr lang="fr-FR"/>
              <a:t>  --master </a:t>
            </a:r>
            <a:r>
              <a:rPr lang="fr-FR"/>
              <a:t>yarn</a:t>
            </a:r>
            <a:r>
              <a:rPr lang="fr-FR"/>
              <a:t> --</a:t>
            </a:r>
            <a:r>
              <a:rPr lang="fr-FR"/>
              <a:t>deploy</a:t>
            </a:r>
            <a:r>
              <a:rPr lang="fr-FR"/>
              <a:t>-mode cluster \</a:t>
            </a:r>
          </a:p>
          <a:p>
            <a:r>
              <a:rPr lang="fr-FR"/>
              <a:t>  --</a:t>
            </a:r>
            <a:r>
              <a:rPr lang="fr-FR"/>
              <a:t>executor</a:t>
            </a:r>
            <a:r>
              <a:rPr lang="fr-FR"/>
              <a:t>-memory 20G \</a:t>
            </a:r>
          </a:p>
          <a:p>
            <a:r>
              <a:rPr lang="fr-FR"/>
              <a:t>  --class </a:t>
            </a:r>
            <a:r>
              <a:rPr lang="fr-FR"/>
              <a:t>org.apache.spark.examples.SparkPi</a:t>
            </a:r>
            <a:r>
              <a:rPr lang="fr-FR"/>
              <a:t> \</a:t>
            </a:r>
            <a:br>
              <a:rPr lang="fr-FR"/>
            </a:br>
            <a:r>
              <a:rPr lang="fr-FR"/>
              <a:t>  /</a:t>
            </a:r>
            <a:r>
              <a:rPr lang="fr-FR"/>
              <a:t>path</a:t>
            </a:r>
            <a:r>
              <a:rPr lang="fr-FR"/>
              <a:t>/to/examples.jar \</a:t>
            </a:r>
            <a:br>
              <a:rPr lang="fr-FR"/>
            </a:br>
            <a:r>
              <a:rPr lang="fr-FR"/>
              <a:t>  1000</a:t>
            </a:r>
          </a:p>
        </p:txBody>
      </p:sp>
      <p:sp>
        <p:nvSpPr>
          <p:cNvPr id="7" name="Arrow: Left-Right 6"/>
          <p:cNvSpPr/>
          <p:nvPr/>
        </p:nvSpPr>
        <p:spPr>
          <a:xfrm>
            <a:off x="4770917" y="3686946"/>
            <a:ext cx="852257" cy="390617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 descr="Apache Livy – a REST gateway for Spark – Old dog, New trick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8332" y="236645"/>
            <a:ext cx="1371843" cy="51063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Livy</a:t>
            </a:r>
            <a:r>
              <a:rPr lang="fr-FR"/>
              <a:t> (Interactive) Session - </a:t>
            </a:r>
            <a:r>
              <a:rPr lang="fr-FR"/>
              <a:t>Statement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464716" y="1202041"/>
            <a:ext cx="7663573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$ </a:t>
            </a:r>
            <a:r>
              <a:rPr lang="fr-FR" b="1"/>
              <a:t>response</a:t>
            </a:r>
            <a:r>
              <a:rPr lang="fr-FR" b="1"/>
              <a:t> = $(</a:t>
            </a:r>
            <a:r>
              <a:rPr lang="fr-FR"/>
              <a:t> </a:t>
            </a:r>
            <a:r>
              <a:rPr lang="fr-FR" b="1"/>
              <a:t>curl</a:t>
            </a:r>
            <a:r>
              <a:rPr lang="fr-FR" b="1"/>
              <a:t> -X POST http://&lt;livyhost&gt;:8998/sessions -d session1.json )</a:t>
            </a:r>
          </a:p>
          <a:p>
            <a:endParaRPr lang="fr-FR" b="1"/>
          </a:p>
          <a:p>
            <a:r>
              <a:rPr lang="fr-FR" b="1"/>
              <a:t>session1.json:</a:t>
            </a:r>
          </a:p>
          <a:p>
            <a:r>
              <a:rPr lang="fr-FR"/>
              <a:t>{ </a:t>
            </a:r>
          </a:p>
          <a:p>
            <a:r>
              <a:rPr lang="fr-FR"/>
              <a:t>   "</a:t>
            </a:r>
            <a:r>
              <a:rPr lang="fr-FR"/>
              <a:t>kind</a:t>
            </a:r>
            <a:r>
              <a:rPr lang="fr-FR"/>
              <a:t>": "</a:t>
            </a:r>
            <a:r>
              <a:rPr lang="fr-FR"/>
              <a:t>spark</a:t>
            </a:r>
            <a:r>
              <a:rPr lang="fr-FR"/>
              <a:t>", </a:t>
            </a:r>
            <a:br>
              <a:rPr lang="fr-FR"/>
            </a:br>
            <a:r>
              <a:rPr lang="fr-FR"/>
              <a:t>   "</a:t>
            </a:r>
            <a:r>
              <a:rPr lang="fr-FR"/>
              <a:t>executorMemory</a:t>
            </a:r>
            <a:r>
              <a:rPr lang="fr-FR"/>
              <a:t>": "20g", </a:t>
            </a:r>
          </a:p>
          <a:p>
            <a:r>
              <a:rPr lang="fr-FR"/>
              <a:t>   "files": [ "/</a:t>
            </a:r>
            <a:r>
              <a:rPr lang="fr-FR"/>
              <a:t>path</a:t>
            </a:r>
            <a:r>
              <a:rPr lang="fr-FR"/>
              <a:t>/to/examples.jar"  ]</a:t>
            </a:r>
          </a:p>
          <a:p>
            <a:r>
              <a:rPr lang="fr-FR"/>
              <a:t>}</a:t>
            </a:r>
          </a:p>
          <a:p>
            <a:endParaRPr lang="fr-FR"/>
          </a:p>
          <a:p>
            <a:r>
              <a:rPr lang="fr-FR" b="1"/>
              <a:t>response</a:t>
            </a:r>
            <a:r>
              <a:rPr lang="fr-FR" b="1"/>
              <a:t>:</a:t>
            </a:r>
          </a:p>
          <a:p>
            <a:r>
              <a:rPr lang="fr-FR"/>
              <a:t>{</a:t>
            </a:r>
          </a:p>
          <a:p>
            <a:r>
              <a:rPr lang="fr-FR"/>
              <a:t>  "</a:t>
            </a:r>
            <a:r>
              <a:rPr lang="en-US"/>
              <a:t>id</a:t>
            </a:r>
            <a:r>
              <a:rPr lang="fr-FR"/>
              <a:t>"  : 2  ,</a:t>
            </a:r>
            <a:endParaRPr lang="en-US"/>
          </a:p>
          <a:p>
            <a:r>
              <a:rPr lang="fr-FR"/>
              <a:t>  "</a:t>
            </a:r>
            <a:r>
              <a:rPr lang="en-US"/>
              <a:t>appId</a:t>
            </a:r>
            <a:r>
              <a:rPr lang="fr-FR"/>
              <a:t>" </a:t>
            </a:r>
            <a:r>
              <a:rPr lang="en-US"/>
              <a:t>: </a:t>
            </a:r>
            <a:r>
              <a:rPr lang="fr-FR"/>
              <a:t>" application_123_456",</a:t>
            </a:r>
            <a:endParaRPr lang="en-US"/>
          </a:p>
          <a:p>
            <a:r>
              <a:rPr lang="en-US"/>
              <a:t>  </a:t>
            </a:r>
            <a:r>
              <a:rPr lang="fr-FR"/>
              <a:t>"</a:t>
            </a:r>
            <a:r>
              <a:rPr lang="en-US"/>
              <a:t>owner</a:t>
            </a:r>
            <a:r>
              <a:rPr lang="fr-FR"/>
              <a:t>" : "user",</a:t>
            </a:r>
            <a:r>
              <a:rPr lang="en-US"/>
              <a:t> </a:t>
            </a:r>
            <a:r>
              <a:rPr lang="fr-FR"/>
              <a:t>"</a:t>
            </a:r>
            <a:r>
              <a:rPr lang="fr-FR"/>
              <a:t>kind</a:t>
            </a:r>
            <a:r>
              <a:rPr lang="fr-FR"/>
              <a:t>": "</a:t>
            </a:r>
            <a:r>
              <a:rPr lang="fr-FR"/>
              <a:t>spark</a:t>
            </a:r>
            <a:r>
              <a:rPr lang="fr-FR"/>
              <a:t>", </a:t>
            </a:r>
            <a:endParaRPr lang="en-US"/>
          </a:p>
          <a:p>
            <a:r>
              <a:rPr lang="en-US"/>
              <a:t>  </a:t>
            </a:r>
            <a:r>
              <a:rPr lang="fr-FR"/>
              <a:t>"</a:t>
            </a:r>
            <a:r>
              <a:rPr lang="en-US"/>
              <a:t>log</a:t>
            </a:r>
            <a:r>
              <a:rPr lang="fr-FR"/>
              <a:t>": [ « log line1 », « line2 » ],</a:t>
            </a:r>
            <a:endParaRPr lang="en-US"/>
          </a:p>
          <a:p>
            <a:r>
              <a:rPr lang="fr-FR"/>
              <a:t>  "</a:t>
            </a:r>
            <a:r>
              <a:rPr lang="en-US"/>
              <a:t>state</a:t>
            </a:r>
            <a:r>
              <a:rPr lang="fr-FR"/>
              <a:t>": "</a:t>
            </a:r>
            <a:r>
              <a:rPr lang="fr-FR"/>
              <a:t>started</a:t>
            </a:r>
            <a:r>
              <a:rPr lang="fr-FR"/>
              <a:t>",</a:t>
            </a:r>
            <a:endParaRPr lang="en-US"/>
          </a:p>
          <a:p>
            <a:r>
              <a:rPr lang="fr-FR"/>
              <a:t>  "</a:t>
            </a:r>
            <a:r>
              <a:rPr lang="en-US"/>
              <a:t>appInfo</a:t>
            </a:r>
            <a:r>
              <a:rPr lang="fr-FR"/>
              <a:t>": { … }</a:t>
            </a:r>
          </a:p>
          <a:p>
            <a:r>
              <a:rPr lang="fr-FR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86703" y="3583138"/>
            <a:ext cx="740529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$ </a:t>
            </a:r>
            <a:r>
              <a:rPr lang="fr-FR" b="1"/>
              <a:t>statResp</a:t>
            </a:r>
            <a:r>
              <a:rPr lang="fr-FR" b="1"/>
              <a:t> = $(</a:t>
            </a:r>
            <a:r>
              <a:rPr lang="fr-FR"/>
              <a:t> </a:t>
            </a:r>
            <a:r>
              <a:rPr lang="fr-FR" b="1"/>
              <a:t>curl</a:t>
            </a:r>
            <a:r>
              <a:rPr lang="fr-FR" b="1"/>
              <a:t> -X POST http://&lt;livyhost&gt;:8998/sessions/ 2 /statements</a:t>
            </a:r>
            <a:br>
              <a:rPr lang="fr-FR" b="1"/>
            </a:br>
            <a:r>
              <a:rPr lang="fr-FR" b="1"/>
              <a:t>        -d </a:t>
            </a:r>
            <a:r>
              <a:rPr lang="fr-FR" b="1"/>
              <a:t>statement-req.json</a:t>
            </a:r>
            <a:r>
              <a:rPr lang="fr-FR" b="1"/>
              <a:t> )</a:t>
            </a:r>
          </a:p>
          <a:p>
            <a:br>
              <a:rPr lang="fr-FR" b="1"/>
            </a:br>
            <a:r>
              <a:rPr lang="fr-FR" b="1"/>
              <a:t>statement-req.json</a:t>
            </a:r>
            <a:endParaRPr lang="fr-FR" b="1"/>
          </a:p>
          <a:p>
            <a:r>
              <a:rPr lang="fr-FR"/>
              <a:t>{</a:t>
            </a:r>
          </a:p>
          <a:p>
            <a:r>
              <a:rPr lang="fr-FR"/>
              <a:t>   "mode": "</a:t>
            </a:r>
            <a:r>
              <a:rPr lang="fr-FR"/>
              <a:t>raw</a:t>
            </a:r>
            <a:r>
              <a:rPr lang="fr-FR"/>
              <a:t>",</a:t>
            </a:r>
          </a:p>
          <a:p>
            <a:r>
              <a:rPr lang="fr-FR"/>
              <a:t>   "</a:t>
            </a:r>
            <a:r>
              <a:rPr lang="fr-FR"/>
              <a:t>raw</a:t>
            </a:r>
            <a:r>
              <a:rPr lang="fr-FR"/>
              <a:t>": "{</a:t>
            </a:r>
            <a:br>
              <a:rPr lang="fr-FR"/>
            </a:br>
            <a:r>
              <a:rPr lang="fr-FR"/>
              <a:t>       \"code\": \" val </a:t>
            </a:r>
            <a:r>
              <a:rPr lang="fr-FR"/>
              <a:t>ds</a:t>
            </a:r>
            <a:r>
              <a:rPr lang="fr-FR"/>
              <a:t> = </a:t>
            </a:r>
            <a:r>
              <a:rPr lang="fr-FR"/>
              <a:t>spark.sql</a:t>
            </a:r>
            <a:r>
              <a:rPr lang="fr-FR"/>
              <a:t>(\"  SELECT * </a:t>
            </a:r>
            <a:r>
              <a:rPr lang="fr-FR"/>
              <a:t>from</a:t>
            </a:r>
            <a:r>
              <a:rPr lang="fr-FR"/>
              <a:t> table1 \") \" </a:t>
            </a:r>
            <a:br>
              <a:rPr lang="fr-FR"/>
            </a:br>
            <a:r>
              <a:rPr lang="fr-FR"/>
              <a:t>   } "</a:t>
            </a:r>
          </a:p>
          <a:p>
            <a:r>
              <a:rPr lang="fr-FR"/>
              <a:t>}</a:t>
            </a:r>
          </a:p>
        </p:txBody>
      </p:sp>
      <p:pic>
        <p:nvPicPr>
          <p:cNvPr id="7" name="Picture 8" descr="Apache Livy – a REST gateway for Spark – Old dog, New trick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8332" y="236645"/>
            <a:ext cx="1371843" cy="510631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1199848" y="4262362"/>
            <a:ext cx="174171" cy="309638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/>
          <p:cNvSpPr/>
          <p:nvPr/>
        </p:nvSpPr>
        <p:spPr>
          <a:xfrm rot="19703128">
            <a:off x="1573112" y="4010780"/>
            <a:ext cx="585409" cy="3096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2227022" y="3647287"/>
            <a:ext cx="1581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id=$( .. </a:t>
            </a:r>
            <a:r>
              <a:rPr lang="fr-FR" b="1"/>
              <a:t>jq</a:t>
            </a:r>
            <a:r>
              <a:rPr lang="fr-FR" b="1"/>
              <a:t> '.id'</a:t>
            </a:r>
            <a:r>
              <a:rPr lang="fr-FR"/>
              <a:t> 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56607" y="3599543"/>
            <a:ext cx="238784" cy="377371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Right 11"/>
          <p:cNvSpPr/>
          <p:nvPr/>
        </p:nvSpPr>
        <p:spPr>
          <a:xfrm rot="2016392">
            <a:off x="10071227" y="3201518"/>
            <a:ext cx="585409" cy="3096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9428540" y="2963133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${id}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Zeppelin</a:t>
            </a:r>
          </a:p>
        </p:txBody>
      </p:sp>
      <p:pic>
        <p:nvPicPr>
          <p:cNvPr id="512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981200" y="1752692"/>
            <a:ext cx="8229600" cy="4133850"/>
          </a:xfrm>
          <a:prstGeom prst="rect">
            <a:avLst/>
          </a:prstGeom>
          <a:noFill/>
        </p:spPr>
      </p:pic>
      <p:pic>
        <p:nvPicPr>
          <p:cNvPr id="3" name="Picture 2" descr="Les formations Apache Zeppelin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0280" y="153093"/>
            <a:ext cx="1800225" cy="952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Zeppelin -&gt; </a:t>
            </a:r>
            <a:r>
              <a:rPr lang="fr-FR"/>
              <a:t>Livy</a:t>
            </a:r>
            <a:r>
              <a:rPr lang="fr-FR"/>
              <a:t> Interactive Session</a:t>
            </a:r>
          </a:p>
        </p:txBody>
      </p:sp>
      <p:pic>
        <p:nvPicPr>
          <p:cNvPr id="4098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64418" y="2139519"/>
            <a:ext cx="8063164" cy="3618087"/>
          </a:xfrm>
          <a:prstGeom prst="rect">
            <a:avLst/>
          </a:prstGeom>
          <a:noFill/>
        </p:spPr>
      </p:pic>
      <p:pic>
        <p:nvPicPr>
          <p:cNvPr id="3" name="Picture 2" descr="Les formations Apache Zeppelin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0280" y="153093"/>
            <a:ext cx="1800225" cy="952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82187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Config:  livy.spark.*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42407" y="812307"/>
            <a:ext cx="7707186" cy="6045693"/>
          </a:xfrm>
          <a:prstGeom prst="rect">
            <a:avLst/>
          </a:prstGeom>
        </p:spPr>
      </p:pic>
      <p:pic>
        <p:nvPicPr>
          <p:cNvPr id="6" name="Picture 5" descr="Les formations Apache Zeppelin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0280" y="153093"/>
            <a:ext cx="1800225" cy="952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Link Zeppelin -&gt; </a:t>
            </a:r>
            <a:r>
              <a:rPr lang="fr-FR"/>
              <a:t>SparkUI</a:t>
            </a:r>
            <a:r>
              <a:rPr lang="fr-FR"/>
              <a:t> Application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" name="Object 2">
            <a:extLst>
              <a:ext uri="{FF2B5EF4-FFF2-40B4-BE49-F238E27FC236}">
                <a16:creationId xmlns:a16="http://schemas.microsoft.com/office/drawing/2014/main" id="{2E93B8CA-755D-715E-DEA0-A8BB3A8EB19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78909509"/>
              </p:ext>
            </p:extLst>
          </p:nvPr>
        </p:nvGraphicFramePr>
        <p:xfrm>
          <a:off x="300578" y="1921785"/>
          <a:ext cx="10706424" cy="2255159"/>
        </p:xfrm>
        <a:graphic>
          <a:graphicData uri="http://schemas.openxmlformats.org/presentationml/2006/ole">
            <p:oleObj xmlns:mc="http://schemas.openxmlformats.org/markup-compatibility/2006" name="Bitmap Image" r:id="rId2" imgW="7612560" imgH="1604160" progId="PBrush">
              <p:embed/>
              <p:pic>
                <p:nvPicPr>
                  <p:cNvPr id="0" name="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00578" y="1921785"/>
                    <a:ext cx="10706424" cy="225515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" name="Oval 3"/>
          <p:cNvSpPr/>
          <p:nvPr/>
        </p:nvSpPr>
        <p:spPr>
          <a:xfrm>
            <a:off x="155359" y="3502241"/>
            <a:ext cx="5433134" cy="439444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3633409" y="3957937"/>
            <a:ext cx="687010" cy="76094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8" name="Picture 4" descr="SparkUI - The Internals of Apache Spark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133271" y="4769074"/>
            <a:ext cx="3441701" cy="1976652"/>
          </a:xfrm>
          <a:prstGeom prst="rect">
            <a:avLst/>
          </a:prstGeom>
          <a:noFill/>
        </p:spPr>
      </p:pic>
      <p:sp>
        <p:nvSpPr>
          <p:cNvPr id="7" name="Oval 6"/>
          <p:cNvSpPr/>
          <p:nvPr/>
        </p:nvSpPr>
        <p:spPr>
          <a:xfrm>
            <a:off x="10397067" y="2324165"/>
            <a:ext cx="856343" cy="390006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8293422" y="3624668"/>
            <a:ext cx="1991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interpreter</a:t>
            </a:r>
            <a:r>
              <a:rPr lang="fr-FR"/>
              <a:t> settings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" name="Object 11">
            <a:extLst>
              <a:ext uri="{FF2B5EF4-FFF2-40B4-BE49-F238E27FC236}">
                <a16:creationId xmlns:a16="http://schemas.microsoft.com/office/drawing/2014/main" id="{025D093B-C686-957C-4F58-A55CA678CEB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50853180"/>
              </p:ext>
            </p:extLst>
          </p:nvPr>
        </p:nvGraphicFramePr>
        <p:xfrm>
          <a:off x="8758237" y="4433590"/>
          <a:ext cx="1987172" cy="2312136"/>
        </p:xfrm>
        <a:graphic>
          <a:graphicData uri="http://schemas.openxmlformats.org/presentationml/2006/ole">
            <p:oleObj xmlns:mc="http://schemas.openxmlformats.org/markup-compatibility/2006" name="Bitmap Image" r:id="rId5" imgW="2194560" imgH="2552760" progId="PBrush">
              <p:embed/>
              <p:pic>
                <p:nvPicPr>
                  <p:cNvPr id="0" name=""/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758237" y="4433590"/>
                    <a:ext cx="1987172" cy="231213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cxnSp>
        <p:nvCxnSpPr>
          <p:cNvPr id="8" name="Straight Arrow Connector 7"/>
          <p:cNvCxnSpPr/>
          <p:nvPr/>
        </p:nvCxnSpPr>
        <p:spPr>
          <a:xfrm flipH="1">
            <a:off x="9907803" y="2722516"/>
            <a:ext cx="837606" cy="2414477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223829" y="5136993"/>
            <a:ext cx="931333" cy="281835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7" descr="Les formations Apache Zeppelin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10280" y="153093"/>
            <a:ext cx="1800225" cy="952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Jupyter</a:t>
            </a:r>
            <a:r>
              <a:rPr lang="fr-FR"/>
              <a:t> Notebook</a:t>
            </a:r>
          </a:p>
        </p:txBody>
      </p:sp>
      <p:pic>
        <p:nvPicPr>
          <p:cNvPr id="3" name="Picture 6" descr="Jupyter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33824" y="177160"/>
            <a:ext cx="1091424" cy="1269830"/>
          </a:xfrm>
          <a:prstGeom prst="rect">
            <a:avLst/>
          </a:prstGeom>
          <a:noFill/>
        </p:spPr>
      </p:pic>
      <p:pic>
        <p:nvPicPr>
          <p:cNvPr id="14340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409" y="2371253"/>
            <a:ext cx="6210039" cy="3669453"/>
          </a:xfrm>
          <a:prstGeom prst="rect">
            <a:avLst/>
          </a:prstGeom>
          <a:noFill/>
        </p:spPr>
      </p:pic>
      <p:pic>
        <p:nvPicPr>
          <p:cNvPr id="14342" name="Picture 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932625" y="1509203"/>
            <a:ext cx="6438283" cy="569946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Jupyter</a:t>
            </a:r>
            <a:r>
              <a:rPr lang="fr-FR"/>
              <a:t> – Kernel(s) architecture</a:t>
            </a:r>
          </a:p>
        </p:txBody>
      </p:sp>
      <p:pic>
        <p:nvPicPr>
          <p:cNvPr id="4" name="Picture 6" descr="Jupyter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33824" y="177160"/>
            <a:ext cx="1091424" cy="1269830"/>
          </a:xfrm>
          <a:prstGeom prst="rect">
            <a:avLst/>
          </a:prstGeom>
          <a:noFill/>
        </p:spPr>
      </p:pic>
      <p:pic>
        <p:nvPicPr>
          <p:cNvPr id="17410" name="Picture 2" descr="Jupyter Notebooks — Security Datasets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27968" y="1979467"/>
            <a:ext cx="11188823" cy="451340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415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Jupyter</a:t>
            </a:r>
            <a:r>
              <a:rPr lang="fr-FR"/>
              <a:t> + python kernel + </a:t>
            </a:r>
            <a:r>
              <a:rPr lang="fr-FR"/>
              <a:t>pyspark</a:t>
            </a:r>
            <a:endParaRPr lang="fr-FR"/>
          </a:p>
        </p:txBody>
      </p:sp>
      <p:pic>
        <p:nvPicPr>
          <p:cNvPr id="3" name="Picture 6" descr="Jupyter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33824" y="177160"/>
            <a:ext cx="1091424" cy="1269830"/>
          </a:xfrm>
          <a:prstGeom prst="rect">
            <a:avLst/>
          </a:prstGeom>
          <a:noFill/>
        </p:spPr>
      </p:pic>
      <p:pic>
        <p:nvPicPr>
          <p:cNvPr id="14338" name="Picture 2" descr="Introduction to Spark-Part 2:Jupyter Notebooks - Adatis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444536" y="2912488"/>
            <a:ext cx="5513034" cy="239979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19200" y="2647950"/>
            <a:ext cx="9753600" cy="1562100"/>
          </a:xfrm>
          <a:prstGeom prst="rect">
            <a:avLst/>
          </a:prstGeom>
          <a:noFill/>
        </p:spPr>
      </p:pic>
      <p:pic>
        <p:nvPicPr>
          <p:cNvPr id="4" name="Picture 4" descr="PySpark debugging — 6 common issues | by Maria Karanasou | Towards Data  Scienc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9313" y="48382"/>
            <a:ext cx="1896067" cy="10353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More « Extensions » </a:t>
            </a:r>
            <a:br>
              <a:rPr lang="fr-FR"/>
            </a:br>
            <a:r>
              <a:rPr lang="fr-FR"/>
              <a:t>backport</a:t>
            </a:r>
            <a:r>
              <a:rPr lang="fr-FR"/>
              <a:t> API to </a:t>
            </a:r>
            <a:r>
              <a:rPr lang="fr-FR"/>
              <a:t>other</a:t>
            </a:r>
            <a:r>
              <a:rPr lang="fr-FR"/>
              <a:t> Languages (Python, R)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56877" y="2010532"/>
            <a:ext cx="27663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public class </a:t>
            </a:r>
            <a:r>
              <a:rPr lang="fr-FR" b="1"/>
              <a:t>Dataset</a:t>
            </a:r>
            <a:r>
              <a:rPr lang="fr-FR"/>
              <a:t> {</a:t>
            </a:r>
          </a:p>
          <a:p>
            <a:endParaRPr lang="fr-FR"/>
          </a:p>
          <a:p>
            <a:r>
              <a:rPr lang="fr-FR"/>
              <a:t>… </a:t>
            </a:r>
            <a:r>
              <a:rPr lang="fr-FR"/>
              <a:t>hundred</a:t>
            </a:r>
            <a:r>
              <a:rPr lang="fr-FR"/>
              <a:t> </a:t>
            </a:r>
            <a:r>
              <a:rPr lang="fr-FR"/>
              <a:t>methods</a:t>
            </a:r>
            <a:r>
              <a:rPr lang="fr-FR"/>
              <a:t> …</a:t>
            </a:r>
          </a:p>
          <a:p>
            <a:endParaRPr lang="fr-FR"/>
          </a:p>
          <a:p>
            <a:r>
              <a:rPr lang="fr-FR"/>
              <a:t>public Y  </a:t>
            </a:r>
            <a:r>
              <a:rPr lang="fr-FR" b="1"/>
              <a:t>method123</a:t>
            </a:r>
            <a:r>
              <a:rPr lang="fr-FR"/>
              <a:t> (X </a:t>
            </a:r>
            <a:r>
              <a:rPr lang="fr-FR"/>
              <a:t>x</a:t>
            </a:r>
            <a:r>
              <a:rPr lang="fr-FR"/>
              <a:t>) {</a:t>
            </a:r>
          </a:p>
          <a:p>
            <a:r>
              <a:rPr lang="fr-FR"/>
              <a:t>  … </a:t>
            </a:r>
            <a:r>
              <a:rPr lang="fr-FR"/>
              <a:t>internals</a:t>
            </a:r>
            <a:r>
              <a:rPr lang="fr-FR"/>
              <a:t> </a:t>
            </a:r>
            <a:r>
              <a:rPr lang="fr-FR"/>
              <a:t>sparkContext</a:t>
            </a:r>
            <a:r>
              <a:rPr lang="fr-FR"/>
              <a:t>…</a:t>
            </a:r>
          </a:p>
          <a:p>
            <a:r>
              <a:rPr lang="fr-FR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7530" y="2011452"/>
            <a:ext cx="7377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API</a:t>
            </a:r>
          </a:p>
        </p:txBody>
      </p:sp>
      <p:pic>
        <p:nvPicPr>
          <p:cNvPr id="7" name="Picture 24" descr="Java (langage)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54618" y="1710524"/>
            <a:ext cx="637540" cy="1186632"/>
          </a:xfrm>
          <a:prstGeom prst="rect">
            <a:avLst/>
          </a:prstGeom>
          <a:noFill/>
        </p:spPr>
      </p:pic>
      <p:pic>
        <p:nvPicPr>
          <p:cNvPr id="8" name="Picture 26" descr="Scala (langage)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101385" y="5290257"/>
            <a:ext cx="1719743" cy="705535"/>
          </a:xfrm>
          <a:prstGeom prst="rect">
            <a:avLst/>
          </a:prstGeom>
          <a:noFill/>
        </p:spPr>
      </p:pic>
      <p:sp>
        <p:nvSpPr>
          <p:cNvPr id="9" name="Arrow: Left 8"/>
          <p:cNvSpPr/>
          <p:nvPr/>
        </p:nvSpPr>
        <p:spPr>
          <a:xfrm rot="16200000">
            <a:off x="8336855" y="4470702"/>
            <a:ext cx="747850" cy="55672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9240044" y="5350636"/>
            <a:ext cx="24681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SparkContext</a:t>
            </a:r>
            <a:endParaRPr lang="fr-FR" sz="3200" b="1"/>
          </a:p>
        </p:txBody>
      </p:sp>
      <p:pic>
        <p:nvPicPr>
          <p:cNvPr id="12" name="Picture 30" descr="Python-Logo-PNG-Image - Indigo.amsterdam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86102" y="2010532"/>
            <a:ext cx="2015656" cy="1007828"/>
          </a:xfrm>
          <a:prstGeom prst="rect">
            <a:avLst/>
          </a:prstGeom>
          <a:noFill/>
        </p:spPr>
      </p:pic>
      <p:sp>
        <p:nvSpPr>
          <p:cNvPr id="13" name="TextBox 12"/>
          <p:cNvSpPr txBox="1"/>
          <p:nvPr/>
        </p:nvSpPr>
        <p:spPr>
          <a:xfrm>
            <a:off x="4893679" y="2011452"/>
            <a:ext cx="7377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0862" y="2046740"/>
            <a:ext cx="383880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class </a:t>
            </a:r>
            <a:r>
              <a:rPr lang="fr-FR" b="1"/>
              <a:t>DataFrame</a:t>
            </a:r>
            <a:r>
              <a:rPr lang="fr-FR" b="1"/>
              <a:t>: </a:t>
            </a:r>
            <a:endParaRPr lang="fr-FR"/>
          </a:p>
          <a:p>
            <a:endParaRPr lang="fr-FR"/>
          </a:p>
          <a:p>
            <a:r>
              <a:rPr lang="fr-FR"/>
              <a:t>… </a:t>
            </a:r>
            <a:r>
              <a:rPr lang="fr-FR"/>
              <a:t>hundred</a:t>
            </a:r>
            <a:r>
              <a:rPr lang="fr-FR"/>
              <a:t> </a:t>
            </a:r>
            <a:r>
              <a:rPr lang="fr-FR"/>
              <a:t>methods</a:t>
            </a:r>
            <a:r>
              <a:rPr lang="fr-FR"/>
              <a:t> …</a:t>
            </a:r>
          </a:p>
          <a:p>
            <a:endParaRPr lang="fr-FR"/>
          </a:p>
          <a:p>
            <a:r>
              <a:rPr lang="fr-FR"/>
              <a:t>def</a:t>
            </a:r>
            <a:r>
              <a:rPr lang="fr-FR"/>
              <a:t> </a:t>
            </a:r>
            <a:r>
              <a:rPr lang="fr-FR" b="1"/>
              <a:t>method123</a:t>
            </a:r>
            <a:r>
              <a:rPr lang="fr-FR"/>
              <a:t> (self, x) -&gt; Y</a:t>
            </a:r>
          </a:p>
          <a:p>
            <a:r>
              <a:rPr lang="fr-FR"/>
              <a:t>   self._</a:t>
            </a:r>
            <a:r>
              <a:rPr lang="fr-FR"/>
              <a:t>jdf.method</a:t>
            </a:r>
            <a:r>
              <a:rPr lang="fr-FR"/>
              <a:t>(x, </a:t>
            </a:r>
            <a:r>
              <a:rPr lang="fr-FR"/>
              <a:t>self.sparkSession</a:t>
            </a:r>
            <a:r>
              <a:rPr lang="fr-FR"/>
              <a:t>)</a:t>
            </a:r>
          </a:p>
          <a:p>
            <a:endParaRPr lang="fr-FR"/>
          </a:p>
        </p:txBody>
      </p:sp>
      <p:sp>
        <p:nvSpPr>
          <p:cNvPr id="17" name="Arrow: Left 16"/>
          <p:cNvSpPr/>
          <p:nvPr/>
        </p:nvSpPr>
        <p:spPr>
          <a:xfrm>
            <a:off x="4804466" y="2979576"/>
            <a:ext cx="553065" cy="898847"/>
          </a:xfrm>
          <a:prstGeom prst="leftArrow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Left 17"/>
          <p:cNvSpPr/>
          <p:nvPr/>
        </p:nvSpPr>
        <p:spPr>
          <a:xfrm flipH="1">
            <a:off x="6379937" y="2979575"/>
            <a:ext cx="454534" cy="898847"/>
          </a:xfrm>
          <a:prstGeom prst="leftArrow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Left 18"/>
          <p:cNvSpPr/>
          <p:nvPr/>
        </p:nvSpPr>
        <p:spPr>
          <a:xfrm rot="16200000">
            <a:off x="2255744" y="4290948"/>
            <a:ext cx="868254" cy="28633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Arrow: Left 19"/>
          <p:cNvSpPr/>
          <p:nvPr/>
        </p:nvSpPr>
        <p:spPr>
          <a:xfrm rot="8639132">
            <a:off x="5112270" y="4571396"/>
            <a:ext cx="1640110" cy="29533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908381" y="4878366"/>
            <a:ext cx="42917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from py4j.java_gateway import </a:t>
            </a:r>
            <a:r>
              <a:rPr lang="en-US"/>
              <a:t>JavaObject</a:t>
            </a:r>
            <a:endParaRPr lang="en-US"/>
          </a:p>
          <a:p>
            <a:r>
              <a:rPr lang="en-US"/>
              <a:t>from subprocess import </a:t>
            </a:r>
            <a:r>
              <a:rPr lang="en-US"/>
              <a:t>Popen</a:t>
            </a:r>
            <a:br>
              <a:rPr lang="en-US"/>
            </a:br>
            <a:r>
              <a:rPr lang="en-US"/>
              <a:t>from </a:t>
            </a:r>
            <a:r>
              <a:rPr lang="en-US"/>
              <a:t>pyspark.context</a:t>
            </a:r>
            <a:r>
              <a:rPr lang="en-US"/>
              <a:t> import </a:t>
            </a:r>
            <a:r>
              <a:rPr lang="en-US"/>
              <a:t>SparkContext</a:t>
            </a:r>
            <a:endParaRPr lang="en-US"/>
          </a:p>
          <a:p>
            <a:r>
              <a:rPr lang="en-US"/>
              <a:t>..</a:t>
            </a:r>
          </a:p>
          <a:p>
            <a:r>
              <a:rPr lang="fr-FR"/>
              <a:t>pid</a:t>
            </a:r>
            <a:r>
              <a:rPr lang="fr-FR"/>
              <a:t> = </a:t>
            </a:r>
            <a:r>
              <a:rPr lang="fr-FR"/>
              <a:t>Popen</a:t>
            </a:r>
            <a:r>
              <a:rPr lang="fr-FR"/>
              <a:t>(« </a:t>
            </a:r>
            <a:r>
              <a:rPr lang="fr-FR"/>
              <a:t>spark-submit</a:t>
            </a:r>
            <a:r>
              <a:rPr lang="fr-FR"/>
              <a:t> »  …)</a:t>
            </a:r>
          </a:p>
          <a:p>
            <a:r>
              <a:rPr lang="fr-FR"/>
              <a:t>Socket(.. )</a:t>
            </a:r>
          </a:p>
        </p:txBody>
      </p:sp>
      <p:sp>
        <p:nvSpPr>
          <p:cNvPr id="25" name="TextBox 24"/>
          <p:cNvSpPr txBox="1"/>
          <p:nvPr/>
        </p:nvSpPr>
        <p:spPr>
          <a:xfrm rot="19481232">
            <a:off x="5503787" y="4249450"/>
            <a:ext cx="592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py4j</a:t>
            </a:r>
          </a:p>
        </p:txBody>
      </p:sp>
      <p:sp>
        <p:nvSpPr>
          <p:cNvPr id="3" name="Rectangle 2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Python + </a:t>
            </a:r>
            <a:r>
              <a:rPr lang="fr-FR"/>
              <a:t>pyspark</a:t>
            </a:r>
            <a:r>
              <a:rPr lang="fr-FR"/>
              <a:t> ( GLUE package )</a:t>
            </a:r>
            <a:br>
              <a:rPr lang="fr-FR"/>
            </a:br>
            <a:r>
              <a:rPr lang="fr-FR"/>
              <a:t>… = </a:t>
            </a:r>
            <a:r>
              <a:rPr lang="fr-FR"/>
              <a:t>spark</a:t>
            </a:r>
            <a:r>
              <a:rPr lang="fr-FR"/>
              <a:t> JVM </a:t>
            </a:r>
            <a:r>
              <a:rPr lang="fr-FR"/>
              <a:t>process</a:t>
            </a:r>
            <a:r>
              <a:rPr lang="fr-FR"/>
              <a:t> + socket</a:t>
            </a:r>
          </a:p>
        </p:txBody>
      </p:sp>
      <p:pic>
        <p:nvPicPr>
          <p:cNvPr id="19460" name="Picture 4" descr="Python (programming language) - Wikipe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46417" y="3585148"/>
            <a:ext cx="1158631" cy="1272328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1146417" y="3042527"/>
            <a:ext cx="16198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python.exe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878588" y="3264226"/>
            <a:ext cx="5244885" cy="16851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27893" y="5291078"/>
            <a:ext cx="30076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https://www.py4j.org/</a:t>
            </a:r>
          </a:p>
        </p:txBody>
      </p:sp>
      <p:sp>
        <p:nvSpPr>
          <p:cNvPr id="12" name="Flowchart: Magnetic Disk 11"/>
          <p:cNvSpPr/>
          <p:nvPr/>
        </p:nvSpPr>
        <p:spPr>
          <a:xfrm rot="5400000">
            <a:off x="3726925" y="3783376"/>
            <a:ext cx="173115" cy="116263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3521404" y="3889730"/>
            <a:ext cx="8652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socket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920210" y="5188507"/>
            <a:ext cx="800169" cy="6668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77959" y="2832500"/>
            <a:ext cx="22546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Popen</a:t>
            </a:r>
            <a:r>
              <a:rPr lang="fr-FR" sz="2000"/>
              <a:t>('java.exe', …)</a:t>
            </a:r>
          </a:p>
        </p:txBody>
      </p:sp>
      <p:sp>
        <p:nvSpPr>
          <p:cNvPr id="7" name="Arrow: Curved Up 6"/>
          <p:cNvSpPr/>
          <p:nvPr/>
        </p:nvSpPr>
        <p:spPr>
          <a:xfrm rot="10800000" flipH="1">
            <a:off x="3180847" y="3253809"/>
            <a:ext cx="1406892" cy="483134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681443" y="5055832"/>
            <a:ext cx="20990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Write python Object</a:t>
            </a:r>
          </a:p>
          <a:p>
            <a:r>
              <a:rPr lang="fr-FR"/>
              <a:t> to pickle format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5964" y="5055832"/>
            <a:ext cx="19260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>
                <a:sym typeface="Wingdings"/>
              </a:rPr>
              <a:t>read</a:t>
            </a:r>
            <a:r>
              <a:rPr lang="fr-FR">
                <a:sym typeface="Wingdings"/>
              </a:rPr>
              <a:t> java Object </a:t>
            </a:r>
            <a:br>
              <a:rPr lang="fr-FR">
                <a:sym typeface="Wingdings"/>
              </a:rPr>
            </a:br>
            <a:r>
              <a:rPr lang="fr-FR">
                <a:sym typeface="Wingdings"/>
              </a:rPr>
              <a:t>from</a:t>
            </a:r>
            <a:r>
              <a:rPr lang="fr-FR">
                <a:sym typeface="Wingdings"/>
              </a:rPr>
              <a:t> pickle format</a:t>
            </a:r>
            <a:endParaRPr lang="fr-FR"/>
          </a:p>
        </p:txBody>
      </p:sp>
      <p:sp>
        <p:nvSpPr>
          <p:cNvPr id="20" name="Arrow: Right 19"/>
          <p:cNvSpPr/>
          <p:nvPr/>
        </p:nvSpPr>
        <p:spPr>
          <a:xfrm>
            <a:off x="3813482" y="5255580"/>
            <a:ext cx="390095" cy="2663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Arrow: Right 20"/>
          <p:cNvSpPr/>
          <p:nvPr/>
        </p:nvSpPr>
        <p:spPr>
          <a:xfrm flipH="1">
            <a:off x="3967768" y="5623046"/>
            <a:ext cx="353627" cy="29418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1233996" y="2178854"/>
            <a:ext cx="1105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$ </a:t>
            </a:r>
            <a:r>
              <a:rPr lang="fr-FR" b="1"/>
              <a:t>pyspark</a:t>
            </a:r>
            <a:endParaRPr lang="fr-FR" b="1"/>
          </a:p>
        </p:txBody>
      </p:sp>
      <p:sp>
        <p:nvSpPr>
          <p:cNvPr id="24" name="TextBox 23"/>
          <p:cNvSpPr txBox="1"/>
          <p:nvPr/>
        </p:nvSpPr>
        <p:spPr>
          <a:xfrm>
            <a:off x="4838762" y="2178854"/>
            <a:ext cx="280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SparkContext</a:t>
            </a:r>
            <a:r>
              <a:rPr lang="fr-FR" b="1"/>
              <a:t> (</a:t>
            </a:r>
            <a:r>
              <a:rPr lang="fr-FR" b="1"/>
              <a:t>spark</a:t>
            </a:r>
            <a:r>
              <a:rPr lang="fr-FR" b="1"/>
              <a:t>-driver)</a:t>
            </a:r>
          </a:p>
        </p:txBody>
      </p:sp>
      <p:pic>
        <p:nvPicPr>
          <p:cNvPr id="25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475852" y="3149781"/>
            <a:ext cx="2083535" cy="1562651"/>
          </a:xfrm>
          <a:prstGeom prst="rect">
            <a:avLst/>
          </a:prstGeom>
          <a:noFill/>
        </p:spPr>
      </p:pic>
      <p:pic>
        <p:nvPicPr>
          <p:cNvPr id="26" name="Picture 4" descr="PySpark debugging — 6 common issues | by Maria Karanasou | Towards Data  Science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9313" y="48382"/>
            <a:ext cx="1896067" cy="10353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Python UDF </a:t>
            </a:r>
            <a:r>
              <a:rPr lang="fr-FR"/>
              <a:t>function</a:t>
            </a:r>
            <a:endParaRPr lang="fr-FR"/>
          </a:p>
        </p:txBody>
      </p:sp>
      <p:pic>
        <p:nvPicPr>
          <p:cNvPr id="6" name="Picture 4" descr="Python (programming language) - Wikipe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127215" y="3068943"/>
            <a:ext cx="1158631" cy="1272328"/>
          </a:xfrm>
          <a:prstGeom prst="rect">
            <a:avLst/>
          </a:prstGeom>
          <a:noFill/>
        </p:spPr>
      </p:pic>
      <p:sp>
        <p:nvSpPr>
          <p:cNvPr id="7" name="Arrow: Curved Up 6"/>
          <p:cNvSpPr/>
          <p:nvPr/>
        </p:nvSpPr>
        <p:spPr>
          <a:xfrm rot="10800000" flipH="1">
            <a:off x="7602865" y="2831817"/>
            <a:ext cx="1406892" cy="483134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8" name="Flowchart: Magnetic Disk 7"/>
          <p:cNvSpPr/>
          <p:nvPr/>
        </p:nvSpPr>
        <p:spPr>
          <a:xfrm rot="5400000">
            <a:off x="8224424" y="3397042"/>
            <a:ext cx="173115" cy="116263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7873692" y="3470740"/>
            <a:ext cx="8652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socket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4896" y="2358727"/>
            <a:ext cx="32103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Runtime.exec</a:t>
            </a:r>
            <a:r>
              <a:rPr lang="fr-FR" sz="2000"/>
              <a:t>('python.exe', …)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8201" y="2661892"/>
            <a:ext cx="6209081" cy="3038951"/>
          </a:xfrm>
          <a:prstGeom prst="rect">
            <a:avLst/>
          </a:prstGeom>
        </p:spPr>
      </p:pic>
      <p:sp>
        <p:nvSpPr>
          <p:cNvPr id="13" name="Arrow: Right 12"/>
          <p:cNvSpPr/>
          <p:nvPr/>
        </p:nvSpPr>
        <p:spPr>
          <a:xfrm>
            <a:off x="8172145" y="4181368"/>
            <a:ext cx="390095" cy="2663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/>
          <p:cNvSpPr/>
          <p:nvPr/>
        </p:nvSpPr>
        <p:spPr>
          <a:xfrm flipH="1">
            <a:off x="8346216" y="4494673"/>
            <a:ext cx="353627" cy="29418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6043162" y="1734912"/>
            <a:ext cx="1606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spark-executor</a:t>
            </a:r>
            <a:endParaRPr lang="fr-FR" b="1"/>
          </a:p>
        </p:txBody>
      </p:sp>
      <p:sp>
        <p:nvSpPr>
          <p:cNvPr id="16" name="TextBox 15"/>
          <p:cNvSpPr txBox="1"/>
          <p:nvPr/>
        </p:nvSpPr>
        <p:spPr>
          <a:xfrm>
            <a:off x="8827791" y="1739098"/>
            <a:ext cx="1960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Python.exe </a:t>
            </a:r>
            <a:r>
              <a:rPr lang="fr-FR" b="1"/>
              <a:t>runner</a:t>
            </a:r>
            <a:endParaRPr lang="fr-FR" b="1"/>
          </a:p>
        </p:txBody>
      </p:sp>
      <p:pic>
        <p:nvPicPr>
          <p:cNvPr id="17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702973" y="2758837"/>
            <a:ext cx="2286780" cy="1715085"/>
          </a:xfrm>
          <a:prstGeom prst="rect">
            <a:avLst/>
          </a:prstGeom>
          <a:noFill/>
        </p:spPr>
      </p:pic>
      <p:pic>
        <p:nvPicPr>
          <p:cNvPr id="18" name="Picture 4" descr="PySpark debugging — 6 common issues | by Maria Karanasou | Towards Data  Science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9313" y="48382"/>
            <a:ext cx="1896067" cy="10353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4554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Pyspark</a:t>
            </a:r>
            <a:r>
              <a:rPr lang="fr-FR"/>
              <a:t> – py4j – Spark Architecture</a:t>
            </a:r>
          </a:p>
        </p:txBody>
      </p:sp>
      <p:pic>
        <p:nvPicPr>
          <p:cNvPr id="5" name="Picture 4" descr="Python (programming language) - Wikipe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30464" y="1794928"/>
            <a:ext cx="831690" cy="913304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192079" y="5017044"/>
            <a:ext cx="42852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$ </a:t>
            </a:r>
            <a:r>
              <a:rPr lang="fr-FR" b="1"/>
              <a:t>pyspark</a:t>
            </a:r>
            <a:endParaRPr lang="fr-FR" b="1"/>
          </a:p>
          <a:p>
            <a:r>
              <a:rPr lang="fr-FR"/>
              <a:t>from</a:t>
            </a:r>
            <a:r>
              <a:rPr lang="fr-FR"/>
              <a:t> </a:t>
            </a:r>
            <a:r>
              <a:rPr lang="fr-FR"/>
              <a:t>pyspark.sql</a:t>
            </a:r>
            <a:r>
              <a:rPr lang="fr-FR"/>
              <a:t> import </a:t>
            </a:r>
            <a:r>
              <a:rPr lang="fr-FR"/>
              <a:t>SparkSession</a:t>
            </a:r>
            <a:endParaRPr lang="fr-FR"/>
          </a:p>
          <a:p>
            <a:endParaRPr lang="fr-FR"/>
          </a:p>
          <a:p>
            <a:r>
              <a:rPr lang="fr-FR"/>
              <a:t>spark</a:t>
            </a:r>
            <a:r>
              <a:rPr lang="fr-FR"/>
              <a:t> = </a:t>
            </a:r>
            <a:r>
              <a:rPr lang="fr-FR"/>
              <a:t>SparkSession.builder.getOrCreate</a:t>
            </a:r>
            <a:r>
              <a:rPr lang="fr-FR"/>
              <a:t>()</a:t>
            </a:r>
          </a:p>
          <a:p>
            <a:r>
              <a:rPr lang="fr-FR"/>
              <a:t>df</a:t>
            </a:r>
            <a:r>
              <a:rPr lang="fr-FR"/>
              <a:t> = </a:t>
            </a:r>
            <a:r>
              <a:rPr lang="fr-FR"/>
              <a:t>spark.sql(</a:t>
            </a:r>
            <a:r>
              <a:rPr lang="fr-FR"/>
              <a:t>« SELECT * FROM table1 »)</a:t>
            </a:r>
          </a:p>
        </p:txBody>
      </p:sp>
      <p:sp>
        <p:nvSpPr>
          <p:cNvPr id="7" name="Rectangle 6"/>
          <p:cNvSpPr/>
          <p:nvPr/>
        </p:nvSpPr>
        <p:spPr>
          <a:xfrm>
            <a:off x="1472372" y="3181678"/>
            <a:ext cx="532660" cy="306280"/>
          </a:xfrm>
          <a:prstGeom prst="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1380430" y="286604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</a:t>
            </a:r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1446819" y="3786509"/>
            <a:ext cx="495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df</a:t>
            </a:r>
            <a:endParaRPr lang="fr-FR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551017" y="2753610"/>
            <a:ext cx="752218" cy="455890"/>
          </a:xfrm>
          <a:prstGeom prst="rect">
            <a:avLst/>
          </a:prstGeom>
        </p:spPr>
      </p:pic>
      <p:sp>
        <p:nvSpPr>
          <p:cNvPr id="14" name="Flowchart: Magnetic Disk 13"/>
          <p:cNvSpPr/>
          <p:nvPr/>
        </p:nvSpPr>
        <p:spPr>
          <a:xfrm rot="5400000">
            <a:off x="3666996" y="3293688"/>
            <a:ext cx="303448" cy="126653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/>
          <p:cNvSpPr/>
          <p:nvPr/>
        </p:nvSpPr>
        <p:spPr>
          <a:xfrm>
            <a:off x="1478515" y="4129491"/>
            <a:ext cx="532660" cy="306280"/>
          </a:xfrm>
          <a:prstGeom prst="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2130323" y="3333350"/>
            <a:ext cx="962733" cy="511108"/>
          </a:xfrm>
          <a:prstGeom prst="straightConnector1">
            <a:avLst/>
          </a:prstGeom>
          <a:ln w="28575">
            <a:solidFill>
              <a:schemeClr val="accent5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2120842" y="3966840"/>
            <a:ext cx="1019009" cy="358581"/>
          </a:xfrm>
          <a:prstGeom prst="straightConnector1">
            <a:avLst/>
          </a:prstGeom>
          <a:ln w="28575">
            <a:solidFill>
              <a:schemeClr val="accent5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16634" y="3087412"/>
            <a:ext cx="1054964" cy="6077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Box 25"/>
          <p:cNvSpPr txBox="1"/>
          <p:nvPr/>
        </p:nvSpPr>
        <p:spPr>
          <a:xfrm>
            <a:off x="4653297" y="2716099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5463433" y="3646144"/>
            <a:ext cx="901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endParaRPr lang="fr-FR"/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4565639" y="4035245"/>
            <a:ext cx="740447" cy="343911"/>
          </a:xfrm>
          <a:prstGeom prst="straightConnector1">
            <a:avLst/>
          </a:prstGeom>
          <a:ln w="28575">
            <a:solidFill>
              <a:schemeClr val="accent5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4536970" y="3391310"/>
            <a:ext cx="191486" cy="434000"/>
          </a:xfrm>
          <a:prstGeom prst="straightConnector1">
            <a:avLst/>
          </a:prstGeom>
          <a:ln w="28575">
            <a:solidFill>
              <a:schemeClr val="accent5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77816" y="2658531"/>
            <a:ext cx="2136541" cy="214458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3394214" y="3182937"/>
            <a:ext cx="1092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Local socket</a:t>
            </a:r>
          </a:p>
        </p:txBody>
      </p:sp>
      <p:pic>
        <p:nvPicPr>
          <p:cNvPr id="40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43208" y="3085431"/>
            <a:ext cx="915912" cy="1373375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1" name="Object 40">
            <a:extLst>
              <a:ext uri="{FF2B5EF4-FFF2-40B4-BE49-F238E27FC236}">
                <a16:creationId xmlns:a16="http://schemas.microsoft.com/office/drawing/2014/main" id="{77DA32F7-7ED9-8202-25A6-62B2212B1D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48206358"/>
              </p:ext>
            </p:extLst>
          </p:nvPr>
        </p:nvGraphicFramePr>
        <p:xfrm>
          <a:off x="5284589" y="3927599"/>
          <a:ext cx="1054964" cy="840970"/>
        </p:xfrm>
        <a:graphic>
          <a:graphicData uri="http://schemas.openxmlformats.org/presentationml/2006/ole">
            <p:oleObj xmlns:mc="http://schemas.openxmlformats.org/markup-compatibility/2006" name="Bitmap Image" r:id="rId5" imgW="2994840" imgH="2434680" progId="PBrush">
              <p:embed/>
              <p:pic>
                <p:nvPicPr>
                  <p:cNvPr id="36" name="Object 35">
                    <a:extLst>
                      <a:ext uri="{FF2B5EF4-FFF2-40B4-BE49-F238E27FC236}">
                        <a16:creationId xmlns:a16="http://schemas.microsoft.com/office/drawing/2014/main" id="{8EEBFBFC-BEB3-94E3-CED0-7672513DEF73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284589" y="3927599"/>
                    <a:ext cx="1054964" cy="84097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5" name="Rectangle 44"/>
          <p:cNvSpPr/>
          <p:nvPr/>
        </p:nvSpPr>
        <p:spPr>
          <a:xfrm>
            <a:off x="1220247" y="2658531"/>
            <a:ext cx="2123391" cy="214458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6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161396" y="1617509"/>
            <a:ext cx="915912" cy="1373375"/>
          </a:xfrm>
          <a:prstGeom prst="rect">
            <a:avLst/>
          </a:prstGeom>
          <a:noFill/>
        </p:spPr>
      </p:pic>
      <p:pic>
        <p:nvPicPr>
          <p:cNvPr id="47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185464" y="4537236"/>
            <a:ext cx="915912" cy="1373375"/>
          </a:xfrm>
          <a:prstGeom prst="rect">
            <a:avLst/>
          </a:prstGeom>
          <a:noFill/>
        </p:spPr>
      </p:pic>
      <p:pic>
        <p:nvPicPr>
          <p:cNvPr id="21508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824162" y="1364361"/>
            <a:ext cx="1658269" cy="1243702"/>
          </a:xfrm>
          <a:prstGeom prst="rect">
            <a:avLst/>
          </a:prstGeom>
          <a:noFill/>
        </p:spPr>
      </p:pic>
      <p:sp>
        <p:nvSpPr>
          <p:cNvPr id="57" name="TextBox 56"/>
          <p:cNvSpPr txBox="1"/>
          <p:nvPr/>
        </p:nvSpPr>
        <p:spPr>
          <a:xfrm>
            <a:off x="8189982" y="1207216"/>
            <a:ext cx="1606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spark-executor</a:t>
            </a:r>
            <a:endParaRPr lang="fr-FR" b="1"/>
          </a:p>
        </p:txBody>
      </p:sp>
      <p:pic>
        <p:nvPicPr>
          <p:cNvPr id="59" name="Picture 5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274054" y="1709240"/>
            <a:ext cx="652815" cy="356918"/>
          </a:xfrm>
          <a:prstGeom prst="rect">
            <a:avLst/>
          </a:prstGeom>
        </p:spPr>
      </p:pic>
      <p:sp>
        <p:nvSpPr>
          <p:cNvPr id="60" name="Flowchart: Magnetic Disk 59"/>
          <p:cNvSpPr/>
          <p:nvPr/>
        </p:nvSpPr>
        <p:spPr>
          <a:xfrm rot="5400000">
            <a:off x="10600105" y="1618238"/>
            <a:ext cx="202772" cy="915913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511" name="Rectangle 21510"/>
          <p:cNvSpPr/>
          <p:nvPr/>
        </p:nvSpPr>
        <p:spPr>
          <a:xfrm>
            <a:off x="11102125" y="1656153"/>
            <a:ext cx="915913" cy="173515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512" name="TextBox 21511"/>
          <p:cNvSpPr txBox="1"/>
          <p:nvPr/>
        </p:nvSpPr>
        <p:spPr>
          <a:xfrm>
            <a:off x="10310156" y="1375541"/>
            <a:ext cx="1092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Local socket</a:t>
            </a:r>
          </a:p>
        </p:txBody>
      </p:sp>
      <p:sp>
        <p:nvSpPr>
          <p:cNvPr id="21517" name="Rectangle 21516"/>
          <p:cNvSpPr/>
          <p:nvPr/>
        </p:nvSpPr>
        <p:spPr>
          <a:xfrm>
            <a:off x="8993024" y="1656153"/>
            <a:ext cx="1373692" cy="173515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518" name="Picture 21517" descr="Python (programming language) - Wikipe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126367" y="1065244"/>
            <a:ext cx="521922" cy="573138"/>
          </a:xfrm>
          <a:prstGeom prst="rect">
            <a:avLst/>
          </a:prstGeom>
          <a:noFill/>
        </p:spPr>
      </p:pic>
      <p:pic>
        <p:nvPicPr>
          <p:cNvPr id="21519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9507392" y="765254"/>
            <a:ext cx="1105203" cy="828902"/>
          </a:xfrm>
          <a:prstGeom prst="rect">
            <a:avLst/>
          </a:prstGeom>
          <a:noFill/>
        </p:spPr>
      </p:pic>
      <p:cxnSp>
        <p:nvCxnSpPr>
          <p:cNvPr id="21529" name="Straight Connector 21528"/>
          <p:cNvCxnSpPr>
            <a:stCxn id="15" idx="3"/>
          </p:cNvCxnSpPr>
          <p:nvPr/>
        </p:nvCxnSpPr>
        <p:spPr>
          <a:xfrm flipV="1">
            <a:off x="5871598" y="2114248"/>
            <a:ext cx="3228859" cy="12770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30" name="Rectangle 21529"/>
          <p:cNvSpPr/>
          <p:nvPr/>
        </p:nvSpPr>
        <p:spPr>
          <a:xfrm>
            <a:off x="9107191" y="1866275"/>
            <a:ext cx="430979" cy="4543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532" name="TextBox 21531"/>
          <p:cNvSpPr txBox="1"/>
          <p:nvPr/>
        </p:nvSpPr>
        <p:spPr>
          <a:xfrm>
            <a:off x="9317176" y="2224552"/>
            <a:ext cx="1109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533" name="Object 21532">
            <a:extLst>
              <a:ext uri="{FF2B5EF4-FFF2-40B4-BE49-F238E27FC236}">
                <a16:creationId xmlns:a16="http://schemas.microsoft.com/office/drawing/2014/main" id="{2B14D8E4-9AA8-E43F-F095-86CD663ACD3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8700470"/>
              </p:ext>
            </p:extLst>
          </p:nvPr>
        </p:nvGraphicFramePr>
        <p:xfrm>
          <a:off x="9138332" y="2506007"/>
          <a:ext cx="1054964" cy="840970"/>
        </p:xfrm>
        <a:graphic>
          <a:graphicData uri="http://schemas.openxmlformats.org/presentationml/2006/ole">
            <p:oleObj xmlns:mc="http://schemas.openxmlformats.org/markup-compatibility/2006" name="Bitmap Image" r:id="rId5" imgW="2994840" imgH="2434680" progId="PBrush">
              <p:embed/>
              <p:pic>
                <p:nvPicPr>
                  <p:cNvPr id="41" name="Object 40">
                    <a:extLst>
                      <a:ext uri="{FF2B5EF4-FFF2-40B4-BE49-F238E27FC236}">
                        <a16:creationId xmlns:a16="http://schemas.microsoft.com/office/drawing/2014/main" id="{77DA32F7-7ED9-8202-25A6-62B2212B1DD7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138332" y="2506007"/>
                    <a:ext cx="1054964" cy="84097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534" name="Object 21533">
            <a:extLst>
              <a:ext uri="{FF2B5EF4-FFF2-40B4-BE49-F238E27FC236}">
                <a16:creationId xmlns:a16="http://schemas.microsoft.com/office/drawing/2014/main" id="{131F5039-379D-8DDD-3E54-2578D8DD2B8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5444305"/>
              </p:ext>
            </p:extLst>
          </p:nvPr>
        </p:nvGraphicFramePr>
        <p:xfrm>
          <a:off x="9368671" y="2633950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8" imgW="3508920" imgH="1310760" progId="PBrush">
              <p:embed/>
              <p:pic>
                <p:nvPicPr>
                  <p:cNvPr id="42" name="Object 41">
                    <a:extLst>
                      <a:ext uri="{FF2B5EF4-FFF2-40B4-BE49-F238E27FC236}">
                        <a16:creationId xmlns:a16="http://schemas.microsoft.com/office/drawing/2014/main" id="{F7E36EAF-5158-1AA7-A9EC-FCC733F001CB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9368671" y="2633950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535" name="Object 21534">
            <a:extLst>
              <a:ext uri="{FF2B5EF4-FFF2-40B4-BE49-F238E27FC236}">
                <a16:creationId xmlns:a16="http://schemas.microsoft.com/office/drawing/2014/main" id="{D0599AAB-5212-EF01-DC83-27D3964717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11643522"/>
              </p:ext>
            </p:extLst>
          </p:nvPr>
        </p:nvGraphicFramePr>
        <p:xfrm>
          <a:off x="9368671" y="2853109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8" imgW="3508920" imgH="1310760" progId="PBrush">
              <p:embed/>
              <p:pic>
                <p:nvPicPr>
                  <p:cNvPr id="43" name="Object 42">
                    <a:extLst>
                      <a:ext uri="{FF2B5EF4-FFF2-40B4-BE49-F238E27FC236}">
                        <a16:creationId xmlns:a16="http://schemas.microsoft.com/office/drawing/2014/main" id="{C3D6D1CA-DF4E-50F7-39A5-AB3261290B0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9368671" y="2853109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536" name="Object 21535">
            <a:extLst>
              <a:ext uri="{FF2B5EF4-FFF2-40B4-BE49-F238E27FC236}">
                <a16:creationId xmlns:a16="http://schemas.microsoft.com/office/drawing/2014/main" id="{BE1FE23A-6D18-C8DA-46BF-65A048BFF9A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6588044"/>
              </p:ext>
            </p:extLst>
          </p:nvPr>
        </p:nvGraphicFramePr>
        <p:xfrm>
          <a:off x="9375705" y="3072268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8" imgW="3508920" imgH="1310760" progId="PBrush">
              <p:embed/>
              <p:pic>
                <p:nvPicPr>
                  <p:cNvPr id="44" name="Object 43">
                    <a:extLst>
                      <a:ext uri="{FF2B5EF4-FFF2-40B4-BE49-F238E27FC236}">
                        <a16:creationId xmlns:a16="http://schemas.microsoft.com/office/drawing/2014/main" id="{95E2B5EF-84C3-D196-AA5B-018FC8599FA7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9375705" y="3072268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537" name="Object 21536">
            <a:extLst>
              <a:ext uri="{FF2B5EF4-FFF2-40B4-BE49-F238E27FC236}">
                <a16:creationId xmlns:a16="http://schemas.microsoft.com/office/drawing/2014/main" id="{E825DBC5-DC48-984C-E011-77F8E519B4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05311136"/>
              </p:ext>
            </p:extLst>
          </p:nvPr>
        </p:nvGraphicFramePr>
        <p:xfrm>
          <a:off x="11274054" y="2644028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8" imgW="3508920" imgH="1310760" progId="PBrush">
              <p:embed/>
              <p:pic>
                <p:nvPicPr>
                  <p:cNvPr id="21534" name="Object 21533">
                    <a:extLst>
                      <a:ext uri="{FF2B5EF4-FFF2-40B4-BE49-F238E27FC236}">
                        <a16:creationId xmlns:a16="http://schemas.microsoft.com/office/drawing/2014/main" id="{131F5039-379D-8DDD-3E54-2578D8DD2B85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11274054" y="2644028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1538" name="Arrow: Right 21537"/>
          <p:cNvSpPr/>
          <p:nvPr/>
        </p:nvSpPr>
        <p:spPr>
          <a:xfrm>
            <a:off x="10433838" y="2635807"/>
            <a:ext cx="390095" cy="2663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539" name="Arrow: Right 21538"/>
          <p:cNvSpPr/>
          <p:nvPr/>
        </p:nvSpPr>
        <p:spPr>
          <a:xfrm flipH="1">
            <a:off x="10607909" y="2949112"/>
            <a:ext cx="353627" cy="29418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540" name="TextBox 21539"/>
          <p:cNvSpPr txBox="1"/>
          <p:nvPr/>
        </p:nvSpPr>
        <p:spPr>
          <a:xfrm>
            <a:off x="5151264" y="2223401"/>
            <a:ext cx="1341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</a:t>
            </a:r>
            <a:r>
              <a:rPr lang="fr-FR" b="1"/>
              <a:t>-driver</a:t>
            </a:r>
          </a:p>
        </p:txBody>
      </p:sp>
      <p:sp>
        <p:nvSpPr>
          <p:cNvPr id="21541" name="TextBox 21540"/>
          <p:cNvSpPr txBox="1"/>
          <p:nvPr/>
        </p:nvSpPr>
        <p:spPr>
          <a:xfrm>
            <a:off x="2148335" y="2209921"/>
            <a:ext cx="9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pyspark</a:t>
            </a:r>
            <a:endParaRPr lang="fr-FR" b="1"/>
          </a:p>
        </p:txBody>
      </p:sp>
      <p:sp>
        <p:nvSpPr>
          <p:cNvPr id="21542" name="TextBox 21541"/>
          <p:cNvSpPr txBox="1"/>
          <p:nvPr/>
        </p:nvSpPr>
        <p:spPr>
          <a:xfrm>
            <a:off x="8189982" y="3885331"/>
            <a:ext cx="1606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spark-executor</a:t>
            </a:r>
            <a:endParaRPr lang="fr-FR" b="1"/>
          </a:p>
        </p:txBody>
      </p:sp>
      <p:pic>
        <p:nvPicPr>
          <p:cNvPr id="21543" name="Picture 2154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274054" y="4387355"/>
            <a:ext cx="652815" cy="356918"/>
          </a:xfrm>
          <a:prstGeom prst="rect">
            <a:avLst/>
          </a:prstGeom>
        </p:spPr>
      </p:pic>
      <p:sp>
        <p:nvSpPr>
          <p:cNvPr id="21544" name="Flowchart: Magnetic Disk 21543"/>
          <p:cNvSpPr/>
          <p:nvPr/>
        </p:nvSpPr>
        <p:spPr>
          <a:xfrm rot="5400000">
            <a:off x="10600105" y="4296353"/>
            <a:ext cx="202772" cy="915913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545" name="Rectangle 21544"/>
          <p:cNvSpPr/>
          <p:nvPr/>
        </p:nvSpPr>
        <p:spPr>
          <a:xfrm>
            <a:off x="11102125" y="4334268"/>
            <a:ext cx="915913" cy="173515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546" name="TextBox 21545"/>
          <p:cNvSpPr txBox="1"/>
          <p:nvPr/>
        </p:nvSpPr>
        <p:spPr>
          <a:xfrm>
            <a:off x="10310156" y="4053656"/>
            <a:ext cx="1092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Local socket</a:t>
            </a:r>
          </a:p>
        </p:txBody>
      </p:sp>
      <p:sp>
        <p:nvSpPr>
          <p:cNvPr id="21547" name="Rectangle 21546"/>
          <p:cNvSpPr/>
          <p:nvPr/>
        </p:nvSpPr>
        <p:spPr>
          <a:xfrm>
            <a:off x="8993024" y="4334268"/>
            <a:ext cx="1373692" cy="173515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548" name="Picture 21547" descr="Python (programming language) - Wikipe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126367" y="3743359"/>
            <a:ext cx="521922" cy="573138"/>
          </a:xfrm>
          <a:prstGeom prst="rect">
            <a:avLst/>
          </a:prstGeom>
          <a:noFill/>
        </p:spPr>
      </p:pic>
      <p:pic>
        <p:nvPicPr>
          <p:cNvPr id="21549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9507392" y="3443369"/>
            <a:ext cx="1105203" cy="828902"/>
          </a:xfrm>
          <a:prstGeom prst="rect">
            <a:avLst/>
          </a:prstGeom>
          <a:noFill/>
        </p:spPr>
      </p:pic>
      <p:sp>
        <p:nvSpPr>
          <p:cNvPr id="21550" name="Rectangle 21549"/>
          <p:cNvSpPr/>
          <p:nvPr/>
        </p:nvSpPr>
        <p:spPr>
          <a:xfrm>
            <a:off x="9107191" y="4544390"/>
            <a:ext cx="430979" cy="4543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551" name="TextBox 21550"/>
          <p:cNvSpPr txBox="1"/>
          <p:nvPr/>
        </p:nvSpPr>
        <p:spPr>
          <a:xfrm>
            <a:off x="9317176" y="4902667"/>
            <a:ext cx="1109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Partition2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552" name="Object 21551">
            <a:extLst>
              <a:ext uri="{FF2B5EF4-FFF2-40B4-BE49-F238E27FC236}">
                <a16:creationId xmlns:a16="http://schemas.microsoft.com/office/drawing/2014/main" id="{BC357C16-70AF-9F34-738A-98EBA684CAD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00041758"/>
              </p:ext>
            </p:extLst>
          </p:nvPr>
        </p:nvGraphicFramePr>
        <p:xfrm>
          <a:off x="9138332" y="5184122"/>
          <a:ext cx="1054964" cy="840970"/>
        </p:xfrm>
        <a:graphic>
          <a:graphicData uri="http://schemas.openxmlformats.org/presentationml/2006/ole">
            <p:oleObj xmlns:mc="http://schemas.openxmlformats.org/markup-compatibility/2006" name="Bitmap Image" r:id="rId5" imgW="2994840" imgH="2434680" progId="PBrush">
              <p:embed/>
              <p:pic>
                <p:nvPicPr>
                  <p:cNvPr id="21533" name="Object 21532">
                    <a:extLst>
                      <a:ext uri="{FF2B5EF4-FFF2-40B4-BE49-F238E27FC236}">
                        <a16:creationId xmlns:a16="http://schemas.microsoft.com/office/drawing/2014/main" id="{2B14D8E4-9AA8-E43F-F095-86CD663ACD3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138332" y="5184122"/>
                    <a:ext cx="1054964" cy="84097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553" name="Object 21552">
            <a:extLst>
              <a:ext uri="{FF2B5EF4-FFF2-40B4-BE49-F238E27FC236}">
                <a16:creationId xmlns:a16="http://schemas.microsoft.com/office/drawing/2014/main" id="{56EDD19F-23F1-1CBB-14B0-0FC59E1719A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6497419"/>
              </p:ext>
            </p:extLst>
          </p:nvPr>
        </p:nvGraphicFramePr>
        <p:xfrm>
          <a:off x="9368671" y="5312065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8" imgW="3508920" imgH="1310760" progId="PBrush">
              <p:embed/>
              <p:pic>
                <p:nvPicPr>
                  <p:cNvPr id="21534" name="Object 21533">
                    <a:extLst>
                      <a:ext uri="{FF2B5EF4-FFF2-40B4-BE49-F238E27FC236}">
                        <a16:creationId xmlns:a16="http://schemas.microsoft.com/office/drawing/2014/main" id="{131F5039-379D-8DDD-3E54-2578D8DD2B85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9368671" y="5312065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554" name="Object 21553">
            <a:extLst>
              <a:ext uri="{FF2B5EF4-FFF2-40B4-BE49-F238E27FC236}">
                <a16:creationId xmlns:a16="http://schemas.microsoft.com/office/drawing/2014/main" id="{4845E806-7059-637E-9D6D-6CDC10F5115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3909326"/>
              </p:ext>
            </p:extLst>
          </p:nvPr>
        </p:nvGraphicFramePr>
        <p:xfrm>
          <a:off x="9368671" y="5531224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8" imgW="3508920" imgH="1310760" progId="PBrush">
              <p:embed/>
              <p:pic>
                <p:nvPicPr>
                  <p:cNvPr id="21535" name="Object 21534">
                    <a:extLst>
                      <a:ext uri="{FF2B5EF4-FFF2-40B4-BE49-F238E27FC236}">
                        <a16:creationId xmlns:a16="http://schemas.microsoft.com/office/drawing/2014/main" id="{D0599AAB-5212-EF01-DC83-27D396471754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9368671" y="5531224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556" name="Object 21555">
            <a:extLst>
              <a:ext uri="{FF2B5EF4-FFF2-40B4-BE49-F238E27FC236}">
                <a16:creationId xmlns:a16="http://schemas.microsoft.com/office/drawing/2014/main" id="{8A83C284-6EA7-26D7-5507-08B38E874DC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71514935"/>
              </p:ext>
            </p:extLst>
          </p:nvPr>
        </p:nvGraphicFramePr>
        <p:xfrm>
          <a:off x="11274054" y="5322143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8" imgW="3508920" imgH="1310760" progId="PBrush">
              <p:embed/>
              <p:pic>
                <p:nvPicPr>
                  <p:cNvPr id="21537" name="Object 21536">
                    <a:extLst>
                      <a:ext uri="{FF2B5EF4-FFF2-40B4-BE49-F238E27FC236}">
                        <a16:creationId xmlns:a16="http://schemas.microsoft.com/office/drawing/2014/main" id="{E825DBC5-DC48-984C-E011-77F8E519B41D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11274054" y="5322143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1557" name="Arrow: Right 21556"/>
          <p:cNvSpPr/>
          <p:nvPr/>
        </p:nvSpPr>
        <p:spPr>
          <a:xfrm>
            <a:off x="10433838" y="5313922"/>
            <a:ext cx="390095" cy="2663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558" name="Arrow: Right 21557"/>
          <p:cNvSpPr/>
          <p:nvPr/>
        </p:nvSpPr>
        <p:spPr>
          <a:xfrm flipH="1">
            <a:off x="10607909" y="5627227"/>
            <a:ext cx="353627" cy="29418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1559" name="Straight Connector 21558"/>
          <p:cNvCxnSpPr>
            <a:endCxn id="21550" idx="1"/>
          </p:cNvCxnSpPr>
          <p:nvPr/>
        </p:nvCxnSpPr>
        <p:spPr>
          <a:xfrm>
            <a:off x="5871598" y="3500463"/>
            <a:ext cx="3235593" cy="127108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62" name="Picture 4" descr="PySpark debugging — 6 common issues | by Maria Karanasou | Towards Data  Science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99313" y="48382"/>
            <a:ext cx="1896067" cy="10353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 descr="Apache Spark: Scala vs. Java v. Python vs. R vs. SQL — mindful machine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09020" y="1882021"/>
            <a:ext cx="9344780" cy="4672390"/>
          </a:xfrm>
          <a:prstGeom prst="rect">
            <a:avLst/>
          </a:prstGeom>
          <a:noFill/>
        </p:spPr>
      </p:pic>
      <p:pic>
        <p:nvPicPr>
          <p:cNvPr id="5" name="Picture 4" descr="PySpark debugging — 6 common issues | by Maria Karanasou | Towards Data  Scienc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9313" y="48382"/>
            <a:ext cx="1896067" cy="1035352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Python + Pickle = Poor Performance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Jupyter</a:t>
            </a:r>
            <a:r>
              <a:rPr lang="fr-FR"/>
              <a:t> + </a:t>
            </a:r>
            <a:r>
              <a:rPr lang="fr-FR"/>
              <a:t>spylon</a:t>
            </a:r>
            <a:r>
              <a:rPr lang="fr-FR"/>
              <a:t> (</a:t>
            </a:r>
            <a:r>
              <a:rPr lang="fr-FR"/>
              <a:t>spark</a:t>
            </a:r>
            <a:r>
              <a:rPr lang="fr-FR"/>
              <a:t> scala kernel)</a:t>
            </a:r>
          </a:p>
        </p:txBody>
      </p:sp>
      <p:pic>
        <p:nvPicPr>
          <p:cNvPr id="16386" name="Picture 2" descr="How to Install Scala Kernal in Jupyter? - GeeksforGeek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939982" y="1906210"/>
            <a:ext cx="5579138" cy="3843048"/>
          </a:xfrm>
          <a:prstGeom prst="rect">
            <a:avLst/>
          </a:prstGeom>
          <a:noFill/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83409" y="3072191"/>
            <a:ext cx="4262212" cy="1269830"/>
          </a:xfrm>
          <a:prstGeom prst="rect">
            <a:avLst/>
          </a:prstGeom>
        </p:spPr>
      </p:pic>
      <p:pic>
        <p:nvPicPr>
          <p:cNvPr id="9" name="Picture 6" descr="Jupyter — Wikipédia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2248" y="76778"/>
            <a:ext cx="495670" cy="576693"/>
          </a:xfrm>
          <a:prstGeom prst="rect">
            <a:avLst/>
          </a:prstGeom>
          <a:noFill/>
        </p:spPr>
      </p:pic>
      <p:pic>
        <p:nvPicPr>
          <p:cNvPr id="10" name="Picture 2" descr="Scala (langage) — Wikipédia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716260" y="141664"/>
            <a:ext cx="976165" cy="44691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9639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spylon</a:t>
            </a:r>
            <a:r>
              <a:rPr lang="fr-FR"/>
              <a:t> :  %%scala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5851" y="3751797"/>
            <a:ext cx="7228196" cy="25414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216485" y="3642297"/>
            <a:ext cx="3455969" cy="312447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652539" y="1052316"/>
            <a:ext cx="7679185" cy="2313007"/>
          </a:xfrm>
          <a:prstGeom prst="rect">
            <a:avLst/>
          </a:prstGeom>
        </p:spPr>
      </p:pic>
      <p:pic>
        <p:nvPicPr>
          <p:cNvPr id="10" name="Picture 6" descr="Jupyter — Wikipédia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2248" y="76778"/>
            <a:ext cx="495670" cy="576693"/>
          </a:xfrm>
          <a:prstGeom prst="rect">
            <a:avLst/>
          </a:prstGeom>
          <a:noFill/>
        </p:spPr>
      </p:pic>
      <p:pic>
        <p:nvPicPr>
          <p:cNvPr id="11" name="Picture 2" descr="Scala (langage) — Wikipédia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16260" y="141664"/>
            <a:ext cx="976165" cy="44691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2425" y="0"/>
            <a:ext cx="10515600" cy="95663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Jupyter</a:t>
            </a:r>
            <a:r>
              <a:rPr lang="fr-FR"/>
              <a:t> + </a:t>
            </a:r>
            <a:r>
              <a:rPr lang="fr-FR"/>
              <a:t>spylon</a:t>
            </a:r>
            <a:r>
              <a:rPr lang="fr-FR"/>
              <a:t> architecture</a:t>
            </a:r>
          </a:p>
        </p:txBody>
      </p:sp>
      <p:pic>
        <p:nvPicPr>
          <p:cNvPr id="4" name="Picture 6" descr="Jupyter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248" y="76778"/>
            <a:ext cx="495670" cy="576693"/>
          </a:xfrm>
          <a:prstGeom prst="rect">
            <a:avLst/>
          </a:prstGeom>
          <a:noFill/>
        </p:spPr>
      </p:pic>
      <p:pic>
        <p:nvPicPr>
          <p:cNvPr id="25602" name="Picture 2" descr="Scala (langage)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16260" y="141664"/>
            <a:ext cx="976165" cy="446919"/>
          </a:xfrm>
          <a:prstGeom prst="rect">
            <a:avLst/>
          </a:prstGeom>
          <a:noFill/>
        </p:spPr>
      </p:pic>
      <p:sp>
        <p:nvSpPr>
          <p:cNvPr id="10" name="Flowchart: Magnetic Disk 9"/>
          <p:cNvSpPr/>
          <p:nvPr/>
        </p:nvSpPr>
        <p:spPr>
          <a:xfrm rot="5400000">
            <a:off x="5771567" y="3951669"/>
            <a:ext cx="303448" cy="126653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6921205" y="3745393"/>
            <a:ext cx="1054964" cy="6077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6757868" y="3374080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7568004" y="4304125"/>
            <a:ext cx="901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endParaRPr lang="fr-FR"/>
          </a:p>
        </p:txBody>
      </p:sp>
      <p:sp>
        <p:nvSpPr>
          <p:cNvPr id="19" name="Rectangle 18"/>
          <p:cNvSpPr/>
          <p:nvPr/>
        </p:nvSpPr>
        <p:spPr>
          <a:xfrm>
            <a:off x="6382387" y="3316512"/>
            <a:ext cx="2136541" cy="214458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5486184" y="4038647"/>
            <a:ext cx="1092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socket</a:t>
            </a:r>
          </a:p>
        </p:txBody>
      </p:sp>
      <p:pic>
        <p:nvPicPr>
          <p:cNvPr id="21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94721" y="2834048"/>
            <a:ext cx="915912" cy="1373375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2" name="Object 21">
            <a:extLst>
              <a:ext uri="{FF2B5EF4-FFF2-40B4-BE49-F238E27FC236}">
                <a16:creationId xmlns:a16="http://schemas.microsoft.com/office/drawing/2014/main" id="{D6AF5D3F-E937-6708-7765-4A55D7BB98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9759238"/>
              </p:ext>
            </p:extLst>
          </p:nvPr>
        </p:nvGraphicFramePr>
        <p:xfrm>
          <a:off x="7389160" y="4585580"/>
          <a:ext cx="1054964" cy="840970"/>
        </p:xfrm>
        <a:graphic>
          <a:graphicData uri="http://schemas.openxmlformats.org/presentationml/2006/ole">
            <p:oleObj xmlns:mc="http://schemas.openxmlformats.org/markup-compatibility/2006" name="Bitmap Image" r:id="rId5" imgW="2994840" imgH="2434680" progId="PBrush">
              <p:embed/>
              <p:pic>
                <p:nvPicPr>
                  <p:cNvPr id="41" name="Object 40">
                    <a:extLst>
                      <a:ext uri="{FF2B5EF4-FFF2-40B4-BE49-F238E27FC236}">
                        <a16:creationId xmlns:a16="http://schemas.microsoft.com/office/drawing/2014/main" id="{77DA32F7-7ED9-8202-25A6-62B2212B1DD7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389160" y="4585580"/>
                    <a:ext cx="1054964" cy="84097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3" name="Rectangle 22"/>
          <p:cNvSpPr/>
          <p:nvPr/>
        </p:nvSpPr>
        <p:spPr>
          <a:xfrm>
            <a:off x="3755125" y="4076877"/>
            <a:ext cx="1477199" cy="1116701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Box 25"/>
          <p:cNvSpPr txBox="1"/>
          <p:nvPr/>
        </p:nvSpPr>
        <p:spPr>
          <a:xfrm>
            <a:off x="3768694" y="4378646"/>
            <a:ext cx="1477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spylon</a:t>
            </a:r>
            <a:r>
              <a:rPr lang="fr-FR" b="1"/>
              <a:t>-kernel</a:t>
            </a:r>
          </a:p>
        </p:txBody>
      </p:sp>
      <p:pic>
        <p:nvPicPr>
          <p:cNvPr id="27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466502" y="2222873"/>
            <a:ext cx="915912" cy="1373375"/>
          </a:xfrm>
          <a:prstGeom prst="rect">
            <a:avLst/>
          </a:prstGeom>
          <a:noFill/>
        </p:spPr>
      </p:pic>
      <p:pic>
        <p:nvPicPr>
          <p:cNvPr id="28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539092" y="4680861"/>
            <a:ext cx="915912" cy="1373375"/>
          </a:xfrm>
          <a:prstGeom prst="rect">
            <a:avLst/>
          </a:prstGeom>
          <a:noFill/>
        </p:spPr>
      </p:pic>
      <p:sp>
        <p:nvSpPr>
          <p:cNvPr id="29" name="TextBox 28"/>
          <p:cNvSpPr txBox="1"/>
          <p:nvPr/>
        </p:nvSpPr>
        <p:spPr>
          <a:xfrm>
            <a:off x="9723658" y="1545762"/>
            <a:ext cx="1606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spark-executor</a:t>
            </a:r>
            <a:endParaRPr lang="fr-FR" b="1"/>
          </a:p>
        </p:txBody>
      </p:sp>
      <p:sp>
        <p:nvSpPr>
          <p:cNvPr id="30" name="Rectangle 29"/>
          <p:cNvSpPr/>
          <p:nvPr/>
        </p:nvSpPr>
        <p:spPr>
          <a:xfrm>
            <a:off x="10526700" y="1994699"/>
            <a:ext cx="1373692" cy="173515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/>
          <p:cNvSpPr/>
          <p:nvPr/>
        </p:nvSpPr>
        <p:spPr>
          <a:xfrm>
            <a:off x="10640867" y="2204821"/>
            <a:ext cx="430979" cy="4543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TextBox 31"/>
          <p:cNvSpPr txBox="1"/>
          <p:nvPr/>
        </p:nvSpPr>
        <p:spPr>
          <a:xfrm>
            <a:off x="10850852" y="2563098"/>
            <a:ext cx="1109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3" name="Object 32">
            <a:extLst>
              <a:ext uri="{FF2B5EF4-FFF2-40B4-BE49-F238E27FC236}">
                <a16:creationId xmlns:a16="http://schemas.microsoft.com/office/drawing/2014/main" id="{347249E2-8457-758F-46CD-45952F7C72B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6358726"/>
              </p:ext>
            </p:extLst>
          </p:nvPr>
        </p:nvGraphicFramePr>
        <p:xfrm>
          <a:off x="10672008" y="2844553"/>
          <a:ext cx="1054964" cy="840970"/>
        </p:xfrm>
        <a:graphic>
          <a:graphicData uri="http://schemas.openxmlformats.org/presentationml/2006/ole">
            <p:oleObj xmlns:mc="http://schemas.openxmlformats.org/markup-compatibility/2006" name="Bitmap Image" r:id="rId5" imgW="2994840" imgH="2434680" progId="PBrush">
              <p:embed/>
              <p:pic>
                <p:nvPicPr>
                  <p:cNvPr id="21533" name="Object 21532">
                    <a:extLst>
                      <a:ext uri="{FF2B5EF4-FFF2-40B4-BE49-F238E27FC236}">
                        <a16:creationId xmlns:a16="http://schemas.microsoft.com/office/drawing/2014/main" id="{2B14D8E4-9AA8-E43F-F095-86CD663ACD3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672008" y="2844553"/>
                    <a:ext cx="1054964" cy="84097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4" name="Object 33">
            <a:extLst>
              <a:ext uri="{FF2B5EF4-FFF2-40B4-BE49-F238E27FC236}">
                <a16:creationId xmlns:a16="http://schemas.microsoft.com/office/drawing/2014/main" id="{A76AB925-1ABB-EC28-D3A7-5171C15EE23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12591007"/>
              </p:ext>
            </p:extLst>
          </p:nvPr>
        </p:nvGraphicFramePr>
        <p:xfrm>
          <a:off x="10902347" y="2972496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7" imgW="3508920" imgH="1310760" progId="PBrush">
              <p:embed/>
              <p:pic>
                <p:nvPicPr>
                  <p:cNvPr id="21534" name="Object 21533">
                    <a:extLst>
                      <a:ext uri="{FF2B5EF4-FFF2-40B4-BE49-F238E27FC236}">
                        <a16:creationId xmlns:a16="http://schemas.microsoft.com/office/drawing/2014/main" id="{131F5039-379D-8DDD-3E54-2578D8DD2B85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902347" y="2972496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" name="Object 34">
            <a:extLst>
              <a:ext uri="{FF2B5EF4-FFF2-40B4-BE49-F238E27FC236}">
                <a16:creationId xmlns:a16="http://schemas.microsoft.com/office/drawing/2014/main" id="{073B3153-1992-540E-C1B7-FE78AD823A4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5166536"/>
              </p:ext>
            </p:extLst>
          </p:nvPr>
        </p:nvGraphicFramePr>
        <p:xfrm>
          <a:off x="10902347" y="3191655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7" imgW="3508920" imgH="1310760" progId="PBrush">
              <p:embed/>
              <p:pic>
                <p:nvPicPr>
                  <p:cNvPr id="21535" name="Object 21534">
                    <a:extLst>
                      <a:ext uri="{FF2B5EF4-FFF2-40B4-BE49-F238E27FC236}">
                        <a16:creationId xmlns:a16="http://schemas.microsoft.com/office/drawing/2014/main" id="{D0599AAB-5212-EF01-DC83-27D396471754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902347" y="3191655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" name="Object 35">
            <a:extLst>
              <a:ext uri="{FF2B5EF4-FFF2-40B4-BE49-F238E27FC236}">
                <a16:creationId xmlns:a16="http://schemas.microsoft.com/office/drawing/2014/main" id="{6F57CA8E-B711-2158-3041-8EACA8FF806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1574013"/>
              </p:ext>
            </p:extLst>
          </p:nvPr>
        </p:nvGraphicFramePr>
        <p:xfrm>
          <a:off x="10909381" y="3410814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7" imgW="3508920" imgH="1310760" progId="PBrush">
              <p:embed/>
              <p:pic>
                <p:nvPicPr>
                  <p:cNvPr id="21536" name="Object 21535">
                    <a:extLst>
                      <a:ext uri="{FF2B5EF4-FFF2-40B4-BE49-F238E27FC236}">
                        <a16:creationId xmlns:a16="http://schemas.microsoft.com/office/drawing/2014/main" id="{BE1FE23A-6D18-C8DA-46BF-65A048BFF9AC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909381" y="3410814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9799185" y="4127055"/>
            <a:ext cx="1606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spark-executor</a:t>
            </a:r>
            <a:endParaRPr lang="fr-FR" b="1"/>
          </a:p>
        </p:txBody>
      </p:sp>
      <p:sp>
        <p:nvSpPr>
          <p:cNvPr id="38" name="Rectangle 37"/>
          <p:cNvSpPr/>
          <p:nvPr/>
        </p:nvSpPr>
        <p:spPr>
          <a:xfrm>
            <a:off x="10540091" y="4551246"/>
            <a:ext cx="1373692" cy="173515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 38"/>
          <p:cNvSpPr/>
          <p:nvPr/>
        </p:nvSpPr>
        <p:spPr>
          <a:xfrm>
            <a:off x="10654258" y="4761368"/>
            <a:ext cx="430979" cy="4543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10864243" y="5119645"/>
            <a:ext cx="1109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1" name="Object 40">
            <a:extLst>
              <a:ext uri="{FF2B5EF4-FFF2-40B4-BE49-F238E27FC236}">
                <a16:creationId xmlns:a16="http://schemas.microsoft.com/office/drawing/2014/main" id="{E1134549-6314-D8BF-9E5A-91DAF13D7B4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3935228"/>
              </p:ext>
            </p:extLst>
          </p:nvPr>
        </p:nvGraphicFramePr>
        <p:xfrm>
          <a:off x="10685399" y="5401100"/>
          <a:ext cx="1054964" cy="840970"/>
        </p:xfrm>
        <a:graphic>
          <a:graphicData uri="http://schemas.openxmlformats.org/presentationml/2006/ole">
            <p:oleObj xmlns:mc="http://schemas.openxmlformats.org/markup-compatibility/2006" name="Bitmap Image" r:id="rId5" imgW="2994840" imgH="2434680" progId="PBrush">
              <p:embed/>
              <p:pic>
                <p:nvPicPr>
                  <p:cNvPr id="33" name="Object 32">
                    <a:extLst>
                      <a:ext uri="{FF2B5EF4-FFF2-40B4-BE49-F238E27FC236}">
                        <a16:creationId xmlns:a16="http://schemas.microsoft.com/office/drawing/2014/main" id="{347249E2-8457-758F-46CD-45952F7C72BD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685399" y="5401100"/>
                    <a:ext cx="1054964" cy="84097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2" name="Object 41">
            <a:extLst>
              <a:ext uri="{FF2B5EF4-FFF2-40B4-BE49-F238E27FC236}">
                <a16:creationId xmlns:a16="http://schemas.microsoft.com/office/drawing/2014/main" id="{6AB72324-C2B8-E2A5-85E7-5ECD59AEC25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1010274"/>
              </p:ext>
            </p:extLst>
          </p:nvPr>
        </p:nvGraphicFramePr>
        <p:xfrm>
          <a:off x="10915738" y="5529043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7" imgW="3508920" imgH="1310760" progId="PBrush">
              <p:embed/>
              <p:pic>
                <p:nvPicPr>
                  <p:cNvPr id="34" name="Object 33">
                    <a:extLst>
                      <a:ext uri="{FF2B5EF4-FFF2-40B4-BE49-F238E27FC236}">
                        <a16:creationId xmlns:a16="http://schemas.microsoft.com/office/drawing/2014/main" id="{A76AB925-1ABB-EC28-D3A7-5171C15EE237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915738" y="5529043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3" name="Object 42">
            <a:extLst>
              <a:ext uri="{FF2B5EF4-FFF2-40B4-BE49-F238E27FC236}">
                <a16:creationId xmlns:a16="http://schemas.microsoft.com/office/drawing/2014/main" id="{4E85C428-30AC-4905-7125-2813014625C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3405445"/>
              </p:ext>
            </p:extLst>
          </p:nvPr>
        </p:nvGraphicFramePr>
        <p:xfrm>
          <a:off x="10915738" y="5748202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7" imgW="3508920" imgH="1310760" progId="PBrush">
              <p:embed/>
              <p:pic>
                <p:nvPicPr>
                  <p:cNvPr id="35" name="Object 34">
                    <a:extLst>
                      <a:ext uri="{FF2B5EF4-FFF2-40B4-BE49-F238E27FC236}">
                        <a16:creationId xmlns:a16="http://schemas.microsoft.com/office/drawing/2014/main" id="{073B3153-1992-540E-C1B7-FE78AD823A44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915738" y="5748202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4" name="Object 43">
            <a:extLst>
              <a:ext uri="{FF2B5EF4-FFF2-40B4-BE49-F238E27FC236}">
                <a16:creationId xmlns:a16="http://schemas.microsoft.com/office/drawing/2014/main" id="{41030E4B-59C8-5C73-D0A1-14D289E528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8777818"/>
              </p:ext>
            </p:extLst>
          </p:nvPr>
        </p:nvGraphicFramePr>
        <p:xfrm>
          <a:off x="10922772" y="5967361"/>
          <a:ext cx="570012" cy="208911"/>
        </p:xfrm>
        <a:graphic>
          <a:graphicData uri="http://schemas.openxmlformats.org/presentationml/2006/ole">
            <p:oleObj xmlns:mc="http://schemas.openxmlformats.org/markup-compatibility/2006" name="Bitmap Image" r:id="rId7" imgW="3508920" imgH="1310760" progId="PBrush">
              <p:embed/>
              <p:pic>
                <p:nvPicPr>
                  <p:cNvPr id="36" name="Object 35">
                    <a:extLst>
                      <a:ext uri="{FF2B5EF4-FFF2-40B4-BE49-F238E27FC236}">
                        <a16:creationId xmlns:a16="http://schemas.microsoft.com/office/drawing/2014/main" id="{6F57CA8E-B711-2158-3041-8EACA8FF8061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0922772" y="5967361"/>
                    <a:ext cx="570012" cy="20891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cxnSp>
        <p:nvCxnSpPr>
          <p:cNvPr id="45" name="Straight Connector 44"/>
          <p:cNvCxnSpPr>
            <a:endCxn id="31" idx="1"/>
          </p:cNvCxnSpPr>
          <p:nvPr/>
        </p:nvCxnSpPr>
        <p:spPr>
          <a:xfrm flipV="1">
            <a:off x="7976169" y="2431980"/>
            <a:ext cx="2664698" cy="150709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>
            <a:stCxn id="14" idx="3"/>
            <a:endCxn id="39" idx="1"/>
          </p:cNvCxnSpPr>
          <p:nvPr/>
        </p:nvCxnSpPr>
        <p:spPr>
          <a:xfrm>
            <a:off x="7976169" y="4049292"/>
            <a:ext cx="2678089" cy="93923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11071846" y="1175683"/>
            <a:ext cx="1026550" cy="769913"/>
          </a:xfrm>
          <a:prstGeom prst="rect">
            <a:avLst/>
          </a:prstGeom>
          <a:noFill/>
        </p:spPr>
      </p:pic>
      <p:pic>
        <p:nvPicPr>
          <p:cNvPr id="51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11160041" y="3793399"/>
            <a:ext cx="1026550" cy="769913"/>
          </a:xfrm>
          <a:prstGeom prst="rect">
            <a:avLst/>
          </a:prstGeom>
          <a:noFill/>
        </p:spPr>
      </p:pic>
      <p:sp>
        <p:nvSpPr>
          <p:cNvPr id="53" name="Rectangle 52"/>
          <p:cNvSpPr/>
          <p:nvPr/>
        </p:nvSpPr>
        <p:spPr>
          <a:xfrm>
            <a:off x="3570514" y="1664421"/>
            <a:ext cx="1880842" cy="144400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4" name="Picture 6" descr="Jupyter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193509" y="1836154"/>
            <a:ext cx="771729" cy="897878"/>
          </a:xfrm>
          <a:prstGeom prst="rect">
            <a:avLst/>
          </a:prstGeom>
          <a:noFill/>
        </p:spPr>
      </p:pic>
      <p:pic>
        <p:nvPicPr>
          <p:cNvPr id="55" name="Picture 54" descr="Python (programming language) - Wikipedia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5024365" y="1181203"/>
            <a:ext cx="415918" cy="456732"/>
          </a:xfrm>
          <a:prstGeom prst="rect">
            <a:avLst/>
          </a:prstGeom>
          <a:noFill/>
        </p:spPr>
      </p:pic>
      <p:sp>
        <p:nvSpPr>
          <p:cNvPr id="56" name="TextBox 55"/>
          <p:cNvSpPr txBox="1"/>
          <p:nvPr/>
        </p:nvSpPr>
        <p:spPr>
          <a:xfrm>
            <a:off x="6382387" y="2892553"/>
            <a:ext cx="1341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</a:t>
            </a:r>
            <a:r>
              <a:rPr lang="fr-FR" b="1"/>
              <a:t>-driver</a:t>
            </a:r>
          </a:p>
        </p:txBody>
      </p:sp>
      <p:pic>
        <p:nvPicPr>
          <p:cNvPr id="57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7735101" y="2516554"/>
            <a:ext cx="1026550" cy="769913"/>
          </a:xfrm>
          <a:prstGeom prst="rect">
            <a:avLst/>
          </a:prstGeom>
          <a:noFill/>
        </p:spPr>
      </p:pic>
      <p:pic>
        <p:nvPicPr>
          <p:cNvPr id="58" name="Picture 57" descr="Python (programming language) - Wikipedia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4849620" y="3587848"/>
            <a:ext cx="415918" cy="456732"/>
          </a:xfrm>
          <a:prstGeom prst="rect">
            <a:avLst/>
          </a:prstGeom>
          <a:noFill/>
        </p:spPr>
      </p:pic>
      <p:pic>
        <p:nvPicPr>
          <p:cNvPr id="60" name="Picture 6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30340" y="1396370"/>
            <a:ext cx="2085747" cy="1846399"/>
          </a:xfrm>
          <a:prstGeom prst="rect">
            <a:avLst/>
          </a:prstGeom>
          <a:noFill/>
        </p:spPr>
      </p:pic>
      <p:sp>
        <p:nvSpPr>
          <p:cNvPr id="61" name="Flowchart: Magnetic Disk 60"/>
          <p:cNvSpPr/>
          <p:nvPr/>
        </p:nvSpPr>
        <p:spPr>
          <a:xfrm rot="5400000">
            <a:off x="2654715" y="1715798"/>
            <a:ext cx="303448" cy="126653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Flowchart: Magnetic Disk 61"/>
          <p:cNvSpPr/>
          <p:nvPr/>
        </p:nvSpPr>
        <p:spPr>
          <a:xfrm rot="10800000">
            <a:off x="4456900" y="2986457"/>
            <a:ext cx="303448" cy="126653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Arrow: Right 62"/>
          <p:cNvSpPr/>
          <p:nvPr/>
        </p:nvSpPr>
        <p:spPr>
          <a:xfrm>
            <a:off x="2448263" y="1092922"/>
            <a:ext cx="482752" cy="30344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600" name="TextBox 25599"/>
          <p:cNvSpPr txBox="1"/>
          <p:nvPr/>
        </p:nvSpPr>
        <p:spPr>
          <a:xfrm>
            <a:off x="2185148" y="785261"/>
            <a:ext cx="97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%%scala</a:t>
            </a:r>
          </a:p>
        </p:txBody>
      </p:sp>
      <p:sp>
        <p:nvSpPr>
          <p:cNvPr id="25601" name="Arrow: Right 25600"/>
          <p:cNvSpPr/>
          <p:nvPr/>
        </p:nvSpPr>
        <p:spPr>
          <a:xfrm flipH="1">
            <a:off x="2536386" y="1385331"/>
            <a:ext cx="392577" cy="30344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603" name="TextBox 25602"/>
          <p:cNvSpPr txBox="1"/>
          <p:nvPr/>
        </p:nvSpPr>
        <p:spPr>
          <a:xfrm>
            <a:off x="2525948" y="1591928"/>
            <a:ext cx="6185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Text</a:t>
            </a:r>
            <a:endParaRPr lang="fr-FR"/>
          </a:p>
          <a:p>
            <a:r>
              <a:rPr lang="fr-FR"/>
              <a:t>html</a:t>
            </a:r>
          </a:p>
        </p:txBody>
      </p:sp>
      <p:sp>
        <p:nvSpPr>
          <p:cNvPr id="25604" name="Arrow: Down 25603"/>
          <p:cNvSpPr/>
          <p:nvPr/>
        </p:nvSpPr>
        <p:spPr>
          <a:xfrm>
            <a:off x="3984923" y="3374080"/>
            <a:ext cx="285894" cy="41931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605" name="TextBox 25604"/>
          <p:cNvSpPr txBox="1"/>
          <p:nvPr/>
        </p:nvSpPr>
        <p:spPr>
          <a:xfrm>
            <a:off x="3104774" y="3371995"/>
            <a:ext cx="97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%%scala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287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Connect</a:t>
            </a:r>
            <a:r>
              <a:rPr lang="fr-FR"/>
              <a:t> ... new </a:t>
            </a:r>
            <a:r>
              <a:rPr lang="fr-FR"/>
              <a:t>since</a:t>
            </a:r>
            <a:r>
              <a:rPr lang="fr-FR"/>
              <a:t> version 3.4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533341" y="1028701"/>
            <a:ext cx="7125317" cy="5753599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53933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./sbin/start-connect-server.sh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65686" y="3702326"/>
            <a:ext cx="8009314" cy="161939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65686" y="1455197"/>
            <a:ext cx="7856901" cy="1333616"/>
          </a:xfrm>
          <a:prstGeom prst="rect">
            <a:avLst/>
          </a:prstGeom>
        </p:spPr>
      </p:pic>
      <p:sp>
        <p:nvSpPr>
          <p:cNvPr id="10" name="Flowchart: Magnetic Disk 9"/>
          <p:cNvSpPr/>
          <p:nvPr/>
        </p:nvSpPr>
        <p:spPr>
          <a:xfrm rot="5400000">
            <a:off x="9265172" y="2694369"/>
            <a:ext cx="303448" cy="126653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10414810" y="2488093"/>
            <a:ext cx="1054964" cy="6077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/>
          <p:cNvSpPr txBox="1"/>
          <p:nvPr/>
        </p:nvSpPr>
        <p:spPr>
          <a:xfrm>
            <a:off x="10251473" y="2116780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11061609" y="3046825"/>
            <a:ext cx="901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9875992" y="2059212"/>
            <a:ext cx="2136541" cy="214458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8954575" y="2529582"/>
            <a:ext cx="1092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TCP socket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" name="Object 15">
            <a:extLst>
              <a:ext uri="{FF2B5EF4-FFF2-40B4-BE49-F238E27FC236}">
                <a16:creationId xmlns:a16="http://schemas.microsoft.com/office/drawing/2014/main" id="{D36A29E6-89C7-40B7-8BC8-A4D13FF4644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5065998"/>
              </p:ext>
            </p:extLst>
          </p:nvPr>
        </p:nvGraphicFramePr>
        <p:xfrm>
          <a:off x="10882765" y="3328280"/>
          <a:ext cx="1054964" cy="840970"/>
        </p:xfrm>
        <a:graphic>
          <a:graphicData uri="http://schemas.openxmlformats.org/presentationml/2006/ole">
            <p:oleObj xmlns:mc="http://schemas.openxmlformats.org/markup-compatibility/2006" name="Bitmap Image" r:id="rId4" imgW="2994840" imgH="2434680" progId="PBrush">
              <p:embed/>
              <p:pic>
                <p:nvPicPr>
                  <p:cNvPr id="22" name="Object 21">
                    <a:extLst>
                      <a:ext uri="{FF2B5EF4-FFF2-40B4-BE49-F238E27FC236}">
                        <a16:creationId xmlns:a16="http://schemas.microsoft.com/office/drawing/2014/main" id="{D6AF5D3F-E937-6708-7765-4A55D7BB98C4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882765" y="3328280"/>
                    <a:ext cx="1054964" cy="84097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271352" y="1337641"/>
            <a:ext cx="2198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</a:t>
            </a:r>
            <a:r>
              <a:rPr lang="fr-FR" b="1"/>
              <a:t>-</a:t>
            </a:r>
            <a:r>
              <a:rPr lang="fr-FR" b="1"/>
              <a:t>connect</a:t>
            </a:r>
            <a:r>
              <a:rPr lang="fr-FR" b="1"/>
              <a:t>-server</a:t>
            </a:r>
          </a:p>
        </p:txBody>
      </p:sp>
      <p:pic>
        <p:nvPicPr>
          <p:cNvPr id="18" name="Picture 4" descr="Java Logo PNG Transparent &amp; SVG Vector - Freebie Suppl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1228706" y="1259254"/>
            <a:ext cx="1026550" cy="769913"/>
          </a:xfrm>
          <a:prstGeom prst="rect">
            <a:avLst/>
          </a:prstGeom>
          <a:noFill/>
        </p:spPr>
      </p:pic>
      <p:sp>
        <p:nvSpPr>
          <p:cNvPr id="19" name="TextBox 18"/>
          <p:cNvSpPr txBox="1"/>
          <p:nvPr/>
        </p:nvSpPr>
        <p:spPr>
          <a:xfrm>
            <a:off x="9271352" y="1624955"/>
            <a:ext cx="2271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  (</a:t>
            </a:r>
            <a:r>
              <a:rPr lang="fr-FR" b="1"/>
              <a:t>spark</a:t>
            </a:r>
            <a:r>
              <a:rPr lang="fr-FR" b="1"/>
              <a:t>-driver + </a:t>
            </a:r>
            <a:r>
              <a:rPr lang="fr-FR" b="1"/>
              <a:t>gRPC</a:t>
            </a:r>
            <a:r>
              <a:rPr lang="fr-FR" b="1"/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5295" y="2693217"/>
            <a:ext cx="1092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gRPC</a:t>
            </a:r>
            <a:endParaRPr lang="fr-FR" b="1"/>
          </a:p>
          <a:p>
            <a:r>
              <a:rPr lang="fr-FR" b="1"/>
              <a:t>protobuf</a:t>
            </a:r>
            <a:endParaRPr lang="fr-FR" b="1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2251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example</a:t>
            </a:r>
            <a:r>
              <a:rPr lang="fr-FR"/>
              <a:t>: Spark </a:t>
            </a:r>
            <a:r>
              <a:rPr lang="fr-FR"/>
              <a:t>Connect</a:t>
            </a:r>
            <a:r>
              <a:rPr lang="fr-FR"/>
              <a:t> via python</a:t>
            </a:r>
            <a:br>
              <a:rPr lang="fr-FR"/>
            </a:br>
            <a:r>
              <a:rPr lang="fr-FR"/>
              <a:t>(no </a:t>
            </a:r>
            <a:r>
              <a:rPr lang="fr-FR"/>
              <a:t>need</a:t>
            </a:r>
            <a:r>
              <a:rPr lang="fr-FR"/>
              <a:t> JRE on client)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533341" y="1786747"/>
            <a:ext cx="7125317" cy="3284505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58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Enough</a:t>
            </a:r>
            <a:r>
              <a:rPr lang="fr-FR"/>
              <a:t> for </a:t>
            </a:r>
            <a:r>
              <a:rPr lang="fr-FR"/>
              <a:t>Today!</a:t>
            </a:r>
          </a:p>
        </p:txBody>
      </p:sp>
      <p:sp>
        <p:nvSpPr>
          <p:cNvPr id="4" name="Title 1"/>
          <p:cNvSpPr txBox="1"/>
          <p:nvPr/>
        </p:nvSpPr>
        <p:spPr>
          <a:xfrm>
            <a:off x="786580" y="38137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/>
              <a:t>Questions are </a:t>
            </a:r>
            <a:r>
              <a:rPr lang="fr-FR"/>
              <a:t>Welcome</a:t>
            </a:r>
            <a:endParaRPr lang="fr-FR"/>
          </a:p>
        </p:txBody>
      </p:sp>
      <p:sp>
        <p:nvSpPr>
          <p:cNvPr id="5" name="Title 1"/>
          <p:cNvSpPr txBox="1"/>
          <p:nvPr/>
        </p:nvSpPr>
        <p:spPr>
          <a:xfrm>
            <a:off x="1922207" y="21034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/>
              <a:t>… but more to come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05433"/>
            <a:ext cx="10515600" cy="1847133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Take</a:t>
            </a:r>
            <a:r>
              <a:rPr lang="fr-FR"/>
              <a:t> </a:t>
            </a:r>
            <a:r>
              <a:rPr lang="fr-FR"/>
              <a:t>Away</a:t>
            </a:r>
            <a:br>
              <a:rPr lang="fr-FR"/>
            </a:br>
            <a:br>
              <a:rPr lang="fr-FR"/>
            </a:br>
            <a:r>
              <a:rPr lang="fr-FR"/>
              <a:t>What did you learn?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50201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MindMap</a:t>
            </a:r>
            <a:endParaRPr lang="fr-FR"/>
          </a:p>
        </p:txBody>
      </p:sp>
      <p:sp>
        <p:nvSpPr>
          <p:cNvPr id="3" name="TextBox 2"/>
          <p:cNvSpPr txBox="1"/>
          <p:nvPr/>
        </p:nvSpPr>
        <p:spPr>
          <a:xfrm>
            <a:off x="4699138" y="3174042"/>
            <a:ext cx="31227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spark</a:t>
            </a:r>
            <a:r>
              <a:rPr lang="fr-FR" sz="2000" b="1"/>
              <a:t> cluster &amp; </a:t>
            </a:r>
            <a:r>
              <a:rPr lang="fr-FR" sz="2000" b="1"/>
              <a:t>deployment</a:t>
            </a:r>
            <a:endParaRPr lang="fr-FR" sz="2000" b="1"/>
          </a:p>
        </p:txBody>
      </p:sp>
      <p:sp>
        <p:nvSpPr>
          <p:cNvPr id="4" name="TextBox 3"/>
          <p:cNvSpPr txBox="1"/>
          <p:nvPr/>
        </p:nvSpPr>
        <p:spPr>
          <a:xfrm>
            <a:off x="7931504" y="2093007"/>
            <a:ext cx="3279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Memory needs driver</a:t>
            </a:r>
            <a:r>
              <a:rPr lang="fr-FR"/>
              <a:t> &lt;&lt;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7745790" y="1502507"/>
            <a:ext cx="2019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--driver-memory 1g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64095" y="1502507"/>
            <a:ext cx="2400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--</a:t>
            </a:r>
            <a:r>
              <a:rPr lang="fr-FR"/>
              <a:t>executor</a:t>
            </a:r>
            <a:r>
              <a:rPr lang="fr-FR"/>
              <a:t>-memory 50g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060266" y="2462339"/>
            <a:ext cx="604762" cy="26176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H="1" flipV="1">
            <a:off x="9061751" y="1871235"/>
            <a:ext cx="460076" cy="26697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10368038" y="1831246"/>
            <a:ext cx="193524" cy="30235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7076785" y="3062514"/>
            <a:ext cx="460967" cy="1577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79529" y="2693182"/>
            <a:ext cx="15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cluster params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8108648" y="3060300"/>
            <a:ext cx="501595" cy="32544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496285" y="3901218"/>
            <a:ext cx="1896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--</a:t>
            </a:r>
            <a:r>
              <a:rPr lang="fr-FR"/>
              <a:t>num-executors</a:t>
            </a:r>
            <a:r>
              <a:rPr lang="fr-FR"/>
              <a:t> 5</a:t>
            </a:r>
          </a:p>
        </p:txBody>
      </p:sp>
      <p:cxnSp>
        <p:nvCxnSpPr>
          <p:cNvPr id="27" name="Straight Connector 26"/>
          <p:cNvCxnSpPr/>
          <p:nvPr/>
        </p:nvCxnSpPr>
        <p:spPr>
          <a:xfrm>
            <a:off x="8665028" y="3671712"/>
            <a:ext cx="266096" cy="59883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37582" y="3687314"/>
            <a:ext cx="1669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Static</a:t>
            </a:r>
            <a:r>
              <a:rPr lang="fr-FR"/>
              <a:t> allocation</a:t>
            </a:r>
          </a:p>
        </p:txBody>
      </p:sp>
      <p:cxnSp>
        <p:nvCxnSpPr>
          <p:cNvPr id="30" name="Straight Connector 29"/>
          <p:cNvCxnSpPr>
            <a:stCxn id="47" idx="2"/>
            <a:endCxn id="29" idx="1"/>
          </p:cNvCxnSpPr>
          <p:nvPr/>
        </p:nvCxnSpPr>
        <p:spPr>
          <a:xfrm>
            <a:off x="8752321" y="3687314"/>
            <a:ext cx="285261" cy="18466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358838" y="4145366"/>
            <a:ext cx="1967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Dynamic allocation</a:t>
            </a:r>
          </a:p>
        </p:txBody>
      </p:sp>
      <p:cxnSp>
        <p:nvCxnSpPr>
          <p:cNvPr id="36" name="Straight Connector 35"/>
          <p:cNvCxnSpPr>
            <a:stCxn id="34" idx="2"/>
          </p:cNvCxnSpPr>
          <p:nvPr/>
        </p:nvCxnSpPr>
        <p:spPr>
          <a:xfrm>
            <a:off x="9342826" y="4514698"/>
            <a:ext cx="421978" cy="21390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15404" y="4718258"/>
            <a:ext cx="392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--conf spark.dynamic</a:t>
            </a:r>
            <a:r>
              <a:rPr lang="en-US"/>
              <a:t>.allocation.enabled</a:t>
            </a:r>
            <a:r>
              <a:rPr lang="en-US"/>
              <a:t> true</a:t>
            </a:r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8610243" y="2798539"/>
            <a:ext cx="470312" cy="8918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22970" y="2544272"/>
            <a:ext cx="1883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--</a:t>
            </a:r>
            <a:r>
              <a:rPr lang="fr-FR"/>
              <a:t>executor-cores</a:t>
            </a:r>
            <a:r>
              <a:rPr lang="fr-FR"/>
              <a:t> 8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9664095" y="2877848"/>
            <a:ext cx="303490" cy="18245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302696" y="3068997"/>
            <a:ext cx="2845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Warn of OutOfMemoryError</a:t>
            </a:r>
            <a:endParaRPr lang="fr-FR"/>
          </a:p>
          <a:p>
            <a:r>
              <a:rPr lang="fr-FR"/>
              <a:t>   ..</a:t>
            </a:r>
            <a:r>
              <a:rPr lang="fr-FR"/>
              <a:t>link</a:t>
            </a:r>
            <a:r>
              <a:rPr lang="fr-FR"/>
              <a:t> to --executor-memory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01945" y="3317982"/>
            <a:ext cx="110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allocation</a:t>
            </a:r>
          </a:p>
        </p:txBody>
      </p:sp>
      <p:cxnSp>
        <p:nvCxnSpPr>
          <p:cNvPr id="55" name="Straight Connector 54"/>
          <p:cNvCxnSpPr>
            <a:endCxn id="58" idx="1"/>
          </p:cNvCxnSpPr>
          <p:nvPr/>
        </p:nvCxnSpPr>
        <p:spPr>
          <a:xfrm>
            <a:off x="10444750" y="5087590"/>
            <a:ext cx="240836" cy="11862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685586" y="5021546"/>
            <a:ext cx="15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min,max,idle</a:t>
            </a:r>
            <a:r>
              <a:rPr lang="en-US"/>
              <a:t>,..</a:t>
            </a:r>
          </a:p>
        </p:txBody>
      </p:sp>
      <p:cxnSp>
        <p:nvCxnSpPr>
          <p:cNvPr id="59" name="Straight Connector 58"/>
          <p:cNvCxnSpPr/>
          <p:nvPr/>
        </p:nvCxnSpPr>
        <p:spPr>
          <a:xfrm flipH="1">
            <a:off x="7821852" y="4479029"/>
            <a:ext cx="1023547" cy="65714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326827" y="5101822"/>
            <a:ext cx="1777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K8s (Kubernetes)</a:t>
            </a:r>
            <a:br>
              <a:rPr lang="en-US"/>
            </a:br>
            <a:r>
              <a:rPr lang="en-US"/>
              <a:t>Cloud cluster</a:t>
            </a:r>
          </a:p>
        </p:txBody>
      </p:sp>
      <p:cxnSp>
        <p:nvCxnSpPr>
          <p:cNvPr id="69" name="Straight Connector 68"/>
          <p:cNvCxnSpPr/>
          <p:nvPr/>
        </p:nvCxnSpPr>
        <p:spPr>
          <a:xfrm flipH="1" flipV="1">
            <a:off x="8715863" y="5410694"/>
            <a:ext cx="538046" cy="17248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8897844" y="5540875"/>
            <a:ext cx="2494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Node pool </a:t>
            </a:r>
            <a:r>
              <a:rPr lang="fr-FR"/>
              <a:t>with</a:t>
            </a:r>
            <a:r>
              <a:rPr lang="fr-FR"/>
              <a:t> Spot VM</a:t>
            </a:r>
          </a:p>
        </p:txBody>
      </p:sp>
      <p:cxnSp>
        <p:nvCxnSpPr>
          <p:cNvPr id="73" name="Straight Connector 72"/>
          <p:cNvCxnSpPr/>
          <p:nvPr/>
        </p:nvCxnSpPr>
        <p:spPr>
          <a:xfrm flipH="1" flipV="1">
            <a:off x="8618954" y="5528796"/>
            <a:ext cx="175528" cy="47827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752321" y="5857702"/>
            <a:ext cx="2139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Node pool </a:t>
            </a:r>
            <a:r>
              <a:rPr lang="fr-FR"/>
              <a:t>toleration</a:t>
            </a:r>
            <a:endParaRPr lang="fr-FR"/>
          </a:p>
        </p:txBody>
      </p:sp>
      <p:cxnSp>
        <p:nvCxnSpPr>
          <p:cNvPr id="77" name="Straight Connector 76"/>
          <p:cNvCxnSpPr>
            <a:stCxn id="76" idx="2"/>
          </p:cNvCxnSpPr>
          <p:nvPr/>
        </p:nvCxnSpPr>
        <p:spPr>
          <a:xfrm flipH="1" flipV="1">
            <a:off x="9498943" y="6159270"/>
            <a:ext cx="322998" cy="6776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 flipH="1" flipV="1">
            <a:off x="9394602" y="6184730"/>
            <a:ext cx="393452" cy="23763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890937" y="6076136"/>
            <a:ext cx="2139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Driver (long running)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85300" y="6332406"/>
            <a:ext cx="2277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executor</a:t>
            </a:r>
            <a:r>
              <a:rPr lang="fr-FR"/>
              <a:t> (can </a:t>
            </a:r>
            <a:r>
              <a:rPr lang="fr-FR"/>
              <a:t>be</a:t>
            </a:r>
            <a:r>
              <a:rPr lang="fr-FR"/>
              <a:t> spot)</a:t>
            </a:r>
          </a:p>
        </p:txBody>
      </p:sp>
      <p:cxnSp>
        <p:nvCxnSpPr>
          <p:cNvPr id="85" name="Straight Connector 84"/>
          <p:cNvCxnSpPr/>
          <p:nvPr/>
        </p:nvCxnSpPr>
        <p:spPr>
          <a:xfrm flipV="1">
            <a:off x="6330507" y="1845280"/>
            <a:ext cx="29987" cy="122371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622709" y="1537908"/>
            <a:ext cx="21135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cluster management</a:t>
            </a:r>
            <a:br>
              <a:rPr lang="fr-FR"/>
            </a:br>
            <a:r>
              <a:rPr lang="fr-FR"/>
              <a:t> (spi)</a:t>
            </a:r>
          </a:p>
        </p:txBody>
      </p:sp>
      <p:cxnSp>
        <p:nvCxnSpPr>
          <p:cNvPr id="88" name="Straight Connector 87"/>
          <p:cNvCxnSpPr/>
          <p:nvPr/>
        </p:nvCxnSpPr>
        <p:spPr>
          <a:xfrm flipH="1" flipV="1">
            <a:off x="5806682" y="1297199"/>
            <a:ext cx="394304" cy="19183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4726924" y="1234832"/>
            <a:ext cx="928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local[*]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87539" y="798002"/>
            <a:ext cx="1067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spark</a:t>
            </a:r>
            <a:endParaRPr lang="fr-FR"/>
          </a:p>
        </p:txBody>
      </p:sp>
      <p:cxnSp>
        <p:nvCxnSpPr>
          <p:cNvPr id="92" name="Straight Connector 91"/>
          <p:cNvCxnSpPr/>
          <p:nvPr/>
        </p:nvCxnSpPr>
        <p:spPr>
          <a:xfrm flipH="1" flipV="1">
            <a:off x="6264828" y="1143332"/>
            <a:ext cx="65679" cy="35309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flipV="1">
            <a:off x="6492387" y="1168426"/>
            <a:ext cx="242922" cy="36006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6577255" y="806403"/>
            <a:ext cx="1067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yarn</a:t>
            </a:r>
            <a:endParaRPr lang="fr-FR"/>
          </a:p>
        </p:txBody>
      </p:sp>
      <p:cxnSp>
        <p:nvCxnSpPr>
          <p:cNvPr id="99" name="Straight Connector 98"/>
          <p:cNvCxnSpPr/>
          <p:nvPr/>
        </p:nvCxnSpPr>
        <p:spPr>
          <a:xfrm flipV="1">
            <a:off x="6694300" y="1447327"/>
            <a:ext cx="253247" cy="9058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6970564" y="1158246"/>
            <a:ext cx="127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kubernetes</a:t>
            </a:r>
            <a:endParaRPr lang="fr-FR"/>
          </a:p>
        </p:txBody>
      </p:sp>
      <p:cxnSp>
        <p:nvCxnSpPr>
          <p:cNvPr id="104" name="Straight Connector 103"/>
          <p:cNvCxnSpPr/>
          <p:nvPr/>
        </p:nvCxnSpPr>
        <p:spPr>
          <a:xfrm flipH="1" flipV="1">
            <a:off x="5583893" y="1512664"/>
            <a:ext cx="469349" cy="6338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5026882" y="986990"/>
            <a:ext cx="928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mesos</a:t>
            </a:r>
            <a:endParaRPr lang="fr-FR"/>
          </a:p>
        </p:txBody>
      </p:sp>
      <p:cxnSp>
        <p:nvCxnSpPr>
          <p:cNvPr id="112" name="Straight Connector 111"/>
          <p:cNvCxnSpPr/>
          <p:nvPr/>
        </p:nvCxnSpPr>
        <p:spPr>
          <a:xfrm>
            <a:off x="9838989" y="2860827"/>
            <a:ext cx="331410" cy="7966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10189726" y="2778157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r>
              <a:rPr lang="fr-FR"/>
              <a:t> </a:t>
            </a:r>
            <a:r>
              <a:rPr lang="fr-FR"/>
              <a:t>ThreadPool</a:t>
            </a:r>
            <a:endParaRPr lang="fr-FR"/>
          </a:p>
        </p:txBody>
      </p:sp>
      <p:cxnSp>
        <p:nvCxnSpPr>
          <p:cNvPr id="116" name="Straight Connector 115"/>
          <p:cNvCxnSpPr/>
          <p:nvPr/>
        </p:nvCxnSpPr>
        <p:spPr>
          <a:xfrm flipH="1">
            <a:off x="6154327" y="3517792"/>
            <a:ext cx="298398" cy="63391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5327402" y="4110452"/>
            <a:ext cx="1797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Java JVM process</a:t>
            </a:r>
          </a:p>
        </p:txBody>
      </p:sp>
      <p:cxnSp>
        <p:nvCxnSpPr>
          <p:cNvPr id="121" name="Straight Connector 120"/>
          <p:cNvCxnSpPr/>
          <p:nvPr/>
        </p:nvCxnSpPr>
        <p:spPr>
          <a:xfrm flipH="1">
            <a:off x="5254511" y="4479029"/>
            <a:ext cx="674958" cy="18005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4120200" y="4441259"/>
            <a:ext cx="14558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Run </a:t>
            </a:r>
            <a:r>
              <a:rPr lang="fr-FR"/>
              <a:t>spark</a:t>
            </a:r>
            <a:r>
              <a:rPr lang="fr-FR"/>
              <a:t> </a:t>
            </a:r>
            <a:br>
              <a:rPr lang="fr-FR"/>
            </a:br>
            <a:r>
              <a:rPr lang="fr-FR"/>
              <a:t>as </a:t>
            </a:r>
            <a:r>
              <a:rPr lang="fr-FR"/>
              <a:t>embedded</a:t>
            </a:r>
            <a:endParaRPr lang="fr-FR"/>
          </a:p>
        </p:txBody>
      </p:sp>
      <p:sp>
        <p:nvSpPr>
          <p:cNvPr id="130" name="TextBox 129"/>
          <p:cNvSpPr txBox="1"/>
          <p:nvPr/>
        </p:nvSpPr>
        <p:spPr>
          <a:xfrm>
            <a:off x="5138820" y="5302552"/>
            <a:ext cx="1293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Spark-client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272187" y="5650924"/>
            <a:ext cx="1330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Spark-driver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77473" y="5974604"/>
            <a:ext cx="1594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</a:t>
            </a:r>
            <a:r>
              <a:rPr lang="fr-FR"/>
              <a:t>executor</a:t>
            </a:r>
            <a:endParaRPr lang="fr-FR"/>
          </a:p>
        </p:txBody>
      </p:sp>
      <p:cxnSp>
        <p:nvCxnSpPr>
          <p:cNvPr id="133" name="Straight Connector 132"/>
          <p:cNvCxnSpPr/>
          <p:nvPr/>
        </p:nvCxnSpPr>
        <p:spPr>
          <a:xfrm flipH="1">
            <a:off x="5668415" y="4525202"/>
            <a:ext cx="577235" cy="72642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/>
          <p:cNvCxnSpPr/>
          <p:nvPr/>
        </p:nvCxnSpPr>
        <p:spPr>
          <a:xfrm>
            <a:off x="6367111" y="4521223"/>
            <a:ext cx="0" cy="115066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/>
          <p:cNvCxnSpPr/>
          <p:nvPr/>
        </p:nvCxnSpPr>
        <p:spPr>
          <a:xfrm>
            <a:off x="6441160" y="4521223"/>
            <a:ext cx="384643" cy="143271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/>
          <p:nvPr/>
        </p:nvCxnSpPr>
        <p:spPr>
          <a:xfrm flipH="1">
            <a:off x="3326726" y="4954772"/>
            <a:ext cx="674958" cy="18005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485704" y="5132077"/>
            <a:ext cx="42707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SparkSession</a:t>
            </a:r>
            <a:r>
              <a:rPr lang="fr-FR"/>
              <a:t> </a:t>
            </a:r>
            <a:r>
              <a:rPr lang="fr-FR"/>
              <a:t>spark</a:t>
            </a:r>
            <a:r>
              <a:rPr lang="fr-FR"/>
              <a:t> = </a:t>
            </a:r>
            <a:r>
              <a:rPr lang="fr-FR"/>
              <a:t>SparkSession.builder</a:t>
            </a:r>
            <a:r>
              <a:rPr lang="fr-FR"/>
              <a:t>()</a:t>
            </a:r>
          </a:p>
          <a:p>
            <a:r>
              <a:rPr lang="fr-FR"/>
              <a:t>   .master("local[*]")</a:t>
            </a:r>
          </a:p>
          <a:p>
            <a:r>
              <a:rPr lang="fr-FR"/>
              <a:t>   .</a:t>
            </a:r>
            <a:r>
              <a:rPr lang="fr-FR"/>
              <a:t>appName</a:t>
            </a:r>
            <a:r>
              <a:rPr lang="fr-FR"/>
              <a:t>("</a:t>
            </a:r>
            <a:r>
              <a:rPr lang="fr-FR"/>
              <a:t>myapp</a:t>
            </a:r>
            <a:r>
              <a:rPr lang="fr-FR"/>
              <a:t>")	</a:t>
            </a:r>
          </a:p>
          <a:p>
            <a:r>
              <a:rPr lang="fr-FR"/>
              <a:t>   .</a:t>
            </a:r>
            <a:r>
              <a:rPr lang="fr-FR"/>
              <a:t>getOrCreate</a:t>
            </a:r>
            <a:r>
              <a:rPr lang="fr-FR"/>
              <a:t>();</a:t>
            </a:r>
          </a:p>
        </p:txBody>
      </p:sp>
      <p:cxnSp>
        <p:nvCxnSpPr>
          <p:cNvPr id="143" name="Straight Connector 142"/>
          <p:cNvCxnSpPr/>
          <p:nvPr/>
        </p:nvCxnSpPr>
        <p:spPr>
          <a:xfrm flipH="1">
            <a:off x="3345669" y="5592968"/>
            <a:ext cx="362379" cy="48316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/>
          <p:nvPr/>
        </p:nvCxnSpPr>
        <p:spPr>
          <a:xfrm>
            <a:off x="4182749" y="5592968"/>
            <a:ext cx="277353" cy="52004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2615135" y="6007075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sp>
        <p:nvSpPr>
          <p:cNvPr id="152" name="TextBox 151"/>
          <p:cNvSpPr txBox="1"/>
          <p:nvPr/>
        </p:nvSpPr>
        <p:spPr>
          <a:xfrm>
            <a:off x="4004902" y="6013996"/>
            <a:ext cx="140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SparkSession</a:t>
            </a:r>
            <a:endParaRPr lang="fr-FR"/>
          </a:p>
        </p:txBody>
      </p:sp>
      <p:sp>
        <p:nvSpPr>
          <p:cNvPr id="153" name="TextBox 152"/>
          <p:cNvSpPr txBox="1"/>
          <p:nvPr/>
        </p:nvSpPr>
        <p:spPr>
          <a:xfrm>
            <a:off x="2614432" y="6273510"/>
            <a:ext cx="1313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(</a:t>
            </a:r>
            <a:r>
              <a:rPr lang="fr-FR"/>
              <a:t>spark-core</a:t>
            </a:r>
            <a:r>
              <a:rPr lang="fr-FR"/>
              <a:t>)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061778" y="6299937"/>
            <a:ext cx="116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(</a:t>
            </a:r>
            <a:r>
              <a:rPr lang="fr-FR"/>
              <a:t>spark-sql</a:t>
            </a:r>
            <a:r>
              <a:rPr lang="fr-FR"/>
              <a:t>)</a:t>
            </a:r>
          </a:p>
        </p:txBody>
      </p:sp>
      <p:cxnSp>
        <p:nvCxnSpPr>
          <p:cNvPr id="155" name="Straight Connector 154"/>
          <p:cNvCxnSpPr>
            <a:endCxn id="158" idx="3"/>
          </p:cNvCxnSpPr>
          <p:nvPr/>
        </p:nvCxnSpPr>
        <p:spPr>
          <a:xfrm flipH="1">
            <a:off x="2765238" y="3610639"/>
            <a:ext cx="2127586" cy="121004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1787342" y="4636018"/>
            <a:ext cx="977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--master</a:t>
            </a:r>
          </a:p>
        </p:txBody>
      </p:sp>
      <p:cxnSp>
        <p:nvCxnSpPr>
          <p:cNvPr id="160" name="Straight Connector 159"/>
          <p:cNvCxnSpPr/>
          <p:nvPr/>
        </p:nvCxnSpPr>
        <p:spPr>
          <a:xfrm flipH="1" flipV="1">
            <a:off x="1664510" y="4338985"/>
            <a:ext cx="394304" cy="19183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-43273" y="4314198"/>
            <a:ext cx="1807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--master local[*]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947" y="3881404"/>
            <a:ext cx="2164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--master spark://</a:t>
            </a:r>
          </a:p>
        </p:txBody>
      </p:sp>
      <p:cxnSp>
        <p:nvCxnSpPr>
          <p:cNvPr id="163" name="Straight Connector 162"/>
          <p:cNvCxnSpPr/>
          <p:nvPr/>
        </p:nvCxnSpPr>
        <p:spPr>
          <a:xfrm flipH="1" flipV="1">
            <a:off x="1810680" y="4162095"/>
            <a:ext cx="320864" cy="32841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/>
          <p:cNvCxnSpPr>
            <a:endCxn id="165" idx="2"/>
          </p:cNvCxnSpPr>
          <p:nvPr/>
        </p:nvCxnSpPr>
        <p:spPr>
          <a:xfrm flipH="1" flipV="1">
            <a:off x="2081216" y="4087963"/>
            <a:ext cx="198718" cy="38134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/>
          <p:cNvSpPr txBox="1"/>
          <p:nvPr/>
        </p:nvSpPr>
        <p:spPr>
          <a:xfrm>
            <a:off x="1761028" y="3718631"/>
            <a:ext cx="640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yarn</a:t>
            </a:r>
            <a:endParaRPr lang="fr-FR"/>
          </a:p>
        </p:txBody>
      </p:sp>
      <p:cxnSp>
        <p:nvCxnSpPr>
          <p:cNvPr id="166" name="Straight Connector 165"/>
          <p:cNvCxnSpPr/>
          <p:nvPr/>
        </p:nvCxnSpPr>
        <p:spPr>
          <a:xfrm flipV="1">
            <a:off x="2475995" y="4347430"/>
            <a:ext cx="338509" cy="22977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2533420" y="3989530"/>
            <a:ext cx="127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kubernetes</a:t>
            </a:r>
            <a:endParaRPr lang="fr-FR"/>
          </a:p>
        </p:txBody>
      </p:sp>
      <p:cxnSp>
        <p:nvCxnSpPr>
          <p:cNvPr id="168" name="Straight Connector 167"/>
          <p:cNvCxnSpPr/>
          <p:nvPr/>
        </p:nvCxnSpPr>
        <p:spPr>
          <a:xfrm flipH="1" flipV="1">
            <a:off x="1591693" y="4560593"/>
            <a:ext cx="469349" cy="6338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751904" y="4058548"/>
            <a:ext cx="928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mesos</a:t>
            </a:r>
            <a:endParaRPr lang="fr-FR"/>
          </a:p>
        </p:txBody>
      </p:sp>
      <p:cxnSp>
        <p:nvCxnSpPr>
          <p:cNvPr id="171" name="Straight Connector 170"/>
          <p:cNvCxnSpPr>
            <a:stCxn id="179" idx="2"/>
          </p:cNvCxnSpPr>
          <p:nvPr/>
        </p:nvCxnSpPr>
        <p:spPr>
          <a:xfrm>
            <a:off x="1801954" y="3633276"/>
            <a:ext cx="132670" cy="21357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H="1">
            <a:off x="1890796" y="3220119"/>
            <a:ext cx="295483" cy="12881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/>
          <p:cNvSpPr txBox="1"/>
          <p:nvPr/>
        </p:nvSpPr>
        <p:spPr>
          <a:xfrm>
            <a:off x="1013725" y="3263944"/>
            <a:ext cx="1576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--</a:t>
            </a:r>
            <a:r>
              <a:rPr lang="fr-FR"/>
              <a:t>deploy</a:t>
            </a:r>
            <a:r>
              <a:rPr lang="fr-FR"/>
              <a:t>-mode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51470" y="2924870"/>
            <a:ext cx="12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yarn</a:t>
            </a:r>
            <a:r>
              <a:rPr lang="fr-FR"/>
              <a:t>-cluster</a:t>
            </a:r>
          </a:p>
        </p:txBody>
      </p:sp>
      <p:cxnSp>
        <p:nvCxnSpPr>
          <p:cNvPr id="181" name="Straight Connector 180"/>
          <p:cNvCxnSpPr/>
          <p:nvPr/>
        </p:nvCxnSpPr>
        <p:spPr>
          <a:xfrm>
            <a:off x="740506" y="3720883"/>
            <a:ext cx="114882" cy="15559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 flipH="1">
            <a:off x="1026918" y="3722302"/>
            <a:ext cx="140441" cy="16997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/>
          <p:cNvSpPr txBox="1"/>
          <p:nvPr/>
        </p:nvSpPr>
        <p:spPr>
          <a:xfrm>
            <a:off x="219135" y="2922333"/>
            <a:ext cx="1184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yarn</a:t>
            </a:r>
            <a:r>
              <a:rPr lang="fr-FR"/>
              <a:t>-client</a:t>
            </a:r>
          </a:p>
        </p:txBody>
      </p:sp>
      <p:cxnSp>
        <p:nvCxnSpPr>
          <p:cNvPr id="192" name="Straight Connector 191"/>
          <p:cNvCxnSpPr/>
          <p:nvPr/>
        </p:nvCxnSpPr>
        <p:spPr>
          <a:xfrm>
            <a:off x="1308597" y="3259015"/>
            <a:ext cx="219705" cy="14240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1642883" y="1978821"/>
            <a:ext cx="16017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3 </a:t>
            </a:r>
            <a:r>
              <a:rPr lang="fr-FR"/>
              <a:t>jvms</a:t>
            </a:r>
            <a:endParaRPr lang="fr-FR"/>
          </a:p>
          <a:p>
            <a:r>
              <a:rPr lang="fr-FR"/>
              <a:t>( Spark-</a:t>
            </a:r>
            <a:r>
              <a:rPr lang="fr-FR"/>
              <a:t>submit</a:t>
            </a:r>
            <a:r>
              <a:rPr lang="fr-FR"/>
              <a:t> </a:t>
            </a:r>
            <a:br>
              <a:rPr lang="fr-FR"/>
            </a:br>
            <a:r>
              <a:rPr lang="fr-FR"/>
              <a:t>=driver JVM )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6686" y="1994078"/>
            <a:ext cx="16017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2 </a:t>
            </a:r>
            <a:r>
              <a:rPr lang="fr-FR"/>
              <a:t>jvms</a:t>
            </a:r>
            <a:endParaRPr lang="fr-FR"/>
          </a:p>
          <a:p>
            <a:r>
              <a:rPr lang="fr-FR"/>
              <a:t>( Spark-</a:t>
            </a:r>
            <a:r>
              <a:rPr lang="fr-FR"/>
              <a:t>submit</a:t>
            </a:r>
            <a:r>
              <a:rPr lang="fr-FR"/>
              <a:t> </a:t>
            </a:r>
            <a:br>
              <a:rPr lang="fr-FR"/>
            </a:br>
            <a:r>
              <a:rPr lang="fr-FR"/>
              <a:t>=driver JVM )!</a:t>
            </a:r>
          </a:p>
        </p:txBody>
      </p:sp>
      <p:cxnSp>
        <p:nvCxnSpPr>
          <p:cNvPr id="200" name="Straight Connector 199"/>
          <p:cNvCxnSpPr/>
          <p:nvPr/>
        </p:nvCxnSpPr>
        <p:spPr>
          <a:xfrm flipH="1" flipV="1">
            <a:off x="2847417" y="3812052"/>
            <a:ext cx="221350" cy="23541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/>
          <p:cNvCxnSpPr/>
          <p:nvPr/>
        </p:nvCxnSpPr>
        <p:spPr>
          <a:xfrm flipV="1">
            <a:off x="3526858" y="3548094"/>
            <a:ext cx="475934" cy="51797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TextBox 207"/>
          <p:cNvSpPr txBox="1"/>
          <p:nvPr/>
        </p:nvSpPr>
        <p:spPr>
          <a:xfrm>
            <a:off x="3489778" y="3023261"/>
            <a:ext cx="12077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Google </a:t>
            </a:r>
            <a:r>
              <a:rPr lang="fr-FR"/>
              <a:t>operator</a:t>
            </a:r>
            <a:endParaRPr lang="fr-FR"/>
          </a:p>
        </p:txBody>
      </p:sp>
      <p:cxnSp>
        <p:nvCxnSpPr>
          <p:cNvPr id="209" name="Straight Connector 208"/>
          <p:cNvCxnSpPr/>
          <p:nvPr/>
        </p:nvCxnSpPr>
        <p:spPr>
          <a:xfrm>
            <a:off x="842023" y="2868655"/>
            <a:ext cx="219705" cy="14240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/>
          <p:cNvCxnSpPr/>
          <p:nvPr/>
        </p:nvCxnSpPr>
        <p:spPr>
          <a:xfrm>
            <a:off x="2231050" y="2887347"/>
            <a:ext cx="219705" cy="14240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/>
          <p:cNvCxnSpPr/>
          <p:nvPr/>
        </p:nvCxnSpPr>
        <p:spPr>
          <a:xfrm flipH="1">
            <a:off x="1159017" y="2958548"/>
            <a:ext cx="189166" cy="7376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/>
          <p:cNvCxnSpPr/>
          <p:nvPr/>
        </p:nvCxnSpPr>
        <p:spPr>
          <a:xfrm flipH="1">
            <a:off x="2641211" y="2962823"/>
            <a:ext cx="242565" cy="5079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216"/>
          <p:cNvSpPr txBox="1"/>
          <p:nvPr/>
        </p:nvSpPr>
        <p:spPr>
          <a:xfrm>
            <a:off x="1279437" y="2731648"/>
            <a:ext cx="881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simpler</a:t>
            </a:r>
            <a:endParaRPr lang="fr-FR"/>
          </a:p>
        </p:txBody>
      </p:sp>
      <p:sp>
        <p:nvSpPr>
          <p:cNvPr id="218" name="TextBox 217"/>
          <p:cNvSpPr txBox="1"/>
          <p:nvPr/>
        </p:nvSpPr>
        <p:spPr>
          <a:xfrm>
            <a:off x="2883618" y="2702356"/>
            <a:ext cx="764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better</a:t>
            </a:r>
            <a:endParaRPr lang="fr-FR"/>
          </a:p>
        </p:txBody>
      </p:sp>
      <p:sp>
        <p:nvSpPr>
          <p:cNvPr id="220" name="TextBox 219"/>
          <p:cNvSpPr txBox="1"/>
          <p:nvPr/>
        </p:nvSpPr>
        <p:spPr>
          <a:xfrm>
            <a:off x="2182214" y="3526706"/>
            <a:ext cx="1656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--master k8s://</a:t>
            </a:r>
          </a:p>
        </p:txBody>
      </p:sp>
      <p:cxnSp>
        <p:nvCxnSpPr>
          <p:cNvPr id="225" name="Straight Connector 224"/>
          <p:cNvCxnSpPr/>
          <p:nvPr/>
        </p:nvCxnSpPr>
        <p:spPr>
          <a:xfrm flipH="1" flipV="1">
            <a:off x="4206416" y="2010689"/>
            <a:ext cx="1039312" cy="109999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/>
          <p:cNvCxnSpPr>
            <a:stCxn id="208" idx="0"/>
          </p:cNvCxnSpPr>
          <p:nvPr/>
        </p:nvCxnSpPr>
        <p:spPr>
          <a:xfrm flipV="1">
            <a:off x="4093630" y="2811679"/>
            <a:ext cx="0" cy="21158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231"/>
          <p:cNvSpPr txBox="1"/>
          <p:nvPr/>
        </p:nvSpPr>
        <p:spPr>
          <a:xfrm>
            <a:off x="3760884" y="2488526"/>
            <a:ext cx="928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kubectl</a:t>
            </a:r>
            <a:endParaRPr lang="fr-FR"/>
          </a:p>
        </p:txBody>
      </p:sp>
      <p:sp>
        <p:nvSpPr>
          <p:cNvPr id="236" name="TextBox 235"/>
          <p:cNvSpPr txBox="1"/>
          <p:nvPr/>
        </p:nvSpPr>
        <p:spPr>
          <a:xfrm>
            <a:off x="3386872" y="1610961"/>
            <a:ext cx="1137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Launchers</a:t>
            </a:r>
          </a:p>
        </p:txBody>
      </p:sp>
      <p:cxnSp>
        <p:nvCxnSpPr>
          <p:cNvPr id="237" name="Straight Connector 236"/>
          <p:cNvCxnSpPr>
            <a:stCxn id="236" idx="1"/>
          </p:cNvCxnSpPr>
          <p:nvPr/>
        </p:nvCxnSpPr>
        <p:spPr>
          <a:xfrm flipH="1" flipV="1">
            <a:off x="2500590" y="1669184"/>
            <a:ext cx="886282" cy="12644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723490" y="1424165"/>
            <a:ext cx="715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Oozie</a:t>
            </a:r>
            <a:endParaRPr lang="fr-FR"/>
          </a:p>
        </p:txBody>
      </p:sp>
      <p:sp>
        <p:nvSpPr>
          <p:cNvPr id="240" name="TextBox 239"/>
          <p:cNvSpPr txBox="1"/>
          <p:nvPr/>
        </p:nvSpPr>
        <p:spPr>
          <a:xfrm>
            <a:off x="2068081" y="1189723"/>
            <a:ext cx="545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Livy</a:t>
            </a:r>
            <a:endParaRPr lang="fr-FR"/>
          </a:p>
        </p:txBody>
      </p:sp>
      <p:cxnSp>
        <p:nvCxnSpPr>
          <p:cNvPr id="241" name="Straight Connector 240"/>
          <p:cNvCxnSpPr>
            <a:endCxn id="240" idx="3"/>
          </p:cNvCxnSpPr>
          <p:nvPr/>
        </p:nvCxnSpPr>
        <p:spPr>
          <a:xfrm flipH="1" flipV="1">
            <a:off x="2613167" y="1374389"/>
            <a:ext cx="863297" cy="31875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Connector 242"/>
          <p:cNvCxnSpPr/>
          <p:nvPr/>
        </p:nvCxnSpPr>
        <p:spPr>
          <a:xfrm flipH="1" flipV="1">
            <a:off x="1720423" y="1112049"/>
            <a:ext cx="346224" cy="17254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/>
          <p:cNvCxnSpPr>
            <a:stCxn id="240" idx="1"/>
          </p:cNvCxnSpPr>
          <p:nvPr/>
        </p:nvCxnSpPr>
        <p:spPr>
          <a:xfrm flipH="1" flipV="1">
            <a:off x="1714001" y="1360177"/>
            <a:ext cx="354080" cy="1421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/>
          <p:cNvSpPr txBox="1"/>
          <p:nvPr/>
        </p:nvSpPr>
        <p:spPr>
          <a:xfrm>
            <a:off x="1059403" y="1172201"/>
            <a:ext cx="708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batch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893106" y="879696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session</a:t>
            </a:r>
          </a:p>
        </p:txBody>
      </p:sp>
      <p:cxnSp>
        <p:nvCxnSpPr>
          <p:cNvPr id="250" name="Straight Connector 249"/>
          <p:cNvCxnSpPr>
            <a:stCxn id="249" idx="1"/>
            <a:endCxn id="251" idx="2"/>
          </p:cNvCxnSpPr>
          <p:nvPr/>
        </p:nvCxnSpPr>
        <p:spPr>
          <a:xfrm flipH="1" flipV="1">
            <a:off x="708412" y="982668"/>
            <a:ext cx="184694" cy="8169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250"/>
          <p:cNvSpPr txBox="1"/>
          <p:nvPr/>
        </p:nvSpPr>
        <p:spPr>
          <a:xfrm>
            <a:off x="213052" y="613336"/>
            <a:ext cx="990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Zeppelin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2056277" y="759628"/>
            <a:ext cx="8762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Jupyter</a:t>
            </a:r>
            <a:endParaRPr lang="fr-FR"/>
          </a:p>
        </p:txBody>
      </p:sp>
      <p:cxnSp>
        <p:nvCxnSpPr>
          <p:cNvPr id="254" name="Straight Connector 253"/>
          <p:cNvCxnSpPr/>
          <p:nvPr/>
        </p:nvCxnSpPr>
        <p:spPr>
          <a:xfrm flipH="1" flipV="1">
            <a:off x="1935041" y="543378"/>
            <a:ext cx="192609" cy="22046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/>
          <p:cNvCxnSpPr/>
          <p:nvPr/>
        </p:nvCxnSpPr>
        <p:spPr>
          <a:xfrm flipV="1">
            <a:off x="2234564" y="564594"/>
            <a:ext cx="258349" cy="20331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TextBox 258"/>
          <p:cNvSpPr txBox="1"/>
          <p:nvPr/>
        </p:nvSpPr>
        <p:spPr>
          <a:xfrm>
            <a:off x="3129298" y="1011299"/>
            <a:ext cx="93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PySpark</a:t>
            </a:r>
            <a:endParaRPr lang="fr-FR"/>
          </a:p>
        </p:txBody>
      </p:sp>
      <p:sp>
        <p:nvSpPr>
          <p:cNvPr id="260" name="TextBox 259"/>
          <p:cNvSpPr txBox="1"/>
          <p:nvPr/>
        </p:nvSpPr>
        <p:spPr>
          <a:xfrm>
            <a:off x="1526463" y="160490"/>
            <a:ext cx="795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spylon</a:t>
            </a:r>
            <a:endParaRPr lang="fr-FR"/>
          </a:p>
        </p:txBody>
      </p:sp>
      <p:cxnSp>
        <p:nvCxnSpPr>
          <p:cNvPr id="261" name="Straight Connector 260"/>
          <p:cNvCxnSpPr/>
          <p:nvPr/>
        </p:nvCxnSpPr>
        <p:spPr>
          <a:xfrm flipH="1" flipV="1">
            <a:off x="3564183" y="1332584"/>
            <a:ext cx="87471" cy="33117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TextBox 263"/>
          <p:cNvSpPr txBox="1"/>
          <p:nvPr/>
        </p:nvSpPr>
        <p:spPr>
          <a:xfrm>
            <a:off x="2210264" y="14892"/>
            <a:ext cx="8531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Python</a:t>
            </a:r>
          </a:p>
          <a:p>
            <a:r>
              <a:rPr lang="fr-FR"/>
              <a:t>kernel</a:t>
            </a:r>
          </a:p>
        </p:txBody>
      </p:sp>
      <p:cxnSp>
        <p:nvCxnSpPr>
          <p:cNvPr id="267" name="Straight Connector 266"/>
          <p:cNvCxnSpPr>
            <a:stCxn id="259" idx="0"/>
          </p:cNvCxnSpPr>
          <p:nvPr/>
        </p:nvCxnSpPr>
        <p:spPr>
          <a:xfrm flipV="1">
            <a:off x="3595003" y="798002"/>
            <a:ext cx="1" cy="21329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/>
          <p:cNvSpPr txBox="1"/>
          <p:nvPr/>
        </p:nvSpPr>
        <p:spPr>
          <a:xfrm>
            <a:off x="3232489" y="-44211"/>
            <a:ext cx="9502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Py4j</a:t>
            </a:r>
          </a:p>
          <a:p>
            <a:r>
              <a:rPr lang="fr-FR"/>
              <a:t>+ socket</a:t>
            </a:r>
          </a:p>
          <a:p>
            <a:r>
              <a:rPr lang="fr-FR"/>
              <a:t>(perf..)</a:t>
            </a:r>
          </a:p>
        </p:txBody>
      </p:sp>
      <p:cxnSp>
        <p:nvCxnSpPr>
          <p:cNvPr id="7" name="Straight Connector 6"/>
          <p:cNvCxnSpPr/>
          <p:nvPr/>
        </p:nvCxnSpPr>
        <p:spPr>
          <a:xfrm flipH="1">
            <a:off x="4030622" y="1093104"/>
            <a:ext cx="343411" cy="59406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862545" y="747446"/>
            <a:ext cx="1513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spark-connect</a:t>
            </a:r>
            <a:endParaRPr lang="fr-FR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2766219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06897" y="5129212"/>
            <a:ext cx="3978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arnaud.nauwynck@gmail.com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91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BigData – Spark – Processing  discover Spark from examples</dc:title>
  <dc:creator>arnaud.nauwynck@gmail.com</dc:creator>
  <cp:lastModifiedBy>NAUWYNCK Arnaud</cp:lastModifiedBy>
  <cp:revision>69</cp:revision>
  <dcterms:created xsi:type="dcterms:W3CDTF">2022-10-16T13:20:46Z</dcterms:created>
  <dcterms:modified xsi:type="dcterms:W3CDTF">2025-01-07T23:14:00Z</dcterms:modified>
</cp:coreProperties>
</file>