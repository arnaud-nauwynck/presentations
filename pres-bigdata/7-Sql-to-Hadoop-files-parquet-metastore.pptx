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</p:sldIdLst>
  <p:sldSz cx="10080625" cy="567055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xmlns:p="http://schemas.openxmlformats.org/presentationml/2006/main"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theme" Target="theme/theme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ableStyles" Target="tableStyles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Handout Master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no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3" name="Espace réservé de la date 2"/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noAutofit/>
          </a:bodyPr>
          <a:lstStyle/>
          <a:p>
            <a:pPr marL="0" marR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4" name="Espace réservé du pied de page 3"/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>
            <a:no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" name="Espace réservé du numéro de diapositive 4"/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>
            <a:noAutofit/>
          </a:bodyPr>
          <a:lstStyle/>
          <a:p>
            <a:pPr marL="0" marR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CA13E0A-A208-45E1-8951-031ABDB09CB2}" type="slidenum">
              <a:rPr/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Espace réservé de l'en-tête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rtl="0" hangingPunct="0">
              <a:buNone/>
              <a:tabLst/>
              <a:defRPr lang="en-US" sz="1400" kern="1200">
                <a:latin typeface="Liberation Serif"/>
                <a:ea typeface="Segoe UI"/>
                <a:cs typeface="Tahoma"/>
              </a:defRPr>
            </a:lvl1pPr>
          </a:lstStyle>
          <a:p>
            <a:endParaRPr lang="en-US"/>
          </a:p>
        </p:txBody>
      </p:sp>
      <p:sp>
        <p:nvSpPr>
          <p:cNvPr id="5" name="Espace réservé de la date 4"/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algn="r" rtl="0" hangingPunct="0">
              <a:buNone/>
              <a:tabLst/>
              <a:defRPr lang="en-US" sz="1400" kern="1200">
                <a:latin typeface="Liberation Serif"/>
                <a:ea typeface="Segoe UI"/>
                <a:cs typeface="Tahoma"/>
              </a:defRPr>
            </a:lvl1pPr>
          </a:lstStyle>
          <a:p>
            <a:endParaRPr lang="en-US"/>
          </a:p>
        </p:txBody>
      </p:sp>
      <p:sp>
        <p:nvSpPr>
          <p:cNvPr id="6" name="Espace réservé du pied de page 5"/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rtl="0" hangingPunct="0">
              <a:buNone/>
              <a:tabLst/>
              <a:defRPr lang="en-US" sz="1400" kern="1200">
                <a:latin typeface="Liberation Serif"/>
                <a:ea typeface="Segoe UI"/>
                <a:cs typeface="Tahoma"/>
              </a:defRPr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algn="r" rtl="0" hangingPunct="0">
              <a:buNone/>
              <a:tabLst/>
              <a:defRPr lang="en-US" sz="1400" kern="1200">
                <a:latin typeface="Liberation Serif"/>
                <a:ea typeface="Segoe UI"/>
                <a:cs typeface="Tahoma"/>
              </a:defRPr>
            </a:lvl1pPr>
          </a:lstStyle>
          <a:p>
            <a:fld id="{344DB33E-DF1A-4DDD-8617-8BEBD58B3BBA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rgbClr val="000000">
            <a:alpha val="0"/>
          </a:srgbClr>
        </a:highlight>
        <a:latin typeface="Liberation Sans"/>
        <a:ea typeface="Microsoft YaHei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faul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Espace réservé du texte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rtl="0" hangingPunct="0">
              <a:buNone/>
              <a:tabLst/>
              <a:defRPr lang="en-US" sz="1400" kern="1200">
                <a:latin typeface="Liberation Serif"/>
                <a:ea typeface="Segoe UI"/>
                <a:cs typeface="Tahoma"/>
              </a:defRPr>
            </a:lvl1pPr>
          </a:lstStyle>
          <a:p>
            <a:endParaRPr lang="en-US"/>
          </a:p>
        </p:txBody>
      </p:sp>
      <p:sp>
        <p:nvSpPr>
          <p:cNvPr id="5" name="Espace réservé du pied de page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algn="ctr" rtl="0" hangingPunct="0">
              <a:buNone/>
              <a:tabLst/>
              <a:defRPr lang="en-US" sz="1400" kern="1200">
                <a:latin typeface="Liberation Serif"/>
                <a:ea typeface="Segoe UI"/>
                <a:cs typeface="Tahoma"/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algn="r" rtl="0" hangingPunct="0">
              <a:buNone/>
              <a:tabLst/>
              <a:defRPr lang="en-US" sz="1400" kern="1200">
                <a:latin typeface="Liberation Serif"/>
                <a:ea typeface="Segoe UI"/>
                <a:cs typeface="Tahoma"/>
              </a:defRPr>
            </a:lvl1pPr>
          </a:lstStyle>
          <a:p>
            <a:fld id="{473D6AB1-0FDA-49F1-8390-8828CE9E6676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rgbClr val="000000">
              <a:alpha val="0"/>
            </a:srgbClr>
          </a:highlight>
          <a:latin typeface="Liberation Sans"/>
          <a:ea typeface="Microsoft YaHei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rgbClr val="000000">
              <a:alpha val="0"/>
            </a:srgbClr>
          </a:highlight>
          <a:latin typeface="Liberation Sans"/>
          <a:ea typeface="Microsoft YaHe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42167" y="4690533"/>
            <a:ext cx="9071640" cy="88900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 sz="2000"/>
              <a:t>this document:</a:t>
            </a:r>
            <a:br>
              <a:rPr lang="en-US" sz="2000"/>
            </a:br>
            <a:r>
              <a:rPr lang="en-US" sz="2000"/>
              <a:t>https://github.com/Arnaud-Nauwynck/presentations/tree/main/pres-bigdata</a:t>
            </a:r>
            <a:br>
              <a:rPr lang="en-US" sz="2000"/>
            </a:br>
            <a:r>
              <a:rPr lang="en-US" sz="2000"/>
              <a:t>7-Sql-to-Hadoop-files-parquet-metastore</a:t>
            </a:r>
          </a:p>
        </p:txBody>
      </p:sp>
      <p:sp>
        <p:nvSpPr>
          <p:cNvPr id="3" name="Titre 2"/>
          <p:cNvSpPr txBox="1">
            <a:spLocks noGrp="1"/>
          </p:cNvSpPr>
          <p:nvPr>
            <p:ph type="title" idx="4294967295"/>
          </p:nvPr>
        </p:nvSpPr>
        <p:spPr>
          <a:xfrm>
            <a:off x="415392" y="3606800"/>
            <a:ext cx="9071640" cy="54864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 sz="1800"/>
              <a:t>course Esilv 2026</a:t>
            </a:r>
            <a:br>
              <a:rPr lang="en-US" sz="1800"/>
            </a:br>
            <a:r>
              <a:rPr lang="en-US" sz="1800"/>
              <a:t>arnaud.nauwynck@gmail.com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474725" y="850335"/>
            <a:ext cx="9071640" cy="224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Ctr="0"/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Big Data Hadoop Ecosystem</a:t>
            </a:r>
          </a:p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from SQL to (Hadoop Parquet) Files</a:t>
            </a:r>
          </a:p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HiveMetaStore</a:t>
            </a:r>
            <a:r>
              <a:rPr lang="en-US" sz="3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, IO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Optims</a:t>
            </a:r>
            <a:endParaRPr lang="en-US" sz="36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rtl="0"/>
            <a:r>
              <a:rPr lang="en-US"/>
              <a:t>Outline</a:t>
            </a:r>
          </a:p>
        </p:txBody>
      </p:sp>
      <p:sp>
        <p:nvSpPr>
          <p:cNvPr id="3" name="Espace réservé du texte 2"/>
          <p:cNvSpPr txBox="1">
            <a:spLocks noGrp="1"/>
          </p:cNvSpPr>
          <p:nvPr>
            <p:ph type="body" idx="4294967295"/>
          </p:nvPr>
        </p:nvSpPr>
        <p:spPr/>
        <p:txBody>
          <a:bodyPr vert="horz">
            <a:normAutofit fontScale="92500" lnSpcReduction="10000"/>
          </a:bodyPr>
          <a:lstStyle/>
          <a:p>
            <a:pPr rtl="0">
              <a:buSzPct val="45000"/>
              <a:buFont typeface="StarSymbol"/>
              <a:buChar char="●"/>
            </a:pPr>
            <a:r>
              <a:rPr lang="en-US"/>
              <a:t> Prev Part: Low-Level Hadoop components</a:t>
            </a:r>
          </a:p>
          <a:p>
            <a:pPr lv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en-US" sz="3200"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rPr>
              <a:t>ZooKeeper</a:t>
            </a:r>
            <a:r>
              <a:rPr lang="en-US" sz="3200"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rPr>
              <a:t>, </a:t>
            </a:r>
            <a:r>
              <a:rPr lang="en-US" sz="3200"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rPr>
              <a:t>Hdfs</a:t>
            </a:r>
            <a:r>
              <a:rPr lang="en-US" sz="3200"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rPr>
              <a:t>, Yarn, Oozie</a:t>
            </a:r>
          </a:p>
          <a:p>
            <a:pPr rtl="0">
              <a:buSzPct val="45000"/>
              <a:buFont typeface="StarSymbol"/>
              <a:buChar char="●"/>
            </a:pPr>
            <a:r>
              <a:rPr lang="en-US"/>
              <a:t> </a:t>
            </a:r>
            <a:r>
              <a:rPr lang="en-US"/>
              <a:t>Sql</a:t>
            </a:r>
            <a:r>
              <a:rPr lang="en-US"/>
              <a:t> Table Definition, Hive </a:t>
            </a:r>
            <a:r>
              <a:rPr lang="en-US"/>
              <a:t>MetaStore</a:t>
            </a:r>
            <a:endParaRPr lang="en-US"/>
          </a:p>
          <a:p>
            <a:pPr rtl="0">
              <a:buSzPct val="45000"/>
              <a:buFont typeface="StarSymbol"/>
              <a:buChar char="●"/>
            </a:pPr>
            <a:r>
              <a:rPr lang="en-US"/>
              <a:t> Parquet</a:t>
            </a:r>
          </a:p>
          <a:p>
            <a:pPr rtl="0">
              <a:buSzPct val="45000"/>
              <a:buFont typeface="StarSymbol"/>
              <a:buChar char="●"/>
            </a:pPr>
            <a:r>
              <a:rPr lang="en-US"/>
              <a:t> IO </a:t>
            </a:r>
            <a:r>
              <a:rPr lang="en-US"/>
              <a:t>Optims</a:t>
            </a:r>
            <a:r>
              <a:rPr lang="en-US"/>
              <a:t> </a:t>
            </a:r>
          </a:p>
          <a:p>
            <a:pPr marL="457200" lvl="1" indent="0">
              <a:buSzPct val="45000"/>
              <a:buNone/>
            </a:pPr>
            <a:r>
              <a:rPr lang="en-US"/>
              <a:t>Schema, </a:t>
            </a:r>
            <a:r>
              <a:rPr lang="en-US"/>
              <a:t>Splittable</a:t>
            </a:r>
            <a:r>
              <a:rPr lang="en-US"/>
              <a:t> blocks format, Partitions Pruning, Columns Pruning, PPD</a:t>
            </a:r>
          </a:p>
          <a:p>
            <a:pPr rtl="0">
              <a:buSzPct val="45000"/>
              <a:buFont typeface="StarSymbol"/>
              <a:buChar char="●"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3999" y="158040"/>
            <a:ext cx="9071640" cy="108108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Prev Part: Low-Level Focus</a:t>
            </a:r>
            <a:br>
              <a:rPr lang="en-US"/>
            </a:br>
            <a:r>
              <a:rPr lang="en-US" sz="3200"/>
              <a:t>ZooKeeper</a:t>
            </a:r>
            <a:r>
              <a:rPr lang="en-US" sz="3200"/>
              <a:t>, HDFS, Yarn, Oozie</a:t>
            </a:r>
          </a:p>
        </p:txBody>
      </p:sp>
      <p:sp>
        <p:nvSpPr>
          <p:cNvPr id="3" name="Forme libre : forme 2"/>
          <p:cNvSpPr/>
          <p:nvPr/>
        </p:nvSpPr>
        <p:spPr>
          <a:xfrm>
            <a:off x="2537280" y="4233960"/>
            <a:ext cx="3943440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alphaModFix amt="100000"/>
          </a:blip>
          <a:stretch>
            <a:fillRect/>
          </a:stretch>
        </p:blipFill>
        <p:spPr>
          <a:xfrm>
            <a:off x="3485880" y="4346640"/>
            <a:ext cx="2286720" cy="68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alphaModFix amt="100000"/>
          </a:blip>
          <a:stretch>
            <a:fillRect/>
          </a:stretch>
        </p:blipFill>
        <p:spPr>
          <a:xfrm>
            <a:off x="1208520" y="3222360"/>
            <a:ext cx="1140480" cy="162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rme libre : forme 5"/>
          <p:cNvSpPr/>
          <p:nvPr/>
        </p:nvSpPr>
        <p:spPr>
          <a:xfrm>
            <a:off x="1157400" y="2972160"/>
            <a:ext cx="1371599" cy="217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7" name="Forme libre : forme 6"/>
          <p:cNvSpPr/>
          <p:nvPr/>
        </p:nvSpPr>
        <p:spPr>
          <a:xfrm>
            <a:off x="2649960" y="3317759"/>
            <a:ext cx="2034719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alphaModFix amt="100000"/>
          </a:blip>
          <a:stretch>
            <a:fillRect/>
          </a:stretch>
        </p:blipFill>
        <p:spPr>
          <a:xfrm>
            <a:off x="2961719" y="3392640"/>
            <a:ext cx="1394280" cy="7513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rme libre : forme 8"/>
          <p:cNvSpPr/>
          <p:nvPr/>
        </p:nvSpPr>
        <p:spPr>
          <a:xfrm>
            <a:off x="2791800" y="2393280"/>
            <a:ext cx="1371599" cy="924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alphaModFix amt="100000"/>
          </a:blip>
          <a:stretch>
            <a:fillRect/>
          </a:stretch>
        </p:blipFill>
        <p:spPr>
          <a:xfrm>
            <a:off x="2876400" y="2514960"/>
            <a:ext cx="1188719" cy="68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3999" y="73800"/>
            <a:ext cx="9071640" cy="125028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This Part: … Technical Focus</a:t>
            </a:r>
            <a:br>
              <a:rPr lang="en-US"/>
            </a:br>
            <a:r>
              <a:rPr lang="en-US"/>
              <a:t>MetaStore</a:t>
            </a:r>
            <a:r>
              <a:rPr lang="en-US"/>
              <a:t>, Directory-Files Partitions</a:t>
            </a:r>
            <a:endParaRPr lang="en-US" sz="4000"/>
          </a:p>
        </p:txBody>
      </p:sp>
      <p:sp>
        <p:nvSpPr>
          <p:cNvPr id="5" name="Forme libre : forme 4"/>
          <p:cNvSpPr/>
          <p:nvPr/>
        </p:nvSpPr>
        <p:spPr>
          <a:xfrm>
            <a:off x="2537280" y="4233960"/>
            <a:ext cx="3943440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alphaModFix amt="100000"/>
          </a:blip>
          <a:stretch>
            <a:fillRect/>
          </a:stretch>
        </p:blipFill>
        <p:spPr>
          <a:xfrm>
            <a:off x="3485880" y="4346640"/>
            <a:ext cx="2286720" cy="68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alphaModFix amt="100000"/>
          </a:blip>
          <a:stretch>
            <a:fillRect/>
          </a:stretch>
        </p:blipFill>
        <p:spPr>
          <a:xfrm>
            <a:off x="1208520" y="3222360"/>
            <a:ext cx="1140480" cy="162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rme libre : forme 7"/>
          <p:cNvSpPr/>
          <p:nvPr/>
        </p:nvSpPr>
        <p:spPr>
          <a:xfrm>
            <a:off x="1157400" y="2972160"/>
            <a:ext cx="1371599" cy="217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9" name="Forme libre : forme 8"/>
          <p:cNvSpPr/>
          <p:nvPr/>
        </p:nvSpPr>
        <p:spPr>
          <a:xfrm>
            <a:off x="2649960" y="3317759"/>
            <a:ext cx="2034719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alphaModFix amt="100000"/>
          </a:blip>
          <a:stretch>
            <a:fillRect/>
          </a:stretch>
        </p:blipFill>
        <p:spPr>
          <a:xfrm>
            <a:off x="2961719" y="3392640"/>
            <a:ext cx="1394280" cy="751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>
            <a:alphaModFix amt="100000"/>
          </a:blip>
          <a:stretch>
            <a:fillRect/>
          </a:stretch>
        </p:blipFill>
        <p:spPr>
          <a:xfrm>
            <a:off x="7213320" y="2437200"/>
            <a:ext cx="746999" cy="671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Forme libre : forme 11"/>
          <p:cNvSpPr/>
          <p:nvPr/>
        </p:nvSpPr>
        <p:spPr>
          <a:xfrm>
            <a:off x="6973200" y="2392920"/>
            <a:ext cx="1364040" cy="921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058880" y="3000240"/>
            <a:ext cx="1414560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metastore</a:t>
            </a:r>
          </a:p>
        </p:txBody>
      </p:sp>
      <p:sp>
        <p:nvSpPr>
          <p:cNvPr id="18" name="Forme libre : forme 17"/>
          <p:cNvSpPr/>
          <p:nvPr/>
        </p:nvSpPr>
        <p:spPr>
          <a:xfrm>
            <a:off x="2791800" y="2393280"/>
            <a:ext cx="1371599" cy="924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>
            <a:alphaModFix amt="100000"/>
          </a:blip>
          <a:stretch>
            <a:fillRect/>
          </a:stretch>
        </p:blipFill>
        <p:spPr>
          <a:xfrm>
            <a:off x="2876400" y="2514960"/>
            <a:ext cx="1188719" cy="68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3999" y="73800"/>
            <a:ext cx="9071640" cy="90036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This Part : ... </a:t>
            </a:r>
            <a:r>
              <a:rPr lang="en-US" sz="4000"/>
              <a:t>Parquet, IO </a:t>
            </a:r>
            <a:r>
              <a:rPr lang="en-US" sz="4000"/>
              <a:t>Optims</a:t>
            </a:r>
            <a:endParaRPr lang="en-US" sz="4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alphaModFix amt="100000"/>
          </a:blip>
          <a:stretch>
            <a:fillRect/>
          </a:stretch>
        </p:blipFill>
        <p:spPr>
          <a:xfrm>
            <a:off x="5132880" y="3318840"/>
            <a:ext cx="121932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rme libre : forme 4"/>
          <p:cNvSpPr/>
          <p:nvPr/>
        </p:nvSpPr>
        <p:spPr>
          <a:xfrm>
            <a:off x="2537280" y="4233960"/>
            <a:ext cx="3943440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alphaModFix amt="100000"/>
          </a:blip>
          <a:stretch>
            <a:fillRect/>
          </a:stretch>
        </p:blipFill>
        <p:spPr>
          <a:xfrm>
            <a:off x="3485880" y="4346640"/>
            <a:ext cx="2286720" cy="68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alphaModFix amt="100000"/>
          </a:blip>
          <a:stretch>
            <a:fillRect/>
          </a:stretch>
        </p:blipFill>
        <p:spPr>
          <a:xfrm>
            <a:off x="1208520" y="3222360"/>
            <a:ext cx="1140480" cy="162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rme libre : forme 7"/>
          <p:cNvSpPr/>
          <p:nvPr/>
        </p:nvSpPr>
        <p:spPr>
          <a:xfrm>
            <a:off x="1157400" y="2972160"/>
            <a:ext cx="1371599" cy="217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9" name="Forme libre : forme 8"/>
          <p:cNvSpPr/>
          <p:nvPr/>
        </p:nvSpPr>
        <p:spPr>
          <a:xfrm>
            <a:off x="2649960" y="3317759"/>
            <a:ext cx="2034719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alphaModFix amt="100000"/>
          </a:blip>
          <a:stretch>
            <a:fillRect/>
          </a:stretch>
        </p:blipFill>
        <p:spPr>
          <a:xfrm>
            <a:off x="2961719" y="3392640"/>
            <a:ext cx="1394280" cy="751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>
            <a:alphaModFix amt="100000"/>
          </a:blip>
          <a:stretch>
            <a:fillRect/>
          </a:stretch>
        </p:blipFill>
        <p:spPr>
          <a:xfrm>
            <a:off x="7213320" y="2437200"/>
            <a:ext cx="746999" cy="671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Forme libre : forme 11"/>
          <p:cNvSpPr/>
          <p:nvPr/>
        </p:nvSpPr>
        <p:spPr>
          <a:xfrm>
            <a:off x="6973200" y="2392920"/>
            <a:ext cx="1364040" cy="921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058880" y="3000240"/>
            <a:ext cx="1414560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metastore</a:t>
            </a:r>
          </a:p>
        </p:txBody>
      </p:sp>
      <p:sp>
        <p:nvSpPr>
          <p:cNvPr id="14" name="Forme libre : forme 13"/>
          <p:cNvSpPr/>
          <p:nvPr/>
        </p:nvSpPr>
        <p:spPr>
          <a:xfrm>
            <a:off x="5074560" y="3325319"/>
            <a:ext cx="1211759" cy="90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18" name="Forme libre : forme 17"/>
          <p:cNvSpPr/>
          <p:nvPr/>
        </p:nvSpPr>
        <p:spPr>
          <a:xfrm>
            <a:off x="2791800" y="2393280"/>
            <a:ext cx="1371599" cy="924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7">
            <a:alphaModFix amt="100000"/>
          </a:blip>
          <a:stretch>
            <a:fillRect/>
          </a:stretch>
        </p:blipFill>
        <p:spPr>
          <a:xfrm>
            <a:off x="2876400" y="2514960"/>
            <a:ext cx="1188719" cy="68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3999" y="73800"/>
            <a:ext cx="9071640" cy="125028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Next Part  … High-Level Focus</a:t>
            </a:r>
            <a:br>
              <a:rPr lang="en-US"/>
            </a:br>
            <a:r>
              <a:rPr lang="en-US"/>
              <a:t>Spark, Spark SQL</a:t>
            </a:r>
            <a:endParaRPr lang="en-US" sz="4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alphaModFix amt="100000"/>
          </a:blip>
          <a:stretch>
            <a:fillRect/>
          </a:stretch>
        </p:blipFill>
        <p:spPr>
          <a:xfrm>
            <a:off x="5132880" y="3318840"/>
            <a:ext cx="121932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alphaModFix amt="100000"/>
          </a:blip>
          <a:stretch>
            <a:fillRect/>
          </a:stretch>
        </p:blipFill>
        <p:spPr>
          <a:xfrm>
            <a:off x="4678560" y="2419560"/>
            <a:ext cx="1628639" cy="8456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rme libre : forme 4"/>
          <p:cNvSpPr/>
          <p:nvPr/>
        </p:nvSpPr>
        <p:spPr>
          <a:xfrm>
            <a:off x="2537280" y="4233960"/>
            <a:ext cx="3943440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alphaModFix amt="100000"/>
          </a:blip>
          <a:stretch>
            <a:fillRect/>
          </a:stretch>
        </p:blipFill>
        <p:spPr>
          <a:xfrm>
            <a:off x="3485880" y="4346640"/>
            <a:ext cx="2286720" cy="68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alphaModFix amt="100000"/>
          </a:blip>
          <a:stretch>
            <a:fillRect/>
          </a:stretch>
        </p:blipFill>
        <p:spPr>
          <a:xfrm>
            <a:off x="1208520" y="3222360"/>
            <a:ext cx="1140480" cy="162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rme libre : forme 7"/>
          <p:cNvSpPr/>
          <p:nvPr/>
        </p:nvSpPr>
        <p:spPr>
          <a:xfrm>
            <a:off x="1157400" y="2972160"/>
            <a:ext cx="1371599" cy="217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9" name="Forme libre : forme 8"/>
          <p:cNvSpPr/>
          <p:nvPr/>
        </p:nvSpPr>
        <p:spPr>
          <a:xfrm>
            <a:off x="2649960" y="3317759"/>
            <a:ext cx="2034719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6">
            <a:alphaModFix amt="100000"/>
          </a:blip>
          <a:stretch>
            <a:fillRect/>
          </a:stretch>
        </p:blipFill>
        <p:spPr>
          <a:xfrm>
            <a:off x="2961719" y="3392640"/>
            <a:ext cx="1394280" cy="751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7">
            <a:alphaModFix amt="100000"/>
          </a:blip>
          <a:stretch>
            <a:fillRect/>
          </a:stretch>
        </p:blipFill>
        <p:spPr>
          <a:xfrm>
            <a:off x="7213320" y="2437200"/>
            <a:ext cx="746999" cy="671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Forme libre : forme 11"/>
          <p:cNvSpPr/>
          <p:nvPr/>
        </p:nvSpPr>
        <p:spPr>
          <a:xfrm>
            <a:off x="6973200" y="2392920"/>
            <a:ext cx="1364040" cy="921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058880" y="3000240"/>
            <a:ext cx="1414560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metastore</a:t>
            </a:r>
          </a:p>
        </p:txBody>
      </p:sp>
      <p:sp>
        <p:nvSpPr>
          <p:cNvPr id="14" name="Forme libre : forme 13"/>
          <p:cNvSpPr/>
          <p:nvPr/>
        </p:nvSpPr>
        <p:spPr>
          <a:xfrm>
            <a:off x="5074560" y="3325319"/>
            <a:ext cx="1211759" cy="90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15" name="Forme libre : forme 14"/>
          <p:cNvSpPr/>
          <p:nvPr/>
        </p:nvSpPr>
        <p:spPr>
          <a:xfrm>
            <a:off x="4308840" y="2396880"/>
            <a:ext cx="2495880" cy="913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16" name="Forme libre : forme 15"/>
          <p:cNvSpPr/>
          <p:nvPr/>
        </p:nvSpPr>
        <p:spPr>
          <a:xfrm>
            <a:off x="5373000" y="1474919"/>
            <a:ext cx="2286000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8">
            <a:alphaModFix amt="100000"/>
          </a:blip>
          <a:stretch>
            <a:fillRect/>
          </a:stretch>
        </p:blipFill>
        <p:spPr>
          <a:xfrm>
            <a:off x="5830200" y="1549439"/>
            <a:ext cx="1371599" cy="78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Forme libre : forme 17"/>
          <p:cNvSpPr/>
          <p:nvPr/>
        </p:nvSpPr>
        <p:spPr>
          <a:xfrm>
            <a:off x="2791800" y="2393280"/>
            <a:ext cx="1371599" cy="924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9">
            <a:alphaModFix amt="100000"/>
          </a:blip>
          <a:stretch>
            <a:fillRect/>
          </a:stretch>
        </p:blipFill>
        <p:spPr>
          <a:xfrm>
            <a:off x="2876400" y="2514960"/>
            <a:ext cx="1188719" cy="68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3999" y="0"/>
            <a:ext cx="9071640" cy="828236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(Hive) </a:t>
            </a:r>
            <a:r>
              <a:rPr lang="en-US"/>
              <a:t>MetaStore</a:t>
            </a:r>
            <a:endParaRPr lang="en-US"/>
          </a:p>
        </p:txBody>
      </p:sp>
      <p:sp>
        <p:nvSpPr>
          <p:cNvPr id="15" name="Organigramme : Disque magnétique 14"/>
          <p:cNvSpPr/>
          <p:nvPr/>
        </p:nvSpPr>
        <p:spPr>
          <a:xfrm>
            <a:off x="762000" y="2095500"/>
            <a:ext cx="1397000" cy="1778000"/>
          </a:xfrm>
          <a:prstGeom prst="flowChartMagneticDisk">
            <a:avLst/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Organigramme : Disque magnétique 16"/>
          <p:cNvSpPr/>
          <p:nvPr/>
        </p:nvSpPr>
        <p:spPr>
          <a:xfrm>
            <a:off x="4572000" y="1079500"/>
            <a:ext cx="4826000" cy="3810000"/>
          </a:xfrm>
          <a:prstGeom prst="flowChartMagneticDisk">
            <a:avLst/>
          </a:prstGeom>
          <a:solidFill>
            <a:srgbClr val="B4C7E7"/>
          </a:solidFill>
          <a:ln w="19050"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orme libre : forme 19"/>
          <p:cNvSpPr/>
          <p:nvPr/>
        </p:nvSpPr>
        <p:spPr>
          <a:xfrm>
            <a:off x="952500" y="2794000"/>
            <a:ext cx="1016000" cy="254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DAE3F3"/>
          </a:solidFill>
          <a:ln w="15875">
            <a:solidFill>
              <a:srgbClr val="4472C4"/>
            </a:solidFill>
            <a:prstDash val="solid"/>
          </a:ln>
        </p:spPr>
        <p:txBody>
          <a:bodyPr vert="horz" wrap="square" lIns="0" tIns="0" rIns="0" bIns="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/>
                <a:ea typeface="Microsoft YaHei"/>
                <a:cs typeface="Lucida Sans"/>
              </a:rPr>
              <a:t>Table1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44500" y="1397000"/>
            <a:ext cx="2032000" cy="635000"/>
          </a:xfrm>
          <a:prstGeom prst="rect">
            <a:avLst/>
          </a:prstGeom>
          <a:noFill/>
        </p:spPr>
        <p:txBody>
          <a:bodyPr wrap="square" lIns="0" tIns="0" rIns="0" bIns="50800" rtlCol="0" anchor="b">
            <a:noAutofit/>
          </a:bodyPr>
          <a:lstStyle/>
          <a:p>
            <a:pPr algn="ctr"/>
            <a:r>
              <a:rPr lang="fr-FR" sz="1400" b="1"/>
              <a:t>MetaStore DB</a:t>
            </a:r>
            <a:br>
              <a:rPr lang="fr-FR" sz="1400" b="1"/>
            </a:br>
            <a:r>
              <a:rPr lang="fr-FR" sz="1400" b="1"/>
              <a:t>(ex: postgresql)</a:t>
            </a:r>
            <a:endParaRPr sz="1400" b="1"/>
          </a:p>
        </p:txBody>
      </p:sp>
      <p:sp>
        <p:nvSpPr>
          <p:cNvPr id="23" name="ZoneTexte 22"/>
          <p:cNvSpPr txBox="1"/>
          <p:nvPr/>
        </p:nvSpPr>
        <p:spPr>
          <a:xfrm>
            <a:off x="4572000" y="1460500"/>
            <a:ext cx="4826000" cy="457200"/>
          </a:xfrm>
          <a:prstGeom prst="rect">
            <a:avLst/>
          </a:prstGeom>
          <a:noFill/>
        </p:spPr>
        <p:txBody>
          <a:bodyPr wrap="square" lIns="0" tIns="0" rIns="0" bIns="50800" rtlCol="0" anchor="b">
            <a:noAutofit/>
          </a:bodyPr>
          <a:lstStyle/>
          <a:p>
            <a:pPr algn="ctr"/>
            <a:r>
              <a:rPr lang="fr-FR" sz="1800" b="1"/>
              <a:t>HDFS</a:t>
            </a:r>
            <a:endParaRPr sz="1800" b="1"/>
          </a:p>
        </p:txBody>
      </p:sp>
      <p:sp>
        <p:nvSpPr>
          <p:cNvPr id="32" name="Forme libre : forme 31"/>
          <p:cNvSpPr/>
          <p:nvPr/>
        </p:nvSpPr>
        <p:spPr>
          <a:xfrm>
            <a:off x="952500" y="3124200"/>
            <a:ext cx="1016000" cy="254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DAE3F3"/>
          </a:solidFill>
          <a:ln w="15875">
            <a:solidFill>
              <a:srgbClr val="4472C4"/>
            </a:solidFill>
            <a:prstDash val="solid"/>
          </a:ln>
        </p:spPr>
        <p:txBody>
          <a:bodyPr vert="horz" wrap="square" lIns="0" tIns="0" rIns="0" bIns="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/>
                <a:ea typeface="Microsoft YaHei"/>
                <a:cs typeface="Lucida Sans"/>
              </a:rPr>
              <a:t>Table2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18" name="Forme libre : forme 31"/>
          <p:cNvSpPr/>
          <p:nvPr/>
        </p:nvSpPr>
        <p:spPr>
          <a:xfrm>
            <a:off x="952500" y="3454400"/>
            <a:ext cx="1016000" cy="254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DAE3F3"/>
          </a:solidFill>
          <a:ln w="15875">
            <a:solidFill>
              <a:srgbClr val="4472C4"/>
            </a:solidFill>
            <a:prstDash val="solid"/>
          </a:ln>
        </p:spPr>
        <p:txBody>
          <a:bodyPr vert="horz" wrap="square" lIns="0" tIns="0" rIns="0" bIns="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/>
                <a:ea typeface="Microsoft YaHei"/>
                <a:cs typeface="Lucida Sans"/>
              </a:rPr>
              <a:t>Table3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22500" y="1905000"/>
            <a:ext cx="2032000" cy="457200"/>
          </a:xfrm>
          <a:prstGeom prst="rect">
            <a:avLst/>
          </a:prstGeom>
          <a:noFill/>
        </p:spPr>
        <p:txBody>
          <a:bodyPr wrap="square" lIns="0" tIns="0" rIns="0" bIns="50800" rtlCol="0" anchor="b">
            <a:noAutofit/>
          </a:bodyPr>
          <a:lstStyle/>
          <a:p>
            <a:pPr algn="ctr"/>
            <a:r>
              <a:rPr lang="fr-FR" sz="1300" i="1"/>
              <a:t>Mapping:</a:t>
            </a:r>
            <a:endParaRPr sz="1300" i="1"/>
          </a:p>
          <a:p>
            <a:pPr algn="ctr"/>
            <a:r>
              <a:rPr lang="fr-FR" sz="1300" i="1"/>
              <a:t>Location URL</a:t>
            </a:r>
            <a:endParaRPr sz="1300" i="1"/>
          </a:p>
        </p:txBody>
      </p:sp>
      <p:sp>
        <p:nvSpPr>
          <p:cNvPr id="9317" name="Rectangle 10"/>
          <p:cNvSpPr/>
          <p:nvPr/>
        </p:nvSpPr>
        <p:spPr>
          <a:xfrm>
            <a:off x="5461000" y="2438400"/>
            <a:ext cx="2540000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0" bIns="0" anchor="ctr"/>
          <a:lstStyle/>
          <a:p>
            <a:pPr algn="l"/>
            <a:r>
              <a:rPr sz="1300">
                <a:solidFill>
                  <a:srgbClr val="000000"/>
                </a:solidFill>
              </a:rPr>
              <a:t>/data/table1/**</a:t>
            </a:r>
            <a:endParaRPr sz="1300">
              <a:solidFill>
                <a:srgbClr val="000000"/>
              </a:solidFill>
            </a:endParaRPr>
          </a:p>
        </p:txBody>
      </p:sp>
      <p:sp>
        <p:nvSpPr>
          <p:cNvPr id="9318" name="Rectangle 11"/>
          <p:cNvSpPr/>
          <p:nvPr/>
        </p:nvSpPr>
        <p:spPr>
          <a:xfrm>
            <a:off x="5461000" y="3162300"/>
            <a:ext cx="2540000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0" bIns="0" anchor="ctr"/>
          <a:lstStyle/>
          <a:p>
            <a:pPr algn="l"/>
            <a:r>
              <a:rPr sz="1300">
                <a:solidFill>
                  <a:srgbClr val="000000"/>
                </a:solidFill>
              </a:rPr>
              <a:t>/data/table2/**</a:t>
            </a:r>
            <a:endParaRPr sz="1300">
              <a:solidFill>
                <a:srgbClr val="000000"/>
              </a:solidFill>
            </a:endParaRPr>
          </a:p>
        </p:txBody>
      </p:sp>
      <p:sp>
        <p:nvSpPr>
          <p:cNvPr id="9319" name="Rectangle 12"/>
          <p:cNvSpPr/>
          <p:nvPr/>
        </p:nvSpPr>
        <p:spPr>
          <a:xfrm>
            <a:off x="5461000" y="3886200"/>
            <a:ext cx="2540000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0" bIns="0" anchor="ctr"/>
          <a:lstStyle/>
          <a:p>
            <a:pPr algn="l"/>
            <a:r>
              <a:rPr sz="1300">
                <a:solidFill>
                  <a:srgbClr val="000000"/>
                </a:solidFill>
              </a:rPr>
              <a:t>/data/table3/**</a:t>
            </a:r>
            <a:endParaRPr sz="1300">
              <a:solidFill>
                <a:srgbClr val="000000"/>
              </a:solidFill>
            </a:endParaRPr>
          </a:p>
        </p:txBody>
      </p:sp>
      <p:sp>
        <p:nvSpPr>
          <p:cNvPr id="9323" name="Rectangle 13"/>
          <p:cNvSpPr/>
          <p:nvPr/>
        </p:nvSpPr>
        <p:spPr>
          <a:xfrm>
            <a:off x="444500" y="3949700"/>
            <a:ext cx="2032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i="1">
                <a:solidFill>
                  <a:srgbClr val="000000"/>
                </a:solidFill>
              </a:rPr>
              <a:t>metadata only (DDL)</a:t>
            </a:r>
            <a:endParaRPr sz="1200" i="1">
              <a:solidFill>
                <a:srgbClr val="000000"/>
              </a:solidFill>
            </a:endParaRPr>
          </a:p>
          <a:p>
            <a:pPr algn="ctr"/>
            <a:r>
              <a:rPr sz="1200" i="1">
                <a:solidFill>
                  <a:srgbClr val="000000"/>
                </a:solidFill>
              </a:rPr>
              <a:t>KBs – MBs</a:t>
            </a:r>
            <a:endParaRPr sz="1200" i="1">
              <a:solidFill>
                <a:srgbClr val="000000"/>
              </a:solidFill>
            </a:endParaRPr>
          </a:p>
        </p:txBody>
      </p:sp>
      <p:sp>
        <p:nvSpPr>
          <p:cNvPr id="9324" name="Rectangle 14"/>
          <p:cNvSpPr/>
          <p:nvPr/>
        </p:nvSpPr>
        <p:spPr>
          <a:xfrm>
            <a:off x="4572000" y="4965700"/>
            <a:ext cx="4826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1200" i="1">
                <a:solidFill>
                  <a:srgbClr val="000000"/>
                </a:solidFill>
              </a:rPr>
              <a:t>data: TBs – PBs, millions of files</a:t>
            </a:r>
            <a:endParaRPr sz="1200" i="1">
              <a:solidFill>
                <a:srgbClr val="000000"/>
              </a:solidFill>
            </a:endParaRPr>
          </a:p>
        </p:txBody>
      </p:sp>
      <p:sp>
        <p:nvSpPr>
          <p:cNvPr id="9325" name="Rectangle 15"/>
          <p:cNvSpPr/>
          <p:nvPr/>
        </p:nvSpPr>
        <p:spPr>
          <a:xfrm>
            <a:off x="2222500" y="1206500"/>
            <a:ext cx="2286000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</a:rPr>
              <a:t>MB ≪ PB</a:t>
            </a:r>
            <a:endParaRPr sz="2600" b="1" i="0">
              <a:solidFill>
                <a:srgbClr val="000000"/>
              </a:solidFill>
            </a:endParaRPr>
          </a:p>
        </p:txBody>
      </p:sp>
      <p:sp>
        <p:nvSpPr>
          <p:cNvPr id="9329" name="Folded Corner 19"/>
          <p:cNvSpPr/>
          <p:nvPr/>
        </p:nvSpPr>
        <p:spPr>
          <a:xfrm>
            <a:off x="5664200" y="27432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30" name="Folded Corner 20"/>
          <p:cNvSpPr/>
          <p:nvPr/>
        </p:nvSpPr>
        <p:spPr>
          <a:xfrm>
            <a:off x="6045200" y="27432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31" name="Folded Corner 21"/>
          <p:cNvSpPr/>
          <p:nvPr/>
        </p:nvSpPr>
        <p:spPr>
          <a:xfrm>
            <a:off x="6426200" y="27432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32" name="Folded Corner 22"/>
          <p:cNvSpPr/>
          <p:nvPr/>
        </p:nvSpPr>
        <p:spPr>
          <a:xfrm>
            <a:off x="6807200" y="27432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33" name="Folded Corner 23"/>
          <p:cNvSpPr/>
          <p:nvPr/>
        </p:nvSpPr>
        <p:spPr>
          <a:xfrm>
            <a:off x="7188200" y="27432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34" name="Folded Corner 24"/>
          <p:cNvSpPr/>
          <p:nvPr/>
        </p:nvSpPr>
        <p:spPr>
          <a:xfrm>
            <a:off x="7569200" y="27432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35" name="Folded Corner 25"/>
          <p:cNvSpPr/>
          <p:nvPr/>
        </p:nvSpPr>
        <p:spPr>
          <a:xfrm>
            <a:off x="5664200" y="34671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36" name="Folded Corner 26"/>
          <p:cNvSpPr/>
          <p:nvPr/>
        </p:nvSpPr>
        <p:spPr>
          <a:xfrm>
            <a:off x="6045200" y="34671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37" name="Folded Corner 27"/>
          <p:cNvSpPr/>
          <p:nvPr/>
        </p:nvSpPr>
        <p:spPr>
          <a:xfrm>
            <a:off x="6426200" y="34671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38" name="Folded Corner 28"/>
          <p:cNvSpPr/>
          <p:nvPr/>
        </p:nvSpPr>
        <p:spPr>
          <a:xfrm>
            <a:off x="6807200" y="34671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39" name="Folded Corner 29"/>
          <p:cNvSpPr/>
          <p:nvPr/>
        </p:nvSpPr>
        <p:spPr>
          <a:xfrm>
            <a:off x="7188200" y="34671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40" name="Folded Corner 30"/>
          <p:cNvSpPr/>
          <p:nvPr/>
        </p:nvSpPr>
        <p:spPr>
          <a:xfrm>
            <a:off x="7569200" y="34671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41" name="Folded Corner 31"/>
          <p:cNvSpPr/>
          <p:nvPr/>
        </p:nvSpPr>
        <p:spPr>
          <a:xfrm>
            <a:off x="5664200" y="41910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42" name="Folded Corner 32"/>
          <p:cNvSpPr/>
          <p:nvPr/>
        </p:nvSpPr>
        <p:spPr>
          <a:xfrm>
            <a:off x="6045200" y="41910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43" name="Folded Corner 33"/>
          <p:cNvSpPr/>
          <p:nvPr/>
        </p:nvSpPr>
        <p:spPr>
          <a:xfrm>
            <a:off x="6426200" y="41910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44" name="Folded Corner 34"/>
          <p:cNvSpPr/>
          <p:nvPr/>
        </p:nvSpPr>
        <p:spPr>
          <a:xfrm>
            <a:off x="6807200" y="41910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45" name="Folded Corner 35"/>
          <p:cNvSpPr/>
          <p:nvPr/>
        </p:nvSpPr>
        <p:spPr>
          <a:xfrm>
            <a:off x="7188200" y="41910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46" name="Folded Corner 36"/>
          <p:cNvSpPr/>
          <p:nvPr/>
        </p:nvSpPr>
        <p:spPr>
          <a:xfrm>
            <a:off x="7569200" y="4191000"/>
            <a:ext cx="279400" cy="20320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350" name="Rectangle 37"/>
          <p:cNvSpPr/>
          <p:nvPr/>
        </p:nvSpPr>
        <p:spPr>
          <a:xfrm>
            <a:off x="7924800" y="2743200"/>
            <a:ext cx="381000" cy="203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…</a:t>
            </a:r>
            <a:endParaRPr sz="1400" b="1">
              <a:solidFill>
                <a:srgbClr val="000000"/>
              </a:solidFill>
            </a:endParaRPr>
          </a:p>
        </p:txBody>
      </p:sp>
      <p:sp>
        <p:nvSpPr>
          <p:cNvPr id="9351" name="Rectangle 38"/>
          <p:cNvSpPr/>
          <p:nvPr/>
        </p:nvSpPr>
        <p:spPr>
          <a:xfrm>
            <a:off x="7924800" y="3467100"/>
            <a:ext cx="381000" cy="203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…</a:t>
            </a:r>
            <a:endParaRPr sz="1400" b="1">
              <a:solidFill>
                <a:srgbClr val="000000"/>
              </a:solidFill>
            </a:endParaRPr>
          </a:p>
        </p:txBody>
      </p:sp>
      <p:sp>
        <p:nvSpPr>
          <p:cNvPr id="9352" name="Rectangle 39"/>
          <p:cNvSpPr/>
          <p:nvPr/>
        </p:nvSpPr>
        <p:spPr>
          <a:xfrm>
            <a:off x="7924800" y="4191000"/>
            <a:ext cx="381000" cy="203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</a:rPr>
              <a:t>…</a:t>
            </a:r>
            <a:endParaRPr sz="1400" b="1">
              <a:solidFill>
                <a:srgbClr val="000000"/>
              </a:solidFill>
            </a:endParaRPr>
          </a:p>
        </p:txBody>
      </p:sp>
      <p:cxnSp>
        <p:nvCxnSpPr>
          <p:cNvPr id="9353" name="Arrow 37"/>
          <p:cNvCxnSpPr>
            <a:stCxn id="20" idx="3"/>
            <a:endCxn id="9317" idx="1"/>
          </p:cNvCxnSpPr>
          <p:nvPr/>
        </p:nvCxnSpPr>
        <p:spPr>
          <a:xfrm flipV="1">
            <a:off x="1968500" y="2565400"/>
            <a:ext cx="3492500" cy="355600"/>
          </a:xfrm>
          <a:prstGeom prst="straightConnector1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4" name="Arrow 38"/>
          <p:cNvCxnSpPr>
            <a:stCxn id="32" idx="3"/>
            <a:endCxn id="9318" idx="1"/>
          </p:cNvCxnSpPr>
          <p:nvPr/>
        </p:nvCxnSpPr>
        <p:spPr>
          <a:xfrm>
            <a:off x="1968500" y="3251200"/>
            <a:ext cx="3492500" cy="38100"/>
          </a:xfrm>
          <a:prstGeom prst="straightConnector1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5" name="Arrow 39"/>
          <p:cNvCxnSpPr>
            <a:stCxn id="18" idx="3"/>
            <a:endCxn id="9319" idx="1"/>
          </p:cNvCxnSpPr>
          <p:nvPr/>
        </p:nvCxnSpPr>
        <p:spPr>
          <a:xfrm>
            <a:off x="1968500" y="3581400"/>
            <a:ext cx="3492500" cy="431800"/>
          </a:xfrm>
          <a:prstGeom prst="straightConnector1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4492" y="0"/>
            <a:ext cx="9071640" cy="94644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MetaStore</a:t>
            </a:r>
            <a:endParaRPr lang="en-US"/>
          </a:p>
        </p:txBody>
      </p:sp>
      <p:sp>
        <p:nvSpPr>
          <p:cNvPr id="5" name="ZoneTexte 4"/>
          <p:cNvSpPr txBox="1"/>
          <p:nvPr/>
        </p:nvSpPr>
        <p:spPr>
          <a:xfrm>
            <a:off x="1069200" y="1447200"/>
            <a:ext cx="846372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Contains</a:t>
            </a:r>
            <a:r>
              <a:rPr lang="fr-FR" sz="2800"/>
              <a:t> </a:t>
            </a:r>
            <a:r>
              <a:rPr lang="fr-FR" sz="2800"/>
              <a:t>only</a:t>
            </a:r>
            <a:r>
              <a:rPr lang="fr-FR" sz="2800"/>
              <a:t>  </a:t>
            </a:r>
            <a:r>
              <a:rPr lang="fr-FR" sz="2800" b="1"/>
              <a:t>DDL</a:t>
            </a:r>
            <a:r>
              <a:rPr lang="fr-FR" sz="2800"/>
              <a:t>   (Data </a:t>
            </a:r>
            <a:r>
              <a:rPr lang="fr-FR" sz="2800"/>
              <a:t>Definition</a:t>
            </a:r>
            <a:r>
              <a:rPr lang="fr-FR" sz="2800"/>
              <a:t> Langage)</a:t>
            </a:r>
          </a:p>
          <a:p>
            <a:r>
              <a:rPr lang="fr-FR" sz="2800"/>
              <a:t>          </a:t>
            </a:r>
            <a:r>
              <a:rPr lang="fr-FR" sz="2800" b="1"/>
              <a:t>metadata</a:t>
            </a:r>
            <a:r>
              <a:rPr lang="fr-FR" sz="2800"/>
              <a:t>   (no HDFS data) </a:t>
            </a:r>
          </a:p>
          <a:p>
            <a:endParaRPr lang="fr-FR" sz="2800"/>
          </a:p>
          <a:p>
            <a:r>
              <a:rPr lang="fr-FR" sz="2800"/>
              <a:t>Logical</a:t>
            </a:r>
            <a:r>
              <a:rPr lang="fr-FR" sz="2800"/>
              <a:t> </a:t>
            </a:r>
            <a:r>
              <a:rPr lang="fr-FR" sz="2800"/>
              <a:t>view</a:t>
            </a:r>
            <a:r>
              <a:rPr lang="fr-FR" sz="2800"/>
              <a:t> mapping :  </a:t>
            </a:r>
            <a:r>
              <a:rPr lang="fr-FR" sz="2800" b="1"/>
              <a:t>name</a:t>
            </a:r>
            <a:r>
              <a:rPr lang="fr-FR" sz="2800" b="1"/>
              <a:t> in SQL </a:t>
            </a:r>
            <a:r>
              <a:rPr lang="fr-FR" sz="2800" b="1">
                <a:sym typeface="Wingdings"/>
              </a:rPr>
              <a:t> location in HDFS</a:t>
            </a:r>
          </a:p>
          <a:p>
            <a:endParaRPr lang="fr-FR" sz="2800">
              <a:sym typeface="Wingdings"/>
            </a:endParaRPr>
          </a:p>
          <a:p>
            <a:r>
              <a:rPr lang="fr-FR" sz="2800" b="1">
                <a:sym typeface="Wingdings"/>
              </a:rPr>
              <a:t>File format </a:t>
            </a:r>
            <a:r>
              <a:rPr lang="fr-FR" sz="2800">
                <a:sym typeface="Wingdings"/>
              </a:rPr>
              <a:t>encoding</a:t>
            </a:r>
            <a:r>
              <a:rPr lang="fr-FR" sz="2800">
                <a:sym typeface="Wingdings"/>
              </a:rPr>
              <a:t>:  parquet, </a:t>
            </a:r>
            <a:r>
              <a:rPr lang="fr-FR" sz="2800">
                <a:sym typeface="Wingdings"/>
              </a:rPr>
              <a:t>orc</a:t>
            </a:r>
            <a:r>
              <a:rPr lang="fr-FR" sz="2800">
                <a:sym typeface="Wingdings"/>
              </a:rPr>
              <a:t>, </a:t>
            </a:r>
            <a:r>
              <a:rPr lang="fr-FR" sz="2800">
                <a:sym typeface="Wingdings"/>
              </a:rPr>
              <a:t>avro</a:t>
            </a:r>
            <a:r>
              <a:rPr lang="fr-FR" sz="2800">
                <a:sym typeface="Wingdings"/>
              </a:rPr>
              <a:t>, csv, </a:t>
            </a:r>
            <a:r>
              <a:rPr lang="fr-FR" sz="2800">
                <a:sym typeface="Wingdings"/>
              </a:rPr>
              <a:t>json</a:t>
            </a:r>
            <a:r>
              <a:rPr lang="fr-FR" sz="2800">
                <a:sym typeface="Wingdings"/>
              </a:rPr>
              <a:t>, …</a:t>
            </a:r>
          </a:p>
          <a:p>
            <a:endParaRPr lang="fr-FR" sz="2800">
              <a:sym typeface="Wingdings"/>
            </a:endParaRPr>
          </a:p>
          <a:p>
            <a:r>
              <a:rPr lang="fr-FR" sz="2800">
                <a:sym typeface="Wingdings"/>
              </a:rPr>
              <a:t>Schema</a:t>
            </a:r>
            <a:r>
              <a:rPr lang="fr-FR" sz="2800">
                <a:sym typeface="Wingdings"/>
              </a:rPr>
              <a:t> : </a:t>
            </a:r>
            <a:r>
              <a:rPr lang="fr-FR" sz="2800" b="1">
                <a:sym typeface="Wingdings"/>
              </a:rPr>
              <a:t>column</a:t>
            </a:r>
            <a:r>
              <a:rPr lang="fr-FR" sz="2800" b="1">
                <a:sym typeface="Wingdings"/>
              </a:rPr>
              <a:t> types</a:t>
            </a:r>
            <a:endParaRPr lang="fr-FR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326111" y="0"/>
            <a:ext cx="9428401" cy="94644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Sample CREATE EXTERNAL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574" y="1337420"/>
            <a:ext cx="488300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CREATE EXTERNAL TABLE </a:t>
            </a:r>
            <a:r>
              <a:rPr lang="fr-FR" sz="2400"/>
              <a:t>db.student</a:t>
            </a:r>
            <a:r>
              <a:rPr lang="fr-FR" sz="2400"/>
              <a:t> (</a:t>
            </a:r>
          </a:p>
          <a:p>
            <a:r>
              <a:rPr lang="fr-FR" sz="2400"/>
              <a:t>   id </a:t>
            </a:r>
            <a:r>
              <a:rPr lang="fr-FR" sz="2400"/>
              <a:t>int</a:t>
            </a:r>
            <a:r>
              <a:rPr lang="fr-FR" sz="2400"/>
              <a:t>,</a:t>
            </a:r>
          </a:p>
          <a:p>
            <a:r>
              <a:rPr lang="fr-FR" sz="2400"/>
              <a:t>   </a:t>
            </a:r>
            <a:r>
              <a:rPr lang="fr-FR" sz="2400"/>
              <a:t>firstName</a:t>
            </a:r>
            <a:r>
              <a:rPr lang="fr-FR" sz="2400"/>
              <a:t> string,</a:t>
            </a:r>
          </a:p>
          <a:p>
            <a:r>
              <a:rPr lang="fr-FR" sz="2400"/>
              <a:t>   </a:t>
            </a:r>
            <a:r>
              <a:rPr lang="fr-FR" sz="2400"/>
              <a:t>lastName</a:t>
            </a:r>
            <a:r>
              <a:rPr lang="fr-FR" sz="2400"/>
              <a:t> string</a:t>
            </a:r>
          </a:p>
          <a:p>
            <a:r>
              <a:rPr lang="fr-FR" sz="2400"/>
              <a:t>) </a:t>
            </a:r>
          </a:p>
          <a:p>
            <a:r>
              <a:rPr lang="fr-FR" sz="2400"/>
              <a:t>PARTITIONED BY (</a:t>
            </a:r>
          </a:p>
          <a:p>
            <a:r>
              <a:rPr lang="fr-FR" sz="2400"/>
              <a:t>  promo </a:t>
            </a:r>
            <a:r>
              <a:rPr lang="fr-FR" sz="2400"/>
              <a:t>int</a:t>
            </a:r>
            <a:endParaRPr lang="fr-FR" sz="2400"/>
          </a:p>
          <a:p>
            <a:r>
              <a:rPr lang="fr-FR" sz="2400"/>
              <a:t>)</a:t>
            </a:r>
          </a:p>
          <a:p>
            <a:r>
              <a:rPr lang="fr-FR" sz="2400"/>
              <a:t>STORED AS parquet</a:t>
            </a:r>
          </a:p>
          <a:p>
            <a:r>
              <a:rPr lang="fr-FR" sz="2400"/>
              <a:t>LOCATION ‘/data/</a:t>
            </a:r>
            <a:r>
              <a:rPr lang="fr-FR" sz="2400"/>
              <a:t>student</a:t>
            </a:r>
            <a:r>
              <a:rPr lang="fr-FR" sz="2400"/>
              <a:t>’</a:t>
            </a:r>
          </a:p>
          <a:p>
            <a:endParaRPr lang="fr-FR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104592" y="0"/>
            <a:ext cx="9871439" cy="94644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Advanced CREATE EXTERNAL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2896" y="1287178"/>
            <a:ext cx="837755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CREATE EXTERNAL TABLE </a:t>
            </a:r>
            <a:r>
              <a:rPr lang="fr-FR" sz="2400"/>
              <a:t>db.student</a:t>
            </a:r>
            <a:r>
              <a:rPr lang="fr-FR" sz="2400"/>
              <a:t> (</a:t>
            </a:r>
          </a:p>
          <a:p>
            <a:r>
              <a:rPr lang="fr-FR" sz="2400"/>
              <a:t>   id </a:t>
            </a:r>
            <a:r>
              <a:rPr lang="fr-FR" sz="2400"/>
              <a:t>int</a:t>
            </a:r>
            <a:r>
              <a:rPr lang="fr-FR" sz="2400"/>
              <a:t>, </a:t>
            </a:r>
            <a:r>
              <a:rPr lang="fr-FR" sz="2400"/>
              <a:t>firstName</a:t>
            </a:r>
            <a:r>
              <a:rPr lang="fr-FR" sz="2400"/>
              <a:t> string, </a:t>
            </a:r>
            <a:r>
              <a:rPr lang="fr-FR" sz="2400"/>
              <a:t>lastName</a:t>
            </a:r>
            <a:r>
              <a:rPr lang="fr-FR" sz="2400"/>
              <a:t> string,</a:t>
            </a:r>
          </a:p>
          <a:p>
            <a:r>
              <a:rPr lang="fr-FR" sz="2400"/>
              <a:t>   </a:t>
            </a:r>
            <a:r>
              <a:rPr lang="fr-FR" sz="2400"/>
              <a:t>address</a:t>
            </a:r>
            <a:r>
              <a:rPr lang="fr-FR" sz="2400"/>
              <a:t> </a:t>
            </a:r>
            <a:r>
              <a:rPr lang="fr-FR" sz="2400" b="1"/>
              <a:t>struct</a:t>
            </a:r>
            <a:r>
              <a:rPr lang="fr-FR" sz="2400" b="1"/>
              <a:t>&lt; </a:t>
            </a:r>
            <a:r>
              <a:rPr lang="fr-FR" sz="2400"/>
              <a:t>street</a:t>
            </a:r>
            <a:r>
              <a:rPr lang="fr-FR" sz="2400"/>
              <a:t> </a:t>
            </a:r>
            <a:r>
              <a:rPr lang="fr-FR" sz="2400"/>
              <a:t>string,number</a:t>
            </a:r>
            <a:r>
              <a:rPr lang="fr-FR" sz="2400"/>
              <a:t> </a:t>
            </a:r>
            <a:r>
              <a:rPr lang="fr-FR" sz="2400"/>
              <a:t>int,zipcode</a:t>
            </a:r>
            <a:r>
              <a:rPr lang="fr-FR" sz="2400"/>
              <a:t> </a:t>
            </a:r>
            <a:r>
              <a:rPr lang="fr-FR" sz="2400"/>
              <a:t>int</a:t>
            </a:r>
            <a:r>
              <a:rPr lang="fr-FR" sz="2400"/>
              <a:t> </a:t>
            </a:r>
            <a:r>
              <a:rPr lang="fr-FR" sz="2400" b="1"/>
              <a:t>&gt;</a:t>
            </a:r>
            <a:r>
              <a:rPr lang="fr-FR" sz="2400"/>
              <a:t>,</a:t>
            </a:r>
          </a:p>
          <a:p>
            <a:r>
              <a:rPr lang="fr-FR" sz="2400"/>
              <a:t>   graduations </a:t>
            </a:r>
            <a:r>
              <a:rPr lang="fr-FR" sz="2400" b="1"/>
              <a:t>array</a:t>
            </a:r>
            <a:r>
              <a:rPr lang="fr-FR" sz="2400" b="1"/>
              <a:t>&lt; </a:t>
            </a:r>
            <a:r>
              <a:rPr lang="fr-FR" sz="2400" b="1"/>
              <a:t>struct</a:t>
            </a:r>
            <a:r>
              <a:rPr lang="fr-FR" sz="2400" b="1"/>
              <a:t>&lt; </a:t>
            </a:r>
            <a:r>
              <a:rPr lang="fr-FR" sz="2400"/>
              <a:t>name</a:t>
            </a:r>
            <a:r>
              <a:rPr lang="fr-FR" sz="2400"/>
              <a:t> string, </a:t>
            </a:r>
            <a:r>
              <a:rPr lang="fr-FR" sz="2400"/>
              <a:t>obtentionDate</a:t>
            </a:r>
            <a:r>
              <a:rPr lang="fr-FR" sz="2400"/>
              <a:t> date </a:t>
            </a:r>
            <a:r>
              <a:rPr lang="fr-FR" sz="2400" b="1"/>
              <a:t>&gt; &gt;</a:t>
            </a:r>
            <a:r>
              <a:rPr lang="fr-FR" sz="2400"/>
              <a:t>,</a:t>
            </a:r>
          </a:p>
          <a:p>
            <a:r>
              <a:rPr lang="fr-FR" sz="2400"/>
              <a:t>   </a:t>
            </a:r>
            <a:r>
              <a:rPr lang="fr-FR" sz="2400"/>
              <a:t>extraData</a:t>
            </a:r>
            <a:r>
              <a:rPr lang="fr-FR" sz="2400"/>
              <a:t> </a:t>
            </a:r>
            <a:r>
              <a:rPr lang="fr-FR" sz="2400" b="1"/>
              <a:t>map</a:t>
            </a:r>
            <a:r>
              <a:rPr lang="fr-FR" sz="2400" b="1"/>
              <a:t>&lt; </a:t>
            </a:r>
            <a:r>
              <a:rPr lang="fr-FR" sz="2400"/>
              <a:t>string,string</a:t>
            </a:r>
            <a:r>
              <a:rPr lang="fr-FR" sz="2400"/>
              <a:t> </a:t>
            </a:r>
            <a:r>
              <a:rPr lang="fr-FR" sz="2400" b="1"/>
              <a:t>&gt;</a:t>
            </a:r>
          </a:p>
          <a:p>
            <a:r>
              <a:rPr lang="fr-FR" sz="2400"/>
              <a:t>) </a:t>
            </a:r>
          </a:p>
          <a:p>
            <a:r>
              <a:rPr lang="fr-FR" sz="2400"/>
              <a:t>PARTITIONED BY ( promo </a:t>
            </a:r>
            <a:r>
              <a:rPr lang="fr-FR" sz="2400"/>
              <a:t>int</a:t>
            </a:r>
            <a:r>
              <a:rPr lang="fr-FR" sz="2400"/>
              <a:t> )</a:t>
            </a:r>
          </a:p>
          <a:p>
            <a:r>
              <a:rPr lang="en-US" sz="2400"/>
              <a:t>CLUSTERED BY ( id, ...)  SORTED BY (</a:t>
            </a:r>
            <a:r>
              <a:rPr lang="en-US" sz="2400"/>
              <a:t>lastName</a:t>
            </a:r>
            <a:r>
              <a:rPr lang="en-US" sz="2400"/>
              <a:t>, </a:t>
            </a:r>
            <a:r>
              <a:rPr lang="en-US" sz="2400"/>
              <a:t>firstName</a:t>
            </a:r>
            <a:r>
              <a:rPr lang="en-US" sz="2400"/>
              <a:t> )</a:t>
            </a:r>
            <a:endParaRPr lang="fr-FR" sz="2400"/>
          </a:p>
          <a:p>
            <a:r>
              <a:rPr lang="fr-FR" sz="2400"/>
              <a:t>STORED AS parquet</a:t>
            </a:r>
          </a:p>
          <a:p>
            <a:r>
              <a:rPr lang="fr-FR" sz="2400"/>
              <a:t>LOCATION ‘/data/</a:t>
            </a:r>
            <a:r>
              <a:rPr lang="fr-FR" sz="2400"/>
              <a:t>student</a:t>
            </a:r>
            <a:r>
              <a:rPr lang="fr-FR" sz="2400"/>
              <a:t>’</a:t>
            </a:r>
          </a:p>
          <a:p>
            <a:endParaRPr lang="fr-FR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2049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MetaStore</a:t>
            </a:r>
            <a:r>
              <a:rPr lang="fr-FR">
                <a:solidFill>
                  <a:sysClr val="windowText" lastClr="000000"/>
                </a:solidFill>
              </a:rPr>
              <a:t>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331970" y="1643035"/>
            <a:ext cx="1116330" cy="414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Table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536838" y="1945259"/>
            <a:ext cx="688702" cy="378841"/>
          </a:xfrm>
          <a:prstGeom prst="straightConnector1">
            <a:avLst/>
          </a:prstGeom>
          <a:ln w="19050">
            <a:headEnd type="diamond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252210" y="2116917"/>
            <a:ext cx="1116330" cy="414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Partition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4350" y="2438400"/>
            <a:ext cx="1116330" cy="414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Schema</a:t>
            </a:r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3766184" y="3229376"/>
            <a:ext cx="1160145" cy="473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Column</a:t>
            </a:r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5092064" y="3229376"/>
            <a:ext cx="1160145" cy="473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Partition</a:t>
            </a:r>
            <a:br>
              <a:rPr lang="fr-FR"/>
            </a:br>
            <a:r>
              <a:rPr lang="fr-FR"/>
              <a:t>Column</a:t>
            </a:r>
            <a:endParaRPr lang="fr-FR"/>
          </a:p>
        </p:txBody>
      </p:sp>
      <p:sp>
        <p:nvSpPr>
          <p:cNvPr id="23" name="TextBox 22"/>
          <p:cNvSpPr txBox="1"/>
          <p:nvPr/>
        </p:nvSpPr>
        <p:spPr>
          <a:xfrm>
            <a:off x="4121943" y="29531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6838" y="29280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2964" y="2149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1</a:t>
            </a:r>
          </a:p>
        </p:txBody>
      </p:sp>
      <p:cxnSp>
        <p:nvCxnSpPr>
          <p:cNvPr id="26" name="Straight Arrow Connector 25"/>
          <p:cNvCxnSpPr>
            <a:stCxn id="3" idx="2"/>
            <a:endCxn id="11" idx="0"/>
          </p:cNvCxnSpPr>
          <p:nvPr/>
        </p:nvCxnSpPr>
        <p:spPr>
          <a:xfrm flipH="1">
            <a:off x="4882515" y="2057400"/>
            <a:ext cx="7620" cy="381000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21" idx="0"/>
          </p:cNvCxnSpPr>
          <p:nvPr/>
        </p:nvCxnSpPr>
        <p:spPr>
          <a:xfrm flipH="1">
            <a:off x="4346257" y="2852765"/>
            <a:ext cx="313374" cy="376611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22" idx="0"/>
          </p:cNvCxnSpPr>
          <p:nvPr/>
        </p:nvCxnSpPr>
        <p:spPr>
          <a:xfrm>
            <a:off x="5021794" y="2851765"/>
            <a:ext cx="650343" cy="377611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564577" y="4149412"/>
            <a:ext cx="876103" cy="2968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Type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80773" y="4813960"/>
            <a:ext cx="1193718" cy="2968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StructType</a:t>
            </a:r>
            <a:endParaRPr lang="fr-FR"/>
          </a:p>
        </p:txBody>
      </p:sp>
      <p:sp>
        <p:nvSpPr>
          <p:cNvPr id="40" name="Rectangle 39"/>
          <p:cNvSpPr/>
          <p:nvPr/>
        </p:nvSpPr>
        <p:spPr>
          <a:xfrm>
            <a:off x="3234857" y="4813960"/>
            <a:ext cx="1193718" cy="2968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ArrayType</a:t>
            </a:r>
            <a:endParaRPr lang="fr-FR"/>
          </a:p>
        </p:txBody>
      </p:sp>
      <p:sp>
        <p:nvSpPr>
          <p:cNvPr id="41" name="Rectangle 40"/>
          <p:cNvSpPr/>
          <p:nvPr/>
        </p:nvSpPr>
        <p:spPr>
          <a:xfrm>
            <a:off x="4478419" y="4821902"/>
            <a:ext cx="1193718" cy="2968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MapType</a:t>
            </a:r>
            <a:endParaRPr lang="fr-FR"/>
          </a:p>
        </p:txBody>
      </p:sp>
      <p:sp>
        <p:nvSpPr>
          <p:cNvPr id="42" name="Rectangle 41"/>
          <p:cNvSpPr/>
          <p:nvPr/>
        </p:nvSpPr>
        <p:spPr>
          <a:xfrm>
            <a:off x="5779445" y="4821902"/>
            <a:ext cx="1193718" cy="2968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ScalarType</a:t>
            </a:r>
            <a:endParaRPr lang="fr-FR"/>
          </a:p>
        </p:txBody>
      </p:sp>
      <p:sp>
        <p:nvSpPr>
          <p:cNvPr id="43" name="Rectangle 42"/>
          <p:cNvSpPr/>
          <p:nvPr/>
        </p:nvSpPr>
        <p:spPr>
          <a:xfrm>
            <a:off x="5609036" y="5159434"/>
            <a:ext cx="2018583" cy="2968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Int, Double, Date, ..</a:t>
            </a:r>
          </a:p>
        </p:txBody>
      </p:sp>
      <p:cxnSp>
        <p:nvCxnSpPr>
          <p:cNvPr id="44" name="Straight Arrow Connector 43"/>
          <p:cNvCxnSpPr>
            <a:endCxn id="38" idx="2"/>
          </p:cNvCxnSpPr>
          <p:nvPr/>
        </p:nvCxnSpPr>
        <p:spPr>
          <a:xfrm flipV="1">
            <a:off x="5002629" y="4446270"/>
            <a:ext cx="0" cy="44958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2577632" y="4644390"/>
            <a:ext cx="1" cy="207670"/>
          </a:xfrm>
          <a:prstGeom prst="straightConnector1">
            <a:avLst/>
          </a:prstGeom>
          <a:ln w="19050"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3827312" y="4640580"/>
            <a:ext cx="1" cy="207670"/>
          </a:xfrm>
          <a:prstGeom prst="straightConnector1">
            <a:avLst/>
          </a:prstGeom>
          <a:ln w="19050"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6364772" y="4648200"/>
            <a:ext cx="1" cy="207670"/>
          </a:xfrm>
          <a:prstGeom prst="straightConnector1">
            <a:avLst/>
          </a:prstGeom>
          <a:ln w="19050"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2577632" y="4644390"/>
            <a:ext cx="3783331" cy="7620"/>
          </a:xfrm>
          <a:prstGeom prst="straightConnector1">
            <a:avLst/>
          </a:prstGeom>
          <a:ln w="19050"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925458" y="19452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59294" y="2444880"/>
            <a:ext cx="21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Map</a:t>
            </a:r>
            <a:r>
              <a:rPr lang="fr-FR"/>
              <a:t>&lt;</a:t>
            </a:r>
            <a:r>
              <a:rPr lang="fr-FR"/>
              <a:t>column,value</a:t>
            </a:r>
            <a:r>
              <a:rPr lang="fr-FR"/>
              <a:t>&gt;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6034300" y="2714492"/>
            <a:ext cx="745595" cy="482098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187182" y="2944501"/>
            <a:ext cx="43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*</a:t>
            </a:r>
          </a:p>
        </p:txBody>
      </p:sp>
      <p:cxnSp>
        <p:nvCxnSpPr>
          <p:cNvPr id="62" name="Straight Arrow Connector 61"/>
          <p:cNvCxnSpPr>
            <a:stCxn id="21" idx="2"/>
            <a:endCxn id="38" idx="0"/>
          </p:cNvCxnSpPr>
          <p:nvPr/>
        </p:nvCxnSpPr>
        <p:spPr>
          <a:xfrm>
            <a:off x="4346257" y="3703258"/>
            <a:ext cx="656372" cy="446154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770574" y="36470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1</a:t>
            </a:r>
          </a:p>
        </p:txBody>
      </p:sp>
      <p:cxnSp>
        <p:nvCxnSpPr>
          <p:cNvPr id="66" name="Straight Arrow Connector 65"/>
          <p:cNvCxnSpPr>
            <a:stCxn id="22" idx="2"/>
          </p:cNvCxnSpPr>
          <p:nvPr/>
        </p:nvCxnSpPr>
        <p:spPr>
          <a:xfrm>
            <a:off x="5672137" y="3703258"/>
            <a:ext cx="945833" cy="935764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510751" y="44829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1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 flipV="1">
            <a:off x="2194560" y="4223360"/>
            <a:ext cx="2308384" cy="154652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2198370" y="4381822"/>
            <a:ext cx="0" cy="407348"/>
          </a:xfrm>
          <a:prstGeom prst="straightConnector1">
            <a:avLst/>
          </a:prstGeom>
          <a:ln w="19050"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810230" y="400560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Fields [</a:t>
            </a:r>
            <a:r>
              <a:rPr lang="fr-FR"/>
              <a:t>name</a:t>
            </a:r>
            <a:r>
              <a:rPr lang="fr-FR"/>
              <a:t>]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 flipV="1">
            <a:off x="3464481" y="4371951"/>
            <a:ext cx="1019413" cy="164938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V="1">
            <a:off x="3464481" y="4530146"/>
            <a:ext cx="0" cy="259024"/>
          </a:xfrm>
          <a:prstGeom prst="straightConnector1">
            <a:avLst/>
          </a:prstGeom>
          <a:ln w="19050"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096062" y="4214126"/>
            <a:ext cx="9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element</a:t>
            </a:r>
            <a:endParaRPr lang="fr-FR"/>
          </a:p>
        </p:txBody>
      </p:sp>
      <p:sp>
        <p:nvSpPr>
          <p:cNvPr id="90" name="TextBox 89"/>
          <p:cNvSpPr txBox="1"/>
          <p:nvPr/>
        </p:nvSpPr>
        <p:spPr>
          <a:xfrm>
            <a:off x="4156589" y="43113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58334" y="393437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*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55979" y="4371273"/>
            <a:ext cx="1095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key, value</a:t>
            </a:r>
          </a:p>
        </p:txBody>
      </p:sp>
      <p:cxnSp>
        <p:nvCxnSpPr>
          <p:cNvPr id="93" name="Straight Arrow Connector 92"/>
          <p:cNvCxnSpPr/>
          <p:nvPr/>
        </p:nvCxnSpPr>
        <p:spPr>
          <a:xfrm flipH="1" flipV="1">
            <a:off x="5179568" y="4450081"/>
            <a:ext cx="151920" cy="445769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23867" y="2383982"/>
            <a:ext cx="33230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Schema</a:t>
            </a:r>
            <a:r>
              <a:rPr lang="fr-FR"/>
              <a:t> support « </a:t>
            </a:r>
            <a:r>
              <a:rPr lang="fr-FR"/>
              <a:t>Nested</a:t>
            </a:r>
            <a:r>
              <a:rPr lang="fr-FR"/>
              <a:t> » </a:t>
            </a:r>
            <a:r>
              <a:rPr lang="fr-FR"/>
              <a:t>fields</a:t>
            </a:r>
            <a:endParaRPr lang="fr-FR"/>
          </a:p>
          <a:p>
            <a:r>
              <a:rPr lang="fr-FR"/>
              <a:t>like </a:t>
            </a:r>
            <a:r>
              <a:rPr lang="fr-FR"/>
              <a:t>typed</a:t>
            </a:r>
            <a:r>
              <a:rPr lang="fr-FR"/>
              <a:t> </a:t>
            </a:r>
            <a:r>
              <a:rPr lang="fr-FR"/>
              <a:t>json,xml,parquet</a:t>
            </a:r>
            <a:endParaRPr lang="fr-FR"/>
          </a:p>
          <a:p>
            <a:r>
              <a:rPr lang="fr-FR"/>
              <a:t>unlike</a:t>
            </a:r>
            <a:r>
              <a:rPr lang="fr-FR"/>
              <a:t> standard </a:t>
            </a:r>
            <a:r>
              <a:rPr lang="fr-FR"/>
              <a:t>sql</a:t>
            </a:r>
            <a:r>
              <a:rPr lang="fr-FR"/>
              <a:t> DB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80773" y="1199190"/>
            <a:ext cx="1663838" cy="522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Database</a:t>
            </a:r>
            <a:endParaRPr lang="fr-FR"/>
          </a:p>
          <a:p>
            <a:pPr algn="ctr"/>
            <a:r>
              <a:rPr lang="fr-FR"/>
              <a:t>(</a:t>
            </a:r>
            <a:r>
              <a:rPr lang="fr-FR"/>
              <a:t>namespace</a:t>
            </a:r>
            <a:r>
              <a:rPr lang="fr-FR"/>
              <a:t>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21033" y="15307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*</a:t>
            </a:r>
          </a:p>
        </p:txBody>
      </p:sp>
      <p:cxnSp>
        <p:nvCxnSpPr>
          <p:cNvPr id="104" name="Straight Arrow Connector 103"/>
          <p:cNvCxnSpPr/>
          <p:nvPr/>
        </p:nvCxnSpPr>
        <p:spPr>
          <a:xfrm>
            <a:off x="3719597" y="1573474"/>
            <a:ext cx="582072" cy="293239"/>
          </a:xfrm>
          <a:prstGeom prst="straightConnector1">
            <a:avLst/>
          </a:prstGeom>
          <a:ln w="19050">
            <a:headEnd type="diamond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4069271" y="11091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*</a:t>
            </a:r>
          </a:p>
        </p:txBody>
      </p:sp>
      <p:cxnSp>
        <p:nvCxnSpPr>
          <p:cNvPr id="107" name="Straight Arrow Connector 106"/>
          <p:cNvCxnSpPr>
            <a:endCxn id="106" idx="3"/>
          </p:cNvCxnSpPr>
          <p:nvPr/>
        </p:nvCxnSpPr>
        <p:spPr>
          <a:xfrm flipV="1">
            <a:off x="3715787" y="1293824"/>
            <a:ext cx="653566" cy="123440"/>
          </a:xfrm>
          <a:prstGeom prst="straightConnector1">
            <a:avLst/>
          </a:prstGeom>
          <a:ln w="19050">
            <a:headEnd type="diamond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4428575" y="1060588"/>
            <a:ext cx="997006" cy="303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Function</a:t>
            </a:r>
            <a:endParaRPr lang="fr-FR"/>
          </a:p>
        </p:txBody>
      </p:sp>
      <p:sp>
        <p:nvSpPr>
          <p:cNvPr id="110" name="Rectangle 109"/>
          <p:cNvSpPr/>
          <p:nvPr/>
        </p:nvSpPr>
        <p:spPr>
          <a:xfrm>
            <a:off x="6263640" y="1438737"/>
            <a:ext cx="1116330" cy="414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Statistics</a:t>
            </a:r>
            <a:endParaRPr lang="fr-FR"/>
          </a:p>
        </p:txBody>
      </p:sp>
      <p:cxnSp>
        <p:nvCxnSpPr>
          <p:cNvPr id="112" name="Straight Arrow Connector 111"/>
          <p:cNvCxnSpPr>
            <a:endCxn id="110" idx="1"/>
          </p:cNvCxnSpPr>
          <p:nvPr/>
        </p:nvCxnSpPr>
        <p:spPr>
          <a:xfrm flipV="1">
            <a:off x="5533028" y="1645920"/>
            <a:ext cx="730612" cy="97410"/>
          </a:xfrm>
          <a:prstGeom prst="straightConnector1">
            <a:avLst/>
          </a:prstGeom>
          <a:ln w="19050">
            <a:headEnd type="diamond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5932624" y="13801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1</a:t>
            </a:r>
          </a:p>
        </p:txBody>
      </p:sp>
      <p:cxnSp>
        <p:nvCxnSpPr>
          <p:cNvPr id="115" name="Straight Arrow Connector 114"/>
          <p:cNvCxnSpPr>
            <a:endCxn id="110" idx="2"/>
          </p:cNvCxnSpPr>
          <p:nvPr/>
        </p:nvCxnSpPr>
        <p:spPr>
          <a:xfrm flipV="1">
            <a:off x="6584588" y="1853102"/>
            <a:ext cx="237217" cy="198838"/>
          </a:xfrm>
          <a:prstGeom prst="straightConnector1">
            <a:avLst/>
          </a:prstGeom>
          <a:ln w="19050">
            <a:headEnd type="diamond" w="lg" len="lg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6739895" y="17783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-11086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Hive</a:t>
            </a:r>
            <a:r>
              <a:rPr lang="fr-FR">
                <a:solidFill>
                  <a:sysClr val="windowText" lastClr="000000"/>
                </a:solidFill>
              </a:rPr>
              <a:t> </a:t>
            </a:r>
            <a:r>
              <a:rPr lang="fr-FR">
                <a:solidFill>
                  <a:sysClr val="windowText" lastClr="000000"/>
                </a:solidFill>
              </a:rPr>
              <a:t>MetaStore</a:t>
            </a:r>
            <a:r>
              <a:rPr lang="fr-FR">
                <a:solidFill>
                  <a:sysClr val="windowText" lastClr="000000"/>
                </a:solidFill>
              </a:rPr>
              <a:t>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483283" y="2406036"/>
            <a:ext cx="1318260" cy="613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2243253" y="2552721"/>
            <a:ext cx="240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079423" y="2451756"/>
            <a:ext cx="19812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813692" y="2074030"/>
            <a:ext cx="1265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HTTP </a:t>
            </a:r>
            <a:r>
              <a:rPr lang="fr-FR"/>
              <a:t>Rest</a:t>
            </a:r>
            <a:r>
              <a:rPr lang="fr-FR"/>
              <a:t> </a:t>
            </a:r>
          </a:p>
          <a:p>
            <a:r>
              <a:rPr lang="fr-FR"/>
              <a:t>(Web </a:t>
            </a:r>
            <a:r>
              <a:rPr lang="fr-FR"/>
              <a:t>HCat</a:t>
            </a:r>
            <a:r>
              <a:rPr lang="fr-FR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285" y="2761875"/>
            <a:ext cx="1374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Protobuf</a:t>
            </a:r>
            <a:r>
              <a:rPr lang="fr-FR"/>
              <a:t> API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243253" y="2891811"/>
            <a:ext cx="240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079423" y="2790846"/>
            <a:ext cx="19812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2554591" y="2522360"/>
            <a:ext cx="1197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MetaStore</a:t>
            </a:r>
            <a:endParaRPr lang="fr-FR" b="1"/>
          </a:p>
        </p:txBody>
      </p:sp>
      <p:sp>
        <p:nvSpPr>
          <p:cNvPr id="12" name="Cylinder 11"/>
          <p:cNvSpPr/>
          <p:nvPr/>
        </p:nvSpPr>
        <p:spPr>
          <a:xfrm>
            <a:off x="4083483" y="3019446"/>
            <a:ext cx="449580" cy="5181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3599613" y="3493530"/>
            <a:ext cx="1626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Relational</a:t>
            </a:r>
            <a:r>
              <a:rPr lang="fr-FR"/>
              <a:t> DB</a:t>
            </a:r>
          </a:p>
          <a:p>
            <a:r>
              <a:rPr lang="fr-FR"/>
              <a:t>(ex: </a:t>
            </a:r>
            <a:r>
              <a:rPr lang="fr-FR"/>
              <a:t>postgresql</a:t>
            </a:r>
            <a:r>
              <a:rPr lang="fr-FR"/>
              <a:t>)</a:t>
            </a:r>
          </a:p>
        </p:txBody>
      </p:sp>
      <p:cxnSp>
        <p:nvCxnSpPr>
          <p:cNvPr id="15" name="Straight Connector 14"/>
          <p:cNvCxnSpPr>
            <a:stCxn id="3" idx="3"/>
            <a:endCxn id="12" idx="2"/>
          </p:cNvCxnSpPr>
          <p:nvPr/>
        </p:nvCxnSpPr>
        <p:spPr>
          <a:xfrm>
            <a:off x="3801543" y="2712741"/>
            <a:ext cx="281940" cy="565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8" name="Picture 4" descr="Apache Hive + bzip2 txt file. Why? -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53307" y="1529657"/>
            <a:ext cx="1329979" cy="968080"/>
          </a:xfrm>
          <a:prstGeom prst="rect">
            <a:avLst/>
          </a:prstGeom>
          <a:noFill/>
        </p:spPr>
      </p:pic>
      <p:sp>
        <p:nvSpPr>
          <p:cNvPr id="4" name="Cylinder 3"/>
          <p:cNvSpPr/>
          <p:nvPr/>
        </p:nvSpPr>
        <p:spPr>
          <a:xfrm>
            <a:off x="6943411" y="2216512"/>
            <a:ext cx="1902406" cy="91469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7601209" y="2597240"/>
            <a:ext cx="90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HDFS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-11086"/>
            <a:ext cx="9071640" cy="77346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Hive</a:t>
            </a:r>
            <a:r>
              <a:rPr lang="fr-FR">
                <a:solidFill>
                  <a:sysClr val="windowText" lastClr="000000"/>
                </a:solidFill>
              </a:rPr>
              <a:t> </a:t>
            </a:r>
            <a:r>
              <a:rPr lang="fr-FR">
                <a:solidFill>
                  <a:sysClr val="windowText" lastClr="000000"/>
                </a:solidFill>
              </a:rPr>
              <a:t>MetaStore</a:t>
            </a:r>
            <a:r>
              <a:rPr lang="fr-FR">
                <a:solidFill>
                  <a:sysClr val="windowText" lastClr="000000"/>
                </a:solidFill>
              </a:rPr>
              <a:t> != </a:t>
            </a:r>
            <a:r>
              <a:rPr lang="fr-FR">
                <a:solidFill>
                  <a:sysClr val="windowText" lastClr="000000"/>
                </a:solidFill>
              </a:rPr>
              <a:t>Hive</a:t>
            </a:r>
            <a:r>
              <a:rPr lang="fr-FR">
                <a:solidFill>
                  <a:sysClr val="windowText" lastClr="000000"/>
                </a:solidFill>
              </a:rPr>
              <a:t> Server2</a:t>
            </a:r>
          </a:p>
        </p:txBody>
      </p:sp>
      <p:sp>
        <p:nvSpPr>
          <p:cNvPr id="3" name="Rectangle 2"/>
          <p:cNvSpPr/>
          <p:nvPr/>
        </p:nvSpPr>
        <p:spPr>
          <a:xfrm>
            <a:off x="1810043" y="2350770"/>
            <a:ext cx="1318260" cy="613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570013" y="2497455"/>
            <a:ext cx="240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406183" y="2396490"/>
            <a:ext cx="19812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140452" y="2018764"/>
            <a:ext cx="1265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HTTP </a:t>
            </a:r>
            <a:r>
              <a:rPr lang="fr-FR"/>
              <a:t>Rest</a:t>
            </a:r>
            <a:r>
              <a:rPr lang="fr-FR"/>
              <a:t> </a:t>
            </a:r>
          </a:p>
          <a:p>
            <a:r>
              <a:rPr lang="fr-FR"/>
              <a:t>(Web </a:t>
            </a:r>
            <a:r>
              <a:rPr lang="fr-FR"/>
              <a:t>HCat</a:t>
            </a:r>
            <a:r>
              <a:rPr lang="fr-FR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45" y="2706609"/>
            <a:ext cx="1374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Protobuf</a:t>
            </a:r>
            <a:r>
              <a:rPr lang="fr-FR"/>
              <a:t> API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570013" y="2836545"/>
            <a:ext cx="240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406183" y="2735580"/>
            <a:ext cx="19812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1881351" y="2467094"/>
            <a:ext cx="1197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MetaStore</a:t>
            </a:r>
            <a:endParaRPr lang="fr-FR" b="1"/>
          </a:p>
        </p:txBody>
      </p:sp>
      <p:sp>
        <p:nvSpPr>
          <p:cNvPr id="12" name="Cylinder 11"/>
          <p:cNvSpPr/>
          <p:nvPr/>
        </p:nvSpPr>
        <p:spPr>
          <a:xfrm>
            <a:off x="3410243" y="2964180"/>
            <a:ext cx="449580" cy="5181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2926373" y="3438264"/>
            <a:ext cx="1626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Relational</a:t>
            </a:r>
            <a:r>
              <a:rPr lang="fr-FR"/>
              <a:t> DB</a:t>
            </a:r>
          </a:p>
          <a:p>
            <a:r>
              <a:rPr lang="fr-FR"/>
              <a:t>(ex: </a:t>
            </a:r>
            <a:r>
              <a:rPr lang="fr-FR"/>
              <a:t>postgresql</a:t>
            </a:r>
            <a:r>
              <a:rPr lang="fr-FR"/>
              <a:t>)</a:t>
            </a:r>
          </a:p>
        </p:txBody>
      </p:sp>
      <p:cxnSp>
        <p:nvCxnSpPr>
          <p:cNvPr id="15" name="Straight Connector 14"/>
          <p:cNvCxnSpPr>
            <a:stCxn id="3" idx="3"/>
            <a:endCxn id="12" idx="2"/>
          </p:cNvCxnSpPr>
          <p:nvPr/>
        </p:nvCxnSpPr>
        <p:spPr>
          <a:xfrm>
            <a:off x="3128303" y="2657475"/>
            <a:ext cx="281940" cy="565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98005" y="2310060"/>
            <a:ext cx="1318260" cy="613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6057975" y="2635815"/>
            <a:ext cx="240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894145" y="2534850"/>
            <a:ext cx="19812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/>
          <p:cNvSpPr txBox="1"/>
          <p:nvPr/>
        </p:nvSpPr>
        <p:spPr>
          <a:xfrm>
            <a:off x="4830007" y="2363638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Thrift</a:t>
            </a:r>
            <a:r>
              <a:rPr lang="fr-FR"/>
              <a:t>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2015" y="2342560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8054415" y="2494960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8206815" y="2647360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/>
          <p:cNvSpPr/>
          <p:nvPr/>
        </p:nvSpPr>
        <p:spPr>
          <a:xfrm>
            <a:off x="8359215" y="2799760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8511615" y="2952160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8664015" y="3104560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/>
          <p:cNvSpPr txBox="1"/>
          <p:nvPr/>
        </p:nvSpPr>
        <p:spPr>
          <a:xfrm>
            <a:off x="7678913" y="2024012"/>
            <a:ext cx="158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TEZ </a:t>
            </a:r>
            <a:r>
              <a:rPr lang="fr-FR"/>
              <a:t>hive</a:t>
            </a:r>
            <a:r>
              <a:rPr lang="fr-FR"/>
              <a:t> </a:t>
            </a:r>
            <a:r>
              <a:rPr lang="fr-FR"/>
              <a:t>nodes</a:t>
            </a:r>
            <a:endParaRPr lang="fr-FR"/>
          </a:p>
        </p:txBody>
      </p:sp>
      <p:sp>
        <p:nvSpPr>
          <p:cNvPr id="23" name="TextBox 22"/>
          <p:cNvSpPr txBox="1"/>
          <p:nvPr/>
        </p:nvSpPr>
        <p:spPr>
          <a:xfrm>
            <a:off x="6335023" y="2426384"/>
            <a:ext cx="1338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HiveServer2</a:t>
            </a:r>
          </a:p>
        </p:txBody>
      </p:sp>
      <p:pic>
        <p:nvPicPr>
          <p:cNvPr id="6148" name="Picture 4" descr="Apache Hive + bzip2 txt file. Why? -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80067" y="1474391"/>
            <a:ext cx="1329979" cy="968080"/>
          </a:xfrm>
          <a:prstGeom prst="rect">
            <a:avLst/>
          </a:prstGeom>
          <a:noFill/>
        </p:spPr>
      </p:pic>
      <p:pic>
        <p:nvPicPr>
          <p:cNvPr id="53" name="Picture 4" descr="Apache Hive + bzip2 txt file. Why? -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57975" y="1407822"/>
            <a:ext cx="1329979" cy="968080"/>
          </a:xfrm>
          <a:prstGeom prst="rect">
            <a:avLst/>
          </a:prstGeom>
          <a:noFill/>
        </p:spPr>
      </p:pic>
      <p:sp>
        <p:nvSpPr>
          <p:cNvPr id="4" name="Cylinder 3"/>
          <p:cNvSpPr/>
          <p:nvPr/>
        </p:nvSpPr>
        <p:spPr>
          <a:xfrm>
            <a:off x="6608206" y="3314992"/>
            <a:ext cx="1902406" cy="91469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7266004" y="3695720"/>
            <a:ext cx="90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HDFS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55" y="4848162"/>
            <a:ext cx="1429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JDBC Client</a:t>
            </a:r>
          </a:p>
          <a:p>
            <a:r>
              <a:rPr lang="fr-FR"/>
              <a:t>(ex: </a:t>
            </a:r>
            <a:r>
              <a:rPr lang="fr-FR"/>
              <a:t>DbEaver</a:t>
            </a:r>
            <a:r>
              <a:rPr lang="fr-FR"/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1736" y="4142504"/>
            <a:ext cx="1318260" cy="613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Straight Connector 21"/>
          <p:cNvCxnSpPr>
            <a:endCxn id="21" idx="0"/>
          </p:cNvCxnSpPr>
          <p:nvPr/>
        </p:nvCxnSpPr>
        <p:spPr>
          <a:xfrm flipH="1">
            <a:off x="5670866" y="2795716"/>
            <a:ext cx="265119" cy="13467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7712738" y="2679971"/>
            <a:ext cx="164505" cy="5358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>
            <a:off x="7849633" y="2832371"/>
            <a:ext cx="180010" cy="3834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7939638" y="2984771"/>
            <a:ext cx="242405" cy="23912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8054415" y="3137171"/>
            <a:ext cx="280028" cy="8672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-11086"/>
            <a:ext cx="9071640" cy="77346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Hive</a:t>
            </a:r>
            <a:r>
              <a:rPr lang="fr-FR">
                <a:solidFill>
                  <a:sysClr val="windowText" lastClr="000000"/>
                </a:solidFill>
              </a:rPr>
              <a:t> Server2 ... </a:t>
            </a:r>
            <a:r>
              <a:rPr lang="fr-FR">
                <a:solidFill>
                  <a:sysClr val="windowText" lastClr="000000"/>
                </a:solidFill>
              </a:rPr>
              <a:t>Deprecated</a:t>
            </a:r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633210" y="1211580"/>
            <a:ext cx="1318260" cy="613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6393180" y="1537335"/>
            <a:ext cx="240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229350" y="1436370"/>
            <a:ext cx="19812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/>
          <p:cNvSpPr txBox="1"/>
          <p:nvPr/>
        </p:nvSpPr>
        <p:spPr>
          <a:xfrm>
            <a:off x="5204097" y="1177290"/>
            <a:ext cx="1059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Thrift</a:t>
            </a:r>
            <a:r>
              <a:rPr lang="fr-FR"/>
              <a:t> Api</a:t>
            </a:r>
          </a:p>
          <a:p>
            <a:r>
              <a:rPr lang="fr-FR"/>
              <a:t>(JDBC)</a:t>
            </a:r>
          </a:p>
        </p:txBody>
      </p:sp>
      <p:sp>
        <p:nvSpPr>
          <p:cNvPr id="24" name="Cylinder 23"/>
          <p:cNvSpPr/>
          <p:nvPr/>
        </p:nvSpPr>
        <p:spPr>
          <a:xfrm>
            <a:off x="8342730" y="2956561"/>
            <a:ext cx="1432560" cy="7200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/>
          <p:cNvSpPr txBox="1"/>
          <p:nvPr/>
        </p:nvSpPr>
        <p:spPr>
          <a:xfrm>
            <a:off x="8753683" y="3242468"/>
            <a:ext cx="679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HDFS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7220" y="1244080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8389620" y="1396480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8542020" y="1548880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/>
          <p:cNvSpPr/>
          <p:nvPr/>
        </p:nvSpPr>
        <p:spPr>
          <a:xfrm>
            <a:off x="8694420" y="1701280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8846820" y="1853680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8999220" y="2006080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/>
          <p:cNvSpPr txBox="1"/>
          <p:nvPr/>
        </p:nvSpPr>
        <p:spPr>
          <a:xfrm>
            <a:off x="8014118" y="925532"/>
            <a:ext cx="158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TEZ </a:t>
            </a:r>
            <a:r>
              <a:rPr lang="fr-FR"/>
              <a:t>hive</a:t>
            </a:r>
            <a:r>
              <a:rPr lang="fr-FR"/>
              <a:t> </a:t>
            </a:r>
            <a:r>
              <a:rPr lang="fr-FR"/>
              <a:t>nodes</a:t>
            </a:r>
            <a:endParaRPr lang="fr-FR"/>
          </a:p>
        </p:txBody>
      </p:sp>
      <p:sp>
        <p:nvSpPr>
          <p:cNvPr id="38" name="Rectangle 37"/>
          <p:cNvSpPr/>
          <p:nvPr/>
        </p:nvSpPr>
        <p:spPr>
          <a:xfrm>
            <a:off x="6576060" y="3996690"/>
            <a:ext cx="1318260" cy="613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6336030" y="4322445"/>
            <a:ext cx="240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172200" y="4221480"/>
            <a:ext cx="19812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TextBox 40"/>
          <p:cNvSpPr txBox="1"/>
          <p:nvPr/>
        </p:nvSpPr>
        <p:spPr>
          <a:xfrm>
            <a:off x="5146947" y="3962400"/>
            <a:ext cx="1059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Thrift</a:t>
            </a:r>
            <a:r>
              <a:rPr lang="fr-FR"/>
              <a:t> Api</a:t>
            </a:r>
          </a:p>
          <a:p>
            <a:r>
              <a:rPr lang="fr-FR"/>
              <a:t>(JDBC)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5488" y="3963769"/>
            <a:ext cx="1325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Spark</a:t>
            </a:r>
            <a:br>
              <a:rPr lang="fr-FR"/>
            </a:br>
            <a:r>
              <a:rPr lang="fr-FR" b="1"/>
              <a:t>ThriftServer</a:t>
            </a:r>
            <a:endParaRPr lang="fr-FR" b="1"/>
          </a:p>
        </p:txBody>
      </p:sp>
      <p:sp>
        <p:nvSpPr>
          <p:cNvPr id="44" name="Rectangle 43"/>
          <p:cNvSpPr/>
          <p:nvPr/>
        </p:nvSpPr>
        <p:spPr>
          <a:xfrm>
            <a:off x="8324850" y="4113582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/>
          <p:cNvSpPr/>
          <p:nvPr/>
        </p:nvSpPr>
        <p:spPr>
          <a:xfrm>
            <a:off x="8477250" y="4265982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Box 45"/>
          <p:cNvSpPr txBox="1"/>
          <p:nvPr/>
        </p:nvSpPr>
        <p:spPr>
          <a:xfrm>
            <a:off x="8060490" y="3796443"/>
            <a:ext cx="1656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Spark </a:t>
            </a:r>
            <a:r>
              <a:rPr lang="fr-FR"/>
              <a:t>Executers</a:t>
            </a:r>
            <a:endParaRPr lang="fr-FR"/>
          </a:p>
        </p:txBody>
      </p:sp>
      <p:sp>
        <p:nvSpPr>
          <p:cNvPr id="47" name="&quot;Not Allowed&quot; Symbol 46"/>
          <p:cNvSpPr/>
          <p:nvPr/>
        </p:nvSpPr>
        <p:spPr>
          <a:xfrm>
            <a:off x="7620000" y="1571625"/>
            <a:ext cx="1341120" cy="1299210"/>
          </a:xfrm>
          <a:prstGeom prst="noSmoking">
            <a:avLst>
              <a:gd name="adj" fmla="val 1191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70228" y="1327904"/>
            <a:ext cx="1338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HiveServer2</a:t>
            </a:r>
          </a:p>
        </p:txBody>
      </p:sp>
      <p:sp>
        <p:nvSpPr>
          <p:cNvPr id="48" name="Ribbon: Tilted Up 47"/>
          <p:cNvSpPr/>
          <p:nvPr/>
        </p:nvSpPr>
        <p:spPr>
          <a:xfrm>
            <a:off x="6381750" y="4621530"/>
            <a:ext cx="3299460" cy="1049020"/>
          </a:xfrm>
          <a:prstGeom prst="ribbon2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TextBox 48"/>
          <p:cNvSpPr txBox="1"/>
          <p:nvPr/>
        </p:nvSpPr>
        <p:spPr>
          <a:xfrm>
            <a:off x="7143651" y="4699790"/>
            <a:ext cx="171078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/>
              <a:t>Spark: </a:t>
            </a:r>
            <a:r>
              <a:rPr lang="fr-FR" sz="1400"/>
              <a:t>faster</a:t>
            </a:r>
            <a:r>
              <a:rPr lang="fr-FR" sz="1400"/>
              <a:t>, </a:t>
            </a:r>
            <a:br>
              <a:rPr lang="fr-FR" sz="1400"/>
            </a:br>
            <a:r>
              <a:rPr lang="fr-FR" sz="1400"/>
              <a:t>compatible SQL / Api</a:t>
            </a:r>
          </a:p>
          <a:p>
            <a:r>
              <a:rPr lang="fr-FR" sz="1400"/>
              <a:t> </a:t>
            </a:r>
            <a:r>
              <a:rPr lang="fr-FR" sz="1400"/>
              <a:t>less</a:t>
            </a:r>
            <a:r>
              <a:rPr lang="fr-FR" sz="1400"/>
              <a:t> </a:t>
            </a:r>
            <a:r>
              <a:rPr lang="fr-FR" sz="1400"/>
              <a:t>resources</a:t>
            </a:r>
            <a:endParaRPr lang="fr-FR" sz="1400"/>
          </a:p>
        </p:txBody>
      </p:sp>
      <p:sp>
        <p:nvSpPr>
          <p:cNvPr id="50" name="TextBox 49"/>
          <p:cNvSpPr txBox="1"/>
          <p:nvPr/>
        </p:nvSpPr>
        <p:spPr>
          <a:xfrm>
            <a:off x="5310267" y="1910716"/>
            <a:ext cx="30907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Hive</a:t>
            </a:r>
            <a:r>
              <a:rPr lang="fr-FR"/>
              <a:t>: </a:t>
            </a:r>
            <a:br>
              <a:rPr lang="fr-FR"/>
            </a:br>
            <a:r>
              <a:rPr lang="fr-FR"/>
              <a:t>buggy </a:t>
            </a:r>
            <a:r>
              <a:rPr lang="fr-FR"/>
              <a:t>connection</a:t>
            </a:r>
            <a:r>
              <a:rPr lang="fr-FR"/>
              <a:t>/thread </a:t>
            </a:r>
            <a:r>
              <a:rPr lang="fr-FR"/>
              <a:t>leaks</a:t>
            </a:r>
            <a:br>
              <a:rPr lang="fr-FR"/>
            </a:br>
            <a:r>
              <a:rPr lang="fr-FR"/>
              <a:t>slooooow</a:t>
            </a:r>
            <a:endParaRPr lang="fr-FR"/>
          </a:p>
          <a:p>
            <a:r>
              <a:rPr lang="fr-FR"/>
              <a:t>Huge</a:t>
            </a:r>
            <a:r>
              <a:rPr lang="fr-FR"/>
              <a:t> </a:t>
            </a:r>
            <a:r>
              <a:rPr lang="fr-FR"/>
              <a:t>resources</a:t>
            </a:r>
            <a:endParaRPr lang="fr-FR"/>
          </a:p>
        </p:txBody>
      </p:sp>
      <p:pic>
        <p:nvPicPr>
          <p:cNvPr id="53" name="Picture 4" descr="Apache Hive + bzip2 txt file. Why? -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43322" y="942636"/>
            <a:ext cx="1329979" cy="968080"/>
          </a:xfrm>
          <a:prstGeom prst="rect">
            <a:avLst/>
          </a:prstGeom>
          <a:noFill/>
        </p:spPr>
      </p:pic>
      <p:pic>
        <p:nvPicPr>
          <p:cNvPr id="6150" name="Picture 6" descr="Apache Spark — Wikipédia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83305" y="4656458"/>
            <a:ext cx="1589518" cy="825327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1810043" y="2350770"/>
            <a:ext cx="1318260" cy="613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1570013" y="2497455"/>
            <a:ext cx="240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406183" y="2396490"/>
            <a:ext cx="19812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/>
          <p:cNvSpPr txBox="1"/>
          <p:nvPr/>
        </p:nvSpPr>
        <p:spPr>
          <a:xfrm>
            <a:off x="140452" y="2018764"/>
            <a:ext cx="1265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HTTP </a:t>
            </a:r>
            <a:r>
              <a:rPr lang="fr-FR"/>
              <a:t>Rest</a:t>
            </a:r>
            <a:r>
              <a:rPr lang="fr-FR"/>
              <a:t> </a:t>
            </a:r>
          </a:p>
          <a:p>
            <a:r>
              <a:rPr lang="fr-FR"/>
              <a:t>(Web </a:t>
            </a:r>
            <a:r>
              <a:rPr lang="fr-FR"/>
              <a:t>HCat</a:t>
            </a:r>
            <a:r>
              <a:rPr lang="fr-FR"/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" y="2706609"/>
            <a:ext cx="1374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Protobuf</a:t>
            </a:r>
            <a:r>
              <a:rPr lang="fr-FR"/>
              <a:t> API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1570013" y="2836545"/>
            <a:ext cx="240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406183" y="2735580"/>
            <a:ext cx="19812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/>
          <p:cNvSpPr txBox="1"/>
          <p:nvPr/>
        </p:nvSpPr>
        <p:spPr>
          <a:xfrm>
            <a:off x="1881351" y="2467094"/>
            <a:ext cx="1197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MetaStore</a:t>
            </a:r>
            <a:endParaRPr lang="fr-FR" b="1"/>
          </a:p>
        </p:txBody>
      </p:sp>
      <p:sp>
        <p:nvSpPr>
          <p:cNvPr id="29" name="Cylinder 28"/>
          <p:cNvSpPr/>
          <p:nvPr/>
        </p:nvSpPr>
        <p:spPr>
          <a:xfrm>
            <a:off x="3410243" y="2964180"/>
            <a:ext cx="449580" cy="5181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Box 29"/>
          <p:cNvSpPr txBox="1"/>
          <p:nvPr/>
        </p:nvSpPr>
        <p:spPr>
          <a:xfrm>
            <a:off x="2926373" y="3438264"/>
            <a:ext cx="1626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Relational</a:t>
            </a:r>
            <a:r>
              <a:rPr lang="fr-FR"/>
              <a:t> DB</a:t>
            </a:r>
          </a:p>
          <a:p>
            <a:r>
              <a:rPr lang="fr-FR"/>
              <a:t>(ex: </a:t>
            </a:r>
            <a:r>
              <a:rPr lang="fr-FR"/>
              <a:t>postgresql</a:t>
            </a:r>
            <a:r>
              <a:rPr lang="fr-FR"/>
              <a:t>)</a:t>
            </a:r>
          </a:p>
        </p:txBody>
      </p:sp>
      <p:cxnSp>
        <p:nvCxnSpPr>
          <p:cNvPr id="51" name="Straight Connector 50"/>
          <p:cNvCxnSpPr>
            <a:stCxn id="4" idx="3"/>
            <a:endCxn id="29" idx="2"/>
          </p:cNvCxnSpPr>
          <p:nvPr/>
        </p:nvCxnSpPr>
        <p:spPr>
          <a:xfrm>
            <a:off x="3128303" y="2657475"/>
            <a:ext cx="281940" cy="565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4" descr="Apache Hive + bzip2 txt file. Why? -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80067" y="1474391"/>
            <a:ext cx="1329979" cy="9680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472628" y="-67579"/>
            <a:ext cx="9428401" cy="9464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Spark supports </a:t>
            </a:r>
            <a:r>
              <a:rPr lang="fr-FR">
                <a:solidFill>
                  <a:sysClr val="windowText" lastClr="000000"/>
                </a:solidFill>
              </a:rPr>
              <a:t>Hive</a:t>
            </a:r>
            <a:r>
              <a:rPr lang="fr-FR">
                <a:solidFill>
                  <a:sysClr val="windowText" lastClr="000000"/>
                </a:solidFill>
              </a:rPr>
              <a:t> </a:t>
            </a:r>
            <a:r>
              <a:rPr lang="fr-FR">
                <a:solidFill>
                  <a:sysClr val="windowText" lastClr="000000"/>
                </a:solidFill>
              </a:rPr>
              <a:t>MetaStore</a:t>
            </a:r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07820" y="1939290"/>
            <a:ext cx="1318260" cy="613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1367790" y="2085975"/>
            <a:ext cx="240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203960" y="1985010"/>
            <a:ext cx="19812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-78078" y="2249409"/>
            <a:ext cx="1374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Protobuf</a:t>
            </a:r>
            <a:r>
              <a:rPr lang="fr-FR"/>
              <a:t> API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1367790" y="2425065"/>
            <a:ext cx="240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203960" y="2324100"/>
            <a:ext cx="198120" cy="198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1679128" y="2055614"/>
            <a:ext cx="1175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MetaStore</a:t>
            </a:r>
            <a:endParaRPr lang="fr-FR"/>
          </a:p>
        </p:txBody>
      </p:sp>
      <p:sp>
        <p:nvSpPr>
          <p:cNvPr id="11" name="Cylinder 10"/>
          <p:cNvSpPr/>
          <p:nvPr/>
        </p:nvSpPr>
        <p:spPr>
          <a:xfrm>
            <a:off x="2049050" y="3191948"/>
            <a:ext cx="449580" cy="5181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1469930" y="3666032"/>
            <a:ext cx="1626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Relational</a:t>
            </a:r>
            <a:r>
              <a:rPr lang="fr-FR"/>
              <a:t> DB</a:t>
            </a:r>
          </a:p>
          <a:p>
            <a:r>
              <a:rPr lang="fr-FR"/>
              <a:t>(ex: </a:t>
            </a:r>
            <a:r>
              <a:rPr lang="fr-FR"/>
              <a:t>postgresql</a:t>
            </a:r>
            <a:r>
              <a:rPr lang="fr-FR"/>
              <a:t>)</a:t>
            </a:r>
          </a:p>
        </p:txBody>
      </p:sp>
      <p:cxnSp>
        <p:nvCxnSpPr>
          <p:cNvPr id="13" name="Straight Connector 12"/>
          <p:cNvCxnSpPr>
            <a:stCxn id="3" idx="2"/>
            <a:endCxn id="11" idx="1"/>
          </p:cNvCxnSpPr>
          <p:nvPr/>
        </p:nvCxnSpPr>
        <p:spPr>
          <a:xfrm>
            <a:off x="2266950" y="2552700"/>
            <a:ext cx="6890" cy="639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532038" y="4113582"/>
            <a:ext cx="2183130" cy="768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/>
          <p:cNvSpPr txBox="1"/>
          <p:nvPr/>
        </p:nvSpPr>
        <p:spPr>
          <a:xfrm>
            <a:off x="5924507" y="4118729"/>
            <a:ext cx="1333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Spark Driver</a:t>
            </a:r>
            <a:br>
              <a:rPr lang="fr-FR"/>
            </a:br>
            <a:r>
              <a:rPr lang="fr-FR"/>
              <a:t>(</a:t>
            </a:r>
            <a:r>
              <a:rPr lang="fr-FR"/>
              <a:t>spark-core</a:t>
            </a:r>
            <a:r>
              <a:rPr lang="fr-FR"/>
              <a:t>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4850" y="4113582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8477250" y="4265982"/>
            <a:ext cx="670560" cy="3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/>
          <p:cNvSpPr txBox="1"/>
          <p:nvPr/>
        </p:nvSpPr>
        <p:spPr>
          <a:xfrm>
            <a:off x="8060490" y="3796443"/>
            <a:ext cx="1656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Spark </a:t>
            </a:r>
            <a:r>
              <a:rPr lang="fr-FR"/>
              <a:t>Executers</a:t>
            </a:r>
            <a:endParaRPr lang="fr-FR"/>
          </a:p>
        </p:txBody>
      </p:sp>
      <p:sp>
        <p:nvSpPr>
          <p:cNvPr id="25" name="Rectangle 24"/>
          <p:cNvSpPr/>
          <p:nvPr/>
        </p:nvSpPr>
        <p:spPr>
          <a:xfrm>
            <a:off x="5814060" y="3516629"/>
            <a:ext cx="1746778" cy="567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extBox 25"/>
          <p:cNvSpPr txBox="1"/>
          <p:nvPr/>
        </p:nvSpPr>
        <p:spPr>
          <a:xfrm>
            <a:off x="5945244" y="3489947"/>
            <a:ext cx="2101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ExternalCatalog</a:t>
            </a:r>
            <a:r>
              <a:rPr lang="fr-FR"/>
              <a:t> (</a:t>
            </a:r>
            <a:r>
              <a:rPr lang="fr-FR"/>
              <a:t>spark-sql</a:t>
            </a:r>
            <a:r>
              <a:rPr lang="fr-FR"/>
              <a:t>)</a:t>
            </a:r>
          </a:p>
        </p:txBody>
      </p:sp>
      <p:cxnSp>
        <p:nvCxnSpPr>
          <p:cNvPr id="28" name="Straight Arrow Connector 27"/>
          <p:cNvCxnSpPr>
            <a:stCxn id="52" idx="0"/>
          </p:cNvCxnSpPr>
          <p:nvPr/>
        </p:nvCxnSpPr>
        <p:spPr>
          <a:xfrm flipH="1" flipV="1">
            <a:off x="3236824" y="2123679"/>
            <a:ext cx="458918" cy="32996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orme libre : forme 13"/>
          <p:cNvSpPr/>
          <p:nvPr/>
        </p:nvSpPr>
        <p:spPr>
          <a:xfrm rot="17845502">
            <a:off x="5328083" y="2227554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31" name="Forme libre : forme 14"/>
          <p:cNvSpPr/>
          <p:nvPr/>
        </p:nvSpPr>
        <p:spPr>
          <a:xfrm rot="17928743" flipV="1">
            <a:off x="5215183" y="2559397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36" name="Forme libre : forme 13"/>
          <p:cNvSpPr/>
          <p:nvPr/>
        </p:nvSpPr>
        <p:spPr>
          <a:xfrm>
            <a:off x="8923314" y="3146228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37" name="Forme libre : forme 14"/>
          <p:cNvSpPr/>
          <p:nvPr/>
        </p:nvSpPr>
        <p:spPr>
          <a:xfrm rot="83241" flipV="1">
            <a:off x="8689212" y="3160915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38" name="Cylinder 37"/>
          <p:cNvSpPr/>
          <p:nvPr/>
        </p:nvSpPr>
        <p:spPr>
          <a:xfrm>
            <a:off x="8207034" y="1826976"/>
            <a:ext cx="1432560" cy="7200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TextBox 38"/>
          <p:cNvSpPr txBox="1"/>
          <p:nvPr/>
        </p:nvSpPr>
        <p:spPr>
          <a:xfrm>
            <a:off x="8583349" y="2087959"/>
            <a:ext cx="679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HDFS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0070" y="2766060"/>
            <a:ext cx="1621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read</a:t>
            </a:r>
            <a:r>
              <a:rPr lang="fr-FR"/>
              <a:t>/</a:t>
            </a:r>
            <a:r>
              <a:rPr lang="fr-FR"/>
              <a:t>write</a:t>
            </a:r>
            <a:r>
              <a:rPr lang="fr-FR"/>
              <a:t> files</a:t>
            </a:r>
          </a:p>
        </p:txBody>
      </p:sp>
      <p:cxnSp>
        <p:nvCxnSpPr>
          <p:cNvPr id="44" name="Straight Arrow Connector 43"/>
          <p:cNvCxnSpPr>
            <a:stCxn id="52" idx="2"/>
          </p:cNvCxnSpPr>
          <p:nvPr/>
        </p:nvCxnSpPr>
        <p:spPr>
          <a:xfrm flipH="1">
            <a:off x="3319526" y="2822973"/>
            <a:ext cx="376216" cy="40564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956710" y="1947851"/>
            <a:ext cx="2324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Add</a:t>
            </a:r>
            <a:r>
              <a:rPr lang="fr-FR"/>
              <a:t>/</a:t>
            </a:r>
            <a:r>
              <a:rPr lang="fr-FR"/>
              <a:t>remove</a:t>
            </a:r>
            <a:r>
              <a:rPr lang="fr-FR"/>
              <a:t> partitions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10831" y="3190162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Using</a:t>
            </a:r>
            <a:r>
              <a:rPr lang="fr-FR"/>
              <a:t> JDBC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02420" y="2453641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or</a:t>
            </a:r>
          </a:p>
        </p:txBody>
      </p:sp>
      <p:sp>
        <p:nvSpPr>
          <p:cNvPr id="53" name="Forme libre : forme 14"/>
          <p:cNvSpPr/>
          <p:nvPr/>
        </p:nvSpPr>
        <p:spPr>
          <a:xfrm rot="17928743" flipV="1">
            <a:off x="4817143" y="3288029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048996" y="1739831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Using</a:t>
            </a:r>
            <a:r>
              <a:rPr lang="fr-FR"/>
              <a:t>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71234" y="2824918"/>
            <a:ext cx="145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List partitions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84278" y="3559494"/>
            <a:ext cx="1117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List tables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4492" y="0"/>
            <a:ext cx="9071640" cy="94644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Sql</a:t>
            </a:r>
            <a:r>
              <a:rPr lang="en-US"/>
              <a:t>&gt; DDL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38000" y="1368000"/>
            <a:ext cx="661014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Sql</a:t>
            </a:r>
            <a:r>
              <a:rPr lang="fr-FR" sz="2400"/>
              <a:t>&gt;</a:t>
            </a:r>
          </a:p>
          <a:p>
            <a:r>
              <a:rPr lang="fr-FR" sz="2400"/>
              <a:t>show </a:t>
            </a:r>
            <a:r>
              <a:rPr lang="fr-FR" sz="2400"/>
              <a:t>databases</a:t>
            </a:r>
            <a:r>
              <a:rPr lang="fr-FR" sz="2400"/>
              <a:t>;</a:t>
            </a:r>
          </a:p>
          <a:p>
            <a:r>
              <a:rPr lang="fr-FR" sz="2400"/>
              <a:t>use ‘</a:t>
            </a:r>
            <a:r>
              <a:rPr lang="fr-FR" sz="2400"/>
              <a:t>db</a:t>
            </a:r>
            <a:r>
              <a:rPr lang="fr-FR" sz="2400"/>
              <a:t>’;</a:t>
            </a:r>
          </a:p>
          <a:p>
            <a:endParaRPr lang="fr-FR" sz="2400"/>
          </a:p>
          <a:p>
            <a:r>
              <a:rPr lang="fr-FR" sz="2400"/>
              <a:t>show tables in ‘</a:t>
            </a:r>
            <a:r>
              <a:rPr lang="fr-FR" sz="2400"/>
              <a:t>db</a:t>
            </a:r>
            <a:r>
              <a:rPr lang="fr-FR" sz="2400"/>
              <a:t>’;</a:t>
            </a:r>
          </a:p>
          <a:p>
            <a:r>
              <a:rPr lang="fr-FR" sz="2400"/>
              <a:t>show tables in ‘</a:t>
            </a:r>
            <a:r>
              <a:rPr lang="fr-FR" sz="2400"/>
              <a:t>db</a:t>
            </a:r>
            <a:r>
              <a:rPr lang="fr-FR" sz="2400"/>
              <a:t>’ like ‘s*’;</a:t>
            </a:r>
          </a:p>
          <a:p>
            <a:r>
              <a:rPr lang="fr-FR" sz="2400"/>
              <a:t>describe</a:t>
            </a:r>
            <a:r>
              <a:rPr lang="fr-FR" sz="2400"/>
              <a:t> table </a:t>
            </a:r>
            <a:r>
              <a:rPr lang="fr-FR" sz="2400"/>
              <a:t>db.student</a:t>
            </a:r>
            <a:r>
              <a:rPr lang="fr-FR" sz="2400"/>
              <a:t>;</a:t>
            </a:r>
          </a:p>
          <a:p>
            <a:r>
              <a:rPr lang="fr-FR" sz="2400"/>
              <a:t>show </a:t>
            </a:r>
            <a:r>
              <a:rPr lang="fr-FR" sz="2400"/>
              <a:t>create</a:t>
            </a:r>
            <a:r>
              <a:rPr lang="fr-FR" sz="2400"/>
              <a:t> table </a:t>
            </a:r>
            <a:r>
              <a:rPr lang="fr-FR" sz="2400"/>
              <a:t>db.student</a:t>
            </a:r>
            <a:r>
              <a:rPr lang="fr-FR" sz="2400"/>
              <a:t>;</a:t>
            </a:r>
          </a:p>
          <a:p>
            <a:endParaRPr lang="fr-FR" sz="2400"/>
          </a:p>
          <a:p>
            <a:r>
              <a:rPr lang="fr-FR" sz="2400"/>
              <a:t>alter table </a:t>
            </a:r>
            <a:r>
              <a:rPr lang="fr-FR" sz="2400"/>
              <a:t>db.student</a:t>
            </a:r>
            <a:r>
              <a:rPr lang="fr-FR" sz="2400"/>
              <a:t> set location ‘/data/student2’;</a:t>
            </a:r>
          </a:p>
          <a:p>
            <a:r>
              <a:rPr lang="fr-FR" sz="2400"/>
              <a:t>drop table </a:t>
            </a:r>
            <a:r>
              <a:rPr lang="fr-FR" sz="2400"/>
              <a:t>db.student</a:t>
            </a:r>
            <a:r>
              <a:rPr lang="fr-FR" sz="2400"/>
              <a:t>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4492" y="0"/>
            <a:ext cx="9071640" cy="94644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DDL.. EXTERNAL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4800" y="1447200"/>
            <a:ext cx="892866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« EXTERNAL TABLE » : data </a:t>
            </a:r>
            <a:r>
              <a:rPr lang="fr-FR" sz="2400"/>
              <a:t>exists</a:t>
            </a:r>
            <a:r>
              <a:rPr lang="fr-FR" sz="2400"/>
              <a:t> </a:t>
            </a:r>
            <a:r>
              <a:rPr lang="fr-FR" sz="2400"/>
              <a:t>independently</a:t>
            </a:r>
            <a:r>
              <a:rPr lang="fr-FR" sz="2400"/>
              <a:t> of </a:t>
            </a:r>
            <a:r>
              <a:rPr lang="fr-FR" sz="2400"/>
              <a:t>metastore</a:t>
            </a:r>
            <a:endParaRPr lang="fr-FR" sz="2400"/>
          </a:p>
          <a:p>
            <a:endParaRPr lang="fr-FR" sz="2400"/>
          </a:p>
          <a:p>
            <a:r>
              <a:rPr lang="fr-FR" sz="2400"/>
              <a:t>when</a:t>
            </a:r>
            <a:r>
              <a:rPr lang="fr-FR" sz="2400"/>
              <a:t> </a:t>
            </a:r>
            <a:r>
              <a:rPr lang="fr-FR" sz="2400"/>
              <a:t>creating</a:t>
            </a:r>
            <a:r>
              <a:rPr lang="fr-FR" sz="2400"/>
              <a:t> table ... </a:t>
            </a:r>
            <a:r>
              <a:rPr lang="fr-FR" sz="2400"/>
              <a:t>Schema</a:t>
            </a:r>
            <a:r>
              <a:rPr lang="fr-FR" sz="2400"/>
              <a:t> must </a:t>
            </a:r>
            <a:r>
              <a:rPr lang="fr-FR" sz="2400"/>
              <a:t>be</a:t>
            </a:r>
            <a:r>
              <a:rPr lang="fr-FR" sz="2400"/>
              <a:t> compatible </a:t>
            </a:r>
            <a:r>
              <a:rPr lang="fr-FR" sz="2400"/>
              <a:t>with</a:t>
            </a:r>
            <a:r>
              <a:rPr lang="fr-FR" sz="2400"/>
              <a:t> </a:t>
            </a:r>
            <a:r>
              <a:rPr lang="fr-FR" sz="2400"/>
              <a:t>existing</a:t>
            </a:r>
            <a:r>
              <a:rPr lang="fr-FR" sz="2400"/>
              <a:t> files</a:t>
            </a:r>
          </a:p>
          <a:p>
            <a:r>
              <a:rPr lang="fr-FR" sz="2400"/>
              <a:t>Non-sense</a:t>
            </a:r>
            <a:r>
              <a:rPr lang="fr-FR" sz="2400"/>
              <a:t> to « alter table » for </a:t>
            </a:r>
            <a:r>
              <a:rPr lang="fr-FR" sz="2400"/>
              <a:t>column</a:t>
            </a:r>
            <a:endParaRPr lang="fr-FR" sz="2400"/>
          </a:p>
          <a:p>
            <a:r>
              <a:rPr lang="fr-FR" sz="2400"/>
              <a:t>When</a:t>
            </a:r>
            <a:r>
              <a:rPr lang="fr-FR" sz="2400"/>
              <a:t> </a:t>
            </a:r>
            <a:r>
              <a:rPr lang="fr-FR" sz="2400"/>
              <a:t>dropping</a:t>
            </a:r>
            <a:r>
              <a:rPr lang="fr-FR" sz="2400"/>
              <a:t> … files are not </a:t>
            </a:r>
            <a:r>
              <a:rPr lang="fr-FR" sz="2400"/>
              <a:t>deleted</a:t>
            </a:r>
            <a:endParaRPr lang="fr-FR" sz="2400"/>
          </a:p>
          <a:p>
            <a:endParaRPr lang="fr-FR" sz="2400"/>
          </a:p>
          <a:p>
            <a:endParaRPr lang="fr-FR" sz="2400"/>
          </a:p>
          <a:p>
            <a:r>
              <a:rPr lang="fr-FR" sz="2400"/>
              <a:t>Do not use opposite « MANAGED TABLE »</a:t>
            </a:r>
          </a:p>
          <a:p>
            <a:r>
              <a:rPr lang="fr-FR" sz="2400"/>
              <a:t>When</a:t>
            </a:r>
            <a:r>
              <a:rPr lang="fr-FR" sz="2400"/>
              <a:t> </a:t>
            </a:r>
            <a:r>
              <a:rPr lang="fr-FR" sz="2400"/>
              <a:t>creating</a:t>
            </a:r>
            <a:r>
              <a:rPr lang="fr-FR" sz="2400"/>
              <a:t> =&gt; </a:t>
            </a:r>
            <a:r>
              <a:rPr lang="fr-FR" sz="2400"/>
              <a:t>create</a:t>
            </a:r>
            <a:r>
              <a:rPr lang="fr-FR" sz="2400"/>
              <a:t> </a:t>
            </a:r>
            <a:r>
              <a:rPr lang="fr-FR" sz="2400"/>
              <a:t>empty</a:t>
            </a:r>
            <a:r>
              <a:rPr lang="fr-FR" sz="2400"/>
              <a:t> </a:t>
            </a:r>
            <a:r>
              <a:rPr lang="fr-FR" sz="2400"/>
              <a:t>dir</a:t>
            </a:r>
            <a:r>
              <a:rPr lang="fr-FR" sz="2400"/>
              <a:t>, location= « {</a:t>
            </a:r>
            <a:r>
              <a:rPr lang="fr-FR" sz="2400"/>
              <a:t>db.location</a:t>
            </a:r>
            <a:r>
              <a:rPr lang="fr-FR" sz="2400"/>
              <a:t>}/{table} » </a:t>
            </a:r>
          </a:p>
          <a:p>
            <a:r>
              <a:rPr lang="fr-FR" sz="2400"/>
              <a:t>When</a:t>
            </a:r>
            <a:r>
              <a:rPr lang="fr-FR" sz="2400"/>
              <a:t> </a:t>
            </a:r>
            <a:r>
              <a:rPr lang="fr-FR" sz="2400"/>
              <a:t>dropping</a:t>
            </a:r>
            <a:r>
              <a:rPr lang="fr-FR" sz="2400"/>
              <a:t> =&gt; </a:t>
            </a:r>
            <a:r>
              <a:rPr lang="fr-FR" sz="2400"/>
              <a:t>delete</a:t>
            </a:r>
            <a:r>
              <a:rPr lang="fr-FR" sz="2400"/>
              <a:t> all files 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rtl="0"/>
            <a:r>
              <a:rPr lang="en-US"/>
              <a:t>Sql</a:t>
            </a:r>
            <a:r>
              <a:rPr lang="en-US"/>
              <a:t>&gt; DML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9600" y="1116000"/>
            <a:ext cx="60816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Sql</a:t>
            </a:r>
            <a:r>
              <a:rPr lang="fr-FR" sz="2400"/>
              <a:t>&gt; </a:t>
            </a:r>
          </a:p>
          <a:p>
            <a:r>
              <a:rPr lang="fr-FR" sz="2400"/>
              <a:t>INSERT INTO table values( ..)   </a:t>
            </a:r>
          </a:p>
          <a:p>
            <a:r>
              <a:rPr lang="fr-FR" sz="2400"/>
              <a:t>  =&gt; </a:t>
            </a:r>
            <a:r>
              <a:rPr lang="fr-FR" sz="2400"/>
              <a:t>save</a:t>
            </a:r>
            <a:r>
              <a:rPr lang="fr-FR" sz="2400"/>
              <a:t> to new file(s) !!</a:t>
            </a:r>
          </a:p>
          <a:p>
            <a:r>
              <a:rPr lang="fr-FR" sz="2400"/>
              <a:t>       </a:t>
            </a:r>
            <a:r>
              <a:rPr lang="fr-FR" sz="2400"/>
              <a:t>preserve</a:t>
            </a:r>
            <a:r>
              <a:rPr lang="fr-FR" sz="2400"/>
              <a:t> </a:t>
            </a:r>
            <a:r>
              <a:rPr lang="fr-FR" sz="2400"/>
              <a:t>existing</a:t>
            </a:r>
            <a:r>
              <a:rPr lang="fr-FR" sz="2400"/>
              <a:t> </a:t>
            </a:r>
            <a:r>
              <a:rPr lang="fr-FR" sz="2400"/>
              <a:t>ones</a:t>
            </a:r>
            <a:r>
              <a:rPr lang="fr-FR" sz="2400"/>
              <a:t> </a:t>
            </a:r>
          </a:p>
          <a:p>
            <a:r>
              <a:rPr lang="fr-FR" sz="2400"/>
              <a:t>       (</a:t>
            </a:r>
            <a:r>
              <a:rPr lang="fr-FR" sz="2400"/>
              <a:t>also</a:t>
            </a:r>
            <a:r>
              <a:rPr lang="fr-FR" sz="2400"/>
              <a:t> </a:t>
            </a:r>
            <a:r>
              <a:rPr lang="fr-FR" sz="2400"/>
              <a:t>preserve</a:t>
            </a:r>
            <a:r>
              <a:rPr lang="fr-FR" sz="2400"/>
              <a:t> </a:t>
            </a:r>
            <a:r>
              <a:rPr lang="fr-FR" sz="2400"/>
              <a:t>partially</a:t>
            </a:r>
            <a:r>
              <a:rPr lang="fr-FR" sz="2400"/>
              <a:t> </a:t>
            </a:r>
            <a:r>
              <a:rPr lang="fr-FR" sz="2400"/>
              <a:t>uncommited</a:t>
            </a:r>
            <a:r>
              <a:rPr lang="fr-FR" sz="2400"/>
              <a:t> </a:t>
            </a:r>
            <a:r>
              <a:rPr lang="fr-FR" sz="2400"/>
              <a:t>ones</a:t>
            </a:r>
            <a:r>
              <a:rPr lang="fr-FR" sz="2400"/>
              <a:t>..)</a:t>
            </a:r>
          </a:p>
          <a:p>
            <a:endParaRPr lang="fr-FR" sz="2400"/>
          </a:p>
          <a:p>
            <a:r>
              <a:rPr lang="fr-FR" sz="2400"/>
              <a:t>INSERT OVERWRITE  / DELETE</a:t>
            </a:r>
          </a:p>
          <a:p>
            <a:r>
              <a:rPr lang="fr-FR" sz="2400"/>
              <a:t>  =&gt; </a:t>
            </a:r>
            <a:r>
              <a:rPr lang="fr-FR" sz="2400"/>
              <a:t>reload</a:t>
            </a:r>
            <a:r>
              <a:rPr lang="fr-FR" sz="2400"/>
              <a:t> all files</a:t>
            </a:r>
          </a:p>
          <a:p>
            <a:r>
              <a:rPr lang="fr-FR" sz="2400"/>
              <a:t>       + </a:t>
            </a:r>
            <a:r>
              <a:rPr lang="fr-FR" sz="2400"/>
              <a:t>save</a:t>
            </a:r>
            <a:r>
              <a:rPr lang="fr-FR" sz="2400"/>
              <a:t> all to new files</a:t>
            </a:r>
          </a:p>
          <a:p>
            <a:r>
              <a:rPr lang="fr-FR" sz="2400"/>
              <a:t>       + </a:t>
            </a:r>
            <a:r>
              <a:rPr lang="fr-FR" sz="2400"/>
              <a:t>delete</a:t>
            </a:r>
            <a:r>
              <a:rPr lang="fr-FR" sz="2400"/>
              <a:t> </a:t>
            </a:r>
            <a:r>
              <a:rPr lang="fr-FR" sz="2400"/>
              <a:t>old</a:t>
            </a:r>
            <a:r>
              <a:rPr lang="fr-FR" sz="2400"/>
              <a:t> files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22843" y="3439842"/>
            <a:ext cx="2362200" cy="1933575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805940" y="1692325"/>
            <a:ext cx="71551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/>
              <a:t>by default Spark 3.x </a:t>
            </a:r>
            <a:r>
              <a:rPr lang="fr-FR" sz="2400"/>
              <a:t>does</a:t>
            </a:r>
            <a:r>
              <a:rPr lang="fr-FR" sz="2400"/>
              <a:t> NOT support UPDATE</a:t>
            </a:r>
          </a:p>
          <a:p>
            <a:r>
              <a:rPr lang="fr-FR" sz="2400"/>
              <a:t>  ( </a:t>
            </a:r>
            <a:r>
              <a:rPr lang="fr-FR" sz="2400"/>
              <a:t>nor</a:t>
            </a:r>
            <a:r>
              <a:rPr lang="fr-FR" sz="2400"/>
              <a:t> UPSERT, MERGE )</a:t>
            </a:r>
          </a:p>
          <a:p>
            <a:endParaRPr lang="fr-FR" sz="2400"/>
          </a:p>
          <a:p>
            <a:r>
              <a:rPr lang="fr-FR" sz="2400"/>
              <a:t>Only</a:t>
            </a:r>
            <a:r>
              <a:rPr lang="fr-FR" sz="2400"/>
              <a:t> </a:t>
            </a:r>
            <a:r>
              <a:rPr lang="fr-FR" sz="2400"/>
              <a:t>with</a:t>
            </a:r>
            <a:r>
              <a:rPr lang="fr-FR" sz="2400"/>
              <a:t> extensions of « </a:t>
            </a:r>
            <a:r>
              <a:rPr lang="fr-FR" sz="2400"/>
              <a:t>DeltaLake</a:t>
            </a:r>
            <a:r>
              <a:rPr lang="fr-FR" sz="2400"/>
              <a:t> », « Iceberg », ..</a:t>
            </a:r>
          </a:p>
        </p:txBody>
      </p:sp>
      <p:sp>
        <p:nvSpPr>
          <p:cNvPr id="4" name="Titre 1"/>
          <p:cNvSpPr txBox="1"/>
          <p:nvPr/>
        </p:nvSpPr>
        <p:spPr>
          <a:xfrm>
            <a:off x="504492" y="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Sql</a:t>
            </a:r>
            <a:r>
              <a:rPr lang="fr-FR">
                <a:solidFill>
                  <a:sysClr val="windowText" lastClr="000000"/>
                </a:solidFill>
              </a:rPr>
              <a:t>&gt; Update? DML</a:t>
            </a:r>
          </a:p>
        </p:txBody>
      </p:sp>
      <p:pic>
        <p:nvPicPr>
          <p:cNvPr id="4100" name="Picture 4" descr="Apache Iceber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81917" y="3891712"/>
            <a:ext cx="3779203" cy="10298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3999" y="226080"/>
            <a:ext cx="9071640" cy="122553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Spark&gt; Update?</a:t>
            </a:r>
          </a:p>
          <a:p>
            <a:pPr rtl="0"/>
            <a:r>
              <a:rPr lang="fr-FR">
                <a:solidFill>
                  <a:sysClr val="windowText" lastClr="000000"/>
                </a:solidFill>
              </a:rPr>
              <a:t>read</a:t>
            </a:r>
            <a:r>
              <a:rPr lang="fr-FR">
                <a:solidFill>
                  <a:sysClr val="windowText" lastClr="000000"/>
                </a:solidFill>
              </a:rPr>
              <a:t>().</a:t>
            </a:r>
            <a:r>
              <a:rPr lang="fr-FR">
                <a:solidFill>
                  <a:sysClr val="windowText" lastClr="000000"/>
                </a:solidFill>
              </a:rPr>
              <a:t>map</a:t>
            </a:r>
            <a:r>
              <a:rPr lang="fr-FR">
                <a:solidFill>
                  <a:sysClr val="windowText" lastClr="000000"/>
                </a:solidFill>
              </a:rPr>
              <a:t>().</a:t>
            </a:r>
            <a:r>
              <a:rPr lang="fr-FR">
                <a:solidFill>
                  <a:sysClr val="windowText" lastClr="000000"/>
                </a:solidFill>
              </a:rPr>
              <a:t>write</a:t>
            </a:r>
            <a:r>
              <a:rPr lang="fr-FR">
                <a:solidFill>
                  <a:sysClr val="windowText" lastClr="000000"/>
                </a:solidFill>
              </a:rPr>
              <a:t>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5959" y="2179002"/>
            <a:ext cx="805265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spark</a:t>
            </a:r>
            <a:br>
              <a:rPr lang="fr-FR"/>
            </a:br>
            <a:r>
              <a:rPr lang="fr-FR"/>
              <a:t>     .</a:t>
            </a:r>
            <a:r>
              <a:rPr lang="fr-FR"/>
              <a:t>read</a:t>
            </a:r>
            <a:r>
              <a:rPr lang="fr-FR"/>
              <a:t>().format(« PARQUET »).</a:t>
            </a:r>
            <a:r>
              <a:rPr lang="fr-FR"/>
              <a:t>load</a:t>
            </a:r>
            <a:r>
              <a:rPr lang="fr-FR"/>
              <a:t>(« /data/table1 »)</a:t>
            </a:r>
          </a:p>
          <a:p>
            <a:br>
              <a:rPr lang="fr-FR"/>
            </a:br>
            <a:endParaRPr lang="fr-FR"/>
          </a:p>
          <a:p>
            <a:r>
              <a:rPr lang="fr-FR"/>
              <a:t>     .</a:t>
            </a:r>
            <a:r>
              <a:rPr lang="fr-FR"/>
              <a:t>map</a:t>
            </a:r>
            <a:r>
              <a:rPr lang="fr-FR"/>
              <a:t>( x -&gt; {   …</a:t>
            </a:r>
            <a:r>
              <a:rPr lang="fr-FR"/>
              <a:t>transform</a:t>
            </a:r>
            <a:r>
              <a:rPr lang="fr-FR"/>
              <a:t> </a:t>
            </a:r>
            <a:r>
              <a:rPr lang="fr-FR"/>
              <a:t>row</a:t>
            </a:r>
            <a:r>
              <a:rPr lang="fr-FR"/>
              <a:t> to ‘update’ values; return </a:t>
            </a:r>
            <a:r>
              <a:rPr lang="fr-FR"/>
              <a:t>newRow</a:t>
            </a:r>
            <a:r>
              <a:rPr lang="fr-FR"/>
              <a:t> } )</a:t>
            </a:r>
          </a:p>
          <a:p>
            <a:br>
              <a:rPr lang="fr-FR"/>
            </a:br>
            <a:endParaRPr lang="fr-FR"/>
          </a:p>
          <a:p>
            <a:r>
              <a:rPr lang="fr-FR"/>
              <a:t>     .</a:t>
            </a:r>
            <a:r>
              <a:rPr lang="fr-FR"/>
              <a:t>write</a:t>
            </a:r>
            <a:r>
              <a:rPr lang="fr-FR"/>
              <a:t>().format(« PARQUET »).mode(</a:t>
            </a:r>
            <a:r>
              <a:rPr lang="fr-FR"/>
              <a:t>SaveMode.Overwrite</a:t>
            </a:r>
            <a:r>
              <a:rPr lang="fr-FR"/>
              <a:t>).</a:t>
            </a:r>
            <a:r>
              <a:rPr lang="fr-FR"/>
              <a:t>save</a:t>
            </a:r>
            <a:r>
              <a:rPr lang="fr-FR"/>
              <a:t>(« /data/table2 »)</a:t>
            </a:r>
          </a:p>
        </p:txBody>
      </p:sp>
      <p:sp>
        <p:nvSpPr>
          <p:cNvPr id="4" name="Speech Bubble: Oval 3"/>
          <p:cNvSpPr/>
          <p:nvPr/>
        </p:nvSpPr>
        <p:spPr>
          <a:xfrm>
            <a:off x="7082790" y="1660683"/>
            <a:ext cx="2807970" cy="846455"/>
          </a:xfrm>
          <a:prstGeom prst="wedgeEllipseCallout">
            <a:avLst>
              <a:gd name="adj1" fmla="val -66687"/>
              <a:gd name="adj2" fmla="val 423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Full Scan ALL files</a:t>
            </a:r>
          </a:p>
          <a:p>
            <a:pPr algn="ctr"/>
            <a:r>
              <a:rPr lang="fr-FR"/>
              <a:t>Load</a:t>
            </a:r>
            <a:r>
              <a:rPr lang="fr-FR"/>
              <a:t> ALL </a:t>
            </a:r>
            <a:br>
              <a:rPr lang="fr-FR"/>
            </a:br>
            <a:r>
              <a:rPr lang="fr-FR"/>
              <a:t>in-memory</a:t>
            </a:r>
          </a:p>
        </p:txBody>
      </p:sp>
      <p:sp>
        <p:nvSpPr>
          <p:cNvPr id="5" name="Speech Bubble: Oval 4"/>
          <p:cNvSpPr/>
          <p:nvPr/>
        </p:nvSpPr>
        <p:spPr>
          <a:xfrm>
            <a:off x="7120890" y="2835275"/>
            <a:ext cx="2769870" cy="846455"/>
          </a:xfrm>
          <a:prstGeom prst="wedgeEllipseCallout">
            <a:avLst>
              <a:gd name="adj1" fmla="val -67435"/>
              <a:gd name="adj2" fmla="val 99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Process ALL</a:t>
            </a:r>
          </a:p>
          <a:p>
            <a:pPr algn="ctr"/>
            <a:r>
              <a:rPr lang="fr-FR"/>
              <a:t>In-memory</a:t>
            </a:r>
          </a:p>
        </p:txBody>
      </p:sp>
      <p:sp>
        <p:nvSpPr>
          <p:cNvPr id="6" name="Speech Bubble: Oval 5"/>
          <p:cNvSpPr/>
          <p:nvPr/>
        </p:nvSpPr>
        <p:spPr>
          <a:xfrm>
            <a:off x="7155180" y="4486690"/>
            <a:ext cx="2701290" cy="846455"/>
          </a:xfrm>
          <a:prstGeom prst="wedgeEllipseCallout">
            <a:avLst>
              <a:gd name="adj1" fmla="val -64890"/>
              <a:gd name="adj2" fmla="val -368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Delete</a:t>
            </a:r>
            <a:r>
              <a:rPr lang="fr-FR"/>
              <a:t> ALL files</a:t>
            </a:r>
          </a:p>
          <a:p>
            <a:pPr algn="ctr"/>
            <a:r>
              <a:rPr lang="fr-FR"/>
              <a:t>+ </a:t>
            </a:r>
            <a:r>
              <a:rPr lang="fr-FR"/>
              <a:t>save</a:t>
            </a:r>
            <a:r>
              <a:rPr lang="fr-FR"/>
              <a:t> ALL</a:t>
            </a:r>
            <a:br>
              <a:rPr lang="fr-FR"/>
            </a:br>
            <a:r>
              <a:rPr lang="fr-FR"/>
              <a:t> in-memory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&quot;Not Allowed&quot; Symbol 5"/>
          <p:cNvSpPr/>
          <p:nvPr/>
        </p:nvSpPr>
        <p:spPr>
          <a:xfrm>
            <a:off x="3781948" y="3615272"/>
            <a:ext cx="647700" cy="596264"/>
          </a:xfrm>
          <a:prstGeom prst="noSmoking">
            <a:avLst>
              <a:gd name="adj" fmla="val 781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" name="&quot;Not Allowed&quot; Symbol 3"/>
          <p:cNvSpPr/>
          <p:nvPr/>
        </p:nvSpPr>
        <p:spPr>
          <a:xfrm>
            <a:off x="3835288" y="1451192"/>
            <a:ext cx="647700" cy="596264"/>
          </a:xfrm>
          <a:prstGeom prst="noSmoking">
            <a:avLst>
              <a:gd name="adj" fmla="val 781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" name="Titre 1"/>
          <p:cNvSpPr txBox="1"/>
          <p:nvPr/>
        </p:nvSpPr>
        <p:spPr>
          <a:xfrm>
            <a:off x="504492" y="-2982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Sql</a:t>
            </a:r>
            <a:r>
              <a:rPr lang="fr-FR">
                <a:solidFill>
                  <a:sysClr val="windowText" lastClr="000000"/>
                </a:solidFill>
              </a:rPr>
              <a:t>&gt; … NO « ACID 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41968" y="1413091"/>
            <a:ext cx="235833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/>
              <a:t>A  </a:t>
            </a:r>
            <a:r>
              <a:rPr lang="fr-FR" sz="3600"/>
              <a:t>tomic</a:t>
            </a:r>
            <a:endParaRPr lang="fr-FR" sz="3600"/>
          </a:p>
          <a:p>
            <a:endParaRPr lang="fr-FR" sz="3600"/>
          </a:p>
          <a:p>
            <a:r>
              <a:rPr lang="fr-FR" sz="3600"/>
              <a:t>C  </a:t>
            </a:r>
            <a:r>
              <a:rPr lang="fr-FR" sz="3600"/>
              <a:t>onsistent</a:t>
            </a:r>
            <a:endParaRPr lang="fr-FR" sz="3600"/>
          </a:p>
          <a:p>
            <a:endParaRPr lang="fr-FR" sz="3600"/>
          </a:p>
          <a:p>
            <a:r>
              <a:rPr lang="fr-FR" sz="3600"/>
              <a:t>I   </a:t>
            </a:r>
            <a:r>
              <a:rPr lang="fr-FR" sz="3600"/>
              <a:t>solated</a:t>
            </a:r>
            <a:endParaRPr lang="fr-FR" sz="3600"/>
          </a:p>
          <a:p>
            <a:endParaRPr lang="fr-FR" sz="3600"/>
          </a:p>
          <a:p>
            <a:r>
              <a:rPr lang="fr-FR" sz="3600"/>
              <a:t>D  </a:t>
            </a:r>
            <a:r>
              <a:rPr lang="fr-FR" sz="3600"/>
              <a:t>urable</a:t>
            </a:r>
            <a:endParaRPr lang="fr-FR" sz="3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65693"/>
            <a:ext cx="9071640" cy="1176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Granularity</a:t>
            </a:r>
            <a:r>
              <a:rPr lang="fr-FR">
                <a:solidFill>
                  <a:sysClr val="windowText" lastClr="000000"/>
                </a:solidFill>
              </a:rPr>
              <a:t> of insert</a:t>
            </a:r>
            <a:br>
              <a:rPr lang="fr-FR">
                <a:solidFill>
                  <a:sysClr val="windowText" lastClr="000000"/>
                </a:solidFill>
              </a:rPr>
            </a:br>
            <a:r>
              <a:rPr lang="fr-FR">
                <a:solidFill>
                  <a:sysClr val="windowText" lastClr="000000"/>
                </a:solidFill>
              </a:rPr>
              <a:t> (append / </a:t>
            </a:r>
            <a:r>
              <a:rPr lang="fr-FR">
                <a:solidFill>
                  <a:sysClr val="windowText" lastClr="000000"/>
                </a:solidFill>
              </a:rPr>
              <a:t>overwrite</a:t>
            </a:r>
            <a:r>
              <a:rPr lang="fr-FR">
                <a:solidFill>
                  <a:sysClr val="windowText" lastClr="000000"/>
                </a:solidFill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1510" y="1996440"/>
            <a:ext cx="2594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Write a single ROW</a:t>
            </a:r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651510" y="3089910"/>
            <a:ext cx="32533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Write </a:t>
            </a:r>
            <a:r>
              <a:rPr lang="fr-FR" sz="2400"/>
              <a:t>from</a:t>
            </a:r>
            <a:r>
              <a:rPr lang="fr-FR" sz="2400"/>
              <a:t> </a:t>
            </a:r>
            <a:r>
              <a:rPr lang="fr-FR" sz="2400"/>
              <a:t>shuffled</a:t>
            </a:r>
            <a:r>
              <a:rPr lang="fr-FR" sz="2400"/>
              <a:t> RDD</a:t>
            </a:r>
            <a:br>
              <a:rPr lang="fr-FR" sz="2400"/>
            </a:br>
            <a:r>
              <a:rPr lang="fr-FR" sz="2400"/>
              <a:t>    (</a:t>
            </a:r>
            <a:r>
              <a:rPr lang="fr-FR" sz="2400"/>
              <a:t>several</a:t>
            </a:r>
            <a:r>
              <a:rPr lang="fr-FR" sz="2400"/>
              <a:t> </a:t>
            </a:r>
            <a:r>
              <a:rPr lang="fr-FR" sz="2400"/>
              <a:t>executors</a:t>
            </a:r>
            <a:r>
              <a:rPr lang="fr-FR" sz="240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5175" y="4630936"/>
            <a:ext cx="30489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Overwrite</a:t>
            </a:r>
            <a:r>
              <a:rPr lang="fr-FR" sz="2400"/>
              <a:t> </a:t>
            </a:r>
            <a:r>
              <a:rPr lang="fr-FR" sz="2400"/>
              <a:t>some</a:t>
            </a:r>
            <a:r>
              <a:rPr lang="fr-FR" sz="2400"/>
              <a:t> files, </a:t>
            </a:r>
            <a:br>
              <a:rPr lang="fr-FR" sz="2400"/>
            </a:br>
            <a:r>
              <a:rPr lang="fr-FR" sz="2400"/>
              <a:t>     and no </a:t>
            </a:r>
            <a:r>
              <a:rPr lang="fr-FR" sz="2400"/>
              <a:t>touch</a:t>
            </a:r>
            <a:r>
              <a:rPr lang="fr-FR" sz="2400"/>
              <a:t> </a:t>
            </a:r>
            <a:r>
              <a:rPr lang="fr-FR" sz="2400"/>
              <a:t>others</a:t>
            </a:r>
            <a:endParaRPr lang="fr-FR" sz="2400"/>
          </a:p>
        </p:txBody>
      </p:sp>
      <p:sp>
        <p:nvSpPr>
          <p:cNvPr id="6" name="TextBox 5"/>
          <p:cNvSpPr txBox="1"/>
          <p:nvPr/>
        </p:nvSpPr>
        <p:spPr>
          <a:xfrm>
            <a:off x="5470841" y="3608724"/>
            <a:ext cx="4397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by default </a:t>
            </a:r>
          </a:p>
          <a:p>
            <a:r>
              <a:rPr lang="fr-FR" sz="2400"/>
              <a:t>spark.sql.shuffle.partitions</a:t>
            </a:r>
            <a:r>
              <a:rPr lang="fr-FR" sz="2400"/>
              <a:t>=200 !!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2470" y="4787146"/>
            <a:ext cx="3358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Possible </a:t>
            </a:r>
            <a:r>
              <a:rPr lang="fr-FR" sz="2400"/>
              <a:t>only</a:t>
            </a:r>
            <a:r>
              <a:rPr lang="fr-FR" sz="2400"/>
              <a:t> by </a:t>
            </a:r>
            <a:r>
              <a:rPr lang="fr-FR" sz="2400" b="1"/>
              <a:t>partition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243888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in 200 </a:t>
            </a:r>
            <a:r>
              <a:rPr lang="fr-FR" sz="2400" b="1"/>
              <a:t>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2470" y="1941344"/>
            <a:ext cx="1749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in 1 new </a:t>
            </a:r>
            <a:r>
              <a:rPr lang="fr-FR" sz="2400" b="1"/>
              <a:t>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0330" y="2250132"/>
            <a:ext cx="373429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HDFS </a:t>
            </a:r>
            <a:r>
              <a:rPr lang="fr-FR" sz="2400"/>
              <a:t>hates</a:t>
            </a:r>
            <a:r>
              <a:rPr lang="fr-FR" sz="2400"/>
              <a:t> Small Files</a:t>
            </a:r>
            <a:br>
              <a:rPr lang="fr-FR" sz="2400"/>
            </a:br>
            <a:r>
              <a:rPr lang="fr-FR" sz="2400"/>
              <a:t>                   (</a:t>
            </a:r>
            <a:r>
              <a:rPr lang="fr-FR" sz="2400"/>
              <a:t>Too</a:t>
            </a:r>
            <a:r>
              <a:rPr lang="fr-FR" sz="2400"/>
              <a:t> </a:t>
            </a:r>
            <a:r>
              <a:rPr lang="fr-FR" sz="2400"/>
              <a:t>many</a:t>
            </a:r>
            <a:r>
              <a:rPr lang="fr-FR" sz="2400"/>
              <a:t> files) !!</a:t>
            </a:r>
          </a:p>
          <a:p>
            <a:endParaRPr lang="fr-FR"/>
          </a:p>
        </p:txBody>
      </p:sp>
      <p:sp>
        <p:nvSpPr>
          <p:cNvPr id="12" name="Arrow: Right 11"/>
          <p:cNvSpPr/>
          <p:nvPr/>
        </p:nvSpPr>
        <p:spPr>
          <a:xfrm>
            <a:off x="4017528" y="2025342"/>
            <a:ext cx="285750" cy="4038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/>
          <p:cNvSpPr/>
          <p:nvPr/>
        </p:nvSpPr>
        <p:spPr>
          <a:xfrm>
            <a:off x="4017528" y="3301693"/>
            <a:ext cx="285750" cy="4038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/>
          <p:cNvSpPr/>
          <p:nvPr/>
        </p:nvSpPr>
        <p:spPr>
          <a:xfrm>
            <a:off x="4017528" y="4816048"/>
            <a:ext cx="285750" cy="4038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65693"/>
            <a:ext cx="9071640" cy="1176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Make</a:t>
            </a:r>
            <a:r>
              <a:rPr lang="fr-FR">
                <a:solidFill>
                  <a:sysClr val="windowText" lastClr="000000"/>
                </a:solidFill>
              </a:rPr>
              <a:t> Long Story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761" y="2386483"/>
            <a:ext cx="251145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Table Scope </a:t>
            </a:r>
          </a:p>
          <a:p>
            <a:r>
              <a:rPr lang="fr-FR" sz="2800"/>
              <a:t>for update</a:t>
            </a:r>
          </a:p>
          <a:p>
            <a:r>
              <a:rPr lang="fr-FR" sz="2800"/>
              <a:t>(~</a:t>
            </a:r>
            <a:r>
              <a:rPr lang="fr-FR" sz="2800"/>
              <a:t>Transactional</a:t>
            </a:r>
            <a:r>
              <a:rPr lang="fr-FR" sz="2800"/>
              <a:t>)</a:t>
            </a:r>
          </a:p>
        </p:txBody>
      </p:sp>
      <p:sp>
        <p:nvSpPr>
          <p:cNvPr id="4" name="Equals 3"/>
          <p:cNvSpPr/>
          <p:nvPr/>
        </p:nvSpPr>
        <p:spPr>
          <a:xfrm>
            <a:off x="3210449" y="2689574"/>
            <a:ext cx="839038" cy="482321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67201" y="2689574"/>
            <a:ext cx="2165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Hive</a:t>
            </a:r>
            <a:r>
              <a:rPr lang="fr-FR" sz="2800"/>
              <a:t> Partition</a:t>
            </a:r>
          </a:p>
        </p:txBody>
      </p:sp>
      <p:sp>
        <p:nvSpPr>
          <p:cNvPr id="6" name="Equals 5"/>
          <p:cNvSpPr/>
          <p:nvPr/>
        </p:nvSpPr>
        <p:spPr>
          <a:xfrm>
            <a:off x="6638610" y="2689574"/>
            <a:ext cx="839038" cy="482321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55653" y="2558945"/>
            <a:ext cx="15326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Hadoop</a:t>
            </a:r>
          </a:p>
          <a:p>
            <a:r>
              <a:rPr lang="fr-FR" sz="2800"/>
              <a:t>Directory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4492" y="32105"/>
            <a:ext cx="9071640" cy="94644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PARTITIONED BY (col1, col2)</a:t>
            </a:r>
          </a:p>
        </p:txBody>
      </p:sp>
      <p:sp>
        <p:nvSpPr>
          <p:cNvPr id="15" name="Organigramme : Disque magnétique 14"/>
          <p:cNvSpPr/>
          <p:nvPr/>
        </p:nvSpPr>
        <p:spPr>
          <a:xfrm>
            <a:off x="1718573" y="2156400"/>
            <a:ext cx="3049200" cy="29988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Organigramme : Disque magnétique 16"/>
          <p:cNvSpPr/>
          <p:nvPr/>
        </p:nvSpPr>
        <p:spPr>
          <a:xfrm>
            <a:off x="5893200" y="1410120"/>
            <a:ext cx="2998800" cy="4087080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6307200" y="2698200"/>
            <a:ext cx="2473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/data/table1</a:t>
            </a:r>
            <a:endParaRPr lang="fr-FR"/>
          </a:p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/</a:t>
            </a:r>
            <a:r>
              <a:rPr lang="fr-FR"/>
              <a:t>col1=a</a:t>
            </a:r>
          </a:p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/col2=1</a:t>
            </a:r>
          </a:p>
          <a:p>
            <a:r>
              <a:rPr lang="fr-FR"/>
              <a:t>        /file1, file2</a:t>
            </a:r>
          </a:p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/col2=2</a:t>
            </a:r>
          </a:p>
          <a:p>
            <a:r>
              <a:rPr lang="fr-FR"/>
              <a:t>        /file3, file4</a:t>
            </a:r>
          </a:p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/col1=b</a:t>
            </a:r>
          </a:p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/col2=1</a:t>
            </a:r>
          </a:p>
        </p:txBody>
      </p:sp>
      <p:sp>
        <p:nvSpPr>
          <p:cNvPr id="20" name="Forme libre : forme 19"/>
          <p:cNvSpPr/>
          <p:nvPr/>
        </p:nvSpPr>
        <p:spPr>
          <a:xfrm>
            <a:off x="1784139" y="3178500"/>
            <a:ext cx="956834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>
                <a:latin typeface="Liberation Sans"/>
                <a:ea typeface="Microsoft YaHei"/>
                <a:cs typeface="Lucida Sans"/>
              </a:rPr>
              <a:t>t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able1</a:t>
            </a:r>
          </a:p>
        </p:txBody>
      </p:sp>
      <p:sp>
        <p:nvSpPr>
          <p:cNvPr id="21" name="Forme libre : forme 20"/>
          <p:cNvSpPr/>
          <p:nvPr/>
        </p:nvSpPr>
        <p:spPr>
          <a:xfrm>
            <a:off x="2583235" y="3564720"/>
            <a:ext cx="2059978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(col1=‘a’, col2=1)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6811673" y="1560656"/>
            <a:ext cx="955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HDFS</a:t>
            </a:r>
          </a:p>
        </p:txBody>
      </p:sp>
      <p:cxnSp>
        <p:nvCxnSpPr>
          <p:cNvPr id="26" name="Connecteur droit avec flèche 25"/>
          <p:cNvCxnSpPr/>
          <p:nvPr/>
        </p:nvCxnSpPr>
        <p:spPr>
          <a:xfrm flipV="1">
            <a:off x="2934000" y="2904196"/>
            <a:ext cx="3412800" cy="358574"/>
          </a:xfrm>
          <a:prstGeom prst="straightConnector1">
            <a:avLst/>
          </a:prstGeom>
          <a:ln w="2540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>
            <a:off x="4875773" y="3754800"/>
            <a:ext cx="1827427" cy="0"/>
          </a:xfrm>
          <a:prstGeom prst="straightConnector1">
            <a:avLst/>
          </a:prstGeom>
          <a:ln w="2540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>
            <a:off x="4875773" y="4111200"/>
            <a:ext cx="1827427" cy="159125"/>
          </a:xfrm>
          <a:prstGeom prst="straightConnector1">
            <a:avLst/>
          </a:prstGeom>
          <a:ln w="2540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>
            <a:off x="4767773" y="4558980"/>
            <a:ext cx="1805827" cy="252421"/>
          </a:xfrm>
          <a:prstGeom prst="straightConnector1">
            <a:avLst/>
          </a:prstGeom>
          <a:ln w="2540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769215" y="3241554"/>
            <a:ext cx="1619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Partitions</a:t>
            </a:r>
          </a:p>
        </p:txBody>
      </p:sp>
      <p:sp>
        <p:nvSpPr>
          <p:cNvPr id="25" name="Forme libre : forme 20"/>
          <p:cNvSpPr/>
          <p:nvPr/>
        </p:nvSpPr>
        <p:spPr>
          <a:xfrm>
            <a:off x="2580835" y="3943920"/>
            <a:ext cx="2059978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(col1=‘a’, col2=2)</a:t>
            </a:r>
          </a:p>
        </p:txBody>
      </p:sp>
      <p:sp>
        <p:nvSpPr>
          <p:cNvPr id="29" name="Forme libre : forme 20"/>
          <p:cNvSpPr/>
          <p:nvPr/>
        </p:nvSpPr>
        <p:spPr>
          <a:xfrm>
            <a:off x="2585635" y="4341120"/>
            <a:ext cx="2059978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(col1=‘b’, col2=1)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600" y="1267200"/>
            <a:ext cx="5146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CREATE EXTERNAL TABLE table1 ( col3, col4, …</a:t>
            </a:r>
            <a:r>
              <a:rPr lang="fr-FR"/>
              <a:t>colN</a:t>
            </a:r>
            <a:r>
              <a:rPr lang="fr-FR"/>
              <a:t>)</a:t>
            </a:r>
          </a:p>
          <a:p>
            <a:r>
              <a:rPr lang="fr-FR" b="1"/>
              <a:t>PARTITIONED BY (col1 string, col2 </a:t>
            </a:r>
            <a:r>
              <a:rPr lang="fr-FR" b="1"/>
              <a:t>int</a:t>
            </a:r>
            <a:r>
              <a:rPr lang="fr-FR" b="1"/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121392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Alter table ADD PARTITION</a:t>
            </a:r>
            <a:br>
              <a:rPr lang="en-US"/>
            </a:br>
            <a:r>
              <a:rPr lang="en-US"/>
              <a:t> / MSCK REPAIR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070" y="2138356"/>
            <a:ext cx="63889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Need EXPLICIT </a:t>
            </a:r>
            <a:r>
              <a:rPr lang="fr-FR" sz="2800"/>
              <a:t>add</a:t>
            </a:r>
            <a:r>
              <a:rPr lang="fr-FR" sz="2800"/>
              <a:t> !!   </a:t>
            </a:r>
          </a:p>
          <a:p>
            <a:r>
              <a:rPr lang="fr-FR" sz="2800"/>
              <a:t>Otherwise</a:t>
            </a:r>
            <a:r>
              <a:rPr lang="fr-FR" sz="2800"/>
              <a:t> </a:t>
            </a:r>
            <a:r>
              <a:rPr lang="fr-FR" sz="2800"/>
              <a:t>dir</a:t>
            </a:r>
            <a:r>
              <a:rPr lang="fr-FR" sz="2800"/>
              <a:t>/files not </a:t>
            </a:r>
            <a:r>
              <a:rPr lang="fr-FR" sz="2800"/>
              <a:t>scanned</a:t>
            </a:r>
            <a:r>
              <a:rPr lang="fr-FR" sz="2800"/>
              <a:t> =&gt; 0 </a:t>
            </a:r>
            <a:r>
              <a:rPr lang="fr-FR" sz="2800"/>
              <a:t>result</a:t>
            </a:r>
            <a:endParaRPr lang="fr-FR" sz="2800"/>
          </a:p>
        </p:txBody>
      </p:sp>
      <p:sp>
        <p:nvSpPr>
          <p:cNvPr id="8" name="TextBox 7"/>
          <p:cNvSpPr txBox="1"/>
          <p:nvPr/>
        </p:nvSpPr>
        <p:spPr>
          <a:xfrm>
            <a:off x="1483846" y="3566177"/>
            <a:ext cx="735150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Sql</a:t>
            </a:r>
            <a:r>
              <a:rPr lang="fr-FR" sz="2800"/>
              <a:t>&gt; </a:t>
            </a:r>
          </a:p>
          <a:p>
            <a:r>
              <a:rPr lang="fr-FR" sz="2800"/>
              <a:t>ALTER TABLE .. </a:t>
            </a:r>
            <a:r>
              <a:rPr lang="fr-FR" sz="2800" b="1"/>
              <a:t>ADD PARTITION</a:t>
            </a:r>
            <a:r>
              <a:rPr lang="fr-FR" sz="2800"/>
              <a:t> (col1=‘a’, col2=1);</a:t>
            </a:r>
          </a:p>
          <a:p>
            <a:r>
              <a:rPr lang="fr-FR" sz="2800"/>
              <a:t>… Or </a:t>
            </a:r>
            <a:br>
              <a:rPr lang="fr-FR" sz="2800"/>
            </a:br>
            <a:r>
              <a:rPr lang="fr-FR" sz="2800" b="1"/>
              <a:t>MSCK REPAIR TABLE</a:t>
            </a:r>
            <a:r>
              <a:rPr lang="fr-FR" sz="2800"/>
              <a:t> ..;  -- (</a:t>
            </a:r>
            <a:r>
              <a:rPr lang="fr-FR" sz="2800"/>
              <a:t>inneficient</a:t>
            </a:r>
            <a:r>
              <a:rPr lang="fr-FR" sz="2800"/>
              <a:t> </a:t>
            </a:r>
            <a:r>
              <a:rPr lang="fr-FR" sz="2800"/>
              <a:t>rescan</a:t>
            </a:r>
            <a:r>
              <a:rPr lang="fr-FR" sz="2800"/>
              <a:t> all)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rtl="0"/>
            <a:r>
              <a:rPr lang="en-US"/>
              <a:t>Discover.partitions</a:t>
            </a:r>
            <a:r>
              <a:rPr lang="en-US"/>
              <a:t> ??</a:t>
            </a:r>
            <a:br>
              <a:rPr lang="en-US"/>
            </a:br>
            <a:r>
              <a:rPr lang="en-US"/>
              <a:t> … False good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73" y="2013425"/>
            <a:ext cx="8387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ALTER TABLE …  SET TBLPROPERTIES ('</a:t>
            </a:r>
            <a:r>
              <a:rPr lang="en-US" sz="2400"/>
              <a:t>discover.partitions</a:t>
            </a:r>
            <a:r>
              <a:rPr lang="en-US" sz="2400"/>
              <a:t>' = 'true')</a:t>
            </a:r>
            <a:endParaRPr lang="fr-FR" sz="2400"/>
          </a:p>
        </p:txBody>
      </p:sp>
      <p:sp>
        <p:nvSpPr>
          <p:cNvPr id="4" name="TextBox 3"/>
          <p:cNvSpPr txBox="1"/>
          <p:nvPr/>
        </p:nvSpPr>
        <p:spPr>
          <a:xfrm>
            <a:off x="1081035" y="2933970"/>
            <a:ext cx="799648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hive-site.xml</a:t>
            </a:r>
          </a:p>
          <a:p>
            <a:r>
              <a:rPr lang="fr-FR"/>
              <a:t>   </a:t>
            </a:r>
            <a:r>
              <a:rPr lang="fr-FR"/>
              <a:t>metastore.partition.management.task.frequency</a:t>
            </a:r>
            <a:r>
              <a:rPr lang="fr-FR"/>
              <a:t>=600 </a:t>
            </a:r>
          </a:p>
          <a:p>
            <a:endParaRPr lang="fr-FR"/>
          </a:p>
          <a:p>
            <a:r>
              <a:rPr lang="fr-FR"/>
              <a:t>    …  =&gt; INNEFICIENT : Polling </a:t>
            </a:r>
            <a:r>
              <a:rPr lang="fr-FR"/>
              <a:t>metastore</a:t>
            </a:r>
            <a:r>
              <a:rPr lang="fr-FR"/>
              <a:t> thread </a:t>
            </a:r>
            <a:r>
              <a:rPr lang="fr-FR"/>
              <a:t>every</a:t>
            </a:r>
            <a:r>
              <a:rPr lang="fr-FR"/>
              <a:t> 10mn to scan HDFS, and alter</a:t>
            </a:r>
          </a:p>
          <a:p>
            <a:r>
              <a:rPr lang="fr-FR"/>
              <a:t>    + Spark </a:t>
            </a:r>
            <a:r>
              <a:rPr lang="fr-FR"/>
              <a:t>still</a:t>
            </a:r>
            <a:r>
              <a:rPr lang="fr-FR"/>
              <a:t> </a:t>
            </a:r>
            <a:r>
              <a:rPr lang="fr-FR"/>
              <a:t>using</a:t>
            </a:r>
            <a:r>
              <a:rPr lang="fr-FR"/>
              <a:t> explicit partitions</a:t>
            </a:r>
          </a:p>
          <a:p>
            <a:endParaRPr lang="fr-FR"/>
          </a:p>
          <a:p>
            <a:r>
              <a:rPr lang="fr-FR"/>
              <a:t>What</a:t>
            </a:r>
            <a:r>
              <a:rPr lang="fr-FR"/>
              <a:t> if </a:t>
            </a:r>
            <a:r>
              <a:rPr lang="fr-FR"/>
              <a:t>you</a:t>
            </a:r>
            <a:r>
              <a:rPr lang="fr-FR"/>
              <a:t> have </a:t>
            </a:r>
            <a:r>
              <a:rPr lang="fr-FR"/>
              <a:t>Peta</a:t>
            </a:r>
            <a:r>
              <a:rPr lang="fr-FR"/>
              <a:t> bytes, </a:t>
            </a:r>
            <a:r>
              <a:rPr lang="fr-FR"/>
              <a:t>with</a:t>
            </a:r>
            <a:r>
              <a:rPr lang="fr-FR"/>
              <a:t> millions of </a:t>
            </a:r>
            <a:r>
              <a:rPr lang="fr-FR"/>
              <a:t>dirs</a:t>
            </a:r>
            <a:r>
              <a:rPr lang="fr-FR"/>
              <a:t>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Optim</a:t>
            </a:r>
            <a:r>
              <a:rPr lang="fr-FR">
                <a:solidFill>
                  <a:sysClr val="windowText" lastClr="000000"/>
                </a:solidFill>
              </a:rPr>
              <a:t>: Partitions </a:t>
            </a:r>
            <a:r>
              <a:rPr lang="fr-FR">
                <a:solidFill>
                  <a:sysClr val="windowText" lastClr="000000"/>
                </a:solidFill>
              </a:rPr>
              <a:t>Pruning</a:t>
            </a:r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3999" y="1748790"/>
            <a:ext cx="5517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Sql</a:t>
            </a:r>
            <a:r>
              <a:rPr lang="fr-FR"/>
              <a:t>&gt; select … </a:t>
            </a:r>
            <a:r>
              <a:rPr lang="fr-FR"/>
              <a:t>from</a:t>
            </a:r>
            <a:r>
              <a:rPr lang="fr-FR"/>
              <a:t> </a:t>
            </a:r>
            <a:r>
              <a:rPr lang="fr-FR"/>
              <a:t>db.student</a:t>
            </a:r>
            <a:r>
              <a:rPr lang="fr-FR"/>
              <a:t> </a:t>
            </a:r>
            <a:r>
              <a:rPr lang="fr-FR"/>
              <a:t>where</a:t>
            </a:r>
            <a:r>
              <a:rPr lang="fr-FR"/>
              <a:t> promo=2020 and …</a:t>
            </a:r>
          </a:p>
        </p:txBody>
      </p:sp>
      <p:sp>
        <p:nvSpPr>
          <p:cNvPr id="4" name="Left Brace 3"/>
          <p:cNvSpPr/>
          <p:nvPr/>
        </p:nvSpPr>
        <p:spPr>
          <a:xfrm rot="16200000">
            <a:off x="4571941" y="1676221"/>
            <a:ext cx="179188" cy="106299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/>
          <p:cNvSpPr txBox="1"/>
          <p:nvPr/>
        </p:nvSpPr>
        <p:spPr>
          <a:xfrm>
            <a:off x="3262574" y="2230187"/>
            <a:ext cx="4263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Condition on </a:t>
            </a:r>
            <a:r>
              <a:rPr lang="fr-FR" sz="2400"/>
              <a:t>partitioned</a:t>
            </a:r>
            <a:r>
              <a:rPr lang="fr-FR" sz="2400"/>
              <a:t> </a:t>
            </a:r>
            <a:r>
              <a:rPr lang="fr-FR" sz="2400"/>
              <a:t>column</a:t>
            </a:r>
            <a:endParaRPr lang="fr-FR" sz="2400"/>
          </a:p>
        </p:txBody>
      </p:sp>
      <p:sp>
        <p:nvSpPr>
          <p:cNvPr id="6" name="Arrow: Right 5"/>
          <p:cNvSpPr/>
          <p:nvPr/>
        </p:nvSpPr>
        <p:spPr>
          <a:xfrm>
            <a:off x="2621280" y="3422889"/>
            <a:ext cx="582930" cy="259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3434659" y="2984316"/>
            <a:ext cx="3439852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/>
              <a:t>Scan </a:t>
            </a:r>
            <a:r>
              <a:rPr lang="fr-FR" sz="2800" b="1"/>
              <a:t>only</a:t>
            </a:r>
            <a:r>
              <a:rPr lang="fr-FR" sz="2800" b="1"/>
              <a:t> files in</a:t>
            </a:r>
          </a:p>
          <a:p>
            <a:r>
              <a:rPr lang="fr-FR" sz="2000"/>
              <a:t>/data/</a:t>
            </a:r>
            <a:r>
              <a:rPr lang="fr-FR" sz="2000"/>
              <a:t>student</a:t>
            </a:r>
            <a:r>
              <a:rPr lang="fr-FR" sz="2000"/>
              <a:t>/promo=2020/**</a:t>
            </a:r>
          </a:p>
          <a:p>
            <a:endParaRPr lang="fr-FR"/>
          </a:p>
          <a:p>
            <a:r>
              <a:rPr lang="fr-FR" sz="2800" b="1"/>
              <a:t>Skip </a:t>
            </a:r>
            <a:r>
              <a:rPr lang="fr-FR" sz="2800" b="1"/>
              <a:t>others</a:t>
            </a:r>
            <a:br>
              <a:rPr lang="fr-FR" sz="2800"/>
            </a:br>
            <a:r>
              <a:rPr lang="fr-FR" sz="2000"/>
              <a:t>/data/</a:t>
            </a:r>
            <a:r>
              <a:rPr lang="fr-FR" sz="2000"/>
              <a:t>student</a:t>
            </a:r>
            <a:r>
              <a:rPr lang="fr-FR" sz="2000"/>
              <a:t>/promo=2019/</a:t>
            </a:r>
            <a:br>
              <a:rPr lang="fr-FR" sz="2000"/>
            </a:br>
            <a:r>
              <a:rPr lang="fr-FR" sz="2000"/>
              <a:t>/data/</a:t>
            </a:r>
            <a:r>
              <a:rPr lang="fr-FR" sz="2000"/>
              <a:t>student</a:t>
            </a:r>
            <a:r>
              <a:rPr lang="fr-FR" sz="2000"/>
              <a:t>/promo=2018/</a:t>
            </a:r>
          </a:p>
          <a:p>
            <a:r>
              <a:rPr lang="fr-FR" sz="2000"/>
              <a:t> 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4492" y="-31542"/>
            <a:ext cx="9071640" cy="94644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Partition: what for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2488" y="1414581"/>
            <a:ext cx="9791655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/>
              <a:t>NOT for </a:t>
            </a:r>
            <a:r>
              <a:rPr lang="fr-FR" sz="4800" b="1"/>
              <a:t>searching</a:t>
            </a:r>
            <a:r>
              <a:rPr lang="fr-FR" sz="4800" b="1"/>
              <a:t> </a:t>
            </a:r>
            <a:r>
              <a:rPr lang="fr-FR" sz="4800" b="1"/>
              <a:t>faster</a:t>
            </a:r>
            <a:r>
              <a:rPr lang="fr-FR" sz="4800" b="1"/>
              <a:t> !! (Not-</a:t>
            </a:r>
            <a:r>
              <a:rPr lang="fr-FR" sz="4800" b="1"/>
              <a:t>only</a:t>
            </a:r>
            <a:r>
              <a:rPr lang="fr-FR" sz="4800" b="1"/>
              <a:t>)</a:t>
            </a:r>
          </a:p>
          <a:p>
            <a:r>
              <a:rPr lang="fr-FR" sz="2800"/>
              <a:t>( </a:t>
            </a:r>
            <a:r>
              <a:rPr lang="fr-FR" sz="2800"/>
              <a:t>worst</a:t>
            </a:r>
            <a:r>
              <a:rPr lang="fr-FR" sz="2800"/>
              <a:t> </a:t>
            </a:r>
            <a:r>
              <a:rPr lang="fr-FR" sz="2800"/>
              <a:t>than</a:t>
            </a:r>
            <a:r>
              <a:rPr lang="fr-FR" sz="2800"/>
              <a:t> parquet </a:t>
            </a:r>
            <a:r>
              <a:rPr lang="fr-FR" sz="2800"/>
              <a:t>Predicate</a:t>
            </a:r>
            <a:r>
              <a:rPr lang="fr-FR" sz="2800"/>
              <a:t>-Push-Down)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488" y="3172315"/>
            <a:ext cx="55617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/>
              <a:t>Granularity</a:t>
            </a:r>
            <a:r>
              <a:rPr lang="fr-FR" sz="2800" b="1"/>
              <a:t> of Save mode </a:t>
            </a:r>
            <a:r>
              <a:rPr lang="fr-FR" sz="2800" b="1"/>
              <a:t>Overwrite</a:t>
            </a:r>
            <a:endParaRPr lang="fr-FR" sz="2800" b="1"/>
          </a:p>
          <a:p>
            <a:r>
              <a:rPr lang="fr-FR" sz="2800"/>
              <a:t>… </a:t>
            </a:r>
            <a:r>
              <a:rPr lang="fr-FR" sz="2800"/>
              <a:t>adapt</a:t>
            </a:r>
            <a:r>
              <a:rPr lang="fr-FR" sz="2800"/>
              <a:t> to </a:t>
            </a:r>
            <a:r>
              <a:rPr lang="fr-FR" sz="2800"/>
              <a:t>your</a:t>
            </a:r>
            <a:r>
              <a:rPr lang="fr-FR" sz="2800"/>
              <a:t> batch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488" y="4622272"/>
            <a:ext cx="6735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DO NOT </a:t>
            </a:r>
            <a:r>
              <a:rPr lang="fr-FR" sz="2800"/>
              <a:t>define</a:t>
            </a:r>
            <a:r>
              <a:rPr lang="fr-FR" sz="2800"/>
              <a:t> </a:t>
            </a:r>
            <a:r>
              <a:rPr lang="fr-FR" sz="2800"/>
              <a:t>too</a:t>
            </a:r>
            <a:r>
              <a:rPr lang="fr-FR" sz="2800"/>
              <a:t> (&gt;2) </a:t>
            </a:r>
            <a:r>
              <a:rPr lang="fr-FR" sz="2800"/>
              <a:t>many</a:t>
            </a:r>
            <a:r>
              <a:rPr lang="fr-FR" sz="2800"/>
              <a:t> partition </a:t>
            </a:r>
            <a:r>
              <a:rPr lang="fr-FR" sz="2800"/>
              <a:t>levels</a:t>
            </a:r>
            <a:endParaRPr lang="fr-FR"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/>
          <p:cNvSpPr/>
          <p:nvPr/>
        </p:nvSpPr>
        <p:spPr>
          <a:xfrm flipH="1">
            <a:off x="7514944" y="1995157"/>
            <a:ext cx="773430" cy="431919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 txBox="1"/>
          <p:nvPr/>
        </p:nvSpPr>
        <p:spPr>
          <a:xfrm>
            <a:off x="504492" y="-23678"/>
            <a:ext cx="9071640" cy="129479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Daily Batch =&gt; </a:t>
            </a:r>
          </a:p>
          <a:p>
            <a:pPr rtl="0"/>
            <a:r>
              <a:rPr lang="fr-FR">
                <a:solidFill>
                  <a:sysClr val="windowText" lastClr="000000"/>
                </a:solidFill>
              </a:rPr>
              <a:t>Partition </a:t>
            </a:r>
            <a:r>
              <a:rPr lang="fr-FR">
                <a:solidFill>
                  <a:sysClr val="windowText" lastClr="000000"/>
                </a:solidFill>
              </a:rPr>
              <a:t>Dir</a:t>
            </a:r>
            <a:r>
              <a:rPr lang="fr-FR">
                <a:solidFill>
                  <a:sysClr val="windowText" lastClr="000000"/>
                </a:solidFill>
              </a:rPr>
              <a:t>   /date=</a:t>
            </a:r>
            <a:r>
              <a:rPr lang="fr-FR">
                <a:solidFill>
                  <a:sysClr val="windowText" lastClr="000000"/>
                </a:solidFill>
              </a:rPr>
              <a:t>yyyy</a:t>
            </a:r>
            <a:r>
              <a:rPr lang="fr-FR">
                <a:solidFill>
                  <a:sysClr val="windowText" lastClr="000000"/>
                </a:solidFill>
              </a:rPr>
              <a:t>-MM-dd</a:t>
            </a:r>
          </a:p>
        </p:txBody>
      </p:sp>
      <p:sp>
        <p:nvSpPr>
          <p:cNvPr id="4" name="Arrow: Right 3"/>
          <p:cNvSpPr/>
          <p:nvPr/>
        </p:nvSpPr>
        <p:spPr>
          <a:xfrm flipH="1">
            <a:off x="4126230" y="2066171"/>
            <a:ext cx="457200" cy="308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/>
          <p:cNvSpPr txBox="1"/>
          <p:nvPr/>
        </p:nvSpPr>
        <p:spPr>
          <a:xfrm>
            <a:off x="4983480" y="2020570"/>
            <a:ext cx="335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Partition for </a:t>
            </a:r>
            <a:r>
              <a:rPr lang="fr-FR"/>
              <a:t>today</a:t>
            </a:r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4962525" y="3291014"/>
            <a:ext cx="4682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Already</a:t>
            </a:r>
            <a:r>
              <a:rPr lang="fr-FR"/>
              <a:t> </a:t>
            </a:r>
            <a:r>
              <a:rPr lang="fr-FR"/>
              <a:t>computed</a:t>
            </a:r>
            <a:r>
              <a:rPr lang="fr-FR"/>
              <a:t> </a:t>
            </a:r>
            <a:br>
              <a:rPr lang="fr-FR"/>
            </a:br>
            <a:r>
              <a:rPr lang="fr-FR"/>
              <a:t>from</a:t>
            </a:r>
            <a:r>
              <a:rPr lang="fr-FR"/>
              <a:t> </a:t>
            </a:r>
            <a:r>
              <a:rPr lang="fr-FR"/>
              <a:t>yesterday’s</a:t>
            </a:r>
            <a:r>
              <a:rPr lang="fr-FR"/>
              <a:t> batch</a:t>
            </a:r>
          </a:p>
          <a:p>
            <a:r>
              <a:rPr lang="fr-FR"/>
              <a:t>( do not update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4" y="4663382"/>
            <a:ext cx="1532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…</a:t>
            </a:r>
            <a:r>
              <a:rPr lang="fr-FR"/>
              <a:t>older</a:t>
            </a:r>
            <a:r>
              <a:rPr lang="fr-FR"/>
              <a:t> </a:t>
            </a:r>
            <a:r>
              <a:rPr lang="fr-FR"/>
              <a:t>history</a:t>
            </a:r>
            <a:endParaRPr lang="fr-FR"/>
          </a:p>
        </p:txBody>
      </p:sp>
      <p:pic>
        <p:nvPicPr>
          <p:cNvPr id="16" name="Picture 2" descr="readonly · GitHub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7031" y="4098181"/>
            <a:ext cx="528319" cy="528319"/>
          </a:xfrm>
          <a:prstGeom prst="rect">
            <a:avLst/>
          </a:prstGeom>
          <a:noFill/>
        </p:spPr>
      </p:pic>
      <p:pic>
        <p:nvPicPr>
          <p:cNvPr id="17" name="Picture 2" descr="readonly · GitHub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57981" y="3378091"/>
            <a:ext cx="528319" cy="528319"/>
          </a:xfrm>
          <a:prstGeom prst="rect">
            <a:avLst/>
          </a:prstGeom>
          <a:noFill/>
        </p:spPr>
      </p:pic>
      <p:sp>
        <p:nvSpPr>
          <p:cNvPr id="20" name="TextBox 19"/>
          <p:cNvSpPr txBox="1"/>
          <p:nvPr/>
        </p:nvSpPr>
        <p:spPr>
          <a:xfrm>
            <a:off x="4983480" y="4663382"/>
            <a:ext cx="4682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Immutable </a:t>
            </a:r>
            <a:r>
              <a:rPr lang="fr-FR"/>
              <a:t>history</a:t>
            </a:r>
            <a:endParaRPr lang="fr-FR"/>
          </a:p>
        </p:txBody>
      </p:sp>
      <p:pic>
        <p:nvPicPr>
          <p:cNvPr id="9222" name="Picture 6" descr="Cogs Icons - Download Free Vector Icons | Noun Project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735924" y="1971337"/>
            <a:ext cx="477917" cy="477917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7284214" y="1647361"/>
            <a:ext cx="1290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batch </a:t>
            </a:r>
            <a:r>
              <a:rPr lang="fr-FR"/>
              <a:t>today</a:t>
            </a:r>
            <a:endParaRPr lang="fr-FR"/>
          </a:p>
        </p:txBody>
      </p:sp>
      <p:sp>
        <p:nvSpPr>
          <p:cNvPr id="9" name="Arrow: Pentagon 8"/>
          <p:cNvSpPr/>
          <p:nvPr/>
        </p:nvSpPr>
        <p:spPr>
          <a:xfrm flipH="1">
            <a:off x="8017864" y="2865796"/>
            <a:ext cx="773430" cy="431919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Picture 6" descr="Cogs Icons - Download Free Vector Icons | Noun Project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38844" y="2841976"/>
            <a:ext cx="477917" cy="477917"/>
          </a:xfrm>
          <a:prstGeom prst="rect">
            <a:avLst/>
          </a:prstGeom>
          <a:noFill/>
        </p:spPr>
      </p:pic>
      <p:sp>
        <p:nvSpPr>
          <p:cNvPr id="22" name="TextBox 21"/>
          <p:cNvSpPr txBox="1"/>
          <p:nvPr/>
        </p:nvSpPr>
        <p:spPr>
          <a:xfrm>
            <a:off x="7440465" y="2520992"/>
            <a:ext cx="245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relaunch</a:t>
            </a:r>
            <a:r>
              <a:rPr lang="fr-FR"/>
              <a:t> </a:t>
            </a:r>
            <a:r>
              <a:rPr lang="fr-FR"/>
              <a:t>Failed</a:t>
            </a:r>
            <a:r>
              <a:rPr lang="fr-FR"/>
              <a:t> batch ??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7362" y="2071160"/>
            <a:ext cx="1887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/date=2021-12-25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7362" y="3415704"/>
            <a:ext cx="1977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/date=2021-12-24/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5461" y="4123810"/>
            <a:ext cx="1977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/date=2021-12-23/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978" y="1730813"/>
            <a:ext cx="1371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/data/table1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/>
          <p:cNvSpPr/>
          <p:nvPr/>
        </p:nvSpPr>
        <p:spPr>
          <a:xfrm flipH="1">
            <a:off x="7616190" y="2205236"/>
            <a:ext cx="773430" cy="431919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 txBox="1"/>
          <p:nvPr/>
        </p:nvSpPr>
        <p:spPr>
          <a:xfrm>
            <a:off x="504492" y="25142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More </a:t>
            </a:r>
            <a:r>
              <a:rPr lang="fr-FR">
                <a:solidFill>
                  <a:sysClr val="windowText" lastClr="000000"/>
                </a:solidFill>
              </a:rPr>
              <a:t>Complex</a:t>
            </a:r>
            <a:r>
              <a:rPr lang="fr-FR">
                <a:solidFill>
                  <a:sysClr val="windowText" lastClr="000000"/>
                </a:solidFill>
              </a:rPr>
              <a:t> Daily </a:t>
            </a:r>
            <a:r>
              <a:rPr lang="fr-FR">
                <a:solidFill>
                  <a:sysClr val="windowText" lastClr="000000"/>
                </a:solidFill>
              </a:rPr>
              <a:t>Batches</a:t>
            </a:r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7362" y="1856530"/>
            <a:ext cx="1887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/date=2021-12-25</a:t>
            </a:r>
          </a:p>
        </p:txBody>
      </p:sp>
      <p:sp>
        <p:nvSpPr>
          <p:cNvPr id="6" name="Arrow: Right 5"/>
          <p:cNvSpPr/>
          <p:nvPr/>
        </p:nvSpPr>
        <p:spPr>
          <a:xfrm flipH="1">
            <a:off x="4444365" y="2273194"/>
            <a:ext cx="457200" cy="308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4983480" y="2238368"/>
            <a:ext cx="3356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sub</a:t>
            </a:r>
            <a:r>
              <a:rPr lang="fr-FR"/>
              <a:t>-partitions </a:t>
            </a:r>
            <a:br>
              <a:rPr lang="fr-FR"/>
            </a:br>
            <a:r>
              <a:rPr lang="fr-FR"/>
              <a:t>for N </a:t>
            </a:r>
            <a:r>
              <a:rPr lang="fr-FR"/>
              <a:t>batches</a:t>
            </a:r>
            <a:r>
              <a:rPr lang="fr-FR"/>
              <a:t>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7362" y="3415704"/>
            <a:ext cx="1977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/date=2021-12-24/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2525" y="3291014"/>
            <a:ext cx="4682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Already</a:t>
            </a:r>
            <a:r>
              <a:rPr lang="fr-FR"/>
              <a:t> </a:t>
            </a:r>
            <a:r>
              <a:rPr lang="fr-FR"/>
              <a:t>computed</a:t>
            </a:r>
            <a:r>
              <a:rPr lang="fr-FR"/>
              <a:t> </a:t>
            </a:r>
            <a:br>
              <a:rPr lang="fr-FR"/>
            </a:br>
            <a:r>
              <a:rPr lang="fr-FR"/>
              <a:t>from</a:t>
            </a:r>
            <a:r>
              <a:rPr lang="fr-FR"/>
              <a:t> </a:t>
            </a:r>
            <a:r>
              <a:rPr lang="fr-FR"/>
              <a:t>yesterday’s</a:t>
            </a:r>
            <a:r>
              <a:rPr lang="fr-FR"/>
              <a:t> batch</a:t>
            </a:r>
          </a:p>
          <a:p>
            <a:r>
              <a:rPr lang="fr-FR"/>
              <a:t>( do not update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5461" y="4123810"/>
            <a:ext cx="1977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/date=2021-12-23/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4" y="4663382"/>
            <a:ext cx="1532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…</a:t>
            </a:r>
            <a:r>
              <a:rPr lang="fr-FR"/>
              <a:t>older</a:t>
            </a:r>
            <a:r>
              <a:rPr lang="fr-FR"/>
              <a:t> </a:t>
            </a:r>
            <a:r>
              <a:rPr lang="fr-FR"/>
              <a:t>history</a:t>
            </a:r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2306955" y="2229617"/>
            <a:ext cx="2213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/scope=x/*.*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6950" y="2754630"/>
            <a:ext cx="23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/scope=y/*.*</a:t>
            </a:r>
          </a:p>
        </p:txBody>
      </p:sp>
      <p:pic>
        <p:nvPicPr>
          <p:cNvPr id="16" name="Picture 2" descr="readonly · GitHub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7031" y="4098181"/>
            <a:ext cx="528319" cy="528319"/>
          </a:xfrm>
          <a:prstGeom prst="rect">
            <a:avLst/>
          </a:prstGeom>
          <a:noFill/>
        </p:spPr>
      </p:pic>
      <p:pic>
        <p:nvPicPr>
          <p:cNvPr id="17" name="Picture 2" descr="readonly · GitHub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57981" y="3378091"/>
            <a:ext cx="528319" cy="528319"/>
          </a:xfrm>
          <a:prstGeom prst="rect">
            <a:avLst/>
          </a:prstGeom>
          <a:noFill/>
        </p:spPr>
      </p:pic>
      <p:sp>
        <p:nvSpPr>
          <p:cNvPr id="18" name="Arrow: Right 17"/>
          <p:cNvSpPr/>
          <p:nvPr/>
        </p:nvSpPr>
        <p:spPr>
          <a:xfrm flipH="1">
            <a:off x="4423410" y="2782967"/>
            <a:ext cx="457200" cy="308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4983480" y="4663382"/>
            <a:ext cx="4682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Immutable </a:t>
            </a:r>
            <a:r>
              <a:rPr lang="fr-FR"/>
              <a:t>history</a:t>
            </a:r>
            <a:endParaRPr lang="fr-FR"/>
          </a:p>
        </p:txBody>
      </p:sp>
      <p:pic>
        <p:nvPicPr>
          <p:cNvPr id="9222" name="Picture 6" descr="Cogs Icons - Download Free Vector Icons | Noun Project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837170" y="2181416"/>
            <a:ext cx="477917" cy="477917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7390484" y="1899285"/>
            <a:ext cx="2102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batch </a:t>
            </a:r>
            <a:r>
              <a:rPr lang="fr-FR"/>
              <a:t>today</a:t>
            </a:r>
            <a:r>
              <a:rPr lang="fr-FR"/>
              <a:t> scope=x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484" y="2557359"/>
            <a:ext cx="2107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batch </a:t>
            </a:r>
            <a:r>
              <a:rPr lang="fr-FR"/>
              <a:t>today</a:t>
            </a:r>
            <a:r>
              <a:rPr lang="fr-FR"/>
              <a:t> scope=y</a:t>
            </a:r>
          </a:p>
        </p:txBody>
      </p:sp>
      <p:sp>
        <p:nvSpPr>
          <p:cNvPr id="25" name="Arrow: Pentagon 24"/>
          <p:cNvSpPr/>
          <p:nvPr/>
        </p:nvSpPr>
        <p:spPr>
          <a:xfrm flipH="1">
            <a:off x="7612380" y="2902466"/>
            <a:ext cx="773430" cy="431919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6" descr="Cogs Icons - Download Free Vector Icons | Noun Project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833360" y="2878646"/>
            <a:ext cx="477917" cy="477917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13978" y="1516183"/>
            <a:ext cx="1371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/data/table1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rganigramme : Disque magnétique 16"/>
          <p:cNvSpPr/>
          <p:nvPr/>
        </p:nvSpPr>
        <p:spPr>
          <a:xfrm>
            <a:off x="5893200" y="1750831"/>
            <a:ext cx="2998800" cy="1875669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Organigramme : Disque magnétique 14"/>
          <p:cNvSpPr/>
          <p:nvPr/>
        </p:nvSpPr>
        <p:spPr>
          <a:xfrm>
            <a:off x="2575560" y="2313774"/>
            <a:ext cx="796290" cy="637031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22"/>
          <p:cNvSpPr txBox="1"/>
          <p:nvPr/>
        </p:nvSpPr>
        <p:spPr>
          <a:xfrm>
            <a:off x="7002293" y="1834841"/>
            <a:ext cx="955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HDFS</a:t>
            </a:r>
          </a:p>
        </p:txBody>
      </p:sp>
      <p:sp>
        <p:nvSpPr>
          <p:cNvPr id="8" name="ZoneTexte 22"/>
          <p:cNvSpPr txBox="1"/>
          <p:nvPr/>
        </p:nvSpPr>
        <p:spPr>
          <a:xfrm>
            <a:off x="2058817" y="1913370"/>
            <a:ext cx="1725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MetaStore</a:t>
            </a:r>
            <a:endParaRPr lang="fr-FR" sz="2800"/>
          </a:p>
        </p:txBody>
      </p:sp>
      <p:sp>
        <p:nvSpPr>
          <p:cNvPr id="2" name="Titre 1"/>
          <p:cNvSpPr txBox="1"/>
          <p:nvPr/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Spark .</a:t>
            </a:r>
            <a:r>
              <a:rPr lang="fr-FR">
                <a:solidFill>
                  <a:sysClr val="windowText" lastClr="000000"/>
                </a:solidFill>
              </a:rPr>
              <a:t>save</a:t>
            </a:r>
            <a:r>
              <a:rPr lang="fr-FR">
                <a:solidFill>
                  <a:sysClr val="windowText" lastClr="000000"/>
                </a:solidFill>
              </a:rPr>
              <a:t>() </a:t>
            </a:r>
            <a:br>
              <a:rPr lang="fr-FR">
                <a:solidFill>
                  <a:sysClr val="windowText" lastClr="000000"/>
                </a:solidFill>
              </a:rPr>
            </a:br>
            <a:r>
              <a:rPr lang="fr-FR">
                <a:solidFill>
                  <a:sysClr val="windowText" lastClr="000000"/>
                </a:solidFill>
              </a:rPr>
              <a:t>=&gt; </a:t>
            </a:r>
            <a:r>
              <a:rPr lang="fr-FR">
                <a:solidFill>
                  <a:sysClr val="windowText" lastClr="000000"/>
                </a:solidFill>
              </a:rPr>
              <a:t>mkdir</a:t>
            </a:r>
            <a:r>
              <a:rPr lang="fr-FR">
                <a:solidFill>
                  <a:sysClr val="windowText" lastClr="000000"/>
                </a:solidFill>
              </a:rPr>
              <a:t> + </a:t>
            </a:r>
            <a:r>
              <a:rPr lang="fr-FR">
                <a:solidFill>
                  <a:sysClr val="windowText" lastClr="000000"/>
                </a:solidFill>
              </a:rPr>
              <a:t>write</a:t>
            </a:r>
            <a:r>
              <a:rPr lang="fr-FR">
                <a:solidFill>
                  <a:sysClr val="windowText" lastClr="000000"/>
                </a:solidFill>
              </a:rPr>
              <a:t> Files + </a:t>
            </a:r>
            <a:r>
              <a:rPr lang="fr-FR">
                <a:solidFill>
                  <a:sysClr val="windowText" lastClr="000000"/>
                </a:solidFill>
              </a:rPr>
              <a:t>add</a:t>
            </a:r>
            <a:r>
              <a:rPr lang="fr-FR">
                <a:solidFill>
                  <a:sysClr val="windowText" lastClr="000000"/>
                </a:solidFill>
              </a:rPr>
              <a:t> partition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76176" y="3889247"/>
            <a:ext cx="347781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/>
              <a:t>Dataset</a:t>
            </a:r>
            <a:r>
              <a:rPr lang="fr-FR" sz="2000"/>
              <a:t>&lt;Row&gt; </a:t>
            </a:r>
            <a:r>
              <a:rPr lang="fr-FR" sz="2000"/>
              <a:t>ds</a:t>
            </a:r>
            <a:r>
              <a:rPr lang="fr-FR" sz="2000"/>
              <a:t> = …</a:t>
            </a:r>
            <a:br>
              <a:rPr lang="fr-FR" sz="2000"/>
            </a:br>
            <a:r>
              <a:rPr lang="fr-FR" sz="2000"/>
              <a:t>ds.write</a:t>
            </a:r>
            <a:r>
              <a:rPr lang="fr-FR" sz="2000"/>
              <a:t>()</a:t>
            </a:r>
            <a:br>
              <a:rPr lang="fr-FR" sz="2000"/>
            </a:br>
            <a:r>
              <a:rPr lang="fr-FR" sz="2000"/>
              <a:t>     .format(« </a:t>
            </a:r>
            <a:r>
              <a:rPr lang="fr-FR" sz="2000"/>
              <a:t>hive</a:t>
            </a:r>
            <a:r>
              <a:rPr lang="fr-FR" sz="2000"/>
              <a:t> »)</a:t>
            </a:r>
            <a:br>
              <a:rPr lang="fr-FR" sz="2000"/>
            </a:br>
            <a:r>
              <a:rPr lang="fr-FR" sz="2000"/>
              <a:t>     .mode(</a:t>
            </a:r>
            <a:r>
              <a:rPr lang="fr-FR" sz="2000"/>
              <a:t>SaveMode.Overwrite</a:t>
            </a:r>
            <a:r>
              <a:rPr lang="fr-FR" sz="2000"/>
              <a:t>)</a:t>
            </a:r>
            <a:br>
              <a:rPr lang="fr-FR" sz="2000"/>
            </a:br>
            <a:r>
              <a:rPr lang="fr-FR" sz="2000"/>
              <a:t>     .</a:t>
            </a:r>
            <a:r>
              <a:rPr lang="fr-FR" sz="2000"/>
              <a:t>insertInto</a:t>
            </a:r>
            <a:r>
              <a:rPr lang="fr-FR" sz="2000"/>
              <a:t>(« </a:t>
            </a:r>
            <a:r>
              <a:rPr lang="fr-FR" sz="2000"/>
              <a:t>db.table</a:t>
            </a:r>
            <a:r>
              <a:rPr lang="fr-FR" sz="2000"/>
              <a:t> »);</a:t>
            </a:r>
          </a:p>
        </p:txBody>
      </p:sp>
      <p:sp>
        <p:nvSpPr>
          <p:cNvPr id="4" name="Arrow: Right 3"/>
          <p:cNvSpPr/>
          <p:nvPr/>
        </p:nvSpPr>
        <p:spPr>
          <a:xfrm rot="17018652">
            <a:off x="6332113" y="4258658"/>
            <a:ext cx="1649795" cy="259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/>
          <p:cNvSpPr/>
          <p:nvPr/>
        </p:nvSpPr>
        <p:spPr>
          <a:xfrm rot="18917066">
            <a:off x="5313590" y="3090901"/>
            <a:ext cx="1083822" cy="259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/>
          <p:cNvSpPr/>
          <p:nvPr/>
        </p:nvSpPr>
        <p:spPr>
          <a:xfrm rot="18917066">
            <a:off x="5465990" y="3243301"/>
            <a:ext cx="1083822" cy="259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/>
          <p:cNvSpPr/>
          <p:nvPr/>
        </p:nvSpPr>
        <p:spPr>
          <a:xfrm rot="18917066">
            <a:off x="5618390" y="3395701"/>
            <a:ext cx="1083822" cy="259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Right 11"/>
          <p:cNvSpPr/>
          <p:nvPr/>
        </p:nvSpPr>
        <p:spPr>
          <a:xfrm rot="18917066">
            <a:off x="5770790" y="3548101"/>
            <a:ext cx="1083822" cy="259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7292340" y="4223382"/>
            <a:ext cx="1100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/>
              <a:t>1/ </a:t>
            </a:r>
            <a:r>
              <a:rPr lang="fr-FR" sz="2000" b="1"/>
              <a:t>mkdir</a:t>
            </a:r>
            <a:endParaRPr lang="fr-FR" sz="2000" b="1"/>
          </a:p>
        </p:txBody>
      </p:sp>
      <p:sp>
        <p:nvSpPr>
          <p:cNvPr id="14" name="TextBox 13"/>
          <p:cNvSpPr txBox="1"/>
          <p:nvPr/>
        </p:nvSpPr>
        <p:spPr>
          <a:xfrm>
            <a:off x="6498263" y="2770534"/>
            <a:ext cx="24513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/>
              <a:t>2/ </a:t>
            </a:r>
            <a:r>
              <a:rPr lang="fr-FR" sz="2000" b="1"/>
              <a:t>write</a:t>
            </a:r>
            <a:r>
              <a:rPr lang="fr-FR" sz="2000" b="1"/>
              <a:t> HDFS files</a:t>
            </a:r>
            <a:br>
              <a:rPr lang="fr-FR" sz="2000" b="1"/>
            </a:br>
            <a:r>
              <a:rPr lang="fr-FR" sz="2000" b="1"/>
              <a:t>    (per RDD partition)</a:t>
            </a:r>
          </a:p>
        </p:txBody>
      </p:sp>
      <p:sp>
        <p:nvSpPr>
          <p:cNvPr id="15" name="Arrow: Right 14"/>
          <p:cNvSpPr/>
          <p:nvPr/>
        </p:nvSpPr>
        <p:spPr>
          <a:xfrm rot="12534681">
            <a:off x="3934363" y="2705734"/>
            <a:ext cx="1012269" cy="259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/>
          <p:cNvSpPr txBox="1"/>
          <p:nvPr/>
        </p:nvSpPr>
        <p:spPr>
          <a:xfrm>
            <a:off x="4145370" y="1988060"/>
            <a:ext cx="16361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/>
              <a:t>3/ alter table </a:t>
            </a:r>
            <a:br>
              <a:rPr lang="fr-FR" sz="2000" b="1"/>
            </a:br>
            <a:r>
              <a:rPr lang="fr-FR" sz="2000" b="1"/>
              <a:t>add</a:t>
            </a:r>
            <a:r>
              <a:rPr lang="fr-FR" sz="2000" b="1"/>
              <a:t> partition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Disque magnétique 16"/>
          <p:cNvSpPr/>
          <p:nvPr/>
        </p:nvSpPr>
        <p:spPr>
          <a:xfrm>
            <a:off x="5893200" y="2102400"/>
            <a:ext cx="2998800" cy="1762919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4492" y="236880"/>
            <a:ext cx="9071640" cy="111672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Synchronize HDFS </a:t>
            </a:r>
            <a:br>
              <a:rPr lang="en-US"/>
            </a:br>
            <a:r>
              <a:rPr lang="en-US"/>
              <a:t>with  several </a:t>
            </a:r>
            <a:r>
              <a:rPr lang="en-US"/>
              <a:t>MetaStores</a:t>
            </a:r>
            <a:r>
              <a:rPr lang="en-US"/>
              <a:t>?</a:t>
            </a:r>
          </a:p>
        </p:txBody>
      </p:sp>
      <p:sp>
        <p:nvSpPr>
          <p:cNvPr id="3" name="Organigramme : Disque magnétique 14"/>
          <p:cNvSpPr/>
          <p:nvPr/>
        </p:nvSpPr>
        <p:spPr>
          <a:xfrm>
            <a:off x="1882891" y="1843199"/>
            <a:ext cx="2266627" cy="1893601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18"/>
          <p:cNvSpPr txBox="1"/>
          <p:nvPr/>
        </p:nvSpPr>
        <p:spPr>
          <a:xfrm>
            <a:off x="6307200" y="2698200"/>
            <a:ext cx="247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/data/table1</a:t>
            </a:r>
            <a:endParaRPr lang="fr-FR"/>
          </a:p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/</a:t>
            </a:r>
            <a:r>
              <a:rPr lang="fr-FR"/>
              <a:t>col1=a</a:t>
            </a:r>
          </a:p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/col1=b</a:t>
            </a:r>
          </a:p>
        </p:txBody>
      </p:sp>
      <p:sp>
        <p:nvSpPr>
          <p:cNvPr id="5" name="Forme libre : forme 19"/>
          <p:cNvSpPr/>
          <p:nvPr/>
        </p:nvSpPr>
        <p:spPr>
          <a:xfrm>
            <a:off x="1948457" y="2505300"/>
            <a:ext cx="956834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>
                <a:latin typeface="Liberation Sans"/>
                <a:ea typeface="Microsoft YaHei"/>
                <a:cs typeface="Lucida Sans"/>
              </a:rPr>
              <a:t>t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able1</a:t>
            </a:r>
          </a:p>
        </p:txBody>
      </p:sp>
      <p:sp>
        <p:nvSpPr>
          <p:cNvPr id="6" name="Forme libre : forme 20"/>
          <p:cNvSpPr/>
          <p:nvPr/>
        </p:nvSpPr>
        <p:spPr>
          <a:xfrm>
            <a:off x="2747553" y="2880720"/>
            <a:ext cx="1088765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(col1=‘a’)</a:t>
            </a:r>
          </a:p>
        </p:txBody>
      </p:sp>
      <p:sp>
        <p:nvSpPr>
          <p:cNvPr id="7" name="ZoneTexte 22"/>
          <p:cNvSpPr txBox="1"/>
          <p:nvPr/>
        </p:nvSpPr>
        <p:spPr>
          <a:xfrm>
            <a:off x="6613673" y="2174980"/>
            <a:ext cx="955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HDFS</a:t>
            </a:r>
          </a:p>
        </p:txBody>
      </p:sp>
      <p:cxnSp>
        <p:nvCxnSpPr>
          <p:cNvPr id="9" name="Connecteur droit avec flèche 27"/>
          <p:cNvCxnSpPr/>
          <p:nvPr/>
        </p:nvCxnSpPr>
        <p:spPr>
          <a:xfrm>
            <a:off x="4234973" y="3031020"/>
            <a:ext cx="2018227" cy="150300"/>
          </a:xfrm>
          <a:prstGeom prst="straightConnector1">
            <a:avLst/>
          </a:prstGeom>
          <a:ln w="2540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29"/>
          <p:cNvCxnSpPr/>
          <p:nvPr/>
        </p:nvCxnSpPr>
        <p:spPr>
          <a:xfrm flipV="1">
            <a:off x="4234973" y="3439902"/>
            <a:ext cx="2072227" cy="1"/>
          </a:xfrm>
          <a:prstGeom prst="straightConnector1">
            <a:avLst/>
          </a:prstGeom>
          <a:ln w="2540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33"/>
          <p:cNvCxnSpPr/>
          <p:nvPr/>
        </p:nvCxnSpPr>
        <p:spPr>
          <a:xfrm flipV="1">
            <a:off x="4926330" y="4273492"/>
            <a:ext cx="1012710" cy="592808"/>
          </a:xfrm>
          <a:prstGeom prst="straightConnector1">
            <a:avLst/>
          </a:prstGeom>
          <a:ln w="41275" cap="flat" cmpd="sng">
            <a:solidFill>
              <a:schemeClr val="accent1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44429" y="2530426"/>
            <a:ext cx="1619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Partitions</a:t>
            </a:r>
          </a:p>
        </p:txBody>
      </p:sp>
      <p:sp>
        <p:nvSpPr>
          <p:cNvPr id="13" name="Forme libre : forme 20"/>
          <p:cNvSpPr/>
          <p:nvPr/>
        </p:nvSpPr>
        <p:spPr>
          <a:xfrm>
            <a:off x="2745153" y="3259920"/>
            <a:ext cx="1088765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(col1=‘a’)</a:t>
            </a:r>
          </a:p>
        </p:txBody>
      </p:sp>
      <p:sp>
        <p:nvSpPr>
          <p:cNvPr id="18" name="ZoneTexte 22"/>
          <p:cNvSpPr txBox="1"/>
          <p:nvPr/>
        </p:nvSpPr>
        <p:spPr>
          <a:xfrm>
            <a:off x="2058817" y="1896451"/>
            <a:ext cx="3044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MetaStore1    (v2.x)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3032" y="4515795"/>
            <a:ext cx="2207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NO Sync ??</a:t>
            </a:r>
          </a:p>
        </p:txBody>
      </p:sp>
      <p:sp>
        <p:nvSpPr>
          <p:cNvPr id="25" name="Organigramme : Disque magnétique 14"/>
          <p:cNvSpPr/>
          <p:nvPr/>
        </p:nvSpPr>
        <p:spPr>
          <a:xfrm>
            <a:off x="1898491" y="3949319"/>
            <a:ext cx="2266627" cy="1567561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 : forme 19"/>
          <p:cNvSpPr/>
          <p:nvPr/>
        </p:nvSpPr>
        <p:spPr>
          <a:xfrm>
            <a:off x="1964057" y="4565700"/>
            <a:ext cx="956834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>
                <a:latin typeface="Liberation Sans"/>
                <a:ea typeface="Microsoft YaHei"/>
                <a:cs typeface="Lucida Sans"/>
              </a:rPr>
              <a:t>t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able1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9039" y="4717578"/>
            <a:ext cx="1619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Partitions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  ???</a:t>
            </a:r>
          </a:p>
        </p:txBody>
      </p:sp>
      <p:sp>
        <p:nvSpPr>
          <p:cNvPr id="28" name="ZoneTexte 22"/>
          <p:cNvSpPr txBox="1"/>
          <p:nvPr/>
        </p:nvSpPr>
        <p:spPr>
          <a:xfrm>
            <a:off x="2074417" y="3956851"/>
            <a:ext cx="3044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MetaStore2    (v3.x)</a:t>
            </a:r>
          </a:p>
        </p:txBody>
      </p:sp>
      <p:sp>
        <p:nvSpPr>
          <p:cNvPr id="29" name="Forme libre : forme 10"/>
          <p:cNvSpPr/>
          <p:nvPr/>
        </p:nvSpPr>
        <p:spPr>
          <a:xfrm>
            <a:off x="377109" y="3596865"/>
            <a:ext cx="993240" cy="27986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Spark</a:t>
            </a:r>
          </a:p>
        </p:txBody>
      </p:sp>
      <p:sp>
        <p:nvSpPr>
          <p:cNvPr id="30" name="Forme libre : forme 13"/>
          <p:cNvSpPr/>
          <p:nvPr/>
        </p:nvSpPr>
        <p:spPr>
          <a:xfrm rot="3835025">
            <a:off x="1696597" y="3488424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31" name="Forme libre : forme 14"/>
          <p:cNvSpPr/>
          <p:nvPr/>
        </p:nvSpPr>
        <p:spPr>
          <a:xfrm rot="3835025" flipV="1">
            <a:off x="1593034" y="3312025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0" y="29364"/>
            <a:ext cx="10080624" cy="650391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 sz="3600"/>
              <a:t>Spark RDD Partitions / </a:t>
            </a:r>
            <a:r>
              <a:rPr lang="en-US" sz="3600"/>
              <a:t>MetaStore</a:t>
            </a:r>
            <a:r>
              <a:rPr lang="en-US" sz="3600"/>
              <a:t> Partitions</a:t>
            </a:r>
          </a:p>
        </p:txBody>
      </p:sp>
      <p:sp>
        <p:nvSpPr>
          <p:cNvPr id="3" name="Forme libre : forme 2"/>
          <p:cNvSpPr/>
          <p:nvPr/>
        </p:nvSpPr>
        <p:spPr>
          <a:xfrm>
            <a:off x="1408033" y="1510955"/>
            <a:ext cx="914400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Table1</a:t>
            </a:r>
          </a:p>
        </p:txBody>
      </p:sp>
      <p:sp>
        <p:nvSpPr>
          <p:cNvPr id="4" name="Forme libre : forme 3"/>
          <p:cNvSpPr/>
          <p:nvPr/>
        </p:nvSpPr>
        <p:spPr>
          <a:xfrm>
            <a:off x="1367712" y="1253850"/>
            <a:ext cx="1505257" cy="1181944"/>
          </a:xfrm>
          <a:custGeom>
            <a:avLst/>
            <a:gdLst/>
            <a:ahLst/>
            <a:cxnLst/>
            <a:rect l="l" t="t" r="r" b="b"/>
            <a:pathLst>
              <a:path w="88" h="21600">
                <a:moveTo>
                  <a:pt x="44" y="0"/>
                </a:moveTo>
                <a:cubicBezTo>
                  <a:pt x="20" y="0"/>
                  <a:pt x="0" y="455"/>
                  <a:pt x="0" y="1001"/>
                </a:cubicBezTo>
                <a:lnTo>
                  <a:pt x="0" y="20599"/>
                </a:lnTo>
                <a:cubicBezTo>
                  <a:pt x="0" y="21145"/>
                  <a:pt x="20" y="21600"/>
                  <a:pt x="44" y="21600"/>
                </a:cubicBezTo>
                <a:cubicBezTo>
                  <a:pt x="68" y="21600"/>
                  <a:pt x="88" y="21145"/>
                  <a:pt x="88" y="20599"/>
                </a:cubicBezTo>
                <a:lnTo>
                  <a:pt x="88" y="1001"/>
                </a:lnTo>
                <a:cubicBezTo>
                  <a:pt x="88" y="455"/>
                  <a:pt x="68" y="0"/>
                  <a:pt x="44" y="0"/>
                </a:cubicBezTo>
                <a:close/>
              </a:path>
              <a:path w="88" h="21600">
                <a:moveTo>
                  <a:pt x="44" y="0"/>
                </a:moveTo>
                <a:cubicBezTo>
                  <a:pt x="20" y="0"/>
                  <a:pt x="0" y="455"/>
                  <a:pt x="0" y="1001"/>
                </a:cubicBezTo>
                <a:cubicBezTo>
                  <a:pt x="0" y="1547"/>
                  <a:pt x="20" y="2002"/>
                  <a:pt x="44" y="2002"/>
                </a:cubicBezTo>
                <a:cubicBezTo>
                  <a:pt x="68" y="2002"/>
                  <a:pt x="88" y="1547"/>
                  <a:pt x="88" y="1001"/>
                </a:cubicBezTo>
                <a:cubicBezTo>
                  <a:pt x="88" y="455"/>
                  <a:pt x="68" y="0"/>
                  <a:pt x="44" y="0"/>
                </a:cubicBezTo>
                <a:close/>
              </a:path>
            </a:pathLst>
          </a:custGeom>
          <a:noFill/>
          <a:ln w="28575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234513" y="874475"/>
            <a:ext cx="1346400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MetaStore</a:t>
            </a: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6" name="Forme libre : forme 5"/>
          <p:cNvSpPr/>
          <p:nvPr/>
        </p:nvSpPr>
        <p:spPr>
          <a:xfrm>
            <a:off x="1680553" y="1906595"/>
            <a:ext cx="1143000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partitions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6040469" y="1323073"/>
            <a:ext cx="653143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dirs</a:t>
            </a: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10" name="Forme libre : forme 9"/>
          <p:cNvSpPr/>
          <p:nvPr/>
        </p:nvSpPr>
        <p:spPr>
          <a:xfrm>
            <a:off x="4644190" y="1444000"/>
            <a:ext cx="1073002" cy="1043741"/>
          </a:xfrm>
          <a:custGeom>
            <a:avLst/>
            <a:gdLst/>
            <a:ahLst/>
            <a:cxnLst/>
            <a:rect l="l" t="t" r="r" b="b"/>
            <a:pathLst>
              <a:path w="88" h="21600">
                <a:moveTo>
                  <a:pt x="44" y="0"/>
                </a:moveTo>
                <a:cubicBezTo>
                  <a:pt x="20" y="0"/>
                  <a:pt x="0" y="1227"/>
                  <a:pt x="0" y="2700"/>
                </a:cubicBezTo>
                <a:lnTo>
                  <a:pt x="0" y="18900"/>
                </a:lnTo>
                <a:cubicBezTo>
                  <a:pt x="0" y="20373"/>
                  <a:pt x="20" y="21600"/>
                  <a:pt x="44" y="21600"/>
                </a:cubicBezTo>
                <a:cubicBezTo>
                  <a:pt x="68" y="21600"/>
                  <a:pt x="88" y="20373"/>
                  <a:pt x="88" y="18900"/>
                </a:cubicBezTo>
                <a:lnTo>
                  <a:pt x="88" y="2700"/>
                </a:lnTo>
                <a:cubicBezTo>
                  <a:pt x="88" y="1227"/>
                  <a:pt x="68" y="0"/>
                  <a:pt x="44" y="0"/>
                </a:cubicBezTo>
                <a:close/>
              </a:path>
              <a:path w="88" h="21600">
                <a:moveTo>
                  <a:pt x="44" y="0"/>
                </a:moveTo>
                <a:cubicBezTo>
                  <a:pt x="20" y="0"/>
                  <a:pt x="0" y="1227"/>
                  <a:pt x="0" y="2700"/>
                </a:cubicBezTo>
                <a:cubicBezTo>
                  <a:pt x="0" y="4173"/>
                  <a:pt x="20" y="5400"/>
                  <a:pt x="44" y="5400"/>
                </a:cubicBezTo>
                <a:cubicBezTo>
                  <a:pt x="68" y="5400"/>
                  <a:pt x="88" y="4173"/>
                  <a:pt x="88" y="2700"/>
                </a:cubicBezTo>
                <a:cubicBezTo>
                  <a:pt x="88" y="1227"/>
                  <a:pt x="68" y="0"/>
                  <a:pt x="44" y="0"/>
                </a:cubicBez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11" name="Forme libre : forme 10"/>
          <p:cNvSpPr/>
          <p:nvPr/>
        </p:nvSpPr>
        <p:spPr>
          <a:xfrm>
            <a:off x="1493726" y="3719161"/>
            <a:ext cx="136296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Spark Driver</a:t>
            </a:r>
          </a:p>
        </p:txBody>
      </p:sp>
      <p:sp>
        <p:nvSpPr>
          <p:cNvPr id="12" name="Forme libre : forme 11"/>
          <p:cNvSpPr/>
          <p:nvPr/>
        </p:nvSpPr>
        <p:spPr>
          <a:xfrm>
            <a:off x="634765" y="4495680"/>
            <a:ext cx="1962360" cy="266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Spark Executor1</a:t>
            </a:r>
          </a:p>
        </p:txBody>
      </p:sp>
      <p:sp>
        <p:nvSpPr>
          <p:cNvPr id="14" name="Forme libre : forme 13"/>
          <p:cNvSpPr/>
          <p:nvPr/>
        </p:nvSpPr>
        <p:spPr>
          <a:xfrm>
            <a:off x="2006040" y="2475035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15" name="Forme libre : forme 14"/>
          <p:cNvSpPr/>
          <p:nvPr/>
        </p:nvSpPr>
        <p:spPr>
          <a:xfrm flipV="1">
            <a:off x="1716913" y="2475035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760396" y="2989475"/>
            <a:ext cx="1385791" cy="62179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List partitions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2006040" y="2973990"/>
            <a:ext cx="1887119" cy="62179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add/remove</a:t>
            </a: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partitions</a:t>
            </a:r>
          </a:p>
        </p:txBody>
      </p:sp>
      <p:sp>
        <p:nvSpPr>
          <p:cNvPr id="18" name="Forme libre : forme 17"/>
          <p:cNvSpPr/>
          <p:nvPr/>
        </p:nvSpPr>
        <p:spPr>
          <a:xfrm>
            <a:off x="5541840" y="3596400"/>
            <a:ext cx="182880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RDD partition1</a:t>
            </a:r>
          </a:p>
        </p:txBody>
      </p:sp>
      <p:sp>
        <p:nvSpPr>
          <p:cNvPr id="19" name="Forme libre : forme 18"/>
          <p:cNvSpPr/>
          <p:nvPr/>
        </p:nvSpPr>
        <p:spPr>
          <a:xfrm>
            <a:off x="5541840" y="3854519"/>
            <a:ext cx="182880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RDD partition2</a:t>
            </a:r>
          </a:p>
        </p:txBody>
      </p:sp>
      <p:sp>
        <p:nvSpPr>
          <p:cNvPr id="20" name="Forme libre : forme 19"/>
          <p:cNvSpPr/>
          <p:nvPr/>
        </p:nvSpPr>
        <p:spPr>
          <a:xfrm>
            <a:off x="5541840" y="4112640"/>
            <a:ext cx="182880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RDD partition3</a:t>
            </a:r>
          </a:p>
        </p:txBody>
      </p:sp>
      <p:sp>
        <p:nvSpPr>
          <p:cNvPr id="21" name="Forme libre : forme 20"/>
          <p:cNvSpPr/>
          <p:nvPr/>
        </p:nvSpPr>
        <p:spPr>
          <a:xfrm>
            <a:off x="5541840" y="4370759"/>
            <a:ext cx="182880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RDD partition4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3483855" y="2860921"/>
            <a:ext cx="1863360" cy="858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List 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dirs</a:t>
            </a: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+ list Files</a:t>
            </a: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+ list File blocks</a:t>
            </a:r>
          </a:p>
        </p:txBody>
      </p:sp>
      <p:sp>
        <p:nvSpPr>
          <p:cNvPr id="35" name="Forme libre : forme 34"/>
          <p:cNvSpPr/>
          <p:nvPr/>
        </p:nvSpPr>
        <p:spPr>
          <a:xfrm>
            <a:off x="814765" y="4819680"/>
            <a:ext cx="1962360" cy="266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Spark Executor2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2492599" y="5106711"/>
            <a:ext cx="6932755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Assign 1 partition to 1 executor = 1 Task (= for 1 File Split ~ Block)</a:t>
            </a:r>
          </a:p>
        </p:txBody>
      </p:sp>
      <p:sp>
        <p:nvSpPr>
          <p:cNvPr id="26" name="Arrow: Left-Right 25"/>
          <p:cNvSpPr/>
          <p:nvPr/>
        </p:nvSpPr>
        <p:spPr>
          <a:xfrm rot="19593066">
            <a:off x="4488832" y="4390054"/>
            <a:ext cx="1036027" cy="287139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row: Left-Right 32"/>
          <p:cNvSpPr/>
          <p:nvPr/>
        </p:nvSpPr>
        <p:spPr>
          <a:xfrm rot="19593066">
            <a:off x="7363980" y="3820898"/>
            <a:ext cx="1036027" cy="287139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42"/>
          <p:cNvSpPr txBox="1"/>
          <p:nvPr/>
        </p:nvSpPr>
        <p:spPr>
          <a:xfrm>
            <a:off x="3354838" y="4380862"/>
            <a:ext cx="894295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Task 1</a:t>
            </a:r>
          </a:p>
        </p:txBody>
      </p:sp>
      <p:sp>
        <p:nvSpPr>
          <p:cNvPr id="47" name="ZoneTexte 42"/>
          <p:cNvSpPr txBox="1"/>
          <p:nvPr/>
        </p:nvSpPr>
        <p:spPr>
          <a:xfrm>
            <a:off x="3490377" y="4679312"/>
            <a:ext cx="894295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Task 2</a:t>
            </a:r>
          </a:p>
        </p:txBody>
      </p:sp>
      <p:sp>
        <p:nvSpPr>
          <p:cNvPr id="49" name="Forme libre : forme 17"/>
          <p:cNvSpPr/>
          <p:nvPr/>
        </p:nvSpPr>
        <p:spPr>
          <a:xfrm>
            <a:off x="7795360" y="2318098"/>
            <a:ext cx="887430" cy="28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Block1</a:t>
            </a:r>
          </a:p>
        </p:txBody>
      </p:sp>
      <p:sp>
        <p:nvSpPr>
          <p:cNvPr id="51" name="Forme libre : forme 17"/>
          <p:cNvSpPr/>
          <p:nvPr/>
        </p:nvSpPr>
        <p:spPr>
          <a:xfrm>
            <a:off x="8772033" y="2320215"/>
            <a:ext cx="887430" cy="28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Block2</a:t>
            </a:r>
          </a:p>
        </p:txBody>
      </p:sp>
      <p:sp>
        <p:nvSpPr>
          <p:cNvPr id="53" name="ZoneTexte 7"/>
          <p:cNvSpPr txBox="1"/>
          <p:nvPr/>
        </p:nvSpPr>
        <p:spPr>
          <a:xfrm>
            <a:off x="7139897" y="1634714"/>
            <a:ext cx="1674000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Files</a:t>
            </a:r>
          </a:p>
        </p:txBody>
      </p:sp>
      <p:sp>
        <p:nvSpPr>
          <p:cNvPr id="55" name="ZoneTexte 7"/>
          <p:cNvSpPr txBox="1"/>
          <p:nvPr/>
        </p:nvSpPr>
        <p:spPr>
          <a:xfrm>
            <a:off x="8188851" y="1924017"/>
            <a:ext cx="1674000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File Blocks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21456" y="2264510"/>
            <a:ext cx="2059911" cy="4077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Forme libre : forme 26"/>
          <p:cNvSpPr/>
          <p:nvPr/>
        </p:nvSpPr>
        <p:spPr>
          <a:xfrm rot="17974797" flipV="1">
            <a:off x="7812708" y="1782803"/>
            <a:ext cx="313423" cy="39234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9" name="Forme libre : forme 26"/>
          <p:cNvSpPr/>
          <p:nvPr/>
        </p:nvSpPr>
        <p:spPr>
          <a:xfrm rot="17974797" flipV="1">
            <a:off x="6826136" y="1487833"/>
            <a:ext cx="313423" cy="39234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60" name="Forme libre : forme 17"/>
          <p:cNvSpPr/>
          <p:nvPr/>
        </p:nvSpPr>
        <p:spPr>
          <a:xfrm>
            <a:off x="7795360" y="2769231"/>
            <a:ext cx="887430" cy="28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Block1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21456" y="2715643"/>
            <a:ext cx="1050577" cy="4077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Forme libre : forme 17"/>
          <p:cNvSpPr/>
          <p:nvPr/>
        </p:nvSpPr>
        <p:spPr>
          <a:xfrm>
            <a:off x="7795360" y="3237180"/>
            <a:ext cx="887430" cy="28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Block1</a:t>
            </a:r>
          </a:p>
        </p:txBody>
      </p:sp>
      <p:sp>
        <p:nvSpPr>
          <p:cNvPr id="64" name="Forme libre : forme 17"/>
          <p:cNvSpPr/>
          <p:nvPr/>
        </p:nvSpPr>
        <p:spPr>
          <a:xfrm>
            <a:off x="8772033" y="3239297"/>
            <a:ext cx="887430" cy="28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Block2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21456" y="3183592"/>
            <a:ext cx="2059911" cy="4077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/>
          <p:cNvSpPr/>
          <p:nvPr/>
        </p:nvSpPr>
        <p:spPr>
          <a:xfrm>
            <a:off x="3354838" y="4436935"/>
            <a:ext cx="797742" cy="2667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3538653" y="4746031"/>
            <a:ext cx="797742" cy="2667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Forme libre : forme 26"/>
          <p:cNvSpPr/>
          <p:nvPr/>
        </p:nvSpPr>
        <p:spPr>
          <a:xfrm rot="17974797" flipV="1">
            <a:off x="5686269" y="1194004"/>
            <a:ext cx="313423" cy="39234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740530" y="1019361"/>
            <a:ext cx="854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HDFS</a:t>
            </a:r>
            <a:endParaRPr lang="fr-FR"/>
          </a:p>
        </p:txBody>
      </p:sp>
      <p:sp>
        <p:nvSpPr>
          <p:cNvPr id="71" name="Forme libre : forme 13"/>
          <p:cNvSpPr/>
          <p:nvPr/>
        </p:nvSpPr>
        <p:spPr>
          <a:xfrm rot="10800000">
            <a:off x="4134833" y="2461910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72" name="Arrow: Left-Right 71"/>
          <p:cNvSpPr/>
          <p:nvPr/>
        </p:nvSpPr>
        <p:spPr>
          <a:xfrm rot="17819921">
            <a:off x="5670837" y="2084681"/>
            <a:ext cx="933040" cy="287139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ZoneTexte 42"/>
          <p:cNvSpPr txBox="1"/>
          <p:nvPr/>
        </p:nvSpPr>
        <p:spPr>
          <a:xfrm>
            <a:off x="5205431" y="2722005"/>
            <a:ext cx="1717784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Hive Partition..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0" y="74160"/>
            <a:ext cx="10080624" cy="125028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 sz="3600"/>
              <a:t>Spark RDD Partitions </a:t>
            </a:r>
            <a:br>
              <a:rPr lang="en-US" sz="3600"/>
            </a:br>
            <a:r>
              <a:rPr lang="en-US" sz="3600"/>
              <a:t>=  </a:t>
            </a:r>
            <a:r>
              <a:rPr lang="en-US" sz="3600"/>
              <a:t>MetaStore</a:t>
            </a:r>
            <a:r>
              <a:rPr lang="en-US" sz="3600"/>
              <a:t> Partition * Files * Blocks</a:t>
            </a:r>
          </a:p>
        </p:txBody>
      </p:sp>
      <p:sp>
        <p:nvSpPr>
          <p:cNvPr id="49" name="Forme libre : forme 10"/>
          <p:cNvSpPr/>
          <p:nvPr/>
        </p:nvSpPr>
        <p:spPr>
          <a:xfrm>
            <a:off x="1589939" y="4314789"/>
            <a:ext cx="2566770" cy="3364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Spark Driver</a:t>
            </a:r>
          </a:p>
        </p:txBody>
      </p:sp>
      <p:sp>
        <p:nvSpPr>
          <p:cNvPr id="51" name="Forme libre : forme 14"/>
          <p:cNvSpPr/>
          <p:nvPr/>
        </p:nvSpPr>
        <p:spPr>
          <a:xfrm rot="18428723" flipV="1">
            <a:off x="735030" y="3571110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3" name="ZoneTexte 15"/>
          <p:cNvSpPr txBox="1"/>
          <p:nvPr/>
        </p:nvSpPr>
        <p:spPr>
          <a:xfrm>
            <a:off x="118079" y="1986329"/>
            <a:ext cx="1253280" cy="642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1/ 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List </a:t>
            </a:r>
            <a:r>
              <a:rPr lang="en-US" sz="1800" b="1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partitions</a:t>
            </a:r>
          </a:p>
        </p:txBody>
      </p:sp>
      <p:sp>
        <p:nvSpPr>
          <p:cNvPr id="55" name="Forme libre : forme 26"/>
          <p:cNvSpPr/>
          <p:nvPr/>
        </p:nvSpPr>
        <p:spPr>
          <a:xfrm flipV="1">
            <a:off x="2691539" y="3547132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7" name="ZoneTexte 15"/>
          <p:cNvSpPr txBox="1"/>
          <p:nvPr/>
        </p:nvSpPr>
        <p:spPr>
          <a:xfrm>
            <a:off x="1524000" y="1954470"/>
            <a:ext cx="2632709" cy="88725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b="1">
                <a:latin typeface="Liberation Sans"/>
                <a:ea typeface="Microsoft YaHei"/>
                <a:cs typeface="Lucida Sans"/>
              </a:rPr>
              <a:t>2</a:t>
            </a:r>
            <a:r>
              <a:rPr lang="en-US" sz="1800" b="1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/ 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foreach part</a:t>
            </a: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b="1">
                <a:latin typeface="Liberation Sans"/>
                <a:ea typeface="Microsoft YaHei"/>
                <a:cs typeface="Lucida Sans"/>
              </a:rPr>
              <a:t> </a:t>
            </a:r>
            <a:r>
              <a:rPr lang="en-US" sz="1800" b="1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List  files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in HDFS 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dir</a:t>
            </a: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8" name="Forme libre : forme 26"/>
          <p:cNvSpPr/>
          <p:nvPr/>
        </p:nvSpPr>
        <p:spPr>
          <a:xfrm rot="2730073" flipV="1">
            <a:off x="4089224" y="3561203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9" name="ZoneTexte 15"/>
          <p:cNvSpPr txBox="1"/>
          <p:nvPr/>
        </p:nvSpPr>
        <p:spPr>
          <a:xfrm>
            <a:off x="3830819" y="1927695"/>
            <a:ext cx="3328171" cy="1418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3/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foreach file</a:t>
            </a: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>
                <a:latin typeface="Liberation Sans"/>
                <a:ea typeface="Microsoft YaHei"/>
                <a:cs typeface="Lucida Sans"/>
              </a:rPr>
              <a:t> </a:t>
            </a:r>
            <a:r>
              <a:rPr lang="en-US" sz="1800" b="1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seek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to file </a:t>
            </a:r>
            <a:r>
              <a:rPr lang="en-US" sz="1800" b="1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Footer</a:t>
            </a: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>
                <a:latin typeface="Liberation Sans"/>
                <a:ea typeface="Microsoft YaHei"/>
                <a:cs typeface="Lucida Sans"/>
              </a:rPr>
              <a:t>Read schema </a:t>
            </a:r>
            <a:br>
              <a:rPr lang="en-US">
                <a:latin typeface="Liberation Sans"/>
                <a:ea typeface="Microsoft YaHei"/>
                <a:cs typeface="Lucida Sans"/>
              </a:rPr>
            </a:br>
            <a:r>
              <a:rPr lang="en-US">
                <a:latin typeface="Liberation Sans"/>
                <a:ea typeface="Microsoft YaHei"/>
                <a:cs typeface="Lucida Sans"/>
              </a:rPr>
              <a:t>   + partitions statistics</a:t>
            </a:r>
            <a:b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</a:b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( </a:t>
            </a:r>
            <a:r>
              <a:rPr lang="en-US">
                <a:latin typeface="Liberation Sans"/>
                <a:ea typeface="Microsoft YaHei"/>
                <a:cs typeface="Lucida Sans"/>
              </a:rPr>
              <a:t>NO read data)</a:t>
            </a: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60" name="ZoneTexte 15"/>
          <p:cNvSpPr txBox="1"/>
          <p:nvPr/>
        </p:nvSpPr>
        <p:spPr>
          <a:xfrm>
            <a:off x="1224180" y="5328036"/>
            <a:ext cx="3887879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>
                <a:latin typeface="Liberation Sans"/>
                <a:ea typeface="Microsoft YaHei"/>
                <a:cs typeface="Lucida Sans"/>
              </a:rPr>
              <a:t>--conf </a:t>
            </a:r>
            <a:r>
              <a:rPr lang="en-US">
                <a:latin typeface="Liberation Sans"/>
                <a:ea typeface="Microsoft YaHei"/>
                <a:cs typeface="Lucida Sans"/>
              </a:rPr>
              <a:t>spark.driver.memory</a:t>
            </a:r>
            <a:r>
              <a:rPr lang="en-US">
                <a:latin typeface="Liberation Sans"/>
                <a:ea typeface="Microsoft YaHei"/>
                <a:cs typeface="Lucida Sans"/>
              </a:rPr>
              <a:t>=1g</a:t>
            </a: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61" name="Forme libre : forme 10"/>
          <p:cNvSpPr/>
          <p:nvPr/>
        </p:nvSpPr>
        <p:spPr>
          <a:xfrm>
            <a:off x="6197779" y="4103633"/>
            <a:ext cx="2566770" cy="72209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Spark Executor</a:t>
            </a:r>
          </a:p>
        </p:txBody>
      </p:sp>
      <p:sp>
        <p:nvSpPr>
          <p:cNvPr id="62" name="ZoneTexte 15"/>
          <p:cNvSpPr txBox="1"/>
          <p:nvPr/>
        </p:nvSpPr>
        <p:spPr>
          <a:xfrm>
            <a:off x="6112789" y="5346486"/>
            <a:ext cx="3887879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>
                <a:latin typeface="Liberation Sans"/>
                <a:ea typeface="Microsoft YaHei"/>
                <a:cs typeface="Lucida Sans"/>
              </a:rPr>
              <a:t>--conf </a:t>
            </a:r>
            <a:r>
              <a:rPr lang="en-US">
                <a:latin typeface="Liberation Sans"/>
                <a:ea typeface="Microsoft YaHei"/>
                <a:cs typeface="Lucida Sans"/>
              </a:rPr>
              <a:t>spark.executor.memory</a:t>
            </a:r>
            <a:r>
              <a:rPr lang="en-US">
                <a:latin typeface="Liberation Sans"/>
                <a:ea typeface="Microsoft YaHei"/>
                <a:cs typeface="Lucida Sans"/>
              </a:rPr>
              <a:t>=30g</a:t>
            </a: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63" name="Forme libre : forme 10"/>
          <p:cNvSpPr/>
          <p:nvPr/>
        </p:nvSpPr>
        <p:spPr>
          <a:xfrm>
            <a:off x="6350179" y="4256033"/>
            <a:ext cx="2566770" cy="72209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Spark Executor</a:t>
            </a:r>
          </a:p>
        </p:txBody>
      </p:sp>
      <p:sp>
        <p:nvSpPr>
          <p:cNvPr id="64" name="Forme libre : forme 10"/>
          <p:cNvSpPr/>
          <p:nvPr/>
        </p:nvSpPr>
        <p:spPr>
          <a:xfrm>
            <a:off x="6502579" y="4408433"/>
            <a:ext cx="2566770" cy="72209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Spark Executor</a:t>
            </a:r>
          </a:p>
        </p:txBody>
      </p:sp>
      <p:sp>
        <p:nvSpPr>
          <p:cNvPr id="65" name="Forme libre : forme 10"/>
          <p:cNvSpPr/>
          <p:nvPr/>
        </p:nvSpPr>
        <p:spPr>
          <a:xfrm>
            <a:off x="6654979" y="4560833"/>
            <a:ext cx="2566770" cy="72209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Spark Executor</a:t>
            </a:r>
          </a:p>
        </p:txBody>
      </p:sp>
      <p:sp>
        <p:nvSpPr>
          <p:cNvPr id="66" name="Forme libre : forme 26"/>
          <p:cNvSpPr/>
          <p:nvPr/>
        </p:nvSpPr>
        <p:spPr>
          <a:xfrm flipV="1">
            <a:off x="7554073" y="3518835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67" name="ZoneTexte 15"/>
          <p:cNvSpPr txBox="1"/>
          <p:nvPr/>
        </p:nvSpPr>
        <p:spPr>
          <a:xfrm>
            <a:off x="7027409" y="1935564"/>
            <a:ext cx="3328171" cy="1418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b="1">
                <a:latin typeface="Liberation Sans"/>
                <a:ea typeface="Microsoft YaHei"/>
                <a:cs typeface="Lucida Sans"/>
              </a:rPr>
              <a:t>4</a:t>
            </a:r>
            <a:r>
              <a:rPr lang="en-US" sz="1800" b="1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/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foreach file-partition</a:t>
            </a: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>
                <a:latin typeface="Liberation Sans"/>
                <a:ea typeface="Microsoft YaHei"/>
                <a:cs typeface="Lucida Sans"/>
              </a:rPr>
              <a:t> </a:t>
            </a:r>
            <a:r>
              <a:rPr lang="en-US" sz="1800" b="1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seek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to file </a:t>
            </a:r>
            <a:r>
              <a:rPr lang="en-US" sz="1800" b="1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Block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fragment</a:t>
            </a: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>
              <a:latin typeface="Liberation Sans"/>
              <a:ea typeface="Microsoft YaHei"/>
              <a:cs typeface="Lucida Sans"/>
            </a:endParaRP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>
                <a:latin typeface="Liberation Sans"/>
                <a:ea typeface="Microsoft YaHei"/>
                <a:cs typeface="Lucida Sans"/>
              </a:rPr>
              <a:t>read only 1 data block</a:t>
            </a: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68" name="Organigramme : Disque magnétique 14"/>
          <p:cNvSpPr/>
          <p:nvPr/>
        </p:nvSpPr>
        <p:spPr>
          <a:xfrm>
            <a:off x="446581" y="3150287"/>
            <a:ext cx="303022" cy="252488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extBox 25"/>
          <p:cNvSpPr txBox="1"/>
          <p:nvPr/>
        </p:nvSpPr>
        <p:spPr>
          <a:xfrm>
            <a:off x="79956" y="2839972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metastore</a:t>
            </a:r>
            <a:endParaRPr lang="fr-FR" b="1"/>
          </a:p>
        </p:txBody>
      </p:sp>
      <p:sp>
        <p:nvSpPr>
          <p:cNvPr id="69" name="Organigramme : Disque magnétique 14"/>
          <p:cNvSpPr/>
          <p:nvPr/>
        </p:nvSpPr>
        <p:spPr>
          <a:xfrm>
            <a:off x="1554480" y="1303832"/>
            <a:ext cx="8446188" cy="2179739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TextBox 69"/>
          <p:cNvSpPr txBox="1"/>
          <p:nvPr/>
        </p:nvSpPr>
        <p:spPr>
          <a:xfrm>
            <a:off x="4986423" y="1380437"/>
            <a:ext cx="1080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/>
              <a:t>HDFS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16989883">
            <a:off x="-578561" y="828444"/>
            <a:ext cx="2576347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5400" b="1" cap="none" spc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ANNEXE</a:t>
            </a:r>
          </a:p>
        </p:txBody>
      </p:sp>
      <p:sp>
        <p:nvSpPr>
          <p:cNvPr id="3" name="Titre 1"/>
          <p:cNvSpPr txBox="1"/>
          <p:nvPr/>
        </p:nvSpPr>
        <p:spPr>
          <a:xfrm>
            <a:off x="127000" y="1720926"/>
            <a:ext cx="10080624" cy="165727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3600">
                <a:solidFill>
                  <a:sysClr val="windowText" lastClr="000000"/>
                </a:solidFill>
              </a:rPr>
              <a:t>Iceberg</a:t>
            </a:r>
          </a:p>
          <a:p>
            <a:pPr rtl="0"/>
            <a:endParaRPr lang="fr-FR" sz="3600">
              <a:solidFill>
                <a:sysClr val="windowText" lastClr="000000"/>
              </a:solidFill>
            </a:endParaRPr>
          </a:p>
          <a:p>
            <a:pPr rtl="0"/>
            <a:r>
              <a:rPr lang="fr-FR" sz="3600">
                <a:solidFill>
                  <a:sysClr val="windowText" lastClr="000000"/>
                </a:solidFill>
              </a:rPr>
              <a:t>Spark SQL extension for UPDATE,DELETE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16989883">
            <a:off x="-578561" y="828444"/>
            <a:ext cx="2576347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5400" b="1" cap="none" spc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ANNEXE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6133" y="1858434"/>
            <a:ext cx="1266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/>
              <a:t>Remarks</a:t>
            </a:r>
            <a:r>
              <a:rPr lang="fr-FR" sz="2000"/>
              <a:t> : </a:t>
            </a:r>
          </a:p>
        </p:txBody>
      </p:sp>
      <p:sp>
        <p:nvSpPr>
          <p:cNvPr id="4" name="Titre 1"/>
          <p:cNvSpPr txBox="1"/>
          <p:nvPr/>
        </p:nvSpPr>
        <p:spPr>
          <a:xfrm>
            <a:off x="76200" y="69928"/>
            <a:ext cx="10080624" cy="78097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3600">
                <a:solidFill>
                  <a:sysClr val="windowText" lastClr="000000"/>
                </a:solidFill>
              </a:rPr>
              <a:t>Do You </a:t>
            </a:r>
            <a:r>
              <a:rPr lang="fr-FR" sz="3600">
                <a:solidFill>
                  <a:sysClr val="windowText" lastClr="000000"/>
                </a:solidFill>
              </a:rPr>
              <a:t>really</a:t>
            </a:r>
            <a:r>
              <a:rPr lang="fr-FR" sz="3600">
                <a:solidFill>
                  <a:sysClr val="windowText" lastClr="000000"/>
                </a:solidFill>
              </a:rPr>
              <a:t> "UPDATE" data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9633" y="1693334"/>
            <a:ext cx="706648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/>
              <a:t>In </a:t>
            </a:r>
            <a:r>
              <a:rPr lang="fr-FR" sz="2000"/>
              <a:t>general</a:t>
            </a:r>
            <a:r>
              <a:rPr lang="fr-FR" sz="2000"/>
              <a:t>  </a:t>
            </a:r>
            <a:r>
              <a:rPr lang="fr-FR" sz="2000" b="1"/>
              <a:t>NO</a:t>
            </a:r>
          </a:p>
          <a:p>
            <a:endParaRPr lang="fr-FR" sz="2000" b="1"/>
          </a:p>
          <a:p>
            <a:r>
              <a:rPr lang="fr-FR" sz="2000"/>
              <a:t>Better</a:t>
            </a:r>
            <a:r>
              <a:rPr lang="fr-FR" sz="2000"/>
              <a:t> to </a:t>
            </a:r>
            <a:r>
              <a:rPr lang="fr-FR" sz="2000" b="1"/>
              <a:t>insert a new version</a:t>
            </a:r>
            <a:r>
              <a:rPr lang="fr-FR" sz="2000"/>
              <a:t> of the </a:t>
            </a:r>
            <a:r>
              <a:rPr lang="fr-FR" sz="2000"/>
              <a:t>object</a:t>
            </a:r>
            <a:endParaRPr lang="fr-FR" sz="2000"/>
          </a:p>
          <a:p>
            <a:endParaRPr lang="fr-FR" sz="2000"/>
          </a:p>
          <a:p>
            <a:r>
              <a:rPr lang="fr-FR" sz="2000"/>
              <a:t>example</a:t>
            </a:r>
            <a:r>
              <a:rPr lang="fr-FR" sz="2000"/>
              <a:t>:  Financial Transactions</a:t>
            </a:r>
          </a:p>
          <a:p>
            <a:r>
              <a:rPr lang="fr-FR" sz="2000"/>
              <a:t> ... </a:t>
            </a:r>
            <a:r>
              <a:rPr lang="fr-FR" sz="2000"/>
              <a:t>you</a:t>
            </a:r>
            <a:r>
              <a:rPr lang="fr-FR" sz="2000"/>
              <a:t> </a:t>
            </a:r>
            <a:r>
              <a:rPr lang="fr-FR" sz="2000"/>
              <a:t>never</a:t>
            </a:r>
            <a:r>
              <a:rPr lang="fr-FR" sz="2000"/>
              <a:t> "UNDO" the </a:t>
            </a:r>
            <a:r>
              <a:rPr lang="fr-FR" sz="2000"/>
              <a:t>history</a:t>
            </a:r>
            <a:r>
              <a:rPr lang="fr-FR" sz="2000"/>
              <a:t> of a </a:t>
            </a:r>
            <a:r>
              <a:rPr lang="fr-FR" sz="2000"/>
              <a:t>payment</a:t>
            </a:r>
            <a:r>
              <a:rPr lang="fr-FR" sz="2000"/>
              <a:t>, </a:t>
            </a:r>
          </a:p>
          <a:p>
            <a:r>
              <a:rPr lang="fr-FR" sz="2000"/>
              <a:t>      but </a:t>
            </a:r>
            <a:r>
              <a:rPr lang="fr-FR" sz="2000"/>
              <a:t>you</a:t>
            </a:r>
            <a:r>
              <a:rPr lang="fr-FR" sz="2000"/>
              <a:t> can </a:t>
            </a:r>
            <a:r>
              <a:rPr lang="fr-FR" sz="2000"/>
              <a:t>reimbourse</a:t>
            </a:r>
            <a:r>
              <a:rPr lang="fr-FR" sz="2000"/>
              <a:t>, by new </a:t>
            </a:r>
            <a:r>
              <a:rPr lang="fr-FR" sz="2000"/>
              <a:t>payment</a:t>
            </a:r>
            <a:r>
              <a:rPr lang="fr-FR" sz="2000"/>
              <a:t> in opposite direction</a:t>
            </a:r>
          </a:p>
          <a:p>
            <a:endParaRPr lang="fr-FR" sz="2000"/>
          </a:p>
          <a:p>
            <a:r>
              <a:rPr lang="fr-FR" sz="2000"/>
              <a:t>Databases</a:t>
            </a:r>
            <a:r>
              <a:rPr lang="fr-FR" sz="2000"/>
              <a:t> </a:t>
            </a:r>
            <a:r>
              <a:rPr lang="fr-FR" sz="2000"/>
              <a:t>actually</a:t>
            </a:r>
            <a:r>
              <a:rPr lang="fr-FR" sz="2000"/>
              <a:t> </a:t>
            </a:r>
            <a:r>
              <a:rPr lang="fr-FR" sz="2000"/>
              <a:t>work</a:t>
            </a:r>
            <a:r>
              <a:rPr lang="fr-FR" sz="2000"/>
              <a:t> like </a:t>
            </a:r>
            <a:r>
              <a:rPr lang="fr-FR" sz="2000"/>
              <a:t>this</a:t>
            </a:r>
            <a:endParaRPr lang="fr-FR" sz="2000"/>
          </a:p>
          <a:p>
            <a:r>
              <a:rPr lang="fr-FR" sz="2000"/>
              <a:t>ex: Oracle, </a:t>
            </a:r>
            <a:r>
              <a:rPr lang="fr-FR" sz="2000"/>
              <a:t>PostgresQL</a:t>
            </a:r>
            <a:r>
              <a:rPr lang="fr-FR" sz="2000"/>
              <a:t> have "transaction logs" and multi versions</a:t>
            </a:r>
          </a:p>
          <a:p>
            <a:r>
              <a:rPr lang="fr-FR" sz="2000"/>
              <a:t>you</a:t>
            </a:r>
            <a:r>
              <a:rPr lang="fr-FR" sz="2000"/>
              <a:t> can </a:t>
            </a:r>
            <a:r>
              <a:rPr lang="fr-FR" sz="2000"/>
              <a:t>read</a:t>
            </a:r>
            <a:r>
              <a:rPr lang="fr-FR" sz="2000"/>
              <a:t> "as of" in the </a:t>
            </a:r>
            <a:r>
              <a:rPr lang="fr-FR" sz="2000"/>
              <a:t>history</a:t>
            </a:r>
            <a:endParaRPr lang="fr-FR" sz="2000"/>
          </a:p>
          <a:p>
            <a:endParaRPr lang="fr-FR"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16989883">
            <a:off x="-578561" y="828444"/>
            <a:ext cx="2576347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5400" b="1" cap="none" spc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ANNEXE</a:t>
            </a:r>
          </a:p>
        </p:txBody>
      </p:sp>
      <p:sp>
        <p:nvSpPr>
          <p:cNvPr id="3" name="Titre 1"/>
          <p:cNvSpPr txBox="1"/>
          <p:nvPr/>
        </p:nvSpPr>
        <p:spPr>
          <a:xfrm>
            <a:off x="76200" y="69928"/>
            <a:ext cx="10080624" cy="78097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3600">
                <a:solidFill>
                  <a:sysClr val="windowText" lastClr="000000"/>
                </a:solidFill>
              </a:rPr>
              <a:t>Iceberg ... Transaction Log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4200" y="2141977"/>
            <a:ext cx="70219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Iceberg  =   use </a:t>
            </a:r>
            <a:r>
              <a:rPr lang="fr-FR" sz="2400"/>
              <a:t>its</a:t>
            </a:r>
            <a:r>
              <a:rPr lang="fr-FR" sz="2400"/>
              <a:t> </a:t>
            </a:r>
            <a:r>
              <a:rPr lang="fr-FR" sz="2400"/>
              <a:t>own</a:t>
            </a:r>
            <a:r>
              <a:rPr lang="fr-FR" sz="2400"/>
              <a:t> custom </a:t>
            </a:r>
            <a:r>
              <a:rPr lang="fr-FR" sz="2400"/>
              <a:t>MetaStore</a:t>
            </a:r>
            <a:r>
              <a:rPr lang="fr-FR" sz="2400"/>
              <a:t>  </a:t>
            </a:r>
          </a:p>
          <a:p>
            <a:endParaRPr lang="fr-FR" sz="2400"/>
          </a:p>
          <a:p>
            <a:r>
              <a:rPr lang="fr-FR" sz="2400"/>
              <a:t>not </a:t>
            </a:r>
            <a:r>
              <a:rPr lang="fr-FR" sz="2400"/>
              <a:t>based</a:t>
            </a:r>
            <a:r>
              <a:rPr lang="fr-FR" sz="2400"/>
              <a:t> on listing all Files in a Directory  (like in </a:t>
            </a:r>
            <a:r>
              <a:rPr lang="fr-FR" sz="2400"/>
              <a:t>Hive</a:t>
            </a:r>
            <a:r>
              <a:rPr lang="fr-FR" sz="2400"/>
              <a:t>)</a:t>
            </a:r>
          </a:p>
          <a:p>
            <a:r>
              <a:rPr lang="fr-FR" sz="2400"/>
              <a:t>BUT by </a:t>
            </a:r>
            <a:r>
              <a:rPr lang="fr-FR" sz="2400"/>
              <a:t>keeping</a:t>
            </a:r>
            <a:r>
              <a:rPr lang="fr-FR" sz="2400"/>
              <a:t> a </a:t>
            </a:r>
            <a:r>
              <a:rPr lang="fr-FR" sz="2400"/>
              <a:t>transactionLog</a:t>
            </a:r>
            <a:r>
              <a:rPr lang="fr-FR" sz="2400"/>
              <a:t>   (in </a:t>
            </a:r>
            <a:r>
              <a:rPr lang="fr-FR" sz="2400"/>
              <a:t>json</a:t>
            </a:r>
            <a:r>
              <a:rPr lang="fr-FR" sz="2400"/>
              <a:t> files)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16989883">
            <a:off x="-578561" y="828444"/>
            <a:ext cx="2576347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5400" b="1" cap="none" spc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ANNEXE</a:t>
            </a:r>
          </a:p>
        </p:txBody>
      </p:sp>
      <p:sp>
        <p:nvSpPr>
          <p:cNvPr id="3" name="Titre 1"/>
          <p:cNvSpPr txBox="1"/>
          <p:nvPr/>
        </p:nvSpPr>
        <p:spPr>
          <a:xfrm>
            <a:off x="76200" y="69927"/>
            <a:ext cx="10080624" cy="123817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3600">
                <a:solidFill>
                  <a:sysClr val="windowText" lastClr="000000"/>
                </a:solidFill>
              </a:rPr>
              <a:t>Iceberg </a:t>
            </a:r>
            <a:r>
              <a:rPr lang="fr-FR" sz="3600">
                <a:solidFill>
                  <a:sysClr val="windowText" lastClr="000000"/>
                </a:solidFill>
              </a:rPr>
              <a:t>Manifest</a:t>
            </a:r>
            <a:r>
              <a:rPr lang="fr-FR" sz="3600">
                <a:solidFill>
                  <a:sysClr val="windowText" lastClr="000000"/>
                </a:solidFill>
              </a:rPr>
              <a:t> File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02572" y="3235568"/>
            <a:ext cx="902223" cy="1079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Left Brace 4"/>
          <p:cNvSpPr/>
          <p:nvPr/>
        </p:nvSpPr>
        <p:spPr>
          <a:xfrm>
            <a:off x="4347124" y="2035690"/>
            <a:ext cx="155448" cy="857999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4654972" y="3387968"/>
            <a:ext cx="902223" cy="1079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4807372" y="3540368"/>
            <a:ext cx="902223" cy="1079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/>
          <p:cNvSpPr txBox="1"/>
          <p:nvPr/>
        </p:nvSpPr>
        <p:spPr>
          <a:xfrm>
            <a:off x="2733152" y="2113325"/>
            <a:ext cx="1612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current</a:t>
            </a:r>
            <a:br>
              <a:rPr lang="fr-FR"/>
            </a:br>
            <a:r>
              <a:rPr lang="fr-FR"/>
              <a:t>Manifest</a:t>
            </a:r>
            <a:r>
              <a:rPr lang="fr-FR"/>
              <a:t> File =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6922" y="2094184"/>
            <a:ext cx="1613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list</a:t>
            </a:r>
            <a:r>
              <a:rPr lang="fr-FR"/>
              <a:t> of files</a:t>
            </a:r>
            <a:br>
              <a:rPr lang="fr-FR"/>
            </a:br>
            <a:r>
              <a:rPr lang="fr-FR"/>
              <a:t>in </a:t>
            </a:r>
            <a:r>
              <a:rPr lang="fr-FR"/>
              <a:t>current</a:t>
            </a:r>
            <a:r>
              <a:rPr lang="fr-FR"/>
              <a:t> state</a:t>
            </a:r>
          </a:p>
        </p:txBody>
      </p:sp>
      <p:sp>
        <p:nvSpPr>
          <p:cNvPr id="10" name="Left Brace 9"/>
          <p:cNvSpPr/>
          <p:nvPr/>
        </p:nvSpPr>
        <p:spPr>
          <a:xfrm flipH="1">
            <a:off x="6046667" y="2015246"/>
            <a:ext cx="293841" cy="857999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4959772" y="3692768"/>
            <a:ext cx="902223" cy="1079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5112172" y="3845168"/>
            <a:ext cx="902223" cy="1079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Arrow Connector 14"/>
          <p:cNvCxnSpPr>
            <a:endCxn id="4" idx="0"/>
          </p:cNvCxnSpPr>
          <p:nvPr/>
        </p:nvCxnSpPr>
        <p:spPr>
          <a:xfrm flipH="1">
            <a:off x="4953684" y="2745032"/>
            <a:ext cx="227560" cy="490536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2"/>
          </p:cNvCxnSpPr>
          <p:nvPr/>
        </p:nvCxnSpPr>
        <p:spPr>
          <a:xfrm>
            <a:off x="5403842" y="2740515"/>
            <a:ext cx="205140" cy="799036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621757" y="2730837"/>
            <a:ext cx="366860" cy="1114331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3642668" y="4463533"/>
            <a:ext cx="954254" cy="254167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3642668" y="4772033"/>
            <a:ext cx="1255903" cy="76314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52528" y="4248182"/>
            <a:ext cx="25038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other</a:t>
            </a:r>
            <a:r>
              <a:rPr lang="fr-FR"/>
              <a:t> files in </a:t>
            </a:r>
            <a:r>
              <a:rPr lang="fr-FR"/>
              <a:t>dir</a:t>
            </a:r>
            <a:r>
              <a:rPr lang="fr-FR"/>
              <a:t>,</a:t>
            </a:r>
            <a:br>
              <a:rPr lang="fr-FR"/>
            </a:br>
            <a:r>
              <a:rPr lang="fr-FR"/>
              <a:t>... </a:t>
            </a:r>
            <a:r>
              <a:rPr lang="fr-FR"/>
              <a:t>ignored</a:t>
            </a:r>
            <a:r>
              <a:rPr lang="fr-FR"/>
              <a:t> by Iceberg.</a:t>
            </a:r>
          </a:p>
          <a:p>
            <a:endParaRPr lang="fr-FR"/>
          </a:p>
          <a:p>
            <a:r>
              <a:rPr lang="fr-FR"/>
              <a:t>maybe</a:t>
            </a:r>
            <a:r>
              <a:rPr lang="fr-FR"/>
              <a:t> </a:t>
            </a:r>
            <a:r>
              <a:rPr lang="fr-FR"/>
              <a:t>old</a:t>
            </a:r>
            <a:r>
              <a:rPr lang="fr-FR"/>
              <a:t> files, to purge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16989883">
            <a:off x="-578561" y="828444"/>
            <a:ext cx="2576347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5400" b="1" cap="none" spc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ANNEXE</a:t>
            </a:r>
          </a:p>
        </p:txBody>
      </p:sp>
      <p:sp>
        <p:nvSpPr>
          <p:cNvPr id="3" name="Titre 1"/>
          <p:cNvSpPr txBox="1"/>
          <p:nvPr/>
        </p:nvSpPr>
        <p:spPr>
          <a:xfrm>
            <a:off x="76200" y="1"/>
            <a:ext cx="10080624" cy="102161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3600">
                <a:solidFill>
                  <a:sysClr val="windowText" lastClr="000000"/>
                </a:solidFill>
              </a:rPr>
              <a:t>Iceberg Update = Transaction</a:t>
            </a:r>
            <a:br>
              <a:rPr lang="fr-FR" sz="3600">
                <a:solidFill>
                  <a:sysClr val="windowText" lastClr="000000"/>
                </a:solidFill>
              </a:rPr>
            </a:br>
            <a:r>
              <a:rPr lang="fr-FR" sz="3600">
                <a:solidFill>
                  <a:sysClr val="windowText" lastClr="000000"/>
                </a:solidFill>
              </a:rPr>
              <a:t> to </a:t>
            </a:r>
            <a:r>
              <a:rPr lang="fr-FR" sz="3600">
                <a:solidFill>
                  <a:sysClr val="windowText" lastClr="000000"/>
                </a:solidFill>
              </a:rPr>
              <a:t>disable</a:t>
            </a:r>
            <a:r>
              <a:rPr lang="fr-FR" sz="3600">
                <a:solidFill>
                  <a:sysClr val="windowText" lastClr="000000"/>
                </a:solidFill>
              </a:rPr>
              <a:t> (</a:t>
            </a:r>
            <a:r>
              <a:rPr lang="fr-FR" sz="3600">
                <a:solidFill>
                  <a:sysClr val="windowText" lastClr="000000"/>
                </a:solidFill>
              </a:rPr>
              <a:t>old</a:t>
            </a:r>
            <a:r>
              <a:rPr lang="fr-FR" sz="3600">
                <a:solidFill>
                  <a:sysClr val="windowText" lastClr="000000"/>
                </a:solidFill>
              </a:rPr>
              <a:t>) Files, and </a:t>
            </a:r>
            <a:r>
              <a:rPr lang="fr-FR" sz="3600">
                <a:solidFill>
                  <a:sysClr val="windowText" lastClr="000000"/>
                </a:solidFill>
              </a:rPr>
              <a:t>add</a:t>
            </a:r>
            <a:r>
              <a:rPr lang="fr-FR" sz="3600">
                <a:solidFill>
                  <a:sysClr val="windowText" lastClr="000000"/>
                </a:solidFill>
              </a:rPr>
              <a:t> new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623532" y="3531992"/>
            <a:ext cx="902223" cy="1079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Left Brace 4"/>
          <p:cNvSpPr/>
          <p:nvPr/>
        </p:nvSpPr>
        <p:spPr>
          <a:xfrm>
            <a:off x="2468084" y="2332114"/>
            <a:ext cx="155448" cy="857999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2775932" y="3684392"/>
            <a:ext cx="902223" cy="1079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928332" y="3836792"/>
            <a:ext cx="902223" cy="1079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/>
          <p:cNvSpPr txBox="1"/>
          <p:nvPr/>
        </p:nvSpPr>
        <p:spPr>
          <a:xfrm>
            <a:off x="854112" y="2409749"/>
            <a:ext cx="1612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current</a:t>
            </a:r>
            <a:br>
              <a:rPr lang="fr-FR"/>
            </a:br>
            <a:r>
              <a:rPr lang="fr-FR"/>
              <a:t>Manifest</a:t>
            </a:r>
            <a:r>
              <a:rPr lang="fr-FR"/>
              <a:t> File =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7882" y="2390608"/>
            <a:ext cx="1613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list</a:t>
            </a:r>
            <a:r>
              <a:rPr lang="fr-FR"/>
              <a:t> of files</a:t>
            </a:r>
            <a:br>
              <a:rPr lang="fr-FR"/>
            </a:br>
            <a:r>
              <a:rPr lang="fr-FR"/>
              <a:t>in </a:t>
            </a:r>
            <a:r>
              <a:rPr lang="fr-FR"/>
              <a:t>current</a:t>
            </a:r>
            <a:r>
              <a:rPr lang="fr-FR"/>
              <a:t> state</a:t>
            </a:r>
          </a:p>
        </p:txBody>
      </p:sp>
      <p:sp>
        <p:nvSpPr>
          <p:cNvPr id="10" name="Left Brace 9"/>
          <p:cNvSpPr/>
          <p:nvPr/>
        </p:nvSpPr>
        <p:spPr>
          <a:xfrm flipH="1">
            <a:off x="4167627" y="2311670"/>
            <a:ext cx="293841" cy="857999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3080732" y="3989192"/>
            <a:ext cx="902223" cy="1079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3233132" y="4141592"/>
            <a:ext cx="902223" cy="1079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Arrow Connector 14"/>
          <p:cNvCxnSpPr>
            <a:endCxn id="4" idx="0"/>
          </p:cNvCxnSpPr>
          <p:nvPr/>
        </p:nvCxnSpPr>
        <p:spPr>
          <a:xfrm flipH="1">
            <a:off x="3074644" y="3041456"/>
            <a:ext cx="227560" cy="490536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2"/>
          </p:cNvCxnSpPr>
          <p:nvPr/>
        </p:nvCxnSpPr>
        <p:spPr>
          <a:xfrm>
            <a:off x="3524802" y="3036939"/>
            <a:ext cx="205140" cy="799036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742717" y="3027261"/>
            <a:ext cx="366860" cy="1114331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1763628" y="4759957"/>
            <a:ext cx="954254" cy="254167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1763628" y="5068457"/>
            <a:ext cx="1255903" cy="76314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6810" y="4745291"/>
            <a:ext cx="1706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other</a:t>
            </a:r>
            <a:r>
              <a:rPr lang="fr-FR"/>
              <a:t> (</a:t>
            </a:r>
            <a:r>
              <a:rPr lang="fr-FR"/>
              <a:t>old</a:t>
            </a:r>
            <a:r>
              <a:rPr lang="fr-FR"/>
              <a:t>) files,</a:t>
            </a:r>
            <a:br>
              <a:rPr lang="fr-FR"/>
            </a:br>
            <a:r>
              <a:rPr lang="fr-FR"/>
              <a:t>could</a:t>
            </a:r>
            <a:r>
              <a:rPr lang="fr-FR"/>
              <a:t> </a:t>
            </a:r>
            <a:r>
              <a:rPr lang="fr-FR"/>
              <a:t>be</a:t>
            </a:r>
            <a:r>
              <a:rPr lang="fr-FR"/>
              <a:t> </a:t>
            </a:r>
            <a:r>
              <a:rPr lang="fr-FR"/>
              <a:t>purged</a:t>
            </a:r>
            <a:endParaRPr lang="fr-FR"/>
          </a:p>
        </p:txBody>
      </p:sp>
      <p:sp>
        <p:nvSpPr>
          <p:cNvPr id="35" name="Arrow: Curved Down 34"/>
          <p:cNvSpPr/>
          <p:nvPr/>
        </p:nvSpPr>
        <p:spPr>
          <a:xfrm>
            <a:off x="4874516" y="2332114"/>
            <a:ext cx="867281" cy="58190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14477" y="3473598"/>
            <a:ext cx="902223" cy="10792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Left Brace 36"/>
          <p:cNvSpPr/>
          <p:nvPr/>
        </p:nvSpPr>
        <p:spPr>
          <a:xfrm>
            <a:off x="7348483" y="2251338"/>
            <a:ext cx="155448" cy="857999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/>
          <p:cNvSpPr/>
          <p:nvPr/>
        </p:nvSpPr>
        <p:spPr>
          <a:xfrm>
            <a:off x="7866877" y="3625998"/>
            <a:ext cx="902223" cy="1079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/>
          <p:cNvSpPr/>
          <p:nvPr/>
        </p:nvSpPr>
        <p:spPr>
          <a:xfrm>
            <a:off x="8019277" y="3778398"/>
            <a:ext cx="902223" cy="107926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/>
          <p:cNvSpPr txBox="1"/>
          <p:nvPr/>
        </p:nvSpPr>
        <p:spPr>
          <a:xfrm>
            <a:off x="5734511" y="2328973"/>
            <a:ext cx="1612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new</a:t>
            </a:r>
            <a:br>
              <a:rPr lang="fr-FR"/>
            </a:br>
            <a:r>
              <a:rPr lang="fr-FR"/>
              <a:t>Manifest</a:t>
            </a:r>
            <a:r>
              <a:rPr lang="fr-FR"/>
              <a:t> File =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0085" y="2299900"/>
            <a:ext cx="1613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list</a:t>
            </a:r>
            <a:r>
              <a:rPr lang="fr-FR"/>
              <a:t> of files</a:t>
            </a:r>
            <a:br>
              <a:rPr lang="fr-FR"/>
            </a:br>
            <a:r>
              <a:rPr lang="fr-FR"/>
              <a:t>in </a:t>
            </a:r>
            <a:r>
              <a:rPr lang="fr-FR"/>
              <a:t>current</a:t>
            </a:r>
            <a:r>
              <a:rPr lang="fr-FR"/>
              <a:t> state</a:t>
            </a:r>
          </a:p>
        </p:txBody>
      </p:sp>
      <p:sp>
        <p:nvSpPr>
          <p:cNvPr id="42" name="Left Brace 41"/>
          <p:cNvSpPr/>
          <p:nvPr/>
        </p:nvSpPr>
        <p:spPr>
          <a:xfrm flipH="1">
            <a:off x="9584949" y="2221650"/>
            <a:ext cx="293841" cy="857999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/>
          <p:cNvSpPr/>
          <p:nvPr/>
        </p:nvSpPr>
        <p:spPr>
          <a:xfrm>
            <a:off x="8171677" y="3930798"/>
            <a:ext cx="902223" cy="1079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/>
          <p:cNvSpPr/>
          <p:nvPr/>
        </p:nvSpPr>
        <p:spPr>
          <a:xfrm>
            <a:off x="8324077" y="4083198"/>
            <a:ext cx="902223" cy="10792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7688699" y="2012923"/>
            <a:ext cx="174619" cy="1460675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7776008" y="2012923"/>
            <a:ext cx="268432" cy="1765475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7861829" y="2012923"/>
            <a:ext cx="488441" cy="2048162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6854573" y="4701563"/>
            <a:ext cx="954254" cy="254167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6854573" y="5010063"/>
            <a:ext cx="1255903" cy="76314"/>
          </a:xfrm>
          <a:prstGeom prst="straightConnector1">
            <a:avLst/>
          </a:prstGeom>
          <a:ln w="254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eft Brace 49"/>
          <p:cNvSpPr/>
          <p:nvPr/>
        </p:nvSpPr>
        <p:spPr>
          <a:xfrm>
            <a:off x="7348483" y="1288957"/>
            <a:ext cx="155448" cy="857999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TextBox 50"/>
          <p:cNvSpPr txBox="1"/>
          <p:nvPr/>
        </p:nvSpPr>
        <p:spPr>
          <a:xfrm>
            <a:off x="5734511" y="1366592"/>
            <a:ext cx="1612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OLD(v1)</a:t>
            </a:r>
            <a:br>
              <a:rPr lang="fr-FR"/>
            </a:br>
            <a:r>
              <a:rPr lang="fr-FR"/>
              <a:t>Manifest</a:t>
            </a:r>
            <a:r>
              <a:rPr lang="fr-FR"/>
              <a:t> File =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23937" y="1348769"/>
            <a:ext cx="1679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list</a:t>
            </a:r>
            <a:r>
              <a:rPr lang="fr-FR"/>
              <a:t> of files</a:t>
            </a:r>
            <a:br>
              <a:rPr lang="fr-FR"/>
            </a:br>
            <a:r>
              <a:rPr lang="fr-FR"/>
              <a:t>in OLD(v1) state</a:t>
            </a:r>
          </a:p>
        </p:txBody>
      </p:sp>
      <p:sp>
        <p:nvSpPr>
          <p:cNvPr id="53" name="Left Brace 52"/>
          <p:cNvSpPr/>
          <p:nvPr/>
        </p:nvSpPr>
        <p:spPr>
          <a:xfrm flipH="1">
            <a:off x="9258572" y="1290895"/>
            <a:ext cx="293841" cy="857999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2" name="Straight Arrow Connector 61"/>
          <p:cNvCxnSpPr/>
          <p:nvPr/>
        </p:nvCxnSpPr>
        <p:spPr>
          <a:xfrm flipV="1">
            <a:off x="6760330" y="3998407"/>
            <a:ext cx="954254" cy="254167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6760330" y="4383221"/>
            <a:ext cx="1539307" cy="181609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041841" y="3943489"/>
            <a:ext cx="2113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files </a:t>
            </a:r>
            <a:r>
              <a:rPr lang="fr-FR"/>
              <a:t>now</a:t>
            </a:r>
            <a:r>
              <a:rPr lang="fr-FR"/>
              <a:t> </a:t>
            </a:r>
            <a:r>
              <a:rPr lang="fr-FR"/>
              <a:t>considered</a:t>
            </a:r>
            <a:endParaRPr lang="fr-FR"/>
          </a:p>
          <a:p>
            <a:r>
              <a:rPr lang="fr-FR"/>
              <a:t>OLD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47755" y="4821971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OLDER files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76477" y="4235598"/>
            <a:ext cx="902223" cy="10792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8628877" y="4387998"/>
            <a:ext cx="902223" cy="107926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9345155" y="3020117"/>
            <a:ext cx="178891" cy="1297913"/>
          </a:xfrm>
          <a:prstGeom prst="straightConnector1">
            <a:avLst/>
          </a:prstGeom>
          <a:ln w="25400">
            <a:solidFill>
              <a:schemeClr val="accent6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9250740" y="3016199"/>
            <a:ext cx="70530" cy="1145513"/>
          </a:xfrm>
          <a:prstGeom prst="straightConnector1">
            <a:avLst/>
          </a:prstGeom>
          <a:ln w="25400">
            <a:solidFill>
              <a:schemeClr val="accent6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8870401" y="3027261"/>
            <a:ext cx="305279" cy="718993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16989883">
            <a:off x="-578561" y="828444"/>
            <a:ext cx="2576347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5400" b="1" cap="none" spc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ANNEXE</a:t>
            </a:r>
          </a:p>
        </p:txBody>
      </p:sp>
      <p:sp>
        <p:nvSpPr>
          <p:cNvPr id="3" name="Titre 1"/>
          <p:cNvSpPr txBox="1"/>
          <p:nvPr/>
        </p:nvSpPr>
        <p:spPr>
          <a:xfrm>
            <a:off x="76200" y="69927"/>
            <a:ext cx="10080624" cy="164834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3600">
                <a:solidFill>
                  <a:sysClr val="windowText" lastClr="000000"/>
                </a:solidFill>
              </a:rPr>
              <a:t>Iceberg </a:t>
            </a:r>
          </a:p>
          <a:p>
            <a:pPr rtl="0"/>
            <a:r>
              <a:rPr lang="fr-FR" sz="3600">
                <a:solidFill>
                  <a:sysClr val="windowText" lastClr="000000"/>
                </a:solidFill>
              </a:rPr>
              <a:t>to Update 1 </a:t>
            </a:r>
            <a:r>
              <a:rPr lang="fr-FR" sz="3600">
                <a:solidFill>
                  <a:sysClr val="windowText" lastClr="000000"/>
                </a:solidFill>
              </a:rPr>
              <a:t>row</a:t>
            </a:r>
            <a:r>
              <a:rPr lang="fr-FR" sz="3600">
                <a:solidFill>
                  <a:sysClr val="windowText" lastClr="000000"/>
                </a:solidFill>
              </a:rPr>
              <a:t> of a File </a:t>
            </a:r>
          </a:p>
          <a:p>
            <a:pPr rtl="0"/>
            <a:r>
              <a:rPr lang="fr-FR" sz="3600">
                <a:solidFill>
                  <a:sysClr val="windowText" lastClr="000000"/>
                </a:solidFill>
              </a:rPr>
              <a:t>=&gt; duplicate 100000 </a:t>
            </a:r>
            <a:r>
              <a:rPr lang="fr-FR" sz="3600">
                <a:solidFill>
                  <a:sysClr val="windowText" lastClr="000000"/>
                </a:solidFill>
              </a:rPr>
              <a:t>rows</a:t>
            </a:r>
            <a:r>
              <a:rPr lang="fr-FR" sz="3600">
                <a:solidFill>
                  <a:sysClr val="windowText" lastClr="000000"/>
                </a:solidFill>
              </a:rPr>
              <a:t> in a new file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1711" y="2835275"/>
            <a:ext cx="499720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Files </a:t>
            </a:r>
            <a:r>
              <a:rPr lang="fr-FR" sz="2400"/>
              <a:t>number</a:t>
            </a:r>
            <a:r>
              <a:rPr lang="fr-FR" sz="2400"/>
              <a:t>  Explosion   </a:t>
            </a:r>
            <a:r>
              <a:rPr lang="fr-FR" sz="2400"/>
              <a:t>Problems</a:t>
            </a:r>
            <a:r>
              <a:rPr lang="fr-FR" sz="2400"/>
              <a:t> ...</a:t>
            </a:r>
          </a:p>
          <a:p>
            <a:endParaRPr lang="fr-FR" sz="2400"/>
          </a:p>
          <a:p>
            <a:r>
              <a:rPr lang="fr-FR" sz="2400"/>
              <a:t>Need Purge </a:t>
            </a:r>
            <a:r>
              <a:rPr lang="fr-FR" sz="2400"/>
              <a:t>mecanism</a:t>
            </a:r>
            <a:endParaRPr lang="fr-FR" sz="2400"/>
          </a:p>
          <a:p>
            <a:r>
              <a:rPr lang="fr-FR" sz="2400"/>
              <a:t>exemple: </a:t>
            </a:r>
            <a:r>
              <a:rPr lang="fr-FR" sz="2400"/>
              <a:t>retention</a:t>
            </a:r>
            <a:r>
              <a:rPr lang="fr-FR" sz="2400"/>
              <a:t> to 7 </a:t>
            </a:r>
            <a:r>
              <a:rPr lang="fr-FR" sz="2400"/>
              <a:t>days</a:t>
            </a:r>
            <a:r>
              <a:rPr lang="fr-FR" sz="2400"/>
              <a:t> of </a:t>
            </a:r>
            <a:r>
              <a:rPr lang="fr-FR" sz="2400"/>
              <a:t>history</a:t>
            </a:r>
            <a:endParaRPr lang="fr-FR" sz="2400"/>
          </a:p>
          <a:p>
            <a:endParaRPr lang="fr-FR" sz="2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16989883">
            <a:off x="-578561" y="828444"/>
            <a:ext cx="2576347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5400" b="1" cap="none" spc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ANNEXE</a:t>
            </a:r>
          </a:p>
        </p:txBody>
      </p:sp>
      <p:sp>
        <p:nvSpPr>
          <p:cNvPr id="3" name="Titre 1"/>
          <p:cNvSpPr txBox="1"/>
          <p:nvPr/>
        </p:nvSpPr>
        <p:spPr>
          <a:xfrm>
            <a:off x="76200" y="69928"/>
            <a:ext cx="10080624" cy="121123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3600">
                <a:solidFill>
                  <a:sysClr val="windowText" lastClr="000000"/>
                </a:solidFill>
              </a:rPr>
              <a:t>Iceberg =</a:t>
            </a:r>
          </a:p>
          <a:p>
            <a:pPr rtl="0"/>
            <a:r>
              <a:rPr lang="fr-FR" sz="3600">
                <a:solidFill>
                  <a:sysClr val="windowText" lastClr="000000"/>
                </a:solidFill>
              </a:rPr>
              <a:t>JSON + Parquet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0831" y="2185516"/>
            <a:ext cx="710361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/>
              <a:t>JSON File  for </a:t>
            </a:r>
            <a:r>
              <a:rPr lang="fr-FR" sz="2000"/>
              <a:t>storing</a:t>
            </a:r>
            <a:r>
              <a:rPr lang="fr-FR" sz="2000"/>
              <a:t> </a:t>
            </a:r>
            <a:r>
              <a:rPr lang="fr-FR" sz="2000"/>
              <a:t>Metadata</a:t>
            </a:r>
            <a:r>
              <a:rPr lang="fr-FR" sz="2000"/>
              <a:t>   (transaction logs)</a:t>
            </a:r>
          </a:p>
          <a:p>
            <a:endParaRPr lang="fr-FR" sz="2000"/>
          </a:p>
          <a:p>
            <a:r>
              <a:rPr lang="fr-FR" sz="2000"/>
              <a:t>Parquet Files  for </a:t>
            </a:r>
            <a:r>
              <a:rPr lang="fr-FR" sz="2000"/>
              <a:t>storing</a:t>
            </a:r>
            <a:r>
              <a:rPr lang="fr-FR" sz="2000"/>
              <a:t> Data   (like plain </a:t>
            </a:r>
            <a:r>
              <a:rPr lang="fr-FR" sz="2000"/>
              <a:t>old</a:t>
            </a:r>
            <a:r>
              <a:rPr lang="fr-FR" sz="2000"/>
              <a:t> </a:t>
            </a:r>
            <a:r>
              <a:rPr lang="fr-FR" sz="2000"/>
              <a:t>spark</a:t>
            </a:r>
            <a:r>
              <a:rPr lang="fr-FR" sz="2000"/>
              <a:t> + </a:t>
            </a:r>
            <a:r>
              <a:rPr lang="fr-FR" sz="2000"/>
              <a:t>Hive</a:t>
            </a:r>
            <a:r>
              <a:rPr lang="fr-FR" sz="2000"/>
              <a:t> </a:t>
            </a:r>
            <a:r>
              <a:rPr lang="fr-FR" sz="2000"/>
              <a:t>did</a:t>
            </a:r>
            <a:r>
              <a:rPr lang="fr-FR" sz="2000"/>
              <a:t> </a:t>
            </a:r>
            <a:r>
              <a:rPr lang="fr-FR" sz="2000"/>
              <a:t>well</a:t>
            </a:r>
            <a:r>
              <a:rPr lang="fr-FR" sz="2000"/>
              <a:t>)</a:t>
            </a:r>
          </a:p>
          <a:p>
            <a:endParaRPr lang="fr-FR" sz="2000"/>
          </a:p>
          <a:p>
            <a:endParaRPr lang="fr-FR" sz="2000"/>
          </a:p>
          <a:p>
            <a:r>
              <a:rPr lang="fr-FR" sz="2000"/>
              <a:t>Transactions no more </a:t>
            </a:r>
            <a:r>
              <a:rPr lang="fr-FR" sz="2000"/>
              <a:t>handled</a:t>
            </a:r>
            <a:r>
              <a:rPr lang="fr-FR" sz="2000"/>
              <a:t> by "directory listing"</a:t>
            </a:r>
          </a:p>
          <a:p>
            <a:r>
              <a:rPr lang="fr-FR" sz="2000"/>
              <a:t>No Need "</a:t>
            </a:r>
            <a:r>
              <a:rPr lang="fr-FR" sz="2000"/>
              <a:t>hive</a:t>
            </a:r>
            <a:r>
              <a:rPr lang="fr-FR" sz="2000"/>
              <a:t> partition"</a:t>
            </a:r>
          </a:p>
          <a:p>
            <a:r>
              <a:rPr lang="fr-FR" sz="2000"/>
              <a:t>Only</a:t>
            </a:r>
            <a:r>
              <a:rPr lang="fr-FR" sz="2000"/>
              <a:t> </a:t>
            </a:r>
            <a:r>
              <a:rPr lang="fr-FR" sz="2000"/>
              <a:t>need</a:t>
            </a:r>
            <a:r>
              <a:rPr lang="fr-FR" sz="2000"/>
              <a:t> </a:t>
            </a:r>
            <a:r>
              <a:rPr lang="fr-FR" sz="2000"/>
              <a:t>Hive</a:t>
            </a:r>
            <a:r>
              <a:rPr lang="fr-FR" sz="2000"/>
              <a:t> "DDL"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PARQUET File Format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alphaModFix amt="100000"/>
          </a:blip>
          <a:stretch>
            <a:fillRect/>
          </a:stretch>
        </p:blipFill>
        <p:spPr>
          <a:xfrm>
            <a:off x="3767033" y="2335530"/>
            <a:ext cx="2809957" cy="210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 idx="4294967295"/>
          </p:nvPr>
        </p:nvSpPr>
        <p:spPr>
          <a:xfrm>
            <a:off x="504492" y="5338"/>
            <a:ext cx="9071640" cy="1290300"/>
          </a:xfrm>
          <a:prstGeom prst="rect">
            <a:avLst/>
          </a:prstGeom>
        </p:spPr>
        <p:txBody>
          <a:bodyPr vert="horz"/>
          <a:lstStyle/>
          <a:p>
            <a:pPr rtl="0"/>
            <a:r>
              <a:rPr lang="en-US"/>
              <a:t>Splitteable</a:t>
            </a:r>
            <a:r>
              <a:rPr lang="en-US"/>
              <a:t> File Format</a:t>
            </a:r>
          </a:p>
        </p:txBody>
      </p:sp>
      <p:sp>
        <p:nvSpPr>
          <p:cNvPr id="3" name="Rectangle: Folded Corner 2"/>
          <p:cNvSpPr/>
          <p:nvPr/>
        </p:nvSpPr>
        <p:spPr>
          <a:xfrm>
            <a:off x="4792980" y="4954905"/>
            <a:ext cx="3059430" cy="44196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: Folded Corner 3"/>
          <p:cNvSpPr/>
          <p:nvPr/>
        </p:nvSpPr>
        <p:spPr>
          <a:xfrm>
            <a:off x="4792980" y="3848100"/>
            <a:ext cx="3059430" cy="105537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: Folded Corner 4"/>
          <p:cNvSpPr/>
          <p:nvPr/>
        </p:nvSpPr>
        <p:spPr>
          <a:xfrm>
            <a:off x="4792980" y="2741295"/>
            <a:ext cx="3059430" cy="105537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Folded Corner 5"/>
          <p:cNvSpPr/>
          <p:nvPr/>
        </p:nvSpPr>
        <p:spPr>
          <a:xfrm>
            <a:off x="4792980" y="1626870"/>
            <a:ext cx="3059430" cy="105537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Up-Down 6"/>
          <p:cNvSpPr/>
          <p:nvPr/>
        </p:nvSpPr>
        <p:spPr>
          <a:xfrm>
            <a:off x="8149220" y="1606252"/>
            <a:ext cx="209919" cy="105537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Up-Down 7"/>
          <p:cNvSpPr/>
          <p:nvPr/>
        </p:nvSpPr>
        <p:spPr>
          <a:xfrm>
            <a:off x="8149220" y="2720677"/>
            <a:ext cx="209919" cy="105537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Up-Down 8"/>
          <p:cNvSpPr/>
          <p:nvPr/>
        </p:nvSpPr>
        <p:spPr>
          <a:xfrm>
            <a:off x="8149220" y="3835102"/>
            <a:ext cx="209919" cy="105537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8233410" y="1752600"/>
            <a:ext cx="18871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parquet.block.size</a:t>
            </a:r>
            <a:endParaRPr lang="fr-FR"/>
          </a:p>
          <a:p>
            <a:r>
              <a:rPr lang="fr-FR"/>
              <a:t>Default = 128M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8492" y="5086806"/>
            <a:ext cx="130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[</a:t>
            </a:r>
            <a:r>
              <a:rPr lang="fr-FR"/>
              <a:t>footer</a:t>
            </a:r>
            <a:r>
              <a:rPr lang="fr-FR"/>
              <a:t> size]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889760" y="1626870"/>
            <a:ext cx="0" cy="369570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530" y="3039745"/>
            <a:ext cx="18742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Step</a:t>
            </a:r>
            <a:r>
              <a:rPr lang="fr-FR" b="1"/>
              <a:t> 1/</a:t>
            </a:r>
          </a:p>
          <a:p>
            <a:r>
              <a:rPr lang="fr-FR" b="1"/>
              <a:t>seek</a:t>
            </a:r>
            <a:r>
              <a:rPr lang="fr-FR"/>
              <a:t> </a:t>
            </a:r>
          </a:p>
          <a:p>
            <a:r>
              <a:rPr lang="fr-FR"/>
              <a:t>To (</a:t>
            </a:r>
            <a:r>
              <a:rPr lang="fr-FR"/>
              <a:t>file.length</a:t>
            </a:r>
            <a:r>
              <a:rPr lang="fr-FR"/>
              <a:t> – 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8730" y="5322570"/>
            <a:ext cx="2390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2/ </a:t>
            </a:r>
            <a:r>
              <a:rPr lang="fr-FR"/>
              <a:t>read</a:t>
            </a:r>
            <a:r>
              <a:rPr lang="fr-FR"/>
              <a:t> int4: </a:t>
            </a:r>
            <a:r>
              <a:rPr lang="fr-FR"/>
              <a:t>footer</a:t>
            </a:r>
            <a:r>
              <a:rPr lang="fr-FR"/>
              <a:t> size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2048977" y="4959350"/>
            <a:ext cx="0" cy="40259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40937" y="4257774"/>
            <a:ext cx="12459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3/</a:t>
            </a:r>
            <a:r>
              <a:rPr lang="fr-FR"/>
              <a:t> </a:t>
            </a:r>
            <a:r>
              <a:rPr lang="fr-FR"/>
              <a:t>seek</a:t>
            </a:r>
            <a:r>
              <a:rPr lang="fr-FR"/>
              <a:t> to </a:t>
            </a:r>
          </a:p>
          <a:p>
            <a:r>
              <a:rPr lang="fr-FR"/>
              <a:t>footer</a:t>
            </a:r>
            <a:r>
              <a:rPr lang="fr-FR"/>
              <a:t> start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236470" y="5075138"/>
            <a:ext cx="73152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22535" y="4676239"/>
            <a:ext cx="1651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4/</a:t>
            </a:r>
            <a:r>
              <a:rPr lang="fr-FR"/>
              <a:t> </a:t>
            </a:r>
            <a:r>
              <a:rPr lang="fr-FR"/>
              <a:t>read</a:t>
            </a:r>
            <a:r>
              <a:rPr lang="fr-FR"/>
              <a:t> </a:t>
            </a:r>
            <a:r>
              <a:rPr lang="fr-FR"/>
              <a:t>schema</a:t>
            </a:r>
            <a:endParaRPr lang="fr-FR"/>
          </a:p>
          <a:p>
            <a:r>
              <a:rPr lang="fr-FR"/>
              <a:t>+ blocks offsets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3467100" y="1664970"/>
            <a:ext cx="0" cy="301127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4" idx="0"/>
          </p:cNvCxnSpPr>
          <p:nvPr/>
        </p:nvCxnSpPr>
        <p:spPr>
          <a:xfrm flipV="1">
            <a:off x="3848338" y="2741295"/>
            <a:ext cx="0" cy="1934944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252198" y="3909060"/>
            <a:ext cx="0" cy="81661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26825" y="4860905"/>
            <a:ext cx="2160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r>
              <a:rPr lang="fr-FR"/>
              <a:t>=</a:t>
            </a:r>
            <a:r>
              <a:rPr lang="fr-FR"/>
              <a:t>schema</a:t>
            </a:r>
            <a:r>
              <a:rPr lang="fr-FR"/>
              <a:t> + blocks info + stats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8822" y="1562844"/>
            <a:ext cx="3091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Block1=</a:t>
            </a:r>
          </a:p>
          <a:p>
            <a:r>
              <a:rPr lang="fr-FR"/>
              <a:t>List Row 0, 1, …c0</a:t>
            </a:r>
          </a:p>
          <a:p>
            <a:endParaRPr lang="fr-FR"/>
          </a:p>
        </p:txBody>
      </p:sp>
      <p:sp>
        <p:nvSpPr>
          <p:cNvPr id="38" name="TextBox 37"/>
          <p:cNvSpPr txBox="1"/>
          <p:nvPr/>
        </p:nvSpPr>
        <p:spPr>
          <a:xfrm>
            <a:off x="2084070" y="1752600"/>
            <a:ext cx="1530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5/ </a:t>
            </a:r>
            <a:r>
              <a:rPr lang="fr-FR"/>
              <a:t>Read Block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9302" y="2702034"/>
            <a:ext cx="2946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Block2=</a:t>
            </a:r>
          </a:p>
          <a:p>
            <a:r>
              <a:rPr lang="fr-FR"/>
              <a:t>List Row  c0+1, c0+2, … c1</a:t>
            </a:r>
          </a:p>
          <a:p>
            <a:endParaRPr lang="fr-FR"/>
          </a:p>
        </p:txBody>
      </p:sp>
      <p:sp>
        <p:nvSpPr>
          <p:cNvPr id="40" name="TextBox 39"/>
          <p:cNvSpPr txBox="1"/>
          <p:nvPr/>
        </p:nvSpPr>
        <p:spPr>
          <a:xfrm>
            <a:off x="4726825" y="3761442"/>
            <a:ext cx="28436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Block3=</a:t>
            </a:r>
          </a:p>
          <a:p>
            <a:r>
              <a:rPr lang="fr-FR"/>
              <a:t>List Row c1, c1+1 … c2</a:t>
            </a:r>
          </a:p>
          <a:p>
            <a:endParaRPr lang="fr-F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1" y="-184896"/>
            <a:ext cx="1002620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3600">
                <a:solidFill>
                  <a:sysClr val="windowText" lastClr="000000"/>
                </a:solidFill>
              </a:rPr>
              <a:t>Performances</a:t>
            </a:r>
            <a:br>
              <a:rPr lang="fr-FR" sz="3600">
                <a:solidFill>
                  <a:sysClr val="windowText" lastClr="000000"/>
                </a:solidFill>
              </a:rPr>
            </a:br>
            <a:r>
              <a:rPr lang="fr-FR" sz="3600">
                <a:solidFill>
                  <a:sysClr val="windowText" lastClr="000000"/>
                </a:solidFill>
              </a:rPr>
              <a:t> File Blocks &gt;&gt; </a:t>
            </a:r>
            <a:r>
              <a:rPr lang="fr-FR" sz="3600">
                <a:solidFill>
                  <a:sysClr val="windowText" lastClr="000000"/>
                </a:solidFill>
              </a:rPr>
              <a:t>MetaStore</a:t>
            </a:r>
            <a:r>
              <a:rPr lang="fr-FR" sz="3600">
                <a:solidFill>
                  <a:sysClr val="windowText" lastClr="000000"/>
                </a:solidFill>
              </a:rPr>
              <a:t> + HDFS </a:t>
            </a:r>
            <a:r>
              <a:rPr lang="fr-FR" sz="3600">
                <a:solidFill>
                  <a:sysClr val="windowText" lastClr="000000"/>
                </a:solidFill>
              </a:rPr>
              <a:t>Dir</a:t>
            </a:r>
            <a:r>
              <a:rPr lang="fr-FR" sz="3600">
                <a:solidFill>
                  <a:sysClr val="windowText" lastClr="000000"/>
                </a:solidFill>
              </a:rPr>
              <a:t> + Files</a:t>
            </a:r>
          </a:p>
        </p:txBody>
      </p:sp>
      <p:sp>
        <p:nvSpPr>
          <p:cNvPr id="3" name="Rectangle: Folded Corner 2"/>
          <p:cNvSpPr/>
          <p:nvPr/>
        </p:nvSpPr>
        <p:spPr>
          <a:xfrm>
            <a:off x="1181100" y="5213985"/>
            <a:ext cx="3059430" cy="24881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: Folded Corner 3"/>
          <p:cNvSpPr/>
          <p:nvPr/>
        </p:nvSpPr>
        <p:spPr>
          <a:xfrm>
            <a:off x="1181100" y="4649502"/>
            <a:ext cx="3059430" cy="5359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Folded Corner 5"/>
          <p:cNvSpPr/>
          <p:nvPr/>
        </p:nvSpPr>
        <p:spPr>
          <a:xfrm>
            <a:off x="1177673" y="2493570"/>
            <a:ext cx="3059430" cy="59867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/>
          <p:cNvSpPr txBox="1"/>
          <p:nvPr/>
        </p:nvSpPr>
        <p:spPr>
          <a:xfrm>
            <a:off x="1114945" y="5142845"/>
            <a:ext cx="216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1103515" y="2437164"/>
            <a:ext cx="3091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1135" y="4597245"/>
            <a:ext cx="2843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BlockN</a:t>
            </a:r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222633" y="1052168"/>
            <a:ext cx="336354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Better</a:t>
            </a:r>
            <a:r>
              <a:rPr lang="fr-FR" sz="2800"/>
              <a:t> to </a:t>
            </a:r>
          </a:p>
          <a:p>
            <a:r>
              <a:rPr lang="fr-FR" sz="2800"/>
              <a:t>have 1 </a:t>
            </a:r>
            <a:r>
              <a:rPr lang="fr-FR" sz="2800"/>
              <a:t>Huge</a:t>
            </a:r>
            <a:r>
              <a:rPr lang="fr-FR" sz="2800"/>
              <a:t> HDFS file</a:t>
            </a:r>
          </a:p>
          <a:p>
            <a:r>
              <a:rPr lang="fr-FR" sz="2800"/>
              <a:t> (</a:t>
            </a:r>
            <a:r>
              <a:rPr lang="fr-FR" sz="2800"/>
              <a:t>several</a:t>
            </a:r>
            <a:r>
              <a:rPr lang="fr-FR" sz="2800"/>
              <a:t> Go)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1135" y="2437164"/>
            <a:ext cx="3194165" cy="307501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: Folded Corner 14"/>
          <p:cNvSpPr/>
          <p:nvPr/>
        </p:nvSpPr>
        <p:spPr>
          <a:xfrm>
            <a:off x="1177673" y="3133360"/>
            <a:ext cx="3059430" cy="59867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/>
          <p:cNvSpPr txBox="1"/>
          <p:nvPr/>
        </p:nvSpPr>
        <p:spPr>
          <a:xfrm>
            <a:off x="1103515" y="3066685"/>
            <a:ext cx="3091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Block2</a:t>
            </a:r>
          </a:p>
        </p:txBody>
      </p:sp>
      <p:sp>
        <p:nvSpPr>
          <p:cNvPr id="17" name="Rectangle: Folded Corner 16"/>
          <p:cNvSpPr/>
          <p:nvPr/>
        </p:nvSpPr>
        <p:spPr>
          <a:xfrm>
            <a:off x="1185293" y="3773440"/>
            <a:ext cx="3059430" cy="59867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/>
          <p:cNvSpPr txBox="1"/>
          <p:nvPr/>
        </p:nvSpPr>
        <p:spPr>
          <a:xfrm>
            <a:off x="1111135" y="3706765"/>
            <a:ext cx="3091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3515" y="4324445"/>
            <a:ext cx="3091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0475" y="1417792"/>
            <a:ext cx="758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than</a:t>
            </a:r>
            <a:endParaRPr lang="fr-FR" sz="2400"/>
          </a:p>
        </p:txBody>
      </p:sp>
      <p:sp>
        <p:nvSpPr>
          <p:cNvPr id="23" name="Rectangle: Folded Corner 22"/>
          <p:cNvSpPr/>
          <p:nvPr/>
        </p:nvSpPr>
        <p:spPr>
          <a:xfrm>
            <a:off x="5442771" y="3277202"/>
            <a:ext cx="3059430" cy="24881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: Folded Corner 23"/>
          <p:cNvSpPr/>
          <p:nvPr/>
        </p:nvSpPr>
        <p:spPr>
          <a:xfrm>
            <a:off x="5442771" y="2712719"/>
            <a:ext cx="3059430" cy="5359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/>
          <p:cNvSpPr txBox="1"/>
          <p:nvPr/>
        </p:nvSpPr>
        <p:spPr>
          <a:xfrm>
            <a:off x="5376616" y="3206062"/>
            <a:ext cx="216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endParaRPr lang="fr-FR"/>
          </a:p>
        </p:txBody>
      </p:sp>
      <p:sp>
        <p:nvSpPr>
          <p:cNvPr id="26" name="Rectangle 25"/>
          <p:cNvSpPr/>
          <p:nvPr/>
        </p:nvSpPr>
        <p:spPr>
          <a:xfrm>
            <a:off x="5380809" y="2659979"/>
            <a:ext cx="3194165" cy="91541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/>
          <p:cNvSpPr txBox="1"/>
          <p:nvPr/>
        </p:nvSpPr>
        <p:spPr>
          <a:xfrm>
            <a:off x="5986216" y="1102200"/>
            <a:ext cx="25063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Too</a:t>
            </a:r>
            <a:r>
              <a:rPr lang="fr-FR" sz="2800"/>
              <a:t> MANY </a:t>
            </a:r>
          </a:p>
          <a:p>
            <a:r>
              <a:rPr lang="fr-FR" sz="2800"/>
              <a:t>Too</a:t>
            </a:r>
            <a:r>
              <a:rPr lang="fr-FR" sz="2800"/>
              <a:t> Small files</a:t>
            </a:r>
          </a:p>
          <a:p>
            <a:r>
              <a:rPr lang="fr-FR" sz="2800"/>
              <a:t>(few 128+1 Mo)</a:t>
            </a:r>
          </a:p>
        </p:txBody>
      </p:sp>
      <p:sp>
        <p:nvSpPr>
          <p:cNvPr id="28" name="Rectangle: Folded Corner 27"/>
          <p:cNvSpPr/>
          <p:nvPr/>
        </p:nvSpPr>
        <p:spPr>
          <a:xfrm>
            <a:off x="5595171" y="3429602"/>
            <a:ext cx="3059430" cy="24881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: Folded Corner 28"/>
          <p:cNvSpPr/>
          <p:nvPr/>
        </p:nvSpPr>
        <p:spPr>
          <a:xfrm>
            <a:off x="5595171" y="2865119"/>
            <a:ext cx="3059430" cy="5359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Box 29"/>
          <p:cNvSpPr txBox="1"/>
          <p:nvPr/>
        </p:nvSpPr>
        <p:spPr>
          <a:xfrm>
            <a:off x="5529016" y="3358462"/>
            <a:ext cx="216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endParaRPr lang="fr-FR"/>
          </a:p>
        </p:txBody>
      </p:sp>
      <p:sp>
        <p:nvSpPr>
          <p:cNvPr id="31" name="Rectangle 30"/>
          <p:cNvSpPr/>
          <p:nvPr/>
        </p:nvSpPr>
        <p:spPr>
          <a:xfrm>
            <a:off x="5533209" y="2812379"/>
            <a:ext cx="3194165" cy="91541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: Folded Corner 31"/>
          <p:cNvSpPr/>
          <p:nvPr/>
        </p:nvSpPr>
        <p:spPr>
          <a:xfrm>
            <a:off x="5747571" y="3582002"/>
            <a:ext cx="3059430" cy="24881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: Folded Corner 32"/>
          <p:cNvSpPr/>
          <p:nvPr/>
        </p:nvSpPr>
        <p:spPr>
          <a:xfrm>
            <a:off x="5747571" y="3017519"/>
            <a:ext cx="3059430" cy="5359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/>
          <p:cNvSpPr txBox="1"/>
          <p:nvPr/>
        </p:nvSpPr>
        <p:spPr>
          <a:xfrm>
            <a:off x="5681416" y="3510862"/>
            <a:ext cx="216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endParaRPr lang="fr-FR"/>
          </a:p>
        </p:txBody>
      </p:sp>
      <p:sp>
        <p:nvSpPr>
          <p:cNvPr id="35" name="Rectangle 34"/>
          <p:cNvSpPr/>
          <p:nvPr/>
        </p:nvSpPr>
        <p:spPr>
          <a:xfrm>
            <a:off x="5685609" y="2964779"/>
            <a:ext cx="3194165" cy="91541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: Folded Corner 35"/>
          <p:cNvSpPr/>
          <p:nvPr/>
        </p:nvSpPr>
        <p:spPr>
          <a:xfrm>
            <a:off x="5899971" y="3734402"/>
            <a:ext cx="3059430" cy="24881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: Folded Corner 36"/>
          <p:cNvSpPr/>
          <p:nvPr/>
        </p:nvSpPr>
        <p:spPr>
          <a:xfrm>
            <a:off x="5899971" y="3169919"/>
            <a:ext cx="3059430" cy="5359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/>
          <p:cNvSpPr txBox="1"/>
          <p:nvPr/>
        </p:nvSpPr>
        <p:spPr>
          <a:xfrm>
            <a:off x="5833816" y="3663262"/>
            <a:ext cx="216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endParaRPr lang="fr-FR"/>
          </a:p>
        </p:txBody>
      </p:sp>
      <p:sp>
        <p:nvSpPr>
          <p:cNvPr id="39" name="Rectangle 38"/>
          <p:cNvSpPr/>
          <p:nvPr/>
        </p:nvSpPr>
        <p:spPr>
          <a:xfrm>
            <a:off x="5838009" y="3117179"/>
            <a:ext cx="3194165" cy="91541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: Folded Corner 39"/>
          <p:cNvSpPr/>
          <p:nvPr/>
        </p:nvSpPr>
        <p:spPr>
          <a:xfrm>
            <a:off x="6052371" y="3886802"/>
            <a:ext cx="3059430" cy="24881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: Folded Corner 40"/>
          <p:cNvSpPr/>
          <p:nvPr/>
        </p:nvSpPr>
        <p:spPr>
          <a:xfrm>
            <a:off x="6052371" y="3322319"/>
            <a:ext cx="3059430" cy="5359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extBox 41"/>
          <p:cNvSpPr txBox="1"/>
          <p:nvPr/>
        </p:nvSpPr>
        <p:spPr>
          <a:xfrm>
            <a:off x="5986216" y="3815662"/>
            <a:ext cx="216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endParaRPr lang="fr-FR"/>
          </a:p>
        </p:txBody>
      </p:sp>
      <p:sp>
        <p:nvSpPr>
          <p:cNvPr id="43" name="Rectangle 42"/>
          <p:cNvSpPr/>
          <p:nvPr/>
        </p:nvSpPr>
        <p:spPr>
          <a:xfrm>
            <a:off x="5990409" y="3269579"/>
            <a:ext cx="3194165" cy="91541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: Folded Corner 43"/>
          <p:cNvSpPr/>
          <p:nvPr/>
        </p:nvSpPr>
        <p:spPr>
          <a:xfrm>
            <a:off x="6204771" y="4039202"/>
            <a:ext cx="3059430" cy="24881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: Folded Corner 44"/>
          <p:cNvSpPr/>
          <p:nvPr/>
        </p:nvSpPr>
        <p:spPr>
          <a:xfrm>
            <a:off x="6204771" y="3474719"/>
            <a:ext cx="3059430" cy="5359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Box 45"/>
          <p:cNvSpPr txBox="1"/>
          <p:nvPr/>
        </p:nvSpPr>
        <p:spPr>
          <a:xfrm>
            <a:off x="6138616" y="3968062"/>
            <a:ext cx="216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endParaRPr lang="fr-FR"/>
          </a:p>
        </p:txBody>
      </p:sp>
      <p:sp>
        <p:nvSpPr>
          <p:cNvPr id="47" name="Rectangle 46"/>
          <p:cNvSpPr/>
          <p:nvPr/>
        </p:nvSpPr>
        <p:spPr>
          <a:xfrm>
            <a:off x="6142809" y="3421979"/>
            <a:ext cx="3194165" cy="91541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: Folded Corner 47"/>
          <p:cNvSpPr/>
          <p:nvPr/>
        </p:nvSpPr>
        <p:spPr>
          <a:xfrm>
            <a:off x="6357171" y="4191602"/>
            <a:ext cx="3059430" cy="24881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: Folded Corner 48"/>
          <p:cNvSpPr/>
          <p:nvPr/>
        </p:nvSpPr>
        <p:spPr>
          <a:xfrm>
            <a:off x="6357171" y="3627119"/>
            <a:ext cx="3059430" cy="5359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TextBox 49"/>
          <p:cNvSpPr txBox="1"/>
          <p:nvPr/>
        </p:nvSpPr>
        <p:spPr>
          <a:xfrm>
            <a:off x="6291016" y="4120462"/>
            <a:ext cx="216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endParaRPr lang="fr-FR"/>
          </a:p>
        </p:txBody>
      </p:sp>
      <p:sp>
        <p:nvSpPr>
          <p:cNvPr id="51" name="Rectangle 50"/>
          <p:cNvSpPr/>
          <p:nvPr/>
        </p:nvSpPr>
        <p:spPr>
          <a:xfrm>
            <a:off x="6295209" y="3574379"/>
            <a:ext cx="3194165" cy="91541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: Folded Corner 51"/>
          <p:cNvSpPr/>
          <p:nvPr/>
        </p:nvSpPr>
        <p:spPr>
          <a:xfrm>
            <a:off x="6509571" y="4344002"/>
            <a:ext cx="3059430" cy="24881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: Folded Corner 52"/>
          <p:cNvSpPr/>
          <p:nvPr/>
        </p:nvSpPr>
        <p:spPr>
          <a:xfrm>
            <a:off x="6509571" y="3779519"/>
            <a:ext cx="3059430" cy="5359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TextBox 53"/>
          <p:cNvSpPr txBox="1"/>
          <p:nvPr/>
        </p:nvSpPr>
        <p:spPr>
          <a:xfrm>
            <a:off x="6443416" y="4272862"/>
            <a:ext cx="216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endParaRPr lang="fr-FR"/>
          </a:p>
        </p:txBody>
      </p:sp>
      <p:sp>
        <p:nvSpPr>
          <p:cNvPr id="55" name="Rectangle 54"/>
          <p:cNvSpPr/>
          <p:nvPr/>
        </p:nvSpPr>
        <p:spPr>
          <a:xfrm>
            <a:off x="6447609" y="3726779"/>
            <a:ext cx="3194165" cy="91541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: Folded Corner 55"/>
          <p:cNvSpPr/>
          <p:nvPr/>
        </p:nvSpPr>
        <p:spPr>
          <a:xfrm>
            <a:off x="6661971" y="4496402"/>
            <a:ext cx="3059430" cy="24881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: Folded Corner 56"/>
          <p:cNvSpPr/>
          <p:nvPr/>
        </p:nvSpPr>
        <p:spPr>
          <a:xfrm>
            <a:off x="6661971" y="3931919"/>
            <a:ext cx="3059430" cy="5359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TextBox 57"/>
          <p:cNvSpPr txBox="1"/>
          <p:nvPr/>
        </p:nvSpPr>
        <p:spPr>
          <a:xfrm>
            <a:off x="6595816" y="4425262"/>
            <a:ext cx="216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endParaRPr lang="fr-FR"/>
          </a:p>
        </p:txBody>
      </p:sp>
      <p:sp>
        <p:nvSpPr>
          <p:cNvPr id="59" name="Rectangle 58"/>
          <p:cNvSpPr/>
          <p:nvPr/>
        </p:nvSpPr>
        <p:spPr>
          <a:xfrm>
            <a:off x="6600009" y="3879179"/>
            <a:ext cx="3194165" cy="91541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: Folded Corner 59"/>
          <p:cNvSpPr/>
          <p:nvPr/>
        </p:nvSpPr>
        <p:spPr>
          <a:xfrm>
            <a:off x="6814371" y="4648802"/>
            <a:ext cx="3059430" cy="24881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: Folded Corner 60"/>
          <p:cNvSpPr/>
          <p:nvPr/>
        </p:nvSpPr>
        <p:spPr>
          <a:xfrm>
            <a:off x="6814371" y="4084319"/>
            <a:ext cx="3059430" cy="5359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TextBox 61"/>
          <p:cNvSpPr txBox="1"/>
          <p:nvPr/>
        </p:nvSpPr>
        <p:spPr>
          <a:xfrm>
            <a:off x="6748216" y="4577662"/>
            <a:ext cx="216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6752409" y="4031579"/>
            <a:ext cx="3194165" cy="91541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: Folded Corner 63"/>
          <p:cNvSpPr/>
          <p:nvPr/>
        </p:nvSpPr>
        <p:spPr>
          <a:xfrm>
            <a:off x="6966771" y="4801202"/>
            <a:ext cx="3059430" cy="24881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: Folded Corner 64"/>
          <p:cNvSpPr/>
          <p:nvPr/>
        </p:nvSpPr>
        <p:spPr>
          <a:xfrm>
            <a:off x="6966771" y="4236719"/>
            <a:ext cx="3059430" cy="5359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TextBox 65"/>
          <p:cNvSpPr txBox="1"/>
          <p:nvPr/>
        </p:nvSpPr>
        <p:spPr>
          <a:xfrm>
            <a:off x="6900616" y="4730062"/>
            <a:ext cx="216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6904809" y="4183979"/>
            <a:ext cx="3194165" cy="91541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182965" y="3155376"/>
            <a:ext cx="1685925" cy="160972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79460" y="3164121"/>
            <a:ext cx="1708919" cy="160448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1" y="-184896"/>
            <a:ext cx="1002620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3600">
                <a:solidFill>
                  <a:sysClr val="windowText" lastClr="000000"/>
                </a:solidFill>
              </a:rPr>
              <a:t>Typical</a:t>
            </a:r>
            <a:r>
              <a:rPr lang="fr-FR" sz="3600">
                <a:solidFill>
                  <a:sysClr val="windowText" lastClr="000000"/>
                </a:solidFill>
              </a:rPr>
              <a:t> Partition / Files Volumes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1080" y="1367790"/>
            <a:ext cx="676076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For </a:t>
            </a:r>
            <a:r>
              <a:rPr lang="fr-FR"/>
              <a:t>daily</a:t>
            </a:r>
            <a:r>
              <a:rPr lang="fr-FR"/>
              <a:t> batch</a:t>
            </a:r>
          </a:p>
          <a:p>
            <a:endParaRPr lang="fr-FR"/>
          </a:p>
          <a:p>
            <a:r>
              <a:rPr lang="fr-FR"/>
              <a:t>1 partition per </a:t>
            </a:r>
            <a:r>
              <a:rPr lang="fr-FR"/>
              <a:t>day</a:t>
            </a:r>
            <a:r>
              <a:rPr lang="fr-FR"/>
              <a:t>      … 5 </a:t>
            </a:r>
            <a:r>
              <a:rPr lang="fr-FR"/>
              <a:t>year</a:t>
            </a:r>
            <a:r>
              <a:rPr lang="fr-FR"/>
              <a:t> of data = ~1500 partitions   OK</a:t>
            </a:r>
          </a:p>
          <a:p>
            <a:endParaRPr lang="fr-FR"/>
          </a:p>
          <a:p>
            <a:r>
              <a:rPr lang="fr-FR"/>
              <a:t>1 file per partition       … OK, </a:t>
            </a:r>
            <a:r>
              <a:rPr lang="fr-FR"/>
              <a:t>even</a:t>
            </a:r>
            <a:r>
              <a:rPr lang="fr-FR"/>
              <a:t> if </a:t>
            </a:r>
            <a:r>
              <a:rPr lang="fr-FR"/>
              <a:t>strange</a:t>
            </a:r>
            <a:r>
              <a:rPr lang="fr-FR"/>
              <a:t> to have 1 file per directory</a:t>
            </a:r>
          </a:p>
          <a:p>
            <a:endParaRPr lang="fr-FR"/>
          </a:p>
          <a:p>
            <a:r>
              <a:rPr lang="fr-FR"/>
              <a:t>(</a:t>
            </a:r>
            <a:r>
              <a:rPr lang="fr-FR"/>
              <a:t>maybe</a:t>
            </a:r>
            <a:r>
              <a:rPr lang="fr-FR"/>
              <a:t> 2,3 files per partition   … if no fit in </a:t>
            </a:r>
            <a:r>
              <a:rPr lang="fr-FR"/>
              <a:t>spark</a:t>
            </a:r>
            <a:r>
              <a:rPr lang="fr-FR"/>
              <a:t> </a:t>
            </a:r>
            <a:r>
              <a:rPr lang="fr-FR"/>
              <a:t>executor</a:t>
            </a:r>
            <a:r>
              <a:rPr lang="fr-FR"/>
              <a:t> mem )</a:t>
            </a:r>
          </a:p>
          <a:p>
            <a:endParaRPr lang="fr-FR"/>
          </a:p>
          <a:p>
            <a:r>
              <a:rPr lang="fr-FR"/>
              <a:t>File </a:t>
            </a:r>
            <a:r>
              <a:rPr lang="fr-FR"/>
              <a:t>may</a:t>
            </a:r>
            <a:r>
              <a:rPr lang="fr-FR"/>
              <a:t> </a:t>
            </a:r>
            <a:r>
              <a:rPr lang="fr-FR"/>
              <a:t>be</a:t>
            </a:r>
            <a:r>
              <a:rPr lang="fr-FR"/>
              <a:t> &gt;= </a:t>
            </a:r>
            <a:r>
              <a:rPr lang="fr-FR"/>
              <a:t>several</a:t>
            </a:r>
            <a:r>
              <a:rPr lang="fr-FR"/>
              <a:t> Giga bytes   …. OK </a:t>
            </a:r>
            <a:r>
              <a:rPr lang="fr-FR"/>
              <a:t>great</a:t>
            </a:r>
            <a:endParaRPr lang="fr-FR"/>
          </a:p>
          <a:p>
            <a:endParaRPr lang="fr-FR"/>
          </a:p>
          <a:p>
            <a:r>
              <a:rPr lang="fr-FR"/>
              <a:t>File </a:t>
            </a:r>
            <a:r>
              <a:rPr lang="fr-FR"/>
              <a:t>parquet.block.size</a:t>
            </a:r>
            <a:r>
              <a:rPr lang="fr-FR"/>
              <a:t> = 16M, 32M  (? </a:t>
            </a:r>
            <a:r>
              <a:rPr lang="fr-FR"/>
              <a:t>overwrite</a:t>
            </a:r>
            <a:r>
              <a:rPr lang="fr-FR"/>
              <a:t> default 128M)       </a:t>
            </a:r>
          </a:p>
          <a:p>
            <a:endParaRPr lang="fr-FR"/>
          </a:p>
        </p:txBody>
      </p:sp>
      <p:sp>
        <p:nvSpPr>
          <p:cNvPr id="4" name="TextBox 3"/>
          <p:cNvSpPr txBox="1"/>
          <p:nvPr/>
        </p:nvSpPr>
        <p:spPr>
          <a:xfrm>
            <a:off x="5090160" y="4450080"/>
            <a:ext cx="38972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compromise: </a:t>
            </a:r>
          </a:p>
          <a:p>
            <a:r>
              <a:rPr lang="fr-FR"/>
              <a:t>Smaller</a:t>
            </a:r>
            <a:r>
              <a:rPr lang="fr-FR"/>
              <a:t> =&gt; more </a:t>
            </a:r>
            <a:r>
              <a:rPr lang="fr-FR"/>
              <a:t>dictionary</a:t>
            </a:r>
            <a:r>
              <a:rPr lang="fr-FR"/>
              <a:t> </a:t>
            </a:r>
            <a:r>
              <a:rPr lang="fr-FR"/>
              <a:t>encoding</a:t>
            </a:r>
            <a:r>
              <a:rPr lang="fr-FR"/>
              <a:t>, </a:t>
            </a:r>
            <a:br>
              <a:rPr lang="fr-FR"/>
            </a:br>
            <a:r>
              <a:rPr lang="fr-FR"/>
              <a:t>      </a:t>
            </a:r>
            <a:r>
              <a:rPr lang="fr-FR"/>
              <a:t>better</a:t>
            </a:r>
            <a:r>
              <a:rPr lang="fr-FR"/>
              <a:t> PPD, </a:t>
            </a:r>
            <a:r>
              <a:rPr lang="fr-FR"/>
              <a:t>maybe</a:t>
            </a:r>
            <a:r>
              <a:rPr lang="fr-FR"/>
              <a:t> </a:t>
            </a:r>
            <a:r>
              <a:rPr lang="fr-FR"/>
              <a:t>less</a:t>
            </a:r>
            <a:r>
              <a:rPr lang="fr-FR"/>
              <a:t> compression</a:t>
            </a:r>
          </a:p>
          <a:p>
            <a:r>
              <a:rPr lang="fr-FR"/>
              <a:t>Bigger</a:t>
            </a:r>
            <a:r>
              <a:rPr lang="fr-FR"/>
              <a:t> =&gt; </a:t>
            </a:r>
            <a:r>
              <a:rPr lang="fr-FR"/>
              <a:t>less</a:t>
            </a:r>
            <a:r>
              <a:rPr lang="fr-FR"/>
              <a:t> partitions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« </a:t>
            </a:r>
            <a:r>
              <a:rPr lang="fr-FR">
                <a:solidFill>
                  <a:sysClr val="windowText" lastClr="000000"/>
                </a:solidFill>
              </a:rPr>
              <a:t>Columnar</a:t>
            </a:r>
            <a:r>
              <a:rPr lang="fr-FR">
                <a:solidFill>
                  <a:sysClr val="windowText" lastClr="000000"/>
                </a:solidFill>
              </a:rPr>
              <a:t> » Storage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9362" y="1242060"/>
            <a:ext cx="674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Content = List&lt;Row&gt; = row1, row2, .. </a:t>
            </a:r>
            <a:r>
              <a:rPr lang="fr-FR"/>
              <a:t>rowN</a:t>
            </a:r>
            <a:r>
              <a:rPr lang="fr-FR"/>
              <a:t>    *   Row=col1, col2, … </a:t>
            </a:r>
            <a:r>
              <a:rPr lang="fr-FR"/>
              <a:t>colP</a:t>
            </a:r>
            <a:endParaRPr lang="fr-FR"/>
          </a:p>
        </p:txBody>
      </p:sp>
      <p:sp>
        <p:nvSpPr>
          <p:cNvPr id="5" name="TextBox 4"/>
          <p:cNvSpPr txBox="1"/>
          <p:nvPr/>
        </p:nvSpPr>
        <p:spPr>
          <a:xfrm>
            <a:off x="750570" y="1840230"/>
            <a:ext cx="3726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Classic</a:t>
            </a:r>
            <a:r>
              <a:rPr lang="fr-FR" sz="2800"/>
              <a:t> (</a:t>
            </a:r>
            <a:r>
              <a:rPr lang="fr-FR" sz="2800"/>
              <a:t>row-storage</a:t>
            </a:r>
            <a:r>
              <a:rPr lang="fr-FR" sz="2800"/>
              <a:t>)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5890" y="1840230"/>
            <a:ext cx="3435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Columnar-storage</a:t>
            </a:r>
            <a:r>
              <a:rPr lang="fr-FR" sz="2800"/>
              <a:t> file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360170" y="2903220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1940" y="2716768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Row1-col1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777490" y="2903220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99260" y="2716768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Row1-col2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0566" y="2716768"/>
            <a:ext cx="116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Row1-colP</a:t>
            </a:r>
          </a:p>
        </p:txBody>
      </p:sp>
      <p:sp>
        <p:nvSpPr>
          <p:cNvPr id="23" name="Freeform: Shape 22"/>
          <p:cNvSpPr/>
          <p:nvPr/>
        </p:nvSpPr>
        <p:spPr>
          <a:xfrm>
            <a:off x="56374" y="2930525"/>
            <a:ext cx="4851304" cy="392430"/>
          </a:xfrm>
          <a:custGeom>
            <a:avLst/>
            <a:gdLst/>
            <a:ahLst/>
            <a:cxnLst/>
            <a:rect l="l" t="t" r="r" b="b"/>
            <a:pathLst>
              <a:path w="5304893" h="392430">
                <a:moveTo>
                  <a:pt x="4850573" y="0"/>
                </a:moveTo>
                <a:cubicBezTo>
                  <a:pt x="5279198" y="46990"/>
                  <a:pt x="5608528" y="95885"/>
                  <a:pt x="4856551" y="140970"/>
                </a:cubicBezTo>
                <a:cubicBezTo>
                  <a:pt x="4104574" y="186055"/>
                  <a:pt x="1093699" y="228600"/>
                  <a:pt x="338712" y="270510"/>
                </a:cubicBezTo>
                <a:cubicBezTo>
                  <a:pt x="-416275" y="312420"/>
                  <a:pt x="326630" y="392430"/>
                  <a:pt x="326630" y="392430"/>
                </a:cubicBezTo>
              </a:path>
            </a:pathLst>
          </a:custGeom>
          <a:noFill/>
          <a:ln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1363980" y="3451860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5750" y="3265408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Row2-col1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2781300" y="3451860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03070" y="3265408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Row2-col2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376" y="3265408"/>
            <a:ext cx="116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Row2-colP</a:t>
            </a:r>
          </a:p>
        </p:txBody>
      </p:sp>
      <p:sp>
        <p:nvSpPr>
          <p:cNvPr id="29" name="Freeform: Shape 28"/>
          <p:cNvSpPr/>
          <p:nvPr/>
        </p:nvSpPr>
        <p:spPr>
          <a:xfrm>
            <a:off x="60184" y="3479165"/>
            <a:ext cx="4851304" cy="392430"/>
          </a:xfrm>
          <a:custGeom>
            <a:avLst/>
            <a:gdLst/>
            <a:ahLst/>
            <a:cxnLst/>
            <a:rect l="l" t="t" r="r" b="b"/>
            <a:pathLst>
              <a:path w="5304893" h="392430">
                <a:moveTo>
                  <a:pt x="4850573" y="0"/>
                </a:moveTo>
                <a:cubicBezTo>
                  <a:pt x="5279198" y="46990"/>
                  <a:pt x="5608528" y="95885"/>
                  <a:pt x="4856551" y="140970"/>
                </a:cubicBezTo>
                <a:cubicBezTo>
                  <a:pt x="4104574" y="186055"/>
                  <a:pt x="1093699" y="228600"/>
                  <a:pt x="338712" y="270510"/>
                </a:cubicBezTo>
                <a:cubicBezTo>
                  <a:pt x="-416275" y="312420"/>
                  <a:pt x="326630" y="392430"/>
                  <a:pt x="326630" y="392430"/>
                </a:cubicBezTo>
              </a:path>
            </a:pathLst>
          </a:custGeom>
          <a:noFill/>
          <a:ln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360170" y="4656456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81940" y="4470004"/>
            <a:ext cx="1198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RowN-col1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777490" y="4656456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699260" y="4470004"/>
            <a:ext cx="1198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RowN-col2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0566" y="4470004"/>
            <a:ext cx="1199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RowN-colP</a:t>
            </a:r>
            <a:endParaRPr lang="fr-FR"/>
          </a:p>
        </p:txBody>
      </p:sp>
      <p:sp>
        <p:nvSpPr>
          <p:cNvPr id="35" name="Freeform: Shape 34"/>
          <p:cNvSpPr/>
          <p:nvPr/>
        </p:nvSpPr>
        <p:spPr>
          <a:xfrm>
            <a:off x="15240" y="3932159"/>
            <a:ext cx="4851304" cy="392430"/>
          </a:xfrm>
          <a:custGeom>
            <a:avLst/>
            <a:gdLst/>
            <a:ahLst/>
            <a:cxnLst/>
            <a:rect l="l" t="t" r="r" b="b"/>
            <a:pathLst>
              <a:path w="5304893" h="392430">
                <a:moveTo>
                  <a:pt x="4850573" y="0"/>
                </a:moveTo>
                <a:cubicBezTo>
                  <a:pt x="5279198" y="46990"/>
                  <a:pt x="5608528" y="95885"/>
                  <a:pt x="4856551" y="140970"/>
                </a:cubicBezTo>
                <a:cubicBezTo>
                  <a:pt x="4104574" y="186055"/>
                  <a:pt x="1093699" y="228600"/>
                  <a:pt x="338712" y="270510"/>
                </a:cubicBezTo>
                <a:cubicBezTo>
                  <a:pt x="-416275" y="312420"/>
                  <a:pt x="326630" y="392430"/>
                  <a:pt x="326630" y="392430"/>
                </a:cubicBezTo>
              </a:path>
            </a:pathLst>
          </a:custGeom>
          <a:noFill/>
          <a:ln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Straight Arrow Connector 35"/>
          <p:cNvCxnSpPr>
            <a:stCxn id="37" idx="2"/>
            <a:endCxn id="43" idx="0"/>
          </p:cNvCxnSpPr>
          <p:nvPr/>
        </p:nvCxnSpPr>
        <p:spPr>
          <a:xfrm>
            <a:off x="5960307" y="3090148"/>
            <a:ext cx="3810" cy="179308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77230" y="2720816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Row1-col1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94550" y="2720816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Row1-col2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5856" y="2720816"/>
            <a:ext cx="116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Row1-colP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5960307" y="3585448"/>
            <a:ext cx="0" cy="213122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381040" y="3269456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Row2-col1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98360" y="3269456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Row2-col2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9666" y="3269456"/>
            <a:ext cx="116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Row2-colP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5971444" y="4335780"/>
            <a:ext cx="1" cy="244079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77230" y="4474052"/>
            <a:ext cx="1198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RowN-col1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94550" y="4474052"/>
            <a:ext cx="1198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RowN-col2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5856" y="4474052"/>
            <a:ext cx="1199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RowN-colP</a:t>
            </a:r>
            <a:endParaRPr lang="fr-FR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7331907" y="3063478"/>
            <a:ext cx="3810" cy="179308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331907" y="3558778"/>
            <a:ext cx="0" cy="213122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7343044" y="4309110"/>
            <a:ext cx="1" cy="244079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9000687" y="3074908"/>
            <a:ext cx="3810" cy="179308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9000687" y="3570208"/>
            <a:ext cx="0" cy="213122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9011824" y="4320540"/>
            <a:ext cx="1" cy="244079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reeform: Shape 72"/>
          <p:cNvSpPr/>
          <p:nvPr/>
        </p:nvSpPr>
        <p:spPr>
          <a:xfrm>
            <a:off x="6108825" y="2379400"/>
            <a:ext cx="962840" cy="2841700"/>
          </a:xfrm>
          <a:custGeom>
            <a:avLst/>
            <a:gdLst/>
            <a:ahLst/>
            <a:cxnLst/>
            <a:rect l="l" t="t" r="r" b="b"/>
            <a:pathLst>
              <a:path w="1158240" h="2841700">
                <a:moveTo>
                  <a:pt x="0" y="2363304"/>
                </a:moveTo>
                <a:cubicBezTo>
                  <a:pt x="95567" y="2750336"/>
                  <a:pt x="285115" y="3209759"/>
                  <a:pt x="464820" y="2367114"/>
                </a:cubicBezTo>
                <a:cubicBezTo>
                  <a:pt x="644525" y="1524469"/>
                  <a:pt x="604520" y="1102829"/>
                  <a:pt x="735330" y="439254"/>
                </a:cubicBezTo>
                <a:cubicBezTo>
                  <a:pt x="858520" y="-182411"/>
                  <a:pt x="949325" y="-102084"/>
                  <a:pt x="1158240" y="416394"/>
                </a:cubicBezTo>
              </a:path>
            </a:pathLst>
          </a:custGeom>
          <a:noFill/>
          <a:ln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Freeform: Shape 73"/>
          <p:cNvSpPr/>
          <p:nvPr/>
        </p:nvSpPr>
        <p:spPr>
          <a:xfrm>
            <a:off x="7449617" y="2426670"/>
            <a:ext cx="912489" cy="2841700"/>
          </a:xfrm>
          <a:custGeom>
            <a:avLst/>
            <a:gdLst/>
            <a:ahLst/>
            <a:cxnLst/>
            <a:rect l="l" t="t" r="r" b="b"/>
            <a:pathLst>
              <a:path w="1158240" h="2841700">
                <a:moveTo>
                  <a:pt x="0" y="2363304"/>
                </a:moveTo>
                <a:cubicBezTo>
                  <a:pt x="95567" y="2750336"/>
                  <a:pt x="285115" y="3209759"/>
                  <a:pt x="464820" y="2367114"/>
                </a:cubicBezTo>
                <a:cubicBezTo>
                  <a:pt x="644525" y="1524469"/>
                  <a:pt x="604520" y="1102829"/>
                  <a:pt x="735330" y="439254"/>
                </a:cubicBezTo>
                <a:cubicBezTo>
                  <a:pt x="858520" y="-182411"/>
                  <a:pt x="949325" y="-102084"/>
                  <a:pt x="1158240" y="416394"/>
                </a:cubicBezTo>
              </a:path>
            </a:pathLst>
          </a:custGeom>
          <a:noFill/>
          <a:ln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Freeform: Shape 74"/>
          <p:cNvSpPr/>
          <p:nvPr/>
        </p:nvSpPr>
        <p:spPr>
          <a:xfrm>
            <a:off x="7940722" y="2436553"/>
            <a:ext cx="849514" cy="2841700"/>
          </a:xfrm>
          <a:custGeom>
            <a:avLst/>
            <a:gdLst/>
            <a:ahLst/>
            <a:cxnLst/>
            <a:rect l="l" t="t" r="r" b="b"/>
            <a:pathLst>
              <a:path w="1158240" h="2841700">
                <a:moveTo>
                  <a:pt x="0" y="2363304"/>
                </a:moveTo>
                <a:cubicBezTo>
                  <a:pt x="95567" y="2750336"/>
                  <a:pt x="285115" y="3209759"/>
                  <a:pt x="464820" y="2367114"/>
                </a:cubicBezTo>
                <a:cubicBezTo>
                  <a:pt x="644525" y="1524469"/>
                  <a:pt x="604520" y="1102829"/>
                  <a:pt x="735330" y="439254"/>
                </a:cubicBezTo>
                <a:cubicBezTo>
                  <a:pt x="858520" y="-182411"/>
                  <a:pt x="949325" y="-102084"/>
                  <a:pt x="1158240" y="416394"/>
                </a:cubicBezTo>
              </a:path>
            </a:pathLst>
          </a:custGeom>
          <a:noFill/>
          <a:ln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Why</a:t>
            </a:r>
            <a:r>
              <a:rPr lang="fr-FR">
                <a:solidFill>
                  <a:sysClr val="windowText" lastClr="000000"/>
                </a:solidFill>
              </a:rPr>
              <a:t> </a:t>
            </a:r>
            <a:r>
              <a:rPr lang="fr-FR">
                <a:solidFill>
                  <a:sysClr val="windowText" lastClr="000000"/>
                </a:solidFill>
              </a:rPr>
              <a:t>columnar</a:t>
            </a:r>
            <a:r>
              <a:rPr lang="fr-FR">
                <a:solidFill>
                  <a:sysClr val="windowText" lastClr="000000"/>
                </a:solidFill>
              </a:rPr>
              <a:t>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3027" y="1061750"/>
            <a:ext cx="69073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/>
              <a:t>Read </a:t>
            </a:r>
            <a:r>
              <a:rPr lang="fr-FR" sz="4000" b="1"/>
              <a:t>only</a:t>
            </a:r>
            <a:r>
              <a:rPr lang="fr-FR" sz="4000" b="1"/>
              <a:t> </a:t>
            </a:r>
            <a:r>
              <a:rPr lang="fr-FR" sz="4000" b="1"/>
              <a:t>needed</a:t>
            </a:r>
            <a:r>
              <a:rPr lang="fr-FR" sz="4000"/>
              <a:t> </a:t>
            </a:r>
            <a:r>
              <a:rPr lang="fr-FR" sz="4000"/>
              <a:t>columns</a:t>
            </a:r>
            <a:r>
              <a:rPr lang="fr-FR" sz="4000"/>
              <a:t> data</a:t>
            </a:r>
          </a:p>
          <a:p>
            <a:r>
              <a:rPr lang="fr-FR" sz="4000" b="1"/>
              <a:t>Seek</a:t>
            </a:r>
            <a:r>
              <a:rPr lang="fr-FR" sz="4000" b="1"/>
              <a:t> to skip</a:t>
            </a:r>
            <a:r>
              <a:rPr lang="fr-FR" sz="4000"/>
              <a:t> </a:t>
            </a:r>
            <a:r>
              <a:rPr lang="fr-FR" sz="4000"/>
              <a:t>unneeded</a:t>
            </a:r>
            <a:r>
              <a:rPr lang="fr-FR" sz="4000"/>
              <a:t> </a:t>
            </a:r>
            <a:r>
              <a:rPr lang="fr-FR" sz="4000"/>
              <a:t>ones</a:t>
            </a:r>
            <a:endParaRPr lang="fr-FR" sz="400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6221777" y="3476953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143547" y="3290501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Row1-col1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7639097" y="3476953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60867" y="3290501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Row2-col1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2173" y="3290501"/>
            <a:ext cx="1198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RowN-col1</a:t>
            </a:r>
          </a:p>
        </p:txBody>
      </p:sp>
      <p:sp>
        <p:nvSpPr>
          <p:cNvPr id="9" name="Freeform: Shape 8"/>
          <p:cNvSpPr/>
          <p:nvPr/>
        </p:nvSpPr>
        <p:spPr>
          <a:xfrm>
            <a:off x="4917981" y="3504258"/>
            <a:ext cx="4851304" cy="392430"/>
          </a:xfrm>
          <a:custGeom>
            <a:avLst/>
            <a:gdLst/>
            <a:ahLst/>
            <a:cxnLst/>
            <a:rect l="l" t="t" r="r" b="b"/>
            <a:pathLst>
              <a:path w="5304893" h="392430">
                <a:moveTo>
                  <a:pt x="4850573" y="0"/>
                </a:moveTo>
                <a:cubicBezTo>
                  <a:pt x="5279198" y="46990"/>
                  <a:pt x="5608528" y="95885"/>
                  <a:pt x="4856551" y="140970"/>
                </a:cubicBezTo>
                <a:cubicBezTo>
                  <a:pt x="4104574" y="186055"/>
                  <a:pt x="1093699" y="228600"/>
                  <a:pt x="338712" y="270510"/>
                </a:cubicBezTo>
                <a:cubicBezTo>
                  <a:pt x="-416275" y="312420"/>
                  <a:pt x="326630" y="392430"/>
                  <a:pt x="326630" y="392430"/>
                </a:cubicBezTo>
              </a:path>
            </a:pathLst>
          </a:custGeom>
          <a:noFill/>
          <a:ln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225587" y="4025593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47357" y="3839141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Row1-col2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7642907" y="4025593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64677" y="3839141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Row2-col2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5983" y="3839141"/>
            <a:ext cx="1198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RowN-col2</a:t>
            </a:r>
          </a:p>
        </p:txBody>
      </p:sp>
      <p:sp>
        <p:nvSpPr>
          <p:cNvPr id="15" name="Freeform: Shape 14"/>
          <p:cNvSpPr/>
          <p:nvPr/>
        </p:nvSpPr>
        <p:spPr>
          <a:xfrm>
            <a:off x="4921791" y="4052898"/>
            <a:ext cx="4851304" cy="392430"/>
          </a:xfrm>
          <a:custGeom>
            <a:avLst/>
            <a:gdLst/>
            <a:ahLst/>
            <a:cxnLst/>
            <a:rect l="l" t="t" r="r" b="b"/>
            <a:pathLst>
              <a:path w="5304893" h="392430">
                <a:moveTo>
                  <a:pt x="4850573" y="0"/>
                </a:moveTo>
                <a:cubicBezTo>
                  <a:pt x="5279198" y="46990"/>
                  <a:pt x="5608528" y="95885"/>
                  <a:pt x="4856551" y="140970"/>
                </a:cubicBezTo>
                <a:cubicBezTo>
                  <a:pt x="4104574" y="186055"/>
                  <a:pt x="1093699" y="228600"/>
                  <a:pt x="338712" y="270510"/>
                </a:cubicBezTo>
                <a:cubicBezTo>
                  <a:pt x="-416275" y="312420"/>
                  <a:pt x="326630" y="392430"/>
                  <a:pt x="326630" y="392430"/>
                </a:cubicBezTo>
              </a:path>
            </a:pathLst>
          </a:custGeom>
          <a:noFill/>
          <a:ln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221777" y="5230189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43547" y="5043737"/>
            <a:ext cx="116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Row1-colP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7639097" y="5230189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60867" y="5043737"/>
            <a:ext cx="116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Row2-colP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2173" y="5043737"/>
            <a:ext cx="1199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RowN-colP</a:t>
            </a:r>
            <a:endParaRPr lang="fr-FR"/>
          </a:p>
        </p:txBody>
      </p:sp>
      <p:sp>
        <p:nvSpPr>
          <p:cNvPr id="21" name="Freeform: Shape 20"/>
          <p:cNvSpPr/>
          <p:nvPr/>
        </p:nvSpPr>
        <p:spPr>
          <a:xfrm>
            <a:off x="4876847" y="4829742"/>
            <a:ext cx="4851304" cy="392430"/>
          </a:xfrm>
          <a:custGeom>
            <a:avLst/>
            <a:gdLst/>
            <a:ahLst/>
            <a:cxnLst/>
            <a:rect l="l" t="t" r="r" b="b"/>
            <a:pathLst>
              <a:path w="5304893" h="392430">
                <a:moveTo>
                  <a:pt x="4850573" y="0"/>
                </a:moveTo>
                <a:cubicBezTo>
                  <a:pt x="5279198" y="46990"/>
                  <a:pt x="5608528" y="95885"/>
                  <a:pt x="4856551" y="140970"/>
                </a:cubicBezTo>
                <a:cubicBezTo>
                  <a:pt x="4104574" y="186055"/>
                  <a:pt x="1093699" y="228600"/>
                  <a:pt x="338712" y="270510"/>
                </a:cubicBezTo>
                <a:cubicBezTo>
                  <a:pt x="-416275" y="312420"/>
                  <a:pt x="326630" y="392430"/>
                  <a:pt x="326630" y="392430"/>
                </a:cubicBezTo>
              </a:path>
            </a:pathLst>
          </a:custGeom>
          <a:noFill/>
          <a:ln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5113067" y="3266391"/>
            <a:ext cx="4404360" cy="39749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/>
          <p:cNvSpPr/>
          <p:nvPr/>
        </p:nvSpPr>
        <p:spPr>
          <a:xfrm>
            <a:off x="5105447" y="3818841"/>
            <a:ext cx="4404360" cy="39749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/>
          <p:cNvSpPr txBox="1"/>
          <p:nvPr/>
        </p:nvSpPr>
        <p:spPr>
          <a:xfrm>
            <a:off x="2063987" y="3818841"/>
            <a:ext cx="1696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2/</a:t>
            </a:r>
            <a:r>
              <a:rPr lang="fr-FR"/>
              <a:t> Full </a:t>
            </a:r>
            <a:r>
              <a:rPr lang="fr-FR"/>
              <a:t>read</a:t>
            </a:r>
            <a:r>
              <a:rPr lang="fr-FR"/>
              <a:t> col2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187865"/>
            <a:ext cx="3110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/>
              <a:t>1/ </a:t>
            </a:r>
            <a:r>
              <a:rPr lang="fr-FR" sz="1600" b="1"/>
              <a:t>seek</a:t>
            </a:r>
            <a:r>
              <a:rPr lang="fr-FR" sz="1600" b="1"/>
              <a:t>()</a:t>
            </a:r>
            <a:r>
              <a:rPr lang="fr-FR" sz="1600"/>
              <a:t>  to col2 offset</a:t>
            </a:r>
          </a:p>
          <a:p>
            <a:r>
              <a:rPr lang="fr-FR" sz="1600"/>
              <a:t>( Skip </a:t>
            </a:r>
            <a:r>
              <a:rPr lang="fr-FR" sz="1600"/>
              <a:t>sequential</a:t>
            </a:r>
            <a:r>
              <a:rPr lang="fr-FR" sz="1600"/>
              <a:t> bytes for col1)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69" y="2753892"/>
            <a:ext cx="4549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Example:  SELECT col2, </a:t>
            </a:r>
            <a:r>
              <a:rPr lang="fr-FR" sz="2400"/>
              <a:t>colP</a:t>
            </a:r>
            <a:r>
              <a:rPr lang="fr-FR" sz="2400"/>
              <a:t> </a:t>
            </a:r>
            <a:r>
              <a:rPr lang="fr-FR" sz="2400"/>
              <a:t>from</a:t>
            </a:r>
            <a:r>
              <a:rPr lang="fr-FR" sz="2400"/>
              <a:t> 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13067" y="5020025"/>
            <a:ext cx="4404360" cy="39749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Arrow: Down 31"/>
          <p:cNvSpPr/>
          <p:nvPr/>
        </p:nvSpPr>
        <p:spPr>
          <a:xfrm rot="16200000">
            <a:off x="6604456" y="2308172"/>
            <a:ext cx="232410" cy="3003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row: Down 32"/>
          <p:cNvSpPr/>
          <p:nvPr/>
        </p:nvSpPr>
        <p:spPr>
          <a:xfrm rot="16200000">
            <a:off x="6601853" y="3510167"/>
            <a:ext cx="232410" cy="3003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/>
          <p:cNvSpPr txBox="1"/>
          <p:nvPr/>
        </p:nvSpPr>
        <p:spPr>
          <a:xfrm>
            <a:off x="2027294" y="5119506"/>
            <a:ext cx="1697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4/</a:t>
            </a:r>
            <a:r>
              <a:rPr lang="fr-FR"/>
              <a:t> Full </a:t>
            </a:r>
            <a:r>
              <a:rPr lang="fr-FR"/>
              <a:t>read</a:t>
            </a:r>
            <a:r>
              <a:rPr lang="fr-FR"/>
              <a:t> </a:t>
            </a:r>
            <a:r>
              <a:rPr lang="fr-FR"/>
              <a:t>colP</a:t>
            </a:r>
            <a:endParaRPr lang="fr-FR"/>
          </a:p>
        </p:txBody>
      </p:sp>
      <p:sp>
        <p:nvSpPr>
          <p:cNvPr id="35" name="TextBox 34"/>
          <p:cNvSpPr txBox="1"/>
          <p:nvPr/>
        </p:nvSpPr>
        <p:spPr>
          <a:xfrm>
            <a:off x="1051560" y="4281102"/>
            <a:ext cx="4064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/>
              <a:t>3/</a:t>
            </a:r>
            <a:r>
              <a:rPr lang="fr-FR"/>
              <a:t> </a:t>
            </a:r>
            <a:r>
              <a:rPr lang="fr-FR"/>
              <a:t>seek</a:t>
            </a:r>
            <a:r>
              <a:rPr lang="fr-FR"/>
              <a:t> to </a:t>
            </a:r>
            <a:r>
              <a:rPr lang="fr-FR"/>
              <a:t>colP</a:t>
            </a:r>
            <a:r>
              <a:rPr lang="fr-FR"/>
              <a:t> offset</a:t>
            </a:r>
            <a:br>
              <a:rPr lang="fr-FR"/>
            </a:br>
            <a:r>
              <a:rPr lang="fr-FR"/>
              <a:t>( Skip bytes for col3, col4, … colP-1)</a:t>
            </a:r>
          </a:p>
        </p:txBody>
      </p:sp>
      <p:sp>
        <p:nvSpPr>
          <p:cNvPr id="36" name="Arrow: Curved Right 35"/>
          <p:cNvSpPr/>
          <p:nvPr/>
        </p:nvSpPr>
        <p:spPr>
          <a:xfrm>
            <a:off x="4516013" y="3266391"/>
            <a:ext cx="326497" cy="52440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7" name="Arrow: Curved Right 36"/>
          <p:cNvSpPr/>
          <p:nvPr/>
        </p:nvSpPr>
        <p:spPr>
          <a:xfrm>
            <a:off x="4518325" y="4249112"/>
            <a:ext cx="326497" cy="8410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Comparison</a:t>
            </a:r>
            <a:r>
              <a:rPr lang="fr-FR">
                <a:solidFill>
                  <a:sysClr val="windowText" lastClr="000000"/>
                </a:solidFill>
              </a:rPr>
              <a:t> .. Full Read &amp; Garbage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2004060" y="2754630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25830" y="2568178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Row1-col1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421380" y="2754630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343150" y="2568178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Row1-col2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4456" y="2568178"/>
            <a:ext cx="116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Row1-colP</a:t>
            </a:r>
          </a:p>
        </p:txBody>
      </p:sp>
      <p:sp>
        <p:nvSpPr>
          <p:cNvPr id="8" name="Freeform: Shape 7"/>
          <p:cNvSpPr/>
          <p:nvPr/>
        </p:nvSpPr>
        <p:spPr>
          <a:xfrm>
            <a:off x="700264" y="2781935"/>
            <a:ext cx="4851304" cy="392430"/>
          </a:xfrm>
          <a:custGeom>
            <a:avLst/>
            <a:gdLst/>
            <a:ahLst/>
            <a:cxnLst/>
            <a:rect l="l" t="t" r="r" b="b"/>
            <a:pathLst>
              <a:path w="5304893" h="392430">
                <a:moveTo>
                  <a:pt x="4850573" y="0"/>
                </a:moveTo>
                <a:cubicBezTo>
                  <a:pt x="5279198" y="46990"/>
                  <a:pt x="5608528" y="95885"/>
                  <a:pt x="4856551" y="140970"/>
                </a:cubicBezTo>
                <a:cubicBezTo>
                  <a:pt x="4104574" y="186055"/>
                  <a:pt x="1093699" y="228600"/>
                  <a:pt x="338712" y="270510"/>
                </a:cubicBezTo>
                <a:cubicBezTo>
                  <a:pt x="-416275" y="312420"/>
                  <a:pt x="326630" y="392430"/>
                  <a:pt x="326630" y="392430"/>
                </a:cubicBezTo>
              </a:path>
            </a:pathLst>
          </a:custGeom>
          <a:noFill/>
          <a:ln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007870" y="3714750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29640" y="3528298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Row2-col1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425190" y="3714750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46960" y="3528298"/>
            <a:ext cx="116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Row2-col2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8266" y="3528298"/>
            <a:ext cx="116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Row2-colP</a:t>
            </a:r>
          </a:p>
        </p:txBody>
      </p:sp>
      <p:sp>
        <p:nvSpPr>
          <p:cNvPr id="14" name="Freeform: Shape 13"/>
          <p:cNvSpPr/>
          <p:nvPr/>
        </p:nvSpPr>
        <p:spPr>
          <a:xfrm>
            <a:off x="704074" y="3742055"/>
            <a:ext cx="4851304" cy="392430"/>
          </a:xfrm>
          <a:custGeom>
            <a:avLst/>
            <a:gdLst/>
            <a:ahLst/>
            <a:cxnLst/>
            <a:rect l="l" t="t" r="r" b="b"/>
            <a:pathLst>
              <a:path w="5304893" h="392430">
                <a:moveTo>
                  <a:pt x="4850573" y="0"/>
                </a:moveTo>
                <a:cubicBezTo>
                  <a:pt x="5279198" y="46990"/>
                  <a:pt x="5608528" y="95885"/>
                  <a:pt x="4856551" y="140970"/>
                </a:cubicBezTo>
                <a:cubicBezTo>
                  <a:pt x="4104574" y="186055"/>
                  <a:pt x="1093699" y="228600"/>
                  <a:pt x="338712" y="270510"/>
                </a:cubicBezTo>
                <a:cubicBezTo>
                  <a:pt x="-416275" y="312420"/>
                  <a:pt x="326630" y="392430"/>
                  <a:pt x="326630" y="392430"/>
                </a:cubicBezTo>
              </a:path>
            </a:pathLst>
          </a:custGeom>
          <a:noFill/>
          <a:ln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004060" y="5273676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25830" y="5087224"/>
            <a:ext cx="1198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RowN-col1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421380" y="5273676"/>
            <a:ext cx="339090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43150" y="5087224"/>
            <a:ext cx="1198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RowN-col2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4456" y="5087224"/>
            <a:ext cx="1199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RowN-colP</a:t>
            </a:r>
            <a:endParaRPr lang="fr-FR"/>
          </a:p>
        </p:txBody>
      </p:sp>
      <p:sp>
        <p:nvSpPr>
          <p:cNvPr id="20" name="Freeform: Shape 19"/>
          <p:cNvSpPr/>
          <p:nvPr/>
        </p:nvSpPr>
        <p:spPr>
          <a:xfrm>
            <a:off x="659130" y="4896089"/>
            <a:ext cx="4851304" cy="392430"/>
          </a:xfrm>
          <a:custGeom>
            <a:avLst/>
            <a:gdLst/>
            <a:ahLst/>
            <a:cxnLst/>
            <a:rect l="l" t="t" r="r" b="b"/>
            <a:pathLst>
              <a:path w="5304893" h="392430">
                <a:moveTo>
                  <a:pt x="4850573" y="0"/>
                </a:moveTo>
                <a:cubicBezTo>
                  <a:pt x="5279198" y="46990"/>
                  <a:pt x="5608528" y="95885"/>
                  <a:pt x="4856551" y="140970"/>
                </a:cubicBezTo>
                <a:cubicBezTo>
                  <a:pt x="4104574" y="186055"/>
                  <a:pt x="1093699" y="228600"/>
                  <a:pt x="338712" y="270510"/>
                </a:cubicBezTo>
                <a:cubicBezTo>
                  <a:pt x="-416275" y="312420"/>
                  <a:pt x="326630" y="392430"/>
                  <a:pt x="326630" y="392430"/>
                </a:cubicBezTo>
              </a:path>
            </a:pathLst>
          </a:custGeom>
          <a:noFill/>
          <a:ln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Curved Down 20"/>
          <p:cNvSpPr/>
          <p:nvPr/>
        </p:nvSpPr>
        <p:spPr>
          <a:xfrm>
            <a:off x="963930" y="2217262"/>
            <a:ext cx="1379220" cy="35091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2" name="Arrow: Right 21"/>
          <p:cNvSpPr/>
          <p:nvPr/>
        </p:nvSpPr>
        <p:spPr>
          <a:xfrm>
            <a:off x="2396563" y="2414070"/>
            <a:ext cx="990600" cy="187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Arrow: Curved Down 22"/>
          <p:cNvSpPr/>
          <p:nvPr/>
        </p:nvSpPr>
        <p:spPr>
          <a:xfrm>
            <a:off x="3440576" y="2186387"/>
            <a:ext cx="655174" cy="35091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Arrow: Right 23"/>
          <p:cNvSpPr/>
          <p:nvPr/>
        </p:nvSpPr>
        <p:spPr>
          <a:xfrm>
            <a:off x="4149163" y="2422763"/>
            <a:ext cx="990600" cy="187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Arrow: Curved Down 24"/>
          <p:cNvSpPr/>
          <p:nvPr/>
        </p:nvSpPr>
        <p:spPr>
          <a:xfrm>
            <a:off x="929640" y="3219292"/>
            <a:ext cx="1379220" cy="35091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6" name="Arrow: Right 25"/>
          <p:cNvSpPr/>
          <p:nvPr/>
        </p:nvSpPr>
        <p:spPr>
          <a:xfrm>
            <a:off x="2362273" y="3416100"/>
            <a:ext cx="990600" cy="187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Arrow: Curved Down 26"/>
          <p:cNvSpPr/>
          <p:nvPr/>
        </p:nvSpPr>
        <p:spPr>
          <a:xfrm>
            <a:off x="3406286" y="3188417"/>
            <a:ext cx="655174" cy="35091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8" name="Arrow: Right 27"/>
          <p:cNvSpPr/>
          <p:nvPr/>
        </p:nvSpPr>
        <p:spPr>
          <a:xfrm>
            <a:off x="4114873" y="3424793"/>
            <a:ext cx="990600" cy="187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row: Curved Down 28"/>
          <p:cNvSpPr/>
          <p:nvPr/>
        </p:nvSpPr>
        <p:spPr>
          <a:xfrm>
            <a:off x="910517" y="4605737"/>
            <a:ext cx="1379220" cy="35091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0" name="Arrow: Right 29"/>
          <p:cNvSpPr/>
          <p:nvPr/>
        </p:nvSpPr>
        <p:spPr>
          <a:xfrm>
            <a:off x="2343150" y="4802545"/>
            <a:ext cx="990600" cy="187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Arrow: Curved Down 30"/>
          <p:cNvSpPr/>
          <p:nvPr/>
        </p:nvSpPr>
        <p:spPr>
          <a:xfrm>
            <a:off x="3387163" y="4574862"/>
            <a:ext cx="655174" cy="35091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2" name="Arrow: Right 31"/>
          <p:cNvSpPr/>
          <p:nvPr/>
        </p:nvSpPr>
        <p:spPr>
          <a:xfrm>
            <a:off x="4095750" y="4811238"/>
            <a:ext cx="990600" cy="187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/>
          <p:cNvSpPr txBox="1"/>
          <p:nvPr/>
        </p:nvSpPr>
        <p:spPr>
          <a:xfrm>
            <a:off x="5986893" y="1070834"/>
            <a:ext cx="23331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2 skips </a:t>
            </a:r>
            <a:br>
              <a:rPr lang="fr-FR" sz="2800"/>
            </a:br>
            <a:r>
              <a:rPr lang="fr-FR" sz="2800"/>
              <a:t>+ 2 </a:t>
            </a:r>
            <a:r>
              <a:rPr lang="fr-FR" sz="2800"/>
              <a:t>array</a:t>
            </a:r>
            <a:r>
              <a:rPr lang="fr-FR" sz="2800"/>
              <a:t> </a:t>
            </a:r>
            <a:r>
              <a:rPr lang="fr-FR" sz="2800"/>
              <a:t>reads</a:t>
            </a:r>
            <a:endParaRPr lang="fr-FR" sz="2800"/>
          </a:p>
        </p:txBody>
      </p:sp>
      <p:sp>
        <p:nvSpPr>
          <p:cNvPr id="34" name="Arrow: Down 33"/>
          <p:cNvSpPr/>
          <p:nvPr/>
        </p:nvSpPr>
        <p:spPr>
          <a:xfrm rot="16200000">
            <a:off x="8513879" y="2454372"/>
            <a:ext cx="232410" cy="13478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Arrow: Down 34"/>
          <p:cNvSpPr/>
          <p:nvPr/>
        </p:nvSpPr>
        <p:spPr>
          <a:xfrm rot="16200000">
            <a:off x="8512578" y="3655066"/>
            <a:ext cx="232410" cy="13504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Arrow: Curved Right 35"/>
          <p:cNvSpPr/>
          <p:nvPr/>
        </p:nvSpPr>
        <p:spPr>
          <a:xfrm>
            <a:off x="7253012" y="2585016"/>
            <a:ext cx="326497" cy="52440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7" name="Arrow: Curved Right 36"/>
          <p:cNvSpPr/>
          <p:nvPr/>
        </p:nvSpPr>
        <p:spPr>
          <a:xfrm>
            <a:off x="7255324" y="3567737"/>
            <a:ext cx="326497" cy="8410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20803" y="1078353"/>
            <a:ext cx="39667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2*N skips</a:t>
            </a:r>
            <a:br>
              <a:rPr lang="fr-FR" sz="2800"/>
            </a:br>
            <a:r>
              <a:rPr lang="fr-FR" sz="2800"/>
              <a:t> + 2*N </a:t>
            </a:r>
            <a:r>
              <a:rPr lang="fr-FR" sz="2800"/>
              <a:t>small</a:t>
            </a:r>
            <a:r>
              <a:rPr lang="fr-FR" sz="2800"/>
              <a:t> </a:t>
            </a:r>
            <a:r>
              <a:rPr lang="fr-FR" sz="2800"/>
              <a:t>unitary</a:t>
            </a:r>
            <a:r>
              <a:rPr lang="fr-FR" sz="2800"/>
              <a:t> </a:t>
            </a:r>
            <a:r>
              <a:rPr lang="fr-FR" sz="2800"/>
              <a:t>reads</a:t>
            </a:r>
            <a:endParaRPr lang="fr-FR" sz="2800"/>
          </a:p>
        </p:txBody>
      </p:sp>
      <p:sp>
        <p:nvSpPr>
          <p:cNvPr id="39" name="TextBox 38"/>
          <p:cNvSpPr txBox="1"/>
          <p:nvPr/>
        </p:nvSpPr>
        <p:spPr>
          <a:xfrm>
            <a:off x="5173964" y="1322942"/>
            <a:ext cx="377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vs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2647" y="2152471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/>
              <a:t>skip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32400" y="2189160"/>
            <a:ext cx="515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/>
              <a:t>read</a:t>
            </a:r>
            <a:endParaRPr lang="fr-FR" sz="1400"/>
          </a:p>
        </p:txBody>
      </p:sp>
      <p:sp>
        <p:nvSpPr>
          <p:cNvPr id="42" name="TextBox 41"/>
          <p:cNvSpPr txBox="1"/>
          <p:nvPr/>
        </p:nvSpPr>
        <p:spPr>
          <a:xfrm>
            <a:off x="3513113" y="2124060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/>
              <a:t>skip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4173" y="2181210"/>
            <a:ext cx="515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/>
              <a:t>read</a:t>
            </a:r>
            <a:endParaRPr lang="fr-FR" sz="1400"/>
          </a:p>
        </p:txBody>
      </p:sp>
      <p:sp>
        <p:nvSpPr>
          <p:cNvPr id="44" name="TextBox 43"/>
          <p:cNvSpPr txBox="1"/>
          <p:nvPr/>
        </p:nvSpPr>
        <p:spPr>
          <a:xfrm>
            <a:off x="7218382" y="4948724"/>
            <a:ext cx="2609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Much </a:t>
            </a:r>
            <a:r>
              <a:rPr lang="fr-FR"/>
              <a:t>faster</a:t>
            </a:r>
            <a:endParaRPr lang="fr-FR"/>
          </a:p>
          <a:p>
            <a:r>
              <a:rPr lang="fr-FR"/>
              <a:t>Fewer</a:t>
            </a:r>
            <a:r>
              <a:rPr lang="fr-FR"/>
              <a:t> data IO / </a:t>
            </a:r>
            <a:r>
              <a:rPr lang="fr-FR"/>
              <a:t>fewer</a:t>
            </a:r>
            <a:r>
              <a:rPr lang="fr-FR"/>
              <a:t> </a:t>
            </a:r>
            <a:r>
              <a:rPr lang="fr-FR"/>
              <a:t>ops</a:t>
            </a:r>
            <a:endParaRPr lang="fr-F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Optim</a:t>
            </a:r>
            <a:r>
              <a:rPr lang="fr-FR">
                <a:solidFill>
                  <a:sysClr val="windowText" lastClr="000000"/>
                </a:solidFill>
              </a:rPr>
              <a:t>: « </a:t>
            </a:r>
            <a:r>
              <a:rPr lang="fr-FR">
                <a:solidFill>
                  <a:sysClr val="windowText" lastClr="000000"/>
                </a:solidFill>
              </a:rPr>
              <a:t>Column</a:t>
            </a:r>
            <a:r>
              <a:rPr lang="fr-FR">
                <a:solidFill>
                  <a:sysClr val="windowText" lastClr="000000"/>
                </a:solidFill>
              </a:rPr>
              <a:t> </a:t>
            </a:r>
            <a:r>
              <a:rPr lang="fr-FR">
                <a:solidFill>
                  <a:sysClr val="windowText" lastClr="000000"/>
                </a:solidFill>
              </a:rPr>
              <a:t>Pruning</a:t>
            </a:r>
            <a:r>
              <a:rPr lang="fr-FR">
                <a:solidFill>
                  <a:sysClr val="windowText" lastClr="000000"/>
                </a:solidFill>
              </a:rPr>
              <a:t> »</a:t>
            </a:r>
          </a:p>
          <a:p>
            <a:pPr rtl="0"/>
            <a:r>
              <a:rPr lang="fr-FR" sz="2400">
                <a:solidFill>
                  <a:sysClr val="windowText" lastClr="000000"/>
                </a:solidFill>
              </a:rPr>
              <a:t>From</a:t>
            </a:r>
            <a:r>
              <a:rPr lang="fr-FR" sz="2400">
                <a:solidFill>
                  <a:sysClr val="windowText" lastClr="000000"/>
                </a:solidFill>
              </a:rPr>
              <a:t> SQL to Parquet IO .. Hadoop IO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alphaModFix amt="100000"/>
          </a:blip>
          <a:stretch>
            <a:fillRect/>
          </a:stretch>
        </p:blipFill>
        <p:spPr>
          <a:xfrm>
            <a:off x="4990547" y="3234599"/>
            <a:ext cx="1473985" cy="110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alphaModFix amt="100000"/>
          </a:blip>
          <a:stretch>
            <a:fillRect/>
          </a:stretch>
        </p:blipFill>
        <p:spPr>
          <a:xfrm>
            <a:off x="4678560" y="2419560"/>
            <a:ext cx="1628639" cy="845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alphaModFix amt="100000"/>
          </a:blip>
          <a:stretch>
            <a:fillRect/>
          </a:stretch>
        </p:blipFill>
        <p:spPr>
          <a:xfrm>
            <a:off x="7213320" y="2437200"/>
            <a:ext cx="746999" cy="67104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rme libre : forme 13"/>
          <p:cNvSpPr/>
          <p:nvPr/>
        </p:nvSpPr>
        <p:spPr>
          <a:xfrm>
            <a:off x="5074560" y="3325319"/>
            <a:ext cx="1211759" cy="90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7" name="Forme libre : forme 14"/>
          <p:cNvSpPr/>
          <p:nvPr/>
        </p:nvSpPr>
        <p:spPr>
          <a:xfrm>
            <a:off x="4308840" y="2396880"/>
            <a:ext cx="2495880" cy="913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8" name="Forme libre : forme 15"/>
          <p:cNvSpPr/>
          <p:nvPr/>
        </p:nvSpPr>
        <p:spPr>
          <a:xfrm>
            <a:off x="5373000" y="1474919"/>
            <a:ext cx="2286000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>
            <a:alphaModFix amt="100000"/>
          </a:blip>
          <a:stretch>
            <a:fillRect/>
          </a:stretch>
        </p:blipFill>
        <p:spPr>
          <a:xfrm>
            <a:off x="5830200" y="1549439"/>
            <a:ext cx="1371599" cy="78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Forme libre : forme 2"/>
          <p:cNvSpPr/>
          <p:nvPr/>
        </p:nvSpPr>
        <p:spPr>
          <a:xfrm>
            <a:off x="4072710" y="4225679"/>
            <a:ext cx="2937690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>
            <a:alphaModFix amt="100000"/>
          </a:blip>
          <a:stretch>
            <a:fillRect/>
          </a:stretch>
        </p:blipFill>
        <p:spPr>
          <a:xfrm>
            <a:off x="4446000" y="4339979"/>
            <a:ext cx="2286720" cy="68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1190959" y="1479533"/>
            <a:ext cx="2881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Select col2, </a:t>
            </a:r>
            <a:r>
              <a:rPr lang="fr-FR"/>
              <a:t>colP</a:t>
            </a:r>
            <a:r>
              <a:rPr lang="fr-FR"/>
              <a:t> </a:t>
            </a:r>
            <a:r>
              <a:rPr lang="fr-FR"/>
              <a:t>from</a:t>
            </a:r>
            <a:r>
              <a:rPr lang="fr-FR"/>
              <a:t> table…</a:t>
            </a:r>
          </a:p>
          <a:p>
            <a:r>
              <a:rPr lang="fr-FR"/>
              <a:t>( prune all </a:t>
            </a:r>
            <a:r>
              <a:rPr lang="fr-FR"/>
              <a:t>other</a:t>
            </a:r>
            <a:r>
              <a:rPr lang="fr-FR"/>
              <a:t> </a:t>
            </a:r>
            <a:r>
              <a:rPr lang="fr-FR"/>
              <a:t>columns</a:t>
            </a:r>
            <a:r>
              <a:rPr lang="fr-FR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8363" y="2636520"/>
            <a:ext cx="2953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DataSet</a:t>
            </a:r>
            <a:r>
              <a:rPr lang="fr-FR"/>
              <a:t> / RDD on Parquet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6463" y="3702844"/>
            <a:ext cx="2408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Parquet API </a:t>
            </a:r>
          </a:p>
          <a:p>
            <a:r>
              <a:rPr lang="fr-FR"/>
              <a:t>to </a:t>
            </a:r>
            <a:r>
              <a:rPr lang="fr-FR"/>
              <a:t>read</a:t>
            </a:r>
            <a:r>
              <a:rPr lang="fr-FR"/>
              <a:t> </a:t>
            </a:r>
            <a:r>
              <a:rPr lang="fr-FR"/>
              <a:t>columns</a:t>
            </a:r>
            <a:r>
              <a:rPr lang="fr-FR"/>
              <a:t> </a:t>
            </a:r>
            <a:r>
              <a:rPr lang="fr-FR"/>
              <a:t>chunks</a:t>
            </a:r>
            <a:endParaRPr lang="fr-FR"/>
          </a:p>
        </p:txBody>
      </p:sp>
      <p:sp>
        <p:nvSpPr>
          <p:cNvPr id="18" name="TextBox 17"/>
          <p:cNvSpPr txBox="1"/>
          <p:nvPr/>
        </p:nvSpPr>
        <p:spPr>
          <a:xfrm>
            <a:off x="1246463" y="4584502"/>
            <a:ext cx="1022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Fewer</a:t>
            </a:r>
            <a:r>
              <a:rPr lang="fr-FR"/>
              <a:t> IO</a:t>
            </a:r>
          </a:p>
        </p:txBody>
      </p:sp>
      <p:sp>
        <p:nvSpPr>
          <p:cNvPr id="19" name="Arrow: Curved Right 18"/>
          <p:cNvSpPr/>
          <p:nvPr/>
        </p:nvSpPr>
        <p:spPr>
          <a:xfrm>
            <a:off x="2728089" y="3166439"/>
            <a:ext cx="326497" cy="52440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0" name="Arrow: Curved Right 19"/>
          <p:cNvSpPr/>
          <p:nvPr/>
        </p:nvSpPr>
        <p:spPr>
          <a:xfrm>
            <a:off x="2720478" y="4419362"/>
            <a:ext cx="326497" cy="52440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Arrow: Curved Right 20"/>
          <p:cNvSpPr/>
          <p:nvPr/>
        </p:nvSpPr>
        <p:spPr>
          <a:xfrm>
            <a:off x="2711353" y="2092376"/>
            <a:ext cx="326497" cy="52440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2" name="Arrow: Down 21"/>
          <p:cNvSpPr/>
          <p:nvPr/>
        </p:nvSpPr>
        <p:spPr>
          <a:xfrm rot="16200000">
            <a:off x="4602068" y="2977797"/>
            <a:ext cx="232410" cy="13478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Arrow: Down 22"/>
          <p:cNvSpPr/>
          <p:nvPr/>
        </p:nvSpPr>
        <p:spPr>
          <a:xfrm rot="16200000">
            <a:off x="4823983" y="3232659"/>
            <a:ext cx="232410" cy="13504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Last but not Least </a:t>
            </a:r>
            <a:r>
              <a:rPr lang="fr-FR">
                <a:solidFill>
                  <a:sysClr val="windowText" lastClr="000000"/>
                </a:solidFill>
              </a:rPr>
              <a:t>Optim</a:t>
            </a:r>
            <a:endParaRPr lang="fr-FR">
              <a:solidFill>
                <a:sysClr val="windowText" lastClr="000000"/>
              </a:solidFill>
            </a:endParaRPr>
          </a:p>
          <a:p>
            <a:pPr rtl="0"/>
            <a:r>
              <a:rPr lang="fr-FR">
                <a:solidFill>
                  <a:sysClr val="windowText" lastClr="000000"/>
                </a:solidFill>
              </a:rPr>
              <a:t>Using</a:t>
            </a:r>
            <a:r>
              <a:rPr lang="fr-FR">
                <a:solidFill>
                  <a:sysClr val="windowText" lastClr="000000"/>
                </a:solidFill>
              </a:rPr>
              <a:t> page-</a:t>
            </a:r>
            <a:r>
              <a:rPr lang="fr-FR">
                <a:solidFill>
                  <a:sysClr val="windowText" lastClr="000000"/>
                </a:solidFill>
              </a:rPr>
              <a:t>column</a:t>
            </a:r>
            <a:r>
              <a:rPr lang="fr-FR">
                <a:solidFill>
                  <a:sysClr val="windowText" lastClr="000000"/>
                </a:solidFill>
              </a:rPr>
              <a:t> </a:t>
            </a:r>
            <a:r>
              <a:rPr lang="fr-FR">
                <a:solidFill>
                  <a:sysClr val="windowText" lastClr="000000"/>
                </a:solidFill>
              </a:rPr>
              <a:t>statistics</a:t>
            </a:r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3" name="Rectangle: Folded Corner 2"/>
          <p:cNvSpPr/>
          <p:nvPr/>
        </p:nvSpPr>
        <p:spPr>
          <a:xfrm>
            <a:off x="853440" y="5027007"/>
            <a:ext cx="3059430" cy="44196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: Folded Corner 3"/>
          <p:cNvSpPr/>
          <p:nvPr/>
        </p:nvSpPr>
        <p:spPr>
          <a:xfrm>
            <a:off x="853440" y="3920202"/>
            <a:ext cx="3059430" cy="105537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: Folded Corner 4"/>
          <p:cNvSpPr/>
          <p:nvPr/>
        </p:nvSpPr>
        <p:spPr>
          <a:xfrm>
            <a:off x="853440" y="2813397"/>
            <a:ext cx="3059430" cy="105537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Folded Corner 5"/>
          <p:cNvSpPr/>
          <p:nvPr/>
        </p:nvSpPr>
        <p:spPr>
          <a:xfrm>
            <a:off x="853440" y="1698972"/>
            <a:ext cx="3059430" cy="105537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2668952" y="5158908"/>
            <a:ext cx="130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[</a:t>
            </a:r>
            <a:r>
              <a:rPr lang="fr-FR"/>
              <a:t>footer</a:t>
            </a:r>
            <a:r>
              <a:rPr lang="fr-FR"/>
              <a:t> size]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285" y="4933007"/>
            <a:ext cx="2160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Footer</a:t>
            </a:r>
            <a:r>
              <a:rPr lang="fr-FR"/>
              <a:t>=</a:t>
            </a:r>
            <a:r>
              <a:rPr lang="fr-FR"/>
              <a:t>schema</a:t>
            </a:r>
            <a:r>
              <a:rPr lang="fr-FR"/>
              <a:t> + blocks 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282" y="1634946"/>
            <a:ext cx="3091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Block1=</a:t>
            </a:r>
          </a:p>
          <a:p>
            <a:r>
              <a:rPr lang="fr-FR"/>
              <a:t>List Row 0, 1, …c0</a:t>
            </a:r>
          </a:p>
          <a:p>
            <a:endParaRPr lang="fr-FR"/>
          </a:p>
          <a:p>
            <a:r>
              <a:rPr lang="fr-FR"/>
              <a:t>+ </a:t>
            </a:r>
            <a:r>
              <a:rPr lang="fr-FR"/>
              <a:t>Footer</a:t>
            </a:r>
            <a:r>
              <a:rPr lang="fr-FR"/>
              <a:t> </a:t>
            </a:r>
            <a:r>
              <a:rPr lang="fr-FR"/>
              <a:t>statistics</a:t>
            </a:r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809762" y="2774136"/>
            <a:ext cx="2946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Block2=</a:t>
            </a:r>
          </a:p>
          <a:p>
            <a:r>
              <a:rPr lang="fr-FR"/>
              <a:t>List Row  c0+1, c0+2, … c1</a:t>
            </a:r>
          </a:p>
          <a:p>
            <a:endParaRPr lang="fr-FR"/>
          </a:p>
          <a:p>
            <a:r>
              <a:rPr lang="fr-FR"/>
              <a:t>+ </a:t>
            </a:r>
            <a:r>
              <a:rPr lang="fr-FR"/>
              <a:t>Footer</a:t>
            </a:r>
            <a:r>
              <a:rPr lang="fr-FR"/>
              <a:t> </a:t>
            </a:r>
            <a:r>
              <a:rPr lang="fr-FR"/>
              <a:t>statistics</a:t>
            </a:r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787285" y="3833544"/>
            <a:ext cx="2843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Block3=</a:t>
            </a:r>
          </a:p>
          <a:p>
            <a:r>
              <a:rPr lang="fr-FR"/>
              <a:t>List Row c1, c1+1 … c2</a:t>
            </a:r>
          </a:p>
          <a:p>
            <a:endParaRPr lang="fr-FR"/>
          </a:p>
          <a:p>
            <a:r>
              <a:rPr lang="fr-FR"/>
              <a:t>+ </a:t>
            </a:r>
            <a:r>
              <a:rPr lang="fr-FR"/>
              <a:t>Footer</a:t>
            </a:r>
            <a:r>
              <a:rPr lang="fr-FR"/>
              <a:t> </a:t>
            </a:r>
            <a:r>
              <a:rPr lang="fr-FR"/>
              <a:t>statistics</a:t>
            </a:r>
            <a:endParaRPr lang="fr-FR"/>
          </a:p>
        </p:txBody>
      </p:sp>
      <p:sp>
        <p:nvSpPr>
          <p:cNvPr id="12" name="Speech Bubble: Oval 11"/>
          <p:cNvSpPr/>
          <p:nvPr/>
        </p:nvSpPr>
        <p:spPr>
          <a:xfrm>
            <a:off x="4293234" y="4180146"/>
            <a:ext cx="3292476" cy="1111944"/>
          </a:xfrm>
          <a:prstGeom prst="wedgeEllipseCallout">
            <a:avLst>
              <a:gd name="adj1" fmla="val -8242"/>
              <a:gd name="adj2" fmla="val -666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Read </a:t>
            </a:r>
            <a:r>
              <a:rPr lang="fr-FR"/>
              <a:t>column</a:t>
            </a:r>
            <a:r>
              <a:rPr lang="fr-FR"/>
              <a:t> </a:t>
            </a:r>
            <a:r>
              <a:rPr lang="fr-FR"/>
              <a:t>statistics</a:t>
            </a:r>
            <a:r>
              <a:rPr lang="fr-FR"/>
              <a:t> </a:t>
            </a:r>
            <a:r>
              <a:rPr lang="fr-FR"/>
              <a:t>before</a:t>
            </a:r>
            <a:r>
              <a:rPr lang="fr-FR"/>
              <a:t> </a:t>
            </a:r>
            <a:r>
              <a:rPr lang="fr-FR"/>
              <a:t>reading</a:t>
            </a:r>
            <a:r>
              <a:rPr lang="fr-FR"/>
              <a:t> data </a:t>
            </a:r>
          </a:p>
          <a:p>
            <a:pPr algn="ctr"/>
            <a:r>
              <a:rPr lang="fr-FR"/>
              <a:t>Maybe</a:t>
            </a:r>
            <a:r>
              <a:rPr lang="fr-FR"/>
              <a:t> Skip block..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3974718" y="2419350"/>
            <a:ext cx="1065594" cy="464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038600" y="3630930"/>
            <a:ext cx="1135380" cy="396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Folded Corner 19"/>
          <p:cNvSpPr/>
          <p:nvPr/>
        </p:nvSpPr>
        <p:spPr>
          <a:xfrm>
            <a:off x="5173980" y="2394135"/>
            <a:ext cx="1558290" cy="3602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Col1  </a:t>
            </a:r>
            <a:r>
              <a:rPr lang="fr-FR"/>
              <a:t>chunk</a:t>
            </a:r>
            <a:endParaRPr lang="fr-FR"/>
          </a:p>
        </p:txBody>
      </p:sp>
      <p:sp>
        <p:nvSpPr>
          <p:cNvPr id="22" name="Rectangle: Folded Corner 21"/>
          <p:cNvSpPr/>
          <p:nvPr/>
        </p:nvSpPr>
        <p:spPr>
          <a:xfrm>
            <a:off x="5173981" y="2994804"/>
            <a:ext cx="1558290" cy="94869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/>
              <a:t>Col1 </a:t>
            </a:r>
            <a:r>
              <a:rPr lang="fr-FR"/>
              <a:t>Statistics</a:t>
            </a:r>
            <a:r>
              <a:rPr lang="fr-FR"/>
              <a:t>:</a:t>
            </a:r>
          </a:p>
          <a:p>
            <a:r>
              <a:rPr lang="fr-FR" b="1"/>
              <a:t>min(col1)</a:t>
            </a:r>
            <a:r>
              <a:rPr lang="fr-FR"/>
              <a:t>=m</a:t>
            </a:r>
          </a:p>
          <a:p>
            <a:r>
              <a:rPr lang="fr-FR" b="1"/>
              <a:t>max(col1)=</a:t>
            </a:r>
            <a:r>
              <a:rPr lang="fr-FR"/>
              <a:t>M</a:t>
            </a:r>
          </a:p>
        </p:txBody>
      </p:sp>
      <p:sp>
        <p:nvSpPr>
          <p:cNvPr id="23" name="Rectangle: Folded Corner 22"/>
          <p:cNvSpPr/>
          <p:nvPr/>
        </p:nvSpPr>
        <p:spPr>
          <a:xfrm>
            <a:off x="6911340" y="2390325"/>
            <a:ext cx="1558290" cy="3602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Col2  </a:t>
            </a:r>
            <a:r>
              <a:rPr lang="fr-FR"/>
              <a:t>chunk</a:t>
            </a:r>
            <a:endParaRPr lang="fr-FR"/>
          </a:p>
        </p:txBody>
      </p:sp>
      <p:sp>
        <p:nvSpPr>
          <p:cNvPr id="24" name="Rectangle: Folded Corner 23"/>
          <p:cNvSpPr/>
          <p:nvPr/>
        </p:nvSpPr>
        <p:spPr>
          <a:xfrm>
            <a:off x="6911341" y="2990994"/>
            <a:ext cx="1558290" cy="94869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/>
              <a:t>Col2 </a:t>
            </a:r>
            <a:r>
              <a:rPr lang="fr-FR"/>
              <a:t>Statistics</a:t>
            </a:r>
            <a:r>
              <a:rPr lang="fr-FR"/>
              <a:t>:</a:t>
            </a:r>
          </a:p>
          <a:p>
            <a:r>
              <a:rPr lang="fr-FR" b="1"/>
              <a:t>min(col2)</a:t>
            </a:r>
            <a:r>
              <a:rPr lang="fr-FR"/>
              <a:t>=m</a:t>
            </a:r>
          </a:p>
          <a:p>
            <a:r>
              <a:rPr lang="fr-FR" b="1"/>
              <a:t>max(col2)=</a:t>
            </a:r>
            <a:r>
              <a:rPr lang="fr-FR"/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3930" y="292227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…</a:t>
            </a:r>
          </a:p>
        </p:txBody>
      </p:sp>
      <p:sp>
        <p:nvSpPr>
          <p:cNvPr id="26" name="Rectangle: Folded Corner 25"/>
          <p:cNvSpPr/>
          <p:nvPr/>
        </p:nvSpPr>
        <p:spPr>
          <a:xfrm>
            <a:off x="9136380" y="2390325"/>
            <a:ext cx="894886" cy="3602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ColP</a:t>
            </a:r>
            <a:endParaRPr lang="fr-F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Predicate</a:t>
            </a:r>
            <a:r>
              <a:rPr lang="fr-FR">
                <a:solidFill>
                  <a:sysClr val="windowText" lastClr="000000"/>
                </a:solidFill>
              </a:rPr>
              <a:t>… skip </a:t>
            </a:r>
            <a:r>
              <a:rPr lang="fr-FR">
                <a:solidFill>
                  <a:sysClr val="windowText" lastClr="000000"/>
                </a:solidFill>
              </a:rPr>
              <a:t>with</a:t>
            </a:r>
            <a:r>
              <a:rPr lang="fr-FR">
                <a:solidFill>
                  <a:sysClr val="windowText" lastClr="000000"/>
                </a:solidFill>
              </a:rPr>
              <a:t> </a:t>
            </a:r>
            <a:r>
              <a:rPr lang="fr-FR">
                <a:solidFill>
                  <a:sysClr val="windowText" lastClr="000000"/>
                </a:solidFill>
              </a:rPr>
              <a:t>statistics</a:t>
            </a:r>
            <a:endParaRPr lang="fr-FR">
              <a:solidFill>
                <a:sysClr val="windowText" lastClr="000000"/>
              </a:solidFill>
            </a:endParaRPr>
          </a:p>
          <a:p>
            <a:pPr rtl="0"/>
            <a:r>
              <a:rPr lang="fr-FR">
                <a:solidFill>
                  <a:sysClr val="windowText" lastClr="000000"/>
                </a:solidFill>
              </a:rPr>
              <a:t>(</a:t>
            </a:r>
            <a:r>
              <a:rPr lang="fr-FR">
                <a:solidFill>
                  <a:sysClr val="windowText" lastClr="000000"/>
                </a:solidFill>
              </a:rPr>
              <a:t>maybe</a:t>
            </a:r>
            <a:r>
              <a:rPr lang="fr-FR">
                <a:solidFill>
                  <a:sysClr val="windowText" lastClr="000000"/>
                </a:solidFill>
              </a:rPr>
              <a:t> False Positive)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8308" y="1603272"/>
            <a:ext cx="6501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/>
              <a:t>Example:  </a:t>
            </a:r>
          </a:p>
          <a:p>
            <a:r>
              <a:rPr lang="fr-FR" sz="2400"/>
              <a:t>SELECT col2, </a:t>
            </a:r>
            <a:r>
              <a:rPr lang="fr-FR" sz="2400"/>
              <a:t>colP</a:t>
            </a:r>
            <a:r>
              <a:rPr lang="fr-FR" sz="2400"/>
              <a:t> FROM … WHERE  </a:t>
            </a:r>
            <a:r>
              <a:rPr lang="fr-FR" sz="2400" b="1"/>
              <a:t>col3 = value3</a:t>
            </a:r>
          </a:p>
        </p:txBody>
      </p:sp>
      <p:sp>
        <p:nvSpPr>
          <p:cNvPr id="4" name="Rectangle: Folded Corner 3"/>
          <p:cNvSpPr/>
          <p:nvPr/>
        </p:nvSpPr>
        <p:spPr>
          <a:xfrm>
            <a:off x="1988821" y="3543444"/>
            <a:ext cx="1558290" cy="94869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/>
              <a:t>Col3 </a:t>
            </a:r>
            <a:r>
              <a:rPr lang="fr-FR"/>
              <a:t>Statistics</a:t>
            </a:r>
            <a:r>
              <a:rPr lang="fr-FR"/>
              <a:t>:</a:t>
            </a:r>
          </a:p>
          <a:p>
            <a:r>
              <a:rPr lang="fr-FR" b="1"/>
              <a:t>min(col3)</a:t>
            </a:r>
            <a:r>
              <a:rPr lang="fr-FR"/>
              <a:t>=m</a:t>
            </a:r>
          </a:p>
          <a:p>
            <a:r>
              <a:rPr lang="fr-FR" b="1"/>
              <a:t>max(col3)=</a:t>
            </a:r>
            <a:r>
              <a:rPr lang="fr-FR"/>
              <a:t>M</a:t>
            </a:r>
          </a:p>
        </p:txBody>
      </p:sp>
      <p:sp>
        <p:nvSpPr>
          <p:cNvPr id="5" name="Rectangle: Folded Corner 4"/>
          <p:cNvSpPr/>
          <p:nvPr/>
        </p:nvSpPr>
        <p:spPr>
          <a:xfrm>
            <a:off x="1988821" y="2973255"/>
            <a:ext cx="1558290" cy="3602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Col3  </a:t>
            </a:r>
            <a:r>
              <a:rPr lang="fr-FR"/>
              <a:t>chunk</a:t>
            </a:r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3939540" y="2922474"/>
            <a:ext cx="62476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If ( </a:t>
            </a:r>
            <a:r>
              <a:rPr lang="fr-FR" sz="2400" b="1"/>
              <a:t>(value3 &lt; m)  OR (value3 &gt; M)</a:t>
            </a:r>
            <a:r>
              <a:rPr lang="fr-FR" sz="2400"/>
              <a:t> )</a:t>
            </a:r>
          </a:p>
          <a:p>
            <a:r>
              <a:rPr lang="fr-FR" sz="2400"/>
              <a:t>   … AND check for </a:t>
            </a:r>
            <a:r>
              <a:rPr lang="fr-FR" sz="2400"/>
              <a:t>null</a:t>
            </a:r>
            <a:r>
              <a:rPr lang="fr-FR" sz="2400"/>
              <a:t> to </a:t>
            </a:r>
            <a:r>
              <a:rPr lang="fr-FR" sz="2400"/>
              <a:t>please</a:t>
            </a:r>
            <a:r>
              <a:rPr lang="fr-FR" sz="2400"/>
              <a:t> SQL </a:t>
            </a:r>
            <a:r>
              <a:rPr lang="fr-FR" sz="2400"/>
              <a:t>semantic</a:t>
            </a:r>
            <a:r>
              <a:rPr lang="fr-FR" sz="2400"/>
              <a:t> ?!</a:t>
            </a:r>
          </a:p>
          <a:p>
            <a:pPr marL="285750" indent="-285750">
              <a:buFont typeface="Symbol"/>
              <a:buChar char="Þ"/>
            </a:pPr>
            <a:r>
              <a:rPr lang="fr-FR" sz="2400"/>
              <a:t>Impossible to </a:t>
            </a:r>
            <a:r>
              <a:rPr lang="fr-FR" sz="2400"/>
              <a:t>find</a:t>
            </a:r>
            <a:r>
              <a:rPr lang="fr-FR" sz="2400"/>
              <a:t> </a:t>
            </a:r>
            <a:r>
              <a:rPr lang="fr-FR" sz="2400"/>
              <a:t>row</a:t>
            </a:r>
            <a:r>
              <a:rPr lang="fr-FR" sz="2400"/>
              <a:t> in </a:t>
            </a:r>
            <a:r>
              <a:rPr lang="fr-FR" sz="2400"/>
              <a:t>this</a:t>
            </a:r>
            <a:r>
              <a:rPr lang="fr-FR" sz="2400"/>
              <a:t> block</a:t>
            </a:r>
          </a:p>
          <a:p>
            <a:pPr marL="285750" indent="-285750">
              <a:buFont typeface="Symbol"/>
              <a:buChar char="Þ"/>
            </a:pPr>
            <a:r>
              <a:rPr lang="fr-FR" sz="2400"/>
              <a:t>Skip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770" y="3859530"/>
            <a:ext cx="12394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value3 ?</a:t>
            </a:r>
          </a:p>
          <a:p>
            <a:endParaRPr lang="fr-FR" b="1"/>
          </a:p>
          <a:p>
            <a:r>
              <a:rPr lang="fr-FR" b="1"/>
              <a:t>m &lt;= ? &lt; M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1605009" y="3806190"/>
            <a:ext cx="277131" cy="21160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605009" y="4156710"/>
            <a:ext cx="277131" cy="26289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578339" y="4088130"/>
            <a:ext cx="303801" cy="3429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3600">
                <a:solidFill>
                  <a:sysClr val="windowText" lastClr="000000"/>
                </a:solidFill>
              </a:rPr>
              <a:t>Column</a:t>
            </a:r>
            <a:r>
              <a:rPr lang="fr-FR" sz="3600">
                <a:solidFill>
                  <a:sysClr val="windowText" lastClr="000000"/>
                </a:solidFill>
              </a:rPr>
              <a:t> </a:t>
            </a:r>
            <a:r>
              <a:rPr lang="fr-FR" sz="3600">
                <a:solidFill>
                  <a:sysClr val="windowText" lastClr="000000"/>
                </a:solidFill>
              </a:rPr>
              <a:t>with</a:t>
            </a:r>
            <a:r>
              <a:rPr lang="fr-FR" sz="3600">
                <a:solidFill>
                  <a:sysClr val="windowText" lastClr="000000"/>
                </a:solidFill>
              </a:rPr>
              <a:t> </a:t>
            </a:r>
            <a:r>
              <a:rPr lang="fr-FR" sz="3600">
                <a:solidFill>
                  <a:sysClr val="windowText" lastClr="000000"/>
                </a:solidFill>
              </a:rPr>
              <a:t>small</a:t>
            </a:r>
            <a:r>
              <a:rPr lang="fr-FR" sz="3600">
                <a:solidFill>
                  <a:sysClr val="windowText" lastClr="000000"/>
                </a:solidFill>
              </a:rPr>
              <a:t> </a:t>
            </a:r>
            <a:r>
              <a:rPr lang="fr-FR" sz="3600">
                <a:solidFill>
                  <a:sysClr val="windowText" lastClr="000000"/>
                </a:solidFill>
              </a:rPr>
              <a:t>number</a:t>
            </a:r>
            <a:r>
              <a:rPr lang="fr-FR" sz="3600">
                <a:solidFill>
                  <a:sysClr val="windowText" lastClr="000000"/>
                </a:solidFill>
              </a:rPr>
              <a:t> of distinct values</a:t>
            </a:r>
          </a:p>
          <a:p>
            <a:pPr rtl="0"/>
            <a:r>
              <a:rPr lang="fr-FR" sz="3600">
                <a:solidFill>
                  <a:sysClr val="windowText" lastClr="000000"/>
                </a:solidFill>
              </a:rPr>
              <a:t>… </a:t>
            </a:r>
            <a:r>
              <a:rPr lang="fr-FR" sz="3600">
                <a:solidFill>
                  <a:sysClr val="windowText" lastClr="000000"/>
                </a:solidFill>
              </a:rPr>
              <a:t>Stored</a:t>
            </a:r>
            <a:r>
              <a:rPr lang="fr-FR" sz="3600">
                <a:solidFill>
                  <a:sysClr val="windowText" lastClr="000000"/>
                </a:solidFill>
              </a:rPr>
              <a:t> </a:t>
            </a:r>
            <a:r>
              <a:rPr lang="fr-FR" sz="3600">
                <a:solidFill>
                  <a:sysClr val="windowText" lastClr="000000"/>
                </a:solidFill>
              </a:rPr>
              <a:t>using</a:t>
            </a:r>
            <a:r>
              <a:rPr lang="fr-FR" sz="3600">
                <a:solidFill>
                  <a:sysClr val="windowText" lastClr="000000"/>
                </a:solidFill>
              </a:rPr>
              <a:t> </a:t>
            </a:r>
            <a:r>
              <a:rPr lang="fr-FR" sz="3600">
                <a:solidFill>
                  <a:sysClr val="windowText" lastClr="000000"/>
                </a:solidFill>
              </a:rPr>
              <a:t>Dictionary</a:t>
            </a:r>
            <a:r>
              <a:rPr lang="fr-FR" sz="3600">
                <a:solidFill>
                  <a:sysClr val="windowText" lastClr="000000"/>
                </a:solidFill>
              </a:rPr>
              <a:t> </a:t>
            </a:r>
            <a:r>
              <a:rPr lang="fr-FR" sz="3600">
                <a:solidFill>
                  <a:sysClr val="windowText" lastClr="000000"/>
                </a:solidFill>
              </a:rPr>
              <a:t>encoding</a:t>
            </a:r>
            <a:endParaRPr lang="fr-FR" sz="3600">
              <a:solidFill>
                <a:sysClr val="windowText" lastClr="000000"/>
              </a:solidFill>
            </a:endParaRPr>
          </a:p>
        </p:txBody>
      </p:sp>
      <p:sp>
        <p:nvSpPr>
          <p:cNvPr id="3" name="Rectangle: Folded Corner 2"/>
          <p:cNvSpPr/>
          <p:nvPr/>
        </p:nvSpPr>
        <p:spPr>
          <a:xfrm>
            <a:off x="853440" y="5027007"/>
            <a:ext cx="3059430" cy="44196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: Folded Corner 3"/>
          <p:cNvSpPr/>
          <p:nvPr/>
        </p:nvSpPr>
        <p:spPr>
          <a:xfrm>
            <a:off x="853440" y="3920202"/>
            <a:ext cx="3059430" cy="105537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: Folded Corner 4"/>
          <p:cNvSpPr/>
          <p:nvPr/>
        </p:nvSpPr>
        <p:spPr>
          <a:xfrm>
            <a:off x="853440" y="2813397"/>
            <a:ext cx="3059430" cy="105537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Folded Corner 5"/>
          <p:cNvSpPr/>
          <p:nvPr/>
        </p:nvSpPr>
        <p:spPr>
          <a:xfrm>
            <a:off x="853440" y="1698972"/>
            <a:ext cx="3059430" cy="105537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2668952" y="5158908"/>
            <a:ext cx="1305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[</a:t>
            </a:r>
            <a:r>
              <a:rPr lang="fr-FR"/>
              <a:t>footer</a:t>
            </a:r>
            <a:r>
              <a:rPr lang="fr-FR"/>
              <a:t> size]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282" y="1634946"/>
            <a:ext cx="3091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Block1=</a:t>
            </a:r>
          </a:p>
          <a:p>
            <a:r>
              <a:rPr lang="fr-FR"/>
              <a:t>List Row 0, 1, …c0</a:t>
            </a:r>
          </a:p>
          <a:p>
            <a:endParaRPr lang="fr-FR"/>
          </a:p>
          <a:p>
            <a:r>
              <a:rPr lang="fr-FR"/>
              <a:t>+ </a:t>
            </a:r>
            <a:r>
              <a:rPr lang="fr-FR"/>
              <a:t>Footer</a:t>
            </a:r>
            <a:r>
              <a:rPr lang="fr-FR"/>
              <a:t> </a:t>
            </a:r>
            <a:r>
              <a:rPr lang="fr-FR"/>
              <a:t>statistics</a:t>
            </a:r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809762" y="2774136"/>
            <a:ext cx="2946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Block2=</a:t>
            </a:r>
          </a:p>
          <a:p>
            <a:r>
              <a:rPr lang="fr-FR"/>
              <a:t>List Row  c0+1, c0+2, … c1</a:t>
            </a:r>
          </a:p>
          <a:p>
            <a:endParaRPr lang="fr-FR"/>
          </a:p>
          <a:p>
            <a:r>
              <a:rPr lang="fr-FR"/>
              <a:t>+ </a:t>
            </a:r>
            <a:r>
              <a:rPr lang="fr-FR"/>
              <a:t>Footer</a:t>
            </a:r>
            <a:r>
              <a:rPr lang="fr-FR"/>
              <a:t> </a:t>
            </a:r>
            <a:r>
              <a:rPr lang="fr-FR"/>
              <a:t>statistics</a:t>
            </a:r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787285" y="3833544"/>
            <a:ext cx="2843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Block3=</a:t>
            </a:r>
          </a:p>
          <a:p>
            <a:r>
              <a:rPr lang="fr-FR"/>
              <a:t>List Row c1, c1+1 … c2</a:t>
            </a:r>
          </a:p>
          <a:p>
            <a:endParaRPr lang="fr-FR"/>
          </a:p>
          <a:p>
            <a:r>
              <a:rPr lang="fr-FR"/>
              <a:t>+ </a:t>
            </a:r>
            <a:r>
              <a:rPr lang="fr-FR"/>
              <a:t>Footer</a:t>
            </a:r>
            <a:r>
              <a:rPr lang="fr-FR"/>
              <a:t> </a:t>
            </a:r>
            <a:r>
              <a:rPr lang="fr-FR"/>
              <a:t>statistics</a:t>
            </a:r>
            <a:endParaRPr lang="fr-FR"/>
          </a:p>
        </p:txBody>
      </p:sp>
      <p:sp>
        <p:nvSpPr>
          <p:cNvPr id="11" name="Speech Bubble: Oval 10"/>
          <p:cNvSpPr/>
          <p:nvPr/>
        </p:nvSpPr>
        <p:spPr>
          <a:xfrm>
            <a:off x="4606289" y="4447721"/>
            <a:ext cx="3554367" cy="1111944"/>
          </a:xfrm>
          <a:prstGeom prst="wedgeEllipseCallout">
            <a:avLst>
              <a:gd name="adj1" fmla="val -8242"/>
              <a:gd name="adj2" fmla="val -666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Spark </a:t>
            </a:r>
            <a:r>
              <a:rPr lang="fr-FR"/>
              <a:t>choose</a:t>
            </a:r>
            <a:r>
              <a:rPr lang="fr-FR"/>
              <a:t> encode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Dictionary</a:t>
            </a:r>
            <a:r>
              <a:rPr lang="fr-FR"/>
              <a:t> if </a:t>
            </a:r>
            <a:r>
              <a:rPr lang="fr-FR"/>
              <a:t>compressed</a:t>
            </a:r>
            <a:r>
              <a:rPr lang="fr-FR"/>
              <a:t> size &lt;= 2Mo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3974718" y="1264895"/>
            <a:ext cx="876682" cy="1619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038600" y="3630930"/>
            <a:ext cx="812800" cy="3435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Folded Corner 13"/>
          <p:cNvSpPr/>
          <p:nvPr/>
        </p:nvSpPr>
        <p:spPr>
          <a:xfrm>
            <a:off x="4985394" y="1179592"/>
            <a:ext cx="2446020" cy="1658431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: Folded Corner 14"/>
          <p:cNvSpPr/>
          <p:nvPr/>
        </p:nvSpPr>
        <p:spPr>
          <a:xfrm>
            <a:off x="4977130" y="2997714"/>
            <a:ext cx="2496819" cy="105537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18" name="TextBox 17"/>
          <p:cNvSpPr txBox="1"/>
          <p:nvPr/>
        </p:nvSpPr>
        <p:spPr>
          <a:xfrm>
            <a:off x="7795160" y="27949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607" y="1239828"/>
            <a:ext cx="1745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Col1 Page </a:t>
            </a:r>
            <a:r>
              <a:rPr lang="fr-FR"/>
              <a:t>Chunk</a:t>
            </a:r>
            <a:endParaRPr lang="fr-FR"/>
          </a:p>
        </p:txBody>
      </p:sp>
      <p:sp>
        <p:nvSpPr>
          <p:cNvPr id="21" name="TextBox 20"/>
          <p:cNvSpPr txBox="1"/>
          <p:nvPr/>
        </p:nvSpPr>
        <p:spPr>
          <a:xfrm>
            <a:off x="4977130" y="2987509"/>
            <a:ext cx="252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Col1 </a:t>
            </a:r>
            <a:r>
              <a:rPr lang="fr-FR"/>
              <a:t>Dictionary</a:t>
            </a:r>
            <a:r>
              <a:rPr lang="fr-FR"/>
              <a:t>: N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5394" y="3466609"/>
            <a:ext cx="2404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/>
              <a:t>‘dic0’, ‘dic1’, ‘dic2’, ‘dic3, … </a:t>
            </a:r>
          </a:p>
        </p:txBody>
      </p:sp>
      <p:sp>
        <p:nvSpPr>
          <p:cNvPr id="27" name="Arrow: Up-Down 26"/>
          <p:cNvSpPr/>
          <p:nvPr/>
        </p:nvSpPr>
        <p:spPr>
          <a:xfrm>
            <a:off x="7722145" y="1526910"/>
            <a:ext cx="150948" cy="115751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Arrow: Up-Down 27"/>
          <p:cNvSpPr/>
          <p:nvPr/>
        </p:nvSpPr>
        <p:spPr>
          <a:xfrm>
            <a:off x="7722145" y="3343992"/>
            <a:ext cx="150948" cy="60597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28"/>
          <p:cNvSpPr txBox="1"/>
          <p:nvPr/>
        </p:nvSpPr>
        <p:spPr>
          <a:xfrm>
            <a:off x="7963806" y="1586777"/>
            <a:ext cx="21692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Example: </a:t>
            </a:r>
          </a:p>
          <a:p>
            <a:r>
              <a:rPr lang="fr-FR"/>
              <a:t>~100 000 </a:t>
            </a:r>
            <a:r>
              <a:rPr lang="fr-FR"/>
              <a:t>rows</a:t>
            </a:r>
            <a:endParaRPr lang="fr-FR"/>
          </a:p>
          <a:p>
            <a:r>
              <a:rPr lang="fr-FR"/>
              <a:t>(… to fit in 128Mo</a:t>
            </a:r>
          </a:p>
          <a:p>
            <a:r>
              <a:rPr lang="fr-FR"/>
              <a:t> = parquet block size)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5492" y="3387782"/>
            <a:ext cx="1919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Example: </a:t>
            </a:r>
          </a:p>
          <a:p>
            <a:r>
              <a:rPr lang="fr-FR"/>
              <a:t>~10 distinct values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77130" y="1619365"/>
            <a:ext cx="1514902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/>
              <a:t>row</a:t>
            </a:r>
            <a:r>
              <a:rPr lang="fr-FR" sz="1400"/>
              <a:t>[0].col1=</a:t>
            </a:r>
            <a:r>
              <a:rPr lang="fr-FR" sz="1400"/>
              <a:t>dic</a:t>
            </a:r>
            <a:r>
              <a:rPr lang="fr-FR" sz="1400"/>
              <a:t>[3]</a:t>
            </a:r>
            <a:br>
              <a:rPr lang="fr-FR" sz="1400"/>
            </a:br>
            <a:r>
              <a:rPr lang="fr-FR" sz="1400"/>
              <a:t>row</a:t>
            </a:r>
            <a:r>
              <a:rPr lang="fr-FR" sz="1400"/>
              <a:t>[0].col1=</a:t>
            </a:r>
            <a:r>
              <a:rPr lang="fr-FR" sz="1400"/>
              <a:t>dic</a:t>
            </a:r>
            <a:r>
              <a:rPr lang="fr-FR" sz="1400"/>
              <a:t>[0]</a:t>
            </a:r>
          </a:p>
          <a:p>
            <a:r>
              <a:rPr lang="fr-FR" sz="1400"/>
              <a:t>row</a:t>
            </a:r>
            <a:r>
              <a:rPr lang="fr-FR" sz="1400"/>
              <a:t>[0].col1=</a:t>
            </a:r>
            <a:r>
              <a:rPr lang="fr-FR" sz="1400"/>
              <a:t>dic</a:t>
            </a:r>
            <a:r>
              <a:rPr lang="fr-FR" sz="1400"/>
              <a:t>[2]</a:t>
            </a:r>
          </a:p>
          <a:p>
            <a:r>
              <a:rPr lang="fr-FR" sz="1400"/>
              <a:t>row</a:t>
            </a:r>
            <a:r>
              <a:rPr lang="fr-FR" sz="1400"/>
              <a:t>[0].col1=</a:t>
            </a:r>
            <a:r>
              <a:rPr lang="fr-FR" sz="1400"/>
              <a:t>dic</a:t>
            </a:r>
            <a:r>
              <a:rPr lang="fr-FR" sz="1400"/>
              <a:t>[3]</a:t>
            </a:r>
            <a:br>
              <a:rPr lang="fr-FR" sz="1400"/>
            </a:br>
            <a:r>
              <a:rPr lang="fr-FR" sz="1400"/>
              <a:t>row</a:t>
            </a:r>
            <a:r>
              <a:rPr lang="fr-FR" sz="1400"/>
              <a:t>[0].col1=</a:t>
            </a:r>
            <a:r>
              <a:rPr lang="fr-FR" sz="1400"/>
              <a:t>dic</a:t>
            </a:r>
            <a:r>
              <a:rPr lang="fr-FR" sz="1400"/>
              <a:t>[6]</a:t>
            </a:r>
          </a:p>
          <a:p>
            <a:endParaRPr lang="fr-FR" sz="1400"/>
          </a:p>
          <a:p>
            <a:endParaRPr lang="fr-FR" sz="140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6382863" y="2203941"/>
            <a:ext cx="87263" cy="132631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5344886" y="1984923"/>
            <a:ext cx="1141281" cy="1519426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6478390" y="1768894"/>
            <a:ext cx="407926" cy="1766794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6517890" y="2385894"/>
            <a:ext cx="315982" cy="113950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6509626" y="2647978"/>
            <a:ext cx="766519" cy="839593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3600">
                <a:solidFill>
                  <a:sysClr val="windowText" lastClr="000000"/>
                </a:solidFill>
              </a:rPr>
              <a:t>Predicate</a:t>
            </a:r>
            <a:r>
              <a:rPr lang="fr-FR" sz="3600">
                <a:solidFill>
                  <a:sysClr val="windowText" lastClr="000000"/>
                </a:solidFill>
              </a:rPr>
              <a:t> Push-Down for « col=‘value’ » </a:t>
            </a:r>
          </a:p>
          <a:p>
            <a:pPr rtl="0"/>
            <a:r>
              <a:rPr lang="fr-FR" sz="3600">
                <a:solidFill>
                  <a:sysClr val="windowText" lastClr="000000"/>
                </a:solidFill>
              </a:rPr>
              <a:t>or « col in [‘value1’, .. ‘</a:t>
            </a:r>
            <a:r>
              <a:rPr lang="fr-FR" sz="3600">
                <a:solidFill>
                  <a:sysClr val="windowText" lastClr="000000"/>
                </a:solidFill>
              </a:rPr>
              <a:t>valueN</a:t>
            </a:r>
            <a:r>
              <a:rPr lang="fr-FR" sz="3600">
                <a:solidFill>
                  <a:sysClr val="windowText" lastClr="000000"/>
                </a:solidFill>
              </a:rPr>
              <a:t>’] 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7421" y="1831872"/>
            <a:ext cx="8168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/>
              <a:t>Example:  </a:t>
            </a:r>
          </a:p>
          <a:p>
            <a:r>
              <a:rPr lang="fr-FR" sz="2400"/>
              <a:t>SELECT col2, </a:t>
            </a:r>
            <a:r>
              <a:rPr lang="fr-FR" sz="2400"/>
              <a:t>colP</a:t>
            </a:r>
            <a:r>
              <a:rPr lang="fr-FR" sz="2400"/>
              <a:t> FROM … </a:t>
            </a:r>
            <a:br>
              <a:rPr lang="fr-FR" sz="2400"/>
            </a:br>
            <a:r>
              <a:rPr lang="fr-FR" sz="2400"/>
              <a:t>WHERE  </a:t>
            </a:r>
            <a:r>
              <a:rPr lang="fr-FR" sz="2400" b="1"/>
              <a:t>col3 = ‘value3’ </a:t>
            </a:r>
            <a:r>
              <a:rPr lang="fr-FR" sz="2400"/>
              <a:t>and</a:t>
            </a:r>
            <a:r>
              <a:rPr lang="fr-FR" sz="2400" b="1"/>
              <a:t> col4 in [ ‘value1’, ‘value2’, value3’ ]</a:t>
            </a:r>
          </a:p>
        </p:txBody>
      </p:sp>
      <p:sp>
        <p:nvSpPr>
          <p:cNvPr id="6" name="Arrow: Down 5"/>
          <p:cNvSpPr/>
          <p:nvPr/>
        </p:nvSpPr>
        <p:spPr>
          <a:xfrm>
            <a:off x="1814285" y="3090258"/>
            <a:ext cx="228600" cy="6217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/>
          <p:cNvSpPr txBox="1"/>
          <p:nvPr/>
        </p:nvSpPr>
        <p:spPr>
          <a:xfrm>
            <a:off x="888999" y="3770085"/>
            <a:ext cx="33916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For </a:t>
            </a:r>
            <a:r>
              <a:rPr lang="fr-FR"/>
              <a:t>each</a:t>
            </a:r>
            <a:r>
              <a:rPr lang="fr-FR"/>
              <a:t> page </a:t>
            </a:r>
            <a:r>
              <a:rPr lang="fr-FR"/>
              <a:t>chunk</a:t>
            </a:r>
            <a:r>
              <a:rPr lang="fr-FR"/>
              <a:t> of col3</a:t>
            </a:r>
          </a:p>
          <a:p>
            <a:r>
              <a:rPr lang="fr-FR"/>
              <a:t>If </a:t>
            </a:r>
            <a:r>
              <a:rPr lang="fr-FR"/>
              <a:t>encoded</a:t>
            </a:r>
            <a:r>
              <a:rPr lang="fr-FR"/>
              <a:t> as </a:t>
            </a:r>
            <a:r>
              <a:rPr lang="fr-FR"/>
              <a:t>Dictionary</a:t>
            </a:r>
            <a:r>
              <a:rPr lang="fr-FR"/>
              <a:t>  </a:t>
            </a:r>
          </a:p>
          <a:p>
            <a:r>
              <a:rPr lang="fr-FR"/>
              <a:t>    =&gt; </a:t>
            </a:r>
            <a:r>
              <a:rPr lang="fr-FR"/>
              <a:t>read</a:t>
            </a:r>
            <a:r>
              <a:rPr lang="fr-FR"/>
              <a:t> </a:t>
            </a:r>
            <a:r>
              <a:rPr lang="fr-FR"/>
              <a:t>dictionary</a:t>
            </a:r>
            <a:br>
              <a:rPr lang="fr-FR"/>
            </a:br>
            <a:r>
              <a:rPr lang="fr-FR"/>
              <a:t>    </a:t>
            </a:r>
            <a:r>
              <a:rPr lang="fr-FR"/>
              <a:t>then</a:t>
            </a:r>
            <a:r>
              <a:rPr lang="fr-FR"/>
              <a:t> if ‘value3’ not in </a:t>
            </a:r>
            <a:r>
              <a:rPr lang="fr-FR"/>
              <a:t>dictionary</a:t>
            </a:r>
            <a:endParaRPr lang="fr-FR"/>
          </a:p>
          <a:p>
            <a:r>
              <a:rPr lang="fr-FR"/>
              <a:t>               =&gt; SKIP Row Group !!!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Bloom </a:t>
            </a:r>
            <a:r>
              <a:rPr lang="fr-FR">
                <a:solidFill>
                  <a:sysClr val="windowText" lastClr="000000"/>
                </a:solidFill>
              </a:rPr>
              <a:t>Filter</a:t>
            </a:r>
            <a:r>
              <a:rPr lang="fr-FR">
                <a:solidFill>
                  <a:sysClr val="windowText" lastClr="000000"/>
                </a:solidFill>
              </a:rPr>
              <a:t>: </a:t>
            </a:r>
            <a:r>
              <a:rPr lang="fr-FR">
                <a:solidFill>
                  <a:sysClr val="windowText" lastClr="000000"/>
                </a:solidFill>
              </a:rPr>
              <a:t>mask</a:t>
            </a:r>
            <a:r>
              <a:rPr lang="fr-FR">
                <a:solidFill>
                  <a:sysClr val="windowText" lastClr="000000"/>
                </a:solidFill>
              </a:rPr>
              <a:t>=Union(hash(..))</a:t>
            </a:r>
          </a:p>
        </p:txBody>
      </p:sp>
      <p:sp>
        <p:nvSpPr>
          <p:cNvPr id="4" name="Rectangle: Folded Corner 3"/>
          <p:cNvSpPr/>
          <p:nvPr/>
        </p:nvSpPr>
        <p:spPr>
          <a:xfrm>
            <a:off x="2112110" y="2481149"/>
            <a:ext cx="1748789" cy="94869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/>
              <a:t>Col </a:t>
            </a:r>
            <a:r>
              <a:rPr lang="fr-FR"/>
              <a:t>Statistics</a:t>
            </a:r>
            <a:r>
              <a:rPr lang="fr-FR"/>
              <a:t>:</a:t>
            </a:r>
          </a:p>
          <a:p>
            <a:r>
              <a:rPr lang="fr-FR" b="1"/>
              <a:t>min(col)</a:t>
            </a:r>
            <a:r>
              <a:rPr lang="fr-FR"/>
              <a:t>=m</a:t>
            </a:r>
          </a:p>
          <a:p>
            <a:r>
              <a:rPr lang="fr-FR" b="1"/>
              <a:t>max(col)=</a:t>
            </a:r>
            <a:r>
              <a:rPr lang="fr-FR"/>
              <a:t>M</a:t>
            </a:r>
          </a:p>
        </p:txBody>
      </p:sp>
      <p:sp>
        <p:nvSpPr>
          <p:cNvPr id="5" name="Rectangle: Folded Corner 4"/>
          <p:cNvSpPr/>
          <p:nvPr/>
        </p:nvSpPr>
        <p:spPr>
          <a:xfrm>
            <a:off x="2112111" y="1910960"/>
            <a:ext cx="1558290" cy="36020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Col  </a:t>
            </a:r>
            <a:r>
              <a:rPr lang="fr-FR"/>
              <a:t>chunk</a:t>
            </a:r>
            <a:endParaRPr lang="fr-FR"/>
          </a:p>
        </p:txBody>
      </p:sp>
      <p:sp>
        <p:nvSpPr>
          <p:cNvPr id="6" name="TextBox 5"/>
          <p:cNvSpPr txBox="1"/>
          <p:nvPr/>
        </p:nvSpPr>
        <p:spPr>
          <a:xfrm>
            <a:off x="4066640" y="1490847"/>
            <a:ext cx="624767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Bitmask</a:t>
            </a:r>
            <a:r>
              <a:rPr lang="fr-FR" sz="2400"/>
              <a:t> h = hash(value)</a:t>
            </a:r>
          </a:p>
          <a:p>
            <a:r>
              <a:rPr lang="fr-FR" sz="2400"/>
              <a:t>If ( </a:t>
            </a:r>
            <a:r>
              <a:rPr lang="fr-FR" sz="2400" b="1"/>
              <a:t>(h &amp; bloom) == h </a:t>
            </a:r>
            <a:r>
              <a:rPr lang="fr-FR" sz="2400"/>
              <a:t>)</a:t>
            </a:r>
          </a:p>
          <a:p>
            <a:r>
              <a:rPr lang="fr-FR" sz="2400"/>
              <a:t>   … AND check for </a:t>
            </a:r>
            <a:r>
              <a:rPr lang="fr-FR" sz="2400"/>
              <a:t>null</a:t>
            </a:r>
            <a:r>
              <a:rPr lang="fr-FR" sz="2400"/>
              <a:t> to </a:t>
            </a:r>
            <a:r>
              <a:rPr lang="fr-FR" sz="2400"/>
              <a:t>please</a:t>
            </a:r>
            <a:r>
              <a:rPr lang="fr-FR" sz="2400"/>
              <a:t> SQL </a:t>
            </a:r>
            <a:r>
              <a:rPr lang="fr-FR" sz="2400"/>
              <a:t>semantic</a:t>
            </a:r>
            <a:r>
              <a:rPr lang="fr-FR" sz="2400"/>
              <a:t> ?!</a:t>
            </a:r>
          </a:p>
          <a:p>
            <a:pPr marL="285750" indent="-285750">
              <a:buFont typeface="Symbol"/>
              <a:buChar char="Þ"/>
            </a:pPr>
            <a:r>
              <a:rPr lang="fr-FR" sz="2400"/>
              <a:t>Impossible to </a:t>
            </a:r>
            <a:r>
              <a:rPr lang="fr-FR" sz="2400"/>
              <a:t>find</a:t>
            </a:r>
            <a:r>
              <a:rPr lang="fr-FR" sz="2400"/>
              <a:t> </a:t>
            </a:r>
            <a:r>
              <a:rPr lang="fr-FR" sz="2400"/>
              <a:t>row</a:t>
            </a:r>
            <a:r>
              <a:rPr lang="fr-FR" sz="2400"/>
              <a:t> in </a:t>
            </a:r>
            <a:r>
              <a:rPr lang="fr-FR" sz="2400"/>
              <a:t>this</a:t>
            </a:r>
            <a:r>
              <a:rPr lang="fr-FR" sz="2400"/>
              <a:t> block</a:t>
            </a:r>
          </a:p>
          <a:p>
            <a:pPr marL="285750" indent="-285750">
              <a:buFont typeface="Symbol"/>
              <a:buChar char="Þ"/>
            </a:pPr>
            <a:r>
              <a:rPr lang="fr-FR" sz="2400"/>
              <a:t>Skip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598" y="2682769"/>
            <a:ext cx="69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value</a:t>
            </a:r>
          </a:p>
        </p:txBody>
      </p:sp>
      <p:sp>
        <p:nvSpPr>
          <p:cNvPr id="11" name="Rectangle: Folded Corner 10"/>
          <p:cNvSpPr/>
          <p:nvPr/>
        </p:nvSpPr>
        <p:spPr>
          <a:xfrm>
            <a:off x="2112110" y="3475559"/>
            <a:ext cx="2110739" cy="94869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/>
              <a:t>Col Bloom </a:t>
            </a:r>
            <a:r>
              <a:rPr lang="fr-FR" sz="1600"/>
              <a:t>masks</a:t>
            </a:r>
            <a:r>
              <a:rPr lang="fr-FR" sz="1600"/>
              <a:t>{1..k}</a:t>
            </a:r>
          </a:p>
          <a:p>
            <a:r>
              <a:rPr lang="fr-FR" b="1"/>
              <a:t>01001101011010101000111010</a:t>
            </a:r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214310" y="3342995"/>
            <a:ext cx="182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/>
              <a:t>Hash{1..k}(value)</a:t>
            </a:r>
          </a:p>
        </p:txBody>
      </p:sp>
      <p:sp>
        <p:nvSpPr>
          <p:cNvPr id="8" name="Arrow: Down 7"/>
          <p:cNvSpPr/>
          <p:nvPr/>
        </p:nvSpPr>
        <p:spPr>
          <a:xfrm>
            <a:off x="847190" y="3014405"/>
            <a:ext cx="243840" cy="2628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266165" y="3654485"/>
            <a:ext cx="1405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00001000010100001010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0135" y="370851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in?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611095" y="4046915"/>
            <a:ext cx="379095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2268" y="3654484"/>
            <a:ext cx="3417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>
                <a:solidFill>
                  <a:srgbClr val="000000"/>
                </a:solidFill>
                <a:latin typeface="Palatino"/>
              </a:rPr>
              <a:t>k</a:t>
            </a:r>
            <a:r>
              <a:rPr lang="en-US" b="0" i="0">
                <a:solidFill>
                  <a:srgbClr val="000000"/>
                </a:solidFill>
                <a:latin typeface="Palatino"/>
              </a:rPr>
              <a:t> hashes, </a:t>
            </a:r>
            <a:r>
              <a:rPr lang="en-US" b="0" i="1">
                <a:solidFill>
                  <a:srgbClr val="000000"/>
                </a:solidFill>
                <a:latin typeface="Palatino"/>
              </a:rPr>
              <a:t>m</a:t>
            </a:r>
            <a:r>
              <a:rPr lang="en-US" b="0" i="0">
                <a:solidFill>
                  <a:srgbClr val="000000"/>
                </a:solidFill>
                <a:latin typeface="Palatino"/>
              </a:rPr>
              <a:t> bits, </a:t>
            </a:r>
            <a:r>
              <a:rPr lang="en-US" b="0" i="1">
                <a:solidFill>
                  <a:srgbClr val="000000"/>
                </a:solidFill>
                <a:latin typeface="Palatino"/>
              </a:rPr>
              <a:t>n</a:t>
            </a:r>
            <a:r>
              <a:rPr lang="en-US" b="0" i="0">
                <a:solidFill>
                  <a:srgbClr val="000000"/>
                </a:solidFill>
                <a:latin typeface="Palatino"/>
              </a:rPr>
              <a:t> elements</a:t>
            </a:r>
          </a:p>
          <a:p>
            <a:r>
              <a:rPr lang="en-US">
                <a:solidFill>
                  <a:srgbClr val="000000"/>
                </a:solidFill>
                <a:latin typeface="Palatino"/>
              </a:rPr>
              <a:t>=&gt; False positive rate ~ </a:t>
            </a:r>
            <a:r>
              <a:rPr lang="fr-FR" b="0" i="1">
                <a:solidFill>
                  <a:srgbClr val="000000"/>
                </a:solidFill>
                <a:latin typeface="Palatino"/>
              </a:rPr>
              <a:t>(1-e</a:t>
            </a:r>
            <a:r>
              <a:rPr lang="fr-FR" b="0" i="1" baseline="30000">
                <a:solidFill>
                  <a:srgbClr val="000000"/>
                </a:solidFill>
                <a:latin typeface="Palatino"/>
              </a:rPr>
              <a:t>-kn/m</a:t>
            </a:r>
            <a:r>
              <a:rPr lang="fr-FR" b="0" i="1">
                <a:solidFill>
                  <a:srgbClr val="000000"/>
                </a:solidFill>
                <a:latin typeface="Palatino"/>
              </a:rPr>
              <a:t>)</a:t>
            </a:r>
            <a:r>
              <a:rPr lang="fr-FR" b="0" i="1" baseline="30000">
                <a:solidFill>
                  <a:srgbClr val="000000"/>
                </a:solidFill>
                <a:latin typeface="Palatino"/>
              </a:rPr>
              <a:t>k</a:t>
            </a:r>
            <a:endParaRPr lang="fr-F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« PPD » : </a:t>
            </a:r>
            <a:r>
              <a:rPr lang="fr-FR">
                <a:solidFill>
                  <a:sysClr val="windowText" lastClr="000000"/>
                </a:solidFill>
              </a:rPr>
              <a:t>Predicate</a:t>
            </a:r>
            <a:r>
              <a:rPr lang="fr-FR">
                <a:solidFill>
                  <a:sysClr val="windowText" lastClr="000000"/>
                </a:solidFill>
              </a:rPr>
              <a:t>-Push-Down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100000"/>
          </a:blip>
          <a:stretch>
            <a:fillRect/>
          </a:stretch>
        </p:blipFill>
        <p:spPr>
          <a:xfrm>
            <a:off x="4990547" y="3234599"/>
            <a:ext cx="1473985" cy="110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alphaModFix amt="100000"/>
          </a:blip>
          <a:stretch>
            <a:fillRect/>
          </a:stretch>
        </p:blipFill>
        <p:spPr>
          <a:xfrm>
            <a:off x="4758435" y="2419560"/>
            <a:ext cx="1548764" cy="804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alphaModFix amt="100000"/>
          </a:blip>
          <a:stretch>
            <a:fillRect/>
          </a:stretch>
        </p:blipFill>
        <p:spPr>
          <a:xfrm>
            <a:off x="7213320" y="2437200"/>
            <a:ext cx="746999" cy="6710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rme libre : forme 13"/>
          <p:cNvSpPr/>
          <p:nvPr/>
        </p:nvSpPr>
        <p:spPr>
          <a:xfrm>
            <a:off x="5074560" y="3325319"/>
            <a:ext cx="1211759" cy="90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9" name="Forme libre : forme 14"/>
          <p:cNvSpPr/>
          <p:nvPr/>
        </p:nvSpPr>
        <p:spPr>
          <a:xfrm>
            <a:off x="4308840" y="2396880"/>
            <a:ext cx="2495880" cy="913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10" name="Forme libre : forme 15"/>
          <p:cNvSpPr/>
          <p:nvPr/>
        </p:nvSpPr>
        <p:spPr>
          <a:xfrm>
            <a:off x="5373000" y="1474919"/>
            <a:ext cx="2286000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>
            <a:alphaModFix amt="100000"/>
          </a:blip>
          <a:stretch>
            <a:fillRect/>
          </a:stretch>
        </p:blipFill>
        <p:spPr>
          <a:xfrm>
            <a:off x="5830200" y="1549439"/>
            <a:ext cx="1371599" cy="78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Forme libre : forme 2"/>
          <p:cNvSpPr/>
          <p:nvPr/>
        </p:nvSpPr>
        <p:spPr>
          <a:xfrm>
            <a:off x="4072710" y="4225679"/>
            <a:ext cx="2937690" cy="91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60" tIns="63360" rIns="108360" bIns="6336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>
            <a:alphaModFix amt="100000"/>
          </a:blip>
          <a:stretch>
            <a:fillRect/>
          </a:stretch>
        </p:blipFill>
        <p:spPr>
          <a:xfrm>
            <a:off x="4446000" y="4339979"/>
            <a:ext cx="2286720" cy="68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1190959" y="1479533"/>
            <a:ext cx="345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Select .. </a:t>
            </a:r>
            <a:r>
              <a:rPr lang="fr-FR"/>
              <a:t>from</a:t>
            </a:r>
            <a:r>
              <a:rPr lang="fr-FR"/>
              <a:t> … </a:t>
            </a:r>
            <a:r>
              <a:rPr lang="fr-FR"/>
              <a:t>where</a:t>
            </a:r>
            <a:r>
              <a:rPr lang="fr-FR"/>
              <a:t> col3=value3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373" y="2554156"/>
            <a:ext cx="346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DataSet</a:t>
            </a:r>
            <a:r>
              <a:rPr lang="fr-FR"/>
              <a:t> / RDD on Parquet file</a:t>
            </a:r>
          </a:p>
          <a:p>
            <a:r>
              <a:rPr lang="fr-FR"/>
              <a:t>WITH PREDICATE « </a:t>
            </a:r>
            <a:r>
              <a:rPr lang="fr-FR" b="1"/>
              <a:t>pushed</a:t>
            </a:r>
            <a:r>
              <a:rPr lang="fr-FR" b="1"/>
              <a:t>-down</a:t>
            </a:r>
            <a:r>
              <a:rPr lang="fr-FR"/>
              <a:t> 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310" y="3596552"/>
            <a:ext cx="3275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Parquet API </a:t>
            </a:r>
          </a:p>
          <a:p>
            <a:r>
              <a:rPr lang="fr-FR"/>
              <a:t>to </a:t>
            </a:r>
            <a:r>
              <a:rPr lang="fr-FR"/>
              <a:t>read</a:t>
            </a:r>
            <a:r>
              <a:rPr lang="fr-FR"/>
              <a:t> </a:t>
            </a:r>
            <a:r>
              <a:rPr lang="fr-FR"/>
              <a:t>columns</a:t>
            </a:r>
            <a:r>
              <a:rPr lang="fr-FR"/>
              <a:t> </a:t>
            </a:r>
            <a:r>
              <a:rPr lang="fr-FR"/>
              <a:t>statistics+bloom</a:t>
            </a:r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1246463" y="4584502"/>
            <a:ext cx="1022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Fewer</a:t>
            </a:r>
            <a:r>
              <a:rPr lang="fr-FR"/>
              <a:t> IO</a:t>
            </a:r>
          </a:p>
        </p:txBody>
      </p:sp>
      <p:sp>
        <p:nvSpPr>
          <p:cNvPr id="18" name="Arrow: Curved Right 17"/>
          <p:cNvSpPr/>
          <p:nvPr/>
        </p:nvSpPr>
        <p:spPr>
          <a:xfrm>
            <a:off x="2728089" y="3166439"/>
            <a:ext cx="326497" cy="52440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9" name="Arrow: Curved Right 18"/>
          <p:cNvSpPr/>
          <p:nvPr/>
        </p:nvSpPr>
        <p:spPr>
          <a:xfrm>
            <a:off x="2720478" y="4419362"/>
            <a:ext cx="326497" cy="52440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0" name="Arrow: Curved Right 19"/>
          <p:cNvSpPr/>
          <p:nvPr/>
        </p:nvSpPr>
        <p:spPr>
          <a:xfrm>
            <a:off x="2711353" y="2092376"/>
            <a:ext cx="326497" cy="52440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Arrow: Down 20"/>
          <p:cNvSpPr/>
          <p:nvPr/>
        </p:nvSpPr>
        <p:spPr>
          <a:xfrm rot="16200000">
            <a:off x="4602068" y="2977797"/>
            <a:ext cx="232410" cy="13478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Arrow: Down 21"/>
          <p:cNvSpPr/>
          <p:nvPr/>
        </p:nvSpPr>
        <p:spPr>
          <a:xfrm rot="16200000">
            <a:off x="4823983" y="3232659"/>
            <a:ext cx="232410" cy="13504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Arrow: Down 22"/>
          <p:cNvSpPr/>
          <p:nvPr/>
        </p:nvSpPr>
        <p:spPr>
          <a:xfrm>
            <a:off x="5438907" y="3147423"/>
            <a:ext cx="1203255" cy="337188"/>
          </a:xfrm>
          <a:prstGeom prst="downArrow">
            <a:avLst>
              <a:gd name="adj1" fmla="val 44934"/>
              <a:gd name="adj2" fmla="val 737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6447324" y="3313834"/>
            <a:ext cx="29931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Test </a:t>
            </a:r>
            <a:r>
              <a:rPr lang="fr-FR" b="1"/>
              <a:t>skip</a:t>
            </a:r>
            <a:r>
              <a:rPr lang="fr-FR"/>
              <a:t> </a:t>
            </a:r>
            <a:r>
              <a:rPr lang="fr-FR" b="1"/>
              <a:t>RowGroups</a:t>
            </a:r>
            <a:r>
              <a:rPr lang="fr-FR"/>
              <a:t>(=blocks)</a:t>
            </a:r>
          </a:p>
          <a:p>
            <a:r>
              <a:rPr lang="fr-FR"/>
              <a:t>Where</a:t>
            </a:r>
            <a:r>
              <a:rPr lang="fr-FR"/>
              <a:t> « col3=value3 » </a:t>
            </a:r>
          </a:p>
          <a:p>
            <a:r>
              <a:rPr lang="fr-FR" b="1"/>
              <a:t>by min/max or Bloom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r>
              <a:rPr lang="fr-FR">
                <a:solidFill>
                  <a:sysClr val="windowText" lastClr="000000"/>
                </a:solidFill>
              </a:rPr>
              <a:t>Sort + </a:t>
            </a:r>
            <a:r>
              <a:rPr lang="fr-FR">
                <a:solidFill>
                  <a:sysClr val="windowText" lastClr="000000"/>
                </a:solidFill>
              </a:rPr>
              <a:t>parquet.block.size</a:t>
            </a:r>
            <a:r>
              <a:rPr lang="fr-FR">
                <a:solidFill>
                  <a:sysClr val="windowText" lastClr="000000"/>
                </a:solidFill>
              </a:rPr>
              <a:t> </a:t>
            </a:r>
          </a:p>
          <a:p>
            <a:pPr rtl="0"/>
            <a:r>
              <a:rPr lang="fr-FR">
                <a:solidFill>
                  <a:sysClr val="windowText" lastClr="000000"/>
                </a:solidFill>
              </a:rPr>
              <a:t>for </a:t>
            </a:r>
            <a:r>
              <a:rPr lang="fr-FR">
                <a:solidFill>
                  <a:sysClr val="windowText" lastClr="000000"/>
                </a:solidFill>
              </a:rPr>
              <a:t>better</a:t>
            </a:r>
            <a:r>
              <a:rPr lang="fr-FR">
                <a:solidFill>
                  <a:sysClr val="windowText" lastClr="000000"/>
                </a:solidFill>
              </a:rPr>
              <a:t> </a:t>
            </a:r>
            <a:r>
              <a:rPr lang="fr-FR">
                <a:solidFill>
                  <a:sysClr val="windowText" lastClr="000000"/>
                </a:solidFill>
              </a:rPr>
              <a:t>Predicate</a:t>
            </a:r>
            <a:r>
              <a:rPr lang="fr-FR">
                <a:solidFill>
                  <a:sysClr val="windowText" lastClr="000000"/>
                </a:solidFill>
              </a:rPr>
              <a:t>-Push-Down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83116" y="1606225"/>
            <a:ext cx="56754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When</a:t>
            </a:r>
            <a:r>
              <a:rPr lang="fr-FR" sz="2800"/>
              <a:t> </a:t>
            </a:r>
            <a:r>
              <a:rPr lang="fr-FR" sz="2800"/>
              <a:t>writting</a:t>
            </a:r>
            <a:r>
              <a:rPr lang="fr-FR" sz="2800"/>
              <a:t> PARQUET files </a:t>
            </a:r>
          </a:p>
          <a:p>
            <a:r>
              <a:rPr lang="fr-FR" sz="2800"/>
              <a:t>… </a:t>
            </a:r>
            <a:r>
              <a:rPr lang="fr-FR" sz="2800"/>
              <a:t>think</a:t>
            </a:r>
            <a:r>
              <a:rPr lang="fr-FR" sz="2800"/>
              <a:t> to </a:t>
            </a:r>
            <a:r>
              <a:rPr lang="fr-FR" sz="2800"/>
              <a:t>optimize</a:t>
            </a:r>
            <a:r>
              <a:rPr lang="fr-FR" sz="2800"/>
              <a:t> </a:t>
            </a:r>
            <a:r>
              <a:rPr lang="fr-FR" sz="2800"/>
              <a:t>reads</a:t>
            </a:r>
            <a:r>
              <a:rPr lang="fr-FR" sz="2800"/>
              <a:t> </a:t>
            </a:r>
            <a:r>
              <a:rPr lang="fr-FR" sz="2800"/>
              <a:t>later</a:t>
            </a:r>
            <a:r>
              <a:rPr lang="fr-FR" sz="2800"/>
              <a:t> ( PPD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82" y="2791165"/>
            <a:ext cx="4726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Example: id in range 1..1000      </a:t>
            </a:r>
            <a:r>
              <a:rPr lang="fr-FR"/>
              <a:t>predicate</a:t>
            </a:r>
            <a:r>
              <a:rPr lang="fr-FR"/>
              <a:t> id=542</a:t>
            </a:r>
          </a:p>
        </p:txBody>
      </p:sp>
      <p:sp>
        <p:nvSpPr>
          <p:cNvPr id="5" name="Rectangle: Folded Corner 4"/>
          <p:cNvSpPr/>
          <p:nvPr/>
        </p:nvSpPr>
        <p:spPr>
          <a:xfrm>
            <a:off x="121920" y="3757790"/>
            <a:ext cx="1714500" cy="54033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/>
              <a:t>min</a:t>
            </a:r>
            <a:r>
              <a:rPr lang="fr-FR"/>
              <a:t>=2</a:t>
            </a:r>
          </a:p>
          <a:p>
            <a:r>
              <a:rPr lang="fr-FR" b="1"/>
              <a:t>max=</a:t>
            </a:r>
            <a:r>
              <a:rPr lang="fr-FR"/>
              <a:t>997</a:t>
            </a:r>
          </a:p>
        </p:txBody>
      </p:sp>
      <p:sp>
        <p:nvSpPr>
          <p:cNvPr id="6" name="Rectangle: Folded Corner 5"/>
          <p:cNvSpPr/>
          <p:nvPr/>
        </p:nvSpPr>
        <p:spPr>
          <a:xfrm>
            <a:off x="1893570" y="3757790"/>
            <a:ext cx="1441350" cy="54033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/>
              <a:t>min</a:t>
            </a:r>
            <a:r>
              <a:rPr lang="fr-FR"/>
              <a:t>=5</a:t>
            </a:r>
          </a:p>
          <a:p>
            <a:r>
              <a:rPr lang="fr-FR" b="1"/>
              <a:t>max=</a:t>
            </a:r>
            <a:r>
              <a:rPr lang="fr-FR"/>
              <a:t>998</a:t>
            </a:r>
          </a:p>
        </p:txBody>
      </p:sp>
      <p:sp>
        <p:nvSpPr>
          <p:cNvPr id="7" name="Rectangle: Folded Corner 6"/>
          <p:cNvSpPr/>
          <p:nvPr/>
        </p:nvSpPr>
        <p:spPr>
          <a:xfrm>
            <a:off x="3427732" y="3746427"/>
            <a:ext cx="1318898" cy="54033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/>
              <a:t>min</a:t>
            </a:r>
            <a:r>
              <a:rPr lang="fr-FR"/>
              <a:t>=4</a:t>
            </a:r>
          </a:p>
          <a:p>
            <a:r>
              <a:rPr lang="fr-FR" b="1"/>
              <a:t>max=</a:t>
            </a:r>
            <a:r>
              <a:rPr lang="fr-FR"/>
              <a:t>992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492" y="4854444"/>
            <a:ext cx="4534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…  value </a:t>
            </a:r>
            <a:r>
              <a:rPr lang="fr-FR"/>
              <a:t>within</a:t>
            </a:r>
            <a:r>
              <a:rPr lang="fr-FR"/>
              <a:t> min/Max of all blocks</a:t>
            </a:r>
          </a:p>
          <a:p>
            <a:r>
              <a:rPr lang="fr-FR"/>
              <a:t>       </a:t>
            </a:r>
            <a:r>
              <a:rPr lang="fr-FR" b="1"/>
              <a:t>=&gt; NO </a:t>
            </a:r>
            <a:r>
              <a:rPr lang="fr-FR" b="1"/>
              <a:t>skipped</a:t>
            </a:r>
            <a:r>
              <a:rPr lang="fr-FR" b="1"/>
              <a:t> block</a:t>
            </a:r>
            <a:r>
              <a:rPr lang="fr-FR"/>
              <a:t> … </a:t>
            </a:r>
            <a:r>
              <a:rPr lang="fr-FR"/>
              <a:t>only</a:t>
            </a:r>
            <a:r>
              <a:rPr lang="fr-FR"/>
              <a:t> False positives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284762"/>
            <a:ext cx="3539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/>
              <a:t>Unsorted</a:t>
            </a:r>
            <a:r>
              <a:rPr lang="fr-FR" sz="2400" b="1"/>
              <a:t>,  Big block 128M</a:t>
            </a:r>
          </a:p>
        </p:txBody>
      </p:sp>
      <p:sp>
        <p:nvSpPr>
          <p:cNvPr id="14" name="Rectangle: Folded Corner 13"/>
          <p:cNvSpPr/>
          <p:nvPr/>
        </p:nvSpPr>
        <p:spPr>
          <a:xfrm>
            <a:off x="5151120" y="3746427"/>
            <a:ext cx="948690" cy="54033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/>
              <a:t>min</a:t>
            </a:r>
            <a:r>
              <a:rPr lang="fr-FR" sz="1400"/>
              <a:t>=2</a:t>
            </a:r>
          </a:p>
          <a:p>
            <a:r>
              <a:rPr lang="fr-FR" sz="1400" b="1"/>
              <a:t>max=2</a:t>
            </a:r>
            <a:r>
              <a:rPr lang="fr-FR" sz="1400"/>
              <a:t>01</a:t>
            </a:r>
          </a:p>
        </p:txBody>
      </p:sp>
      <p:sp>
        <p:nvSpPr>
          <p:cNvPr id="15" name="Rectangle: Folded Corner 14"/>
          <p:cNvSpPr/>
          <p:nvPr/>
        </p:nvSpPr>
        <p:spPr>
          <a:xfrm>
            <a:off x="6192622" y="3746427"/>
            <a:ext cx="890167" cy="54033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/>
              <a:t>min</a:t>
            </a:r>
            <a:r>
              <a:rPr lang="fr-FR" sz="1400"/>
              <a:t>=202</a:t>
            </a:r>
          </a:p>
          <a:p>
            <a:r>
              <a:rPr lang="fr-FR" sz="1400" b="1"/>
              <a:t>max=3</a:t>
            </a:r>
            <a:r>
              <a:rPr lang="fr-FR" sz="1400"/>
              <a:t>50</a:t>
            </a:r>
          </a:p>
        </p:txBody>
      </p:sp>
      <p:sp>
        <p:nvSpPr>
          <p:cNvPr id="16" name="Rectangle: Folded Corner 15"/>
          <p:cNvSpPr/>
          <p:nvPr/>
        </p:nvSpPr>
        <p:spPr>
          <a:xfrm>
            <a:off x="7175601" y="3746427"/>
            <a:ext cx="890167" cy="54033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/>
              <a:t>min</a:t>
            </a:r>
            <a:r>
              <a:rPr lang="fr-FR" sz="1400"/>
              <a:t>=352</a:t>
            </a:r>
          </a:p>
          <a:p>
            <a:r>
              <a:rPr lang="fr-FR" sz="1400" b="1"/>
              <a:t>max=5</a:t>
            </a:r>
            <a:r>
              <a:rPr lang="fr-FR" sz="1400"/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3120" y="3296125"/>
            <a:ext cx="3539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/>
              <a:t>Sorted</a:t>
            </a:r>
            <a:r>
              <a:rPr lang="fr-FR" sz="2400" b="1"/>
              <a:t> + Small blocks 16M</a:t>
            </a:r>
          </a:p>
        </p:txBody>
      </p:sp>
      <p:sp>
        <p:nvSpPr>
          <p:cNvPr id="18" name="Rectangle: Folded Corner 17"/>
          <p:cNvSpPr/>
          <p:nvPr/>
        </p:nvSpPr>
        <p:spPr>
          <a:xfrm>
            <a:off x="8158580" y="3746427"/>
            <a:ext cx="890167" cy="54033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/>
              <a:t>min</a:t>
            </a:r>
            <a:r>
              <a:rPr lang="fr-FR" sz="1400"/>
              <a:t>=502</a:t>
            </a:r>
          </a:p>
          <a:p>
            <a:r>
              <a:rPr lang="fr-FR" sz="1400" b="1"/>
              <a:t>max=593</a:t>
            </a:r>
            <a:endParaRPr lang="fr-FR" sz="1400"/>
          </a:p>
        </p:txBody>
      </p:sp>
      <p:sp>
        <p:nvSpPr>
          <p:cNvPr id="19" name="Rectangle: Folded Corner 18"/>
          <p:cNvSpPr/>
          <p:nvPr/>
        </p:nvSpPr>
        <p:spPr>
          <a:xfrm>
            <a:off x="9141559" y="3746427"/>
            <a:ext cx="890167" cy="54033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/>
              <a:t>min</a:t>
            </a:r>
            <a:r>
              <a:rPr lang="fr-FR" sz="1400"/>
              <a:t>=595</a:t>
            </a:r>
          </a:p>
          <a:p>
            <a:r>
              <a:rPr lang="fr-FR" sz="1400" b="1"/>
              <a:t>max=992</a:t>
            </a:r>
            <a:endParaRPr lang="fr-FR" sz="1400"/>
          </a:p>
        </p:txBody>
      </p:sp>
      <p:sp>
        <p:nvSpPr>
          <p:cNvPr id="20" name="TextBox 19"/>
          <p:cNvSpPr txBox="1"/>
          <p:nvPr/>
        </p:nvSpPr>
        <p:spPr>
          <a:xfrm>
            <a:off x="5403180" y="4245082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skip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1026" y="4286763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skip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5661" y="4282849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skip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53" y="4282849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skip</a:t>
            </a:r>
          </a:p>
        </p:txBody>
      </p:sp>
      <p:sp>
        <p:nvSpPr>
          <p:cNvPr id="26" name="Arrow: Down 25"/>
          <p:cNvSpPr/>
          <p:nvPr/>
        </p:nvSpPr>
        <p:spPr>
          <a:xfrm>
            <a:off x="776040" y="4389119"/>
            <a:ext cx="294569" cy="2076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/>
          <p:cNvSpPr txBox="1"/>
          <p:nvPr/>
        </p:nvSpPr>
        <p:spPr>
          <a:xfrm>
            <a:off x="608753" y="4529420"/>
            <a:ext cx="616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read</a:t>
            </a:r>
            <a:endParaRPr lang="fr-FR"/>
          </a:p>
        </p:txBody>
      </p:sp>
      <p:sp>
        <p:nvSpPr>
          <p:cNvPr id="29" name="Arrow: Down 28"/>
          <p:cNvSpPr/>
          <p:nvPr/>
        </p:nvSpPr>
        <p:spPr>
          <a:xfrm>
            <a:off x="2405999" y="4389119"/>
            <a:ext cx="294569" cy="2076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Box 29"/>
          <p:cNvSpPr txBox="1"/>
          <p:nvPr/>
        </p:nvSpPr>
        <p:spPr>
          <a:xfrm>
            <a:off x="2238712" y="4529420"/>
            <a:ext cx="616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read</a:t>
            </a:r>
            <a:endParaRPr lang="fr-FR"/>
          </a:p>
        </p:txBody>
      </p:sp>
      <p:sp>
        <p:nvSpPr>
          <p:cNvPr id="31" name="Arrow: Down 30"/>
          <p:cNvSpPr/>
          <p:nvPr/>
        </p:nvSpPr>
        <p:spPr>
          <a:xfrm>
            <a:off x="3930652" y="4389119"/>
            <a:ext cx="294569" cy="2076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TextBox 31"/>
          <p:cNvSpPr txBox="1"/>
          <p:nvPr/>
        </p:nvSpPr>
        <p:spPr>
          <a:xfrm>
            <a:off x="3763365" y="4529420"/>
            <a:ext cx="616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read</a:t>
            </a:r>
            <a:endParaRPr lang="fr-FR"/>
          </a:p>
        </p:txBody>
      </p:sp>
      <p:sp>
        <p:nvSpPr>
          <p:cNvPr id="33" name="Arrow: Down 32"/>
          <p:cNvSpPr/>
          <p:nvPr/>
        </p:nvSpPr>
        <p:spPr>
          <a:xfrm>
            <a:off x="8458981" y="4377860"/>
            <a:ext cx="294569" cy="2076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/>
          <p:cNvSpPr txBox="1"/>
          <p:nvPr/>
        </p:nvSpPr>
        <p:spPr>
          <a:xfrm>
            <a:off x="8311299" y="4526732"/>
            <a:ext cx="616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read</a:t>
            </a:r>
            <a:endParaRPr lang="fr-F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504492" y="5338"/>
            <a:ext cx="9071640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How to « Write » parquet files :</a:t>
            </a:r>
          </a:p>
          <a:p>
            <a:pPr rtl="0"/>
            <a:r>
              <a:rPr lang="fr-FR">
                <a:solidFill>
                  <a:sysClr val="windowText" lastClr="000000"/>
                </a:solidFill>
              </a:rPr>
              <a:t>Adapt</a:t>
            </a:r>
            <a:r>
              <a:rPr lang="fr-FR">
                <a:solidFill>
                  <a:sysClr val="windowText" lastClr="000000"/>
                </a:solidFill>
              </a:rPr>
              <a:t> for best « </a:t>
            </a:r>
            <a:r>
              <a:rPr lang="fr-FR">
                <a:solidFill>
                  <a:sysClr val="windowText" lastClr="000000"/>
                </a:solidFill>
              </a:rPr>
              <a:t>Reads</a:t>
            </a:r>
            <a:r>
              <a:rPr lang="fr-FR">
                <a:solidFill>
                  <a:sysClr val="windowText" lastClr="000000"/>
                </a:solidFill>
              </a:rPr>
              <a:t> » </a:t>
            </a:r>
            <a:r>
              <a:rPr lang="fr-FR">
                <a:solidFill>
                  <a:sysClr val="windowText" lastClr="000000"/>
                </a:solidFill>
              </a:rPr>
              <a:t>later</a:t>
            </a:r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90171" y="1866538"/>
            <a:ext cx="83242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Dataset</a:t>
            </a:r>
            <a:r>
              <a:rPr lang="fr-FR"/>
              <a:t>&lt;Row&gt; </a:t>
            </a:r>
            <a:r>
              <a:rPr lang="fr-FR"/>
              <a:t>ds</a:t>
            </a:r>
            <a:r>
              <a:rPr lang="fr-FR"/>
              <a:t> = </a:t>
            </a:r>
            <a:r>
              <a:rPr lang="fr-FR"/>
              <a:t>spark.sql</a:t>
            </a:r>
            <a:r>
              <a:rPr lang="fr-FR"/>
              <a:t>(« … » );</a:t>
            </a:r>
          </a:p>
          <a:p>
            <a:r>
              <a:rPr lang="fr-FR"/>
              <a:t>// </a:t>
            </a:r>
            <a:r>
              <a:rPr lang="fr-FR"/>
              <a:t>ds</a:t>
            </a:r>
            <a:r>
              <a:rPr lang="fr-FR"/>
              <a:t> </a:t>
            </a:r>
            <a:r>
              <a:rPr lang="fr-FR"/>
              <a:t>contains</a:t>
            </a:r>
            <a:r>
              <a:rPr lang="fr-FR"/>
              <a:t> </a:t>
            </a:r>
            <a:r>
              <a:rPr lang="fr-FR"/>
              <a:t>probably</a:t>
            </a:r>
            <a:r>
              <a:rPr lang="fr-FR"/>
              <a:t> </a:t>
            </a:r>
            <a:r>
              <a:rPr lang="fr-FR" b="1"/>
              <a:t>200 partitions </a:t>
            </a:r>
            <a:r>
              <a:rPr lang="fr-FR"/>
              <a:t>(default value </a:t>
            </a:r>
            <a:r>
              <a:rPr lang="fr-FR"/>
              <a:t>after</a:t>
            </a:r>
            <a:r>
              <a:rPr lang="fr-FR"/>
              <a:t> a SHUFFLE)</a:t>
            </a:r>
          </a:p>
          <a:p>
            <a:endParaRPr lang="fr-FR"/>
          </a:p>
          <a:p>
            <a:r>
              <a:rPr lang="fr-FR"/>
              <a:t>ds</a:t>
            </a:r>
            <a:r>
              <a:rPr lang="fr-FR"/>
              <a:t> = </a:t>
            </a:r>
            <a:r>
              <a:rPr lang="fr-FR" b="1"/>
              <a:t>ds.repartition</a:t>
            </a:r>
            <a:r>
              <a:rPr lang="fr-FR" b="1"/>
              <a:t>(1);   </a:t>
            </a:r>
            <a:r>
              <a:rPr lang="fr-FR"/>
              <a:t>// </a:t>
            </a:r>
            <a:r>
              <a:rPr lang="fr-FR"/>
              <a:t>equivalent</a:t>
            </a:r>
            <a:r>
              <a:rPr lang="fr-FR"/>
              <a:t> to « .coalesce(</a:t>
            </a:r>
            <a:r>
              <a:rPr lang="fr-FR"/>
              <a:t>1) »</a:t>
            </a:r>
            <a:endParaRPr lang="fr-FR"/>
          </a:p>
          <a:p>
            <a:r>
              <a:rPr lang="fr-FR"/>
              <a:t>        // or   </a:t>
            </a:r>
            <a:r>
              <a:rPr lang="fr-FR"/>
              <a:t>ds.repartition</a:t>
            </a:r>
            <a:r>
              <a:rPr lang="fr-FR"/>
              <a:t>(2) //  or 3 … if RDD </a:t>
            </a:r>
            <a:r>
              <a:rPr lang="fr-FR"/>
              <a:t>does</a:t>
            </a:r>
            <a:r>
              <a:rPr lang="fr-FR"/>
              <a:t> not fit in </a:t>
            </a:r>
            <a:r>
              <a:rPr lang="fr-FR"/>
              <a:t>spark.executer.memory</a:t>
            </a:r>
            <a:r>
              <a:rPr lang="fr-FR"/>
              <a:t> !!</a:t>
            </a:r>
          </a:p>
          <a:p>
            <a:endParaRPr lang="fr-FR"/>
          </a:p>
          <a:p>
            <a:r>
              <a:rPr lang="fr-FR"/>
              <a:t>ds</a:t>
            </a:r>
            <a:r>
              <a:rPr lang="fr-FR"/>
              <a:t> = </a:t>
            </a:r>
            <a:r>
              <a:rPr lang="fr-FR" b="1"/>
              <a:t>ds.sortWithinPartition</a:t>
            </a:r>
            <a:r>
              <a:rPr lang="fr-FR" b="1"/>
              <a:t>(« </a:t>
            </a:r>
            <a:r>
              <a:rPr lang="fr-FR" b="1"/>
              <a:t>colA</a:t>
            </a:r>
            <a:r>
              <a:rPr lang="fr-FR" b="1"/>
              <a:t> », « </a:t>
            </a:r>
            <a:r>
              <a:rPr lang="fr-FR" b="1"/>
              <a:t>colB</a:t>
            </a:r>
            <a:r>
              <a:rPr lang="fr-FR" b="1"/>
              <a:t> »,   …   « </a:t>
            </a:r>
            <a:r>
              <a:rPr lang="fr-FR" b="1"/>
              <a:t>colID</a:t>
            </a:r>
            <a:r>
              <a:rPr lang="fr-FR" b="1"/>
              <a:t> »)  </a:t>
            </a:r>
          </a:p>
          <a:p>
            <a:r>
              <a:rPr lang="fr-FR"/>
              <a:t>        // sort by </a:t>
            </a:r>
            <a:r>
              <a:rPr lang="fr-FR"/>
              <a:t>general</a:t>
            </a:r>
            <a:r>
              <a:rPr lang="fr-FR"/>
              <a:t> </a:t>
            </a:r>
            <a:r>
              <a:rPr lang="fr-FR"/>
              <a:t>columns</a:t>
            </a:r>
            <a:r>
              <a:rPr lang="fr-FR"/>
              <a:t> first « </a:t>
            </a:r>
            <a:r>
              <a:rPr lang="fr-FR"/>
              <a:t>colA</a:t>
            </a:r>
            <a:r>
              <a:rPr lang="fr-FR"/>
              <a:t> » (</a:t>
            </a:r>
            <a:r>
              <a:rPr lang="fr-FR"/>
              <a:t>example</a:t>
            </a:r>
            <a:r>
              <a:rPr lang="fr-FR"/>
              <a:t> portfolio, </a:t>
            </a:r>
            <a:r>
              <a:rPr lang="fr-FR"/>
              <a:t>region</a:t>
            </a:r>
            <a:r>
              <a:rPr lang="fr-FR"/>
              <a:t>, </a:t>
            </a:r>
            <a:r>
              <a:rPr lang="fr-FR"/>
              <a:t>productType</a:t>
            </a:r>
            <a:r>
              <a:rPr lang="fr-FR"/>
              <a:t>…</a:t>
            </a:r>
          </a:p>
          <a:p>
            <a:r>
              <a:rPr lang="fr-FR"/>
              <a:t>        //  last by « id » </a:t>
            </a:r>
            <a:r>
              <a:rPr lang="fr-FR"/>
              <a:t>column</a:t>
            </a:r>
            <a:endParaRPr lang="fr-FR"/>
          </a:p>
          <a:p>
            <a:endParaRPr lang="fr-FR"/>
          </a:p>
          <a:p>
            <a:r>
              <a:rPr lang="fr-FR"/>
              <a:t>ds.write</a:t>
            </a:r>
            <a:r>
              <a:rPr lang="fr-FR"/>
              <a:t>()</a:t>
            </a:r>
            <a:r>
              <a:rPr lang="fr-FR" b="1"/>
              <a:t>.format(« </a:t>
            </a:r>
            <a:r>
              <a:rPr lang="fr-FR" b="1"/>
              <a:t>hive</a:t>
            </a:r>
            <a:r>
              <a:rPr lang="fr-FR" b="1"/>
              <a:t> »).</a:t>
            </a:r>
            <a:r>
              <a:rPr lang="fr-FR"/>
              <a:t>mode(</a:t>
            </a:r>
            <a:r>
              <a:rPr lang="fr-FR"/>
              <a:t>SaveMode.overwrite</a:t>
            </a:r>
            <a:r>
              <a:rPr lang="fr-FR"/>
              <a:t>).</a:t>
            </a:r>
            <a:r>
              <a:rPr lang="fr-FR" b="1"/>
              <a:t>insertInto</a:t>
            </a:r>
            <a:r>
              <a:rPr lang="fr-FR"/>
              <a:t>(« </a:t>
            </a:r>
            <a:r>
              <a:rPr lang="fr-FR"/>
              <a:t>db.table_name</a:t>
            </a:r>
            <a:r>
              <a:rPr lang="fr-FR"/>
              <a:t> »);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-1" y="5338"/>
            <a:ext cx="10080625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Recap</a:t>
            </a:r>
            <a:r>
              <a:rPr lang="fr-FR">
                <a:solidFill>
                  <a:sysClr val="windowText" lastClr="000000"/>
                </a:solidFill>
              </a:rPr>
              <a:t> 5 </a:t>
            </a:r>
            <a:r>
              <a:rPr lang="fr-FR">
                <a:solidFill>
                  <a:sysClr val="windowText" lastClr="000000"/>
                </a:solidFill>
              </a:rPr>
              <a:t>Optimizations</a:t>
            </a:r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92530" y="1478280"/>
            <a:ext cx="84658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/>
              <a:t>1/ </a:t>
            </a:r>
            <a:r>
              <a:rPr lang="fr-FR" sz="2400"/>
              <a:t>typed</a:t>
            </a:r>
            <a:r>
              <a:rPr lang="fr-FR" sz="2400"/>
              <a:t> </a:t>
            </a:r>
            <a:r>
              <a:rPr lang="fr-FR" sz="2400"/>
              <a:t>schema</a:t>
            </a:r>
            <a:r>
              <a:rPr lang="fr-FR" sz="2400"/>
              <a:t>, </a:t>
            </a:r>
            <a:r>
              <a:rPr lang="fr-FR" sz="2400"/>
              <a:t>binary</a:t>
            </a:r>
            <a:r>
              <a:rPr lang="fr-FR" sz="2400"/>
              <a:t> </a:t>
            </a:r>
            <a:r>
              <a:rPr lang="fr-FR" sz="2400"/>
              <a:t>encoding</a:t>
            </a:r>
            <a:r>
              <a:rPr lang="fr-FR" sz="2400"/>
              <a:t>, </a:t>
            </a:r>
            <a:r>
              <a:rPr lang="fr-FR" sz="2400"/>
              <a:t>dictionary</a:t>
            </a:r>
            <a:r>
              <a:rPr lang="fr-FR" sz="2400"/>
              <a:t> + compression</a:t>
            </a:r>
          </a:p>
          <a:p>
            <a:endParaRPr lang="fr-FR" sz="2400"/>
          </a:p>
          <a:p>
            <a:r>
              <a:rPr lang="fr-FR" sz="2400"/>
              <a:t>2/ </a:t>
            </a:r>
            <a:r>
              <a:rPr lang="fr-FR" sz="2400" b="1"/>
              <a:t>splittable</a:t>
            </a:r>
            <a:r>
              <a:rPr lang="fr-FR" sz="2400"/>
              <a:t> file  (blocks) = </a:t>
            </a:r>
            <a:r>
              <a:rPr lang="fr-FR" sz="2400"/>
              <a:t>distributed</a:t>
            </a:r>
            <a:endParaRPr lang="fr-FR" sz="2400"/>
          </a:p>
          <a:p>
            <a:endParaRPr lang="fr-FR" sz="2400"/>
          </a:p>
          <a:p>
            <a:r>
              <a:rPr lang="fr-FR" sz="2400"/>
              <a:t>3/ </a:t>
            </a:r>
            <a:r>
              <a:rPr lang="fr-FR" sz="2400"/>
              <a:t>Hive</a:t>
            </a:r>
            <a:r>
              <a:rPr lang="fr-FR" sz="2400"/>
              <a:t> </a:t>
            </a:r>
            <a:r>
              <a:rPr lang="fr-FR" sz="2400"/>
              <a:t>Metastore</a:t>
            </a:r>
            <a:r>
              <a:rPr lang="fr-FR" sz="2400"/>
              <a:t> </a:t>
            </a:r>
            <a:r>
              <a:rPr lang="fr-FR" sz="2400" b="1"/>
              <a:t>Partition </a:t>
            </a:r>
            <a:r>
              <a:rPr lang="fr-FR" sz="2400" b="1"/>
              <a:t>Pruning</a:t>
            </a:r>
            <a:r>
              <a:rPr lang="fr-FR" sz="2400"/>
              <a:t> = skip/scan </a:t>
            </a:r>
            <a:r>
              <a:rPr lang="fr-FR" sz="2400"/>
              <a:t>dirs</a:t>
            </a:r>
            <a:endParaRPr lang="fr-FR" sz="2400"/>
          </a:p>
          <a:p>
            <a:endParaRPr lang="fr-FR" sz="2400" b="1"/>
          </a:p>
          <a:p>
            <a:r>
              <a:rPr lang="fr-FR" sz="2400"/>
              <a:t>4/ </a:t>
            </a:r>
            <a:r>
              <a:rPr lang="fr-FR" sz="2400" b="1"/>
              <a:t>Column</a:t>
            </a:r>
            <a:r>
              <a:rPr lang="fr-FR" sz="2400" b="1"/>
              <a:t> </a:t>
            </a:r>
            <a:r>
              <a:rPr lang="fr-FR" sz="2400" b="1"/>
              <a:t>Pruning</a:t>
            </a:r>
            <a:r>
              <a:rPr lang="fr-FR" sz="2400"/>
              <a:t> (</a:t>
            </a:r>
            <a:r>
              <a:rPr lang="fr-FR" sz="2400"/>
              <a:t>Columnar</a:t>
            </a:r>
            <a:r>
              <a:rPr lang="fr-FR" sz="2400"/>
              <a:t> </a:t>
            </a:r>
            <a:r>
              <a:rPr lang="fr-FR" sz="2400"/>
              <a:t>storage</a:t>
            </a:r>
            <a:r>
              <a:rPr lang="fr-FR" sz="2400"/>
              <a:t> format) = </a:t>
            </a:r>
            <a:r>
              <a:rPr lang="fr-FR" sz="2400"/>
              <a:t>seek</a:t>
            </a:r>
            <a:r>
              <a:rPr lang="fr-FR" sz="2400"/>
              <a:t> + </a:t>
            </a:r>
            <a:r>
              <a:rPr lang="fr-FR" sz="2400"/>
              <a:t>array</a:t>
            </a:r>
            <a:r>
              <a:rPr lang="fr-FR" sz="2400"/>
              <a:t> </a:t>
            </a:r>
            <a:r>
              <a:rPr lang="fr-FR" sz="2400"/>
              <a:t>read</a:t>
            </a:r>
            <a:endParaRPr lang="fr-FR" sz="2400"/>
          </a:p>
          <a:p>
            <a:endParaRPr lang="fr-FR" sz="2400"/>
          </a:p>
          <a:p>
            <a:r>
              <a:rPr lang="fr-FR" sz="2400"/>
              <a:t>5/ </a:t>
            </a:r>
            <a:r>
              <a:rPr lang="fr-FR" sz="2400" b="1"/>
              <a:t>Predicate</a:t>
            </a:r>
            <a:r>
              <a:rPr lang="fr-FR" sz="2400" b="1"/>
              <a:t>-Push-Down</a:t>
            </a:r>
            <a:r>
              <a:rPr lang="fr-FR" sz="2400"/>
              <a:t>  = skip </a:t>
            </a:r>
            <a:r>
              <a:rPr lang="fr-FR" sz="2400"/>
              <a:t>using</a:t>
            </a:r>
            <a:r>
              <a:rPr lang="fr-FR" sz="2400"/>
              <a:t> </a:t>
            </a:r>
            <a:r>
              <a:rPr lang="fr-FR" sz="2400"/>
              <a:t>statistics</a:t>
            </a:r>
            <a:r>
              <a:rPr lang="fr-FR" sz="2400"/>
              <a:t>, bloom </a:t>
            </a:r>
            <a:r>
              <a:rPr lang="fr-FR" sz="2400"/>
              <a:t>filter</a:t>
            </a:r>
            <a:endParaRPr lang="fr-FR" sz="2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177" y="5437"/>
            <a:ext cx="10080272" cy="129025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4399">
                <a:solidFill>
                  <a:sysClr val="windowText" lastClr="000000"/>
                </a:solidFill>
              </a:rPr>
              <a:t>Recap</a:t>
            </a:r>
            <a:r>
              <a:rPr lang="fr-FR" sz="4399">
                <a:solidFill>
                  <a:sysClr val="windowText" lastClr="000000"/>
                </a:solidFill>
              </a:rPr>
              <a:t> </a:t>
            </a:r>
            <a:r>
              <a:rPr lang="fr-FR" sz="4399">
                <a:solidFill>
                  <a:sysClr val="windowText" lastClr="000000"/>
                </a:solidFill>
              </a:rPr>
              <a:t>Optimizations</a:t>
            </a:r>
            <a:r>
              <a:rPr lang="fr-FR" sz="4399">
                <a:solidFill>
                  <a:sysClr val="windowText" lastClr="000000"/>
                </a:solidFill>
              </a:rPr>
              <a:t> 1/5</a:t>
            </a:r>
          </a:p>
          <a:p>
            <a:pPr rtl="0"/>
            <a:r>
              <a:rPr lang="fr-FR" sz="3600">
                <a:solidFill>
                  <a:sysClr val="windowText" lastClr="000000"/>
                </a:solidFill>
              </a:rPr>
              <a:t>Schema</a:t>
            </a:r>
            <a:r>
              <a:rPr lang="fr-FR" sz="3600">
                <a:solidFill>
                  <a:sysClr val="windowText" lastClr="000000"/>
                </a:solidFill>
              </a:rPr>
              <a:t>, </a:t>
            </a:r>
            <a:r>
              <a:rPr lang="fr-FR" sz="3600">
                <a:solidFill>
                  <a:sysClr val="windowText" lastClr="000000"/>
                </a:solidFill>
              </a:rPr>
              <a:t>Binary</a:t>
            </a:r>
            <a:r>
              <a:rPr lang="fr-FR" sz="3600">
                <a:solidFill>
                  <a:sysClr val="windowText" lastClr="000000"/>
                </a:solidFill>
              </a:rPr>
              <a:t> </a:t>
            </a:r>
            <a:r>
              <a:rPr lang="fr-FR" sz="3600">
                <a:solidFill>
                  <a:sysClr val="windowText" lastClr="000000"/>
                </a:solidFill>
              </a:rPr>
              <a:t>Encoding</a:t>
            </a:r>
            <a:r>
              <a:rPr lang="fr-FR" sz="3600">
                <a:solidFill>
                  <a:sysClr val="windowText" lastClr="000000"/>
                </a:solidFill>
              </a:rPr>
              <a:t>, </a:t>
            </a:r>
            <a:r>
              <a:rPr lang="fr-FR" sz="3600">
                <a:solidFill>
                  <a:sysClr val="windowText" lastClr="000000"/>
                </a:solidFill>
              </a:rPr>
              <a:t>Dictionary</a:t>
            </a:r>
            <a:endParaRPr lang="fr-FR" sz="3600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4390" y="2164080"/>
            <a:ext cx="1946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CSV, Xml, ND-JSON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66237" y="2133600"/>
            <a:ext cx="51522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Schema-less</a:t>
            </a:r>
            <a:r>
              <a:rPr lang="fr-FR"/>
              <a:t> file formats ! </a:t>
            </a:r>
          </a:p>
          <a:p>
            <a:r>
              <a:rPr lang="fr-FR"/>
              <a:t>… </a:t>
            </a:r>
            <a:r>
              <a:rPr lang="fr-FR"/>
              <a:t>innefficient</a:t>
            </a:r>
            <a:r>
              <a:rPr lang="fr-FR"/>
              <a:t> </a:t>
            </a:r>
            <a:r>
              <a:rPr lang="fr-FR"/>
              <a:t>text</a:t>
            </a:r>
            <a:r>
              <a:rPr lang="fr-FR"/>
              <a:t> </a:t>
            </a:r>
            <a:r>
              <a:rPr lang="fr-FR"/>
              <a:t>encoding</a:t>
            </a:r>
            <a:endParaRPr lang="fr-FR"/>
          </a:p>
          <a:p>
            <a:r>
              <a:rPr lang="fr-FR"/>
              <a:t>Redundant</a:t>
            </a:r>
            <a:r>
              <a:rPr lang="fr-FR"/>
              <a:t> &lt;xml&gt; value&lt;/xml&gt;  or « </a:t>
            </a:r>
            <a:r>
              <a:rPr lang="fr-FR"/>
              <a:t>json</a:t>
            </a:r>
            <a:r>
              <a:rPr lang="fr-FR"/>
              <a:t> »:   « value»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870" y="3482340"/>
            <a:ext cx="1555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PARQUET, ORC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66237" y="3482340"/>
            <a:ext cx="43635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Strongly</a:t>
            </a:r>
            <a:r>
              <a:rPr lang="fr-FR"/>
              <a:t> </a:t>
            </a:r>
            <a:r>
              <a:rPr lang="fr-FR"/>
              <a:t>typed</a:t>
            </a:r>
            <a:r>
              <a:rPr lang="fr-FR"/>
              <a:t> </a:t>
            </a:r>
            <a:r>
              <a:rPr lang="fr-FR"/>
              <a:t>Schema</a:t>
            </a:r>
            <a:r>
              <a:rPr lang="fr-FR"/>
              <a:t> </a:t>
            </a:r>
            <a:r>
              <a:rPr lang="fr-FR"/>
              <a:t>embedded</a:t>
            </a:r>
            <a:r>
              <a:rPr lang="fr-FR"/>
              <a:t> in file </a:t>
            </a:r>
          </a:p>
          <a:p>
            <a:r>
              <a:rPr lang="fr-FR"/>
              <a:t>… efficient </a:t>
            </a:r>
            <a:r>
              <a:rPr lang="fr-FR"/>
              <a:t>binary</a:t>
            </a:r>
            <a:r>
              <a:rPr lang="fr-FR"/>
              <a:t> </a:t>
            </a:r>
            <a:r>
              <a:rPr lang="fr-FR"/>
              <a:t>encoding</a:t>
            </a:r>
            <a:endParaRPr lang="fr-FR"/>
          </a:p>
          <a:p>
            <a:r>
              <a:rPr lang="fr-FR"/>
              <a:t>Efficient </a:t>
            </a:r>
            <a:r>
              <a:rPr lang="fr-FR"/>
              <a:t>incremental</a:t>
            </a:r>
            <a:r>
              <a:rPr lang="fr-FR"/>
              <a:t> </a:t>
            </a:r>
            <a:r>
              <a:rPr lang="fr-FR"/>
              <a:t>encoding</a:t>
            </a:r>
            <a:r>
              <a:rPr lang="fr-FR"/>
              <a:t>, or </a:t>
            </a:r>
            <a:r>
              <a:rPr lang="fr-FR"/>
              <a:t>Dictionary</a:t>
            </a:r>
            <a:endParaRPr lang="fr-F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-1" y="5338"/>
            <a:ext cx="10080625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Recap</a:t>
            </a:r>
            <a:r>
              <a:rPr lang="fr-FR">
                <a:solidFill>
                  <a:sysClr val="windowText" lastClr="000000"/>
                </a:solidFill>
              </a:rPr>
              <a:t> </a:t>
            </a:r>
            <a:r>
              <a:rPr lang="fr-FR">
                <a:solidFill>
                  <a:sysClr val="windowText" lastClr="000000"/>
                </a:solidFill>
              </a:rPr>
              <a:t>Optimizations</a:t>
            </a:r>
            <a:r>
              <a:rPr lang="fr-FR">
                <a:solidFill>
                  <a:sysClr val="windowText" lastClr="000000"/>
                </a:solidFill>
              </a:rPr>
              <a:t> 2/5</a:t>
            </a:r>
          </a:p>
          <a:p>
            <a:pPr rtl="0"/>
            <a:r>
              <a:rPr lang="fr-FR">
                <a:solidFill>
                  <a:sysClr val="windowText" lastClr="000000"/>
                </a:solidFill>
              </a:rPr>
              <a:t>Distributed RDD: </a:t>
            </a:r>
            <a:r>
              <a:rPr lang="fr-FR">
                <a:solidFill>
                  <a:sysClr val="windowText" lastClr="000000"/>
                </a:solidFill>
              </a:rPr>
              <a:t>Splittable</a:t>
            </a:r>
            <a:r>
              <a:rPr lang="fr-FR">
                <a:solidFill>
                  <a:sysClr val="windowText" lastClr="000000"/>
                </a:solidFill>
              </a:rPr>
              <a:t> File Blocks</a:t>
            </a:r>
          </a:p>
        </p:txBody>
      </p:sp>
      <p:sp>
        <p:nvSpPr>
          <p:cNvPr id="14" name="Forme libre : forme 2"/>
          <p:cNvSpPr/>
          <p:nvPr/>
        </p:nvSpPr>
        <p:spPr>
          <a:xfrm>
            <a:off x="1382912" y="1772212"/>
            <a:ext cx="914400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Table1</a:t>
            </a:r>
          </a:p>
        </p:txBody>
      </p:sp>
      <p:sp>
        <p:nvSpPr>
          <p:cNvPr id="17" name="Forme libre : forme 3"/>
          <p:cNvSpPr/>
          <p:nvPr/>
        </p:nvSpPr>
        <p:spPr>
          <a:xfrm>
            <a:off x="1342591" y="1515107"/>
            <a:ext cx="1505257" cy="1181944"/>
          </a:xfrm>
          <a:custGeom>
            <a:avLst/>
            <a:gdLst/>
            <a:ahLst/>
            <a:cxnLst/>
            <a:rect l="l" t="t" r="r" b="b"/>
            <a:pathLst>
              <a:path w="88" h="21600">
                <a:moveTo>
                  <a:pt x="44" y="0"/>
                </a:moveTo>
                <a:cubicBezTo>
                  <a:pt x="20" y="0"/>
                  <a:pt x="0" y="455"/>
                  <a:pt x="0" y="1001"/>
                </a:cubicBezTo>
                <a:lnTo>
                  <a:pt x="0" y="20599"/>
                </a:lnTo>
                <a:cubicBezTo>
                  <a:pt x="0" y="21145"/>
                  <a:pt x="20" y="21600"/>
                  <a:pt x="44" y="21600"/>
                </a:cubicBezTo>
                <a:cubicBezTo>
                  <a:pt x="68" y="21600"/>
                  <a:pt x="88" y="21145"/>
                  <a:pt x="88" y="20599"/>
                </a:cubicBezTo>
                <a:lnTo>
                  <a:pt x="88" y="1001"/>
                </a:lnTo>
                <a:cubicBezTo>
                  <a:pt x="88" y="455"/>
                  <a:pt x="68" y="0"/>
                  <a:pt x="44" y="0"/>
                </a:cubicBezTo>
                <a:close/>
              </a:path>
              <a:path w="88" h="21600">
                <a:moveTo>
                  <a:pt x="44" y="0"/>
                </a:moveTo>
                <a:cubicBezTo>
                  <a:pt x="20" y="0"/>
                  <a:pt x="0" y="455"/>
                  <a:pt x="0" y="1001"/>
                </a:cubicBezTo>
                <a:cubicBezTo>
                  <a:pt x="0" y="1547"/>
                  <a:pt x="20" y="2002"/>
                  <a:pt x="44" y="2002"/>
                </a:cubicBezTo>
                <a:cubicBezTo>
                  <a:pt x="68" y="2002"/>
                  <a:pt x="88" y="1547"/>
                  <a:pt x="88" y="1001"/>
                </a:cubicBezTo>
                <a:cubicBezTo>
                  <a:pt x="88" y="455"/>
                  <a:pt x="68" y="0"/>
                  <a:pt x="44" y="0"/>
                </a:cubicBezTo>
                <a:close/>
              </a:path>
            </a:pathLst>
          </a:custGeom>
          <a:noFill/>
          <a:ln w="28575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1" name="ZoneTexte 4"/>
          <p:cNvSpPr txBox="1"/>
          <p:nvPr/>
        </p:nvSpPr>
        <p:spPr>
          <a:xfrm>
            <a:off x="1209392" y="1135732"/>
            <a:ext cx="1346400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MetaStore</a:t>
            </a: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2" name="Forme libre : forme 5"/>
          <p:cNvSpPr/>
          <p:nvPr/>
        </p:nvSpPr>
        <p:spPr>
          <a:xfrm>
            <a:off x="1655432" y="2167852"/>
            <a:ext cx="1143000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partitions</a:t>
            </a:r>
          </a:p>
        </p:txBody>
      </p:sp>
      <p:sp>
        <p:nvSpPr>
          <p:cNvPr id="53" name="ZoneTexte 7"/>
          <p:cNvSpPr txBox="1"/>
          <p:nvPr/>
        </p:nvSpPr>
        <p:spPr>
          <a:xfrm>
            <a:off x="6015348" y="1584330"/>
            <a:ext cx="653143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dirs</a:t>
            </a: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4" name="Forme libre : forme 9"/>
          <p:cNvSpPr/>
          <p:nvPr/>
        </p:nvSpPr>
        <p:spPr>
          <a:xfrm>
            <a:off x="4619069" y="1705257"/>
            <a:ext cx="1073002" cy="1043741"/>
          </a:xfrm>
          <a:custGeom>
            <a:avLst/>
            <a:gdLst/>
            <a:ahLst/>
            <a:cxnLst/>
            <a:rect l="l" t="t" r="r" b="b"/>
            <a:pathLst>
              <a:path w="88" h="21600">
                <a:moveTo>
                  <a:pt x="44" y="0"/>
                </a:moveTo>
                <a:cubicBezTo>
                  <a:pt x="20" y="0"/>
                  <a:pt x="0" y="1227"/>
                  <a:pt x="0" y="2700"/>
                </a:cubicBezTo>
                <a:lnTo>
                  <a:pt x="0" y="18900"/>
                </a:lnTo>
                <a:cubicBezTo>
                  <a:pt x="0" y="20373"/>
                  <a:pt x="20" y="21600"/>
                  <a:pt x="44" y="21600"/>
                </a:cubicBezTo>
                <a:cubicBezTo>
                  <a:pt x="68" y="21600"/>
                  <a:pt x="88" y="20373"/>
                  <a:pt x="88" y="18900"/>
                </a:cubicBezTo>
                <a:lnTo>
                  <a:pt x="88" y="2700"/>
                </a:lnTo>
                <a:cubicBezTo>
                  <a:pt x="88" y="1227"/>
                  <a:pt x="68" y="0"/>
                  <a:pt x="44" y="0"/>
                </a:cubicBezTo>
                <a:close/>
              </a:path>
              <a:path w="88" h="21600">
                <a:moveTo>
                  <a:pt x="44" y="0"/>
                </a:moveTo>
                <a:cubicBezTo>
                  <a:pt x="20" y="0"/>
                  <a:pt x="0" y="1227"/>
                  <a:pt x="0" y="2700"/>
                </a:cubicBezTo>
                <a:cubicBezTo>
                  <a:pt x="0" y="4173"/>
                  <a:pt x="20" y="5400"/>
                  <a:pt x="44" y="5400"/>
                </a:cubicBezTo>
                <a:cubicBezTo>
                  <a:pt x="68" y="5400"/>
                  <a:pt x="88" y="4173"/>
                  <a:pt x="88" y="2700"/>
                </a:cubicBezTo>
                <a:cubicBezTo>
                  <a:pt x="88" y="1227"/>
                  <a:pt x="68" y="0"/>
                  <a:pt x="44" y="0"/>
                </a:cubicBez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5" name="Forme libre : forme 10"/>
          <p:cNvSpPr/>
          <p:nvPr/>
        </p:nvSpPr>
        <p:spPr>
          <a:xfrm>
            <a:off x="1468605" y="3980418"/>
            <a:ext cx="136296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Spark Driver</a:t>
            </a:r>
          </a:p>
        </p:txBody>
      </p:sp>
      <p:sp>
        <p:nvSpPr>
          <p:cNvPr id="56" name="Forme libre : forme 11"/>
          <p:cNvSpPr/>
          <p:nvPr/>
        </p:nvSpPr>
        <p:spPr>
          <a:xfrm>
            <a:off x="609644" y="4756937"/>
            <a:ext cx="1962360" cy="266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Spark Executor1</a:t>
            </a:r>
          </a:p>
        </p:txBody>
      </p:sp>
      <p:sp>
        <p:nvSpPr>
          <p:cNvPr id="57" name="Forme libre : forme 13"/>
          <p:cNvSpPr/>
          <p:nvPr/>
        </p:nvSpPr>
        <p:spPr>
          <a:xfrm>
            <a:off x="1980919" y="2736292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8" name="Forme libre : forme 14"/>
          <p:cNvSpPr/>
          <p:nvPr/>
        </p:nvSpPr>
        <p:spPr>
          <a:xfrm flipV="1">
            <a:off x="1691792" y="2736292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59" name="ZoneTexte 15"/>
          <p:cNvSpPr txBox="1"/>
          <p:nvPr/>
        </p:nvSpPr>
        <p:spPr>
          <a:xfrm>
            <a:off x="735275" y="3250732"/>
            <a:ext cx="1385791" cy="62179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List partitions</a:t>
            </a:r>
          </a:p>
        </p:txBody>
      </p:sp>
      <p:sp>
        <p:nvSpPr>
          <p:cNvPr id="60" name="ZoneTexte 16"/>
          <p:cNvSpPr txBox="1"/>
          <p:nvPr/>
        </p:nvSpPr>
        <p:spPr>
          <a:xfrm>
            <a:off x="1980919" y="3235247"/>
            <a:ext cx="1887119" cy="62179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add/remove</a:t>
            </a: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partitions</a:t>
            </a:r>
          </a:p>
        </p:txBody>
      </p:sp>
      <p:sp>
        <p:nvSpPr>
          <p:cNvPr id="61" name="Forme libre : forme 17"/>
          <p:cNvSpPr/>
          <p:nvPr/>
        </p:nvSpPr>
        <p:spPr>
          <a:xfrm>
            <a:off x="5516719" y="3857657"/>
            <a:ext cx="182880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RDD partition1</a:t>
            </a:r>
          </a:p>
        </p:txBody>
      </p:sp>
      <p:sp>
        <p:nvSpPr>
          <p:cNvPr id="62" name="Forme libre : forme 18"/>
          <p:cNvSpPr/>
          <p:nvPr/>
        </p:nvSpPr>
        <p:spPr>
          <a:xfrm>
            <a:off x="5516719" y="4115776"/>
            <a:ext cx="182880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RDD partition2</a:t>
            </a:r>
          </a:p>
        </p:txBody>
      </p:sp>
      <p:sp>
        <p:nvSpPr>
          <p:cNvPr id="63" name="Forme libre : forme 19"/>
          <p:cNvSpPr/>
          <p:nvPr/>
        </p:nvSpPr>
        <p:spPr>
          <a:xfrm>
            <a:off x="5516719" y="4373897"/>
            <a:ext cx="182880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RDD partition3</a:t>
            </a:r>
          </a:p>
        </p:txBody>
      </p:sp>
      <p:sp>
        <p:nvSpPr>
          <p:cNvPr id="64" name="Forme libre : forme 20"/>
          <p:cNvSpPr/>
          <p:nvPr/>
        </p:nvSpPr>
        <p:spPr>
          <a:xfrm>
            <a:off x="5516719" y="4632016"/>
            <a:ext cx="1828800" cy="228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RDD partition4</a:t>
            </a:r>
          </a:p>
        </p:txBody>
      </p:sp>
      <p:sp>
        <p:nvSpPr>
          <p:cNvPr id="65" name="ZoneTexte 27"/>
          <p:cNvSpPr txBox="1"/>
          <p:nvPr/>
        </p:nvSpPr>
        <p:spPr>
          <a:xfrm>
            <a:off x="3458734" y="3122178"/>
            <a:ext cx="1863360" cy="858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List 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dirs</a:t>
            </a: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+ list Files</a:t>
            </a:r>
          </a:p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+ list File blocks</a:t>
            </a:r>
          </a:p>
        </p:txBody>
      </p:sp>
      <p:sp>
        <p:nvSpPr>
          <p:cNvPr id="66" name="Forme libre : forme 34"/>
          <p:cNvSpPr/>
          <p:nvPr/>
        </p:nvSpPr>
        <p:spPr>
          <a:xfrm>
            <a:off x="789644" y="5080937"/>
            <a:ext cx="1962360" cy="266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 Spark Executor2</a:t>
            </a:r>
          </a:p>
        </p:txBody>
      </p:sp>
      <p:sp>
        <p:nvSpPr>
          <p:cNvPr id="67" name="ZoneTexte 42"/>
          <p:cNvSpPr txBox="1"/>
          <p:nvPr/>
        </p:nvSpPr>
        <p:spPr>
          <a:xfrm>
            <a:off x="2467478" y="5367968"/>
            <a:ext cx="6932755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Assign 1 partition to 1 executor = 1 Task (= for 1 File Split ~ Block)</a:t>
            </a:r>
          </a:p>
        </p:txBody>
      </p:sp>
      <p:sp>
        <p:nvSpPr>
          <p:cNvPr id="68" name="Arrow: Left-Right 67"/>
          <p:cNvSpPr/>
          <p:nvPr/>
        </p:nvSpPr>
        <p:spPr>
          <a:xfrm rot="19593066">
            <a:off x="4463711" y="4651311"/>
            <a:ext cx="1036027" cy="287139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Arrow: Left-Right 68"/>
          <p:cNvSpPr/>
          <p:nvPr/>
        </p:nvSpPr>
        <p:spPr>
          <a:xfrm rot="19593066">
            <a:off x="7338859" y="4082155"/>
            <a:ext cx="1036027" cy="287139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ZoneTexte 42"/>
          <p:cNvSpPr txBox="1"/>
          <p:nvPr/>
        </p:nvSpPr>
        <p:spPr>
          <a:xfrm>
            <a:off x="3329717" y="4642119"/>
            <a:ext cx="894295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Task 1</a:t>
            </a:r>
          </a:p>
        </p:txBody>
      </p:sp>
      <p:sp>
        <p:nvSpPr>
          <p:cNvPr id="71" name="ZoneTexte 42"/>
          <p:cNvSpPr txBox="1"/>
          <p:nvPr/>
        </p:nvSpPr>
        <p:spPr>
          <a:xfrm>
            <a:off x="3465256" y="4940569"/>
            <a:ext cx="894295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Task 2</a:t>
            </a:r>
          </a:p>
        </p:txBody>
      </p:sp>
      <p:sp>
        <p:nvSpPr>
          <p:cNvPr id="72" name="Forme libre : forme 17"/>
          <p:cNvSpPr/>
          <p:nvPr/>
        </p:nvSpPr>
        <p:spPr>
          <a:xfrm>
            <a:off x="7770239" y="2579355"/>
            <a:ext cx="887430" cy="28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Block1</a:t>
            </a:r>
          </a:p>
        </p:txBody>
      </p:sp>
      <p:sp>
        <p:nvSpPr>
          <p:cNvPr id="73" name="Forme libre : forme 17"/>
          <p:cNvSpPr/>
          <p:nvPr/>
        </p:nvSpPr>
        <p:spPr>
          <a:xfrm>
            <a:off x="8746912" y="2581472"/>
            <a:ext cx="887430" cy="28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Block2</a:t>
            </a:r>
          </a:p>
        </p:txBody>
      </p:sp>
      <p:sp>
        <p:nvSpPr>
          <p:cNvPr id="74" name="ZoneTexte 7"/>
          <p:cNvSpPr txBox="1"/>
          <p:nvPr/>
        </p:nvSpPr>
        <p:spPr>
          <a:xfrm>
            <a:off x="7114776" y="1895971"/>
            <a:ext cx="1674000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Files</a:t>
            </a:r>
          </a:p>
        </p:txBody>
      </p:sp>
      <p:sp>
        <p:nvSpPr>
          <p:cNvPr id="75" name="ZoneTexte 7"/>
          <p:cNvSpPr txBox="1"/>
          <p:nvPr/>
        </p:nvSpPr>
        <p:spPr>
          <a:xfrm>
            <a:off x="8163730" y="2185274"/>
            <a:ext cx="1674000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File Blocks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96335" y="2525767"/>
            <a:ext cx="2059911" cy="4077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Forme libre : forme 26"/>
          <p:cNvSpPr/>
          <p:nvPr/>
        </p:nvSpPr>
        <p:spPr>
          <a:xfrm rot="17974797" flipV="1">
            <a:off x="7787587" y="2044060"/>
            <a:ext cx="313423" cy="39234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78" name="Forme libre : forme 26"/>
          <p:cNvSpPr/>
          <p:nvPr/>
        </p:nvSpPr>
        <p:spPr>
          <a:xfrm rot="17974797" flipV="1">
            <a:off x="6801015" y="1749090"/>
            <a:ext cx="313423" cy="39234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79" name="Forme libre : forme 17"/>
          <p:cNvSpPr/>
          <p:nvPr/>
        </p:nvSpPr>
        <p:spPr>
          <a:xfrm>
            <a:off x="7770239" y="3030488"/>
            <a:ext cx="887430" cy="28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Block1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96335" y="2976900"/>
            <a:ext cx="1050577" cy="4077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Forme libre : forme 17"/>
          <p:cNvSpPr/>
          <p:nvPr/>
        </p:nvSpPr>
        <p:spPr>
          <a:xfrm>
            <a:off x="7770239" y="3498437"/>
            <a:ext cx="887430" cy="28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Block1</a:t>
            </a:r>
          </a:p>
        </p:txBody>
      </p:sp>
      <p:sp>
        <p:nvSpPr>
          <p:cNvPr id="82" name="Forme libre : forme 17"/>
          <p:cNvSpPr/>
          <p:nvPr/>
        </p:nvSpPr>
        <p:spPr>
          <a:xfrm>
            <a:off x="8746912" y="3500554"/>
            <a:ext cx="887430" cy="28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0" tIns="45000" rIns="90000" bIns="45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Block2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96335" y="3444849"/>
            <a:ext cx="2059911" cy="4077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 83"/>
          <p:cNvSpPr/>
          <p:nvPr/>
        </p:nvSpPr>
        <p:spPr>
          <a:xfrm>
            <a:off x="3329717" y="4698192"/>
            <a:ext cx="797742" cy="2667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Rectangle 84"/>
          <p:cNvSpPr/>
          <p:nvPr/>
        </p:nvSpPr>
        <p:spPr>
          <a:xfrm>
            <a:off x="3513532" y="5007288"/>
            <a:ext cx="797742" cy="2667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Forme libre : forme 26"/>
          <p:cNvSpPr/>
          <p:nvPr/>
        </p:nvSpPr>
        <p:spPr>
          <a:xfrm rot="17974797" flipV="1">
            <a:off x="5661148" y="1455261"/>
            <a:ext cx="313423" cy="39234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715409" y="1280618"/>
            <a:ext cx="854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HDFS</a:t>
            </a:r>
            <a:endParaRPr lang="fr-FR"/>
          </a:p>
        </p:txBody>
      </p:sp>
      <p:sp>
        <p:nvSpPr>
          <p:cNvPr id="88" name="Forme libre : forme 13"/>
          <p:cNvSpPr/>
          <p:nvPr/>
        </p:nvSpPr>
        <p:spPr>
          <a:xfrm rot="10800000">
            <a:off x="4109712" y="2723167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90000" tIns="45000" rIns="90000" bIns="45000" anchor="ctr" anchorCtr="0">
            <a:noAutofit/>
          </a:bodyPr>
          <a:lstStyle/>
          <a:p>
            <a:pPr marL="0" marR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89" name="Arrow: Left-Right 88"/>
          <p:cNvSpPr/>
          <p:nvPr/>
        </p:nvSpPr>
        <p:spPr>
          <a:xfrm rot="17819921">
            <a:off x="5645716" y="2345938"/>
            <a:ext cx="933040" cy="287139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ZoneTexte 42"/>
          <p:cNvSpPr txBox="1"/>
          <p:nvPr/>
        </p:nvSpPr>
        <p:spPr>
          <a:xfrm>
            <a:off x="5180310" y="2983262"/>
            <a:ext cx="1717784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>
            <a:sp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Hive Partition..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-1" y="5338"/>
            <a:ext cx="10080625" cy="12903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>
                <a:solidFill>
                  <a:sysClr val="windowText" lastClr="000000"/>
                </a:solidFill>
              </a:rPr>
              <a:t>Recap</a:t>
            </a:r>
            <a:r>
              <a:rPr lang="fr-FR">
                <a:solidFill>
                  <a:sysClr val="windowText" lastClr="000000"/>
                </a:solidFill>
              </a:rPr>
              <a:t> </a:t>
            </a:r>
            <a:r>
              <a:rPr lang="fr-FR">
                <a:solidFill>
                  <a:sysClr val="windowText" lastClr="000000"/>
                </a:solidFill>
              </a:rPr>
              <a:t>Optimizations</a:t>
            </a:r>
            <a:r>
              <a:rPr lang="fr-FR">
                <a:solidFill>
                  <a:sysClr val="windowText" lastClr="000000"/>
                </a:solidFill>
              </a:rPr>
              <a:t> 3/5</a:t>
            </a:r>
          </a:p>
          <a:p>
            <a:pPr rtl="0"/>
            <a:r>
              <a:rPr lang="fr-FR">
                <a:solidFill>
                  <a:sysClr val="windowText" lastClr="000000"/>
                </a:solidFill>
              </a:rPr>
              <a:t>Hive</a:t>
            </a:r>
            <a:r>
              <a:rPr lang="fr-FR">
                <a:solidFill>
                  <a:sysClr val="windowText" lastClr="000000"/>
                </a:solidFill>
              </a:rPr>
              <a:t> </a:t>
            </a:r>
            <a:r>
              <a:rPr lang="fr-FR">
                <a:solidFill>
                  <a:sysClr val="windowText" lastClr="000000"/>
                </a:solidFill>
              </a:rPr>
              <a:t>Metastore</a:t>
            </a:r>
            <a:r>
              <a:rPr lang="fr-FR">
                <a:solidFill>
                  <a:sysClr val="windowText" lastClr="000000"/>
                </a:solidFill>
              </a:rPr>
              <a:t> Partitions </a:t>
            </a:r>
            <a:r>
              <a:rPr lang="fr-FR">
                <a:solidFill>
                  <a:sysClr val="windowText" lastClr="000000"/>
                </a:solidFill>
              </a:rPr>
              <a:t>Pruning</a:t>
            </a:r>
            <a:endParaRPr lang="fr-FR">
              <a:solidFill>
                <a:sysClr val="windowText" lastClr="000000"/>
              </a:solidFill>
            </a:endParaRPr>
          </a:p>
        </p:txBody>
      </p:sp>
      <p:sp>
        <p:nvSpPr>
          <p:cNvPr id="51" name="Organigramme : Disque magnétique 14"/>
          <p:cNvSpPr/>
          <p:nvPr/>
        </p:nvSpPr>
        <p:spPr>
          <a:xfrm>
            <a:off x="1718573" y="2228850"/>
            <a:ext cx="3049200" cy="270129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Organigramme : Disque magnétique 16"/>
          <p:cNvSpPr/>
          <p:nvPr/>
        </p:nvSpPr>
        <p:spPr>
          <a:xfrm>
            <a:off x="5893200" y="1410120"/>
            <a:ext cx="2998800" cy="3706710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ZoneTexte 18"/>
          <p:cNvSpPr txBox="1"/>
          <p:nvPr/>
        </p:nvSpPr>
        <p:spPr>
          <a:xfrm>
            <a:off x="6307200" y="2698200"/>
            <a:ext cx="2473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/data/table1</a:t>
            </a:r>
            <a:endParaRPr lang="fr-FR"/>
          </a:p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/</a:t>
            </a:r>
            <a:r>
              <a:rPr lang="fr-FR"/>
              <a:t>col1=a</a:t>
            </a:r>
          </a:p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/col2=1</a:t>
            </a:r>
          </a:p>
          <a:p>
            <a:r>
              <a:rPr lang="fr-FR"/>
              <a:t>        /file1, file2</a:t>
            </a:r>
          </a:p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/col2=2</a:t>
            </a:r>
          </a:p>
          <a:p>
            <a:r>
              <a:rPr lang="fr-FR"/>
              <a:t>        /file3, file4</a:t>
            </a:r>
          </a:p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/col1=b</a:t>
            </a:r>
          </a:p>
          <a:p>
            <a:r>
              <a: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/col2=1</a:t>
            </a:r>
          </a:p>
        </p:txBody>
      </p:sp>
      <p:sp>
        <p:nvSpPr>
          <p:cNvPr id="54" name="Forme libre : forme 19"/>
          <p:cNvSpPr/>
          <p:nvPr/>
        </p:nvSpPr>
        <p:spPr>
          <a:xfrm>
            <a:off x="1784139" y="3178500"/>
            <a:ext cx="956834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>
                <a:latin typeface="Liberation Sans"/>
                <a:ea typeface="Microsoft YaHei"/>
                <a:cs typeface="Lucida Sans"/>
              </a:rPr>
              <a:t>t</a:t>
            </a:r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able1</a:t>
            </a:r>
          </a:p>
        </p:txBody>
      </p:sp>
      <p:sp>
        <p:nvSpPr>
          <p:cNvPr id="55" name="Forme libre : forme 20"/>
          <p:cNvSpPr/>
          <p:nvPr/>
        </p:nvSpPr>
        <p:spPr>
          <a:xfrm>
            <a:off x="2583235" y="3564720"/>
            <a:ext cx="2059978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(col1=‘a’, col2=1)</a:t>
            </a:r>
          </a:p>
        </p:txBody>
      </p:sp>
      <p:sp>
        <p:nvSpPr>
          <p:cNvPr id="56" name="ZoneTexte 22"/>
          <p:cNvSpPr txBox="1"/>
          <p:nvPr/>
        </p:nvSpPr>
        <p:spPr>
          <a:xfrm>
            <a:off x="6811673" y="1560656"/>
            <a:ext cx="955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HDFS</a:t>
            </a:r>
          </a:p>
        </p:txBody>
      </p:sp>
      <p:cxnSp>
        <p:nvCxnSpPr>
          <p:cNvPr id="59" name="Connecteur droit avec flèche 29"/>
          <p:cNvCxnSpPr/>
          <p:nvPr/>
        </p:nvCxnSpPr>
        <p:spPr>
          <a:xfrm>
            <a:off x="4875773" y="4111200"/>
            <a:ext cx="1827427" cy="159125"/>
          </a:xfrm>
          <a:prstGeom prst="straightConnector1">
            <a:avLst/>
          </a:prstGeom>
          <a:ln w="25400"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769215" y="3241554"/>
            <a:ext cx="1619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Partitions</a:t>
            </a:r>
          </a:p>
        </p:txBody>
      </p:sp>
      <p:sp>
        <p:nvSpPr>
          <p:cNvPr id="62" name="Forme libre : forme 20"/>
          <p:cNvSpPr/>
          <p:nvPr/>
        </p:nvSpPr>
        <p:spPr>
          <a:xfrm>
            <a:off x="2580835" y="3943920"/>
            <a:ext cx="2059978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(col1=‘a’, col2=2)</a:t>
            </a:r>
          </a:p>
        </p:txBody>
      </p:sp>
      <p:sp>
        <p:nvSpPr>
          <p:cNvPr id="63" name="Forme libre : forme 20"/>
          <p:cNvSpPr/>
          <p:nvPr/>
        </p:nvSpPr>
        <p:spPr>
          <a:xfrm>
            <a:off x="2585635" y="4341120"/>
            <a:ext cx="2059978" cy="300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729FCF"/>
          </a:solidFill>
          <a:ln w="18360">
            <a:solidFill>
              <a:srgbClr val="3465A4"/>
            </a:solidFill>
            <a:custDash>
              <a:ds d="800000" sp="300000"/>
            </a:custDash>
          </a:ln>
        </p:spPr>
        <p:txBody>
          <a:bodyPr vert="horz" wrap="square" lIns="99000" tIns="54000" rIns="99000" bIns="54000" anchor="ctr" anchorCtr="0">
            <a:noAutofit/>
          </a:bodyPr>
          <a:lstStyle/>
          <a:p>
            <a:pPr marL="0" marR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>
                <a:ln>
                  <a:noFill/>
                </a:ln>
                <a:latin typeface="Liberation Sans"/>
                <a:ea typeface="Microsoft YaHei"/>
                <a:cs typeface="Lucida Sans"/>
              </a:rPr>
              <a:t>(col1=‘b’, col2=1)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780" y="1595585"/>
            <a:ext cx="5146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CREATE EXTERNAL TABLE table1 ( col3, col4, …</a:t>
            </a:r>
            <a:r>
              <a:rPr lang="fr-FR"/>
              <a:t>colN</a:t>
            </a:r>
            <a:r>
              <a:rPr lang="fr-FR"/>
              <a:t>)</a:t>
            </a:r>
          </a:p>
          <a:p>
            <a:r>
              <a:rPr lang="fr-FR" b="1"/>
              <a:t>PARTITIONED BY (col1 string, col2 </a:t>
            </a:r>
            <a:r>
              <a:rPr lang="fr-FR" b="1"/>
              <a:t>int</a:t>
            </a:r>
            <a:r>
              <a:rPr lang="fr-FR" b="1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51880" y="4816655"/>
            <a:ext cx="29967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Select .. </a:t>
            </a:r>
            <a:r>
              <a:rPr lang="fr-FR"/>
              <a:t>From</a:t>
            </a:r>
            <a:r>
              <a:rPr lang="fr-FR"/>
              <a:t> table1</a:t>
            </a:r>
          </a:p>
          <a:p>
            <a:r>
              <a:rPr lang="fr-FR" b="1"/>
              <a:t>Where</a:t>
            </a:r>
            <a:r>
              <a:rPr lang="fr-FR" b="1"/>
              <a:t> col1=a and col2=2 </a:t>
            </a:r>
            <a:br>
              <a:rPr lang="fr-FR" b="1"/>
            </a:br>
            <a:r>
              <a:rPr lang="fr-FR" b="1"/>
              <a:t>             -- </a:t>
            </a:r>
            <a:r>
              <a:rPr lang="fr-FR" b="1"/>
              <a:t>partitioned</a:t>
            </a:r>
            <a:r>
              <a:rPr lang="fr-FR" b="1"/>
              <a:t> </a:t>
            </a:r>
            <a:r>
              <a:rPr lang="fr-FR" b="1"/>
              <a:t>columns</a:t>
            </a:r>
            <a:endParaRPr lang="fr-FR" b="1"/>
          </a:p>
        </p:txBody>
      </p:sp>
      <p:sp>
        <p:nvSpPr>
          <p:cNvPr id="66" name="ZoneTexte 22"/>
          <p:cNvSpPr txBox="1"/>
          <p:nvPr/>
        </p:nvSpPr>
        <p:spPr>
          <a:xfrm>
            <a:off x="2380661" y="2364565"/>
            <a:ext cx="1725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/>
              <a:t>MetaStore</a:t>
            </a:r>
            <a:endParaRPr lang="fr-FR" sz="2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178" y="201847"/>
            <a:ext cx="10080272" cy="129025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4399">
                <a:solidFill>
                  <a:sysClr val="windowText" lastClr="000000"/>
                </a:solidFill>
              </a:rPr>
              <a:t>Recap</a:t>
            </a:r>
            <a:r>
              <a:rPr lang="fr-FR" sz="4399">
                <a:solidFill>
                  <a:sysClr val="windowText" lastClr="000000"/>
                </a:solidFill>
              </a:rPr>
              <a:t> </a:t>
            </a:r>
            <a:r>
              <a:rPr lang="fr-FR" sz="4399">
                <a:solidFill>
                  <a:sysClr val="windowText" lastClr="000000"/>
                </a:solidFill>
              </a:rPr>
              <a:t>Optimizations</a:t>
            </a:r>
            <a:r>
              <a:rPr lang="fr-FR" sz="4399">
                <a:solidFill>
                  <a:sysClr val="windowText" lastClr="000000"/>
                </a:solidFill>
              </a:rPr>
              <a:t> 4/5</a:t>
            </a:r>
          </a:p>
          <a:p>
            <a:pPr rtl="0"/>
            <a:r>
              <a:rPr lang="fr-FR" sz="3600">
                <a:solidFill>
                  <a:sysClr val="windowText" lastClr="000000"/>
                </a:solidFill>
              </a:rPr>
              <a:t>Columns</a:t>
            </a:r>
            <a:r>
              <a:rPr lang="fr-FR" sz="3600">
                <a:solidFill>
                  <a:sysClr val="windowText" lastClr="000000"/>
                </a:solidFill>
              </a:rPr>
              <a:t> </a:t>
            </a:r>
            <a:r>
              <a:rPr lang="fr-FR" sz="3600">
                <a:solidFill>
                  <a:sysClr val="windowText" lastClr="000000"/>
                </a:solidFill>
              </a:rPr>
              <a:t>Pruning</a:t>
            </a:r>
            <a:endParaRPr lang="fr-FR" sz="3600">
              <a:solidFill>
                <a:sysClr val="windowText" lastClr="000000"/>
              </a:solidFill>
            </a:endParaRPr>
          </a:p>
          <a:p>
            <a:pPr rtl="0"/>
            <a:r>
              <a:rPr lang="fr-FR" sz="3600">
                <a:solidFill>
                  <a:sysClr val="windowText" lastClr="000000"/>
                </a:solidFill>
              </a:rPr>
              <a:t> (</a:t>
            </a:r>
            <a:r>
              <a:rPr lang="fr-FR" sz="3600">
                <a:solidFill>
                  <a:sysClr val="windowText" lastClr="000000"/>
                </a:solidFill>
              </a:rPr>
              <a:t>seek</a:t>
            </a:r>
            <a:r>
              <a:rPr lang="fr-FR" sz="3600">
                <a:solidFill>
                  <a:sysClr val="windowText" lastClr="000000"/>
                </a:solidFill>
              </a:rPr>
              <a:t> in </a:t>
            </a:r>
            <a:r>
              <a:rPr lang="fr-FR" sz="3600">
                <a:solidFill>
                  <a:sysClr val="windowText" lastClr="000000"/>
                </a:solidFill>
              </a:rPr>
              <a:t>Columnar</a:t>
            </a:r>
            <a:r>
              <a:rPr lang="fr-FR" sz="3600">
                <a:solidFill>
                  <a:sysClr val="windowText" lastClr="000000"/>
                </a:solidFill>
              </a:rPr>
              <a:t> Format)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 rotWithShape="1">
          <a:blip r:embed="rId2">
            <a:alphaModFix amt="100000"/>
          </a:blip>
          <a:stretch>
            <a:fillRect/>
          </a:stretch>
        </p:blipFill>
        <p:spPr>
          <a:xfrm>
            <a:off x="4990550" y="3581282"/>
            <a:ext cx="1473933" cy="110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Picture 68"/>
          <p:cNvPicPr>
            <a:picLocks noChangeAspect="1"/>
          </p:cNvPicPr>
          <p:nvPr/>
        </p:nvPicPr>
        <p:blipFill rotWithShape="1">
          <a:blip r:embed="rId3">
            <a:alphaModFix amt="100000"/>
          </a:blip>
          <a:stretch>
            <a:fillRect/>
          </a:stretch>
        </p:blipFill>
        <p:spPr>
          <a:xfrm>
            <a:off x="4678573" y="2766274"/>
            <a:ext cx="1628582" cy="845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Picture 69"/>
          <p:cNvPicPr>
            <a:picLocks noChangeAspect="1"/>
          </p:cNvPicPr>
          <p:nvPr/>
        </p:nvPicPr>
        <p:blipFill rotWithShape="1">
          <a:blip r:embed="rId4">
            <a:alphaModFix amt="100000"/>
          </a:blip>
          <a:stretch>
            <a:fillRect/>
          </a:stretch>
        </p:blipFill>
        <p:spPr>
          <a:xfrm>
            <a:off x="7213245" y="2783912"/>
            <a:ext cx="746972" cy="67101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Forme libre : forme 13"/>
          <p:cNvSpPr/>
          <p:nvPr/>
        </p:nvSpPr>
        <p:spPr>
          <a:xfrm>
            <a:off x="5074560" y="3672001"/>
            <a:ext cx="1211716" cy="90032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56" tIns="63358" rIns="108356" bIns="63358" anchor="ctr" anchorCtr="0">
            <a:noAutofit/>
          </a:bodyPr>
          <a:lstStyle/>
          <a:p>
            <a:pPr hangingPunct="0"/>
            <a:endParaRPr lang="en-US"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72" name="Forme libre : forme 14"/>
          <p:cNvSpPr/>
          <p:nvPr/>
        </p:nvSpPr>
        <p:spPr>
          <a:xfrm>
            <a:off x="4308866" y="2743594"/>
            <a:ext cx="2495792" cy="9132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56" tIns="63358" rIns="108356" bIns="63358" anchor="ctr" anchorCtr="0">
            <a:noAutofit/>
          </a:bodyPr>
          <a:lstStyle/>
          <a:p>
            <a:pPr hangingPunct="0"/>
            <a:endParaRPr lang="en-US"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73" name="Forme libre : forme 15"/>
          <p:cNvSpPr/>
          <p:nvPr/>
        </p:nvSpPr>
        <p:spPr>
          <a:xfrm>
            <a:off x="5372989" y="1821665"/>
            <a:ext cx="2285920" cy="91436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56" tIns="63358" rIns="108356" bIns="63358" anchor="ctr" anchorCtr="0">
            <a:noAutofit/>
          </a:bodyPr>
          <a:lstStyle/>
          <a:p>
            <a:pPr hangingPunct="0"/>
            <a:endParaRPr lang="en-US"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5">
            <a:alphaModFix amt="100000"/>
          </a:blip>
          <a:stretch>
            <a:fillRect/>
          </a:stretch>
        </p:blipFill>
        <p:spPr>
          <a:xfrm>
            <a:off x="5830173" y="1896182"/>
            <a:ext cx="1371551" cy="78477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Forme libre : forme 2"/>
          <p:cNvSpPr/>
          <p:nvPr/>
        </p:nvSpPr>
        <p:spPr>
          <a:xfrm>
            <a:off x="4072744" y="4572329"/>
            <a:ext cx="2937587" cy="91436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56" tIns="63358" rIns="108356" bIns="63358" anchor="ctr" anchorCtr="0">
            <a:noAutofit/>
          </a:bodyPr>
          <a:lstStyle/>
          <a:p>
            <a:pPr hangingPunct="0"/>
            <a:endParaRPr lang="en-US"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76" name="Picture 75"/>
          <p:cNvPicPr>
            <a:picLocks noChangeAspect="1"/>
          </p:cNvPicPr>
          <p:nvPr/>
        </p:nvPicPr>
        <p:blipFill rotWithShape="1">
          <a:blip r:embed="rId6">
            <a:alphaModFix amt="100000"/>
          </a:blip>
          <a:stretch>
            <a:fillRect/>
          </a:stretch>
        </p:blipFill>
        <p:spPr>
          <a:xfrm>
            <a:off x="4446021" y="4686625"/>
            <a:ext cx="2286640" cy="6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TextBox 76"/>
          <p:cNvSpPr txBox="1"/>
          <p:nvPr/>
        </p:nvSpPr>
        <p:spPr>
          <a:xfrm>
            <a:off x="1191094" y="1826279"/>
            <a:ext cx="2881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Select col2, </a:t>
            </a:r>
            <a:r>
              <a:rPr lang="fr-FR"/>
              <a:t>colP</a:t>
            </a:r>
            <a:r>
              <a:rPr lang="fr-FR"/>
              <a:t> </a:t>
            </a:r>
            <a:r>
              <a:rPr lang="fr-FR"/>
              <a:t>from</a:t>
            </a:r>
            <a:r>
              <a:rPr lang="fr-FR"/>
              <a:t> table…</a:t>
            </a:r>
          </a:p>
          <a:p>
            <a:r>
              <a:rPr lang="fr-FR"/>
              <a:t>( prune all </a:t>
            </a:r>
            <a:r>
              <a:rPr lang="fr-FR"/>
              <a:t>other</a:t>
            </a:r>
            <a:r>
              <a:rPr lang="fr-FR"/>
              <a:t> </a:t>
            </a:r>
            <a:r>
              <a:rPr lang="fr-FR"/>
              <a:t>columns</a:t>
            </a:r>
            <a:r>
              <a:rPr lang="fr-FR"/>
              <a:t>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08498" y="2983225"/>
            <a:ext cx="2953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DataSet</a:t>
            </a:r>
            <a:r>
              <a:rPr lang="fr-FR"/>
              <a:t> / RDD on Parquet file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46595" y="4049512"/>
            <a:ext cx="2408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Parquet API </a:t>
            </a:r>
          </a:p>
          <a:p>
            <a:r>
              <a:rPr lang="fr-FR"/>
              <a:t>to </a:t>
            </a:r>
            <a:r>
              <a:rPr lang="fr-FR"/>
              <a:t>read</a:t>
            </a:r>
            <a:r>
              <a:rPr lang="fr-FR"/>
              <a:t> </a:t>
            </a:r>
            <a:r>
              <a:rPr lang="fr-FR"/>
              <a:t>columns</a:t>
            </a:r>
            <a:r>
              <a:rPr lang="fr-FR"/>
              <a:t> </a:t>
            </a:r>
            <a:r>
              <a:rPr lang="fr-FR"/>
              <a:t>chunks</a:t>
            </a:r>
            <a:endParaRPr lang="fr-FR"/>
          </a:p>
        </p:txBody>
      </p:sp>
      <p:sp>
        <p:nvSpPr>
          <p:cNvPr id="80" name="TextBox 79"/>
          <p:cNvSpPr txBox="1"/>
          <p:nvPr/>
        </p:nvSpPr>
        <p:spPr>
          <a:xfrm>
            <a:off x="1246596" y="4931140"/>
            <a:ext cx="1022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Fewer</a:t>
            </a:r>
            <a:r>
              <a:rPr lang="fr-FR"/>
              <a:t> IO</a:t>
            </a:r>
          </a:p>
        </p:txBody>
      </p:sp>
      <p:sp>
        <p:nvSpPr>
          <p:cNvPr id="81" name="Arrow: Curved Right 80"/>
          <p:cNvSpPr/>
          <p:nvPr/>
        </p:nvSpPr>
        <p:spPr>
          <a:xfrm>
            <a:off x="2728170" y="3513125"/>
            <a:ext cx="326486" cy="52438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2" name="Arrow: Curved Right 81"/>
          <p:cNvSpPr/>
          <p:nvPr/>
        </p:nvSpPr>
        <p:spPr>
          <a:xfrm>
            <a:off x="2720559" y="4766005"/>
            <a:ext cx="326486" cy="52438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3" name="Arrow: Curved Right 82"/>
          <p:cNvSpPr/>
          <p:nvPr/>
        </p:nvSpPr>
        <p:spPr>
          <a:xfrm>
            <a:off x="2711435" y="2439100"/>
            <a:ext cx="326486" cy="52438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4" name="Arrow: Down 83"/>
          <p:cNvSpPr/>
          <p:nvPr/>
        </p:nvSpPr>
        <p:spPr>
          <a:xfrm rot="16200000">
            <a:off x="4602083" y="3324490"/>
            <a:ext cx="232402" cy="13478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Arrow: Down 84"/>
          <p:cNvSpPr/>
          <p:nvPr/>
        </p:nvSpPr>
        <p:spPr>
          <a:xfrm rot="16200000">
            <a:off x="4823990" y="3579344"/>
            <a:ext cx="232402" cy="13504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6381913" y="3810799"/>
            <a:ext cx="168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Seek</a:t>
            </a:r>
            <a:r>
              <a:rPr lang="fr-FR"/>
              <a:t> / </a:t>
            </a:r>
            <a:r>
              <a:rPr lang="fr-FR"/>
              <a:t>read</a:t>
            </a:r>
            <a:r>
              <a:rPr lang="fr-FR"/>
              <a:t> </a:t>
            </a:r>
          </a:p>
          <a:p>
            <a:r>
              <a:rPr lang="fr-FR"/>
              <a:t>columns</a:t>
            </a:r>
            <a:r>
              <a:rPr lang="fr-FR"/>
              <a:t> </a:t>
            </a:r>
            <a:r>
              <a:rPr lang="fr-FR"/>
              <a:t>chunks</a:t>
            </a:r>
            <a:endParaRPr lang="fr-FR"/>
          </a:p>
        </p:txBody>
      </p:sp>
      <p:grpSp>
        <p:nvGrpSpPr>
          <p:cNvPr id="17" name="Group 16"/>
          <p:cNvGrpSpPr/>
          <p:nvPr/>
        </p:nvGrpSpPr>
        <p:grpSpPr>
          <a:xfrm>
            <a:off x="7903452" y="3513033"/>
            <a:ext cx="2085571" cy="2012984"/>
            <a:chOff x="5377230" y="2379400"/>
            <a:chExt cx="4809349" cy="2898853"/>
          </a:xfrm>
        </p:grpSpPr>
        <p:cxnSp>
          <p:nvCxnSpPr>
            <p:cNvPr id="86" name="Straight Arrow Connector 85"/>
            <p:cNvCxnSpPr>
              <a:stCxn id="87" idx="2"/>
              <a:endCxn id="91" idx="0"/>
            </p:cNvCxnSpPr>
            <p:nvPr/>
          </p:nvCxnSpPr>
          <p:spPr>
            <a:xfrm>
              <a:off x="6222261" y="3075394"/>
              <a:ext cx="3810" cy="194062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5377230" y="2720816"/>
              <a:ext cx="1690059" cy="354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/>
                <a:t>Row1-col1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794550" y="2720816"/>
              <a:ext cx="1690059" cy="354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/>
                <a:t>Row1-col2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455858" y="2720816"/>
              <a:ext cx="1690059" cy="354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/>
                <a:t>Row1-colP</a:t>
              </a:r>
            </a:p>
          </p:txBody>
        </p:sp>
        <p:cxnSp>
          <p:nvCxnSpPr>
            <p:cNvPr id="90" name="Straight Arrow Connector 89"/>
            <p:cNvCxnSpPr/>
            <p:nvPr/>
          </p:nvCxnSpPr>
          <p:spPr>
            <a:xfrm>
              <a:off x="5960307" y="3585448"/>
              <a:ext cx="0" cy="213122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5381040" y="3269456"/>
              <a:ext cx="1690059" cy="354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/>
                <a:t>Row2-col1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798362" y="3269456"/>
              <a:ext cx="1690059" cy="354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/>
                <a:t>Row2-col2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459665" y="3269456"/>
              <a:ext cx="1690059" cy="354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/>
                <a:t>Row2-colP</a:t>
              </a:r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5971444" y="4335780"/>
              <a:ext cx="1" cy="24407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/>
            <p:cNvSpPr txBox="1"/>
            <p:nvPr/>
          </p:nvSpPr>
          <p:spPr>
            <a:xfrm>
              <a:off x="5377230" y="4474052"/>
              <a:ext cx="1730721" cy="354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/>
                <a:t>RowN-col1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794548" y="4474052"/>
              <a:ext cx="1730721" cy="354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/>
                <a:t>RowN-col2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8455858" y="4474052"/>
              <a:ext cx="1730721" cy="354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/>
                <a:t>RowN-colP</a:t>
              </a:r>
              <a:endParaRPr lang="fr-FR" sz="1000"/>
            </a:p>
          </p:txBody>
        </p:sp>
        <p:cxnSp>
          <p:nvCxnSpPr>
            <p:cNvPr id="98" name="Straight Arrow Connector 97"/>
            <p:cNvCxnSpPr/>
            <p:nvPr/>
          </p:nvCxnSpPr>
          <p:spPr>
            <a:xfrm>
              <a:off x="7331907" y="3063478"/>
              <a:ext cx="3810" cy="179308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/>
            <p:nvPr/>
          </p:nvCxnSpPr>
          <p:spPr>
            <a:xfrm>
              <a:off x="7331907" y="3558778"/>
              <a:ext cx="0" cy="213122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>
              <a:off x="7343044" y="4309110"/>
              <a:ext cx="1" cy="24407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>
              <a:off x="9000687" y="3074908"/>
              <a:ext cx="3810" cy="179308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9000687" y="3570208"/>
              <a:ext cx="0" cy="213122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>
              <a:off x="9011824" y="4320540"/>
              <a:ext cx="1" cy="24407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Freeform: Shape 103"/>
            <p:cNvSpPr/>
            <p:nvPr/>
          </p:nvSpPr>
          <p:spPr>
            <a:xfrm>
              <a:off x="6108825" y="2379400"/>
              <a:ext cx="962840" cy="2841700"/>
            </a:xfrm>
            <a:custGeom>
              <a:avLst/>
              <a:gdLst/>
              <a:ahLst/>
              <a:cxnLst/>
              <a:rect l="l" t="t" r="r" b="b"/>
              <a:pathLst>
                <a:path w="1158240" h="2841700">
                  <a:moveTo>
                    <a:pt x="0" y="2363304"/>
                  </a:moveTo>
                  <a:cubicBezTo>
                    <a:pt x="95567" y="2750336"/>
                    <a:pt x="285115" y="3209759"/>
                    <a:pt x="464820" y="2367114"/>
                  </a:cubicBezTo>
                  <a:cubicBezTo>
                    <a:pt x="644525" y="1524469"/>
                    <a:pt x="604520" y="1102829"/>
                    <a:pt x="735330" y="439254"/>
                  </a:cubicBezTo>
                  <a:cubicBezTo>
                    <a:pt x="858520" y="-182411"/>
                    <a:pt x="949325" y="-102084"/>
                    <a:pt x="1158240" y="416394"/>
                  </a:cubicBezTo>
                </a:path>
              </a:pathLst>
            </a:custGeom>
            <a:noFill/>
            <a:ln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/>
            </a:p>
          </p:txBody>
        </p:sp>
        <p:sp>
          <p:nvSpPr>
            <p:cNvPr id="105" name="Freeform: Shape 104"/>
            <p:cNvSpPr/>
            <p:nvPr/>
          </p:nvSpPr>
          <p:spPr>
            <a:xfrm>
              <a:off x="7449617" y="2426670"/>
              <a:ext cx="912489" cy="2841700"/>
            </a:xfrm>
            <a:custGeom>
              <a:avLst/>
              <a:gdLst/>
              <a:ahLst/>
              <a:cxnLst/>
              <a:rect l="l" t="t" r="r" b="b"/>
              <a:pathLst>
                <a:path w="1158240" h="2841700">
                  <a:moveTo>
                    <a:pt x="0" y="2363304"/>
                  </a:moveTo>
                  <a:cubicBezTo>
                    <a:pt x="95567" y="2750336"/>
                    <a:pt x="285115" y="3209759"/>
                    <a:pt x="464820" y="2367114"/>
                  </a:cubicBezTo>
                  <a:cubicBezTo>
                    <a:pt x="644525" y="1524469"/>
                    <a:pt x="604520" y="1102829"/>
                    <a:pt x="735330" y="439254"/>
                  </a:cubicBezTo>
                  <a:cubicBezTo>
                    <a:pt x="858520" y="-182411"/>
                    <a:pt x="949325" y="-102084"/>
                    <a:pt x="1158240" y="416394"/>
                  </a:cubicBezTo>
                </a:path>
              </a:pathLst>
            </a:custGeom>
            <a:noFill/>
            <a:ln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/>
            </a:p>
          </p:txBody>
        </p:sp>
        <p:sp>
          <p:nvSpPr>
            <p:cNvPr id="106" name="Freeform: Shape 105"/>
            <p:cNvSpPr/>
            <p:nvPr/>
          </p:nvSpPr>
          <p:spPr>
            <a:xfrm>
              <a:off x="7940722" y="2436553"/>
              <a:ext cx="849514" cy="2841700"/>
            </a:xfrm>
            <a:custGeom>
              <a:avLst/>
              <a:gdLst/>
              <a:ahLst/>
              <a:cxnLst/>
              <a:rect l="l" t="t" r="r" b="b"/>
              <a:pathLst>
                <a:path w="1158240" h="2841700">
                  <a:moveTo>
                    <a:pt x="0" y="2363304"/>
                  </a:moveTo>
                  <a:cubicBezTo>
                    <a:pt x="95567" y="2750336"/>
                    <a:pt x="285115" y="3209759"/>
                    <a:pt x="464820" y="2367114"/>
                  </a:cubicBezTo>
                  <a:cubicBezTo>
                    <a:pt x="644525" y="1524469"/>
                    <a:pt x="604520" y="1102829"/>
                    <a:pt x="735330" y="439254"/>
                  </a:cubicBezTo>
                  <a:cubicBezTo>
                    <a:pt x="858520" y="-182411"/>
                    <a:pt x="949325" y="-102084"/>
                    <a:pt x="1158240" y="416394"/>
                  </a:cubicBezTo>
                </a:path>
              </a:pathLst>
            </a:custGeom>
            <a:noFill/>
            <a:ln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177" y="5437"/>
            <a:ext cx="10080272" cy="129025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4399">
                <a:solidFill>
                  <a:sysClr val="windowText" lastClr="000000"/>
                </a:solidFill>
              </a:rPr>
              <a:t>Recap</a:t>
            </a:r>
            <a:r>
              <a:rPr lang="fr-FR" sz="4399">
                <a:solidFill>
                  <a:sysClr val="windowText" lastClr="000000"/>
                </a:solidFill>
              </a:rPr>
              <a:t> </a:t>
            </a:r>
            <a:r>
              <a:rPr lang="fr-FR" sz="4399">
                <a:solidFill>
                  <a:sysClr val="windowText" lastClr="000000"/>
                </a:solidFill>
              </a:rPr>
              <a:t>Optimizations</a:t>
            </a:r>
            <a:r>
              <a:rPr lang="fr-FR" sz="4399">
                <a:solidFill>
                  <a:sysClr val="windowText" lastClr="000000"/>
                </a:solidFill>
              </a:rPr>
              <a:t> 5/5</a:t>
            </a:r>
          </a:p>
          <a:p>
            <a:pPr rtl="0"/>
            <a:r>
              <a:rPr lang="fr-FR" sz="3600">
                <a:solidFill>
                  <a:sysClr val="windowText" lastClr="000000"/>
                </a:solidFill>
              </a:rPr>
              <a:t>PredicatePushDown</a:t>
            </a:r>
            <a:r>
              <a:rPr lang="fr-FR" sz="3600">
                <a:solidFill>
                  <a:sysClr val="windowText" lastClr="000000"/>
                </a:solidFill>
              </a:rPr>
              <a:t> (min-max </a:t>
            </a:r>
            <a:r>
              <a:rPr lang="fr-FR" sz="3600">
                <a:solidFill>
                  <a:sysClr val="windowText" lastClr="000000"/>
                </a:solidFill>
              </a:rPr>
              <a:t>statistics</a:t>
            </a:r>
            <a:r>
              <a:rPr lang="fr-FR" sz="3600">
                <a:solidFill>
                  <a:sysClr val="windowText" lastClr="000000"/>
                </a:solidFill>
              </a:rPr>
              <a:t>/Bloom)</a:t>
            </a: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 rotWithShape="1">
          <a:blip r:embed="rId2">
            <a:alphaModFix amt="100000"/>
          </a:blip>
          <a:stretch>
            <a:fillRect/>
          </a:stretch>
        </p:blipFill>
        <p:spPr>
          <a:xfrm>
            <a:off x="4990550" y="3234585"/>
            <a:ext cx="1473933" cy="1105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Picture 68"/>
          <p:cNvPicPr>
            <a:picLocks noChangeAspect="1"/>
          </p:cNvPicPr>
          <p:nvPr/>
        </p:nvPicPr>
        <p:blipFill rotWithShape="1">
          <a:blip r:embed="rId3">
            <a:alphaModFix amt="100000"/>
          </a:blip>
          <a:stretch>
            <a:fillRect/>
          </a:stretch>
        </p:blipFill>
        <p:spPr>
          <a:xfrm>
            <a:off x="4678573" y="2419575"/>
            <a:ext cx="1628582" cy="845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Picture 69"/>
          <p:cNvPicPr>
            <a:picLocks noChangeAspect="1"/>
          </p:cNvPicPr>
          <p:nvPr/>
        </p:nvPicPr>
        <p:blipFill rotWithShape="1">
          <a:blip r:embed="rId4">
            <a:alphaModFix amt="100000"/>
          </a:blip>
          <a:stretch>
            <a:fillRect/>
          </a:stretch>
        </p:blipFill>
        <p:spPr>
          <a:xfrm>
            <a:off x="7213245" y="2437215"/>
            <a:ext cx="746972" cy="67101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Forme libre : forme 13"/>
          <p:cNvSpPr/>
          <p:nvPr/>
        </p:nvSpPr>
        <p:spPr>
          <a:xfrm>
            <a:off x="5074560" y="3325303"/>
            <a:ext cx="1211716" cy="90032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56" tIns="63358" rIns="108356" bIns="63358" anchor="ctr" anchorCtr="0">
            <a:noAutofit/>
          </a:bodyPr>
          <a:lstStyle/>
          <a:p>
            <a:pPr hangingPunct="0"/>
            <a:endParaRPr lang="en-US"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72" name="Forme libre : forme 14"/>
          <p:cNvSpPr/>
          <p:nvPr/>
        </p:nvSpPr>
        <p:spPr>
          <a:xfrm>
            <a:off x="4308866" y="2396896"/>
            <a:ext cx="2495792" cy="9132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56" tIns="63358" rIns="108356" bIns="63358" anchor="ctr" anchorCtr="0">
            <a:noAutofit/>
          </a:bodyPr>
          <a:lstStyle/>
          <a:p>
            <a:pPr hangingPunct="0"/>
            <a:endParaRPr lang="en-US">
              <a:latin typeface="Liberation Sans"/>
              <a:ea typeface="Microsoft YaHei"/>
              <a:cs typeface="Lucida Sans"/>
            </a:endParaRPr>
          </a:p>
        </p:txBody>
      </p:sp>
      <p:sp>
        <p:nvSpPr>
          <p:cNvPr id="73" name="Forme libre : forme 15"/>
          <p:cNvSpPr/>
          <p:nvPr/>
        </p:nvSpPr>
        <p:spPr>
          <a:xfrm>
            <a:off x="5372989" y="1474967"/>
            <a:ext cx="2285920" cy="91436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56" tIns="63358" rIns="108356" bIns="63358" anchor="ctr" anchorCtr="0">
            <a:noAutofit/>
          </a:bodyPr>
          <a:lstStyle/>
          <a:p>
            <a:pPr hangingPunct="0"/>
            <a:endParaRPr lang="en-US"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 rotWithShape="1">
          <a:blip r:embed="rId5">
            <a:alphaModFix amt="100000"/>
          </a:blip>
          <a:stretch>
            <a:fillRect/>
          </a:stretch>
        </p:blipFill>
        <p:spPr>
          <a:xfrm>
            <a:off x="5830173" y="1549485"/>
            <a:ext cx="1371551" cy="78477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Forme libre : forme 2"/>
          <p:cNvSpPr/>
          <p:nvPr/>
        </p:nvSpPr>
        <p:spPr>
          <a:xfrm>
            <a:off x="4072744" y="4225631"/>
            <a:ext cx="2937587" cy="91436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6720">
            <a:solidFill>
              <a:srgbClr val="3465A4"/>
            </a:solidFill>
            <a:prstDash val="solid"/>
          </a:ln>
        </p:spPr>
        <p:txBody>
          <a:bodyPr wrap="square" lIns="108356" tIns="63358" rIns="108356" bIns="63358" anchor="ctr" anchorCtr="0">
            <a:noAutofit/>
          </a:bodyPr>
          <a:lstStyle/>
          <a:p>
            <a:pPr hangingPunct="0"/>
            <a:endParaRPr lang="en-US">
              <a:latin typeface="Liberation Sans"/>
              <a:ea typeface="Microsoft YaHei"/>
              <a:cs typeface="Lucida Sans"/>
            </a:endParaRPr>
          </a:p>
        </p:txBody>
      </p:sp>
      <p:pic>
        <p:nvPicPr>
          <p:cNvPr id="76" name="Picture 75"/>
          <p:cNvPicPr>
            <a:picLocks noChangeAspect="1"/>
          </p:cNvPicPr>
          <p:nvPr/>
        </p:nvPicPr>
        <p:blipFill rotWithShape="1">
          <a:blip r:embed="rId6">
            <a:alphaModFix amt="100000"/>
          </a:blip>
          <a:stretch>
            <a:fillRect/>
          </a:stretch>
        </p:blipFill>
        <p:spPr>
          <a:xfrm>
            <a:off x="4446021" y="4339927"/>
            <a:ext cx="2286640" cy="6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TextBox 76"/>
          <p:cNvSpPr txBox="1"/>
          <p:nvPr/>
        </p:nvSpPr>
        <p:spPr>
          <a:xfrm>
            <a:off x="1191094" y="1479581"/>
            <a:ext cx="2881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Select col2, </a:t>
            </a:r>
            <a:r>
              <a:rPr lang="fr-FR"/>
              <a:t>colP</a:t>
            </a:r>
            <a:r>
              <a:rPr lang="fr-FR"/>
              <a:t> </a:t>
            </a:r>
            <a:r>
              <a:rPr lang="fr-FR"/>
              <a:t>from</a:t>
            </a:r>
            <a:r>
              <a:rPr lang="fr-FR"/>
              <a:t> table…</a:t>
            </a:r>
          </a:p>
          <a:p>
            <a:r>
              <a:rPr lang="fr-FR"/>
              <a:t>( prune all </a:t>
            </a:r>
            <a:r>
              <a:rPr lang="fr-FR"/>
              <a:t>other</a:t>
            </a:r>
            <a:r>
              <a:rPr lang="fr-FR"/>
              <a:t> </a:t>
            </a:r>
            <a:r>
              <a:rPr lang="fr-FR"/>
              <a:t>columns</a:t>
            </a:r>
            <a:r>
              <a:rPr lang="fr-FR"/>
              <a:t>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08498" y="2636528"/>
            <a:ext cx="2953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DataSet</a:t>
            </a:r>
            <a:r>
              <a:rPr lang="fr-FR"/>
              <a:t> / RDD on Parquet file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46595" y="3702815"/>
            <a:ext cx="2408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Parquet API </a:t>
            </a:r>
          </a:p>
          <a:p>
            <a:r>
              <a:rPr lang="fr-FR"/>
              <a:t>to </a:t>
            </a:r>
            <a:r>
              <a:rPr lang="fr-FR"/>
              <a:t>read</a:t>
            </a:r>
            <a:r>
              <a:rPr lang="fr-FR"/>
              <a:t> </a:t>
            </a:r>
            <a:r>
              <a:rPr lang="fr-FR"/>
              <a:t>columns</a:t>
            </a:r>
            <a:r>
              <a:rPr lang="fr-FR"/>
              <a:t> </a:t>
            </a:r>
            <a:r>
              <a:rPr lang="fr-FR"/>
              <a:t>chunks</a:t>
            </a:r>
            <a:endParaRPr lang="fr-FR"/>
          </a:p>
        </p:txBody>
      </p:sp>
      <p:sp>
        <p:nvSpPr>
          <p:cNvPr id="80" name="TextBox 79"/>
          <p:cNvSpPr txBox="1"/>
          <p:nvPr/>
        </p:nvSpPr>
        <p:spPr>
          <a:xfrm>
            <a:off x="1246596" y="4584441"/>
            <a:ext cx="1022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Fewer</a:t>
            </a:r>
            <a:r>
              <a:rPr lang="fr-FR"/>
              <a:t> IO</a:t>
            </a:r>
          </a:p>
        </p:txBody>
      </p:sp>
      <p:sp>
        <p:nvSpPr>
          <p:cNvPr id="81" name="Arrow: Curved Right 80"/>
          <p:cNvSpPr/>
          <p:nvPr/>
        </p:nvSpPr>
        <p:spPr>
          <a:xfrm>
            <a:off x="2728170" y="3166428"/>
            <a:ext cx="326486" cy="52438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2" name="Arrow: Curved Right 81"/>
          <p:cNvSpPr/>
          <p:nvPr/>
        </p:nvSpPr>
        <p:spPr>
          <a:xfrm>
            <a:off x="2720559" y="4419307"/>
            <a:ext cx="326486" cy="52438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3" name="Arrow: Curved Right 82"/>
          <p:cNvSpPr/>
          <p:nvPr/>
        </p:nvSpPr>
        <p:spPr>
          <a:xfrm>
            <a:off x="2711435" y="2092402"/>
            <a:ext cx="326486" cy="52438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4" name="Arrow: Down 83"/>
          <p:cNvSpPr/>
          <p:nvPr/>
        </p:nvSpPr>
        <p:spPr>
          <a:xfrm rot="16200000">
            <a:off x="4602083" y="2977793"/>
            <a:ext cx="232402" cy="13478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Arrow: Down 84"/>
          <p:cNvSpPr/>
          <p:nvPr/>
        </p:nvSpPr>
        <p:spPr>
          <a:xfrm rot="16200000">
            <a:off x="4823990" y="3232646"/>
            <a:ext cx="232402" cy="13504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/>
          <p:cNvSpPr txBox="1"/>
          <p:nvPr/>
        </p:nvSpPr>
        <p:spPr>
          <a:xfrm>
            <a:off x="6318394" y="3297868"/>
            <a:ext cx="24709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Test for </a:t>
            </a:r>
            <a:r>
              <a:rPr lang="fr-FR" b="1"/>
              <a:t>skip</a:t>
            </a:r>
            <a:r>
              <a:rPr lang="fr-FR"/>
              <a:t> </a:t>
            </a:r>
            <a:r>
              <a:rPr lang="fr-FR" b="1"/>
              <a:t>RowGroups</a:t>
            </a:r>
            <a:br>
              <a:rPr lang="fr-FR" b="1"/>
            </a:br>
            <a:r>
              <a:rPr lang="fr-FR"/>
              <a:t>Where</a:t>
            </a:r>
            <a:r>
              <a:rPr lang="fr-FR"/>
              <a:t> col=?</a:t>
            </a:r>
          </a:p>
          <a:p>
            <a:r>
              <a:rPr lang="fr-FR" b="1"/>
              <a:t>by min/max</a:t>
            </a:r>
          </a:p>
        </p:txBody>
      </p:sp>
      <p:sp>
        <p:nvSpPr>
          <p:cNvPr id="24" name="Arrow: Down 23"/>
          <p:cNvSpPr/>
          <p:nvPr/>
        </p:nvSpPr>
        <p:spPr>
          <a:xfrm>
            <a:off x="5438907" y="3147423"/>
            <a:ext cx="1203255" cy="337188"/>
          </a:xfrm>
          <a:prstGeom prst="downArrow">
            <a:avLst>
              <a:gd name="adj1" fmla="val 44934"/>
              <a:gd name="adj2" fmla="val 73729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: Folded Corner 24"/>
          <p:cNvSpPr/>
          <p:nvPr/>
        </p:nvSpPr>
        <p:spPr>
          <a:xfrm>
            <a:off x="7956510" y="3592629"/>
            <a:ext cx="2054911" cy="94869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/>
              <a:t>Col </a:t>
            </a:r>
            <a:r>
              <a:rPr lang="fr-FR"/>
              <a:t>Statistics</a:t>
            </a:r>
            <a:r>
              <a:rPr lang="fr-FR"/>
              <a:t>:</a:t>
            </a:r>
          </a:p>
          <a:p>
            <a:r>
              <a:rPr lang="fr-FR" b="1"/>
              <a:t>min(col)</a:t>
            </a:r>
            <a:r>
              <a:rPr lang="fr-FR"/>
              <a:t>=m</a:t>
            </a:r>
          </a:p>
          <a:p>
            <a:r>
              <a:rPr lang="fr-FR" b="1"/>
              <a:t>max(col)=</a:t>
            </a:r>
            <a:r>
              <a:rPr lang="fr-FR"/>
              <a:t>M</a:t>
            </a:r>
          </a:p>
        </p:txBody>
      </p:sp>
      <p:sp>
        <p:nvSpPr>
          <p:cNvPr id="26" name="Rectangle: Folded Corner 25"/>
          <p:cNvSpPr/>
          <p:nvPr/>
        </p:nvSpPr>
        <p:spPr>
          <a:xfrm>
            <a:off x="7970007" y="2979508"/>
            <a:ext cx="2041414" cy="360207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Col  </a:t>
            </a:r>
            <a:r>
              <a:rPr lang="fr-FR"/>
              <a:t>chunk</a:t>
            </a:r>
            <a:endParaRPr lang="fr-FR"/>
          </a:p>
        </p:txBody>
      </p:sp>
      <p:sp>
        <p:nvSpPr>
          <p:cNvPr id="27" name="Rectangle: Folded Corner 26"/>
          <p:cNvSpPr/>
          <p:nvPr/>
        </p:nvSpPr>
        <p:spPr>
          <a:xfrm>
            <a:off x="7960217" y="4584441"/>
            <a:ext cx="2054911" cy="94869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/>
              <a:t>Col Bloom </a:t>
            </a:r>
            <a:r>
              <a:rPr lang="fr-FR" sz="1600"/>
              <a:t>masks</a:t>
            </a:r>
            <a:r>
              <a:rPr lang="fr-FR" sz="1600"/>
              <a:t>{1..k}</a:t>
            </a:r>
          </a:p>
          <a:p>
            <a:r>
              <a:rPr lang="fr-FR" b="1"/>
              <a:t>01001101011010101000111010</a:t>
            </a:r>
            <a:endParaRPr lang="fr-F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/>
          <p:nvPr/>
        </p:nvSpPr>
        <p:spPr>
          <a:xfrm>
            <a:off x="-148413" y="2190147"/>
            <a:ext cx="10080272" cy="129025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rgbClr val="000000">
                    <a:alpha val="0"/>
                  </a:srgbClr>
                </a:highlight>
                <a:latin typeface="Liberation Sans"/>
                <a:ea typeface="Microsoft YaHei"/>
              </a:defRPr>
            </a:lvl1pPr>
          </a:lstStyle>
          <a:p>
            <a:pPr rtl="0"/>
            <a:r>
              <a:rPr lang="fr-FR" sz="4399">
                <a:solidFill>
                  <a:sysClr val="windowText" lastClr="000000"/>
                </a:solidFill>
              </a:rPr>
              <a:t>Next… part 5</a:t>
            </a:r>
          </a:p>
          <a:p>
            <a:pPr rtl="0"/>
            <a:r>
              <a:rPr lang="fr-FR" sz="3600">
                <a:solidFill>
                  <a:sysClr val="windowText" lastClr="000000"/>
                </a:solidFill>
              </a:rPr>
              <a:t>Spark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64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arnaud.nauwynck@gmail.com</dc:title>
  <dc:creator>arnaud</dc:creator>
  <cp:lastModifiedBy>NAUWYNCK Arnaud</cp:lastModifiedBy>
  <cp:revision>139</cp:revision>
  <dcterms:created xsi:type="dcterms:W3CDTF">2021-12-23T15:22:14Z</dcterms:created>
  <dcterms:modified xsi:type="dcterms:W3CDTF">2024-12-04T08:14:57Z</dcterms:modified>
</cp:coreProperties>
</file>