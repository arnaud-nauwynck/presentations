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bin" ContentType="application/vnd.openxmlformats-officedocument.oleObject"/>
  <Default Extension="wmf" ContentType="image/x-wmf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25" r:id="rId72"/>
    <p:sldId id="326" r:id="rId73"/>
    <p:sldId id="327" r:id="rId74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C8753EA-CB70-4392-8250-16E8700934D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</p14:sldIdLst>
        </p14:section>
      </p14:sectionLst>
    </p:ext>
    <p:ext xmlns:p="http://schemas.openxmlformats.org/presentationml/2006/main"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60" Type="http://schemas.openxmlformats.org/officeDocument/2006/relationships/slide" Target="slides/slide58.xml"/><Relationship Id="rId61" Type="http://schemas.openxmlformats.org/officeDocument/2006/relationships/slide" Target="slides/slide59.xml"/><Relationship Id="rId62" Type="http://schemas.openxmlformats.org/officeDocument/2006/relationships/slide" Target="slides/slide60.xml"/><Relationship Id="rId63" Type="http://schemas.openxmlformats.org/officeDocument/2006/relationships/slide" Target="slides/slide61.xml"/><Relationship Id="rId64" Type="http://schemas.openxmlformats.org/officeDocument/2006/relationships/slide" Target="slides/slide62.xml"/><Relationship Id="rId65" Type="http://schemas.openxmlformats.org/officeDocument/2006/relationships/slide" Target="slides/slide63.xml"/><Relationship Id="rId66" Type="http://schemas.openxmlformats.org/officeDocument/2006/relationships/slide" Target="slides/slide64.xml"/><Relationship Id="rId67" Type="http://schemas.openxmlformats.org/officeDocument/2006/relationships/slide" Target="slides/slide65.xml"/><Relationship Id="rId68" Type="http://schemas.openxmlformats.org/officeDocument/2006/relationships/slide" Target="slides/slide66.xml"/><Relationship Id="rId69" Type="http://schemas.openxmlformats.org/officeDocument/2006/relationships/slide" Target="slides/slide67.xml"/><Relationship Id="rId70" Type="http://schemas.openxmlformats.org/officeDocument/2006/relationships/slide" Target="slides/slide68.xml"/><Relationship Id="rId71" Type="http://schemas.openxmlformats.org/officeDocument/2006/relationships/slide" Target="slides/slide69.xml"/><Relationship Id="rId72" Type="http://schemas.openxmlformats.org/officeDocument/2006/relationships/slide" Target="slides/slide70.xml"/><Relationship Id="rId73" Type="http://schemas.openxmlformats.org/officeDocument/2006/relationships/slide" Target="slides/slide71.xml"/><Relationship Id="rId74" Type="http://schemas.openxmlformats.org/officeDocument/2006/relationships/slide" Target="slides/slide72.xml"/><Relationship Id="rId75" Type="http://schemas.openxmlformats.org/officeDocument/2006/relationships/theme" Target="theme/theme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98F326-38F9-40E9-844A-EC66DA56CEC0}" type="datetimeFigureOut">
              <a:rPr lang="fr-FR"/>
              <a:t>05/01/2025</a:t>
            </a:fld>
            <a:endParaRPr lang="fr-FR"/>
          </a:p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DB33E-DF1A-4DDD-8617-8BEBD58B3BBA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5B21-E8EE-4505-87E0-7B7F2C3DBBD0}" type="datetimeFigureOut">
              <a:rPr lang="fr-FR"/>
              <a:t>05/01/2025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C6D5D-A00E-4AA9-84F2-364CBECE0EEA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609E6-1126-4CCC-8F95-892B304C12E9}" type="datetimeFigureOut">
              <a:rPr lang="fr-FR"/>
              <a:t>05/01/2025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D0F9E-EF7E-4C26-8662-25A73F2263DD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3082BF-5467-4883-8896-824F7369BC9A}" type="datetimeFigureOut">
              <a:rPr lang="fr-FR"/>
              <a:t>05/01/2025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18080-B33E-4073-8615-72D8F5AE8F78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66248-C912-41CA-84D9-08E1C7982093}" type="datetimeFigureOut">
              <a:rPr lang="fr-FR"/>
              <a:t>05/01/2025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B9569-04AF-4288-8880-64CE52ABE7A3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FB636-F4D9-4299-85F9-44D23E27C49C}" type="datetimeFigureOut">
              <a:rPr lang="fr-FR"/>
              <a:t>05/01/2025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33E07-937E-4FED-8300-891295843456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AC346-E4DF-45C0-848B-E2AC5513E0D5}" type="datetimeFigureOut">
              <a:rPr lang="fr-FR"/>
              <a:t>05/01/2025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8B55B-FA15-48BA-860D-0231187503D9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B29E-DC2A-4D67-887F-3BE2DC8489D6}" type="datetimeFigureOut">
              <a:rPr lang="fr-FR"/>
              <a:t>05/01/2025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0EBC0-ADA9-4FA7-889C-9287646BC794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563BD-7186-488E-816C-8F41FA24179F}" type="datetimeFigureOut">
              <a:rPr lang="fr-FR"/>
              <a:t>05/01/2025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25AB8-FB3A-479C-8780-0B7E5F586C0F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02C48-70E8-4C8D-81F4-17FB598144B8}" type="datetimeFigureOut">
              <a:rPr lang="fr-FR"/>
              <a:t>05/01/2025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C29A-6C4F-4141-86E3-1A3E2D58E3A2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02B83-4DFE-444B-8222-D5FF1EA6B44C}" type="datetimeFigureOut">
              <a:rPr lang="fr-FR"/>
              <a:t>05/01/2025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19C649-D3E0-46CB-87C1-67136E4226A6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A40F9-1701-4EB4-806D-4ED861E7A003}" type="datetimeFigureOut">
              <a:rPr lang="fr-FR"/>
              <a:t>05/01/2025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BE78A-EB3E-401E-81B5-D7F53201DAF3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ADADCF-DC63-475D-8D69-AEBF4EDF3BBC}" type="datetimeFigureOut">
              <a:rPr lang="fr-FR"/>
              <a:t>05/01/2025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image" Target="../media/image8.jpe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6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1.bin"/><Relationship Id="rId3" Type="http://schemas.openxmlformats.org/officeDocument/2006/relationships/image" Target="../media/image55.wmf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1.bin"/><Relationship Id="rId3" Type="http://schemas.openxmlformats.org/officeDocument/2006/relationships/image" Target="../media/image55.wmf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1.bin"/><Relationship Id="rId3" Type="http://schemas.openxmlformats.org/officeDocument/2006/relationships/image" Target="../media/image55.wmf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1.bin"/><Relationship Id="rId3" Type="http://schemas.openxmlformats.org/officeDocument/2006/relationships/image" Target="../media/image55.wmf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1.bin"/><Relationship Id="rId3" Type="http://schemas.openxmlformats.org/officeDocument/2006/relationships/image" Target="../media/image55.wmf"/><Relationship Id="rId4" Type="http://schemas.openxmlformats.org/officeDocument/2006/relationships/oleObject" Target="../media/media2.bin"/><Relationship Id="rId5" Type="http://schemas.openxmlformats.org/officeDocument/2006/relationships/image" Target="../media/image56.wmf"/><Relationship Id="rId6" Type="http://schemas.openxmlformats.org/officeDocument/2006/relationships/image" Target="../media/image57.jpe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1.bin"/><Relationship Id="rId3" Type="http://schemas.openxmlformats.org/officeDocument/2006/relationships/image" Target="../media/image55.wmf"/><Relationship Id="rId4" Type="http://schemas.openxmlformats.org/officeDocument/2006/relationships/image" Target="../media/image58.jpeg"/><Relationship Id="rId5" Type="http://schemas.openxmlformats.org/officeDocument/2006/relationships/image" Target="../media/image57.jpe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oleObject" Target="../media/media1.bin"/><Relationship Id="rId4" Type="http://schemas.openxmlformats.org/officeDocument/2006/relationships/image" Target="../media/image55.wmf"/><Relationship Id="rId5" Type="http://schemas.openxmlformats.org/officeDocument/2006/relationships/oleObject" Target="../media/media2.bin"/><Relationship Id="rId6" Type="http://schemas.openxmlformats.org/officeDocument/2006/relationships/image" Target="../media/image56.wmf"/><Relationship Id="rId7" Type="http://schemas.openxmlformats.org/officeDocument/2006/relationships/oleObject" Target="../media/media3.bin"/><Relationship Id="rId8" Type="http://schemas.openxmlformats.org/officeDocument/2006/relationships/image" Target="../media/image59.wmf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1.bin"/><Relationship Id="rId3" Type="http://schemas.openxmlformats.org/officeDocument/2006/relationships/image" Target="../media/image55.wmf"/><Relationship Id="rId4" Type="http://schemas.openxmlformats.org/officeDocument/2006/relationships/image" Target="../media/image62.png"/><Relationship Id="rId5" Type="http://schemas.openxmlformats.org/officeDocument/2006/relationships/image" Target="../media/image57.jpeg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1.bin"/><Relationship Id="rId3" Type="http://schemas.openxmlformats.org/officeDocument/2006/relationships/image" Target="../media/image55.wmf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2.bin"/><Relationship Id="rId3" Type="http://schemas.openxmlformats.org/officeDocument/2006/relationships/image" Target="../media/image56.wmf"/><Relationship Id="rId4" Type="http://schemas.openxmlformats.org/officeDocument/2006/relationships/oleObject" Target="../media/media3.bin"/><Relationship Id="rId5" Type="http://schemas.openxmlformats.org/officeDocument/2006/relationships/image" Target="../media/image59.wmf"/><Relationship Id="rId6" Type="http://schemas.openxmlformats.org/officeDocument/2006/relationships/image" Target="../media/image63.png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4.png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png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21018" y="1219200"/>
            <a:ext cx="11149965" cy="1829244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fr-FR"/>
              <a:t>Spark </a:t>
            </a:r>
            <a:r>
              <a:rPr lang="fr-FR"/>
              <a:t>Core</a:t>
            </a:r>
            <a:r>
              <a:rPr lang="fr-FR"/>
              <a:t> - RDD </a:t>
            </a:r>
            <a:br>
              <a:rPr lang="fr-FR"/>
            </a:br>
            <a:r>
              <a:rPr lang="fr-FR"/>
              <a:t>&amp; Spark </a:t>
            </a:r>
            <a:r>
              <a:rPr lang="fr-FR"/>
              <a:t>SQL</a:t>
            </a:r>
            <a:r>
              <a:rPr lang="fr-FR"/>
              <a:t> - </a:t>
            </a:r>
            <a:r>
              <a:rPr lang="fr-FR"/>
              <a:t>Dataset</a:t>
            </a:r>
            <a:r>
              <a:rPr lang="fr-FR"/>
              <a:t> / </a:t>
            </a:r>
            <a:r>
              <a:rPr lang="fr-FR"/>
              <a:t>DataFrame</a:t>
            </a:r>
            <a:endParaRPr lang="fr-F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089400"/>
            <a:ext cx="9144000" cy="2627248"/>
          </a:xfrm>
          <a:prstGeom prst="rect">
            <a:avLst/>
          </a:prstGeom>
        </p:spPr>
        <p:txBody>
          <a:bodyPr/>
          <a:lstStyle/>
          <a:p>
            <a:r>
              <a:rPr lang="fr-FR"/>
              <a:t>Course ESILV 2026</a:t>
            </a:r>
          </a:p>
          <a:p>
            <a:r>
              <a:rPr lang="fr-FR"/>
              <a:t>arnaud.nauwynck@gmail.com</a:t>
            </a:r>
          </a:p>
          <a:p>
            <a:endParaRPr lang="fr-FR"/>
          </a:p>
          <a:p>
            <a:r>
              <a:rPr lang="fr-FR"/>
              <a:t>This document: </a:t>
            </a:r>
            <a:br>
              <a:rPr lang="fr-FR"/>
            </a:br>
            <a:r>
              <a:rPr lang="fr-FR" sz="2400"/>
              <a:t>https://github.com/Arnaud-Nauwynck/presentations/</a:t>
            </a:r>
            <a:br>
              <a:rPr lang="fr-FR" sz="2400"/>
            </a:br>
            <a:r>
              <a:rPr lang="fr-FR" sz="2400"/>
              <a:t> /</a:t>
            </a:r>
            <a:r>
              <a:rPr lang="fr-FR" sz="2400"/>
              <a:t>pres-bigdata</a:t>
            </a:r>
            <a:r>
              <a:rPr lang="fr-FR" sz="2400"/>
              <a:t>/11-Spark-Core-RDD-Sql-Dataset</a:t>
            </a:r>
          </a:p>
          <a:p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Outline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3737610" y="2171700"/>
            <a:ext cx="5788764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(</a:t>
            </a:r>
            <a:r>
              <a:rPr lang="fr-FR" sz="2400"/>
              <a:t>internal</a:t>
            </a:r>
            <a:r>
              <a:rPr lang="fr-FR" sz="2400"/>
              <a:t>) RDD abstract classes in </a:t>
            </a:r>
            <a:r>
              <a:rPr lang="fr-FR" sz="2400"/>
              <a:t>spark-core</a:t>
            </a:r>
            <a:r>
              <a:rPr lang="fr-FR" sz="2400"/>
              <a:t>  </a:t>
            </a:r>
          </a:p>
          <a:p>
            <a:endParaRPr lang="fr-FR" sz="2400"/>
          </a:p>
          <a:p>
            <a:r>
              <a:rPr lang="fr-FR" sz="2400"/>
              <a:t>public </a:t>
            </a:r>
            <a:r>
              <a:rPr lang="fr-FR" sz="2400"/>
              <a:t>Dataset</a:t>
            </a:r>
            <a:r>
              <a:rPr lang="fr-FR" sz="2400"/>
              <a:t> class in </a:t>
            </a:r>
            <a:r>
              <a:rPr lang="fr-FR" sz="2400"/>
              <a:t>spark-sql</a:t>
            </a:r>
            <a:endParaRPr lang="fr-FR" sz="2400"/>
          </a:p>
          <a:p>
            <a:endParaRPr lang="fr-FR" sz="2400"/>
          </a:p>
          <a:p>
            <a:r>
              <a:rPr lang="fr-FR" sz="2400"/>
              <a:t>Dataset class uses RDD</a:t>
            </a:r>
            <a:r>
              <a:rPr lang="fr-FR" sz="2400"/>
              <a:t> class </a:t>
            </a:r>
            <a:r>
              <a:rPr lang="fr-FR" sz="2400"/>
              <a:t>internally</a:t>
            </a:r>
            <a:r>
              <a:rPr lang="fr-FR" sz="2400"/>
              <a:t> ..</a:t>
            </a:r>
          </a:p>
          <a:p>
            <a:endParaRPr lang="fr-FR" sz="2400"/>
          </a:p>
          <a:p>
            <a:r>
              <a:rPr lang="fr-FR" sz="2400"/>
              <a:t>SQL</a:t>
            </a:r>
            <a:r>
              <a:rPr lang="fr-FR" sz="2400"/>
              <a:t> AST </a:t>
            </a:r>
            <a:r>
              <a:rPr lang="fr-FR" sz="2400"/>
              <a:t>parser</a:t>
            </a:r>
            <a:r>
              <a:rPr lang="fr-FR" sz="2400"/>
              <a:t>,  Expression, </a:t>
            </a:r>
            <a:r>
              <a:rPr lang="fr-FR" sz="2400"/>
              <a:t>LogicalPlan</a:t>
            </a:r>
            <a:endParaRPr lang="fr-FR" sz="2400"/>
          </a:p>
          <a:p>
            <a:endParaRPr lang="fr-FR" sz="2400"/>
          </a:p>
          <a:p>
            <a:r>
              <a:rPr lang="fr-FR" sz="2400"/>
              <a:t>DataFrame</a:t>
            </a:r>
            <a:r>
              <a:rPr lang="fr-FR" sz="2400"/>
              <a:t> = </a:t>
            </a:r>
            <a:r>
              <a:rPr lang="fr-FR" sz="2400"/>
              <a:t>Dataset</a:t>
            </a:r>
            <a:r>
              <a:rPr lang="fr-FR" sz="2400"/>
              <a:t>&lt;Row&gt;</a:t>
            </a:r>
          </a:p>
          <a:p>
            <a:endParaRPr lang="fr-FR" sz="2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./bin/</a:t>
            </a:r>
            <a:r>
              <a:rPr lang="fr-FR"/>
              <a:t>spark-shell</a:t>
            </a:r>
            <a:endParaRPr lang="fr-FR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510640" y="1911048"/>
            <a:ext cx="9409217" cy="429352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75390" y="5256946"/>
            <a:ext cx="2853939" cy="26860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2510639" y="5921245"/>
            <a:ext cx="837323" cy="26860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/>
        </p:nvSpPr>
        <p:spPr>
          <a:xfrm>
            <a:off x="2465010" y="1858184"/>
            <a:ext cx="457200" cy="26860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/>
          <p:cNvSpPr/>
          <p:nvPr/>
        </p:nvSpPr>
        <p:spPr>
          <a:xfrm>
            <a:off x="1847109" y="1832472"/>
            <a:ext cx="396724" cy="2686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Right 8"/>
          <p:cNvSpPr/>
          <p:nvPr/>
        </p:nvSpPr>
        <p:spPr>
          <a:xfrm>
            <a:off x="1771752" y="5525549"/>
            <a:ext cx="396724" cy="2686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0" y="5300718"/>
            <a:ext cx="16235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inside</a:t>
            </a:r>
            <a:r>
              <a:rPr lang="fr-FR"/>
              <a:t> </a:t>
            </a:r>
            <a:r>
              <a:rPr lang="fr-FR"/>
              <a:t>spark</a:t>
            </a:r>
            <a:endParaRPr lang="fr-FR"/>
          </a:p>
          <a:p>
            <a:r>
              <a:rPr lang="fr-FR"/>
              <a:t>type scala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357" y="1509306"/>
            <a:ext cx="1874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launch </a:t>
            </a:r>
            <a:r>
              <a:rPr lang="fr-FR"/>
              <a:t>spark-shell</a:t>
            </a:r>
            <a:endParaRPr lang="fr-FR"/>
          </a:p>
          <a:p>
            <a:r>
              <a:rPr lang="fr-FR"/>
              <a:t>from</a:t>
            </a:r>
            <a:r>
              <a:rPr lang="fr-FR"/>
              <a:t> terminal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911254" y="4950171"/>
            <a:ext cx="8485605" cy="22862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0598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2 </a:t>
            </a:r>
            <a:r>
              <a:rPr lang="fr-FR"/>
              <a:t>built-in</a:t>
            </a:r>
            <a:r>
              <a:rPr lang="fr-FR"/>
              <a:t> Variables </a:t>
            </a:r>
            <a:r>
              <a:rPr lang="fr-FR"/>
              <a:t>Available:</a:t>
            </a:r>
            <a:r>
              <a:rPr lang="fr-FR"/>
              <a:t> 'sc', '</a:t>
            </a:r>
            <a:r>
              <a:rPr lang="fr-FR"/>
              <a:t>spark</a:t>
            </a:r>
            <a:r>
              <a:rPr lang="fr-FR"/>
              <a:t>'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945365" y="1475831"/>
            <a:ext cx="7418713" cy="270533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911253" y="4950172"/>
            <a:ext cx="3328403" cy="247672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911254" y="5547232"/>
            <a:ext cx="3753175" cy="24767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911254" y="5547231"/>
            <a:ext cx="3618689" cy="26860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911254" y="4460884"/>
            <a:ext cx="6134632" cy="2095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sc: </a:t>
            </a:r>
            <a:r>
              <a:rPr lang="fr-FR"/>
              <a:t>SparkContext</a:t>
            </a:r>
            <a:r>
              <a:rPr lang="fr-FR"/>
              <a:t> (in </a:t>
            </a:r>
            <a:r>
              <a:rPr lang="fr-FR"/>
              <a:t>spark-core</a:t>
            </a:r>
            <a:r>
              <a:rPr lang="fr-FR"/>
              <a:t>)</a:t>
            </a:r>
            <a:br>
              <a:rPr lang="fr-FR"/>
            </a:br>
            <a:r>
              <a:rPr lang="fr-FR"/>
              <a:t>spark: SparkSession</a:t>
            </a:r>
            <a:r>
              <a:rPr lang="fr-FR"/>
              <a:t>  (in </a:t>
            </a:r>
            <a:r>
              <a:rPr lang="fr-FR"/>
              <a:t>spark-sql</a:t>
            </a:r>
            <a:r>
              <a:rPr lang="fr-FR"/>
              <a:t>)</a:t>
            </a:r>
          </a:p>
        </p:txBody>
      </p:sp>
      <p:pic>
        <p:nvPicPr>
          <p:cNvPr id="4" name="Picture 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0340" y="2426995"/>
            <a:ext cx="2482088" cy="1422400"/>
          </a:xfrm>
          <a:prstGeom prst="rect">
            <a:avLst/>
          </a:prstGeom>
          <a:noFill/>
        </p:spPr>
      </p:pic>
      <p:sp>
        <p:nvSpPr>
          <p:cNvPr id="5" name="TextBox 4"/>
          <p:cNvSpPr txBox="1"/>
          <p:nvPr/>
        </p:nvSpPr>
        <p:spPr>
          <a:xfrm>
            <a:off x="4548944" y="1752601"/>
            <a:ext cx="1180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Structured</a:t>
            </a:r>
            <a:br>
              <a:rPr lang="fr-FR"/>
            </a:br>
            <a:r>
              <a:rPr lang="fr-FR"/>
              <a:t> Data</a:t>
            </a:r>
          </a:p>
        </p:txBody>
      </p:sp>
      <p:sp>
        <p:nvSpPr>
          <p:cNvPr id="6" name="Cylinder 5"/>
          <p:cNvSpPr/>
          <p:nvPr/>
        </p:nvSpPr>
        <p:spPr>
          <a:xfrm>
            <a:off x="5729267" y="1859533"/>
            <a:ext cx="901700" cy="61110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: Rounded Corners 6"/>
          <p:cNvSpPr/>
          <p:nvPr/>
        </p:nvSpPr>
        <p:spPr>
          <a:xfrm>
            <a:off x="4739226" y="2520862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: Rounded Corners 7"/>
          <p:cNvSpPr/>
          <p:nvPr/>
        </p:nvSpPr>
        <p:spPr>
          <a:xfrm>
            <a:off x="5486717" y="4353695"/>
            <a:ext cx="4536440" cy="1099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8" descr="Apache Spark — Wikipédia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264907" y="4396018"/>
            <a:ext cx="1731327" cy="898847"/>
          </a:xfrm>
          <a:prstGeom prst="rect">
            <a:avLst/>
          </a:prstGeom>
          <a:noFill/>
        </p:spPr>
      </p:pic>
      <p:sp>
        <p:nvSpPr>
          <p:cNvPr id="11" name="TextBox 10"/>
          <p:cNvSpPr txBox="1"/>
          <p:nvPr/>
        </p:nvSpPr>
        <p:spPr>
          <a:xfrm>
            <a:off x="8045016" y="4579879"/>
            <a:ext cx="13623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b="1"/>
              <a:t>Core</a:t>
            </a:r>
            <a:endParaRPr lang="fr-FR" sz="4800" b="1"/>
          </a:p>
        </p:txBody>
      </p:sp>
      <p:sp>
        <p:nvSpPr>
          <p:cNvPr id="12" name="TextBox 11"/>
          <p:cNvSpPr txBox="1"/>
          <p:nvPr/>
        </p:nvSpPr>
        <p:spPr>
          <a:xfrm>
            <a:off x="7791169" y="3825936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Modules</a:t>
            </a:r>
          </a:p>
        </p:txBody>
      </p:sp>
      <p:sp>
        <p:nvSpPr>
          <p:cNvPr id="13" name="Arrow: Down 12"/>
          <p:cNvSpPr/>
          <p:nvPr/>
        </p:nvSpPr>
        <p:spPr>
          <a:xfrm>
            <a:off x="7300484" y="3783523"/>
            <a:ext cx="414513" cy="50439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Picture 4" descr="Upcoming Meetups - airisData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623288" y="2426995"/>
            <a:ext cx="1994595" cy="1356618"/>
          </a:xfrm>
          <a:prstGeom prst="rect">
            <a:avLst/>
          </a:prstGeom>
          <a:noFill/>
        </p:spPr>
      </p:pic>
      <p:sp>
        <p:nvSpPr>
          <p:cNvPr id="15" name="Rectangle: Rounded Corners 14"/>
          <p:cNvSpPr/>
          <p:nvPr/>
        </p:nvSpPr>
        <p:spPr>
          <a:xfrm>
            <a:off x="7623288" y="2515644"/>
            <a:ext cx="1994595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" name="Picture 10" descr="My First Foray into Spark MLlib. As a data science team that&amp;#39;s always… | by  Dan Piltzer | Red Ventures Data Science &amp;amp; Engineering | Medium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9711503" y="2577359"/>
            <a:ext cx="2446630" cy="951917"/>
          </a:xfrm>
          <a:prstGeom prst="rect">
            <a:avLst/>
          </a:prstGeom>
          <a:noFill/>
        </p:spPr>
      </p:pic>
      <p:sp>
        <p:nvSpPr>
          <p:cNvPr id="19" name="Rectangle: Rounded Corners 18"/>
          <p:cNvSpPr/>
          <p:nvPr/>
        </p:nvSpPr>
        <p:spPr>
          <a:xfrm>
            <a:off x="9898743" y="2505301"/>
            <a:ext cx="1944914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extBox 19"/>
          <p:cNvSpPr txBox="1"/>
          <p:nvPr/>
        </p:nvSpPr>
        <p:spPr>
          <a:xfrm>
            <a:off x="1265474" y="1720201"/>
            <a:ext cx="18853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/>
              <a:t>Dataset</a:t>
            </a:r>
            <a:r>
              <a:rPr lang="fr-FR" sz="2000" b="1"/>
              <a:t>&lt;T&gt;</a:t>
            </a:r>
          </a:p>
          <a:p>
            <a:r>
              <a:rPr lang="fr-FR" sz="2000" b="1"/>
              <a:t>Dataset</a:t>
            </a:r>
            <a:r>
              <a:rPr lang="fr-FR" sz="2000" b="1"/>
              <a:t>&lt;Row&gt;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1242" y="4703213"/>
            <a:ext cx="31582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/>
              <a:t>sc: SparkContext</a:t>
            </a:r>
            <a:endParaRPr lang="fr-FR" sz="2000" b="1"/>
          </a:p>
        </p:txBody>
      </p:sp>
      <p:sp>
        <p:nvSpPr>
          <p:cNvPr id="22" name="TextBox 21"/>
          <p:cNvSpPr txBox="1"/>
          <p:nvPr/>
        </p:nvSpPr>
        <p:spPr>
          <a:xfrm>
            <a:off x="2748062" y="3998196"/>
            <a:ext cx="10722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/>
              <a:t>RDD&lt;T&gt;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5474" y="2900190"/>
            <a:ext cx="23692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/>
              <a:t>spark: SparkSession</a:t>
            </a:r>
            <a:endParaRPr lang="fr-FR" sz="2000" b="1"/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00320" y="5714901"/>
            <a:ext cx="9278154" cy="1143099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2428724" y="5944718"/>
            <a:ext cx="1911047" cy="252908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/>
          <p:cNvSpPr/>
          <p:nvPr/>
        </p:nvSpPr>
        <p:spPr>
          <a:xfrm>
            <a:off x="2428724" y="6564517"/>
            <a:ext cx="2317447" cy="252908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/>
          <p:cNvSpPr/>
          <p:nvPr/>
        </p:nvSpPr>
        <p:spPr>
          <a:xfrm>
            <a:off x="960362" y="6357607"/>
            <a:ext cx="626533" cy="252908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/>
          <p:cNvSpPr/>
          <p:nvPr/>
        </p:nvSpPr>
        <p:spPr>
          <a:xfrm>
            <a:off x="960363" y="5744586"/>
            <a:ext cx="374952" cy="252908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Arrow: Down 29"/>
          <p:cNvSpPr/>
          <p:nvPr/>
        </p:nvSpPr>
        <p:spPr>
          <a:xfrm rot="16200000">
            <a:off x="3986320" y="2696904"/>
            <a:ext cx="303739" cy="88258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row: Down 30"/>
          <p:cNvSpPr/>
          <p:nvPr/>
        </p:nvSpPr>
        <p:spPr>
          <a:xfrm rot="16200000">
            <a:off x="4719067" y="4444339"/>
            <a:ext cx="303739" cy="88258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3" name="Straight Arrow Connector 32"/>
          <p:cNvCxnSpPr>
            <a:endCxn id="20" idx="2"/>
          </p:cNvCxnSpPr>
          <p:nvPr/>
        </p:nvCxnSpPr>
        <p:spPr>
          <a:xfrm flipH="1" flipV="1">
            <a:off x="2208124" y="2428087"/>
            <a:ext cx="80295" cy="479223"/>
          </a:xfrm>
          <a:prstGeom prst="straightConnector1">
            <a:avLst/>
          </a:prstGeom>
          <a:ln w="25400"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22" idx="2"/>
          </p:cNvCxnSpPr>
          <p:nvPr/>
        </p:nvCxnSpPr>
        <p:spPr>
          <a:xfrm flipH="1" flipV="1">
            <a:off x="3284210" y="4398306"/>
            <a:ext cx="51234" cy="292759"/>
          </a:xfrm>
          <a:prstGeom prst="straightConnector1">
            <a:avLst/>
          </a:prstGeom>
          <a:ln w="25400"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sc.parallelize</a:t>
            </a:r>
            <a:r>
              <a:rPr lang="fr-FR"/>
              <a:t>(..) vs </a:t>
            </a:r>
            <a:r>
              <a:rPr lang="fr-FR"/>
              <a:t>spark.createDataset</a:t>
            </a:r>
            <a:r>
              <a:rPr lang="fr-FR"/>
              <a:t>(..) ?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074160" y="4864853"/>
            <a:ext cx="7733674" cy="1696499"/>
          </a:xfrm>
          <a:prstGeom prst="rect">
            <a:avLst/>
          </a:prstGeom>
        </p:spPr>
      </p:pic>
      <p:sp>
        <p:nvSpPr>
          <p:cNvPr id="9" name="Arrow: Right 8"/>
          <p:cNvSpPr/>
          <p:nvPr/>
        </p:nvSpPr>
        <p:spPr>
          <a:xfrm rot="2249443">
            <a:off x="2845547" y="4638376"/>
            <a:ext cx="1016000" cy="401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Right 9"/>
          <p:cNvSpPr/>
          <p:nvPr/>
        </p:nvSpPr>
        <p:spPr>
          <a:xfrm rot="19119877">
            <a:off x="2815947" y="3626851"/>
            <a:ext cx="1016000" cy="401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46697" y="1498786"/>
            <a:ext cx="5925503" cy="85470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0444" y="3317161"/>
            <a:ext cx="427211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/>
              <a:t>Low-</a:t>
            </a:r>
            <a:r>
              <a:rPr lang="fr-FR" sz="2800"/>
              <a:t>level</a:t>
            </a:r>
            <a:r>
              <a:rPr lang="fr-FR" sz="2800"/>
              <a:t> API </a:t>
            </a:r>
          </a:p>
          <a:p>
            <a:r>
              <a:rPr lang="fr-FR" sz="2800"/>
              <a:t>using</a:t>
            </a:r>
            <a:r>
              <a:rPr lang="fr-FR" sz="2800"/>
              <a:t> « </a:t>
            </a:r>
            <a:r>
              <a:rPr lang="fr-FR" sz="2800" b="1"/>
              <a:t>RDD</a:t>
            </a:r>
            <a:r>
              <a:rPr lang="fr-FR" sz="2800"/>
              <a:t> 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285" y="4864853"/>
            <a:ext cx="50241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/>
              <a:t>High-</a:t>
            </a:r>
            <a:r>
              <a:rPr lang="fr-FR" sz="2800"/>
              <a:t>level</a:t>
            </a:r>
            <a:r>
              <a:rPr lang="fr-FR" sz="2800"/>
              <a:t> API</a:t>
            </a:r>
          </a:p>
          <a:p>
            <a:r>
              <a:rPr lang="fr-FR" sz="2800"/>
              <a:t> </a:t>
            </a:r>
            <a:r>
              <a:rPr lang="fr-FR" sz="2800"/>
              <a:t>using</a:t>
            </a:r>
            <a:r>
              <a:rPr lang="fr-FR" sz="2800"/>
              <a:t> « </a:t>
            </a:r>
            <a:r>
              <a:rPr lang="fr-FR" sz="2800" b="1"/>
              <a:t>Dataset</a:t>
            </a:r>
            <a:r>
              <a:rPr lang="fr-FR" sz="2800"/>
              <a:t> »</a:t>
            </a: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074160" y="2865019"/>
            <a:ext cx="7733674" cy="161173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1120" y="2428240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spark-core</a:t>
            </a:r>
            <a:r>
              <a:rPr lang="fr-FR"/>
              <a:t>  /   </a:t>
            </a:r>
            <a:r>
              <a:rPr lang="fr-FR"/>
              <a:t>spark-sql</a:t>
            </a:r>
            <a:r>
              <a:rPr lang="fr-FR"/>
              <a:t>   </a:t>
            </a:r>
            <a:r>
              <a:rPr lang="fr-FR"/>
              <a:t>maven</a:t>
            </a:r>
            <a:r>
              <a:rPr lang="fr-FR"/>
              <a:t> modules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69258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pom.xml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57990" y="1252031"/>
            <a:ext cx="7537151" cy="5212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&lt;</a:t>
            </a:r>
            <a:r>
              <a:rPr lang="fr-FR"/>
              <a:t>properties</a:t>
            </a:r>
            <a:r>
              <a:rPr lang="fr-FR"/>
              <a:t>&gt;</a:t>
            </a:r>
          </a:p>
          <a:p>
            <a:r>
              <a:rPr lang="fr-FR"/>
              <a:t>   &lt;spark.version&gt;4.1.0&lt;/spark.version&gt;</a:t>
            </a:r>
          </a:p>
          <a:p>
            <a:r>
              <a:rPr lang="fr-FR"/>
              <a:t>   &lt;</a:t>
            </a:r>
            <a:r>
              <a:rPr lang="fr-FR"/>
              <a:t>scala.version</a:t>
            </a:r>
            <a:r>
              <a:rPr lang="fr-FR"/>
              <a:t>&gt;2.13&lt;/</a:t>
            </a:r>
            <a:r>
              <a:rPr lang="fr-FR"/>
              <a:t>scala.version</a:t>
            </a:r>
            <a:r>
              <a:rPr lang="fr-FR"/>
              <a:t>&gt;</a:t>
            </a:r>
          </a:p>
          <a:p>
            <a:r>
              <a:rPr lang="fr-FR"/>
              <a:t>&lt;/</a:t>
            </a:r>
            <a:r>
              <a:rPr lang="fr-FR"/>
              <a:t>properties</a:t>
            </a:r>
            <a:r>
              <a:rPr lang="fr-FR"/>
              <a:t>&gt;</a:t>
            </a:r>
          </a:p>
          <a:p>
            <a:endParaRPr lang="fr-FR"/>
          </a:p>
          <a:p>
            <a:r>
              <a:rPr lang="fr-FR"/>
              <a:t>&lt;</a:t>
            </a:r>
            <a:r>
              <a:rPr lang="fr-FR"/>
              <a:t>dependencies</a:t>
            </a:r>
            <a:r>
              <a:rPr lang="fr-FR"/>
              <a:t>&gt;</a:t>
            </a:r>
          </a:p>
          <a:p>
            <a:r>
              <a:rPr lang="fr-FR"/>
              <a:t>        &lt;</a:t>
            </a:r>
            <a:r>
              <a:rPr lang="fr-FR"/>
              <a:t>dependency</a:t>
            </a:r>
            <a:r>
              <a:rPr lang="fr-FR"/>
              <a:t>&gt;</a:t>
            </a:r>
          </a:p>
          <a:p>
            <a:r>
              <a:rPr lang="fr-FR"/>
              <a:t>            &lt;</a:t>
            </a:r>
            <a:r>
              <a:rPr lang="fr-FR"/>
              <a:t>groupId</a:t>
            </a:r>
            <a:r>
              <a:rPr lang="fr-FR"/>
              <a:t>&gt;</a:t>
            </a:r>
            <a:r>
              <a:rPr lang="fr-FR"/>
              <a:t>org.apache.spark</a:t>
            </a:r>
            <a:r>
              <a:rPr lang="fr-FR"/>
              <a:t>&lt;/</a:t>
            </a:r>
            <a:r>
              <a:rPr lang="fr-FR"/>
              <a:t>groupId</a:t>
            </a:r>
            <a:r>
              <a:rPr lang="fr-FR"/>
              <a:t>&gt;</a:t>
            </a:r>
          </a:p>
          <a:p>
            <a:r>
              <a:rPr lang="fr-FR" sz="2400"/>
              <a:t>            &lt;</a:t>
            </a:r>
            <a:r>
              <a:rPr lang="fr-FR" sz="2400"/>
              <a:t>artifactId</a:t>
            </a:r>
            <a:r>
              <a:rPr lang="fr-FR" sz="2400"/>
              <a:t>&gt;</a:t>
            </a:r>
            <a:r>
              <a:rPr lang="fr-FR" sz="2400" b="1"/>
              <a:t>spark-core</a:t>
            </a:r>
            <a:r>
              <a:rPr lang="fr-FR" sz="2400" b="1"/>
              <a:t>_</a:t>
            </a:r>
            <a:r>
              <a:rPr lang="fr-FR" sz="2400"/>
              <a:t>${</a:t>
            </a:r>
            <a:r>
              <a:rPr lang="fr-FR" sz="2400"/>
              <a:t>scala.version</a:t>
            </a:r>
            <a:r>
              <a:rPr lang="fr-FR" sz="2400"/>
              <a:t>}&lt;/</a:t>
            </a:r>
            <a:r>
              <a:rPr lang="fr-FR" sz="2400"/>
              <a:t>artifactId</a:t>
            </a:r>
            <a:r>
              <a:rPr lang="fr-FR" sz="2400"/>
              <a:t>&gt;</a:t>
            </a:r>
          </a:p>
          <a:p>
            <a:r>
              <a:rPr lang="fr-FR"/>
              <a:t>            &lt;version&gt;${</a:t>
            </a:r>
            <a:r>
              <a:rPr lang="fr-FR"/>
              <a:t>spark.version</a:t>
            </a:r>
            <a:r>
              <a:rPr lang="fr-FR"/>
              <a:t>}&lt;/version&gt;</a:t>
            </a:r>
          </a:p>
          <a:p>
            <a:r>
              <a:rPr lang="fr-FR"/>
              <a:t>        &lt;/</a:t>
            </a:r>
            <a:r>
              <a:rPr lang="fr-FR"/>
              <a:t>dependency</a:t>
            </a:r>
            <a:r>
              <a:rPr lang="fr-FR"/>
              <a:t>&gt;</a:t>
            </a:r>
          </a:p>
          <a:p>
            <a:endParaRPr lang="fr-FR"/>
          </a:p>
          <a:p>
            <a:r>
              <a:rPr lang="fr-FR"/>
              <a:t>        &lt;</a:t>
            </a:r>
            <a:r>
              <a:rPr lang="fr-FR"/>
              <a:t>dependency</a:t>
            </a:r>
            <a:r>
              <a:rPr lang="fr-FR"/>
              <a:t>&gt;</a:t>
            </a:r>
          </a:p>
          <a:p>
            <a:r>
              <a:rPr lang="fr-FR"/>
              <a:t>            &lt;</a:t>
            </a:r>
            <a:r>
              <a:rPr lang="fr-FR"/>
              <a:t>groupId</a:t>
            </a:r>
            <a:r>
              <a:rPr lang="fr-FR"/>
              <a:t>&gt;</a:t>
            </a:r>
            <a:r>
              <a:rPr lang="fr-FR"/>
              <a:t>org.apache.spark</a:t>
            </a:r>
            <a:r>
              <a:rPr lang="fr-FR"/>
              <a:t>&lt;/</a:t>
            </a:r>
            <a:r>
              <a:rPr lang="fr-FR"/>
              <a:t>groupId</a:t>
            </a:r>
            <a:r>
              <a:rPr lang="fr-FR"/>
              <a:t>&gt;</a:t>
            </a:r>
          </a:p>
          <a:p>
            <a:r>
              <a:rPr lang="fr-FR" sz="2400"/>
              <a:t>            &lt;</a:t>
            </a:r>
            <a:r>
              <a:rPr lang="fr-FR" sz="2400"/>
              <a:t>artifactId</a:t>
            </a:r>
            <a:r>
              <a:rPr lang="fr-FR" sz="2400"/>
              <a:t>&gt;</a:t>
            </a:r>
            <a:r>
              <a:rPr lang="fr-FR" sz="2400" b="1"/>
              <a:t>spark-sql</a:t>
            </a:r>
            <a:r>
              <a:rPr lang="fr-FR" sz="2400" b="1"/>
              <a:t>_</a:t>
            </a:r>
            <a:r>
              <a:rPr lang="fr-FR" sz="2400"/>
              <a:t>${</a:t>
            </a:r>
            <a:r>
              <a:rPr lang="fr-FR" sz="2400"/>
              <a:t>scala.version</a:t>
            </a:r>
            <a:r>
              <a:rPr lang="fr-FR" sz="2400"/>
              <a:t>}&lt;/</a:t>
            </a:r>
            <a:r>
              <a:rPr lang="fr-FR" sz="2400"/>
              <a:t>artifactId</a:t>
            </a:r>
            <a:r>
              <a:rPr lang="fr-FR" sz="2400"/>
              <a:t>&gt;</a:t>
            </a:r>
          </a:p>
          <a:p>
            <a:r>
              <a:rPr lang="fr-FR"/>
              <a:t>            &lt;version&gt;${</a:t>
            </a:r>
            <a:r>
              <a:rPr lang="fr-FR"/>
              <a:t>spark.version</a:t>
            </a:r>
            <a:r>
              <a:rPr lang="fr-FR"/>
              <a:t>}&lt;/version&gt;</a:t>
            </a:r>
          </a:p>
          <a:p>
            <a:r>
              <a:rPr lang="fr-FR"/>
              <a:t>        &lt;/</a:t>
            </a:r>
            <a:r>
              <a:rPr lang="fr-FR"/>
              <a:t>dependency</a:t>
            </a:r>
            <a:r>
              <a:rPr lang="fr-FR"/>
              <a:t>&gt;</a:t>
            </a:r>
          </a:p>
          <a:p>
            <a:r>
              <a:rPr lang="fr-FR"/>
              <a:t>&lt;/</a:t>
            </a:r>
            <a:r>
              <a:rPr lang="fr-FR"/>
              <a:t>dependencies</a:t>
            </a:r>
            <a:r>
              <a:rPr lang="fr-FR"/>
              <a:t>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" y="0"/>
            <a:ext cx="1124458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SparkConf</a:t>
            </a:r>
            <a:r>
              <a:rPr lang="fr-FR"/>
              <a:t> / (Java)</a:t>
            </a:r>
            <a:r>
              <a:rPr lang="fr-FR"/>
              <a:t>SparkContext</a:t>
            </a:r>
            <a:r>
              <a:rPr lang="fr-FR"/>
              <a:t> / </a:t>
            </a:r>
            <a:r>
              <a:rPr lang="fr-FR"/>
              <a:t>SparkSession</a:t>
            </a:r>
            <a:endParaRPr lang="fr-FR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422400" y="1543368"/>
            <a:ext cx="9829800" cy="495992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241421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1 (singleton) </a:t>
            </a:r>
            <a:r>
              <a:rPr lang="fr-FR"/>
              <a:t>SparkContext</a:t>
            </a:r>
            <a:br>
              <a:rPr lang="fr-FR"/>
            </a:br>
            <a:r>
              <a:rPr lang="fr-FR"/>
              <a:t>1...N   </a:t>
            </a:r>
            <a:r>
              <a:rPr lang="fr-FR"/>
              <a:t>SparkSession</a:t>
            </a:r>
            <a:br>
              <a:rPr lang="fr-FR"/>
            </a:br>
            <a:r>
              <a:rPr lang="fr-FR"/>
              <a:t>1 Active </a:t>
            </a:r>
            <a:r>
              <a:rPr lang="fr-FR"/>
              <a:t>SparkSession</a:t>
            </a:r>
            <a:br>
              <a:rPr lang="fr-FR"/>
            </a:br>
            <a:endParaRPr lang="fr-FR"/>
          </a:p>
        </p:txBody>
      </p:sp>
      <p:sp>
        <p:nvSpPr>
          <p:cNvPr id="5" name="Rectangle 4"/>
          <p:cNvSpPr/>
          <p:nvPr/>
        </p:nvSpPr>
        <p:spPr>
          <a:xfrm>
            <a:off x="2233568" y="3754361"/>
            <a:ext cx="1296609" cy="6289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2164047" y="3358455"/>
            <a:ext cx="143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SparkContext</a:t>
            </a:r>
            <a:endParaRPr lang="fr-FR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1855313" y="2844799"/>
            <a:ext cx="378255" cy="575734"/>
          </a:xfrm>
          <a:prstGeom prst="straightConnector1">
            <a:avLst/>
          </a:prstGeom>
          <a:ln w="254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540081" y="3109222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0..1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H="1">
            <a:off x="4001851" y="3906761"/>
            <a:ext cx="1769997" cy="162076"/>
          </a:xfrm>
          <a:prstGeom prst="straightConnector1">
            <a:avLst/>
          </a:prstGeom>
          <a:ln w="254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flipV="1">
            <a:off x="4419599" y="2465435"/>
            <a:ext cx="0" cy="3345117"/>
          </a:xfrm>
          <a:prstGeom prst="straightConnector1">
            <a:avLst/>
          </a:prstGeom>
          <a:ln w="25400"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flipV="1">
            <a:off x="4499427" y="2465434"/>
            <a:ext cx="0" cy="3345117"/>
          </a:xfrm>
          <a:prstGeom prst="straightConnector1">
            <a:avLst/>
          </a:prstGeom>
          <a:ln w="25400"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560236" y="5810551"/>
            <a:ext cx="11719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spark-core</a:t>
            </a:r>
            <a:endParaRPr lang="fr-FR"/>
          </a:p>
        </p:txBody>
      </p:sp>
      <p:cxnSp>
        <p:nvCxnSpPr>
          <p:cNvPr id="20" name="Straight Arrow Connector 19"/>
          <p:cNvCxnSpPr/>
          <p:nvPr/>
        </p:nvCxnSpPr>
        <p:spPr>
          <a:xfrm flipH="1">
            <a:off x="3926364" y="5982732"/>
            <a:ext cx="1528838" cy="0"/>
          </a:xfrm>
          <a:prstGeom prst="straightConnector1">
            <a:avLst/>
          </a:prstGeom>
          <a:ln w="254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10557" y="5798066"/>
            <a:ext cx="1026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spark-sql</a:t>
            </a:r>
            <a:endParaRPr lang="fr-FR"/>
          </a:p>
        </p:txBody>
      </p:sp>
      <p:sp>
        <p:nvSpPr>
          <p:cNvPr id="22" name="Rectangle 21"/>
          <p:cNvSpPr/>
          <p:nvPr/>
        </p:nvSpPr>
        <p:spPr>
          <a:xfrm>
            <a:off x="5862236" y="3754361"/>
            <a:ext cx="1296609" cy="6289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/>
          <p:cNvSpPr/>
          <p:nvPr/>
        </p:nvSpPr>
        <p:spPr>
          <a:xfrm>
            <a:off x="6014636" y="3906761"/>
            <a:ext cx="1296609" cy="6289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/>
          <p:cNvSpPr/>
          <p:nvPr/>
        </p:nvSpPr>
        <p:spPr>
          <a:xfrm>
            <a:off x="6167036" y="4059161"/>
            <a:ext cx="1296609" cy="6289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/>
          <p:cNvSpPr/>
          <p:nvPr/>
        </p:nvSpPr>
        <p:spPr>
          <a:xfrm>
            <a:off x="6319436" y="4211561"/>
            <a:ext cx="1296609" cy="6289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TextBox 25"/>
          <p:cNvSpPr txBox="1"/>
          <p:nvPr/>
        </p:nvSpPr>
        <p:spPr>
          <a:xfrm>
            <a:off x="6027996" y="3276563"/>
            <a:ext cx="140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SparkSession</a:t>
            </a:r>
            <a:endParaRPr lang="fr-FR"/>
          </a:p>
        </p:txBody>
      </p:sp>
      <p:sp>
        <p:nvSpPr>
          <p:cNvPr id="27" name="TextBox 26"/>
          <p:cNvSpPr txBox="1"/>
          <p:nvPr/>
        </p:nvSpPr>
        <p:spPr>
          <a:xfrm>
            <a:off x="3725076" y="40043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1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 flipH="1" flipV="1">
            <a:off x="4047066" y="4198257"/>
            <a:ext cx="1629787" cy="22980"/>
          </a:xfrm>
          <a:prstGeom prst="straightConnector1">
            <a:avLst/>
          </a:prstGeom>
          <a:ln w="254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 flipH="1" flipV="1">
            <a:off x="4001851" y="4327678"/>
            <a:ext cx="1815170" cy="314940"/>
          </a:xfrm>
          <a:prstGeom prst="straightConnector1">
            <a:avLst/>
          </a:prstGeom>
          <a:ln w="254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974015" y="4115697"/>
            <a:ext cx="924076" cy="6192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7699063" y="4435013"/>
            <a:ext cx="1122552" cy="0"/>
          </a:xfrm>
          <a:prstGeom prst="straightConnector1">
            <a:avLst/>
          </a:prstGeom>
          <a:ln w="254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761680" y="3436683"/>
            <a:ext cx="25921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user </a:t>
            </a:r>
            <a:r>
              <a:rPr lang="fr-FR"/>
              <a:t>defined</a:t>
            </a:r>
            <a:r>
              <a:rPr lang="fr-FR"/>
              <a:t> by </a:t>
            </a:r>
          </a:p>
          <a:p>
            <a:r>
              <a:rPr lang="fr-FR"/>
              <a:t>Thread / Web Session / ...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26415" y="4268097"/>
            <a:ext cx="924076" cy="6192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3" name="Straight Arrow Connector 42"/>
          <p:cNvCxnSpPr/>
          <p:nvPr/>
        </p:nvCxnSpPr>
        <p:spPr>
          <a:xfrm flipH="1">
            <a:off x="7484629" y="2844799"/>
            <a:ext cx="430495" cy="1224038"/>
          </a:xfrm>
          <a:prstGeom prst="straightConnector1">
            <a:avLst/>
          </a:prstGeom>
          <a:ln w="254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311244" y="2367001"/>
            <a:ext cx="2729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default active </a:t>
            </a:r>
            <a:r>
              <a:rPr lang="fr-FR"/>
              <a:t>SparkSession</a:t>
            </a:r>
            <a:endParaRPr lang="fr-FR"/>
          </a:p>
        </p:txBody>
      </p:sp>
      <p:sp>
        <p:nvSpPr>
          <p:cNvPr id="47" name="TextBox 46"/>
          <p:cNvSpPr txBox="1"/>
          <p:nvPr/>
        </p:nvSpPr>
        <p:spPr>
          <a:xfrm>
            <a:off x="7583197" y="3705016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0..1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3925" y="2239645"/>
            <a:ext cx="10515600" cy="187515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using</a:t>
            </a:r>
            <a:r>
              <a:rPr lang="fr-FR"/>
              <a:t> Java (Scala) API </a:t>
            </a:r>
            <a:br>
              <a:rPr lang="fr-FR"/>
            </a:br>
            <a:br>
              <a:rPr lang="fr-FR"/>
            </a:br>
            <a:r>
              <a:rPr lang="fr-FR"/>
              <a:t>on </a:t>
            </a:r>
            <a:r>
              <a:rPr lang="fr-FR"/>
              <a:t>Dataset</a:t>
            </a:r>
            <a:r>
              <a:rPr lang="fr-FR"/>
              <a:t> / RDD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Spark-Java API </a:t>
            </a:r>
            <a:r>
              <a:rPr lang="fr-FR"/>
              <a:t>with</a:t>
            </a:r>
            <a:r>
              <a:rPr lang="fr-FR"/>
              <a:t> Lambda</a:t>
            </a:r>
            <a:br>
              <a:rPr lang="fr-FR"/>
            </a:br>
            <a:r>
              <a:rPr lang="fr-FR"/>
              <a:t>(</a:t>
            </a:r>
            <a:r>
              <a:rPr lang="fr-FR"/>
              <a:t>ambiguous</a:t>
            </a:r>
            <a:r>
              <a:rPr lang="fr-FR"/>
              <a:t> </a:t>
            </a:r>
            <a:r>
              <a:rPr lang="fr-FR"/>
              <a:t>method</a:t>
            </a:r>
            <a:r>
              <a:rPr lang="fr-FR"/>
              <a:t>, </a:t>
            </a:r>
            <a:r>
              <a:rPr lang="fr-FR"/>
              <a:t>need</a:t>
            </a:r>
            <a:r>
              <a:rPr lang="fr-FR"/>
              <a:t> </a:t>
            </a:r>
            <a:r>
              <a:rPr lang="fr-FR"/>
              <a:t>cast</a:t>
            </a:r>
            <a:r>
              <a:rPr lang="fr-FR"/>
              <a:t>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2736993"/>
            <a:ext cx="12192000" cy="167865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Java API … </a:t>
            </a:r>
            <a:r>
              <a:rPr lang="fr-FR"/>
              <a:t>need</a:t>
            </a:r>
            <a:r>
              <a:rPr lang="fr-FR"/>
              <a:t> « Encoder » (</a:t>
            </a:r>
            <a:r>
              <a:rPr lang="fr-FR"/>
              <a:t>implicit</a:t>
            </a:r>
            <a:r>
              <a:rPr lang="fr-FR"/>
              <a:t> in Scala)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1280" y="1838008"/>
            <a:ext cx="12192000" cy="150123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040880" y="2362200"/>
            <a:ext cx="1524000" cy="44196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rrow: Right 5"/>
          <p:cNvSpPr/>
          <p:nvPr/>
        </p:nvSpPr>
        <p:spPr>
          <a:xfrm rot="16200000">
            <a:off x="7559084" y="3071768"/>
            <a:ext cx="617131" cy="27686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6262121" y="3611921"/>
            <a:ext cx="41542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Missing</a:t>
            </a:r>
            <a:r>
              <a:rPr lang="fr-FR" sz="2400" b="1"/>
              <a:t> second param in Java ..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55320" y="4146999"/>
            <a:ext cx="10335260" cy="26706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Java API … not </a:t>
            </a:r>
            <a:r>
              <a:rPr lang="fr-FR"/>
              <a:t>convenient</a:t>
            </a:r>
            <a:r>
              <a:rPr lang="fr-FR"/>
              <a:t> vs Spark-Scala API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0800" y="1681324"/>
            <a:ext cx="12192000" cy="1318571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0800" y="3751735"/>
            <a:ext cx="12192000" cy="305277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using</a:t>
            </a:r>
            <a:r>
              <a:rPr lang="fr-FR"/>
              <a:t> scala.Function1 + </a:t>
            </a:r>
            <a:r>
              <a:rPr lang="fr-FR"/>
              <a:t>inner</a:t>
            </a:r>
            <a:r>
              <a:rPr lang="fr-FR"/>
              <a:t> class</a:t>
            </a:r>
            <a:br>
              <a:rPr lang="fr-FR"/>
            </a:br>
            <a:r>
              <a:rPr lang="fr-FR"/>
              <a:t>… </a:t>
            </a:r>
            <a:r>
              <a:rPr lang="fr-FR"/>
              <a:t>NotSerializableException</a:t>
            </a:r>
            <a:r>
              <a:rPr lang="fr-FR"/>
              <a:t> !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40080" y="1853963"/>
            <a:ext cx="10515600" cy="42551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09562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 sz="4000"/>
              <a:t>Isolated</a:t>
            </a:r>
            <a:r>
              <a:rPr lang="fr-FR" sz="4000"/>
              <a:t> top-</a:t>
            </a:r>
            <a:r>
              <a:rPr lang="fr-FR" sz="4000"/>
              <a:t>level</a:t>
            </a:r>
            <a:r>
              <a:rPr lang="fr-FR" sz="4000"/>
              <a:t> class </a:t>
            </a:r>
            <a:r>
              <a:rPr lang="fr-FR" sz="4000"/>
              <a:t>implements</a:t>
            </a:r>
            <a:r>
              <a:rPr lang="fr-FR" sz="4000"/>
              <a:t> </a:t>
            </a:r>
            <a:r>
              <a:rPr lang="fr-FR" sz="4000"/>
              <a:t>Serializable</a:t>
            </a:r>
            <a:endParaRPr lang="fr-FR" sz="400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1859799"/>
            <a:ext cx="12192000" cy="313840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Local[*] </a:t>
            </a:r>
            <a:r>
              <a:rPr lang="fr-FR"/>
              <a:t>Debug</a:t>
            </a:r>
            <a:r>
              <a:rPr lang="fr-FR"/>
              <a:t> </a:t>
            </a:r>
            <a:r>
              <a:rPr lang="fr-FR"/>
              <a:t>from</a:t>
            </a:r>
            <a:r>
              <a:rPr lang="fr-FR"/>
              <a:t> IDE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52120" y="1217570"/>
            <a:ext cx="10866120" cy="541941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884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Advanced </a:t>
            </a:r>
            <a:r>
              <a:rPr lang="fr-FR"/>
              <a:t>SQL</a:t>
            </a:r>
            <a:r>
              <a:rPr lang="fr-FR"/>
              <a:t> / </a:t>
            </a:r>
            <a:r>
              <a:rPr lang="fr-FR"/>
              <a:t>Dataset</a:t>
            </a:r>
            <a:endParaRPr lang="fr-FR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02937" y="1325563"/>
            <a:ext cx="11067406" cy="540987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« </a:t>
            </a:r>
            <a:r>
              <a:rPr lang="fr-FR"/>
              <a:t>Word Count</a:t>
            </a:r>
            <a:r>
              <a:rPr lang="fr-FR"/>
              <a:t> »  … Hello world of </a:t>
            </a:r>
            <a:r>
              <a:rPr lang="fr-FR"/>
              <a:t>Big Data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528320" y="3606800"/>
            <a:ext cx="1003595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/>
              <a:t>scala&gt; val </a:t>
            </a:r>
            <a:r>
              <a:rPr lang="fr-FR" sz="3200"/>
              <a:t>ds</a:t>
            </a:r>
            <a:r>
              <a:rPr lang="fr-FR" sz="3200"/>
              <a:t>=</a:t>
            </a:r>
            <a:r>
              <a:rPr lang="fr-FR" sz="3200" b="1"/>
              <a:t>spark</a:t>
            </a:r>
            <a:r>
              <a:rPr lang="fr-FR" sz="3200"/>
              <a:t>.read.textFile</a:t>
            </a:r>
            <a:r>
              <a:rPr lang="fr-FR" sz="3200"/>
              <a:t>("c:/data/loremIpsum.txt")</a:t>
            </a:r>
          </a:p>
          <a:p>
            <a:r>
              <a:rPr lang="fr-FR" sz="3200"/>
              <a:t>ds</a:t>
            </a:r>
            <a:r>
              <a:rPr lang="fr-FR" sz="3200"/>
              <a:t>: </a:t>
            </a:r>
            <a:r>
              <a:rPr lang="fr-FR" sz="3200"/>
              <a:t>org.apache.spark.sql.Dataset</a:t>
            </a:r>
            <a:r>
              <a:rPr lang="fr-FR" sz="3200"/>
              <a:t>[String] = [value: string]</a:t>
            </a:r>
          </a:p>
          <a:p>
            <a:endParaRPr lang="fr-FR" sz="3200"/>
          </a:p>
          <a:p>
            <a:r>
              <a:rPr lang="fr-FR" sz="3200"/>
              <a:t>scala&gt; </a:t>
            </a:r>
            <a:r>
              <a:rPr lang="fr-FR" sz="3200"/>
              <a:t>ds.count</a:t>
            </a:r>
            <a:r>
              <a:rPr lang="fr-FR" sz="3200"/>
              <a:t>  // count </a:t>
            </a:r>
            <a:r>
              <a:rPr lang="fr-FR" sz="3200"/>
              <a:t>lines</a:t>
            </a:r>
            <a:endParaRPr lang="fr-FR" sz="3200"/>
          </a:p>
          <a:p>
            <a:r>
              <a:rPr lang="fr-FR" sz="3200"/>
              <a:t>res1: Long = 4</a:t>
            </a:r>
          </a:p>
          <a:p>
            <a:endParaRPr lang="fr-FR" sz="3200"/>
          </a:p>
        </p:txBody>
      </p:sp>
      <p:sp>
        <p:nvSpPr>
          <p:cNvPr id="5" name="TextBox 4"/>
          <p:cNvSpPr txBox="1"/>
          <p:nvPr/>
        </p:nvSpPr>
        <p:spPr>
          <a:xfrm>
            <a:off x="304800" y="1773872"/>
            <a:ext cx="1184926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Lorem Ipsum </a:t>
            </a:r>
            <a:r>
              <a:rPr lang="fr-FR"/>
              <a:t>dolor</a:t>
            </a:r>
            <a:r>
              <a:rPr lang="fr-FR"/>
              <a:t> </a:t>
            </a:r>
            <a:r>
              <a:rPr lang="fr-FR"/>
              <a:t>sit</a:t>
            </a:r>
            <a:r>
              <a:rPr lang="fr-FR"/>
              <a:t> </a:t>
            </a:r>
            <a:r>
              <a:rPr lang="fr-FR"/>
              <a:t>amet</a:t>
            </a:r>
            <a:r>
              <a:rPr lang="fr-FR"/>
              <a:t>, </a:t>
            </a:r>
            <a:r>
              <a:rPr lang="fr-FR"/>
              <a:t>consectetur</a:t>
            </a:r>
            <a:r>
              <a:rPr lang="fr-FR"/>
              <a:t> </a:t>
            </a:r>
            <a:r>
              <a:rPr lang="fr-FR"/>
              <a:t>adipiscing</a:t>
            </a:r>
            <a:r>
              <a:rPr lang="fr-FR"/>
              <a:t> </a:t>
            </a:r>
            <a:r>
              <a:rPr lang="fr-FR"/>
              <a:t>elit</a:t>
            </a:r>
            <a:r>
              <a:rPr lang="fr-FR"/>
              <a:t>, </a:t>
            </a:r>
            <a:r>
              <a:rPr lang="fr-FR"/>
              <a:t>sed</a:t>
            </a:r>
            <a:r>
              <a:rPr lang="fr-FR"/>
              <a:t> do </a:t>
            </a:r>
            <a:r>
              <a:rPr lang="fr-FR"/>
              <a:t>eiusmod</a:t>
            </a:r>
            <a:r>
              <a:rPr lang="fr-FR"/>
              <a:t> </a:t>
            </a:r>
            <a:r>
              <a:rPr lang="fr-FR"/>
              <a:t>tempor</a:t>
            </a:r>
            <a:r>
              <a:rPr lang="fr-FR"/>
              <a:t> </a:t>
            </a:r>
            <a:r>
              <a:rPr lang="fr-FR"/>
              <a:t>incididunt</a:t>
            </a:r>
            <a:r>
              <a:rPr lang="fr-FR"/>
              <a:t> ut </a:t>
            </a:r>
            <a:r>
              <a:rPr lang="fr-FR"/>
              <a:t>labore</a:t>
            </a:r>
            <a:r>
              <a:rPr lang="fr-FR"/>
              <a:t> et </a:t>
            </a:r>
            <a:r>
              <a:rPr lang="fr-FR"/>
              <a:t>dolore</a:t>
            </a:r>
            <a:r>
              <a:rPr lang="fr-FR"/>
              <a:t> magna </a:t>
            </a:r>
            <a:r>
              <a:rPr lang="fr-FR"/>
              <a:t>aliqua</a:t>
            </a:r>
            <a:r>
              <a:rPr lang="fr-FR"/>
              <a:t>.</a:t>
            </a:r>
          </a:p>
          <a:p>
            <a:r>
              <a:rPr lang="fr-FR"/>
              <a:t>Ut </a:t>
            </a:r>
            <a:r>
              <a:rPr lang="fr-FR"/>
              <a:t>enim</a:t>
            </a:r>
            <a:r>
              <a:rPr lang="fr-FR"/>
              <a:t> ad </a:t>
            </a:r>
            <a:r>
              <a:rPr lang="fr-FR"/>
              <a:t>minim</a:t>
            </a:r>
            <a:r>
              <a:rPr lang="fr-FR"/>
              <a:t> </a:t>
            </a:r>
            <a:r>
              <a:rPr lang="fr-FR"/>
              <a:t>veniam</a:t>
            </a:r>
            <a:r>
              <a:rPr lang="fr-FR"/>
              <a:t>, </a:t>
            </a:r>
            <a:r>
              <a:rPr lang="fr-FR"/>
              <a:t>quis</a:t>
            </a:r>
            <a:r>
              <a:rPr lang="fr-FR"/>
              <a:t> </a:t>
            </a:r>
            <a:r>
              <a:rPr lang="fr-FR"/>
              <a:t>nostrud</a:t>
            </a:r>
            <a:r>
              <a:rPr lang="fr-FR"/>
              <a:t> </a:t>
            </a:r>
            <a:r>
              <a:rPr lang="fr-FR"/>
              <a:t>exercitation</a:t>
            </a:r>
            <a:r>
              <a:rPr lang="fr-FR"/>
              <a:t> </a:t>
            </a:r>
            <a:r>
              <a:rPr lang="fr-FR"/>
              <a:t>ullamco</a:t>
            </a:r>
            <a:r>
              <a:rPr lang="fr-FR"/>
              <a:t> </a:t>
            </a:r>
            <a:r>
              <a:rPr lang="fr-FR"/>
              <a:t>laboris</a:t>
            </a:r>
            <a:r>
              <a:rPr lang="fr-FR"/>
              <a:t> </a:t>
            </a:r>
            <a:r>
              <a:rPr lang="fr-FR"/>
              <a:t>nisi</a:t>
            </a:r>
            <a:r>
              <a:rPr lang="fr-FR"/>
              <a:t> ut </a:t>
            </a:r>
            <a:r>
              <a:rPr lang="fr-FR"/>
              <a:t>aliquip</a:t>
            </a:r>
            <a:r>
              <a:rPr lang="fr-FR"/>
              <a:t> ex </a:t>
            </a:r>
            <a:r>
              <a:rPr lang="fr-FR"/>
              <a:t>ea</a:t>
            </a:r>
            <a:r>
              <a:rPr lang="fr-FR"/>
              <a:t> commodo </a:t>
            </a:r>
            <a:r>
              <a:rPr lang="fr-FR"/>
              <a:t>consequat</a:t>
            </a:r>
            <a:r>
              <a:rPr lang="fr-FR"/>
              <a:t>.</a:t>
            </a:r>
          </a:p>
          <a:p>
            <a:r>
              <a:rPr lang="fr-FR"/>
              <a:t>Duis </a:t>
            </a:r>
            <a:r>
              <a:rPr lang="fr-FR"/>
              <a:t>aute</a:t>
            </a:r>
            <a:r>
              <a:rPr lang="fr-FR"/>
              <a:t> </a:t>
            </a:r>
            <a:r>
              <a:rPr lang="fr-FR"/>
              <a:t>irure</a:t>
            </a:r>
            <a:r>
              <a:rPr lang="fr-FR"/>
              <a:t> </a:t>
            </a:r>
            <a:r>
              <a:rPr lang="fr-FR"/>
              <a:t>dolor</a:t>
            </a:r>
            <a:r>
              <a:rPr lang="fr-FR"/>
              <a:t> in </a:t>
            </a:r>
            <a:r>
              <a:rPr lang="fr-FR"/>
              <a:t>reprehenderit</a:t>
            </a:r>
            <a:r>
              <a:rPr lang="fr-FR"/>
              <a:t> in </a:t>
            </a:r>
            <a:r>
              <a:rPr lang="fr-FR"/>
              <a:t>voluptate</a:t>
            </a:r>
            <a:r>
              <a:rPr lang="fr-FR"/>
              <a:t> </a:t>
            </a:r>
            <a:r>
              <a:rPr lang="fr-FR"/>
              <a:t>velit</a:t>
            </a:r>
            <a:r>
              <a:rPr lang="fr-FR"/>
              <a:t> esse </a:t>
            </a:r>
            <a:r>
              <a:rPr lang="fr-FR"/>
              <a:t>cillum</a:t>
            </a:r>
            <a:r>
              <a:rPr lang="fr-FR"/>
              <a:t> </a:t>
            </a:r>
            <a:r>
              <a:rPr lang="fr-FR"/>
              <a:t>dolore</a:t>
            </a:r>
            <a:r>
              <a:rPr lang="fr-FR"/>
              <a:t> eu </a:t>
            </a:r>
            <a:r>
              <a:rPr lang="fr-FR"/>
              <a:t>fugiat</a:t>
            </a:r>
            <a:r>
              <a:rPr lang="fr-FR"/>
              <a:t> </a:t>
            </a:r>
            <a:r>
              <a:rPr lang="fr-FR"/>
              <a:t>nulla</a:t>
            </a:r>
            <a:r>
              <a:rPr lang="fr-FR"/>
              <a:t> </a:t>
            </a:r>
            <a:r>
              <a:rPr lang="fr-FR"/>
              <a:t>pariatur</a:t>
            </a:r>
            <a:r>
              <a:rPr lang="fr-FR"/>
              <a:t>.</a:t>
            </a:r>
          </a:p>
          <a:p>
            <a:r>
              <a:rPr lang="fr-FR"/>
              <a:t>Excepteur</a:t>
            </a:r>
            <a:r>
              <a:rPr lang="fr-FR"/>
              <a:t> </a:t>
            </a:r>
            <a:r>
              <a:rPr lang="fr-FR"/>
              <a:t>sint</a:t>
            </a:r>
            <a:r>
              <a:rPr lang="fr-FR"/>
              <a:t> </a:t>
            </a:r>
            <a:r>
              <a:rPr lang="fr-FR"/>
              <a:t>occaecat</a:t>
            </a:r>
            <a:r>
              <a:rPr lang="fr-FR"/>
              <a:t> </a:t>
            </a:r>
            <a:r>
              <a:rPr lang="fr-FR"/>
              <a:t>cupidatat</a:t>
            </a:r>
            <a:r>
              <a:rPr lang="fr-FR"/>
              <a:t> non </a:t>
            </a:r>
            <a:r>
              <a:rPr lang="fr-FR"/>
              <a:t>proident</a:t>
            </a:r>
            <a:r>
              <a:rPr lang="fr-FR"/>
              <a:t>, </a:t>
            </a:r>
            <a:r>
              <a:rPr lang="fr-FR"/>
              <a:t>sunt</a:t>
            </a:r>
            <a:r>
              <a:rPr lang="fr-FR"/>
              <a:t> in culpa qui officia </a:t>
            </a:r>
            <a:r>
              <a:rPr lang="fr-FR"/>
              <a:t>deserunt</a:t>
            </a:r>
            <a:r>
              <a:rPr lang="fr-FR"/>
              <a:t> mollit </a:t>
            </a:r>
            <a:r>
              <a:rPr lang="fr-FR"/>
              <a:t>anim</a:t>
            </a:r>
            <a:r>
              <a:rPr lang="fr-FR"/>
              <a:t> id est </a:t>
            </a:r>
            <a:r>
              <a:rPr lang="fr-FR"/>
              <a:t>laborum</a:t>
            </a:r>
            <a:r>
              <a:rPr lang="fr-FR"/>
              <a:t>.</a:t>
            </a:r>
          </a:p>
          <a:p>
            <a:endParaRPr lang="fr-FR"/>
          </a:p>
        </p:txBody>
      </p:sp>
      <p:sp>
        <p:nvSpPr>
          <p:cNvPr id="6" name="Rectangle: Folded Corner 5"/>
          <p:cNvSpPr/>
          <p:nvPr/>
        </p:nvSpPr>
        <p:spPr>
          <a:xfrm>
            <a:off x="193040" y="1690688"/>
            <a:ext cx="11877040" cy="1372552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220811" y="1362948"/>
            <a:ext cx="1617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loremIpsum.txt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Dataset.show</a:t>
            </a:r>
            <a:r>
              <a:rPr lang="fr-FR"/>
              <a:t>      </a:t>
            </a:r>
            <a:br>
              <a:rPr lang="fr-FR"/>
            </a:br>
            <a:r>
              <a:rPr lang="fr-FR"/>
              <a:t>         default   show(20 /*line*/, </a:t>
            </a:r>
            <a:r>
              <a:rPr lang="fr-FR"/>
              <a:t>true</a:t>
            </a:r>
            <a:r>
              <a:rPr lang="fr-FR"/>
              <a:t> /*</a:t>
            </a:r>
            <a:r>
              <a:rPr lang="fr-FR"/>
              <a:t>truncate</a:t>
            </a:r>
            <a:r>
              <a:rPr lang="fr-FR"/>
              <a:t>*/)   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00064" y="1789080"/>
            <a:ext cx="6591871" cy="24767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43736" y="4545130"/>
            <a:ext cx="12048264" cy="231287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86971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Word Count</a:t>
            </a:r>
            <a:r>
              <a:rPr lang="fr-FR"/>
              <a:t> :  </a:t>
            </a:r>
            <a:r>
              <a:rPr lang="fr-FR"/>
              <a:t>flatMap</a:t>
            </a:r>
            <a:r>
              <a:rPr lang="fr-FR"/>
              <a:t>(…).count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5629" y="1325563"/>
            <a:ext cx="6894260" cy="60016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scala&gt; </a:t>
            </a:r>
            <a:r>
              <a:rPr lang="en-US" sz="3200"/>
              <a:t>val</a:t>
            </a:r>
            <a:r>
              <a:rPr lang="en-US" sz="3200"/>
              <a:t> </a:t>
            </a:r>
            <a:r>
              <a:rPr lang="en-US" sz="3200"/>
              <a:t>wordDs</a:t>
            </a:r>
            <a:r>
              <a:rPr lang="en-US" sz="3200"/>
              <a:t> = </a:t>
            </a:r>
            <a:r>
              <a:rPr lang="en-US" sz="3200"/>
              <a:t>ds.</a:t>
            </a:r>
            <a:r>
              <a:rPr lang="en-US" sz="3200" b="1"/>
              <a:t>flatMap</a:t>
            </a:r>
            <a:r>
              <a:rPr lang="en-US" sz="3200"/>
              <a:t>(line =&gt; </a:t>
            </a:r>
          </a:p>
          <a:p>
            <a:r>
              <a:rPr lang="en-US" sz="3200"/>
              <a:t>	</a:t>
            </a:r>
            <a:r>
              <a:rPr lang="en-US" sz="3200"/>
              <a:t>line.replaceAll</a:t>
            </a:r>
            <a:r>
              <a:rPr lang="en-US" sz="3200"/>
              <a:t>("[,;.:!?]", " ")</a:t>
            </a:r>
          </a:p>
          <a:p>
            <a:r>
              <a:rPr lang="en-US" sz="3200"/>
              <a:t>		.</a:t>
            </a:r>
            <a:r>
              <a:rPr lang="en-US" sz="3200"/>
              <a:t>replaceAll</a:t>
            </a:r>
            <a:r>
              <a:rPr lang="en-US" sz="3200"/>
              <a:t>("  ", " ")</a:t>
            </a:r>
          </a:p>
          <a:p>
            <a:r>
              <a:rPr lang="en-US" sz="3200"/>
              <a:t>		.split(" ")</a:t>
            </a:r>
          </a:p>
          <a:p>
            <a:r>
              <a:rPr lang="en-US" sz="3200"/>
              <a:t>	)</a:t>
            </a:r>
          </a:p>
          <a:p>
            <a:r>
              <a:rPr lang="en-US" sz="3200"/>
              <a:t>words: .. Dataset[String] = [value: string]</a:t>
            </a:r>
          </a:p>
          <a:p>
            <a:endParaRPr lang="en-US" sz="3200"/>
          </a:p>
          <a:p>
            <a:r>
              <a:rPr lang="en-US" sz="3200"/>
              <a:t>scala&gt; </a:t>
            </a:r>
            <a:r>
              <a:rPr lang="en-US" sz="3200" b="1"/>
              <a:t>wordDs.count</a:t>
            </a:r>
            <a:endParaRPr lang="en-US" sz="3200" b="1"/>
          </a:p>
          <a:p>
            <a:r>
              <a:rPr lang="en-US" sz="3200"/>
              <a:t>res3: Long = 69</a:t>
            </a:r>
            <a:endParaRPr lang="fr-FR" sz="3200"/>
          </a:p>
          <a:p>
            <a:endParaRPr lang="en-US" sz="3200"/>
          </a:p>
          <a:p>
            <a:r>
              <a:rPr lang="en-US" sz="3200"/>
              <a:t>scala&gt; </a:t>
            </a:r>
            <a:r>
              <a:rPr lang="en-US" sz="3200"/>
              <a:t>wordDs.show</a:t>
            </a:r>
            <a:r>
              <a:rPr lang="en-US" sz="3200"/>
              <a:t>(10, false)</a:t>
            </a:r>
          </a:p>
          <a:p>
            <a:endParaRPr lang="en-US" sz="320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244609" y="1663086"/>
            <a:ext cx="3181762" cy="465212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43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Same word count</a:t>
            </a:r>
            <a:r>
              <a:rPr lang="fr-FR"/>
              <a:t>, </a:t>
            </a:r>
            <a:r>
              <a:rPr lang="fr-FR"/>
              <a:t>using</a:t>
            </a:r>
            <a:r>
              <a:rPr lang="fr-FR"/>
              <a:t> Spark-</a:t>
            </a:r>
            <a:r>
              <a:rPr lang="fr-FR"/>
              <a:t>core</a:t>
            </a:r>
            <a:r>
              <a:rPr lang="fr-FR"/>
              <a:t> RDD 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89988" y="2047755"/>
            <a:ext cx="11812024" cy="27624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22095" y="5317067"/>
            <a:ext cx="400577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no "</a:t>
            </a:r>
            <a:r>
              <a:rPr lang="fr-FR" sz="2000"/>
              <a:t>RDD.show</a:t>
            </a:r>
            <a:r>
              <a:rPr lang="fr-FR" sz="2000"/>
              <a:t>()"  </a:t>
            </a:r>
            <a:r>
              <a:rPr lang="fr-FR" sz="2000"/>
              <a:t>method</a:t>
            </a:r>
            <a:r>
              <a:rPr lang="fr-FR" sz="2000"/>
              <a:t> !! </a:t>
            </a:r>
          </a:p>
          <a:p>
            <a:endParaRPr lang="fr-FR" sz="2000"/>
          </a:p>
          <a:p>
            <a:r>
              <a:rPr lang="fr-FR" sz="2000"/>
              <a:t>not </a:t>
            </a:r>
            <a:r>
              <a:rPr lang="fr-FR" sz="2000"/>
              <a:t>easy</a:t>
            </a:r>
            <a:r>
              <a:rPr lang="fr-FR" sz="2000"/>
              <a:t> to </a:t>
            </a:r>
            <a:r>
              <a:rPr lang="fr-FR" sz="2000"/>
              <a:t>print</a:t>
            </a:r>
            <a:r>
              <a:rPr lang="fr-FR" sz="2000"/>
              <a:t>, </a:t>
            </a:r>
            <a:r>
              <a:rPr lang="fr-FR" sz="2000"/>
              <a:t>even</a:t>
            </a:r>
            <a:r>
              <a:rPr lang="fr-FR" sz="2000"/>
              <a:t> "RDD[String]"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wordCount</a:t>
            </a:r>
            <a:r>
              <a:rPr lang="fr-FR"/>
              <a:t> </a:t>
            </a:r>
            <a:r>
              <a:rPr lang="fr-FR"/>
              <a:t>using</a:t>
            </a:r>
            <a:r>
              <a:rPr lang="fr-FR"/>
              <a:t> RDD  </a:t>
            </a:r>
            <a:br>
              <a:rPr lang="fr-FR"/>
            </a:br>
            <a:r>
              <a:rPr lang="fr-FR"/>
              <a:t>!!! </a:t>
            </a:r>
            <a:r>
              <a:rPr lang="fr-FR"/>
              <a:t>you</a:t>
            </a:r>
            <a:r>
              <a:rPr lang="fr-FR"/>
              <a:t> </a:t>
            </a:r>
            <a:r>
              <a:rPr lang="fr-FR"/>
              <a:t>might</a:t>
            </a:r>
            <a:r>
              <a:rPr lang="fr-FR"/>
              <a:t> </a:t>
            </a:r>
            <a:r>
              <a:rPr lang="fr-FR"/>
              <a:t>never</a:t>
            </a:r>
            <a:r>
              <a:rPr lang="fr-FR"/>
              <a:t> use RDD </a:t>
            </a:r>
            <a:r>
              <a:rPr lang="fr-FR"/>
              <a:t>directly</a:t>
            </a:r>
            <a:r>
              <a:rPr lang="fr-FR"/>
              <a:t> !!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238" y="1616838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scala&gt; val </a:t>
            </a:r>
            <a:r>
              <a:rPr lang="fr-FR"/>
              <a:t>wordRdd</a:t>
            </a:r>
            <a:r>
              <a:rPr lang="fr-FR"/>
              <a:t> = </a:t>
            </a:r>
            <a:r>
              <a:rPr lang="fr-FR"/>
              <a:t>lineRdd.flatMap</a:t>
            </a:r>
            <a:r>
              <a:rPr lang="fr-FR"/>
              <a:t>(line =&gt;</a:t>
            </a:r>
          </a:p>
          <a:p>
            <a:r>
              <a:rPr lang="fr-FR"/>
              <a:t>     |  </a:t>
            </a:r>
            <a:r>
              <a:rPr lang="fr-FR"/>
              <a:t>line.replaceAll</a:t>
            </a:r>
            <a:r>
              <a:rPr lang="fr-FR"/>
              <a:t>("[,;.:!?]", " ")</a:t>
            </a:r>
          </a:p>
          <a:p>
            <a:r>
              <a:rPr lang="fr-FR"/>
              <a:t>     |      .</a:t>
            </a:r>
            <a:r>
              <a:rPr lang="fr-FR"/>
              <a:t>replaceAll</a:t>
            </a:r>
            <a:r>
              <a:rPr lang="fr-FR"/>
              <a:t>("  ", " ")</a:t>
            </a:r>
          </a:p>
          <a:p>
            <a:r>
              <a:rPr lang="fr-FR"/>
              <a:t>     |      .split(" ")</a:t>
            </a:r>
          </a:p>
          <a:p>
            <a:r>
              <a:rPr lang="fr-FR"/>
              <a:t>     |  )</a:t>
            </a:r>
          </a:p>
          <a:p>
            <a:r>
              <a:rPr lang="fr-FR"/>
              <a:t>val </a:t>
            </a:r>
            <a:r>
              <a:rPr lang="fr-FR"/>
              <a:t>wordRdd</a:t>
            </a:r>
            <a:r>
              <a:rPr lang="fr-FR"/>
              <a:t>: </a:t>
            </a:r>
            <a:r>
              <a:rPr lang="fr-FR"/>
              <a:t>org.apache.spark.rdd.RDD</a:t>
            </a:r>
            <a:r>
              <a:rPr lang="fr-FR"/>
              <a:t>[String] = </a:t>
            </a:r>
            <a:r>
              <a:rPr lang="fr-FR"/>
              <a:t>MapPartitionsRDD</a:t>
            </a:r>
            <a:r>
              <a:rPr lang="fr-FR"/>
              <a:t>[27] at </a:t>
            </a:r>
            <a:r>
              <a:rPr lang="fr-FR"/>
              <a:t>flatMap</a:t>
            </a:r>
            <a:r>
              <a:rPr lang="fr-FR"/>
              <a:t> at &lt;console&gt;:1</a:t>
            </a:r>
          </a:p>
          <a:p>
            <a:endParaRPr lang="fr-FR"/>
          </a:p>
          <a:p>
            <a:r>
              <a:rPr lang="fr-FR"/>
              <a:t>scala&gt; </a:t>
            </a:r>
            <a:r>
              <a:rPr lang="fr-FR"/>
              <a:t>wordRdd.count</a:t>
            </a:r>
            <a:r>
              <a:rPr lang="fr-FR"/>
              <a:t>()</a:t>
            </a:r>
          </a:p>
          <a:p>
            <a:r>
              <a:rPr lang="fr-FR"/>
              <a:t>val res12: Long = 69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907455" y="4385609"/>
            <a:ext cx="9057155" cy="216045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514324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RDD vs </a:t>
            </a:r>
            <a:r>
              <a:rPr lang="fr-FR"/>
              <a:t>Dataset</a:t>
            </a:r>
            <a:r>
              <a:rPr lang="fr-FR"/>
              <a:t>  look </a:t>
            </a:r>
            <a:r>
              <a:rPr lang="fr-FR"/>
              <a:t>Similar</a:t>
            </a:r>
            <a:r>
              <a:rPr lang="fr-FR"/>
              <a:t> ?  </a:t>
            </a:r>
            <a:br>
              <a:rPr lang="fr-FR"/>
            </a:br>
            <a:r>
              <a:rPr lang="fr-FR"/>
              <a:t>But look </a:t>
            </a:r>
            <a:r>
              <a:rPr lang="fr-FR"/>
              <a:t>closely</a:t>
            </a:r>
            <a:endParaRPr lang="fr-FR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6472" y="4827156"/>
            <a:ext cx="9038103" cy="121930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38396" y="1836572"/>
            <a:ext cx="6591871" cy="1169771"/>
          </a:xfrm>
          <a:prstGeom prst="rect">
            <a:avLst/>
          </a:prstGeom>
        </p:spPr>
      </p:pic>
      <p:sp>
        <p:nvSpPr>
          <p:cNvPr id="8" name="Arrow: Right 7"/>
          <p:cNvSpPr/>
          <p:nvPr/>
        </p:nvSpPr>
        <p:spPr>
          <a:xfrm rot="13203788">
            <a:off x="4591874" y="3053245"/>
            <a:ext cx="526862" cy="39188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5172941" y="3319649"/>
            <a:ext cx="3896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using</a:t>
            </a:r>
            <a:r>
              <a:rPr lang="fr-FR"/>
              <a:t> </a:t>
            </a:r>
            <a:r>
              <a:rPr lang="fr-FR"/>
              <a:t>spark-sql</a:t>
            </a:r>
            <a:r>
              <a:rPr lang="fr-FR"/>
              <a:t> </a:t>
            </a:r>
            <a:r>
              <a:rPr lang="fr-FR"/>
              <a:t>Dataset</a:t>
            </a:r>
            <a:r>
              <a:rPr lang="fr-FR"/>
              <a:t>,  </a:t>
            </a:r>
          </a:p>
          <a:p>
            <a:r>
              <a:rPr lang="fr-FR"/>
              <a:t>transformed</a:t>
            </a:r>
            <a:r>
              <a:rPr lang="fr-FR"/>
              <a:t> </a:t>
            </a:r>
            <a:r>
              <a:rPr lang="fr-FR"/>
              <a:t>dataset</a:t>
            </a:r>
            <a:r>
              <a:rPr lang="fr-FR"/>
              <a:t> </a:t>
            </a:r>
            <a:r>
              <a:rPr lang="fr-FR"/>
              <a:t>is</a:t>
            </a:r>
            <a:r>
              <a:rPr lang="fr-FR"/>
              <a:t> </a:t>
            </a:r>
            <a:r>
              <a:rPr lang="fr-FR"/>
              <a:t>still</a:t>
            </a:r>
            <a:r>
              <a:rPr lang="fr-FR"/>
              <a:t> a "</a:t>
            </a:r>
            <a:r>
              <a:rPr lang="fr-FR"/>
              <a:t>Dataset</a:t>
            </a:r>
            <a:r>
              <a:rPr lang="fr-FR"/>
              <a:t>"</a:t>
            </a:r>
          </a:p>
        </p:txBody>
      </p:sp>
      <p:sp>
        <p:nvSpPr>
          <p:cNvPr id="10" name="Arrow: Right 9"/>
          <p:cNvSpPr/>
          <p:nvPr/>
        </p:nvSpPr>
        <p:spPr>
          <a:xfrm rot="13203788">
            <a:off x="5327352" y="6048574"/>
            <a:ext cx="541111" cy="39188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5975048" y="6191591"/>
            <a:ext cx="62973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using</a:t>
            </a:r>
            <a:r>
              <a:rPr lang="fr-FR"/>
              <a:t> </a:t>
            </a:r>
            <a:r>
              <a:rPr lang="fr-FR"/>
              <a:t>spark-core</a:t>
            </a:r>
            <a:r>
              <a:rPr lang="fr-FR"/>
              <a:t> RDD,  </a:t>
            </a:r>
          </a:p>
          <a:p>
            <a:r>
              <a:rPr lang="fr-FR"/>
              <a:t>transformed</a:t>
            </a:r>
            <a:r>
              <a:rPr lang="fr-FR"/>
              <a:t> RDD </a:t>
            </a:r>
            <a:r>
              <a:rPr lang="fr-FR"/>
              <a:t>is</a:t>
            </a:r>
            <a:r>
              <a:rPr lang="fr-FR"/>
              <a:t> an instance of  </a:t>
            </a:r>
            <a:r>
              <a:rPr lang="fr-FR"/>
              <a:t>sub</a:t>
            </a:r>
            <a:r>
              <a:rPr lang="fr-FR"/>
              <a:t>-class "</a:t>
            </a:r>
            <a:r>
              <a:rPr lang="fr-FR"/>
              <a:t>MapPartitionsRDD</a:t>
            </a:r>
            <a:r>
              <a:rPr lang="fr-FR"/>
              <a:t>"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46472" y="4299180"/>
            <a:ext cx="11202371" cy="400085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338396" y="1250733"/>
            <a:ext cx="6287045" cy="40770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06362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r>
              <a:rPr lang="fr-FR"/>
              <a:t>  vs  RDD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5333" y="1698173"/>
            <a:ext cx="10874387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Dataset</a:t>
            </a:r>
            <a:r>
              <a:rPr lang="fr-FR" sz="2400"/>
              <a:t>  and  RDD are </a:t>
            </a:r>
            <a:r>
              <a:rPr lang="fr-FR" sz="2400"/>
              <a:t>both</a:t>
            </a:r>
            <a:r>
              <a:rPr lang="fr-FR" sz="2400"/>
              <a:t>  </a:t>
            </a:r>
            <a:r>
              <a:rPr lang="fr-FR" sz="2400"/>
              <a:t>lazily evaluated</a:t>
            </a:r>
            <a:endParaRPr lang="fr-FR" sz="2400"/>
          </a:p>
          <a:p>
            <a:endParaRPr lang="fr-FR" sz="2400"/>
          </a:p>
          <a:p>
            <a:r>
              <a:rPr lang="fr-FR" sz="2400"/>
              <a:t>    BUT</a:t>
            </a:r>
          </a:p>
          <a:p>
            <a:endParaRPr lang="fr-FR" sz="2400"/>
          </a:p>
          <a:p>
            <a:r>
              <a:rPr lang="fr-FR" sz="2400" b="1"/>
              <a:t>RDD  </a:t>
            </a:r>
            <a:r>
              <a:rPr lang="fr-FR" sz="2400" b="1"/>
              <a:t>eval</a:t>
            </a:r>
            <a:r>
              <a:rPr lang="fr-FR" sz="2400"/>
              <a:t> =&gt; </a:t>
            </a:r>
            <a:r>
              <a:rPr lang="fr-FR" sz="2400"/>
              <a:t>just</a:t>
            </a:r>
            <a:r>
              <a:rPr lang="fr-FR" sz="2400"/>
              <a:t> call the </a:t>
            </a:r>
            <a:r>
              <a:rPr lang="fr-FR" sz="2400"/>
              <a:t>overridden</a:t>
            </a:r>
            <a:r>
              <a:rPr lang="fr-FR" sz="2400"/>
              <a:t> </a:t>
            </a:r>
            <a:r>
              <a:rPr lang="fr-FR" sz="2400"/>
              <a:t>method</a:t>
            </a:r>
            <a:r>
              <a:rPr lang="fr-FR" sz="2400"/>
              <a:t> of </a:t>
            </a:r>
            <a:r>
              <a:rPr lang="fr-FR" sz="2400"/>
              <a:t>sub</a:t>
            </a:r>
            <a:r>
              <a:rPr lang="fr-FR" sz="2400"/>
              <a:t>-class  (parent class </a:t>
            </a:r>
            <a:r>
              <a:rPr lang="fr-FR" sz="2400"/>
              <a:t>is</a:t>
            </a:r>
            <a:r>
              <a:rPr lang="fr-FR" sz="2400"/>
              <a:t> abstract)</a:t>
            </a:r>
          </a:p>
          <a:p>
            <a:endParaRPr lang="fr-FR" sz="2400"/>
          </a:p>
          <a:p>
            <a:r>
              <a:rPr lang="fr-FR" sz="2400" b="1"/>
              <a:t>Dataset</a:t>
            </a:r>
            <a:r>
              <a:rPr lang="fr-FR" sz="2400" b="1"/>
              <a:t>  action </a:t>
            </a:r>
            <a:r>
              <a:rPr lang="fr-FR" sz="2400" b="1"/>
              <a:t>execution</a:t>
            </a:r>
            <a:r>
              <a:rPr lang="fr-FR" sz="2400"/>
              <a:t> =&gt; </a:t>
            </a:r>
            <a:r>
              <a:rPr lang="fr-FR" sz="2400"/>
              <a:t>need</a:t>
            </a:r>
            <a:r>
              <a:rPr lang="fr-FR" sz="2400"/>
              <a:t> to </a:t>
            </a:r>
            <a:r>
              <a:rPr lang="fr-FR" sz="2400"/>
              <a:t>analyze</a:t>
            </a:r>
            <a:r>
              <a:rPr lang="fr-FR" sz="2400"/>
              <a:t> </a:t>
            </a:r>
            <a:r>
              <a:rPr lang="fr-FR" sz="2400"/>
              <a:t>query</a:t>
            </a:r>
            <a:r>
              <a:rPr lang="fr-FR" sz="2400"/>
              <a:t>, </a:t>
            </a:r>
            <a:r>
              <a:rPr lang="fr-FR" sz="2400"/>
              <a:t>transform</a:t>
            </a:r>
            <a:r>
              <a:rPr lang="fr-FR" sz="2400"/>
              <a:t> </a:t>
            </a:r>
            <a:r>
              <a:rPr lang="fr-FR" sz="2400"/>
              <a:t>logical</a:t>
            </a:r>
            <a:r>
              <a:rPr lang="fr-FR" sz="2400"/>
              <a:t> to </a:t>
            </a:r>
            <a:r>
              <a:rPr lang="fr-FR" sz="2400"/>
              <a:t>physical</a:t>
            </a:r>
            <a:r>
              <a:rPr lang="fr-FR" sz="2400"/>
              <a:t> </a:t>
            </a:r>
            <a:br>
              <a:rPr lang="fr-FR" sz="2400"/>
            </a:br>
            <a:r>
              <a:rPr lang="fr-FR" sz="2400"/>
              <a:t>         =&gt; </a:t>
            </a:r>
            <a:r>
              <a:rPr lang="fr-FR" sz="2400"/>
              <a:t>optimize</a:t>
            </a:r>
            <a:r>
              <a:rPr lang="fr-FR" sz="2400"/>
              <a:t> =&gt; </a:t>
            </a:r>
            <a:r>
              <a:rPr lang="fr-FR" sz="2400"/>
              <a:t>generate</a:t>
            </a:r>
            <a:r>
              <a:rPr lang="fr-FR" sz="2400"/>
              <a:t> code  =&gt; ... </a:t>
            </a:r>
            <a:r>
              <a:rPr lang="fr-FR" sz="2400"/>
              <a:t>then</a:t>
            </a:r>
            <a:r>
              <a:rPr lang="fr-FR" sz="2400"/>
              <a:t> </a:t>
            </a:r>
            <a:r>
              <a:rPr lang="fr-FR" sz="2400"/>
              <a:t>finally</a:t>
            </a:r>
            <a:r>
              <a:rPr lang="fr-FR" sz="2400"/>
              <a:t> call </a:t>
            </a:r>
            <a:r>
              <a:rPr lang="fr-FR" sz="2400"/>
              <a:t>corresponding</a:t>
            </a:r>
            <a:r>
              <a:rPr lang="fr-FR" sz="2400"/>
              <a:t> </a:t>
            </a:r>
            <a:r>
              <a:rPr lang="fr-FR" sz="2400"/>
              <a:t>low-level</a:t>
            </a:r>
            <a:r>
              <a:rPr lang="fr-FR" sz="2400"/>
              <a:t> RDD</a:t>
            </a:r>
          </a:p>
          <a:p>
            <a:endParaRPr lang="fr-FR" sz="2400"/>
          </a:p>
          <a:p>
            <a:endParaRPr lang="fr-FR" sz="2400"/>
          </a:p>
          <a:p>
            <a:r>
              <a:rPr lang="fr-FR" sz="2400"/>
              <a:t>RDD </a:t>
            </a:r>
            <a:r>
              <a:rPr lang="fr-FR" sz="2400"/>
              <a:t>is</a:t>
            </a:r>
            <a:r>
              <a:rPr lang="fr-FR" sz="2400"/>
              <a:t> </a:t>
            </a:r>
            <a:r>
              <a:rPr lang="fr-FR" sz="2400"/>
              <a:t>low-level</a:t>
            </a:r>
            <a:r>
              <a:rPr lang="fr-FR" sz="2400"/>
              <a:t>,   </a:t>
            </a:r>
            <a:r>
              <a:rPr lang="fr-FR" sz="2400"/>
              <a:t>Dataset</a:t>
            </a:r>
            <a:r>
              <a:rPr lang="fr-FR" sz="2400"/>
              <a:t> </a:t>
            </a:r>
            <a:r>
              <a:rPr lang="fr-FR" sz="2400"/>
              <a:t>is</a:t>
            </a:r>
            <a:r>
              <a:rPr lang="fr-FR" sz="2400"/>
              <a:t> high-</a:t>
            </a:r>
            <a:r>
              <a:rPr lang="fr-FR" sz="2400"/>
              <a:t>level</a:t>
            </a:r>
            <a:r>
              <a:rPr lang="fr-FR" sz="2400"/>
              <a:t>  </a:t>
            </a:r>
            <a:r>
              <a:rPr lang="fr-FR" sz="2400"/>
              <a:t>using</a:t>
            </a:r>
            <a:r>
              <a:rPr lang="fr-FR" sz="2400"/>
              <a:t> RDD </a:t>
            </a:r>
            <a:r>
              <a:rPr lang="fr-FR" sz="2400"/>
              <a:t>internally</a:t>
            </a:r>
            <a:endParaRPr lang="fr-FR" sz="24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232629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What</a:t>
            </a:r>
            <a:r>
              <a:rPr lang="fr-FR"/>
              <a:t> are </a:t>
            </a:r>
            <a:r>
              <a:rPr lang="fr-FR"/>
              <a:t>Dataset</a:t>
            </a:r>
            <a:r>
              <a:rPr lang="fr-FR"/>
              <a:t>/RDD ?</a:t>
            </a:r>
            <a:br>
              <a:rPr lang="fr-FR"/>
            </a:br>
            <a:r>
              <a:rPr lang="fr-FR"/>
              <a:t>How </a:t>
            </a:r>
            <a:r>
              <a:rPr lang="fr-FR"/>
              <a:t>they</a:t>
            </a:r>
            <a:r>
              <a:rPr lang="fr-FR"/>
              <a:t> </a:t>
            </a:r>
            <a:r>
              <a:rPr lang="fr-FR"/>
              <a:t>work</a:t>
            </a:r>
            <a:r>
              <a:rPr lang="fr-FR"/>
              <a:t> 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RDD =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44533" y="2385180"/>
            <a:ext cx="2232278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5400" b="1"/>
              <a:t>R</a:t>
            </a:r>
            <a:r>
              <a:rPr lang="fr-FR" sz="3200"/>
              <a:t>esilient</a:t>
            </a:r>
            <a:endParaRPr lang="fr-FR" sz="3200"/>
          </a:p>
          <a:p>
            <a:r>
              <a:rPr lang="fr-FR" sz="5400" b="1"/>
              <a:t>D</a:t>
            </a:r>
            <a:r>
              <a:rPr lang="fr-FR" sz="3200"/>
              <a:t>istributed</a:t>
            </a:r>
          </a:p>
          <a:p>
            <a:r>
              <a:rPr lang="fr-FR" sz="5400" b="1"/>
              <a:t>D</a:t>
            </a:r>
            <a:r>
              <a:rPr lang="fr-FR" sz="3200"/>
              <a:t>ataset</a:t>
            </a:r>
            <a:endParaRPr lang="fr-FR" sz="32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R.D.D.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43480" y="1609279"/>
            <a:ext cx="682372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Resilient</a:t>
            </a:r>
            <a:r>
              <a:rPr lang="fr-FR" sz="3200"/>
              <a:t> = can </a:t>
            </a:r>
            <a:r>
              <a:rPr lang="fr-FR" sz="3200"/>
              <a:t>resist</a:t>
            </a:r>
            <a:r>
              <a:rPr lang="fr-FR" sz="3200"/>
              <a:t> </a:t>
            </a:r>
            <a:r>
              <a:rPr lang="fr-FR" sz="3200"/>
              <a:t>failure</a:t>
            </a:r>
            <a:br>
              <a:rPr lang="fr-FR" sz="3200"/>
            </a:br>
            <a:r>
              <a:rPr lang="fr-FR" sz="3200"/>
              <a:t>          …. can </a:t>
            </a:r>
            <a:r>
              <a:rPr lang="fr-FR" sz="3200"/>
              <a:t>be</a:t>
            </a:r>
            <a:r>
              <a:rPr lang="fr-FR" sz="3200"/>
              <a:t> </a:t>
            </a:r>
            <a:r>
              <a:rPr lang="fr-FR" sz="3200"/>
              <a:t>recomputed</a:t>
            </a:r>
            <a:r>
              <a:rPr lang="fr-FR" sz="3200"/>
              <a:t> on </a:t>
            </a:r>
            <a:r>
              <a:rPr lang="fr-FR" sz="3200"/>
              <a:t>demand</a:t>
            </a:r>
            <a:endParaRPr lang="fr-FR" sz="3200"/>
          </a:p>
        </p:txBody>
      </p:sp>
      <p:sp>
        <p:nvSpPr>
          <p:cNvPr id="5" name="TextBox 4"/>
          <p:cNvSpPr txBox="1"/>
          <p:nvPr/>
        </p:nvSpPr>
        <p:spPr>
          <a:xfrm>
            <a:off x="2443480" y="4263201"/>
            <a:ext cx="855298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Dataset</a:t>
            </a:r>
            <a:r>
              <a:rPr lang="fr-FR" sz="3200"/>
              <a:t> =  …    RDD </a:t>
            </a:r>
            <a:r>
              <a:rPr lang="fr-FR" sz="3200"/>
              <a:t>result</a:t>
            </a:r>
            <a:r>
              <a:rPr lang="fr-FR" sz="3200"/>
              <a:t> ends up to </a:t>
            </a:r>
            <a:r>
              <a:rPr lang="fr-FR" sz="3200"/>
              <a:t>be</a:t>
            </a:r>
            <a:r>
              <a:rPr lang="fr-FR" sz="3200"/>
              <a:t> a </a:t>
            </a:r>
          </a:p>
          <a:p>
            <a:r>
              <a:rPr lang="fr-FR" sz="3200"/>
              <a:t>                                </a:t>
            </a:r>
            <a:r>
              <a:rPr lang="fr-FR" sz="3200"/>
              <a:t>ImmutableList</a:t>
            </a:r>
            <a:r>
              <a:rPr lang="fr-FR" sz="3200"/>
              <a:t>&lt;</a:t>
            </a:r>
            <a:r>
              <a:rPr lang="fr-FR" sz="3200"/>
              <a:t>ImmutableData</a:t>
            </a:r>
            <a:r>
              <a:rPr lang="fr-FR" sz="3200"/>
              <a:t>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9360" y="5177601"/>
            <a:ext cx="833055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/>
              <a:t>                   …    </a:t>
            </a:r>
            <a:r>
              <a:rPr lang="fr-FR" sz="3200"/>
              <a:t>from</a:t>
            </a:r>
            <a:r>
              <a:rPr lang="fr-FR" sz="3200"/>
              <a:t> a </a:t>
            </a:r>
            <a:r>
              <a:rPr lang="fr-FR" sz="3200"/>
              <a:t>function</a:t>
            </a:r>
            <a:r>
              <a:rPr lang="fr-FR" sz="3200"/>
              <a:t> </a:t>
            </a:r>
            <a:r>
              <a:rPr lang="fr-FR" sz="3200"/>
              <a:t>definition</a:t>
            </a:r>
            <a:r>
              <a:rPr lang="fr-FR" sz="3200"/>
              <a:t> + inputs</a:t>
            </a:r>
            <a:br>
              <a:rPr lang="fr-FR" sz="3200"/>
            </a:br>
            <a:r>
              <a:rPr lang="fr-FR" sz="3200"/>
              <a:t>                           List&lt;Data&gt; </a:t>
            </a:r>
            <a:r>
              <a:rPr lang="fr-FR" sz="3200"/>
              <a:t>computeFunc</a:t>
            </a:r>
            <a:r>
              <a:rPr lang="fr-FR" sz="3200"/>
              <a:t>() { …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2680" y="3081932"/>
            <a:ext cx="99504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Distributed</a:t>
            </a:r>
            <a:r>
              <a:rPr lang="fr-FR" sz="3200"/>
              <a:t> =  split in partitions, </a:t>
            </a:r>
            <a:r>
              <a:rPr lang="fr-FR" sz="3200"/>
              <a:t>distributed</a:t>
            </a:r>
            <a:r>
              <a:rPr lang="fr-FR" sz="3200"/>
              <a:t> over </a:t>
            </a:r>
            <a:r>
              <a:rPr lang="fr-FR" sz="3200"/>
              <a:t>executors</a:t>
            </a:r>
            <a:endParaRPr lang="fr-FR" sz="32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6868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source code  http://github.com/apache/spark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027956" y="2256576"/>
            <a:ext cx="4977212" cy="450235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47039" y="712270"/>
            <a:ext cx="11490959" cy="154430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9819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RDD  /** </a:t>
            </a:r>
            <a:r>
              <a:rPr lang="fr-FR"/>
              <a:t>javadoc</a:t>
            </a:r>
            <a:r>
              <a:rPr lang="fr-FR"/>
              <a:t>... */   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26360" y="1508760"/>
            <a:ext cx="9064789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A </a:t>
            </a:r>
            <a:r>
              <a:rPr lang="en-US" sz="2800" b="1"/>
              <a:t>Resilient Distributed Dataset </a:t>
            </a:r>
            <a:r>
              <a:rPr lang="en-US" sz="2800"/>
              <a:t>(RDD), </a:t>
            </a:r>
          </a:p>
          <a:p>
            <a:r>
              <a:rPr lang="en-US" sz="2800"/>
              <a:t>   the</a:t>
            </a:r>
            <a:r>
              <a:rPr lang="en-US" sz="2800" b="1"/>
              <a:t> basic abstraction</a:t>
            </a:r>
            <a:r>
              <a:rPr lang="en-US" sz="2800"/>
              <a:t> in Spark. </a:t>
            </a:r>
          </a:p>
          <a:p>
            <a:endParaRPr lang="en-US" sz="2800"/>
          </a:p>
          <a:p>
            <a:r>
              <a:rPr lang="en-US" sz="2800"/>
              <a:t>Represents </a:t>
            </a:r>
          </a:p>
          <a:p>
            <a:r>
              <a:rPr lang="en-US" sz="2800"/>
              <a:t>   an </a:t>
            </a:r>
            <a:r>
              <a:rPr lang="en-US" sz="2800" b="1"/>
              <a:t>immutable</a:t>
            </a:r>
            <a:r>
              <a:rPr lang="en-US" sz="2800"/>
              <a:t>, </a:t>
            </a:r>
          </a:p>
          <a:p>
            <a:r>
              <a:rPr lang="en-US" sz="2800"/>
              <a:t>   </a:t>
            </a:r>
            <a:r>
              <a:rPr lang="en-US" sz="2800" b="1"/>
              <a:t>partitioned</a:t>
            </a:r>
            <a:r>
              <a:rPr lang="en-US" sz="2800"/>
              <a:t> </a:t>
            </a:r>
            <a:r>
              <a:rPr lang="en-US" sz="2800" b="1"/>
              <a:t>collection</a:t>
            </a:r>
            <a:r>
              <a:rPr lang="en-US" sz="2800"/>
              <a:t> of elements </a:t>
            </a:r>
          </a:p>
          <a:p>
            <a:r>
              <a:rPr lang="en-US" sz="2800"/>
              <a:t>   that can be operated on</a:t>
            </a:r>
            <a:r>
              <a:rPr lang="en-US" sz="2800" b="1"/>
              <a:t> in parallel</a:t>
            </a:r>
            <a:r>
              <a:rPr lang="en-US" sz="2800"/>
              <a:t>. </a:t>
            </a:r>
          </a:p>
          <a:p>
            <a:endParaRPr lang="en-US" sz="2800"/>
          </a:p>
          <a:p>
            <a:r>
              <a:rPr lang="en-US" sz="2800"/>
              <a:t>This class contains the basic operations available on all RDDs,</a:t>
            </a:r>
          </a:p>
          <a:p>
            <a:r>
              <a:rPr lang="en-US" sz="2800"/>
              <a:t>    such as `map`, `filter`, and `persist`. </a:t>
            </a:r>
          </a:p>
          <a:p>
            <a:r>
              <a:rPr lang="en-US" sz="2800"/>
              <a:t>In addition, </a:t>
            </a:r>
            <a:r>
              <a:rPr lang="en-US" sz="2800"/>
              <a:t>PairRDDFunctions</a:t>
            </a:r>
            <a:r>
              <a:rPr lang="en-US" sz="2800"/>
              <a:t> (..) of key-value pairs,  </a:t>
            </a:r>
          </a:p>
          <a:p>
            <a:r>
              <a:rPr lang="en-US" sz="2800"/>
              <a:t>   (..contains) `</a:t>
            </a:r>
            <a:r>
              <a:rPr lang="en-US" sz="2800"/>
              <a:t>groupByKey</a:t>
            </a:r>
            <a:r>
              <a:rPr lang="en-US" sz="2800"/>
              <a:t>` and `join` (..)</a:t>
            </a:r>
            <a:endParaRPr lang="fr-FR" sz="28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388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RDD /** </a:t>
            </a:r>
            <a:r>
              <a:rPr lang="fr-FR"/>
              <a:t>javadoc</a:t>
            </a:r>
            <a:r>
              <a:rPr lang="fr-FR"/>
              <a:t>... */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8240" y="1513840"/>
            <a:ext cx="924559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/>
              <a:t>Internally, each RDD is characterized by:</a:t>
            </a:r>
          </a:p>
          <a:p>
            <a:endParaRPr lang="en-US" sz="2800"/>
          </a:p>
          <a:p>
            <a:r>
              <a:rPr lang="en-US" sz="2800"/>
              <a:t>  - A </a:t>
            </a:r>
            <a:r>
              <a:rPr lang="en-US" sz="2800" b="1"/>
              <a:t>list of partitions</a:t>
            </a:r>
            <a:br>
              <a:rPr lang="en-US" sz="2800" b="1"/>
            </a:br>
            <a:endParaRPr lang="en-US" sz="2800" b="1"/>
          </a:p>
          <a:p>
            <a:r>
              <a:rPr lang="en-US" sz="2800"/>
              <a:t>  - A </a:t>
            </a:r>
            <a:r>
              <a:rPr lang="en-US" sz="2800" b="1"/>
              <a:t>function for computing </a:t>
            </a:r>
            <a:r>
              <a:rPr lang="en-US" sz="2800"/>
              <a:t>each split</a:t>
            </a:r>
            <a:br>
              <a:rPr lang="en-US" sz="2800"/>
            </a:br>
            <a:endParaRPr lang="en-US" sz="2800"/>
          </a:p>
          <a:p>
            <a:r>
              <a:rPr lang="en-US" sz="2800"/>
              <a:t>  - A list of </a:t>
            </a:r>
            <a:r>
              <a:rPr lang="en-US" sz="2800" b="1"/>
              <a:t>dependencies on other RDDs</a:t>
            </a:r>
            <a:br>
              <a:rPr lang="en-US" sz="2800" b="1"/>
            </a:br>
            <a:endParaRPr lang="en-US" sz="2800" b="1"/>
          </a:p>
          <a:p>
            <a:r>
              <a:rPr lang="en-US" sz="2800"/>
              <a:t>  - Optionally, a </a:t>
            </a:r>
            <a:r>
              <a:rPr lang="en-US" sz="2800" b="1"/>
              <a:t>Partitioner</a:t>
            </a:r>
            <a:endParaRPr lang="en-US" sz="2800"/>
          </a:p>
          <a:p>
            <a:r>
              <a:rPr lang="en-US" sz="2800"/>
              <a:t>  - Optionally, a list of </a:t>
            </a:r>
            <a:r>
              <a:rPr lang="en-US" sz="2800" b="1"/>
              <a:t>preferred locations</a:t>
            </a:r>
            <a:endParaRPr lang="fr-FR" sz="28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0995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RDD /** </a:t>
            </a:r>
            <a:r>
              <a:rPr lang="fr-FR"/>
              <a:t>javadoc</a:t>
            </a:r>
            <a:r>
              <a:rPr lang="fr-FR"/>
              <a:t>... */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80" y="1894840"/>
            <a:ext cx="1176257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All (..) in Spark is done based on these methods, </a:t>
            </a:r>
          </a:p>
          <a:p>
            <a:r>
              <a:rPr lang="en-US" sz="2400"/>
              <a:t>  allowing each RDD </a:t>
            </a:r>
            <a:r>
              <a:rPr lang="en-US" sz="2400" b="1"/>
              <a:t>to implement </a:t>
            </a:r>
            <a:r>
              <a:rPr lang="en-US" sz="2400"/>
              <a:t>its own </a:t>
            </a:r>
            <a:r>
              <a:rPr lang="en-US" sz="2400" b="1"/>
              <a:t>way of computing </a:t>
            </a:r>
            <a:r>
              <a:rPr lang="en-US" sz="2400"/>
              <a:t>itself. </a:t>
            </a:r>
          </a:p>
          <a:p>
            <a:endParaRPr lang="en-US" sz="2400"/>
          </a:p>
          <a:p>
            <a:r>
              <a:rPr lang="en-US" sz="2400"/>
              <a:t>Indeed, users </a:t>
            </a:r>
            <a:r>
              <a:rPr lang="en-US" sz="2400" b="1"/>
              <a:t>can implement </a:t>
            </a:r>
            <a:r>
              <a:rPr lang="en-US" sz="2400"/>
              <a:t>custom RDDs </a:t>
            </a:r>
          </a:p>
          <a:p>
            <a:r>
              <a:rPr lang="en-US" sz="2400"/>
              <a:t>   (e.g. for reading data from a new storage system) </a:t>
            </a:r>
          </a:p>
          <a:p>
            <a:r>
              <a:rPr lang="en-US" sz="2400"/>
              <a:t>  by </a:t>
            </a:r>
            <a:r>
              <a:rPr lang="en-US" sz="2400" b="1"/>
              <a:t>overriding </a:t>
            </a:r>
            <a:r>
              <a:rPr lang="en-US" sz="2400"/>
              <a:t>these functions. </a:t>
            </a:r>
          </a:p>
          <a:p>
            <a:endParaRPr lang="en-US" sz="2400"/>
          </a:p>
          <a:p>
            <a:r>
              <a:rPr lang="en-US" sz="2400"/>
              <a:t>Please refer to the</a:t>
            </a:r>
          </a:p>
          <a:p>
            <a:r>
              <a:rPr lang="en-US" sz="2400"/>
              <a:t>   &lt;a </a:t>
            </a:r>
            <a:r>
              <a:rPr lang="en-US" sz="2400"/>
              <a:t>href</a:t>
            </a:r>
            <a:r>
              <a:rPr lang="en-US" sz="2400"/>
              <a:t>="http://people.csail.mit.edu/</a:t>
            </a:r>
            <a:r>
              <a:rPr lang="en-US" sz="2400"/>
              <a:t>matei</a:t>
            </a:r>
            <a:r>
              <a:rPr lang="en-US" sz="2400"/>
              <a:t>/papers/2012/nsdi_spark.pdf"&gt;Spark paper&lt;/a&gt;</a:t>
            </a:r>
          </a:p>
          <a:p>
            <a:r>
              <a:rPr lang="en-US" sz="2400"/>
              <a:t>   for more details on RDD internals.</a:t>
            </a:r>
            <a:endParaRPr lang="fr-FR" sz="24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RDD Paper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031625" y="294640"/>
            <a:ext cx="5544030" cy="65042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490008"/>
            <a:ext cx="221272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A </a:t>
            </a:r>
            <a:r>
              <a:rPr lang="fr-FR" sz="2400" b="1"/>
              <a:t>Fault-Tolerant</a:t>
            </a:r>
            <a:endParaRPr lang="fr-FR" sz="2400" b="1"/>
          </a:p>
          <a:p>
            <a:r>
              <a:rPr lang="fr-FR" sz="2400" b="1"/>
              <a:t>Abstraction</a:t>
            </a:r>
          </a:p>
          <a:p>
            <a:r>
              <a:rPr lang="fr-FR" sz="2400" b="1"/>
              <a:t>For In-Memory</a:t>
            </a:r>
            <a:br>
              <a:rPr lang="fr-FR" sz="2400" b="1"/>
            </a:br>
            <a:r>
              <a:rPr lang="fr-FR" sz="2400" b="1"/>
              <a:t>Cluster </a:t>
            </a:r>
          </a:p>
          <a:p>
            <a:r>
              <a:rPr lang="fr-FR" sz="2400" b="1"/>
              <a:t>computing</a:t>
            </a:r>
            <a:endParaRPr lang="fr-FR" sz="2400" b="1"/>
          </a:p>
        </p:txBody>
      </p:sp>
      <p:sp>
        <p:nvSpPr>
          <p:cNvPr id="7" name="TextBox 6"/>
          <p:cNvSpPr txBox="1"/>
          <p:nvPr/>
        </p:nvSpPr>
        <p:spPr>
          <a:xfrm>
            <a:off x="777240" y="3952240"/>
            <a:ext cx="49448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To achieve fault tolerance efficiently, </a:t>
            </a:r>
          </a:p>
          <a:p>
            <a:r>
              <a:rPr lang="en-US"/>
              <a:t>RDDs provide a restricted form of shared memory, </a:t>
            </a:r>
          </a:p>
          <a:p>
            <a:r>
              <a:rPr lang="en-US"/>
              <a:t>based on coarse-grained transformations</a:t>
            </a:r>
            <a:endParaRPr lang="fr-FR"/>
          </a:p>
        </p:txBody>
      </p:sp>
      <p:sp>
        <p:nvSpPr>
          <p:cNvPr id="8" name="Speech Bubble: Oval 7"/>
          <p:cNvSpPr/>
          <p:nvPr/>
        </p:nvSpPr>
        <p:spPr>
          <a:xfrm>
            <a:off x="394800" y="3700165"/>
            <a:ext cx="5327255" cy="1427480"/>
          </a:xfrm>
          <a:prstGeom prst="wedgeEllipseCallout">
            <a:avLst>
              <a:gd name="adj1" fmla="val 67987"/>
              <a:gd name="adj2" fmla="val -66701"/>
            </a:avLst>
          </a:prstGeom>
          <a:noFill/>
          <a:ln w="222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7439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RDD Abstract </a:t>
            </a:r>
            <a:r>
              <a:rPr lang="fr-FR"/>
              <a:t>methods</a:t>
            </a:r>
            <a:endParaRPr lang="fr-FR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956560" y="764777"/>
            <a:ext cx="6502003" cy="593954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59450" y="776253"/>
            <a:ext cx="7212169" cy="515854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84240" y="4711837"/>
            <a:ext cx="5897880" cy="18944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7625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abstract class </a:t>
            </a:r>
            <a:r>
              <a:rPr lang="fr-FR"/>
              <a:t>org.apache.spark.rdd.RDD</a:t>
            </a:r>
            <a:endParaRPr lang="fr-F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884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RDD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673139" y="1467448"/>
            <a:ext cx="3169920" cy="103931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24839" y="3667760"/>
            <a:ext cx="4683583" cy="206123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953000" y="3285705"/>
            <a:ext cx="4284019" cy="3609101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85799" y="1089947"/>
            <a:ext cx="3664903" cy="2339053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953000" y="1007612"/>
            <a:ext cx="2802398" cy="2339053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8722361" y="1007612"/>
            <a:ext cx="2251082" cy="454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000" y="0"/>
            <a:ext cx="763016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RDD </a:t>
            </a:r>
            <a:r>
              <a:rPr lang="fr-FR"/>
              <a:t>operators</a:t>
            </a:r>
            <a:r>
              <a:rPr lang="fr-FR"/>
              <a:t>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0354" y="403213"/>
            <a:ext cx="3375586" cy="615009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322454" y="0"/>
            <a:ext cx="3111190" cy="685800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117080" y="831530"/>
            <a:ext cx="3569017" cy="1723143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7117080" y="2554673"/>
            <a:ext cx="3111190" cy="140732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07822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Sub</a:t>
            </a:r>
            <a:r>
              <a:rPr lang="fr-FR"/>
              <a:t>-classes </a:t>
            </a:r>
            <a:r>
              <a:rPr lang="fr-FR"/>
              <a:t>Hierarchy</a:t>
            </a:r>
            <a:r>
              <a:rPr lang="fr-FR"/>
              <a:t> </a:t>
            </a:r>
            <a:r>
              <a:rPr lang="fr-FR"/>
              <a:t>extending</a:t>
            </a:r>
            <a:r>
              <a:rPr lang="fr-FR"/>
              <a:t> RDD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275496" y="1432560"/>
            <a:ext cx="3319814" cy="524256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63920" y="1259580"/>
            <a:ext cx="3884844" cy="551206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840" y="0"/>
            <a:ext cx="7188200" cy="14484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Abstract RDD class </a:t>
            </a:r>
            <a:br>
              <a:rPr lang="fr-FR"/>
            </a:br>
            <a:r>
              <a:rPr lang="fr-FR"/>
              <a:t>=&gt; (</a:t>
            </a:r>
            <a:r>
              <a:rPr lang="fr-FR"/>
              <a:t>many</a:t>
            </a:r>
            <a:r>
              <a:rPr lang="fr-FR"/>
              <a:t>) </a:t>
            </a:r>
            <a:r>
              <a:rPr lang="fr-FR"/>
              <a:t>concrete</a:t>
            </a:r>
            <a:r>
              <a:rPr lang="fr-FR"/>
              <a:t> </a:t>
            </a:r>
            <a:r>
              <a:rPr lang="fr-FR"/>
              <a:t>sub</a:t>
            </a:r>
            <a:r>
              <a:rPr lang="fr-FR"/>
              <a:t>-classes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25619" y="44959"/>
            <a:ext cx="4690221" cy="675999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71869" y="2480229"/>
            <a:ext cx="4743861" cy="432472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121156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1 </a:t>
            </a:r>
            <a:r>
              <a:rPr lang="fr-FR"/>
              <a:t>algorithm</a:t>
            </a:r>
            <a:r>
              <a:rPr lang="fr-FR"/>
              <a:t> / transformation  =&gt; 1 RDD </a:t>
            </a:r>
            <a:r>
              <a:rPr lang="fr-FR"/>
              <a:t>Sub</a:t>
            </a:r>
            <a:r>
              <a:rPr lang="fr-FR"/>
              <a:t>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4800" y="1777122"/>
            <a:ext cx="66362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Example:   </a:t>
            </a:r>
            <a:r>
              <a:rPr lang="fr-FR" sz="2400"/>
              <a:t>rdd.map</a:t>
            </a:r>
            <a:r>
              <a:rPr lang="fr-FR" sz="2400"/>
              <a:t>( </a:t>
            </a:r>
            <a:r>
              <a:rPr lang="fr-FR" sz="2400"/>
              <a:t>func</a:t>
            </a:r>
            <a:r>
              <a:rPr lang="fr-FR" sz="2400"/>
              <a:t> )     or   </a:t>
            </a:r>
            <a:r>
              <a:rPr lang="fr-FR" sz="2400"/>
              <a:t>rdd.flatMap</a:t>
            </a:r>
            <a:r>
              <a:rPr lang="fr-FR" sz="2400"/>
              <a:t>( </a:t>
            </a:r>
            <a:r>
              <a:rPr lang="fr-FR" sz="2400"/>
              <a:t>func</a:t>
            </a:r>
            <a:r>
              <a:rPr lang="fr-FR" sz="2400"/>
              <a:t> 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63580" y="2426821"/>
            <a:ext cx="5375733" cy="291225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37720" y="3058160"/>
            <a:ext cx="6012039" cy="3645471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087" y="0"/>
            <a:ext cx="11879826" cy="976978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Call </a:t>
            </a:r>
            <a:r>
              <a:rPr lang="fr-FR"/>
              <a:t>transform</a:t>
            </a:r>
            <a:r>
              <a:rPr lang="fr-FR"/>
              <a:t> </a:t>
            </a:r>
            <a:r>
              <a:rPr lang="fr-FR"/>
              <a:t>function</a:t>
            </a:r>
            <a:r>
              <a:rPr lang="fr-FR"/>
              <a:t> =&gt; </a:t>
            </a:r>
            <a:r>
              <a:rPr lang="fr-FR"/>
              <a:t>Create</a:t>
            </a:r>
            <a:r>
              <a:rPr lang="fr-FR"/>
              <a:t> new RDD (</a:t>
            </a:r>
            <a:r>
              <a:rPr lang="fr-FR"/>
              <a:t>linked</a:t>
            </a:r>
            <a:r>
              <a:rPr lang="fr-FR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848" y="1949468"/>
            <a:ext cx="377552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RDD rdd1 = … </a:t>
            </a:r>
            <a:r>
              <a:rPr lang="fr-FR" sz="2400"/>
              <a:t>read</a:t>
            </a:r>
            <a:endParaRPr lang="fr-FR" sz="2400"/>
          </a:p>
          <a:p>
            <a:endParaRPr lang="fr-FR" sz="2400"/>
          </a:p>
          <a:p>
            <a:endParaRPr lang="fr-FR" sz="2400"/>
          </a:p>
          <a:p>
            <a:r>
              <a:rPr lang="fr-FR" sz="2400"/>
              <a:t>RDD rdd2   =  rdd1 .</a:t>
            </a:r>
            <a:r>
              <a:rPr lang="fr-FR" sz="2400"/>
              <a:t>map</a:t>
            </a:r>
            <a:r>
              <a:rPr lang="fr-FR" sz="2400"/>
              <a:t>( .. )</a:t>
            </a:r>
          </a:p>
          <a:p>
            <a:endParaRPr lang="fr-FR" sz="2400"/>
          </a:p>
          <a:p>
            <a:endParaRPr lang="fr-FR" sz="2400"/>
          </a:p>
          <a:p>
            <a:r>
              <a:rPr lang="fr-FR" sz="2400"/>
              <a:t>RDD rdd3 = .. </a:t>
            </a:r>
            <a:r>
              <a:rPr lang="fr-FR" sz="2400"/>
              <a:t>read</a:t>
            </a:r>
            <a:endParaRPr lang="fr-FR" sz="2400"/>
          </a:p>
          <a:p>
            <a:endParaRPr lang="fr-FR" sz="2400"/>
          </a:p>
          <a:p>
            <a:endParaRPr lang="fr-FR" sz="2400"/>
          </a:p>
          <a:p>
            <a:r>
              <a:rPr lang="fr-FR" sz="2400"/>
              <a:t>RDD rdd4 = rdd2 .</a:t>
            </a:r>
            <a:r>
              <a:rPr lang="fr-FR" sz="2400"/>
              <a:t>join</a:t>
            </a:r>
            <a:r>
              <a:rPr lang="fr-FR" sz="2400"/>
              <a:t>( rdd3 )</a:t>
            </a:r>
          </a:p>
          <a:p>
            <a:endParaRPr lang="fr-FR" sz="2400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" name="Object 4">
            <a:extLst>
              <a:ext uri="{FF2B5EF4-FFF2-40B4-BE49-F238E27FC236}">
                <a16:creationId xmlns:a16="http://schemas.microsoft.com/office/drawing/2014/main" id="{925B6C6F-DC0A-6652-FAA9-E5D163A5340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89223212"/>
              </p:ext>
            </p:extLst>
          </p:nvPr>
        </p:nvGraphicFramePr>
        <p:xfrm>
          <a:off x="3649354" y="1761030"/>
          <a:ext cx="1261297" cy="79120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4" name="Object 3">
                    <a:extLst>
                      <a:ext uri="{FF2B5EF4-FFF2-40B4-BE49-F238E27FC236}">
                        <a16:creationId xmlns:a16="http://schemas.microsoft.com/office/drawing/2014/main" id="{125469CE-3106-64CC-CA65-7A96FE007CA3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649354" y="1761030"/>
                    <a:ext cx="1261297" cy="79120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14043" y="1864841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1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" name="Object 6">
            <a:extLst>
              <a:ext uri="{FF2B5EF4-FFF2-40B4-BE49-F238E27FC236}">
                <a16:creationId xmlns:a16="http://schemas.microsoft.com/office/drawing/2014/main" id="{3EA69F9D-EC3C-5D0B-E2B0-A4579829B94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2381523"/>
              </p:ext>
            </p:extLst>
          </p:nvPr>
        </p:nvGraphicFramePr>
        <p:xfrm>
          <a:off x="4979345" y="2926275"/>
          <a:ext cx="1662868" cy="1005449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4AC293FB-728B-8BBD-2214-428588909AAA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979345" y="2926275"/>
                    <a:ext cx="1662868" cy="100544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38097" y="3062544"/>
            <a:ext cx="15921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2</a:t>
            </a:r>
          </a:p>
          <a:p>
            <a:r>
              <a:rPr lang="fr-FR"/>
              <a:t> = </a:t>
            </a:r>
            <a:r>
              <a:rPr lang="fr-FR"/>
              <a:t>func</a:t>
            </a:r>
            <a:r>
              <a:rPr lang="fr-FR"/>
              <a:t>( RDD1 )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 flipV="1">
            <a:off x="4979345" y="2398486"/>
            <a:ext cx="426267" cy="409271"/>
          </a:xfrm>
          <a:prstGeom prst="straightConnector1">
            <a:avLst/>
          </a:prstGeom>
          <a:ln w="381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291590" y="2310609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dependency</a:t>
            </a:r>
            <a:endParaRPr lang="fr-FR" sz="2000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" name="Object 11">
            <a:extLst>
              <a:ext uri="{FF2B5EF4-FFF2-40B4-BE49-F238E27FC236}">
                <a16:creationId xmlns:a16="http://schemas.microsoft.com/office/drawing/2014/main" id="{A63E41C4-067A-8323-810F-6DEA1B46E31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87979086"/>
              </p:ext>
            </p:extLst>
          </p:nvPr>
        </p:nvGraphicFramePr>
        <p:xfrm>
          <a:off x="9095342" y="4778889"/>
          <a:ext cx="1662868" cy="13255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5" name="Object 4">
                    <a:extLst>
                      <a:ext uri="{FF2B5EF4-FFF2-40B4-BE49-F238E27FC236}">
                        <a16:creationId xmlns:a16="http://schemas.microsoft.com/office/drawing/2014/main" id="{925B6C6F-DC0A-6652-FAA9-E5D163A53408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095342" y="4778889"/>
                    <a:ext cx="1662868" cy="13255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" name="Object 12">
            <a:extLst>
              <a:ext uri="{FF2B5EF4-FFF2-40B4-BE49-F238E27FC236}">
                <a16:creationId xmlns:a16="http://schemas.microsoft.com/office/drawing/2014/main" id="{4478BACD-F98C-DA08-08A4-E10A5CE4C18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17898560"/>
              </p:ext>
            </p:extLst>
          </p:nvPr>
        </p:nvGraphicFramePr>
        <p:xfrm>
          <a:off x="6544806" y="4240444"/>
          <a:ext cx="1308533" cy="79120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7" name="Object 6">
                    <a:extLst>
                      <a:ext uri="{FF2B5EF4-FFF2-40B4-BE49-F238E27FC236}">
                        <a16:creationId xmlns:a16="http://schemas.microsoft.com/office/drawing/2014/main" id="{3EA69F9D-EC3C-5D0B-E2B0-A4579829B948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6544806" y="4240444"/>
                    <a:ext cx="1308533" cy="79120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719810" y="4369138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6107" y="5053444"/>
            <a:ext cx="15792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4</a:t>
            </a:r>
          </a:p>
          <a:p>
            <a:r>
              <a:rPr lang="fr-FR"/>
              <a:t> = </a:t>
            </a:r>
            <a:r>
              <a:rPr lang="fr-FR"/>
              <a:t>func</a:t>
            </a:r>
            <a:r>
              <a:rPr lang="fr-FR"/>
              <a:t>( </a:t>
            </a:r>
          </a:p>
          <a:p>
            <a:r>
              <a:rPr lang="fr-FR"/>
              <a:t>  RDD2, RDD3 )</a:t>
            </a:r>
          </a:p>
        </p:txBody>
      </p:sp>
      <p:cxnSp>
        <p:nvCxnSpPr>
          <p:cNvPr id="19" name="Straight Arrow Connector 18"/>
          <p:cNvCxnSpPr/>
          <p:nvPr/>
        </p:nvCxnSpPr>
        <p:spPr>
          <a:xfrm flipH="1" flipV="1">
            <a:off x="7962266" y="4553804"/>
            <a:ext cx="1030223" cy="367901"/>
          </a:xfrm>
          <a:prstGeom prst="straightConnector1">
            <a:avLst/>
          </a:prstGeom>
          <a:ln w="381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 flipV="1">
            <a:off x="6709497" y="3491093"/>
            <a:ext cx="2306548" cy="1287796"/>
          </a:xfrm>
          <a:prstGeom prst="straightConnector1">
            <a:avLst/>
          </a:prstGeom>
          <a:ln w="381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689729" y="3697986"/>
            <a:ext cx="16401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dependencies</a:t>
            </a:r>
            <a:endParaRPr lang="fr-FR" sz="20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087" y="0"/>
            <a:ext cx="11879826" cy="976978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Call </a:t>
            </a:r>
            <a:r>
              <a:rPr lang="fr-FR"/>
              <a:t>compute</a:t>
            </a:r>
            <a:r>
              <a:rPr lang="fr-FR"/>
              <a:t>() =&gt; … </a:t>
            </a:r>
            <a:r>
              <a:rPr lang="fr-FR"/>
              <a:t>dependency.compute</a:t>
            </a:r>
            <a:r>
              <a:rPr lang="fr-FR"/>
              <a:t>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69810" y="6194526"/>
            <a:ext cx="27024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(1) : rdd4.compute()</a:t>
            </a:r>
          </a:p>
          <a:p>
            <a:endParaRPr lang="fr-FR" sz="2400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" name="Object 4">
            <a:extLst>
              <a:ext uri="{FF2B5EF4-FFF2-40B4-BE49-F238E27FC236}">
                <a16:creationId xmlns:a16="http://schemas.microsoft.com/office/drawing/2014/main" id="{925B6C6F-DC0A-6652-FAA9-E5D163A5340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649354" y="1761030"/>
          <a:ext cx="1261297" cy="79120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5" name="Object 4">
                    <a:extLst>
                      <a:ext uri="{FF2B5EF4-FFF2-40B4-BE49-F238E27FC236}">
                        <a16:creationId xmlns:a16="http://schemas.microsoft.com/office/drawing/2014/main" id="{925B6C6F-DC0A-6652-FAA9-E5D163A53408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649354" y="1761030"/>
                    <a:ext cx="1261297" cy="79120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14043" y="1864841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1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" name="Object 6">
            <a:extLst>
              <a:ext uri="{FF2B5EF4-FFF2-40B4-BE49-F238E27FC236}">
                <a16:creationId xmlns:a16="http://schemas.microsoft.com/office/drawing/2014/main" id="{3EA69F9D-EC3C-5D0B-E2B0-A4579829B94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979345" y="2926275"/>
          <a:ext cx="1662868" cy="1005449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7" name="Object 6">
                    <a:extLst>
                      <a:ext uri="{FF2B5EF4-FFF2-40B4-BE49-F238E27FC236}">
                        <a16:creationId xmlns:a16="http://schemas.microsoft.com/office/drawing/2014/main" id="{3EA69F9D-EC3C-5D0B-E2B0-A4579829B948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979345" y="2926275"/>
                    <a:ext cx="1662868" cy="100544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38097" y="3062544"/>
            <a:ext cx="15921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2</a:t>
            </a:r>
          </a:p>
          <a:p>
            <a:r>
              <a:rPr lang="fr-FR"/>
              <a:t> = </a:t>
            </a:r>
            <a:r>
              <a:rPr lang="fr-FR"/>
              <a:t>func</a:t>
            </a:r>
            <a:r>
              <a:rPr lang="fr-FR"/>
              <a:t>( RDD1 )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" name="Object 11">
            <a:extLst>
              <a:ext uri="{FF2B5EF4-FFF2-40B4-BE49-F238E27FC236}">
                <a16:creationId xmlns:a16="http://schemas.microsoft.com/office/drawing/2014/main" id="{A63E41C4-067A-8323-810F-6DEA1B46E31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095342" y="4778889"/>
          <a:ext cx="1662868" cy="13255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2" name="Object 11">
                    <a:extLst>
                      <a:ext uri="{FF2B5EF4-FFF2-40B4-BE49-F238E27FC236}">
                        <a16:creationId xmlns:a16="http://schemas.microsoft.com/office/drawing/2014/main" id="{A63E41C4-067A-8323-810F-6DEA1B46E31C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095342" y="4778889"/>
                    <a:ext cx="1662868" cy="13255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" name="Object 12">
            <a:extLst>
              <a:ext uri="{FF2B5EF4-FFF2-40B4-BE49-F238E27FC236}">
                <a16:creationId xmlns:a16="http://schemas.microsoft.com/office/drawing/2014/main" id="{4478BACD-F98C-DA08-08A4-E10A5CE4C18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544806" y="4240444"/>
          <a:ext cx="1308533" cy="79120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3" name="Object 12">
                    <a:extLst>
                      <a:ext uri="{FF2B5EF4-FFF2-40B4-BE49-F238E27FC236}">
                        <a16:creationId xmlns:a16="http://schemas.microsoft.com/office/drawing/2014/main" id="{4478BACD-F98C-DA08-08A4-E10A5CE4C181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6544806" y="4240444"/>
                    <a:ext cx="1308533" cy="79120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719810" y="4369138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6107" y="5053444"/>
            <a:ext cx="15792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4</a:t>
            </a:r>
          </a:p>
          <a:p>
            <a:r>
              <a:rPr lang="fr-FR"/>
              <a:t> = </a:t>
            </a:r>
            <a:r>
              <a:rPr lang="fr-FR"/>
              <a:t>func</a:t>
            </a:r>
            <a:r>
              <a:rPr lang="fr-FR"/>
              <a:t>( </a:t>
            </a:r>
          </a:p>
          <a:p>
            <a:r>
              <a:rPr lang="fr-FR"/>
              <a:t>  RDD2, RDD3 )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99233" y="3796031"/>
            <a:ext cx="28499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(2a) : rdd3.compute()</a:t>
            </a:r>
          </a:p>
          <a:p>
            <a:endParaRPr lang="fr-FR" sz="2400"/>
          </a:p>
        </p:txBody>
      </p:sp>
      <p:sp>
        <p:nvSpPr>
          <p:cNvPr id="11" name="TextBox 10"/>
          <p:cNvSpPr txBox="1"/>
          <p:nvPr/>
        </p:nvSpPr>
        <p:spPr>
          <a:xfrm>
            <a:off x="7814871" y="3247755"/>
            <a:ext cx="28643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(2b) : rdd2.compute()</a:t>
            </a:r>
          </a:p>
        </p:txBody>
      </p:sp>
      <p:sp>
        <p:nvSpPr>
          <p:cNvPr id="16" name="Arrow: Curved Up 15"/>
          <p:cNvSpPr/>
          <p:nvPr/>
        </p:nvSpPr>
        <p:spPr>
          <a:xfrm rot="12542338">
            <a:off x="8051362" y="4436888"/>
            <a:ext cx="1059024" cy="503853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Arrow: Curved Up 16"/>
          <p:cNvSpPr/>
          <p:nvPr/>
        </p:nvSpPr>
        <p:spPr>
          <a:xfrm rot="12542338">
            <a:off x="6740060" y="3831603"/>
            <a:ext cx="2599584" cy="503853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0" name="Arrow: Curved Up 19"/>
          <p:cNvSpPr/>
          <p:nvPr/>
        </p:nvSpPr>
        <p:spPr>
          <a:xfrm rot="12542338">
            <a:off x="4999320" y="2068509"/>
            <a:ext cx="1437694" cy="503853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199096" y="1870245"/>
            <a:ext cx="2702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(3) : rdd1.compute()</a:t>
            </a:r>
          </a:p>
        </p:txBody>
      </p:sp>
      <p:sp>
        <p:nvSpPr>
          <p:cNvPr id="24" name="Arrow: Right 23"/>
          <p:cNvSpPr/>
          <p:nvPr/>
        </p:nvSpPr>
        <p:spPr>
          <a:xfrm>
            <a:off x="6062574" y="6194526"/>
            <a:ext cx="1933066" cy="47686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691" y="0"/>
            <a:ext cx="11702844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RDD Dependencies: DAG</a:t>
            </a:r>
            <a:r>
              <a:rPr lang="fr-FR"/>
              <a:t> (</a:t>
            </a:r>
            <a:r>
              <a:rPr lang="fr-FR"/>
              <a:t>Directed</a:t>
            </a:r>
            <a:r>
              <a:rPr lang="fr-FR"/>
              <a:t> </a:t>
            </a:r>
            <a:r>
              <a:rPr lang="fr-FR"/>
              <a:t>Acyclic</a:t>
            </a:r>
            <a:r>
              <a:rPr lang="fr-FR"/>
              <a:t> Graph)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" name="Object 3">
            <a:extLst>
              <a:ext uri="{FF2B5EF4-FFF2-40B4-BE49-F238E27FC236}">
                <a16:creationId xmlns:a16="http://schemas.microsoft.com/office/drawing/2014/main" id="{125469CE-3106-64CC-CA65-7A96FE007C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32418720"/>
              </p:ext>
            </p:extLst>
          </p:nvPr>
        </p:nvGraphicFramePr>
        <p:xfrm>
          <a:off x="1928003" y="2251419"/>
          <a:ext cx="1662868" cy="13255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4" name="Object 3">
                    <a:extLst>
                      <a:ext uri="{FF2B5EF4-FFF2-40B4-BE49-F238E27FC236}">
                        <a16:creationId xmlns:a16="http://schemas.microsoft.com/office/drawing/2014/main" id="{C4C4AD06-F01D-4E7D-1AF1-4DDB8C74067F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928003" y="2251419"/>
                    <a:ext cx="1662868" cy="13255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241444" y="2337620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1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" name="Object 5">
            <a:extLst>
              <a:ext uri="{FF2B5EF4-FFF2-40B4-BE49-F238E27FC236}">
                <a16:creationId xmlns:a16="http://schemas.microsoft.com/office/drawing/2014/main" id="{FD6BCED5-AEAB-197E-1911-E759434D593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6484636"/>
              </p:ext>
            </p:extLst>
          </p:nvPr>
        </p:nvGraphicFramePr>
        <p:xfrm>
          <a:off x="1928003" y="3974522"/>
          <a:ext cx="1662868" cy="13255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4" name="Object 3">
                    <a:extLst>
                      <a:ext uri="{FF2B5EF4-FFF2-40B4-BE49-F238E27FC236}">
                        <a16:creationId xmlns:a16="http://schemas.microsoft.com/office/drawing/2014/main" id="{125469CE-3106-64CC-CA65-7A96FE007CA3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928003" y="3974522"/>
                    <a:ext cx="1662868" cy="13255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241444" y="4060723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3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" name="Object 7">
            <a:extLst>
              <a:ext uri="{FF2B5EF4-FFF2-40B4-BE49-F238E27FC236}">
                <a16:creationId xmlns:a16="http://schemas.microsoft.com/office/drawing/2014/main" id="{4AC293FB-728B-8BBD-2214-428588909AA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7572867"/>
              </p:ext>
            </p:extLst>
          </p:nvPr>
        </p:nvGraphicFramePr>
        <p:xfrm>
          <a:off x="5229183" y="2251419"/>
          <a:ext cx="1662868" cy="13255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4" name="Object 3">
                    <a:extLst>
                      <a:ext uri="{FF2B5EF4-FFF2-40B4-BE49-F238E27FC236}">
                        <a16:creationId xmlns:a16="http://schemas.microsoft.com/office/drawing/2014/main" id="{125469CE-3106-64CC-CA65-7A96FE007CA3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229183" y="2251419"/>
                    <a:ext cx="1662868" cy="13255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299948" y="2383786"/>
            <a:ext cx="15921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2</a:t>
            </a:r>
          </a:p>
          <a:p>
            <a:r>
              <a:rPr lang="fr-FR"/>
              <a:t> = </a:t>
            </a:r>
            <a:r>
              <a:rPr lang="fr-FR"/>
              <a:t>func</a:t>
            </a:r>
            <a:r>
              <a:rPr lang="fr-FR"/>
              <a:t>( RDD1 )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3753154" y="3133356"/>
            <a:ext cx="1224116" cy="0"/>
          </a:xfrm>
          <a:prstGeom prst="straightConnector1">
            <a:avLst/>
          </a:prstGeom>
          <a:ln w="381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Arrow: Left 12"/>
          <p:cNvSpPr/>
          <p:nvPr/>
        </p:nvSpPr>
        <p:spPr>
          <a:xfrm rot="10800000">
            <a:off x="3944883" y="2479123"/>
            <a:ext cx="1032387" cy="43507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3590871" y="1926661"/>
            <a:ext cx="1812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 propagation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0188" y="3179483"/>
            <a:ext cx="1414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Computation</a:t>
            </a:r>
          </a:p>
          <a:p>
            <a:r>
              <a:rPr lang="fr-FR"/>
              <a:t>dependency</a:t>
            </a:r>
            <a:endParaRPr lang="fr-FR"/>
          </a:p>
        </p:txBody>
      </p:sp>
      <p:sp>
        <p:nvSpPr>
          <p:cNvPr id="16" name="Arrow: Left 15"/>
          <p:cNvSpPr/>
          <p:nvPr/>
        </p:nvSpPr>
        <p:spPr>
          <a:xfrm rot="12862942">
            <a:off x="7176625" y="3152467"/>
            <a:ext cx="1032387" cy="43507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Arrow: Left 16"/>
          <p:cNvSpPr/>
          <p:nvPr/>
        </p:nvSpPr>
        <p:spPr>
          <a:xfrm rot="10352045">
            <a:off x="4020423" y="4176859"/>
            <a:ext cx="4080387" cy="43507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8" name="Object 17">
            <a:extLst>
              <a:ext uri="{FF2B5EF4-FFF2-40B4-BE49-F238E27FC236}">
                <a16:creationId xmlns:a16="http://schemas.microsoft.com/office/drawing/2014/main" id="{E5FDE379-39E1-7978-4FE6-AB3E2525FEF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4732500"/>
              </p:ext>
            </p:extLst>
          </p:nvPr>
        </p:nvGraphicFramePr>
        <p:xfrm>
          <a:off x="8363693" y="3311740"/>
          <a:ext cx="1662868" cy="13255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4AC293FB-728B-8BBD-2214-428588909AAA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363693" y="3311740"/>
                    <a:ext cx="1662868" cy="13255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459412" y="3563439"/>
            <a:ext cx="16321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4</a:t>
            </a:r>
          </a:p>
          <a:p>
            <a:r>
              <a:rPr lang="fr-FR"/>
              <a:t> = </a:t>
            </a:r>
            <a:r>
              <a:rPr lang="fr-FR"/>
              <a:t>func</a:t>
            </a:r>
            <a:r>
              <a:rPr lang="fr-FR"/>
              <a:t>( </a:t>
            </a:r>
          </a:p>
          <a:p>
            <a:r>
              <a:rPr lang="fr-FR"/>
              <a:t>   RDD2, RDD3)</a:t>
            </a:r>
          </a:p>
        </p:txBody>
      </p:sp>
      <p:sp>
        <p:nvSpPr>
          <p:cNvPr id="20" name="&quot;Not Allowed&quot; Symbol 19"/>
          <p:cNvSpPr/>
          <p:nvPr/>
        </p:nvSpPr>
        <p:spPr>
          <a:xfrm>
            <a:off x="869197" y="4486769"/>
            <a:ext cx="376084" cy="384523"/>
          </a:xfrm>
          <a:prstGeom prst="noSmoking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1" name="&quot;Not Allowed&quot; Symbol 20"/>
          <p:cNvSpPr/>
          <p:nvPr/>
        </p:nvSpPr>
        <p:spPr>
          <a:xfrm>
            <a:off x="869197" y="2721938"/>
            <a:ext cx="376084" cy="384523"/>
          </a:xfrm>
          <a:prstGeom prst="noSmoking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2" name="Arrow: Left 21"/>
          <p:cNvSpPr/>
          <p:nvPr/>
        </p:nvSpPr>
        <p:spPr>
          <a:xfrm rot="10800000">
            <a:off x="1422287" y="2659958"/>
            <a:ext cx="437434" cy="43507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Arrow: Left 22"/>
          <p:cNvSpPr/>
          <p:nvPr/>
        </p:nvSpPr>
        <p:spPr>
          <a:xfrm rot="10800000">
            <a:off x="1403452" y="4430055"/>
            <a:ext cx="437434" cy="43507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&quot;Not Allowed&quot; Symbol 23"/>
          <p:cNvSpPr/>
          <p:nvPr/>
        </p:nvSpPr>
        <p:spPr>
          <a:xfrm>
            <a:off x="10917765" y="3721345"/>
            <a:ext cx="376084" cy="384523"/>
          </a:xfrm>
          <a:prstGeom prst="noSmoking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5" name="Arrow: Left 24"/>
          <p:cNvSpPr/>
          <p:nvPr/>
        </p:nvSpPr>
        <p:spPr>
          <a:xfrm rot="10800000">
            <a:off x="10285960" y="3721345"/>
            <a:ext cx="437434" cy="43507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Left Brace 25"/>
          <p:cNvSpPr/>
          <p:nvPr/>
        </p:nvSpPr>
        <p:spPr>
          <a:xfrm rot="16200000">
            <a:off x="10744647" y="5135560"/>
            <a:ext cx="308963" cy="1120738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Left Brace 26"/>
          <p:cNvSpPr/>
          <p:nvPr/>
        </p:nvSpPr>
        <p:spPr>
          <a:xfrm rot="16200000">
            <a:off x="5894448" y="1713637"/>
            <a:ext cx="369332" cy="8024956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TextBox 27"/>
          <p:cNvSpPr txBox="1"/>
          <p:nvPr/>
        </p:nvSpPr>
        <p:spPr>
          <a:xfrm>
            <a:off x="5299948" y="6039465"/>
            <a:ext cx="2376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Transformation DAG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25365" y="5900965"/>
            <a:ext cx="20666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Terminal </a:t>
            </a:r>
            <a:r>
              <a:rPr lang="fr-FR"/>
              <a:t>Result</a:t>
            </a:r>
            <a:endParaRPr lang="fr-FR"/>
          </a:p>
          <a:p>
            <a:r>
              <a:rPr lang="fr-FR"/>
              <a:t>(</a:t>
            </a:r>
            <a:r>
              <a:rPr lang="fr-FR"/>
              <a:t>example</a:t>
            </a:r>
            <a:r>
              <a:rPr lang="fr-FR"/>
              <a:t>: .count() 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7855" y="5900964"/>
            <a:ext cx="20666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RDD Init</a:t>
            </a:r>
          </a:p>
          <a:p>
            <a:r>
              <a:rPr lang="fr-FR"/>
              <a:t>(</a:t>
            </a:r>
            <a:r>
              <a:rPr lang="fr-FR"/>
              <a:t>example</a:t>
            </a:r>
            <a:r>
              <a:rPr lang="fr-FR"/>
              <a:t>: .</a:t>
            </a:r>
            <a:r>
              <a:rPr lang="fr-FR"/>
              <a:t>read</a:t>
            </a:r>
            <a:r>
              <a:rPr lang="fr-FR"/>
              <a:t>() )</a:t>
            </a:r>
          </a:p>
        </p:txBody>
      </p:sp>
      <p:sp>
        <p:nvSpPr>
          <p:cNvPr id="31" name="Left Brace 30"/>
          <p:cNvSpPr/>
          <p:nvPr/>
        </p:nvSpPr>
        <p:spPr>
          <a:xfrm rot="16200000">
            <a:off x="926153" y="5123486"/>
            <a:ext cx="308963" cy="1120738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3 </a:t>
            </a:r>
            <a:r>
              <a:rPr lang="fr-FR"/>
              <a:t>equivalent</a:t>
            </a:r>
            <a:r>
              <a:rPr lang="fr-FR"/>
              <a:t> </a:t>
            </a:r>
            <a:r>
              <a:rPr lang="fr-FR"/>
              <a:t>formalisms</a:t>
            </a:r>
            <a:r>
              <a:rPr lang="fr-FR"/>
              <a:t>:</a:t>
            </a:r>
            <a:br>
              <a:rPr lang="fr-FR"/>
            </a:br>
            <a:r>
              <a:rPr lang="fr-FR"/>
              <a:t>SSA </a:t>
            </a:r>
            <a:r>
              <a:rPr lang="fr-FR"/>
              <a:t>create</a:t>
            </a:r>
            <a:r>
              <a:rPr lang="fr-FR"/>
              <a:t> API,  Expression </a:t>
            </a:r>
            <a:r>
              <a:rPr lang="fr-FR"/>
              <a:t>Algebra</a:t>
            </a:r>
            <a:r>
              <a:rPr lang="fr-FR"/>
              <a:t>,  DAG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798" y="3067719"/>
            <a:ext cx="33091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/>
              <a:t>RDD rdd1 = … </a:t>
            </a:r>
            <a:r>
              <a:rPr lang="fr-FR" sz="1800"/>
              <a:t>read</a:t>
            </a:r>
            <a:endParaRPr lang="fr-FR" sz="1800"/>
          </a:p>
          <a:p>
            <a:r>
              <a:rPr lang="fr-FR" sz="1800"/>
              <a:t>RDD rdd2   =  rdd1 .</a:t>
            </a:r>
            <a:r>
              <a:rPr lang="fr-FR" sz="1800"/>
              <a:t>map</a:t>
            </a:r>
            <a:r>
              <a:rPr lang="fr-FR" sz="1800"/>
              <a:t>( .. )</a:t>
            </a:r>
          </a:p>
          <a:p>
            <a:r>
              <a:rPr lang="fr-FR" sz="1800"/>
              <a:t>RDD rdd3 = .. </a:t>
            </a:r>
            <a:r>
              <a:rPr lang="fr-FR" sz="1800"/>
              <a:t>read</a:t>
            </a:r>
            <a:endParaRPr lang="fr-FR" sz="1800"/>
          </a:p>
          <a:p>
            <a:r>
              <a:rPr lang="fr-FR" sz="1800"/>
              <a:t>RDD rdd4 = rdd2 .</a:t>
            </a:r>
            <a:r>
              <a:rPr lang="fr-FR" sz="1800"/>
              <a:t>join</a:t>
            </a:r>
            <a:r>
              <a:rPr lang="fr-FR" sz="1800"/>
              <a:t>( rdd3 )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847" y="2064945"/>
            <a:ext cx="564372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SSA = Static Single Assignment</a:t>
            </a:r>
            <a:br>
              <a:rPr lang="fr-FR" sz="3200" b="1"/>
            </a:br>
            <a:r>
              <a:rPr lang="fr-FR" sz="3200" b="1"/>
              <a:t>RDD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9633" y="1997782"/>
            <a:ext cx="42141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Expression </a:t>
            </a:r>
            <a:r>
              <a:rPr lang="fr-FR" sz="3200" b="1"/>
              <a:t>Algebra</a:t>
            </a:r>
            <a:r>
              <a:rPr lang="fr-FR" sz="3200" b="1"/>
              <a:t>,  </a:t>
            </a:r>
            <a:r>
              <a:rPr lang="fr-FR" sz="3200" b="1"/>
              <a:t>SQL</a:t>
            </a:r>
            <a:endParaRPr lang="fr-FR" sz="3200" b="1"/>
          </a:p>
        </p:txBody>
      </p:sp>
      <p:sp>
        <p:nvSpPr>
          <p:cNvPr id="8" name="TextBox 7"/>
          <p:cNvSpPr txBox="1"/>
          <p:nvPr/>
        </p:nvSpPr>
        <p:spPr>
          <a:xfrm>
            <a:off x="7741397" y="2652221"/>
            <a:ext cx="42575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SELECT  </a:t>
            </a:r>
            <a:r>
              <a:rPr lang="fr-FR" sz="2400"/>
              <a:t>map</a:t>
            </a:r>
            <a:r>
              <a:rPr lang="fr-FR" sz="2400"/>
              <a:t>(t1) FROM Table1 t1</a:t>
            </a:r>
            <a:br>
              <a:rPr lang="fr-FR" sz="2400"/>
            </a:br>
            <a:r>
              <a:rPr lang="fr-FR" sz="2400"/>
              <a:t>JOIN Table2 t2 on 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1287" y="3714152"/>
            <a:ext cx="466698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new </a:t>
            </a:r>
            <a:r>
              <a:rPr lang="fr-FR" sz="2400"/>
              <a:t>JoinRDD</a:t>
            </a:r>
            <a:r>
              <a:rPr lang="fr-FR" sz="2400"/>
              <a:t>( </a:t>
            </a:r>
            <a:br>
              <a:rPr lang="fr-FR" sz="2400"/>
            </a:br>
            <a:r>
              <a:rPr lang="fr-FR" sz="2400"/>
              <a:t>    new </a:t>
            </a:r>
            <a:r>
              <a:rPr lang="fr-FR" sz="2400"/>
              <a:t>MapRDD</a:t>
            </a:r>
            <a:r>
              <a:rPr lang="fr-FR" sz="2400"/>
              <a:t>( </a:t>
            </a:r>
            <a:r>
              <a:rPr lang="fr-FR" sz="2400"/>
              <a:t>readRDD</a:t>
            </a:r>
            <a:r>
              <a:rPr lang="fr-FR" sz="2400"/>
              <a:t>(table1) ),</a:t>
            </a:r>
          </a:p>
          <a:p>
            <a:r>
              <a:rPr lang="fr-FR" sz="2400"/>
              <a:t>    </a:t>
            </a:r>
            <a:r>
              <a:rPr lang="fr-FR" sz="2400"/>
              <a:t>readRDD</a:t>
            </a:r>
            <a:r>
              <a:rPr lang="fr-FR" sz="2400"/>
              <a:t>(table2)</a:t>
            </a:r>
          </a:p>
          <a:p>
            <a:r>
              <a:rPr lang="fr-FR" sz="2400"/>
              <a:t>   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5794" y="4794883"/>
            <a:ext cx="9378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DAG</a:t>
            </a:r>
          </a:p>
        </p:txBody>
      </p:sp>
      <p:sp>
        <p:nvSpPr>
          <p:cNvPr id="11" name="Arrow: Up-Down 10"/>
          <p:cNvSpPr/>
          <p:nvPr/>
        </p:nvSpPr>
        <p:spPr>
          <a:xfrm rot="18845530">
            <a:off x="5088194" y="3743804"/>
            <a:ext cx="481762" cy="885627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Arrow: Up-Down 11"/>
          <p:cNvSpPr/>
          <p:nvPr/>
        </p:nvSpPr>
        <p:spPr>
          <a:xfrm rot="2777646">
            <a:off x="6019641" y="3744830"/>
            <a:ext cx="481762" cy="885627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Arrow: Up-Down 12"/>
          <p:cNvSpPr/>
          <p:nvPr/>
        </p:nvSpPr>
        <p:spPr>
          <a:xfrm rot="5400000">
            <a:off x="5588227" y="2986187"/>
            <a:ext cx="481762" cy="885627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" name="Object 13">
            <a:extLst>
              <a:ext uri="{FF2B5EF4-FFF2-40B4-BE49-F238E27FC236}">
                <a16:creationId xmlns:a16="http://schemas.microsoft.com/office/drawing/2014/main" id="{D62F3F90-AC8B-A2C7-4A1E-C55152CE020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624989"/>
              </p:ext>
            </p:extLst>
          </p:nvPr>
        </p:nvGraphicFramePr>
        <p:xfrm>
          <a:off x="4662919" y="5492307"/>
          <a:ext cx="487814" cy="3888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4" name="Object 3">
                    <a:extLst>
                      <a:ext uri="{FF2B5EF4-FFF2-40B4-BE49-F238E27FC236}">
                        <a16:creationId xmlns:a16="http://schemas.microsoft.com/office/drawing/2014/main" id="{125469CE-3106-64CC-CA65-7A96FE007CA3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662919" y="5492307"/>
                    <a:ext cx="487814" cy="3888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5" name="Object 14">
            <a:extLst>
              <a:ext uri="{FF2B5EF4-FFF2-40B4-BE49-F238E27FC236}">
                <a16:creationId xmlns:a16="http://schemas.microsoft.com/office/drawing/2014/main" id="{208AE3AF-EADE-28C6-F4A5-ACC1A46758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8339874"/>
              </p:ext>
            </p:extLst>
          </p:nvPr>
        </p:nvGraphicFramePr>
        <p:xfrm>
          <a:off x="4656064" y="6072245"/>
          <a:ext cx="487814" cy="3888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6" name="Object 5">
                    <a:extLst>
                      <a:ext uri="{FF2B5EF4-FFF2-40B4-BE49-F238E27FC236}">
                        <a16:creationId xmlns:a16="http://schemas.microsoft.com/office/drawing/2014/main" id="{FD6BCED5-AEAB-197E-1911-E759434D5939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656064" y="6072245"/>
                    <a:ext cx="487814" cy="3888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6" name="Object 15">
            <a:extLst>
              <a:ext uri="{FF2B5EF4-FFF2-40B4-BE49-F238E27FC236}">
                <a16:creationId xmlns:a16="http://schemas.microsoft.com/office/drawing/2014/main" id="{9844D68C-F2A1-1780-E485-D744F5AC1D9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52604981"/>
              </p:ext>
            </p:extLst>
          </p:nvPr>
        </p:nvGraphicFramePr>
        <p:xfrm>
          <a:off x="5784108" y="5492308"/>
          <a:ext cx="487814" cy="3888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4AC293FB-728B-8BBD-2214-428588909AAA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784108" y="5492308"/>
                    <a:ext cx="487814" cy="3888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7" name="Arrow: Left 16"/>
          <p:cNvSpPr/>
          <p:nvPr/>
        </p:nvSpPr>
        <p:spPr>
          <a:xfrm rot="10800000">
            <a:off x="5267074" y="5581901"/>
            <a:ext cx="444901" cy="17117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Arrow: Left 17"/>
          <p:cNvSpPr/>
          <p:nvPr/>
        </p:nvSpPr>
        <p:spPr>
          <a:xfrm rot="12862942">
            <a:off x="6320643" y="5732676"/>
            <a:ext cx="365735" cy="211045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Left 18"/>
          <p:cNvSpPr/>
          <p:nvPr/>
        </p:nvSpPr>
        <p:spPr>
          <a:xfrm rot="10352045">
            <a:off x="5227069" y="6061069"/>
            <a:ext cx="1520559" cy="17840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0" name="Object 19">
            <a:extLst>
              <a:ext uri="{FF2B5EF4-FFF2-40B4-BE49-F238E27FC236}">
                <a16:creationId xmlns:a16="http://schemas.microsoft.com/office/drawing/2014/main" id="{7265EE62-39F4-9B3F-0418-DC481799986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1840360"/>
              </p:ext>
            </p:extLst>
          </p:nvPr>
        </p:nvGraphicFramePr>
        <p:xfrm>
          <a:off x="6905297" y="5838198"/>
          <a:ext cx="487814" cy="3888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8" name="Object 17">
                    <a:extLst>
                      <a:ext uri="{FF2B5EF4-FFF2-40B4-BE49-F238E27FC236}">
                        <a16:creationId xmlns:a16="http://schemas.microsoft.com/office/drawing/2014/main" id="{E5FDE379-39E1-7978-4FE6-AB3E2525FEF7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6905297" y="5838198"/>
                    <a:ext cx="487814" cy="3888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7400" y="0"/>
            <a:ext cx="10515600" cy="112231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Fault-Tolerant</a:t>
            </a:r>
            <a:r>
              <a:rPr lang="fr-FR"/>
              <a:t> - Computation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" name="Object 3">
            <a:extLst>
              <a:ext uri="{FF2B5EF4-FFF2-40B4-BE49-F238E27FC236}">
                <a16:creationId xmlns:a16="http://schemas.microsoft.com/office/drawing/2014/main" id="{DF73F8DF-9960-C695-7D62-CE7AE07F749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8803290"/>
              </p:ext>
            </p:extLst>
          </p:nvPr>
        </p:nvGraphicFramePr>
        <p:xfrm>
          <a:off x="2804376" y="4868854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5" name="Object 4">
                    <a:extLst>
                      <a:ext uri="{FF2B5EF4-FFF2-40B4-BE49-F238E27FC236}">
                        <a16:creationId xmlns:a16="http://schemas.microsoft.com/office/drawing/2014/main" id="{4E3F015D-5ACE-084F-C95B-47C4BB3B6BCB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2804376" y="4868854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" name="Object 4">
            <a:extLst>
              <a:ext uri="{FF2B5EF4-FFF2-40B4-BE49-F238E27FC236}">
                <a16:creationId xmlns:a16="http://schemas.microsoft.com/office/drawing/2014/main" id="{9095E9A9-33B5-9270-B480-94048DD0221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61858771"/>
              </p:ext>
            </p:extLst>
          </p:nvPr>
        </p:nvGraphicFramePr>
        <p:xfrm>
          <a:off x="3226616" y="5192156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6" name="Object 5">
                    <a:extLst>
                      <a:ext uri="{FF2B5EF4-FFF2-40B4-BE49-F238E27FC236}">
                        <a16:creationId xmlns:a16="http://schemas.microsoft.com/office/drawing/2014/main" id="{3918A94A-E8B4-1A9E-F868-DEF5656EA45E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3226616" y="5192156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" name="Object 5">
            <a:extLst>
              <a:ext uri="{FF2B5EF4-FFF2-40B4-BE49-F238E27FC236}">
                <a16:creationId xmlns:a16="http://schemas.microsoft.com/office/drawing/2014/main" id="{3BCE760F-1FCC-63D3-9557-603F10038EA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92322563"/>
              </p:ext>
            </p:extLst>
          </p:nvPr>
        </p:nvGraphicFramePr>
        <p:xfrm>
          <a:off x="3226617" y="5569773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7" name="Object 6">
                    <a:extLst>
                      <a:ext uri="{FF2B5EF4-FFF2-40B4-BE49-F238E27FC236}">
                        <a16:creationId xmlns:a16="http://schemas.microsoft.com/office/drawing/2014/main" id="{B2C6DE0C-29BF-266B-4D05-B526C5EB85FD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3226617" y="5569773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" name="Object 6">
            <a:extLst>
              <a:ext uri="{FF2B5EF4-FFF2-40B4-BE49-F238E27FC236}">
                <a16:creationId xmlns:a16="http://schemas.microsoft.com/office/drawing/2014/main" id="{D5D46C38-FA24-1131-872D-DB0CCA3153C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2285187"/>
              </p:ext>
            </p:extLst>
          </p:nvPr>
        </p:nvGraphicFramePr>
        <p:xfrm>
          <a:off x="3239067" y="5942795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F973C8F0-9D42-08AE-E67A-68B26865E9CE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3239067" y="5942795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" name="Object 7">
            <a:extLst>
              <a:ext uri="{FF2B5EF4-FFF2-40B4-BE49-F238E27FC236}">
                <a16:creationId xmlns:a16="http://schemas.microsoft.com/office/drawing/2014/main" id="{A9A5BEE3-47A0-2FFC-F2DA-52D0555D263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44603007"/>
              </p:ext>
            </p:extLst>
          </p:nvPr>
        </p:nvGraphicFramePr>
        <p:xfrm>
          <a:off x="8147523" y="4868854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34" name="Object 33">
                    <a:extLst>
                      <a:ext uri="{FF2B5EF4-FFF2-40B4-BE49-F238E27FC236}">
                        <a16:creationId xmlns:a16="http://schemas.microsoft.com/office/drawing/2014/main" id="{6CBFB690-D10E-7275-2794-DC32DA9F3FF0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147523" y="4868854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" name="Object 8">
            <a:extLst>
              <a:ext uri="{FF2B5EF4-FFF2-40B4-BE49-F238E27FC236}">
                <a16:creationId xmlns:a16="http://schemas.microsoft.com/office/drawing/2014/main" id="{C02563D2-9EBA-8451-D01F-51231E551EF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36313865"/>
              </p:ext>
            </p:extLst>
          </p:nvPr>
        </p:nvGraphicFramePr>
        <p:xfrm>
          <a:off x="8569763" y="5192156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35" name="Object 34">
                    <a:extLst>
                      <a:ext uri="{FF2B5EF4-FFF2-40B4-BE49-F238E27FC236}">
                        <a16:creationId xmlns:a16="http://schemas.microsoft.com/office/drawing/2014/main" id="{D11BCAA5-5ACD-FF0F-2673-C3237FB20F2A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569763" y="5192156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" name="Object 9">
            <a:extLst>
              <a:ext uri="{FF2B5EF4-FFF2-40B4-BE49-F238E27FC236}">
                <a16:creationId xmlns:a16="http://schemas.microsoft.com/office/drawing/2014/main" id="{5D73924F-D958-1C35-1CA2-4534A0D89C4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16239524"/>
              </p:ext>
            </p:extLst>
          </p:nvPr>
        </p:nvGraphicFramePr>
        <p:xfrm>
          <a:off x="8569764" y="5569773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36" name="Object 35">
                    <a:extLst>
                      <a:ext uri="{FF2B5EF4-FFF2-40B4-BE49-F238E27FC236}">
                        <a16:creationId xmlns:a16="http://schemas.microsoft.com/office/drawing/2014/main" id="{F9C5A38F-BF7E-DB8F-9C67-3EFEEBD0F91D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569764" y="5569773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1" name="Arrow: Right 10"/>
          <p:cNvSpPr/>
          <p:nvPr/>
        </p:nvSpPr>
        <p:spPr>
          <a:xfrm>
            <a:off x="5214404" y="5113919"/>
            <a:ext cx="2266469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Picture 11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927039" y="4887356"/>
            <a:ext cx="838958" cy="838958"/>
          </a:xfrm>
          <a:prstGeom prst="rect">
            <a:avLst/>
          </a:prstGeom>
          <a:noFill/>
        </p:spPr>
      </p:pic>
      <p:sp>
        <p:nvSpPr>
          <p:cNvPr id="13" name="Arrow: Right 12"/>
          <p:cNvSpPr/>
          <p:nvPr/>
        </p:nvSpPr>
        <p:spPr>
          <a:xfrm rot="2438084">
            <a:off x="1369870" y="4644711"/>
            <a:ext cx="1096323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&quot;Not Allowed&quot; Symbol 13"/>
          <p:cNvSpPr/>
          <p:nvPr/>
        </p:nvSpPr>
        <p:spPr>
          <a:xfrm>
            <a:off x="9387624" y="4888476"/>
            <a:ext cx="861388" cy="752994"/>
          </a:xfrm>
          <a:prstGeom prst="noSmoking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286104" y="4976532"/>
            <a:ext cx="12572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Crash ?</a:t>
            </a:r>
          </a:p>
        </p:txBody>
      </p:sp>
      <p:sp>
        <p:nvSpPr>
          <p:cNvPr id="16" name="Arrow: Curved Down 15"/>
          <p:cNvSpPr/>
          <p:nvPr/>
        </p:nvSpPr>
        <p:spPr>
          <a:xfrm flipH="1">
            <a:off x="4493902" y="3487329"/>
            <a:ext cx="6133458" cy="94227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77550" y="3093006"/>
            <a:ext cx="54187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Option 1: </a:t>
            </a:r>
            <a:r>
              <a:rPr lang="fr-FR" sz="2400" b="1"/>
              <a:t>retry-compute</a:t>
            </a:r>
            <a:r>
              <a:rPr lang="fr-FR" sz="2400"/>
              <a:t> (on </a:t>
            </a:r>
            <a:r>
              <a:rPr lang="fr-FR" sz="2400"/>
              <a:t>same</a:t>
            </a:r>
            <a:r>
              <a:rPr lang="fr-FR" sz="2400"/>
              <a:t> server)</a:t>
            </a:r>
          </a:p>
        </p:txBody>
      </p:sp>
      <p:sp>
        <p:nvSpPr>
          <p:cNvPr id="19" name="Arrow: Curved Down 18"/>
          <p:cNvSpPr/>
          <p:nvPr/>
        </p:nvSpPr>
        <p:spPr>
          <a:xfrm flipH="1">
            <a:off x="3246119" y="2548716"/>
            <a:ext cx="2912171" cy="74719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247806" y="2121639"/>
            <a:ext cx="8643362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Option 2: find shuffle file </a:t>
            </a:r>
            <a:r>
              <a:rPr lang="fr-FR" sz="2400" b="1"/>
              <a:t>backup copy </a:t>
            </a:r>
            <a:r>
              <a:rPr lang="fr-FR" sz="2400"/>
              <a:t>(on different server / storage)</a:t>
            </a:r>
          </a:p>
        </p:txBody>
      </p:sp>
      <p:sp>
        <p:nvSpPr>
          <p:cNvPr id="21" name="&quot;Not Allowed&quot; Symbol 20"/>
          <p:cNvSpPr/>
          <p:nvPr/>
        </p:nvSpPr>
        <p:spPr>
          <a:xfrm>
            <a:off x="1598265" y="2643046"/>
            <a:ext cx="861388" cy="752994"/>
          </a:xfrm>
          <a:prstGeom prst="noSmoking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6" name="Arrow: Right 25"/>
          <p:cNvSpPr/>
          <p:nvPr/>
        </p:nvSpPr>
        <p:spPr>
          <a:xfrm rot="826378">
            <a:off x="1184163" y="5148092"/>
            <a:ext cx="1096323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Arrow: Right 26"/>
          <p:cNvSpPr/>
          <p:nvPr/>
        </p:nvSpPr>
        <p:spPr>
          <a:xfrm rot="19673776">
            <a:off x="1252466" y="5831098"/>
            <a:ext cx="1096323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Arrow: Right 27"/>
          <p:cNvSpPr/>
          <p:nvPr/>
        </p:nvSpPr>
        <p:spPr>
          <a:xfrm rot="2438084">
            <a:off x="6483170" y="4510154"/>
            <a:ext cx="1096323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rrow: Right 28"/>
          <p:cNvSpPr/>
          <p:nvPr/>
        </p:nvSpPr>
        <p:spPr>
          <a:xfrm rot="19673776">
            <a:off x="6451980" y="5755527"/>
            <a:ext cx="1096323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TextBox 29"/>
          <p:cNvSpPr txBox="1"/>
          <p:nvPr/>
        </p:nvSpPr>
        <p:spPr>
          <a:xfrm>
            <a:off x="5875638" y="3623494"/>
            <a:ext cx="10414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Lost</a:t>
            </a:r>
            <a:r>
              <a:rPr lang="fr-FR" sz="2800" b="1"/>
              <a:t> 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59653" y="2687608"/>
            <a:ext cx="10414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Lost</a:t>
            </a:r>
            <a:r>
              <a:rPr lang="fr-FR" sz="2800" b="1"/>
              <a:t> 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381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CoarseGrain</a:t>
            </a:r>
            <a:r>
              <a:rPr lang="fr-FR"/>
              <a:t> … </a:t>
            </a:r>
            <a:r>
              <a:rPr lang="fr-FR"/>
              <a:t>Scheduler/Executor</a:t>
            </a:r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" name="Object 3">
            <a:extLst>
              <a:ext uri="{FF2B5EF4-FFF2-40B4-BE49-F238E27FC236}">
                <a16:creationId xmlns:a16="http://schemas.microsoft.com/office/drawing/2014/main" id="{C4C4AD06-F01D-4E7D-1AF1-4DDB8C74067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734314"/>
              </p:ext>
            </p:extLst>
          </p:nvPr>
        </p:nvGraphicFramePr>
        <p:xfrm>
          <a:off x="5121338" y="4508174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4" name="Object 3">
                    <a:extLst>
                      <a:ext uri="{FF2B5EF4-FFF2-40B4-BE49-F238E27FC236}">
                        <a16:creationId xmlns:a16="http://schemas.microsoft.com/office/drawing/2014/main" id="{DF73F8DF-9960-C695-7D62-CE7AE07F7492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121338" y="4508174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5" name="Left Brace 4"/>
          <p:cNvSpPr/>
          <p:nvPr/>
        </p:nvSpPr>
        <p:spPr>
          <a:xfrm>
            <a:off x="4545711" y="4508174"/>
            <a:ext cx="351583" cy="1553912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450807" y="4411848"/>
            <a:ext cx="5039585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CoarseGrain</a:t>
            </a:r>
            <a:endParaRPr lang="fr-FR" sz="3200" b="1"/>
          </a:p>
          <a:p>
            <a:r>
              <a:rPr lang="fr-FR" sz="3200"/>
              <a:t>partition</a:t>
            </a:r>
          </a:p>
          <a:p>
            <a:r>
              <a:rPr lang="fr-FR" sz="3200"/>
              <a:t>= unit of </a:t>
            </a:r>
            <a:r>
              <a:rPr lang="fr-FR" sz="3200"/>
              <a:t>caching</a:t>
            </a:r>
            <a:r>
              <a:rPr lang="fr-FR" sz="3200"/>
              <a:t>/</a:t>
            </a:r>
            <a:br>
              <a:rPr lang="fr-FR" sz="3200"/>
            </a:br>
            <a:r>
              <a:rPr lang="fr-FR" sz="3200"/>
              <a:t>         </a:t>
            </a:r>
            <a:r>
              <a:rPr lang="fr-FR" sz="3200"/>
              <a:t>recomputation</a:t>
            </a:r>
            <a:endParaRPr lang="fr-FR" sz="3200"/>
          </a:p>
          <a:p>
            <a:r>
              <a:rPr lang="fr-FR" sz="3200"/>
              <a:t>        (all </a:t>
            </a:r>
            <a:r>
              <a:rPr lang="fr-FR" sz="3200"/>
              <a:t>elements</a:t>
            </a:r>
            <a:r>
              <a:rPr lang="fr-FR" sz="3200"/>
              <a:t> or </a:t>
            </a:r>
            <a:r>
              <a:rPr lang="fr-FR" sz="3200"/>
              <a:t>nothing</a:t>
            </a:r>
            <a:r>
              <a:rPr lang="fr-FR" sz="3200"/>
              <a:t>)</a:t>
            </a:r>
          </a:p>
        </p:txBody>
      </p:sp>
      <p:pic>
        <p:nvPicPr>
          <p:cNvPr id="7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655079" y="2162269"/>
            <a:ext cx="915912" cy="1373375"/>
          </a:xfrm>
          <a:prstGeom prst="rect">
            <a:avLst/>
          </a:prstGeom>
          <a:noFill/>
        </p:spPr>
      </p:pic>
      <p:pic>
        <p:nvPicPr>
          <p:cNvPr id="8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749745" y="2366256"/>
            <a:ext cx="915912" cy="1373375"/>
          </a:xfrm>
          <a:prstGeom prst="rect">
            <a:avLst/>
          </a:prstGeom>
          <a:noFill/>
        </p:spPr>
      </p:pic>
      <p:sp>
        <p:nvSpPr>
          <p:cNvPr id="9" name="TextBox 8"/>
          <p:cNvSpPr txBox="1"/>
          <p:nvPr/>
        </p:nvSpPr>
        <p:spPr>
          <a:xfrm>
            <a:off x="6297957" y="1037983"/>
            <a:ext cx="572041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Spark-</a:t>
            </a:r>
            <a:r>
              <a:rPr lang="fr-FR" sz="2400" b="1"/>
              <a:t>executor</a:t>
            </a:r>
            <a:endParaRPr lang="fr-FR" sz="2400" b="1"/>
          </a:p>
          <a:p>
            <a:r>
              <a:rPr lang="fr-FR" sz="2400"/>
              <a:t>Implements</a:t>
            </a:r>
            <a:r>
              <a:rPr lang="fr-FR" sz="2400"/>
              <a:t> </a:t>
            </a:r>
            <a:r>
              <a:rPr lang="fr-FR" sz="2400"/>
              <a:t>task</a:t>
            </a:r>
            <a:r>
              <a:rPr lang="fr-FR" sz="2400"/>
              <a:t> main </a:t>
            </a:r>
            <a:r>
              <a:rPr lang="fr-FR" sz="2400"/>
              <a:t>loop</a:t>
            </a:r>
            <a:endParaRPr lang="fr-FR" sz="2400"/>
          </a:p>
          <a:p>
            <a:r>
              <a:rPr lang="fr-FR" sz="2400"/>
              <a:t> … </a:t>
            </a:r>
            <a:r>
              <a:rPr lang="fr-FR" sz="2400"/>
              <a:t>internally</a:t>
            </a:r>
            <a:r>
              <a:rPr lang="fr-FR" sz="2400"/>
              <a:t> </a:t>
            </a:r>
            <a:r>
              <a:rPr lang="fr-FR" sz="2400"/>
              <a:t>called</a:t>
            </a:r>
            <a:r>
              <a:rPr lang="fr-FR" sz="2400"/>
              <a:t> « </a:t>
            </a:r>
            <a:r>
              <a:rPr lang="fr-FR" sz="2400"/>
              <a:t>CoarseGrainExecutor</a:t>
            </a:r>
            <a:r>
              <a:rPr lang="fr-FR" sz="2400"/>
              <a:t> »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629" y="1040693"/>
            <a:ext cx="573477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Spark-driver</a:t>
            </a:r>
          </a:p>
          <a:p>
            <a:r>
              <a:rPr lang="fr-FR" sz="2400"/>
              <a:t>Implements</a:t>
            </a:r>
            <a:r>
              <a:rPr lang="fr-FR" sz="2400"/>
              <a:t> </a:t>
            </a:r>
            <a:r>
              <a:rPr lang="fr-FR" sz="2400"/>
              <a:t>Fault</a:t>
            </a:r>
            <a:r>
              <a:rPr lang="fr-FR" sz="2400"/>
              <a:t> </a:t>
            </a:r>
            <a:r>
              <a:rPr lang="fr-FR" sz="2400"/>
              <a:t>Tolerance+Distribution</a:t>
            </a:r>
            <a:endParaRPr lang="fr-FR" sz="2400"/>
          </a:p>
          <a:p>
            <a:r>
              <a:rPr lang="fr-FR" sz="2400"/>
              <a:t>… </a:t>
            </a:r>
            <a:r>
              <a:rPr lang="fr-FR" sz="2400"/>
              <a:t>internally</a:t>
            </a:r>
            <a:r>
              <a:rPr lang="fr-FR" sz="2400"/>
              <a:t> </a:t>
            </a:r>
            <a:r>
              <a:rPr lang="fr-FR" sz="2400"/>
              <a:t>called</a:t>
            </a:r>
            <a:r>
              <a:rPr lang="fr-FR" sz="2400"/>
              <a:t> « </a:t>
            </a:r>
            <a:r>
              <a:rPr lang="fr-FR" sz="2400"/>
              <a:t>CoarseGrainScheduler</a:t>
            </a:r>
            <a:r>
              <a:rPr lang="fr-FR" sz="2400"/>
              <a:t> »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" name="Object 10">
            <a:extLst>
              <a:ext uri="{FF2B5EF4-FFF2-40B4-BE49-F238E27FC236}">
                <a16:creationId xmlns:a16="http://schemas.microsoft.com/office/drawing/2014/main" id="{0630D65A-833B-5A97-EFE2-BCE7684EE11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73978503"/>
              </p:ext>
            </p:extLst>
          </p:nvPr>
        </p:nvGraphicFramePr>
        <p:xfrm>
          <a:off x="9839163" y="4453897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A9A5BEE3-47A0-2FFC-F2DA-52D0555D2632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839163" y="4453897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4" name="Arrow: Right 13"/>
          <p:cNvSpPr/>
          <p:nvPr/>
        </p:nvSpPr>
        <p:spPr>
          <a:xfrm>
            <a:off x="7353084" y="5003762"/>
            <a:ext cx="2266469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Picture 14" descr="CPU X : Infos Smartphones – Applications sur Google Play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8065719" y="4777199"/>
            <a:ext cx="838958" cy="838958"/>
          </a:xfrm>
          <a:prstGeom prst="rect">
            <a:avLst/>
          </a:prstGeom>
          <a:noFill/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569286" y="2510566"/>
            <a:ext cx="915912" cy="1373375"/>
          </a:xfrm>
          <a:prstGeom prst="rect">
            <a:avLst/>
          </a:prstGeom>
          <a:noFill/>
        </p:spPr>
      </p:pic>
      <p:sp>
        <p:nvSpPr>
          <p:cNvPr id="12" name="Arrow: Right 11"/>
          <p:cNvSpPr/>
          <p:nvPr/>
        </p:nvSpPr>
        <p:spPr>
          <a:xfrm rot="2284202">
            <a:off x="7354657" y="5671075"/>
            <a:ext cx="702189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Flowchart: Magnetic Disk 12"/>
          <p:cNvSpPr/>
          <p:nvPr/>
        </p:nvSpPr>
        <p:spPr>
          <a:xfrm>
            <a:off x="8187087" y="5983578"/>
            <a:ext cx="596221" cy="56153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320" y="2630805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RDD … OK</a:t>
            </a:r>
            <a:br>
              <a:rPr lang="fr-FR"/>
            </a:br>
            <a:r>
              <a:rPr lang="fr-FR"/>
              <a:t>so what is</a:t>
            </a:r>
            <a:r>
              <a:rPr lang="fr-FR"/>
              <a:t> a </a:t>
            </a:r>
            <a:r>
              <a:rPr lang="fr-FR"/>
              <a:t>Dataset</a:t>
            </a:r>
            <a:r>
              <a:rPr lang="fr-FR"/>
              <a:t> 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: Rounded Corners 31"/>
          <p:cNvSpPr/>
          <p:nvPr/>
        </p:nvSpPr>
        <p:spPr>
          <a:xfrm>
            <a:off x="1013285" y="2311548"/>
            <a:ext cx="2954338" cy="1099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599" y="0"/>
            <a:ext cx="11801475" cy="1025311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r>
              <a:rPr lang="fr-FR"/>
              <a:t> = </a:t>
            </a:r>
            <a:r>
              <a:rPr lang="fr-FR"/>
              <a:t>SQL wrapper</a:t>
            </a:r>
            <a:r>
              <a:rPr lang="fr-FR"/>
              <a:t> for RDD, in module </a:t>
            </a:r>
            <a:r>
              <a:rPr lang="fr-FR"/>
              <a:t>spark-sql</a:t>
            </a:r>
            <a:endParaRPr lang="fr-FR"/>
          </a:p>
        </p:txBody>
      </p:sp>
      <p:sp>
        <p:nvSpPr>
          <p:cNvPr id="7" name="Rectangle: Rounded Corners 6"/>
          <p:cNvSpPr/>
          <p:nvPr/>
        </p:nvSpPr>
        <p:spPr>
          <a:xfrm>
            <a:off x="614438" y="1352996"/>
            <a:ext cx="7910285" cy="263475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: Rounded Corners 7"/>
          <p:cNvSpPr/>
          <p:nvPr/>
        </p:nvSpPr>
        <p:spPr>
          <a:xfrm>
            <a:off x="6988944" y="5091517"/>
            <a:ext cx="4536440" cy="1099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 descr="Apache Spark — Wikipé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946144" y="5187059"/>
            <a:ext cx="1731327" cy="898847"/>
          </a:xfrm>
          <a:prstGeom prst="rect">
            <a:avLst/>
          </a:prstGeom>
          <a:noFill/>
        </p:spPr>
      </p:pic>
      <p:sp>
        <p:nvSpPr>
          <p:cNvPr id="10" name="TextBox 9"/>
          <p:cNvSpPr txBox="1"/>
          <p:nvPr/>
        </p:nvSpPr>
        <p:spPr>
          <a:xfrm>
            <a:off x="9726253" y="5370920"/>
            <a:ext cx="13623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b="1"/>
              <a:t>Core</a:t>
            </a:r>
            <a:endParaRPr lang="fr-FR" sz="4800" b="1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" name="Object 11">
            <a:extLst>
              <a:ext uri="{FF2B5EF4-FFF2-40B4-BE49-F238E27FC236}">
                <a16:creationId xmlns:a16="http://schemas.microsoft.com/office/drawing/2014/main" id="{F92C9747-3A53-509B-F9DD-7618AC043F0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410276" y="1808284"/>
          <a:ext cx="2681003" cy="2179469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12" name="Object 11">
                    <a:extLst>
                      <a:ext uri="{FF2B5EF4-FFF2-40B4-BE49-F238E27FC236}">
                        <a16:creationId xmlns:a16="http://schemas.microsoft.com/office/drawing/2014/main" id="{F92C9747-3A53-509B-F9DD-7618AC043F01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4410276" y="1808284"/>
                    <a:ext cx="2681003" cy="217946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" name="Object 12">
            <a:extLst>
              <a:ext uri="{FF2B5EF4-FFF2-40B4-BE49-F238E27FC236}">
                <a16:creationId xmlns:a16="http://schemas.microsoft.com/office/drawing/2014/main" id="{C345D04A-7353-90AB-C448-2E07D00CAE4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76786" y="2142183"/>
          <a:ext cx="1465715" cy="547819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3" name="Object 12">
                    <a:extLst>
                      <a:ext uri="{FF2B5EF4-FFF2-40B4-BE49-F238E27FC236}">
                        <a16:creationId xmlns:a16="http://schemas.microsoft.com/office/drawing/2014/main" id="{C345D04A-7353-90AB-C448-2E07D00CAE4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076786" y="2142183"/>
                    <a:ext cx="1465715" cy="54781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" name="Object 13">
            <a:extLst>
              <a:ext uri="{FF2B5EF4-FFF2-40B4-BE49-F238E27FC236}">
                <a16:creationId xmlns:a16="http://schemas.microsoft.com/office/drawing/2014/main" id="{8D05898D-9AB6-8AF1-A943-E5477964B73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76786" y="2690002"/>
          <a:ext cx="1465715" cy="547819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4" name="Object 13">
                    <a:extLst>
                      <a:ext uri="{FF2B5EF4-FFF2-40B4-BE49-F238E27FC236}">
                        <a16:creationId xmlns:a16="http://schemas.microsoft.com/office/drawing/2014/main" id="{8D05898D-9AB6-8AF1-A943-E5477964B730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076786" y="2690002"/>
                    <a:ext cx="1465715" cy="54781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5" name="Object 14">
            <a:extLst>
              <a:ext uri="{FF2B5EF4-FFF2-40B4-BE49-F238E27FC236}">
                <a16:creationId xmlns:a16="http://schemas.microsoft.com/office/drawing/2014/main" id="{E0E8DFD1-0BF0-235A-2FC2-427CDB07A1F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76786" y="3237821"/>
          <a:ext cx="1465715" cy="547819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5" name="Object 14">
                    <a:extLst>
                      <a:ext uri="{FF2B5EF4-FFF2-40B4-BE49-F238E27FC236}">
                        <a16:creationId xmlns:a16="http://schemas.microsoft.com/office/drawing/2014/main" id="{E0E8DFD1-0BF0-235A-2FC2-427CDB07A1F9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076786" y="3237821"/>
                    <a:ext cx="1465715" cy="54781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199405" y="1322137"/>
            <a:ext cx="52022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class </a:t>
            </a:r>
            <a:r>
              <a:rPr lang="fr-FR" sz="2800"/>
              <a:t>org.apache.spark.sql</a:t>
            </a:r>
            <a:r>
              <a:rPr lang="fr-FR" sz="2800" b="1"/>
              <a:t>.Dataset</a:t>
            </a:r>
            <a:endParaRPr lang="fr-FR" sz="2800"/>
          </a:p>
        </p:txBody>
      </p:sp>
      <p:sp>
        <p:nvSpPr>
          <p:cNvPr id="22" name="TextBox 21"/>
          <p:cNvSpPr txBox="1"/>
          <p:nvPr/>
        </p:nvSpPr>
        <p:spPr>
          <a:xfrm>
            <a:off x="3667276" y="4490704"/>
            <a:ext cx="4791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class </a:t>
            </a:r>
            <a:r>
              <a:rPr lang="fr-FR" sz="2800"/>
              <a:t>org.apache.spark.rdd.</a:t>
            </a:r>
            <a:r>
              <a:rPr lang="fr-FR" sz="2800" b="1"/>
              <a:t>RDD</a:t>
            </a:r>
            <a:endParaRPr lang="fr-FR" sz="2800"/>
          </a:p>
        </p:txBody>
      </p:sp>
      <p:sp>
        <p:nvSpPr>
          <p:cNvPr id="30" name="Arrow: Down 29"/>
          <p:cNvSpPr/>
          <p:nvPr/>
        </p:nvSpPr>
        <p:spPr>
          <a:xfrm>
            <a:off x="5684762" y="3987753"/>
            <a:ext cx="512838" cy="66686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: Rounded Corners 30"/>
          <p:cNvSpPr/>
          <p:nvPr/>
        </p:nvSpPr>
        <p:spPr>
          <a:xfrm>
            <a:off x="3526971" y="4518137"/>
            <a:ext cx="8350553" cy="220197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32" descr="Apache Spark — Wikipé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65553" y="2338974"/>
            <a:ext cx="1731327" cy="898847"/>
          </a:xfrm>
          <a:prstGeom prst="rect">
            <a:avLst/>
          </a:prstGeom>
          <a:noFill/>
        </p:spPr>
      </p:pic>
      <p:sp>
        <p:nvSpPr>
          <p:cNvPr id="34" name="TextBox 33"/>
          <p:cNvSpPr txBox="1"/>
          <p:nvPr/>
        </p:nvSpPr>
        <p:spPr>
          <a:xfrm>
            <a:off x="2899666" y="2519896"/>
            <a:ext cx="95731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b="1"/>
              <a:t>SQL</a:t>
            </a:r>
            <a:endParaRPr lang="fr-FR" sz="4800" b="1"/>
          </a:p>
        </p:txBody>
      </p:sp>
      <p:sp>
        <p:nvSpPr>
          <p:cNvPr id="36" name="TextBox 35"/>
          <p:cNvSpPr txBox="1"/>
          <p:nvPr/>
        </p:nvSpPr>
        <p:spPr>
          <a:xfrm>
            <a:off x="1156304" y="1017407"/>
            <a:ext cx="20852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/>
              <a:t>module </a:t>
            </a:r>
            <a:r>
              <a:rPr lang="fr-FR" sz="1800"/>
              <a:t>spark-sql</a:t>
            </a:r>
            <a:endParaRPr lang="fr-FR"/>
          </a:p>
        </p:txBody>
      </p:sp>
      <p:sp>
        <p:nvSpPr>
          <p:cNvPr id="38" name="TextBox 37"/>
          <p:cNvSpPr txBox="1"/>
          <p:nvPr/>
        </p:nvSpPr>
        <p:spPr>
          <a:xfrm>
            <a:off x="3241523" y="4168675"/>
            <a:ext cx="1925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m</a:t>
            </a:r>
            <a:r>
              <a:rPr lang="fr-FR" sz="1800"/>
              <a:t>odule </a:t>
            </a:r>
            <a:r>
              <a:rPr lang="fr-FR" sz="1800"/>
              <a:t>spark</a:t>
            </a:r>
            <a:r>
              <a:rPr lang="fr-FR" sz="1800"/>
              <a:t> </a:t>
            </a:r>
            <a:r>
              <a:rPr lang="fr-FR" sz="1800"/>
              <a:t>core</a:t>
            </a:r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" name="Object 2">
            <a:extLst>
              <a:ext uri="{FF2B5EF4-FFF2-40B4-BE49-F238E27FC236}">
                <a16:creationId xmlns:a16="http://schemas.microsoft.com/office/drawing/2014/main" id="{A9C01D02-73AA-F21E-C9C1-D94E0150012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60197" y="5091517"/>
          <a:ext cx="1948799" cy="1584238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3" name="Object 2">
                    <a:extLst>
                      <a:ext uri="{FF2B5EF4-FFF2-40B4-BE49-F238E27FC236}">
                        <a16:creationId xmlns:a16="http://schemas.microsoft.com/office/drawing/2014/main" id="{A9C01D02-73AA-F21E-C9C1-D94E0150012C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5460197" y="5091517"/>
                    <a:ext cx="1948799" cy="158423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" name="Object 5">
            <a:extLst>
              <a:ext uri="{FF2B5EF4-FFF2-40B4-BE49-F238E27FC236}">
                <a16:creationId xmlns:a16="http://schemas.microsoft.com/office/drawing/2014/main" id="{23A6CD7D-A2F9-9ED0-7296-E70914CD1B0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00653" y="5457306"/>
          <a:ext cx="845567" cy="273142"/>
        </p:xfrm>
        <a:graphic>
          <a:graphicData uri="http://schemas.openxmlformats.org/presentationml/2006/ole">
            <p:oleObj xmlns:mc="http://schemas.openxmlformats.org/markup-compatibility/2006" name="Bitmap Image" r:id="rId7" imgW="1489680" imgH="480240" progId="PBrush">
              <p:embed/>
              <p:pic>
                <p:nvPicPr>
                  <p:cNvPr id="6" name="Object 5">
                    <a:extLst>
                      <a:ext uri="{FF2B5EF4-FFF2-40B4-BE49-F238E27FC236}">
                        <a16:creationId xmlns:a16="http://schemas.microsoft.com/office/drawing/2014/main" id="{23A6CD7D-A2F9-9ED0-7296-E70914CD1B06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6000653" y="5457306"/>
                    <a:ext cx="845567" cy="27314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" name="Object 20">
            <a:extLst>
              <a:ext uri="{FF2B5EF4-FFF2-40B4-BE49-F238E27FC236}">
                <a16:creationId xmlns:a16="http://schemas.microsoft.com/office/drawing/2014/main" id="{2947CDF3-F7C5-2239-7AC0-19CD580B5A7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00653" y="5808041"/>
          <a:ext cx="845567" cy="273142"/>
        </p:xfrm>
        <a:graphic>
          <a:graphicData uri="http://schemas.openxmlformats.org/presentationml/2006/ole">
            <p:oleObj xmlns:mc="http://schemas.openxmlformats.org/markup-compatibility/2006" name="Bitmap Image" r:id="rId7" imgW="1489680" imgH="480240" progId="PBrush">
              <p:embed/>
              <p:pic>
                <p:nvPicPr>
                  <p:cNvPr id="21" name="Object 20">
                    <a:extLst>
                      <a:ext uri="{FF2B5EF4-FFF2-40B4-BE49-F238E27FC236}">
                        <a16:creationId xmlns:a16="http://schemas.microsoft.com/office/drawing/2014/main" id="{2947CDF3-F7C5-2239-7AC0-19CD580B5A7B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6000653" y="5808041"/>
                    <a:ext cx="845567" cy="27314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3" name="Object 22">
            <a:extLst>
              <a:ext uri="{FF2B5EF4-FFF2-40B4-BE49-F238E27FC236}">
                <a16:creationId xmlns:a16="http://schemas.microsoft.com/office/drawing/2014/main" id="{DF00CBD8-CE84-4D13-DBD9-E5A27391FD7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00652" y="6151453"/>
          <a:ext cx="845567" cy="273142"/>
        </p:xfrm>
        <a:graphic>
          <a:graphicData uri="http://schemas.openxmlformats.org/presentationml/2006/ole">
            <p:oleObj xmlns:mc="http://schemas.openxmlformats.org/markup-compatibility/2006" name="Bitmap Image" r:id="rId7" imgW="1489680" imgH="480240" progId="PBrush">
              <p:embed/>
              <p:pic>
                <p:nvPicPr>
                  <p:cNvPr id="23" name="Object 22">
                    <a:extLst>
                      <a:ext uri="{FF2B5EF4-FFF2-40B4-BE49-F238E27FC236}">
                        <a16:creationId xmlns:a16="http://schemas.microsoft.com/office/drawing/2014/main" id="{DF00CBD8-CE84-4D13-DBD9-E5A27391FD76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6000652" y="6151453"/>
                    <a:ext cx="845567" cy="27314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r>
              <a:rPr lang="fr-FR"/>
              <a:t> source doc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537516" y="2714171"/>
            <a:ext cx="6699599" cy="410606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1600" y="1070856"/>
            <a:ext cx="12192000" cy="164331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class </a:t>
            </a:r>
            <a:r>
              <a:rPr lang="fr-FR"/>
              <a:t>Dataset</a:t>
            </a:r>
            <a:r>
              <a:rPr lang="fr-FR"/>
              <a:t> /** </a:t>
            </a:r>
            <a:r>
              <a:rPr lang="fr-FR"/>
              <a:t>javadoc</a:t>
            </a:r>
            <a:r>
              <a:rPr lang="fr-FR"/>
              <a:t>..  */ (1/4)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6781" y="2528464"/>
            <a:ext cx="8577941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/>
              <a:t>A </a:t>
            </a:r>
            <a:r>
              <a:rPr lang="fr-FR" sz="2800"/>
              <a:t>strongly</a:t>
            </a:r>
            <a:r>
              <a:rPr lang="fr-FR" sz="2800"/>
              <a:t> </a:t>
            </a:r>
            <a:r>
              <a:rPr lang="fr-FR" sz="2800"/>
              <a:t>typed</a:t>
            </a:r>
            <a:r>
              <a:rPr lang="fr-FR" sz="2800"/>
              <a:t> </a:t>
            </a:r>
            <a:r>
              <a:rPr lang="fr-FR" sz="2800" b="1"/>
              <a:t>collection of </a:t>
            </a:r>
            <a:r>
              <a:rPr lang="fr-FR" sz="2800" b="1"/>
              <a:t>domain-specific</a:t>
            </a:r>
            <a:r>
              <a:rPr lang="fr-FR" sz="2800" b="1"/>
              <a:t> </a:t>
            </a:r>
            <a:r>
              <a:rPr lang="fr-FR" sz="2800" b="1"/>
              <a:t>objects</a:t>
            </a:r>
            <a:r>
              <a:rPr lang="fr-FR" sz="2800" b="1"/>
              <a:t> </a:t>
            </a:r>
          </a:p>
          <a:p>
            <a:endParaRPr lang="fr-FR" sz="2800" b="1"/>
          </a:p>
          <a:p>
            <a:r>
              <a:rPr lang="fr-FR" sz="2800"/>
              <a:t>  </a:t>
            </a:r>
            <a:r>
              <a:rPr lang="fr-FR" sz="2800"/>
              <a:t>that</a:t>
            </a:r>
            <a:r>
              <a:rPr lang="fr-FR" sz="2800"/>
              <a:t> can </a:t>
            </a:r>
            <a:r>
              <a:rPr lang="fr-FR" sz="2800"/>
              <a:t>be</a:t>
            </a:r>
            <a:r>
              <a:rPr lang="fr-FR" sz="2800"/>
              <a:t> </a:t>
            </a:r>
            <a:r>
              <a:rPr lang="fr-FR" sz="2800" b="1"/>
              <a:t>transformed</a:t>
            </a:r>
            <a:r>
              <a:rPr lang="fr-FR" sz="2800" b="1"/>
              <a:t> in </a:t>
            </a:r>
            <a:r>
              <a:rPr lang="fr-FR" sz="2800" b="1"/>
              <a:t>parallel</a:t>
            </a:r>
            <a:r>
              <a:rPr lang="fr-FR" sz="2800" b="1"/>
              <a:t> </a:t>
            </a:r>
          </a:p>
          <a:p>
            <a:endParaRPr lang="fr-FR" sz="2800" b="1"/>
          </a:p>
          <a:p>
            <a:r>
              <a:rPr lang="fr-FR" sz="2800"/>
              <a:t>  </a:t>
            </a:r>
            <a:r>
              <a:rPr lang="fr-FR" sz="2800"/>
              <a:t>using</a:t>
            </a:r>
            <a:r>
              <a:rPr lang="fr-FR" sz="2800"/>
              <a:t> </a:t>
            </a:r>
            <a:r>
              <a:rPr lang="fr-FR" sz="2800" b="1"/>
              <a:t>functional</a:t>
            </a:r>
            <a:r>
              <a:rPr lang="fr-FR" sz="2800" b="1"/>
              <a:t> or </a:t>
            </a:r>
            <a:r>
              <a:rPr lang="fr-FR" sz="2800" b="1"/>
              <a:t>relational</a:t>
            </a:r>
            <a:r>
              <a:rPr lang="fr-FR" sz="2800" b="1"/>
              <a:t> </a:t>
            </a:r>
            <a:r>
              <a:rPr lang="fr-FR" sz="2800" b="1"/>
              <a:t>operations</a:t>
            </a:r>
            <a:endParaRPr lang="fr-FR" sz="2800" b="1"/>
          </a:p>
          <a:p>
            <a:endParaRPr lang="fr-FR" sz="2800" b="1"/>
          </a:p>
          <a:p>
            <a:endParaRPr lang="fr-FR" sz="2800" b="1"/>
          </a:p>
          <a:p>
            <a:r>
              <a:rPr lang="fr-FR" sz="2800"/>
              <a:t>Associated </a:t>
            </a:r>
            <a:r>
              <a:rPr lang="fr-FR" sz="2800"/>
              <a:t>untyped</a:t>
            </a:r>
            <a:r>
              <a:rPr lang="fr-FR" sz="2800"/>
              <a:t> </a:t>
            </a:r>
            <a:r>
              <a:rPr lang="fr-FR" sz="2800"/>
              <a:t>view</a:t>
            </a:r>
            <a:r>
              <a:rPr lang="fr-FR" sz="2800"/>
              <a:t>: </a:t>
            </a:r>
            <a:r>
              <a:rPr lang="fr-FR" sz="2800"/>
              <a:t>DataFrame</a:t>
            </a:r>
            <a:r>
              <a:rPr lang="fr-FR" sz="2800"/>
              <a:t> = </a:t>
            </a:r>
            <a:r>
              <a:rPr lang="fr-FR" sz="2800"/>
              <a:t>Dataset</a:t>
            </a:r>
            <a:r>
              <a:rPr lang="fr-FR" sz="2800"/>
              <a:t>&lt;Row&gt;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r>
              <a:rPr lang="fr-FR"/>
              <a:t> /** </a:t>
            </a:r>
            <a:r>
              <a:rPr lang="fr-FR"/>
              <a:t>javadoc</a:t>
            </a:r>
            <a:r>
              <a:rPr lang="fr-FR"/>
              <a:t>..  */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9294" y="1893838"/>
            <a:ext cx="11238895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/>
              <a:t>Operations on </a:t>
            </a:r>
            <a:r>
              <a:rPr lang="fr-FR" sz="2800"/>
              <a:t>Datasets</a:t>
            </a:r>
            <a:r>
              <a:rPr lang="fr-FR" sz="2800"/>
              <a:t>:</a:t>
            </a:r>
          </a:p>
          <a:p>
            <a:endParaRPr lang="fr-FR" sz="2800"/>
          </a:p>
          <a:p>
            <a:r>
              <a:rPr lang="fr-FR" sz="2800" b="1"/>
              <a:t>    Transformations</a:t>
            </a:r>
            <a:r>
              <a:rPr lang="fr-FR" sz="2800"/>
              <a:t> = </a:t>
            </a:r>
            <a:r>
              <a:rPr lang="fr-FR" sz="2800" b="1"/>
              <a:t>produce</a:t>
            </a:r>
            <a:r>
              <a:rPr lang="fr-FR" sz="2800" b="1"/>
              <a:t> new </a:t>
            </a:r>
            <a:r>
              <a:rPr lang="fr-FR" sz="2800" b="1"/>
              <a:t>Datasets</a:t>
            </a:r>
            <a:endParaRPr lang="fr-FR" sz="2800"/>
          </a:p>
          <a:p>
            <a:endParaRPr lang="fr-FR" sz="2800"/>
          </a:p>
          <a:p>
            <a:r>
              <a:rPr lang="fr-FR" sz="2800" b="1"/>
              <a:t>    Actions</a:t>
            </a:r>
            <a:r>
              <a:rPr lang="fr-FR" sz="2800"/>
              <a:t> = </a:t>
            </a:r>
            <a:r>
              <a:rPr lang="fr-FR" sz="2800" b="1"/>
              <a:t>trigger computation and return </a:t>
            </a:r>
            <a:r>
              <a:rPr lang="fr-FR" sz="2800" b="1"/>
              <a:t>results</a:t>
            </a:r>
            <a:r>
              <a:rPr lang="fr-FR" sz="2800"/>
              <a:t>. </a:t>
            </a:r>
          </a:p>
          <a:p>
            <a:endParaRPr lang="fr-FR" sz="2800"/>
          </a:p>
          <a:p>
            <a:r>
              <a:rPr lang="fr-FR" sz="2800"/>
              <a:t>Example transformations: map</a:t>
            </a:r>
            <a:r>
              <a:rPr lang="fr-FR" sz="2800"/>
              <a:t>, </a:t>
            </a:r>
            <a:r>
              <a:rPr lang="fr-FR" sz="2800"/>
              <a:t>filter</a:t>
            </a:r>
            <a:r>
              <a:rPr lang="fr-FR" sz="2800"/>
              <a:t>, select, </a:t>
            </a:r>
            <a:r>
              <a:rPr lang="fr-FR" sz="2800"/>
              <a:t>groupBy</a:t>
            </a:r>
            <a:r>
              <a:rPr lang="fr-FR" sz="2800"/>
              <a:t> ...</a:t>
            </a:r>
          </a:p>
          <a:p>
            <a:r>
              <a:rPr lang="fr-FR" sz="2800"/>
              <a:t>Example actions: count, show, </a:t>
            </a:r>
            <a:r>
              <a:rPr lang="fr-FR" sz="2800"/>
              <a:t>write</a:t>
            </a:r>
            <a:r>
              <a:rPr lang="fr-FR" sz="2800"/>
              <a:t> ...</a:t>
            </a:r>
          </a:p>
          <a:p>
            <a:endParaRPr lang="fr-FR" sz="2800"/>
          </a:p>
          <a:p>
            <a:r>
              <a:rPr lang="fr-FR" sz="2800" b="1"/>
              <a:t>Datasets</a:t>
            </a:r>
            <a:r>
              <a:rPr lang="fr-FR" sz="2800" b="1"/>
              <a:t> are "</a:t>
            </a:r>
            <a:r>
              <a:rPr lang="fr-FR" sz="2800" b="1"/>
              <a:t>lazy</a:t>
            </a:r>
            <a:r>
              <a:rPr lang="fr-FR" sz="2800" b="1"/>
              <a:t>", </a:t>
            </a:r>
          </a:p>
          <a:p>
            <a:r>
              <a:rPr lang="fr-FR" sz="2800"/>
              <a:t>   i.e. computations are </a:t>
            </a:r>
            <a:r>
              <a:rPr lang="fr-FR" sz="2800"/>
              <a:t>only</a:t>
            </a:r>
            <a:r>
              <a:rPr lang="fr-FR" sz="2800"/>
              <a:t> </a:t>
            </a:r>
            <a:r>
              <a:rPr lang="fr-FR" sz="2800"/>
              <a:t>triggered</a:t>
            </a:r>
            <a:r>
              <a:rPr lang="fr-FR" sz="2800"/>
              <a:t> </a:t>
            </a:r>
            <a:r>
              <a:rPr lang="fr-FR" sz="2800" b="1"/>
              <a:t>when</a:t>
            </a:r>
            <a:r>
              <a:rPr lang="fr-FR" sz="2800" b="1"/>
              <a:t> an action </a:t>
            </a:r>
            <a:r>
              <a:rPr lang="fr-FR" sz="2800" b="1"/>
              <a:t>is</a:t>
            </a:r>
            <a:r>
              <a:rPr lang="fr-FR" sz="2800" b="1"/>
              <a:t> </a:t>
            </a:r>
            <a:r>
              <a:rPr lang="fr-FR" sz="2800" b="1"/>
              <a:t>invoked</a:t>
            </a:r>
            <a:r>
              <a:rPr lang="fr-FR" sz="2800"/>
              <a:t>. 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864995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Transformation… « </a:t>
            </a:r>
            <a:r>
              <a:rPr lang="fr-FR"/>
              <a:t>produce</a:t>
            </a:r>
            <a:r>
              <a:rPr lang="fr-FR"/>
              <a:t> » new </a:t>
            </a:r>
            <a:r>
              <a:rPr lang="fr-FR"/>
              <a:t>Dataset</a:t>
            </a:r>
            <a:br>
              <a:rPr lang="fr-FR"/>
            </a:br>
            <a:r>
              <a:rPr lang="fr-FR"/>
              <a:t>NO UPDATE </a:t>
            </a:r>
            <a:r>
              <a:rPr lang="fr-FR"/>
              <a:t>method</a:t>
            </a:r>
            <a:br>
              <a:rPr lang="fr-FR"/>
            </a:br>
            <a:r>
              <a:rPr lang="fr-FR"/>
              <a:t>Datasets are computable</a:t>
            </a:r>
            <a:r>
              <a:rPr lang="fr-FR"/>
              <a:t> / « </a:t>
            </a:r>
            <a:r>
              <a:rPr lang="fr-FR" b="1"/>
              <a:t>immutable 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48000" y="3072348"/>
            <a:ext cx="8617231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dataset</a:t>
            </a:r>
            <a:r>
              <a:rPr lang="fr-FR" sz="2400"/>
              <a:t>.  &lt;</a:t>
            </a:r>
            <a:r>
              <a:rPr lang="fr-FR" sz="2400"/>
              <a:t>noSetter</a:t>
            </a:r>
            <a:r>
              <a:rPr lang="fr-FR" sz="2400"/>
              <a:t>&gt; ();</a:t>
            </a:r>
          </a:p>
          <a:p>
            <a:endParaRPr lang="fr-FR" sz="2400"/>
          </a:p>
          <a:p>
            <a:endParaRPr lang="fr-FR" sz="2400"/>
          </a:p>
          <a:p>
            <a:r>
              <a:rPr lang="fr-FR" sz="2400"/>
              <a:t>Dataset</a:t>
            </a:r>
            <a:r>
              <a:rPr lang="fr-FR" sz="2400"/>
              <a:t>  </a:t>
            </a:r>
            <a:r>
              <a:rPr lang="fr-FR" sz="2400"/>
              <a:t>newDataset</a:t>
            </a:r>
            <a:r>
              <a:rPr lang="fr-FR" sz="2400"/>
              <a:t>  =   </a:t>
            </a:r>
            <a:r>
              <a:rPr lang="fr-FR" sz="2400"/>
              <a:t>dataset</a:t>
            </a:r>
            <a:r>
              <a:rPr lang="fr-FR" sz="2400"/>
              <a:t> .  &lt;</a:t>
            </a:r>
            <a:r>
              <a:rPr lang="fr-FR" sz="2400"/>
              <a:t>createNewWithTransform</a:t>
            </a:r>
            <a:r>
              <a:rPr lang="fr-FR" sz="2400"/>
              <a:t>&gt; ( … )</a:t>
            </a:r>
          </a:p>
          <a:p>
            <a:r>
              <a:rPr lang="fr-FR" sz="2400"/>
              <a:t>Example: </a:t>
            </a:r>
            <a:r>
              <a:rPr lang="fr-FR" sz="2400"/>
              <a:t>chain</a:t>
            </a:r>
            <a:r>
              <a:rPr lang="fr-FR" sz="2400"/>
              <a:t> </a:t>
            </a:r>
            <a:r>
              <a:rPr lang="fr-FR" sz="2400"/>
              <a:t>method</a:t>
            </a:r>
            <a:endParaRPr lang="fr-FR" sz="2400"/>
          </a:p>
          <a:p>
            <a:r>
              <a:rPr lang="fr-FR" sz="2400"/>
              <a:t>   </a:t>
            </a:r>
            <a:r>
              <a:rPr lang="fr-FR" sz="2400"/>
              <a:t>dataset</a:t>
            </a:r>
            <a:r>
              <a:rPr lang="fr-FR" sz="2400"/>
              <a:t> = </a:t>
            </a:r>
            <a:r>
              <a:rPr lang="fr-FR" sz="2400"/>
              <a:t>ds</a:t>
            </a:r>
            <a:r>
              <a:rPr lang="fr-FR" sz="2400"/>
              <a:t> .</a:t>
            </a:r>
            <a:r>
              <a:rPr lang="fr-FR" sz="2400"/>
              <a:t>filter</a:t>
            </a:r>
            <a:r>
              <a:rPr lang="fr-FR" sz="2400"/>
              <a:t>(..) .</a:t>
            </a:r>
            <a:r>
              <a:rPr lang="fr-FR" sz="2400"/>
              <a:t>filter</a:t>
            </a:r>
            <a:r>
              <a:rPr lang="fr-FR" sz="2400"/>
              <a:t>(..) .</a:t>
            </a:r>
            <a:r>
              <a:rPr lang="fr-FR" sz="2400"/>
              <a:t>map</a:t>
            </a:r>
            <a:r>
              <a:rPr lang="fr-FR" sz="2400"/>
              <a:t>(..) .</a:t>
            </a:r>
            <a:r>
              <a:rPr lang="fr-FR" sz="2400"/>
              <a:t>groupBy</a:t>
            </a:r>
            <a:r>
              <a:rPr lang="fr-FR" sz="2400"/>
              <a:t>(..),</a:t>
            </a:r>
          </a:p>
          <a:p>
            <a:endParaRPr lang="fr-FR" sz="2400"/>
          </a:p>
          <a:p>
            <a:r>
              <a:rPr lang="fr-FR" sz="2400"/>
              <a:t>&lt;</a:t>
            </a:r>
            <a:r>
              <a:rPr lang="fr-FR" sz="2400"/>
              <a:t>Result</a:t>
            </a:r>
            <a:r>
              <a:rPr lang="fr-FR" sz="2400"/>
              <a:t>&gt; = </a:t>
            </a:r>
            <a:r>
              <a:rPr lang="fr-FR" sz="2400"/>
              <a:t>dataset</a:t>
            </a:r>
            <a:r>
              <a:rPr lang="fr-FR" sz="2400"/>
              <a:t>. &lt;action&gt; ();</a:t>
            </a:r>
          </a:p>
          <a:p>
            <a:r>
              <a:rPr lang="fr-FR" sz="2400"/>
              <a:t>example</a:t>
            </a:r>
            <a:r>
              <a:rPr lang="fr-FR" sz="2400"/>
              <a:t>:   long </a:t>
            </a:r>
            <a:r>
              <a:rPr lang="fr-FR" sz="2400"/>
              <a:t>result</a:t>
            </a:r>
            <a:r>
              <a:rPr lang="fr-FR" sz="2400"/>
              <a:t> = </a:t>
            </a:r>
            <a:r>
              <a:rPr lang="fr-FR" sz="2400"/>
              <a:t>dataset</a:t>
            </a:r>
            <a:r>
              <a:rPr lang="fr-FR" sz="2400"/>
              <a:t>.  count ();</a:t>
            </a:r>
          </a:p>
          <a:p>
            <a:endParaRPr lang="fr-FR" sz="2400"/>
          </a:p>
        </p:txBody>
      </p:sp>
      <p:sp>
        <p:nvSpPr>
          <p:cNvPr id="5" name="&quot;Not Allowed&quot; Symbol 4"/>
          <p:cNvSpPr/>
          <p:nvPr/>
        </p:nvSpPr>
        <p:spPr>
          <a:xfrm>
            <a:off x="2020289" y="2894548"/>
            <a:ext cx="881380" cy="871190"/>
          </a:xfrm>
          <a:prstGeom prst="noSmoking">
            <a:avLst>
              <a:gd name="adj" fmla="val 11593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7" name="Left Brace 6"/>
          <p:cNvSpPr/>
          <p:nvPr/>
        </p:nvSpPr>
        <p:spPr>
          <a:xfrm>
            <a:off x="2678229" y="4056584"/>
            <a:ext cx="296606" cy="1049049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Left Brace 7"/>
          <p:cNvSpPr/>
          <p:nvPr/>
        </p:nvSpPr>
        <p:spPr>
          <a:xfrm>
            <a:off x="2626623" y="5574279"/>
            <a:ext cx="343364" cy="945594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1212367" y="4326821"/>
            <a:ext cx="1478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Transform</a:t>
            </a:r>
            <a:endParaRPr lang="fr-FR" b="1"/>
          </a:p>
        </p:txBody>
      </p:sp>
      <p:sp>
        <p:nvSpPr>
          <p:cNvPr id="10" name="TextBox 9"/>
          <p:cNvSpPr txBox="1"/>
          <p:nvPr/>
        </p:nvSpPr>
        <p:spPr>
          <a:xfrm>
            <a:off x="1383124" y="5816243"/>
            <a:ext cx="1011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Action</a:t>
            </a:r>
            <a:endParaRPr lang="fr-FR" b="1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756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r>
              <a:rPr lang="fr-FR"/>
              <a:t> </a:t>
            </a:r>
            <a:r>
              <a:rPr lang="fr-FR"/>
              <a:t>operations</a:t>
            </a:r>
            <a:r>
              <a:rPr lang="fr-FR"/>
              <a:t>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04840" y="1441200"/>
            <a:ext cx="5176353" cy="51706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Dataset</a:t>
            </a:r>
            <a:r>
              <a:rPr lang="fr-FR"/>
              <a:t>&lt;T1&gt;   ds1 =  </a:t>
            </a:r>
            <a:r>
              <a:rPr lang="fr-FR"/>
              <a:t>spark.read</a:t>
            </a:r>
            <a:r>
              <a:rPr lang="fr-FR"/>
              <a:t> ….</a:t>
            </a:r>
          </a:p>
          <a:p>
            <a:endParaRPr lang="fr-FR"/>
          </a:p>
          <a:p>
            <a:endParaRPr lang="fr-FR"/>
          </a:p>
          <a:p>
            <a:r>
              <a:rPr lang="fr-FR"/>
              <a:t>Dataset</a:t>
            </a:r>
            <a:r>
              <a:rPr lang="fr-FR"/>
              <a:t>&lt;T2&gt;    ds2 =  ds1.map(   x -&gt; f(x)  );</a:t>
            </a:r>
          </a:p>
          <a:p>
            <a:endParaRPr lang="fr-FR"/>
          </a:p>
          <a:p>
            <a:endParaRPr lang="fr-FR"/>
          </a:p>
          <a:p>
            <a:r>
              <a:rPr lang="fr-FR"/>
              <a:t>Dataset</a:t>
            </a:r>
            <a:r>
              <a:rPr lang="fr-FR"/>
              <a:t>&lt;Row&gt;  ds3 =  ds2.toDF();</a:t>
            </a:r>
          </a:p>
          <a:p>
            <a:endParaRPr lang="fr-FR"/>
          </a:p>
          <a:p>
            <a:r>
              <a:rPr lang="fr-FR"/>
              <a:t>Dataset</a:t>
            </a:r>
            <a:r>
              <a:rPr lang="fr-FR"/>
              <a:t>&lt;Row&gt;  ds4 =  ds3 .filter(  « col &gt;= value »)</a:t>
            </a:r>
            <a:br>
              <a:rPr lang="fr-FR"/>
            </a:br>
            <a:r>
              <a:rPr lang="fr-FR"/>
              <a:t>                                              .</a:t>
            </a:r>
            <a:r>
              <a:rPr lang="fr-FR"/>
              <a:t>filter</a:t>
            </a:r>
            <a:r>
              <a:rPr lang="fr-FR"/>
              <a:t>( x -&gt; g(x) )</a:t>
            </a:r>
            <a:br>
              <a:rPr lang="fr-FR"/>
            </a:br>
            <a:r>
              <a:rPr lang="fr-FR"/>
              <a:t>                                              .</a:t>
            </a:r>
            <a:r>
              <a:rPr lang="fr-FR"/>
              <a:t>map</a:t>
            </a:r>
            <a:r>
              <a:rPr lang="fr-FR"/>
              <a:t>( y -&gt; h(y) );</a:t>
            </a:r>
          </a:p>
          <a:p>
            <a:endParaRPr lang="fr-FR"/>
          </a:p>
          <a:p>
            <a:r>
              <a:rPr lang="fr-FR"/>
              <a:t>…</a:t>
            </a:r>
          </a:p>
          <a:p>
            <a:r>
              <a:rPr lang="fr-FR"/>
              <a:t>Dataset</a:t>
            </a:r>
            <a:r>
              <a:rPr lang="fr-FR"/>
              <a:t>&lt;Row&gt;  </a:t>
            </a:r>
            <a:r>
              <a:rPr lang="fr-FR"/>
              <a:t>dsN</a:t>
            </a:r>
            <a:r>
              <a:rPr lang="fr-FR"/>
              <a:t> =   ds4  .    </a:t>
            </a:r>
            <a:r>
              <a:rPr lang="fr-FR"/>
              <a:t>join</a:t>
            </a:r>
            <a:r>
              <a:rPr lang="fr-FR"/>
              <a:t>( </a:t>
            </a:r>
            <a:r>
              <a:rPr lang="fr-FR"/>
              <a:t>dsJoined</a:t>
            </a:r>
            <a:r>
              <a:rPr lang="fr-FR"/>
              <a:t>)</a:t>
            </a:r>
          </a:p>
          <a:p>
            <a:endParaRPr lang="fr-FR"/>
          </a:p>
          <a:p>
            <a:endParaRPr lang="fr-FR"/>
          </a:p>
          <a:p>
            <a:endParaRPr lang="fr-FR"/>
          </a:p>
          <a:p>
            <a:r>
              <a:rPr lang="fr-FR" sz="2400"/>
              <a:t>ds</a:t>
            </a:r>
            <a:r>
              <a:rPr lang="fr-FR" sz="2400"/>
              <a:t> . </a:t>
            </a:r>
            <a:r>
              <a:rPr lang="fr-FR" sz="2400" b="1"/>
              <a:t>show</a:t>
            </a:r>
            <a:r>
              <a:rPr lang="fr-FR" sz="2400"/>
              <a:t>();  // =&gt; TRIGGER COMPUTE !!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" name="Object 4">
            <a:extLst>
              <a:ext uri="{FF2B5EF4-FFF2-40B4-BE49-F238E27FC236}">
                <a16:creationId xmlns:a16="http://schemas.microsoft.com/office/drawing/2014/main" id="{ADB9C511-2A58-C4ED-F08D-4AD824C88E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64520079"/>
              </p:ext>
            </p:extLst>
          </p:nvPr>
        </p:nvGraphicFramePr>
        <p:xfrm>
          <a:off x="3718904" y="1441200"/>
          <a:ext cx="793241" cy="45085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7" name="Object 6">
                    <a:extLst>
                      <a:ext uri="{FF2B5EF4-FFF2-40B4-BE49-F238E27FC236}">
                        <a16:creationId xmlns:a16="http://schemas.microsoft.com/office/drawing/2014/main" id="{47C7AE1D-649B-71AA-15B5-1A06E63A867A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718904" y="1441200"/>
                    <a:ext cx="793241" cy="45085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Arrow: Right 5"/>
          <p:cNvSpPr/>
          <p:nvPr/>
        </p:nvSpPr>
        <p:spPr>
          <a:xfrm rot="2221328">
            <a:off x="2726526" y="1205647"/>
            <a:ext cx="926009" cy="3320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2274270" y="83739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…</a:t>
            </a:r>
          </a:p>
        </p:txBody>
      </p:sp>
      <p:sp>
        <p:nvSpPr>
          <p:cNvPr id="8" name="Arrow: Curved Left 7"/>
          <p:cNvSpPr/>
          <p:nvPr/>
        </p:nvSpPr>
        <p:spPr>
          <a:xfrm>
            <a:off x="4220080" y="1920406"/>
            <a:ext cx="234785" cy="450851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858883" y="1469555"/>
            <a:ext cx="513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ds1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" name="Object 9">
            <a:extLst>
              <a:ext uri="{FF2B5EF4-FFF2-40B4-BE49-F238E27FC236}">
                <a16:creationId xmlns:a16="http://schemas.microsoft.com/office/drawing/2014/main" id="{B1BEB85E-B6B0-E267-42E7-8F55BC72C4E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50340"/>
              </p:ext>
            </p:extLst>
          </p:nvPr>
        </p:nvGraphicFramePr>
        <p:xfrm>
          <a:off x="3779017" y="2397087"/>
          <a:ext cx="793241" cy="36933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5" name="Object 4">
                    <a:extLst>
                      <a:ext uri="{FF2B5EF4-FFF2-40B4-BE49-F238E27FC236}">
                        <a16:creationId xmlns:a16="http://schemas.microsoft.com/office/drawing/2014/main" id="{ADB9C511-2A58-C4ED-F08D-4AD824C88E93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779017" y="2397087"/>
                    <a:ext cx="793241" cy="36933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900404" y="2397086"/>
            <a:ext cx="513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ds2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" name="Object 12">
            <a:extLst>
              <a:ext uri="{FF2B5EF4-FFF2-40B4-BE49-F238E27FC236}">
                <a16:creationId xmlns:a16="http://schemas.microsoft.com/office/drawing/2014/main" id="{C6B37236-D670-897C-18BC-4466CEF3511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75745413"/>
              </p:ext>
            </p:extLst>
          </p:nvPr>
        </p:nvGraphicFramePr>
        <p:xfrm>
          <a:off x="3808256" y="4282174"/>
          <a:ext cx="793241" cy="30844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0" name="Object 9">
                    <a:extLst>
                      <a:ext uri="{FF2B5EF4-FFF2-40B4-BE49-F238E27FC236}">
                        <a16:creationId xmlns:a16="http://schemas.microsoft.com/office/drawing/2014/main" id="{B1BEB85E-B6B0-E267-42E7-8F55BC72C4E4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808256" y="4282174"/>
                    <a:ext cx="793241" cy="30844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944846" y="4282174"/>
            <a:ext cx="513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ds4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5" name="Object 14">
            <a:extLst>
              <a:ext uri="{FF2B5EF4-FFF2-40B4-BE49-F238E27FC236}">
                <a16:creationId xmlns:a16="http://schemas.microsoft.com/office/drawing/2014/main" id="{28A26B0F-F942-E11C-E161-E8FD6CA8DE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4303683"/>
              </p:ext>
            </p:extLst>
          </p:nvPr>
        </p:nvGraphicFramePr>
        <p:xfrm>
          <a:off x="4512612" y="3607870"/>
          <a:ext cx="793241" cy="273379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0" name="Object 9">
                    <a:extLst>
                      <a:ext uri="{FF2B5EF4-FFF2-40B4-BE49-F238E27FC236}">
                        <a16:creationId xmlns:a16="http://schemas.microsoft.com/office/drawing/2014/main" id="{B1BEB85E-B6B0-E267-42E7-8F55BC72C4E4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512612" y="3607870"/>
                    <a:ext cx="793241" cy="27337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6" name="Object 15">
            <a:extLst>
              <a:ext uri="{FF2B5EF4-FFF2-40B4-BE49-F238E27FC236}">
                <a16:creationId xmlns:a16="http://schemas.microsoft.com/office/drawing/2014/main" id="{2637F367-CD16-FCBC-925B-1333BAA0485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60866743"/>
              </p:ext>
            </p:extLst>
          </p:nvPr>
        </p:nvGraphicFramePr>
        <p:xfrm>
          <a:off x="4512145" y="3916780"/>
          <a:ext cx="793241" cy="273379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5" name="Object 14">
                    <a:extLst>
                      <a:ext uri="{FF2B5EF4-FFF2-40B4-BE49-F238E27FC236}">
                        <a16:creationId xmlns:a16="http://schemas.microsoft.com/office/drawing/2014/main" id="{28A26B0F-F942-E11C-E161-E8FD6CA8DE30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512145" y="3916780"/>
                    <a:ext cx="793241" cy="27337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7" name="Arrow: Curved Left 16"/>
          <p:cNvSpPr/>
          <p:nvPr/>
        </p:nvSpPr>
        <p:spPr>
          <a:xfrm>
            <a:off x="4264522" y="2766419"/>
            <a:ext cx="234785" cy="450851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8" name="Object 17">
            <a:extLst>
              <a:ext uri="{FF2B5EF4-FFF2-40B4-BE49-F238E27FC236}">
                <a16:creationId xmlns:a16="http://schemas.microsoft.com/office/drawing/2014/main" id="{B788FF72-EEC0-235F-4E3A-60DF2B99C06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02422559"/>
              </p:ext>
            </p:extLst>
          </p:nvPr>
        </p:nvGraphicFramePr>
        <p:xfrm>
          <a:off x="3823459" y="3278161"/>
          <a:ext cx="793241" cy="30844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0" name="Object 9">
                    <a:extLst>
                      <a:ext uri="{FF2B5EF4-FFF2-40B4-BE49-F238E27FC236}">
                        <a16:creationId xmlns:a16="http://schemas.microsoft.com/office/drawing/2014/main" id="{B1BEB85E-B6B0-E267-42E7-8F55BC72C4E4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823459" y="3278161"/>
                    <a:ext cx="793241" cy="30844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944846" y="3278161"/>
            <a:ext cx="513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ds3</a:t>
            </a:r>
          </a:p>
        </p:txBody>
      </p:sp>
      <p:sp>
        <p:nvSpPr>
          <p:cNvPr id="12" name="Arrow: Curved Left 11"/>
          <p:cNvSpPr/>
          <p:nvPr/>
        </p:nvSpPr>
        <p:spPr>
          <a:xfrm>
            <a:off x="4308249" y="3595399"/>
            <a:ext cx="351710" cy="642762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0" name="Object 19">
            <a:extLst>
              <a:ext uri="{FF2B5EF4-FFF2-40B4-BE49-F238E27FC236}">
                <a16:creationId xmlns:a16="http://schemas.microsoft.com/office/drawing/2014/main" id="{265B9010-8A71-FE92-66D8-A7E89CB7541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6303108"/>
              </p:ext>
            </p:extLst>
          </p:nvPr>
        </p:nvGraphicFramePr>
        <p:xfrm>
          <a:off x="3858883" y="5113509"/>
          <a:ext cx="793241" cy="30844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3" name="Object 12">
                    <a:extLst>
                      <a:ext uri="{FF2B5EF4-FFF2-40B4-BE49-F238E27FC236}">
                        <a16:creationId xmlns:a16="http://schemas.microsoft.com/office/drawing/2014/main" id="{C6B37236-D670-897C-18BC-4466CEF35110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858883" y="5113509"/>
                    <a:ext cx="793241" cy="30844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995473" y="5113509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dsN</a:t>
            </a:r>
            <a:endParaRPr lang="fr-FR"/>
          </a:p>
        </p:txBody>
      </p:sp>
      <p:sp>
        <p:nvSpPr>
          <p:cNvPr id="22" name="Arrow: Right 21"/>
          <p:cNvSpPr/>
          <p:nvPr/>
        </p:nvSpPr>
        <p:spPr>
          <a:xfrm rot="5400000">
            <a:off x="4066611" y="4728881"/>
            <a:ext cx="400456" cy="21065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Arrow: Right 23"/>
          <p:cNvSpPr/>
          <p:nvPr/>
        </p:nvSpPr>
        <p:spPr>
          <a:xfrm rot="2664194">
            <a:off x="3816422" y="4823927"/>
            <a:ext cx="349440" cy="18885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7" name="Object 26">
            <a:extLst>
              <a:ext uri="{FF2B5EF4-FFF2-40B4-BE49-F238E27FC236}">
                <a16:creationId xmlns:a16="http://schemas.microsoft.com/office/drawing/2014/main" id="{84202815-ED7C-C99F-4901-F1670CE3A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14202667"/>
              </p:ext>
            </p:extLst>
          </p:nvPr>
        </p:nvGraphicFramePr>
        <p:xfrm>
          <a:off x="2616917" y="4671105"/>
          <a:ext cx="1174657" cy="30844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3" name="Object 12">
                    <a:extLst>
                      <a:ext uri="{FF2B5EF4-FFF2-40B4-BE49-F238E27FC236}">
                        <a16:creationId xmlns:a16="http://schemas.microsoft.com/office/drawing/2014/main" id="{C6B37236-D670-897C-18BC-4466CEF35110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2616917" y="4671105"/>
                    <a:ext cx="1174657" cy="30844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2757142" y="4640659"/>
            <a:ext cx="10842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dsJoined</a:t>
            </a:r>
            <a:endParaRPr lang="fr-FR"/>
          </a:p>
        </p:txBody>
      </p:sp>
      <p:sp>
        <p:nvSpPr>
          <p:cNvPr id="29" name="Arrow: Right 28"/>
          <p:cNvSpPr/>
          <p:nvPr/>
        </p:nvSpPr>
        <p:spPr>
          <a:xfrm rot="2221328">
            <a:off x="4572483" y="5705837"/>
            <a:ext cx="926009" cy="3320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Left Brace 29"/>
          <p:cNvSpPr/>
          <p:nvPr/>
        </p:nvSpPr>
        <p:spPr>
          <a:xfrm>
            <a:off x="2001520" y="837399"/>
            <a:ext cx="343364" cy="945594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Left Brace 30"/>
          <p:cNvSpPr/>
          <p:nvPr/>
        </p:nvSpPr>
        <p:spPr>
          <a:xfrm>
            <a:off x="1975082" y="1986212"/>
            <a:ext cx="343364" cy="3586547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Left Brace 31"/>
          <p:cNvSpPr/>
          <p:nvPr/>
        </p:nvSpPr>
        <p:spPr>
          <a:xfrm>
            <a:off x="1975082" y="5763553"/>
            <a:ext cx="343364" cy="945594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TextBox 32"/>
          <p:cNvSpPr txBox="1"/>
          <p:nvPr/>
        </p:nvSpPr>
        <p:spPr>
          <a:xfrm>
            <a:off x="834394" y="1125530"/>
            <a:ext cx="10177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Create</a:t>
            </a:r>
            <a:endParaRPr lang="fr-FR" b="1"/>
          </a:p>
        </p:txBody>
      </p:sp>
      <p:sp>
        <p:nvSpPr>
          <p:cNvPr id="34" name="TextBox 33"/>
          <p:cNvSpPr txBox="1"/>
          <p:nvPr/>
        </p:nvSpPr>
        <p:spPr>
          <a:xfrm>
            <a:off x="403570" y="3513726"/>
            <a:ext cx="1478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Transform</a:t>
            </a:r>
            <a:endParaRPr lang="fr-FR" b="1"/>
          </a:p>
        </p:txBody>
      </p:sp>
      <p:sp>
        <p:nvSpPr>
          <p:cNvPr id="35" name="TextBox 34"/>
          <p:cNvSpPr txBox="1"/>
          <p:nvPr/>
        </p:nvSpPr>
        <p:spPr>
          <a:xfrm>
            <a:off x="701339" y="5955983"/>
            <a:ext cx="1011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Action</a:t>
            </a:r>
            <a:endParaRPr lang="fr-FR" b="1"/>
          </a:p>
        </p:txBody>
      </p:sp>
      <p:pic>
        <p:nvPicPr>
          <p:cNvPr id="3" name="Picture 2" descr="lazy girl sleeping on work unproductive workers cute cartoon illustration  1893571 Vector Art at Vecteez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881193" y="2018145"/>
            <a:ext cx="779737" cy="779737"/>
          </a:xfrm>
          <a:prstGeom prst="rect">
            <a:avLst/>
          </a:prstGeom>
          <a:noFill/>
        </p:spPr>
      </p:pic>
      <p:pic>
        <p:nvPicPr>
          <p:cNvPr id="23" name="Picture 22" descr="CPU X : Infos Smartphones – Applications sur Google Play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0798360" y="5718773"/>
            <a:ext cx="908079" cy="908079"/>
          </a:xfrm>
          <a:prstGeom prst="rect">
            <a:avLst/>
          </a:prstGeom>
          <a:noFill/>
        </p:spPr>
      </p:pic>
      <p:pic>
        <p:nvPicPr>
          <p:cNvPr id="25" name="Picture 24" descr="lazy girl sleeping on work unproductive workers cute cartoon illustration  1893571 Vector Art at Vecteez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843869" y="3429000"/>
            <a:ext cx="779737" cy="779737"/>
          </a:xfrm>
          <a:prstGeom prst="rect">
            <a:avLst/>
          </a:prstGeom>
          <a:noFill/>
        </p:spPr>
      </p:pic>
      <p:pic>
        <p:nvPicPr>
          <p:cNvPr id="28" name="Picture 27" descr="lazy girl sleeping on work unproductive workers cute cartoon illustration  1893571 Vector Art at Vecteez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881191" y="4728640"/>
            <a:ext cx="779737" cy="77973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r>
              <a:rPr lang="fr-FR"/>
              <a:t> /** </a:t>
            </a:r>
            <a:r>
              <a:rPr lang="fr-FR"/>
              <a:t>javadoc</a:t>
            </a:r>
            <a:r>
              <a:rPr lang="fr-FR"/>
              <a:t>..  */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723" y="2003886"/>
            <a:ext cx="1159691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/>
              <a:t>Internally</a:t>
            </a:r>
            <a:r>
              <a:rPr lang="fr-FR" sz="2800"/>
              <a:t>, a </a:t>
            </a:r>
            <a:r>
              <a:rPr lang="fr-FR" sz="2800"/>
              <a:t>Dataset</a:t>
            </a:r>
            <a:r>
              <a:rPr lang="fr-FR" sz="2800"/>
              <a:t> </a:t>
            </a:r>
            <a:r>
              <a:rPr lang="fr-FR" sz="2800"/>
              <a:t>represents</a:t>
            </a:r>
            <a:r>
              <a:rPr lang="fr-FR" sz="2800"/>
              <a:t> a </a:t>
            </a:r>
            <a:r>
              <a:rPr lang="fr-FR" sz="2800"/>
              <a:t>logical</a:t>
            </a:r>
            <a:r>
              <a:rPr lang="fr-FR" sz="2800"/>
              <a:t> plan </a:t>
            </a:r>
          </a:p>
          <a:p>
            <a:r>
              <a:rPr lang="fr-FR" sz="2800"/>
              <a:t>   </a:t>
            </a:r>
            <a:r>
              <a:rPr lang="fr-FR" sz="2800"/>
              <a:t>that</a:t>
            </a:r>
            <a:r>
              <a:rPr lang="fr-FR" sz="2800"/>
              <a:t> </a:t>
            </a:r>
            <a:r>
              <a:rPr lang="fr-FR" sz="2800" b="1"/>
              <a:t>describes</a:t>
            </a:r>
            <a:r>
              <a:rPr lang="fr-FR" sz="2800" b="1"/>
              <a:t> </a:t>
            </a:r>
            <a:r>
              <a:rPr lang="fr-FR" sz="2800"/>
              <a:t>the computation </a:t>
            </a:r>
            <a:r>
              <a:rPr lang="fr-FR" sz="2800"/>
              <a:t>required</a:t>
            </a:r>
            <a:r>
              <a:rPr lang="fr-FR" sz="2800"/>
              <a:t> </a:t>
            </a:r>
            <a:r>
              <a:rPr lang="fr-FR" sz="2800" b="1"/>
              <a:t>to </a:t>
            </a:r>
            <a:r>
              <a:rPr lang="fr-FR" sz="2800" b="1"/>
              <a:t>produce</a:t>
            </a:r>
            <a:r>
              <a:rPr lang="fr-FR" sz="2800" b="1"/>
              <a:t> the data</a:t>
            </a:r>
            <a:r>
              <a:rPr lang="fr-FR" sz="2800"/>
              <a:t>.</a:t>
            </a:r>
          </a:p>
          <a:p>
            <a:endParaRPr lang="fr-FR" sz="2800"/>
          </a:p>
          <a:p>
            <a:r>
              <a:rPr lang="fr-FR" sz="2800"/>
              <a:t>When</a:t>
            </a:r>
            <a:r>
              <a:rPr lang="fr-FR" sz="2800"/>
              <a:t> an action </a:t>
            </a:r>
            <a:r>
              <a:rPr lang="fr-FR" sz="2800"/>
              <a:t>is</a:t>
            </a:r>
            <a:r>
              <a:rPr lang="fr-FR" sz="2800"/>
              <a:t> </a:t>
            </a:r>
            <a:r>
              <a:rPr lang="fr-FR" sz="2800"/>
              <a:t>invoked</a:t>
            </a:r>
            <a:r>
              <a:rPr lang="fr-FR" sz="2800"/>
              <a:t>, </a:t>
            </a:r>
          </a:p>
          <a:p>
            <a:r>
              <a:rPr lang="fr-FR" sz="2800"/>
              <a:t>      </a:t>
            </a:r>
            <a:r>
              <a:rPr lang="fr-FR" sz="2800"/>
              <a:t>Spark's</a:t>
            </a:r>
            <a:r>
              <a:rPr lang="fr-FR" sz="2800"/>
              <a:t> </a:t>
            </a:r>
            <a:r>
              <a:rPr lang="fr-FR" sz="2800"/>
              <a:t>query</a:t>
            </a:r>
            <a:r>
              <a:rPr lang="fr-FR" sz="2800"/>
              <a:t> </a:t>
            </a:r>
            <a:r>
              <a:rPr lang="fr-FR" sz="2800"/>
              <a:t>optimizer</a:t>
            </a:r>
            <a:r>
              <a:rPr lang="fr-FR" sz="2800"/>
              <a:t> </a:t>
            </a:r>
            <a:r>
              <a:rPr lang="fr-FR" sz="2800"/>
              <a:t>optimizes</a:t>
            </a:r>
            <a:r>
              <a:rPr lang="fr-FR" sz="2800"/>
              <a:t> the </a:t>
            </a:r>
            <a:r>
              <a:rPr lang="fr-FR" sz="2800" b="1"/>
              <a:t>logical</a:t>
            </a:r>
            <a:r>
              <a:rPr lang="fr-FR" sz="2800" b="1"/>
              <a:t> plan</a:t>
            </a:r>
            <a:r>
              <a:rPr lang="fr-FR" sz="2800"/>
              <a:t> </a:t>
            </a:r>
          </a:p>
          <a:p>
            <a:r>
              <a:rPr lang="fr-FR" sz="2800"/>
              <a:t>      and </a:t>
            </a:r>
            <a:r>
              <a:rPr lang="fr-FR" sz="2800"/>
              <a:t>generates</a:t>
            </a:r>
            <a:r>
              <a:rPr lang="fr-FR" sz="2800"/>
              <a:t> a </a:t>
            </a:r>
            <a:r>
              <a:rPr lang="fr-FR" sz="2800" b="1"/>
              <a:t>physical</a:t>
            </a:r>
            <a:r>
              <a:rPr lang="fr-FR" sz="2800" b="1"/>
              <a:t> plan </a:t>
            </a:r>
          </a:p>
          <a:p>
            <a:r>
              <a:rPr lang="fr-FR" sz="2800" b="1"/>
              <a:t>      </a:t>
            </a:r>
            <a:r>
              <a:rPr lang="fr-FR" sz="2800"/>
              <a:t>for efficient </a:t>
            </a:r>
            <a:r>
              <a:rPr lang="fr-FR" sz="2800"/>
              <a:t>execution</a:t>
            </a:r>
            <a:r>
              <a:rPr lang="fr-FR" sz="2800"/>
              <a:t> in a </a:t>
            </a:r>
            <a:r>
              <a:rPr lang="fr-FR" sz="2800"/>
              <a:t>parallel</a:t>
            </a:r>
            <a:r>
              <a:rPr lang="fr-FR" sz="2800"/>
              <a:t> and </a:t>
            </a:r>
            <a:r>
              <a:rPr lang="fr-FR" sz="2800"/>
              <a:t>distributed</a:t>
            </a:r>
            <a:r>
              <a:rPr lang="fr-FR" sz="2800"/>
              <a:t> </a:t>
            </a:r>
            <a:r>
              <a:rPr lang="fr-FR" sz="2800"/>
              <a:t>manner</a:t>
            </a:r>
            <a:r>
              <a:rPr lang="fr-FR" sz="2800"/>
              <a:t>. </a:t>
            </a:r>
          </a:p>
          <a:p>
            <a:endParaRPr lang="fr-FR" sz="2800"/>
          </a:p>
          <a:p>
            <a:r>
              <a:rPr lang="fr-FR" sz="2800"/>
              <a:t>To explore… Use ‘explain()’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Internally</a:t>
            </a:r>
            <a:r>
              <a:rPr lang="fr-FR"/>
              <a:t>…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" name="Object 3">
            <a:extLst>
              <a:ext uri="{FF2B5EF4-FFF2-40B4-BE49-F238E27FC236}">
                <a16:creationId xmlns:a16="http://schemas.microsoft.com/office/drawing/2014/main" id="{85D340DA-FBDF-EC2E-171D-3CCC36685A8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00304362"/>
              </p:ext>
            </p:extLst>
          </p:nvPr>
        </p:nvGraphicFramePr>
        <p:xfrm>
          <a:off x="279398" y="2491414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5" name="Object 4">
                    <a:extLst>
                      <a:ext uri="{FF2B5EF4-FFF2-40B4-BE49-F238E27FC236}">
                        <a16:creationId xmlns:a16="http://schemas.microsoft.com/office/drawing/2014/main" id="{4E3F015D-5ACE-084F-C95B-47C4BB3B6BCB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279398" y="2491414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0462" y="2029749"/>
            <a:ext cx="2113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Dataset</a:t>
            </a:r>
            <a:r>
              <a:rPr lang="fr-FR" sz="2400" b="1"/>
              <a:t>&lt;T&gt;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2021622" y="2809240"/>
            <a:ext cx="1198880" cy="45913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2021622" y="3472806"/>
            <a:ext cx="1244600" cy="257229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02058" y="1991806"/>
            <a:ext cx="2113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SparkSession</a:t>
            </a:r>
            <a:endParaRPr lang="fr-FR" sz="2400" b="1"/>
          </a:p>
        </p:txBody>
      </p:sp>
      <p:sp>
        <p:nvSpPr>
          <p:cNvPr id="15" name="TextBox 14"/>
          <p:cNvSpPr txBox="1"/>
          <p:nvPr/>
        </p:nvSpPr>
        <p:spPr>
          <a:xfrm>
            <a:off x="9521757" y="2002912"/>
            <a:ext cx="2113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SparkContext</a:t>
            </a:r>
            <a:endParaRPr lang="fr-FR" sz="2400" b="1"/>
          </a:p>
        </p:txBody>
      </p:sp>
      <p:cxnSp>
        <p:nvCxnSpPr>
          <p:cNvPr id="16" name="Straight Arrow Connector 15"/>
          <p:cNvCxnSpPr>
            <a:endCxn id="15" idx="1"/>
          </p:cNvCxnSpPr>
          <p:nvPr/>
        </p:nvCxnSpPr>
        <p:spPr>
          <a:xfrm flipV="1">
            <a:off x="8976360" y="2233745"/>
            <a:ext cx="545397" cy="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11944" y="3459480"/>
            <a:ext cx="2113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Encoder&lt;T&gt;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1944" y="2535535"/>
            <a:ext cx="25706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QueryExecution</a:t>
            </a:r>
            <a:endParaRPr lang="fr-FR" sz="2400" b="1"/>
          </a:p>
        </p:txBody>
      </p:sp>
      <p:cxnSp>
        <p:nvCxnSpPr>
          <p:cNvPr id="20" name="Straight Arrow Connector 19"/>
          <p:cNvCxnSpPr/>
          <p:nvPr/>
        </p:nvCxnSpPr>
        <p:spPr>
          <a:xfrm flipV="1">
            <a:off x="5804119" y="2260581"/>
            <a:ext cx="1198880" cy="45913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135777" y="3131506"/>
            <a:ext cx="27225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LogicalPlan</a:t>
            </a:r>
            <a:r>
              <a:rPr lang="fr-FR" sz="2400" b="1"/>
              <a:t> (AST)</a:t>
            </a: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5804119" y="2856249"/>
            <a:ext cx="1198880" cy="521329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35778" y="5423418"/>
            <a:ext cx="2113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ExecutedPlan</a:t>
            </a:r>
            <a:endParaRPr lang="fr-FR" sz="2400" b="1"/>
          </a:p>
        </p:txBody>
      </p:sp>
      <p:cxnSp>
        <p:nvCxnSpPr>
          <p:cNvPr id="27" name="Straight Arrow Connector 26"/>
          <p:cNvCxnSpPr/>
          <p:nvPr/>
        </p:nvCxnSpPr>
        <p:spPr>
          <a:xfrm>
            <a:off x="7828280" y="3647440"/>
            <a:ext cx="0" cy="612658"/>
          </a:xfrm>
          <a:prstGeom prst="straightConnector1">
            <a:avLst/>
          </a:prstGeom>
          <a:ln w="25400"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9057640" y="5699760"/>
            <a:ext cx="1137920" cy="0"/>
          </a:xfrm>
          <a:prstGeom prst="straightConnector1">
            <a:avLst/>
          </a:prstGeom>
          <a:ln w="25400"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312400" y="5468927"/>
            <a:ext cx="94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RDD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55152" y="5319322"/>
            <a:ext cx="1055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execute</a:t>
            </a:r>
            <a:r>
              <a:rPr lang="fr-FR"/>
              <a:t>()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0823" y="3714569"/>
            <a:ext cx="1025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analyze</a:t>
            </a:r>
            <a:r>
              <a:rPr lang="fr-FR"/>
              <a:t>()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02058" y="4377031"/>
            <a:ext cx="2113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AnalyzedPlan</a:t>
            </a:r>
            <a:endParaRPr lang="fr-FR" sz="2400" b="1"/>
          </a:p>
        </p:txBody>
      </p:sp>
      <p:sp>
        <p:nvSpPr>
          <p:cNvPr id="39" name="TextBox 38"/>
          <p:cNvSpPr txBox="1"/>
          <p:nvPr/>
        </p:nvSpPr>
        <p:spPr>
          <a:xfrm>
            <a:off x="10312400" y="4377030"/>
            <a:ext cx="14205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Schema</a:t>
            </a:r>
            <a:endParaRPr lang="fr-FR" sz="2400" b="1"/>
          </a:p>
        </p:txBody>
      </p:sp>
      <p:sp>
        <p:nvSpPr>
          <p:cNvPr id="40" name="TextBox 39"/>
          <p:cNvSpPr txBox="1"/>
          <p:nvPr/>
        </p:nvSpPr>
        <p:spPr>
          <a:xfrm>
            <a:off x="9121432" y="4272935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schema()</a:t>
            </a:r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7828280" y="4894149"/>
            <a:ext cx="0" cy="612658"/>
          </a:xfrm>
          <a:prstGeom prst="straightConnector1">
            <a:avLst/>
          </a:prstGeom>
          <a:ln w="25400"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950823" y="4961278"/>
            <a:ext cx="766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action</a:t>
            </a:r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9058251" y="4664763"/>
            <a:ext cx="1152767" cy="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r>
              <a:rPr lang="fr-FR"/>
              <a:t> /** </a:t>
            </a:r>
            <a:r>
              <a:rPr lang="fr-FR"/>
              <a:t>javadoc</a:t>
            </a:r>
            <a:r>
              <a:rPr lang="fr-FR"/>
              <a:t>..  */ 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2534" y="1786750"/>
            <a:ext cx="1176141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/>
              <a:t>To </a:t>
            </a:r>
            <a:r>
              <a:rPr lang="fr-FR" sz="2800"/>
              <a:t>efficiently</a:t>
            </a:r>
            <a:r>
              <a:rPr lang="fr-FR" sz="2800"/>
              <a:t> support </a:t>
            </a:r>
            <a:r>
              <a:rPr lang="fr-FR" sz="2800"/>
              <a:t>domain-specific</a:t>
            </a:r>
            <a:r>
              <a:rPr lang="fr-FR" sz="2800"/>
              <a:t> </a:t>
            </a:r>
            <a:r>
              <a:rPr lang="fr-FR" sz="2800"/>
              <a:t>objects</a:t>
            </a:r>
            <a:r>
              <a:rPr lang="fr-FR" sz="2800"/>
              <a:t>, an ‘Encoder’ </a:t>
            </a:r>
            <a:r>
              <a:rPr lang="fr-FR" sz="2800"/>
              <a:t>is</a:t>
            </a:r>
            <a:r>
              <a:rPr lang="fr-FR" sz="2800"/>
              <a:t> </a:t>
            </a:r>
            <a:r>
              <a:rPr lang="fr-FR" sz="2800"/>
              <a:t>required</a:t>
            </a:r>
            <a:r>
              <a:rPr lang="fr-FR" sz="2800"/>
              <a:t>. </a:t>
            </a:r>
          </a:p>
          <a:p>
            <a:endParaRPr lang="fr-FR" sz="2800"/>
          </a:p>
          <a:p>
            <a:r>
              <a:rPr lang="fr-FR" sz="2800"/>
              <a:t>The encoder </a:t>
            </a:r>
            <a:r>
              <a:rPr lang="fr-FR" sz="2800"/>
              <a:t>maps</a:t>
            </a:r>
            <a:r>
              <a:rPr lang="fr-FR" sz="2800"/>
              <a:t> the </a:t>
            </a:r>
            <a:r>
              <a:rPr lang="fr-FR" sz="2800"/>
              <a:t>domain</a:t>
            </a:r>
            <a:r>
              <a:rPr lang="fr-FR" sz="2800"/>
              <a:t> </a:t>
            </a:r>
            <a:r>
              <a:rPr lang="fr-FR" sz="2800"/>
              <a:t>specific</a:t>
            </a:r>
            <a:r>
              <a:rPr lang="fr-FR" sz="2800"/>
              <a:t> type `T` to </a:t>
            </a:r>
            <a:r>
              <a:rPr lang="fr-FR" sz="2800"/>
              <a:t>Spark's</a:t>
            </a:r>
            <a:r>
              <a:rPr lang="fr-FR" sz="2800"/>
              <a:t> </a:t>
            </a:r>
            <a:r>
              <a:rPr lang="fr-FR" sz="2800"/>
              <a:t>internal</a:t>
            </a:r>
            <a:r>
              <a:rPr lang="fr-FR" sz="2800"/>
              <a:t> type system. </a:t>
            </a:r>
          </a:p>
          <a:p>
            <a:r>
              <a:rPr lang="fr-FR" sz="2800"/>
              <a:t>  (…) to </a:t>
            </a:r>
            <a:r>
              <a:rPr lang="fr-FR" sz="2800"/>
              <a:t>generate</a:t>
            </a:r>
            <a:r>
              <a:rPr lang="fr-FR" sz="2800"/>
              <a:t> code at runtime</a:t>
            </a:r>
          </a:p>
          <a:p>
            <a:r>
              <a:rPr lang="fr-FR" sz="2800"/>
              <a:t>         to </a:t>
            </a:r>
            <a:r>
              <a:rPr lang="fr-FR" sz="2800"/>
              <a:t>serialize</a:t>
            </a:r>
            <a:r>
              <a:rPr lang="fr-FR" sz="2800"/>
              <a:t> </a:t>
            </a:r>
            <a:r>
              <a:rPr lang="fr-FR" sz="2800"/>
              <a:t>object</a:t>
            </a:r>
            <a:r>
              <a:rPr lang="fr-FR" sz="2800"/>
              <a:t> </a:t>
            </a:r>
            <a:r>
              <a:rPr lang="fr-FR" sz="2800"/>
              <a:t>into</a:t>
            </a:r>
            <a:r>
              <a:rPr lang="fr-FR" sz="2800"/>
              <a:t> a </a:t>
            </a:r>
            <a:r>
              <a:rPr lang="fr-FR" sz="2800"/>
              <a:t>much</a:t>
            </a:r>
            <a:r>
              <a:rPr lang="fr-FR" sz="2800"/>
              <a:t> efficient </a:t>
            </a:r>
            <a:r>
              <a:rPr lang="fr-FR" sz="2800"/>
              <a:t>binary</a:t>
            </a:r>
            <a:r>
              <a:rPr lang="fr-FR" sz="2800"/>
              <a:t> structure  </a:t>
            </a:r>
            <a:br>
              <a:rPr lang="fr-FR" sz="2800"/>
            </a:br>
            <a:r>
              <a:rPr lang="fr-FR" sz="2800"/>
              <a:t>  (..) </a:t>
            </a:r>
            <a:r>
              <a:rPr lang="fr-FR" sz="2800"/>
              <a:t>with</a:t>
            </a:r>
            <a:r>
              <a:rPr lang="fr-FR" sz="2800"/>
              <a:t> </a:t>
            </a:r>
            <a:r>
              <a:rPr lang="fr-FR" sz="2800"/>
              <a:t>lower</a:t>
            </a:r>
            <a:r>
              <a:rPr lang="fr-FR" sz="2800"/>
              <a:t> memory </a:t>
            </a:r>
            <a:r>
              <a:rPr lang="fr-FR" sz="2800"/>
              <a:t>footprint</a:t>
            </a:r>
            <a:r>
              <a:rPr lang="fr-FR" sz="2800"/>
              <a:t> </a:t>
            </a:r>
          </a:p>
          <a:p>
            <a:r>
              <a:rPr lang="fr-FR" sz="2800"/>
              <a:t>  (..) </a:t>
            </a:r>
            <a:r>
              <a:rPr lang="fr-FR" sz="2800"/>
              <a:t>optimized</a:t>
            </a:r>
            <a:r>
              <a:rPr lang="fr-FR" sz="2800"/>
              <a:t> for </a:t>
            </a:r>
            <a:r>
              <a:rPr lang="fr-FR" sz="2800"/>
              <a:t>processing</a:t>
            </a:r>
            <a:r>
              <a:rPr lang="fr-FR" sz="2800"/>
              <a:t> (e.g. in a </a:t>
            </a:r>
            <a:r>
              <a:rPr lang="fr-FR" sz="2800"/>
              <a:t>columnar</a:t>
            </a:r>
            <a:r>
              <a:rPr lang="fr-FR" sz="2800"/>
              <a:t> format). </a:t>
            </a:r>
          </a:p>
          <a:p>
            <a:endParaRPr lang="fr-FR" sz="2800"/>
          </a:p>
          <a:p>
            <a:endParaRPr lang="fr-FR" sz="2800"/>
          </a:p>
          <a:p>
            <a:r>
              <a:rPr lang="fr-FR" sz="2800"/>
              <a:t>To explore </a:t>
            </a:r>
            <a:r>
              <a:rPr lang="fr-FR" sz="2800"/>
              <a:t>representation</a:t>
            </a:r>
            <a:r>
              <a:rPr lang="fr-FR" sz="2800"/>
              <a:t> of data, use `</a:t>
            </a:r>
            <a:r>
              <a:rPr lang="fr-FR" sz="2800"/>
              <a:t>schema</a:t>
            </a:r>
            <a:r>
              <a:rPr lang="fr-FR" sz="2800"/>
              <a:t>` </a:t>
            </a:r>
            <a:r>
              <a:rPr lang="fr-FR" sz="2800"/>
              <a:t>function</a:t>
            </a:r>
            <a:r>
              <a:rPr lang="fr-FR" sz="2800"/>
              <a:t>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96677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Encoder&lt;T&gt;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" name="Object 3">
            <a:extLst>
              <a:ext uri="{FF2B5EF4-FFF2-40B4-BE49-F238E27FC236}">
                <a16:creationId xmlns:a16="http://schemas.microsoft.com/office/drawing/2014/main" id="{D745B209-4DC6-34E4-9717-DB4313E039D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4573271"/>
              </p:ext>
            </p:extLst>
          </p:nvPr>
        </p:nvGraphicFramePr>
        <p:xfrm>
          <a:off x="331337" y="2143932"/>
          <a:ext cx="1465715" cy="547819"/>
        </p:xfrm>
        <a:graphic>
          <a:graphicData uri="http://schemas.openxmlformats.org/presentationml/2006/ole">
            <p:oleObj xmlns:mc="http://schemas.openxmlformats.org/markup-compatibility/2006" name="Bitmap Image" r:id="rId2" imgW="3508920" imgH="1310760" progId="PBrush">
              <p:embed/>
              <p:pic>
                <p:nvPicPr>
                  <p:cNvPr id="5" name="Object 4">
                    <a:extLst>
                      <a:ext uri="{FF2B5EF4-FFF2-40B4-BE49-F238E27FC236}">
                        <a16:creationId xmlns:a16="http://schemas.microsoft.com/office/drawing/2014/main" id="{13778959-227A-780C-9CE2-A2C7CBE4C1C1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31337" y="2143932"/>
                    <a:ext cx="1465715" cy="54781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" name="Object 4">
            <a:extLst>
              <a:ext uri="{FF2B5EF4-FFF2-40B4-BE49-F238E27FC236}">
                <a16:creationId xmlns:a16="http://schemas.microsoft.com/office/drawing/2014/main" id="{57990486-BB89-C3B3-05D4-C2C8C25FC50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39088256"/>
              </p:ext>
            </p:extLst>
          </p:nvPr>
        </p:nvGraphicFramePr>
        <p:xfrm>
          <a:off x="10154324" y="4124241"/>
          <a:ext cx="1171656" cy="328418"/>
        </p:xfrm>
        <a:graphic>
          <a:graphicData uri="http://schemas.openxmlformats.org/presentationml/2006/ole">
            <p:oleObj xmlns:mc="http://schemas.openxmlformats.org/markup-compatibility/2006" name="Bitmap Image" r:id="rId4" imgW="1489680" imgH="480240" progId="PBrush">
              <p:embed/>
              <p:pic>
                <p:nvPicPr>
                  <p:cNvPr id="16" name="Object 15">
                    <a:extLst>
                      <a:ext uri="{FF2B5EF4-FFF2-40B4-BE49-F238E27FC236}">
                        <a16:creationId xmlns:a16="http://schemas.microsoft.com/office/drawing/2014/main" id="{62069821-22DF-1FAB-6B4B-99FAEA51C455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0154324" y="4124241"/>
                    <a:ext cx="1171656" cy="3284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267354" y="4008317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8888682" y="4418351"/>
            <a:ext cx="806085" cy="2670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/>
          <p:cNvSpPr/>
          <p:nvPr/>
        </p:nvSpPr>
        <p:spPr>
          <a:xfrm flipH="1">
            <a:off x="8850575" y="3961015"/>
            <a:ext cx="812799" cy="2670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8905980" y="3476181"/>
            <a:ext cx="16848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Getter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06346" y="4761983"/>
            <a:ext cx="1644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Setter Methods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0081" y="1410225"/>
            <a:ext cx="97912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Encoder = { </a:t>
            </a:r>
            <a:r>
              <a:rPr lang="fr-FR" sz="2800" b="1"/>
              <a:t>objectSerializer</a:t>
            </a:r>
            <a:r>
              <a:rPr lang="fr-FR" sz="2800"/>
              <a:t>, </a:t>
            </a:r>
            <a:r>
              <a:rPr lang="fr-FR" sz="2800" b="1"/>
              <a:t>objectDeserializer</a:t>
            </a:r>
            <a:r>
              <a:rPr lang="fr-FR" sz="2800"/>
              <a:t>: Expression, </a:t>
            </a:r>
            <a:r>
              <a:rPr lang="fr-FR" sz="2800" b="1"/>
              <a:t>class</a:t>
            </a:r>
            <a:r>
              <a:rPr lang="fr-FR" sz="2800"/>
              <a:t>}</a:t>
            </a:r>
          </a:p>
        </p:txBody>
      </p:sp>
      <p:cxnSp>
        <p:nvCxnSpPr>
          <p:cNvPr id="23" name="Straight Arrow Connector 22"/>
          <p:cNvCxnSpPr/>
          <p:nvPr/>
        </p:nvCxnSpPr>
        <p:spPr>
          <a:xfrm flipV="1">
            <a:off x="10736709" y="4638455"/>
            <a:ext cx="0" cy="49286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 flipV="1">
            <a:off x="10909429" y="4645003"/>
            <a:ext cx="0" cy="49286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11080758" y="4645003"/>
            <a:ext cx="0" cy="49286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V="1">
            <a:off x="11278498" y="4657612"/>
            <a:ext cx="0" cy="49286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946471" y="5342816"/>
            <a:ext cx="2436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field1, field2, … </a:t>
            </a:r>
            <a:r>
              <a:rPr lang="fr-FR"/>
              <a:t>fieldN</a:t>
            </a:r>
            <a:endParaRPr lang="fr-FR"/>
          </a:p>
        </p:txBody>
      </p:sp>
      <p:sp>
        <p:nvSpPr>
          <p:cNvPr id="30" name="Rectangle: Rounded Corners 29"/>
          <p:cNvSpPr/>
          <p:nvPr/>
        </p:nvSpPr>
        <p:spPr>
          <a:xfrm>
            <a:off x="2970196" y="2163215"/>
            <a:ext cx="3732614" cy="443668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: Rounded Corners 30"/>
          <p:cNvSpPr/>
          <p:nvPr/>
        </p:nvSpPr>
        <p:spPr>
          <a:xfrm>
            <a:off x="4845304" y="2917230"/>
            <a:ext cx="1781307" cy="8875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Arrow: Right 31"/>
          <p:cNvSpPr/>
          <p:nvPr/>
        </p:nvSpPr>
        <p:spPr>
          <a:xfrm>
            <a:off x="5697238" y="3432800"/>
            <a:ext cx="806085" cy="3077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Arrow: Right 32"/>
          <p:cNvSpPr/>
          <p:nvPr/>
        </p:nvSpPr>
        <p:spPr>
          <a:xfrm flipH="1">
            <a:off x="5659132" y="2975464"/>
            <a:ext cx="812799" cy="3077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TextBox 35"/>
          <p:cNvSpPr txBox="1"/>
          <p:nvPr/>
        </p:nvSpPr>
        <p:spPr>
          <a:xfrm>
            <a:off x="3647079" y="2630581"/>
            <a:ext cx="13582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fieldExpr</a:t>
            </a:r>
            <a:r>
              <a:rPr lang="fr-FR"/>
              <a:t>[1]</a:t>
            </a:r>
          </a:p>
        </p:txBody>
      </p:sp>
      <p:sp>
        <p:nvSpPr>
          <p:cNvPr id="37" name="Rectangle: Rounded Corners 36"/>
          <p:cNvSpPr/>
          <p:nvPr/>
        </p:nvSpPr>
        <p:spPr>
          <a:xfrm>
            <a:off x="4833066" y="3945280"/>
            <a:ext cx="1781307" cy="8875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Arrow: Right 37"/>
          <p:cNvSpPr/>
          <p:nvPr/>
        </p:nvSpPr>
        <p:spPr>
          <a:xfrm>
            <a:off x="5685000" y="4460850"/>
            <a:ext cx="806085" cy="3077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Arrow: Right 38"/>
          <p:cNvSpPr/>
          <p:nvPr/>
        </p:nvSpPr>
        <p:spPr>
          <a:xfrm flipH="1">
            <a:off x="5646894" y="4003514"/>
            <a:ext cx="812799" cy="3077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TextBox 39"/>
          <p:cNvSpPr txBox="1"/>
          <p:nvPr/>
        </p:nvSpPr>
        <p:spPr>
          <a:xfrm>
            <a:off x="3644304" y="3754266"/>
            <a:ext cx="12880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fieldExpr</a:t>
            </a:r>
            <a:r>
              <a:rPr lang="fr-FR"/>
              <a:t>[2]</a:t>
            </a:r>
          </a:p>
        </p:txBody>
      </p:sp>
      <p:sp>
        <p:nvSpPr>
          <p:cNvPr id="41" name="Rectangle: Rounded Corners 40"/>
          <p:cNvSpPr/>
          <p:nvPr/>
        </p:nvSpPr>
        <p:spPr>
          <a:xfrm>
            <a:off x="4833066" y="5447636"/>
            <a:ext cx="1781307" cy="8875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Arrow: Right 41"/>
          <p:cNvSpPr/>
          <p:nvPr/>
        </p:nvSpPr>
        <p:spPr>
          <a:xfrm>
            <a:off x="5685000" y="5963206"/>
            <a:ext cx="806085" cy="3077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Arrow: Right 42"/>
          <p:cNvSpPr/>
          <p:nvPr/>
        </p:nvSpPr>
        <p:spPr>
          <a:xfrm flipH="1">
            <a:off x="5646894" y="5505870"/>
            <a:ext cx="812799" cy="3077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TextBox 43"/>
          <p:cNvSpPr txBox="1"/>
          <p:nvPr/>
        </p:nvSpPr>
        <p:spPr>
          <a:xfrm>
            <a:off x="3566645" y="5373893"/>
            <a:ext cx="13354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fieldExpr</a:t>
            </a:r>
            <a:r>
              <a:rPr lang="fr-FR"/>
              <a:t>[N]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63685" y="3016454"/>
            <a:ext cx="9753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name</a:t>
            </a:r>
            <a:endParaRPr lang="fr-FR"/>
          </a:p>
          <a:p>
            <a:r>
              <a:rPr lang="fr-FR"/>
              <a:t>type</a:t>
            </a:r>
          </a:p>
        </p:txBody>
      </p:sp>
      <p:pic>
        <p:nvPicPr>
          <p:cNvPr id="46" name="Picture 2" descr="Working with Tabular Data - Matthewrenze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67217" y="4343167"/>
            <a:ext cx="1810934" cy="1591198"/>
          </a:xfrm>
          <a:prstGeom prst="rect">
            <a:avLst/>
          </a:prstGeom>
          <a:noFill/>
        </p:spPr>
      </p:pic>
      <p:cxnSp>
        <p:nvCxnSpPr>
          <p:cNvPr id="14" name="Straight Arrow Connector 13"/>
          <p:cNvCxnSpPr/>
          <p:nvPr/>
        </p:nvCxnSpPr>
        <p:spPr>
          <a:xfrm flipH="1" flipV="1">
            <a:off x="773886" y="4853241"/>
            <a:ext cx="589271" cy="953572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91814" y="6378733"/>
            <a:ext cx="2133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colValues</a:t>
            </a:r>
            <a:r>
              <a:rPr lang="fr-FR"/>
              <a:t>[ </a:t>
            </a:r>
            <a:r>
              <a:rPr lang="fr-FR"/>
              <a:t>rowIndex</a:t>
            </a:r>
            <a:r>
              <a:rPr lang="fr-FR"/>
              <a:t>]</a:t>
            </a:r>
          </a:p>
        </p:txBody>
      </p:sp>
      <p:cxnSp>
        <p:nvCxnSpPr>
          <p:cNvPr id="19" name="Straight Arrow Connector 18"/>
          <p:cNvCxnSpPr/>
          <p:nvPr/>
        </p:nvCxnSpPr>
        <p:spPr>
          <a:xfrm flipH="1" flipV="1">
            <a:off x="789126" y="5147881"/>
            <a:ext cx="589271" cy="953572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flipH="1" flipV="1">
            <a:off x="794206" y="5462841"/>
            <a:ext cx="589271" cy="953572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/>
          <p:nvPr/>
        </p:nvCxnSpPr>
        <p:spPr>
          <a:xfrm flipV="1">
            <a:off x="614071" y="2419267"/>
            <a:ext cx="0" cy="567986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V="1">
            <a:off x="1019080" y="2431373"/>
            <a:ext cx="0" cy="567986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V="1">
            <a:off x="1455580" y="2441239"/>
            <a:ext cx="0" cy="567986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6031" y="3029712"/>
            <a:ext cx="28955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row.getAt</a:t>
            </a:r>
            <a:r>
              <a:rPr lang="fr-FR"/>
              <a:t>(</a:t>
            </a:r>
            <a:r>
              <a:rPr lang="fr-FR"/>
              <a:t>colIndex</a:t>
            </a:r>
            <a:r>
              <a:rPr lang="fr-FR"/>
              <a:t>)</a:t>
            </a:r>
          </a:p>
          <a:p>
            <a:r>
              <a:rPr lang="fr-FR"/>
              <a:t>       .</a:t>
            </a:r>
            <a:r>
              <a:rPr lang="fr-FR"/>
              <a:t>setAt</a:t>
            </a:r>
            <a:r>
              <a:rPr lang="fr-FR"/>
              <a:t>(</a:t>
            </a:r>
            <a:r>
              <a:rPr lang="fr-FR"/>
              <a:t>colIndex</a:t>
            </a:r>
            <a:r>
              <a:rPr lang="fr-FR"/>
              <a:t>, value)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0505" y="4060004"/>
            <a:ext cx="1846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Columnar</a:t>
            </a:r>
            <a:r>
              <a:rPr lang="fr-FR"/>
              <a:t> </a:t>
            </a:r>
            <a:r>
              <a:rPr lang="fr-FR"/>
              <a:t>storage</a:t>
            </a:r>
            <a:endParaRPr lang="fr-FR"/>
          </a:p>
        </p:txBody>
      </p:sp>
      <p:sp>
        <p:nvSpPr>
          <p:cNvPr id="53" name="TextBox 52"/>
          <p:cNvSpPr txBox="1"/>
          <p:nvPr/>
        </p:nvSpPr>
        <p:spPr>
          <a:xfrm>
            <a:off x="359110" y="1516884"/>
            <a:ext cx="15386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Row </a:t>
            </a:r>
            <a:r>
              <a:rPr lang="fr-FR"/>
              <a:t>storage</a:t>
            </a:r>
            <a:endParaRPr lang="fr-FR"/>
          </a:p>
          <a:p>
            <a:r>
              <a:rPr lang="fr-FR"/>
              <a:t>Dataset</a:t>
            </a:r>
            <a:r>
              <a:rPr lang="fr-FR"/>
              <a:t>&lt;Row&gt;</a:t>
            </a:r>
          </a:p>
        </p:txBody>
      </p:sp>
      <p:sp>
        <p:nvSpPr>
          <p:cNvPr id="54" name="Arrow: Chevron 53"/>
          <p:cNvSpPr/>
          <p:nvPr/>
        </p:nvSpPr>
        <p:spPr>
          <a:xfrm>
            <a:off x="7158413" y="4708144"/>
            <a:ext cx="442844" cy="474681"/>
          </a:xfrm>
          <a:prstGeom prst="chevr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55" name="Arrow: Chevron 54"/>
          <p:cNvSpPr/>
          <p:nvPr/>
        </p:nvSpPr>
        <p:spPr>
          <a:xfrm>
            <a:off x="7509521" y="4733120"/>
            <a:ext cx="442844" cy="474681"/>
          </a:xfrm>
          <a:prstGeom prst="chevr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56" name="Arrow: Chevron 55"/>
          <p:cNvSpPr/>
          <p:nvPr/>
        </p:nvSpPr>
        <p:spPr>
          <a:xfrm rot="10800000">
            <a:off x="7498257" y="3707939"/>
            <a:ext cx="442844" cy="474681"/>
          </a:xfrm>
          <a:prstGeom prst="chevr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57" name="Arrow: Chevron 56"/>
          <p:cNvSpPr/>
          <p:nvPr/>
        </p:nvSpPr>
        <p:spPr>
          <a:xfrm rot="10800000">
            <a:off x="7165717" y="3700922"/>
            <a:ext cx="442844" cy="474681"/>
          </a:xfrm>
          <a:prstGeom prst="chevr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7059675" y="2508110"/>
            <a:ext cx="169027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Convert</a:t>
            </a:r>
            <a:r>
              <a:rPr lang="fr-FR"/>
              <a:t> </a:t>
            </a:r>
          </a:p>
          <a:p>
            <a:r>
              <a:rPr lang="fr-FR"/>
              <a:t>to Spark </a:t>
            </a:r>
          </a:p>
          <a:p>
            <a:r>
              <a:rPr lang="fr-FR"/>
              <a:t>« Type System »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75414" y="2239281"/>
            <a:ext cx="21455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/>
              <a:t>CreateNamedStruct</a:t>
            </a:r>
            <a:endParaRPr lang="fr-F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4962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« Type System »</a:t>
            </a:r>
            <a:br>
              <a:rPr lang="fr-FR"/>
            </a:br>
            <a:r>
              <a:rPr lang="fr-FR"/>
              <a:t>DataTypes</a:t>
            </a:r>
            <a:r>
              <a:rPr lang="fr-FR"/>
              <a:t> … </a:t>
            </a:r>
          </a:p>
        </p:txBody>
      </p:sp>
      <p:sp>
        <p:nvSpPr>
          <p:cNvPr id="4" name="Rectangle 3"/>
          <p:cNvSpPr/>
          <p:nvPr/>
        </p:nvSpPr>
        <p:spPr>
          <a:xfrm rot="17029166">
            <a:off x="-572230" y="917309"/>
            <a:ext cx="2334165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Appendix</a:t>
            </a:r>
            <a:endParaRPr lang="en-US" sz="5400" b="1" cap="none" spc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4064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Internal</a:t>
            </a:r>
            <a:r>
              <a:rPr lang="fr-FR"/>
              <a:t> Spark « Type System »</a:t>
            </a:r>
          </a:p>
        </p:txBody>
      </p:sp>
      <p:cxnSp>
        <p:nvCxnSpPr>
          <p:cNvPr id="4" name="Straight Arrow Connector 3"/>
          <p:cNvCxnSpPr/>
          <p:nvPr/>
        </p:nvCxnSpPr>
        <p:spPr>
          <a:xfrm flipV="1">
            <a:off x="4895299" y="2074730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 flipV="1">
            <a:off x="6678360" y="2074730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V="1">
            <a:off x="8524365" y="2074730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955503" y="1742484"/>
            <a:ext cx="397866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fr-FR" sz="2400"/>
              <a:t>…</a:t>
            </a:r>
          </a:p>
        </p:txBody>
      </p:sp>
      <p:cxnSp>
        <p:nvCxnSpPr>
          <p:cNvPr id="15" name="Straight Arrow Connector 14"/>
          <p:cNvCxnSpPr/>
          <p:nvPr/>
        </p:nvCxnSpPr>
        <p:spPr>
          <a:xfrm flipV="1">
            <a:off x="10719417" y="2074730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flipV="1">
            <a:off x="2572611" y="2088024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V="1">
            <a:off x="934064" y="2088024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934064" y="2074450"/>
            <a:ext cx="995044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6316" y="2617658"/>
            <a:ext cx="14571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NullType</a:t>
            </a:r>
            <a:endParaRPr lang="fr-FR" sz="2800"/>
          </a:p>
        </p:txBody>
      </p:sp>
      <p:cxnSp>
        <p:nvCxnSpPr>
          <p:cNvPr id="21" name="Straight Arrow Connector 20"/>
          <p:cNvCxnSpPr/>
          <p:nvPr/>
        </p:nvCxnSpPr>
        <p:spPr>
          <a:xfrm flipV="1">
            <a:off x="2569703" y="3232994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1499217" y="3825839"/>
            <a:ext cx="327926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1528916" y="3829896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10775" y="4326787"/>
            <a:ext cx="20663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BooleanType</a:t>
            </a:r>
            <a:endParaRPr lang="fr-FR" sz="2800"/>
          </a:p>
        </p:txBody>
      </p:sp>
      <p:sp>
        <p:nvSpPr>
          <p:cNvPr id="28" name="TextBox 27"/>
          <p:cNvSpPr txBox="1"/>
          <p:nvPr/>
        </p:nvSpPr>
        <p:spPr>
          <a:xfrm>
            <a:off x="5043058" y="3529416"/>
            <a:ext cx="397866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fr-FR" sz="2400"/>
              <a:t>…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 flipV="1">
            <a:off x="2408407" y="3854535"/>
            <a:ext cx="11983" cy="95810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V="1">
            <a:off x="3400734" y="3858791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 flipV="1">
            <a:off x="4381079" y="3840934"/>
            <a:ext cx="0" cy="971706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5744039" y="1646754"/>
            <a:ext cx="10798" cy="441270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Left Brace 37"/>
          <p:cNvSpPr/>
          <p:nvPr/>
        </p:nvSpPr>
        <p:spPr>
          <a:xfrm rot="16200000">
            <a:off x="2315102" y="3617254"/>
            <a:ext cx="524410" cy="4633034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Left Brace 39"/>
          <p:cNvSpPr/>
          <p:nvPr/>
        </p:nvSpPr>
        <p:spPr>
          <a:xfrm rot="16200000">
            <a:off x="8262160" y="2528926"/>
            <a:ext cx="524410" cy="6847704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/>
          <p:cNvSpPr txBox="1"/>
          <p:nvPr/>
        </p:nvSpPr>
        <p:spPr>
          <a:xfrm>
            <a:off x="1055401" y="6149881"/>
            <a:ext cx="38384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Simple</a:t>
            </a:r>
            <a:r>
              <a:rPr lang="fr-FR" sz="2800"/>
              <a:t> Value (like in SQL)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7080" y="6157255"/>
            <a:ext cx="46387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Composite</a:t>
            </a:r>
            <a:r>
              <a:rPr lang="fr-FR" sz="2800"/>
              <a:t> Value (like in JSON)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03176" y="2610380"/>
            <a:ext cx="18982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AtomicType</a:t>
            </a:r>
            <a:endParaRPr lang="fr-FR" sz="2800"/>
          </a:p>
        </p:txBody>
      </p:sp>
      <p:sp>
        <p:nvSpPr>
          <p:cNvPr id="44" name="TextBox 43"/>
          <p:cNvSpPr txBox="1"/>
          <p:nvPr/>
        </p:nvSpPr>
        <p:spPr>
          <a:xfrm>
            <a:off x="3931045" y="2587757"/>
            <a:ext cx="17633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Struct</a:t>
            </a:r>
            <a:r>
              <a:rPr lang="fr-FR" sz="2800"/>
              <a:t>Type</a:t>
            </a:r>
            <a:endParaRPr lang="fr-FR" sz="2800"/>
          </a:p>
        </p:txBody>
      </p:sp>
      <p:sp>
        <p:nvSpPr>
          <p:cNvPr id="45" name="TextBox 44"/>
          <p:cNvSpPr txBox="1"/>
          <p:nvPr/>
        </p:nvSpPr>
        <p:spPr>
          <a:xfrm>
            <a:off x="5954036" y="2560140"/>
            <a:ext cx="1680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Array</a:t>
            </a:r>
            <a:r>
              <a:rPr lang="fr-FR" sz="2800"/>
              <a:t>Type</a:t>
            </a:r>
            <a:endParaRPr lang="fr-FR" sz="2800"/>
          </a:p>
        </p:txBody>
      </p:sp>
      <p:sp>
        <p:nvSpPr>
          <p:cNvPr id="46" name="TextBox 45"/>
          <p:cNvSpPr txBox="1"/>
          <p:nvPr/>
        </p:nvSpPr>
        <p:spPr>
          <a:xfrm>
            <a:off x="7716811" y="2569183"/>
            <a:ext cx="15565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Map</a:t>
            </a:r>
            <a:r>
              <a:rPr lang="fr-FR" sz="2800"/>
              <a:t>Type</a:t>
            </a:r>
            <a:endParaRPr lang="fr-FR" sz="2800"/>
          </a:p>
        </p:txBody>
      </p:sp>
      <p:sp>
        <p:nvSpPr>
          <p:cNvPr id="47" name="TextBox 46"/>
          <p:cNvSpPr txBox="1"/>
          <p:nvPr/>
        </p:nvSpPr>
        <p:spPr>
          <a:xfrm>
            <a:off x="9319963" y="2563776"/>
            <a:ext cx="26899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UserDefinedType</a:t>
            </a:r>
            <a:endParaRPr lang="fr-FR" sz="2800"/>
          </a:p>
        </p:txBody>
      </p:sp>
      <p:sp>
        <p:nvSpPr>
          <p:cNvPr id="48" name="TextBox 47"/>
          <p:cNvSpPr txBox="1"/>
          <p:nvPr/>
        </p:nvSpPr>
        <p:spPr>
          <a:xfrm>
            <a:off x="1375239" y="4855656"/>
            <a:ext cx="21176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NumericType</a:t>
            </a:r>
            <a:endParaRPr lang="fr-FR" sz="2800"/>
          </a:p>
        </p:txBody>
      </p:sp>
      <p:sp>
        <p:nvSpPr>
          <p:cNvPr id="49" name="TextBox 48"/>
          <p:cNvSpPr txBox="1"/>
          <p:nvPr/>
        </p:nvSpPr>
        <p:spPr>
          <a:xfrm>
            <a:off x="2500690" y="4357879"/>
            <a:ext cx="17216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StringType</a:t>
            </a:r>
            <a:endParaRPr lang="fr-FR" sz="2800"/>
          </a:p>
        </p:txBody>
      </p:sp>
      <p:sp>
        <p:nvSpPr>
          <p:cNvPr id="50" name="TextBox 49"/>
          <p:cNvSpPr txBox="1"/>
          <p:nvPr/>
        </p:nvSpPr>
        <p:spPr>
          <a:xfrm>
            <a:off x="3667566" y="4870222"/>
            <a:ext cx="1555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DateType</a:t>
            </a:r>
            <a:endParaRPr lang="fr-FR" sz="2800"/>
          </a:p>
        </p:txBody>
      </p:sp>
      <p:sp>
        <p:nvSpPr>
          <p:cNvPr id="51" name="TextBox 50"/>
          <p:cNvSpPr txBox="1"/>
          <p:nvPr/>
        </p:nvSpPr>
        <p:spPr>
          <a:xfrm>
            <a:off x="4803111" y="1016574"/>
            <a:ext cx="19379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/>
              <a:t>DataType</a:t>
            </a:r>
            <a:endParaRPr lang="fr-FR" sz="3600"/>
          </a:p>
        </p:txBody>
      </p:sp>
      <p:sp>
        <p:nvSpPr>
          <p:cNvPr id="52" name="Rectangle 51"/>
          <p:cNvSpPr/>
          <p:nvPr/>
        </p:nvSpPr>
        <p:spPr>
          <a:xfrm rot="17029166">
            <a:off x="-572230" y="917309"/>
            <a:ext cx="2334165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Appendix</a:t>
            </a:r>
            <a:endParaRPr lang="en-US" sz="5400" b="1" cap="none" spc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061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</a:t>
            </a:r>
            <a:r>
              <a:rPr lang="fr-FR"/>
              <a:t>DataType</a:t>
            </a:r>
            <a:endParaRPr lang="fr-FR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455767" y="1096331"/>
            <a:ext cx="5658736" cy="569010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 rot="17029166">
            <a:off x="-572230" y="917309"/>
            <a:ext cx="2334165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Appendix</a:t>
            </a:r>
            <a:endParaRPr lang="en-US" sz="5400" b="1" cap="none" spc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Hive</a:t>
            </a:r>
            <a:r>
              <a:rPr lang="fr-FR"/>
              <a:t> - Spark SQL supports </a:t>
            </a:r>
            <a:r>
              <a:rPr lang="fr-FR"/>
              <a:t>Struct</a:t>
            </a:r>
            <a:r>
              <a:rPr lang="fr-FR"/>
              <a:t>, List, </a:t>
            </a:r>
            <a:r>
              <a:rPr lang="fr-FR"/>
              <a:t>Map</a:t>
            </a:r>
            <a:r>
              <a:rPr lang="fr-FR"/>
              <a:t>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4794" y="1954161"/>
            <a:ext cx="11145743" cy="3293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Example:</a:t>
            </a:r>
          </a:p>
          <a:p>
            <a:endParaRPr lang="fr-FR" sz="2400"/>
          </a:p>
          <a:p>
            <a:r>
              <a:rPr lang="fr-FR" sz="2400"/>
              <a:t>CREATE  EXTERNAL  TABLE  `</a:t>
            </a:r>
            <a:r>
              <a:rPr lang="fr-FR" sz="2400"/>
              <a:t>student</a:t>
            </a:r>
            <a:r>
              <a:rPr lang="fr-FR" sz="2400"/>
              <a:t>` (</a:t>
            </a:r>
          </a:p>
          <a:p>
            <a:r>
              <a:rPr lang="fr-FR" sz="2400"/>
              <a:t>    </a:t>
            </a:r>
            <a:r>
              <a:rPr lang="fr-FR" sz="2400"/>
              <a:t>firstName</a:t>
            </a:r>
            <a:r>
              <a:rPr lang="fr-FR" sz="2400"/>
              <a:t> string,  </a:t>
            </a:r>
            <a:r>
              <a:rPr lang="fr-FR" sz="2400"/>
              <a:t>lastName</a:t>
            </a:r>
            <a:r>
              <a:rPr lang="fr-FR" sz="2400"/>
              <a:t> string,</a:t>
            </a:r>
          </a:p>
          <a:p>
            <a:endParaRPr lang="fr-FR" sz="2400"/>
          </a:p>
          <a:p>
            <a:r>
              <a:rPr lang="fr-FR" sz="2400"/>
              <a:t>    </a:t>
            </a:r>
            <a:r>
              <a:rPr lang="fr-FR" sz="2400"/>
              <a:t>practicedSports</a:t>
            </a:r>
            <a:r>
              <a:rPr lang="fr-FR" sz="2400"/>
              <a:t> </a:t>
            </a:r>
            <a:r>
              <a:rPr lang="fr-FR" sz="3200" b="1"/>
              <a:t>array</a:t>
            </a:r>
            <a:r>
              <a:rPr lang="fr-FR" sz="3200" b="1"/>
              <a:t>&lt; </a:t>
            </a:r>
            <a:r>
              <a:rPr lang="fr-FR" sz="3200" b="1"/>
              <a:t>named_struct</a:t>
            </a:r>
            <a:r>
              <a:rPr lang="fr-FR" sz="3200" b="1"/>
              <a:t>&lt; </a:t>
            </a:r>
            <a:r>
              <a:rPr lang="fr-FR" sz="2400"/>
              <a:t>name</a:t>
            </a:r>
            <a:r>
              <a:rPr lang="fr-FR" sz="2400"/>
              <a:t>: string, </a:t>
            </a:r>
            <a:r>
              <a:rPr lang="fr-FR" sz="2400"/>
              <a:t>numberYear</a:t>
            </a:r>
            <a:r>
              <a:rPr lang="fr-FR" sz="2400"/>
              <a:t>: </a:t>
            </a:r>
            <a:r>
              <a:rPr lang="fr-FR" sz="2400"/>
              <a:t>int</a:t>
            </a:r>
            <a:r>
              <a:rPr lang="fr-FR" sz="3200"/>
              <a:t> </a:t>
            </a:r>
            <a:r>
              <a:rPr lang="fr-FR" sz="3200" b="1"/>
              <a:t>&gt; &gt;</a:t>
            </a:r>
            <a:r>
              <a:rPr lang="fr-FR" sz="2400"/>
              <a:t>,</a:t>
            </a:r>
          </a:p>
          <a:p>
            <a:r>
              <a:rPr lang="fr-FR" sz="2400"/>
              <a:t>    </a:t>
            </a:r>
            <a:r>
              <a:rPr lang="fr-FR" sz="2400"/>
              <a:t>diploma</a:t>
            </a:r>
            <a:r>
              <a:rPr lang="fr-FR" sz="2400"/>
              <a:t> </a:t>
            </a:r>
            <a:r>
              <a:rPr lang="fr-FR" sz="3200" b="1"/>
              <a:t>map</a:t>
            </a:r>
            <a:r>
              <a:rPr lang="fr-FR" sz="3200" b="1"/>
              <a:t>&lt;</a:t>
            </a:r>
            <a:r>
              <a:rPr lang="fr-FR" sz="2400"/>
              <a:t>string, </a:t>
            </a:r>
            <a:r>
              <a:rPr lang="fr-FR" sz="3200" b="1"/>
              <a:t>named_struct</a:t>
            </a:r>
            <a:r>
              <a:rPr lang="fr-FR" sz="3200" b="1"/>
              <a:t>&lt;</a:t>
            </a:r>
            <a:r>
              <a:rPr lang="fr-FR" sz="2400"/>
              <a:t>mention: string, </a:t>
            </a:r>
            <a:r>
              <a:rPr lang="fr-FR" sz="2400"/>
              <a:t>obtentionDate</a:t>
            </a:r>
            <a:r>
              <a:rPr lang="fr-FR" sz="2400"/>
              <a:t>: Date</a:t>
            </a:r>
            <a:r>
              <a:rPr lang="fr-FR" sz="3200"/>
              <a:t> </a:t>
            </a:r>
            <a:r>
              <a:rPr lang="fr-FR" sz="3200" b="1"/>
              <a:t>&gt; &gt;</a:t>
            </a:r>
          </a:p>
          <a:p>
            <a:r>
              <a:rPr lang="fr-FR" sz="2400"/>
              <a:t>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885950"/>
            <a:ext cx="10515600" cy="219456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class </a:t>
            </a:r>
            <a:r>
              <a:rPr lang="fr-FR"/>
              <a:t>LogicalPlan</a:t>
            </a:r>
            <a:r>
              <a:rPr lang="fr-FR"/>
              <a:t> ??</a:t>
            </a:r>
            <a:br>
              <a:rPr lang="fr-FR"/>
            </a:br>
            <a:r>
              <a:rPr lang="fr-FR"/>
              <a:t>class </a:t>
            </a:r>
            <a:r>
              <a:rPr lang="fr-FR"/>
              <a:t>PhysicalPlan</a:t>
            </a:r>
            <a:r>
              <a:rPr lang="fr-FR"/>
              <a:t> ??</a:t>
            </a:r>
            <a:br>
              <a:rPr lang="fr-FR"/>
            </a:br>
            <a:r>
              <a:rPr lang="fr-FR"/>
              <a:t>class Expression ??</a:t>
            </a:r>
            <a:br>
              <a:rPr lang="fr-FR"/>
            </a:br>
            <a:endParaRPr lang="fr-F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073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Encoder .. </a:t>
            </a:r>
            <a:r>
              <a:rPr lang="fr-FR"/>
              <a:t>Internal</a:t>
            </a:r>
            <a:r>
              <a:rPr lang="fr-FR"/>
              <a:t> Expression </a:t>
            </a:r>
            <a:r>
              <a:rPr lang="fr-FR"/>
              <a:t>with</a:t>
            </a:r>
            <a:r>
              <a:rPr lang="fr-FR"/>
              <a:t> </a:t>
            </a:r>
            <a:r>
              <a:rPr lang="fr-FR"/>
              <a:t>DataType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3806736" y="2689286"/>
            <a:ext cx="32894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abstract class </a:t>
            </a:r>
            <a:r>
              <a:rPr lang="fr-FR" sz="2400" b="1"/>
              <a:t>Expression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867" y="1513522"/>
            <a:ext cx="894489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/>
              <a:t>Expression abstract class AST ( Abstract </a:t>
            </a:r>
            <a:r>
              <a:rPr lang="fr-FR" sz="2800"/>
              <a:t>Syntactic</a:t>
            </a:r>
            <a:r>
              <a:rPr lang="fr-FR" sz="2800"/>
              <a:t> </a:t>
            </a:r>
            <a:r>
              <a:rPr lang="fr-FR" sz="2800"/>
              <a:t>Tree</a:t>
            </a:r>
            <a:r>
              <a:rPr lang="fr-FR" sz="2800"/>
              <a:t> )  </a:t>
            </a:r>
          </a:p>
          <a:p>
            <a:r>
              <a:rPr lang="fr-FR" sz="2800"/>
              <a:t>for </a:t>
            </a:r>
            <a:r>
              <a:rPr lang="fr-FR" sz="2800"/>
              <a:t>SQL</a:t>
            </a:r>
            <a:r>
              <a:rPr lang="fr-FR" sz="2800"/>
              <a:t> / </a:t>
            </a:r>
            <a:r>
              <a:rPr lang="fr-FR" sz="2800"/>
              <a:t>CodeGenerator</a:t>
            </a:r>
            <a:r>
              <a:rPr lang="fr-FR" sz="2800"/>
              <a:t> /  Java Getter-Setter</a:t>
            </a:r>
          </a:p>
        </p:txBody>
      </p:sp>
      <p:cxnSp>
        <p:nvCxnSpPr>
          <p:cNvPr id="8" name="Straight Arrow Connector 7"/>
          <p:cNvCxnSpPr>
            <a:endCxn id="4" idx="2"/>
          </p:cNvCxnSpPr>
          <p:nvPr/>
        </p:nvCxnSpPr>
        <p:spPr>
          <a:xfrm flipV="1">
            <a:off x="5450359" y="3150951"/>
            <a:ext cx="1090" cy="59284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227008" y="4336641"/>
            <a:ext cx="1579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LeafExpression</a:t>
            </a:r>
            <a:endParaRPr lang="fr-FR"/>
          </a:p>
        </p:txBody>
      </p:sp>
      <p:cxnSp>
        <p:nvCxnSpPr>
          <p:cNvPr id="10" name="Straight Arrow Connector 9"/>
          <p:cNvCxnSpPr/>
          <p:nvPr/>
        </p:nvCxnSpPr>
        <p:spPr>
          <a:xfrm flipV="1">
            <a:off x="1884515" y="3743795"/>
            <a:ext cx="1" cy="59284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2955001" y="3743795"/>
            <a:ext cx="1" cy="59284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916967" y="4349091"/>
            <a:ext cx="1752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UnaryExpression</a:t>
            </a:r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5867402" y="4361984"/>
            <a:ext cx="178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BinaryExpression</a:t>
            </a:r>
            <a:endParaRPr lang="fr-FR"/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4647994" y="3743795"/>
            <a:ext cx="1" cy="59284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6464306" y="3743795"/>
            <a:ext cx="1" cy="59284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1863011" y="3743796"/>
            <a:ext cx="995044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331525" y="4361984"/>
            <a:ext cx="764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Literal</a:t>
            </a:r>
            <a:endParaRPr lang="fr-FR"/>
          </a:p>
        </p:txBody>
      </p:sp>
      <p:cxnSp>
        <p:nvCxnSpPr>
          <p:cNvPr id="19" name="Straight Arrow Connector 18"/>
          <p:cNvCxnSpPr/>
          <p:nvPr/>
        </p:nvCxnSpPr>
        <p:spPr>
          <a:xfrm flipV="1">
            <a:off x="2955002" y="4731316"/>
            <a:ext cx="0" cy="42095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531604" y="5152267"/>
            <a:ext cx="84577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flipV="1">
            <a:off x="2531605" y="5167638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 flipV="1">
            <a:off x="2860985" y="5167637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3138746" y="5167637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V="1">
            <a:off x="4641047" y="4715946"/>
            <a:ext cx="0" cy="42095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4217649" y="5136897"/>
            <a:ext cx="84577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V="1">
            <a:off x="4217650" y="5152268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V="1">
            <a:off x="4547030" y="5152267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 flipV="1">
            <a:off x="4824791" y="5152267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 flipV="1">
            <a:off x="6482137" y="4731316"/>
            <a:ext cx="0" cy="42095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6058739" y="5152267"/>
            <a:ext cx="84577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V="1">
            <a:off x="6058740" y="5167638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6388120" y="5167637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6665881" y="5167637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976123" y="5482914"/>
            <a:ext cx="13563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(</a:t>
            </a:r>
            <a:r>
              <a:rPr lang="fr-FR"/>
              <a:t>Named</a:t>
            </a:r>
            <a:r>
              <a:rPr lang="fr-FR"/>
              <a:t>)</a:t>
            </a:r>
          </a:p>
          <a:p>
            <a:r>
              <a:rPr lang="fr-FR"/>
              <a:t>Attr</a:t>
            </a:r>
            <a:r>
              <a:rPr lang="fr-FR"/>
              <a:t>, Alias, 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38655" y="5588587"/>
            <a:ext cx="29113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+, -, *, ==, !=, &lt;=, &gt;=, LIKE, … </a:t>
            </a:r>
          </a:p>
          <a:p>
            <a:r>
              <a:rPr lang="fr-FR"/>
              <a:t>AND, OR,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06736" y="5601480"/>
            <a:ext cx="1393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-, Not, new ..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2756395" y="2949677"/>
            <a:ext cx="906865" cy="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279201" y="2712153"/>
            <a:ext cx="13938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DataType</a:t>
            </a:r>
            <a:endParaRPr lang="fr-FR" sz="2400" b="1"/>
          </a:p>
        </p:txBody>
      </p:sp>
      <p:cxnSp>
        <p:nvCxnSpPr>
          <p:cNvPr id="44" name="Straight Arrow Connector 43"/>
          <p:cNvCxnSpPr/>
          <p:nvPr/>
        </p:nvCxnSpPr>
        <p:spPr>
          <a:xfrm flipV="1">
            <a:off x="8561102" y="3743795"/>
            <a:ext cx="1" cy="59284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 flipV="1">
            <a:off x="9534829" y="3743795"/>
            <a:ext cx="1" cy="59284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V="1">
            <a:off x="10541994" y="3743795"/>
            <a:ext cx="1" cy="59284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848295" y="4439680"/>
            <a:ext cx="2039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CreateNamedStruct</a:t>
            </a:r>
            <a:endParaRPr lang="fr-FR"/>
          </a:p>
        </p:txBody>
      </p:sp>
      <p:sp>
        <p:nvSpPr>
          <p:cNvPr id="48" name="TextBox 47"/>
          <p:cNvSpPr txBox="1"/>
          <p:nvPr/>
        </p:nvSpPr>
        <p:spPr>
          <a:xfrm>
            <a:off x="9023860" y="4767565"/>
            <a:ext cx="1298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CreateArray</a:t>
            </a:r>
            <a:endParaRPr lang="fr-FR"/>
          </a:p>
        </p:txBody>
      </p:sp>
      <p:sp>
        <p:nvSpPr>
          <p:cNvPr id="49" name="TextBox 48"/>
          <p:cNvSpPr txBox="1"/>
          <p:nvPr/>
        </p:nvSpPr>
        <p:spPr>
          <a:xfrm>
            <a:off x="9927691" y="5152267"/>
            <a:ext cx="1228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CreateMap</a:t>
            </a:r>
            <a:endParaRPr lang="fr-FR"/>
          </a:p>
        </p:txBody>
      </p:sp>
      <p:sp>
        <p:nvSpPr>
          <p:cNvPr id="50" name="TextBox 49"/>
          <p:cNvSpPr txBox="1"/>
          <p:nvPr/>
        </p:nvSpPr>
        <p:spPr>
          <a:xfrm>
            <a:off x="10191728" y="4399314"/>
            <a:ext cx="1358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InitJavaBean</a:t>
            </a:r>
            <a:endParaRPr lang="fr-FR"/>
          </a:p>
        </p:txBody>
      </p:sp>
      <p:sp>
        <p:nvSpPr>
          <p:cNvPr id="51" name="TextBox 50"/>
          <p:cNvSpPr txBox="1"/>
          <p:nvPr/>
        </p:nvSpPr>
        <p:spPr>
          <a:xfrm>
            <a:off x="11444748" y="458398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…</a:t>
            </a:r>
          </a:p>
        </p:txBody>
      </p:sp>
      <p:cxnSp>
        <p:nvCxnSpPr>
          <p:cNvPr id="52" name="Straight Arrow Connector 51"/>
          <p:cNvCxnSpPr/>
          <p:nvPr/>
        </p:nvCxnSpPr>
        <p:spPr>
          <a:xfrm flipV="1">
            <a:off x="11021189" y="3743795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V="1">
            <a:off x="11350569" y="3743795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11628330" y="3743795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 rot="17029166">
            <a:off x="-572230" y="917309"/>
            <a:ext cx="2334165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Appendix</a:t>
            </a:r>
            <a:endParaRPr lang="en-US" sz="5400" b="1" cap="none" spc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Expression 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2192" y="2005781"/>
            <a:ext cx="807951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Complex</a:t>
            </a:r>
            <a:r>
              <a:rPr lang="fr-FR" sz="2800"/>
              <a:t> …  INTERNAL  …  </a:t>
            </a:r>
          </a:p>
          <a:p>
            <a:r>
              <a:rPr lang="fr-FR" sz="2800"/>
              <a:t>( not </a:t>
            </a:r>
            <a:r>
              <a:rPr lang="fr-FR" sz="2800"/>
              <a:t>need</a:t>
            </a:r>
            <a:r>
              <a:rPr lang="fr-FR" sz="2800"/>
              <a:t> to </a:t>
            </a:r>
            <a:r>
              <a:rPr lang="fr-FR" sz="2800"/>
              <a:t>understand</a:t>
            </a:r>
            <a:r>
              <a:rPr lang="fr-FR" sz="2800"/>
              <a:t>, to use Spark)</a:t>
            </a:r>
          </a:p>
          <a:p>
            <a:endParaRPr lang="fr-FR" sz="2800"/>
          </a:p>
          <a:p>
            <a:r>
              <a:rPr lang="fr-FR" sz="2800"/>
              <a:t>Looks like a « </a:t>
            </a:r>
            <a:r>
              <a:rPr lang="fr-FR" sz="2800" b="1"/>
              <a:t>SQL Compiler </a:t>
            </a:r>
            <a:r>
              <a:rPr lang="fr-FR" sz="2800"/>
              <a:t>»  </a:t>
            </a:r>
          </a:p>
          <a:p>
            <a:br>
              <a:rPr lang="fr-FR" sz="2800"/>
            </a:br>
            <a:r>
              <a:rPr lang="fr-FR" sz="2800"/>
              <a:t>… support </a:t>
            </a:r>
            <a:r>
              <a:rPr lang="fr-FR" sz="2800" b="1"/>
              <a:t>NOT ONLY </a:t>
            </a:r>
            <a:r>
              <a:rPr lang="fr-FR" sz="2800" b="1"/>
              <a:t>SQL</a:t>
            </a:r>
            <a:r>
              <a:rPr lang="fr-FR" sz="2800" b="1"/>
              <a:t> </a:t>
            </a:r>
            <a:r>
              <a:rPr lang="fr-FR" sz="2800" b="1"/>
              <a:t>literal</a:t>
            </a:r>
            <a:r>
              <a:rPr lang="fr-FR" sz="2800" b="1"/>
              <a:t> values</a:t>
            </a:r>
            <a:r>
              <a:rPr lang="fr-FR" sz="2800"/>
              <a:t>,</a:t>
            </a:r>
          </a:p>
          <a:p>
            <a:r>
              <a:rPr lang="fr-FR" sz="2800"/>
              <a:t>     but </a:t>
            </a:r>
            <a:r>
              <a:rPr lang="fr-FR" sz="2800"/>
              <a:t>also</a:t>
            </a:r>
            <a:r>
              <a:rPr lang="fr-FR" sz="2800"/>
              <a:t> </a:t>
            </a:r>
            <a:r>
              <a:rPr lang="fr-FR" sz="2800" b="1"/>
              <a:t>NamedStruct</a:t>
            </a:r>
            <a:r>
              <a:rPr lang="fr-FR" sz="2800" b="1"/>
              <a:t>, </a:t>
            </a:r>
            <a:r>
              <a:rPr lang="fr-FR" sz="2800" b="1"/>
              <a:t>Array</a:t>
            </a:r>
            <a:r>
              <a:rPr lang="fr-FR" sz="2800" b="1"/>
              <a:t>, </a:t>
            </a:r>
            <a:r>
              <a:rPr lang="fr-FR" sz="2800" b="1"/>
              <a:t>Map</a:t>
            </a:r>
            <a:r>
              <a:rPr lang="fr-FR" sz="2800" b="1"/>
              <a:t>, Java </a:t>
            </a:r>
            <a:r>
              <a:rPr lang="fr-FR" sz="2800" b="1"/>
              <a:t>Objects</a:t>
            </a:r>
            <a:r>
              <a:rPr lang="fr-FR" sz="2800" b="1"/>
              <a:t> </a:t>
            </a:r>
            <a:r>
              <a:rPr lang="fr-FR" sz="2800"/>
              <a:t>!!!</a:t>
            </a:r>
          </a:p>
          <a:p>
            <a:endParaRPr lang="fr-FR" sz="2800"/>
          </a:p>
          <a:p>
            <a:r>
              <a:rPr lang="fr-FR" sz="2800"/>
              <a:t>Used</a:t>
            </a:r>
            <a:r>
              <a:rPr lang="fr-FR" sz="2800"/>
              <a:t> </a:t>
            </a:r>
            <a:r>
              <a:rPr lang="fr-FR" sz="2800"/>
              <a:t>internally</a:t>
            </a:r>
            <a:r>
              <a:rPr lang="fr-FR" sz="2800"/>
              <a:t> to </a:t>
            </a:r>
            <a:r>
              <a:rPr lang="fr-FR" sz="2800" b="1"/>
              <a:t>compile + </a:t>
            </a:r>
            <a:r>
              <a:rPr lang="fr-FR" sz="2800" b="1"/>
              <a:t>generate</a:t>
            </a:r>
            <a:r>
              <a:rPr lang="fr-FR" sz="2800" b="1"/>
              <a:t> code</a:t>
            </a:r>
          </a:p>
        </p:txBody>
      </p:sp>
      <p:sp>
        <p:nvSpPr>
          <p:cNvPr id="4" name="Rectangle 3"/>
          <p:cNvSpPr/>
          <p:nvPr/>
        </p:nvSpPr>
        <p:spPr>
          <a:xfrm rot="17029166">
            <a:off x="-572230" y="917309"/>
            <a:ext cx="2334165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Appendix</a:t>
            </a:r>
            <a:endParaRPr lang="en-US" sz="5400" b="1" cap="none" spc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925956"/>
            <a:ext cx="10515600" cy="2067878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r>
              <a:rPr lang="fr-FR"/>
              <a:t>&lt;T&gt;  OK... </a:t>
            </a:r>
            <a:r>
              <a:rPr lang="fr-FR"/>
              <a:t>so</a:t>
            </a:r>
            <a:r>
              <a:rPr lang="fr-FR"/>
              <a:t> </a:t>
            </a:r>
            <a:r>
              <a:rPr lang="fr-FR"/>
              <a:t>what</a:t>
            </a:r>
            <a:r>
              <a:rPr lang="fr-FR"/>
              <a:t> </a:t>
            </a:r>
            <a:r>
              <a:rPr lang="fr-FR"/>
              <a:t>is</a:t>
            </a:r>
            <a:r>
              <a:rPr lang="fr-FR"/>
              <a:t> a "</a:t>
            </a:r>
            <a:r>
              <a:rPr lang="fr-FR"/>
              <a:t>DataFrame</a:t>
            </a:r>
            <a:r>
              <a:rPr lang="fr-FR"/>
              <a:t>" ?</a:t>
            </a:r>
            <a:br>
              <a:rPr lang="fr-FR"/>
            </a:br>
            <a:br>
              <a:rPr lang="fr-FR"/>
            </a:br>
            <a:r>
              <a:rPr lang="fr-FR"/>
              <a:t>DataFrame</a:t>
            </a:r>
            <a:r>
              <a:rPr lang="fr-FR"/>
              <a:t> = </a:t>
            </a:r>
            <a:r>
              <a:rPr lang="fr-FR"/>
              <a:t>Dataset</a:t>
            </a:r>
            <a:r>
              <a:rPr lang="fr-FR"/>
              <a:t>&lt;Row&gt;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8" name="Picture 4" descr="Diagram of the Unified Dataset API in Apache Spark 2.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006646" y="3480347"/>
            <a:ext cx="5600393" cy="3133814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Deprecated</a:t>
            </a:r>
            <a:r>
              <a:rPr lang="fr-FR"/>
              <a:t> </a:t>
            </a:r>
            <a:r>
              <a:rPr lang="fr-FR"/>
              <a:t>DataFrame</a:t>
            </a:r>
            <a:r>
              <a:rPr lang="fr-FR"/>
              <a:t> api</a:t>
            </a:r>
            <a:br>
              <a:rPr lang="fr-FR"/>
            </a:br>
            <a:r>
              <a:rPr lang="fr-FR"/>
              <a:t>… </a:t>
            </a:r>
            <a:r>
              <a:rPr lang="fr-FR"/>
              <a:t>now</a:t>
            </a:r>
            <a:r>
              <a:rPr lang="fr-FR"/>
              <a:t> </a:t>
            </a:r>
            <a:r>
              <a:rPr lang="fr-FR"/>
              <a:t>Dataset</a:t>
            </a:r>
            <a:r>
              <a:rPr lang="fr-FR"/>
              <a:t>&lt;Row&gt;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1161" y="1953073"/>
            <a:ext cx="850392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/>
              <a:t>DataFrame</a:t>
            </a:r>
            <a:r>
              <a:rPr lang="fr-FR" sz="2800"/>
              <a:t> </a:t>
            </a:r>
            <a:r>
              <a:rPr lang="fr-FR" sz="2800"/>
              <a:t>is</a:t>
            </a:r>
            <a:r>
              <a:rPr lang="fr-FR" sz="2800"/>
              <a:t> </a:t>
            </a:r>
            <a:r>
              <a:rPr lang="fr-FR" sz="2800"/>
              <a:t>deprecated</a:t>
            </a:r>
            <a:r>
              <a:rPr lang="fr-FR" sz="2800"/>
              <a:t> </a:t>
            </a:r>
            <a:r>
              <a:rPr lang="fr-FR" sz="2800"/>
              <a:t>since</a:t>
            </a:r>
            <a:r>
              <a:rPr lang="fr-FR" sz="2800"/>
              <a:t> 2016</a:t>
            </a:r>
          </a:p>
          <a:p>
            <a:r>
              <a:rPr lang="fr-FR" sz="2800"/>
              <a:t>Spark </a:t>
            </a:r>
            <a:r>
              <a:rPr lang="fr-FR" sz="2800"/>
              <a:t>still has 2 usages</a:t>
            </a:r>
            <a:r>
              <a:rPr lang="fr-FR" sz="2800"/>
              <a:t> « </a:t>
            </a:r>
            <a:r>
              <a:rPr lang="fr-FR" sz="2800"/>
              <a:t>kind</a:t>
            </a:r>
            <a:r>
              <a:rPr lang="fr-FR" sz="2800"/>
              <a:t> » </a:t>
            </a:r>
          </a:p>
          <a:p>
            <a:pPr marL="285750" indent="-285750">
              <a:buChar char="-"/>
            </a:pPr>
            <a:r>
              <a:rPr lang="fr-FR" sz="2800"/>
              <a:t>untyped</a:t>
            </a:r>
            <a:r>
              <a:rPr lang="fr-FR" sz="2800"/>
              <a:t> (</a:t>
            </a:r>
            <a:r>
              <a:rPr lang="fr-FR" sz="2800"/>
              <a:t>sql</a:t>
            </a:r>
            <a:r>
              <a:rPr lang="fr-FR" sz="2800"/>
              <a:t>) … </a:t>
            </a:r>
            <a:r>
              <a:rPr lang="fr-FR" sz="2800"/>
              <a:t>Dataset</a:t>
            </a:r>
            <a:r>
              <a:rPr lang="fr-FR" sz="2800"/>
              <a:t>&lt;Row&gt; = like </a:t>
            </a:r>
            <a:r>
              <a:rPr lang="fr-FR" sz="2800"/>
              <a:t>JDBC</a:t>
            </a:r>
            <a:r>
              <a:rPr lang="fr-FR" sz="2800"/>
              <a:t> </a:t>
            </a:r>
            <a:r>
              <a:rPr lang="fr-FR" sz="2800"/>
              <a:t>ResultSet</a:t>
            </a:r>
            <a:endParaRPr lang="fr-FR" sz="2800"/>
          </a:p>
          <a:p>
            <a:pPr marL="285750" indent="-285750">
              <a:buChar char="-"/>
            </a:pPr>
            <a:r>
              <a:rPr lang="fr-FR" sz="2800"/>
              <a:t>Typed</a:t>
            </a:r>
            <a:r>
              <a:rPr lang="fr-FR" sz="2800"/>
              <a:t> … like </a:t>
            </a:r>
            <a:r>
              <a:rPr lang="fr-FR" sz="2800"/>
              <a:t>ArrayList</a:t>
            </a:r>
            <a:r>
              <a:rPr lang="fr-FR" sz="2800"/>
              <a:t>&lt;</a:t>
            </a:r>
            <a:r>
              <a:rPr lang="fr-FR" sz="2800"/>
              <a:t>YourClass</a:t>
            </a:r>
            <a:r>
              <a:rPr lang="fr-FR" sz="2800"/>
              <a:t>&gt;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interface </a:t>
            </a:r>
            <a:r>
              <a:rPr lang="fr-FR"/>
              <a:t>org.apache.spark.sql.Row</a:t>
            </a:r>
            <a:endParaRPr lang="fr-FR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9206" y="1944432"/>
            <a:ext cx="3653864" cy="221011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776421" y="1690688"/>
            <a:ext cx="3249202" cy="503484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444999" y="1823403"/>
            <a:ext cx="2969895" cy="252309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335279" y="4457139"/>
            <a:ext cx="5477479" cy="171729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2952" y="1187462"/>
            <a:ext cx="2491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Ctor</a:t>
            </a:r>
            <a:r>
              <a:rPr lang="fr-FR"/>
              <a:t> + </a:t>
            </a:r>
            <a:r>
              <a:rPr lang="fr-FR"/>
              <a:t>schema</a:t>
            </a:r>
            <a:r>
              <a:rPr lang="fr-FR"/>
              <a:t> +</a:t>
            </a:r>
          </a:p>
          <a:p>
            <a:r>
              <a:rPr lang="fr-FR"/>
              <a:t>Scala « </a:t>
            </a:r>
            <a:r>
              <a:rPr lang="fr-FR"/>
              <a:t>deconstructor</a:t>
            </a:r>
            <a:r>
              <a:rPr lang="fr-FR"/>
              <a:t> 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3370" y="1408034"/>
            <a:ext cx="1340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String + </a:t>
            </a:r>
            <a:r>
              <a:rPr lang="fr-FR"/>
              <a:t>json</a:t>
            </a:r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7543610" y="1364695"/>
            <a:ext cx="1919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Typed</a:t>
            </a:r>
            <a:r>
              <a:rPr lang="fr-FR"/>
              <a:t> </a:t>
            </a:r>
            <a:r>
              <a:rPr lang="fr-FR"/>
              <a:t>field</a:t>
            </a:r>
            <a:r>
              <a:rPr lang="fr-FR"/>
              <a:t> getters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Class « Row » </a:t>
            </a:r>
            <a:r>
              <a:rPr lang="fr-FR"/>
              <a:t>methods</a:t>
            </a:r>
            <a:r>
              <a:rPr lang="fr-FR"/>
              <a:t> API</a:t>
            </a:r>
            <a:br>
              <a:rPr lang="fr-FR"/>
            </a:br>
            <a:r>
              <a:rPr lang="fr-FR"/>
              <a:t> … </a:t>
            </a:r>
            <a:r>
              <a:rPr lang="fr-FR"/>
              <a:t>you</a:t>
            </a:r>
            <a:r>
              <a:rPr lang="fr-FR"/>
              <a:t> </a:t>
            </a:r>
            <a:r>
              <a:rPr lang="fr-FR"/>
              <a:t>should</a:t>
            </a:r>
            <a:r>
              <a:rPr lang="fr-FR"/>
              <a:t> not care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382351"/>
            <a:ext cx="1006102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With</a:t>
            </a:r>
            <a:r>
              <a:rPr lang="fr-FR" sz="2400"/>
              <a:t> SQL </a:t>
            </a:r>
            <a:r>
              <a:rPr lang="fr-FR" sz="2400"/>
              <a:t>built-in</a:t>
            </a:r>
            <a:r>
              <a:rPr lang="fr-FR" sz="2400"/>
              <a:t> </a:t>
            </a:r>
            <a:r>
              <a:rPr lang="fr-FR" sz="2400"/>
              <a:t>functions</a:t>
            </a:r>
            <a:endParaRPr lang="fr-FR" sz="2400"/>
          </a:p>
          <a:p>
            <a:r>
              <a:rPr lang="fr-FR" sz="2400"/>
              <a:t> … </a:t>
            </a:r>
            <a:r>
              <a:rPr lang="fr-FR" sz="2400"/>
              <a:t>you</a:t>
            </a:r>
            <a:r>
              <a:rPr lang="fr-FR" sz="2400"/>
              <a:t> </a:t>
            </a:r>
            <a:r>
              <a:rPr lang="fr-FR" sz="2400"/>
              <a:t>normally</a:t>
            </a:r>
            <a:r>
              <a:rPr lang="fr-FR" sz="2400"/>
              <a:t> do NOT </a:t>
            </a:r>
            <a:r>
              <a:rPr lang="fr-FR" sz="2400"/>
              <a:t>need</a:t>
            </a:r>
            <a:r>
              <a:rPr lang="fr-FR" sz="2400"/>
              <a:t> </a:t>
            </a:r>
            <a:r>
              <a:rPr lang="fr-FR" sz="2400"/>
              <a:t>any</a:t>
            </a:r>
            <a:r>
              <a:rPr lang="fr-FR" sz="2400"/>
              <a:t> « </a:t>
            </a:r>
            <a:r>
              <a:rPr lang="fr-FR" sz="2400"/>
              <a:t>map</a:t>
            </a:r>
            <a:r>
              <a:rPr lang="fr-FR" sz="2400"/>
              <a:t>(</a:t>
            </a:r>
            <a:r>
              <a:rPr lang="fr-FR" sz="2400"/>
              <a:t>row</a:t>
            </a:r>
            <a:r>
              <a:rPr lang="fr-FR" sz="2400"/>
              <a:t> =&gt; { … </a:t>
            </a:r>
            <a:r>
              <a:rPr lang="fr-FR" sz="2400"/>
              <a:t>row.someMethod</a:t>
            </a:r>
            <a:r>
              <a:rPr lang="fr-FR" sz="2400"/>
              <a:t>( ..) } 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718390"/>
            <a:ext cx="865897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Map</a:t>
            </a:r>
            <a:r>
              <a:rPr lang="fr-FR" sz="2400"/>
              <a:t> code fragments are </a:t>
            </a:r>
            <a:r>
              <a:rPr lang="fr-FR" sz="2400"/>
              <a:t>advanced</a:t>
            </a:r>
            <a:r>
              <a:rPr lang="fr-FR" sz="2400"/>
              <a:t> usages, running on « </a:t>
            </a:r>
            <a:r>
              <a:rPr lang="fr-FR" sz="2400"/>
              <a:t>Executors</a:t>
            </a:r>
            <a:r>
              <a:rPr lang="fr-FR" sz="2400"/>
              <a:t> »</a:t>
            </a:r>
          </a:p>
          <a:p>
            <a:r>
              <a:rPr lang="fr-FR" sz="2400"/>
              <a:t>… You focus on « Driver »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7120" y="4978400"/>
            <a:ext cx="79673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List&lt;Row&gt; ls = </a:t>
            </a:r>
            <a:r>
              <a:rPr lang="fr-FR" sz="2400"/>
              <a:t>dataset.collect</a:t>
            </a:r>
            <a:r>
              <a:rPr lang="fr-FR" sz="2400"/>
              <a:t>();    </a:t>
            </a:r>
          </a:p>
          <a:p>
            <a:r>
              <a:rPr lang="fr-FR" sz="2400"/>
              <a:t>… </a:t>
            </a:r>
            <a:r>
              <a:rPr lang="fr-FR" sz="2400"/>
              <a:t>probably</a:t>
            </a:r>
            <a:r>
              <a:rPr lang="fr-FR" sz="2400"/>
              <a:t> a </a:t>
            </a:r>
            <a:r>
              <a:rPr lang="fr-FR" sz="2400"/>
              <a:t>bad</a:t>
            </a:r>
            <a:r>
              <a:rPr lang="fr-FR" sz="2400"/>
              <a:t> </a:t>
            </a:r>
            <a:r>
              <a:rPr lang="fr-FR" sz="2400"/>
              <a:t>idea</a:t>
            </a:r>
            <a:r>
              <a:rPr lang="fr-FR" sz="2400"/>
              <a:t> for in-memory </a:t>
            </a:r>
            <a:r>
              <a:rPr lang="fr-FR" sz="2400"/>
              <a:t>fitting</a:t>
            </a:r>
            <a:r>
              <a:rPr lang="fr-FR" sz="2400"/>
              <a:t> data on driver </a:t>
            </a:r>
            <a:r>
              <a:rPr lang="fr-FR" sz="2400"/>
              <a:t>side</a:t>
            </a:r>
            <a:endParaRPr lang="fr-FR" sz="240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SQL -vs- </a:t>
            </a:r>
            <a:r>
              <a:rPr lang="fr-FR"/>
              <a:t>Compiled</a:t>
            </a:r>
            <a:r>
              <a:rPr lang="fr-FR"/>
              <a:t> Custom Class</a:t>
            </a:r>
          </a:p>
        </p:txBody>
      </p:sp>
      <p:pic>
        <p:nvPicPr>
          <p:cNvPr id="7170" name="Picture 2" descr="Type-safety spectrum between SQL, DataFrames and Dataset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468120" y="1928588"/>
            <a:ext cx="9398000" cy="39378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7560" y="0"/>
            <a:ext cx="1105408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SQL … « </a:t>
            </a:r>
            <a:r>
              <a:rPr lang="fr-FR"/>
              <a:t>where</a:t>
            </a:r>
            <a:r>
              <a:rPr lang="fr-FR"/>
              <a:t> »   vs   </a:t>
            </a:r>
            <a:r>
              <a:rPr lang="fr-FR"/>
              <a:t>filter</a:t>
            </a:r>
            <a:r>
              <a:rPr lang="fr-FR"/>
              <a:t>( lambda </a:t>
            </a:r>
            <a:r>
              <a:rPr lang="fr-FR"/>
              <a:t>predicate</a:t>
            </a:r>
            <a:r>
              <a:rPr lang="fr-FR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660" y="2569755"/>
            <a:ext cx="41987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spark.sql</a:t>
            </a:r>
            <a:r>
              <a:rPr lang="fr-FR" sz="2400"/>
              <a:t>("""</a:t>
            </a:r>
          </a:p>
          <a:p>
            <a:r>
              <a:rPr lang="fr-FR" sz="2400"/>
              <a:t>    select </a:t>
            </a:r>
            <a:r>
              <a:rPr lang="fr-FR" sz="2400" b="1"/>
              <a:t>p.id </a:t>
            </a:r>
            <a:br>
              <a:rPr lang="fr-FR" sz="2400"/>
            </a:br>
            <a:r>
              <a:rPr lang="fr-FR" sz="2400"/>
              <a:t>    </a:t>
            </a:r>
            <a:r>
              <a:rPr lang="fr-FR" sz="2400"/>
              <a:t>from</a:t>
            </a:r>
            <a:r>
              <a:rPr lang="fr-FR" sz="2400"/>
              <a:t> User </a:t>
            </a:r>
            <a:br>
              <a:rPr lang="fr-FR" sz="2400"/>
            </a:br>
            <a:r>
              <a:rPr lang="fr-FR" sz="2400"/>
              <a:t>    </a:t>
            </a:r>
            <a:r>
              <a:rPr lang="fr-FR" sz="2400" b="1"/>
              <a:t>where</a:t>
            </a:r>
            <a:r>
              <a:rPr lang="fr-FR" sz="2400" b="1"/>
              <a:t> </a:t>
            </a:r>
            <a:r>
              <a:rPr lang="fr-FR" sz="2400" b="1"/>
              <a:t>p.firstName</a:t>
            </a:r>
            <a:r>
              <a:rPr lang="fr-FR" sz="2400" b="1"/>
              <a:t> = ‘arnaud’</a:t>
            </a:r>
            <a:br>
              <a:rPr lang="fr-FR" sz="2400" b="1"/>
            </a:br>
            <a:r>
              <a:rPr lang="fr-FR" sz="2400" b="1"/>
              <a:t>"""</a:t>
            </a:r>
            <a:r>
              <a:rPr lang="fr-FR" sz="2400"/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10739" y="2535574"/>
            <a:ext cx="71812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Dataset</a:t>
            </a:r>
            <a:r>
              <a:rPr lang="fr-FR" sz="2400"/>
              <a:t>&lt;User&gt; </a:t>
            </a:r>
            <a:r>
              <a:rPr lang="fr-FR" sz="2400"/>
              <a:t>ds</a:t>
            </a:r>
            <a:r>
              <a:rPr lang="fr-FR" sz="2400"/>
              <a:t> = … </a:t>
            </a:r>
            <a:r>
              <a:rPr lang="fr-FR" sz="2400"/>
              <a:t>load</a:t>
            </a:r>
            <a:r>
              <a:rPr lang="fr-FR" sz="2400"/>
              <a:t>(.. </a:t>
            </a:r>
            <a:r>
              <a:rPr lang="fr-FR" sz="2400" b="1"/>
              <a:t>Encoder.bean</a:t>
            </a:r>
            <a:r>
              <a:rPr lang="fr-FR" sz="2400"/>
              <a:t>(</a:t>
            </a:r>
            <a:r>
              <a:rPr lang="fr-FR" sz="2400"/>
              <a:t>User.class</a:t>
            </a:r>
            <a:r>
              <a:rPr lang="fr-FR" sz="2400"/>
              <a:t>) );</a:t>
            </a:r>
          </a:p>
          <a:p>
            <a:r>
              <a:rPr lang="fr-FR" sz="2400"/>
              <a:t>ds</a:t>
            </a:r>
            <a:br>
              <a:rPr lang="fr-FR" sz="2400"/>
            </a:br>
            <a:r>
              <a:rPr lang="fr-FR" sz="2400"/>
              <a:t>    </a:t>
            </a:r>
            <a:r>
              <a:rPr lang="fr-FR" sz="2400" b="1"/>
              <a:t>.</a:t>
            </a:r>
            <a:r>
              <a:rPr lang="fr-FR" sz="2400" b="1"/>
              <a:t>filter</a:t>
            </a:r>
            <a:r>
              <a:rPr lang="fr-FR" sz="2400" b="1"/>
              <a:t>( x -&gt; </a:t>
            </a:r>
            <a:r>
              <a:rPr lang="fr-FR" sz="2400" b="1"/>
              <a:t>x.getFirstName</a:t>
            </a:r>
            <a:r>
              <a:rPr lang="fr-FR" sz="2400" b="1"/>
              <a:t>().</a:t>
            </a:r>
            <a:r>
              <a:rPr lang="fr-FR" sz="2400" b="1"/>
              <a:t>equals</a:t>
            </a:r>
            <a:r>
              <a:rPr lang="fr-FR" sz="2400" b="1"/>
              <a:t>("arnaud") )</a:t>
            </a:r>
            <a:br>
              <a:rPr lang="fr-FR" sz="2400"/>
            </a:br>
            <a:r>
              <a:rPr lang="fr-FR" sz="2400"/>
              <a:t>    </a:t>
            </a:r>
            <a:r>
              <a:rPr lang="fr-FR" sz="2400" b="1"/>
              <a:t>.</a:t>
            </a:r>
            <a:r>
              <a:rPr lang="fr-FR" sz="2400" b="1"/>
              <a:t>map</a:t>
            </a:r>
            <a:r>
              <a:rPr lang="fr-FR" sz="2400" b="1"/>
              <a:t>( x -&gt; </a:t>
            </a:r>
            <a:r>
              <a:rPr lang="fr-FR" sz="2400" b="1"/>
              <a:t>x.getId</a:t>
            </a:r>
            <a:r>
              <a:rPr lang="fr-FR" sz="2400" b="1"/>
              <a:t>() )</a:t>
            </a:r>
            <a:r>
              <a:rPr lang="fr-FR" sz="2400"/>
              <a:t>;</a:t>
            </a:r>
          </a:p>
        </p:txBody>
      </p:sp>
      <p:sp>
        <p:nvSpPr>
          <p:cNvPr id="7" name="Arrow: Left-Right 6"/>
          <p:cNvSpPr/>
          <p:nvPr/>
        </p:nvSpPr>
        <p:spPr>
          <a:xfrm>
            <a:off x="4335099" y="2937489"/>
            <a:ext cx="523240" cy="38633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7560" y="0"/>
            <a:ext cx="1105408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Concise vs </a:t>
            </a:r>
            <a:r>
              <a:rPr lang="fr-FR"/>
              <a:t>Maintainable</a:t>
            </a:r>
            <a:r>
              <a:rPr lang="fr-FR"/>
              <a:t> …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720" y="1844040"/>
            <a:ext cx="1227932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/>
              <a:t>Java: verbose</a:t>
            </a:r>
            <a:r>
              <a:rPr lang="fr-FR" sz="3200"/>
              <a:t> language </a:t>
            </a:r>
            <a:r>
              <a:rPr lang="fr-FR" sz="3200"/>
              <a:t>with</a:t>
            </a:r>
            <a:r>
              <a:rPr lang="fr-FR" sz="3200"/>
              <a:t> </a:t>
            </a:r>
            <a:r>
              <a:rPr lang="fr-FR" sz="3200"/>
              <a:t>parenthesis</a:t>
            </a:r>
            <a:r>
              <a:rPr lang="fr-FR" sz="3200"/>
              <a:t> … </a:t>
            </a:r>
          </a:p>
          <a:p>
            <a:r>
              <a:rPr lang="fr-FR" sz="3200"/>
              <a:t>+ </a:t>
            </a:r>
            <a:r>
              <a:rPr lang="fr-FR" sz="3200"/>
              <a:t>additional</a:t>
            </a:r>
            <a:r>
              <a:rPr lang="fr-FR" sz="3200"/>
              <a:t> JavaBean getter/setter </a:t>
            </a:r>
            <a:r>
              <a:rPr lang="fr-FR" sz="3200"/>
              <a:t>naming</a:t>
            </a:r>
            <a:r>
              <a:rPr lang="fr-FR" sz="3200"/>
              <a:t> conventions </a:t>
            </a:r>
            <a:r>
              <a:rPr lang="fr-FR" sz="3200"/>
              <a:t>verbosity</a:t>
            </a:r>
            <a:r>
              <a:rPr lang="fr-FR" sz="3200"/>
              <a:t> …</a:t>
            </a:r>
          </a:p>
          <a:p>
            <a:r>
              <a:rPr lang="fr-FR" sz="3200"/>
              <a:t>Spark use « </a:t>
            </a:r>
            <a:r>
              <a:rPr lang="fr-FR" sz="3200"/>
              <a:t>Encoder.bean()</a:t>
            </a:r>
            <a:r>
              <a:rPr lang="fr-FR" sz="3200"/>
              <a:t> » to enforce </a:t>
            </a:r>
            <a:r>
              <a:rPr lang="fr-FR" sz="3200"/>
              <a:t>this</a:t>
            </a:r>
            <a:endParaRPr lang="fr-FR" sz="3200"/>
          </a:p>
          <a:p>
            <a:endParaRPr lang="fr-FR" sz="3200"/>
          </a:p>
          <a:p>
            <a:endParaRPr lang="fr-FR" sz="3200"/>
          </a:p>
          <a:p>
            <a:r>
              <a:rPr lang="fr-FR" sz="3200"/>
              <a:t>But </a:t>
            </a:r>
            <a:r>
              <a:rPr lang="fr-FR" sz="3200"/>
              <a:t>works</a:t>
            </a:r>
            <a:r>
              <a:rPr lang="fr-FR" sz="3200"/>
              <a:t> </a:t>
            </a:r>
            <a:r>
              <a:rPr lang="fr-FR" sz="3200"/>
              <a:t>well</a:t>
            </a:r>
            <a:r>
              <a:rPr lang="fr-FR" sz="3200"/>
              <a:t> + </a:t>
            </a:r>
            <a:r>
              <a:rPr lang="fr-FR" sz="3200"/>
              <a:t>safe</a:t>
            </a:r>
            <a:r>
              <a:rPr lang="fr-FR" sz="3200"/>
              <a:t> at compile time + </a:t>
            </a:r>
            <a:r>
              <a:rPr lang="fr-FR" sz="3200"/>
              <a:t>easily</a:t>
            </a:r>
            <a:r>
              <a:rPr lang="fr-FR" sz="3200"/>
              <a:t> </a:t>
            </a:r>
            <a:r>
              <a:rPr lang="fr-FR" sz="3200"/>
              <a:t>readable</a:t>
            </a:r>
            <a:r>
              <a:rPr lang="fr-FR" sz="3200"/>
              <a:t> &amp; </a:t>
            </a:r>
            <a:r>
              <a:rPr lang="fr-FR" sz="3200"/>
              <a:t>maintainable</a:t>
            </a:r>
            <a:endParaRPr lang="fr-FR" sz="3200"/>
          </a:p>
          <a:p>
            <a:endParaRPr lang="fr-FR" sz="3200"/>
          </a:p>
          <a:p>
            <a:r>
              <a:rPr lang="fr-FR" sz="3200"/>
              <a:t>Did</a:t>
            </a:r>
            <a:r>
              <a:rPr lang="fr-FR" sz="3200"/>
              <a:t> </a:t>
            </a:r>
            <a:r>
              <a:rPr lang="fr-FR" sz="3200"/>
              <a:t>you</a:t>
            </a:r>
            <a:r>
              <a:rPr lang="fr-FR" sz="3200"/>
              <a:t> </a:t>
            </a:r>
            <a:r>
              <a:rPr lang="fr-FR" sz="3200"/>
              <a:t>ever</a:t>
            </a:r>
            <a:r>
              <a:rPr lang="fr-FR" sz="3200"/>
              <a:t> </a:t>
            </a:r>
            <a:r>
              <a:rPr lang="fr-FR" sz="3200"/>
              <a:t>try</a:t>
            </a:r>
            <a:r>
              <a:rPr lang="fr-FR" sz="3200"/>
              <a:t> to </a:t>
            </a:r>
            <a:r>
              <a:rPr lang="fr-FR" sz="3200"/>
              <a:t>refactor</a:t>
            </a:r>
            <a:r>
              <a:rPr lang="fr-FR" sz="3200"/>
              <a:t> &gt; 20 000 </a:t>
            </a:r>
            <a:r>
              <a:rPr lang="fr-FR" sz="3200"/>
              <a:t>lines</a:t>
            </a:r>
            <a:r>
              <a:rPr lang="fr-FR" sz="3200"/>
              <a:t> of </a:t>
            </a:r>
            <a:r>
              <a:rPr lang="fr-FR" sz="3200"/>
              <a:t>legacy</a:t>
            </a:r>
            <a:r>
              <a:rPr lang="fr-FR" sz="3200"/>
              <a:t> SQL ?</a:t>
            </a:r>
          </a:p>
          <a:p>
            <a:endParaRPr lang="fr-FR" sz="3200"/>
          </a:p>
          <a:p>
            <a:r>
              <a:rPr lang="fr-FR" sz="3200"/>
              <a:t>Did</a:t>
            </a:r>
            <a:r>
              <a:rPr lang="fr-FR" sz="3200"/>
              <a:t> </a:t>
            </a:r>
            <a:r>
              <a:rPr lang="fr-FR" sz="3200"/>
              <a:t>you</a:t>
            </a:r>
            <a:r>
              <a:rPr lang="fr-FR" sz="3200"/>
              <a:t> </a:t>
            </a:r>
            <a:r>
              <a:rPr lang="fr-FR" sz="3200"/>
              <a:t>ever</a:t>
            </a:r>
            <a:r>
              <a:rPr lang="fr-FR" sz="3200"/>
              <a:t> </a:t>
            </a:r>
            <a:r>
              <a:rPr lang="fr-FR" sz="3200"/>
              <a:t>read</a:t>
            </a:r>
            <a:r>
              <a:rPr lang="fr-FR" sz="3200"/>
              <a:t> &gt; 20 000 </a:t>
            </a:r>
            <a:r>
              <a:rPr lang="fr-FR" sz="3200"/>
              <a:t>lines</a:t>
            </a:r>
            <a:r>
              <a:rPr lang="fr-FR" sz="3200"/>
              <a:t> of </a:t>
            </a:r>
            <a:r>
              <a:rPr lang="fr-FR" sz="3200"/>
              <a:t>complex</a:t>
            </a:r>
            <a:r>
              <a:rPr lang="fr-FR" sz="3200"/>
              <a:t>/</a:t>
            </a:r>
            <a:r>
              <a:rPr lang="fr-FR" sz="3200"/>
              <a:t>idiomatic</a:t>
            </a:r>
            <a:r>
              <a:rPr lang="fr-FR" sz="3200"/>
              <a:t> Scala code ?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</a:t>
            </a:r>
            <a:r>
              <a:rPr lang="fr-FR"/>
              <a:t>Tungsten</a:t>
            </a:r>
            <a:r>
              <a:rPr lang="fr-FR"/>
              <a:t> … </a:t>
            </a:r>
            <a:br>
              <a:rPr lang="fr-FR"/>
            </a:br>
            <a:r>
              <a:rPr lang="fr-FR"/>
              <a:t>Internal</a:t>
            </a:r>
            <a:r>
              <a:rPr lang="fr-FR"/>
              <a:t> memory encoder for « Row »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473200" y="2251398"/>
            <a:ext cx="5218868" cy="3758241"/>
          </a:xfrm>
          <a:prstGeom prst="rect">
            <a:avLst/>
          </a:prstGeom>
        </p:spPr>
      </p:pic>
      <p:sp>
        <p:nvSpPr>
          <p:cNvPr id="6" name="Thought Bubble: Cloud 5"/>
          <p:cNvSpPr/>
          <p:nvPr/>
        </p:nvSpPr>
        <p:spPr>
          <a:xfrm>
            <a:off x="7127240" y="2918438"/>
            <a:ext cx="4526280" cy="1325563"/>
          </a:xfrm>
          <a:prstGeom prst="cloudCallout">
            <a:avLst>
              <a:gd name="adj1" fmla="val -43166"/>
              <a:gd name="adj2" fmla="val 75933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7645400" y="3117195"/>
            <a:ext cx="34799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OffHeap</a:t>
            </a:r>
            <a:r>
              <a:rPr lang="fr-FR"/>
              <a:t> vs </a:t>
            </a:r>
            <a:r>
              <a:rPr lang="fr-FR"/>
              <a:t>Managed</a:t>
            </a:r>
            <a:r>
              <a:rPr lang="fr-FR"/>
              <a:t> JVM Memory</a:t>
            </a:r>
          </a:p>
          <a:p>
            <a:pPr marL="285750" indent="-285750">
              <a:buFont typeface="Symbol"/>
              <a:buChar char="Þ"/>
            </a:pPr>
            <a:r>
              <a:rPr lang="fr-FR"/>
              <a:t>May </a:t>
            </a:r>
            <a:r>
              <a:rPr lang="fr-FR"/>
              <a:t>handle</a:t>
            </a:r>
            <a:r>
              <a:rPr lang="fr-FR"/>
              <a:t> </a:t>
            </a:r>
            <a:r>
              <a:rPr lang="fr-FR"/>
              <a:t>Huge</a:t>
            </a:r>
            <a:r>
              <a:rPr lang="fr-FR"/>
              <a:t> DATA </a:t>
            </a:r>
          </a:p>
          <a:p>
            <a:r>
              <a:rPr lang="fr-FR"/>
              <a:t>       </a:t>
            </a:r>
            <a:r>
              <a:rPr lang="fr-FR"/>
              <a:t>with</a:t>
            </a:r>
            <a:r>
              <a:rPr lang="fr-FR"/>
              <a:t> « </a:t>
            </a:r>
            <a:r>
              <a:rPr lang="fr-FR"/>
              <a:t>small</a:t>
            </a:r>
            <a:r>
              <a:rPr lang="fr-FR"/>
              <a:t> » JVM GC memory</a:t>
            </a:r>
          </a:p>
        </p:txBody>
      </p:sp>
      <p:sp>
        <p:nvSpPr>
          <p:cNvPr id="8" name="Thought Bubble: Cloud 7"/>
          <p:cNvSpPr/>
          <p:nvPr/>
        </p:nvSpPr>
        <p:spPr>
          <a:xfrm>
            <a:off x="8016240" y="4947919"/>
            <a:ext cx="3444240" cy="848360"/>
          </a:xfrm>
          <a:prstGeom prst="cloudCallout">
            <a:avLst>
              <a:gd name="adj1" fmla="val -64450"/>
              <a:gd name="adj2" fmla="val -3858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8458566" y="5048933"/>
            <a:ext cx="23116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Efficient network </a:t>
            </a:r>
            <a:br>
              <a:rPr lang="fr-FR"/>
            </a:br>
            <a:r>
              <a:rPr lang="fr-FR"/>
              <a:t>(</a:t>
            </a:r>
            <a:r>
              <a:rPr lang="fr-FR"/>
              <a:t>shuffling</a:t>
            </a:r>
            <a:r>
              <a:rPr lang="fr-FR"/>
              <a:t>) </a:t>
            </a:r>
            <a:r>
              <a:rPr lang="fr-FR"/>
              <a:t>serialization</a:t>
            </a:r>
            <a:endParaRPr lang="fr-FR"/>
          </a:p>
        </p:txBody>
      </p:sp>
      <p:sp>
        <p:nvSpPr>
          <p:cNvPr id="10" name="Thought Bubble: Cloud 9"/>
          <p:cNvSpPr/>
          <p:nvPr/>
        </p:nvSpPr>
        <p:spPr>
          <a:xfrm>
            <a:off x="7802880" y="5897293"/>
            <a:ext cx="2865120" cy="731518"/>
          </a:xfrm>
          <a:prstGeom prst="cloudCallout">
            <a:avLst>
              <a:gd name="adj1" fmla="val -64450"/>
              <a:gd name="adj2" fmla="val -3858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8374233" y="5916439"/>
            <a:ext cx="19863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Efficient </a:t>
            </a:r>
            <a:r>
              <a:rPr lang="fr-FR"/>
              <a:t>SpillToDisk</a:t>
            </a:r>
            <a:br>
              <a:rPr lang="fr-FR"/>
            </a:br>
            <a:r>
              <a:rPr lang="fr-FR"/>
              <a:t>(</a:t>
            </a:r>
            <a:r>
              <a:rPr lang="fr-FR"/>
              <a:t>swapping</a:t>
            </a:r>
            <a:r>
              <a:rPr lang="fr-FR"/>
              <a:t>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72</Slides>
  <Notes>0</Notes>
  <HiddenSlides>3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BigData – Spark – Processing  discover Spark from examples</dc:title>
  <dc:creator>arnaud.nauwynck@gmail.com</dc:creator>
  <cp:lastModifiedBy>NAUWYNCK Arnaud</cp:lastModifiedBy>
  <cp:revision>64</cp:revision>
  <dcterms:created xsi:type="dcterms:W3CDTF">2022-10-16T13:20:46Z</dcterms:created>
  <dcterms:modified xsi:type="dcterms:W3CDTF">2025-01-07T22:57:40Z</dcterms:modified>
</cp:coreProperties>
</file>