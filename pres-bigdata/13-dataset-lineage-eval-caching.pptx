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theme" Target="theme/theme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fr-FR"/>
              <a:t>08/01/2025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fr-FR"/>
              <a:t>08/01/2025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fr-FR"/>
              <a:t>08/01/2025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fr-FR"/>
              <a:t>08/01/2025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fr-FR"/>
              <a:t>08/01/2025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fr-FR"/>
              <a:t>08/01/2025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fr-FR"/>
              <a:t>08/01/2025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fr-FR"/>
              <a:t>08/01/2025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fr-FR"/>
              <a:t>08/01/2025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fr-FR"/>
              <a:t>08/01/2025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fr-FR"/>
              <a:t>08/01/2025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fr-FR"/>
              <a:t>08/01/2025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Spark </a:t>
            </a:r>
            <a:r>
              <a:rPr lang="fr-FR"/>
              <a:t>Dataset</a:t>
            </a:r>
            <a:r>
              <a:rPr lang="fr-FR"/>
              <a:t>  </a:t>
            </a:r>
            <a:br>
              <a:rPr lang="fr-FR"/>
            </a:br>
            <a:r>
              <a:rPr lang="fr-FR"/>
              <a:t>Lineage</a:t>
            </a:r>
            <a:r>
              <a:rPr lang="fr-FR"/>
              <a:t> Evaluation,</a:t>
            </a:r>
            <a:br>
              <a:rPr lang="fr-FR"/>
            </a:br>
            <a:r>
              <a:rPr lang="fr-FR"/>
              <a:t>Caching</a:t>
            </a:r>
            <a:r>
              <a:rPr lang="fr-FR"/>
              <a:t> &amp; Checkpoint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51047"/>
            <a:ext cx="9144000" cy="1988458"/>
          </a:xfrm>
          <a:prstGeom prst="rect">
            <a:avLst/>
          </a:prstGeom>
        </p:spPr>
        <p:txBody>
          <a:bodyPr/>
          <a:lstStyle/>
          <a:p>
            <a:r>
              <a:rPr lang="fr-FR"/>
              <a:t>arnaud.nauwynck@gmail.com</a:t>
            </a:r>
          </a:p>
          <a:p>
            <a:endParaRPr lang="fr-FR"/>
          </a:p>
          <a:p>
            <a:r>
              <a:rPr lang="fr-FR"/>
              <a:t>This document:</a:t>
            </a:r>
          </a:p>
          <a:p>
            <a:r>
              <a:rPr lang="fr-FR"/>
              <a:t>https://github.com/arnaud-nauwynck/Presentation/big-data/</a:t>
            </a:r>
            <a:br>
              <a:rPr lang="fr-FR"/>
            </a:br>
            <a:r>
              <a:rPr lang="fr-FR"/>
              <a:t>dataset-lineage-eval-caching</a:t>
            </a:r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7039505" y="3205988"/>
            <a:ext cx="995237" cy="5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987" y="14822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Compose </a:t>
            </a:r>
            <a:r>
              <a:rPr lang="fr-FR"/>
              <a:t>Datasets</a:t>
            </a:r>
            <a:r>
              <a:rPr lang="fr-FR"/>
              <a:t> (or RDD) Transformations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61691" y="550973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928406" y="1965078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936236" y="1965078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406" y="2935358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936235" y="3990043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936236" y="3036958"/>
            <a:ext cx="4641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rdd1.join( rdd2 )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406" y="4027558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= rdd2.f3()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331" y="5509735"/>
            <a:ext cx="284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.action();</a:t>
            </a:r>
          </a:p>
        </p:txBody>
      </p:sp>
      <p:sp>
        <p:nvSpPr>
          <p:cNvPr id="12" name="Arrow: Curved Right 11"/>
          <p:cNvSpPr/>
          <p:nvPr/>
        </p:nvSpPr>
        <p:spPr>
          <a:xfrm>
            <a:off x="275836" y="2280038"/>
            <a:ext cx="464940" cy="919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Arrow: Curved Right 12"/>
          <p:cNvSpPr/>
          <p:nvPr/>
        </p:nvSpPr>
        <p:spPr>
          <a:xfrm>
            <a:off x="271801" y="3442430"/>
            <a:ext cx="464940" cy="919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Arrow: Down 13"/>
          <p:cNvSpPr/>
          <p:nvPr/>
        </p:nvSpPr>
        <p:spPr>
          <a:xfrm>
            <a:off x="334091" y="4837331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3453166" y="1970686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3460996" y="1970686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=f2()</a:t>
            </a:r>
          </a:p>
        </p:txBody>
      </p:sp>
      <p:sp>
        <p:nvSpPr>
          <p:cNvPr id="17" name="Arrow: Curved Right 16"/>
          <p:cNvSpPr/>
          <p:nvPr/>
        </p:nvSpPr>
        <p:spPr>
          <a:xfrm>
            <a:off x="2938781" y="2323804"/>
            <a:ext cx="464940" cy="919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92631" y="5674945"/>
            <a:ext cx="2945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Void</a:t>
            </a:r>
            <a:r>
              <a:rPr lang="fr-FR"/>
              <a:t>, or List&lt;</a:t>
            </a:r>
            <a:r>
              <a:rPr lang="fr-FR"/>
              <a:t>SomethingElse</a:t>
            </a:r>
            <a:r>
              <a:rPr lang="fr-FR"/>
              <a:t>&gt; </a:t>
            </a:r>
            <a:br>
              <a:rPr lang="fr-FR"/>
            </a:br>
            <a:r>
              <a:rPr lang="fr-FR"/>
              <a:t>… NO More RDD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2645" y="3150068"/>
            <a:ext cx="1071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/>
              <a:t>Creation</a:t>
            </a:r>
            <a:endParaRPr lang="fr-FR" sz="2000"/>
          </a:p>
          <a:p>
            <a:r>
              <a:rPr lang="fr-FR" sz="2000"/>
              <a:t> </a:t>
            </a:r>
            <a:r>
              <a:rPr lang="fr-FR" sz="2000"/>
              <a:t>Func</a:t>
            </a:r>
            <a:endParaRPr lang="fr-FR" sz="2000"/>
          </a:p>
        </p:txBody>
      </p:sp>
      <p:sp>
        <p:nvSpPr>
          <p:cNvPr id="44" name="TextBox 43"/>
          <p:cNvSpPr txBox="1"/>
          <p:nvPr/>
        </p:nvSpPr>
        <p:spPr>
          <a:xfrm>
            <a:off x="6508782" y="3774802"/>
            <a:ext cx="25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/>
              <a:t>Signature:</a:t>
            </a:r>
          </a:p>
          <a:p>
            <a:r>
              <a:rPr lang="fr-FR" sz="1800"/>
              <a:t>(</a:t>
            </a:r>
            <a:r>
              <a:rPr lang="fr-FR" sz="1800"/>
              <a:t>SparkSession</a:t>
            </a:r>
            <a:r>
              <a:rPr lang="fr-FR" sz="1800"/>
              <a:t>, …) -&gt; RDD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1316" y="3210611"/>
            <a:ext cx="1509486" cy="5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/>
          <p:cNvSpPr txBox="1"/>
          <p:nvPr/>
        </p:nvSpPr>
        <p:spPr>
          <a:xfrm>
            <a:off x="8488300" y="3166371"/>
            <a:ext cx="164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Transformation</a:t>
            </a:r>
          </a:p>
          <a:p>
            <a:r>
              <a:rPr lang="fr-FR"/>
              <a:t>Func</a:t>
            </a:r>
            <a:endParaRPr lang="fr-FR"/>
          </a:p>
        </p:txBody>
      </p:sp>
      <p:sp>
        <p:nvSpPr>
          <p:cNvPr id="47" name="Rectangle 46"/>
          <p:cNvSpPr/>
          <p:nvPr/>
        </p:nvSpPr>
        <p:spPr>
          <a:xfrm>
            <a:off x="10509177" y="3187617"/>
            <a:ext cx="792537" cy="5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/>
          <p:cNvSpPr txBox="1"/>
          <p:nvPr/>
        </p:nvSpPr>
        <p:spPr>
          <a:xfrm>
            <a:off x="10507690" y="3128471"/>
            <a:ext cx="841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Action </a:t>
            </a:r>
          </a:p>
          <a:p>
            <a:r>
              <a:rPr lang="fr-FR"/>
              <a:t>Func</a:t>
            </a:r>
            <a:endParaRPr lang="fr-FR"/>
          </a:p>
        </p:txBody>
      </p:sp>
      <p:sp>
        <p:nvSpPr>
          <p:cNvPr id="49" name="TextBox 48"/>
          <p:cNvSpPr txBox="1"/>
          <p:nvPr/>
        </p:nvSpPr>
        <p:spPr>
          <a:xfrm>
            <a:off x="8393191" y="4416078"/>
            <a:ext cx="1715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/>
              <a:t>(RDD, …) -&gt; RDD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1479" y="4777879"/>
            <a:ext cx="182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/>
              <a:t>(RDD, …) -&gt; </a:t>
            </a:r>
            <a:r>
              <a:rPr lang="fr-FR" sz="1800"/>
              <a:t>other</a:t>
            </a:r>
            <a:endParaRPr lang="fr-FR" sz="1800"/>
          </a:p>
        </p:txBody>
      </p:sp>
      <p:sp>
        <p:nvSpPr>
          <p:cNvPr id="51" name="&quot;Not Allowed&quot; Symbol 50"/>
          <p:cNvSpPr/>
          <p:nvPr/>
        </p:nvSpPr>
        <p:spPr>
          <a:xfrm flipH="1">
            <a:off x="6445293" y="3370054"/>
            <a:ext cx="126978" cy="317796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2" name="&quot;Not Allowed&quot; Symbol 51"/>
          <p:cNvSpPr/>
          <p:nvPr/>
        </p:nvSpPr>
        <p:spPr>
          <a:xfrm flipH="1">
            <a:off x="11741570" y="3284829"/>
            <a:ext cx="126978" cy="317796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3" name="Arrow: Right 52"/>
          <p:cNvSpPr/>
          <p:nvPr/>
        </p:nvSpPr>
        <p:spPr>
          <a:xfrm>
            <a:off x="8160422" y="3344757"/>
            <a:ext cx="267655" cy="28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rrow: Right 53"/>
          <p:cNvSpPr/>
          <p:nvPr/>
        </p:nvSpPr>
        <p:spPr>
          <a:xfrm>
            <a:off x="10144066" y="3341624"/>
            <a:ext cx="267655" cy="28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Arrow: Right 54"/>
          <p:cNvSpPr/>
          <p:nvPr/>
        </p:nvSpPr>
        <p:spPr>
          <a:xfrm>
            <a:off x="11423202" y="3319634"/>
            <a:ext cx="267655" cy="28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Arrow: Right 55"/>
          <p:cNvSpPr/>
          <p:nvPr/>
        </p:nvSpPr>
        <p:spPr>
          <a:xfrm>
            <a:off x="6674592" y="3359231"/>
            <a:ext cx="267655" cy="28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Arrow: Curved Down 56"/>
          <p:cNvSpPr/>
          <p:nvPr/>
        </p:nvSpPr>
        <p:spPr>
          <a:xfrm>
            <a:off x="8664856" y="2839882"/>
            <a:ext cx="369912" cy="3155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8" name="Arrow: Curved Down 57"/>
          <p:cNvSpPr/>
          <p:nvPr/>
        </p:nvSpPr>
        <p:spPr>
          <a:xfrm>
            <a:off x="9045283" y="2834495"/>
            <a:ext cx="369912" cy="3155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9" name="Arrow: Curved Down 58"/>
          <p:cNvSpPr/>
          <p:nvPr/>
        </p:nvSpPr>
        <p:spPr>
          <a:xfrm>
            <a:off x="9436903" y="2834495"/>
            <a:ext cx="369912" cy="3155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19"/>
            <a:ext cx="10515600" cy="1069257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Code </a:t>
            </a:r>
            <a:r>
              <a:rPr lang="fr-FR"/>
              <a:t>Declarations</a:t>
            </a:r>
            <a:r>
              <a:rPr lang="fr-FR"/>
              <a:t> /  Expressions / DAG</a:t>
            </a:r>
          </a:p>
        </p:txBody>
      </p:sp>
      <p:sp>
        <p:nvSpPr>
          <p:cNvPr id="4" name="Arrow: Left-Right 3"/>
          <p:cNvSpPr/>
          <p:nvPr/>
        </p:nvSpPr>
        <p:spPr>
          <a:xfrm>
            <a:off x="5305628" y="2681488"/>
            <a:ext cx="1701800" cy="44587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Left-Right 4"/>
          <p:cNvSpPr/>
          <p:nvPr/>
        </p:nvSpPr>
        <p:spPr>
          <a:xfrm rot="2670618">
            <a:off x="4894867" y="3723748"/>
            <a:ext cx="1430683" cy="38586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Left-Right 5"/>
          <p:cNvSpPr/>
          <p:nvPr/>
        </p:nvSpPr>
        <p:spPr>
          <a:xfrm rot="18929382" flipH="1">
            <a:off x="6185628" y="3723748"/>
            <a:ext cx="1430683" cy="38586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7509459" y="1840944"/>
            <a:ext cx="19230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Algebraic</a:t>
            </a:r>
            <a:endParaRPr lang="fr-FR" sz="2800" b="1"/>
          </a:p>
          <a:p>
            <a:r>
              <a:rPr lang="fr-FR" sz="2800" b="1"/>
              <a:t>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4828" y="4503532"/>
            <a:ext cx="4503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DAG</a:t>
            </a:r>
            <a:r>
              <a:rPr lang="fr-FR" sz="2800"/>
              <a:t> (</a:t>
            </a:r>
            <a:r>
              <a:rPr lang="fr-FR" sz="2800"/>
              <a:t>Directed</a:t>
            </a:r>
            <a:r>
              <a:rPr lang="fr-FR" sz="2800"/>
              <a:t> </a:t>
            </a:r>
            <a:r>
              <a:rPr lang="fr-FR" sz="2800"/>
              <a:t>Acyclic</a:t>
            </a:r>
            <a:r>
              <a:rPr lang="fr-FR" sz="2800"/>
              <a:t> Graph)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9406" y="1782922"/>
            <a:ext cx="48865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Variables </a:t>
            </a:r>
            <a:r>
              <a:rPr lang="fr-FR" sz="2800" b="1"/>
              <a:t>Declaration</a:t>
            </a:r>
            <a:endParaRPr lang="fr-FR" sz="2800" b="1"/>
          </a:p>
          <a:p>
            <a:r>
              <a:rPr lang="fr-FR" sz="2800" b="1"/>
              <a:t>(SSA: </a:t>
            </a:r>
            <a:r>
              <a:rPr lang="fr-FR" sz="2800"/>
              <a:t>Single Static Assignment</a:t>
            </a:r>
            <a:r>
              <a:rPr lang="fr-FR" sz="2800" b="1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0588" y="3033231"/>
            <a:ext cx="3120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[ f1() .</a:t>
            </a:r>
            <a:r>
              <a:rPr lang="fr-FR" sz="2800"/>
              <a:t>join</a:t>
            </a:r>
            <a:r>
              <a:rPr lang="fr-FR" sz="2800"/>
              <a:t>(f2()) ].f3()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3239" y="5215213"/>
            <a:ext cx="622350" cy="425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5633238" y="5271223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rdd1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3239" y="5817357"/>
            <a:ext cx="622350" cy="425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633238" y="5873367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rdd2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36935" y="5543844"/>
            <a:ext cx="622350" cy="425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6636934" y="5599854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rdd3</a:t>
            </a:r>
          </a:p>
        </p:txBody>
      </p:sp>
      <p:cxnSp>
        <p:nvCxnSpPr>
          <p:cNvPr id="17" name="Straight Arrow Connector 16"/>
          <p:cNvCxnSpPr>
            <a:stCxn id="12" idx="3"/>
          </p:cNvCxnSpPr>
          <p:nvPr/>
        </p:nvCxnSpPr>
        <p:spPr>
          <a:xfrm>
            <a:off x="6255588" y="5455889"/>
            <a:ext cx="333172" cy="225802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3"/>
          </p:cNvCxnSpPr>
          <p:nvPr/>
        </p:nvCxnSpPr>
        <p:spPr>
          <a:xfrm flipV="1">
            <a:off x="6255588" y="5817357"/>
            <a:ext cx="333172" cy="240676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315089" y="5723998"/>
            <a:ext cx="388741" cy="18506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221467" y="5418644"/>
            <a:ext cx="388741" cy="18506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223307" y="6074636"/>
            <a:ext cx="388741" cy="18506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54831" y="2904423"/>
            <a:ext cx="13957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rdd1=..</a:t>
            </a:r>
          </a:p>
          <a:p>
            <a:r>
              <a:rPr lang="fr-FR" sz="2400"/>
              <a:t>rdd2=..</a:t>
            </a:r>
            <a:br>
              <a:rPr lang="fr-FR" sz="2400"/>
            </a:br>
            <a:r>
              <a:rPr lang="fr-FR" sz="2400"/>
              <a:t>rdd3=..</a:t>
            </a:r>
          </a:p>
          <a:p>
            <a:endParaRPr lang="fr-FR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333385" y="5227320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fr-FR"/>
              <a:t>Intermediate</a:t>
            </a:r>
            <a:r>
              <a:rPr lang="fr-FR"/>
              <a:t> (un-</a:t>
            </a:r>
            <a:r>
              <a:rPr lang="fr-FR"/>
              <a:t>named</a:t>
            </a:r>
            <a:r>
              <a:rPr lang="fr-FR"/>
              <a:t>) </a:t>
            </a:r>
            <a:r>
              <a:rPr lang="fr-FR"/>
              <a:t>RDDs</a:t>
            </a:r>
            <a:br>
              <a:rPr lang="fr-FR"/>
            </a:br>
            <a:r>
              <a:rPr lang="fr-FR"/>
              <a:t>using</a:t>
            </a:r>
            <a:r>
              <a:rPr lang="fr-FR"/>
              <a:t> </a:t>
            </a:r>
            <a:r>
              <a:rPr lang="fr-FR"/>
              <a:t>Functional</a:t>
            </a:r>
            <a:r>
              <a:rPr lang="fr-FR"/>
              <a:t>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9728" y="5227320"/>
            <a:ext cx="3042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Unnamed</a:t>
            </a:r>
            <a:r>
              <a:rPr lang="fr-FR" sz="3600"/>
              <a:t> </a:t>
            </a:r>
            <a:r>
              <a:rPr lang="fr-FR" sz="3600"/>
              <a:t>rdd</a:t>
            </a:r>
            <a:r>
              <a:rPr lang="fr-FR" sz="3600"/>
              <a:t>[2]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0610" y="2534920"/>
            <a:ext cx="1145750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1488440" y="2636520"/>
            <a:ext cx="5373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=   rdd1.f2()  .f3()  .f4()</a:t>
            </a:r>
          </a:p>
        </p:txBody>
      </p:sp>
      <p:sp>
        <p:nvSpPr>
          <p:cNvPr id="3" name="Arrow: Left-Up 2"/>
          <p:cNvSpPr/>
          <p:nvPr/>
        </p:nvSpPr>
        <p:spPr>
          <a:xfrm flipH="1">
            <a:off x="3948533" y="4003040"/>
            <a:ext cx="2056026" cy="1547445"/>
          </a:xfrm>
          <a:prstGeom prst="leftUpArrow">
            <a:avLst>
              <a:gd name="adj1" fmla="val 8475"/>
              <a:gd name="adj2" fmla="val 12838"/>
              <a:gd name="adj3" fmla="val 187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Left-Up 12"/>
          <p:cNvSpPr/>
          <p:nvPr/>
        </p:nvSpPr>
        <p:spPr>
          <a:xfrm flipH="1">
            <a:off x="5007452" y="4040554"/>
            <a:ext cx="931068" cy="770206"/>
          </a:xfrm>
          <a:prstGeom prst="leftUpArrow">
            <a:avLst>
              <a:gd name="adj1" fmla="val 16807"/>
              <a:gd name="adj2" fmla="val 24051"/>
              <a:gd name="adj3" fmla="val 325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6338465" y="4307840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/>
          <p:cNvSpPr txBox="1"/>
          <p:nvPr/>
        </p:nvSpPr>
        <p:spPr>
          <a:xfrm>
            <a:off x="7569728" y="4307840"/>
            <a:ext cx="3042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Unnamed</a:t>
            </a:r>
            <a:r>
              <a:rPr lang="fr-FR" sz="3600"/>
              <a:t> </a:t>
            </a:r>
            <a:r>
              <a:rPr lang="fr-FR" sz="3600"/>
              <a:t>rdd</a:t>
            </a:r>
            <a:r>
              <a:rPr lang="fr-FR" sz="3600"/>
              <a:t>[3]</a:t>
            </a:r>
          </a:p>
        </p:txBody>
      </p:sp>
      <p:sp>
        <p:nvSpPr>
          <p:cNvPr id="16" name="Left Brace 15"/>
          <p:cNvSpPr/>
          <p:nvPr/>
        </p:nvSpPr>
        <p:spPr>
          <a:xfrm rot="16200000">
            <a:off x="3770509" y="2461390"/>
            <a:ext cx="439932" cy="179297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eft Brace 16"/>
          <p:cNvSpPr/>
          <p:nvPr/>
        </p:nvSpPr>
        <p:spPr>
          <a:xfrm rot="16200000">
            <a:off x="4611117" y="2728154"/>
            <a:ext cx="439934" cy="1960882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Left-Up 17"/>
          <p:cNvSpPr/>
          <p:nvPr/>
        </p:nvSpPr>
        <p:spPr>
          <a:xfrm flipH="1">
            <a:off x="6115768" y="3234004"/>
            <a:ext cx="931068" cy="770206"/>
          </a:xfrm>
          <a:prstGeom prst="leftUpArrow">
            <a:avLst>
              <a:gd name="adj1" fmla="val 16807"/>
              <a:gd name="adj2" fmla="val 24051"/>
              <a:gd name="adj3" fmla="val 325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/>
          <p:cNvSpPr txBox="1"/>
          <p:nvPr/>
        </p:nvSpPr>
        <p:spPr>
          <a:xfrm>
            <a:off x="7167323" y="3429000"/>
            <a:ext cx="4124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named</a:t>
            </a:r>
            <a:r>
              <a:rPr lang="fr-FR" sz="3600"/>
              <a:t> local var rdd4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6140" y="581961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480610" y="2133600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173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fr-FR"/>
              <a:t>Lazy</a:t>
            </a:r>
            <a:r>
              <a:rPr lang="fr-FR"/>
              <a:t> Transformations … </a:t>
            </a:r>
            <a:r>
              <a:rPr lang="fr-FR"/>
              <a:t>then</a:t>
            </a:r>
            <a:r>
              <a:rPr lang="fr-FR"/>
              <a:t>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8440" y="2133600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639" y="2228805"/>
            <a:ext cx="220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Defined</a:t>
            </a:r>
            <a:r>
              <a:rPr lang="fr-FR"/>
              <a:t>, but </a:t>
            </a:r>
            <a:r>
              <a:rPr lang="fr-FR"/>
              <a:t>lazy</a:t>
            </a:r>
            <a:endParaRPr lang="fr-FR"/>
          </a:p>
          <a:p>
            <a:r>
              <a:rPr lang="fr-FR"/>
              <a:t>=&gt; </a:t>
            </a:r>
            <a:r>
              <a:rPr lang="fr-FR"/>
              <a:t>nothing</a:t>
            </a:r>
            <a:r>
              <a:rPr lang="fr-FR"/>
              <a:t> </a:t>
            </a:r>
            <a:r>
              <a:rPr lang="fr-FR"/>
              <a:t>computed</a:t>
            </a: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480610" y="3103880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488439" y="4158565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1488440" y="320548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 rdd1.f2()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639" y="3443431"/>
            <a:ext cx="220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=&gt; </a:t>
            </a:r>
            <a:r>
              <a:rPr lang="fr-FR"/>
              <a:t>nothing</a:t>
            </a:r>
            <a:r>
              <a:rPr lang="fr-FR"/>
              <a:t> </a:t>
            </a:r>
            <a:r>
              <a:rPr lang="fr-FR"/>
              <a:t>computed</a:t>
            </a:r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1480610" y="419608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rdd2.f3()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7639" y="4439111"/>
            <a:ext cx="220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=&gt; </a:t>
            </a:r>
            <a:r>
              <a:rPr lang="fr-FR"/>
              <a:t>nothing</a:t>
            </a:r>
            <a:r>
              <a:rPr lang="fr-FR"/>
              <a:t> </a:t>
            </a:r>
            <a:r>
              <a:rPr lang="fr-FR"/>
              <a:t>computed</a:t>
            </a:r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00780" y="5819615"/>
            <a:ext cx="284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4419" y="5873432"/>
            <a:ext cx="5492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=&gt; </a:t>
            </a:r>
            <a:r>
              <a:rPr lang="fr-FR" sz="3200"/>
              <a:t>Compute</a:t>
            </a:r>
            <a:r>
              <a:rPr lang="fr-FR" sz="3200"/>
              <a:t>  all :   f3( f2 ( f1() ) )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82834" y="1930595"/>
            <a:ext cx="1543767" cy="124274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626601" y="4284867"/>
            <a:ext cx="2431516" cy="251095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82834" y="3616958"/>
            <a:ext cx="1543767" cy="1242749"/>
          </a:xfrm>
          <a:prstGeom prst="rect">
            <a:avLst/>
          </a:prstGeom>
        </p:spPr>
      </p:pic>
      <p:sp>
        <p:nvSpPr>
          <p:cNvPr id="22" name="Arrow: Curved Right 21"/>
          <p:cNvSpPr/>
          <p:nvPr/>
        </p:nvSpPr>
        <p:spPr>
          <a:xfrm>
            <a:off x="553720" y="2616200"/>
            <a:ext cx="464940" cy="919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Arrow: Curved Right 24"/>
          <p:cNvSpPr/>
          <p:nvPr/>
        </p:nvSpPr>
        <p:spPr>
          <a:xfrm>
            <a:off x="549685" y="3778592"/>
            <a:ext cx="464940" cy="919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Arrow: Curved Right 2"/>
          <p:cNvSpPr/>
          <p:nvPr/>
        </p:nvSpPr>
        <p:spPr>
          <a:xfrm>
            <a:off x="549685" y="4871273"/>
            <a:ext cx="464940" cy="919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endCxn id="4" idx="2"/>
          </p:cNvCxnSpPr>
          <p:nvPr/>
        </p:nvCxnSpPr>
        <p:spPr>
          <a:xfrm flipH="1" flipV="1">
            <a:off x="2558605" y="2779931"/>
            <a:ext cx="765166" cy="485783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2652632" y="3880673"/>
            <a:ext cx="781442" cy="390578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6140" y="581961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480610" y="2133600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86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fr-FR"/>
              <a:t>Compute</a:t>
            </a:r>
            <a:r>
              <a:rPr lang="fr-FR"/>
              <a:t> </a:t>
            </a:r>
            <a:r>
              <a:rPr lang="fr-FR"/>
              <a:t>Backward</a:t>
            </a:r>
            <a:r>
              <a:rPr lang="fr-FR"/>
              <a:t> the </a:t>
            </a:r>
            <a:r>
              <a:rPr lang="fr-FR"/>
              <a:t>Dependency</a:t>
            </a:r>
            <a:r>
              <a:rPr lang="fr-FR"/>
              <a:t> </a:t>
            </a:r>
            <a:r>
              <a:rPr lang="fr-FR"/>
              <a:t>Lineage</a:t>
            </a:r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488440" y="2133600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0610" y="3103880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488439" y="4158565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1488440" y="320548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 rdd1.f2()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0610" y="419608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rdd2.f3()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780" y="5819615"/>
            <a:ext cx="284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4419" y="5873432"/>
            <a:ext cx="5492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=&gt; </a:t>
            </a:r>
            <a:r>
              <a:rPr lang="fr-FR" sz="3200"/>
              <a:t>Compute</a:t>
            </a:r>
            <a:r>
              <a:rPr lang="fr-FR" sz="3200"/>
              <a:t>  all :   f3( f2 ( f1() ) )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26601" y="4284867"/>
            <a:ext cx="2431516" cy="2510954"/>
          </a:xfrm>
          <a:prstGeom prst="rect">
            <a:avLst/>
          </a:prstGeom>
        </p:spPr>
      </p:pic>
      <p:sp>
        <p:nvSpPr>
          <p:cNvPr id="24" name="Arrow: Down 23"/>
          <p:cNvSpPr/>
          <p:nvPr/>
        </p:nvSpPr>
        <p:spPr>
          <a:xfrm rot="10800000">
            <a:off x="737139" y="3724385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Arrow: Down 2"/>
          <p:cNvSpPr/>
          <p:nvPr/>
        </p:nvSpPr>
        <p:spPr>
          <a:xfrm rot="10800000">
            <a:off x="526360" y="2606104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Down 7"/>
          <p:cNvSpPr/>
          <p:nvPr/>
        </p:nvSpPr>
        <p:spPr>
          <a:xfrm rot="10800000">
            <a:off x="1005960" y="4942969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407115" y="5071738"/>
            <a:ext cx="733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need</a:t>
            </a:r>
            <a:r>
              <a:rPr lang="fr-FR"/>
              <a:t> </a:t>
            </a:r>
          </a:p>
          <a:p>
            <a:r>
              <a:rPr lang="fr-FR"/>
              <a:t>eval</a:t>
            </a:r>
            <a:r>
              <a:rPr lang="fr-FR"/>
              <a:t>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34" y="3851313"/>
            <a:ext cx="733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need</a:t>
            </a:r>
            <a:r>
              <a:rPr lang="fr-FR"/>
              <a:t> </a:t>
            </a:r>
          </a:p>
          <a:p>
            <a:r>
              <a:rPr lang="fr-FR"/>
              <a:t>eval</a:t>
            </a:r>
            <a:r>
              <a:rPr lang="fr-FR"/>
              <a:t>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36609" y="2830559"/>
            <a:ext cx="733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need</a:t>
            </a:r>
            <a:r>
              <a:rPr lang="fr-FR"/>
              <a:t> </a:t>
            </a:r>
          </a:p>
          <a:p>
            <a:r>
              <a:rPr lang="fr-FR"/>
              <a:t>eval</a:t>
            </a:r>
            <a:r>
              <a:rPr lang="fr-FR"/>
              <a:t> 1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2542329" y="2875136"/>
            <a:ext cx="781442" cy="390578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2594720" y="3875670"/>
            <a:ext cx="781442" cy="390578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Every re-execution of an RDD</a:t>
            </a:r>
            <a:r>
              <a:rPr lang="fr-FR"/>
              <a:t> </a:t>
            </a:r>
            <a:br>
              <a:rPr lang="fr-FR"/>
            </a:br>
            <a:r>
              <a:rPr lang="fr-FR"/>
              <a:t>=&gt; re-trigger Full </a:t>
            </a:r>
            <a:r>
              <a:rPr lang="fr-FR"/>
              <a:t>Lineage</a:t>
            </a:r>
            <a:r>
              <a:rPr lang="fr-FR"/>
              <a:t> </a:t>
            </a:r>
            <a:r>
              <a:rPr lang="fr-FR"/>
              <a:t>Recomputation</a:t>
            </a:r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176140" y="581961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480610" y="2133600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1488440" y="2133600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0610" y="3103880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488439" y="4158565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1488440" y="320548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 rdd1.f2()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0610" y="419608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rdd2.f3()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780" y="5819615"/>
            <a:ext cx="284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.action();</a:t>
            </a:r>
          </a:p>
        </p:txBody>
      </p:sp>
      <p:sp>
        <p:nvSpPr>
          <p:cNvPr id="18" name="Arrow: Down 17"/>
          <p:cNvSpPr/>
          <p:nvPr/>
        </p:nvSpPr>
        <p:spPr>
          <a:xfrm rot="10800000">
            <a:off x="737139" y="3724385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Down 18"/>
          <p:cNvSpPr/>
          <p:nvPr/>
        </p:nvSpPr>
        <p:spPr>
          <a:xfrm rot="10800000">
            <a:off x="526360" y="2606104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Down 19"/>
          <p:cNvSpPr/>
          <p:nvPr/>
        </p:nvSpPr>
        <p:spPr>
          <a:xfrm rot="10800000">
            <a:off x="1005960" y="4942969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/>
          <p:cNvSpPr txBox="1"/>
          <p:nvPr/>
        </p:nvSpPr>
        <p:spPr>
          <a:xfrm>
            <a:off x="407115" y="5071738"/>
            <a:ext cx="733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need</a:t>
            </a:r>
            <a:r>
              <a:rPr lang="fr-FR"/>
              <a:t> </a:t>
            </a:r>
          </a:p>
          <a:p>
            <a:r>
              <a:rPr lang="fr-FR"/>
              <a:t>eval</a:t>
            </a:r>
            <a:r>
              <a:rPr lang="fr-FR"/>
              <a:t>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34" y="3851313"/>
            <a:ext cx="733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need</a:t>
            </a:r>
            <a:r>
              <a:rPr lang="fr-FR"/>
              <a:t> </a:t>
            </a:r>
          </a:p>
          <a:p>
            <a:r>
              <a:rPr lang="fr-FR"/>
              <a:t>eval</a:t>
            </a:r>
            <a:r>
              <a:rPr lang="fr-FR"/>
              <a:t>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2711" y="581961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607351" y="5819615"/>
            <a:ext cx="284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.action();</a:t>
            </a:r>
          </a:p>
        </p:txBody>
      </p:sp>
      <p:sp>
        <p:nvSpPr>
          <p:cNvPr id="25" name="Arrow: Down 24"/>
          <p:cNvSpPr/>
          <p:nvPr/>
        </p:nvSpPr>
        <p:spPr>
          <a:xfrm rot="10800000">
            <a:off x="6617843" y="3724385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Arrow: Down 25"/>
          <p:cNvSpPr/>
          <p:nvPr/>
        </p:nvSpPr>
        <p:spPr>
          <a:xfrm rot="10800000">
            <a:off x="6407064" y="2606104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Down 26"/>
          <p:cNvSpPr/>
          <p:nvPr/>
        </p:nvSpPr>
        <p:spPr>
          <a:xfrm rot="10800000">
            <a:off x="6886664" y="4942969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/>
          <p:cNvSpPr txBox="1"/>
          <p:nvPr/>
        </p:nvSpPr>
        <p:spPr>
          <a:xfrm>
            <a:off x="7407848" y="4961799"/>
            <a:ext cx="196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re-</a:t>
            </a:r>
            <a:r>
              <a:rPr lang="fr-FR"/>
              <a:t>eval</a:t>
            </a:r>
            <a:r>
              <a:rPr lang="fr-FR"/>
              <a:t> </a:t>
            </a:r>
            <a:r>
              <a:rPr lang="fr-FR"/>
              <a:t>again</a:t>
            </a:r>
            <a:r>
              <a:rPr lang="fr-FR"/>
              <a:t> RDD3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8279" y="3870960"/>
            <a:ext cx="196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re-</a:t>
            </a:r>
            <a:r>
              <a:rPr lang="fr-FR"/>
              <a:t>eval</a:t>
            </a:r>
            <a:r>
              <a:rPr lang="fr-FR"/>
              <a:t> </a:t>
            </a:r>
            <a:r>
              <a:rPr lang="fr-FR"/>
              <a:t>again</a:t>
            </a:r>
            <a:r>
              <a:rPr lang="fr-FR"/>
              <a:t> RDD2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8203" y="2661511"/>
            <a:ext cx="196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re-</a:t>
            </a:r>
            <a:r>
              <a:rPr lang="fr-FR"/>
              <a:t>eval</a:t>
            </a:r>
            <a:r>
              <a:rPr lang="fr-FR"/>
              <a:t> </a:t>
            </a:r>
            <a:r>
              <a:rPr lang="fr-FR"/>
              <a:t>again</a:t>
            </a:r>
            <a:r>
              <a:rPr lang="fr-FR"/>
              <a:t> RDD1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2542329" y="2875136"/>
            <a:ext cx="781442" cy="390578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2594720" y="3875670"/>
            <a:ext cx="781442" cy="390578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ylinder 33"/>
          <p:cNvSpPr/>
          <p:nvPr/>
        </p:nvSpPr>
        <p:spPr>
          <a:xfrm>
            <a:off x="5290219" y="4009048"/>
            <a:ext cx="1566886" cy="507072"/>
          </a:xfrm>
          <a:prstGeom prst="ca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920" y="-1"/>
            <a:ext cx="10515600" cy="85825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fr-FR"/>
              <a:t>.cache()  to </a:t>
            </a:r>
            <a:r>
              <a:rPr lang="fr-FR"/>
              <a:t>Avoid</a:t>
            </a:r>
            <a:r>
              <a:rPr lang="fr-FR"/>
              <a:t> </a:t>
            </a:r>
            <a:r>
              <a:rPr lang="fr-FR"/>
              <a:t>Recomputing</a:t>
            </a:r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2006356" y="523033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371908" y="917322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2379738" y="917322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1908" y="1887602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2379737" y="3162988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2379738" y="1989202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 rdd1.f2()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1908" y="3200503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rdd2.f3()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009" y="5246534"/>
            <a:ext cx="3076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.action3();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835055" y="4811537"/>
            <a:ext cx="10850880" cy="457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42303" y="4275622"/>
            <a:ext cx="255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/>
              <a:t>rdd3</a:t>
            </a:r>
            <a:r>
              <a:rPr lang="fr-FR" sz="3600" b="1"/>
              <a:t>.cache()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835055" y="4858467"/>
            <a:ext cx="10850880" cy="457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row: Down 2"/>
          <p:cNvSpPr/>
          <p:nvPr/>
        </p:nvSpPr>
        <p:spPr>
          <a:xfrm rot="10800000">
            <a:off x="2144638" y="4375816"/>
            <a:ext cx="340360" cy="7103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Down 34"/>
          <p:cNvSpPr/>
          <p:nvPr/>
        </p:nvSpPr>
        <p:spPr>
          <a:xfrm rot="10800000">
            <a:off x="1603101" y="1481070"/>
            <a:ext cx="340360" cy="597375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/>
          <p:cNvSpPr txBox="1"/>
          <p:nvPr/>
        </p:nvSpPr>
        <p:spPr>
          <a:xfrm>
            <a:off x="5910366" y="2554172"/>
            <a:ext cx="2945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computed</a:t>
            </a:r>
            <a:r>
              <a:rPr lang="fr-FR" b="1"/>
              <a:t> on first </a:t>
            </a:r>
            <a:r>
              <a:rPr lang="fr-FR" b="1"/>
              <a:t>evaluation</a:t>
            </a:r>
            <a:endParaRPr lang="fr-FR" b="1"/>
          </a:p>
          <a:p>
            <a:r>
              <a:rPr lang="fr-FR" b="1"/>
              <a:t>then</a:t>
            </a:r>
            <a:r>
              <a:rPr lang="fr-FR" b="1"/>
              <a:t> </a:t>
            </a:r>
            <a:r>
              <a:rPr lang="fr-FR" b="1"/>
              <a:t>cached</a:t>
            </a:r>
            <a:endParaRPr lang="fr-FR" b="1"/>
          </a:p>
        </p:txBody>
      </p:sp>
      <p:sp>
        <p:nvSpPr>
          <p:cNvPr id="40" name="Arrow: Down 39"/>
          <p:cNvSpPr/>
          <p:nvPr/>
        </p:nvSpPr>
        <p:spPr>
          <a:xfrm rot="10800000">
            <a:off x="1865283" y="2691843"/>
            <a:ext cx="340360" cy="597375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/>
          <p:cNvSpPr/>
          <p:nvPr/>
        </p:nvSpPr>
        <p:spPr>
          <a:xfrm>
            <a:off x="7101686" y="5214136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/>
          <p:cNvSpPr txBox="1"/>
          <p:nvPr/>
        </p:nvSpPr>
        <p:spPr>
          <a:xfrm>
            <a:off x="6071339" y="5230335"/>
            <a:ext cx="3076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.action3();</a:t>
            </a:r>
          </a:p>
        </p:txBody>
      </p:sp>
      <p:sp>
        <p:nvSpPr>
          <p:cNvPr id="43" name="Arrow: Down 42"/>
          <p:cNvSpPr/>
          <p:nvPr/>
        </p:nvSpPr>
        <p:spPr>
          <a:xfrm rot="10800000">
            <a:off x="7153849" y="4873693"/>
            <a:ext cx="340360" cy="3156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Arrow: Curved Down 43"/>
          <p:cNvSpPr/>
          <p:nvPr/>
        </p:nvSpPr>
        <p:spPr>
          <a:xfrm rot="1023664">
            <a:off x="3868509" y="3084661"/>
            <a:ext cx="2543433" cy="613832"/>
          </a:xfrm>
          <a:prstGeom prst="curvedDownArrow">
            <a:avLst>
              <a:gd name="adj1" fmla="val 28123"/>
              <a:gd name="adj2" fmla="val 73715"/>
              <a:gd name="adj3" fmla="val 588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5" name="Arrow: Curved Down 44"/>
          <p:cNvSpPr/>
          <p:nvPr/>
        </p:nvSpPr>
        <p:spPr>
          <a:xfrm flipH="1">
            <a:off x="6745315" y="4329584"/>
            <a:ext cx="642455" cy="46418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82884" y="4086088"/>
            <a:ext cx="274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return </a:t>
            </a:r>
            <a:r>
              <a:rPr lang="fr-FR" b="1"/>
              <a:t>cached</a:t>
            </a:r>
            <a:r>
              <a:rPr lang="fr-FR" b="1"/>
              <a:t> on </a:t>
            </a:r>
            <a:r>
              <a:rPr lang="fr-FR" b="1"/>
              <a:t>following</a:t>
            </a:r>
            <a:endParaRPr lang="fr-FR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948300" y="523033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335570" y="1153769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10" y="0"/>
            <a:ext cx="11906552" cy="102169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fr-FR"/>
              <a:t>RDD </a:t>
            </a:r>
            <a:r>
              <a:rPr lang="fr-FR"/>
              <a:t>Shared</a:t>
            </a:r>
            <a:r>
              <a:rPr lang="fr-FR"/>
              <a:t> &amp; </a:t>
            </a:r>
            <a:r>
              <a:rPr lang="fr-FR"/>
              <a:t>Lazy</a:t>
            </a:r>
            <a:r>
              <a:rPr lang="fr-FR"/>
              <a:t> … not </a:t>
            </a:r>
            <a:r>
              <a:rPr lang="fr-FR"/>
              <a:t>necessarily</a:t>
            </a:r>
            <a:r>
              <a:rPr lang="fr-FR"/>
              <a:t> "efficient"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1153769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5570" y="2124049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260599" y="3569285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4343400" y="2225649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 rdd1.f2()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2770" y="360680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rdd2.f3()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940" y="5230335"/>
            <a:ext cx="3076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.action3();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192" y="6100339"/>
            <a:ext cx="5492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=&gt; </a:t>
            </a:r>
            <a:r>
              <a:rPr lang="fr-FR" sz="3200"/>
              <a:t>Compute</a:t>
            </a:r>
            <a:r>
              <a:rPr lang="fr-FR" sz="3200"/>
              <a:t>  all :   f3( </a:t>
            </a:r>
            <a:r>
              <a:rPr lang="fr-FR" sz="3200" b="1"/>
              <a:t>f2 ( f1() ) </a:t>
            </a:r>
            <a:r>
              <a:rPr lang="fr-FR" sz="3200"/>
              <a:t>)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38287" y="4735622"/>
            <a:ext cx="1407205" cy="145317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071360" y="5162952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/>
          <p:cNvSpPr txBox="1"/>
          <p:nvPr/>
        </p:nvSpPr>
        <p:spPr>
          <a:xfrm>
            <a:off x="6096000" y="5162952"/>
            <a:ext cx="3076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.action4();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9290" y="6077008"/>
            <a:ext cx="5492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=&gt; </a:t>
            </a:r>
            <a:r>
              <a:rPr lang="fr-FR" sz="3200"/>
              <a:t>Compute</a:t>
            </a:r>
            <a:r>
              <a:rPr lang="fr-FR" sz="3200"/>
              <a:t>  all :   f4( </a:t>
            </a:r>
            <a:r>
              <a:rPr lang="fr-FR" sz="3200" b="1"/>
              <a:t>f2 ( f1() )</a:t>
            </a:r>
            <a:r>
              <a:rPr lang="fr-FR" sz="3200"/>
              <a:t> )</a:t>
            </a:r>
          </a:p>
        </p:txBody>
      </p:sp>
      <p:sp>
        <p:nvSpPr>
          <p:cNvPr id="29" name="Arrow: Down 28"/>
          <p:cNvSpPr/>
          <p:nvPr/>
        </p:nvSpPr>
        <p:spPr>
          <a:xfrm rot="10800000">
            <a:off x="6530946" y="4469229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7247994" y="3636456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/>
          <p:cNvSpPr txBox="1"/>
          <p:nvPr/>
        </p:nvSpPr>
        <p:spPr>
          <a:xfrm>
            <a:off x="7240165" y="3673971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= rdd2.f4()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38592" y="4637146"/>
            <a:ext cx="1407205" cy="1453179"/>
          </a:xfrm>
          <a:prstGeom prst="rect">
            <a:avLst/>
          </a:prstGeom>
        </p:spPr>
      </p:pic>
      <p:sp>
        <p:nvSpPr>
          <p:cNvPr id="34" name="Left Brace 33"/>
          <p:cNvSpPr/>
          <p:nvPr/>
        </p:nvSpPr>
        <p:spPr>
          <a:xfrm rot="16200000">
            <a:off x="4866469" y="5969988"/>
            <a:ext cx="260063" cy="146747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Left Brace 34"/>
          <p:cNvSpPr/>
          <p:nvPr/>
        </p:nvSpPr>
        <p:spPr>
          <a:xfrm rot="16200000">
            <a:off x="10652590" y="5951375"/>
            <a:ext cx="260063" cy="146747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Left Brace 35"/>
          <p:cNvSpPr/>
          <p:nvPr/>
        </p:nvSpPr>
        <p:spPr>
          <a:xfrm rot="10800000">
            <a:off x="8297610" y="1348298"/>
            <a:ext cx="260063" cy="146747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/>
          <p:cNvSpPr txBox="1"/>
          <p:nvPr/>
        </p:nvSpPr>
        <p:spPr>
          <a:xfrm>
            <a:off x="8666480" y="1774661"/>
            <a:ext cx="311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Computed</a:t>
            </a:r>
            <a:r>
              <a:rPr lang="fr-FR" sz="3200"/>
              <a:t> TWICE</a:t>
            </a:r>
          </a:p>
        </p:txBody>
      </p:sp>
      <p:sp>
        <p:nvSpPr>
          <p:cNvPr id="6" name="Arrow: Down 5"/>
          <p:cNvSpPr/>
          <p:nvPr/>
        </p:nvSpPr>
        <p:spPr>
          <a:xfrm rot="10800000">
            <a:off x="2564916" y="4439289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Down 7"/>
          <p:cNvSpPr/>
          <p:nvPr/>
        </p:nvSpPr>
        <p:spPr>
          <a:xfrm rot="13135717">
            <a:off x="3559302" y="2791022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Down 10"/>
          <p:cNvSpPr/>
          <p:nvPr/>
        </p:nvSpPr>
        <p:spPr>
          <a:xfrm rot="7924998">
            <a:off x="5693251" y="2803827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Down 12"/>
          <p:cNvSpPr/>
          <p:nvPr/>
        </p:nvSpPr>
        <p:spPr>
          <a:xfrm rot="10800000">
            <a:off x="3736755" y="1628274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Down 16"/>
          <p:cNvSpPr/>
          <p:nvPr/>
        </p:nvSpPr>
        <p:spPr>
          <a:xfrm rot="10800000">
            <a:off x="5501224" y="1667191"/>
            <a:ext cx="340360" cy="59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ylinder 33"/>
          <p:cNvSpPr/>
          <p:nvPr/>
        </p:nvSpPr>
        <p:spPr>
          <a:xfrm>
            <a:off x="5310929" y="2976904"/>
            <a:ext cx="1566886" cy="507072"/>
          </a:xfrm>
          <a:prstGeom prst="ca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920" y="-1"/>
            <a:ext cx="10515600" cy="103324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fr-FR"/>
              <a:t>Cache </a:t>
            </a:r>
            <a:r>
              <a:rPr lang="fr-FR"/>
              <a:t>common</a:t>
            </a:r>
            <a:r>
              <a:rPr lang="fr-FR"/>
              <a:t> </a:t>
            </a:r>
            <a:r>
              <a:rPr lang="fr-FR"/>
              <a:t>intermediate</a:t>
            </a:r>
            <a:r>
              <a:rPr lang="fr-FR"/>
              <a:t> </a:t>
            </a:r>
            <a:r>
              <a:rPr lang="fr-FR"/>
              <a:t>Result</a:t>
            </a:r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2006356" y="5230335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335570" y="1153769"/>
            <a:ext cx="1069549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4343400" y="1153769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Rdd1 =f1()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5570" y="2124049"/>
            <a:ext cx="1061719" cy="767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2260599" y="3909645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4343400" y="2225649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Rdd2 = rdd1.f2()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2770" y="3947160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= rdd2.f3()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009" y="5246534"/>
            <a:ext cx="3076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rdd3 .action3();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92" y="6100339"/>
            <a:ext cx="5443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=&gt; </a:t>
            </a:r>
            <a:r>
              <a:rPr lang="fr-FR" sz="3200"/>
              <a:t>Compute</a:t>
            </a:r>
            <a:r>
              <a:rPr lang="fr-FR" sz="3200"/>
              <a:t>  all :   f3( </a:t>
            </a:r>
            <a:r>
              <a:rPr lang="fr-FR" sz="3200" b="1"/>
              <a:t>cached2 </a:t>
            </a:r>
            <a:r>
              <a:rPr lang="fr-FR" sz="3200"/>
              <a:t>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38287" y="4735622"/>
            <a:ext cx="1407205" cy="145317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122751" y="5297470"/>
            <a:ext cx="1940560" cy="72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/>
          <p:cNvSpPr txBox="1"/>
          <p:nvPr/>
        </p:nvSpPr>
        <p:spPr>
          <a:xfrm>
            <a:off x="6095998" y="5277314"/>
            <a:ext cx="3076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.action4();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9290" y="6077008"/>
            <a:ext cx="5443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=&gt; </a:t>
            </a:r>
            <a:r>
              <a:rPr lang="fr-FR" sz="3200"/>
              <a:t>Compute</a:t>
            </a:r>
            <a:r>
              <a:rPr lang="fr-FR" sz="3200"/>
              <a:t>  all :   f4( </a:t>
            </a:r>
            <a:r>
              <a:rPr lang="fr-FR" sz="3200" b="1"/>
              <a:t>cached2 </a:t>
            </a:r>
            <a:r>
              <a:rPr lang="fr-FR" sz="3200"/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7994" y="3976816"/>
            <a:ext cx="1061719" cy="721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/>
          <p:cNvSpPr txBox="1"/>
          <p:nvPr/>
        </p:nvSpPr>
        <p:spPr>
          <a:xfrm>
            <a:off x="7240165" y="4014331"/>
            <a:ext cx="322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Rdd4 = rdd2.f4()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289701" y="4760370"/>
            <a:ext cx="1407205" cy="1453179"/>
          </a:xfrm>
          <a:prstGeom prst="rect">
            <a:avLst/>
          </a:prstGeom>
        </p:spPr>
      </p:pic>
      <p:sp>
        <p:nvSpPr>
          <p:cNvPr id="25" name="Left Brace 24"/>
          <p:cNvSpPr/>
          <p:nvPr/>
        </p:nvSpPr>
        <p:spPr>
          <a:xfrm rot="16200000">
            <a:off x="4866469" y="5969988"/>
            <a:ext cx="260063" cy="146747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Left Brace 25"/>
          <p:cNvSpPr/>
          <p:nvPr/>
        </p:nvSpPr>
        <p:spPr>
          <a:xfrm rot="16200000">
            <a:off x="10652590" y="5951375"/>
            <a:ext cx="260063" cy="146747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Left Brace 26"/>
          <p:cNvSpPr/>
          <p:nvPr/>
        </p:nvSpPr>
        <p:spPr>
          <a:xfrm rot="10800000">
            <a:off x="7946075" y="2787992"/>
            <a:ext cx="363638" cy="69459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/>
          <p:cNvSpPr txBox="1"/>
          <p:nvPr/>
        </p:nvSpPr>
        <p:spPr>
          <a:xfrm>
            <a:off x="8543423" y="2435283"/>
            <a:ext cx="29854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/>
              <a:t>Force (non-</a:t>
            </a:r>
            <a:r>
              <a:rPr lang="fr-FR" sz="3200"/>
              <a:t>lazy</a:t>
            </a:r>
            <a:r>
              <a:rPr lang="fr-FR" sz="3200"/>
              <a:t>) </a:t>
            </a:r>
          </a:p>
          <a:p>
            <a:r>
              <a:rPr lang="fr-FR" sz="3200"/>
              <a:t>Computed</a:t>
            </a:r>
            <a:r>
              <a:rPr lang="fr-FR" sz="3200"/>
              <a:t> ONCE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716280" y="3493488"/>
            <a:ext cx="10850880" cy="457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35571" y="2891129"/>
            <a:ext cx="255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/>
              <a:t>rdd2</a:t>
            </a:r>
            <a:r>
              <a:rPr lang="fr-FR" sz="3600" b="1"/>
              <a:t>.cache()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716280" y="3540418"/>
            <a:ext cx="10850880" cy="457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row: Down 2"/>
          <p:cNvSpPr/>
          <p:nvPr/>
        </p:nvSpPr>
        <p:spPr>
          <a:xfrm rot="10800000">
            <a:off x="2717316" y="4668519"/>
            <a:ext cx="340360" cy="5205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Down 28"/>
          <p:cNvSpPr/>
          <p:nvPr/>
        </p:nvSpPr>
        <p:spPr>
          <a:xfrm rot="13135717">
            <a:off x="3595859" y="2902480"/>
            <a:ext cx="340360" cy="966095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Down 34"/>
          <p:cNvSpPr/>
          <p:nvPr/>
        </p:nvSpPr>
        <p:spPr>
          <a:xfrm rot="10800000">
            <a:off x="3889155" y="1780674"/>
            <a:ext cx="340360" cy="597375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/>
          <p:cNvSpPr txBox="1"/>
          <p:nvPr/>
        </p:nvSpPr>
        <p:spPr>
          <a:xfrm>
            <a:off x="1531302" y="2732333"/>
            <a:ext cx="2382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computed on first access</a:t>
            </a:r>
            <a:endParaRPr lang="fr-FR" b="1"/>
          </a:p>
          <a:p>
            <a:r>
              <a:rPr lang="fr-FR" b="1"/>
              <a:t>then</a:t>
            </a:r>
            <a:r>
              <a:rPr lang="fr-FR" b="1"/>
              <a:t> </a:t>
            </a:r>
            <a:r>
              <a:rPr lang="fr-FR" b="1"/>
              <a:t>cached</a:t>
            </a:r>
            <a:endParaRPr lang="fr-FR" b="1"/>
          </a:p>
        </p:txBody>
      </p:sp>
      <p:sp>
        <p:nvSpPr>
          <p:cNvPr id="37" name="Arrow: Down 36"/>
          <p:cNvSpPr/>
          <p:nvPr/>
        </p:nvSpPr>
        <p:spPr>
          <a:xfrm rot="7973250">
            <a:off x="6436797" y="3488405"/>
            <a:ext cx="340360" cy="597375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Down 37"/>
          <p:cNvSpPr/>
          <p:nvPr/>
        </p:nvSpPr>
        <p:spPr>
          <a:xfrm rot="10800000">
            <a:off x="7634305" y="4727204"/>
            <a:ext cx="340360" cy="5205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".cache()" </a:t>
            </a:r>
            <a:r>
              <a:rPr lang="fr-FR"/>
              <a:t>synonym</a:t>
            </a:r>
            <a:r>
              <a:rPr lang="fr-FR"/>
              <a:t> of  ".</a:t>
            </a:r>
            <a:r>
              <a:rPr lang="fr-FR"/>
              <a:t>persist</a:t>
            </a:r>
            <a:r>
              <a:rPr lang="fr-FR"/>
              <a:t>()"</a:t>
            </a:r>
            <a:br>
              <a:rPr lang="fr-FR"/>
            </a:br>
            <a:r>
              <a:rPr lang="fr-FR"/>
              <a:t>is</a:t>
            </a:r>
            <a:r>
              <a:rPr lang="fr-FR"/>
              <a:t> </a:t>
            </a:r>
            <a:r>
              <a:rPr lang="fr-FR"/>
              <a:t>special</a:t>
            </a:r>
            <a:r>
              <a:rPr lang="fr-FR"/>
              <a:t> exception in Spark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456" y="2264228"/>
            <a:ext cx="85635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".cache()" or ".persist()" are</a:t>
            </a:r>
            <a:r>
              <a:rPr lang="fr-FR" sz="2400"/>
              <a:t>  VERY SPECIAL </a:t>
            </a:r>
            <a:r>
              <a:rPr lang="fr-FR" sz="2400"/>
              <a:t>among</a:t>
            </a:r>
            <a:r>
              <a:rPr lang="fr-FR" sz="2400"/>
              <a:t> all Spark APIs</a:t>
            </a:r>
          </a:p>
          <a:p>
            <a:endParaRPr lang="fr-FR" sz="2400"/>
          </a:p>
          <a:p>
            <a:r>
              <a:rPr lang="fr-FR" sz="2400"/>
              <a:t>- RDD/</a:t>
            </a:r>
            <a:r>
              <a:rPr lang="fr-FR" sz="2400"/>
              <a:t>Dataset</a:t>
            </a:r>
            <a:r>
              <a:rPr lang="fr-FR" sz="2400"/>
              <a:t> are immutable</a:t>
            </a:r>
          </a:p>
          <a:p>
            <a:r>
              <a:rPr lang="fr-FR" sz="2400"/>
              <a:t>- APIs return a new </a:t>
            </a:r>
            <a:r>
              <a:rPr lang="fr-FR" sz="2400"/>
              <a:t>transformed</a:t>
            </a:r>
            <a:r>
              <a:rPr lang="fr-FR" sz="2400"/>
              <a:t> RDD/</a:t>
            </a:r>
            <a:r>
              <a:rPr lang="fr-FR" sz="2400"/>
              <a:t>Dataset</a:t>
            </a:r>
            <a:endParaRPr lang="fr-FR" sz="2400"/>
          </a:p>
          <a:p>
            <a:endParaRPr lang="fr-FR" sz="2400"/>
          </a:p>
          <a:p>
            <a:r>
              <a:rPr lang="fr-FR" sz="2400" b="1"/>
              <a:t>BUT ".cache()" </a:t>
            </a:r>
            <a:r>
              <a:rPr lang="fr-FR" sz="2400" b="1"/>
              <a:t>is</a:t>
            </a:r>
            <a:r>
              <a:rPr lang="fr-FR" sz="2400" b="1"/>
              <a:t> THE exception :</a:t>
            </a:r>
          </a:p>
          <a:p>
            <a:r>
              <a:rPr lang="fr-FR" sz="2400"/>
              <a:t>- </a:t>
            </a:r>
            <a:r>
              <a:rPr lang="fr-FR" sz="2400"/>
              <a:t>it</a:t>
            </a:r>
            <a:r>
              <a:rPr lang="fr-FR" sz="2400"/>
              <a:t> modifies a </a:t>
            </a:r>
            <a:r>
              <a:rPr lang="fr-FR" sz="2400"/>
              <a:t>field</a:t>
            </a:r>
            <a:r>
              <a:rPr lang="fr-FR" sz="2400"/>
              <a:t> flag in the RDD</a:t>
            </a:r>
          </a:p>
          <a:p>
            <a:r>
              <a:rPr lang="fr-FR" sz="2400"/>
              <a:t>- cache() </a:t>
            </a:r>
            <a:r>
              <a:rPr lang="fr-FR" sz="2400"/>
              <a:t>does</a:t>
            </a:r>
            <a:r>
              <a:rPr lang="fr-FR" sz="2400"/>
              <a:t> not </a:t>
            </a:r>
            <a:r>
              <a:rPr lang="fr-FR" sz="2400"/>
              <a:t>create</a:t>
            </a:r>
            <a:r>
              <a:rPr lang="fr-FR" sz="2400"/>
              <a:t> or return a new </a:t>
            </a:r>
            <a:r>
              <a:rPr lang="fr-FR" sz="2400"/>
              <a:t>object</a:t>
            </a:r>
            <a:r>
              <a:rPr lang="fr-FR" sz="2400"/>
              <a:t>, </a:t>
            </a:r>
            <a:r>
              <a:rPr lang="fr-FR" sz="2400"/>
              <a:t>it</a:t>
            </a:r>
            <a:r>
              <a:rPr lang="fr-FR" sz="2400"/>
              <a:t> </a:t>
            </a:r>
            <a:r>
              <a:rPr lang="fr-FR" sz="2400"/>
              <a:t>reuses</a:t>
            </a:r>
            <a:r>
              <a:rPr lang="fr-FR" sz="2400"/>
              <a:t> the </a:t>
            </a:r>
            <a:r>
              <a:rPr lang="fr-FR" sz="2400"/>
              <a:t>same</a:t>
            </a:r>
            <a:endParaRPr lang="fr-F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1073" y="0"/>
            <a:ext cx="107898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7148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.cache()  … using Memory + Disk (SWAP)</a:t>
            </a:r>
          </a:p>
        </p:txBody>
      </p:sp>
      <p:pic>
        <p:nvPicPr>
          <p:cNvPr id="1154" name="Picture 2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" y="3276600"/>
            <a:ext cx="10972800" cy="3274074"/>
          </a:xfrm>
          <a:prstGeom prst="rect">
            <a:avLst/>
          </a:prstGeom>
        </p:spPr>
      </p:pic>
      <p:pic>
        <p:nvPicPr>
          <p:cNvPr id="1158" name="Picture 3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" y="957148"/>
            <a:ext cx="10972800" cy="19074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75783" cy="1264096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Memory (and Disk) are </a:t>
            </a:r>
            <a:r>
              <a:rPr lang="fr-FR"/>
              <a:t>very</a:t>
            </a:r>
            <a:r>
              <a:rPr lang="fr-FR"/>
              <a:t> Limited </a:t>
            </a:r>
            <a:br>
              <a:rPr lang="fr-FR"/>
            </a:br>
            <a:r>
              <a:rPr lang="fr-FR"/>
              <a:t>Executor</a:t>
            </a:r>
            <a:r>
              <a:rPr lang="fr-FR"/>
              <a:t> </a:t>
            </a:r>
            <a:r>
              <a:rPr lang="fr-FR"/>
              <a:t>Resources</a:t>
            </a:r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2796315" y="1475620"/>
            <a:ext cx="71902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/>
              <a:t>you</a:t>
            </a:r>
            <a:r>
              <a:rPr lang="fr-FR" sz="2000"/>
              <a:t> can not cache "</a:t>
            </a:r>
            <a:r>
              <a:rPr lang="fr-FR" sz="2000"/>
              <a:t>too</a:t>
            </a:r>
            <a:r>
              <a:rPr lang="fr-FR" sz="2000"/>
              <a:t> </a:t>
            </a:r>
            <a:r>
              <a:rPr lang="fr-FR" sz="2000"/>
              <a:t>much</a:t>
            </a:r>
            <a:r>
              <a:rPr lang="fr-FR" sz="2000"/>
              <a:t>"  data.</a:t>
            </a:r>
          </a:p>
          <a:p>
            <a:r>
              <a:rPr lang="fr-FR" sz="2000"/>
              <a:t>Do it only when re-using</a:t>
            </a:r>
            <a:r>
              <a:rPr lang="fr-FR" sz="2000"/>
              <a:t> </a:t>
            </a:r>
            <a:r>
              <a:rPr lang="fr-FR" sz="2000"/>
              <a:t>may</a:t>
            </a:r>
            <a:r>
              <a:rPr lang="fr-FR" sz="2000"/>
              <a:t> </a:t>
            </a:r>
            <a:r>
              <a:rPr lang="fr-FR" sz="2000"/>
              <a:t>be</a:t>
            </a:r>
            <a:r>
              <a:rPr lang="fr-FR" sz="2000"/>
              <a:t> </a:t>
            </a:r>
            <a:r>
              <a:rPr lang="fr-FR" sz="2000"/>
              <a:t>faster</a:t>
            </a:r>
            <a:r>
              <a:rPr lang="fr-FR" sz="2000"/>
              <a:t> </a:t>
            </a:r>
            <a:r>
              <a:rPr lang="fr-FR" sz="2000"/>
              <a:t>than</a:t>
            </a:r>
            <a:r>
              <a:rPr lang="fr-FR" sz="2000"/>
              <a:t> </a:t>
            </a:r>
            <a:r>
              <a:rPr lang="fr-FR" sz="2000"/>
              <a:t>recomputing</a:t>
            </a:r>
            <a:r>
              <a:rPr lang="fr-FR" sz="2000"/>
              <a:t>.</a:t>
            </a:r>
          </a:p>
          <a:p>
            <a:endParaRPr lang="fr-FR" sz="2000"/>
          </a:p>
          <a:p>
            <a:r>
              <a:rPr lang="fr-FR" sz="2000"/>
              <a:t>when there is not enough MEMORY, it will use</a:t>
            </a:r>
            <a:r>
              <a:rPr lang="fr-FR" sz="2000"/>
              <a:t> "DISK"</a:t>
            </a:r>
          </a:p>
          <a:p>
            <a:endParaRPr lang="fr-FR" sz="2000"/>
          </a:p>
          <a:p>
            <a:endParaRPr lang="fr-FR" sz="2000"/>
          </a:p>
          <a:p>
            <a:r>
              <a:rPr lang="fr-FR" sz="2000"/>
              <a:t>Disk </a:t>
            </a:r>
            <a:r>
              <a:rPr lang="fr-FR" sz="2000"/>
              <a:t>may</a:t>
            </a:r>
            <a:r>
              <a:rPr lang="fr-FR" sz="2000"/>
              <a:t> </a:t>
            </a:r>
            <a:r>
              <a:rPr lang="fr-FR" sz="2000"/>
              <a:t>be</a:t>
            </a:r>
            <a:r>
              <a:rPr lang="fr-FR" sz="2000"/>
              <a:t> </a:t>
            </a:r>
            <a:r>
              <a:rPr lang="fr-FR" sz="2000"/>
              <a:t>slower</a:t>
            </a:r>
            <a:r>
              <a:rPr lang="fr-FR" sz="2000"/>
              <a:t> </a:t>
            </a:r>
            <a:r>
              <a:rPr lang="fr-FR" sz="2000"/>
              <a:t>than</a:t>
            </a:r>
            <a:r>
              <a:rPr lang="fr-FR" sz="2000"/>
              <a:t> </a:t>
            </a:r>
            <a:r>
              <a:rPr lang="fr-FR" sz="2000"/>
              <a:t>recomputing</a:t>
            </a:r>
            <a:r>
              <a:rPr lang="fr-FR" sz="2000"/>
              <a:t> / re-</a:t>
            </a:r>
            <a:r>
              <a:rPr lang="fr-FR" sz="2000"/>
              <a:t>fetching</a:t>
            </a:r>
            <a:r>
              <a:rPr lang="fr-FR" sz="2000"/>
              <a:t> the source </a:t>
            </a:r>
            <a:r>
              <a:rPr lang="fr-FR" sz="2000"/>
              <a:t>itself</a:t>
            </a:r>
            <a:endParaRPr lang="fr-FR" sz="2000"/>
          </a:p>
          <a:p>
            <a:endParaRPr lang="fr-FR" sz="2000"/>
          </a:p>
          <a:p>
            <a:r>
              <a:rPr lang="fr-FR" sz="2000"/>
              <a:t>Memory and Disk are per executor</a:t>
            </a:r>
            <a:r>
              <a:rPr lang="fr-FR" sz="2000"/>
              <a:t>  (per block files)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3647580" y="5708695"/>
            <a:ext cx="469399" cy="220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3231608" y="5339363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Spark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8294" y="4831532"/>
            <a:ext cx="15260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{</a:t>
            </a:r>
          </a:p>
          <a:p>
            <a:r>
              <a:rPr lang="fr-FR"/>
              <a:t>   val </a:t>
            </a:r>
            <a:r>
              <a:rPr lang="fr-FR"/>
              <a:t>ds</a:t>
            </a:r>
            <a:r>
              <a:rPr lang="fr-FR"/>
              <a:t> = ... ;</a:t>
            </a:r>
          </a:p>
          <a:p>
            <a:r>
              <a:rPr lang="fr-FR"/>
              <a:t>   </a:t>
            </a:r>
            <a:r>
              <a:rPr lang="fr-FR" b="1"/>
              <a:t>ds.cache</a:t>
            </a:r>
            <a:r>
              <a:rPr lang="fr-FR" b="1"/>
              <a:t>()</a:t>
            </a:r>
          </a:p>
          <a:p>
            <a:r>
              <a:rPr lang="fr-FR"/>
              <a:t>   .. usage1(</a:t>
            </a:r>
            <a:r>
              <a:rPr lang="fr-FR"/>
              <a:t>ds</a:t>
            </a:r>
            <a:r>
              <a:rPr lang="fr-FR"/>
              <a:t>)</a:t>
            </a:r>
          </a:p>
          <a:p>
            <a:r>
              <a:rPr lang="fr-FR"/>
              <a:t>   .. usage2(</a:t>
            </a:r>
            <a:r>
              <a:rPr lang="fr-FR"/>
              <a:t>ds</a:t>
            </a:r>
            <a:r>
              <a:rPr lang="fr-FR"/>
              <a:t>)</a:t>
            </a:r>
          </a:p>
          <a:p>
            <a:r>
              <a:rPr lang="fr-FR"/>
              <a:t>}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5215467" y="5145607"/>
            <a:ext cx="1175967" cy="473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5025881" y="4784228"/>
            <a:ext cx="186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Spark executor 1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5215467" y="5995865"/>
            <a:ext cx="1175967" cy="473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025881" y="5634486"/>
            <a:ext cx="186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Spark executor 2</a:t>
            </a:r>
          </a:p>
        </p:txBody>
      </p:sp>
      <p:sp>
        <p:nvSpPr>
          <p:cNvPr id="13" name="Cylinder 12"/>
          <p:cNvSpPr/>
          <p:nvPr/>
        </p:nvSpPr>
        <p:spPr>
          <a:xfrm>
            <a:off x="6720116" y="6065443"/>
            <a:ext cx="580570" cy="4193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5481870" y="5243957"/>
            <a:ext cx="478972" cy="1838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596169" y="5369902"/>
            <a:ext cx="478972" cy="1838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5481870" y="6146859"/>
            <a:ext cx="478972" cy="1838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6824736" y="6201292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ylinder 17"/>
          <p:cNvSpPr/>
          <p:nvPr/>
        </p:nvSpPr>
        <p:spPr>
          <a:xfrm>
            <a:off x="6695936" y="5134450"/>
            <a:ext cx="580570" cy="4193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6800556" y="5270299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6872515" y="5324547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6962621" y="5379670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Do </a:t>
            </a:r>
            <a:r>
              <a:rPr lang="fr-FR"/>
              <a:t>you</a:t>
            </a:r>
            <a:r>
              <a:rPr lang="fr-FR"/>
              <a:t> </a:t>
            </a:r>
            <a:r>
              <a:rPr lang="fr-FR"/>
              <a:t>need</a:t>
            </a:r>
            <a:r>
              <a:rPr lang="fr-FR"/>
              <a:t> to ".</a:t>
            </a:r>
            <a:r>
              <a:rPr lang="fr-FR"/>
              <a:t>unpersist</a:t>
            </a:r>
            <a:r>
              <a:rPr lang="fr-FR"/>
              <a:t>()" ? </a:t>
            </a:r>
            <a:br>
              <a:rPr lang="fr-FR"/>
            </a:br>
            <a:r>
              <a:rPr lang="fr-FR"/>
              <a:t>What</a:t>
            </a:r>
            <a:r>
              <a:rPr lang="fr-FR"/>
              <a:t> if </a:t>
            </a:r>
            <a:r>
              <a:rPr lang="fr-FR"/>
              <a:t>you</a:t>
            </a:r>
            <a:r>
              <a:rPr lang="fr-FR"/>
              <a:t> </a:t>
            </a:r>
            <a:r>
              <a:rPr lang="fr-FR"/>
              <a:t>don't</a:t>
            </a:r>
            <a:r>
              <a:rPr lang="fr-FR"/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88142" y="2325398"/>
            <a:ext cx="15260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{</a:t>
            </a:r>
          </a:p>
          <a:p>
            <a:r>
              <a:rPr lang="fr-FR"/>
              <a:t>   val </a:t>
            </a:r>
            <a:r>
              <a:rPr lang="fr-FR"/>
              <a:t>ds</a:t>
            </a:r>
            <a:r>
              <a:rPr lang="fr-FR"/>
              <a:t> = ... ;</a:t>
            </a:r>
          </a:p>
          <a:p>
            <a:r>
              <a:rPr lang="fr-FR"/>
              <a:t>   </a:t>
            </a:r>
            <a:r>
              <a:rPr lang="fr-FR" b="1"/>
              <a:t>ds.cache</a:t>
            </a:r>
            <a:r>
              <a:rPr lang="fr-FR" b="1"/>
              <a:t>()</a:t>
            </a:r>
          </a:p>
          <a:p>
            <a:r>
              <a:rPr lang="fr-FR"/>
              <a:t>   .. usage1(</a:t>
            </a:r>
            <a:r>
              <a:rPr lang="fr-FR"/>
              <a:t>ds</a:t>
            </a:r>
            <a:r>
              <a:rPr lang="fr-FR"/>
              <a:t>)</a:t>
            </a:r>
          </a:p>
          <a:p>
            <a:r>
              <a:rPr lang="fr-FR"/>
              <a:t>   .. usage2(</a:t>
            </a:r>
            <a:r>
              <a:rPr lang="fr-FR"/>
              <a:t>ds</a:t>
            </a:r>
            <a:r>
              <a:rPr lang="fr-FR"/>
              <a:t>)</a:t>
            </a:r>
          </a:p>
          <a:p>
            <a:r>
              <a:rPr lang="fr-FR"/>
              <a:t>}</a:t>
            </a:r>
          </a:p>
        </p:txBody>
      </p:sp>
      <p:sp>
        <p:nvSpPr>
          <p:cNvPr id="5" name="Arrow: Right 4"/>
          <p:cNvSpPr/>
          <p:nvPr/>
        </p:nvSpPr>
        <p:spPr>
          <a:xfrm>
            <a:off x="1712686" y="3831772"/>
            <a:ext cx="875456" cy="362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769257" y="4315581"/>
            <a:ext cx="1105591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thread variable "</a:t>
            </a:r>
            <a:r>
              <a:rPr lang="fr-FR"/>
              <a:t>ds</a:t>
            </a:r>
            <a:r>
              <a:rPr lang="fr-FR"/>
              <a:t>" </a:t>
            </a:r>
            <a:r>
              <a:rPr lang="fr-FR"/>
              <a:t>is</a:t>
            </a:r>
            <a:r>
              <a:rPr lang="fr-FR"/>
              <a:t> NOT more accessible </a:t>
            </a:r>
            <a:r>
              <a:rPr lang="fr-FR"/>
              <a:t>after</a:t>
            </a:r>
            <a:r>
              <a:rPr lang="fr-FR"/>
              <a:t> "}"</a:t>
            </a:r>
          </a:p>
          <a:p>
            <a:endParaRPr lang="fr-FR"/>
          </a:p>
          <a:p>
            <a:r>
              <a:rPr lang="fr-FR"/>
              <a:t>The JVM  </a:t>
            </a:r>
            <a:r>
              <a:rPr lang="fr-FR"/>
              <a:t>garbage collector</a:t>
            </a:r>
            <a:r>
              <a:rPr lang="fr-FR"/>
              <a:t> can reclaim "</a:t>
            </a:r>
            <a:r>
              <a:rPr lang="fr-FR"/>
              <a:t>ds</a:t>
            </a:r>
            <a:r>
              <a:rPr lang="fr-FR"/>
              <a:t>" memory on driver</a:t>
            </a:r>
          </a:p>
          <a:p>
            <a:endParaRPr lang="fr-FR"/>
          </a:p>
          <a:p>
            <a:r>
              <a:rPr lang="fr-FR"/>
              <a:t>=&gt; </a:t>
            </a:r>
            <a:r>
              <a:rPr lang="fr-FR"/>
              <a:t>spark</a:t>
            </a:r>
            <a:r>
              <a:rPr lang="fr-FR"/>
              <a:t> </a:t>
            </a:r>
            <a:r>
              <a:rPr lang="fr-FR"/>
              <a:t>will</a:t>
            </a:r>
            <a:r>
              <a:rPr lang="fr-FR"/>
              <a:t> </a:t>
            </a:r>
            <a:r>
              <a:rPr lang="fr-FR"/>
              <a:t>automatically</a:t>
            </a:r>
            <a:r>
              <a:rPr lang="fr-FR"/>
              <a:t>  release </a:t>
            </a:r>
            <a:r>
              <a:rPr lang="fr-FR"/>
              <a:t>corresponding</a:t>
            </a:r>
            <a:r>
              <a:rPr lang="fr-FR"/>
              <a:t> blocks (MEMORY / DISK) on all </a:t>
            </a:r>
            <a:r>
              <a:rPr lang="fr-FR"/>
              <a:t>executors</a:t>
            </a:r>
            <a:endParaRPr lang="fr-FR"/>
          </a:p>
          <a:p>
            <a:endParaRPr lang="fr-FR"/>
          </a:p>
          <a:p>
            <a:r>
              <a:rPr lang="fr-FR"/>
              <a:t>PROBLEM:  </a:t>
            </a:r>
            <a:r>
              <a:rPr lang="fr-FR"/>
              <a:t>this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GC on driver-</a:t>
            </a:r>
            <a:r>
              <a:rPr lang="fr-FR"/>
              <a:t>side</a:t>
            </a:r>
            <a:r>
              <a:rPr lang="fr-FR"/>
              <a:t>.  The driver </a:t>
            </a:r>
            <a:r>
              <a:rPr lang="fr-FR"/>
              <a:t>may</a:t>
            </a:r>
            <a:r>
              <a:rPr lang="fr-FR"/>
              <a:t> have </a:t>
            </a:r>
            <a:r>
              <a:rPr lang="fr-FR"/>
              <a:t>plenty</a:t>
            </a:r>
            <a:r>
              <a:rPr lang="fr-FR"/>
              <a:t> of free memory, </a:t>
            </a:r>
            <a:r>
              <a:rPr lang="fr-FR"/>
              <a:t>so</a:t>
            </a:r>
            <a:r>
              <a:rPr lang="fr-FR"/>
              <a:t> GC </a:t>
            </a:r>
            <a:r>
              <a:rPr lang="fr-FR"/>
              <a:t>might</a:t>
            </a:r>
            <a:r>
              <a:rPr lang="fr-FR"/>
              <a:t> not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triggered</a:t>
            </a:r>
            <a:r>
              <a:rPr lang="fr-FR"/>
              <a:t> </a:t>
            </a:r>
            <a:r>
              <a:rPr lang="fr-FR"/>
              <a:t>soon</a:t>
            </a:r>
            <a:r>
              <a:rPr lang="fr-FR"/>
              <a:t> !</a:t>
            </a:r>
          </a:p>
          <a:p>
            <a:r>
              <a:rPr lang="fr-FR"/>
              <a:t>                     ... BUT </a:t>
            </a:r>
            <a:r>
              <a:rPr lang="fr-FR"/>
              <a:t>executors may be short</a:t>
            </a:r>
            <a:r>
              <a:rPr lang="fr-FR"/>
              <a:t> of memory</a:t>
            </a:r>
          </a:p>
          <a:p>
            <a:endParaRPr lang="fr-FR"/>
          </a:p>
        </p:txBody>
      </p:sp>
      <p:sp>
        <p:nvSpPr>
          <p:cNvPr id="7" name="Rectangle: Rounded Corners 6"/>
          <p:cNvSpPr/>
          <p:nvPr/>
        </p:nvSpPr>
        <p:spPr>
          <a:xfrm>
            <a:off x="5834399" y="3105507"/>
            <a:ext cx="469399" cy="220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5418427" y="2736175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Spark Driver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7402286" y="2542419"/>
            <a:ext cx="1175967" cy="473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7212700" y="2181040"/>
            <a:ext cx="186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Spark executor 1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7402286" y="3392677"/>
            <a:ext cx="1175967" cy="473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7212700" y="3031298"/>
            <a:ext cx="186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Spark executor 2</a:t>
            </a:r>
          </a:p>
        </p:txBody>
      </p:sp>
      <p:sp>
        <p:nvSpPr>
          <p:cNvPr id="13" name="Cylinder 12"/>
          <p:cNvSpPr/>
          <p:nvPr/>
        </p:nvSpPr>
        <p:spPr>
          <a:xfrm>
            <a:off x="8906935" y="3462255"/>
            <a:ext cx="580570" cy="4193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7668689" y="2640769"/>
            <a:ext cx="478972" cy="1838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782988" y="2766714"/>
            <a:ext cx="478972" cy="1838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7668689" y="3543671"/>
            <a:ext cx="478972" cy="1838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9011555" y="3598104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ylinder 17"/>
          <p:cNvSpPr/>
          <p:nvPr/>
        </p:nvSpPr>
        <p:spPr>
          <a:xfrm>
            <a:off x="8882755" y="2531262"/>
            <a:ext cx="580570" cy="4193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8987375" y="2667111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9059334" y="2721359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9149440" y="2776482"/>
            <a:ext cx="275771" cy="1536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Multiplication Sign 21"/>
          <p:cNvSpPr/>
          <p:nvPr/>
        </p:nvSpPr>
        <p:spPr>
          <a:xfrm>
            <a:off x="7717069" y="3433913"/>
            <a:ext cx="430592" cy="416076"/>
          </a:xfrm>
          <a:prstGeom prst="mathMultiply">
            <a:avLst>
              <a:gd name="adj1" fmla="val 1421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Multiplication Sign 22"/>
          <p:cNvSpPr/>
          <p:nvPr/>
        </p:nvSpPr>
        <p:spPr>
          <a:xfrm>
            <a:off x="9091085" y="2640769"/>
            <a:ext cx="430592" cy="416076"/>
          </a:xfrm>
          <a:prstGeom prst="mathMultiply">
            <a:avLst>
              <a:gd name="adj1" fmla="val 1421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Multiplication Sign 24"/>
          <p:cNvSpPr/>
          <p:nvPr/>
        </p:nvSpPr>
        <p:spPr>
          <a:xfrm>
            <a:off x="2705283" y="3682493"/>
            <a:ext cx="430592" cy="416076"/>
          </a:xfrm>
          <a:prstGeom prst="mathMultiply">
            <a:avLst>
              <a:gd name="adj1" fmla="val 1421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Multiplication Sign 25"/>
          <p:cNvSpPr/>
          <p:nvPr/>
        </p:nvSpPr>
        <p:spPr>
          <a:xfrm>
            <a:off x="5851967" y="3390066"/>
            <a:ext cx="430592" cy="416076"/>
          </a:xfrm>
          <a:prstGeom prst="mathMultiply">
            <a:avLst>
              <a:gd name="adj1" fmla="val 1421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Right 26"/>
          <p:cNvSpPr/>
          <p:nvPr/>
        </p:nvSpPr>
        <p:spPr>
          <a:xfrm rot="20118428">
            <a:off x="6339173" y="3323384"/>
            <a:ext cx="623046" cy="171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Right 27"/>
          <p:cNvSpPr/>
          <p:nvPr/>
        </p:nvSpPr>
        <p:spPr>
          <a:xfrm rot="21082180">
            <a:off x="6354247" y="3474777"/>
            <a:ext cx="623046" cy="171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Right 28"/>
          <p:cNvSpPr/>
          <p:nvPr/>
        </p:nvSpPr>
        <p:spPr>
          <a:xfrm rot="831735">
            <a:off x="6342407" y="3641782"/>
            <a:ext cx="623046" cy="171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4015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When</a:t>
            </a:r>
            <a:r>
              <a:rPr lang="fr-FR"/>
              <a:t> </a:t>
            </a:r>
            <a:r>
              <a:rPr lang="fr-FR"/>
              <a:t>choosing</a:t>
            </a:r>
            <a:r>
              <a:rPr lang="fr-FR"/>
              <a:t> </a:t>
            </a:r>
            <a:r>
              <a:rPr lang="fr-FR"/>
              <a:t>explicitly</a:t>
            </a:r>
            <a:r>
              <a:rPr lang="fr-FR"/>
              <a:t> ".</a:t>
            </a:r>
            <a:r>
              <a:rPr lang="fr-FR"/>
              <a:t>unpersist</a:t>
            </a:r>
            <a:r>
              <a:rPr lang="fr-FR"/>
              <a:t>()",</a:t>
            </a:r>
            <a:br>
              <a:rPr lang="fr-FR"/>
            </a:br>
            <a:r>
              <a:rPr lang="fr-FR"/>
              <a:t> </a:t>
            </a:r>
            <a:r>
              <a:rPr lang="fr-FR"/>
              <a:t>when</a:t>
            </a:r>
            <a:r>
              <a:rPr lang="fr-FR"/>
              <a:t> to do </a:t>
            </a:r>
            <a:r>
              <a:rPr lang="fr-FR"/>
              <a:t>it</a:t>
            </a:r>
            <a:r>
              <a:rPr lang="fr-FR"/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9943" y="2146369"/>
            <a:ext cx="2221249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val </a:t>
            </a:r>
            <a:r>
              <a:rPr lang="fr-FR"/>
              <a:t>ds</a:t>
            </a:r>
            <a:r>
              <a:rPr lang="fr-FR"/>
              <a:t> = ....   </a:t>
            </a:r>
          </a:p>
          <a:p>
            <a:r>
              <a:rPr lang="fr-FR" sz="2400" b="1"/>
              <a:t>ds.persist</a:t>
            </a:r>
            <a:r>
              <a:rPr lang="fr-FR" sz="2400" b="1"/>
              <a:t>();</a:t>
            </a:r>
          </a:p>
          <a:p>
            <a:r>
              <a:rPr lang="fr-FR"/>
              <a:t>try</a:t>
            </a:r>
            <a:r>
              <a:rPr lang="fr-FR"/>
              <a:t> {</a:t>
            </a:r>
          </a:p>
          <a:p>
            <a:endParaRPr lang="fr-FR"/>
          </a:p>
          <a:p>
            <a:r>
              <a:rPr lang="fr-FR"/>
              <a:t>     ds.</a:t>
            </a:r>
            <a:r>
              <a:rPr lang="fr-FR">
                <a:solidFill>
                  <a:srgbClr val="00B050"/>
                </a:solidFill>
              </a:rPr>
              <a:t>action1</a:t>
            </a:r>
            <a:r>
              <a:rPr lang="fr-FR"/>
              <a:t>();</a:t>
            </a:r>
          </a:p>
          <a:p>
            <a:r>
              <a:rPr lang="fr-FR"/>
              <a:t>     ds.</a:t>
            </a:r>
            <a:r>
              <a:rPr lang="fr-FR">
                <a:solidFill>
                  <a:srgbClr val="00B050"/>
                </a:solidFill>
              </a:rPr>
              <a:t>action2</a:t>
            </a:r>
            <a:r>
              <a:rPr lang="fr-FR"/>
              <a:t>();</a:t>
            </a:r>
          </a:p>
          <a:p>
            <a:endParaRPr lang="fr-FR"/>
          </a:p>
          <a:p>
            <a:r>
              <a:rPr lang="fr-FR"/>
              <a:t>} </a:t>
            </a:r>
            <a:r>
              <a:rPr lang="fr-FR"/>
              <a:t>finally</a:t>
            </a:r>
            <a:r>
              <a:rPr lang="fr-FR"/>
              <a:t> {</a:t>
            </a:r>
          </a:p>
          <a:p>
            <a:r>
              <a:rPr lang="fr-FR" sz="2400" b="1"/>
              <a:t>   </a:t>
            </a:r>
            <a:r>
              <a:rPr lang="fr-FR" sz="2400" b="1"/>
              <a:t>ds.unpersist</a:t>
            </a:r>
            <a:r>
              <a:rPr lang="fr-FR" sz="2400" b="1"/>
              <a:t>();</a:t>
            </a:r>
          </a:p>
          <a:p>
            <a:r>
              <a:rPr lang="fr-FR"/>
              <a:t>}</a:t>
            </a:r>
          </a:p>
          <a:p>
            <a:endParaRPr lang="fr-FR"/>
          </a:p>
          <a:p>
            <a:r>
              <a:rPr lang="fr-FR" b="1">
                <a:solidFill>
                  <a:srgbClr val="FF0000"/>
                </a:solidFill>
              </a:rPr>
              <a:t>ds.action3();</a:t>
            </a:r>
          </a:p>
        </p:txBody>
      </p:sp>
      <p:sp>
        <p:nvSpPr>
          <p:cNvPr id="5" name="Arrow: Right 4"/>
          <p:cNvSpPr/>
          <p:nvPr/>
        </p:nvSpPr>
        <p:spPr>
          <a:xfrm>
            <a:off x="2266647" y="3418114"/>
            <a:ext cx="556381" cy="198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/>
          <p:cNvSpPr/>
          <p:nvPr/>
        </p:nvSpPr>
        <p:spPr>
          <a:xfrm>
            <a:off x="2266647" y="3684209"/>
            <a:ext cx="556381" cy="198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184143" y="3300531"/>
            <a:ext cx="1915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OK</a:t>
            </a:r>
          </a:p>
          <a:p>
            <a:r>
              <a:rPr lang="fr-FR"/>
              <a:t>ds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</a:t>
            </a:r>
            <a:r>
              <a:rPr lang="fr-FR"/>
              <a:t>cached</a:t>
            </a:r>
            <a:r>
              <a:rPr lang="fr-FR"/>
              <a:t> </a:t>
            </a:r>
            <a:r>
              <a:rPr lang="fr-FR"/>
              <a:t>inside</a:t>
            </a:r>
            <a:endParaRPr lang="fr-FR"/>
          </a:p>
          <a:p>
            <a:r>
              <a:rPr lang="fr-FR"/>
              <a:t>try-finally</a:t>
            </a:r>
            <a:r>
              <a:rPr lang="fr-FR"/>
              <a:t> code</a:t>
            </a:r>
          </a:p>
        </p:txBody>
      </p:sp>
      <p:sp>
        <p:nvSpPr>
          <p:cNvPr id="8" name="Arrow: Right 7"/>
          <p:cNvSpPr/>
          <p:nvPr/>
        </p:nvSpPr>
        <p:spPr>
          <a:xfrm rot="10800000">
            <a:off x="4821726" y="5452533"/>
            <a:ext cx="556381" cy="198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5619315" y="5228548"/>
            <a:ext cx="3623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Problem</a:t>
            </a:r>
            <a:r>
              <a:rPr lang="fr-FR"/>
              <a:t> !!</a:t>
            </a:r>
          </a:p>
          <a:p>
            <a:r>
              <a:rPr lang="fr-FR"/>
              <a:t>ds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not </a:t>
            </a:r>
            <a:r>
              <a:rPr lang="fr-FR"/>
              <a:t>cached</a:t>
            </a:r>
            <a:r>
              <a:rPr lang="fr-FR"/>
              <a:t> </a:t>
            </a:r>
            <a:r>
              <a:rPr lang="fr-FR"/>
              <a:t>anymore</a:t>
            </a:r>
            <a:endParaRPr lang="fr-FR"/>
          </a:p>
          <a:p>
            <a:r>
              <a:rPr lang="fr-FR"/>
              <a:t>action </a:t>
            </a:r>
            <a:r>
              <a:rPr lang="fr-FR"/>
              <a:t>will</a:t>
            </a:r>
            <a:r>
              <a:rPr lang="fr-FR"/>
              <a:t> re-</a:t>
            </a:r>
            <a:r>
              <a:rPr lang="fr-FR"/>
              <a:t>compute</a:t>
            </a:r>
            <a:r>
              <a:rPr lang="fr-FR"/>
              <a:t>  FULL </a:t>
            </a:r>
            <a:r>
              <a:rPr lang="fr-FR"/>
              <a:t>Lineage</a:t>
            </a:r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4015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Difficulty</a:t>
            </a:r>
            <a:r>
              <a:rPr lang="fr-FR"/>
              <a:t> </a:t>
            </a:r>
            <a:r>
              <a:rPr lang="fr-FR"/>
              <a:t>Tracking</a:t>
            </a:r>
            <a:r>
              <a:rPr lang="fr-FR"/>
              <a:t>  "</a:t>
            </a:r>
            <a:r>
              <a:rPr lang="fr-FR"/>
              <a:t>hidden</a:t>
            </a:r>
            <a:r>
              <a:rPr lang="fr-FR"/>
              <a:t>" </a:t>
            </a:r>
            <a:r>
              <a:rPr lang="fr-FR"/>
              <a:t>Dependency</a:t>
            </a:r>
            <a:r>
              <a:rPr lang="fr-FR"/>
              <a:t> </a:t>
            </a:r>
            <a:r>
              <a:rPr lang="fr-FR"/>
              <a:t>References</a:t>
            </a:r>
            <a:r>
              <a:rPr lang="fr-FR"/>
              <a:t>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5074" y="1590975"/>
            <a:ext cx="445352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</a:t>
            </a:r>
            <a:r>
              <a:rPr lang="fr-FR" b="1"/>
              <a:t>transformedDs</a:t>
            </a:r>
            <a:r>
              <a:rPr lang="fr-FR"/>
              <a:t>;</a:t>
            </a:r>
          </a:p>
          <a:p>
            <a:endParaRPr lang="fr-FR"/>
          </a:p>
          <a:p>
            <a:r>
              <a:rPr lang="fr-FR"/>
              <a:t>{ </a:t>
            </a:r>
          </a:p>
          <a:p>
            <a:r>
              <a:rPr lang="fr-FR"/>
              <a:t>   val </a:t>
            </a:r>
            <a:r>
              <a:rPr lang="fr-FR"/>
              <a:t>ds</a:t>
            </a:r>
            <a:r>
              <a:rPr lang="fr-FR"/>
              <a:t> = ....   </a:t>
            </a:r>
          </a:p>
          <a:p>
            <a:r>
              <a:rPr lang="fr-FR" sz="2400" b="1"/>
              <a:t>  </a:t>
            </a:r>
            <a:r>
              <a:rPr lang="fr-FR" sz="2400" b="1"/>
              <a:t>ds.persist</a:t>
            </a:r>
            <a:r>
              <a:rPr lang="fr-FR" sz="2400" b="1"/>
              <a:t>();</a:t>
            </a:r>
          </a:p>
          <a:p>
            <a:r>
              <a:rPr lang="fr-FR"/>
              <a:t>  </a:t>
            </a:r>
            <a:r>
              <a:rPr lang="fr-FR"/>
              <a:t>try</a:t>
            </a:r>
            <a:r>
              <a:rPr lang="fr-FR"/>
              <a:t> {</a:t>
            </a:r>
          </a:p>
          <a:p>
            <a:endParaRPr lang="fr-FR"/>
          </a:p>
          <a:p>
            <a:r>
              <a:rPr lang="fr-FR"/>
              <a:t>     ds.</a:t>
            </a:r>
            <a:r>
              <a:rPr lang="fr-FR">
                <a:solidFill>
                  <a:srgbClr val="00B050"/>
                </a:solidFill>
              </a:rPr>
              <a:t>action1</a:t>
            </a:r>
            <a:r>
              <a:rPr lang="fr-FR"/>
              <a:t>();</a:t>
            </a:r>
          </a:p>
          <a:p>
            <a:r>
              <a:rPr lang="fr-FR"/>
              <a:t>     </a:t>
            </a:r>
            <a:r>
              <a:rPr lang="fr-FR" b="1"/>
              <a:t>transformedDs</a:t>
            </a:r>
            <a:r>
              <a:rPr lang="fr-FR" b="1"/>
              <a:t> = </a:t>
            </a:r>
            <a:r>
              <a:rPr lang="fr-FR" b="1"/>
              <a:t>ds.map</a:t>
            </a:r>
            <a:r>
              <a:rPr lang="fr-FR" b="1"/>
              <a:t>(..);</a:t>
            </a:r>
          </a:p>
          <a:p>
            <a:r>
              <a:rPr lang="fr-FR"/>
              <a:t>     </a:t>
            </a:r>
            <a:r>
              <a:rPr lang="fr-FR"/>
              <a:t>transformedDs.</a:t>
            </a:r>
            <a:r>
              <a:rPr lang="fr-FR">
                <a:solidFill>
                  <a:srgbClr val="00B050"/>
                </a:solidFill>
              </a:rPr>
              <a:t>action</a:t>
            </a:r>
            <a:r>
              <a:rPr lang="fr-FR"/>
              <a:t>();</a:t>
            </a:r>
          </a:p>
          <a:p>
            <a:endParaRPr lang="fr-FR"/>
          </a:p>
          <a:p>
            <a:r>
              <a:rPr lang="fr-FR"/>
              <a:t>  } </a:t>
            </a:r>
            <a:r>
              <a:rPr lang="fr-FR"/>
              <a:t>finally</a:t>
            </a:r>
            <a:r>
              <a:rPr lang="fr-FR"/>
              <a:t> {</a:t>
            </a:r>
          </a:p>
          <a:p>
            <a:r>
              <a:rPr lang="fr-FR" sz="2400" b="1"/>
              <a:t>   </a:t>
            </a:r>
            <a:r>
              <a:rPr lang="fr-FR" sz="2400" b="1"/>
              <a:t>ds.unpersist</a:t>
            </a:r>
            <a:r>
              <a:rPr lang="fr-FR" sz="2400" b="1"/>
              <a:t>();</a:t>
            </a:r>
          </a:p>
          <a:p>
            <a:r>
              <a:rPr lang="fr-FR"/>
              <a:t>  }</a:t>
            </a:r>
          </a:p>
          <a:p>
            <a:r>
              <a:rPr lang="fr-FR"/>
              <a:t>} // OK, </a:t>
            </a:r>
            <a:r>
              <a:rPr lang="fr-FR"/>
              <a:t>ds</a:t>
            </a:r>
            <a:r>
              <a:rPr lang="fr-FR"/>
              <a:t> not visible </a:t>
            </a:r>
            <a:r>
              <a:rPr lang="fr-FR"/>
              <a:t>outside</a:t>
            </a:r>
            <a:r>
              <a:rPr lang="fr-FR"/>
              <a:t> of </a:t>
            </a:r>
            <a:r>
              <a:rPr lang="fr-FR"/>
              <a:t>method</a:t>
            </a:r>
            <a:r>
              <a:rPr lang="fr-FR"/>
              <a:t> code</a:t>
            </a:r>
          </a:p>
          <a:p>
            <a:r>
              <a:rPr lang="fr-FR"/>
              <a:t>  // code </a:t>
            </a:r>
            <a:r>
              <a:rPr lang="fr-FR"/>
              <a:t>would</a:t>
            </a:r>
            <a:r>
              <a:rPr lang="fr-FR"/>
              <a:t> not compile</a:t>
            </a:r>
          </a:p>
          <a:p>
            <a:r>
              <a:rPr lang="fr-FR" b="1">
                <a:solidFill>
                  <a:srgbClr val="FF0000"/>
                </a:solidFill>
              </a:rPr>
              <a:t>return </a:t>
            </a:r>
            <a:r>
              <a:rPr lang="fr-FR" b="1">
                <a:solidFill>
                  <a:srgbClr val="FF0000"/>
                </a:solidFill>
              </a:rPr>
              <a:t>transformedDs</a:t>
            </a:r>
            <a:r>
              <a:rPr lang="fr-FR" b="1">
                <a:solidFill>
                  <a:srgbClr val="FF0000"/>
                </a:solidFill>
              </a:rPr>
              <a:t>; // use </a:t>
            </a:r>
            <a:r>
              <a:rPr lang="fr-FR" b="1">
                <a:solidFill>
                  <a:srgbClr val="FF0000"/>
                </a:solidFill>
              </a:rPr>
              <a:t>later</a:t>
            </a:r>
            <a:endParaRPr lang="fr-FR" b="1">
              <a:solidFill>
                <a:srgbClr val="FF0000"/>
              </a:solidFill>
            </a:endParaRPr>
          </a:p>
          <a:p>
            <a:endParaRPr lang="fr-FR" b="1">
              <a:solidFill>
                <a:srgbClr val="FF0000"/>
              </a:solidFill>
            </a:endParaRPr>
          </a:p>
        </p:txBody>
      </p:sp>
      <p:sp>
        <p:nvSpPr>
          <p:cNvPr id="5" name="Arrow: Right 4"/>
          <p:cNvSpPr/>
          <p:nvPr/>
        </p:nvSpPr>
        <p:spPr>
          <a:xfrm>
            <a:off x="2232780" y="3679371"/>
            <a:ext cx="556381" cy="198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/>
          <p:cNvSpPr/>
          <p:nvPr/>
        </p:nvSpPr>
        <p:spPr>
          <a:xfrm>
            <a:off x="2232780" y="3945466"/>
            <a:ext cx="556381" cy="198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150276" y="3561788"/>
            <a:ext cx="1915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Looks OK</a:t>
            </a:r>
          </a:p>
          <a:p>
            <a:r>
              <a:rPr lang="fr-FR"/>
              <a:t>ds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</a:t>
            </a:r>
            <a:r>
              <a:rPr lang="fr-FR"/>
              <a:t>cached</a:t>
            </a:r>
            <a:r>
              <a:rPr lang="fr-FR"/>
              <a:t> </a:t>
            </a:r>
            <a:r>
              <a:rPr lang="fr-FR"/>
              <a:t>inside</a:t>
            </a:r>
            <a:endParaRPr lang="fr-FR"/>
          </a:p>
          <a:p>
            <a:r>
              <a:rPr lang="fr-FR"/>
              <a:t>try-finally</a:t>
            </a:r>
            <a:r>
              <a:rPr lang="fr-FR"/>
              <a:t> code</a:t>
            </a:r>
          </a:p>
        </p:txBody>
      </p:sp>
      <p:sp>
        <p:nvSpPr>
          <p:cNvPr id="8" name="Arrow: Right 7"/>
          <p:cNvSpPr/>
          <p:nvPr/>
        </p:nvSpPr>
        <p:spPr>
          <a:xfrm rot="10800000">
            <a:off x="6815021" y="6215146"/>
            <a:ext cx="556381" cy="198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7917411" y="5562376"/>
            <a:ext cx="36233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Problem</a:t>
            </a:r>
            <a:r>
              <a:rPr lang="fr-FR"/>
              <a:t> !!</a:t>
            </a:r>
          </a:p>
          <a:p>
            <a:r>
              <a:rPr lang="fr-FR"/>
              <a:t>transformedDs</a:t>
            </a:r>
            <a:r>
              <a:rPr lang="fr-FR"/>
              <a:t> </a:t>
            </a:r>
            <a:r>
              <a:rPr lang="fr-FR"/>
              <a:t>refers</a:t>
            </a:r>
            <a:r>
              <a:rPr lang="fr-FR"/>
              <a:t> to </a:t>
            </a:r>
            <a:r>
              <a:rPr lang="fr-FR"/>
              <a:t>ds</a:t>
            </a:r>
            <a:r>
              <a:rPr lang="fr-FR"/>
              <a:t>,</a:t>
            </a:r>
          </a:p>
          <a:p>
            <a:r>
              <a:rPr lang="fr-FR"/>
              <a:t>which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not </a:t>
            </a:r>
            <a:r>
              <a:rPr lang="fr-FR"/>
              <a:t>cached</a:t>
            </a:r>
            <a:r>
              <a:rPr lang="fr-FR"/>
              <a:t> </a:t>
            </a:r>
            <a:r>
              <a:rPr lang="fr-FR"/>
              <a:t>anymore</a:t>
            </a:r>
            <a:endParaRPr lang="fr-FR"/>
          </a:p>
          <a:p>
            <a:r>
              <a:rPr lang="fr-FR"/>
              <a:t>action </a:t>
            </a:r>
            <a:r>
              <a:rPr lang="fr-FR"/>
              <a:t>will</a:t>
            </a:r>
            <a:r>
              <a:rPr lang="fr-FR"/>
              <a:t> re-</a:t>
            </a:r>
            <a:r>
              <a:rPr lang="fr-FR"/>
              <a:t>compute</a:t>
            </a:r>
            <a:r>
              <a:rPr lang="fr-FR"/>
              <a:t>  FULL </a:t>
            </a:r>
            <a:r>
              <a:rPr lang="fr-FR"/>
              <a:t>Lineage</a:t>
            </a:r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705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Caching</a:t>
            </a:r>
            <a:r>
              <a:rPr lang="fr-FR"/>
              <a:t> - Display </a:t>
            </a:r>
            <a:r>
              <a:rPr lang="fr-FR"/>
              <a:t>Result</a:t>
            </a:r>
            <a:r>
              <a:rPr lang="fr-FR"/>
              <a:t> in Spark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93180" y="2104572"/>
            <a:ext cx="74763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when</a:t>
            </a:r>
            <a:r>
              <a:rPr lang="fr-FR" sz="2400"/>
              <a:t> </a:t>
            </a:r>
            <a:r>
              <a:rPr lang="fr-FR" sz="2400"/>
              <a:t>using</a:t>
            </a:r>
            <a:r>
              <a:rPr lang="fr-FR" sz="2400"/>
              <a:t> </a:t>
            </a:r>
          </a:p>
          <a:p>
            <a:r>
              <a:rPr lang="fr-FR" sz="2400"/>
              <a:t>    </a:t>
            </a:r>
            <a:r>
              <a:rPr lang="fr-FR" sz="2400" b="1"/>
              <a:t>dataset.cache</a:t>
            </a:r>
            <a:r>
              <a:rPr lang="fr-FR" sz="2400" b="1"/>
              <a:t>()</a:t>
            </a:r>
          </a:p>
          <a:p>
            <a:endParaRPr lang="fr-FR" sz="2400" b="1"/>
          </a:p>
          <a:p>
            <a:r>
              <a:rPr lang="fr-FR" sz="2400"/>
              <a:t>The </a:t>
            </a:r>
            <a:r>
              <a:rPr lang="fr-FR" sz="2400" b="1"/>
              <a:t>FULL  DAG Lineage</a:t>
            </a:r>
            <a:r>
              <a:rPr lang="fr-FR" sz="2400" b="1"/>
              <a:t> </a:t>
            </a:r>
            <a:r>
              <a:rPr lang="fr-FR" sz="2400"/>
              <a:t>is</a:t>
            </a:r>
            <a:r>
              <a:rPr lang="fr-FR" sz="2400"/>
              <a:t> </a:t>
            </a:r>
            <a:r>
              <a:rPr lang="fr-FR" sz="2400"/>
              <a:t>still</a:t>
            </a:r>
            <a:r>
              <a:rPr lang="fr-FR" sz="2400"/>
              <a:t> </a:t>
            </a:r>
            <a:r>
              <a:rPr lang="fr-FR" sz="2400"/>
              <a:t>displayed</a:t>
            </a:r>
            <a:r>
              <a:rPr lang="fr-FR" sz="2400"/>
              <a:t> in Spark UI &gt; </a:t>
            </a:r>
            <a:r>
              <a:rPr lang="fr-FR" sz="2400"/>
              <a:t>Query</a:t>
            </a:r>
            <a:endParaRPr lang="fr-FR" sz="2400"/>
          </a:p>
          <a:p>
            <a:endParaRPr lang="fr-FR" sz="2400"/>
          </a:p>
          <a:p>
            <a:r>
              <a:rPr lang="fr-FR" sz="2400"/>
              <a:t>Some Jobs have 0 Stages</a:t>
            </a:r>
            <a:r>
              <a:rPr lang="fr-FR" sz="2400"/>
              <a:t>,  </a:t>
            </a:r>
            <a:r>
              <a:rPr lang="fr-FR" sz="2400"/>
              <a:t>marked</a:t>
            </a:r>
            <a:r>
              <a:rPr lang="fr-FR" sz="2400"/>
              <a:t> as "</a:t>
            </a:r>
            <a:r>
              <a:rPr lang="fr-FR" sz="2400"/>
              <a:t>Skipped</a:t>
            </a:r>
            <a:r>
              <a:rPr lang="fr-FR" sz="2400"/>
              <a:t>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5390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.cache() in  SQL/DataFrame:  “InMemoryTableScan”</a:t>
            </a:r>
          </a:p>
        </p:txBody>
      </p:sp>
      <p:pic>
        <p:nvPicPr>
          <p:cNvPr id="1072" name="Picture 2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96779" y="1638300"/>
            <a:ext cx="7598441" cy="5219700"/>
          </a:xfrm>
          <a:prstGeom prst="rect">
            <a:avLst/>
          </a:prstGeom>
        </p:spPr>
      </p:pic>
      <p:sp>
        <p:nvSpPr>
          <p:cNvPr id="1085" name="Rectangle 3"/>
          <p:cNvSpPr/>
          <p:nvPr/>
        </p:nvSpPr>
        <p:spPr>
          <a:xfrm>
            <a:off x="2909743" y="4963678"/>
            <a:ext cx="3485465" cy="8558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93" name="TextBox 3"/>
          <p:cNvSpPr txBox="1"/>
          <p:nvPr/>
        </p:nvSpPr>
        <p:spPr>
          <a:xfrm>
            <a:off x="6867865" y="5791200"/>
            <a:ext cx="4485935" cy="1066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/>
              <a:t>Step Inserted :  InMemoryTableScan</a:t>
            </a:r>
            <a:endParaRPr sz="3200"/>
          </a:p>
        </p:txBody>
      </p:sp>
      <p:sp>
        <p:nvSpPr>
          <p:cNvPr id="1102" name="Rectangle 3"/>
          <p:cNvSpPr/>
          <p:nvPr/>
        </p:nvSpPr>
        <p:spPr>
          <a:xfrm>
            <a:off x="5181600" y="1905000"/>
            <a:ext cx="1058087" cy="5460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Title 1"/>
          <p:cNvSpPr>
            <a:spLocks noGrp="1"/>
          </p:cNvSpPr>
          <p:nvPr>
            <p:ph type="title"/>
          </p:nvPr>
        </p:nvSpPr>
        <p:spPr>
          <a:xfrm>
            <a:off x="4403665" y="23432"/>
            <a:ext cx="4318120" cy="921000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.cache() in Job</a:t>
            </a:r>
          </a:p>
        </p:txBody>
      </p:sp>
      <p:sp>
        <p:nvSpPr>
          <p:cNvPr id="1084" name="TextBox 3"/>
          <p:cNvSpPr txBox="1"/>
          <p:nvPr/>
        </p:nvSpPr>
        <p:spPr>
          <a:xfrm>
            <a:off x="6478818" y="3592382"/>
            <a:ext cx="4485935" cy="1066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/>
              <a:t>Small green point - marker on previous step</a:t>
            </a:r>
            <a:endParaRPr sz="3200"/>
          </a:p>
        </p:txBody>
      </p:sp>
      <p:sp>
        <p:nvSpPr>
          <p:cNvPr id="1088" name="TextBox 3"/>
          <p:cNvSpPr txBox="1"/>
          <p:nvPr/>
        </p:nvSpPr>
        <p:spPr>
          <a:xfrm>
            <a:off x="6478818" y="5347567"/>
            <a:ext cx="4485935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/>
              <a:t>Then InMemoryTableScan</a:t>
            </a:r>
            <a:endParaRPr sz="3200"/>
          </a:p>
        </p:txBody>
      </p:sp>
      <p:pic>
        <p:nvPicPr>
          <p:cNvPr id="1090" name="Picture 6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2400" y="944432"/>
            <a:ext cx="6410325" cy="3181350"/>
          </a:xfrm>
          <a:prstGeom prst="rect">
            <a:avLst/>
          </a:prstGeom>
        </p:spPr>
      </p:pic>
      <p:pic>
        <p:nvPicPr>
          <p:cNvPr id="1092" name="Picture 7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16890" y="2911344"/>
            <a:ext cx="1933575" cy="3495675"/>
          </a:xfrm>
          <a:prstGeom prst="rect">
            <a:avLst/>
          </a:prstGeom>
        </p:spPr>
      </p:pic>
      <p:sp>
        <p:nvSpPr>
          <p:cNvPr id="1086" name="Rectangle 3"/>
          <p:cNvSpPr/>
          <p:nvPr/>
        </p:nvSpPr>
        <p:spPr>
          <a:xfrm>
            <a:off x="4062413" y="3973382"/>
            <a:ext cx="451243" cy="3267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87" name="Rectangle 3"/>
          <p:cNvSpPr/>
          <p:nvPr/>
        </p:nvSpPr>
        <p:spPr>
          <a:xfrm>
            <a:off x="3529013" y="4506607"/>
            <a:ext cx="1509330" cy="16819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99" name="Rectangle 3"/>
          <p:cNvSpPr/>
          <p:nvPr/>
        </p:nvSpPr>
        <p:spPr>
          <a:xfrm>
            <a:off x="914400" y="1371600"/>
            <a:ext cx="669084" cy="6705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Picture 5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8600" y="1239738"/>
            <a:ext cx="6652172" cy="4025573"/>
          </a:xfrm>
          <a:prstGeom prst="rect">
            <a:avLst/>
          </a:prstGeom>
        </p:spPr>
      </p:pic>
      <p:sp>
        <p:nvSpPr>
          <p:cNvPr id="1074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.cache()  in Stage</a:t>
            </a:r>
          </a:p>
        </p:txBody>
      </p:sp>
      <p:sp>
        <p:nvSpPr>
          <p:cNvPr id="1100" name="Rectangle 3"/>
          <p:cNvSpPr/>
          <p:nvPr/>
        </p:nvSpPr>
        <p:spPr>
          <a:xfrm>
            <a:off x="1524000" y="1676400"/>
            <a:ext cx="881664" cy="6797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1106" name="Picture 5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49629" y="2944950"/>
            <a:ext cx="8642371" cy="3913050"/>
          </a:xfrm>
          <a:prstGeom prst="rect">
            <a:avLst/>
          </a:prstGeom>
        </p:spPr>
      </p:pic>
      <p:sp>
        <p:nvSpPr>
          <p:cNvPr id="1101" name="Rectangle 3"/>
          <p:cNvSpPr/>
          <p:nvPr/>
        </p:nvSpPr>
        <p:spPr>
          <a:xfrm>
            <a:off x="3419632" y="4405641"/>
            <a:ext cx="8723546" cy="5253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07" name="Rectangle 3"/>
          <p:cNvSpPr/>
          <p:nvPr/>
        </p:nvSpPr>
        <p:spPr>
          <a:xfrm>
            <a:off x="6345827" y="5029200"/>
            <a:ext cx="2835944" cy="14264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1041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Cache Storage</a:t>
            </a:r>
          </a:p>
        </p:txBody>
      </p:sp>
      <p:pic>
        <p:nvPicPr>
          <p:cNvPr id="1098" name="Picture 2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" y="1676400"/>
            <a:ext cx="10972800" cy="4525746"/>
          </a:xfrm>
          <a:prstGeom prst="rect">
            <a:avLst/>
          </a:prstGeom>
        </p:spPr>
      </p:pic>
      <p:sp>
        <p:nvSpPr>
          <p:cNvPr id="1108" name="Rectangle 3"/>
          <p:cNvSpPr/>
          <p:nvPr/>
        </p:nvSpPr>
        <p:spPr>
          <a:xfrm>
            <a:off x="2706454" y="1600200"/>
            <a:ext cx="1011356" cy="7260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09" name="Rectangle 3"/>
          <p:cNvSpPr/>
          <p:nvPr/>
        </p:nvSpPr>
        <p:spPr>
          <a:xfrm>
            <a:off x="8229600" y="3200400"/>
            <a:ext cx="3352800" cy="9852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/>
              <a:t>Next … Executing from cached</a:t>
            </a:r>
          </a:p>
        </p:txBody>
      </p:sp>
      <p:pic>
        <p:nvPicPr>
          <p:cNvPr id="1114" name="Picture 2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325563"/>
            <a:ext cx="5305425" cy="2828925"/>
          </a:xfrm>
          <a:prstGeom prst="rect">
            <a:avLst/>
          </a:prstGeom>
        </p:spPr>
      </p:pic>
      <p:pic>
        <p:nvPicPr>
          <p:cNvPr id="1116" name="Picture 3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05425" y="2201555"/>
            <a:ext cx="2814795" cy="4656445"/>
          </a:xfrm>
          <a:prstGeom prst="rect">
            <a:avLst/>
          </a:prstGeom>
        </p:spPr>
      </p:pic>
      <p:sp>
        <p:nvSpPr>
          <p:cNvPr id="1117" name="TextBox 4"/>
          <p:cNvSpPr txBox="1"/>
          <p:nvPr/>
        </p:nvSpPr>
        <p:spPr>
          <a:xfrm>
            <a:off x="4724400" y="3200400"/>
            <a:ext cx="2743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1118" name="Right Brace 5"/>
          <p:cNvSpPr/>
          <p:nvPr/>
        </p:nvSpPr>
        <p:spPr>
          <a:xfrm>
            <a:off x="8029021" y="2193976"/>
            <a:ext cx="855807" cy="306534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19" name="TextBox 6"/>
          <p:cNvSpPr txBox="1"/>
          <p:nvPr/>
        </p:nvSpPr>
        <p:spPr>
          <a:xfrm>
            <a:off x="8884827" y="3200400"/>
            <a:ext cx="3189094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/>
              <a:t>Lineage before</a:t>
            </a:r>
          </a:p>
          <a:p>
            <a:r>
              <a:rPr/>
              <a:t>NOT EXECUTED,  but DISPLAYED</a:t>
            </a:r>
          </a:p>
          <a:p>
            <a:r>
              <a:rPr/>
              <a:t>( all steps have “0”  rows )</a:t>
            </a:r>
          </a:p>
        </p:txBody>
      </p:sp>
      <p:sp>
        <p:nvSpPr>
          <p:cNvPr id="1120" name="Rectangle 3"/>
          <p:cNvSpPr/>
          <p:nvPr/>
        </p:nvSpPr>
        <p:spPr>
          <a:xfrm>
            <a:off x="6636622" y="2931565"/>
            <a:ext cx="435631" cy="4517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21" name="Rectangle 3"/>
          <p:cNvSpPr/>
          <p:nvPr/>
        </p:nvSpPr>
        <p:spPr>
          <a:xfrm>
            <a:off x="6636622" y="4607965"/>
            <a:ext cx="435631" cy="4517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22" name="Rectangle 3"/>
          <p:cNvSpPr/>
          <p:nvPr/>
        </p:nvSpPr>
        <p:spPr>
          <a:xfrm>
            <a:off x="5558930" y="5259320"/>
            <a:ext cx="2352106" cy="4311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6560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/>
              <a:t>Next … Executing from cached</a:t>
            </a:r>
          </a:p>
        </p:txBody>
      </p:sp>
      <p:pic>
        <p:nvPicPr>
          <p:cNvPr id="1125" name="Picture 2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43000"/>
            <a:ext cx="5305425" cy="2828925"/>
          </a:xfrm>
          <a:prstGeom prst="rect">
            <a:avLst/>
          </a:prstGeom>
        </p:spPr>
      </p:pic>
      <p:pic>
        <p:nvPicPr>
          <p:cNvPr id="1126" name="Picture 3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05425" y="2201555"/>
            <a:ext cx="2814795" cy="4656445"/>
          </a:xfrm>
          <a:prstGeom prst="rect">
            <a:avLst/>
          </a:prstGeom>
        </p:spPr>
      </p:pic>
      <p:sp>
        <p:nvSpPr>
          <p:cNvPr id="1127" name="TextBox 4"/>
          <p:cNvSpPr txBox="1"/>
          <p:nvPr/>
        </p:nvSpPr>
        <p:spPr>
          <a:xfrm>
            <a:off x="4724400" y="3200400"/>
            <a:ext cx="2743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1128" name="Right Brace 5"/>
          <p:cNvSpPr/>
          <p:nvPr/>
        </p:nvSpPr>
        <p:spPr>
          <a:xfrm>
            <a:off x="8029021" y="2193976"/>
            <a:ext cx="713604" cy="300270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29" name="TextBox 6"/>
          <p:cNvSpPr txBox="1"/>
          <p:nvPr/>
        </p:nvSpPr>
        <p:spPr>
          <a:xfrm>
            <a:off x="8742624" y="3200400"/>
            <a:ext cx="3331297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/>
              <a:t>Full Lineage before :</a:t>
            </a:r>
          </a:p>
          <a:p>
            <a:r>
              <a:rPr/>
              <a:t>NOT EXECUTED,  but DISPLAYED !</a:t>
            </a:r>
          </a:p>
          <a:p>
            <a:r>
              <a:rPr/>
              <a:t>( all steps have “0” row )</a:t>
            </a:r>
          </a:p>
        </p:txBody>
      </p:sp>
      <p:sp>
        <p:nvSpPr>
          <p:cNvPr id="1130" name="Rectangle 3"/>
          <p:cNvSpPr/>
          <p:nvPr/>
        </p:nvSpPr>
        <p:spPr>
          <a:xfrm>
            <a:off x="6636622" y="2931565"/>
            <a:ext cx="435631" cy="4517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1" name="Rectangle 3"/>
          <p:cNvSpPr/>
          <p:nvPr/>
        </p:nvSpPr>
        <p:spPr>
          <a:xfrm>
            <a:off x="6636622" y="4607965"/>
            <a:ext cx="435631" cy="4517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2" name="Rectangle 3"/>
          <p:cNvSpPr/>
          <p:nvPr/>
        </p:nvSpPr>
        <p:spPr>
          <a:xfrm>
            <a:off x="5558930" y="5259320"/>
            <a:ext cx="2352106" cy="4311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3" name="Rectangle 3"/>
          <p:cNvSpPr/>
          <p:nvPr/>
        </p:nvSpPr>
        <p:spPr>
          <a:xfrm>
            <a:off x="6734984" y="5867400"/>
            <a:ext cx="933554" cy="4517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6" name="TextBox 11"/>
          <p:cNvSpPr txBox="1"/>
          <p:nvPr/>
        </p:nvSpPr>
        <p:spPr>
          <a:xfrm>
            <a:off x="4724400" y="3200400"/>
            <a:ext cx="2743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1137" name="TextBox 12"/>
          <p:cNvSpPr txBox="1"/>
          <p:nvPr/>
        </p:nvSpPr>
        <p:spPr>
          <a:xfrm>
            <a:off x="8385823" y="5742737"/>
            <a:ext cx="3194445" cy="70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/>
              <a:t>“N rows” appears </a:t>
            </a:r>
            <a:endParaRPr sz="2000"/>
          </a:p>
          <a:p>
            <a:r>
              <a:rPr sz="2000"/>
              <a:t>After InMemoryTableScan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67680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DAG Reading Difficulties</a:t>
            </a:r>
          </a:p>
        </p:txBody>
      </p:sp>
      <p:sp>
        <p:nvSpPr>
          <p:cNvPr id="1141" name="TextBox 6"/>
          <p:cNvSpPr txBox="1"/>
          <p:nvPr/>
        </p:nvSpPr>
        <p:spPr>
          <a:xfrm>
            <a:off x="3124200" y="2651760"/>
            <a:ext cx="6553200" cy="155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/>
              <a:t>Full Lineage</a:t>
            </a:r>
            <a:r>
              <a:rPr sz="3200"/>
              <a:t> before :</a:t>
            </a:r>
            <a:endParaRPr sz="3200"/>
          </a:p>
          <a:p>
            <a:r>
              <a:rPr sz="3200"/>
              <a:t>NOT EXECUTED,  </a:t>
            </a:r>
            <a:r>
              <a:rPr sz="3200" b="1">
                <a:solidFill>
                  <a:srgbClr val="FF0000"/>
                </a:solidFill>
              </a:rPr>
              <a:t>but DISPLAYED !</a:t>
            </a:r>
            <a:endParaRPr sz="3200" b="1">
              <a:solidFill>
                <a:srgbClr val="FF0000"/>
              </a:solidFill>
            </a:endParaRPr>
          </a:p>
          <a:p>
            <a:r>
              <a:rPr sz="3200"/>
              <a:t>( all steps have “0” row )</a:t>
            </a:r>
            <a:endParaRPr sz="3200"/>
          </a:p>
        </p:txBody>
      </p:sp>
      <p:sp>
        <p:nvSpPr>
          <p:cNvPr id="1142" name="TextBox 3"/>
          <p:cNvSpPr txBox="1"/>
          <p:nvPr/>
        </p:nvSpPr>
        <p:spPr>
          <a:xfrm>
            <a:off x="3276600" y="4953000"/>
            <a:ext cx="7874473" cy="944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/>
              <a:t>DAG  Graph can be HUGE  ((several screens) </a:t>
            </a:r>
            <a:endParaRPr sz="2800"/>
          </a:p>
          <a:p>
            <a:r>
              <a:rPr sz="2800"/>
              <a:t>…. But “size“  !=  “performance” / “complexity”</a:t>
            </a:r>
            <a:endParaRPr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Visually Cutting / “Debugging” DAG</a:t>
            </a:r>
          </a:p>
        </p:txBody>
      </p:sp>
      <p:sp>
        <p:nvSpPr>
          <p:cNvPr id="1146" name="TextBox 2"/>
          <p:cNvSpPr txBox="1"/>
          <p:nvPr/>
        </p:nvSpPr>
        <p:spPr>
          <a:xfrm>
            <a:off x="1219200" y="1905000"/>
            <a:ext cx="10515600" cy="399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/>
              <a:t>.cache()</a:t>
            </a:r>
            <a:r>
              <a:rPr sz="3200"/>
              <a:t> is EFFICIENT</a:t>
            </a:r>
            <a:endParaRPr sz="3200"/>
          </a:p>
          <a:p>
            <a:r>
              <a:rPr sz="3200"/>
              <a:t> … but still difficult to see what is consuming time</a:t>
            </a:r>
            <a:endParaRPr sz="3200"/>
          </a:p>
          <a:p>
            <a:endParaRPr sz="3200"/>
          </a:p>
          <a:p>
            <a:r>
              <a:rPr sz="3200"/>
              <a:t>Using “</a:t>
            </a:r>
            <a:r>
              <a:rPr sz="3200" b="1"/>
              <a:t>.localCheckpoint()</a:t>
            </a:r>
            <a:r>
              <a:rPr sz="3200"/>
              <a:t>”  or  “</a:t>
            </a:r>
            <a:r>
              <a:rPr sz="3200" b="1"/>
              <a:t>.checkpoint()</a:t>
            </a:r>
            <a:r>
              <a:rPr sz="3200"/>
              <a:t>”</a:t>
            </a:r>
            <a:endParaRPr sz="3200"/>
          </a:p>
          <a:p>
            <a:r>
              <a:rPr sz="3200"/>
              <a:t>⇒ Possible to cut DAG, to simplify reading</a:t>
            </a:r>
            <a:endParaRPr sz="3200"/>
          </a:p>
          <a:p>
            <a:endParaRPr sz="3200"/>
          </a:p>
          <a:p>
            <a:r>
              <a:rPr sz="3200"/>
              <a:t>LESS Efficient at runtime !</a:t>
            </a:r>
            <a:endParaRPr sz="3200"/>
          </a:p>
          <a:p>
            <a:r>
              <a:rPr sz="3200"/>
              <a:t>suitable only during Development time, for “Debugging”</a:t>
            </a:r>
            <a:endParaRPr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485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Using</a:t>
            </a:r>
            <a:r>
              <a:rPr lang="fr-FR"/>
              <a:t> .</a:t>
            </a:r>
            <a:r>
              <a:rPr lang="fr-FR"/>
              <a:t>localCheckpoint</a:t>
            </a:r>
            <a:r>
              <a:rPr lang="fr-FR"/>
              <a:t>()  </a:t>
            </a:r>
            <a:r>
              <a:rPr lang="fr-FR"/>
              <a:t>instead</a:t>
            </a:r>
            <a:r>
              <a:rPr lang="fr-FR"/>
              <a:t> of cache()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1675" y="1857829"/>
            <a:ext cx="92107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when</a:t>
            </a:r>
            <a:r>
              <a:rPr lang="fr-FR" sz="2800"/>
              <a:t> </a:t>
            </a:r>
            <a:r>
              <a:rPr lang="fr-FR" sz="2800"/>
              <a:t>using</a:t>
            </a:r>
            <a:r>
              <a:rPr lang="fr-FR" sz="2800"/>
              <a:t> </a:t>
            </a:r>
          </a:p>
          <a:p>
            <a:r>
              <a:rPr lang="fr-FR" sz="2800"/>
              <a:t>    </a:t>
            </a:r>
            <a:r>
              <a:rPr lang="fr-FR" sz="2800" b="1"/>
              <a:t>Dataset</a:t>
            </a:r>
            <a:r>
              <a:rPr lang="fr-FR" sz="2800" b="1"/>
              <a:t> </a:t>
            </a:r>
            <a:r>
              <a:rPr lang="fr-FR" sz="2800" b="1"/>
              <a:t>replacedDs</a:t>
            </a:r>
            <a:r>
              <a:rPr lang="fr-FR" sz="2800" b="1"/>
              <a:t> = </a:t>
            </a:r>
            <a:r>
              <a:rPr lang="fr-FR" sz="2800" b="1"/>
              <a:t>dataset.localCheckpoint</a:t>
            </a:r>
            <a:r>
              <a:rPr lang="fr-FR" sz="2800" b="1"/>
              <a:t>()</a:t>
            </a:r>
          </a:p>
          <a:p>
            <a:endParaRPr lang="fr-FR" sz="2800" b="1"/>
          </a:p>
          <a:p>
            <a:r>
              <a:rPr lang="fr-FR" sz="2800"/>
              <a:t>equivalent to using cached block</a:t>
            </a:r>
            <a:r>
              <a:rPr lang="fr-FR" sz="2800"/>
              <a:t> in-memory &amp; files</a:t>
            </a:r>
          </a:p>
          <a:p>
            <a:endParaRPr lang="fr-FR" sz="2800" b="1"/>
          </a:p>
          <a:p>
            <a:r>
              <a:rPr lang="fr-FR" sz="2800"/>
              <a:t>The </a:t>
            </a:r>
            <a:r>
              <a:rPr lang="fr-FR" sz="2800" b="1"/>
              <a:t>DAG Lineage</a:t>
            </a:r>
            <a:r>
              <a:rPr lang="fr-FR" sz="2800" b="1"/>
              <a:t> </a:t>
            </a:r>
            <a:r>
              <a:rPr lang="fr-FR" sz="2800" b="1"/>
              <a:t>is</a:t>
            </a:r>
            <a:r>
              <a:rPr lang="fr-FR" sz="2800" b="1"/>
              <a:t> CUT  </a:t>
            </a:r>
            <a:r>
              <a:rPr lang="fr-FR" sz="2800"/>
              <a:t>in Spark UI &gt; </a:t>
            </a:r>
            <a:r>
              <a:rPr lang="fr-FR" sz="2800"/>
              <a:t>Query</a:t>
            </a:r>
            <a:r>
              <a:rPr lang="fr-FR" sz="2800"/>
              <a:t>.</a:t>
            </a:r>
          </a:p>
          <a:p>
            <a:r>
              <a:rPr lang="fr-FR" sz="2800"/>
              <a:t>the source </a:t>
            </a:r>
            <a:r>
              <a:rPr lang="fr-FR" sz="2800"/>
              <a:t>is</a:t>
            </a:r>
            <a:r>
              <a:rPr lang="fr-FR" sz="2800"/>
              <a:t> </a:t>
            </a:r>
            <a:r>
              <a:rPr lang="fr-FR" sz="2800"/>
              <a:t>displayed</a:t>
            </a:r>
            <a:r>
              <a:rPr lang="fr-FR" sz="2800"/>
              <a:t> as "</a:t>
            </a:r>
            <a:r>
              <a:rPr lang="fr-FR" sz="2800"/>
              <a:t>InMemoryRDD</a:t>
            </a:r>
            <a:r>
              <a:rPr lang="fr-FR" sz="2800"/>
              <a:t>"</a:t>
            </a:r>
          </a:p>
          <a:p>
            <a:endParaRPr lang="fr-FR" sz="2800"/>
          </a:p>
          <a:p>
            <a:r>
              <a:rPr lang="fr-FR" sz="2800"/>
              <a:t>=&gt; </a:t>
            </a:r>
            <a:r>
              <a:rPr lang="fr-FR" sz="2800"/>
              <a:t>much</a:t>
            </a:r>
            <a:r>
              <a:rPr lang="fr-FR" sz="2800"/>
              <a:t> </a:t>
            </a:r>
            <a:r>
              <a:rPr lang="fr-FR" sz="2800"/>
              <a:t>easier</a:t>
            </a:r>
            <a:r>
              <a:rPr lang="fr-FR" sz="2800"/>
              <a:t> to </a:t>
            </a:r>
            <a:r>
              <a:rPr lang="fr-FR" sz="2800"/>
              <a:t>read</a:t>
            </a:r>
            <a:r>
              <a:rPr lang="fr-FR" sz="2800"/>
              <a:t>  (</a:t>
            </a:r>
            <a:r>
              <a:rPr lang="fr-FR" sz="2800"/>
              <a:t>even</a:t>
            </a:r>
            <a:r>
              <a:rPr lang="fr-FR" sz="2800"/>
              <a:t> if not </a:t>
            </a:r>
            <a:r>
              <a:rPr lang="fr-FR" sz="2800"/>
              <a:t>named</a:t>
            </a:r>
            <a:r>
              <a:rPr lang="fr-FR" sz="2800"/>
              <a:t>/</a:t>
            </a:r>
            <a:r>
              <a:rPr lang="fr-FR" sz="2800"/>
              <a:t>labelled</a:t>
            </a:r>
            <a:r>
              <a:rPr lang="fr-FR" sz="2800"/>
              <a:t> </a:t>
            </a:r>
            <a:r>
              <a:rPr lang="fr-FR" sz="2800"/>
              <a:t>correctly</a:t>
            </a:r>
            <a:r>
              <a:rPr lang="fr-FR" sz="2800"/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7405"/>
          </a:xfrm>
          <a:prstGeom prst="rect">
            <a:avLst/>
          </a:prstGeom>
        </p:spPr>
        <p:txBody>
          <a:bodyPr/>
          <a:lstStyle/>
          <a:p>
            <a:pPr algn="ctr"/>
            <a:r>
              <a:rPr/>
              <a:t>.localCheckpoint()</a:t>
            </a:r>
          </a:p>
        </p:txBody>
      </p:sp>
      <p:pic>
        <p:nvPicPr>
          <p:cNvPr id="1160" name="Picture 2" descr="Pasted 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10200" y="3048000"/>
            <a:ext cx="2447925" cy="3400425"/>
          </a:xfrm>
          <a:prstGeom prst="rect">
            <a:avLst/>
          </a:prstGeom>
        </p:spPr>
      </p:pic>
      <p:pic>
        <p:nvPicPr>
          <p:cNvPr id="1162" name="Picture 3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" y="1295400"/>
            <a:ext cx="5772150" cy="619125"/>
          </a:xfrm>
          <a:prstGeom prst="rect">
            <a:avLst/>
          </a:prstGeom>
        </p:spPr>
      </p:pic>
      <p:sp>
        <p:nvSpPr>
          <p:cNvPr id="1163" name="Right Brace 5"/>
          <p:cNvSpPr/>
          <p:nvPr/>
        </p:nvSpPr>
        <p:spPr>
          <a:xfrm>
            <a:off x="7501323" y="2514600"/>
            <a:ext cx="713604" cy="102235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64" name="TextBox 6"/>
          <p:cNvSpPr txBox="1"/>
          <p:nvPr/>
        </p:nvSpPr>
        <p:spPr>
          <a:xfrm>
            <a:off x="8291127" y="2763142"/>
            <a:ext cx="37338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B050"/>
                </a:solidFill>
              </a:rPr>
              <a:t>Lineage CUT before !!!</a:t>
            </a:r>
            <a:endParaRPr sz="2800" b="1">
              <a:solidFill>
                <a:srgbClr val="00B050"/>
              </a:solidFill>
            </a:endParaRPr>
          </a:p>
        </p:txBody>
      </p:sp>
      <p:sp>
        <p:nvSpPr>
          <p:cNvPr id="1165" name="&quot;Not Allowed&quot; Symbol 6"/>
          <p:cNvSpPr/>
          <p:nvPr/>
        </p:nvSpPr>
        <p:spPr>
          <a:xfrm>
            <a:off x="6324600" y="2514600"/>
            <a:ext cx="786616" cy="766702"/>
          </a:xfrm>
          <a:prstGeom prst="noSmoking">
            <a:avLst>
              <a:gd name="adj" fmla="val 1298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66" name="TextBox 7"/>
          <p:cNvSpPr txBox="1"/>
          <p:nvPr/>
        </p:nvSpPr>
        <p:spPr>
          <a:xfrm>
            <a:off x="7501323" y="3571124"/>
            <a:ext cx="3905131" cy="70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/>
              <a:t>Starting at</a:t>
            </a:r>
            <a:br>
              <a:rPr sz="2000"/>
            </a:br>
            <a:r>
              <a:rPr sz="2000"/>
              <a:t> “</a:t>
            </a:r>
            <a:r>
              <a:rPr sz="2000" b="1"/>
              <a:t>Scan Existing RDD</a:t>
            </a:r>
            <a:r>
              <a:rPr sz="2000"/>
              <a:t>”</a:t>
            </a:r>
            <a:endParaRPr sz="2000"/>
          </a:p>
        </p:txBody>
      </p:sp>
      <p:sp>
        <p:nvSpPr>
          <p:cNvPr id="1167" name="Rectangle 3"/>
          <p:cNvSpPr/>
          <p:nvPr/>
        </p:nvSpPr>
        <p:spPr>
          <a:xfrm>
            <a:off x="6096000" y="3689206"/>
            <a:ext cx="1157062" cy="3238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68" name="Rectangle 3"/>
          <p:cNvSpPr/>
          <p:nvPr/>
        </p:nvSpPr>
        <p:spPr>
          <a:xfrm>
            <a:off x="6701063" y="4157668"/>
            <a:ext cx="623959" cy="22899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357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Using</a:t>
            </a:r>
            <a:r>
              <a:rPr lang="fr-FR"/>
              <a:t> .checkpoint()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1675" y="1857829"/>
            <a:ext cx="92107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when</a:t>
            </a:r>
            <a:r>
              <a:rPr lang="fr-FR" sz="2800"/>
              <a:t> </a:t>
            </a:r>
            <a:r>
              <a:rPr lang="fr-FR" sz="2800"/>
              <a:t>using</a:t>
            </a:r>
            <a:r>
              <a:rPr lang="fr-FR" sz="2800"/>
              <a:t> </a:t>
            </a:r>
          </a:p>
          <a:p>
            <a:r>
              <a:rPr lang="fr-FR" sz="2800"/>
              <a:t>    </a:t>
            </a:r>
            <a:r>
              <a:rPr lang="fr-FR" sz="2800" b="1"/>
              <a:t>Dataset</a:t>
            </a:r>
            <a:r>
              <a:rPr lang="fr-FR" sz="2800" b="1"/>
              <a:t> </a:t>
            </a:r>
            <a:r>
              <a:rPr lang="fr-FR" sz="2800" b="1"/>
              <a:t>replacedDs</a:t>
            </a:r>
            <a:r>
              <a:rPr lang="fr-FR" sz="2800" b="1"/>
              <a:t> = </a:t>
            </a:r>
            <a:r>
              <a:rPr lang="fr-FR" sz="2800" b="1"/>
              <a:t>dataset.checkpoint</a:t>
            </a:r>
            <a:r>
              <a:rPr lang="fr-FR" sz="2800" b="1"/>
              <a:t>()</a:t>
            </a:r>
          </a:p>
          <a:p>
            <a:endParaRPr lang="fr-FR" sz="2800" b="1"/>
          </a:p>
          <a:p>
            <a:r>
              <a:rPr lang="fr-FR" sz="2800"/>
              <a:t>equivalent to using saved files</a:t>
            </a:r>
            <a:r>
              <a:rPr lang="fr-FR" sz="2800"/>
              <a:t> in persistent Hadoop </a:t>
            </a:r>
            <a:r>
              <a:rPr lang="fr-FR" sz="2800"/>
              <a:t>storage</a:t>
            </a:r>
            <a:endParaRPr lang="fr-FR" sz="2800"/>
          </a:p>
          <a:p>
            <a:endParaRPr lang="fr-FR" sz="2800" b="1"/>
          </a:p>
          <a:p>
            <a:r>
              <a:rPr lang="fr-FR" sz="2800"/>
              <a:t>The </a:t>
            </a:r>
            <a:r>
              <a:rPr lang="fr-FR" sz="2800" b="1"/>
              <a:t>DAG Lineage</a:t>
            </a:r>
            <a:r>
              <a:rPr lang="fr-FR" sz="2800" b="1"/>
              <a:t> </a:t>
            </a:r>
            <a:r>
              <a:rPr lang="fr-FR" sz="2800" b="1"/>
              <a:t>is</a:t>
            </a:r>
            <a:r>
              <a:rPr lang="fr-FR" sz="2800" b="1"/>
              <a:t> CUT  </a:t>
            </a:r>
            <a:r>
              <a:rPr lang="fr-FR" sz="2800"/>
              <a:t>in Spark UI &gt; </a:t>
            </a:r>
            <a:r>
              <a:rPr lang="fr-FR" sz="2800"/>
              <a:t>Query</a:t>
            </a:r>
            <a:r>
              <a:rPr lang="fr-FR" sz="2800"/>
              <a:t>.</a:t>
            </a:r>
          </a:p>
          <a:p>
            <a:r>
              <a:rPr lang="fr-FR" sz="2800"/>
              <a:t>the source </a:t>
            </a:r>
            <a:r>
              <a:rPr lang="fr-FR" sz="2800"/>
              <a:t>is</a:t>
            </a:r>
            <a:r>
              <a:rPr lang="fr-FR" sz="2800"/>
              <a:t> </a:t>
            </a:r>
            <a:r>
              <a:rPr lang="fr-FR" sz="2800"/>
              <a:t>displayed</a:t>
            </a:r>
            <a:r>
              <a:rPr lang="fr-FR" sz="2800"/>
              <a:t> as "</a:t>
            </a:r>
            <a:r>
              <a:rPr lang="fr-FR" sz="2800"/>
              <a:t>FileScanRDD</a:t>
            </a:r>
            <a:r>
              <a:rPr lang="fr-FR" sz="2800"/>
              <a:t>"</a:t>
            </a:r>
          </a:p>
          <a:p>
            <a:endParaRPr lang="fr-FR" sz="2800"/>
          </a:p>
          <a:p>
            <a:r>
              <a:rPr lang="fr-FR" sz="2800"/>
              <a:t>=&gt; </a:t>
            </a:r>
            <a:r>
              <a:rPr lang="fr-FR" sz="2800"/>
              <a:t>much</a:t>
            </a:r>
            <a:r>
              <a:rPr lang="fr-FR" sz="2800"/>
              <a:t> </a:t>
            </a:r>
            <a:r>
              <a:rPr lang="fr-FR" sz="2800"/>
              <a:t>easier</a:t>
            </a:r>
            <a:r>
              <a:rPr lang="fr-FR" sz="2800"/>
              <a:t> to </a:t>
            </a:r>
            <a:r>
              <a:rPr lang="fr-FR" sz="2800"/>
              <a:t>read</a:t>
            </a:r>
            <a:r>
              <a:rPr lang="fr-FR" sz="2800"/>
              <a:t>  (</a:t>
            </a:r>
            <a:r>
              <a:rPr lang="fr-FR" sz="2800"/>
              <a:t>even</a:t>
            </a:r>
            <a:r>
              <a:rPr lang="fr-FR" sz="2800"/>
              <a:t> if not </a:t>
            </a:r>
            <a:r>
              <a:rPr lang="fr-FR" sz="2800"/>
              <a:t>named</a:t>
            </a:r>
            <a:r>
              <a:rPr lang="fr-FR" sz="2800"/>
              <a:t>/</a:t>
            </a:r>
            <a:r>
              <a:rPr lang="fr-FR" sz="2800"/>
              <a:t>labelled</a:t>
            </a:r>
            <a:r>
              <a:rPr lang="fr-FR" sz="2800"/>
              <a:t> </a:t>
            </a:r>
            <a:r>
              <a:rPr lang="fr-FR" sz="2800"/>
              <a:t>correctly</a:t>
            </a:r>
            <a:r>
              <a:rPr lang="fr-FR" sz="2800"/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60021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/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30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NAUWYNCK Arnaud</dc:creator>
  <cp:lastModifiedBy>NAUWYNCK Arnaud</cp:lastModifiedBy>
  <cp:revision>7</cp:revision>
  <dcterms:created xsi:type="dcterms:W3CDTF">2024-12-14T17:05:23Z</dcterms:created>
  <dcterms:modified xsi:type="dcterms:W3CDTF">2025-01-07T23:12:16Z</dcterms:modified>
</cp:coreProperties>
</file>