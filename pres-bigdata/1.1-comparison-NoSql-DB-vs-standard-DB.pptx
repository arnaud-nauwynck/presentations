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4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DD1CF9-5D2A-4568-91DC-A079820B0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B7A583F-033C-407C-B0BF-05C0C3D19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B203ED-EBA9-4ED8-92B5-F2E289784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93FE3-A199-4C9E-8963-DC5A59A6898C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0A61D5-5DF8-4C57-ACA0-283438C5D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442B6A4-73C7-4967-BB26-DC88FAC7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3E59-B44D-49D5-A4DC-D2CE94E23D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3670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539D2C-6BA6-4DB8-BE4C-29BF224D9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1B9D8F-0B13-472B-B45C-265E115A5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88BAD3A-FD59-4F58-9029-0E1C1C99B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93FE3-A199-4C9E-8963-DC5A59A6898C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2775B94-653B-4DA7-8E32-AEBDD946F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9A0DA0-F04E-470C-A030-EFB2A0802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3E59-B44D-49D5-A4DC-D2CE94E23D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1488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5692E2-6FC8-4237-A9CC-B072F1951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FAD9403-7A5A-4B11-B7D4-ACA3F305C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2CCCFD9-A683-4130-A9BB-760DE625B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93FE3-A199-4C9E-8963-DC5A59A6898C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5C977B-2A05-438D-928F-187208769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ECC6AE-756A-4C07-A65D-4FC122F94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3E59-B44D-49D5-A4DC-D2CE94E23D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5627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AF6936-6420-46C2-8B58-BBF5C3ED0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466360-6689-4E9E-A7C6-80D386673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8CDD820-AB98-4CE6-B6CD-9C26C76C4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5D93B59-3288-4A37-ADC3-EF2DF5CDE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93FE3-A199-4C9E-8963-DC5A59A6898C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96383E6-3FA4-40FE-8132-6BC3925DF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45E39F1-711F-488D-AD6B-0269DA8D0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3E59-B44D-49D5-A4DC-D2CE94E23D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1924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67DB0A-D32D-4C5E-B4D3-6A00830BD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2770DCA-8F73-44FF-824A-E3C8981F9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31147F2-4F68-4965-BEDF-2011C920D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ED1B584-B3D8-4449-B313-800E546624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892CCED-52BF-4B65-943A-94FFE906EB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EEC4FBA-51F8-4C49-8125-56A92350B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93FE3-A199-4C9E-8963-DC5A59A6898C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4672870E-CD1C-4B34-960F-58E9795F4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8AEABC0-1789-4597-8F3D-BDBB178D1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3E59-B44D-49D5-A4DC-D2CE94E23D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213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17E2F9-DDFD-4C81-B000-0EA52F634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44FCD0A-08AC-4E35-BAFA-94230F59D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93FE3-A199-4C9E-8963-DC5A59A6898C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168F508-DCA8-4083-A70C-B0638FC1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CC26B99-6E24-4BED-803F-20620B675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3E59-B44D-49D5-A4DC-D2CE94E23D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959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8F1DAEB-F13F-4029-9E9D-C260BA94B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93FE3-A199-4C9E-8963-DC5A59A6898C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E044FF3-51AC-4E4C-9AF2-499031F13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B30B8EE-8B85-431A-BA24-4C957BB66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3E59-B44D-49D5-A4DC-D2CE94E23D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3627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BFB1F9-0088-4CA3-B997-851DAF068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2A86D8F-7447-44EA-8460-4C48AADD4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B721D8B-F481-4107-B307-9EC85408F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346D8BE-CFC3-434E-904A-D533034FD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93FE3-A199-4C9E-8963-DC5A59A6898C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3C1A409-FF06-4F6D-8898-08D0A6F25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7526050-9E3E-4F6A-A890-DD9D6F1CA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3E59-B44D-49D5-A4DC-D2CE94E23D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454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571A2D-9520-40B6-971D-6DA9227AD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5CAD282-5CF5-4B94-9C12-4A7169D7DE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98F8734-6A0D-4DDA-8207-963544219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550B8C8-ABD4-457C-A828-203D32458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93FE3-A199-4C9E-8963-DC5A59A6898C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7B12CCF-A6E2-4899-BD9E-2F9DC5AA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61B7E9-B3E3-495E-9EF4-0A83BB7A3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3E59-B44D-49D5-A4DC-D2CE94E23D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481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65A1A9-143E-4435-B9DA-E1B6D33CB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1F7B117-A0BB-4206-AFEF-C82621084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5749435-419F-4F10-A647-5EED761B5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93FE3-A199-4C9E-8963-DC5A59A6898C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AEE9A9-C595-4D90-B56B-7098B6878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EDE4A7-1E5B-4131-B42E-AB14CF4FC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3E59-B44D-49D5-A4DC-D2CE94E23D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2569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CF81FE9-648E-4DD9-AA39-2B94A76184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6E63190-6693-4301-AD9B-49F45A022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969E46-F0DF-47EA-99A8-DC5DA0183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93FE3-A199-4C9E-8963-DC5A59A6898C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457222-1655-4B5B-9CCB-F9C7FBC2C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FADEB1-E319-4738-B604-EECEB3A64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73E59-B44D-49D5-A4DC-D2CE94E23D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393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057FAAD-5891-49DF-9F0D-4609EB9B0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6D78BA-B24F-439E-8306-5A71BFA78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CBD3CA8-3D23-496C-AD29-985BB782D3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93FE3-A199-4C9E-8963-DC5A59A6898C}" type="datetimeFigureOut">
              <a:rPr lang="fr-FR" smtClean="0"/>
              <a:t>01/10/2025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C95C56-5FBB-4EA2-BE62-DA2446A456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38B55B-489D-448D-B760-E790DD163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73E59-B44D-49D5-A4DC-D2CE94E23D3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2558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E0C786-987B-4FE0-9B5B-12617C930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001315"/>
          </a:xfrm>
        </p:spPr>
        <p:txBody>
          <a:bodyPr>
            <a:normAutofit fontScale="90000"/>
          </a:bodyPr>
          <a:lstStyle/>
          <a:p>
            <a:r>
              <a:rPr lang="fr-FR" dirty="0" err="1"/>
              <a:t>Comparisons</a:t>
            </a:r>
            <a:br>
              <a:rPr lang="fr-FR" dirty="0"/>
            </a:br>
            <a:r>
              <a:rPr lang="fr-FR" dirty="0" err="1"/>
              <a:t>NoSql</a:t>
            </a:r>
            <a:r>
              <a:rPr lang="fr-FR" dirty="0"/>
              <a:t> </a:t>
            </a:r>
            <a:r>
              <a:rPr lang="fr-FR" dirty="0" err="1"/>
              <a:t>Databases</a:t>
            </a:r>
            <a:br>
              <a:rPr lang="fr-FR" dirty="0"/>
            </a:br>
            <a:r>
              <a:rPr lang="fr-FR" dirty="0"/>
              <a:t>vs</a:t>
            </a:r>
            <a:br>
              <a:rPr lang="fr-FR" dirty="0"/>
            </a:br>
            <a:r>
              <a:rPr lang="fr-FR" dirty="0"/>
              <a:t>Standard OLTP </a:t>
            </a:r>
            <a:r>
              <a:rPr lang="fr-FR" dirty="0" err="1"/>
              <a:t>Databases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86DB0C-8B2E-47D6-A3E1-01BC788F3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03071"/>
            <a:ext cx="9144000" cy="1176291"/>
          </a:xfrm>
        </p:spPr>
        <p:txBody>
          <a:bodyPr>
            <a:noAutofit/>
          </a:bodyPr>
          <a:lstStyle/>
          <a:p>
            <a:r>
              <a:rPr lang="fr-FR" sz="2000" dirty="0" err="1"/>
              <a:t>Esilv</a:t>
            </a:r>
            <a:r>
              <a:rPr lang="fr-FR" sz="2000" dirty="0"/>
              <a:t> 2025</a:t>
            </a:r>
          </a:p>
          <a:p>
            <a:endParaRPr lang="fr-FR" sz="2000" dirty="0"/>
          </a:p>
          <a:p>
            <a:r>
              <a:rPr lang="fr-FR" sz="2000" dirty="0"/>
              <a:t>Arnaud.nauwynck@gmail.com</a:t>
            </a:r>
          </a:p>
        </p:txBody>
      </p:sp>
    </p:spTree>
    <p:extLst>
      <p:ext uri="{BB962C8B-B14F-4D97-AF65-F5344CB8AC3E}">
        <p14:creationId xmlns:p14="http://schemas.microsoft.com/office/powerpoint/2010/main" val="2840761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9F1D46-B16D-4AD5-A428-E4E94B065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Overview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72AB1C-1B9D-4134-9C9B-B6A7EAB5C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/>
              <a:t>Standard in OLTP : </a:t>
            </a:r>
          </a:p>
          <a:p>
            <a:pPr lvl="1"/>
            <a:r>
              <a:rPr lang="fr-FR" dirty="0"/>
              <a:t>ACID</a:t>
            </a:r>
          </a:p>
          <a:p>
            <a:pPr lvl="1"/>
            <a:r>
              <a:rPr lang="fr-FR" dirty="0"/>
              <a:t>Read isolation (</a:t>
            </a:r>
            <a:r>
              <a:rPr lang="fr-FR" dirty="0" err="1"/>
              <a:t>read</a:t>
            </a:r>
            <a:r>
              <a:rPr lang="fr-FR" dirty="0"/>
              <a:t> consistent, </a:t>
            </a:r>
            <a:r>
              <a:rPr lang="fr-FR" dirty="0" err="1"/>
              <a:t>mvcc</a:t>
            </a:r>
            <a:r>
              <a:rPr lang="fr-FR" dirty="0"/>
              <a:t>)</a:t>
            </a:r>
          </a:p>
          <a:p>
            <a:pPr lvl="1"/>
            <a:r>
              <a:rPr lang="fr-FR" dirty="0" err="1"/>
              <a:t>Sql</a:t>
            </a:r>
            <a:r>
              <a:rPr lang="fr-FR" dirty="0"/>
              <a:t> SELECT + INSERT, UPDATE, DELETE</a:t>
            </a:r>
          </a:p>
          <a:p>
            <a:pPr lvl="1"/>
            <a:r>
              <a:rPr lang="fr-FR" dirty="0"/>
              <a:t>Transaction WAL  Files</a:t>
            </a:r>
          </a:p>
          <a:p>
            <a:pPr lvl="1"/>
            <a:r>
              <a:rPr lang="fr-FR" dirty="0" err="1"/>
              <a:t>Modifying</a:t>
            </a:r>
            <a:r>
              <a:rPr lang="fr-FR" dirty="0"/>
              <a:t> </a:t>
            </a:r>
            <a:r>
              <a:rPr lang="fr-FR" dirty="0" err="1"/>
              <a:t>Binary</a:t>
            </a:r>
            <a:r>
              <a:rPr lang="fr-FR" dirty="0"/>
              <a:t> files</a:t>
            </a:r>
          </a:p>
          <a:p>
            <a:pPr lvl="1"/>
            <a:r>
              <a:rPr lang="fr-FR" dirty="0" err="1"/>
              <a:t>Using</a:t>
            </a:r>
            <a:r>
              <a:rPr lang="fr-FR" dirty="0"/>
              <a:t> B-</a:t>
            </a:r>
            <a:r>
              <a:rPr lang="fr-FR" dirty="0" err="1"/>
              <a:t>Trees</a:t>
            </a:r>
            <a:r>
              <a:rPr lang="fr-FR" dirty="0"/>
              <a:t>, and Indexes</a:t>
            </a:r>
          </a:p>
          <a:p>
            <a:pPr lvl="1"/>
            <a:r>
              <a:rPr lang="fr-FR" dirty="0"/>
              <a:t>Fast </a:t>
            </a:r>
            <a:r>
              <a:rPr lang="fr-FR" dirty="0" err="1"/>
              <a:t>lookup</a:t>
            </a:r>
            <a:r>
              <a:rPr lang="fr-FR" dirty="0"/>
              <a:t> by </a:t>
            </a:r>
            <a:r>
              <a:rPr lang="fr-FR" dirty="0" err="1"/>
              <a:t>rowid</a:t>
            </a:r>
            <a:r>
              <a:rPr lang="fr-FR" dirty="0"/>
              <a:t>/</a:t>
            </a:r>
            <a:r>
              <a:rPr lang="fr-FR" dirty="0" err="1"/>
              <a:t>addresses</a:t>
            </a:r>
            <a:r>
              <a:rPr lang="fr-FR" dirty="0"/>
              <a:t> in file blocks</a:t>
            </a:r>
          </a:p>
          <a:p>
            <a:pPr lvl="1"/>
            <a:endParaRPr lang="fr-FR" dirty="0"/>
          </a:p>
          <a:p>
            <a:r>
              <a:rPr lang="fr-FR" dirty="0"/>
              <a:t>NOT </a:t>
            </a:r>
            <a:r>
              <a:rPr lang="fr-FR" dirty="0" err="1"/>
              <a:t>Anymore</a:t>
            </a:r>
            <a:r>
              <a:rPr lang="fr-FR" dirty="0"/>
              <a:t> in </a:t>
            </a:r>
            <a:r>
              <a:rPr lang="fr-FR" dirty="0" err="1"/>
              <a:t>NoSql</a:t>
            </a:r>
            <a:r>
              <a:rPr lang="fr-FR" dirty="0"/>
              <a:t> </a:t>
            </a:r>
            <a:r>
              <a:rPr lang="fr-FR" dirty="0" err="1"/>
              <a:t>Databases</a:t>
            </a:r>
            <a:r>
              <a:rPr lang="fr-FR" dirty="0"/>
              <a:t> !!</a:t>
            </a:r>
          </a:p>
          <a:p>
            <a:pPr lvl="1"/>
            <a:r>
              <a:rPr lang="fr-FR" dirty="0"/>
              <a:t>Commit, </a:t>
            </a:r>
            <a:r>
              <a:rPr lang="fr-FR" dirty="0" err="1"/>
              <a:t>using</a:t>
            </a:r>
            <a:r>
              <a:rPr lang="fr-FR" dirty="0"/>
              <a:t> « _</a:t>
            </a:r>
            <a:r>
              <a:rPr lang="fr-FR" dirty="0" err="1"/>
              <a:t>temporary</a:t>
            </a:r>
            <a:r>
              <a:rPr lang="fr-FR" dirty="0"/>
              <a:t>/* »  directories?</a:t>
            </a:r>
          </a:p>
          <a:p>
            <a:pPr lvl="1"/>
            <a:r>
              <a:rPr lang="fr-FR" dirty="0"/>
              <a:t>Read isolation ?</a:t>
            </a:r>
          </a:p>
          <a:p>
            <a:pPr lvl="1"/>
            <a:r>
              <a:rPr lang="fr-FR" dirty="0" err="1"/>
              <a:t>Overwrite</a:t>
            </a:r>
            <a:r>
              <a:rPr lang="fr-FR" dirty="0"/>
              <a:t> Files… </a:t>
            </a:r>
            <a:r>
              <a:rPr lang="fr-FR" dirty="0" err="1"/>
              <a:t>delete</a:t>
            </a:r>
            <a:r>
              <a:rPr lang="fr-FR" dirty="0"/>
              <a:t> + re-</a:t>
            </a:r>
            <a:r>
              <a:rPr lang="fr-FR" dirty="0" err="1"/>
              <a:t>create</a:t>
            </a:r>
            <a:r>
              <a:rPr lang="fr-FR" dirty="0"/>
              <a:t> new</a:t>
            </a:r>
          </a:p>
          <a:p>
            <a:pPr lvl="1"/>
            <a:r>
              <a:rPr lang="fr-FR" dirty="0"/>
              <a:t>No Indexes</a:t>
            </a:r>
          </a:p>
          <a:p>
            <a:pPr lvl="1"/>
            <a:r>
              <a:rPr lang="fr-FR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59626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08C1BF-08B4-4DC7-9795-44DA18DCA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661" y="142043"/>
            <a:ext cx="10515600" cy="3124939"/>
          </a:xfrm>
        </p:spPr>
        <p:txBody>
          <a:bodyPr>
            <a:normAutofit fontScale="90000"/>
          </a:bodyPr>
          <a:lstStyle/>
          <a:p>
            <a:br>
              <a:rPr lang="fr-FR" dirty="0"/>
            </a:br>
            <a:r>
              <a:rPr lang="fr-FR" dirty="0"/>
              <a:t>« Si tu as besoin de quelque chose,</a:t>
            </a:r>
            <a:br>
              <a:rPr lang="fr-FR" dirty="0"/>
            </a:br>
            <a:r>
              <a:rPr lang="fr-FR" dirty="0"/>
              <a:t>appelle moi, je te dirais comment t’en passer »</a:t>
            </a:r>
            <a:br>
              <a:rPr lang="fr-FR" dirty="0"/>
            </a:br>
            <a:br>
              <a:rPr lang="fr-FR" dirty="0"/>
            </a:br>
            <a:br>
              <a:rPr lang="fr-FR" dirty="0"/>
            </a:br>
            <a:r>
              <a:rPr lang="fr-FR" dirty="0"/>
              <a:t>« </a:t>
            </a:r>
            <a:r>
              <a:rPr lang="en-US" dirty="0"/>
              <a:t>If you need anything, call me, </a:t>
            </a:r>
            <a:br>
              <a:rPr lang="en-US" dirty="0"/>
            </a:br>
            <a:r>
              <a:rPr lang="en-US" dirty="0"/>
              <a:t>I'll tell you how to do without it.</a:t>
            </a:r>
            <a:r>
              <a:rPr lang="fr-FR" dirty="0"/>
              <a:t>  »</a:t>
            </a:r>
            <a:br>
              <a:rPr lang="fr-FR" dirty="0"/>
            </a:br>
            <a:endParaRPr lang="fr-FR" dirty="0"/>
          </a:p>
        </p:txBody>
      </p:sp>
      <p:pic>
        <p:nvPicPr>
          <p:cNvPr id="1026" name="Picture 2" descr="Citation : Coluche - Citation-inspiration.com">
            <a:extLst>
              <a:ext uri="{FF2B5EF4-FFF2-40B4-BE49-F238E27FC236}">
                <a16:creationId xmlns:a16="http://schemas.microsoft.com/office/drawing/2014/main" id="{F3C5A1F3-779F-4F44-915F-A768EE085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7725" y="2916314"/>
            <a:ext cx="2849732" cy="3799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3863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8708E6-7E87-4BEE-A182-13D2EFFEF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ACID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8697D6C-787D-4082-929A-3805207C724B}"/>
              </a:ext>
            </a:extLst>
          </p:cNvPr>
          <p:cNvSpPr txBox="1"/>
          <p:nvPr/>
        </p:nvSpPr>
        <p:spPr>
          <a:xfrm>
            <a:off x="3804082" y="1793289"/>
            <a:ext cx="3127779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/>
              <a:t>A  = Atomic</a:t>
            </a:r>
          </a:p>
          <a:p>
            <a:endParaRPr lang="fr-FR" sz="4000" dirty="0"/>
          </a:p>
          <a:p>
            <a:r>
              <a:rPr lang="fr-FR" sz="4000" dirty="0"/>
              <a:t>C = Consistent</a:t>
            </a:r>
          </a:p>
          <a:p>
            <a:endParaRPr lang="fr-FR" sz="4000" dirty="0"/>
          </a:p>
          <a:p>
            <a:r>
              <a:rPr lang="fr-FR" sz="4000" dirty="0"/>
              <a:t>I = </a:t>
            </a:r>
            <a:r>
              <a:rPr lang="fr-FR" sz="4000" dirty="0" err="1"/>
              <a:t>Isolated</a:t>
            </a:r>
            <a:endParaRPr lang="fr-FR" sz="4000" dirty="0"/>
          </a:p>
          <a:p>
            <a:endParaRPr lang="fr-FR" sz="4000" dirty="0"/>
          </a:p>
          <a:p>
            <a:r>
              <a:rPr lang="fr-FR" sz="4000" dirty="0"/>
              <a:t>D = Durable</a:t>
            </a:r>
          </a:p>
        </p:txBody>
      </p:sp>
    </p:spTree>
    <p:extLst>
      <p:ext uri="{BB962C8B-B14F-4D97-AF65-F5344CB8AC3E}">
        <p14:creationId xmlns:p14="http://schemas.microsoft.com/office/powerpoint/2010/main" val="3070090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063956-5FF2-4158-84C6-89E93D0F5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ACID,  A = Atomic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63D1F12-A583-47B2-B3D6-D51B2A9F59F5}"/>
              </a:ext>
            </a:extLst>
          </p:cNvPr>
          <p:cNvSpPr txBox="1"/>
          <p:nvPr/>
        </p:nvSpPr>
        <p:spPr>
          <a:xfrm>
            <a:off x="2423603" y="2858610"/>
            <a:ext cx="69911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Atomic = All (commit)   or   Nothing  (rollback)</a:t>
            </a:r>
          </a:p>
        </p:txBody>
      </p:sp>
    </p:spTree>
    <p:extLst>
      <p:ext uri="{BB962C8B-B14F-4D97-AF65-F5344CB8AC3E}">
        <p14:creationId xmlns:p14="http://schemas.microsoft.com/office/powerpoint/2010/main" val="3146606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5C34C9-6A96-4A97-A7BF-8B961BBB9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Using</a:t>
            </a:r>
            <a:r>
              <a:rPr lang="fr-FR" dirty="0"/>
              <a:t> « _</a:t>
            </a:r>
            <a:r>
              <a:rPr lang="fr-FR" dirty="0" err="1"/>
              <a:t>temporary</a:t>
            </a:r>
            <a:r>
              <a:rPr lang="fr-FR" dirty="0"/>
              <a:t> » </a:t>
            </a:r>
            <a:r>
              <a:rPr lang="fr-FR" dirty="0" err="1"/>
              <a:t>dirs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0749598-3012-4D9F-9E73-FC5F321EF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307" y="2147256"/>
            <a:ext cx="6020322" cy="283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065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8CF9F7-3EAC-4923-881A-244EF61FA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Hidden</a:t>
            </a:r>
            <a:r>
              <a:rPr lang="fr-FR" dirty="0"/>
              <a:t> files &amp; </a:t>
            </a:r>
            <a:r>
              <a:rPr lang="fr-FR" dirty="0" err="1"/>
              <a:t>Dirs</a:t>
            </a:r>
            <a:r>
              <a:rPr lang="fr-FR" dirty="0"/>
              <a:t>:  </a:t>
            </a:r>
            <a:r>
              <a:rPr lang="fr-FR" dirty="0" err="1"/>
              <a:t>starting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« _ » or « . »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D9A69CF-E5EB-48E3-AC62-0C5B1DC4479A}"/>
              </a:ext>
            </a:extLst>
          </p:cNvPr>
          <p:cNvSpPr txBox="1"/>
          <p:nvPr/>
        </p:nvSpPr>
        <p:spPr>
          <a:xfrm>
            <a:off x="2001913" y="2667740"/>
            <a:ext cx="906336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Example of </a:t>
            </a:r>
            <a:r>
              <a:rPr lang="fr-FR" dirty="0" err="1"/>
              <a:t>hidden</a:t>
            </a:r>
            <a:r>
              <a:rPr lang="fr-FR" dirty="0"/>
              <a:t> files:  </a:t>
            </a:r>
            <a:br>
              <a:rPr lang="fr-FR" dirty="0"/>
            </a:br>
            <a:endParaRPr lang="fr-FR" dirty="0"/>
          </a:p>
          <a:p>
            <a:r>
              <a:rPr lang="fr-FR" dirty="0"/>
              <a:t>« _SUCCESS »        </a:t>
            </a:r>
            <a:r>
              <a:rPr lang="fr-FR" dirty="0" err="1"/>
              <a:t>empty</a:t>
            </a:r>
            <a:r>
              <a:rPr lang="fr-FR" dirty="0"/>
              <a:t> marker file for Hadoop for </a:t>
            </a:r>
            <a:r>
              <a:rPr lang="fr-FR" dirty="0" err="1"/>
              <a:t>success</a:t>
            </a:r>
            <a:r>
              <a:rPr lang="fr-FR" dirty="0"/>
              <a:t> end of </a:t>
            </a:r>
            <a:r>
              <a:rPr lang="fr-FR" dirty="0" err="1"/>
              <a:t>task</a:t>
            </a:r>
            <a:endParaRPr lang="fr-FR" dirty="0"/>
          </a:p>
          <a:p>
            <a:r>
              <a:rPr lang="fr-FR" dirty="0"/>
              <a:t> « .file1.csv.crc »   «SHA-256 » checksum file,  for </a:t>
            </a:r>
            <a:r>
              <a:rPr lang="fr-FR" dirty="0" err="1"/>
              <a:t>detecting</a:t>
            </a:r>
            <a:r>
              <a:rPr lang="fr-FR" dirty="0"/>
              <a:t> </a:t>
            </a:r>
            <a:r>
              <a:rPr lang="fr-FR" dirty="0" err="1"/>
              <a:t>corrupted</a:t>
            </a:r>
            <a:r>
              <a:rPr lang="fr-FR" dirty="0"/>
              <a:t> data files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Example of </a:t>
            </a:r>
            <a:r>
              <a:rPr lang="fr-FR" dirty="0" err="1"/>
              <a:t>hidden</a:t>
            </a:r>
            <a:r>
              <a:rPr lang="fr-FR" dirty="0"/>
              <a:t> directories</a:t>
            </a:r>
          </a:p>
          <a:p>
            <a:endParaRPr lang="fr-FR" dirty="0"/>
          </a:p>
          <a:p>
            <a:r>
              <a:rPr lang="fr-FR" dirty="0"/>
              <a:t>« _</a:t>
            </a:r>
            <a:r>
              <a:rPr lang="fr-FR" dirty="0" err="1"/>
              <a:t>temporary</a:t>
            </a:r>
            <a:r>
              <a:rPr lang="fr-FR" dirty="0"/>
              <a:t> / »       </a:t>
            </a:r>
            <a:r>
              <a:rPr lang="fr-FR" dirty="0" err="1"/>
              <a:t>during</a:t>
            </a:r>
            <a:r>
              <a:rPr lang="fr-FR" dirty="0"/>
              <a:t> </a:t>
            </a:r>
            <a:r>
              <a:rPr lang="fr-FR" dirty="0" err="1"/>
              <a:t>task</a:t>
            </a:r>
            <a:r>
              <a:rPr lang="fr-FR" dirty="0"/>
              <a:t>, </a:t>
            </a: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removed</a:t>
            </a:r>
            <a:r>
              <a:rPr lang="fr-FR" dirty="0"/>
              <a:t> at end</a:t>
            </a:r>
          </a:p>
        </p:txBody>
      </p:sp>
    </p:spTree>
    <p:extLst>
      <p:ext uri="{BB962C8B-B14F-4D97-AF65-F5344CB8AC3E}">
        <p14:creationId xmlns:p14="http://schemas.microsoft.com/office/powerpoint/2010/main" val="3278582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207FF5-57EB-4BDF-BEE6-24A5EDCCE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Slow Write to </a:t>
            </a:r>
            <a:r>
              <a:rPr lang="fr-FR" dirty="0" err="1"/>
              <a:t>Hidden</a:t>
            </a:r>
            <a:r>
              <a:rPr lang="fr-FR" dirty="0"/>
              <a:t> </a:t>
            </a:r>
            <a:r>
              <a:rPr lang="fr-FR" dirty="0" err="1"/>
              <a:t>temporary</a:t>
            </a:r>
            <a:r>
              <a:rPr lang="fr-FR" dirty="0"/>
              <a:t> directory… OK</a:t>
            </a:r>
            <a:br>
              <a:rPr lang="fr-FR" dirty="0"/>
            </a:br>
            <a:r>
              <a:rPr lang="fr-FR" dirty="0" err="1"/>
              <a:t>then</a:t>
            </a:r>
            <a:r>
              <a:rPr lang="fr-FR" dirty="0"/>
              <a:t> « </a:t>
            </a:r>
            <a:r>
              <a:rPr lang="fr-FR" dirty="0" err="1"/>
              <a:t>atomic</a:t>
            </a:r>
            <a:r>
              <a:rPr lang="fr-FR" dirty="0"/>
              <a:t> ?» </a:t>
            </a:r>
            <a:r>
              <a:rPr lang="fr-FR" dirty="0" err="1"/>
              <a:t>delete</a:t>
            </a:r>
            <a:r>
              <a:rPr lang="fr-FR" dirty="0"/>
              <a:t> all OLD files</a:t>
            </a:r>
            <a:br>
              <a:rPr lang="fr-FR" dirty="0"/>
            </a:br>
            <a:r>
              <a:rPr lang="fr-FR" dirty="0"/>
              <a:t>+ </a:t>
            </a:r>
            <a:r>
              <a:rPr lang="fr-FR" dirty="0" err="1"/>
              <a:t>rename</a:t>
            </a:r>
            <a:r>
              <a:rPr lang="fr-FR" dirty="0"/>
              <a:t> all NEW files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B849821-B439-41E8-BE53-EC0AC751BEA4}"/>
              </a:ext>
            </a:extLst>
          </p:cNvPr>
          <p:cNvSpPr txBox="1"/>
          <p:nvPr/>
        </p:nvSpPr>
        <p:spPr>
          <a:xfrm>
            <a:off x="1828800" y="2703251"/>
            <a:ext cx="2501198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/ table1 /</a:t>
            </a:r>
            <a:br>
              <a:rPr lang="fr-FR" dirty="0"/>
            </a:br>
            <a:r>
              <a:rPr lang="fr-FR" dirty="0"/>
              <a:t>    + existing-file1.csv</a:t>
            </a:r>
          </a:p>
          <a:p>
            <a:r>
              <a:rPr lang="fr-FR" dirty="0"/>
              <a:t>    + existing-file2.csv</a:t>
            </a:r>
            <a:br>
              <a:rPr lang="fr-FR" dirty="0"/>
            </a:br>
            <a:r>
              <a:rPr lang="fr-FR" dirty="0"/>
              <a:t>    …</a:t>
            </a:r>
            <a:br>
              <a:rPr lang="fr-FR" dirty="0"/>
            </a:br>
            <a:r>
              <a:rPr lang="fr-FR" dirty="0"/>
              <a:t>    + existing-file50.csv</a:t>
            </a:r>
            <a:br>
              <a:rPr lang="fr-FR" dirty="0"/>
            </a:br>
            <a:endParaRPr lang="fr-FR" dirty="0"/>
          </a:p>
          <a:p>
            <a:r>
              <a:rPr lang="fr-FR" dirty="0"/>
              <a:t>    /_</a:t>
            </a:r>
            <a:r>
              <a:rPr lang="fr-FR" dirty="0" err="1"/>
              <a:t>temporary</a:t>
            </a:r>
            <a:r>
              <a:rPr lang="fr-FR" dirty="0"/>
              <a:t> /</a:t>
            </a:r>
          </a:p>
          <a:p>
            <a:r>
              <a:rPr lang="fr-FR" dirty="0"/>
              <a:t>             + new-file1.csv</a:t>
            </a:r>
          </a:p>
          <a:p>
            <a:r>
              <a:rPr lang="fr-FR" dirty="0"/>
              <a:t>             + new-file2.csv</a:t>
            </a:r>
          </a:p>
          <a:p>
            <a:r>
              <a:rPr lang="fr-FR" dirty="0"/>
              <a:t>             …</a:t>
            </a:r>
          </a:p>
          <a:p>
            <a:r>
              <a:rPr lang="fr-FR" dirty="0"/>
              <a:t>             + new-file200.csv</a:t>
            </a:r>
          </a:p>
        </p:txBody>
      </p:sp>
      <p:sp>
        <p:nvSpPr>
          <p:cNvPr id="5" name="Flèche : courbe vers la droite 4">
            <a:extLst>
              <a:ext uri="{FF2B5EF4-FFF2-40B4-BE49-F238E27FC236}">
                <a16:creationId xmlns:a16="http://schemas.microsoft.com/office/drawing/2014/main" id="{9D8BDC1E-0D36-47BA-8564-60A570CE0C2D}"/>
              </a:ext>
            </a:extLst>
          </p:cNvPr>
          <p:cNvSpPr/>
          <p:nvPr/>
        </p:nvSpPr>
        <p:spPr>
          <a:xfrm rot="10800000">
            <a:off x="4771749" y="3759693"/>
            <a:ext cx="594804" cy="123843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6" name="Flèche : courbe vers la droite 5">
            <a:extLst>
              <a:ext uri="{FF2B5EF4-FFF2-40B4-BE49-F238E27FC236}">
                <a16:creationId xmlns:a16="http://schemas.microsoft.com/office/drawing/2014/main" id="{7BC20DB9-C018-4919-B223-B7EED7169D4D}"/>
              </a:ext>
            </a:extLst>
          </p:cNvPr>
          <p:cNvSpPr/>
          <p:nvPr/>
        </p:nvSpPr>
        <p:spPr>
          <a:xfrm rot="10800000">
            <a:off x="4771749" y="2291918"/>
            <a:ext cx="594804" cy="123843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3BAA622-E191-42BB-92B2-D4C69CF55906}"/>
              </a:ext>
            </a:extLst>
          </p:cNvPr>
          <p:cNvSpPr txBox="1"/>
          <p:nvPr/>
        </p:nvSpPr>
        <p:spPr>
          <a:xfrm>
            <a:off x="5850385" y="2254928"/>
            <a:ext cx="349211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# </a:t>
            </a:r>
            <a:r>
              <a:rPr lang="fr-FR" dirty="0" err="1"/>
              <a:t>step</a:t>
            </a:r>
            <a:r>
              <a:rPr lang="fr-FR" dirty="0"/>
              <a:t> 1…50 : </a:t>
            </a:r>
            <a:r>
              <a:rPr lang="fr-FR" dirty="0" err="1"/>
              <a:t>Remove</a:t>
            </a:r>
            <a:r>
              <a:rPr lang="fr-FR" dirty="0"/>
              <a:t> ALL OLD …    </a:t>
            </a:r>
          </a:p>
          <a:p>
            <a:r>
              <a:rPr lang="fr-FR" dirty="0" err="1"/>
              <a:t>rm</a:t>
            </a:r>
            <a:r>
              <a:rPr lang="fr-FR" dirty="0"/>
              <a:t> existing-file1.csv;</a:t>
            </a:r>
          </a:p>
          <a:p>
            <a:r>
              <a:rPr lang="fr-FR" dirty="0" err="1"/>
              <a:t>rm</a:t>
            </a:r>
            <a:r>
              <a:rPr lang="fr-FR" dirty="0"/>
              <a:t> existing-file2.csv;</a:t>
            </a:r>
          </a:p>
          <a:p>
            <a:r>
              <a:rPr lang="fr-FR" dirty="0"/>
              <a:t>..</a:t>
            </a:r>
          </a:p>
          <a:p>
            <a:r>
              <a:rPr lang="fr-FR" dirty="0" err="1"/>
              <a:t>rm</a:t>
            </a:r>
            <a:r>
              <a:rPr lang="fr-FR" dirty="0"/>
              <a:t> existing-file50.csv;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EDF6DCD-A4FC-457C-8C61-286B847E1476}"/>
              </a:ext>
            </a:extLst>
          </p:cNvPr>
          <p:cNvSpPr txBox="1"/>
          <p:nvPr/>
        </p:nvSpPr>
        <p:spPr>
          <a:xfrm>
            <a:off x="5896253" y="4071891"/>
            <a:ext cx="500656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# </a:t>
            </a:r>
            <a:r>
              <a:rPr lang="fr-FR" dirty="0" err="1"/>
              <a:t>step</a:t>
            </a:r>
            <a:r>
              <a:rPr lang="fr-FR" dirty="0"/>
              <a:t> 51…250 : Rename ALL NEW  …    </a:t>
            </a:r>
          </a:p>
          <a:p>
            <a:r>
              <a:rPr lang="fr-FR" dirty="0"/>
              <a:t>mv _</a:t>
            </a:r>
            <a:r>
              <a:rPr lang="fr-FR" dirty="0" err="1"/>
              <a:t>temporary</a:t>
            </a:r>
            <a:r>
              <a:rPr lang="fr-FR" dirty="0"/>
              <a:t>/new-file1.csv   ./new-file1.csv;</a:t>
            </a:r>
          </a:p>
          <a:p>
            <a:r>
              <a:rPr lang="fr-FR" dirty="0"/>
              <a:t>mv _</a:t>
            </a:r>
            <a:r>
              <a:rPr lang="fr-FR" dirty="0" err="1"/>
              <a:t>temporary</a:t>
            </a:r>
            <a:r>
              <a:rPr lang="fr-FR" dirty="0"/>
              <a:t>/new-file2.csv   ./new-file2.csv;</a:t>
            </a:r>
          </a:p>
          <a:p>
            <a:r>
              <a:rPr lang="fr-FR" dirty="0"/>
              <a:t>..</a:t>
            </a:r>
          </a:p>
          <a:p>
            <a:r>
              <a:rPr lang="fr-FR" dirty="0"/>
              <a:t>mv _</a:t>
            </a:r>
            <a:r>
              <a:rPr lang="fr-FR" dirty="0" err="1"/>
              <a:t>temporary</a:t>
            </a:r>
            <a:r>
              <a:rPr lang="fr-FR" dirty="0"/>
              <a:t>/new-file200.csv  ./ new-file200.csv;</a:t>
            </a:r>
          </a:p>
        </p:txBody>
      </p:sp>
    </p:spTree>
    <p:extLst>
      <p:ext uri="{BB962C8B-B14F-4D97-AF65-F5344CB8AC3E}">
        <p14:creationId xmlns:p14="http://schemas.microsoft.com/office/powerpoint/2010/main" val="3428136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BBBD0E-9F13-469A-9F84-0761E2E01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Is It </a:t>
            </a:r>
            <a:r>
              <a:rPr lang="fr-FR" dirty="0" err="1"/>
              <a:t>really</a:t>
            </a:r>
            <a:r>
              <a:rPr lang="fr-FR" dirty="0"/>
              <a:t> Atomic ?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330CBDD-D6DB-4EC0-B3B2-574A14B0EF13}"/>
              </a:ext>
            </a:extLst>
          </p:cNvPr>
          <p:cNvSpPr txBox="1"/>
          <p:nvPr/>
        </p:nvSpPr>
        <p:spPr>
          <a:xfrm>
            <a:off x="892206" y="2763148"/>
            <a:ext cx="108849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Example at SG,  </a:t>
            </a:r>
            <a:r>
              <a:rPr lang="fr-FR" dirty="0" err="1"/>
              <a:t>we</a:t>
            </a:r>
            <a:r>
              <a:rPr lang="fr-FR" dirty="0"/>
              <a:t> have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huge</a:t>
            </a:r>
            <a:r>
              <a:rPr lang="fr-FR" dirty="0"/>
              <a:t> </a:t>
            </a:r>
            <a:r>
              <a:rPr lang="fr-FR" dirty="0" err="1"/>
              <a:t>spark</a:t>
            </a:r>
            <a:r>
              <a:rPr lang="fr-FR" dirty="0"/>
              <a:t>-jobs</a:t>
            </a:r>
          </a:p>
          <a:p>
            <a:r>
              <a:rPr lang="fr-FR" dirty="0"/>
              <a:t>The « Atomic » </a:t>
            </a:r>
            <a:r>
              <a:rPr lang="fr-FR" dirty="0" err="1"/>
              <a:t>renaming</a:t>
            </a:r>
            <a:r>
              <a:rPr lang="fr-FR" dirty="0"/>
              <a:t> of files </a:t>
            </a:r>
            <a:r>
              <a:rPr lang="fr-FR" dirty="0" err="1"/>
              <a:t>takes</a:t>
            </a:r>
            <a:r>
              <a:rPr lang="fr-FR" dirty="0"/>
              <a:t> </a:t>
            </a:r>
            <a:r>
              <a:rPr lang="fr-FR" dirty="0" err="1"/>
              <a:t>too</a:t>
            </a:r>
            <a:r>
              <a:rPr lang="fr-FR" dirty="0"/>
              <a:t> long =&gt;  Timeout / Failure  </a:t>
            </a:r>
            <a:r>
              <a:rPr lang="fr-FR" dirty="0" err="1"/>
              <a:t>inside</a:t>
            </a:r>
            <a:r>
              <a:rPr lang="fr-FR" dirty="0"/>
              <a:t> the « commit » !?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There </a:t>
            </a:r>
            <a:r>
              <a:rPr lang="fr-FR" dirty="0" err="1"/>
              <a:t>might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still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« _</a:t>
            </a:r>
            <a:r>
              <a:rPr lang="fr-FR" dirty="0" err="1"/>
              <a:t>temporary</a:t>
            </a:r>
            <a:r>
              <a:rPr lang="fr-FR" dirty="0"/>
              <a:t> » </a:t>
            </a:r>
            <a:r>
              <a:rPr lang="fr-FR" dirty="0" err="1"/>
              <a:t>remaining</a:t>
            </a:r>
            <a:r>
              <a:rPr lang="fr-FR" dirty="0"/>
              <a:t> </a:t>
            </a:r>
            <a:r>
              <a:rPr lang="fr-FR" dirty="0" err="1"/>
              <a:t>dir</a:t>
            </a:r>
            <a:r>
              <a:rPr lang="fr-FR" dirty="0"/>
              <a:t>,  </a:t>
            </a:r>
            <a:r>
              <a:rPr lang="fr-FR" dirty="0" err="1"/>
              <a:t>partially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new files </a:t>
            </a:r>
            <a:r>
              <a:rPr lang="fr-FR" dirty="0" err="1"/>
              <a:t>added</a:t>
            </a:r>
            <a:r>
              <a:rPr lang="fr-FR" dirty="0"/>
              <a:t> …. And all </a:t>
            </a:r>
            <a:r>
              <a:rPr lang="fr-FR" dirty="0" err="1"/>
              <a:t>old</a:t>
            </a:r>
            <a:r>
              <a:rPr lang="fr-FR" dirty="0"/>
              <a:t> files </a:t>
            </a:r>
            <a:r>
              <a:rPr lang="fr-FR" dirty="0" err="1"/>
              <a:t>deleted</a:t>
            </a:r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The commit </a:t>
            </a:r>
            <a:r>
              <a:rPr lang="fr-FR" dirty="0" err="1"/>
              <a:t>is</a:t>
            </a:r>
            <a:r>
              <a:rPr lang="fr-FR" dirty="0"/>
              <a:t> SO LONG … 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read</a:t>
            </a:r>
            <a:r>
              <a:rPr lang="fr-FR" dirty="0"/>
              <a:t> </a:t>
            </a:r>
            <a:r>
              <a:rPr lang="fr-FR" dirty="0" err="1"/>
              <a:t>partially</a:t>
            </a:r>
            <a:r>
              <a:rPr lang="fr-FR" dirty="0"/>
              <a:t> « </a:t>
            </a:r>
            <a:r>
              <a:rPr lang="fr-FR" dirty="0" err="1"/>
              <a:t>uncommitted</a:t>
            </a:r>
            <a:r>
              <a:rPr lang="fr-FR" dirty="0"/>
              <a:t> » files, but not all</a:t>
            </a:r>
          </a:p>
        </p:txBody>
      </p:sp>
    </p:spTree>
    <p:extLst>
      <p:ext uri="{BB962C8B-B14F-4D97-AF65-F5344CB8AC3E}">
        <p14:creationId xmlns:p14="http://schemas.microsoft.com/office/powerpoint/2010/main" val="1974448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0F2306-3B82-4CAC-8048-AB1B5C870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ACID,  C = Consistent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9D5EEC3-F70F-4D53-9F98-CE2478DF70B2}"/>
              </a:ext>
            </a:extLst>
          </p:cNvPr>
          <p:cNvSpPr txBox="1"/>
          <p:nvPr/>
        </p:nvSpPr>
        <p:spPr>
          <a:xfrm>
            <a:off x="616997" y="2108447"/>
            <a:ext cx="6929782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val </a:t>
            </a:r>
            <a:r>
              <a:rPr lang="fr-FR" dirty="0" err="1"/>
              <a:t>dataset</a:t>
            </a:r>
            <a:r>
              <a:rPr lang="fr-FR" dirty="0"/>
              <a:t> = </a:t>
            </a:r>
            <a:r>
              <a:rPr lang="fr-FR" dirty="0" err="1"/>
              <a:t>spark.read.load</a:t>
            </a:r>
            <a:r>
              <a:rPr lang="fr-FR" dirty="0"/>
              <a:t>(« /table1 »)</a:t>
            </a:r>
          </a:p>
          <a:p>
            <a:endParaRPr lang="fr-FR" dirty="0"/>
          </a:p>
          <a:p>
            <a:r>
              <a:rPr lang="fr-FR" dirty="0" err="1"/>
              <a:t>dataset.count</a:t>
            </a:r>
            <a:r>
              <a:rPr lang="fr-FR" dirty="0"/>
              <a:t>();   // =&gt; OK, first </a:t>
            </a:r>
            <a:r>
              <a:rPr lang="fr-FR" dirty="0" err="1"/>
              <a:t>read</a:t>
            </a:r>
            <a:r>
              <a:rPr lang="fr-FR" dirty="0"/>
              <a:t> </a:t>
            </a:r>
            <a:r>
              <a:rPr lang="fr-FR" dirty="0" err="1"/>
              <a:t>success</a:t>
            </a:r>
            <a:endParaRPr lang="fr-FR" dirty="0"/>
          </a:p>
          <a:p>
            <a:endParaRPr lang="fr-FR" dirty="0"/>
          </a:p>
          <a:p>
            <a:r>
              <a:rPr lang="fr-FR" dirty="0"/>
              <a:t>…</a:t>
            </a:r>
          </a:p>
          <a:p>
            <a:r>
              <a:rPr lang="fr-FR" dirty="0"/>
              <a:t>…   </a:t>
            </a: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processing</a:t>
            </a:r>
            <a:r>
              <a:rPr lang="fr-FR" dirty="0"/>
              <a:t> for 20 minutes … </a:t>
            </a:r>
          </a:p>
          <a:p>
            <a:r>
              <a:rPr lang="fr-FR" dirty="0"/>
              <a:t>…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// … </a:t>
            </a:r>
            <a:r>
              <a:rPr lang="fr-FR" dirty="0" err="1"/>
              <a:t>then</a:t>
            </a:r>
            <a:r>
              <a:rPr lang="fr-FR" dirty="0"/>
              <a:t> </a:t>
            </a:r>
            <a:r>
              <a:rPr lang="fr-FR" dirty="0" err="1"/>
              <a:t>actual</a:t>
            </a:r>
            <a:r>
              <a:rPr lang="fr-FR" dirty="0"/>
              <a:t> </a:t>
            </a:r>
            <a:r>
              <a:rPr lang="fr-FR" dirty="0" err="1"/>
              <a:t>read</a:t>
            </a:r>
            <a:r>
              <a:rPr lang="fr-FR" dirty="0"/>
              <a:t> </a:t>
            </a:r>
            <a:r>
              <a:rPr lang="fr-FR" dirty="0" err="1"/>
              <a:t>again</a:t>
            </a:r>
            <a:r>
              <a:rPr lang="fr-FR" dirty="0"/>
              <a:t> the </a:t>
            </a:r>
            <a:r>
              <a:rPr lang="fr-FR" dirty="0" err="1"/>
              <a:t>expected</a:t>
            </a:r>
            <a:r>
              <a:rPr lang="fr-FR" dirty="0"/>
              <a:t> </a:t>
            </a:r>
            <a:r>
              <a:rPr lang="fr-FR" dirty="0" err="1"/>
              <a:t>same</a:t>
            </a:r>
            <a:r>
              <a:rPr lang="fr-FR" dirty="0"/>
              <a:t> files !</a:t>
            </a:r>
          </a:p>
          <a:p>
            <a:r>
              <a:rPr lang="fr-FR" dirty="0" err="1"/>
              <a:t>dataset.count</a:t>
            </a:r>
            <a:r>
              <a:rPr lang="fr-FR" dirty="0"/>
              <a:t>(); </a:t>
            </a:r>
          </a:p>
          <a:p>
            <a:r>
              <a:rPr lang="fr-FR" dirty="0"/>
              <a:t>// </a:t>
            </a:r>
            <a:r>
              <a:rPr lang="fr-FR" dirty="0">
                <a:sym typeface="Wingdings" panose="05000000000000000000" pitchFamily="2" charset="2"/>
              </a:rPr>
              <a:t> </a:t>
            </a:r>
            <a:r>
              <a:rPr lang="fr-FR" dirty="0" err="1">
                <a:sym typeface="Wingdings" panose="05000000000000000000" pitchFamily="2" charset="2"/>
              </a:rPr>
              <a:t>throw</a:t>
            </a:r>
            <a:r>
              <a:rPr lang="fr-FR" dirty="0">
                <a:sym typeface="Wingdings" panose="05000000000000000000" pitchFamily="2" charset="2"/>
              </a:rPr>
              <a:t> new </a:t>
            </a:r>
            <a:r>
              <a:rPr lang="fr-FR" dirty="0" err="1">
                <a:sym typeface="Wingdings" panose="05000000000000000000" pitchFamily="2" charset="2"/>
              </a:rPr>
              <a:t>FileNotFoundException</a:t>
            </a:r>
            <a:r>
              <a:rPr lang="fr-FR" dirty="0">
                <a:sym typeface="Wingdings" panose="05000000000000000000" pitchFamily="2" charset="2"/>
              </a:rPr>
              <a:t>(« …File ‘file1’ </a:t>
            </a:r>
            <a:r>
              <a:rPr lang="fr-FR" dirty="0" err="1">
                <a:sym typeface="Wingdings" panose="05000000000000000000" pitchFamily="2" charset="2"/>
              </a:rPr>
              <a:t>does</a:t>
            </a:r>
            <a:r>
              <a:rPr lang="fr-FR" dirty="0">
                <a:sym typeface="Wingdings" panose="05000000000000000000" pitchFamily="2" charset="2"/>
              </a:rPr>
              <a:t> not </a:t>
            </a:r>
            <a:r>
              <a:rPr lang="fr-FR" dirty="0" err="1">
                <a:sym typeface="Wingdings" panose="05000000000000000000" pitchFamily="2" charset="2"/>
              </a:rPr>
              <a:t>exist</a:t>
            </a:r>
            <a:r>
              <a:rPr lang="fr-FR" dirty="0">
                <a:sym typeface="Wingdings" panose="05000000000000000000" pitchFamily="2" charset="2"/>
              </a:rPr>
              <a:t> »);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5" name="Flèche : bas 4">
            <a:extLst>
              <a:ext uri="{FF2B5EF4-FFF2-40B4-BE49-F238E27FC236}">
                <a16:creationId xmlns:a16="http://schemas.microsoft.com/office/drawing/2014/main" id="{21871275-8612-4B70-AE23-56D70C4151C6}"/>
              </a:ext>
            </a:extLst>
          </p:cNvPr>
          <p:cNvSpPr/>
          <p:nvPr/>
        </p:nvSpPr>
        <p:spPr>
          <a:xfrm rot="5400000">
            <a:off x="7182035" y="3089428"/>
            <a:ext cx="319596" cy="8922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109F89A-0869-4ECB-B883-409C6F1874E2}"/>
              </a:ext>
            </a:extLst>
          </p:cNvPr>
          <p:cNvSpPr txBox="1"/>
          <p:nvPr/>
        </p:nvSpPr>
        <p:spPr>
          <a:xfrm>
            <a:off x="8147481" y="2997693"/>
            <a:ext cx="35405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// </a:t>
            </a:r>
            <a:r>
              <a:rPr lang="fr-FR" dirty="0" err="1"/>
              <a:t>another</a:t>
            </a:r>
            <a:r>
              <a:rPr lang="fr-FR" dirty="0"/>
              <a:t> process running</a:t>
            </a:r>
          </a:p>
          <a:p>
            <a:r>
              <a:rPr lang="fr-FR" dirty="0"/>
              <a:t>val </a:t>
            </a:r>
            <a:r>
              <a:rPr lang="fr-FR" dirty="0" err="1"/>
              <a:t>newDataset</a:t>
            </a:r>
            <a:r>
              <a:rPr lang="fr-FR" dirty="0"/>
              <a:t> = …</a:t>
            </a:r>
          </a:p>
          <a:p>
            <a:r>
              <a:rPr lang="fr-FR" dirty="0" err="1"/>
              <a:t>newDataset.write.save</a:t>
            </a:r>
            <a:r>
              <a:rPr lang="fr-FR" dirty="0"/>
              <a:t>(« /table1 »);</a:t>
            </a:r>
          </a:p>
          <a:p>
            <a:endParaRPr lang="fr-FR" dirty="0"/>
          </a:p>
        </p:txBody>
      </p:sp>
      <p:sp>
        <p:nvSpPr>
          <p:cNvPr id="7" name="Flèche : bas 6">
            <a:extLst>
              <a:ext uri="{FF2B5EF4-FFF2-40B4-BE49-F238E27FC236}">
                <a16:creationId xmlns:a16="http://schemas.microsoft.com/office/drawing/2014/main" id="{5FAA1B93-1253-45B4-BB7A-13D65FB82540}"/>
              </a:ext>
            </a:extLst>
          </p:cNvPr>
          <p:cNvSpPr/>
          <p:nvPr/>
        </p:nvSpPr>
        <p:spPr>
          <a:xfrm rot="5400000">
            <a:off x="7987683" y="4830553"/>
            <a:ext cx="319596" cy="89220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D78CBEE-FD26-4762-8109-4D7451AF0063}"/>
              </a:ext>
            </a:extLst>
          </p:cNvPr>
          <p:cNvSpPr txBox="1"/>
          <p:nvPr/>
        </p:nvSpPr>
        <p:spPr>
          <a:xfrm>
            <a:off x="8815526" y="5116858"/>
            <a:ext cx="28382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Spark </a:t>
            </a:r>
            <a:r>
              <a:rPr lang="fr-FR" dirty="0" err="1"/>
              <a:t>does</a:t>
            </a:r>
            <a:r>
              <a:rPr lang="fr-FR" dirty="0"/>
              <a:t> not </a:t>
            </a:r>
            <a:r>
              <a:rPr lang="fr-FR" dirty="0" err="1"/>
              <a:t>even</a:t>
            </a:r>
            <a:r>
              <a:rPr lang="fr-FR" dirty="0"/>
              <a:t> return </a:t>
            </a:r>
          </a:p>
          <a:p>
            <a:r>
              <a:rPr lang="fr-FR" dirty="0"/>
              <a:t>the « new </a:t>
            </a:r>
            <a:r>
              <a:rPr lang="fr-FR" dirty="0" err="1"/>
              <a:t>refreshed</a:t>
            </a:r>
            <a:r>
              <a:rPr lang="fr-FR" dirty="0"/>
              <a:t> » </a:t>
            </a:r>
            <a:r>
              <a:rPr lang="fr-FR" dirty="0" err="1"/>
              <a:t>result</a:t>
            </a:r>
            <a:endParaRPr lang="fr-FR" dirty="0"/>
          </a:p>
          <a:p>
            <a:r>
              <a:rPr lang="fr-FR" dirty="0"/>
              <a:t>…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just</a:t>
            </a:r>
            <a:r>
              <a:rPr lang="fr-FR" dirty="0"/>
              <a:t> fails</a:t>
            </a:r>
          </a:p>
        </p:txBody>
      </p:sp>
    </p:spTree>
    <p:extLst>
      <p:ext uri="{BB962C8B-B14F-4D97-AF65-F5344CB8AC3E}">
        <p14:creationId xmlns:p14="http://schemas.microsoft.com/office/powerpoint/2010/main" val="762564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E674E4-5253-41B4-8BCC-30A2DBBB4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ACID,  I = </a:t>
            </a:r>
            <a:r>
              <a:rPr lang="fr-FR" dirty="0" err="1"/>
              <a:t>Isolated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EA1D8BB-981E-46A4-BD26-4D0AC637E6B4}"/>
              </a:ext>
            </a:extLst>
          </p:cNvPr>
          <p:cNvSpPr txBox="1"/>
          <p:nvPr/>
        </p:nvSpPr>
        <p:spPr>
          <a:xfrm>
            <a:off x="3351320" y="2876366"/>
            <a:ext cx="69209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it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not Atomic, </a:t>
            </a:r>
            <a:r>
              <a:rPr lang="fr-FR" sz="2400" dirty="0" err="1"/>
              <a:t>nor</a:t>
            </a:r>
            <a:r>
              <a:rPr lang="fr-FR" sz="2400" dirty="0"/>
              <a:t> Consistent … </a:t>
            </a:r>
            <a:r>
              <a:rPr lang="fr-FR" sz="2400" dirty="0" err="1"/>
              <a:t>it</a:t>
            </a:r>
            <a:r>
              <a:rPr lang="fr-FR" sz="2400" dirty="0"/>
              <a:t>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also</a:t>
            </a:r>
            <a:r>
              <a:rPr lang="fr-FR" sz="2400" dirty="0"/>
              <a:t> not </a:t>
            </a:r>
            <a:r>
              <a:rPr lang="fr-FR" sz="2400" dirty="0" err="1"/>
              <a:t>Isolated</a:t>
            </a:r>
            <a:endParaRPr lang="fr-FR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51A1C6A-AE21-4AD3-BEB1-79D57BB04928}"/>
              </a:ext>
            </a:extLst>
          </p:cNvPr>
          <p:cNvSpPr txBox="1"/>
          <p:nvPr/>
        </p:nvSpPr>
        <p:spPr>
          <a:xfrm>
            <a:off x="2006353" y="4261282"/>
            <a:ext cx="901054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 </a:t>
            </a:r>
            <a:r>
              <a:rPr lang="fr-FR" dirty="0" err="1"/>
              <a:t>particular</a:t>
            </a:r>
            <a:r>
              <a:rPr lang="fr-FR" dirty="0"/>
              <a:t>, </a:t>
            </a:r>
            <a:r>
              <a:rPr lang="fr-FR" dirty="0" err="1"/>
              <a:t>spark</a:t>
            </a:r>
            <a:r>
              <a:rPr lang="fr-FR" dirty="0"/>
              <a:t> tries to </a:t>
            </a:r>
            <a:r>
              <a:rPr lang="fr-FR" dirty="0" err="1"/>
              <a:t>be</a:t>
            </a:r>
            <a:r>
              <a:rPr lang="fr-FR" dirty="0"/>
              <a:t> ACID, but per directory</a:t>
            </a:r>
          </a:p>
          <a:p>
            <a:r>
              <a:rPr lang="fr-FR" dirty="0"/>
              <a:t> … Suppose </a:t>
            </a:r>
            <a:r>
              <a:rPr lang="fr-FR" dirty="0" err="1"/>
              <a:t>you</a:t>
            </a:r>
            <a:r>
              <a:rPr lang="fr-FR" dirty="0"/>
              <a:t> are </a:t>
            </a:r>
            <a:r>
              <a:rPr lang="fr-FR" dirty="0" err="1"/>
              <a:t>writting</a:t>
            </a:r>
            <a:r>
              <a:rPr lang="fr-FR" dirty="0"/>
              <a:t> to </a:t>
            </a:r>
            <a:r>
              <a:rPr lang="fr-FR" dirty="0" err="1"/>
              <a:t>several</a:t>
            </a:r>
            <a:r>
              <a:rPr lang="fr-FR" dirty="0"/>
              <a:t> partitions (1 partition = 1 directory in </a:t>
            </a:r>
            <a:r>
              <a:rPr lang="fr-FR" dirty="0" err="1"/>
              <a:t>Hive</a:t>
            </a:r>
            <a:r>
              <a:rPr lang="fr-FR" dirty="0"/>
              <a:t> </a:t>
            </a:r>
            <a:r>
              <a:rPr lang="fr-FR" dirty="0" err="1"/>
              <a:t>MetaStore</a:t>
            </a:r>
            <a:r>
              <a:rPr lang="fr-FR" dirty="0"/>
              <a:t>)</a:t>
            </a:r>
          </a:p>
          <a:p>
            <a:endParaRPr lang="fr-FR" dirty="0"/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dirty="0"/>
              <a:t>You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committed</a:t>
            </a:r>
            <a:r>
              <a:rPr lang="fr-FR" dirty="0"/>
              <a:t> partitions (</a:t>
            </a:r>
            <a:r>
              <a:rPr lang="fr-FR" dirty="0" err="1"/>
              <a:t>so</a:t>
            </a:r>
            <a:r>
              <a:rPr lang="fr-FR" dirty="0"/>
              <a:t> </a:t>
            </a:r>
            <a:r>
              <a:rPr lang="fr-FR" dirty="0" err="1"/>
              <a:t>partially</a:t>
            </a:r>
            <a:r>
              <a:rPr lang="fr-FR" dirty="0"/>
              <a:t> </a:t>
            </a:r>
            <a:r>
              <a:rPr lang="fr-FR" dirty="0" err="1"/>
              <a:t>committed</a:t>
            </a:r>
            <a:r>
              <a:rPr lang="fr-FR" dirty="0"/>
              <a:t> </a:t>
            </a:r>
            <a:r>
              <a:rPr lang="fr-FR" dirty="0" err="1"/>
              <a:t>task</a:t>
            </a:r>
            <a:r>
              <a:rPr lang="fr-FR" dirty="0"/>
              <a:t> </a:t>
            </a:r>
            <a:r>
              <a:rPr lang="fr-FR" dirty="0" err="1"/>
              <a:t>result</a:t>
            </a:r>
            <a:r>
              <a:rPr lang="fr-FR" dirty="0"/>
              <a:t>), but not </a:t>
            </a:r>
            <a:r>
              <a:rPr lang="fr-FR" dirty="0" err="1"/>
              <a:t>others</a:t>
            </a:r>
            <a:endParaRPr lang="fr-FR" dirty="0"/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fr-FR" dirty="0"/>
              <a:t>Even </a:t>
            </a:r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different</a:t>
            </a:r>
            <a:r>
              <a:rPr lang="fr-FR" dirty="0"/>
              <a:t> </a:t>
            </a:r>
            <a:r>
              <a:rPr lang="fr-FR" dirty="0" err="1"/>
              <a:t>writer</a:t>
            </a:r>
            <a:r>
              <a:rPr lang="fr-FR" dirty="0"/>
              <a:t> </a:t>
            </a:r>
            <a:r>
              <a:rPr lang="fr-FR" dirty="0" err="1"/>
              <a:t>processes</a:t>
            </a:r>
            <a:endParaRPr lang="fr-FR" dirty="0"/>
          </a:p>
          <a:p>
            <a:pPr marL="285750" indent="-285750">
              <a:buFont typeface="Symbol" panose="05050102010706020507" pitchFamily="18" charset="2"/>
              <a:buChar char="Þ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522122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621</Words>
  <Application>Microsoft Office PowerPoint</Application>
  <PresentationFormat>Grand écran</PresentationFormat>
  <Paragraphs>94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Symbol</vt:lpstr>
      <vt:lpstr>Thème Office</vt:lpstr>
      <vt:lpstr>Comparisons NoSql Databases vs Standard OLTP Databases</vt:lpstr>
      <vt:lpstr>Overview</vt:lpstr>
      <vt:lpstr> « Si tu as besoin de quelque chose, appelle moi, je te dirais comment t’en passer »   « If you need anything, call me,  I'll tell you how to do without it.  » </vt:lpstr>
      <vt:lpstr>ACID</vt:lpstr>
      <vt:lpstr>ACID,  A = Atomic</vt:lpstr>
      <vt:lpstr>Using « _temporary » dirs</vt:lpstr>
      <vt:lpstr>Hidden files &amp; Dirs:  starting with « _ » or « . »</vt:lpstr>
      <vt:lpstr>Slow Write to Hidden temporary directory… OK then « atomic ?» delete all OLD files + rename all NEW files</vt:lpstr>
      <vt:lpstr>Is It really Atomic ?</vt:lpstr>
      <vt:lpstr>ACID,  C = Consistent</vt:lpstr>
      <vt:lpstr>ACID,  I = Isolated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arnaud</dc:creator>
  <cp:lastModifiedBy>arnaud</cp:lastModifiedBy>
  <cp:revision>7</cp:revision>
  <dcterms:created xsi:type="dcterms:W3CDTF">2025-09-24T16:34:58Z</dcterms:created>
  <dcterms:modified xsi:type="dcterms:W3CDTF">2025-10-01T14:15:27Z</dcterms:modified>
</cp:coreProperties>
</file>