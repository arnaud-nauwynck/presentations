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2" r:id="rId15"/>
    <p:sldId id="275" r:id="rId16"/>
    <p:sldId id="273" r:id="rId17"/>
    <p:sldId id="274" r:id="rId18"/>
    <p:sldId id="271" r:id="rId19"/>
    <p:sldId id="278" r:id="rId20"/>
    <p:sldId id="277" r:id="rId21"/>
    <p:sldId id="279" r:id="rId22"/>
    <p:sldId id="280" r:id="rId23"/>
    <p:sldId id="281" r:id="rId24"/>
    <p:sldId id="270" r:id="rId25"/>
    <p:sldId id="276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90" r:id="rId34"/>
    <p:sldId id="289" r:id="rId35"/>
    <p:sldId id="267" r:id="rId3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56" d="100"/>
          <a:sy n="56" d="100"/>
        </p:scale>
        <p:origin x="31" y="5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DD1CF9-5D2A-4568-91DC-A079820B0F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B7A583F-033C-407C-B0BF-05C0C3D196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9B203ED-EBA9-4ED8-92B5-F2E289784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93FE3-A199-4C9E-8963-DC5A59A6898C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30A61D5-5DF8-4C57-ACA0-283438C5D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442B6A4-73C7-4967-BB26-DC88FAC74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3E59-B44D-49D5-A4DC-D2CE94E23D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3670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539D2C-6BA6-4DB8-BE4C-29BF224D9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1B9D8F-0B13-472B-B45C-265E115A55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BAD3A-FD59-4F58-9029-0E1C1C99B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93FE3-A199-4C9E-8963-DC5A59A6898C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2775B94-653B-4DA7-8E32-AEBDD946F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29A0DA0-F04E-470C-A030-EFB2A0802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3E59-B44D-49D5-A4DC-D2CE94E23D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1488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5692E2-6FC8-4237-A9CC-B072F1951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AD9403-7A5A-4B11-B7D4-ACA3F305CD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2CCCFD9-A683-4130-A9BB-760DE625B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93FE3-A199-4C9E-8963-DC5A59A6898C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F5C977B-2A05-438D-928F-187208769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ECC6AE-756A-4C07-A65D-4FC122F94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3E59-B44D-49D5-A4DC-D2CE94E23D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5627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AF6936-6420-46C2-8B58-BBF5C3ED0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466360-6689-4E9E-A7C6-80D3866732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8CDD820-AB98-4CE6-B6CD-9C26C76C49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5D93B59-3288-4A37-ADC3-EF2DF5CDE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93FE3-A199-4C9E-8963-DC5A59A6898C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96383E6-3FA4-40FE-8132-6BC3925DF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45E39F1-711F-488D-AD6B-0269DA8D0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3E59-B44D-49D5-A4DC-D2CE94E23D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19248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67DB0A-D32D-4C5E-B4D3-6A00830BD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2770DCA-8F73-44FF-824A-E3C8981F96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31147F2-4F68-4965-BEDF-2011C920D5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ED1B584-B3D8-4449-B313-800E546624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892CCED-52BF-4B65-943A-94FFE906EB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EEC4FBA-51F8-4C49-8125-56A92350B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93FE3-A199-4C9E-8963-DC5A59A6898C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672870E-CD1C-4B34-960F-58E9795F4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8AEABC0-1789-4597-8F3D-BDBB178D1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3E59-B44D-49D5-A4DC-D2CE94E23D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213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17E2F9-DDFD-4C81-B000-0EA52F634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44FCD0A-08AC-4E35-BAFA-94230F59D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93FE3-A199-4C9E-8963-DC5A59A6898C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168F508-DCA8-4083-A70C-B0638FC1A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CC26B99-6E24-4BED-803F-20620B675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3E59-B44D-49D5-A4DC-D2CE94E23D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959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F1DAEB-F13F-4029-9E9D-C260BA94B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93FE3-A199-4C9E-8963-DC5A59A6898C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E044FF3-51AC-4E4C-9AF2-499031F13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B30B8EE-8B85-431A-BA24-4C957BB6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3E59-B44D-49D5-A4DC-D2CE94E23D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3627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BFB1F9-0088-4CA3-B997-851DAF068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2A86D8F-7447-44EA-8460-4C48AADD4C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B721D8B-F481-4107-B307-9EC85408FE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346D8BE-CFC3-434E-904A-D533034FD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93FE3-A199-4C9E-8963-DC5A59A6898C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3C1A409-FF06-4F6D-8898-08D0A6F25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7526050-9E3E-4F6A-A890-DD9D6F1CA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3E59-B44D-49D5-A4DC-D2CE94E23D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454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571A2D-9520-40B6-971D-6DA9227AD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5CAD282-5CF5-4B94-9C12-4A7169D7DE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98F8734-6A0D-4DDA-8207-963544219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550B8C8-ABD4-457C-A828-203D32458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93FE3-A199-4C9E-8963-DC5A59A6898C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7B12CCF-A6E2-4899-BD9E-2F9DC5AAD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261B7E9-B3E3-495E-9EF4-0A83BB7A3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3E59-B44D-49D5-A4DC-D2CE94E23D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481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65A1A9-143E-4435-B9DA-E1B6D33CB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F7B117-A0BB-4206-AFEF-C82621084A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5749435-419F-4F10-A647-5EED761B5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93FE3-A199-4C9E-8963-DC5A59A6898C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AEE9A9-C595-4D90-B56B-7098B6878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EDE4A7-1E5B-4131-B42E-AB14CF4FC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3E59-B44D-49D5-A4DC-D2CE94E23D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2569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CF81FE9-648E-4DD9-AA39-2B94A76184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6E63190-6693-4301-AD9B-49F45A0222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969E46-F0DF-47EA-99A8-DC5DA0183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93FE3-A199-4C9E-8963-DC5A59A6898C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1457222-1655-4B5B-9CCB-F9C7FBC2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FADEB1-E319-4738-B604-EECEB3A64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3E59-B44D-49D5-A4DC-D2CE94E23D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393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057FAAD-5891-49DF-9F0D-4609EB9B0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36D78BA-B24F-439E-8306-5A71BFA787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CBD3CA8-3D23-496C-AD29-985BB782D3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693FE3-A199-4C9E-8963-DC5A59A6898C}" type="datetimeFigureOut">
              <a:rPr lang="fr-FR" smtClean="0"/>
              <a:t>16/10/2025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7C95C56-5FBB-4EA2-BE62-DA2446A456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38B55B-489D-448D-B760-E790DD163C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73E59-B44D-49D5-A4DC-D2CE94E23D3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2558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iceberg.apache.org/spec/#goals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E0C786-987B-4FE0-9B5B-12617C930C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001315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Comparisons</a:t>
            </a:r>
            <a:br>
              <a:rPr lang="fr-FR" dirty="0"/>
            </a:br>
            <a:r>
              <a:rPr lang="fr-FR" dirty="0" err="1"/>
              <a:t>NoSql</a:t>
            </a:r>
            <a:r>
              <a:rPr lang="fr-FR" dirty="0"/>
              <a:t> </a:t>
            </a:r>
            <a:r>
              <a:rPr lang="fr-FR" dirty="0" err="1"/>
              <a:t>Databases</a:t>
            </a:r>
            <a:br>
              <a:rPr lang="fr-FR" dirty="0"/>
            </a:br>
            <a:r>
              <a:rPr lang="fr-FR" dirty="0"/>
              <a:t>vs</a:t>
            </a:r>
            <a:br>
              <a:rPr lang="fr-FR" dirty="0"/>
            </a:br>
            <a:r>
              <a:rPr lang="fr-FR" dirty="0"/>
              <a:t>Standard OLTP </a:t>
            </a:r>
            <a:r>
              <a:rPr lang="fr-FR" dirty="0" err="1"/>
              <a:t>Databases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986DB0C-8B2E-47D6-A3E1-01BC788F33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03071"/>
            <a:ext cx="9144000" cy="1176291"/>
          </a:xfrm>
        </p:spPr>
        <p:txBody>
          <a:bodyPr>
            <a:noAutofit/>
          </a:bodyPr>
          <a:lstStyle/>
          <a:p>
            <a:r>
              <a:rPr lang="fr-FR" sz="2000" dirty="0" err="1"/>
              <a:t>Esilv</a:t>
            </a:r>
            <a:r>
              <a:rPr lang="fr-FR" sz="2000" dirty="0"/>
              <a:t> 2025</a:t>
            </a:r>
          </a:p>
          <a:p>
            <a:endParaRPr lang="fr-FR" sz="2000" dirty="0"/>
          </a:p>
          <a:p>
            <a:r>
              <a:rPr lang="fr-FR" sz="2000" dirty="0"/>
              <a:t>Arnaud.nauwynck@gmail.com</a:t>
            </a:r>
          </a:p>
        </p:txBody>
      </p:sp>
    </p:spTree>
    <p:extLst>
      <p:ext uri="{BB962C8B-B14F-4D97-AF65-F5344CB8AC3E}">
        <p14:creationId xmlns:p14="http://schemas.microsoft.com/office/powerpoint/2010/main" val="2840761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9F1D46-B16D-4AD5-A428-E4E94B065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Overview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D72AB1C-1B9D-4134-9C9B-B6A7EAB5C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fr-FR" dirty="0"/>
              <a:t>Standard in OLTP : </a:t>
            </a:r>
          </a:p>
          <a:p>
            <a:pPr lvl="1"/>
            <a:r>
              <a:rPr lang="fr-FR" dirty="0"/>
              <a:t>ACID</a:t>
            </a:r>
          </a:p>
          <a:p>
            <a:pPr lvl="1"/>
            <a:r>
              <a:rPr lang="fr-FR" dirty="0"/>
              <a:t>Read isolation (</a:t>
            </a:r>
            <a:r>
              <a:rPr lang="fr-FR" dirty="0" err="1"/>
              <a:t>read</a:t>
            </a:r>
            <a:r>
              <a:rPr lang="fr-FR" dirty="0"/>
              <a:t> consistent, </a:t>
            </a:r>
            <a:r>
              <a:rPr lang="fr-FR" dirty="0" err="1"/>
              <a:t>mvcc</a:t>
            </a:r>
            <a:r>
              <a:rPr lang="fr-FR" dirty="0"/>
              <a:t>)</a:t>
            </a:r>
          </a:p>
          <a:p>
            <a:pPr lvl="1"/>
            <a:r>
              <a:rPr lang="fr-FR" dirty="0" err="1"/>
              <a:t>Sql</a:t>
            </a:r>
            <a:r>
              <a:rPr lang="fr-FR" dirty="0"/>
              <a:t> SELECT + INSERT, UPDATE, DELETE</a:t>
            </a:r>
          </a:p>
          <a:p>
            <a:pPr lvl="1"/>
            <a:r>
              <a:rPr lang="fr-FR" dirty="0"/>
              <a:t>Transaction WAL  Files</a:t>
            </a:r>
          </a:p>
          <a:p>
            <a:pPr lvl="1"/>
            <a:r>
              <a:rPr lang="fr-FR" dirty="0" err="1"/>
              <a:t>Modifying</a:t>
            </a:r>
            <a:r>
              <a:rPr lang="fr-FR" dirty="0"/>
              <a:t> </a:t>
            </a:r>
            <a:r>
              <a:rPr lang="fr-FR" dirty="0" err="1"/>
              <a:t>Binary</a:t>
            </a:r>
            <a:r>
              <a:rPr lang="fr-FR" dirty="0"/>
              <a:t> files</a:t>
            </a:r>
          </a:p>
          <a:p>
            <a:pPr lvl="1"/>
            <a:r>
              <a:rPr lang="fr-FR" dirty="0" err="1"/>
              <a:t>Using</a:t>
            </a:r>
            <a:r>
              <a:rPr lang="fr-FR" dirty="0"/>
              <a:t> B-</a:t>
            </a:r>
            <a:r>
              <a:rPr lang="fr-FR" dirty="0" err="1"/>
              <a:t>Trees</a:t>
            </a:r>
            <a:r>
              <a:rPr lang="fr-FR" dirty="0"/>
              <a:t>, and Indexes</a:t>
            </a:r>
          </a:p>
          <a:p>
            <a:pPr lvl="1"/>
            <a:r>
              <a:rPr lang="fr-FR" dirty="0"/>
              <a:t>Fast </a:t>
            </a:r>
            <a:r>
              <a:rPr lang="fr-FR" dirty="0" err="1"/>
              <a:t>lookup</a:t>
            </a:r>
            <a:r>
              <a:rPr lang="fr-FR" dirty="0"/>
              <a:t> by </a:t>
            </a:r>
            <a:r>
              <a:rPr lang="fr-FR" dirty="0" err="1"/>
              <a:t>rowid</a:t>
            </a:r>
            <a:r>
              <a:rPr lang="fr-FR" dirty="0"/>
              <a:t>/</a:t>
            </a:r>
            <a:r>
              <a:rPr lang="fr-FR" dirty="0" err="1"/>
              <a:t>addresses</a:t>
            </a:r>
            <a:r>
              <a:rPr lang="fr-FR" dirty="0"/>
              <a:t> in file blocks</a:t>
            </a:r>
          </a:p>
          <a:p>
            <a:pPr lvl="1"/>
            <a:endParaRPr lang="fr-FR" dirty="0"/>
          </a:p>
          <a:p>
            <a:r>
              <a:rPr lang="fr-FR" dirty="0"/>
              <a:t>NOT </a:t>
            </a:r>
            <a:r>
              <a:rPr lang="fr-FR" dirty="0" err="1"/>
              <a:t>Anymore</a:t>
            </a:r>
            <a:r>
              <a:rPr lang="fr-FR" dirty="0"/>
              <a:t> in </a:t>
            </a:r>
            <a:r>
              <a:rPr lang="fr-FR" dirty="0" err="1"/>
              <a:t>NoSql</a:t>
            </a:r>
            <a:r>
              <a:rPr lang="fr-FR" dirty="0"/>
              <a:t> </a:t>
            </a:r>
            <a:r>
              <a:rPr lang="fr-FR" dirty="0" err="1"/>
              <a:t>Databases</a:t>
            </a:r>
            <a:r>
              <a:rPr lang="fr-FR" dirty="0"/>
              <a:t> !!</a:t>
            </a:r>
          </a:p>
          <a:p>
            <a:pPr lvl="1"/>
            <a:r>
              <a:rPr lang="fr-FR" dirty="0"/>
              <a:t>Commit, </a:t>
            </a:r>
            <a:r>
              <a:rPr lang="fr-FR" dirty="0" err="1"/>
              <a:t>using</a:t>
            </a:r>
            <a:r>
              <a:rPr lang="fr-FR" dirty="0"/>
              <a:t> « _</a:t>
            </a:r>
            <a:r>
              <a:rPr lang="fr-FR" dirty="0" err="1"/>
              <a:t>temporary</a:t>
            </a:r>
            <a:r>
              <a:rPr lang="fr-FR" dirty="0"/>
              <a:t>/* »  directories?</a:t>
            </a:r>
          </a:p>
          <a:p>
            <a:pPr lvl="1"/>
            <a:r>
              <a:rPr lang="fr-FR" dirty="0"/>
              <a:t>Read isolation ?</a:t>
            </a:r>
          </a:p>
          <a:p>
            <a:pPr lvl="1"/>
            <a:r>
              <a:rPr lang="fr-FR" dirty="0" err="1"/>
              <a:t>Overwrite</a:t>
            </a:r>
            <a:r>
              <a:rPr lang="fr-FR" dirty="0"/>
              <a:t> Files… </a:t>
            </a:r>
            <a:r>
              <a:rPr lang="fr-FR" dirty="0" err="1"/>
              <a:t>delete</a:t>
            </a:r>
            <a:r>
              <a:rPr lang="fr-FR" dirty="0"/>
              <a:t> + re-</a:t>
            </a:r>
            <a:r>
              <a:rPr lang="fr-FR" dirty="0" err="1"/>
              <a:t>create</a:t>
            </a:r>
            <a:r>
              <a:rPr lang="fr-FR" dirty="0"/>
              <a:t> new</a:t>
            </a:r>
          </a:p>
          <a:p>
            <a:pPr lvl="1"/>
            <a:r>
              <a:rPr lang="fr-FR" dirty="0"/>
              <a:t>No Indexes</a:t>
            </a:r>
          </a:p>
          <a:p>
            <a:pPr lvl="1"/>
            <a:r>
              <a:rPr lang="fr-FR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559626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08C1BF-08B4-4DC7-9795-44DA18DCA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661" y="142043"/>
            <a:ext cx="10515600" cy="3124939"/>
          </a:xfrm>
        </p:spPr>
        <p:txBody>
          <a:bodyPr>
            <a:normAutofit fontScale="90000"/>
          </a:bodyPr>
          <a:lstStyle/>
          <a:p>
            <a:br>
              <a:rPr lang="fr-FR" dirty="0"/>
            </a:br>
            <a:r>
              <a:rPr lang="fr-FR" dirty="0"/>
              <a:t>« Si tu as besoin de quelque chose,</a:t>
            </a:r>
            <a:br>
              <a:rPr lang="fr-FR" dirty="0"/>
            </a:br>
            <a:r>
              <a:rPr lang="fr-FR" dirty="0"/>
              <a:t>appelle moi, je te dirais comment t’en passer »</a:t>
            </a:r>
            <a:br>
              <a:rPr lang="fr-FR" dirty="0"/>
            </a:br>
            <a:br>
              <a:rPr lang="fr-FR" dirty="0"/>
            </a:br>
            <a:br>
              <a:rPr lang="fr-FR" dirty="0"/>
            </a:br>
            <a:r>
              <a:rPr lang="fr-FR" dirty="0"/>
              <a:t>« </a:t>
            </a:r>
            <a:r>
              <a:rPr lang="en-US" dirty="0"/>
              <a:t>If you need anything, call me, </a:t>
            </a:r>
            <a:br>
              <a:rPr lang="en-US" dirty="0"/>
            </a:br>
            <a:r>
              <a:rPr lang="en-US" dirty="0"/>
              <a:t>I'll tell you how to do without it.</a:t>
            </a:r>
            <a:r>
              <a:rPr lang="fr-FR" dirty="0"/>
              <a:t>  »</a:t>
            </a:r>
            <a:br>
              <a:rPr lang="fr-FR" dirty="0"/>
            </a:br>
            <a:endParaRPr lang="fr-FR" dirty="0"/>
          </a:p>
        </p:txBody>
      </p:sp>
      <p:pic>
        <p:nvPicPr>
          <p:cNvPr id="1026" name="Picture 2" descr="Citation : Coluche - Citation-inspiration.com">
            <a:extLst>
              <a:ext uri="{FF2B5EF4-FFF2-40B4-BE49-F238E27FC236}">
                <a16:creationId xmlns:a16="http://schemas.microsoft.com/office/drawing/2014/main" id="{F3C5A1F3-779F-4F44-915F-A768EE085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7725" y="2916314"/>
            <a:ext cx="2849732" cy="3799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38635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8708E6-7E87-4BEE-A182-13D2EFFEF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ACID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8697D6C-787D-4082-929A-3805207C724B}"/>
              </a:ext>
            </a:extLst>
          </p:cNvPr>
          <p:cNvSpPr txBox="1"/>
          <p:nvPr/>
        </p:nvSpPr>
        <p:spPr>
          <a:xfrm>
            <a:off x="3804082" y="1793289"/>
            <a:ext cx="3127779" cy="44012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/>
              <a:t>A  = Atomic</a:t>
            </a:r>
          </a:p>
          <a:p>
            <a:endParaRPr lang="fr-FR" sz="4000" dirty="0"/>
          </a:p>
          <a:p>
            <a:r>
              <a:rPr lang="fr-FR" sz="4000" dirty="0"/>
              <a:t>C = Consistent</a:t>
            </a:r>
          </a:p>
          <a:p>
            <a:endParaRPr lang="fr-FR" sz="4000" dirty="0"/>
          </a:p>
          <a:p>
            <a:r>
              <a:rPr lang="fr-FR" sz="4000" dirty="0"/>
              <a:t>I = </a:t>
            </a:r>
            <a:r>
              <a:rPr lang="fr-FR" sz="4000" dirty="0" err="1"/>
              <a:t>Isolated</a:t>
            </a:r>
            <a:endParaRPr lang="fr-FR" sz="4000" dirty="0"/>
          </a:p>
          <a:p>
            <a:endParaRPr lang="fr-FR" sz="4000" dirty="0"/>
          </a:p>
          <a:p>
            <a:r>
              <a:rPr lang="fr-FR" sz="4000" dirty="0"/>
              <a:t>D = Durable</a:t>
            </a:r>
          </a:p>
        </p:txBody>
      </p:sp>
    </p:spTree>
    <p:extLst>
      <p:ext uri="{BB962C8B-B14F-4D97-AF65-F5344CB8AC3E}">
        <p14:creationId xmlns:p14="http://schemas.microsoft.com/office/powerpoint/2010/main" val="3070090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063956-5FF2-4158-84C6-89E93D0F5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ACID,  A = Atomic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63D1F12-A583-47B2-B3D6-D51B2A9F59F5}"/>
              </a:ext>
            </a:extLst>
          </p:cNvPr>
          <p:cNvSpPr txBox="1"/>
          <p:nvPr/>
        </p:nvSpPr>
        <p:spPr>
          <a:xfrm>
            <a:off x="2423603" y="2858610"/>
            <a:ext cx="6991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Atomic = All (commit)   or   Nothing  (rollback)</a:t>
            </a:r>
          </a:p>
        </p:txBody>
      </p:sp>
    </p:spTree>
    <p:extLst>
      <p:ext uri="{BB962C8B-B14F-4D97-AF65-F5344CB8AC3E}">
        <p14:creationId xmlns:p14="http://schemas.microsoft.com/office/powerpoint/2010/main" val="3146606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5C34C9-6A96-4A97-A7BF-8B961BBB9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Using</a:t>
            </a:r>
            <a:r>
              <a:rPr lang="fr-FR" dirty="0"/>
              <a:t> « _</a:t>
            </a:r>
            <a:r>
              <a:rPr lang="fr-FR" dirty="0" err="1"/>
              <a:t>temporary</a:t>
            </a:r>
            <a:r>
              <a:rPr lang="fr-FR" dirty="0"/>
              <a:t> » </a:t>
            </a:r>
            <a:r>
              <a:rPr lang="fr-FR" dirty="0" err="1"/>
              <a:t>dirs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0749598-3012-4D9F-9E73-FC5F321EF4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9307" y="2147256"/>
            <a:ext cx="6020322" cy="283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65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8CF9F7-3EAC-4923-881A-244EF61FA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Hidden</a:t>
            </a:r>
            <a:r>
              <a:rPr lang="fr-FR" dirty="0"/>
              <a:t> files &amp; </a:t>
            </a:r>
            <a:r>
              <a:rPr lang="fr-FR" dirty="0" err="1"/>
              <a:t>Dirs</a:t>
            </a:r>
            <a:r>
              <a:rPr lang="fr-FR" dirty="0"/>
              <a:t>:  </a:t>
            </a:r>
            <a:r>
              <a:rPr lang="fr-FR" dirty="0" err="1"/>
              <a:t>starting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« _ » or « . »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D9A69CF-E5EB-48E3-AC62-0C5B1DC4479A}"/>
              </a:ext>
            </a:extLst>
          </p:cNvPr>
          <p:cNvSpPr txBox="1"/>
          <p:nvPr/>
        </p:nvSpPr>
        <p:spPr>
          <a:xfrm>
            <a:off x="2001913" y="2667740"/>
            <a:ext cx="906336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Example of </a:t>
            </a:r>
            <a:r>
              <a:rPr lang="fr-FR" dirty="0" err="1"/>
              <a:t>hidden</a:t>
            </a:r>
            <a:r>
              <a:rPr lang="fr-FR" dirty="0"/>
              <a:t> files:  </a:t>
            </a:r>
            <a:br>
              <a:rPr lang="fr-FR" dirty="0"/>
            </a:br>
            <a:endParaRPr lang="fr-FR" dirty="0"/>
          </a:p>
          <a:p>
            <a:r>
              <a:rPr lang="fr-FR" dirty="0"/>
              <a:t>« _SUCCESS »        </a:t>
            </a:r>
            <a:r>
              <a:rPr lang="fr-FR" dirty="0" err="1"/>
              <a:t>empty</a:t>
            </a:r>
            <a:r>
              <a:rPr lang="fr-FR" dirty="0"/>
              <a:t> marker file for Hadoop for </a:t>
            </a:r>
            <a:r>
              <a:rPr lang="fr-FR" dirty="0" err="1"/>
              <a:t>success</a:t>
            </a:r>
            <a:r>
              <a:rPr lang="fr-FR" dirty="0"/>
              <a:t> end of </a:t>
            </a:r>
            <a:r>
              <a:rPr lang="fr-FR" dirty="0" err="1"/>
              <a:t>task</a:t>
            </a:r>
            <a:endParaRPr lang="fr-FR" dirty="0"/>
          </a:p>
          <a:p>
            <a:r>
              <a:rPr lang="fr-FR" dirty="0"/>
              <a:t> « .file1.csv.crc »   «SHA-256 » checksum file,  for </a:t>
            </a:r>
            <a:r>
              <a:rPr lang="fr-FR" dirty="0" err="1"/>
              <a:t>detecting</a:t>
            </a:r>
            <a:r>
              <a:rPr lang="fr-FR" dirty="0"/>
              <a:t> </a:t>
            </a:r>
            <a:r>
              <a:rPr lang="fr-FR" dirty="0" err="1"/>
              <a:t>corrupted</a:t>
            </a:r>
            <a:r>
              <a:rPr lang="fr-FR" dirty="0"/>
              <a:t> data files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Example of </a:t>
            </a:r>
            <a:r>
              <a:rPr lang="fr-FR" dirty="0" err="1"/>
              <a:t>hidden</a:t>
            </a:r>
            <a:r>
              <a:rPr lang="fr-FR" dirty="0"/>
              <a:t> directories</a:t>
            </a:r>
          </a:p>
          <a:p>
            <a:endParaRPr lang="fr-FR" dirty="0"/>
          </a:p>
          <a:p>
            <a:r>
              <a:rPr lang="fr-FR" dirty="0"/>
              <a:t>« _</a:t>
            </a:r>
            <a:r>
              <a:rPr lang="fr-FR" dirty="0" err="1"/>
              <a:t>temporary</a:t>
            </a:r>
            <a:r>
              <a:rPr lang="fr-FR" dirty="0"/>
              <a:t> / »       </a:t>
            </a:r>
            <a:r>
              <a:rPr lang="fr-FR" dirty="0" err="1"/>
              <a:t>during</a:t>
            </a:r>
            <a:r>
              <a:rPr lang="fr-FR" dirty="0"/>
              <a:t> </a:t>
            </a:r>
            <a:r>
              <a:rPr lang="fr-FR" dirty="0" err="1"/>
              <a:t>task</a:t>
            </a:r>
            <a:r>
              <a:rPr lang="fr-FR" dirty="0"/>
              <a:t>, </a:t>
            </a:r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removed</a:t>
            </a:r>
            <a:r>
              <a:rPr lang="fr-FR" dirty="0"/>
              <a:t> at end</a:t>
            </a:r>
          </a:p>
        </p:txBody>
      </p:sp>
    </p:spTree>
    <p:extLst>
      <p:ext uri="{BB962C8B-B14F-4D97-AF65-F5344CB8AC3E}">
        <p14:creationId xmlns:p14="http://schemas.microsoft.com/office/powerpoint/2010/main" val="3278582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207FF5-57EB-4BDF-BEE6-24A5EDCCE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Slow Write to </a:t>
            </a:r>
            <a:r>
              <a:rPr lang="fr-FR" dirty="0" err="1"/>
              <a:t>Hidden</a:t>
            </a:r>
            <a:r>
              <a:rPr lang="fr-FR" dirty="0"/>
              <a:t> </a:t>
            </a:r>
            <a:r>
              <a:rPr lang="fr-FR" dirty="0" err="1"/>
              <a:t>temporary</a:t>
            </a:r>
            <a:r>
              <a:rPr lang="fr-FR" dirty="0"/>
              <a:t> directory… OK</a:t>
            </a:r>
            <a:br>
              <a:rPr lang="fr-FR" dirty="0"/>
            </a:br>
            <a:r>
              <a:rPr lang="fr-FR" dirty="0" err="1"/>
              <a:t>then</a:t>
            </a:r>
            <a:r>
              <a:rPr lang="fr-FR" dirty="0"/>
              <a:t> « </a:t>
            </a:r>
            <a:r>
              <a:rPr lang="fr-FR" dirty="0" err="1"/>
              <a:t>atomic</a:t>
            </a:r>
            <a:r>
              <a:rPr lang="fr-FR" dirty="0"/>
              <a:t> ?» </a:t>
            </a:r>
            <a:r>
              <a:rPr lang="fr-FR" dirty="0" err="1"/>
              <a:t>delete</a:t>
            </a:r>
            <a:r>
              <a:rPr lang="fr-FR" dirty="0"/>
              <a:t> all OLD files</a:t>
            </a:r>
            <a:br>
              <a:rPr lang="fr-FR" dirty="0"/>
            </a:br>
            <a:r>
              <a:rPr lang="fr-FR" dirty="0"/>
              <a:t>+ </a:t>
            </a:r>
            <a:r>
              <a:rPr lang="fr-FR" dirty="0" err="1"/>
              <a:t>rename</a:t>
            </a:r>
            <a:r>
              <a:rPr lang="fr-FR" dirty="0"/>
              <a:t> all NEW files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B849821-B439-41E8-BE53-EC0AC751BEA4}"/>
              </a:ext>
            </a:extLst>
          </p:cNvPr>
          <p:cNvSpPr txBox="1"/>
          <p:nvPr/>
        </p:nvSpPr>
        <p:spPr>
          <a:xfrm>
            <a:off x="1828800" y="2703251"/>
            <a:ext cx="2501198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/ table1 /</a:t>
            </a:r>
            <a:br>
              <a:rPr lang="fr-FR" dirty="0"/>
            </a:br>
            <a:r>
              <a:rPr lang="fr-FR" dirty="0"/>
              <a:t>    + existing-file1.csv</a:t>
            </a:r>
          </a:p>
          <a:p>
            <a:r>
              <a:rPr lang="fr-FR" dirty="0"/>
              <a:t>    + existing-file2.csv</a:t>
            </a:r>
            <a:br>
              <a:rPr lang="fr-FR" dirty="0"/>
            </a:br>
            <a:r>
              <a:rPr lang="fr-FR" dirty="0"/>
              <a:t>    …</a:t>
            </a:r>
            <a:br>
              <a:rPr lang="fr-FR" dirty="0"/>
            </a:br>
            <a:r>
              <a:rPr lang="fr-FR" dirty="0"/>
              <a:t>    + existing-file50.csv</a:t>
            </a:r>
            <a:br>
              <a:rPr lang="fr-FR" dirty="0"/>
            </a:br>
            <a:endParaRPr lang="fr-FR" dirty="0"/>
          </a:p>
          <a:p>
            <a:r>
              <a:rPr lang="fr-FR" dirty="0"/>
              <a:t>    /_</a:t>
            </a:r>
            <a:r>
              <a:rPr lang="fr-FR" dirty="0" err="1"/>
              <a:t>temporary</a:t>
            </a:r>
            <a:r>
              <a:rPr lang="fr-FR" dirty="0"/>
              <a:t> /</a:t>
            </a:r>
          </a:p>
          <a:p>
            <a:r>
              <a:rPr lang="fr-FR" dirty="0"/>
              <a:t>             + new-file1.csv</a:t>
            </a:r>
          </a:p>
          <a:p>
            <a:r>
              <a:rPr lang="fr-FR" dirty="0"/>
              <a:t>             + new-file2.csv</a:t>
            </a:r>
          </a:p>
          <a:p>
            <a:r>
              <a:rPr lang="fr-FR" dirty="0"/>
              <a:t>             …</a:t>
            </a:r>
          </a:p>
          <a:p>
            <a:r>
              <a:rPr lang="fr-FR" dirty="0"/>
              <a:t>             + new-file200.csv</a:t>
            </a:r>
          </a:p>
        </p:txBody>
      </p:sp>
      <p:sp>
        <p:nvSpPr>
          <p:cNvPr id="5" name="Flèche : courbe vers la droite 4">
            <a:extLst>
              <a:ext uri="{FF2B5EF4-FFF2-40B4-BE49-F238E27FC236}">
                <a16:creationId xmlns:a16="http://schemas.microsoft.com/office/drawing/2014/main" id="{9D8BDC1E-0D36-47BA-8564-60A570CE0C2D}"/>
              </a:ext>
            </a:extLst>
          </p:cNvPr>
          <p:cNvSpPr/>
          <p:nvPr/>
        </p:nvSpPr>
        <p:spPr>
          <a:xfrm rot="10800000">
            <a:off x="4771749" y="3759693"/>
            <a:ext cx="594804" cy="1238436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" name="Flèche : courbe vers la droite 5">
            <a:extLst>
              <a:ext uri="{FF2B5EF4-FFF2-40B4-BE49-F238E27FC236}">
                <a16:creationId xmlns:a16="http://schemas.microsoft.com/office/drawing/2014/main" id="{7BC20DB9-C018-4919-B223-B7EED7169D4D}"/>
              </a:ext>
            </a:extLst>
          </p:cNvPr>
          <p:cNvSpPr/>
          <p:nvPr/>
        </p:nvSpPr>
        <p:spPr>
          <a:xfrm rot="10800000">
            <a:off x="4771749" y="2291918"/>
            <a:ext cx="594804" cy="1238436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3BAA622-E191-42BB-92B2-D4C69CF55906}"/>
              </a:ext>
            </a:extLst>
          </p:cNvPr>
          <p:cNvSpPr txBox="1"/>
          <p:nvPr/>
        </p:nvSpPr>
        <p:spPr>
          <a:xfrm>
            <a:off x="5850385" y="2254928"/>
            <a:ext cx="349211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# </a:t>
            </a:r>
            <a:r>
              <a:rPr lang="fr-FR" dirty="0" err="1"/>
              <a:t>step</a:t>
            </a:r>
            <a:r>
              <a:rPr lang="fr-FR" dirty="0"/>
              <a:t> 1…50 : </a:t>
            </a:r>
            <a:r>
              <a:rPr lang="fr-FR" dirty="0" err="1"/>
              <a:t>Remove</a:t>
            </a:r>
            <a:r>
              <a:rPr lang="fr-FR" dirty="0"/>
              <a:t> ALL OLD …    </a:t>
            </a:r>
          </a:p>
          <a:p>
            <a:r>
              <a:rPr lang="fr-FR" dirty="0" err="1"/>
              <a:t>rm</a:t>
            </a:r>
            <a:r>
              <a:rPr lang="fr-FR" dirty="0"/>
              <a:t> existing-file1.csv;</a:t>
            </a:r>
          </a:p>
          <a:p>
            <a:r>
              <a:rPr lang="fr-FR" dirty="0" err="1"/>
              <a:t>rm</a:t>
            </a:r>
            <a:r>
              <a:rPr lang="fr-FR" dirty="0"/>
              <a:t> existing-file2.csv;</a:t>
            </a:r>
          </a:p>
          <a:p>
            <a:r>
              <a:rPr lang="fr-FR" dirty="0"/>
              <a:t>..</a:t>
            </a:r>
          </a:p>
          <a:p>
            <a:r>
              <a:rPr lang="fr-FR" dirty="0" err="1"/>
              <a:t>rm</a:t>
            </a:r>
            <a:r>
              <a:rPr lang="fr-FR" dirty="0"/>
              <a:t> existing-file50.csv;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EDF6DCD-A4FC-457C-8C61-286B847E1476}"/>
              </a:ext>
            </a:extLst>
          </p:cNvPr>
          <p:cNvSpPr txBox="1"/>
          <p:nvPr/>
        </p:nvSpPr>
        <p:spPr>
          <a:xfrm>
            <a:off x="5896253" y="4071891"/>
            <a:ext cx="50065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# </a:t>
            </a:r>
            <a:r>
              <a:rPr lang="fr-FR" dirty="0" err="1"/>
              <a:t>step</a:t>
            </a:r>
            <a:r>
              <a:rPr lang="fr-FR" dirty="0"/>
              <a:t> 51…250 : Rename ALL NEW  …    </a:t>
            </a:r>
          </a:p>
          <a:p>
            <a:r>
              <a:rPr lang="fr-FR" dirty="0"/>
              <a:t>mv _</a:t>
            </a:r>
            <a:r>
              <a:rPr lang="fr-FR" dirty="0" err="1"/>
              <a:t>temporary</a:t>
            </a:r>
            <a:r>
              <a:rPr lang="fr-FR" dirty="0"/>
              <a:t>/new-file1.csv   ./new-file1.csv;</a:t>
            </a:r>
          </a:p>
          <a:p>
            <a:r>
              <a:rPr lang="fr-FR" dirty="0"/>
              <a:t>mv _</a:t>
            </a:r>
            <a:r>
              <a:rPr lang="fr-FR" dirty="0" err="1"/>
              <a:t>temporary</a:t>
            </a:r>
            <a:r>
              <a:rPr lang="fr-FR" dirty="0"/>
              <a:t>/new-file2.csv   ./new-file2.csv;</a:t>
            </a:r>
          </a:p>
          <a:p>
            <a:r>
              <a:rPr lang="fr-FR" dirty="0"/>
              <a:t>..</a:t>
            </a:r>
          </a:p>
          <a:p>
            <a:r>
              <a:rPr lang="fr-FR" dirty="0"/>
              <a:t>mv _</a:t>
            </a:r>
            <a:r>
              <a:rPr lang="fr-FR" dirty="0" err="1"/>
              <a:t>temporary</a:t>
            </a:r>
            <a:r>
              <a:rPr lang="fr-FR" dirty="0"/>
              <a:t>/new-file200.csv  ./ new-file200.csv;</a:t>
            </a:r>
          </a:p>
        </p:txBody>
      </p:sp>
    </p:spTree>
    <p:extLst>
      <p:ext uri="{BB962C8B-B14F-4D97-AF65-F5344CB8AC3E}">
        <p14:creationId xmlns:p14="http://schemas.microsoft.com/office/powerpoint/2010/main" val="34281365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BBBD0E-9F13-469A-9F84-0761E2E01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Is It </a:t>
            </a:r>
            <a:r>
              <a:rPr lang="fr-FR" dirty="0" err="1"/>
              <a:t>really</a:t>
            </a:r>
            <a:r>
              <a:rPr lang="fr-FR" dirty="0"/>
              <a:t> Atomic ?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330CBDD-D6DB-4EC0-B3B2-574A14B0EF13}"/>
              </a:ext>
            </a:extLst>
          </p:cNvPr>
          <p:cNvSpPr txBox="1"/>
          <p:nvPr/>
        </p:nvSpPr>
        <p:spPr>
          <a:xfrm>
            <a:off x="892206" y="2763148"/>
            <a:ext cx="1088490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Example at SG,  </a:t>
            </a:r>
            <a:r>
              <a:rPr lang="fr-FR" dirty="0" err="1"/>
              <a:t>we</a:t>
            </a:r>
            <a:r>
              <a:rPr lang="fr-FR" dirty="0"/>
              <a:t> have </a:t>
            </a:r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huge</a:t>
            </a:r>
            <a:r>
              <a:rPr lang="fr-FR" dirty="0"/>
              <a:t> </a:t>
            </a:r>
            <a:r>
              <a:rPr lang="fr-FR" dirty="0" err="1"/>
              <a:t>spark</a:t>
            </a:r>
            <a:r>
              <a:rPr lang="fr-FR" dirty="0"/>
              <a:t>-jobs</a:t>
            </a:r>
          </a:p>
          <a:p>
            <a:r>
              <a:rPr lang="fr-FR" dirty="0"/>
              <a:t>The « Atomic » </a:t>
            </a:r>
            <a:r>
              <a:rPr lang="fr-FR" dirty="0" err="1"/>
              <a:t>renaming</a:t>
            </a:r>
            <a:r>
              <a:rPr lang="fr-FR" dirty="0"/>
              <a:t> of files </a:t>
            </a:r>
            <a:r>
              <a:rPr lang="fr-FR" dirty="0" err="1"/>
              <a:t>takes</a:t>
            </a:r>
            <a:r>
              <a:rPr lang="fr-FR" dirty="0"/>
              <a:t> </a:t>
            </a:r>
            <a:r>
              <a:rPr lang="fr-FR" dirty="0" err="1"/>
              <a:t>too</a:t>
            </a:r>
            <a:r>
              <a:rPr lang="fr-FR" dirty="0"/>
              <a:t> long =&gt;  Timeout / Failure  </a:t>
            </a:r>
            <a:r>
              <a:rPr lang="fr-FR" dirty="0" err="1"/>
              <a:t>inside</a:t>
            </a:r>
            <a:r>
              <a:rPr lang="fr-FR" dirty="0"/>
              <a:t> the « commit » !?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There </a:t>
            </a:r>
            <a:r>
              <a:rPr lang="fr-FR" dirty="0" err="1"/>
              <a:t>might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still</a:t>
            </a:r>
            <a:r>
              <a:rPr lang="fr-FR" dirty="0"/>
              <a:t> </a:t>
            </a:r>
            <a:r>
              <a:rPr lang="fr-FR" dirty="0" err="1"/>
              <a:t>some</a:t>
            </a:r>
            <a:r>
              <a:rPr lang="fr-FR" dirty="0"/>
              <a:t> « _</a:t>
            </a:r>
            <a:r>
              <a:rPr lang="fr-FR" dirty="0" err="1"/>
              <a:t>temporary</a:t>
            </a:r>
            <a:r>
              <a:rPr lang="fr-FR" dirty="0"/>
              <a:t> » </a:t>
            </a:r>
            <a:r>
              <a:rPr lang="fr-FR" dirty="0" err="1"/>
              <a:t>remaining</a:t>
            </a:r>
            <a:r>
              <a:rPr lang="fr-FR" dirty="0"/>
              <a:t> </a:t>
            </a:r>
            <a:r>
              <a:rPr lang="fr-FR" dirty="0" err="1"/>
              <a:t>dir</a:t>
            </a:r>
            <a:r>
              <a:rPr lang="fr-FR" dirty="0"/>
              <a:t>,  </a:t>
            </a:r>
            <a:r>
              <a:rPr lang="fr-FR" dirty="0" err="1"/>
              <a:t>partially</a:t>
            </a:r>
            <a:r>
              <a:rPr lang="fr-FR" dirty="0"/>
              <a:t> </a:t>
            </a:r>
            <a:r>
              <a:rPr lang="fr-FR" dirty="0" err="1"/>
              <a:t>some</a:t>
            </a:r>
            <a:r>
              <a:rPr lang="fr-FR" dirty="0"/>
              <a:t> new files </a:t>
            </a:r>
            <a:r>
              <a:rPr lang="fr-FR" dirty="0" err="1"/>
              <a:t>added</a:t>
            </a:r>
            <a:r>
              <a:rPr lang="fr-FR" dirty="0"/>
              <a:t> …. And all </a:t>
            </a:r>
            <a:r>
              <a:rPr lang="fr-FR" dirty="0" err="1"/>
              <a:t>old</a:t>
            </a:r>
            <a:r>
              <a:rPr lang="fr-FR" dirty="0"/>
              <a:t> files </a:t>
            </a:r>
            <a:r>
              <a:rPr lang="fr-FR" dirty="0" err="1"/>
              <a:t>deleted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The commit </a:t>
            </a:r>
            <a:r>
              <a:rPr lang="fr-FR" dirty="0" err="1"/>
              <a:t>is</a:t>
            </a:r>
            <a:r>
              <a:rPr lang="fr-FR" dirty="0"/>
              <a:t> SO LONG … 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may</a:t>
            </a:r>
            <a:r>
              <a:rPr lang="fr-FR" dirty="0"/>
              <a:t> </a:t>
            </a:r>
            <a:r>
              <a:rPr lang="fr-FR" dirty="0" err="1"/>
              <a:t>read</a:t>
            </a:r>
            <a:r>
              <a:rPr lang="fr-FR" dirty="0"/>
              <a:t> </a:t>
            </a:r>
            <a:r>
              <a:rPr lang="fr-FR" dirty="0" err="1"/>
              <a:t>partially</a:t>
            </a:r>
            <a:r>
              <a:rPr lang="fr-FR" dirty="0"/>
              <a:t> « </a:t>
            </a:r>
            <a:r>
              <a:rPr lang="fr-FR" dirty="0" err="1"/>
              <a:t>uncommitted</a:t>
            </a:r>
            <a:r>
              <a:rPr lang="fr-FR" dirty="0"/>
              <a:t> » files, but not all</a:t>
            </a:r>
          </a:p>
        </p:txBody>
      </p:sp>
    </p:spTree>
    <p:extLst>
      <p:ext uri="{BB962C8B-B14F-4D97-AF65-F5344CB8AC3E}">
        <p14:creationId xmlns:p14="http://schemas.microsoft.com/office/powerpoint/2010/main" val="19744485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0F2306-3B82-4CAC-8048-AB1B5C870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ACID,  C = Consistent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9D5EEC3-F70F-4D53-9F98-CE2478DF70B2}"/>
              </a:ext>
            </a:extLst>
          </p:cNvPr>
          <p:cNvSpPr txBox="1"/>
          <p:nvPr/>
        </p:nvSpPr>
        <p:spPr>
          <a:xfrm>
            <a:off x="616997" y="2108447"/>
            <a:ext cx="6929782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val </a:t>
            </a:r>
            <a:r>
              <a:rPr lang="fr-FR" dirty="0" err="1"/>
              <a:t>dataset</a:t>
            </a:r>
            <a:r>
              <a:rPr lang="fr-FR" dirty="0"/>
              <a:t> = </a:t>
            </a:r>
            <a:r>
              <a:rPr lang="fr-FR" dirty="0" err="1"/>
              <a:t>spark.read.load</a:t>
            </a:r>
            <a:r>
              <a:rPr lang="fr-FR" dirty="0"/>
              <a:t>(« /table1 »)</a:t>
            </a:r>
          </a:p>
          <a:p>
            <a:endParaRPr lang="fr-FR" dirty="0"/>
          </a:p>
          <a:p>
            <a:r>
              <a:rPr lang="fr-FR" dirty="0" err="1"/>
              <a:t>dataset.count</a:t>
            </a:r>
            <a:r>
              <a:rPr lang="fr-FR" dirty="0"/>
              <a:t>();   // =&gt; OK, first </a:t>
            </a:r>
            <a:r>
              <a:rPr lang="fr-FR" dirty="0" err="1"/>
              <a:t>read</a:t>
            </a:r>
            <a:r>
              <a:rPr lang="fr-FR" dirty="0"/>
              <a:t> </a:t>
            </a:r>
            <a:r>
              <a:rPr lang="fr-FR" dirty="0" err="1"/>
              <a:t>success</a:t>
            </a:r>
            <a:endParaRPr lang="fr-FR" dirty="0"/>
          </a:p>
          <a:p>
            <a:endParaRPr lang="fr-FR" dirty="0"/>
          </a:p>
          <a:p>
            <a:r>
              <a:rPr lang="fr-FR" dirty="0"/>
              <a:t>…</a:t>
            </a:r>
          </a:p>
          <a:p>
            <a:r>
              <a:rPr lang="fr-FR" dirty="0"/>
              <a:t>…   </a:t>
            </a:r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processing</a:t>
            </a:r>
            <a:r>
              <a:rPr lang="fr-FR" dirty="0"/>
              <a:t> for 20 minutes … </a:t>
            </a:r>
          </a:p>
          <a:p>
            <a:r>
              <a:rPr lang="fr-FR" dirty="0"/>
              <a:t>…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// … </a:t>
            </a:r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actual</a:t>
            </a:r>
            <a:r>
              <a:rPr lang="fr-FR" dirty="0"/>
              <a:t> </a:t>
            </a:r>
            <a:r>
              <a:rPr lang="fr-FR" dirty="0" err="1"/>
              <a:t>read</a:t>
            </a:r>
            <a:r>
              <a:rPr lang="fr-FR" dirty="0"/>
              <a:t> </a:t>
            </a:r>
            <a:r>
              <a:rPr lang="fr-FR" dirty="0" err="1"/>
              <a:t>again</a:t>
            </a:r>
            <a:r>
              <a:rPr lang="fr-FR" dirty="0"/>
              <a:t> the </a:t>
            </a:r>
            <a:r>
              <a:rPr lang="fr-FR" dirty="0" err="1"/>
              <a:t>expected</a:t>
            </a:r>
            <a:r>
              <a:rPr lang="fr-FR" dirty="0"/>
              <a:t> </a:t>
            </a:r>
            <a:r>
              <a:rPr lang="fr-FR" dirty="0" err="1"/>
              <a:t>same</a:t>
            </a:r>
            <a:r>
              <a:rPr lang="fr-FR" dirty="0"/>
              <a:t> files !</a:t>
            </a:r>
          </a:p>
          <a:p>
            <a:r>
              <a:rPr lang="fr-FR" dirty="0" err="1"/>
              <a:t>dataset.count</a:t>
            </a:r>
            <a:r>
              <a:rPr lang="fr-FR" dirty="0"/>
              <a:t>(); </a:t>
            </a:r>
          </a:p>
          <a:p>
            <a:r>
              <a:rPr lang="fr-FR" dirty="0"/>
              <a:t>// </a:t>
            </a:r>
            <a:r>
              <a:rPr lang="fr-FR" dirty="0">
                <a:sym typeface="Wingdings" panose="05000000000000000000" pitchFamily="2" charset="2"/>
              </a:rPr>
              <a:t> </a:t>
            </a:r>
            <a:r>
              <a:rPr lang="fr-FR" dirty="0" err="1">
                <a:sym typeface="Wingdings" panose="05000000000000000000" pitchFamily="2" charset="2"/>
              </a:rPr>
              <a:t>throw</a:t>
            </a:r>
            <a:r>
              <a:rPr lang="fr-FR" dirty="0">
                <a:sym typeface="Wingdings" panose="05000000000000000000" pitchFamily="2" charset="2"/>
              </a:rPr>
              <a:t> new </a:t>
            </a:r>
            <a:r>
              <a:rPr lang="fr-FR" dirty="0" err="1">
                <a:sym typeface="Wingdings" panose="05000000000000000000" pitchFamily="2" charset="2"/>
              </a:rPr>
              <a:t>FileNotFoundException</a:t>
            </a:r>
            <a:r>
              <a:rPr lang="fr-FR" dirty="0">
                <a:sym typeface="Wingdings" panose="05000000000000000000" pitchFamily="2" charset="2"/>
              </a:rPr>
              <a:t>(« …File ‘file1’ </a:t>
            </a:r>
            <a:r>
              <a:rPr lang="fr-FR" dirty="0" err="1">
                <a:sym typeface="Wingdings" panose="05000000000000000000" pitchFamily="2" charset="2"/>
              </a:rPr>
              <a:t>does</a:t>
            </a:r>
            <a:r>
              <a:rPr lang="fr-FR" dirty="0">
                <a:sym typeface="Wingdings" panose="05000000000000000000" pitchFamily="2" charset="2"/>
              </a:rPr>
              <a:t> not </a:t>
            </a:r>
            <a:r>
              <a:rPr lang="fr-FR" dirty="0" err="1">
                <a:sym typeface="Wingdings" panose="05000000000000000000" pitchFamily="2" charset="2"/>
              </a:rPr>
              <a:t>exist</a:t>
            </a:r>
            <a:r>
              <a:rPr lang="fr-FR" dirty="0">
                <a:sym typeface="Wingdings" panose="05000000000000000000" pitchFamily="2" charset="2"/>
              </a:rPr>
              <a:t> »);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21871275-8612-4B70-AE23-56D70C4151C6}"/>
              </a:ext>
            </a:extLst>
          </p:cNvPr>
          <p:cNvSpPr/>
          <p:nvPr/>
        </p:nvSpPr>
        <p:spPr>
          <a:xfrm rot="5400000">
            <a:off x="7182035" y="3089428"/>
            <a:ext cx="319596" cy="89220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109F89A-0869-4ECB-B883-409C6F1874E2}"/>
              </a:ext>
            </a:extLst>
          </p:cNvPr>
          <p:cNvSpPr txBox="1"/>
          <p:nvPr/>
        </p:nvSpPr>
        <p:spPr>
          <a:xfrm>
            <a:off x="8147481" y="2997693"/>
            <a:ext cx="35405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// </a:t>
            </a:r>
            <a:r>
              <a:rPr lang="fr-FR" dirty="0" err="1"/>
              <a:t>another</a:t>
            </a:r>
            <a:r>
              <a:rPr lang="fr-FR" dirty="0"/>
              <a:t> process running</a:t>
            </a:r>
          </a:p>
          <a:p>
            <a:r>
              <a:rPr lang="fr-FR" dirty="0"/>
              <a:t>val </a:t>
            </a:r>
            <a:r>
              <a:rPr lang="fr-FR" dirty="0" err="1"/>
              <a:t>newDataset</a:t>
            </a:r>
            <a:r>
              <a:rPr lang="fr-FR" dirty="0"/>
              <a:t> = …</a:t>
            </a:r>
          </a:p>
          <a:p>
            <a:r>
              <a:rPr lang="fr-FR" dirty="0" err="1"/>
              <a:t>newDataset.write.save</a:t>
            </a:r>
            <a:r>
              <a:rPr lang="fr-FR" dirty="0"/>
              <a:t>(« /table1 »);</a:t>
            </a:r>
          </a:p>
          <a:p>
            <a:endParaRPr lang="fr-FR" dirty="0"/>
          </a:p>
        </p:txBody>
      </p:sp>
      <p:sp>
        <p:nvSpPr>
          <p:cNvPr id="7" name="Flèche : bas 6">
            <a:extLst>
              <a:ext uri="{FF2B5EF4-FFF2-40B4-BE49-F238E27FC236}">
                <a16:creationId xmlns:a16="http://schemas.microsoft.com/office/drawing/2014/main" id="{5FAA1B93-1253-45B4-BB7A-13D65FB82540}"/>
              </a:ext>
            </a:extLst>
          </p:cNvPr>
          <p:cNvSpPr/>
          <p:nvPr/>
        </p:nvSpPr>
        <p:spPr>
          <a:xfrm rot="5400000">
            <a:off x="7987683" y="4830553"/>
            <a:ext cx="319596" cy="89220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D78CBEE-FD26-4762-8109-4D7451AF0063}"/>
              </a:ext>
            </a:extLst>
          </p:cNvPr>
          <p:cNvSpPr txBox="1"/>
          <p:nvPr/>
        </p:nvSpPr>
        <p:spPr>
          <a:xfrm>
            <a:off x="8815526" y="5116858"/>
            <a:ext cx="283821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Spark </a:t>
            </a:r>
            <a:r>
              <a:rPr lang="fr-FR" dirty="0" err="1"/>
              <a:t>does</a:t>
            </a:r>
            <a:r>
              <a:rPr lang="fr-FR" dirty="0"/>
              <a:t> not </a:t>
            </a:r>
            <a:r>
              <a:rPr lang="fr-FR" dirty="0" err="1"/>
              <a:t>even</a:t>
            </a:r>
            <a:r>
              <a:rPr lang="fr-FR" dirty="0"/>
              <a:t> return </a:t>
            </a:r>
          </a:p>
          <a:p>
            <a:r>
              <a:rPr lang="fr-FR" dirty="0"/>
              <a:t>the « new </a:t>
            </a:r>
            <a:r>
              <a:rPr lang="fr-FR" dirty="0" err="1"/>
              <a:t>refreshed</a:t>
            </a:r>
            <a:r>
              <a:rPr lang="fr-FR" dirty="0"/>
              <a:t> » </a:t>
            </a:r>
            <a:r>
              <a:rPr lang="fr-FR" dirty="0" err="1"/>
              <a:t>result</a:t>
            </a:r>
            <a:endParaRPr lang="fr-FR" dirty="0"/>
          </a:p>
          <a:p>
            <a:r>
              <a:rPr lang="fr-FR" dirty="0"/>
              <a:t>…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just</a:t>
            </a:r>
            <a:r>
              <a:rPr lang="fr-FR" dirty="0"/>
              <a:t> fails</a:t>
            </a:r>
          </a:p>
        </p:txBody>
      </p:sp>
    </p:spTree>
    <p:extLst>
      <p:ext uri="{BB962C8B-B14F-4D97-AF65-F5344CB8AC3E}">
        <p14:creationId xmlns:p14="http://schemas.microsoft.com/office/powerpoint/2010/main" val="7625644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E674E4-5253-41B4-8BCC-30A2DBBB4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ACID,  I = </a:t>
            </a:r>
            <a:r>
              <a:rPr lang="fr-FR" dirty="0" err="1"/>
              <a:t>Isolated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EA1D8BB-981E-46A4-BD26-4D0AC637E6B4}"/>
              </a:ext>
            </a:extLst>
          </p:cNvPr>
          <p:cNvSpPr txBox="1"/>
          <p:nvPr/>
        </p:nvSpPr>
        <p:spPr>
          <a:xfrm>
            <a:off x="3351320" y="2876366"/>
            <a:ext cx="69209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it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not Atomic, </a:t>
            </a:r>
            <a:r>
              <a:rPr lang="fr-FR" sz="2400" dirty="0" err="1"/>
              <a:t>nor</a:t>
            </a:r>
            <a:r>
              <a:rPr lang="fr-FR" sz="2400" dirty="0"/>
              <a:t> Consistent … </a:t>
            </a:r>
            <a:r>
              <a:rPr lang="fr-FR" sz="2400" dirty="0" err="1"/>
              <a:t>it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also</a:t>
            </a:r>
            <a:r>
              <a:rPr lang="fr-FR" sz="2400" dirty="0"/>
              <a:t> not </a:t>
            </a:r>
            <a:r>
              <a:rPr lang="fr-FR" sz="2400" dirty="0" err="1"/>
              <a:t>Isolated</a:t>
            </a: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51A1C6A-AE21-4AD3-BEB1-79D57BB04928}"/>
              </a:ext>
            </a:extLst>
          </p:cNvPr>
          <p:cNvSpPr txBox="1"/>
          <p:nvPr/>
        </p:nvSpPr>
        <p:spPr>
          <a:xfrm>
            <a:off x="2006353" y="4261282"/>
            <a:ext cx="90105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 </a:t>
            </a:r>
            <a:r>
              <a:rPr lang="fr-FR" dirty="0" err="1"/>
              <a:t>particular</a:t>
            </a:r>
            <a:r>
              <a:rPr lang="fr-FR" dirty="0"/>
              <a:t>, </a:t>
            </a:r>
            <a:r>
              <a:rPr lang="fr-FR" dirty="0" err="1"/>
              <a:t>spark</a:t>
            </a:r>
            <a:r>
              <a:rPr lang="fr-FR" dirty="0"/>
              <a:t> tries to </a:t>
            </a:r>
            <a:r>
              <a:rPr lang="fr-FR" dirty="0" err="1"/>
              <a:t>be</a:t>
            </a:r>
            <a:r>
              <a:rPr lang="fr-FR" dirty="0"/>
              <a:t> ACID, but per directory</a:t>
            </a:r>
          </a:p>
          <a:p>
            <a:r>
              <a:rPr lang="fr-FR" dirty="0"/>
              <a:t> … Suppose </a:t>
            </a:r>
            <a:r>
              <a:rPr lang="fr-FR" dirty="0" err="1"/>
              <a:t>you</a:t>
            </a:r>
            <a:r>
              <a:rPr lang="fr-FR" dirty="0"/>
              <a:t> are </a:t>
            </a:r>
            <a:r>
              <a:rPr lang="fr-FR" dirty="0" err="1"/>
              <a:t>writting</a:t>
            </a:r>
            <a:r>
              <a:rPr lang="fr-FR" dirty="0"/>
              <a:t> to </a:t>
            </a:r>
            <a:r>
              <a:rPr lang="fr-FR" dirty="0" err="1"/>
              <a:t>several</a:t>
            </a:r>
            <a:r>
              <a:rPr lang="fr-FR" dirty="0"/>
              <a:t> partitions (1 partition = 1 directory in </a:t>
            </a:r>
            <a:r>
              <a:rPr lang="fr-FR" dirty="0" err="1"/>
              <a:t>Hive</a:t>
            </a:r>
            <a:r>
              <a:rPr lang="fr-FR" dirty="0"/>
              <a:t> </a:t>
            </a:r>
            <a:r>
              <a:rPr lang="fr-FR" dirty="0" err="1"/>
              <a:t>MetaStore</a:t>
            </a:r>
            <a:r>
              <a:rPr lang="fr-FR" dirty="0"/>
              <a:t>)</a:t>
            </a:r>
          </a:p>
          <a:p>
            <a:endParaRPr lang="fr-FR" dirty="0"/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fr-FR" dirty="0"/>
              <a:t>You </a:t>
            </a:r>
            <a:r>
              <a:rPr lang="fr-FR" dirty="0" err="1"/>
              <a:t>may</a:t>
            </a:r>
            <a:r>
              <a:rPr lang="fr-FR" dirty="0"/>
              <a:t> </a:t>
            </a:r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committed</a:t>
            </a:r>
            <a:r>
              <a:rPr lang="fr-FR" dirty="0"/>
              <a:t> partitions (</a:t>
            </a:r>
            <a:r>
              <a:rPr lang="fr-FR" dirty="0" err="1"/>
              <a:t>so</a:t>
            </a:r>
            <a:r>
              <a:rPr lang="fr-FR" dirty="0"/>
              <a:t> </a:t>
            </a:r>
            <a:r>
              <a:rPr lang="fr-FR" dirty="0" err="1"/>
              <a:t>partially</a:t>
            </a:r>
            <a:r>
              <a:rPr lang="fr-FR" dirty="0"/>
              <a:t> </a:t>
            </a:r>
            <a:r>
              <a:rPr lang="fr-FR" dirty="0" err="1"/>
              <a:t>committed</a:t>
            </a:r>
            <a:r>
              <a:rPr lang="fr-FR" dirty="0"/>
              <a:t> </a:t>
            </a:r>
            <a:r>
              <a:rPr lang="fr-FR" dirty="0" err="1"/>
              <a:t>task</a:t>
            </a:r>
            <a:r>
              <a:rPr lang="fr-FR" dirty="0"/>
              <a:t> </a:t>
            </a:r>
            <a:r>
              <a:rPr lang="fr-FR" dirty="0" err="1"/>
              <a:t>result</a:t>
            </a:r>
            <a:r>
              <a:rPr lang="fr-FR" dirty="0"/>
              <a:t>), but not </a:t>
            </a:r>
            <a:r>
              <a:rPr lang="fr-FR" dirty="0" err="1"/>
              <a:t>others</a:t>
            </a:r>
            <a:endParaRPr lang="fr-FR" dirty="0"/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fr-FR" dirty="0"/>
              <a:t>Even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different</a:t>
            </a:r>
            <a:r>
              <a:rPr lang="fr-FR" dirty="0"/>
              <a:t> </a:t>
            </a:r>
            <a:r>
              <a:rPr lang="fr-FR" dirty="0" err="1"/>
              <a:t>writer</a:t>
            </a:r>
            <a:r>
              <a:rPr lang="fr-FR" dirty="0"/>
              <a:t> </a:t>
            </a:r>
            <a:r>
              <a:rPr lang="fr-FR" dirty="0" err="1"/>
              <a:t>processes</a:t>
            </a:r>
            <a:endParaRPr lang="fr-FR" dirty="0"/>
          </a:p>
          <a:p>
            <a:pPr marL="285750" indent="-285750">
              <a:buFont typeface="Symbol" panose="05050102010706020507" pitchFamily="18" charset="2"/>
              <a:buChar char="Þ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252212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38BB0-31D5-412F-8E6A-9755E3CE7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025" y="0"/>
            <a:ext cx="11801475" cy="942975"/>
          </a:xfrm>
        </p:spPr>
        <p:txBody>
          <a:bodyPr/>
          <a:lstStyle/>
          <a:p>
            <a:r>
              <a:rPr lang="fr-FR" dirty="0" err="1"/>
              <a:t>Writing</a:t>
            </a:r>
            <a:r>
              <a:rPr lang="fr-FR" dirty="0"/>
              <a:t> Row UPDATE in Standard OLTP  </a:t>
            </a:r>
            <a:r>
              <a:rPr lang="fr-FR" dirty="0" err="1"/>
              <a:t>Databases</a:t>
            </a:r>
            <a:endParaRPr lang="fr-FR" dirty="0"/>
          </a:p>
        </p:txBody>
      </p:sp>
      <p:sp>
        <p:nvSpPr>
          <p:cNvPr id="5" name="Rectangle : carré corné 4">
            <a:extLst>
              <a:ext uri="{FF2B5EF4-FFF2-40B4-BE49-F238E27FC236}">
                <a16:creationId xmlns:a16="http://schemas.microsoft.com/office/drawing/2014/main" id="{C48AC624-25F6-4136-8C15-3532DA6E7300}"/>
              </a:ext>
            </a:extLst>
          </p:cNvPr>
          <p:cNvSpPr/>
          <p:nvPr/>
        </p:nvSpPr>
        <p:spPr>
          <a:xfrm>
            <a:off x="2352675" y="1414463"/>
            <a:ext cx="1428750" cy="2544983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8FBEA2-F416-4A36-A068-2A20D15D4811}"/>
              </a:ext>
            </a:extLst>
          </p:cNvPr>
          <p:cNvSpPr/>
          <p:nvPr/>
        </p:nvSpPr>
        <p:spPr>
          <a:xfrm>
            <a:off x="2352675" y="2028825"/>
            <a:ext cx="1428750" cy="70961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8544C0C0-D9BA-41E4-B6E2-70C05DECEACE}"/>
              </a:ext>
            </a:extLst>
          </p:cNvPr>
          <p:cNvSpPr/>
          <p:nvPr/>
        </p:nvSpPr>
        <p:spPr>
          <a:xfrm>
            <a:off x="2562225" y="2216020"/>
            <a:ext cx="714375" cy="26193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EC43442-DC5A-470A-9862-9F9B1583E7D7}"/>
              </a:ext>
            </a:extLst>
          </p:cNvPr>
          <p:cNvSpPr txBox="1"/>
          <p:nvPr/>
        </p:nvSpPr>
        <p:spPr>
          <a:xfrm>
            <a:off x="4410075" y="1885323"/>
            <a:ext cx="27500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The </a:t>
            </a:r>
            <a:r>
              <a:rPr lang="fr-FR" dirty="0" err="1"/>
              <a:t>Modified</a:t>
            </a:r>
            <a:endParaRPr lang="fr-FR" dirty="0"/>
          </a:p>
          <a:p>
            <a:r>
              <a:rPr lang="fr-FR" dirty="0"/>
              <a:t>Block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marked</a:t>
            </a:r>
            <a:r>
              <a:rPr lang="fr-FR" dirty="0"/>
              <a:t> as « Dirty »</a:t>
            </a:r>
          </a:p>
          <a:p>
            <a:r>
              <a:rPr lang="fr-FR" dirty="0"/>
              <a:t>… to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saved</a:t>
            </a:r>
            <a:r>
              <a:rPr lang="fr-FR" dirty="0"/>
              <a:t> </a:t>
            </a:r>
            <a:r>
              <a:rPr lang="fr-FR" dirty="0" err="1"/>
              <a:t>later</a:t>
            </a:r>
            <a:r>
              <a:rPr lang="fr-FR" dirty="0"/>
              <a:t> to Disk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EBF2B738-809E-43AB-A00B-D1FD0CC86BDB}"/>
              </a:ext>
            </a:extLst>
          </p:cNvPr>
          <p:cNvSpPr/>
          <p:nvPr/>
        </p:nvSpPr>
        <p:spPr>
          <a:xfrm>
            <a:off x="2806627" y="2412648"/>
            <a:ext cx="714375" cy="26193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lèche : courbe vers le bas 9">
            <a:extLst>
              <a:ext uri="{FF2B5EF4-FFF2-40B4-BE49-F238E27FC236}">
                <a16:creationId xmlns:a16="http://schemas.microsoft.com/office/drawing/2014/main" id="{3C16D45C-21EB-4F3D-B004-8D8801211A98}"/>
              </a:ext>
            </a:extLst>
          </p:cNvPr>
          <p:cNvSpPr/>
          <p:nvPr/>
        </p:nvSpPr>
        <p:spPr>
          <a:xfrm rot="2623080">
            <a:off x="3440594" y="2154032"/>
            <a:ext cx="289624" cy="26437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66F76FAE-8AAB-45EA-99BD-509A96246270}"/>
              </a:ext>
            </a:extLst>
          </p:cNvPr>
          <p:cNvSpPr txBox="1"/>
          <p:nvPr/>
        </p:nvSpPr>
        <p:spPr>
          <a:xfrm>
            <a:off x="266381" y="1518995"/>
            <a:ext cx="18513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Modify</a:t>
            </a:r>
            <a:r>
              <a:rPr lang="fr-FR" dirty="0"/>
              <a:t> </a:t>
            </a:r>
            <a:r>
              <a:rPr lang="fr-FR" dirty="0" err="1"/>
              <a:t>directly</a:t>
            </a:r>
            <a:r>
              <a:rPr lang="fr-FR" dirty="0"/>
              <a:t> </a:t>
            </a:r>
          </a:p>
          <a:p>
            <a:r>
              <a:rPr lang="fr-FR" dirty="0"/>
              <a:t>the RAM memory</a:t>
            </a:r>
          </a:p>
          <a:p>
            <a:r>
              <a:rPr lang="fr-FR" dirty="0"/>
              <a:t> ROW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401555AC-A02E-4EA6-85C7-3177F4E6BA2D}"/>
              </a:ext>
            </a:extLst>
          </p:cNvPr>
          <p:cNvSpPr/>
          <p:nvPr/>
        </p:nvSpPr>
        <p:spPr>
          <a:xfrm>
            <a:off x="4410075" y="4784627"/>
            <a:ext cx="714375" cy="26193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Flèche : pentagone 12">
            <a:extLst>
              <a:ext uri="{FF2B5EF4-FFF2-40B4-BE49-F238E27FC236}">
                <a16:creationId xmlns:a16="http://schemas.microsoft.com/office/drawing/2014/main" id="{DB721C20-49FB-4655-ABF2-967DAA45F52C}"/>
              </a:ext>
            </a:extLst>
          </p:cNvPr>
          <p:cNvSpPr/>
          <p:nvPr/>
        </p:nvSpPr>
        <p:spPr>
          <a:xfrm>
            <a:off x="2352675" y="4567730"/>
            <a:ext cx="5481637" cy="709612"/>
          </a:xfrm>
          <a:prstGeom prst="homePlat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Cadre 13">
            <a:extLst>
              <a:ext uri="{FF2B5EF4-FFF2-40B4-BE49-F238E27FC236}">
                <a16:creationId xmlns:a16="http://schemas.microsoft.com/office/drawing/2014/main" id="{AE8242E8-DE33-4E61-B4B5-CC69BBB32FA8}"/>
              </a:ext>
            </a:extLst>
          </p:cNvPr>
          <p:cNvSpPr/>
          <p:nvPr/>
        </p:nvSpPr>
        <p:spPr>
          <a:xfrm>
            <a:off x="4103761" y="4672013"/>
            <a:ext cx="1209675" cy="509587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5" name="Cadre 14">
            <a:extLst>
              <a:ext uri="{FF2B5EF4-FFF2-40B4-BE49-F238E27FC236}">
                <a16:creationId xmlns:a16="http://schemas.microsoft.com/office/drawing/2014/main" id="{F163C5FE-E1E3-4EC0-BA62-52D199212BD3}"/>
              </a:ext>
            </a:extLst>
          </p:cNvPr>
          <p:cNvSpPr/>
          <p:nvPr/>
        </p:nvSpPr>
        <p:spPr>
          <a:xfrm>
            <a:off x="2571750" y="4686300"/>
            <a:ext cx="623887" cy="509587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Cadre 15">
            <a:extLst>
              <a:ext uri="{FF2B5EF4-FFF2-40B4-BE49-F238E27FC236}">
                <a16:creationId xmlns:a16="http://schemas.microsoft.com/office/drawing/2014/main" id="{0B7902DD-FF29-45A7-875F-20BA3DB9AE39}"/>
              </a:ext>
            </a:extLst>
          </p:cNvPr>
          <p:cNvSpPr/>
          <p:nvPr/>
        </p:nvSpPr>
        <p:spPr>
          <a:xfrm>
            <a:off x="3326717" y="4686299"/>
            <a:ext cx="623887" cy="509587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F3233584-3BF4-4476-A253-2FB634BF912D}"/>
              </a:ext>
            </a:extLst>
          </p:cNvPr>
          <p:cNvSpPr txBox="1"/>
          <p:nvPr/>
        </p:nvSpPr>
        <p:spPr>
          <a:xfrm>
            <a:off x="4103761" y="3959446"/>
            <a:ext cx="65816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Write append the Commit changes in the WAL </a:t>
            </a:r>
            <a:r>
              <a:rPr lang="fr-FR" dirty="0" err="1"/>
              <a:t>Transactional</a:t>
            </a:r>
            <a:r>
              <a:rPr lang="fr-FR" dirty="0"/>
              <a:t> Log File</a:t>
            </a:r>
            <a:br>
              <a:rPr lang="fr-FR" dirty="0"/>
            </a:br>
            <a:r>
              <a:rPr lang="fr-FR" dirty="0"/>
              <a:t>(in Oracle, the « REDO File » )</a:t>
            </a:r>
          </a:p>
        </p:txBody>
      </p:sp>
      <p:sp>
        <p:nvSpPr>
          <p:cNvPr id="18" name="Flèche : pentagone 17">
            <a:extLst>
              <a:ext uri="{FF2B5EF4-FFF2-40B4-BE49-F238E27FC236}">
                <a16:creationId xmlns:a16="http://schemas.microsoft.com/office/drawing/2014/main" id="{E65EAED2-FC91-4E67-AB90-8D15B8AA7F99}"/>
              </a:ext>
            </a:extLst>
          </p:cNvPr>
          <p:cNvSpPr/>
          <p:nvPr/>
        </p:nvSpPr>
        <p:spPr>
          <a:xfrm flipH="1">
            <a:off x="2365986" y="5865128"/>
            <a:ext cx="5481637" cy="709612"/>
          </a:xfrm>
          <a:prstGeom prst="homePlat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3472759-CC83-43C4-A475-3F4B6CC7A630}"/>
              </a:ext>
            </a:extLst>
          </p:cNvPr>
          <p:cNvSpPr/>
          <p:nvPr/>
        </p:nvSpPr>
        <p:spPr>
          <a:xfrm>
            <a:off x="4423386" y="6088965"/>
            <a:ext cx="714375" cy="26193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404AFA9A-DC7E-47A5-9C0B-BC61888BF892}"/>
              </a:ext>
            </a:extLst>
          </p:cNvPr>
          <p:cNvSpPr txBox="1"/>
          <p:nvPr/>
        </p:nvSpPr>
        <p:spPr>
          <a:xfrm>
            <a:off x="5527749" y="5459005"/>
            <a:ext cx="5454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 Oracle…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write</a:t>
            </a:r>
            <a:r>
              <a:rPr lang="fr-FR" dirty="0"/>
              <a:t> the OLD ROW in the « UNDO File »</a:t>
            </a:r>
          </a:p>
        </p:txBody>
      </p:sp>
      <p:sp>
        <p:nvSpPr>
          <p:cNvPr id="21" name="Organigramme : Disque magnétique 20">
            <a:extLst>
              <a:ext uri="{FF2B5EF4-FFF2-40B4-BE49-F238E27FC236}">
                <a16:creationId xmlns:a16="http://schemas.microsoft.com/office/drawing/2014/main" id="{6F84D696-FE22-46CA-A5D3-4289275C15D3}"/>
              </a:ext>
            </a:extLst>
          </p:cNvPr>
          <p:cNvSpPr/>
          <p:nvPr/>
        </p:nvSpPr>
        <p:spPr>
          <a:xfrm>
            <a:off x="7720012" y="742949"/>
            <a:ext cx="1466850" cy="2940271"/>
          </a:xfrm>
          <a:prstGeom prst="flowChartMagneticDisk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 : carré corné 21">
            <a:extLst>
              <a:ext uri="{FF2B5EF4-FFF2-40B4-BE49-F238E27FC236}">
                <a16:creationId xmlns:a16="http://schemas.microsoft.com/office/drawing/2014/main" id="{11571E43-EAEE-47F9-B592-9FB040D3741F}"/>
              </a:ext>
            </a:extLst>
          </p:cNvPr>
          <p:cNvSpPr/>
          <p:nvPr/>
        </p:nvSpPr>
        <p:spPr>
          <a:xfrm>
            <a:off x="7834312" y="1861410"/>
            <a:ext cx="1226235" cy="1339580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2E2E478-D925-4FFE-AF6D-7BF9C046FCF6}"/>
              </a:ext>
            </a:extLst>
          </p:cNvPr>
          <p:cNvSpPr/>
          <p:nvPr/>
        </p:nvSpPr>
        <p:spPr>
          <a:xfrm>
            <a:off x="7847623" y="2110598"/>
            <a:ext cx="1212924" cy="45221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Organigramme : Disque magnétique 23">
            <a:extLst>
              <a:ext uri="{FF2B5EF4-FFF2-40B4-BE49-F238E27FC236}">
                <a16:creationId xmlns:a16="http://schemas.microsoft.com/office/drawing/2014/main" id="{1259C5D5-CFB7-4823-A379-BB9C162FA5AA}"/>
              </a:ext>
            </a:extLst>
          </p:cNvPr>
          <p:cNvSpPr/>
          <p:nvPr/>
        </p:nvSpPr>
        <p:spPr>
          <a:xfrm>
            <a:off x="8087482" y="4400402"/>
            <a:ext cx="899356" cy="963202"/>
          </a:xfrm>
          <a:prstGeom prst="flowChartMagneticDisk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Organigramme : Disque magnétique 24">
            <a:extLst>
              <a:ext uri="{FF2B5EF4-FFF2-40B4-BE49-F238E27FC236}">
                <a16:creationId xmlns:a16="http://schemas.microsoft.com/office/drawing/2014/main" id="{3B2F4EB5-269F-41EC-B77B-9731C02B32E3}"/>
              </a:ext>
            </a:extLst>
          </p:cNvPr>
          <p:cNvSpPr/>
          <p:nvPr/>
        </p:nvSpPr>
        <p:spPr>
          <a:xfrm>
            <a:off x="8161191" y="5804560"/>
            <a:ext cx="899356" cy="963202"/>
          </a:xfrm>
          <a:prstGeom prst="flowChartMagneticDisk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7015E1CF-0212-4EE5-A456-8D2A5D42CD6B}"/>
              </a:ext>
            </a:extLst>
          </p:cNvPr>
          <p:cNvSpPr txBox="1"/>
          <p:nvPr/>
        </p:nvSpPr>
        <p:spPr>
          <a:xfrm>
            <a:off x="9060547" y="4592429"/>
            <a:ext cx="2725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Write append + </a:t>
            </a:r>
          </a:p>
          <a:p>
            <a:r>
              <a:rPr lang="fr-FR" dirty="0" err="1"/>
              <a:t>Immediate</a:t>
            </a:r>
            <a:r>
              <a:rPr lang="fr-FR" dirty="0"/>
              <a:t> Sync-FLUSH File</a:t>
            </a:r>
          </a:p>
        </p:txBody>
      </p:sp>
    </p:spTree>
    <p:extLst>
      <p:ext uri="{BB962C8B-B14F-4D97-AF65-F5344CB8AC3E}">
        <p14:creationId xmlns:p14="http://schemas.microsoft.com/office/powerpoint/2010/main" val="2078582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64C720-2F49-4F44-A7AF-5B130AD5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837" y="365126"/>
            <a:ext cx="11763375" cy="839788"/>
          </a:xfrm>
        </p:spPr>
        <p:txBody>
          <a:bodyPr>
            <a:normAutofit fontScale="90000"/>
          </a:bodyPr>
          <a:lstStyle/>
          <a:p>
            <a:r>
              <a:rPr lang="fr-FR" dirty="0"/>
              <a:t>In </a:t>
            </a:r>
            <a:r>
              <a:rPr lang="fr-FR" dirty="0" err="1"/>
              <a:t>BigData</a:t>
            </a:r>
            <a:r>
              <a:rPr lang="fr-FR" dirty="0"/>
              <a:t> Storage : No « </a:t>
            </a:r>
            <a:r>
              <a:rPr lang="fr-FR" dirty="0" err="1"/>
              <a:t>lseek</a:t>
            </a:r>
            <a:r>
              <a:rPr lang="fr-FR" dirty="0"/>
              <a:t>() » + « </a:t>
            </a:r>
            <a:r>
              <a:rPr lang="fr-FR" dirty="0" err="1"/>
              <a:t>writeAt</a:t>
            </a:r>
            <a:r>
              <a:rPr lang="fr-FR" dirty="0"/>
              <a:t>() » File !!!</a:t>
            </a:r>
            <a:br>
              <a:rPr lang="fr-FR" dirty="0"/>
            </a:br>
            <a:r>
              <a:rPr lang="fr-FR" dirty="0"/>
              <a:t>(and </a:t>
            </a:r>
            <a:r>
              <a:rPr lang="fr-FR" dirty="0" err="1">
                <a:sym typeface="Wingdings" panose="05000000000000000000" pitchFamily="2" charset="2"/>
              </a:rPr>
              <a:t>DataSet</a:t>
            </a:r>
            <a:r>
              <a:rPr lang="fr-FR" dirty="0">
                <a:sym typeface="Wingdings" panose="05000000000000000000" pitchFamily="2" charset="2"/>
              </a:rPr>
              <a:t> are Immutable )</a:t>
            </a:r>
            <a:endParaRPr lang="fr-FR" dirty="0"/>
          </a:p>
        </p:txBody>
      </p:sp>
      <p:sp>
        <p:nvSpPr>
          <p:cNvPr id="4" name="Rectangle : carré corné 3">
            <a:extLst>
              <a:ext uri="{FF2B5EF4-FFF2-40B4-BE49-F238E27FC236}">
                <a16:creationId xmlns:a16="http://schemas.microsoft.com/office/drawing/2014/main" id="{BA5EA948-36BE-4CB2-BA56-1B7C00D3268E}"/>
              </a:ext>
            </a:extLst>
          </p:cNvPr>
          <p:cNvSpPr/>
          <p:nvPr/>
        </p:nvSpPr>
        <p:spPr>
          <a:xfrm>
            <a:off x="6096000" y="2080532"/>
            <a:ext cx="1428750" cy="2544983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4F242F-0B45-4D61-A85D-27BF0199DACE}"/>
              </a:ext>
            </a:extLst>
          </p:cNvPr>
          <p:cNvSpPr/>
          <p:nvPr/>
        </p:nvSpPr>
        <p:spPr>
          <a:xfrm>
            <a:off x="6096000" y="2694894"/>
            <a:ext cx="1428750" cy="70961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EDA79FB3-CA90-47EB-BF12-375C8CDE8F01}"/>
              </a:ext>
            </a:extLst>
          </p:cNvPr>
          <p:cNvSpPr/>
          <p:nvPr/>
        </p:nvSpPr>
        <p:spPr>
          <a:xfrm>
            <a:off x="6305550" y="2882089"/>
            <a:ext cx="714375" cy="26193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lèche : courbe vers le bas 7">
            <a:extLst>
              <a:ext uri="{FF2B5EF4-FFF2-40B4-BE49-F238E27FC236}">
                <a16:creationId xmlns:a16="http://schemas.microsoft.com/office/drawing/2014/main" id="{1B739F51-6F7A-4EA1-AD5A-9D753A4A183B}"/>
              </a:ext>
            </a:extLst>
          </p:cNvPr>
          <p:cNvSpPr/>
          <p:nvPr/>
        </p:nvSpPr>
        <p:spPr>
          <a:xfrm rot="2623080">
            <a:off x="7183919" y="2820101"/>
            <a:ext cx="289624" cy="264378"/>
          </a:xfrm>
          <a:prstGeom prst="curved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6D50186-4D97-469F-AD27-E090AA9F0D29}"/>
              </a:ext>
            </a:extLst>
          </p:cNvPr>
          <p:cNvSpPr txBox="1"/>
          <p:nvPr/>
        </p:nvSpPr>
        <p:spPr>
          <a:xfrm>
            <a:off x="2643904" y="2652937"/>
            <a:ext cx="25778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CAN NOT </a:t>
            </a:r>
            <a:r>
              <a:rPr lang="fr-FR" dirty="0" err="1"/>
              <a:t>Modify</a:t>
            </a:r>
            <a:r>
              <a:rPr lang="fr-FR" dirty="0"/>
              <a:t> </a:t>
            </a:r>
            <a:r>
              <a:rPr lang="fr-FR" dirty="0" err="1"/>
              <a:t>directly</a:t>
            </a:r>
            <a:r>
              <a:rPr lang="fr-FR" dirty="0"/>
              <a:t> </a:t>
            </a:r>
          </a:p>
          <a:p>
            <a:r>
              <a:rPr lang="fr-FR" dirty="0"/>
              <a:t>a File in the « middle »</a:t>
            </a:r>
          </a:p>
        </p:txBody>
      </p:sp>
      <p:sp>
        <p:nvSpPr>
          <p:cNvPr id="10" name="Interdiction 9">
            <a:extLst>
              <a:ext uri="{FF2B5EF4-FFF2-40B4-BE49-F238E27FC236}">
                <a16:creationId xmlns:a16="http://schemas.microsoft.com/office/drawing/2014/main" id="{3944CCDC-A695-430D-8344-338A58A91084}"/>
              </a:ext>
            </a:extLst>
          </p:cNvPr>
          <p:cNvSpPr/>
          <p:nvPr/>
        </p:nvSpPr>
        <p:spPr>
          <a:xfrm>
            <a:off x="7234237" y="2526150"/>
            <a:ext cx="480256" cy="461038"/>
          </a:xfrm>
          <a:prstGeom prst="noSmoking">
            <a:avLst>
              <a:gd name="adj" fmla="val 14383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17ED7346-6934-4404-AA27-55CA2326BBC0}"/>
              </a:ext>
            </a:extLst>
          </p:cNvPr>
          <p:cNvSpPr/>
          <p:nvPr/>
        </p:nvSpPr>
        <p:spPr>
          <a:xfrm>
            <a:off x="5248275" y="4390344"/>
            <a:ext cx="686587" cy="3970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436B590-D77A-417C-8236-2B7ACE786497}"/>
              </a:ext>
            </a:extLst>
          </p:cNvPr>
          <p:cNvSpPr txBox="1"/>
          <p:nvPr/>
        </p:nvSpPr>
        <p:spPr>
          <a:xfrm>
            <a:off x="1709737" y="4390344"/>
            <a:ext cx="34432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CAN </a:t>
            </a:r>
            <a:r>
              <a:rPr lang="fr-FR" dirty="0" err="1"/>
              <a:t>Only</a:t>
            </a:r>
            <a:r>
              <a:rPr lang="fr-FR" dirty="0"/>
              <a:t> « Write Append » to File,  </a:t>
            </a:r>
          </a:p>
          <a:p>
            <a:r>
              <a:rPr lang="fr-FR" dirty="0"/>
              <a:t>or </a:t>
            </a:r>
            <a:r>
              <a:rPr lang="fr-FR" dirty="0" err="1"/>
              <a:t>Delete+RE-Create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0!</a:t>
            </a:r>
          </a:p>
        </p:txBody>
      </p:sp>
    </p:spTree>
    <p:extLst>
      <p:ext uri="{BB962C8B-B14F-4D97-AF65-F5344CB8AC3E}">
        <p14:creationId xmlns:p14="http://schemas.microsoft.com/office/powerpoint/2010/main" val="30729028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FF5364-E3EF-4EAE-95FD-A499370D2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Notice… It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always</a:t>
            </a:r>
            <a:r>
              <a:rPr lang="fr-FR" dirty="0"/>
              <a:t> possible to </a:t>
            </a:r>
            <a:r>
              <a:rPr lang="fr-FR" dirty="0" err="1"/>
              <a:t>readAt</a:t>
            </a:r>
            <a:r>
              <a:rPr lang="fr-FR" dirty="0"/>
              <a:t>() File</a:t>
            </a:r>
          </a:p>
        </p:txBody>
      </p:sp>
      <p:sp>
        <p:nvSpPr>
          <p:cNvPr id="4" name="Rectangle : carré corné 3">
            <a:extLst>
              <a:ext uri="{FF2B5EF4-FFF2-40B4-BE49-F238E27FC236}">
                <a16:creationId xmlns:a16="http://schemas.microsoft.com/office/drawing/2014/main" id="{A2790C33-6E55-4966-B2E7-7544B1F8F311}"/>
              </a:ext>
            </a:extLst>
          </p:cNvPr>
          <p:cNvSpPr/>
          <p:nvPr/>
        </p:nvSpPr>
        <p:spPr>
          <a:xfrm>
            <a:off x="3902528" y="2412546"/>
            <a:ext cx="1428750" cy="2544983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AA4FEA-DA73-44A2-A3F2-528D15E625C0}"/>
              </a:ext>
            </a:extLst>
          </p:cNvPr>
          <p:cNvSpPr/>
          <p:nvPr/>
        </p:nvSpPr>
        <p:spPr>
          <a:xfrm>
            <a:off x="3902528" y="3026908"/>
            <a:ext cx="1428750" cy="70961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F84723-F20A-46DC-A0D9-75134868A773}"/>
              </a:ext>
            </a:extLst>
          </p:cNvPr>
          <p:cNvSpPr/>
          <p:nvPr/>
        </p:nvSpPr>
        <p:spPr>
          <a:xfrm>
            <a:off x="7092043" y="3026908"/>
            <a:ext cx="1428750" cy="70961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1B4AC3FE-6CDF-41F6-9102-73148D0541BA}"/>
              </a:ext>
            </a:extLst>
          </p:cNvPr>
          <p:cNvSpPr/>
          <p:nvPr/>
        </p:nvSpPr>
        <p:spPr>
          <a:xfrm>
            <a:off x="5781675" y="3202439"/>
            <a:ext cx="640896" cy="319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C0F6741-DB00-4D0E-9C44-202A55F7EB0F}"/>
              </a:ext>
            </a:extLst>
          </p:cNvPr>
          <p:cNvSpPr txBox="1"/>
          <p:nvPr/>
        </p:nvSpPr>
        <p:spPr>
          <a:xfrm>
            <a:off x="5529943" y="2657576"/>
            <a:ext cx="4131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readAt</a:t>
            </a:r>
            <a:r>
              <a:rPr lang="fr-FR" dirty="0"/>
              <a:t>(position, </a:t>
            </a:r>
            <a:r>
              <a:rPr lang="fr-FR" dirty="0" err="1"/>
              <a:t>len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749874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FF5364-E3EF-4EAE-95FD-A499370D2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591"/>
            <a:ext cx="10515600" cy="1636097"/>
          </a:xfrm>
        </p:spPr>
        <p:txBody>
          <a:bodyPr>
            <a:normAutofit fontScale="90000"/>
          </a:bodyPr>
          <a:lstStyle/>
          <a:p>
            <a:r>
              <a:rPr lang="fr-FR" dirty="0"/>
              <a:t>Writer : can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writeAppend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 err="1"/>
              <a:t>into</a:t>
            </a:r>
            <a:r>
              <a:rPr lang="fr-FR" dirty="0"/>
              <a:t> </a:t>
            </a:r>
            <a:r>
              <a:rPr lang="fr-FR" dirty="0" err="1"/>
              <a:t>created</a:t>
            </a:r>
            <a:r>
              <a:rPr lang="fr-FR" dirty="0"/>
              <a:t> </a:t>
            </a:r>
            <a:r>
              <a:rPr lang="fr-FR" dirty="0" err="1"/>
              <a:t>temporary</a:t>
            </a:r>
            <a:r>
              <a:rPr lang="fr-FR" dirty="0"/>
              <a:t> « </a:t>
            </a:r>
            <a:r>
              <a:rPr lang="fr-FR" dirty="0" err="1"/>
              <a:t>opened</a:t>
            </a:r>
            <a:r>
              <a:rPr lang="fr-FR" dirty="0"/>
              <a:t>-file »</a:t>
            </a:r>
            <a:br>
              <a:rPr lang="fr-FR" dirty="0"/>
            </a:br>
            <a:r>
              <a:rPr lang="fr-FR" dirty="0"/>
              <a:t>THEN Flush</a:t>
            </a:r>
          </a:p>
        </p:txBody>
      </p:sp>
      <p:sp>
        <p:nvSpPr>
          <p:cNvPr id="4" name="Rectangle : carré corné 3">
            <a:extLst>
              <a:ext uri="{FF2B5EF4-FFF2-40B4-BE49-F238E27FC236}">
                <a16:creationId xmlns:a16="http://schemas.microsoft.com/office/drawing/2014/main" id="{A2790C33-6E55-4966-B2E7-7544B1F8F311}"/>
              </a:ext>
            </a:extLst>
          </p:cNvPr>
          <p:cNvSpPr/>
          <p:nvPr/>
        </p:nvSpPr>
        <p:spPr>
          <a:xfrm>
            <a:off x="3902528" y="2412546"/>
            <a:ext cx="1428750" cy="2544983"/>
          </a:xfrm>
          <a:prstGeom prst="foldedCorner">
            <a:avLst>
              <a:gd name="adj" fmla="val 23143"/>
            </a:avLst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AA4FEA-DA73-44A2-A3F2-528D15E625C0}"/>
              </a:ext>
            </a:extLst>
          </p:cNvPr>
          <p:cNvSpPr/>
          <p:nvPr/>
        </p:nvSpPr>
        <p:spPr>
          <a:xfrm>
            <a:off x="1427388" y="4957528"/>
            <a:ext cx="1428750" cy="70961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1B4AC3FE-6CDF-41F6-9102-73148D0541BA}"/>
              </a:ext>
            </a:extLst>
          </p:cNvPr>
          <p:cNvSpPr/>
          <p:nvPr/>
        </p:nvSpPr>
        <p:spPr>
          <a:xfrm>
            <a:off x="3062967" y="4797984"/>
            <a:ext cx="640896" cy="319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C0F6741-DB00-4D0E-9C44-202A55F7EB0F}"/>
              </a:ext>
            </a:extLst>
          </p:cNvPr>
          <p:cNvSpPr txBox="1"/>
          <p:nvPr/>
        </p:nvSpPr>
        <p:spPr>
          <a:xfrm>
            <a:off x="2050595" y="4559323"/>
            <a:ext cx="1710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writeAppend</a:t>
            </a:r>
            <a:r>
              <a:rPr lang="fr-FR" dirty="0"/>
              <a:t>()</a:t>
            </a:r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9E7B56E1-868C-47B8-BA2E-312C8B33E9FA}"/>
              </a:ext>
            </a:extLst>
          </p:cNvPr>
          <p:cNvSpPr/>
          <p:nvPr/>
        </p:nvSpPr>
        <p:spPr>
          <a:xfrm>
            <a:off x="3062967" y="6035382"/>
            <a:ext cx="640896" cy="319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B2CF265-77C7-4B2F-8BE0-83759B2491F7}"/>
              </a:ext>
            </a:extLst>
          </p:cNvPr>
          <p:cNvSpPr txBox="1"/>
          <p:nvPr/>
        </p:nvSpPr>
        <p:spPr>
          <a:xfrm>
            <a:off x="2280380" y="5985139"/>
            <a:ext cx="782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flush()</a:t>
            </a:r>
          </a:p>
        </p:txBody>
      </p:sp>
      <p:sp>
        <p:nvSpPr>
          <p:cNvPr id="12" name="Rectangle : carré corné 11">
            <a:extLst>
              <a:ext uri="{FF2B5EF4-FFF2-40B4-BE49-F238E27FC236}">
                <a16:creationId xmlns:a16="http://schemas.microsoft.com/office/drawing/2014/main" id="{EAD264B0-E46F-4E47-B6B1-51C58F519AC1}"/>
              </a:ext>
            </a:extLst>
          </p:cNvPr>
          <p:cNvSpPr/>
          <p:nvPr/>
        </p:nvSpPr>
        <p:spPr>
          <a:xfrm>
            <a:off x="6798128" y="3809488"/>
            <a:ext cx="1428750" cy="2544983"/>
          </a:xfrm>
          <a:prstGeom prst="foldedCorner">
            <a:avLst>
              <a:gd name="adj" fmla="val 23143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2ABE0A4-71E1-4EFA-8397-CDE94F06016E}"/>
              </a:ext>
            </a:extLst>
          </p:cNvPr>
          <p:cNvSpPr txBox="1"/>
          <p:nvPr/>
        </p:nvSpPr>
        <p:spPr>
          <a:xfrm>
            <a:off x="8509906" y="4814996"/>
            <a:ext cx="309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After</a:t>
            </a:r>
            <a:r>
              <a:rPr lang="fr-FR" dirty="0"/>
              <a:t> flush(),  File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now</a:t>
            </a:r>
            <a:r>
              <a:rPr lang="fr-FR" dirty="0"/>
              <a:t> visible</a:t>
            </a:r>
          </a:p>
        </p:txBody>
      </p:sp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1488B998-406D-43A7-B0FD-0101E23D1F2B}"/>
              </a:ext>
            </a:extLst>
          </p:cNvPr>
          <p:cNvSpPr/>
          <p:nvPr/>
        </p:nvSpPr>
        <p:spPr>
          <a:xfrm>
            <a:off x="3062967" y="2271454"/>
            <a:ext cx="640896" cy="319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D3861737-5756-4F60-A96D-128C5334212A}"/>
              </a:ext>
            </a:extLst>
          </p:cNvPr>
          <p:cNvSpPr txBox="1"/>
          <p:nvPr/>
        </p:nvSpPr>
        <p:spPr>
          <a:xfrm>
            <a:off x="2224090" y="2227880"/>
            <a:ext cx="822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create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464161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00DC1F-8112-4E97-BB63-2E01E3A76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786" y="-38099"/>
            <a:ext cx="11658600" cy="979713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Reads</a:t>
            </a:r>
            <a:r>
              <a:rPr lang="fr-FR" dirty="0"/>
              <a:t> can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Parallelized</a:t>
            </a:r>
            <a:r>
              <a:rPr lang="fr-FR" dirty="0"/>
              <a:t>/Concurrent  (</a:t>
            </a:r>
            <a:r>
              <a:rPr lang="fr-FR" dirty="0" err="1"/>
              <a:t>several</a:t>
            </a:r>
            <a:r>
              <a:rPr lang="fr-FR" dirty="0"/>
              <a:t> Threads)</a:t>
            </a:r>
          </a:p>
        </p:txBody>
      </p:sp>
      <p:sp>
        <p:nvSpPr>
          <p:cNvPr id="4" name="Rectangle : carré corné 3">
            <a:extLst>
              <a:ext uri="{FF2B5EF4-FFF2-40B4-BE49-F238E27FC236}">
                <a16:creationId xmlns:a16="http://schemas.microsoft.com/office/drawing/2014/main" id="{582D7009-7756-43F3-844E-1E7D19C5D91E}"/>
              </a:ext>
            </a:extLst>
          </p:cNvPr>
          <p:cNvSpPr/>
          <p:nvPr/>
        </p:nvSpPr>
        <p:spPr>
          <a:xfrm>
            <a:off x="3227614" y="1509032"/>
            <a:ext cx="1428750" cy="2839811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ACC03E-D128-4174-888E-A3A712034EC6}"/>
              </a:ext>
            </a:extLst>
          </p:cNvPr>
          <p:cNvSpPr/>
          <p:nvPr/>
        </p:nvSpPr>
        <p:spPr>
          <a:xfrm>
            <a:off x="3227614" y="2123394"/>
            <a:ext cx="1428750" cy="70961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410F92-95DF-4263-8AF8-6DDB6BECF22F}"/>
              </a:ext>
            </a:extLst>
          </p:cNvPr>
          <p:cNvSpPr/>
          <p:nvPr/>
        </p:nvSpPr>
        <p:spPr>
          <a:xfrm>
            <a:off x="6444345" y="2123394"/>
            <a:ext cx="1428750" cy="70961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0F109F93-2780-4B82-8107-1046BF52EF7F}"/>
              </a:ext>
            </a:extLst>
          </p:cNvPr>
          <p:cNvSpPr/>
          <p:nvPr/>
        </p:nvSpPr>
        <p:spPr>
          <a:xfrm>
            <a:off x="5106761" y="2298925"/>
            <a:ext cx="640896" cy="319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22D1E937-ED16-4224-96D0-341D52C8461C}"/>
              </a:ext>
            </a:extLst>
          </p:cNvPr>
          <p:cNvSpPr/>
          <p:nvPr/>
        </p:nvSpPr>
        <p:spPr>
          <a:xfrm>
            <a:off x="5093835" y="2754704"/>
            <a:ext cx="640896" cy="319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55A9BA-BC9F-43E4-8AC0-5FC266885543}"/>
              </a:ext>
            </a:extLst>
          </p:cNvPr>
          <p:cNvSpPr/>
          <p:nvPr/>
        </p:nvSpPr>
        <p:spPr>
          <a:xfrm>
            <a:off x="6716486" y="2478200"/>
            <a:ext cx="1428750" cy="70961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76A6A4-3729-48C9-9DD1-0D41117A5C64}"/>
              </a:ext>
            </a:extLst>
          </p:cNvPr>
          <p:cNvSpPr/>
          <p:nvPr/>
        </p:nvSpPr>
        <p:spPr>
          <a:xfrm>
            <a:off x="6417129" y="3334312"/>
            <a:ext cx="1428750" cy="70961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Flèche : droite 14">
            <a:extLst>
              <a:ext uri="{FF2B5EF4-FFF2-40B4-BE49-F238E27FC236}">
                <a16:creationId xmlns:a16="http://schemas.microsoft.com/office/drawing/2014/main" id="{E8E6A93D-086A-42B8-BB90-B05084BC6B16}"/>
              </a:ext>
            </a:extLst>
          </p:cNvPr>
          <p:cNvSpPr/>
          <p:nvPr/>
        </p:nvSpPr>
        <p:spPr>
          <a:xfrm>
            <a:off x="5103360" y="3529573"/>
            <a:ext cx="640896" cy="319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DADF20-C511-4FF3-902A-9CA3D786E4A3}"/>
              </a:ext>
            </a:extLst>
          </p:cNvPr>
          <p:cNvSpPr/>
          <p:nvPr/>
        </p:nvSpPr>
        <p:spPr>
          <a:xfrm>
            <a:off x="3323886" y="2426717"/>
            <a:ext cx="1332478" cy="70961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208CF70-DD8E-46E2-A38A-943F2077F42E}"/>
              </a:ext>
            </a:extLst>
          </p:cNvPr>
          <p:cNvSpPr/>
          <p:nvPr/>
        </p:nvSpPr>
        <p:spPr>
          <a:xfrm>
            <a:off x="3227614" y="3254535"/>
            <a:ext cx="1428750" cy="70961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E087876B-DC4E-45C9-A064-3D6BABD5B3DC}"/>
              </a:ext>
            </a:extLst>
          </p:cNvPr>
          <p:cNvSpPr txBox="1"/>
          <p:nvPr/>
        </p:nvSpPr>
        <p:spPr>
          <a:xfrm>
            <a:off x="2242457" y="5010712"/>
            <a:ext cx="603190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 </a:t>
            </a:r>
            <a:r>
              <a:rPr lang="fr-FR" dirty="0" err="1"/>
              <a:t>general</a:t>
            </a:r>
            <a:r>
              <a:rPr lang="fr-FR" dirty="0"/>
              <a:t>,  </a:t>
            </a:r>
            <a:r>
              <a:rPr lang="fr-FR" dirty="0" err="1"/>
              <a:t>Reads</a:t>
            </a:r>
            <a:r>
              <a:rPr lang="fr-FR" dirty="0"/>
              <a:t> </a:t>
            </a:r>
            <a:r>
              <a:rPr lang="fr-FR" dirty="0" err="1"/>
              <a:t>will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aligned</a:t>
            </a:r>
            <a:r>
              <a:rPr lang="fr-FR" dirty="0"/>
              <a:t> to 128Mo offsets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Several</a:t>
            </a:r>
            <a:r>
              <a:rPr lang="fr-FR" dirty="0"/>
              <a:t> Clients can </a:t>
            </a:r>
            <a:r>
              <a:rPr lang="fr-FR" dirty="0" err="1"/>
              <a:t>read</a:t>
            </a:r>
            <a:r>
              <a:rPr lang="fr-FR" dirty="0"/>
              <a:t> the </a:t>
            </a:r>
            <a:r>
              <a:rPr lang="fr-FR" dirty="0" err="1"/>
              <a:t>same</a:t>
            </a:r>
            <a:r>
              <a:rPr lang="fr-FR" dirty="0"/>
              <a:t> </a:t>
            </a:r>
            <a:r>
              <a:rPr lang="fr-FR" dirty="0" err="1"/>
              <a:t>region</a:t>
            </a:r>
            <a:r>
              <a:rPr lang="fr-FR" dirty="0"/>
              <a:t> in « duplicate </a:t>
            </a:r>
            <a:r>
              <a:rPr lang="fr-FR" dirty="0" err="1"/>
              <a:t>reads</a:t>
            </a:r>
            <a:r>
              <a:rPr lang="fr-FR" dirty="0"/>
              <a:t> »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43AF01B-E9E0-4BE9-BF78-83C645FCAD66}"/>
              </a:ext>
            </a:extLst>
          </p:cNvPr>
          <p:cNvSpPr/>
          <p:nvPr/>
        </p:nvSpPr>
        <p:spPr>
          <a:xfrm>
            <a:off x="9046030" y="2103663"/>
            <a:ext cx="1428750" cy="70961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Flèche : droite 19">
            <a:extLst>
              <a:ext uri="{FF2B5EF4-FFF2-40B4-BE49-F238E27FC236}">
                <a16:creationId xmlns:a16="http://schemas.microsoft.com/office/drawing/2014/main" id="{38D0E3AE-7EFA-41F7-A6FC-29898C37C120}"/>
              </a:ext>
            </a:extLst>
          </p:cNvPr>
          <p:cNvSpPr/>
          <p:nvPr/>
        </p:nvSpPr>
        <p:spPr>
          <a:xfrm rot="19970563">
            <a:off x="5097117" y="2113549"/>
            <a:ext cx="726809" cy="319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65BABF77-FD13-4AEC-A67D-3C8DA3EF0A76}"/>
              </a:ext>
            </a:extLst>
          </p:cNvPr>
          <p:cNvSpPr txBox="1"/>
          <p:nvPr/>
        </p:nvSpPr>
        <p:spPr>
          <a:xfrm>
            <a:off x="6350293" y="1734331"/>
            <a:ext cx="1616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Read by client1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8E3B2801-09D7-4B65-A707-61F65C837176}"/>
              </a:ext>
            </a:extLst>
          </p:cNvPr>
          <p:cNvSpPr txBox="1"/>
          <p:nvPr/>
        </p:nvSpPr>
        <p:spPr>
          <a:xfrm>
            <a:off x="8951978" y="1725708"/>
            <a:ext cx="1616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Read by client2</a:t>
            </a:r>
          </a:p>
        </p:txBody>
      </p:sp>
    </p:spTree>
    <p:extLst>
      <p:ext uri="{BB962C8B-B14F-4D97-AF65-F5344CB8AC3E}">
        <p14:creationId xmlns:p14="http://schemas.microsoft.com/office/powerpoint/2010/main" val="40337084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9A4F73-0528-4738-8B05-4E4553DEA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125" y="365125"/>
            <a:ext cx="12119212" cy="1325563"/>
          </a:xfrm>
        </p:spPr>
        <p:txBody>
          <a:bodyPr>
            <a:normAutofit/>
          </a:bodyPr>
          <a:lstStyle/>
          <a:p>
            <a:r>
              <a:rPr lang="fr-FR" dirty="0"/>
              <a:t>Reader can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Fully</a:t>
            </a:r>
            <a:r>
              <a:rPr lang="fr-FR" dirty="0"/>
              <a:t> « </a:t>
            </a:r>
            <a:r>
              <a:rPr lang="fr-FR" dirty="0" err="1"/>
              <a:t>Written+Flushed</a:t>
            </a:r>
            <a:r>
              <a:rPr lang="fr-FR" dirty="0"/>
              <a:t> » Files,  not </a:t>
            </a:r>
            <a:r>
              <a:rPr lang="fr-FR" dirty="0" err="1"/>
              <a:t>intermediate</a:t>
            </a:r>
            <a:r>
              <a:rPr lang="fr-FR" dirty="0"/>
              <a:t> </a:t>
            </a:r>
            <a:r>
              <a:rPr lang="fr-FR" dirty="0" err="1"/>
              <a:t>write</a:t>
            </a:r>
            <a:r>
              <a:rPr lang="fr-FR" dirty="0"/>
              <a:t> </a:t>
            </a:r>
            <a:r>
              <a:rPr lang="fr-FR" dirty="0" err="1"/>
              <a:t>still</a:t>
            </a:r>
            <a:r>
              <a:rPr lang="fr-FR" dirty="0"/>
              <a:t>-in-</a:t>
            </a:r>
            <a:r>
              <a:rPr lang="fr-FR" dirty="0" err="1"/>
              <a:t>progress</a:t>
            </a:r>
            <a:endParaRPr lang="fr-FR" dirty="0"/>
          </a:p>
        </p:txBody>
      </p:sp>
      <p:sp>
        <p:nvSpPr>
          <p:cNvPr id="4" name="Rectangle : carré corné 3">
            <a:extLst>
              <a:ext uri="{FF2B5EF4-FFF2-40B4-BE49-F238E27FC236}">
                <a16:creationId xmlns:a16="http://schemas.microsoft.com/office/drawing/2014/main" id="{BCC964D0-B6A1-4940-9D7B-C9E7538C43C5}"/>
              </a:ext>
            </a:extLst>
          </p:cNvPr>
          <p:cNvSpPr/>
          <p:nvPr/>
        </p:nvSpPr>
        <p:spPr>
          <a:xfrm>
            <a:off x="3902528" y="2412547"/>
            <a:ext cx="1428750" cy="699144"/>
          </a:xfrm>
          <a:prstGeom prst="foldedCorner">
            <a:avLst>
              <a:gd name="adj" fmla="val 23143"/>
            </a:avLst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Flèche : droite 4">
            <a:extLst>
              <a:ext uri="{FF2B5EF4-FFF2-40B4-BE49-F238E27FC236}">
                <a16:creationId xmlns:a16="http://schemas.microsoft.com/office/drawing/2014/main" id="{282DA952-D239-40E7-B8E6-4079C1581CCC}"/>
              </a:ext>
            </a:extLst>
          </p:cNvPr>
          <p:cNvSpPr/>
          <p:nvPr/>
        </p:nvSpPr>
        <p:spPr>
          <a:xfrm>
            <a:off x="3005816" y="2870515"/>
            <a:ext cx="640896" cy="319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A4CF414-90C2-4B4F-A25E-3203430D3552}"/>
              </a:ext>
            </a:extLst>
          </p:cNvPr>
          <p:cNvSpPr txBox="1"/>
          <p:nvPr/>
        </p:nvSpPr>
        <p:spPr>
          <a:xfrm>
            <a:off x="1993444" y="2631854"/>
            <a:ext cx="1710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writeAppend</a:t>
            </a:r>
            <a:r>
              <a:rPr lang="fr-FR" dirty="0"/>
              <a:t>()</a:t>
            </a:r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1A2C9452-A22D-4A35-A295-78EA28428AD9}"/>
              </a:ext>
            </a:extLst>
          </p:cNvPr>
          <p:cNvSpPr/>
          <p:nvPr/>
        </p:nvSpPr>
        <p:spPr>
          <a:xfrm>
            <a:off x="3005816" y="3349308"/>
            <a:ext cx="640896" cy="319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B84CC993-BA82-4953-8F6F-F7CD6E542486}"/>
              </a:ext>
            </a:extLst>
          </p:cNvPr>
          <p:cNvSpPr txBox="1"/>
          <p:nvPr/>
        </p:nvSpPr>
        <p:spPr>
          <a:xfrm>
            <a:off x="2223229" y="3299065"/>
            <a:ext cx="782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flush()</a:t>
            </a:r>
          </a:p>
        </p:txBody>
      </p:sp>
      <p:sp>
        <p:nvSpPr>
          <p:cNvPr id="9" name="Rectangle : carré corné 8">
            <a:extLst>
              <a:ext uri="{FF2B5EF4-FFF2-40B4-BE49-F238E27FC236}">
                <a16:creationId xmlns:a16="http://schemas.microsoft.com/office/drawing/2014/main" id="{EA5C73D8-63A1-4C88-9DB1-549E9C6537FB}"/>
              </a:ext>
            </a:extLst>
          </p:cNvPr>
          <p:cNvSpPr/>
          <p:nvPr/>
        </p:nvSpPr>
        <p:spPr>
          <a:xfrm>
            <a:off x="6825423" y="4073857"/>
            <a:ext cx="1428750" cy="2062250"/>
          </a:xfrm>
          <a:prstGeom prst="foldedCorner">
            <a:avLst>
              <a:gd name="adj" fmla="val 23143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24A65F69-550B-42D2-9C45-4A97CD6F488F}"/>
              </a:ext>
            </a:extLst>
          </p:cNvPr>
          <p:cNvSpPr/>
          <p:nvPr/>
        </p:nvSpPr>
        <p:spPr>
          <a:xfrm>
            <a:off x="3062967" y="2271454"/>
            <a:ext cx="640896" cy="319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1AC7ECE-4950-4AC7-8CF6-D2D22220E5A5}"/>
              </a:ext>
            </a:extLst>
          </p:cNvPr>
          <p:cNvSpPr txBox="1"/>
          <p:nvPr/>
        </p:nvSpPr>
        <p:spPr>
          <a:xfrm>
            <a:off x="2224090" y="2227880"/>
            <a:ext cx="822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create</a:t>
            </a:r>
            <a:endParaRPr lang="fr-FR" dirty="0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DF76D0F9-BF08-49D9-94FA-BCC3B4A5AF72}"/>
              </a:ext>
            </a:extLst>
          </p:cNvPr>
          <p:cNvSpPr/>
          <p:nvPr/>
        </p:nvSpPr>
        <p:spPr>
          <a:xfrm>
            <a:off x="9036760" y="3822430"/>
            <a:ext cx="640896" cy="319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7CB7BB2-F205-492A-8044-2E4D2D0EC668}"/>
              </a:ext>
            </a:extLst>
          </p:cNvPr>
          <p:cNvSpPr txBox="1"/>
          <p:nvPr/>
        </p:nvSpPr>
        <p:spPr>
          <a:xfrm>
            <a:off x="8254173" y="3238988"/>
            <a:ext cx="11873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open()</a:t>
            </a:r>
          </a:p>
          <a:p>
            <a:r>
              <a:rPr lang="fr-FR" dirty="0"/>
              <a:t>=</a:t>
            </a:r>
            <a:r>
              <a:rPr lang="fr-FR" dirty="0" err="1"/>
              <a:t>readAt</a:t>
            </a:r>
            <a:r>
              <a:rPr lang="fr-FR" dirty="0"/>
              <a:t>(0)</a:t>
            </a:r>
          </a:p>
        </p:txBody>
      </p:sp>
      <p:sp>
        <p:nvSpPr>
          <p:cNvPr id="14" name="Flèche : droite 13">
            <a:extLst>
              <a:ext uri="{FF2B5EF4-FFF2-40B4-BE49-F238E27FC236}">
                <a16:creationId xmlns:a16="http://schemas.microsoft.com/office/drawing/2014/main" id="{E0C551B6-F124-4B2D-A3F1-49FB78F3DD28}"/>
              </a:ext>
            </a:extLst>
          </p:cNvPr>
          <p:cNvSpPr/>
          <p:nvPr/>
        </p:nvSpPr>
        <p:spPr>
          <a:xfrm>
            <a:off x="9036760" y="4668601"/>
            <a:ext cx="640896" cy="319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50E4907D-33E1-48D2-B082-9070F7B222DA}"/>
              </a:ext>
            </a:extLst>
          </p:cNvPr>
          <p:cNvSpPr txBox="1"/>
          <p:nvPr/>
        </p:nvSpPr>
        <p:spPr>
          <a:xfrm>
            <a:off x="8322412" y="4412401"/>
            <a:ext cx="9548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readAt</a:t>
            </a:r>
            <a:r>
              <a:rPr lang="fr-FR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296253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587EA3-B74E-44BF-A653-9689057B2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 err="1"/>
              <a:t>See</a:t>
            </a:r>
            <a:r>
              <a:rPr lang="fr-FR" dirty="0"/>
              <a:t> Hadoop </a:t>
            </a:r>
            <a:r>
              <a:rPr lang="fr-FR" dirty="0" err="1"/>
              <a:t>FileSystem</a:t>
            </a:r>
            <a:r>
              <a:rPr lang="fr-FR" dirty="0"/>
              <a:t> Read API:</a:t>
            </a:r>
            <a:br>
              <a:rPr lang="fr-FR" dirty="0"/>
            </a:br>
            <a:r>
              <a:rPr lang="fr-FR" dirty="0" err="1"/>
              <a:t>FileSystem.open</a:t>
            </a:r>
            <a:r>
              <a:rPr lang="fr-FR" dirty="0"/>
              <a:t>(Path)  -&gt; </a:t>
            </a:r>
            <a:r>
              <a:rPr lang="fr-FR" dirty="0" err="1"/>
              <a:t>FSDataInputStream</a:t>
            </a:r>
            <a:br>
              <a:rPr lang="fr-FR" dirty="0"/>
            </a:b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1D83C11-A5AB-4F0A-B81E-758B13CCC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523" y="1775629"/>
            <a:ext cx="11966744" cy="4461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2370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C97FD1-0AC0-4485-A8D0-A1DEC1E2E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FSDataInputStream</a:t>
            </a:r>
            <a:r>
              <a:rPr lang="fr-FR" dirty="0"/>
              <a:t> = </a:t>
            </a:r>
            <a:r>
              <a:rPr lang="fr-FR" dirty="0" err="1"/>
              <a:t>InputStream</a:t>
            </a:r>
            <a:r>
              <a:rPr lang="fr-FR" dirty="0"/>
              <a:t> + </a:t>
            </a:r>
            <a:r>
              <a:rPr lang="fr-FR" dirty="0" err="1"/>
              <a:t>Seekable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0D6263D-5524-4AB1-BD17-69F4C800C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61" y="2142699"/>
            <a:ext cx="11425860" cy="3573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4313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955A5A-AD9B-4554-88F3-170F6FCC6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2830"/>
            <a:ext cx="10515600" cy="962168"/>
          </a:xfrm>
        </p:spPr>
        <p:txBody>
          <a:bodyPr/>
          <a:lstStyle/>
          <a:p>
            <a:r>
              <a:rPr lang="fr-FR" dirty="0" err="1"/>
              <a:t>See</a:t>
            </a:r>
            <a:r>
              <a:rPr lang="fr-FR" dirty="0"/>
              <a:t> Hadoop </a:t>
            </a:r>
            <a:r>
              <a:rPr lang="fr-FR" dirty="0" err="1"/>
              <a:t>FileSystem</a:t>
            </a:r>
            <a:r>
              <a:rPr lang="fr-FR" dirty="0"/>
              <a:t> Write API: </a:t>
            </a:r>
            <a:r>
              <a:rPr lang="fr-FR" dirty="0" err="1"/>
              <a:t>create</a:t>
            </a:r>
            <a:r>
              <a:rPr lang="fr-FR" dirty="0"/>
              <a:t>()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FBFCDA6-9EDB-4EEE-8B20-3062614BB8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188" y="927389"/>
            <a:ext cx="8124335" cy="5942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0512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B3B90C-05BD-47EA-BBC7-036D8EF6C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FSDataOutputStream</a:t>
            </a:r>
            <a:r>
              <a:rPr lang="fr-FR" dirty="0"/>
              <a:t> =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write+flush</a:t>
            </a:r>
            <a:br>
              <a:rPr lang="fr-FR" dirty="0"/>
            </a:br>
            <a:r>
              <a:rPr lang="fr-FR" dirty="0"/>
              <a:t>       (and </a:t>
            </a:r>
            <a:r>
              <a:rPr lang="fr-FR" dirty="0" err="1"/>
              <a:t>optionnaly</a:t>
            </a:r>
            <a:r>
              <a:rPr lang="fr-FR" dirty="0"/>
              <a:t> « </a:t>
            </a:r>
            <a:r>
              <a:rPr lang="fr-FR" dirty="0" err="1"/>
              <a:t>dropBehind</a:t>
            </a:r>
            <a:r>
              <a:rPr lang="fr-FR" dirty="0"/>
              <a:t>() »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1CF1460-50C7-494C-9013-6BE8D0D4CE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9" y="2545307"/>
            <a:ext cx="12067169" cy="3500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5354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587121-03A3-45FE-A9A2-8AB10B2C2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683" y="2453233"/>
            <a:ext cx="10515600" cy="2589615"/>
          </a:xfrm>
        </p:spPr>
        <p:txBody>
          <a:bodyPr>
            <a:normAutofit/>
          </a:bodyPr>
          <a:lstStyle/>
          <a:p>
            <a:r>
              <a:rPr lang="fr-FR" dirty="0"/>
              <a:t>NO  </a:t>
            </a:r>
            <a:r>
              <a:rPr lang="fr-FR" dirty="0" err="1"/>
              <a:t>write</a:t>
            </a:r>
            <a:r>
              <a:rPr lang="fr-FR" dirty="0"/>
              <a:t> </a:t>
            </a:r>
            <a:r>
              <a:rPr lang="fr-FR" dirty="0" err="1"/>
              <a:t>lseek</a:t>
            </a:r>
            <a:r>
              <a:rPr lang="fr-FR" dirty="0"/>
              <a:t>() </a:t>
            </a:r>
            <a:br>
              <a:rPr lang="fr-FR" dirty="0"/>
            </a:br>
            <a:r>
              <a:rPr lang="fr-FR" dirty="0"/>
              <a:t>=&gt;</a:t>
            </a:r>
            <a:br>
              <a:rPr lang="fr-FR" dirty="0"/>
            </a:br>
            <a:r>
              <a:rPr lang="fr-FR" dirty="0"/>
              <a:t>NO Hope of « </a:t>
            </a:r>
            <a:r>
              <a:rPr lang="fr-FR" dirty="0" err="1"/>
              <a:t>backporting</a:t>
            </a:r>
            <a:r>
              <a:rPr lang="fr-FR" dirty="0"/>
              <a:t> » standard </a:t>
            </a:r>
            <a:r>
              <a:rPr lang="fr-FR" dirty="0" err="1"/>
              <a:t>Databases</a:t>
            </a:r>
            <a:r>
              <a:rPr lang="fr-FR" dirty="0"/>
              <a:t> (</a:t>
            </a:r>
            <a:r>
              <a:rPr lang="fr-FR" dirty="0" err="1"/>
              <a:t>Postgresql,Redis</a:t>
            </a:r>
            <a:r>
              <a:rPr lang="fr-FR" dirty="0"/>
              <a:t>,…)  to Hadoop !</a:t>
            </a:r>
          </a:p>
        </p:txBody>
      </p:sp>
    </p:spTree>
    <p:extLst>
      <p:ext uri="{BB962C8B-B14F-4D97-AF65-F5344CB8AC3E}">
        <p14:creationId xmlns:p14="http://schemas.microsoft.com/office/powerpoint/2010/main" val="38361724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7A485A-BF1F-4850-8EFD-E84A74261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Notice… « MMAP » File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8D1F9A-D0E0-4F0A-8194-D79677B877C3}"/>
              </a:ext>
            </a:extLst>
          </p:cNvPr>
          <p:cNvSpPr txBox="1"/>
          <p:nvPr/>
        </p:nvSpPr>
        <p:spPr>
          <a:xfrm>
            <a:off x="2149522" y="1951631"/>
            <a:ext cx="915082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Most </a:t>
            </a:r>
            <a:r>
              <a:rPr lang="fr-FR" dirty="0" err="1"/>
              <a:t>databases</a:t>
            </a:r>
            <a:r>
              <a:rPr lang="fr-FR" dirty="0"/>
              <a:t>  use   Memory-</a:t>
            </a:r>
            <a:r>
              <a:rPr lang="fr-FR" dirty="0" err="1"/>
              <a:t>Mapped</a:t>
            </a:r>
            <a:r>
              <a:rPr lang="fr-FR" dirty="0"/>
              <a:t>-Files, </a:t>
            </a:r>
          </a:p>
          <a:p>
            <a:endParaRPr lang="fr-FR" dirty="0"/>
          </a:p>
          <a:p>
            <a:r>
              <a:rPr lang="fr-FR" dirty="0" err="1"/>
              <a:t>directly</a:t>
            </a:r>
            <a:r>
              <a:rPr lang="fr-FR" dirty="0"/>
              <a:t> visible as </a:t>
            </a:r>
            <a:r>
              <a:rPr lang="fr-FR" dirty="0" err="1"/>
              <a:t>virtual</a:t>
            </a:r>
            <a:r>
              <a:rPr lang="fr-FR" dirty="0"/>
              <a:t> Memory </a:t>
            </a:r>
            <a:r>
              <a:rPr lang="fr-FR" dirty="0" err="1"/>
              <a:t>from</a:t>
            </a:r>
            <a:r>
              <a:rPr lang="fr-FR" dirty="0"/>
              <a:t> the Linux OS</a:t>
            </a:r>
          </a:p>
          <a:p>
            <a:endParaRPr lang="fr-FR" dirty="0"/>
          </a:p>
          <a:p>
            <a:r>
              <a:rPr lang="fr-FR" dirty="0" err="1"/>
              <a:t>faster</a:t>
            </a:r>
            <a:r>
              <a:rPr lang="fr-FR" dirty="0"/>
              <a:t> </a:t>
            </a:r>
            <a:r>
              <a:rPr lang="fr-FR" dirty="0" err="1"/>
              <a:t>than</a:t>
            </a:r>
            <a:r>
              <a:rPr lang="fr-FR" dirty="0"/>
              <a:t> </a:t>
            </a:r>
            <a:r>
              <a:rPr lang="fr-FR" dirty="0" err="1"/>
              <a:t>sequential</a:t>
            </a:r>
            <a:r>
              <a:rPr lang="fr-FR" dirty="0"/>
              <a:t> </a:t>
            </a:r>
            <a:r>
              <a:rPr lang="fr-FR" dirty="0" err="1"/>
              <a:t>reading</a:t>
            </a:r>
            <a:r>
              <a:rPr lang="fr-FR" dirty="0"/>
              <a:t> files   (</a:t>
            </a:r>
            <a:r>
              <a:rPr lang="fr-FR" dirty="0" err="1"/>
              <a:t>reading</a:t>
            </a:r>
            <a:r>
              <a:rPr lang="fr-FR" dirty="0"/>
              <a:t> per block / pages)</a:t>
            </a:r>
          </a:p>
          <a:p>
            <a:endParaRPr lang="fr-FR" dirty="0"/>
          </a:p>
          <a:p>
            <a:r>
              <a:rPr lang="fr-FR" dirty="0" err="1"/>
              <a:t>Then</a:t>
            </a:r>
            <a:r>
              <a:rPr lang="fr-FR" dirty="0"/>
              <a:t> Flush()  </a:t>
            </a:r>
            <a:r>
              <a:rPr lang="fr-FR" dirty="0" err="1"/>
              <a:t>dirty</a:t>
            </a:r>
            <a:r>
              <a:rPr lang="fr-FR" dirty="0"/>
              <a:t> pages</a:t>
            </a:r>
          </a:p>
          <a:p>
            <a:endParaRPr lang="fr-FR" dirty="0"/>
          </a:p>
          <a:p>
            <a:r>
              <a:rPr lang="fr-FR" dirty="0"/>
              <a:t>….</a:t>
            </a:r>
          </a:p>
          <a:p>
            <a:endParaRPr lang="fr-FR" dirty="0"/>
          </a:p>
          <a:p>
            <a:r>
              <a:rPr lang="fr-FR" dirty="0"/>
              <a:t>Not </a:t>
            </a:r>
            <a:r>
              <a:rPr lang="fr-FR" dirty="0" err="1"/>
              <a:t>strictly</a:t>
            </a:r>
            <a:r>
              <a:rPr lang="fr-FR" dirty="0"/>
              <a:t> </a:t>
            </a:r>
            <a:r>
              <a:rPr lang="fr-FR" dirty="0" err="1"/>
              <a:t>necessary</a:t>
            </a:r>
            <a:r>
              <a:rPr lang="fr-FR" dirty="0"/>
              <a:t>, but OS </a:t>
            </a:r>
            <a:r>
              <a:rPr lang="fr-FR" dirty="0" err="1"/>
              <a:t>optim</a:t>
            </a:r>
            <a:r>
              <a:rPr lang="fr-FR" dirty="0"/>
              <a:t> for </a:t>
            </a:r>
            <a:r>
              <a:rPr lang="fr-FR" dirty="0" err="1"/>
              <a:t>disk</a:t>
            </a:r>
            <a:r>
              <a:rPr lang="fr-FR" dirty="0"/>
              <a:t> </a:t>
            </a:r>
            <a:r>
              <a:rPr lang="fr-FR" dirty="0" err="1"/>
              <a:t>access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database</a:t>
            </a:r>
            <a:r>
              <a:rPr lang="fr-FR" dirty="0"/>
              <a:t>  (like Oracle)  </a:t>
            </a:r>
            <a:r>
              <a:rPr lang="fr-FR" dirty="0" err="1"/>
              <a:t>prefer</a:t>
            </a:r>
            <a:r>
              <a:rPr lang="fr-FR" dirty="0"/>
              <a:t> direct root </a:t>
            </a:r>
            <a:r>
              <a:rPr lang="fr-FR" dirty="0" err="1"/>
              <a:t>access</a:t>
            </a:r>
            <a:r>
              <a:rPr lang="fr-FR" dirty="0"/>
              <a:t> to « /dev/</a:t>
            </a:r>
            <a:r>
              <a:rPr lang="fr-FR" dirty="0" err="1"/>
              <a:t>sda</a:t>
            </a:r>
            <a:r>
              <a:rPr lang="fr-FR" dirty="0"/>
              <a:t> »  block </a:t>
            </a:r>
            <a:r>
              <a:rPr lang="fr-FR" dirty="0" err="1"/>
              <a:t>devices</a:t>
            </a:r>
            <a:endParaRPr lang="fr-FR" dirty="0"/>
          </a:p>
          <a:p>
            <a:r>
              <a:rPr lang="fr-FR" dirty="0"/>
              <a:t>(No </a:t>
            </a:r>
            <a:r>
              <a:rPr lang="fr-FR" dirty="0" err="1"/>
              <a:t>FileSystem</a:t>
            </a:r>
            <a:r>
              <a:rPr lang="fr-FR" dirty="0"/>
              <a:t> abstraction)</a:t>
            </a:r>
          </a:p>
        </p:txBody>
      </p:sp>
    </p:spTree>
    <p:extLst>
      <p:ext uri="{BB962C8B-B14F-4D97-AF65-F5344CB8AC3E}">
        <p14:creationId xmlns:p14="http://schemas.microsoft.com/office/powerpoint/2010/main" val="24530396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4B3A35-DD79-4920-AFE7-F0F418DDE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646331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Updades</a:t>
            </a:r>
            <a:r>
              <a:rPr lang="fr-FR" dirty="0"/>
              <a:t> </a:t>
            </a:r>
            <a:r>
              <a:rPr lang="fr-FR" dirty="0" err="1"/>
              <a:t>Strategy</a:t>
            </a:r>
            <a:r>
              <a:rPr lang="fr-FR" dirty="0"/>
              <a:t> : </a:t>
            </a:r>
            <a:r>
              <a:rPr lang="fr-FR" dirty="0" err="1"/>
              <a:t>Overwrite</a:t>
            </a:r>
            <a:r>
              <a:rPr lang="fr-FR" dirty="0"/>
              <a:t> per Partition(=</a:t>
            </a:r>
            <a:r>
              <a:rPr lang="fr-FR" dirty="0" err="1"/>
              <a:t>Dir</a:t>
            </a:r>
            <a:r>
              <a:rPr lang="fr-FR" dirty="0"/>
              <a:t>)</a:t>
            </a:r>
          </a:p>
        </p:txBody>
      </p:sp>
      <p:sp>
        <p:nvSpPr>
          <p:cNvPr id="5" name="Rectangle : carré corné 4">
            <a:extLst>
              <a:ext uri="{FF2B5EF4-FFF2-40B4-BE49-F238E27FC236}">
                <a16:creationId xmlns:a16="http://schemas.microsoft.com/office/drawing/2014/main" id="{8E658C59-683F-444F-9E99-1BCF3192AD26}"/>
              </a:ext>
            </a:extLst>
          </p:cNvPr>
          <p:cNvSpPr/>
          <p:nvPr/>
        </p:nvSpPr>
        <p:spPr>
          <a:xfrm>
            <a:off x="421141" y="2082241"/>
            <a:ext cx="1190625" cy="826966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6EFE435E-813F-4A8F-8A6F-E73A296E1912}"/>
              </a:ext>
            </a:extLst>
          </p:cNvPr>
          <p:cNvSpPr/>
          <p:nvPr/>
        </p:nvSpPr>
        <p:spPr>
          <a:xfrm>
            <a:off x="630691" y="2536136"/>
            <a:ext cx="595313" cy="15470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32A2867-00CE-4887-9A97-1E7E5A616CB6}"/>
              </a:ext>
            </a:extLst>
          </p:cNvPr>
          <p:cNvSpPr/>
          <p:nvPr/>
        </p:nvSpPr>
        <p:spPr>
          <a:xfrm>
            <a:off x="149338" y="1891393"/>
            <a:ext cx="1880848" cy="280307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0A0D1C4-12EC-4521-BACE-0BE5E86F4940}"/>
              </a:ext>
            </a:extLst>
          </p:cNvPr>
          <p:cNvSpPr txBox="1"/>
          <p:nvPr/>
        </p:nvSpPr>
        <p:spPr>
          <a:xfrm>
            <a:off x="0" y="1571279"/>
            <a:ext cx="1816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/</a:t>
            </a:r>
            <a:r>
              <a:rPr lang="fr-FR" dirty="0" err="1"/>
              <a:t>dir_partition</a:t>
            </a:r>
            <a:r>
              <a:rPr lang="fr-FR" dirty="0"/>
              <a:t>=XX</a:t>
            </a:r>
          </a:p>
        </p:txBody>
      </p:sp>
      <p:sp>
        <p:nvSpPr>
          <p:cNvPr id="10" name="Rectangle : carré corné 9">
            <a:extLst>
              <a:ext uri="{FF2B5EF4-FFF2-40B4-BE49-F238E27FC236}">
                <a16:creationId xmlns:a16="http://schemas.microsoft.com/office/drawing/2014/main" id="{CD8805B1-D5AA-4AED-AD18-E329BBE79FD4}"/>
              </a:ext>
            </a:extLst>
          </p:cNvPr>
          <p:cNvSpPr/>
          <p:nvPr/>
        </p:nvSpPr>
        <p:spPr>
          <a:xfrm>
            <a:off x="421141" y="3050837"/>
            <a:ext cx="1190625" cy="462527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Rectangle : carré corné 10">
            <a:extLst>
              <a:ext uri="{FF2B5EF4-FFF2-40B4-BE49-F238E27FC236}">
                <a16:creationId xmlns:a16="http://schemas.microsoft.com/office/drawing/2014/main" id="{C65DFAC4-5AD2-49A5-A4E3-D51D8414A799}"/>
              </a:ext>
            </a:extLst>
          </p:cNvPr>
          <p:cNvSpPr/>
          <p:nvPr/>
        </p:nvSpPr>
        <p:spPr>
          <a:xfrm>
            <a:off x="421140" y="3703980"/>
            <a:ext cx="1190625" cy="462527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7A5F11DD-2F35-40BA-8CA4-0FB1544F20F7}"/>
              </a:ext>
            </a:extLst>
          </p:cNvPr>
          <p:cNvSpPr/>
          <p:nvPr/>
        </p:nvSpPr>
        <p:spPr>
          <a:xfrm>
            <a:off x="149338" y="5468474"/>
            <a:ext cx="1880848" cy="108235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F6776AD0-919C-48A8-ACF3-0470460BF191}"/>
              </a:ext>
            </a:extLst>
          </p:cNvPr>
          <p:cNvSpPr txBox="1"/>
          <p:nvPr/>
        </p:nvSpPr>
        <p:spPr>
          <a:xfrm>
            <a:off x="0" y="514835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/</a:t>
            </a:r>
            <a:r>
              <a:rPr lang="fr-FR" dirty="0" err="1"/>
              <a:t>dir_partition</a:t>
            </a:r>
            <a:r>
              <a:rPr lang="fr-FR" dirty="0"/>
              <a:t>=YY</a:t>
            </a:r>
          </a:p>
        </p:txBody>
      </p:sp>
      <p:sp>
        <p:nvSpPr>
          <p:cNvPr id="17" name="Rectangle : carré corné 16">
            <a:extLst>
              <a:ext uri="{FF2B5EF4-FFF2-40B4-BE49-F238E27FC236}">
                <a16:creationId xmlns:a16="http://schemas.microsoft.com/office/drawing/2014/main" id="{638AED80-EA6C-4607-8634-F831F8977057}"/>
              </a:ext>
            </a:extLst>
          </p:cNvPr>
          <p:cNvSpPr/>
          <p:nvPr/>
        </p:nvSpPr>
        <p:spPr>
          <a:xfrm>
            <a:off x="435087" y="5654428"/>
            <a:ext cx="1190625" cy="462527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Flèche : droite 17">
            <a:extLst>
              <a:ext uri="{FF2B5EF4-FFF2-40B4-BE49-F238E27FC236}">
                <a16:creationId xmlns:a16="http://schemas.microsoft.com/office/drawing/2014/main" id="{BF8A18DA-D27A-45D8-A803-EEE059FFDDF5}"/>
              </a:ext>
            </a:extLst>
          </p:cNvPr>
          <p:cNvSpPr/>
          <p:nvPr/>
        </p:nvSpPr>
        <p:spPr>
          <a:xfrm>
            <a:off x="2443241" y="1418218"/>
            <a:ext cx="1371599" cy="62592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AA529F61-203F-4640-8253-EC053276C5CB}"/>
              </a:ext>
            </a:extLst>
          </p:cNvPr>
          <p:cNvSpPr txBox="1"/>
          <p:nvPr/>
        </p:nvSpPr>
        <p:spPr>
          <a:xfrm>
            <a:off x="1672908" y="820164"/>
            <a:ext cx="42838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.</a:t>
            </a:r>
            <a:r>
              <a:rPr lang="fr-FR" dirty="0" err="1"/>
              <a:t>map</a:t>
            </a:r>
            <a:r>
              <a:rPr lang="fr-FR" dirty="0"/>
              <a:t>()  transformation of data in 1 Partition</a:t>
            </a:r>
          </a:p>
          <a:p>
            <a:r>
              <a:rPr lang="fr-FR" dirty="0"/>
              <a:t>=  FULL UPDATE COPY of a Directory</a:t>
            </a:r>
          </a:p>
        </p:txBody>
      </p:sp>
      <p:sp>
        <p:nvSpPr>
          <p:cNvPr id="20" name="Rectangle : carré corné 19">
            <a:extLst>
              <a:ext uri="{FF2B5EF4-FFF2-40B4-BE49-F238E27FC236}">
                <a16:creationId xmlns:a16="http://schemas.microsoft.com/office/drawing/2014/main" id="{EA8D5F83-5B06-458E-9A3E-366C9D04BD51}"/>
              </a:ext>
            </a:extLst>
          </p:cNvPr>
          <p:cNvSpPr/>
          <p:nvPr/>
        </p:nvSpPr>
        <p:spPr>
          <a:xfrm>
            <a:off x="4437006" y="2044147"/>
            <a:ext cx="1190625" cy="826966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1" name="Rectangle : coins arrondis 20">
            <a:extLst>
              <a:ext uri="{FF2B5EF4-FFF2-40B4-BE49-F238E27FC236}">
                <a16:creationId xmlns:a16="http://schemas.microsoft.com/office/drawing/2014/main" id="{DEB1EDB6-7D2F-4F0A-B3D9-4CAE2FE08887}"/>
              </a:ext>
            </a:extLst>
          </p:cNvPr>
          <p:cNvSpPr/>
          <p:nvPr/>
        </p:nvSpPr>
        <p:spPr>
          <a:xfrm>
            <a:off x="4646556" y="2498042"/>
            <a:ext cx="595313" cy="15470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8903FB5C-6209-4BEF-8216-D6851F6604EC}"/>
              </a:ext>
            </a:extLst>
          </p:cNvPr>
          <p:cNvSpPr/>
          <p:nvPr/>
        </p:nvSpPr>
        <p:spPr>
          <a:xfrm>
            <a:off x="4165203" y="1853299"/>
            <a:ext cx="1880848" cy="280307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7ED32320-0EC7-470D-A069-A936F9F7E66B}"/>
              </a:ext>
            </a:extLst>
          </p:cNvPr>
          <p:cNvSpPr txBox="1"/>
          <p:nvPr/>
        </p:nvSpPr>
        <p:spPr>
          <a:xfrm>
            <a:off x="4015865" y="1533185"/>
            <a:ext cx="1816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/</a:t>
            </a:r>
            <a:r>
              <a:rPr lang="fr-FR" dirty="0" err="1"/>
              <a:t>dir_partition</a:t>
            </a:r>
            <a:r>
              <a:rPr lang="fr-FR" dirty="0"/>
              <a:t>=XX</a:t>
            </a:r>
          </a:p>
        </p:txBody>
      </p:sp>
      <p:sp>
        <p:nvSpPr>
          <p:cNvPr id="24" name="Rectangle : carré corné 23">
            <a:extLst>
              <a:ext uri="{FF2B5EF4-FFF2-40B4-BE49-F238E27FC236}">
                <a16:creationId xmlns:a16="http://schemas.microsoft.com/office/drawing/2014/main" id="{D68FD34C-F82E-46E8-888A-3FA94C30F52A}"/>
              </a:ext>
            </a:extLst>
          </p:cNvPr>
          <p:cNvSpPr/>
          <p:nvPr/>
        </p:nvSpPr>
        <p:spPr>
          <a:xfrm>
            <a:off x="4437006" y="3012743"/>
            <a:ext cx="1190625" cy="462527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5" name="Rectangle : carré corné 24">
            <a:extLst>
              <a:ext uri="{FF2B5EF4-FFF2-40B4-BE49-F238E27FC236}">
                <a16:creationId xmlns:a16="http://schemas.microsoft.com/office/drawing/2014/main" id="{228BD1AA-532A-4577-BEAC-F003A5EE3BFB}"/>
              </a:ext>
            </a:extLst>
          </p:cNvPr>
          <p:cNvSpPr/>
          <p:nvPr/>
        </p:nvSpPr>
        <p:spPr>
          <a:xfrm>
            <a:off x="4437005" y="3665886"/>
            <a:ext cx="1190625" cy="462527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9" name="Rectangle : carré corné 28">
            <a:extLst>
              <a:ext uri="{FF2B5EF4-FFF2-40B4-BE49-F238E27FC236}">
                <a16:creationId xmlns:a16="http://schemas.microsoft.com/office/drawing/2014/main" id="{010C29EE-9341-4CE8-8012-D4BCDB6F9561}"/>
              </a:ext>
            </a:extLst>
          </p:cNvPr>
          <p:cNvSpPr/>
          <p:nvPr/>
        </p:nvSpPr>
        <p:spPr>
          <a:xfrm>
            <a:off x="6907969" y="2593060"/>
            <a:ext cx="1190625" cy="826966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3C7D81EF-E0CD-46BB-9A1D-BFAAB06268EE}"/>
              </a:ext>
            </a:extLst>
          </p:cNvPr>
          <p:cNvSpPr/>
          <p:nvPr/>
        </p:nvSpPr>
        <p:spPr>
          <a:xfrm>
            <a:off x="7117519" y="3046955"/>
            <a:ext cx="595313" cy="15470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AFA38247-F340-4E53-A5F3-ED4963E1F6C3}"/>
              </a:ext>
            </a:extLst>
          </p:cNvPr>
          <p:cNvSpPr/>
          <p:nvPr/>
        </p:nvSpPr>
        <p:spPr>
          <a:xfrm>
            <a:off x="6636166" y="2402212"/>
            <a:ext cx="1880848" cy="280307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9B7A41AF-1F94-4BB7-B517-B325C4314ED3}"/>
              </a:ext>
            </a:extLst>
          </p:cNvPr>
          <p:cNvSpPr txBox="1"/>
          <p:nvPr/>
        </p:nvSpPr>
        <p:spPr>
          <a:xfrm>
            <a:off x="6486828" y="2082098"/>
            <a:ext cx="2571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/_</a:t>
            </a:r>
            <a:r>
              <a:rPr lang="fr-FR" b="1" dirty="0" err="1"/>
              <a:t>temporary</a:t>
            </a:r>
            <a:r>
              <a:rPr lang="fr-FR" dirty="0"/>
              <a:t>/{</a:t>
            </a:r>
            <a:r>
              <a:rPr lang="fr-FR" dirty="0" err="1"/>
              <a:t>attemptid</a:t>
            </a:r>
            <a:r>
              <a:rPr lang="fr-FR" dirty="0"/>
              <a:t>}</a:t>
            </a:r>
          </a:p>
        </p:txBody>
      </p:sp>
      <p:sp>
        <p:nvSpPr>
          <p:cNvPr id="33" name="Rectangle : carré corné 32">
            <a:extLst>
              <a:ext uri="{FF2B5EF4-FFF2-40B4-BE49-F238E27FC236}">
                <a16:creationId xmlns:a16="http://schemas.microsoft.com/office/drawing/2014/main" id="{1003907C-627B-4D8E-A3B1-D2218482627D}"/>
              </a:ext>
            </a:extLst>
          </p:cNvPr>
          <p:cNvSpPr/>
          <p:nvPr/>
        </p:nvSpPr>
        <p:spPr>
          <a:xfrm>
            <a:off x="6907969" y="3561656"/>
            <a:ext cx="1190625" cy="462527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4" name="Rectangle : carré corné 33">
            <a:extLst>
              <a:ext uri="{FF2B5EF4-FFF2-40B4-BE49-F238E27FC236}">
                <a16:creationId xmlns:a16="http://schemas.microsoft.com/office/drawing/2014/main" id="{4F063CB7-B55A-476F-ACB5-04D2A286C06D}"/>
              </a:ext>
            </a:extLst>
          </p:cNvPr>
          <p:cNvSpPr/>
          <p:nvPr/>
        </p:nvSpPr>
        <p:spPr>
          <a:xfrm>
            <a:off x="6907968" y="4214799"/>
            <a:ext cx="1190625" cy="462527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724D7F48-E85A-4504-A4F8-697D3F961FE7}"/>
              </a:ext>
            </a:extLst>
          </p:cNvPr>
          <p:cNvSpPr/>
          <p:nvPr/>
        </p:nvSpPr>
        <p:spPr>
          <a:xfrm>
            <a:off x="4199234" y="5525398"/>
            <a:ext cx="1880848" cy="108235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D3C3F25-9ED8-4F8F-9047-AD6F85C07481}"/>
              </a:ext>
            </a:extLst>
          </p:cNvPr>
          <p:cNvSpPr txBox="1"/>
          <p:nvPr/>
        </p:nvSpPr>
        <p:spPr>
          <a:xfrm>
            <a:off x="4049896" y="5205283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/</a:t>
            </a:r>
            <a:r>
              <a:rPr lang="fr-FR" dirty="0" err="1"/>
              <a:t>dir_partition</a:t>
            </a:r>
            <a:r>
              <a:rPr lang="fr-FR" dirty="0"/>
              <a:t>=YY</a:t>
            </a:r>
          </a:p>
        </p:txBody>
      </p:sp>
      <p:sp>
        <p:nvSpPr>
          <p:cNvPr id="40" name="Rectangle : carré corné 39">
            <a:extLst>
              <a:ext uri="{FF2B5EF4-FFF2-40B4-BE49-F238E27FC236}">
                <a16:creationId xmlns:a16="http://schemas.microsoft.com/office/drawing/2014/main" id="{FB95FBC7-8EE4-4912-B2B5-EDF4F8DE4E49}"/>
              </a:ext>
            </a:extLst>
          </p:cNvPr>
          <p:cNvSpPr/>
          <p:nvPr/>
        </p:nvSpPr>
        <p:spPr>
          <a:xfrm>
            <a:off x="4484983" y="5711352"/>
            <a:ext cx="1190625" cy="462527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1" name="Croix 40">
            <a:extLst>
              <a:ext uri="{FF2B5EF4-FFF2-40B4-BE49-F238E27FC236}">
                <a16:creationId xmlns:a16="http://schemas.microsoft.com/office/drawing/2014/main" id="{9844D84F-37A4-402D-A2A0-847353FCC698}"/>
              </a:ext>
            </a:extLst>
          </p:cNvPr>
          <p:cNvSpPr/>
          <p:nvPr/>
        </p:nvSpPr>
        <p:spPr>
          <a:xfrm>
            <a:off x="6113220" y="1834571"/>
            <a:ext cx="518947" cy="515706"/>
          </a:xfrm>
          <a:prstGeom prst="plus">
            <a:avLst>
              <a:gd name="adj" fmla="val 408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Flèche : droite 41">
            <a:extLst>
              <a:ext uri="{FF2B5EF4-FFF2-40B4-BE49-F238E27FC236}">
                <a16:creationId xmlns:a16="http://schemas.microsoft.com/office/drawing/2014/main" id="{05E75123-6F05-432D-934D-D4182AD47F03}"/>
              </a:ext>
            </a:extLst>
          </p:cNvPr>
          <p:cNvSpPr/>
          <p:nvPr/>
        </p:nvSpPr>
        <p:spPr>
          <a:xfrm>
            <a:off x="8112739" y="1466495"/>
            <a:ext cx="1371599" cy="62592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 : carré corné 42">
            <a:extLst>
              <a:ext uri="{FF2B5EF4-FFF2-40B4-BE49-F238E27FC236}">
                <a16:creationId xmlns:a16="http://schemas.microsoft.com/office/drawing/2014/main" id="{705D8119-0C5B-4DB6-887D-C42EE49A934C}"/>
              </a:ext>
            </a:extLst>
          </p:cNvPr>
          <p:cNvSpPr/>
          <p:nvPr/>
        </p:nvSpPr>
        <p:spPr>
          <a:xfrm>
            <a:off x="10059585" y="1965335"/>
            <a:ext cx="1190625" cy="826966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1D174CF9-B0EA-4111-9B17-BDF74742AA82}"/>
              </a:ext>
            </a:extLst>
          </p:cNvPr>
          <p:cNvSpPr/>
          <p:nvPr/>
        </p:nvSpPr>
        <p:spPr>
          <a:xfrm>
            <a:off x="10269135" y="2419230"/>
            <a:ext cx="595313" cy="15470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96E84326-A8CF-44C1-8B04-E30C1958A02B}"/>
              </a:ext>
            </a:extLst>
          </p:cNvPr>
          <p:cNvSpPr/>
          <p:nvPr/>
        </p:nvSpPr>
        <p:spPr>
          <a:xfrm>
            <a:off x="9787782" y="1774487"/>
            <a:ext cx="2390090" cy="291997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A2127AE3-8ECA-49EC-9B53-E3DDD44754F8}"/>
              </a:ext>
            </a:extLst>
          </p:cNvPr>
          <p:cNvSpPr txBox="1"/>
          <p:nvPr/>
        </p:nvSpPr>
        <p:spPr>
          <a:xfrm>
            <a:off x="9638444" y="1454373"/>
            <a:ext cx="1816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/</a:t>
            </a:r>
            <a:r>
              <a:rPr lang="fr-FR" dirty="0" err="1"/>
              <a:t>dir_partition</a:t>
            </a:r>
            <a:r>
              <a:rPr lang="fr-FR" dirty="0"/>
              <a:t>=XX</a:t>
            </a:r>
          </a:p>
        </p:txBody>
      </p:sp>
      <p:sp>
        <p:nvSpPr>
          <p:cNvPr id="47" name="Rectangle : carré corné 46">
            <a:extLst>
              <a:ext uri="{FF2B5EF4-FFF2-40B4-BE49-F238E27FC236}">
                <a16:creationId xmlns:a16="http://schemas.microsoft.com/office/drawing/2014/main" id="{D419A359-1A92-4542-A627-98CB9AE3DFFF}"/>
              </a:ext>
            </a:extLst>
          </p:cNvPr>
          <p:cNvSpPr/>
          <p:nvPr/>
        </p:nvSpPr>
        <p:spPr>
          <a:xfrm>
            <a:off x="10059585" y="2933931"/>
            <a:ext cx="1190625" cy="462527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8" name="Rectangle : carré corné 47">
            <a:extLst>
              <a:ext uri="{FF2B5EF4-FFF2-40B4-BE49-F238E27FC236}">
                <a16:creationId xmlns:a16="http://schemas.microsoft.com/office/drawing/2014/main" id="{717451B2-B030-4080-8BC8-3FFF56F98FD5}"/>
              </a:ext>
            </a:extLst>
          </p:cNvPr>
          <p:cNvSpPr/>
          <p:nvPr/>
        </p:nvSpPr>
        <p:spPr>
          <a:xfrm>
            <a:off x="10059584" y="3587074"/>
            <a:ext cx="1190625" cy="462527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9" name="Signe de multiplication 48">
            <a:extLst>
              <a:ext uri="{FF2B5EF4-FFF2-40B4-BE49-F238E27FC236}">
                <a16:creationId xmlns:a16="http://schemas.microsoft.com/office/drawing/2014/main" id="{54C255EB-8547-4494-8D80-D82BBF018B9A}"/>
              </a:ext>
            </a:extLst>
          </p:cNvPr>
          <p:cNvSpPr/>
          <p:nvPr/>
        </p:nvSpPr>
        <p:spPr>
          <a:xfrm>
            <a:off x="10269135" y="1791554"/>
            <a:ext cx="719137" cy="714375"/>
          </a:xfrm>
          <a:prstGeom prst="mathMultiply">
            <a:avLst>
              <a:gd name="adj1" fmla="val 10853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Signe de multiplication 49">
            <a:extLst>
              <a:ext uri="{FF2B5EF4-FFF2-40B4-BE49-F238E27FC236}">
                <a16:creationId xmlns:a16="http://schemas.microsoft.com/office/drawing/2014/main" id="{66CD7F51-BEED-4445-BC36-221608C5A712}"/>
              </a:ext>
            </a:extLst>
          </p:cNvPr>
          <p:cNvSpPr/>
          <p:nvPr/>
        </p:nvSpPr>
        <p:spPr>
          <a:xfrm>
            <a:off x="10269135" y="2643792"/>
            <a:ext cx="719137" cy="714375"/>
          </a:xfrm>
          <a:prstGeom prst="mathMultiply">
            <a:avLst>
              <a:gd name="adj1" fmla="val 10853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Signe de multiplication 50">
            <a:extLst>
              <a:ext uri="{FF2B5EF4-FFF2-40B4-BE49-F238E27FC236}">
                <a16:creationId xmlns:a16="http://schemas.microsoft.com/office/drawing/2014/main" id="{89915F68-A03A-4A43-AB46-DE0D761EB9D6}"/>
              </a:ext>
            </a:extLst>
          </p:cNvPr>
          <p:cNvSpPr/>
          <p:nvPr/>
        </p:nvSpPr>
        <p:spPr>
          <a:xfrm>
            <a:off x="10268456" y="3428028"/>
            <a:ext cx="719137" cy="714375"/>
          </a:xfrm>
          <a:prstGeom prst="mathMultiply">
            <a:avLst>
              <a:gd name="adj1" fmla="val 10853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Rectangle : carré corné 54">
            <a:extLst>
              <a:ext uri="{FF2B5EF4-FFF2-40B4-BE49-F238E27FC236}">
                <a16:creationId xmlns:a16="http://schemas.microsoft.com/office/drawing/2014/main" id="{6C12D7E8-41AE-4838-96FA-32A03BD2A1BD}"/>
              </a:ext>
            </a:extLst>
          </p:cNvPr>
          <p:cNvSpPr/>
          <p:nvPr/>
        </p:nvSpPr>
        <p:spPr>
          <a:xfrm>
            <a:off x="10925848" y="2261267"/>
            <a:ext cx="1190625" cy="826966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B1C54592-9C48-4B87-84EB-2DA425A5F7EA}"/>
              </a:ext>
            </a:extLst>
          </p:cNvPr>
          <p:cNvSpPr/>
          <p:nvPr/>
        </p:nvSpPr>
        <p:spPr>
          <a:xfrm>
            <a:off x="11135398" y="2715162"/>
            <a:ext cx="595313" cy="15470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Rectangle : carré corné 56">
            <a:extLst>
              <a:ext uri="{FF2B5EF4-FFF2-40B4-BE49-F238E27FC236}">
                <a16:creationId xmlns:a16="http://schemas.microsoft.com/office/drawing/2014/main" id="{F5B1AD92-BD0A-4B44-B027-92A2361CAC54}"/>
              </a:ext>
            </a:extLst>
          </p:cNvPr>
          <p:cNvSpPr/>
          <p:nvPr/>
        </p:nvSpPr>
        <p:spPr>
          <a:xfrm>
            <a:off x="10925848" y="3229863"/>
            <a:ext cx="1190625" cy="462527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8" name="Rectangle : carré corné 57">
            <a:extLst>
              <a:ext uri="{FF2B5EF4-FFF2-40B4-BE49-F238E27FC236}">
                <a16:creationId xmlns:a16="http://schemas.microsoft.com/office/drawing/2014/main" id="{1A672719-B463-4321-97AD-EEC53DCAE20D}"/>
              </a:ext>
            </a:extLst>
          </p:cNvPr>
          <p:cNvSpPr/>
          <p:nvPr/>
        </p:nvSpPr>
        <p:spPr>
          <a:xfrm>
            <a:off x="10925847" y="3883006"/>
            <a:ext cx="1190625" cy="462527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9" name="Flèche : courbe vers le bas 58">
            <a:extLst>
              <a:ext uri="{FF2B5EF4-FFF2-40B4-BE49-F238E27FC236}">
                <a16:creationId xmlns:a16="http://schemas.microsoft.com/office/drawing/2014/main" id="{F7AD6C7C-59CD-45BE-84F8-37E3FB8DF489}"/>
              </a:ext>
            </a:extLst>
          </p:cNvPr>
          <p:cNvSpPr/>
          <p:nvPr/>
        </p:nvSpPr>
        <p:spPr>
          <a:xfrm rot="20566595">
            <a:off x="8302302" y="2677692"/>
            <a:ext cx="1080089" cy="29616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1" name="Flèche : courbe vers le bas 60">
            <a:extLst>
              <a:ext uri="{FF2B5EF4-FFF2-40B4-BE49-F238E27FC236}">
                <a16:creationId xmlns:a16="http://schemas.microsoft.com/office/drawing/2014/main" id="{C3E94D87-050E-4A7F-9586-F1DC54EBD715}"/>
              </a:ext>
            </a:extLst>
          </p:cNvPr>
          <p:cNvSpPr/>
          <p:nvPr/>
        </p:nvSpPr>
        <p:spPr>
          <a:xfrm rot="20566595">
            <a:off x="8290993" y="3396849"/>
            <a:ext cx="1080089" cy="29616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2" name="Flèche : courbe vers le bas 61">
            <a:extLst>
              <a:ext uri="{FF2B5EF4-FFF2-40B4-BE49-F238E27FC236}">
                <a16:creationId xmlns:a16="http://schemas.microsoft.com/office/drawing/2014/main" id="{D9251067-BA98-4D94-A805-4B4833EE19C2}"/>
              </a:ext>
            </a:extLst>
          </p:cNvPr>
          <p:cNvSpPr/>
          <p:nvPr/>
        </p:nvSpPr>
        <p:spPr>
          <a:xfrm rot="20566595">
            <a:off x="8302301" y="4066715"/>
            <a:ext cx="1080089" cy="29616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85E844C0-8530-43EB-BDD6-BC459240E832}"/>
              </a:ext>
            </a:extLst>
          </p:cNvPr>
          <p:cNvSpPr txBox="1"/>
          <p:nvPr/>
        </p:nvSpPr>
        <p:spPr>
          <a:xfrm>
            <a:off x="7248780" y="770825"/>
            <a:ext cx="35193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Overwrite</a:t>
            </a:r>
            <a:r>
              <a:rPr lang="fr-FR" dirty="0"/>
              <a:t>: </a:t>
            </a:r>
            <a:r>
              <a:rPr lang="fr-FR" dirty="0" err="1"/>
              <a:t>delete</a:t>
            </a:r>
            <a:r>
              <a:rPr lang="fr-FR" dirty="0"/>
              <a:t> OLD files,</a:t>
            </a:r>
          </a:p>
          <a:p>
            <a:r>
              <a:rPr lang="fr-FR" dirty="0"/>
              <a:t>Rename _</a:t>
            </a:r>
            <a:r>
              <a:rPr lang="fr-FR" dirty="0" err="1"/>
              <a:t>temporary</a:t>
            </a:r>
            <a:r>
              <a:rPr lang="fr-FR" dirty="0"/>
              <a:t>/* to NEW files</a:t>
            </a:r>
          </a:p>
        </p:txBody>
      </p: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7C6E1148-557C-49DE-AF93-D40663212CC6}"/>
              </a:ext>
            </a:extLst>
          </p:cNvPr>
          <p:cNvSpPr/>
          <p:nvPr/>
        </p:nvSpPr>
        <p:spPr>
          <a:xfrm>
            <a:off x="9787782" y="5435223"/>
            <a:ext cx="1880848" cy="108235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54FAD421-3786-43CF-B8C6-169BB20C0EF0}"/>
              </a:ext>
            </a:extLst>
          </p:cNvPr>
          <p:cNvSpPr txBox="1"/>
          <p:nvPr/>
        </p:nvSpPr>
        <p:spPr>
          <a:xfrm>
            <a:off x="9638444" y="51151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/</a:t>
            </a:r>
            <a:r>
              <a:rPr lang="fr-FR" dirty="0" err="1"/>
              <a:t>dir_partition</a:t>
            </a:r>
            <a:r>
              <a:rPr lang="fr-FR" dirty="0"/>
              <a:t>=YY</a:t>
            </a:r>
          </a:p>
        </p:txBody>
      </p:sp>
      <p:sp>
        <p:nvSpPr>
          <p:cNvPr id="66" name="Rectangle : carré corné 65">
            <a:extLst>
              <a:ext uri="{FF2B5EF4-FFF2-40B4-BE49-F238E27FC236}">
                <a16:creationId xmlns:a16="http://schemas.microsoft.com/office/drawing/2014/main" id="{18AF939E-2F8A-4BEF-9318-593E73DB645F}"/>
              </a:ext>
            </a:extLst>
          </p:cNvPr>
          <p:cNvSpPr/>
          <p:nvPr/>
        </p:nvSpPr>
        <p:spPr>
          <a:xfrm>
            <a:off x="10073531" y="5621177"/>
            <a:ext cx="1190625" cy="462527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9" name="Flèche : droite 68">
            <a:extLst>
              <a:ext uri="{FF2B5EF4-FFF2-40B4-BE49-F238E27FC236}">
                <a16:creationId xmlns:a16="http://schemas.microsoft.com/office/drawing/2014/main" id="{BB38C1AA-D13F-41CC-A9C7-2A69F01308F5}"/>
              </a:ext>
            </a:extLst>
          </p:cNvPr>
          <p:cNvSpPr/>
          <p:nvPr/>
        </p:nvSpPr>
        <p:spPr>
          <a:xfrm>
            <a:off x="6346525" y="2744561"/>
            <a:ext cx="557664" cy="404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0" name="Flèche : droite 69">
            <a:extLst>
              <a:ext uri="{FF2B5EF4-FFF2-40B4-BE49-F238E27FC236}">
                <a16:creationId xmlns:a16="http://schemas.microsoft.com/office/drawing/2014/main" id="{B6570875-5CB6-4904-92F4-546C00D05A6E}"/>
              </a:ext>
            </a:extLst>
          </p:cNvPr>
          <p:cNvSpPr/>
          <p:nvPr/>
        </p:nvSpPr>
        <p:spPr>
          <a:xfrm>
            <a:off x="6353335" y="3582718"/>
            <a:ext cx="557664" cy="404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1" name="Flèche : droite 70">
            <a:extLst>
              <a:ext uri="{FF2B5EF4-FFF2-40B4-BE49-F238E27FC236}">
                <a16:creationId xmlns:a16="http://schemas.microsoft.com/office/drawing/2014/main" id="{FCA2794B-91FF-4131-B2DA-28C90576DDF8}"/>
              </a:ext>
            </a:extLst>
          </p:cNvPr>
          <p:cNvSpPr/>
          <p:nvPr/>
        </p:nvSpPr>
        <p:spPr>
          <a:xfrm>
            <a:off x="6353335" y="4214799"/>
            <a:ext cx="557664" cy="404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D0BC6C33-B457-47AD-ABE5-DC2C94D1303B}"/>
              </a:ext>
            </a:extLst>
          </p:cNvPr>
          <p:cNvSpPr txBox="1"/>
          <p:nvPr/>
        </p:nvSpPr>
        <p:spPr>
          <a:xfrm>
            <a:off x="385775" y="2214733"/>
            <a:ext cx="2030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Object to </a:t>
            </a:r>
            <a:r>
              <a:rPr lang="fr-FR" dirty="0" err="1"/>
              <a:t>transform</a:t>
            </a:r>
            <a:endParaRPr lang="fr-FR" dirty="0"/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42BA3FEF-88D5-4395-B774-AE5780ECC9E8}"/>
              </a:ext>
            </a:extLst>
          </p:cNvPr>
          <p:cNvSpPr txBox="1"/>
          <p:nvPr/>
        </p:nvSpPr>
        <p:spPr>
          <a:xfrm>
            <a:off x="6577024" y="5187994"/>
            <a:ext cx="28944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Fully</a:t>
            </a:r>
            <a:r>
              <a:rPr lang="fr-FR" dirty="0"/>
              <a:t> </a:t>
            </a:r>
            <a:r>
              <a:rPr lang="fr-FR" dirty="0" err="1"/>
              <a:t>transformed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 err="1"/>
              <a:t>partitioned</a:t>
            </a:r>
            <a:r>
              <a:rPr lang="fr-FR" dirty="0"/>
              <a:t> Data + re-</a:t>
            </a:r>
            <a:r>
              <a:rPr lang="fr-FR" dirty="0" err="1"/>
              <a:t>written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452942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107538-F799-478E-BB99-71B03EC31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1199125" cy="866634"/>
          </a:xfrm>
        </p:spPr>
        <p:txBody>
          <a:bodyPr>
            <a:normAutofit fontScale="90000"/>
          </a:bodyPr>
          <a:lstStyle/>
          <a:p>
            <a:r>
              <a:rPr lang="fr-FR" dirty="0"/>
              <a:t>Iceberg </a:t>
            </a:r>
            <a:r>
              <a:rPr lang="fr-FR" dirty="0" err="1"/>
              <a:t>Strategy</a:t>
            </a:r>
            <a:r>
              <a:rPr lang="fr-FR" dirty="0"/>
              <a:t> for Updates … like Git commit-blobs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7DC8D84-ED47-46E9-BEA0-3E3AB9D6D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1688" y="723152"/>
            <a:ext cx="5661117" cy="6011806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B845C31B-A3D3-4208-913E-9E819F0645B1}"/>
              </a:ext>
            </a:extLst>
          </p:cNvPr>
          <p:cNvSpPr txBox="1"/>
          <p:nvPr/>
        </p:nvSpPr>
        <p:spPr>
          <a:xfrm>
            <a:off x="162067" y="917390"/>
            <a:ext cx="6097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hlinkClick r:id="rId3"/>
              </a:rPr>
              <a:t>https://iceberg.apache.org/spec/#goals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678746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E59B0E-A064-45CE-A53D-8B85EC2C4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65006" cy="1325563"/>
          </a:xfrm>
        </p:spPr>
        <p:txBody>
          <a:bodyPr/>
          <a:lstStyle/>
          <a:p>
            <a:r>
              <a:rPr lang="fr-FR" dirty="0"/>
              <a:t>Iceberg =&gt;  </a:t>
            </a:r>
            <a:r>
              <a:rPr lang="fr-FR" dirty="0" err="1"/>
              <a:t>Allow</a:t>
            </a:r>
            <a:r>
              <a:rPr lang="fr-FR" dirty="0"/>
              <a:t> Read Isolation / </a:t>
            </a:r>
            <a:r>
              <a:rPr lang="fr-FR" dirty="0" err="1"/>
              <a:t>Consistency</a:t>
            </a:r>
            <a:r>
              <a:rPr lang="fr-FR" dirty="0"/>
              <a:t> !!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673AFD1-ACA3-48AB-9D9F-1A6E095BDBFB}"/>
              </a:ext>
            </a:extLst>
          </p:cNvPr>
          <p:cNvSpPr txBox="1"/>
          <p:nvPr/>
        </p:nvSpPr>
        <p:spPr>
          <a:xfrm>
            <a:off x="2613548" y="3220872"/>
            <a:ext cx="70670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Solve the </a:t>
            </a:r>
            <a:r>
              <a:rPr lang="fr-FR" sz="2400" dirty="0" err="1"/>
              <a:t>problems</a:t>
            </a:r>
            <a:r>
              <a:rPr lang="fr-FR" sz="2400" dirty="0"/>
              <a:t> of concurrent </a:t>
            </a:r>
            <a:r>
              <a:rPr lang="fr-FR" sz="2400" dirty="0" err="1"/>
              <a:t>read</a:t>
            </a:r>
            <a:r>
              <a:rPr lang="fr-FR" sz="2400" dirty="0"/>
              <a:t>/</a:t>
            </a:r>
            <a:r>
              <a:rPr lang="fr-FR" sz="2400" dirty="0" err="1"/>
              <a:t>write</a:t>
            </a:r>
            <a:r>
              <a:rPr lang="fr-FR" sz="2400" dirty="0"/>
              <a:t> </a:t>
            </a:r>
            <a:r>
              <a:rPr lang="fr-FR" sz="2400" dirty="0" err="1"/>
              <a:t>problems</a:t>
            </a:r>
            <a:r>
              <a:rPr lang="fr-FR" sz="2400" dirty="0"/>
              <a:t> </a:t>
            </a:r>
          </a:p>
          <a:p>
            <a:r>
              <a:rPr lang="fr-FR" sz="2400" dirty="0" err="1"/>
              <a:t>occurring</a:t>
            </a:r>
            <a:r>
              <a:rPr lang="fr-FR" sz="2400" dirty="0"/>
              <a:t> </a:t>
            </a:r>
            <a:r>
              <a:rPr lang="fr-FR" sz="2400" dirty="0" err="1"/>
              <a:t>with</a:t>
            </a:r>
            <a:r>
              <a:rPr lang="fr-FR" sz="2400" dirty="0"/>
              <a:t> </a:t>
            </a:r>
            <a:r>
              <a:rPr lang="fr-FR" sz="2400" dirty="0" err="1"/>
              <a:t>Hive</a:t>
            </a:r>
            <a:r>
              <a:rPr lang="fr-FR" sz="2400" dirty="0"/>
              <a:t> (</a:t>
            </a:r>
            <a:r>
              <a:rPr lang="fr-FR" sz="2400" dirty="0" err="1"/>
              <a:t>Partitioned</a:t>
            </a:r>
            <a:r>
              <a:rPr lang="fr-FR" sz="2400" dirty="0"/>
              <a:t>) Tables</a:t>
            </a:r>
          </a:p>
        </p:txBody>
      </p:sp>
    </p:spTree>
    <p:extLst>
      <p:ext uri="{BB962C8B-B14F-4D97-AF65-F5344CB8AC3E}">
        <p14:creationId xmlns:p14="http://schemas.microsoft.com/office/powerpoint/2010/main" val="26008024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29EA27-92EF-4F3B-BCD7-CB0EEE07E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Iceberg Bonus: Time </a:t>
            </a:r>
            <a:r>
              <a:rPr lang="fr-FR" dirty="0" err="1"/>
              <a:t>Travel</a:t>
            </a:r>
            <a:r>
              <a:rPr lang="fr-FR" dirty="0"/>
              <a:t> </a:t>
            </a:r>
            <a:r>
              <a:rPr lang="fr-FR" dirty="0" err="1"/>
              <a:t>Queries</a:t>
            </a:r>
            <a:r>
              <a:rPr lang="fr-FR" dirty="0"/>
              <a:t>, Branch, ..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6296474-0620-4A70-90CA-B502A60CFE41}"/>
              </a:ext>
            </a:extLst>
          </p:cNvPr>
          <p:cNvSpPr txBox="1"/>
          <p:nvPr/>
        </p:nvSpPr>
        <p:spPr>
          <a:xfrm>
            <a:off x="3500651" y="3357349"/>
            <a:ext cx="49435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Same</a:t>
            </a:r>
            <a:r>
              <a:rPr lang="fr-FR" sz="2400" dirty="0"/>
              <a:t> as in Oracle  « SELECT AS OF … »</a:t>
            </a:r>
          </a:p>
          <a:p>
            <a:endParaRPr lang="fr-FR" sz="2400" dirty="0"/>
          </a:p>
          <a:p>
            <a:r>
              <a:rPr lang="fr-FR" sz="2400" dirty="0" err="1"/>
              <a:t>Same</a:t>
            </a:r>
            <a:r>
              <a:rPr lang="fr-FR" sz="2400" dirty="0"/>
              <a:t> as in Git</a:t>
            </a:r>
          </a:p>
        </p:txBody>
      </p:sp>
    </p:spTree>
    <p:extLst>
      <p:ext uri="{BB962C8B-B14F-4D97-AF65-F5344CB8AC3E}">
        <p14:creationId xmlns:p14="http://schemas.microsoft.com/office/powerpoint/2010/main" val="6494686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FA8662-1F58-4C67-813F-FF83E706F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Iceberg Performance </a:t>
            </a:r>
            <a:r>
              <a:rPr lang="fr-FR" dirty="0" err="1"/>
              <a:t>Problems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6BB985A-5F48-4A9A-986F-0E4D402C4A0B}"/>
              </a:ext>
            </a:extLst>
          </p:cNvPr>
          <p:cNvSpPr txBox="1"/>
          <p:nvPr/>
        </p:nvSpPr>
        <p:spPr>
          <a:xfrm>
            <a:off x="1326344" y="2384946"/>
            <a:ext cx="10160602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When</a:t>
            </a:r>
            <a:r>
              <a:rPr lang="fr-FR" sz="2000" dirty="0"/>
              <a:t> </a:t>
            </a:r>
            <a:r>
              <a:rPr lang="fr-FR" sz="2000" dirty="0" err="1"/>
              <a:t>Updating</a:t>
            </a:r>
            <a:r>
              <a:rPr lang="fr-FR" sz="2000" dirty="0"/>
              <a:t> Row(s) =&gt;  </a:t>
            </a:r>
          </a:p>
          <a:p>
            <a:endParaRPr lang="fr-FR" sz="2000" dirty="0"/>
          </a:p>
          <a:p>
            <a:r>
              <a:rPr lang="fr-FR" sz="2000" dirty="0" err="1"/>
              <a:t>need</a:t>
            </a:r>
            <a:r>
              <a:rPr lang="fr-FR" sz="2000" dirty="0"/>
              <a:t> to </a:t>
            </a:r>
            <a:r>
              <a:rPr lang="fr-FR" sz="2000" dirty="0" err="1"/>
              <a:t>Fully</a:t>
            </a:r>
            <a:r>
              <a:rPr lang="fr-FR" sz="2000" dirty="0"/>
              <a:t> Duplicate the File  (Copy on Write)</a:t>
            </a:r>
            <a:br>
              <a:rPr lang="fr-FR" sz="2000" dirty="0"/>
            </a:br>
            <a:r>
              <a:rPr lang="fr-FR" sz="2000" dirty="0"/>
              <a:t>OR </a:t>
            </a:r>
          </a:p>
          <a:p>
            <a:r>
              <a:rPr lang="fr-FR" sz="2000" dirty="0" err="1"/>
              <a:t>add</a:t>
            </a:r>
            <a:r>
              <a:rPr lang="fr-FR" sz="2000" dirty="0"/>
              <a:t> a new File </a:t>
            </a:r>
            <a:r>
              <a:rPr lang="fr-FR" sz="2000" dirty="0" err="1"/>
              <a:t>containing</a:t>
            </a:r>
            <a:r>
              <a:rPr lang="fr-FR" sz="2000" dirty="0"/>
              <a:t> </a:t>
            </a:r>
            <a:r>
              <a:rPr lang="fr-FR" sz="2000" dirty="0" err="1"/>
              <a:t>only</a:t>
            </a:r>
            <a:r>
              <a:rPr lang="fr-FR" sz="2000" dirty="0"/>
              <a:t> the new Row + file </a:t>
            </a:r>
            <a:r>
              <a:rPr lang="fr-FR" sz="2000" dirty="0" err="1"/>
              <a:t>marking</a:t>
            </a:r>
            <a:r>
              <a:rPr lang="fr-FR" sz="2000" dirty="0"/>
              <a:t> the </a:t>
            </a:r>
            <a:r>
              <a:rPr lang="fr-FR" sz="2000" dirty="0" err="1"/>
              <a:t>ids</a:t>
            </a:r>
            <a:r>
              <a:rPr lang="fr-FR" sz="2000" dirty="0"/>
              <a:t> to « </a:t>
            </a:r>
            <a:r>
              <a:rPr lang="fr-FR" sz="2000" dirty="0" err="1"/>
              <a:t>delete</a:t>
            </a:r>
            <a:r>
              <a:rPr lang="fr-FR" sz="2000" dirty="0"/>
              <a:t> » (Merge on Read)</a:t>
            </a:r>
          </a:p>
          <a:p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…. Explosions of Files </a:t>
            </a:r>
            <a:r>
              <a:rPr lang="fr-FR" sz="2000" dirty="0" err="1"/>
              <a:t>number</a:t>
            </a:r>
            <a:br>
              <a:rPr lang="fr-FR" sz="2000" dirty="0"/>
            </a:br>
            <a:r>
              <a:rPr lang="fr-FR" sz="2000" dirty="0"/>
              <a:t>OR</a:t>
            </a:r>
          </a:p>
          <a:p>
            <a:r>
              <a:rPr lang="fr-FR" sz="2000" dirty="0"/>
              <a:t>…. Explosion of </a:t>
            </a:r>
            <a:r>
              <a:rPr lang="fr-FR" sz="2000" dirty="0" err="1"/>
              <a:t>compute</a:t>
            </a:r>
            <a:r>
              <a:rPr lang="fr-FR" sz="2000" dirty="0"/>
              <a:t> </a:t>
            </a:r>
            <a:r>
              <a:rPr lang="fr-FR" sz="2000" dirty="0" err="1"/>
              <a:t>treatments</a:t>
            </a:r>
            <a:r>
              <a:rPr lang="fr-FR" sz="2000" dirty="0"/>
              <a:t> for </a:t>
            </a:r>
            <a:r>
              <a:rPr lang="fr-FR" sz="2000" dirty="0" err="1"/>
              <a:t>read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23230293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3D6F9F-DFFE-41AC-B457-F7AF782AE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B-</a:t>
            </a:r>
            <a:r>
              <a:rPr lang="fr-FR" dirty="0" err="1"/>
              <a:t>Tree</a:t>
            </a:r>
            <a:r>
              <a:rPr lang="fr-FR" dirty="0"/>
              <a:t>    … Log(N)  to </a:t>
            </a:r>
            <a:r>
              <a:rPr lang="fr-FR" dirty="0" err="1"/>
              <a:t>lookup</a:t>
            </a:r>
            <a:r>
              <a:rPr lang="fr-FR" dirty="0"/>
              <a:t> a Row by ID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A9C2CB8-3D09-47BD-A184-F8D1448469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655" y="1890865"/>
            <a:ext cx="9106689" cy="4686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971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F9354F-A856-4415-8B60-B872F988E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In </a:t>
            </a:r>
            <a:r>
              <a:rPr lang="fr-FR" dirty="0" err="1"/>
              <a:t>BigData</a:t>
            </a:r>
            <a:r>
              <a:rPr lang="fr-FR" dirty="0"/>
              <a:t>: No B-</a:t>
            </a:r>
            <a:r>
              <a:rPr lang="fr-FR" dirty="0" err="1"/>
              <a:t>Tree</a:t>
            </a:r>
            <a:r>
              <a:rPr lang="fr-FR" dirty="0"/>
              <a:t> files</a:t>
            </a:r>
            <a:br>
              <a:rPr lang="fr-FR" dirty="0"/>
            </a:br>
            <a:r>
              <a:rPr lang="fr-FR" dirty="0"/>
              <a:t>…</a:t>
            </a:r>
            <a:r>
              <a:rPr lang="fr-FR" dirty="0" err="1"/>
              <a:t>only</a:t>
            </a:r>
            <a:r>
              <a:rPr lang="fr-FR" dirty="0"/>
              <a:t> PARQUET « </a:t>
            </a:r>
            <a:r>
              <a:rPr lang="fr-FR" dirty="0" err="1"/>
              <a:t>Splittable</a:t>
            </a:r>
            <a:r>
              <a:rPr lang="fr-FR" dirty="0"/>
              <a:t> + </a:t>
            </a:r>
            <a:r>
              <a:rPr lang="fr-FR" dirty="0" err="1"/>
              <a:t>Columnar</a:t>
            </a:r>
            <a:r>
              <a:rPr lang="fr-FR" dirty="0"/>
              <a:t> » files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76DC765-2B8A-49D1-9466-F3826F6CCBC7}"/>
              </a:ext>
            </a:extLst>
          </p:cNvPr>
          <p:cNvSpPr txBox="1"/>
          <p:nvPr/>
        </p:nvSpPr>
        <p:spPr>
          <a:xfrm>
            <a:off x="1364776" y="2504364"/>
            <a:ext cx="1032987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In </a:t>
            </a:r>
            <a:r>
              <a:rPr lang="fr-FR" sz="2400" dirty="0" err="1"/>
              <a:t>BigData</a:t>
            </a:r>
            <a:r>
              <a:rPr lang="fr-FR" sz="2400" dirty="0"/>
              <a:t> … </a:t>
            </a:r>
            <a:r>
              <a:rPr lang="fr-FR" sz="2400" dirty="0" err="1"/>
              <a:t>generally</a:t>
            </a:r>
            <a:r>
              <a:rPr lang="fr-FR" sz="2400" dirty="0"/>
              <a:t> NOT a good </a:t>
            </a:r>
            <a:r>
              <a:rPr lang="fr-FR" sz="2400" dirty="0" err="1"/>
              <a:t>idea</a:t>
            </a:r>
            <a:r>
              <a:rPr lang="fr-FR" sz="2400" dirty="0"/>
              <a:t> to </a:t>
            </a:r>
            <a:r>
              <a:rPr lang="fr-FR" sz="2400" dirty="0" err="1"/>
              <a:t>keep</a:t>
            </a:r>
            <a:r>
              <a:rPr lang="fr-FR" sz="2400" dirty="0"/>
              <a:t> </a:t>
            </a:r>
            <a:r>
              <a:rPr lang="fr-FR" sz="2400" dirty="0" err="1"/>
              <a:t>petabyte</a:t>
            </a:r>
            <a:r>
              <a:rPr lang="fr-FR" sz="2400" dirty="0"/>
              <a:t> of file in RAM</a:t>
            </a:r>
          </a:p>
          <a:p>
            <a:endParaRPr lang="fr-FR" sz="2400" dirty="0"/>
          </a:p>
          <a:p>
            <a:r>
              <a:rPr lang="fr-FR" sz="2400" dirty="0"/>
              <a:t>Not </a:t>
            </a:r>
            <a:r>
              <a:rPr lang="fr-FR" sz="2400" dirty="0" err="1"/>
              <a:t>even</a:t>
            </a:r>
            <a:r>
              <a:rPr lang="fr-FR" sz="2400" dirty="0"/>
              <a:t> Page Blocks of </a:t>
            </a:r>
            <a:r>
              <a:rPr lang="fr-FR" sz="2400" dirty="0" err="1"/>
              <a:t>these</a:t>
            </a:r>
            <a:r>
              <a:rPr lang="fr-FR" sz="2400" dirty="0"/>
              <a:t> files</a:t>
            </a:r>
          </a:p>
          <a:p>
            <a:endParaRPr lang="fr-FR" sz="2400" dirty="0"/>
          </a:p>
          <a:p>
            <a:r>
              <a:rPr lang="fr-FR" sz="2400" dirty="0"/>
              <a:t>… B-TREE  lose </a:t>
            </a:r>
            <a:r>
              <a:rPr lang="fr-FR" sz="2400" dirty="0" err="1"/>
              <a:t>their</a:t>
            </a:r>
            <a:r>
              <a:rPr lang="fr-FR" sz="2400" dirty="0"/>
              <a:t> </a:t>
            </a:r>
            <a:r>
              <a:rPr lang="fr-FR" sz="2400" dirty="0" err="1"/>
              <a:t>interrest</a:t>
            </a:r>
            <a:r>
              <a:rPr lang="fr-FR" sz="2400" dirty="0"/>
              <a:t> if </a:t>
            </a:r>
            <a:r>
              <a:rPr lang="fr-FR" sz="2400" dirty="0" err="1"/>
              <a:t>they</a:t>
            </a:r>
            <a:r>
              <a:rPr lang="fr-FR" sz="2400" dirty="0"/>
              <a:t> are not « </a:t>
            </a:r>
            <a:r>
              <a:rPr lang="fr-FR" sz="2400" dirty="0" err="1"/>
              <a:t>cached</a:t>
            </a:r>
            <a:r>
              <a:rPr lang="fr-FR" sz="2400" dirty="0"/>
              <a:t> »,  and </a:t>
            </a:r>
            <a:r>
              <a:rPr lang="fr-FR" sz="2400" dirty="0" err="1"/>
              <a:t>access</a:t>
            </a:r>
            <a:r>
              <a:rPr lang="fr-FR" sz="2400" dirty="0"/>
              <a:t> per pages</a:t>
            </a:r>
          </a:p>
          <a:p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Better</a:t>
            </a:r>
            <a:r>
              <a:rPr lang="fr-FR" sz="2400" dirty="0"/>
              <a:t> to </a:t>
            </a:r>
            <a:r>
              <a:rPr lang="fr-FR" sz="2400" dirty="0" err="1"/>
              <a:t>read</a:t>
            </a:r>
            <a:r>
              <a:rPr lang="fr-FR" sz="2400" dirty="0"/>
              <a:t> </a:t>
            </a:r>
            <a:r>
              <a:rPr lang="fr-FR" sz="2400" dirty="0" err="1"/>
              <a:t>compressed</a:t>
            </a:r>
            <a:r>
              <a:rPr lang="fr-FR" sz="2400" dirty="0"/>
              <a:t> files, </a:t>
            </a:r>
            <a:r>
              <a:rPr lang="fr-FR" sz="2400" dirty="0" err="1"/>
              <a:t>rather</a:t>
            </a:r>
            <a:r>
              <a:rPr lang="fr-FR" sz="2400" dirty="0"/>
              <a:t> </a:t>
            </a:r>
            <a:r>
              <a:rPr lang="fr-FR" sz="2400" dirty="0" err="1"/>
              <a:t>than</a:t>
            </a:r>
            <a:r>
              <a:rPr lang="fr-FR" sz="2400" dirty="0"/>
              <a:t> follow </a:t>
            </a:r>
            <a:r>
              <a:rPr lang="fr-FR" sz="2400" dirty="0" err="1"/>
              <a:t>binary</a:t>
            </a:r>
            <a:r>
              <a:rPr lang="fr-FR" sz="2400" dirty="0"/>
              <a:t> « pointers » </a:t>
            </a:r>
            <a:r>
              <a:rPr lang="fr-FR" sz="2400" dirty="0" err="1"/>
              <a:t>within</a:t>
            </a:r>
            <a:r>
              <a:rPr lang="fr-FR" sz="2400" dirty="0"/>
              <a:t> files</a:t>
            </a:r>
          </a:p>
        </p:txBody>
      </p:sp>
    </p:spTree>
    <p:extLst>
      <p:ext uri="{BB962C8B-B14F-4D97-AF65-F5344CB8AC3E}">
        <p14:creationId xmlns:p14="http://schemas.microsoft.com/office/powerpoint/2010/main" val="12089947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9A8CA1-3F41-473F-87BA-8291F24F5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729806"/>
          </a:xfrm>
        </p:spPr>
        <p:txBody>
          <a:bodyPr>
            <a:normAutofit fontScale="90000"/>
          </a:bodyPr>
          <a:lstStyle/>
          <a:p>
            <a:r>
              <a:rPr lang="fr-FR" dirty="0"/>
              <a:t>B-TREE  =&gt; efficient </a:t>
            </a:r>
            <a:br>
              <a:rPr lang="fr-FR" dirty="0"/>
            </a:br>
            <a:r>
              <a:rPr lang="fr-FR" dirty="0"/>
              <a:t>(IF-AND-ONLY-IF  </a:t>
            </a:r>
            <a:r>
              <a:rPr lang="fr-FR" dirty="0" err="1"/>
              <a:t>mostly</a:t>
            </a:r>
            <a:r>
              <a:rPr lang="fr-FR" dirty="0"/>
              <a:t> </a:t>
            </a:r>
            <a:r>
              <a:rPr lang="fr-FR" dirty="0" err="1"/>
              <a:t>cached</a:t>
            </a:r>
            <a:r>
              <a:rPr lang="fr-FR" dirty="0"/>
              <a:t> in memory)  </a:t>
            </a:r>
            <a:br>
              <a:rPr lang="fr-FR" dirty="0"/>
            </a:br>
            <a:r>
              <a:rPr lang="fr-FR" dirty="0" err="1"/>
              <a:t>lookup</a:t>
            </a:r>
            <a:r>
              <a:rPr lang="fr-FR" dirty="0"/>
              <a:t> Row by ID   :  log(N)</a:t>
            </a:r>
          </a:p>
        </p:txBody>
      </p:sp>
      <p:pic>
        <p:nvPicPr>
          <p:cNvPr id="1026" name="Picture 2" descr="Using External Searching &amp; B-Trees in ...">
            <a:extLst>
              <a:ext uri="{FF2B5EF4-FFF2-40B4-BE49-F238E27FC236}">
                <a16:creationId xmlns:a16="http://schemas.microsoft.com/office/drawing/2014/main" id="{0098F4D7-29CD-4EEC-8E84-CFBF5ECF11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1154" y="2589308"/>
            <a:ext cx="4322028" cy="3954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405063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1C8E9C-E22B-40C2-ACFF-3399C8345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B-TREE :  Efficient to do « Index Range Scan »</a:t>
            </a:r>
          </a:p>
        </p:txBody>
      </p:sp>
      <p:pic>
        <p:nvPicPr>
          <p:cNvPr id="2050" name="Picture 2" descr="B-Tree vs. Hash Indexing ...">
            <a:extLst>
              <a:ext uri="{FF2B5EF4-FFF2-40B4-BE49-F238E27FC236}">
                <a16:creationId xmlns:a16="http://schemas.microsoft.com/office/drawing/2014/main" id="{AD05F64B-A954-4883-B613-8FC507ADF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5106" y="2445792"/>
            <a:ext cx="6060040" cy="2774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59761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800ADD-0814-4A39-8299-E3AA08EF6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 B-</a:t>
            </a:r>
            <a:r>
              <a:rPr lang="fr-FR" dirty="0" err="1"/>
              <a:t>Tree</a:t>
            </a:r>
            <a:r>
              <a:rPr lang="fr-FR" dirty="0"/>
              <a:t>  =&gt; ..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640C9ED-A8F8-4D23-BF33-5ABE6FF51070}"/>
              </a:ext>
            </a:extLst>
          </p:cNvPr>
          <p:cNvSpPr txBox="1"/>
          <p:nvPr/>
        </p:nvSpPr>
        <p:spPr>
          <a:xfrm>
            <a:off x="1084998" y="2531660"/>
            <a:ext cx="970355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No </a:t>
            </a:r>
            <a:r>
              <a:rPr lang="fr-FR" sz="2800" dirty="0" err="1"/>
              <a:t>PrimaryKey</a:t>
            </a:r>
            <a:r>
              <a:rPr lang="fr-FR" sz="2800" dirty="0"/>
              <a:t>  Index   </a:t>
            </a:r>
            <a:r>
              <a:rPr lang="fr-FR" sz="2800" dirty="0" err="1"/>
              <a:t>constraint</a:t>
            </a:r>
            <a:endParaRPr lang="fr-FR" sz="2800" dirty="0"/>
          </a:p>
          <a:p>
            <a:endParaRPr lang="fr-FR" sz="2800" dirty="0"/>
          </a:p>
          <a:p>
            <a:r>
              <a:rPr lang="fr-FR" sz="2800" dirty="0"/>
              <a:t>No </a:t>
            </a:r>
            <a:r>
              <a:rPr lang="fr-FR" sz="2800" dirty="0" err="1"/>
              <a:t>Unicity</a:t>
            </a:r>
            <a:r>
              <a:rPr lang="fr-FR" sz="2800" dirty="0"/>
              <a:t> </a:t>
            </a:r>
            <a:r>
              <a:rPr lang="fr-FR" sz="2800" dirty="0" err="1"/>
              <a:t>constraint</a:t>
            </a:r>
            <a:endParaRPr lang="fr-FR" sz="2800" dirty="0"/>
          </a:p>
          <a:p>
            <a:endParaRPr lang="fr-FR" sz="2800" dirty="0"/>
          </a:p>
          <a:p>
            <a:r>
              <a:rPr lang="fr-FR" sz="2800" dirty="0"/>
              <a:t>No </a:t>
            </a:r>
            <a:r>
              <a:rPr lang="fr-FR" sz="2800" dirty="0" err="1"/>
              <a:t>Execution</a:t>
            </a:r>
            <a:r>
              <a:rPr lang="fr-FR" sz="2800" dirty="0"/>
              <a:t> Plan </a:t>
            </a:r>
            <a:r>
              <a:rPr lang="fr-FR" sz="2800" dirty="0" err="1"/>
              <a:t>with</a:t>
            </a:r>
            <a:r>
              <a:rPr lang="fr-FR" sz="2800" dirty="0"/>
              <a:t> « Index-</a:t>
            </a:r>
            <a:r>
              <a:rPr lang="fr-FR" sz="2800" dirty="0" err="1"/>
              <a:t>Lookup</a:t>
            </a:r>
            <a:r>
              <a:rPr lang="fr-FR" sz="2800" dirty="0"/>
              <a:t>-by-Key » / « Index-Scan »</a:t>
            </a:r>
          </a:p>
        </p:txBody>
      </p:sp>
    </p:spTree>
    <p:extLst>
      <p:ext uri="{BB962C8B-B14F-4D97-AF65-F5344CB8AC3E}">
        <p14:creationId xmlns:p14="http://schemas.microsoft.com/office/powerpoint/2010/main" val="25858367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6D38A3-4E21-4AA8-BBC8-4D8A94399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 </a:t>
            </a:r>
            <a:r>
              <a:rPr lang="fr-FR" dirty="0" err="1"/>
              <a:t>BigData</a:t>
            </a:r>
            <a:r>
              <a:rPr lang="fr-FR" dirty="0"/>
              <a:t> …  </a:t>
            </a:r>
            <a:r>
              <a:rPr lang="fr-FR" dirty="0" err="1"/>
              <a:t>prefer</a:t>
            </a:r>
            <a:r>
              <a:rPr lang="fr-FR" dirty="0"/>
              <a:t> </a:t>
            </a:r>
            <a:r>
              <a:rPr lang="fr-FR" dirty="0" err="1"/>
              <a:t>Parallelizing</a:t>
            </a:r>
            <a:r>
              <a:rPr lang="fr-FR" dirty="0"/>
              <a:t> Full Scan, </a:t>
            </a:r>
            <a:br>
              <a:rPr lang="fr-FR" dirty="0"/>
            </a:br>
            <a:r>
              <a:rPr lang="fr-FR" dirty="0"/>
              <a:t>or </a:t>
            </a:r>
            <a:r>
              <a:rPr lang="fr-FR" dirty="0" err="1"/>
              <a:t>Parallelizing</a:t>
            </a:r>
            <a:r>
              <a:rPr lang="fr-FR" dirty="0"/>
              <a:t> </a:t>
            </a:r>
            <a:r>
              <a:rPr lang="fr-FR" dirty="0" err="1"/>
              <a:t>Optimized</a:t>
            </a:r>
            <a:r>
              <a:rPr lang="fr-FR" dirty="0"/>
              <a:t>/Partial Scans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922BF93-74CF-4B1D-B4F2-8BA9C99F4986}"/>
              </a:ext>
            </a:extLst>
          </p:cNvPr>
          <p:cNvSpPr txBox="1"/>
          <p:nvPr/>
        </p:nvSpPr>
        <p:spPr>
          <a:xfrm>
            <a:off x="3910084" y="2695433"/>
            <a:ext cx="4838312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Cf Course on  Parquet  </a:t>
            </a:r>
            <a:r>
              <a:rPr lang="fr-FR" sz="2400" dirty="0" err="1"/>
              <a:t>Optimizations</a:t>
            </a:r>
            <a:r>
              <a:rPr lang="fr-FR" sz="2400" dirty="0"/>
              <a:t>:</a:t>
            </a:r>
          </a:p>
          <a:p>
            <a:endParaRPr lang="fr-FR" sz="2400" dirty="0"/>
          </a:p>
          <a:p>
            <a:r>
              <a:rPr lang="fr-FR" sz="2400" dirty="0"/>
              <a:t>1/ Partition </a:t>
            </a:r>
            <a:r>
              <a:rPr lang="fr-FR" sz="2400" dirty="0" err="1"/>
              <a:t>Pruning</a:t>
            </a:r>
            <a:endParaRPr lang="fr-FR" sz="2400" dirty="0"/>
          </a:p>
          <a:p>
            <a:r>
              <a:rPr lang="fr-FR" sz="2400" dirty="0"/>
              <a:t>2/ </a:t>
            </a:r>
            <a:r>
              <a:rPr lang="fr-FR" sz="2400" dirty="0" err="1"/>
              <a:t>Column</a:t>
            </a:r>
            <a:r>
              <a:rPr lang="fr-FR" sz="2400" dirty="0"/>
              <a:t> </a:t>
            </a:r>
            <a:r>
              <a:rPr lang="fr-FR" sz="2400" dirty="0" err="1"/>
              <a:t>Pruning</a:t>
            </a:r>
            <a:endParaRPr lang="fr-FR" sz="2400" dirty="0"/>
          </a:p>
          <a:p>
            <a:r>
              <a:rPr lang="fr-FR" sz="2400" dirty="0"/>
              <a:t>3/ </a:t>
            </a:r>
            <a:r>
              <a:rPr lang="fr-FR" sz="2400" dirty="0" err="1"/>
              <a:t>Predicate</a:t>
            </a:r>
            <a:r>
              <a:rPr lang="fr-FR" sz="2400" dirty="0"/>
              <a:t> Push Down</a:t>
            </a:r>
          </a:p>
          <a:p>
            <a:r>
              <a:rPr lang="fr-FR" sz="2400" dirty="0"/>
              <a:t>4/ </a:t>
            </a:r>
            <a:r>
              <a:rPr lang="fr-FR" sz="2400" dirty="0" err="1"/>
              <a:t>Using</a:t>
            </a:r>
            <a:r>
              <a:rPr lang="fr-FR" sz="2400" dirty="0"/>
              <a:t> </a:t>
            </a:r>
            <a:r>
              <a:rPr lang="fr-FR" sz="2400" dirty="0" err="1"/>
              <a:t>Statistics</a:t>
            </a:r>
            <a:r>
              <a:rPr lang="fr-FR" sz="2400" dirty="0"/>
              <a:t> ..</a:t>
            </a:r>
          </a:p>
          <a:p>
            <a:r>
              <a:rPr lang="fr-FR" sz="2400" dirty="0"/>
              <a:t>5/ </a:t>
            </a:r>
            <a:r>
              <a:rPr lang="fr-FR" sz="2400" dirty="0" err="1"/>
              <a:t>Using</a:t>
            </a:r>
            <a:r>
              <a:rPr lang="fr-FR" sz="2400" dirty="0"/>
              <a:t> Bloom </a:t>
            </a:r>
            <a:r>
              <a:rPr lang="fr-FR" sz="2400" dirty="0" err="1"/>
              <a:t>Filters</a:t>
            </a:r>
            <a:endParaRPr lang="fr-FR" sz="2400" dirty="0"/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1560226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9E073C-F8DF-4826-A693-88CB65069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1138" y="2732088"/>
            <a:ext cx="10515600" cy="1325563"/>
          </a:xfrm>
        </p:spPr>
        <p:txBody>
          <a:bodyPr/>
          <a:lstStyle/>
          <a:p>
            <a:r>
              <a:rPr lang="fr-FR" dirty="0"/>
              <a:t>TODO - WORK IN PROGRESS…</a:t>
            </a:r>
          </a:p>
        </p:txBody>
      </p:sp>
    </p:spTree>
    <p:extLst>
      <p:ext uri="{BB962C8B-B14F-4D97-AF65-F5344CB8AC3E}">
        <p14:creationId xmlns:p14="http://schemas.microsoft.com/office/powerpoint/2010/main" val="386672407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</TotalTime>
  <Words>1395</Words>
  <Application>Microsoft Office PowerPoint</Application>
  <PresentationFormat>Grand écran</PresentationFormat>
  <Paragraphs>210</Paragraphs>
  <Slides>35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40" baseType="lpstr">
      <vt:lpstr>Arial</vt:lpstr>
      <vt:lpstr>Calibri</vt:lpstr>
      <vt:lpstr>Calibri Light</vt:lpstr>
      <vt:lpstr>Symbol</vt:lpstr>
      <vt:lpstr>Thème Office</vt:lpstr>
      <vt:lpstr>Comparisons NoSql Databases vs Standard OLTP Databases</vt:lpstr>
      <vt:lpstr>Overview</vt:lpstr>
      <vt:lpstr> « Si tu as besoin de quelque chose, appelle moi, je te dirais comment t’en passer »   « If you need anything, call me,  I'll tell you how to do without it.  » </vt:lpstr>
      <vt:lpstr>ACID</vt:lpstr>
      <vt:lpstr>ACID,  A = Atomic</vt:lpstr>
      <vt:lpstr>Using « _temporary » dirs</vt:lpstr>
      <vt:lpstr>Hidden files &amp; Dirs:  starting with « _ » or « . »</vt:lpstr>
      <vt:lpstr>Slow Write to Hidden temporary directory… OK then « atomic ?» delete all OLD files + rename all NEW files</vt:lpstr>
      <vt:lpstr>Is It really Atomic ?</vt:lpstr>
      <vt:lpstr>ACID,  C = Consistent</vt:lpstr>
      <vt:lpstr>ACID,  I = Isolated</vt:lpstr>
      <vt:lpstr>Writing Row UPDATE in Standard OLTP  Databases</vt:lpstr>
      <vt:lpstr>In BigData Storage : No « lseek() » + « writeAt() » File !!! (and DataSet are Immutable )</vt:lpstr>
      <vt:lpstr>Notice… It is always possible to readAt() File</vt:lpstr>
      <vt:lpstr>Writer : can only writeAppend  into created temporary « opened-file » THEN Flush</vt:lpstr>
      <vt:lpstr>Reads can be Parallelized/Concurrent  (several Threads)</vt:lpstr>
      <vt:lpstr>Reader can only see Fully « Written+Flushed » Files,  not intermediate write still-in-progress</vt:lpstr>
      <vt:lpstr>See Hadoop FileSystem Read API: FileSystem.open(Path)  -&gt; FSDataInputStream </vt:lpstr>
      <vt:lpstr>FSDataInputStream = InputStream + Seekable</vt:lpstr>
      <vt:lpstr>See Hadoop FileSystem Write API: create()</vt:lpstr>
      <vt:lpstr>See FSDataOutputStream = only write+flush        (and optionnaly « dropBehind() »</vt:lpstr>
      <vt:lpstr>NO  write lseek()  =&gt; NO Hope of « backporting » standard Databases (Postgresql,Redis,…)  to Hadoop !</vt:lpstr>
      <vt:lpstr>Notice… « MMAP » File</vt:lpstr>
      <vt:lpstr>Updades Strategy : Overwrite per Partition(=Dir)</vt:lpstr>
      <vt:lpstr>Iceberg Strategy for Updates … like Git commit-blobs</vt:lpstr>
      <vt:lpstr>Iceberg =&gt;  Allow Read Isolation / Consistency !!</vt:lpstr>
      <vt:lpstr>Iceberg Bonus: Time Travel Queries, Branch, ..</vt:lpstr>
      <vt:lpstr>Iceberg Performance Problems</vt:lpstr>
      <vt:lpstr>B-Tree    … Log(N)  to lookup a Row by ID</vt:lpstr>
      <vt:lpstr>In BigData: No B-Tree files …only PARQUET « Splittable + Columnar » files</vt:lpstr>
      <vt:lpstr>B-TREE  =&gt; efficient  (IF-AND-ONLY-IF  mostly cached in memory)   lookup Row by ID   :  log(N)</vt:lpstr>
      <vt:lpstr>B-TREE :  Efficient to do « Index Range Scan »</vt:lpstr>
      <vt:lpstr>No B-Tree  =&gt; ..</vt:lpstr>
      <vt:lpstr>In BigData …  prefer Parallelizing Full Scan,  or Parallelizing Optimized/Partial Scans</vt:lpstr>
      <vt:lpstr>TODO - WORK IN PROGRESS…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arnaud</dc:creator>
  <cp:lastModifiedBy>arnaud</cp:lastModifiedBy>
  <cp:revision>21</cp:revision>
  <dcterms:created xsi:type="dcterms:W3CDTF">2025-09-24T16:34:58Z</dcterms:created>
  <dcterms:modified xsi:type="dcterms:W3CDTF">2025-10-17T06:15:50Z</dcterms:modified>
</cp:coreProperties>
</file>