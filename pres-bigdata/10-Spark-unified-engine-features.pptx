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Default Extension="bin" ContentType="application/vnd.openxmlformats-officedocument.oleObject"/>
  <Default Extension="wmf" ContentType="image/x-wmf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slide" Target="slides/slide73.xml"/><Relationship Id="rId76" Type="http://schemas.openxmlformats.org/officeDocument/2006/relationships/slide" Target="slides/slide74.xml"/><Relationship Id="rId77" Type="http://schemas.openxmlformats.org/officeDocument/2006/relationships/slide" Target="slides/slide75.xml"/><Relationship Id="rId78" Type="http://schemas.openxmlformats.org/officeDocument/2006/relationships/slide" Target="slides/slide76.xml"/><Relationship Id="rId79" Type="http://schemas.openxmlformats.org/officeDocument/2006/relationships/slide" Target="slides/slide77.xml"/><Relationship Id="rId80" Type="http://schemas.openxmlformats.org/officeDocument/2006/relationships/slide" Target="slides/slide78.xml"/><Relationship Id="rId81" Type="http://schemas.openxmlformats.org/officeDocument/2006/relationships/slide" Target="slides/slide79.xml"/><Relationship Id="rId82" Type="http://schemas.openxmlformats.org/officeDocument/2006/relationships/slide" Target="slides/slide80.xml"/><Relationship Id="rId83" Type="http://schemas.openxmlformats.org/officeDocument/2006/relationships/slide" Target="slides/slide81.xml"/><Relationship Id="rId84" Type="http://schemas.openxmlformats.org/officeDocument/2006/relationships/slide" Target="slides/slide82.xml"/><Relationship Id="rId85" Type="http://schemas.openxmlformats.org/officeDocument/2006/relationships/slide" Target="slides/slide83.xml"/><Relationship Id="rId86" Type="http://schemas.openxmlformats.org/officeDocument/2006/relationships/slide" Target="slides/slide84.xml"/><Relationship Id="rId87" Type="http://schemas.openxmlformats.org/officeDocument/2006/relationships/slide" Target="slides/slide85.xml"/><Relationship Id="rId88" Type="http://schemas.openxmlformats.org/officeDocument/2006/relationships/slide" Target="slides/slide86.xml"/><Relationship Id="rId89" Type="http://schemas.openxmlformats.org/officeDocument/2006/relationships/slide" Target="slides/slide87.xml"/><Relationship Id="rId90" Type="http://schemas.openxmlformats.org/officeDocument/2006/relationships/slide" Target="slides/slide88.xml"/><Relationship Id="rId91" Type="http://schemas.openxmlformats.org/officeDocument/2006/relationships/slide" Target="slides/slide89.xml"/><Relationship Id="rId92" Type="http://schemas.openxmlformats.org/officeDocument/2006/relationships/slide" Target="slides/slide90.xml"/><Relationship Id="rId93" Type="http://schemas.openxmlformats.org/officeDocument/2006/relationships/slide" Target="slides/slide91.xml"/><Relationship Id="rId94" Type="http://schemas.openxmlformats.org/officeDocument/2006/relationships/slide" Target="slides/slide92.xml"/><Relationship Id="rId95" Type="http://schemas.openxmlformats.org/officeDocument/2006/relationships/slide" Target="slides/slide93.xml"/><Relationship Id="rId96" Type="http://schemas.openxmlformats.org/officeDocument/2006/relationships/slide" Target="slides/slide94.xml"/><Relationship Id="rId97" Type="http://schemas.openxmlformats.org/officeDocument/2006/relationships/slide" Target="slides/slide95.xml"/><Relationship Id="rId98" Type="http://schemas.openxmlformats.org/officeDocument/2006/relationships/slide" Target="slides/slide96.xml"/><Relationship Id="rId99" Type="http://schemas.openxmlformats.org/officeDocument/2006/relationships/slide" Target="slides/slide97.xml"/><Relationship Id="rId100" Type="http://schemas.openxmlformats.org/officeDocument/2006/relationships/slide" Target="slides/slide98.xml"/><Relationship Id="rId101" Type="http://schemas.openxmlformats.org/officeDocument/2006/relationships/slide" Target="slides/slide99.xml"/><Relationship Id="rId102" Type="http://schemas.openxmlformats.org/officeDocument/2006/relationships/slide" Target="slides/slide100.xml"/><Relationship Id="rId103" Type="http://schemas.openxmlformats.org/officeDocument/2006/relationships/slide" Target="slides/slide101.xml"/><Relationship Id="rId104" Type="http://schemas.openxmlformats.org/officeDocument/2006/relationships/theme" Target="theme/theme1.xml"/><Relationship Id="rId105" Type="http://schemas.openxmlformats.org/officeDocument/2006/relationships/presProps" Target="presProps.xml"/><Relationship Id="rId106" Type="http://schemas.openxmlformats.org/officeDocument/2006/relationships/viewProps" Target="viewProps.xml"/><Relationship Id="rId10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fr-FR"/>
              <a:t>20/11/2025</a:t>
            </a:fld>
            <a:endParaRPr lang="fr-FR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fr-FR"/>
              <a:t>20/11/2025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fr-FR"/>
              <a:t>20/11/2025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fr-FR"/>
              <a:t>20/11/2025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fr-FR"/>
              <a:t>20/11/2025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fr-FR"/>
              <a:t>20/11/2025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fr-FR"/>
              <a:t>20/11/2025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fr-FR"/>
              <a:t>20/11/2025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1.jpeg"/><Relationship Id="rId4" Type="http://schemas.openxmlformats.org/officeDocument/2006/relationships/image" Target="../media/image2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.jpeg"/><Relationship Id="rId4" Type="http://schemas.openxmlformats.org/officeDocument/2006/relationships/image" Target="../media/image7.jpe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8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eg"/><Relationship Id="rId3" Type="http://schemas.openxmlformats.org/officeDocument/2006/relationships/image" Target="../media/image1.jpeg"/><Relationship Id="rId4" Type="http://schemas.openxmlformats.org/officeDocument/2006/relationships/oleObject" Target="../media/media1.bin"/><Relationship Id="rId5" Type="http://schemas.openxmlformats.org/officeDocument/2006/relationships/image" Target="../media/image10.wmf"/><Relationship Id="rId6" Type="http://schemas.openxmlformats.org/officeDocument/2006/relationships/image" Target="../media/image3.jpe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oleObject" Target="../media/media2.bin"/><Relationship Id="rId4" Type="http://schemas.openxmlformats.org/officeDocument/2006/relationships/image" Target="../media/image12.wmf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jpeg"/><Relationship Id="rId4" Type="http://schemas.openxmlformats.org/officeDocument/2006/relationships/image" Target="../media/image15.jpe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e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jpe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Relationship Id="rId4" Type="http://schemas.openxmlformats.org/officeDocument/2006/relationships/image" Target="../media/image15.jpeg"/><Relationship Id="rId5" Type="http://schemas.openxmlformats.org/officeDocument/2006/relationships/image" Target="../media/image20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5.jpe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7.png"/><Relationship Id="rId4" Type="http://schemas.openxmlformats.org/officeDocument/2006/relationships/image" Target="../media/image28.jpeg"/><Relationship Id="rId5" Type="http://schemas.openxmlformats.org/officeDocument/2006/relationships/image" Target="../media/image29.png"/><Relationship Id="rId6" Type="http://schemas.openxmlformats.org/officeDocument/2006/relationships/image" Target="../media/image5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21.png"/><Relationship Id="rId4" Type="http://schemas.openxmlformats.org/officeDocument/2006/relationships/image" Target="../media/image31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32.png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png"/><Relationship Id="rId7" Type="http://schemas.openxmlformats.org/officeDocument/2006/relationships/image" Target="../media/image36.jpe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5.png"/><Relationship Id="rId12" Type="http://schemas.openxmlformats.org/officeDocument/2006/relationships/image" Target="../media/image16.png"/><Relationship Id="rId13" Type="http://schemas.openxmlformats.org/officeDocument/2006/relationships/image" Target="../media/image21.png"/><Relationship Id="rId14" Type="http://schemas.openxmlformats.org/officeDocument/2006/relationships/image" Target="../media/image31.png"/><Relationship Id="rId15" Type="http://schemas.openxmlformats.org/officeDocument/2006/relationships/image" Target="../media/image40.png"/><Relationship Id="rId16" Type="http://schemas.openxmlformats.org/officeDocument/2006/relationships/image" Target="../media/image20.png"/><Relationship Id="rId17" Type="http://schemas.openxmlformats.org/officeDocument/2006/relationships/image" Target="../media/image23.png"/><Relationship Id="rId18" Type="http://schemas.openxmlformats.org/officeDocument/2006/relationships/image" Target="../media/image27.png"/><Relationship Id="rId19" Type="http://schemas.openxmlformats.org/officeDocument/2006/relationships/image" Target="../media/image28.jpe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oleObject" Target="../media/media4.bin"/><Relationship Id="rId5" Type="http://schemas.openxmlformats.org/officeDocument/2006/relationships/image" Target="../media/image42.wmf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4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oleObject" Target="../media/media2.bin"/><Relationship Id="rId5" Type="http://schemas.openxmlformats.org/officeDocument/2006/relationships/image" Target="../media/image12.wmf"/><Relationship Id="rId6" Type="http://schemas.openxmlformats.org/officeDocument/2006/relationships/image" Target="../media/image3.jpe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image" Target="../media/image1.jpeg"/><Relationship Id="rId5" Type="http://schemas.openxmlformats.org/officeDocument/2006/relationships/image" Target="../media/image3.jpeg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oleObject" Target="../media/media2.bin"/><Relationship Id="rId5" Type="http://schemas.openxmlformats.org/officeDocument/2006/relationships/image" Target="../media/image12.wmf"/><Relationship Id="rId6" Type="http://schemas.openxmlformats.org/officeDocument/2006/relationships/image" Target="../media/image3.jpeg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oleObject" Target="../media/media3.bin"/><Relationship Id="rId4" Type="http://schemas.openxmlformats.org/officeDocument/2006/relationships/image" Target="../media/image41.wmf"/><Relationship Id="rId5" Type="http://schemas.openxmlformats.org/officeDocument/2006/relationships/oleObject" Target="../media/media2.bin"/><Relationship Id="rId6" Type="http://schemas.openxmlformats.org/officeDocument/2006/relationships/image" Target="../media/image12.wmf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oleObject" Target="../media/media2.bin"/><Relationship Id="rId5" Type="http://schemas.openxmlformats.org/officeDocument/2006/relationships/image" Target="../media/image12.wmf"/><Relationship Id="rId6" Type="http://schemas.openxmlformats.org/officeDocument/2006/relationships/image" Target="../media/image3.jpeg"/><Relationship Id="rId7" Type="http://schemas.openxmlformats.org/officeDocument/2006/relationships/image" Target="../media/image8.png"/><Relationship Id="rId8" Type="http://schemas.openxmlformats.org/officeDocument/2006/relationships/image" Target="../media/image45.jpeg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oleObject" Target="../media/media2.bin"/><Relationship Id="rId5" Type="http://schemas.openxmlformats.org/officeDocument/2006/relationships/image" Target="../media/image12.wmf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oleObject" Target="../media/media3.bin"/><Relationship Id="rId4" Type="http://schemas.openxmlformats.org/officeDocument/2006/relationships/image" Target="../media/image41.wmf"/><Relationship Id="rId5" Type="http://schemas.openxmlformats.org/officeDocument/2006/relationships/oleObject" Target="../media/media2.bin"/><Relationship Id="rId6" Type="http://schemas.openxmlformats.org/officeDocument/2006/relationships/image" Target="../media/image12.wmf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oleObject" Target="../media/media3.bin"/><Relationship Id="rId4" Type="http://schemas.openxmlformats.org/officeDocument/2006/relationships/image" Target="../media/image41.wmf"/><Relationship Id="rId5" Type="http://schemas.openxmlformats.org/officeDocument/2006/relationships/oleObject" Target="../media/media2.bin"/><Relationship Id="rId6" Type="http://schemas.openxmlformats.org/officeDocument/2006/relationships/image" Target="../media/image12.wmf"/><Relationship Id="rId7" Type="http://schemas.openxmlformats.org/officeDocument/2006/relationships/oleObject" Target="../media/media4.bin"/><Relationship Id="rId8" Type="http://schemas.openxmlformats.org/officeDocument/2006/relationships/image" Target="../media/image42.wmf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oleObject" Target="../media/media3.bin"/><Relationship Id="rId4" Type="http://schemas.openxmlformats.org/officeDocument/2006/relationships/image" Target="../media/image41.wmf"/><Relationship Id="rId5" Type="http://schemas.openxmlformats.org/officeDocument/2006/relationships/oleObject" Target="../media/media2.bin"/><Relationship Id="rId6" Type="http://schemas.openxmlformats.org/officeDocument/2006/relationships/image" Target="../media/image12.wmf"/><Relationship Id="rId7" Type="http://schemas.openxmlformats.org/officeDocument/2006/relationships/oleObject" Target="../media/media4.bin"/><Relationship Id="rId8" Type="http://schemas.openxmlformats.org/officeDocument/2006/relationships/image" Target="../media/image42.wmf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2.bin"/><Relationship Id="rId3" Type="http://schemas.openxmlformats.org/officeDocument/2006/relationships/image" Target="../media/image12.wmf"/><Relationship Id="rId4" Type="http://schemas.openxmlformats.org/officeDocument/2006/relationships/oleObject" Target="../media/media4.bin"/><Relationship Id="rId5" Type="http://schemas.openxmlformats.org/officeDocument/2006/relationships/image" Target="../media/image42.wmf"/><Relationship Id="rId6" Type="http://schemas.openxmlformats.org/officeDocument/2006/relationships/image" Target="../media/image11.png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png"/></Relationships>
</file>

<file path=ppt/slides/_rels/slide7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.png"/></Relationships>
</file>

<file path=ppt/slides/_rels/slide7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8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8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/Relationships>
</file>

<file path=ppt/slides/_rels/slide8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/Relationships>
</file>

<file path=ppt/slides/_rels/slide8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/Relationships>
</file>

<file path=ppt/slides/_rels/slide9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/Relationships>
</file>

<file path=ppt/slides/_rels/slide9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oleObject" Target="../media/media3.bin"/><Relationship Id="rId3" Type="http://schemas.openxmlformats.org/officeDocument/2006/relationships/image" Target="../media/image41.wmf"/><Relationship Id="rId4" Type="http://schemas.openxmlformats.org/officeDocument/2006/relationships/image" Target="../media/image8.png"/><Relationship Id="rId5" Type="http://schemas.openxmlformats.org/officeDocument/2006/relationships/image" Target="../media/image3.jpeg"/></Relationships>
</file>

<file path=ppt/slides/_rels/slide9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9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9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33.jpeg"/><Relationship Id="rId6" Type="http://schemas.openxmlformats.org/officeDocument/2006/relationships/image" Target="../media/image34.jpeg"/><Relationship Id="rId7" Type="http://schemas.openxmlformats.org/officeDocument/2006/relationships/image" Target="../media/image35.png"/><Relationship Id="rId8" Type="http://schemas.openxmlformats.org/officeDocument/2006/relationships/image" Target="../media/image36.jpe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5.png"/><Relationship Id="rId12" Type="http://schemas.openxmlformats.org/officeDocument/2006/relationships/image" Target="../media/image16.png"/><Relationship Id="rId13" Type="http://schemas.openxmlformats.org/officeDocument/2006/relationships/image" Target="../media/image21.png"/><Relationship Id="rId14" Type="http://schemas.openxmlformats.org/officeDocument/2006/relationships/image" Target="../media/image31.png"/><Relationship Id="rId15" Type="http://schemas.openxmlformats.org/officeDocument/2006/relationships/image" Target="../media/image40.png"/><Relationship Id="rId16" Type="http://schemas.openxmlformats.org/officeDocument/2006/relationships/image" Target="../media/image20.png"/><Relationship Id="rId17" Type="http://schemas.openxmlformats.org/officeDocument/2006/relationships/image" Target="../media/image23.png"/><Relationship Id="rId18" Type="http://schemas.openxmlformats.org/officeDocument/2006/relationships/image" Target="../media/image27.png"/><Relationship Id="rId19" Type="http://schemas.openxmlformats.org/officeDocument/2006/relationships/image" Target="../media/image28.jpe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3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1490" y="0"/>
            <a:ext cx="11567160" cy="2234564"/>
          </a:xfrm>
          <a:prstGeom prst="rect">
            <a:avLst/>
          </a:prstGeom>
        </p:spPr>
        <p:txBody>
          <a:bodyPr/>
          <a:lstStyle/>
          <a:p>
            <a:r>
              <a:rPr lang="fr-FR"/>
              <a:t>Spark </a:t>
            </a:r>
            <a:r>
              <a:rPr lang="fr-FR"/>
              <a:t>Unified</a:t>
            </a:r>
            <a:r>
              <a:rPr lang="fr-FR"/>
              <a:t> Engine </a:t>
            </a:r>
            <a:r>
              <a:rPr lang="fr-FR"/>
              <a:t>Features</a:t>
            </a:r>
            <a:br>
              <a:rPr lang="fr-FR"/>
            </a:br>
            <a:r>
              <a:rPr lang="fr-FR"/>
              <a:t> (</a:t>
            </a:r>
            <a:r>
              <a:rPr lang="fr-FR"/>
              <a:t>Sql</a:t>
            </a:r>
            <a:r>
              <a:rPr lang="fr-FR"/>
              <a:t>, </a:t>
            </a:r>
            <a:r>
              <a:rPr lang="fr-FR"/>
              <a:t>Dataset</a:t>
            </a:r>
            <a:r>
              <a:rPr lang="fr-FR"/>
              <a:t> &amp; Api)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4761" y="3973513"/>
            <a:ext cx="10375361" cy="246729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fr-FR"/>
              <a:t>arnaud.nauwynck@gmail.com</a:t>
            </a:r>
          </a:p>
          <a:p>
            <a:r>
              <a:rPr lang="fr-FR"/>
              <a:t>Course Esilv 2026</a:t>
            </a:r>
          </a:p>
          <a:p>
            <a:endParaRPr lang="fr-FR"/>
          </a:p>
          <a:p>
            <a:r>
              <a:rPr lang="fr-FR"/>
              <a:t>This document:</a:t>
            </a:r>
          </a:p>
          <a:p>
            <a:r>
              <a:rPr lang="fr-FR" sz="2400"/>
              <a:t>https://github.com/Arnaud-Nauwynck/presentations/</a:t>
            </a:r>
            <a:br>
              <a:rPr lang="fr-FR" sz="2400"/>
            </a:br>
            <a:r>
              <a:rPr lang="fr-FR" sz="2400"/>
              <a:t> /</a:t>
            </a:r>
            <a:r>
              <a:rPr lang="fr-FR" sz="2400"/>
              <a:t>pres-bigdata</a:t>
            </a:r>
            <a:r>
              <a:rPr lang="fr-FR" sz="2400"/>
              <a:t>/10-Spark-unified-engine-features</a:t>
            </a:r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712918" y="2212704"/>
            <a:ext cx="531587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 RAW to LAKE transformations</a:t>
            </a:r>
          </a:p>
          <a:p>
            <a:endParaRPr lang="fr-FR" sz="2400"/>
          </a:p>
          <a:p>
            <a:r>
              <a:rPr lang="fr-FR" sz="2400"/>
              <a:t>Explanation</a:t>
            </a:r>
            <a:r>
              <a:rPr lang="fr-FR" sz="2400"/>
              <a:t> </a:t>
            </a:r>
            <a:r>
              <a:rPr lang="fr-FR" sz="2400"/>
              <a:t>step</a:t>
            </a:r>
            <a:r>
              <a:rPr lang="fr-FR" sz="2400"/>
              <a:t>-by-</a:t>
            </a:r>
            <a:r>
              <a:rPr lang="fr-FR" sz="2400"/>
              <a:t>step</a:t>
            </a:r>
            <a:endParaRPr lang="fr-FR" sz="2400"/>
          </a:p>
          <a:p>
            <a:endParaRPr lang="fr-FR" sz="2400"/>
          </a:p>
          <a:p>
            <a:r>
              <a:rPr lang="fr-FR" sz="2400"/>
              <a:t>Interaction Files &lt;-&gt; </a:t>
            </a:r>
            <a:r>
              <a:rPr lang="fr-FR" sz="2400"/>
              <a:t>Sql</a:t>
            </a:r>
            <a:r>
              <a:rPr lang="fr-FR" sz="2400"/>
              <a:t> &lt;-&gt; Java </a:t>
            </a:r>
            <a:r>
              <a:rPr lang="fr-FR" sz="2400"/>
              <a:t>DataSets</a:t>
            </a:r>
            <a:endParaRPr lang="fr-FR" sz="2400"/>
          </a:p>
          <a:p>
            <a:endParaRPr lang="fr-FR" sz="2400"/>
          </a:p>
          <a:p>
            <a:r>
              <a:rPr lang="fr-FR" sz="2400"/>
              <a:t>Dataset</a:t>
            </a:r>
            <a:endParaRPr lang="fr-FR" sz="2400"/>
          </a:p>
          <a:p>
            <a:endParaRPr lang="fr-FR" sz="2400"/>
          </a:p>
          <a:p>
            <a:r>
              <a:rPr lang="fr-FR" sz="2400"/>
              <a:t>Parallel</a:t>
            </a:r>
            <a:r>
              <a:rPr lang="fr-FR" sz="2400"/>
              <a:t>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Reminder</a:t>
            </a:r>
            <a:r>
              <a:rPr lang="fr-FR"/>
              <a:t>: Spark RAW to LAKE </a:t>
            </a:r>
            <a:r>
              <a:rPr lang="fr-FR"/>
              <a:t>samples</a:t>
            </a:r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2333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Typical</a:t>
            </a:r>
            <a:r>
              <a:rPr lang="fr-FR"/>
              <a:t> Usage: process RAW to LAKE</a:t>
            </a:r>
          </a:p>
        </p:txBody>
      </p:sp>
      <p:sp>
        <p:nvSpPr>
          <p:cNvPr id="4" name="Cylinder 3"/>
          <p:cNvSpPr/>
          <p:nvPr/>
        </p:nvSpPr>
        <p:spPr>
          <a:xfrm>
            <a:off x="2526030" y="2609215"/>
            <a:ext cx="1082040" cy="11633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2322830" y="1685885"/>
            <a:ext cx="34137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/RAW</a:t>
            </a:r>
          </a:p>
          <a:p>
            <a:r>
              <a:rPr lang="fr-FR"/>
              <a:t>   /table/partition</a:t>
            </a:r>
          </a:p>
          <a:p>
            <a:r>
              <a:rPr lang="fr-FR"/>
              <a:t>              / file{1,2,3,4*}.</a:t>
            </a:r>
            <a:r>
              <a:rPr lang="fr-FR"/>
              <a:t>avro</a:t>
            </a:r>
            <a:endParaRPr lang="fr-FR"/>
          </a:p>
        </p:txBody>
      </p:sp>
      <p:sp>
        <p:nvSpPr>
          <p:cNvPr id="6" name="Arrow: Right 5"/>
          <p:cNvSpPr/>
          <p:nvPr/>
        </p:nvSpPr>
        <p:spPr>
          <a:xfrm>
            <a:off x="4177030" y="3000375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5218430" y="2873374"/>
            <a:ext cx="1391920" cy="7518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>
            <a:off x="7240270" y="3000375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/>
          <p:cNvSpPr/>
          <p:nvPr/>
        </p:nvSpPr>
        <p:spPr>
          <a:xfrm>
            <a:off x="8423910" y="2609215"/>
            <a:ext cx="1082040" cy="11633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8220710" y="1685885"/>
            <a:ext cx="25704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/LAKE</a:t>
            </a:r>
          </a:p>
          <a:p>
            <a:r>
              <a:rPr lang="fr-FR"/>
              <a:t>   /table/partition</a:t>
            </a:r>
          </a:p>
          <a:p>
            <a:r>
              <a:rPr lang="fr-FR"/>
              <a:t>              / </a:t>
            </a:r>
            <a:r>
              <a:rPr lang="fr-FR"/>
              <a:t>file.parquet</a:t>
            </a:r>
            <a:endParaRPr lang="fr-FR"/>
          </a:p>
        </p:txBody>
      </p:sp>
      <p:sp>
        <p:nvSpPr>
          <p:cNvPr id="11" name="Cylinder 10"/>
          <p:cNvSpPr/>
          <p:nvPr/>
        </p:nvSpPr>
        <p:spPr>
          <a:xfrm>
            <a:off x="8423910" y="4834255"/>
            <a:ext cx="1082040" cy="11633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8144510" y="3982045"/>
            <a:ext cx="3632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/LAKE</a:t>
            </a:r>
          </a:p>
          <a:p>
            <a:r>
              <a:rPr lang="fr-FR"/>
              <a:t>   /</a:t>
            </a:r>
            <a:r>
              <a:rPr lang="fr-FR"/>
              <a:t>denorm</a:t>
            </a:r>
            <a:r>
              <a:rPr lang="fr-FR"/>
              <a:t>-table/</a:t>
            </a:r>
            <a:r>
              <a:rPr lang="fr-FR"/>
              <a:t>another</a:t>
            </a:r>
            <a:r>
              <a:rPr lang="fr-FR"/>
              <a:t>-partition</a:t>
            </a:r>
          </a:p>
          <a:p>
            <a:r>
              <a:rPr lang="fr-FR"/>
              <a:t>              / </a:t>
            </a:r>
            <a:r>
              <a:rPr lang="fr-FR"/>
              <a:t>file.parquet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4602814" y="3704707"/>
            <a:ext cx="2826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daily</a:t>
            </a:r>
            <a:r>
              <a:rPr lang="fr-FR"/>
              <a:t> job RAW to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7040" y="4923038"/>
            <a:ext cx="565154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spark.</a:t>
            </a:r>
            <a:r>
              <a:rPr lang="fr-FR" b="1"/>
              <a:t>sql</a:t>
            </a:r>
            <a:r>
              <a:rPr lang="fr-FR"/>
              <a:t>(« select * </a:t>
            </a:r>
            <a:r>
              <a:rPr lang="fr-FR"/>
              <a:t>from</a:t>
            </a:r>
            <a:r>
              <a:rPr lang="fr-FR"/>
              <a:t> </a:t>
            </a:r>
            <a:r>
              <a:rPr lang="fr-FR"/>
              <a:t>raw_table</a:t>
            </a:r>
            <a:r>
              <a:rPr lang="fr-FR"/>
              <a:t> </a:t>
            </a:r>
            <a:r>
              <a:rPr lang="fr-FR"/>
              <a:t>where</a:t>
            </a:r>
            <a:r>
              <a:rPr lang="fr-FR"/>
              <a:t> </a:t>
            </a:r>
            <a:r>
              <a:rPr lang="fr-FR"/>
              <a:t>day</a:t>
            </a:r>
            <a:r>
              <a:rPr lang="fr-FR"/>
              <a:t>=…  </a:t>
            </a:r>
            <a:r>
              <a:rPr lang="fr-FR"/>
              <a:t>join</a:t>
            </a:r>
            <a:r>
              <a:rPr lang="fr-FR"/>
              <a:t> .. »)</a:t>
            </a:r>
            <a:br>
              <a:rPr lang="fr-FR"/>
            </a:br>
            <a:r>
              <a:rPr lang="fr-FR"/>
              <a:t>    .</a:t>
            </a:r>
            <a:r>
              <a:rPr lang="fr-FR" b="1"/>
              <a:t>map</a:t>
            </a:r>
            <a:r>
              <a:rPr lang="fr-FR"/>
              <a:t>(</a:t>
            </a:r>
            <a:r>
              <a:rPr lang="fr-FR"/>
              <a:t>row</a:t>
            </a:r>
            <a:r>
              <a:rPr lang="fr-FR"/>
              <a:t> =&gt; …)</a:t>
            </a:r>
            <a:br>
              <a:rPr lang="fr-FR"/>
            </a:br>
            <a:r>
              <a:rPr lang="fr-FR"/>
              <a:t>    .</a:t>
            </a:r>
            <a:r>
              <a:rPr lang="fr-FR"/>
              <a:t>orderBy</a:t>
            </a:r>
            <a:r>
              <a:rPr lang="fr-FR"/>
              <a:t>(« .. »)</a:t>
            </a:r>
            <a:br>
              <a:rPr lang="fr-FR"/>
            </a:br>
            <a:r>
              <a:rPr lang="fr-FR"/>
              <a:t>    .</a:t>
            </a:r>
            <a:r>
              <a:rPr lang="fr-FR" b="1"/>
              <a:t>write</a:t>
            </a:r>
            <a:r>
              <a:rPr lang="fr-FR"/>
              <a:t>.mode</a:t>
            </a:r>
            <a:r>
              <a:rPr lang="fr-FR"/>
              <a:t>(</a:t>
            </a:r>
            <a:r>
              <a:rPr lang="fr-FR"/>
              <a:t>SaveMode.Overwrite</a:t>
            </a:r>
            <a:r>
              <a:rPr lang="fr-FR"/>
              <a:t>)</a:t>
            </a:r>
            <a:br>
              <a:rPr lang="fr-FR"/>
            </a:br>
            <a:r>
              <a:rPr lang="fr-FR"/>
              <a:t>    .</a:t>
            </a:r>
            <a:r>
              <a:rPr lang="fr-FR"/>
              <a:t>sortWithinPartitions</a:t>
            </a:r>
            <a:r>
              <a:rPr lang="fr-FR"/>
              <a:t>(« .. »)</a:t>
            </a:r>
          </a:p>
          <a:p>
            <a:r>
              <a:rPr lang="fr-FR"/>
              <a:t>    .format(« </a:t>
            </a:r>
            <a:r>
              <a:rPr lang="fr-FR"/>
              <a:t>hive</a:t>
            </a:r>
            <a:r>
              <a:rPr lang="fr-FR"/>
              <a:t> »).</a:t>
            </a:r>
            <a:r>
              <a:rPr lang="fr-FR" b="1"/>
              <a:t>insertInto</a:t>
            </a:r>
            <a:r>
              <a:rPr lang="fr-FR"/>
              <a:t>(« </a:t>
            </a:r>
            <a:r>
              <a:rPr lang="fr-FR"/>
              <a:t>lake_table</a:t>
            </a:r>
            <a:r>
              <a:rPr lang="fr-FR"/>
              <a:t> »);</a:t>
            </a:r>
          </a:p>
        </p:txBody>
      </p:sp>
      <p:sp>
        <p:nvSpPr>
          <p:cNvPr id="15" name="Arrow: Right 14"/>
          <p:cNvSpPr/>
          <p:nvPr/>
        </p:nvSpPr>
        <p:spPr>
          <a:xfrm rot="2558443">
            <a:off x="7197098" y="3509126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4298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Typical</a:t>
            </a:r>
            <a:r>
              <a:rPr lang="fr-FR"/>
              <a:t> RAW to LAKE</a:t>
            </a:r>
            <a:br>
              <a:rPr lang="fr-FR"/>
            </a:br>
            <a:r>
              <a:rPr lang="fr-FR"/>
              <a:t>as Spark Java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8493" y="1456758"/>
            <a:ext cx="8696611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spark.read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.format(« csv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.option(«</a:t>
            </a:r>
            <a:r>
              <a:rPr lang="fr-FR" sz="2400">
                <a:latin typeface="Arial"/>
                <a:cs typeface="Arial"/>
              </a:rPr>
              <a:t>schema</a:t>
            </a:r>
            <a:r>
              <a:rPr lang="fr-FR" sz="2400">
                <a:latin typeface="Arial"/>
                <a:cs typeface="Arial"/>
              </a:rPr>
              <a:t> », « col1 type1, … </a:t>
            </a:r>
            <a:r>
              <a:rPr lang="fr-FR" sz="2400">
                <a:latin typeface="Arial"/>
                <a:cs typeface="Arial"/>
              </a:rPr>
              <a:t>colN</a:t>
            </a:r>
            <a:r>
              <a:rPr lang="fr-FR" sz="2400">
                <a:latin typeface="Arial"/>
                <a:cs typeface="Arial"/>
              </a:rPr>
              <a:t> </a:t>
            </a:r>
            <a:r>
              <a:rPr lang="fr-FR" sz="2400">
                <a:latin typeface="Arial"/>
                <a:cs typeface="Arial"/>
              </a:rPr>
              <a:t>typeN</a:t>
            </a:r>
            <a:r>
              <a:rPr lang="fr-FR" sz="2400">
                <a:latin typeface="Arial"/>
                <a:cs typeface="Arial"/>
              </a:rPr>
              <a:t>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</a:t>
            </a:r>
            <a:r>
              <a:rPr lang="fr-FR" sz="2400">
                <a:latin typeface="Arial"/>
                <a:cs typeface="Arial"/>
              </a:rPr>
              <a:t>load</a:t>
            </a:r>
            <a:r>
              <a:rPr lang="fr-FR" sz="2400">
                <a:latin typeface="Arial"/>
                <a:cs typeface="Arial"/>
              </a:rPr>
              <a:t>(« hdfs://raw/team/domain/table/date=2022-10-12 »)</a:t>
            </a:r>
            <a:br>
              <a:rPr lang="fr-FR" sz="2400">
                <a:latin typeface="Arial"/>
                <a:cs typeface="Arial"/>
              </a:rPr>
            </a:b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   .as(Encoder.bean(Bean.Class))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map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 -&gt;  </a:t>
            </a:r>
            <a:r>
              <a:rPr lang="fr-FR" sz="2400">
                <a:latin typeface="Arial"/>
                <a:cs typeface="Arial"/>
              </a:rPr>
              <a:t>transformBean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) )</a:t>
            </a:r>
          </a:p>
          <a:p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toDF</a:t>
            </a:r>
            <a:r>
              <a:rPr lang="fr-FR" sz="2400">
                <a:latin typeface="Arial"/>
                <a:cs typeface="Arial"/>
              </a:rPr>
              <a:t>()</a:t>
            </a:r>
            <a:br>
              <a:rPr lang="fr-FR" sz="2400">
                <a:latin typeface="Arial"/>
                <a:cs typeface="Arial"/>
              </a:rPr>
            </a:b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repartition</a:t>
            </a:r>
            <a:r>
              <a:rPr lang="fr-FR" sz="2400">
                <a:latin typeface="Arial"/>
                <a:cs typeface="Arial"/>
              </a:rPr>
              <a:t>(2, « col1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sortWithinPartitions</a:t>
            </a:r>
            <a:r>
              <a:rPr lang="fr-FR" sz="2400">
                <a:latin typeface="Arial"/>
                <a:cs typeface="Arial"/>
              </a:rPr>
              <a:t>(« col1, col2, col3 »)</a:t>
            </a:r>
          </a:p>
          <a:p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write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.format(« parquet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save</a:t>
            </a:r>
            <a:r>
              <a:rPr lang="fr-FR" sz="2400">
                <a:latin typeface="Arial"/>
                <a:cs typeface="Arial"/>
              </a:rPr>
              <a:t>(« hdfs://lake/team/domain/table/date=2022-10-22 »);</a:t>
            </a:r>
          </a:p>
        </p:txBody>
      </p:sp>
      <p:sp>
        <p:nvSpPr>
          <p:cNvPr id="5" name="Left Brace 4"/>
          <p:cNvSpPr/>
          <p:nvPr/>
        </p:nvSpPr>
        <p:spPr>
          <a:xfrm>
            <a:off x="1730439" y="1663767"/>
            <a:ext cx="372140" cy="13255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/>
          <p:cNvSpPr/>
          <p:nvPr/>
        </p:nvSpPr>
        <p:spPr>
          <a:xfrm>
            <a:off x="1730439" y="3494810"/>
            <a:ext cx="372140" cy="830358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/>
          <p:cNvSpPr/>
          <p:nvPr/>
        </p:nvSpPr>
        <p:spPr>
          <a:xfrm>
            <a:off x="1730439" y="4959076"/>
            <a:ext cx="372140" cy="152250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27809" y="2151789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389465" y="3583100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1" name="TextBox 10"/>
          <p:cNvSpPr txBox="1"/>
          <p:nvPr/>
        </p:nvSpPr>
        <p:spPr>
          <a:xfrm>
            <a:off x="389465" y="5214466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Typical</a:t>
            </a:r>
            <a:r>
              <a:rPr lang="fr-FR"/>
              <a:t> RAW to LAKE </a:t>
            </a:r>
            <a:r>
              <a:rPr lang="fr-FR"/>
              <a:t>processing</a:t>
            </a:r>
            <a:r>
              <a:rPr lang="fr-FR"/>
              <a:t> </a:t>
            </a:r>
            <a:r>
              <a:rPr lang="fr-FR"/>
              <a:t>with</a:t>
            </a:r>
            <a:r>
              <a:rPr lang="fr-FR"/>
              <a:t> Spark</a:t>
            </a:r>
            <a:br>
              <a:rPr lang="fr-FR"/>
            </a:br>
            <a:r>
              <a:rPr lang="fr-FR"/>
              <a:t>as SQL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7763" y="1759689"/>
            <a:ext cx="820198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INSERT OVERWRITE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lake_team_domain.table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SELECT /* +REPARTITION(col1, 2) */</a:t>
            </a:r>
          </a:p>
          <a:p>
            <a:r>
              <a:rPr lang="fr-FR" sz="2400">
                <a:latin typeface="Arial"/>
                <a:cs typeface="Arial"/>
              </a:rPr>
              <a:t>    col1, col2, </a:t>
            </a:r>
          </a:p>
          <a:p>
            <a:r>
              <a:rPr lang="fr-FR" sz="2400">
                <a:latin typeface="Arial"/>
                <a:cs typeface="Arial"/>
              </a:rPr>
              <a:t>    udf_func1(col3, col4)  as col3,</a:t>
            </a:r>
          </a:p>
          <a:p>
            <a:r>
              <a:rPr lang="fr-FR" sz="2400">
                <a:latin typeface="Arial"/>
                <a:cs typeface="Arial"/>
              </a:rPr>
              <a:t>    udf_func2(col4, col5)  as col4,    </a:t>
            </a:r>
          </a:p>
          <a:p>
            <a:r>
              <a:rPr lang="fr-FR" sz="2400">
                <a:latin typeface="Arial"/>
                <a:cs typeface="Arial"/>
              </a:rPr>
              <a:t>    ..</a:t>
            </a:r>
          </a:p>
          <a:p>
            <a:r>
              <a:rPr lang="fr-FR" sz="2400">
                <a:latin typeface="Arial"/>
                <a:cs typeface="Arial"/>
              </a:rPr>
              <a:t>FROM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raw_team_domain.table</a:t>
            </a: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JOIN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lake_anotherTeam_domain.anotherTable</a:t>
            </a:r>
            <a:r>
              <a:rPr lang="fr-FR" sz="2400">
                <a:latin typeface="Arial"/>
                <a:cs typeface="Arial"/>
              </a:rPr>
              <a:t> x ON x.ID=id</a:t>
            </a:r>
          </a:p>
          <a:p>
            <a:r>
              <a:rPr lang="fr-FR" sz="2400">
                <a:latin typeface="Arial"/>
                <a:cs typeface="Arial"/>
              </a:rPr>
              <a:t>WHERE date='2022-10-22' AND ..</a:t>
            </a:r>
          </a:p>
          <a:p>
            <a:r>
              <a:rPr lang="fr-FR" sz="2400">
                <a:latin typeface="Arial"/>
                <a:cs typeface="Arial"/>
              </a:rPr>
              <a:t>SORT BY col1, col2, col3     -- idem </a:t>
            </a:r>
            <a:r>
              <a:rPr lang="fr-FR" sz="2400">
                <a:latin typeface="Arial"/>
                <a:cs typeface="Arial"/>
              </a:rPr>
              <a:t>sortWithinPartitions</a:t>
            </a:r>
            <a:endParaRPr lang="fr-FR" sz="2400">
              <a:latin typeface="Arial"/>
              <a:cs typeface="Arial"/>
            </a:endParaRPr>
          </a:p>
        </p:txBody>
      </p:sp>
      <p:sp>
        <p:nvSpPr>
          <p:cNvPr id="5" name="Left Brace 4"/>
          <p:cNvSpPr/>
          <p:nvPr/>
        </p:nvSpPr>
        <p:spPr>
          <a:xfrm>
            <a:off x="1730439" y="1871330"/>
            <a:ext cx="372140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/>
          <p:cNvSpPr/>
          <p:nvPr/>
        </p:nvSpPr>
        <p:spPr>
          <a:xfrm>
            <a:off x="1730439" y="3391787"/>
            <a:ext cx="363204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/>
          <p:cNvSpPr/>
          <p:nvPr/>
        </p:nvSpPr>
        <p:spPr>
          <a:xfrm>
            <a:off x="1730439" y="4384049"/>
            <a:ext cx="372140" cy="560091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96612" y="4497222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341472" y="3466142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1" name="TextBox 10"/>
          <p:cNvSpPr txBox="1"/>
          <p:nvPr/>
        </p:nvSpPr>
        <p:spPr>
          <a:xfrm>
            <a:off x="466111" y="1833302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sp>
        <p:nvSpPr>
          <p:cNvPr id="3" name="Left Brace 2"/>
          <p:cNvSpPr/>
          <p:nvPr/>
        </p:nvSpPr>
        <p:spPr>
          <a:xfrm>
            <a:off x="1730439" y="5172950"/>
            <a:ext cx="363204" cy="58865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341472" y="5247304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2" name="TextBox 11"/>
          <p:cNvSpPr txBox="1"/>
          <p:nvPr/>
        </p:nvSpPr>
        <p:spPr>
          <a:xfrm>
            <a:off x="497739" y="6167084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sp>
        <p:nvSpPr>
          <p:cNvPr id="13" name="Left Brace 12"/>
          <p:cNvSpPr/>
          <p:nvPr/>
        </p:nvSpPr>
        <p:spPr>
          <a:xfrm>
            <a:off x="1748311" y="6212531"/>
            <a:ext cx="354268" cy="40011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504455" y="5766974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5" name="Left Brace 14"/>
          <p:cNvSpPr/>
          <p:nvPr/>
        </p:nvSpPr>
        <p:spPr>
          <a:xfrm>
            <a:off x="1730439" y="5807049"/>
            <a:ext cx="372140" cy="36003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 of LAKE </a:t>
            </a:r>
            <a:r>
              <a:rPr lang="fr-FR"/>
              <a:t>Aggregation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2567763" y="1759689"/>
            <a:ext cx="773243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INSERT OVERWRITE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lake_team_domain.table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SELECT * FROM (</a:t>
            </a:r>
          </a:p>
          <a:p>
            <a:r>
              <a:rPr lang="fr-FR" sz="2400">
                <a:latin typeface="Arial"/>
                <a:cs typeface="Arial"/>
              </a:rPr>
              <a:t>     SELECT * FROM table1 WHERE ..</a:t>
            </a:r>
          </a:p>
          <a:p>
            <a:r>
              <a:rPr lang="fr-FR" sz="2400">
                <a:latin typeface="Arial"/>
                <a:cs typeface="Arial"/>
              </a:rPr>
              <a:t>   UNION</a:t>
            </a:r>
          </a:p>
          <a:p>
            <a:r>
              <a:rPr lang="fr-FR" sz="2400">
                <a:latin typeface="Arial"/>
                <a:cs typeface="Arial"/>
              </a:rPr>
              <a:t>     SELECT * FROM table2 WHERE ..</a:t>
            </a:r>
          </a:p>
          <a:p>
            <a:r>
              <a:rPr lang="fr-FR" sz="2400">
                <a:latin typeface="Arial"/>
                <a:cs typeface="Arial"/>
              </a:rPr>
              <a:t>   UNION</a:t>
            </a:r>
          </a:p>
          <a:p>
            <a:r>
              <a:rPr lang="fr-FR" sz="2400">
                <a:latin typeface="Arial"/>
                <a:cs typeface="Arial"/>
              </a:rPr>
              <a:t>     SELECT * FROM table3 WHERE ..</a:t>
            </a:r>
          </a:p>
          <a:p>
            <a:r>
              <a:rPr lang="fr-FR" sz="2400">
                <a:latin typeface="Arial"/>
                <a:cs typeface="Arial"/>
              </a:rPr>
              <a:t>   UNION</a:t>
            </a:r>
          </a:p>
          <a:p>
            <a:r>
              <a:rPr lang="fr-FR" sz="2400">
                <a:latin typeface="Arial"/>
                <a:cs typeface="Arial"/>
              </a:rPr>
              <a:t>     SELECT * FROM table4 WHERE ..</a:t>
            </a:r>
          </a:p>
          <a:p>
            <a:r>
              <a:rPr lang="fr-FR" sz="2400">
                <a:latin typeface="Arial"/>
                <a:cs typeface="Arial"/>
              </a:rPr>
              <a:t>)</a:t>
            </a:r>
          </a:p>
          <a:p>
            <a:r>
              <a:rPr lang="fr-FR" sz="2400">
                <a:latin typeface="Arial"/>
                <a:cs typeface="Arial"/>
              </a:rPr>
              <a:t>SORT BY col1, col2, col3     -- idem </a:t>
            </a:r>
            <a:r>
              <a:rPr lang="fr-FR" sz="2400">
                <a:latin typeface="Arial"/>
                <a:cs typeface="Arial"/>
              </a:rPr>
              <a:t>sortWithinPartitions</a:t>
            </a:r>
            <a:endParaRPr lang="fr-FR" sz="2400">
              <a:latin typeface="Arial"/>
              <a:cs typeface="Arial"/>
            </a:endParaRPr>
          </a:p>
        </p:txBody>
      </p:sp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 of « </a:t>
            </a:r>
            <a:r>
              <a:rPr lang="fr-FR"/>
              <a:t>latest</a:t>
            </a:r>
            <a:r>
              <a:rPr lang="fr-FR"/>
              <a:t> value » </a:t>
            </a:r>
            <a:r>
              <a:rPr lang="fr-FR"/>
              <a:t>crystallisation</a:t>
            </a:r>
            <a:br>
              <a:rPr lang="fr-FR"/>
            </a:br>
            <a:r>
              <a:rPr lang="fr-FR"/>
              <a:t>analytical</a:t>
            </a:r>
            <a:r>
              <a:rPr lang="fr-FR"/>
              <a:t> </a:t>
            </a:r>
            <a:r>
              <a:rPr lang="fr-FR"/>
              <a:t>query</a:t>
            </a:r>
            <a:r>
              <a:rPr lang="fr-FR"/>
              <a:t> « over(partition by) 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343" y="2248785"/>
            <a:ext cx="1124506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INSERT OVERWRITE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lake_team_domain.table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SELECT </a:t>
            </a:r>
          </a:p>
          <a:p>
            <a:r>
              <a:rPr lang="fr-FR" sz="2400">
                <a:latin typeface="Arial"/>
                <a:cs typeface="Arial"/>
              </a:rPr>
              <a:t>   col1,col2,…. </a:t>
            </a:r>
            <a:r>
              <a:rPr lang="fr-FR" sz="2400">
                <a:latin typeface="Arial"/>
                <a:cs typeface="Arial"/>
              </a:rPr>
              <a:t>colN</a:t>
            </a:r>
            <a:r>
              <a:rPr lang="fr-FR" sz="2400">
                <a:latin typeface="Arial"/>
                <a:cs typeface="Arial"/>
              </a:rPr>
              <a:t>    -- idem * EXCEPT </a:t>
            </a:r>
            <a:r>
              <a:rPr lang="fr-FR" sz="2400">
                <a:latin typeface="Arial"/>
                <a:cs typeface="Arial"/>
              </a:rPr>
              <a:t>rank</a:t>
            </a:r>
            <a:r>
              <a:rPr lang="fr-FR" sz="2400">
                <a:latin typeface="Arial"/>
                <a:cs typeface="Arial"/>
              </a:rPr>
              <a:t>   (</a:t>
            </a:r>
            <a:r>
              <a:rPr lang="fr-FR" sz="2400">
                <a:latin typeface="Arial"/>
                <a:cs typeface="Arial"/>
              </a:rPr>
              <a:t>cf</a:t>
            </a:r>
            <a:r>
              <a:rPr lang="fr-FR" sz="2400">
                <a:latin typeface="Arial"/>
                <a:cs typeface="Arial"/>
              </a:rPr>
              <a:t> issue SPARK-33164)</a:t>
            </a: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FROM (</a:t>
            </a:r>
          </a:p>
          <a:p>
            <a:r>
              <a:rPr lang="fr-FR" sz="2400">
                <a:latin typeface="Arial"/>
                <a:cs typeface="Arial"/>
              </a:rPr>
              <a:t>   SELECT *,</a:t>
            </a:r>
          </a:p>
          <a:p>
            <a:r>
              <a:rPr lang="fr-FR" sz="2400">
                <a:latin typeface="Arial"/>
                <a:cs typeface="Arial"/>
              </a:rPr>
              <a:t>      </a:t>
            </a:r>
            <a:r>
              <a:rPr lang="en-US" sz="2400" b="1">
                <a:latin typeface="Arial"/>
                <a:cs typeface="Arial"/>
              </a:rPr>
              <a:t>RANK() OVER (PARTITION BY id ORDER BY </a:t>
            </a:r>
            <a:r>
              <a:rPr lang="en-US" sz="2400" b="1">
                <a:latin typeface="Arial"/>
                <a:cs typeface="Arial"/>
              </a:rPr>
              <a:t>update_time</a:t>
            </a:r>
            <a:r>
              <a:rPr lang="en-US" sz="2400" b="1">
                <a:latin typeface="Arial"/>
                <a:cs typeface="Arial"/>
              </a:rPr>
              <a:t> DESC) as rank</a:t>
            </a:r>
            <a:endParaRPr lang="fr-FR" sz="2400" b="1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   FROM </a:t>
            </a:r>
            <a:r>
              <a:rPr lang="fr-FR" sz="2400">
                <a:latin typeface="Arial"/>
                <a:cs typeface="Arial"/>
              </a:rPr>
              <a:t>lake_team_domain.event_table</a:t>
            </a: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)</a:t>
            </a:r>
          </a:p>
          <a:p>
            <a:r>
              <a:rPr lang="fr-FR" sz="2400" b="1">
                <a:latin typeface="Arial"/>
                <a:cs typeface="Arial"/>
              </a:rPr>
              <a:t>WHERE </a:t>
            </a:r>
            <a:r>
              <a:rPr lang="fr-FR" sz="2400" b="1">
                <a:latin typeface="Arial"/>
                <a:cs typeface="Arial"/>
              </a:rPr>
              <a:t>rank</a:t>
            </a:r>
            <a:r>
              <a:rPr lang="fr-FR" sz="2400" b="1">
                <a:latin typeface="Arial"/>
                <a:cs typeface="Arial"/>
              </a:rPr>
              <a:t>=1</a:t>
            </a:r>
          </a:p>
          <a:p>
            <a:r>
              <a:rPr lang="fr-FR" sz="2400">
                <a:latin typeface="Arial"/>
                <a:cs typeface="Arial"/>
              </a:rPr>
              <a:t>SORT BY col1, col2, col3     -- idem </a:t>
            </a:r>
            <a:r>
              <a:rPr lang="fr-FR" sz="2400">
                <a:latin typeface="Arial"/>
                <a:cs typeface="Arial"/>
              </a:rPr>
              <a:t>sortWithinPartitions</a:t>
            </a:r>
            <a:endParaRPr lang="fr-FR" sz="2400">
              <a:latin typeface="Arial"/>
              <a:cs typeface="Arial"/>
            </a:endParaRPr>
          </a:p>
        </p:txBody>
      </p:sp>
      <p:sp>
        <p:nvSpPr>
          <p:cNvPr id="3" name="Rectangle 2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9080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Step</a:t>
            </a:r>
            <a:r>
              <a:rPr lang="fr-FR"/>
              <a:t>-by-</a:t>
            </a:r>
            <a:r>
              <a:rPr lang="fr-FR"/>
              <a:t>Step</a:t>
            </a:r>
            <a:r>
              <a:rPr lang="fr-FR"/>
              <a:t> </a:t>
            </a:r>
            <a:r>
              <a:rPr lang="fr-FR"/>
              <a:t>explained</a:t>
            </a:r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Typical</a:t>
            </a:r>
            <a:r>
              <a:rPr lang="fr-FR"/>
              <a:t> RAW to LAKE</a:t>
            </a:r>
            <a:br>
              <a:rPr lang="fr-FR"/>
            </a:br>
            <a:r>
              <a:rPr lang="fr-FR"/>
              <a:t>as Spark Java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91954" y="1374967"/>
            <a:ext cx="8696611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spark.read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.format(« csv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.option(«</a:t>
            </a:r>
            <a:r>
              <a:rPr lang="fr-FR" sz="2400">
                <a:latin typeface="Arial"/>
                <a:cs typeface="Arial"/>
              </a:rPr>
              <a:t>schema</a:t>
            </a:r>
            <a:r>
              <a:rPr lang="fr-FR" sz="2400">
                <a:latin typeface="Arial"/>
                <a:cs typeface="Arial"/>
              </a:rPr>
              <a:t> », « col1 type1, … </a:t>
            </a:r>
            <a:r>
              <a:rPr lang="fr-FR" sz="2400">
                <a:latin typeface="Arial"/>
                <a:cs typeface="Arial"/>
              </a:rPr>
              <a:t>colN</a:t>
            </a:r>
            <a:r>
              <a:rPr lang="fr-FR" sz="2400">
                <a:latin typeface="Arial"/>
                <a:cs typeface="Arial"/>
              </a:rPr>
              <a:t> </a:t>
            </a:r>
            <a:r>
              <a:rPr lang="fr-FR" sz="2400">
                <a:latin typeface="Arial"/>
                <a:cs typeface="Arial"/>
              </a:rPr>
              <a:t>typeN</a:t>
            </a:r>
            <a:r>
              <a:rPr lang="fr-FR" sz="2400">
                <a:latin typeface="Arial"/>
                <a:cs typeface="Arial"/>
              </a:rPr>
              <a:t>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</a:t>
            </a:r>
            <a:r>
              <a:rPr lang="fr-FR" sz="2400">
                <a:latin typeface="Arial"/>
                <a:cs typeface="Arial"/>
              </a:rPr>
              <a:t>load</a:t>
            </a:r>
            <a:r>
              <a:rPr lang="fr-FR" sz="2400">
                <a:latin typeface="Arial"/>
                <a:cs typeface="Arial"/>
              </a:rPr>
              <a:t>(« hdfs://raw/team/domain/table/date=2022-10-12 »)</a:t>
            </a:r>
            <a:br>
              <a:rPr lang="fr-FR" sz="2400">
                <a:latin typeface="Arial"/>
                <a:cs typeface="Arial"/>
              </a:rPr>
            </a:b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.as(Encoder.bean(Bean.Class))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map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 -&gt;  </a:t>
            </a:r>
            <a:r>
              <a:rPr lang="fr-FR" sz="2400">
                <a:latin typeface="Arial"/>
                <a:cs typeface="Arial"/>
              </a:rPr>
              <a:t>transformBean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) )</a:t>
            </a:r>
          </a:p>
          <a:p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toDF</a:t>
            </a:r>
            <a:r>
              <a:rPr lang="fr-FR" sz="2400">
                <a:latin typeface="Arial"/>
                <a:cs typeface="Arial"/>
              </a:rPr>
              <a:t>()</a:t>
            </a:r>
          </a:p>
          <a:p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repartition</a:t>
            </a:r>
            <a:r>
              <a:rPr lang="fr-FR" sz="2400">
                <a:latin typeface="Arial"/>
                <a:cs typeface="Arial"/>
              </a:rPr>
              <a:t>(3, « col1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sortWithinPartitions</a:t>
            </a:r>
            <a:r>
              <a:rPr lang="fr-FR" sz="2400">
                <a:latin typeface="Arial"/>
                <a:cs typeface="Arial"/>
              </a:rPr>
              <a:t>(« col1, col2, col3 »)</a:t>
            </a:r>
          </a:p>
          <a:p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write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.format(« parquet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save</a:t>
            </a:r>
            <a:r>
              <a:rPr lang="fr-FR" sz="2400">
                <a:latin typeface="Arial"/>
                <a:cs typeface="Arial"/>
              </a:rPr>
              <a:t>(« hdfs://lake/team/domain/table/date=2022-10-22 »);</a:t>
            </a:r>
          </a:p>
        </p:txBody>
      </p:sp>
      <p:sp>
        <p:nvSpPr>
          <p:cNvPr id="5" name="Left Brace 4"/>
          <p:cNvSpPr/>
          <p:nvPr/>
        </p:nvSpPr>
        <p:spPr>
          <a:xfrm>
            <a:off x="1730439" y="1871330"/>
            <a:ext cx="372140" cy="13255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/>
          <p:cNvSpPr/>
          <p:nvPr/>
        </p:nvSpPr>
        <p:spPr>
          <a:xfrm>
            <a:off x="1730439" y="5214465"/>
            <a:ext cx="372140" cy="11773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349134" y="1986183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251690" y="3352104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1" name="TextBox 10"/>
          <p:cNvSpPr txBox="1"/>
          <p:nvPr/>
        </p:nvSpPr>
        <p:spPr>
          <a:xfrm>
            <a:off x="389465" y="5214466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sp>
        <p:nvSpPr>
          <p:cNvPr id="3" name="Left Brace 2"/>
          <p:cNvSpPr/>
          <p:nvPr/>
        </p:nvSpPr>
        <p:spPr>
          <a:xfrm>
            <a:off x="1718191" y="3388564"/>
            <a:ext cx="372140" cy="93854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349134" y="2189103"/>
            <a:ext cx="1253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Step</a:t>
            </a:r>
            <a:r>
              <a:rPr lang="fr-FR" sz="2400" b="1"/>
              <a:t> 1/4</a:t>
            </a:r>
          </a:p>
        </p:txBody>
      </p:sp>
      <p:sp>
        <p:nvSpPr>
          <p:cNvPr id="12" name="Left Brace 11"/>
          <p:cNvSpPr/>
          <p:nvPr/>
        </p:nvSpPr>
        <p:spPr>
          <a:xfrm>
            <a:off x="1718191" y="4518780"/>
            <a:ext cx="372140" cy="50401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389753" y="3601114"/>
            <a:ext cx="1253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Step</a:t>
            </a:r>
            <a:r>
              <a:rPr lang="fr-FR" sz="2400" b="1"/>
              <a:t> 2/4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564" y="4411999"/>
            <a:ext cx="1253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Step</a:t>
            </a:r>
            <a:r>
              <a:rPr lang="fr-FR" sz="2400" b="1"/>
              <a:t> 3/4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134" y="5511540"/>
            <a:ext cx="1253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Step</a:t>
            </a:r>
            <a:r>
              <a:rPr lang="fr-FR" sz="2400" b="1"/>
              <a:t> 4/4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1/4: </a:t>
            </a:r>
            <a:r>
              <a:rPr lang="fr-FR"/>
              <a:t>read</a:t>
            </a:r>
            <a:r>
              <a:rPr lang="fr-FR"/>
              <a:t> to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2567763" y="1759689"/>
            <a:ext cx="830547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&lt;Row&gt; </a:t>
            </a:r>
            <a:r>
              <a:rPr lang="fr-FR" sz="2400">
                <a:latin typeface="Arial"/>
                <a:cs typeface="Arial"/>
              </a:rPr>
              <a:t>ds</a:t>
            </a:r>
            <a:r>
              <a:rPr lang="fr-FR" sz="2400">
                <a:latin typeface="Arial"/>
                <a:cs typeface="Arial"/>
              </a:rPr>
              <a:t> = 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</a:t>
            </a:r>
            <a:r>
              <a:rPr lang="fr-FR" sz="2400">
                <a:latin typeface="Arial"/>
                <a:cs typeface="Arial"/>
              </a:rPr>
              <a:t>spark.read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.format(« csv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.option(«</a:t>
            </a:r>
            <a:r>
              <a:rPr lang="fr-FR" sz="2400">
                <a:latin typeface="Arial"/>
                <a:cs typeface="Arial"/>
              </a:rPr>
              <a:t>schema</a:t>
            </a:r>
            <a:r>
              <a:rPr lang="fr-FR" sz="2400">
                <a:latin typeface="Arial"/>
                <a:cs typeface="Arial"/>
              </a:rPr>
              <a:t> », « col1 type1, … </a:t>
            </a:r>
            <a:r>
              <a:rPr lang="fr-FR" sz="2400">
                <a:latin typeface="Arial"/>
                <a:cs typeface="Arial"/>
              </a:rPr>
              <a:t>colN</a:t>
            </a:r>
            <a:r>
              <a:rPr lang="fr-FR" sz="2400">
                <a:latin typeface="Arial"/>
                <a:cs typeface="Arial"/>
              </a:rPr>
              <a:t> </a:t>
            </a:r>
            <a:r>
              <a:rPr lang="fr-FR" sz="2400">
                <a:latin typeface="Arial"/>
                <a:cs typeface="Arial"/>
              </a:rPr>
              <a:t>typeN</a:t>
            </a:r>
            <a:r>
              <a:rPr lang="fr-FR" sz="2400">
                <a:latin typeface="Arial"/>
                <a:cs typeface="Arial"/>
              </a:rPr>
              <a:t>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.</a:t>
            </a:r>
            <a:r>
              <a:rPr lang="fr-FR" sz="2400">
                <a:latin typeface="Arial"/>
                <a:cs typeface="Arial"/>
              </a:rPr>
              <a:t>load</a:t>
            </a:r>
            <a:r>
              <a:rPr lang="fr-FR" sz="2400">
                <a:latin typeface="Arial"/>
                <a:cs typeface="Arial"/>
              </a:rPr>
              <a:t>(« hdfs://raw/team/domain/table/date=2022-10-12 »)</a:t>
            </a:r>
            <a:br>
              <a:rPr lang="fr-FR" sz="2400">
                <a:latin typeface="Arial"/>
                <a:cs typeface="Arial"/>
              </a:rPr>
            </a:br>
            <a:endParaRPr lang="fr-FR" sz="2400">
              <a:latin typeface="Arial"/>
              <a:cs typeface="Arial"/>
            </a:endParaRPr>
          </a:p>
        </p:txBody>
      </p:sp>
      <p:sp>
        <p:nvSpPr>
          <p:cNvPr id="5" name="Left Brace 4"/>
          <p:cNvSpPr/>
          <p:nvPr/>
        </p:nvSpPr>
        <p:spPr>
          <a:xfrm>
            <a:off x="1730439" y="1871330"/>
            <a:ext cx="372140" cy="132556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311492" y="2376027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3" name="Rectangle: Folded Corner 2"/>
          <p:cNvSpPr/>
          <p:nvPr/>
        </p:nvSpPr>
        <p:spPr>
          <a:xfrm>
            <a:off x="2849732" y="4705165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: Folded Corner 7"/>
          <p:cNvSpPr/>
          <p:nvPr/>
        </p:nvSpPr>
        <p:spPr>
          <a:xfrm>
            <a:off x="3002132" y="4857565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Folded Corner 11"/>
          <p:cNvSpPr/>
          <p:nvPr/>
        </p:nvSpPr>
        <p:spPr>
          <a:xfrm>
            <a:off x="3154532" y="5009965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631001" y="5683849"/>
            <a:ext cx="40620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Input = Files </a:t>
            </a:r>
            <a:br>
              <a:rPr lang="fr-FR" sz="2400"/>
            </a:br>
            <a:r>
              <a:rPr lang="fr-FR" sz="2400"/>
              <a:t>           (</a:t>
            </a:r>
            <a:r>
              <a:rPr lang="fr-FR" sz="2400"/>
              <a:t>scanned</a:t>
            </a:r>
            <a:r>
              <a:rPr lang="fr-FR" sz="2400"/>
              <a:t> </a:t>
            </a:r>
            <a:r>
              <a:rPr lang="fr-FR" sz="2400"/>
              <a:t>from</a:t>
            </a:r>
            <a:r>
              <a:rPr lang="fr-FR" sz="2400"/>
              <a:t> Directory)</a:t>
            </a:r>
          </a:p>
          <a:p>
            <a:r>
              <a:rPr lang="fr-FR" sz="2400"/>
              <a:t>Distributed Read </a:t>
            </a:r>
            <a:r>
              <a:rPr lang="fr-FR" sz="2400"/>
              <a:t>from</a:t>
            </a:r>
            <a:r>
              <a:rPr lang="fr-FR" sz="2400"/>
              <a:t> Storage</a:t>
            </a:r>
          </a:p>
        </p:txBody>
      </p:sp>
      <p:sp>
        <p:nvSpPr>
          <p:cNvPr id="14" name="Arrow: Right 13"/>
          <p:cNvSpPr/>
          <p:nvPr/>
        </p:nvSpPr>
        <p:spPr>
          <a:xfrm rot="20633383">
            <a:off x="4320213" y="4558215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>
            <a:off x="4423786" y="4937618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/>
          <p:cNvSpPr/>
          <p:nvPr/>
        </p:nvSpPr>
        <p:spPr>
          <a:xfrm rot="1413933">
            <a:off x="4334368" y="5402215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6284265" y="3940155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: Rounded Corners 17"/>
          <p:cNvSpPr/>
          <p:nvPr/>
        </p:nvSpPr>
        <p:spPr>
          <a:xfrm>
            <a:off x="6271807" y="483973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: Rounded Corners 18"/>
          <p:cNvSpPr/>
          <p:nvPr/>
        </p:nvSpPr>
        <p:spPr>
          <a:xfrm>
            <a:off x="6284265" y="5690586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6745904" y="412840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/>
          <p:cNvSpPr/>
          <p:nvPr/>
        </p:nvSpPr>
        <p:spPr>
          <a:xfrm>
            <a:off x="6744285" y="500400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6908096" y="579454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7216763" y="5157895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/>
          <p:cNvSpPr/>
          <p:nvPr/>
        </p:nvSpPr>
        <p:spPr>
          <a:xfrm>
            <a:off x="7209692" y="432693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074429" y="5980862"/>
            <a:ext cx="40744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Result</a:t>
            </a:r>
            <a:r>
              <a:rPr lang="fr-FR" sz="2400"/>
              <a:t> =  </a:t>
            </a:r>
            <a:br>
              <a:rPr lang="fr-FR" sz="2400"/>
            </a:br>
            <a:r>
              <a:rPr lang="fr-FR" sz="2400"/>
              <a:t>     Distributed Parts in-memory</a:t>
            </a:r>
          </a:p>
        </p:txBody>
      </p:sp>
      <p:pic>
        <p:nvPicPr>
          <p:cNvPr id="1028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469775" y="3920282"/>
            <a:ext cx="521904" cy="811851"/>
          </a:xfrm>
          <a:prstGeom prst="rect">
            <a:avLst/>
          </a:prstGeom>
          <a:noFill/>
        </p:spPr>
      </p:pic>
      <p:pic>
        <p:nvPicPr>
          <p:cNvPr id="26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465162" y="4804627"/>
            <a:ext cx="521904" cy="811851"/>
          </a:xfrm>
          <a:prstGeom prst="rect">
            <a:avLst/>
          </a:prstGeom>
          <a:noFill/>
        </p:spPr>
      </p:pic>
      <p:pic>
        <p:nvPicPr>
          <p:cNvPr id="27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465162" y="5657001"/>
            <a:ext cx="521904" cy="811851"/>
          </a:xfrm>
          <a:prstGeom prst="rect">
            <a:avLst/>
          </a:prstGeom>
          <a:noFill/>
        </p:spPr>
      </p:pic>
      <p:pic>
        <p:nvPicPr>
          <p:cNvPr id="1030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88987" y="4364358"/>
            <a:ext cx="2313456" cy="127929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2/4 : </a:t>
            </a:r>
            <a:r>
              <a:rPr lang="fr-FR"/>
              <a:t>Transform</a:t>
            </a:r>
            <a:r>
              <a:rPr lang="fr-FR"/>
              <a:t>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4" name="Rectangle: Rounded Corners 3"/>
          <p:cNvSpPr/>
          <p:nvPr/>
        </p:nvSpPr>
        <p:spPr>
          <a:xfrm>
            <a:off x="3944106" y="328674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3944105" y="404674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3957528" y="482058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4405745" y="349914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4416583" y="421101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581359" y="492454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4889061" y="436490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869533" y="367351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510443" y="2145625"/>
            <a:ext cx="83071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&lt;Row&gt; ds2 = </a:t>
            </a:r>
            <a:r>
              <a:rPr lang="fr-FR" sz="2400">
                <a:latin typeface="Arial"/>
                <a:cs typeface="Arial"/>
              </a:rPr>
              <a:t>ds.map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 -&gt;  </a:t>
            </a:r>
            <a:r>
              <a:rPr lang="fr-FR" sz="2400">
                <a:latin typeface="Arial"/>
                <a:cs typeface="Arial"/>
              </a:rPr>
              <a:t>transformData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) )</a:t>
            </a:r>
            <a:endParaRPr lang="fr-FR" sz="2400"/>
          </a:p>
        </p:txBody>
      </p:sp>
      <p:sp>
        <p:nvSpPr>
          <p:cNvPr id="14" name="Rectangle: Rounded Corners 13"/>
          <p:cNvSpPr/>
          <p:nvPr/>
        </p:nvSpPr>
        <p:spPr>
          <a:xfrm>
            <a:off x="6776511" y="328674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6776510" y="404674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6789933" y="482058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4776011" y="3576066"/>
            <a:ext cx="2272939" cy="537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7118758" y="3463552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33622" y="3831982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613404" y="361512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Isosceles Triangle 29"/>
          <p:cNvSpPr/>
          <p:nvPr/>
        </p:nvSpPr>
        <p:spPr>
          <a:xfrm>
            <a:off x="7060769" y="414902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Isosceles Triangle 30"/>
          <p:cNvSpPr/>
          <p:nvPr/>
        </p:nvSpPr>
        <p:spPr>
          <a:xfrm>
            <a:off x="7613404" y="4349606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/>
          <p:cNvSpPr/>
          <p:nvPr/>
        </p:nvSpPr>
        <p:spPr>
          <a:xfrm>
            <a:off x="7256246" y="493677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5304998" y="4555139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4776012" y="4258750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4960315" y="5076445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129769" y="6031210"/>
            <a:ext cx="6337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Distributed </a:t>
            </a:r>
            <a:r>
              <a:rPr lang="fr-FR" sz="2400"/>
              <a:t>Processing</a:t>
            </a:r>
            <a:r>
              <a:rPr lang="fr-FR" sz="2400"/>
              <a:t> to </a:t>
            </a:r>
            <a:r>
              <a:rPr lang="fr-FR" sz="2400"/>
              <a:t>compute</a:t>
            </a:r>
            <a:r>
              <a:rPr lang="fr-FR" sz="2400"/>
              <a:t> </a:t>
            </a:r>
            <a:r>
              <a:rPr lang="fr-FR" sz="2400"/>
              <a:t>each</a:t>
            </a:r>
            <a:r>
              <a:rPr lang="fr-FR" sz="2400"/>
              <a:t> new part</a:t>
            </a:r>
          </a:p>
        </p:txBody>
      </p:sp>
      <p:pic>
        <p:nvPicPr>
          <p:cNvPr id="2050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89130" y="3259075"/>
            <a:ext cx="423791" cy="423791"/>
          </a:xfrm>
          <a:prstGeom prst="rect">
            <a:avLst/>
          </a:prstGeom>
          <a:noFill/>
        </p:spPr>
      </p:pic>
      <p:pic>
        <p:nvPicPr>
          <p:cNvPr id="38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89130" y="3682976"/>
            <a:ext cx="423791" cy="423791"/>
          </a:xfrm>
          <a:prstGeom prst="rect">
            <a:avLst/>
          </a:prstGeom>
          <a:noFill/>
        </p:spPr>
      </p:pic>
      <p:pic>
        <p:nvPicPr>
          <p:cNvPr id="39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94258" y="4909402"/>
            <a:ext cx="423791" cy="423791"/>
          </a:xfrm>
          <a:prstGeom prst="rect">
            <a:avLst/>
          </a:prstGeom>
          <a:noFill/>
        </p:spPr>
      </p:pic>
      <p:pic>
        <p:nvPicPr>
          <p:cNvPr id="40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02233" y="4101379"/>
            <a:ext cx="423791" cy="423791"/>
          </a:xfrm>
          <a:prstGeom prst="rect">
            <a:avLst/>
          </a:prstGeom>
          <a:noFill/>
        </p:spPr>
      </p:pic>
      <p:pic>
        <p:nvPicPr>
          <p:cNvPr id="41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94258" y="4508051"/>
            <a:ext cx="423791" cy="423791"/>
          </a:xfrm>
          <a:prstGeom prst="rect">
            <a:avLst/>
          </a:prstGeom>
          <a:noFill/>
        </p:spPr>
      </p:pic>
      <p:sp>
        <p:nvSpPr>
          <p:cNvPr id="42" name="Left Brace 41"/>
          <p:cNvSpPr/>
          <p:nvPr/>
        </p:nvSpPr>
        <p:spPr>
          <a:xfrm>
            <a:off x="1752606" y="2180598"/>
            <a:ext cx="372140" cy="46790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411632" y="2207180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3/4 : </a:t>
            </a:r>
            <a:r>
              <a:rPr lang="fr-FR"/>
              <a:t>Repartition</a:t>
            </a:r>
            <a:r>
              <a:rPr lang="fr-FR"/>
              <a:t>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471650" y="1796659"/>
            <a:ext cx="83071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&lt;Row&gt; ds3 = ds2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repartition</a:t>
            </a:r>
            <a:r>
              <a:rPr lang="fr-FR" sz="2400">
                <a:latin typeface="Arial"/>
                <a:cs typeface="Arial"/>
              </a:rPr>
              <a:t>(2, « col1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sortWithinPartitions</a:t>
            </a:r>
            <a:r>
              <a:rPr lang="fr-FR" sz="2400">
                <a:latin typeface="Arial"/>
                <a:cs typeface="Arial"/>
              </a:rPr>
              <a:t>(« col1, col2, col3 »)</a:t>
            </a:r>
          </a:p>
          <a:p>
            <a:endParaRPr lang="fr-FR" sz="2400"/>
          </a:p>
        </p:txBody>
      </p:sp>
      <p:sp>
        <p:nvSpPr>
          <p:cNvPr id="14" name="Rectangle: Rounded Corners 13"/>
          <p:cNvSpPr/>
          <p:nvPr/>
        </p:nvSpPr>
        <p:spPr>
          <a:xfrm>
            <a:off x="4053332" y="342900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4053331" y="4189005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4066754" y="4962842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Isosceles Triangle 24"/>
          <p:cNvSpPr/>
          <p:nvPr/>
        </p:nvSpPr>
        <p:spPr>
          <a:xfrm>
            <a:off x="4395579" y="3581654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4802275" y="3699785"/>
            <a:ext cx="2379921" cy="0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4890225" y="3757382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Isosceles Triangle 29"/>
          <p:cNvSpPr/>
          <p:nvPr/>
        </p:nvSpPr>
        <p:spPr>
          <a:xfrm>
            <a:off x="4337590" y="429128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Isosceles Triangle 30"/>
          <p:cNvSpPr/>
          <p:nvPr/>
        </p:nvSpPr>
        <p:spPr>
          <a:xfrm>
            <a:off x="4890225" y="4491867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/>
          <p:cNvSpPr/>
          <p:nvPr/>
        </p:nvSpPr>
        <p:spPr>
          <a:xfrm>
            <a:off x="4533067" y="507903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237017" y="4589711"/>
            <a:ext cx="1945179" cy="650527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199127" y="5857853"/>
            <a:ext cx="6173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Network </a:t>
            </a:r>
            <a:r>
              <a:rPr lang="fr-FR" sz="2400"/>
              <a:t>Shuffle</a:t>
            </a:r>
            <a:r>
              <a:rPr lang="fr-FR" sz="2400"/>
              <a:t> to </a:t>
            </a:r>
            <a:r>
              <a:rPr lang="fr-FR" sz="2400"/>
              <a:t>distribute</a:t>
            </a:r>
            <a:r>
              <a:rPr lang="fr-FR" sz="2400"/>
              <a:t> / group / sort data</a:t>
            </a:r>
          </a:p>
        </p:txBody>
      </p:sp>
      <p:sp>
        <p:nvSpPr>
          <p:cNvPr id="12" name="Rectangle: Rounded Corners 11"/>
          <p:cNvSpPr/>
          <p:nvPr/>
        </p:nvSpPr>
        <p:spPr>
          <a:xfrm>
            <a:off x="6694136" y="342900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6694135" y="418900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: Rounded Corners 17"/>
          <p:cNvSpPr/>
          <p:nvPr/>
        </p:nvSpPr>
        <p:spPr>
          <a:xfrm>
            <a:off x="6694135" y="49628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5389417" y="4045131"/>
            <a:ext cx="1792779" cy="407357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5389417" y="4541891"/>
            <a:ext cx="1792779" cy="1691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4810055" y="3964633"/>
            <a:ext cx="2433101" cy="416266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>
            <a:off x="7243157" y="3504140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Isosceles Triangle 45"/>
          <p:cNvSpPr/>
          <p:nvPr/>
        </p:nvSpPr>
        <p:spPr>
          <a:xfrm>
            <a:off x="7243157" y="4271862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312756" y="2052910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48" name="Left Brace 47"/>
          <p:cNvSpPr/>
          <p:nvPr/>
        </p:nvSpPr>
        <p:spPr>
          <a:xfrm>
            <a:off x="1719455" y="1707561"/>
            <a:ext cx="372140" cy="111593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0399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4/4 : Write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987040" y="1690688"/>
            <a:ext cx="83071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ds3.write</a:t>
            </a:r>
          </a:p>
          <a:p>
            <a:r>
              <a:rPr lang="fr-FR" sz="2400">
                <a:latin typeface="Arial"/>
                <a:cs typeface="Arial"/>
              </a:rPr>
              <a:t>  .format(</a:t>
            </a:r>
            <a:r>
              <a:rPr lang="fr-FR" sz="2400">
                <a:latin typeface="Arial"/>
                <a:cs typeface="Arial"/>
              </a:rPr>
              <a:t>« parquet »)</a:t>
            </a:r>
          </a:p>
          <a:p>
            <a:r>
              <a:rPr lang="fr-FR" sz="2400">
                <a:latin typeface="Arial"/>
                <a:cs typeface="Arial"/>
              </a:rPr>
              <a:t>  .</a:t>
            </a:r>
            <a:r>
              <a:rPr lang="fr-FR" sz="2400">
                <a:latin typeface="Arial"/>
                <a:cs typeface="Arial"/>
              </a:rPr>
              <a:t>save</a:t>
            </a:r>
            <a:r>
              <a:rPr lang="fr-FR" sz="2400">
                <a:latin typeface="Arial"/>
                <a:cs typeface="Arial"/>
              </a:rPr>
              <a:t>(« hdfs://lake/team/domain/table »)</a:t>
            </a:r>
            <a:endParaRPr lang="fr-FR" sz="2400"/>
          </a:p>
        </p:txBody>
      </p:sp>
      <p:sp>
        <p:nvSpPr>
          <p:cNvPr id="37" name="TextBox 36"/>
          <p:cNvSpPr txBox="1"/>
          <p:nvPr/>
        </p:nvSpPr>
        <p:spPr>
          <a:xfrm>
            <a:off x="4087085" y="5924354"/>
            <a:ext cx="4715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Distributed Write </a:t>
            </a:r>
            <a:r>
              <a:rPr lang="fr-FR" sz="2400"/>
              <a:t>Dataset</a:t>
            </a:r>
            <a:r>
              <a:rPr lang="fr-FR" sz="2400"/>
              <a:t> to Storage</a:t>
            </a:r>
          </a:p>
        </p:txBody>
      </p:sp>
      <p:sp>
        <p:nvSpPr>
          <p:cNvPr id="12" name="Rectangle: Rounded Corners 11"/>
          <p:cNvSpPr/>
          <p:nvPr/>
        </p:nvSpPr>
        <p:spPr>
          <a:xfrm>
            <a:off x="3889976" y="326120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3889975" y="4021213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: Rounded Corners 17"/>
          <p:cNvSpPr/>
          <p:nvPr/>
        </p:nvSpPr>
        <p:spPr>
          <a:xfrm>
            <a:off x="3889975" y="479505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Isosceles Triangle 44"/>
          <p:cNvSpPr/>
          <p:nvPr/>
        </p:nvSpPr>
        <p:spPr>
          <a:xfrm>
            <a:off x="4438997" y="3336349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Isosceles Triangle 45"/>
          <p:cNvSpPr/>
          <p:nvPr/>
        </p:nvSpPr>
        <p:spPr>
          <a:xfrm>
            <a:off x="4438997" y="4104071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" name="Straight Arrow Connector 2"/>
          <p:cNvCxnSpPr/>
          <p:nvPr/>
        </p:nvCxnSpPr>
        <p:spPr>
          <a:xfrm flipV="1">
            <a:off x="5095844" y="3581557"/>
            <a:ext cx="2385611" cy="92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V="1">
            <a:off x="5095844" y="4359516"/>
            <a:ext cx="2385611" cy="92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Folded Corner 5"/>
          <p:cNvSpPr/>
          <p:nvPr/>
        </p:nvSpPr>
        <p:spPr>
          <a:xfrm>
            <a:off x="7671114" y="3290343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Folded Corner 6"/>
          <p:cNvSpPr/>
          <p:nvPr/>
        </p:nvSpPr>
        <p:spPr>
          <a:xfrm>
            <a:off x="7671114" y="4105551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/>
          <p:cNvSpPr/>
          <p:nvPr/>
        </p:nvSpPr>
        <p:spPr>
          <a:xfrm>
            <a:off x="1818168" y="1729518"/>
            <a:ext cx="372140" cy="116149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721035" y="2090797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pic>
        <p:nvPicPr>
          <p:cNvPr id="10" name="Picture 6" descr="HDFS Storage Efficiency Using Tiered Storag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679547" y="3336349"/>
            <a:ext cx="2313456" cy="127929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4" name="Picture 2" descr="Magic hat magician images vectorielles, Magic hat magician vecteurs libres  de droits | Depositphoto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19831" y="2259231"/>
            <a:ext cx="3916926" cy="4225203"/>
          </a:xfrm>
          <a:prstGeom prst="rect">
            <a:avLst/>
          </a:prstGeom>
          <a:noFill/>
        </p:spPr>
      </p:pic>
      <p:pic>
        <p:nvPicPr>
          <p:cNvPr id="4" name="Picture 8" descr="Apache Spark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rot="18410859">
            <a:off x="4540476" y="2168743"/>
            <a:ext cx="1731327" cy="898847"/>
          </a:xfrm>
          <a:prstGeom prst="rect">
            <a:avLst/>
          </a:prstGeom>
          <a:noFill/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90399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How </a:t>
            </a:r>
            <a:r>
              <a:rPr lang="fr-FR"/>
              <a:t>it</a:t>
            </a:r>
            <a:r>
              <a:rPr lang="fr-FR"/>
              <a:t> </a:t>
            </a:r>
            <a:r>
              <a:rPr lang="fr-FR"/>
              <a:t>works</a:t>
            </a:r>
            <a:r>
              <a:rPr lang="fr-FR"/>
              <a:t>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Zooming</a:t>
            </a:r>
            <a:r>
              <a:rPr lang="fr-FR"/>
              <a:t> more  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2" descr="Magic hat magician images vectorielles, Magic hat magician vecteurs libres  de droits | Depositphoto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670" y="3576066"/>
            <a:ext cx="2044094" cy="2204972"/>
          </a:xfrm>
          <a:prstGeom prst="rect">
            <a:avLst/>
          </a:prstGeom>
          <a:noFill/>
        </p:spPr>
      </p:pic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1/4: </a:t>
            </a:r>
            <a:r>
              <a:rPr lang="fr-FR"/>
              <a:t>read</a:t>
            </a:r>
            <a:r>
              <a:rPr lang="fr-FR"/>
              <a:t> to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5" name="Rectangle: Folded Corner 4"/>
          <p:cNvSpPr/>
          <p:nvPr/>
        </p:nvSpPr>
        <p:spPr>
          <a:xfrm>
            <a:off x="2945597" y="29279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Folded Corner 5"/>
          <p:cNvSpPr/>
          <p:nvPr/>
        </p:nvSpPr>
        <p:spPr>
          <a:xfrm>
            <a:off x="3097997" y="30803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Folded Corner 6"/>
          <p:cNvSpPr/>
          <p:nvPr/>
        </p:nvSpPr>
        <p:spPr>
          <a:xfrm>
            <a:off x="3250397" y="32327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2108460" y="3906987"/>
            <a:ext cx="3269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Input = Files </a:t>
            </a:r>
            <a:br>
              <a:rPr lang="fr-FR" sz="2400"/>
            </a:br>
            <a:r>
              <a:rPr lang="fr-FR" sz="2400"/>
              <a:t>from</a:t>
            </a:r>
            <a:r>
              <a:rPr lang="fr-FR" sz="2400"/>
              <a:t> Distributed Storage</a:t>
            </a:r>
          </a:p>
        </p:txBody>
      </p:sp>
      <p:sp>
        <p:nvSpPr>
          <p:cNvPr id="9" name="Arrow: Right 8"/>
          <p:cNvSpPr/>
          <p:nvPr/>
        </p:nvSpPr>
        <p:spPr>
          <a:xfrm rot="20633383">
            <a:off x="5810808" y="2840569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>
            <a:off x="5914381" y="3219972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Right 10"/>
          <p:cNvSpPr/>
          <p:nvPr/>
        </p:nvSpPr>
        <p:spPr>
          <a:xfrm rot="1413933">
            <a:off x="5824963" y="3684569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9246403" y="214351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9233945" y="304309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: Rounded Corners 13"/>
          <p:cNvSpPr/>
          <p:nvPr/>
        </p:nvSpPr>
        <p:spPr>
          <a:xfrm>
            <a:off x="9246403" y="38939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9708042" y="2331755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9706423" y="320736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9870234" y="399790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10178901" y="336125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10171830" y="253028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7420037" y="4800194"/>
            <a:ext cx="48609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Result</a:t>
            </a:r>
            <a:r>
              <a:rPr lang="fr-FR" sz="2400"/>
              <a:t> =  Distributed Parts in-memory</a:t>
            </a:r>
          </a:p>
        </p:txBody>
      </p:sp>
      <p:pic>
        <p:nvPicPr>
          <p:cNvPr id="21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31913" y="2123637"/>
            <a:ext cx="521904" cy="811851"/>
          </a:xfrm>
          <a:prstGeom prst="rect">
            <a:avLst/>
          </a:prstGeom>
          <a:noFill/>
        </p:spPr>
      </p:pic>
      <p:pic>
        <p:nvPicPr>
          <p:cNvPr id="22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27300" y="3007982"/>
            <a:ext cx="521904" cy="811851"/>
          </a:xfrm>
          <a:prstGeom prst="rect">
            <a:avLst/>
          </a:prstGeom>
          <a:noFill/>
        </p:spPr>
      </p:pic>
      <p:pic>
        <p:nvPicPr>
          <p:cNvPr id="23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27300" y="3860356"/>
            <a:ext cx="521904" cy="811851"/>
          </a:xfrm>
          <a:prstGeom prst="rect">
            <a:avLst/>
          </a:prstGeom>
          <a:noFill/>
        </p:spPr>
      </p:pic>
      <p:pic>
        <p:nvPicPr>
          <p:cNvPr id="24" name="Picture 6" descr="HDFS Storage Efficiency Using Tiered Storage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84852" y="2587177"/>
            <a:ext cx="2313456" cy="1279295"/>
          </a:xfrm>
          <a:prstGeom prst="rect">
            <a:avLst/>
          </a:prstGeom>
          <a:noFill/>
        </p:spPr>
      </p:pic>
      <p:sp>
        <p:nvSpPr>
          <p:cNvPr id="25" name="Rectangle 24"/>
          <p:cNvSpPr/>
          <p:nvPr/>
        </p:nvSpPr>
        <p:spPr>
          <a:xfrm rot="17016510">
            <a:off x="-666732" y="2777037"/>
            <a:ext cx="247375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???????</a:t>
            </a:r>
          </a:p>
        </p:txBody>
      </p:sp>
      <p:sp>
        <p:nvSpPr>
          <p:cNvPr id="26" name="Rectangle 25"/>
          <p:cNvSpPr/>
          <p:nvPr/>
        </p:nvSpPr>
        <p:spPr>
          <a:xfrm rot="20316964">
            <a:off x="5458515" y="1983406"/>
            <a:ext cx="838691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</a:t>
            </a:r>
          </a:p>
        </p:txBody>
      </p:sp>
      <p:sp>
        <p:nvSpPr>
          <p:cNvPr id="27" name="Rectangle 26"/>
          <p:cNvSpPr/>
          <p:nvPr/>
        </p:nvSpPr>
        <p:spPr>
          <a:xfrm rot="1063751">
            <a:off x="5676762" y="3687501"/>
            <a:ext cx="838691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41790" y="2772812"/>
            <a:ext cx="838691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5346" y="5752767"/>
            <a:ext cx="914724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How to </a:t>
            </a:r>
            <a:r>
              <a:rPr lang="fr-FR" sz="2800" b="1"/>
              <a:t>Assign</a:t>
            </a:r>
            <a:r>
              <a:rPr lang="fr-FR" sz="2800" b="1"/>
              <a:t>     </a:t>
            </a:r>
            <a:r>
              <a:rPr lang="fr-FR" sz="2800"/>
              <a:t>N x Files – P x blocks </a:t>
            </a:r>
            <a:r>
              <a:rPr lang="fr-FR" sz="2800">
                <a:sym typeface="Wingdings"/>
              </a:rPr>
              <a:t>  to Q x </a:t>
            </a:r>
            <a:r>
              <a:rPr lang="fr-FR" sz="2800">
                <a:sym typeface="Wingdings"/>
              </a:rPr>
              <a:t>Executors</a:t>
            </a:r>
            <a:r>
              <a:rPr lang="fr-FR" sz="2800" b="1">
                <a:sym typeface="Wingdings"/>
              </a:rPr>
              <a:t>  ??</a:t>
            </a:r>
            <a:endParaRPr lang="fr-FR" sz="2800" b="1"/>
          </a:p>
          <a:p>
            <a:r>
              <a:rPr lang="fr-FR" sz="2800" b="1"/>
              <a:t> + </a:t>
            </a:r>
            <a:r>
              <a:rPr lang="fr-FR" sz="2800" b="1"/>
              <a:t>Retry</a:t>
            </a:r>
            <a:r>
              <a:rPr lang="fr-FR" sz="2800" b="1"/>
              <a:t> on </a:t>
            </a:r>
            <a:r>
              <a:rPr lang="fr-FR" sz="2800" b="1"/>
              <a:t>Error</a:t>
            </a:r>
            <a:r>
              <a:rPr lang="fr-FR" sz="2800" b="1"/>
              <a:t> ??  +  </a:t>
            </a:r>
            <a:r>
              <a:rPr lang="fr-FR" sz="2800" b="1"/>
              <a:t>Communicate</a:t>
            </a:r>
            <a:r>
              <a:rPr lang="fr-FR" sz="2800" b="1"/>
              <a:t> more ??</a:t>
            </a:r>
            <a:endParaRPr lang="fr-FR" sz="2800"/>
          </a:p>
        </p:txBody>
      </p:sp>
      <p:sp>
        <p:nvSpPr>
          <p:cNvPr id="30" name="Rectangle 29"/>
          <p:cNvSpPr/>
          <p:nvPr/>
        </p:nvSpPr>
        <p:spPr>
          <a:xfrm>
            <a:off x="1096655" y="5768155"/>
            <a:ext cx="838691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1211232" cy="132556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Analogy</a:t>
            </a:r>
            <a:r>
              <a:rPr lang="fr-FR"/>
              <a:t> : How to </a:t>
            </a:r>
            <a:r>
              <a:rPr lang="fr-FR"/>
              <a:t>play</a:t>
            </a:r>
            <a:r>
              <a:rPr lang="fr-FR"/>
              <a:t> music ?</a:t>
            </a:r>
            <a:br>
              <a:rPr lang="fr-FR"/>
            </a:br>
            <a:r>
              <a:rPr lang="fr-FR"/>
              <a:t> ( N </a:t>
            </a:r>
            <a:r>
              <a:rPr lang="fr-FR"/>
              <a:t>musicians</a:t>
            </a:r>
            <a:r>
              <a:rPr lang="fr-FR"/>
              <a:t> </a:t>
            </a:r>
            <a:r>
              <a:rPr lang="fr-FR"/>
              <a:t>without</a:t>
            </a:r>
            <a:r>
              <a:rPr lang="fr-FR"/>
              <a:t> 1 </a:t>
            </a:r>
            <a:r>
              <a:rPr lang="fr-FR"/>
              <a:t>Conductor</a:t>
            </a:r>
            <a:r>
              <a:rPr lang="fr-FR"/>
              <a:t>  != 1 Orchestra  )</a:t>
            </a:r>
          </a:p>
        </p:txBody>
      </p:sp>
      <p:pic>
        <p:nvPicPr>
          <p:cNvPr id="39938" name="Picture 2" descr="Conductor Music, Personal Use, fictional Character, silhouette, concert png  | PNGWi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24257" y="2147409"/>
            <a:ext cx="1154828" cy="2182129"/>
          </a:xfrm>
          <a:prstGeom prst="rect">
            <a:avLst/>
          </a:prstGeom>
          <a:noFill/>
        </p:spPr>
      </p:pic>
      <p:sp>
        <p:nvSpPr>
          <p:cNvPr id="4" name="TextBox 3"/>
          <p:cNvSpPr txBox="1"/>
          <p:nvPr/>
        </p:nvSpPr>
        <p:spPr>
          <a:xfrm>
            <a:off x="1035678" y="4919370"/>
            <a:ext cx="24851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/>
              <a:t>spark</a:t>
            </a:r>
            <a:r>
              <a:rPr lang="fr-FR" sz="3200" b="1"/>
              <a:t>-driver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20781" y="4643744"/>
            <a:ext cx="834687" cy="1298403"/>
          </a:xfrm>
          <a:prstGeom prst="rect">
            <a:avLst/>
          </a:prstGeom>
          <a:noFill/>
        </p:spPr>
      </p:pic>
      <p:pic>
        <p:nvPicPr>
          <p:cNvPr id="39942" name="Picture 6" descr="2,029 Orchestra Silhouette Illustrations &amp; Clip Art - iStock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960499" y="2009759"/>
            <a:ext cx="5808713" cy="2500905"/>
          </a:xfrm>
          <a:prstGeom prst="rect">
            <a:avLst/>
          </a:prstGeom>
          <a:noFill/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92966" y="4320390"/>
            <a:ext cx="834687" cy="1298403"/>
          </a:xfrm>
          <a:prstGeom prst="rect">
            <a:avLst/>
          </a:prstGeom>
          <a:noFill/>
        </p:spPr>
      </p:pic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227653" y="4510664"/>
            <a:ext cx="834687" cy="1298403"/>
          </a:xfrm>
          <a:prstGeom prst="rect">
            <a:avLst/>
          </a:prstGeom>
          <a:noFill/>
        </p:spPr>
      </p:pic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063414" y="4740128"/>
            <a:ext cx="834687" cy="1298403"/>
          </a:xfrm>
          <a:prstGeom prst="rect">
            <a:avLst/>
          </a:prstGeom>
          <a:noFill/>
        </p:spPr>
      </p:pic>
      <p:pic>
        <p:nvPicPr>
          <p:cNvPr id="22" name="Picture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08329" y="4969592"/>
            <a:ext cx="834687" cy="1298403"/>
          </a:xfrm>
          <a:prstGeom prst="rect">
            <a:avLst/>
          </a:prstGeom>
          <a:noFill/>
        </p:spPr>
      </p:pic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743016" y="5159866"/>
            <a:ext cx="834687" cy="1298403"/>
          </a:xfrm>
          <a:prstGeom prst="rect">
            <a:avLst/>
          </a:prstGeom>
          <a:noFill/>
        </p:spPr>
      </p:pic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78777" y="5389330"/>
            <a:ext cx="834687" cy="1298403"/>
          </a:xfrm>
          <a:prstGeom prst="rect">
            <a:avLst/>
          </a:prstGeom>
          <a:noFill/>
        </p:spPr>
      </p:pic>
      <p:sp>
        <p:nvSpPr>
          <p:cNvPr id="25" name="TextBox 24"/>
          <p:cNvSpPr txBox="1"/>
          <p:nvPr/>
        </p:nvSpPr>
        <p:spPr>
          <a:xfrm>
            <a:off x="5522678" y="5908100"/>
            <a:ext cx="3300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/>
              <a:t>spark-executors</a:t>
            </a:r>
            <a:endParaRPr lang="fr-FR" sz="3200" b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Read N Files – </a:t>
            </a:r>
            <a:r>
              <a:rPr lang="fr-FR"/>
              <a:t>assign</a:t>
            </a:r>
            <a:r>
              <a:rPr lang="fr-FR"/>
              <a:t> </a:t>
            </a:r>
            <a:r>
              <a:rPr lang="fr-FR"/>
              <a:t>Tasks</a:t>
            </a:r>
            <a:r>
              <a:rPr lang="fr-FR"/>
              <a:t> to </a:t>
            </a:r>
            <a:r>
              <a:rPr lang="fr-FR"/>
              <a:t>Executors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2945597" y="29279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Folded Corner 4"/>
          <p:cNvSpPr/>
          <p:nvPr/>
        </p:nvSpPr>
        <p:spPr>
          <a:xfrm>
            <a:off x="3097997" y="30803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Folded Corner 5"/>
          <p:cNvSpPr/>
          <p:nvPr/>
        </p:nvSpPr>
        <p:spPr>
          <a:xfrm>
            <a:off x="3250397" y="32327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726866" y="3906668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 Files</a:t>
            </a:r>
          </a:p>
        </p:txBody>
      </p:sp>
      <p:sp>
        <p:nvSpPr>
          <p:cNvPr id="8" name="Arrow: Right 7"/>
          <p:cNvSpPr/>
          <p:nvPr/>
        </p:nvSpPr>
        <p:spPr>
          <a:xfrm rot="20831593">
            <a:off x="5757841" y="2466301"/>
            <a:ext cx="745725" cy="4838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/>
          <p:cNvSpPr/>
          <p:nvPr/>
        </p:nvSpPr>
        <p:spPr>
          <a:xfrm>
            <a:off x="5814276" y="2969167"/>
            <a:ext cx="745725" cy="4123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/>
          <p:cNvSpPr/>
          <p:nvPr/>
        </p:nvSpPr>
        <p:spPr>
          <a:xfrm rot="1413933">
            <a:off x="5768242" y="3451075"/>
            <a:ext cx="745725" cy="4661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: Rounded Corners 10"/>
          <p:cNvSpPr/>
          <p:nvPr/>
        </p:nvSpPr>
        <p:spPr>
          <a:xfrm>
            <a:off x="9248387" y="184657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9232343" y="286948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9246403" y="38939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9710026" y="203481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9704821" y="3033747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9870234" y="399790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10177299" y="318763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10173814" y="223335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1675424"/>
            <a:ext cx="663946" cy="1032806"/>
          </a:xfrm>
          <a:prstGeom prst="rect">
            <a:avLst/>
          </a:prstGeom>
          <a:noFill/>
        </p:spPr>
      </p:pic>
      <p:pic>
        <p:nvPicPr>
          <p:cNvPr id="20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2756336"/>
            <a:ext cx="663945" cy="1032803"/>
          </a:xfrm>
          <a:prstGeom prst="rect">
            <a:avLst/>
          </a:prstGeom>
          <a:noFill/>
        </p:spPr>
      </p:pic>
      <p:pic>
        <p:nvPicPr>
          <p:cNvPr id="21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8" y="3830855"/>
            <a:ext cx="662943" cy="1031245"/>
          </a:xfrm>
          <a:prstGeom prst="rect">
            <a:avLst/>
          </a:prstGeom>
          <a:noFill/>
        </p:spPr>
      </p:pic>
      <p:pic>
        <p:nvPicPr>
          <p:cNvPr id="22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4852" y="2587177"/>
            <a:ext cx="2313456" cy="1279295"/>
          </a:xfrm>
          <a:prstGeom prst="rect">
            <a:avLst/>
          </a:prstGeom>
          <a:noFill/>
        </p:spPr>
      </p:pic>
      <p:pic>
        <p:nvPicPr>
          <p:cNvPr id="27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974370" y="4834414"/>
            <a:ext cx="724351" cy="1126769"/>
          </a:xfrm>
          <a:prstGeom prst="rect">
            <a:avLst/>
          </a:prstGeom>
          <a:noFill/>
        </p:spPr>
      </p:pic>
      <p:sp>
        <p:nvSpPr>
          <p:cNvPr id="28" name="Arrow: Right 27"/>
          <p:cNvSpPr/>
          <p:nvPr/>
        </p:nvSpPr>
        <p:spPr>
          <a:xfrm rot="19144861">
            <a:off x="5822438" y="4490460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19363560">
            <a:off x="6015724" y="4771820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row: Right 29"/>
          <p:cNvSpPr/>
          <p:nvPr/>
        </p:nvSpPr>
        <p:spPr>
          <a:xfrm rot="20050494">
            <a:off x="6091850" y="4994406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row: Bent-Up 30"/>
          <p:cNvSpPr/>
          <p:nvPr/>
        </p:nvSpPr>
        <p:spPr>
          <a:xfrm flipH="1">
            <a:off x="1361541" y="5261382"/>
            <a:ext cx="1195002" cy="917432"/>
          </a:xfrm>
          <a:prstGeom prst="bentUpArrow">
            <a:avLst>
              <a:gd name="adj1" fmla="val 13747"/>
              <a:gd name="adj2" fmla="val 25000"/>
              <a:gd name="adj3" fmla="val 282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TextBox 31"/>
          <p:cNvSpPr txBox="1"/>
          <p:nvPr/>
        </p:nvSpPr>
        <p:spPr>
          <a:xfrm>
            <a:off x="484852" y="6070201"/>
            <a:ext cx="33389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(1) Directory List files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4224" y="6179002"/>
            <a:ext cx="24851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</a:t>
            </a:r>
            <a:r>
              <a:rPr lang="fr-FR" sz="3200"/>
              <a:t>-driver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8867" y="6190217"/>
            <a:ext cx="3300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spark-executors</a:t>
            </a:r>
            <a:endParaRPr lang="fr-FR" sz="3200"/>
          </a:p>
        </p:txBody>
      </p:sp>
      <p:sp>
        <p:nvSpPr>
          <p:cNvPr id="35" name="Arrow: Bent-Up 34"/>
          <p:cNvSpPr/>
          <p:nvPr/>
        </p:nvSpPr>
        <p:spPr>
          <a:xfrm flipH="1">
            <a:off x="3044208" y="4243551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Bent-Up 35"/>
          <p:cNvSpPr/>
          <p:nvPr/>
        </p:nvSpPr>
        <p:spPr>
          <a:xfrm flipH="1">
            <a:off x="3225078" y="4128021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Bent-Up 36"/>
          <p:cNvSpPr/>
          <p:nvPr/>
        </p:nvSpPr>
        <p:spPr>
          <a:xfrm flipH="1">
            <a:off x="3431830" y="3991355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2502904" y="5059368"/>
            <a:ext cx="236391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(2) </a:t>
            </a:r>
            <a:r>
              <a:rPr lang="fr-FR" sz="2800" b="1"/>
              <a:t>read</a:t>
            </a:r>
            <a:r>
              <a:rPr lang="fr-FR" sz="2800" b="1"/>
              <a:t> N files</a:t>
            </a:r>
          </a:p>
          <a:p>
            <a:r>
              <a:rPr lang="fr-FR" sz="2800" b="1"/>
              <a:t> </a:t>
            </a:r>
            <a:r>
              <a:rPr lang="fr-FR" sz="2800" b="1"/>
              <a:t>metadata</a:t>
            </a:r>
            <a:endParaRPr lang="fr-FR" sz="2800" b="1"/>
          </a:p>
        </p:txBody>
      </p:sp>
      <p:sp>
        <p:nvSpPr>
          <p:cNvPr id="39" name="TextBox 38"/>
          <p:cNvSpPr txBox="1"/>
          <p:nvPr/>
        </p:nvSpPr>
        <p:spPr>
          <a:xfrm>
            <a:off x="6065914" y="5109308"/>
            <a:ext cx="41600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(3) </a:t>
            </a:r>
            <a:r>
              <a:rPr lang="fr-FR" sz="2800" b="1"/>
              <a:t>Send</a:t>
            </a:r>
            <a:r>
              <a:rPr lang="fr-FR" sz="2800" b="1"/>
              <a:t> </a:t>
            </a:r>
            <a:r>
              <a:rPr lang="fr-FR" sz="2800" b="1"/>
              <a:t>tasks</a:t>
            </a:r>
            <a:r>
              <a:rPr lang="fr-FR" sz="2800" b="1"/>
              <a:t> to </a:t>
            </a:r>
            <a:r>
              <a:rPr lang="fr-FR" sz="2800" b="1"/>
              <a:t>executors</a:t>
            </a:r>
            <a:endParaRPr lang="fr-FR" sz="2800" b="1"/>
          </a:p>
          <a:p>
            <a:r>
              <a:rPr lang="fr-FR" sz="2800" b="1"/>
              <a:t>Task_i</a:t>
            </a:r>
            <a:r>
              <a:rPr lang="fr-FR" sz="2800" b="1"/>
              <a:t> = « 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file_j</a:t>
            </a:r>
            <a:r>
              <a:rPr lang="fr-FR" sz="2800" b="1"/>
              <a:t> 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02826" y="1836100"/>
            <a:ext cx="2791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(4) </a:t>
            </a:r>
            <a:r>
              <a:rPr lang="fr-FR" sz="2800" b="1"/>
              <a:t>exec</a:t>
            </a:r>
            <a:r>
              <a:rPr lang="fr-FR" sz="2800" b="1"/>
              <a:t> 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task</a:t>
            </a:r>
            <a:endParaRPr lang="fr-FR" sz="2800" b="1"/>
          </a:p>
        </p:txBody>
      </p:sp>
      <p:sp>
        <p:nvSpPr>
          <p:cNvPr id="41" name="Arrow: Right 40"/>
          <p:cNvSpPr/>
          <p:nvPr/>
        </p:nvSpPr>
        <p:spPr>
          <a:xfrm rot="19144861" flipH="1" flipV="1">
            <a:off x="7645909" y="2765005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 rot="19470135" flipH="1" flipV="1">
            <a:off x="7532957" y="3671287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rot="20085989" flipH="1" flipV="1">
            <a:off x="7555053" y="4436512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7166378" y="1074496"/>
            <a:ext cx="46360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(5) </a:t>
            </a:r>
            <a:r>
              <a:rPr lang="fr-FR" sz="2800" b="1"/>
              <a:t>Send</a:t>
            </a:r>
            <a:r>
              <a:rPr lang="fr-FR" sz="2800" b="1"/>
              <a:t> </a:t>
            </a:r>
            <a:r>
              <a:rPr lang="fr-FR" sz="2800" b="1"/>
              <a:t>tasks</a:t>
            </a:r>
            <a:r>
              <a:rPr lang="fr-FR" sz="2800" b="1"/>
              <a:t> </a:t>
            </a:r>
            <a:r>
              <a:rPr lang="fr-FR" sz="2800" b="1"/>
              <a:t>progress</a:t>
            </a:r>
            <a:r>
              <a:rPr lang="fr-FR" sz="2800" b="1"/>
              <a:t>/</a:t>
            </a:r>
            <a:r>
              <a:rPr lang="fr-FR" sz="2800" b="1"/>
              <a:t>status</a:t>
            </a:r>
            <a:endParaRPr lang="fr-FR" sz="2800" b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Remark</a:t>
            </a:r>
            <a:r>
              <a:rPr lang="fr-FR"/>
              <a:t> [1/2] on </a:t>
            </a:r>
            <a:r>
              <a:rPr lang="fr-FR"/>
              <a:t>Parallelism</a:t>
            </a:r>
            <a:br>
              <a:rPr lang="fr-FR"/>
            </a:br>
            <a:r>
              <a:rPr lang="fr-FR"/>
              <a:t>only</a:t>
            </a:r>
            <a:r>
              <a:rPr lang="fr-FR"/>
              <a:t> 1 File -&gt; </a:t>
            </a:r>
            <a:r>
              <a:rPr lang="fr-FR"/>
              <a:t>only</a:t>
            </a:r>
            <a:r>
              <a:rPr lang="fr-FR"/>
              <a:t> 1 </a:t>
            </a:r>
            <a:r>
              <a:rPr lang="fr-FR"/>
              <a:t>Task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2945597" y="2927984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796606" y="3549421"/>
            <a:ext cx="845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1 File</a:t>
            </a:r>
          </a:p>
        </p:txBody>
      </p:sp>
      <p:sp>
        <p:nvSpPr>
          <p:cNvPr id="8" name="Arrow: Right 7"/>
          <p:cNvSpPr/>
          <p:nvPr/>
        </p:nvSpPr>
        <p:spPr>
          <a:xfrm rot="20831593">
            <a:off x="5757841" y="2466301"/>
            <a:ext cx="745725" cy="4838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: Rounded Corners 10"/>
          <p:cNvSpPr/>
          <p:nvPr/>
        </p:nvSpPr>
        <p:spPr>
          <a:xfrm>
            <a:off x="9248387" y="184657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9232343" y="286948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9246403" y="38939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9710026" y="203481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9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1675424"/>
            <a:ext cx="663946" cy="1032806"/>
          </a:xfrm>
          <a:prstGeom prst="rect">
            <a:avLst/>
          </a:prstGeom>
          <a:noFill/>
        </p:spPr>
      </p:pic>
      <p:pic>
        <p:nvPicPr>
          <p:cNvPr id="20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7" y="2756336"/>
            <a:ext cx="663945" cy="1032803"/>
          </a:xfrm>
          <a:prstGeom prst="rect">
            <a:avLst/>
          </a:prstGeom>
          <a:noFill/>
        </p:spPr>
      </p:pic>
      <p:pic>
        <p:nvPicPr>
          <p:cNvPr id="21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76708" y="3830855"/>
            <a:ext cx="662943" cy="1031245"/>
          </a:xfrm>
          <a:prstGeom prst="rect">
            <a:avLst/>
          </a:prstGeom>
          <a:noFill/>
        </p:spPr>
      </p:pic>
      <p:pic>
        <p:nvPicPr>
          <p:cNvPr id="22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4852" y="2587177"/>
            <a:ext cx="2313456" cy="1279295"/>
          </a:xfrm>
          <a:prstGeom prst="rect">
            <a:avLst/>
          </a:prstGeom>
          <a:noFill/>
        </p:spPr>
      </p:pic>
      <p:pic>
        <p:nvPicPr>
          <p:cNvPr id="23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974370" y="4834414"/>
            <a:ext cx="724351" cy="1126769"/>
          </a:xfrm>
          <a:prstGeom prst="rect">
            <a:avLst/>
          </a:prstGeom>
          <a:noFill/>
        </p:spPr>
      </p:pic>
      <p:sp>
        <p:nvSpPr>
          <p:cNvPr id="24" name="Arrow: Right 23"/>
          <p:cNvSpPr/>
          <p:nvPr/>
        </p:nvSpPr>
        <p:spPr>
          <a:xfrm rot="19144861">
            <a:off x="5822438" y="4490460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Bent-Up 26"/>
          <p:cNvSpPr/>
          <p:nvPr/>
        </p:nvSpPr>
        <p:spPr>
          <a:xfrm flipH="1">
            <a:off x="1361541" y="5261382"/>
            <a:ext cx="1195002" cy="917432"/>
          </a:xfrm>
          <a:prstGeom prst="bentUpArrow">
            <a:avLst>
              <a:gd name="adj1" fmla="val 13747"/>
              <a:gd name="adj2" fmla="val 25000"/>
              <a:gd name="adj3" fmla="val 282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484852" y="6070201"/>
            <a:ext cx="33389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(1) Directory List 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4224" y="6179002"/>
            <a:ext cx="24851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</a:t>
            </a:r>
            <a:r>
              <a:rPr lang="fr-FR" sz="3200"/>
              <a:t>-driver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8867" y="6190217"/>
            <a:ext cx="3300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spark-executors</a:t>
            </a:r>
            <a:endParaRPr lang="fr-FR" sz="3200"/>
          </a:p>
        </p:txBody>
      </p:sp>
      <p:sp>
        <p:nvSpPr>
          <p:cNvPr id="31" name="Arrow: Bent-Up 30"/>
          <p:cNvSpPr/>
          <p:nvPr/>
        </p:nvSpPr>
        <p:spPr>
          <a:xfrm flipH="1">
            <a:off x="3044208" y="4243551"/>
            <a:ext cx="1195002" cy="917432"/>
          </a:xfrm>
          <a:prstGeom prst="bentUpArrow">
            <a:avLst>
              <a:gd name="adj1" fmla="val 5709"/>
              <a:gd name="adj2" fmla="val 11738"/>
              <a:gd name="adj3" fmla="val 338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2502904" y="5059368"/>
            <a:ext cx="190225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(2) </a:t>
            </a:r>
            <a:r>
              <a:rPr lang="fr-FR" sz="2800" b="1"/>
              <a:t>read</a:t>
            </a:r>
            <a:r>
              <a:rPr lang="fr-FR" sz="2800" b="1"/>
              <a:t> file</a:t>
            </a:r>
          </a:p>
          <a:p>
            <a:r>
              <a:rPr lang="fr-FR" sz="2800" b="1"/>
              <a:t> </a:t>
            </a:r>
            <a:r>
              <a:rPr lang="fr-FR" sz="2800" b="1"/>
              <a:t>metadata</a:t>
            </a:r>
            <a:endParaRPr lang="fr-FR" sz="2800" b="1"/>
          </a:p>
        </p:txBody>
      </p:sp>
      <p:sp>
        <p:nvSpPr>
          <p:cNvPr id="35" name="TextBox 34"/>
          <p:cNvSpPr txBox="1"/>
          <p:nvPr/>
        </p:nvSpPr>
        <p:spPr>
          <a:xfrm>
            <a:off x="6065914" y="5109308"/>
            <a:ext cx="41600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(3) </a:t>
            </a:r>
            <a:r>
              <a:rPr lang="fr-FR" sz="2800" b="1"/>
              <a:t>Send</a:t>
            </a:r>
            <a:r>
              <a:rPr lang="fr-FR" sz="2800" b="1"/>
              <a:t> </a:t>
            </a:r>
            <a:r>
              <a:rPr lang="fr-FR" sz="2800" b="1"/>
              <a:t>task</a:t>
            </a:r>
            <a:r>
              <a:rPr lang="fr-FR" sz="2800" b="1"/>
              <a:t> to </a:t>
            </a:r>
            <a:r>
              <a:rPr lang="fr-FR" sz="2800" b="1"/>
              <a:t>executors</a:t>
            </a:r>
            <a:endParaRPr lang="fr-FR" sz="2800" b="1"/>
          </a:p>
          <a:p>
            <a:r>
              <a:rPr lang="fr-FR" sz="2800" b="1"/>
              <a:t>Task_i</a:t>
            </a:r>
            <a:r>
              <a:rPr lang="fr-FR" sz="2800" b="1"/>
              <a:t> = « 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file_j</a:t>
            </a:r>
            <a:r>
              <a:rPr lang="fr-FR" sz="2800" b="1"/>
              <a:t> 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02826" y="1836100"/>
            <a:ext cx="2791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(4) </a:t>
            </a:r>
            <a:r>
              <a:rPr lang="fr-FR" sz="2800" b="1"/>
              <a:t>exec</a:t>
            </a:r>
            <a:r>
              <a:rPr lang="fr-FR" sz="2800" b="1"/>
              <a:t> </a:t>
            </a:r>
            <a:r>
              <a:rPr lang="fr-FR" sz="2800" b="1"/>
              <a:t>read</a:t>
            </a:r>
            <a:r>
              <a:rPr lang="fr-FR" sz="2800" b="1"/>
              <a:t> </a:t>
            </a:r>
            <a:r>
              <a:rPr lang="fr-FR" sz="2800" b="1"/>
              <a:t>task</a:t>
            </a:r>
            <a:endParaRPr lang="fr-FR" sz="2800" b="1"/>
          </a:p>
        </p:txBody>
      </p:sp>
      <p:sp>
        <p:nvSpPr>
          <p:cNvPr id="37" name="Arrow: Right 36"/>
          <p:cNvSpPr/>
          <p:nvPr/>
        </p:nvSpPr>
        <p:spPr>
          <a:xfrm rot="19144861" flipH="1" flipV="1">
            <a:off x="7645909" y="2765005"/>
            <a:ext cx="673741" cy="1084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62" name="Picture 2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564721" y="2672555"/>
            <a:ext cx="2166524" cy="216652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Remark</a:t>
            </a:r>
            <a:r>
              <a:rPr lang="fr-FR"/>
              <a:t> [2/2] on </a:t>
            </a:r>
            <a:r>
              <a:rPr lang="fr-FR"/>
              <a:t>Parallelism</a:t>
            </a:r>
            <a:br>
              <a:rPr lang="fr-FR"/>
            </a:br>
            <a:r>
              <a:rPr lang="fr-FR"/>
              <a:t>Splittable</a:t>
            </a:r>
            <a:r>
              <a:rPr lang="fr-FR"/>
              <a:t> File format (parquet).. Like </a:t>
            </a:r>
            <a:r>
              <a:rPr lang="fr-FR"/>
              <a:t>dir</a:t>
            </a:r>
            <a:endParaRPr lang="fr-FR"/>
          </a:p>
        </p:txBody>
      </p:sp>
      <p:sp>
        <p:nvSpPr>
          <p:cNvPr id="4" name="Rectangle: Folded Corner 3"/>
          <p:cNvSpPr/>
          <p:nvPr/>
        </p:nvSpPr>
        <p:spPr>
          <a:xfrm>
            <a:off x="3850358" y="2109239"/>
            <a:ext cx="2088519" cy="4096214"/>
          </a:xfrm>
          <a:prstGeom prst="foldedCorner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6" descr="HDFS Storage Efficiency Using Tiered Storag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12313" y="1954358"/>
            <a:ext cx="2313456" cy="1279295"/>
          </a:xfrm>
          <a:prstGeom prst="rect">
            <a:avLst/>
          </a:prstGeom>
          <a:noFill/>
        </p:spPr>
      </p:pic>
      <p:sp>
        <p:nvSpPr>
          <p:cNvPr id="9" name="Rectangle: Folded Corner 8"/>
          <p:cNvSpPr/>
          <p:nvPr/>
        </p:nvSpPr>
        <p:spPr>
          <a:xfrm>
            <a:off x="3990270" y="2197976"/>
            <a:ext cx="1773887" cy="995087"/>
          </a:xfrm>
          <a:prstGeom prst="foldedCorner">
            <a:avLst>
              <a:gd name="adj" fmla="val 36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: Folded Corner 9"/>
          <p:cNvSpPr/>
          <p:nvPr/>
        </p:nvSpPr>
        <p:spPr>
          <a:xfrm>
            <a:off x="3990272" y="3281800"/>
            <a:ext cx="1773887" cy="995087"/>
          </a:xfrm>
          <a:prstGeom prst="foldedCorner">
            <a:avLst>
              <a:gd name="adj" fmla="val 36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: Folded Corner 10"/>
          <p:cNvSpPr/>
          <p:nvPr/>
        </p:nvSpPr>
        <p:spPr>
          <a:xfrm>
            <a:off x="3990270" y="4387113"/>
            <a:ext cx="1773887" cy="995087"/>
          </a:xfrm>
          <a:prstGeom prst="foldedCorner">
            <a:avLst>
              <a:gd name="adj" fmla="val 364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Folded Corner 11"/>
          <p:cNvSpPr/>
          <p:nvPr/>
        </p:nvSpPr>
        <p:spPr>
          <a:xfrm>
            <a:off x="3990270" y="5625715"/>
            <a:ext cx="1773887" cy="475785"/>
          </a:xfrm>
          <a:prstGeom prst="foldedCorner">
            <a:avLst>
              <a:gd name="adj" fmla="val 36471"/>
            </a:avLst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3850358" y="6320315"/>
            <a:ext cx="2326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1 </a:t>
            </a:r>
            <a:r>
              <a:rPr lang="fr-FR" sz="2800"/>
              <a:t>splittable</a:t>
            </a:r>
            <a:r>
              <a:rPr lang="fr-FR" sz="2800"/>
              <a:t> file</a:t>
            </a:r>
          </a:p>
        </p:txBody>
      </p:sp>
      <p:sp>
        <p:nvSpPr>
          <p:cNvPr id="15" name="Arrow: Bent-Up 14"/>
          <p:cNvSpPr/>
          <p:nvPr/>
        </p:nvSpPr>
        <p:spPr>
          <a:xfrm rot="16200000" flipV="1">
            <a:off x="2842881" y="4575412"/>
            <a:ext cx="1407821" cy="692784"/>
          </a:xfrm>
          <a:prstGeom prst="bentUpArrow">
            <a:avLst>
              <a:gd name="adj1" fmla="val 12016"/>
              <a:gd name="adj2" fmla="val 25000"/>
              <a:gd name="adj3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Left Brace 15"/>
          <p:cNvSpPr/>
          <p:nvPr/>
        </p:nvSpPr>
        <p:spPr>
          <a:xfrm flipH="1">
            <a:off x="6415548" y="5625714"/>
            <a:ext cx="457200" cy="47578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7283051" y="5297512"/>
            <a:ext cx="47885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/>
              <a:t>File </a:t>
            </a:r>
            <a:r>
              <a:rPr lang="fr-FR" sz="2800" b="1"/>
              <a:t>metadata</a:t>
            </a:r>
            <a:endParaRPr lang="fr-FR" sz="2800" b="1"/>
          </a:p>
          <a:p>
            <a:r>
              <a:rPr lang="fr-FR" sz="2800" b="1"/>
              <a:t>= </a:t>
            </a:r>
            <a:r>
              <a:rPr lang="fr-FR" sz="2800" b="1"/>
              <a:t>schema</a:t>
            </a:r>
            <a:r>
              <a:rPr lang="fr-FR" sz="2800" b="1"/>
              <a:t> + N blocks infos </a:t>
            </a:r>
            <a:br>
              <a:rPr lang="fr-FR" sz="2800" b="1"/>
            </a:br>
            <a:r>
              <a:rPr lang="fr-FR" sz="2800" b="1"/>
              <a:t>                              (offset + stats)</a:t>
            </a:r>
          </a:p>
        </p:txBody>
      </p:sp>
      <p:sp>
        <p:nvSpPr>
          <p:cNvPr id="18" name="Arrow: Bent-Up 17"/>
          <p:cNvSpPr/>
          <p:nvPr/>
        </p:nvSpPr>
        <p:spPr>
          <a:xfrm rot="16200000" flipV="1">
            <a:off x="1549898" y="3301583"/>
            <a:ext cx="3564622" cy="1083641"/>
          </a:xfrm>
          <a:prstGeom prst="bentUpArrow">
            <a:avLst>
              <a:gd name="adj1" fmla="val 7776"/>
              <a:gd name="adj2" fmla="val 14112"/>
              <a:gd name="adj3" fmla="val 370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Bent-Up 18"/>
          <p:cNvSpPr/>
          <p:nvPr/>
        </p:nvSpPr>
        <p:spPr>
          <a:xfrm rot="16200000" flipV="1">
            <a:off x="2177073" y="3928758"/>
            <a:ext cx="2499057" cy="894856"/>
          </a:xfrm>
          <a:prstGeom prst="bentUpArrow">
            <a:avLst>
              <a:gd name="adj1" fmla="val 7660"/>
              <a:gd name="adj2" fmla="val 18971"/>
              <a:gd name="adj3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7149896" y="2965703"/>
            <a:ext cx="468814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N x Blocks</a:t>
            </a:r>
            <a:br>
              <a:rPr lang="fr-FR" sz="2800" b="1"/>
            </a:br>
            <a:r>
              <a:rPr lang="fr-FR" sz="2800" b="1"/>
              <a:t>   </a:t>
            </a:r>
            <a:r>
              <a:rPr lang="fr-FR" sz="2800"/>
              <a:t>(</a:t>
            </a:r>
            <a:r>
              <a:rPr lang="fr-FR" sz="2800"/>
              <a:t>usually</a:t>
            </a:r>
            <a:r>
              <a:rPr lang="fr-FR" sz="2800"/>
              <a:t> 256 MB)</a:t>
            </a:r>
            <a:endParaRPr lang="fr-FR" sz="2800" b="1"/>
          </a:p>
          <a:p>
            <a:r>
              <a:rPr lang="fr-FR" sz="2800" b="1"/>
              <a:t>   </a:t>
            </a:r>
            <a:r>
              <a:rPr lang="fr-FR" sz="2800" b="1"/>
              <a:t>independent</a:t>
            </a:r>
            <a:r>
              <a:rPr lang="fr-FR" sz="2800" b="1"/>
              <a:t>, </a:t>
            </a:r>
            <a:r>
              <a:rPr lang="fr-FR" sz="2800" b="1"/>
              <a:t>read</a:t>
            </a:r>
            <a:r>
              <a:rPr lang="fr-FR" sz="2800" b="1"/>
              <a:t> at offset</a:t>
            </a:r>
          </a:p>
        </p:txBody>
      </p:sp>
      <p:sp>
        <p:nvSpPr>
          <p:cNvPr id="21" name="Left Brace 20"/>
          <p:cNvSpPr/>
          <p:nvPr/>
        </p:nvSpPr>
        <p:spPr>
          <a:xfrm flipH="1" flipV="1">
            <a:off x="6349180" y="2197975"/>
            <a:ext cx="523568" cy="3184224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1192208" y="4820458"/>
            <a:ext cx="15486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offsets</a:t>
            </a:r>
          </a:p>
          <a:p>
            <a:r>
              <a:rPr lang="fr-FR" sz="2800" b="1"/>
              <a:t>…Like </a:t>
            </a:r>
            <a:r>
              <a:rPr lang="fr-FR" sz="2800" b="1"/>
              <a:t>dir</a:t>
            </a:r>
            <a:endParaRPr lang="fr-FR" sz="2800" b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08426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Zooming</a:t>
            </a:r>
            <a:r>
              <a:rPr lang="fr-FR"/>
              <a:t> RAW to LAKE – </a:t>
            </a:r>
            <a:r>
              <a:rPr lang="fr-FR"/>
              <a:t>Step</a:t>
            </a:r>
            <a:r>
              <a:rPr lang="fr-FR"/>
              <a:t> 2/4 : </a:t>
            </a:r>
            <a:r>
              <a:rPr lang="fr-FR"/>
              <a:t>Transform</a:t>
            </a:r>
            <a:r>
              <a:rPr lang="fr-FR"/>
              <a:t>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4" name="Rectangle: Rounded Corners 3"/>
          <p:cNvSpPr/>
          <p:nvPr/>
        </p:nvSpPr>
        <p:spPr>
          <a:xfrm>
            <a:off x="3944106" y="328674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3944105" y="404674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3957528" y="482058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4405745" y="349914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4416583" y="421101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4581359" y="492454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4889061" y="436490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869533" y="367351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510443" y="2145625"/>
            <a:ext cx="83071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&lt;Row&gt; ds2 = </a:t>
            </a:r>
            <a:r>
              <a:rPr lang="fr-FR" sz="2400">
                <a:latin typeface="Arial"/>
                <a:cs typeface="Arial"/>
              </a:rPr>
              <a:t>ds.map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 -&gt;  </a:t>
            </a:r>
            <a:r>
              <a:rPr lang="fr-FR" sz="2400">
                <a:latin typeface="Arial"/>
                <a:cs typeface="Arial"/>
              </a:rPr>
              <a:t>transformData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) )</a:t>
            </a:r>
            <a:endParaRPr lang="fr-FR" sz="2400"/>
          </a:p>
        </p:txBody>
      </p:sp>
      <p:sp>
        <p:nvSpPr>
          <p:cNvPr id="14" name="Rectangle: Rounded Corners 13"/>
          <p:cNvSpPr/>
          <p:nvPr/>
        </p:nvSpPr>
        <p:spPr>
          <a:xfrm>
            <a:off x="6776511" y="328674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6776510" y="404674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6789933" y="482058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4776011" y="3576066"/>
            <a:ext cx="2272939" cy="537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7118758" y="3463552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5233622" y="3831982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613404" y="361512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Isosceles Triangle 29"/>
          <p:cNvSpPr/>
          <p:nvPr/>
        </p:nvSpPr>
        <p:spPr>
          <a:xfrm>
            <a:off x="7060769" y="414902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Isosceles Triangle 30"/>
          <p:cNvSpPr/>
          <p:nvPr/>
        </p:nvSpPr>
        <p:spPr>
          <a:xfrm>
            <a:off x="7613404" y="4349606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/>
          <p:cNvSpPr/>
          <p:nvPr/>
        </p:nvSpPr>
        <p:spPr>
          <a:xfrm>
            <a:off x="7256246" y="493677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5304998" y="4555139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4776012" y="4258750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4960315" y="5076445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129769" y="6031210"/>
            <a:ext cx="6337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Distributed </a:t>
            </a:r>
            <a:r>
              <a:rPr lang="fr-FR" sz="2400"/>
              <a:t>Processing</a:t>
            </a:r>
            <a:r>
              <a:rPr lang="fr-FR" sz="2400"/>
              <a:t> to </a:t>
            </a:r>
            <a:r>
              <a:rPr lang="fr-FR" sz="2400"/>
              <a:t>compute</a:t>
            </a:r>
            <a:r>
              <a:rPr lang="fr-FR" sz="2400"/>
              <a:t> </a:t>
            </a:r>
            <a:r>
              <a:rPr lang="fr-FR" sz="2400"/>
              <a:t>each</a:t>
            </a:r>
            <a:r>
              <a:rPr lang="fr-FR" sz="2400"/>
              <a:t> new part</a:t>
            </a:r>
          </a:p>
        </p:txBody>
      </p:sp>
      <p:pic>
        <p:nvPicPr>
          <p:cNvPr id="2050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89130" y="3259075"/>
            <a:ext cx="423791" cy="423791"/>
          </a:xfrm>
          <a:prstGeom prst="rect">
            <a:avLst/>
          </a:prstGeom>
          <a:noFill/>
        </p:spPr>
      </p:pic>
      <p:pic>
        <p:nvPicPr>
          <p:cNvPr id="38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89130" y="3682976"/>
            <a:ext cx="423791" cy="423791"/>
          </a:xfrm>
          <a:prstGeom prst="rect">
            <a:avLst/>
          </a:prstGeom>
          <a:noFill/>
        </p:spPr>
      </p:pic>
      <p:pic>
        <p:nvPicPr>
          <p:cNvPr id="39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94258" y="4909402"/>
            <a:ext cx="423791" cy="423791"/>
          </a:xfrm>
          <a:prstGeom prst="rect">
            <a:avLst/>
          </a:prstGeom>
          <a:noFill/>
        </p:spPr>
      </p:pic>
      <p:pic>
        <p:nvPicPr>
          <p:cNvPr id="40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02233" y="4101379"/>
            <a:ext cx="423791" cy="423791"/>
          </a:xfrm>
          <a:prstGeom prst="rect">
            <a:avLst/>
          </a:prstGeom>
          <a:noFill/>
        </p:spPr>
      </p:pic>
      <p:pic>
        <p:nvPicPr>
          <p:cNvPr id="41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94258" y="4508051"/>
            <a:ext cx="423791" cy="423791"/>
          </a:xfrm>
          <a:prstGeom prst="rect">
            <a:avLst/>
          </a:prstGeom>
          <a:noFill/>
        </p:spPr>
      </p:pic>
      <p:sp>
        <p:nvSpPr>
          <p:cNvPr id="42" name="Left Brace 41"/>
          <p:cNvSpPr/>
          <p:nvPr/>
        </p:nvSpPr>
        <p:spPr>
          <a:xfrm>
            <a:off x="1752606" y="2180598"/>
            <a:ext cx="372140" cy="46790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411632" y="2207180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pic>
        <p:nvPicPr>
          <p:cNvPr id="12" name="Picture 2" descr="Magic hat magician images vectorielles, Magic hat magician vecteurs libres  de droits | Depositphotos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670" y="3576066"/>
            <a:ext cx="2044094" cy="2204972"/>
          </a:xfrm>
          <a:prstGeom prst="rect">
            <a:avLst/>
          </a:prstGeom>
          <a:noFill/>
        </p:spPr>
      </p:pic>
      <p:sp>
        <p:nvSpPr>
          <p:cNvPr id="3" name="Rectangle 2"/>
          <p:cNvSpPr/>
          <p:nvPr/>
        </p:nvSpPr>
        <p:spPr>
          <a:xfrm rot="17016510">
            <a:off x="-666732" y="2777037"/>
            <a:ext cx="247375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???????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02438" y="4001647"/>
            <a:ext cx="850991" cy="1105856"/>
          </a:xfrm>
          <a:prstGeom prst="rect">
            <a:avLst/>
          </a:prstGeom>
          <a:noFill/>
        </p:spPr>
      </p:pic>
      <p:pic>
        <p:nvPicPr>
          <p:cNvPr id="40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99849" y="2776353"/>
            <a:ext cx="850991" cy="1105856"/>
          </a:xfrm>
          <a:prstGeom prst="rect">
            <a:avLst/>
          </a:prstGeom>
          <a:noFill/>
        </p:spPr>
      </p:pic>
      <p:pic>
        <p:nvPicPr>
          <p:cNvPr id="39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97982" y="1591265"/>
            <a:ext cx="850991" cy="1105856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WholeStageCodeGen</a:t>
            </a:r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6" y="1718048"/>
            <a:ext cx="663946" cy="1032806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6" y="2798960"/>
            <a:ext cx="663945" cy="1032803"/>
          </a:xfrm>
          <a:prstGeom prst="rect">
            <a:avLst/>
          </a:prstGeom>
          <a:noFill/>
        </p:spPr>
      </p:pic>
      <p:pic>
        <p:nvPicPr>
          <p:cNvPr id="6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15647" y="3873479"/>
            <a:ext cx="662943" cy="1031245"/>
          </a:xfrm>
          <a:prstGeom prst="rect">
            <a:avLst/>
          </a:prstGeom>
          <a:noFill/>
        </p:spPr>
      </p:pic>
      <p:pic>
        <p:nvPicPr>
          <p:cNvPr id="7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8187" y="3795069"/>
            <a:ext cx="724351" cy="112676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38DCA365-8240-1AF8-0E17-6B45C6A519F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00" y="2396561"/>
          <a:ext cx="4637087" cy="1169987"/>
        </p:xfrm>
        <a:graphic>
          <a:graphicData uri="http://schemas.openxmlformats.org/presentationml/2006/ole">
            <p:oleObj xmlns:mc="http://schemas.openxmlformats.org/markup-compatibility/2006" name="Bitmap Image" r:id="rId4" imgW="4636800" imgH="116964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38DCA365-8240-1AF8-0E17-6B45C6A519F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45100" y="2396561"/>
                    <a:ext cx="4637087" cy="11699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18110" y="1117095"/>
            <a:ext cx="33577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Program</a:t>
            </a:r>
          </a:p>
          <a:p>
            <a:r>
              <a:rPr lang="fr-FR" sz="2800"/>
              <a:t>= </a:t>
            </a:r>
            <a:r>
              <a:rPr lang="fr-FR" sz="2800"/>
              <a:t>Dataset</a:t>
            </a:r>
            <a:r>
              <a:rPr lang="fr-FR" sz="2800"/>
              <a:t> instructions</a:t>
            </a:r>
          </a:p>
        </p:txBody>
      </p:sp>
      <p:pic>
        <p:nvPicPr>
          <p:cNvPr id="43010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089698" y="3768763"/>
            <a:ext cx="900342" cy="1169988"/>
          </a:xfrm>
          <a:prstGeom prst="rect">
            <a:avLst/>
          </a:prstGeom>
          <a:noFill/>
        </p:spPr>
      </p:pic>
      <p:sp>
        <p:nvSpPr>
          <p:cNvPr id="11" name="Rectangle: Rounded Corners 10"/>
          <p:cNvSpPr/>
          <p:nvPr/>
        </p:nvSpPr>
        <p:spPr>
          <a:xfrm>
            <a:off x="7498363" y="185131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: Rounded Corners 11"/>
          <p:cNvSpPr/>
          <p:nvPr/>
        </p:nvSpPr>
        <p:spPr>
          <a:xfrm>
            <a:off x="7493234" y="294226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Rounded Corners 12"/>
          <p:cNvSpPr/>
          <p:nvPr/>
        </p:nvSpPr>
        <p:spPr>
          <a:xfrm>
            <a:off x="7493234" y="4012406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7960002" y="200473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7965712" y="310653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>
            <a:off x="8117065" y="411636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8438190" y="326042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8423790" y="2238098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: Rounded Corners 18"/>
          <p:cNvSpPr/>
          <p:nvPr/>
        </p:nvSpPr>
        <p:spPr>
          <a:xfrm>
            <a:off x="10330768" y="185131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: Rounded Corners 19"/>
          <p:cNvSpPr/>
          <p:nvPr/>
        </p:nvSpPr>
        <p:spPr>
          <a:xfrm>
            <a:off x="10325639" y="294226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: Rounded Corners 20"/>
          <p:cNvSpPr/>
          <p:nvPr/>
        </p:nvSpPr>
        <p:spPr>
          <a:xfrm>
            <a:off x="10325639" y="4012406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8330268" y="2089027"/>
            <a:ext cx="2272939" cy="537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>
            <a:off x="10673015" y="1969139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8787879" y="2396561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1167661" y="217970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Isosceles Triangle 25"/>
          <p:cNvSpPr/>
          <p:nvPr/>
        </p:nvSpPr>
        <p:spPr>
          <a:xfrm>
            <a:off x="10609898" y="3044540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Isosceles Triangle 26"/>
          <p:cNvSpPr/>
          <p:nvPr/>
        </p:nvSpPr>
        <p:spPr>
          <a:xfrm>
            <a:off x="11162533" y="3245126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Isosceles Triangle 27"/>
          <p:cNvSpPr/>
          <p:nvPr/>
        </p:nvSpPr>
        <p:spPr>
          <a:xfrm>
            <a:off x="10791952" y="4128595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8854127" y="3450659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>
            <a:off x="8325141" y="3154270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8496021" y="4216652"/>
            <a:ext cx="2183045" cy="8622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1823654"/>
            <a:ext cx="423791" cy="423791"/>
          </a:xfrm>
          <a:prstGeom prst="rect">
            <a:avLst/>
          </a:prstGeom>
          <a:noFill/>
        </p:spPr>
      </p:pic>
      <p:pic>
        <p:nvPicPr>
          <p:cNvPr id="33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2247555"/>
            <a:ext cx="423791" cy="423791"/>
          </a:xfrm>
          <a:prstGeom prst="rect">
            <a:avLst/>
          </a:prstGeom>
          <a:noFill/>
        </p:spPr>
      </p:pic>
      <p:pic>
        <p:nvPicPr>
          <p:cNvPr id="34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29964" y="4027487"/>
            <a:ext cx="423791" cy="423791"/>
          </a:xfrm>
          <a:prstGeom prst="rect">
            <a:avLst/>
          </a:prstGeom>
          <a:noFill/>
        </p:spPr>
      </p:pic>
      <p:pic>
        <p:nvPicPr>
          <p:cNvPr id="35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51362" y="2930533"/>
            <a:ext cx="423791" cy="423791"/>
          </a:xfrm>
          <a:prstGeom prst="rect">
            <a:avLst/>
          </a:prstGeom>
          <a:noFill/>
        </p:spPr>
      </p:pic>
      <p:pic>
        <p:nvPicPr>
          <p:cNvPr id="36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7" y="3337205"/>
            <a:ext cx="423791" cy="423791"/>
          </a:xfrm>
          <a:prstGeom prst="rect">
            <a:avLst/>
          </a:prstGeom>
          <a:noFill/>
        </p:spPr>
      </p:pic>
      <p:pic>
        <p:nvPicPr>
          <p:cNvPr id="37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11184" y="1919404"/>
            <a:ext cx="572762" cy="744300"/>
          </a:xfrm>
          <a:prstGeom prst="rect">
            <a:avLst/>
          </a:prstGeom>
          <a:noFill/>
        </p:spPr>
      </p:pic>
      <p:pic>
        <p:nvPicPr>
          <p:cNvPr id="38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43386" y="4441136"/>
            <a:ext cx="423791" cy="423791"/>
          </a:xfrm>
          <a:prstGeom prst="rect">
            <a:avLst/>
          </a:prstGeom>
          <a:noFill/>
        </p:spPr>
      </p:pic>
      <p:sp>
        <p:nvSpPr>
          <p:cNvPr id="42" name="Arrow: Right 41"/>
          <p:cNvSpPr/>
          <p:nvPr/>
        </p:nvSpPr>
        <p:spPr>
          <a:xfrm rot="21364960">
            <a:off x="4182672" y="4069832"/>
            <a:ext cx="936824" cy="24771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rot="19887695">
            <a:off x="4018260" y="3654668"/>
            <a:ext cx="1072886" cy="2441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4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26096" y="4068986"/>
            <a:ext cx="572762" cy="744300"/>
          </a:xfrm>
          <a:prstGeom prst="rect">
            <a:avLst/>
          </a:prstGeom>
          <a:noFill/>
        </p:spPr>
      </p:pic>
      <p:pic>
        <p:nvPicPr>
          <p:cNvPr id="45" name="Picture 2" descr="What is the Difference Between Machine Code and Bytecode - Pediaa.Co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06645" y="2946962"/>
            <a:ext cx="572762" cy="744300"/>
          </a:xfrm>
          <a:prstGeom prst="rect">
            <a:avLst/>
          </a:prstGeom>
          <a:noFill/>
        </p:spPr>
      </p:pic>
      <p:sp>
        <p:nvSpPr>
          <p:cNvPr id="46" name="Arrow: Right 45"/>
          <p:cNvSpPr/>
          <p:nvPr/>
        </p:nvSpPr>
        <p:spPr>
          <a:xfrm rot="19256865">
            <a:off x="3799256" y="3278704"/>
            <a:ext cx="1314183" cy="24156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144368" y="5350353"/>
            <a:ext cx="71634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arenBoth"/>
            </a:pPr>
            <a:r>
              <a:rPr lang="fr-FR" sz="2400" b="1"/>
              <a:t>Generate</a:t>
            </a:r>
            <a:r>
              <a:rPr lang="fr-FR" sz="2400" b="1"/>
              <a:t> java code</a:t>
            </a:r>
            <a:br>
              <a:rPr lang="fr-FR" sz="2400" b="1"/>
            </a:br>
            <a:r>
              <a:rPr lang="fr-FR" sz="2400" b="1"/>
              <a:t>   (</a:t>
            </a:r>
            <a:r>
              <a:rPr lang="fr-FR" sz="2400"/>
              <a:t>RDD Spark </a:t>
            </a:r>
            <a:r>
              <a:rPr lang="fr-FR" sz="2400"/>
              <a:t>sub</a:t>
            </a:r>
            <a:r>
              <a:rPr lang="fr-FR" sz="2400"/>
              <a:t>-class « </a:t>
            </a:r>
            <a:r>
              <a:rPr lang="fr-FR" sz="2400"/>
              <a:t>WholeStageCodeGen$i</a:t>
            </a:r>
            <a:r>
              <a:rPr lang="fr-FR" sz="2400"/>
              <a:t> »)</a:t>
            </a:r>
          </a:p>
          <a:p>
            <a:r>
              <a:rPr lang="fr-FR" sz="2400" b="1"/>
              <a:t>(2) Compile </a:t>
            </a:r>
            <a:r>
              <a:rPr lang="fr-FR" sz="2400" b="1"/>
              <a:t>Bytecode</a:t>
            </a:r>
            <a:endParaRPr lang="fr-FR" sz="2400" b="1"/>
          </a:p>
        </p:txBody>
      </p:sp>
      <p:sp>
        <p:nvSpPr>
          <p:cNvPr id="48" name="Arrow: Curved Up 47"/>
          <p:cNvSpPr/>
          <p:nvPr/>
        </p:nvSpPr>
        <p:spPr>
          <a:xfrm rot="3306766">
            <a:off x="1870072" y="3829206"/>
            <a:ext cx="1123339" cy="403485"/>
          </a:xfrm>
          <a:prstGeom prst="curvedUpArrow">
            <a:avLst>
              <a:gd name="adj1" fmla="val 25000"/>
              <a:gd name="adj2" fmla="val 92148"/>
              <a:gd name="adj3" fmla="val 651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716046" y="4886631"/>
            <a:ext cx="33577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(3) </a:t>
            </a:r>
            <a:r>
              <a:rPr lang="fr-FR" sz="2400" b="1"/>
              <a:t>Send</a:t>
            </a:r>
            <a:r>
              <a:rPr lang="fr-FR" sz="2400" b="1"/>
              <a:t> </a:t>
            </a:r>
            <a:r>
              <a:rPr lang="fr-FR" sz="2400" b="1"/>
              <a:t>task</a:t>
            </a:r>
            <a:r>
              <a:rPr lang="fr-FR" sz="2400" b="1"/>
              <a:t> + </a:t>
            </a:r>
            <a:r>
              <a:rPr lang="fr-FR" sz="2400" b="1"/>
              <a:t>bytecode</a:t>
            </a:r>
            <a:endParaRPr lang="fr-FR" sz="2400" b="1"/>
          </a:p>
          <a:p>
            <a:r>
              <a:rPr lang="fr-FR" sz="2400" b="1"/>
              <a:t>   to </a:t>
            </a:r>
            <a:r>
              <a:rPr lang="fr-FR" sz="2400" b="1"/>
              <a:t>spark-executors</a:t>
            </a:r>
            <a:endParaRPr lang="fr-FR" sz="2400" b="1"/>
          </a:p>
        </p:txBody>
      </p:sp>
      <p:sp>
        <p:nvSpPr>
          <p:cNvPr id="50" name="TextBox 49"/>
          <p:cNvSpPr txBox="1"/>
          <p:nvPr/>
        </p:nvSpPr>
        <p:spPr>
          <a:xfrm>
            <a:off x="8582277" y="5286794"/>
            <a:ext cx="33577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(4) </a:t>
            </a:r>
            <a:r>
              <a:rPr lang="fr-FR" sz="2400" b="1"/>
              <a:t>Execute</a:t>
            </a:r>
            <a:r>
              <a:rPr lang="fr-FR" sz="2400" b="1"/>
              <a:t> </a:t>
            </a:r>
            <a:r>
              <a:rPr lang="fr-FR" sz="2400" b="1"/>
              <a:t>tasks</a:t>
            </a:r>
            <a:endParaRPr lang="fr-FR" sz="2400" b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Advanced </a:t>
            </a:r>
            <a:r>
              <a:rPr lang="fr-FR"/>
              <a:t>Transform</a:t>
            </a:r>
            <a:r>
              <a:rPr lang="fr-FR"/>
              <a:t> … </a:t>
            </a:r>
            <a:br>
              <a:rPr lang="fr-FR"/>
            </a:br>
            <a:r>
              <a:rPr lang="fr-FR"/>
              <a:t>using</a:t>
            </a:r>
            <a:r>
              <a:rPr lang="fr-FR"/>
              <a:t> Row -&gt; Java -&gt;</a:t>
            </a:r>
            <a:r>
              <a:rPr lang="fr-FR"/>
              <a:t>map</a:t>
            </a:r>
            <a:r>
              <a:rPr lang="fr-FR"/>
              <a:t>()-&gt; Java -&gt;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78512" y="2054337"/>
            <a:ext cx="60950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>
                <a:latin typeface="Arial"/>
                <a:cs typeface="Arial"/>
              </a:rPr>
              <a:t>ds.as( </a:t>
            </a:r>
            <a:r>
              <a:rPr lang="fr-FR" sz="1800">
                <a:latin typeface="Arial"/>
                <a:cs typeface="Arial"/>
              </a:rPr>
              <a:t>Encoders.bean</a:t>
            </a:r>
            <a:r>
              <a:rPr lang="fr-FR" sz="1800">
                <a:latin typeface="Arial"/>
                <a:cs typeface="Arial"/>
              </a:rPr>
              <a:t>(</a:t>
            </a:r>
            <a:r>
              <a:rPr lang="fr-FR" sz="1800">
                <a:latin typeface="Arial"/>
                <a:cs typeface="Arial"/>
              </a:rPr>
              <a:t>InputBean.class</a:t>
            </a:r>
            <a:r>
              <a:rPr lang="fr-FR" sz="1800">
                <a:latin typeface="Arial"/>
                <a:cs typeface="Arial"/>
              </a:rPr>
              <a:t>) )</a:t>
            </a:r>
          </a:p>
          <a:p>
            <a:r>
              <a:rPr lang="fr-FR" sz="1800">
                <a:latin typeface="Arial"/>
                <a:cs typeface="Arial"/>
              </a:rPr>
              <a:t>   .</a:t>
            </a:r>
            <a:r>
              <a:rPr lang="fr-FR" sz="1800">
                <a:latin typeface="Arial"/>
                <a:cs typeface="Arial"/>
              </a:rPr>
              <a:t>toDF</a:t>
            </a:r>
            <a:r>
              <a:rPr lang="fr-FR" sz="1800">
                <a:latin typeface="Arial"/>
                <a:cs typeface="Arial"/>
              </a:rPr>
              <a:t>()</a:t>
            </a:r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716663" y="2310962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7" name="Left Brace 6"/>
          <p:cNvSpPr/>
          <p:nvPr/>
        </p:nvSpPr>
        <p:spPr>
          <a:xfrm>
            <a:off x="2123362" y="1965613"/>
            <a:ext cx="372140" cy="111593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3339243" y="5250319"/>
            <a:ext cx="459613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latin typeface="Arial"/>
                <a:cs typeface="Arial"/>
              </a:rPr>
              <a:t>OutputBean</a:t>
            </a:r>
            <a:r>
              <a:rPr lang="fr-FR">
                <a:latin typeface="Arial"/>
                <a:cs typeface="Arial"/>
              </a:rPr>
              <a:t> </a:t>
            </a:r>
            <a:r>
              <a:rPr lang="fr-FR">
                <a:latin typeface="Arial"/>
                <a:cs typeface="Arial"/>
              </a:rPr>
              <a:t>transformBean</a:t>
            </a:r>
            <a:r>
              <a:rPr lang="fr-FR">
                <a:latin typeface="Arial"/>
                <a:cs typeface="Arial"/>
              </a:rPr>
              <a:t>(</a:t>
            </a:r>
            <a:r>
              <a:rPr lang="fr-FR">
                <a:latin typeface="Arial"/>
                <a:cs typeface="Arial"/>
              </a:rPr>
              <a:t>InputBean</a:t>
            </a:r>
            <a:r>
              <a:rPr lang="fr-FR">
                <a:latin typeface="Arial"/>
                <a:cs typeface="Arial"/>
              </a:rPr>
              <a:t> b) { </a:t>
            </a:r>
            <a:br>
              <a:rPr lang="fr-FR">
                <a:latin typeface="Arial"/>
                <a:cs typeface="Arial"/>
              </a:rPr>
            </a:br>
            <a:r>
              <a:rPr lang="fr-FR">
                <a:latin typeface="Arial"/>
                <a:cs typeface="Arial"/>
              </a:rPr>
              <a:t>    // </a:t>
            </a:r>
            <a:r>
              <a:rPr lang="fr-FR">
                <a:latin typeface="Arial"/>
                <a:cs typeface="Arial"/>
              </a:rPr>
              <a:t>complex</a:t>
            </a:r>
            <a:r>
              <a:rPr lang="fr-FR">
                <a:latin typeface="Arial"/>
                <a:cs typeface="Arial"/>
              </a:rPr>
              <a:t> </a:t>
            </a:r>
            <a:r>
              <a:rPr lang="fr-FR">
                <a:latin typeface="Arial"/>
                <a:cs typeface="Arial"/>
              </a:rPr>
              <a:t>transform</a:t>
            </a:r>
            <a:r>
              <a:rPr lang="fr-FR">
                <a:latin typeface="Arial"/>
                <a:cs typeface="Arial"/>
              </a:rPr>
              <a:t> in java</a:t>
            </a:r>
          </a:p>
          <a:p>
            <a:r>
              <a:rPr lang="fr-FR">
                <a:latin typeface="Arial"/>
                <a:cs typeface="Arial"/>
              </a:rPr>
              <a:t>    return new </a:t>
            </a:r>
            <a:r>
              <a:rPr lang="fr-FR">
                <a:latin typeface="Arial"/>
                <a:cs typeface="Arial"/>
              </a:rPr>
              <a:t>OutputBean</a:t>
            </a:r>
            <a:r>
              <a:rPr lang="fr-FR">
                <a:latin typeface="Arial"/>
                <a:cs typeface="Arial"/>
              </a:rPr>
              <a:t>(… );</a:t>
            </a:r>
          </a:p>
          <a:p>
            <a:r>
              <a:rPr lang="fr-FR">
                <a:latin typeface="Arial"/>
                <a:cs typeface="Arial"/>
              </a:rPr>
              <a:t>}</a:t>
            </a:r>
          </a:p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3805494" y="443283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682867" y="4565834"/>
            <a:ext cx="1506451" cy="0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>
            <a:off x="6518507" y="4397239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1067433" y="4104169"/>
            <a:ext cx="17972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class </a:t>
            </a:r>
            <a:r>
              <a:rPr lang="fr-FR" b="1"/>
              <a:t>InputBean</a:t>
            </a:r>
            <a:r>
              <a:rPr lang="fr-FR"/>
              <a:t> {</a:t>
            </a:r>
          </a:p>
          <a:p>
            <a:r>
              <a:rPr lang="fr-FR"/>
              <a:t>  …</a:t>
            </a:r>
          </a:p>
          <a:p>
            <a:r>
              <a:rPr lang="fr-FR"/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0145" y="4021660"/>
            <a:ext cx="19720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class </a:t>
            </a:r>
            <a:r>
              <a:rPr lang="fr-FR" b="1"/>
              <a:t>OutputBean</a:t>
            </a:r>
            <a:r>
              <a:rPr lang="fr-FR"/>
              <a:t> {</a:t>
            </a:r>
          </a:p>
          <a:p>
            <a:r>
              <a:rPr lang="fr-FR"/>
              <a:t>  …</a:t>
            </a:r>
          </a:p>
          <a:p>
            <a:r>
              <a:rPr lang="fr-FR"/>
              <a:t>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55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Explained</a:t>
            </a:r>
            <a:r>
              <a:rPr lang="fr-FR"/>
              <a:t>   as().</a:t>
            </a:r>
            <a:r>
              <a:rPr lang="fr-FR"/>
              <a:t>map</a:t>
            </a:r>
            <a:r>
              <a:rPr lang="fr-FR"/>
              <a:t>().</a:t>
            </a:r>
            <a:r>
              <a:rPr lang="fr-FR"/>
              <a:t>toDF</a:t>
            </a:r>
            <a:r>
              <a:rPr lang="fr-FR"/>
              <a:t>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5887" y="1742041"/>
            <a:ext cx="785140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</a:t>
            </a:r>
            <a:r>
              <a:rPr lang="fr-FR" sz="2400" b="1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&gt; </a:t>
            </a:r>
            <a:r>
              <a:rPr lang="fr-FR" sz="2400">
                <a:latin typeface="Arial"/>
                <a:cs typeface="Arial"/>
              </a:rPr>
              <a:t>ds</a:t>
            </a:r>
            <a:r>
              <a:rPr lang="fr-FR" sz="2400">
                <a:latin typeface="Arial"/>
                <a:cs typeface="Arial"/>
              </a:rPr>
              <a:t> = …</a:t>
            </a:r>
          </a:p>
          <a:p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// </a:t>
            </a:r>
            <a:r>
              <a:rPr lang="fr-FR" sz="2400">
                <a:latin typeface="Arial"/>
                <a:cs typeface="Arial"/>
              </a:rPr>
              <a:t>convert</a:t>
            </a:r>
            <a:r>
              <a:rPr lang="fr-FR" sz="2400">
                <a:latin typeface="Arial"/>
                <a:cs typeface="Arial"/>
              </a:rPr>
              <a:t> Row-&gt;Bean</a:t>
            </a:r>
          </a:p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</a:t>
            </a:r>
            <a:r>
              <a:rPr lang="fr-FR" sz="2400" b="1">
                <a:latin typeface="Arial"/>
                <a:cs typeface="Arial"/>
              </a:rPr>
              <a:t>InputBean</a:t>
            </a:r>
            <a:r>
              <a:rPr lang="fr-FR" sz="2400">
                <a:latin typeface="Arial"/>
                <a:cs typeface="Arial"/>
              </a:rPr>
              <a:t>&gt; </a:t>
            </a:r>
            <a:r>
              <a:rPr lang="fr-FR" sz="2400">
                <a:latin typeface="Arial"/>
                <a:cs typeface="Arial"/>
              </a:rPr>
              <a:t>dsInputBean</a:t>
            </a:r>
            <a:r>
              <a:rPr lang="fr-FR" sz="2400">
                <a:latin typeface="Arial"/>
                <a:cs typeface="Arial"/>
              </a:rPr>
              <a:t> =</a:t>
            </a:r>
          </a:p>
          <a:p>
            <a:r>
              <a:rPr lang="fr-FR" sz="2400">
                <a:latin typeface="Arial"/>
                <a:cs typeface="Arial"/>
              </a:rPr>
              <a:t>     ds</a:t>
            </a:r>
            <a:r>
              <a:rPr lang="fr-FR" sz="2400" b="1">
                <a:latin typeface="Arial"/>
                <a:cs typeface="Arial"/>
              </a:rPr>
              <a:t>.as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Encoder.bean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InputBean.class</a:t>
            </a:r>
            <a:r>
              <a:rPr lang="fr-FR" sz="2400">
                <a:latin typeface="Arial"/>
                <a:cs typeface="Arial"/>
              </a:rPr>
              <a:t>))</a:t>
            </a:r>
            <a:br>
              <a:rPr lang="fr-FR" sz="2400">
                <a:latin typeface="Arial"/>
                <a:cs typeface="Arial"/>
              </a:rPr>
            </a:b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// </a:t>
            </a:r>
            <a:r>
              <a:rPr lang="fr-FR" sz="2400">
                <a:latin typeface="Arial"/>
                <a:cs typeface="Arial"/>
              </a:rPr>
              <a:t>map</a:t>
            </a: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</a:t>
            </a:r>
            <a:r>
              <a:rPr lang="fr-FR" sz="2400" b="1">
                <a:latin typeface="Arial"/>
                <a:cs typeface="Arial"/>
              </a:rPr>
              <a:t>OutputBean</a:t>
            </a:r>
            <a:r>
              <a:rPr lang="fr-FR" sz="2400">
                <a:latin typeface="Arial"/>
                <a:cs typeface="Arial"/>
              </a:rPr>
              <a:t>&gt; </a:t>
            </a:r>
            <a:r>
              <a:rPr lang="fr-FR" sz="2400">
                <a:latin typeface="Arial"/>
                <a:cs typeface="Arial"/>
              </a:rPr>
              <a:t>dsOut</a:t>
            </a:r>
            <a:r>
              <a:rPr lang="fr-FR" sz="2400">
                <a:latin typeface="Arial"/>
                <a:cs typeface="Arial"/>
              </a:rPr>
              <a:t> = 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  </a:t>
            </a:r>
            <a:r>
              <a:rPr lang="fr-FR" sz="2400">
                <a:latin typeface="Arial"/>
                <a:cs typeface="Arial"/>
              </a:rPr>
              <a:t>dsInputBean</a:t>
            </a:r>
            <a:r>
              <a:rPr lang="fr-FR" sz="2400" b="1">
                <a:latin typeface="Arial"/>
                <a:cs typeface="Arial"/>
              </a:rPr>
              <a:t>.map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 -&gt;  </a:t>
            </a:r>
            <a:r>
              <a:rPr lang="fr-FR" sz="2400">
                <a:latin typeface="Arial"/>
                <a:cs typeface="Arial"/>
              </a:rPr>
              <a:t>transformBean</a:t>
            </a:r>
            <a:r>
              <a:rPr lang="fr-FR" sz="2400">
                <a:latin typeface="Arial"/>
                <a:cs typeface="Arial"/>
              </a:rPr>
              <a:t>(</a:t>
            </a:r>
            <a:r>
              <a:rPr lang="fr-FR" sz="2400">
                <a:latin typeface="Arial"/>
                <a:cs typeface="Arial"/>
              </a:rPr>
              <a:t>bean</a:t>
            </a:r>
            <a:r>
              <a:rPr lang="fr-FR" sz="2400">
                <a:latin typeface="Arial"/>
                <a:cs typeface="Arial"/>
              </a:rPr>
              <a:t>) )</a:t>
            </a:r>
          </a:p>
          <a:p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// </a:t>
            </a:r>
            <a:r>
              <a:rPr lang="fr-FR" sz="2400">
                <a:latin typeface="Arial"/>
                <a:cs typeface="Arial"/>
              </a:rPr>
              <a:t>convert</a:t>
            </a:r>
            <a:r>
              <a:rPr lang="fr-FR" sz="2400">
                <a:latin typeface="Arial"/>
                <a:cs typeface="Arial"/>
              </a:rPr>
              <a:t> </a:t>
            </a:r>
            <a:r>
              <a:rPr lang="fr-FR" sz="2400">
                <a:latin typeface="Arial"/>
                <a:cs typeface="Arial"/>
              </a:rPr>
              <a:t>OutputBean</a:t>
            </a:r>
            <a:r>
              <a:rPr lang="fr-FR" sz="2400">
                <a:latin typeface="Arial"/>
                <a:cs typeface="Arial"/>
              </a:rPr>
              <a:t> -&gt; Row</a:t>
            </a:r>
          </a:p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</a:t>
            </a:r>
            <a:r>
              <a:rPr lang="fr-FR" sz="2400" b="1">
                <a:latin typeface="Arial"/>
                <a:cs typeface="Arial"/>
              </a:rPr>
              <a:t>Row</a:t>
            </a:r>
            <a:r>
              <a:rPr lang="fr-FR" sz="2400">
                <a:latin typeface="Arial"/>
                <a:cs typeface="Arial"/>
              </a:rPr>
              <a:t>&gt; </a:t>
            </a:r>
            <a:r>
              <a:rPr lang="fr-FR" sz="2400">
                <a:latin typeface="Arial"/>
                <a:cs typeface="Arial"/>
              </a:rPr>
              <a:t>df</a:t>
            </a:r>
            <a:r>
              <a:rPr lang="fr-FR" sz="2400">
                <a:latin typeface="Arial"/>
                <a:cs typeface="Arial"/>
              </a:rPr>
              <a:t> = </a:t>
            </a:r>
            <a:r>
              <a:rPr lang="fr-FR" sz="2400">
                <a:latin typeface="Arial"/>
                <a:cs typeface="Arial"/>
              </a:rPr>
              <a:t>dsOut.</a:t>
            </a:r>
            <a:r>
              <a:rPr lang="fr-FR" sz="2400" b="1">
                <a:latin typeface="Arial"/>
                <a:cs typeface="Arial"/>
              </a:rPr>
              <a:t>toDF</a:t>
            </a:r>
            <a:r>
              <a:rPr lang="fr-FR" sz="2400">
                <a:latin typeface="Arial"/>
                <a:cs typeface="Arial"/>
              </a:rPr>
              <a:t>();</a:t>
            </a:r>
            <a:endParaRPr lang="fr-FR" sz="2400"/>
          </a:p>
        </p:txBody>
      </p:sp>
      <p:sp>
        <p:nvSpPr>
          <p:cNvPr id="6" name="TextBox 5"/>
          <p:cNvSpPr txBox="1"/>
          <p:nvPr/>
        </p:nvSpPr>
        <p:spPr>
          <a:xfrm>
            <a:off x="36286" y="3226789"/>
            <a:ext cx="60950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>
                <a:latin typeface="Arial"/>
                <a:cs typeface="Arial"/>
              </a:rPr>
              <a:t>ds.as( </a:t>
            </a:r>
            <a:r>
              <a:rPr lang="fr-FR" sz="1800">
                <a:latin typeface="Arial"/>
                <a:cs typeface="Arial"/>
              </a:rPr>
              <a:t>Encoders.bean</a:t>
            </a:r>
            <a:r>
              <a:rPr lang="fr-FR" sz="1800">
                <a:latin typeface="Arial"/>
                <a:cs typeface="Arial"/>
              </a:rPr>
              <a:t>(</a:t>
            </a:r>
            <a:r>
              <a:rPr lang="fr-FR" sz="1800">
                <a:latin typeface="Arial"/>
                <a:cs typeface="Arial"/>
              </a:rPr>
              <a:t>InputBean.Class</a:t>
            </a:r>
            <a:r>
              <a:rPr lang="fr-FR" sz="1800">
                <a:latin typeface="Arial"/>
                <a:cs typeface="Arial"/>
              </a:rPr>
              <a:t>) )</a:t>
            </a:r>
            <a:br>
              <a:rPr lang="fr-FR" sz="1800">
                <a:latin typeface="Arial"/>
                <a:cs typeface="Arial"/>
              </a:rPr>
            </a:br>
            <a:r>
              <a:rPr lang="fr-FR" sz="1800">
                <a:latin typeface="Arial"/>
                <a:cs typeface="Arial"/>
              </a:rPr>
              <a:t>   .</a:t>
            </a:r>
            <a:r>
              <a:rPr lang="fr-FR" sz="1800">
                <a:latin typeface="Arial"/>
                <a:cs typeface="Arial"/>
              </a:rPr>
              <a:t>map</a:t>
            </a:r>
            <a:r>
              <a:rPr lang="fr-FR" sz="1800">
                <a:latin typeface="Arial"/>
                <a:cs typeface="Arial"/>
              </a:rPr>
              <a:t>(</a:t>
            </a:r>
            <a:r>
              <a:rPr lang="fr-FR" sz="1800">
                <a:latin typeface="Arial"/>
                <a:cs typeface="Arial"/>
              </a:rPr>
              <a:t>bean</a:t>
            </a:r>
            <a:r>
              <a:rPr lang="fr-FR" sz="1800">
                <a:latin typeface="Arial"/>
                <a:cs typeface="Arial"/>
              </a:rPr>
              <a:t> -&gt;  </a:t>
            </a:r>
            <a:r>
              <a:rPr lang="fr-FR" sz="1800">
                <a:latin typeface="Arial"/>
                <a:cs typeface="Arial"/>
              </a:rPr>
              <a:t>transformBean</a:t>
            </a:r>
            <a:r>
              <a:rPr lang="fr-FR" sz="1800">
                <a:latin typeface="Arial"/>
                <a:cs typeface="Arial"/>
              </a:rPr>
              <a:t>(</a:t>
            </a:r>
            <a:r>
              <a:rPr lang="fr-FR" sz="1800">
                <a:latin typeface="Arial"/>
                <a:cs typeface="Arial"/>
              </a:rPr>
              <a:t>bean</a:t>
            </a:r>
            <a:r>
              <a:rPr lang="fr-FR" sz="1800">
                <a:latin typeface="Arial"/>
                <a:cs typeface="Arial"/>
              </a:rPr>
              <a:t>) )</a:t>
            </a:r>
          </a:p>
          <a:p>
            <a:r>
              <a:rPr lang="fr-FR" sz="1800">
                <a:latin typeface="Arial"/>
                <a:cs typeface="Arial"/>
              </a:rPr>
              <a:t>   .</a:t>
            </a:r>
            <a:r>
              <a:rPr lang="fr-FR" sz="1800">
                <a:latin typeface="Arial"/>
                <a:cs typeface="Arial"/>
              </a:rPr>
              <a:t>toDF</a:t>
            </a:r>
            <a:r>
              <a:rPr lang="fr-FR" sz="1800">
                <a:latin typeface="Arial"/>
                <a:cs typeface="Arial"/>
              </a:rPr>
              <a:t>()</a:t>
            </a:r>
            <a:endParaRPr lang="fr-FR"/>
          </a:p>
        </p:txBody>
      </p:sp>
      <p:sp>
        <p:nvSpPr>
          <p:cNvPr id="7" name="Equals 6"/>
          <p:cNvSpPr/>
          <p:nvPr/>
        </p:nvSpPr>
        <p:spPr>
          <a:xfrm>
            <a:off x="4188572" y="3491954"/>
            <a:ext cx="624649" cy="530283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Converting</a:t>
            </a:r>
            <a:r>
              <a:rPr lang="fr-FR"/>
              <a:t> </a:t>
            </a:r>
            <a:r>
              <a:rPr lang="fr-FR"/>
              <a:t>Tabular</a:t>
            </a:r>
            <a:r>
              <a:rPr lang="fr-FR"/>
              <a:t> SQL Row to Java </a:t>
            </a:r>
            <a:r>
              <a:rPr lang="fr-FR"/>
              <a:t>Beans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6735315" y="1985535"/>
            <a:ext cx="333136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public </a:t>
            </a:r>
            <a:r>
              <a:rPr lang="fr-FR" sz="2800" b="1"/>
              <a:t>class</a:t>
            </a:r>
            <a:r>
              <a:rPr lang="fr-FR" sz="2800"/>
              <a:t> </a:t>
            </a:r>
            <a:r>
              <a:rPr lang="fr-FR" sz="2800"/>
              <a:t>MyBean</a:t>
            </a:r>
            <a:r>
              <a:rPr lang="fr-FR" sz="2800"/>
              <a:t> {</a:t>
            </a:r>
          </a:p>
          <a:p>
            <a:r>
              <a:rPr lang="fr-FR" sz="2800"/>
              <a:t>   public </a:t>
            </a:r>
            <a:r>
              <a:rPr lang="fr-FR" sz="2800"/>
              <a:t>int</a:t>
            </a:r>
            <a:r>
              <a:rPr lang="fr-FR" sz="2800"/>
              <a:t> field1;</a:t>
            </a:r>
          </a:p>
          <a:p>
            <a:r>
              <a:rPr lang="fr-FR" sz="2800"/>
              <a:t>   public String field2;</a:t>
            </a:r>
          </a:p>
          <a:p>
            <a:r>
              <a:rPr lang="fr-FR" sz="2800"/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6922" y="1985535"/>
            <a:ext cx="373858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CREATE TABLE </a:t>
            </a:r>
            <a:r>
              <a:rPr lang="fr-FR" sz="2800"/>
              <a:t>MyTable</a:t>
            </a:r>
            <a:r>
              <a:rPr lang="fr-FR" sz="2800"/>
              <a:t> (</a:t>
            </a:r>
          </a:p>
          <a:p>
            <a:r>
              <a:rPr lang="fr-FR" sz="2800"/>
              <a:t>   field1 Int,</a:t>
            </a:r>
          </a:p>
          <a:p>
            <a:r>
              <a:rPr lang="fr-FR" sz="2800"/>
              <a:t>   field2 String</a:t>
            </a:r>
          </a:p>
          <a:p>
            <a:r>
              <a:rPr lang="fr-FR" sz="2800"/>
              <a:t>)</a:t>
            </a:r>
          </a:p>
        </p:txBody>
      </p:sp>
      <p:sp>
        <p:nvSpPr>
          <p:cNvPr id="6" name="Arrow: Up-Down 5"/>
          <p:cNvSpPr/>
          <p:nvPr/>
        </p:nvSpPr>
        <p:spPr>
          <a:xfrm rot="16200000">
            <a:off x="5615044" y="2238317"/>
            <a:ext cx="420736" cy="1082694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310411" y="4361813"/>
            <a:ext cx="3842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Dataset</a:t>
            </a:r>
            <a:r>
              <a:rPr lang="fr-FR" sz="2800"/>
              <a:t>&lt;Row&gt;  </a:t>
            </a:r>
            <a:r>
              <a:rPr lang="fr-FR" sz="2800"/>
              <a:t>df</a:t>
            </a:r>
            <a:r>
              <a:rPr lang="fr-FR" sz="2800"/>
              <a:t> = …</a:t>
            </a:r>
          </a:p>
        </p:txBody>
      </p:sp>
      <p:pic>
        <p:nvPicPr>
          <p:cNvPr id="12290" name="Picture 2" descr="Working with Tabular Data - Matthewrenz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8554" y="4885033"/>
            <a:ext cx="2058243" cy="1808498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7807928" y="4531892"/>
            <a:ext cx="40736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Dataset</a:t>
            </a:r>
            <a:r>
              <a:rPr lang="fr-FR" sz="2800"/>
              <a:t>&lt;</a:t>
            </a:r>
            <a:r>
              <a:rPr lang="fr-FR" sz="2800"/>
              <a:t>MyBean</a:t>
            </a:r>
            <a:r>
              <a:rPr lang="fr-FR" sz="2800"/>
              <a:t>&gt;  </a:t>
            </a:r>
            <a:r>
              <a:rPr lang="fr-FR" sz="2800"/>
              <a:t>ds</a:t>
            </a:r>
            <a:r>
              <a:rPr lang="fr-FR" sz="2800"/>
              <a:t> = …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B128CF75-E35C-CEE6-F2EC-C06CA807C0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1527" y="5136717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3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B128CF75-E35C-CEE6-F2EC-C06CA807C02A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521527" y="5136717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45CABE4D-CE2F-F886-AC40-2A065B9BEE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1527" y="5684536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3" imgW="3508920" imgH="131076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45CABE4D-CE2F-F886-AC40-2A065B9BEED8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521527" y="5684536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" name="Object 10">
            <a:extLst>
              <a:ext uri="{FF2B5EF4-FFF2-40B4-BE49-F238E27FC236}">
                <a16:creationId xmlns:a16="http://schemas.microsoft.com/office/drawing/2014/main" id="{7EF4C87C-E651-DE79-021C-D456120E6A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1527" y="6232355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3" imgW="3508920" imgH="1310760" progId="PBrush">
              <p:embed/>
              <p:pic>
                <p:nvPicPr>
                  <p:cNvPr id="11" name="Object 10">
                    <a:extLst>
                      <a:ext uri="{FF2B5EF4-FFF2-40B4-BE49-F238E27FC236}">
                        <a16:creationId xmlns:a16="http://schemas.microsoft.com/office/drawing/2014/main" id="{7EF4C87C-E651-DE79-021C-D456120E6A0C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521527" y="6232355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907452" y="5185158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Object[0]</a:t>
            </a:r>
          </a:p>
        </p:txBody>
      </p:sp>
      <p:cxnSp>
        <p:nvCxnSpPr>
          <p:cNvPr id="14" name="Straight Arrow Connector 13"/>
          <p:cNvCxnSpPr>
            <a:stCxn id="12" idx="3"/>
          </p:cNvCxnSpPr>
          <p:nvPr/>
        </p:nvCxnSpPr>
        <p:spPr>
          <a:xfrm>
            <a:off x="9968961" y="5369824"/>
            <a:ext cx="408263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907452" y="5718509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Object[1]</a:t>
            </a:r>
          </a:p>
        </p:txBody>
      </p:sp>
      <p:cxnSp>
        <p:nvCxnSpPr>
          <p:cNvPr id="17" name="Straight Arrow Connector 16"/>
          <p:cNvCxnSpPr>
            <a:stCxn id="16" idx="3"/>
          </p:cNvCxnSpPr>
          <p:nvPr/>
        </p:nvCxnSpPr>
        <p:spPr>
          <a:xfrm>
            <a:off x="9968961" y="5903175"/>
            <a:ext cx="408263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904648" y="6313819"/>
            <a:ext cx="1061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Object[2]</a:t>
            </a:r>
          </a:p>
        </p:txBody>
      </p:sp>
      <p:cxnSp>
        <p:nvCxnSpPr>
          <p:cNvPr id="19" name="Straight Arrow Connector 18"/>
          <p:cNvCxnSpPr>
            <a:stCxn id="18" idx="3"/>
          </p:cNvCxnSpPr>
          <p:nvPr/>
        </p:nvCxnSpPr>
        <p:spPr>
          <a:xfrm>
            <a:off x="9966157" y="6498485"/>
            <a:ext cx="408263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rrow: Right 19"/>
          <p:cNvSpPr/>
          <p:nvPr/>
        </p:nvSpPr>
        <p:spPr>
          <a:xfrm>
            <a:off x="5050831" y="4858931"/>
            <a:ext cx="1620333" cy="366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/>
          <p:cNvSpPr/>
          <p:nvPr/>
        </p:nvSpPr>
        <p:spPr>
          <a:xfrm flipH="1">
            <a:off x="5050831" y="5591146"/>
            <a:ext cx="1644058" cy="366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5834399" y="5921489"/>
            <a:ext cx="20980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/>
              <a:t>ds.</a:t>
            </a:r>
            <a:r>
              <a:rPr lang="fr-FR" sz="3200" b="1"/>
              <a:t>toDF</a:t>
            </a:r>
            <a:r>
              <a:rPr lang="fr-FR" sz="3200"/>
              <a:t>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7394" y="3965436"/>
            <a:ext cx="57991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/>
              <a:t>encoder = </a:t>
            </a:r>
            <a:r>
              <a:rPr lang="fr-FR" sz="2400"/>
              <a:t>Encoders.bean</a:t>
            </a:r>
            <a:r>
              <a:rPr lang="fr-FR" sz="2400"/>
              <a:t>(</a:t>
            </a:r>
            <a:r>
              <a:rPr lang="fr-FR" sz="2400"/>
              <a:t>MyBean.class</a:t>
            </a:r>
            <a:r>
              <a:rPr lang="fr-FR" sz="2400"/>
              <a:t>)</a:t>
            </a:r>
          </a:p>
          <a:p>
            <a:r>
              <a:rPr lang="fr-FR" sz="3200" b="1"/>
              <a:t>df.as(encoder)</a:t>
            </a:r>
            <a:endParaRPr lang="fr-FR" sz="32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RAW to LAKE – </a:t>
            </a:r>
            <a:r>
              <a:rPr lang="fr-FR"/>
              <a:t>Step</a:t>
            </a:r>
            <a:r>
              <a:rPr lang="fr-FR"/>
              <a:t> 3/4 : </a:t>
            </a:r>
            <a:r>
              <a:rPr lang="fr-FR"/>
              <a:t>Repartition</a:t>
            </a:r>
            <a:r>
              <a:rPr lang="fr-FR"/>
              <a:t>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2471650" y="1796659"/>
            <a:ext cx="83071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Dataset</a:t>
            </a:r>
            <a:r>
              <a:rPr lang="fr-FR" sz="2400">
                <a:latin typeface="Arial"/>
                <a:cs typeface="Arial"/>
              </a:rPr>
              <a:t>&lt;Row&gt; ds3 = ds2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repartition</a:t>
            </a:r>
            <a:r>
              <a:rPr lang="fr-FR" sz="2400">
                <a:latin typeface="Arial"/>
                <a:cs typeface="Arial"/>
              </a:rPr>
              <a:t>(2, « col1 »)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   .</a:t>
            </a:r>
            <a:r>
              <a:rPr lang="fr-FR" sz="2400">
                <a:latin typeface="Arial"/>
                <a:cs typeface="Arial"/>
              </a:rPr>
              <a:t>sortWithinPartitions</a:t>
            </a:r>
            <a:r>
              <a:rPr lang="fr-FR" sz="2400">
                <a:latin typeface="Arial"/>
                <a:cs typeface="Arial"/>
              </a:rPr>
              <a:t>(« col1, col2, col3 »)</a:t>
            </a:r>
          </a:p>
          <a:p>
            <a:endParaRPr lang="fr-FR" sz="2400"/>
          </a:p>
        </p:txBody>
      </p:sp>
      <p:sp>
        <p:nvSpPr>
          <p:cNvPr id="14" name="Rectangle: Rounded Corners 13"/>
          <p:cNvSpPr/>
          <p:nvPr/>
        </p:nvSpPr>
        <p:spPr>
          <a:xfrm>
            <a:off x="4053332" y="342900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4053331" y="4189005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4066754" y="4962842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Isosceles Triangle 24"/>
          <p:cNvSpPr/>
          <p:nvPr/>
        </p:nvSpPr>
        <p:spPr>
          <a:xfrm>
            <a:off x="4395579" y="3581654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4802275" y="3699785"/>
            <a:ext cx="2379921" cy="0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4890225" y="3757382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Isosceles Triangle 29"/>
          <p:cNvSpPr/>
          <p:nvPr/>
        </p:nvSpPr>
        <p:spPr>
          <a:xfrm>
            <a:off x="4337590" y="429128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Isosceles Triangle 30"/>
          <p:cNvSpPr/>
          <p:nvPr/>
        </p:nvSpPr>
        <p:spPr>
          <a:xfrm>
            <a:off x="4890225" y="4491867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/>
          <p:cNvSpPr/>
          <p:nvPr/>
        </p:nvSpPr>
        <p:spPr>
          <a:xfrm>
            <a:off x="4533067" y="5079031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Straight Arrow Connector 32"/>
          <p:cNvCxnSpPr/>
          <p:nvPr/>
        </p:nvCxnSpPr>
        <p:spPr>
          <a:xfrm flipV="1">
            <a:off x="5237017" y="4589711"/>
            <a:ext cx="1945179" cy="650527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199127" y="5857853"/>
            <a:ext cx="61733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Network </a:t>
            </a:r>
            <a:r>
              <a:rPr lang="fr-FR" sz="2400"/>
              <a:t>Shuffle</a:t>
            </a:r>
            <a:r>
              <a:rPr lang="fr-FR" sz="2400"/>
              <a:t> to </a:t>
            </a:r>
            <a:r>
              <a:rPr lang="fr-FR" sz="2400"/>
              <a:t>distribute</a:t>
            </a:r>
            <a:r>
              <a:rPr lang="fr-FR" sz="2400"/>
              <a:t> / group / sort data</a:t>
            </a:r>
          </a:p>
        </p:txBody>
      </p:sp>
      <p:sp>
        <p:nvSpPr>
          <p:cNvPr id="12" name="Rectangle: Rounded Corners 11"/>
          <p:cNvSpPr/>
          <p:nvPr/>
        </p:nvSpPr>
        <p:spPr>
          <a:xfrm>
            <a:off x="6694136" y="342900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6694135" y="4189004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: Rounded Corners 17"/>
          <p:cNvSpPr/>
          <p:nvPr/>
        </p:nvSpPr>
        <p:spPr>
          <a:xfrm>
            <a:off x="6694135" y="496284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5389417" y="4045131"/>
            <a:ext cx="1792779" cy="407357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5389417" y="4541891"/>
            <a:ext cx="1792779" cy="1691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4810055" y="3964633"/>
            <a:ext cx="2433101" cy="416266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>
            <a:off x="7243157" y="3504140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Isosceles Triangle 45"/>
          <p:cNvSpPr/>
          <p:nvPr/>
        </p:nvSpPr>
        <p:spPr>
          <a:xfrm>
            <a:off x="7243157" y="4271862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489324" y="1609252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48" name="Left Brace 47"/>
          <p:cNvSpPr/>
          <p:nvPr/>
        </p:nvSpPr>
        <p:spPr>
          <a:xfrm>
            <a:off x="1719455" y="1707561"/>
            <a:ext cx="372140" cy="1115939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Picture 2" descr="Magic hat magician images vectorielles, Magic hat magician vecteurs libres  de droits | Depositphoto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2670" y="3576066"/>
            <a:ext cx="2044094" cy="2204972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 rot="17016510">
            <a:off x="-666732" y="2777037"/>
            <a:ext cx="247375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???????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Arrow: Right 53"/>
          <p:cNvSpPr/>
          <p:nvPr/>
        </p:nvSpPr>
        <p:spPr>
          <a:xfrm>
            <a:off x="7254505" y="2509549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Arrow: Right 54"/>
          <p:cNvSpPr/>
          <p:nvPr/>
        </p:nvSpPr>
        <p:spPr>
          <a:xfrm>
            <a:off x="7254505" y="2685064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row: Right 29"/>
          <p:cNvSpPr/>
          <p:nvPr/>
        </p:nvSpPr>
        <p:spPr>
          <a:xfrm>
            <a:off x="4158706" y="3489784"/>
            <a:ext cx="804165" cy="20266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>
            <a:off x="4199906" y="2504894"/>
            <a:ext cx="805092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 usage: </a:t>
            </a:r>
            <a:br>
              <a:rPr lang="fr-FR"/>
            </a:br>
            <a:r>
              <a:rPr lang="fr-FR"/>
              <a:t>repartition</a:t>
            </a:r>
            <a:r>
              <a:rPr lang="fr-FR"/>
              <a:t>(N).</a:t>
            </a:r>
            <a:r>
              <a:rPr lang="fr-FR"/>
              <a:t>map</a:t>
            </a:r>
            <a:r>
              <a:rPr lang="fr-FR"/>
              <a:t>( .. ).</a:t>
            </a:r>
            <a:r>
              <a:rPr lang="fr-FR"/>
              <a:t>repartition</a:t>
            </a:r>
            <a:r>
              <a:rPr lang="fr-FR"/>
              <a:t>(1)</a:t>
            </a:r>
          </a:p>
        </p:txBody>
      </p:sp>
      <p:sp>
        <p:nvSpPr>
          <p:cNvPr id="5" name="Rectangle: Rounded Corners 4"/>
          <p:cNvSpPr/>
          <p:nvPr/>
        </p:nvSpPr>
        <p:spPr>
          <a:xfrm>
            <a:off x="3185277" y="2230161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3169233" y="3253070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Rounded Corners 6"/>
          <p:cNvSpPr/>
          <p:nvPr/>
        </p:nvSpPr>
        <p:spPr>
          <a:xfrm>
            <a:off x="3183293" y="4277531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3404303" y="2300881"/>
            <a:ext cx="450876" cy="5772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13596" y="2059014"/>
            <a:ext cx="663946" cy="1032806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13596" y="3139926"/>
            <a:ext cx="663945" cy="1032803"/>
          </a:xfrm>
          <a:prstGeom prst="rect">
            <a:avLst/>
          </a:prstGeom>
          <a:noFill/>
        </p:spPr>
      </p:pic>
      <p:pic>
        <p:nvPicPr>
          <p:cNvPr id="11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13597" y="4214445"/>
            <a:ext cx="662943" cy="1031245"/>
          </a:xfrm>
          <a:prstGeom prst="rect">
            <a:avLst/>
          </a:prstGeom>
          <a:noFill/>
        </p:spPr>
      </p:pic>
      <p:pic>
        <p:nvPicPr>
          <p:cNvPr id="12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47485" y="3317398"/>
            <a:ext cx="1398423" cy="773300"/>
          </a:xfrm>
          <a:prstGeom prst="rect">
            <a:avLst/>
          </a:prstGeom>
          <a:noFill/>
        </p:spPr>
      </p:pic>
      <p:sp>
        <p:nvSpPr>
          <p:cNvPr id="13" name="Arrow: Right 12"/>
          <p:cNvSpPr/>
          <p:nvPr/>
        </p:nvSpPr>
        <p:spPr>
          <a:xfrm rot="18827837">
            <a:off x="1363068" y="2829169"/>
            <a:ext cx="889080" cy="57524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11877" y="2371152"/>
            <a:ext cx="423791" cy="423791"/>
          </a:xfrm>
          <a:prstGeom prst="rect">
            <a:avLst/>
          </a:prstGeom>
          <a:noFill/>
        </p:spPr>
      </p:pic>
      <p:pic>
        <p:nvPicPr>
          <p:cNvPr id="16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391768" y="3493084"/>
            <a:ext cx="225826" cy="225826"/>
          </a:xfrm>
          <a:prstGeom prst="rect">
            <a:avLst/>
          </a:prstGeom>
          <a:noFill/>
        </p:spPr>
      </p:pic>
      <p:sp>
        <p:nvSpPr>
          <p:cNvPr id="24" name="TextBox 23"/>
          <p:cNvSpPr txBox="1"/>
          <p:nvPr/>
        </p:nvSpPr>
        <p:spPr>
          <a:xfrm>
            <a:off x="2833115" y="5331885"/>
            <a:ext cx="24275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INEFFICIENT</a:t>
            </a:r>
            <a:r>
              <a:rPr lang="fr-FR" sz="2000"/>
              <a:t> !!!</a:t>
            </a:r>
          </a:p>
          <a:p>
            <a:r>
              <a:rPr lang="fr-FR" sz="2000"/>
              <a:t>Undistributed</a:t>
            </a:r>
            <a:r>
              <a:rPr lang="fr-FR" sz="2000"/>
              <a:t> </a:t>
            </a:r>
          </a:p>
          <a:p>
            <a:r>
              <a:rPr lang="fr-FR" sz="2000"/>
              <a:t>  / </a:t>
            </a:r>
            <a:r>
              <a:rPr lang="fr-FR" sz="2000"/>
              <a:t>Badly</a:t>
            </a:r>
            <a:r>
              <a:rPr lang="fr-FR" sz="2000"/>
              <a:t> </a:t>
            </a:r>
            <a:r>
              <a:rPr lang="fr-FR" sz="2000"/>
              <a:t>Skewed</a:t>
            </a:r>
            <a:r>
              <a:rPr lang="fr-FR" sz="2000"/>
              <a:t> Data</a:t>
            </a:r>
          </a:p>
        </p:txBody>
      </p:sp>
      <p:sp>
        <p:nvSpPr>
          <p:cNvPr id="25" name="Rectangle: Rounded Corners 24"/>
          <p:cNvSpPr/>
          <p:nvPr/>
        </p:nvSpPr>
        <p:spPr>
          <a:xfrm>
            <a:off x="6217078" y="2288521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: Rounded Corners 25"/>
          <p:cNvSpPr/>
          <p:nvPr/>
        </p:nvSpPr>
        <p:spPr>
          <a:xfrm>
            <a:off x="6201034" y="3311430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: Rounded Corners 26"/>
          <p:cNvSpPr/>
          <p:nvPr/>
        </p:nvSpPr>
        <p:spPr>
          <a:xfrm>
            <a:off x="6215094" y="4335891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6345712" y="2359241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/>
          <p:cNvSpPr/>
          <p:nvPr/>
        </p:nvSpPr>
        <p:spPr>
          <a:xfrm flipV="1">
            <a:off x="3591810" y="3403037"/>
            <a:ext cx="187817" cy="2229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498112" y="2511641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6650512" y="2664041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/>
          <p:cNvSpPr/>
          <p:nvPr/>
        </p:nvSpPr>
        <p:spPr>
          <a:xfrm>
            <a:off x="6354006" y="3390698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/>
          <p:cNvSpPr/>
          <p:nvPr/>
        </p:nvSpPr>
        <p:spPr>
          <a:xfrm>
            <a:off x="6506406" y="3543098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/>
          <p:cNvSpPr/>
          <p:nvPr/>
        </p:nvSpPr>
        <p:spPr>
          <a:xfrm>
            <a:off x="6658806" y="3695498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/>
          <p:cNvSpPr/>
          <p:nvPr/>
        </p:nvSpPr>
        <p:spPr>
          <a:xfrm>
            <a:off x="6354006" y="4401273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/>
          <p:cNvSpPr/>
          <p:nvPr/>
        </p:nvSpPr>
        <p:spPr>
          <a:xfrm>
            <a:off x="6506406" y="4553673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/>
          <p:cNvSpPr/>
          <p:nvPr/>
        </p:nvSpPr>
        <p:spPr>
          <a:xfrm>
            <a:off x="6658806" y="4706073"/>
            <a:ext cx="321389" cy="2636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rrow: Right 43"/>
          <p:cNvSpPr/>
          <p:nvPr/>
        </p:nvSpPr>
        <p:spPr>
          <a:xfrm>
            <a:off x="7247154" y="2350970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5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59125" y="2218490"/>
            <a:ext cx="423791" cy="423791"/>
          </a:xfrm>
          <a:prstGeom prst="rect">
            <a:avLst/>
          </a:prstGeom>
          <a:noFill/>
        </p:spPr>
      </p:pic>
      <p:pic>
        <p:nvPicPr>
          <p:cNvPr id="47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496078" y="2376956"/>
            <a:ext cx="423791" cy="423791"/>
          </a:xfrm>
          <a:prstGeom prst="rect">
            <a:avLst/>
          </a:prstGeom>
          <a:noFill/>
        </p:spPr>
      </p:pic>
      <p:pic>
        <p:nvPicPr>
          <p:cNvPr id="48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48478" y="2529356"/>
            <a:ext cx="423791" cy="423791"/>
          </a:xfrm>
          <a:prstGeom prst="rect">
            <a:avLst/>
          </a:prstGeom>
          <a:noFill/>
        </p:spPr>
      </p:pic>
      <p:sp>
        <p:nvSpPr>
          <p:cNvPr id="56" name="Arrow: Right 55"/>
          <p:cNvSpPr/>
          <p:nvPr/>
        </p:nvSpPr>
        <p:spPr>
          <a:xfrm>
            <a:off x="7281339" y="3523291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Arrow: Right 56"/>
          <p:cNvSpPr/>
          <p:nvPr/>
        </p:nvSpPr>
        <p:spPr>
          <a:xfrm>
            <a:off x="7281339" y="3698806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Arrow: Right 57"/>
          <p:cNvSpPr/>
          <p:nvPr/>
        </p:nvSpPr>
        <p:spPr>
          <a:xfrm>
            <a:off x="7273988" y="3364712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9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85959" y="3232232"/>
            <a:ext cx="423791" cy="423791"/>
          </a:xfrm>
          <a:prstGeom prst="rect">
            <a:avLst/>
          </a:prstGeom>
          <a:noFill/>
        </p:spPr>
      </p:pic>
      <p:pic>
        <p:nvPicPr>
          <p:cNvPr id="60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22912" y="3390698"/>
            <a:ext cx="423791" cy="423791"/>
          </a:xfrm>
          <a:prstGeom prst="rect">
            <a:avLst/>
          </a:prstGeom>
          <a:noFill/>
        </p:spPr>
      </p:pic>
      <p:pic>
        <p:nvPicPr>
          <p:cNvPr id="61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75312" y="3543098"/>
            <a:ext cx="423791" cy="423791"/>
          </a:xfrm>
          <a:prstGeom prst="rect">
            <a:avLst/>
          </a:prstGeom>
          <a:noFill/>
        </p:spPr>
      </p:pic>
      <p:sp>
        <p:nvSpPr>
          <p:cNvPr id="62" name="Arrow: Right 61"/>
          <p:cNvSpPr/>
          <p:nvPr/>
        </p:nvSpPr>
        <p:spPr>
          <a:xfrm>
            <a:off x="7284280" y="4569773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Arrow: Right 62"/>
          <p:cNvSpPr/>
          <p:nvPr/>
        </p:nvSpPr>
        <p:spPr>
          <a:xfrm>
            <a:off x="7284280" y="4745288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Arrow: Right 63"/>
          <p:cNvSpPr/>
          <p:nvPr/>
        </p:nvSpPr>
        <p:spPr>
          <a:xfrm>
            <a:off x="7276929" y="4411194"/>
            <a:ext cx="1041143" cy="1783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5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88900" y="4278714"/>
            <a:ext cx="423791" cy="423791"/>
          </a:xfrm>
          <a:prstGeom prst="rect">
            <a:avLst/>
          </a:prstGeom>
          <a:noFill/>
        </p:spPr>
      </p:pic>
      <p:pic>
        <p:nvPicPr>
          <p:cNvPr id="66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25853" y="4437180"/>
            <a:ext cx="423791" cy="423791"/>
          </a:xfrm>
          <a:prstGeom prst="rect">
            <a:avLst/>
          </a:prstGeom>
          <a:noFill/>
        </p:spPr>
      </p:pic>
      <p:pic>
        <p:nvPicPr>
          <p:cNvPr id="67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78253" y="4589580"/>
            <a:ext cx="423791" cy="423791"/>
          </a:xfrm>
          <a:prstGeom prst="rect">
            <a:avLst/>
          </a:prstGeom>
          <a:noFill/>
        </p:spPr>
      </p:pic>
      <p:sp>
        <p:nvSpPr>
          <p:cNvPr id="68" name="Arrow: Right 67"/>
          <p:cNvSpPr/>
          <p:nvPr/>
        </p:nvSpPr>
        <p:spPr>
          <a:xfrm>
            <a:off x="5248516" y="2511408"/>
            <a:ext cx="728768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Arrow: Right 69"/>
          <p:cNvSpPr/>
          <p:nvPr/>
        </p:nvSpPr>
        <p:spPr>
          <a:xfrm rot="3152584">
            <a:off x="5120415" y="2938545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Arrow: Right 70"/>
          <p:cNvSpPr/>
          <p:nvPr/>
        </p:nvSpPr>
        <p:spPr>
          <a:xfrm rot="3858618">
            <a:off x="4822405" y="3200415"/>
            <a:ext cx="1552148" cy="1467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Arrow: Right 71"/>
          <p:cNvSpPr/>
          <p:nvPr/>
        </p:nvSpPr>
        <p:spPr>
          <a:xfrm rot="3152584">
            <a:off x="5097771" y="3928211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Arrow: Right 72"/>
          <p:cNvSpPr/>
          <p:nvPr/>
        </p:nvSpPr>
        <p:spPr>
          <a:xfrm rot="18603941">
            <a:off x="5087823" y="3088253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Arrow: Right 73"/>
          <p:cNvSpPr/>
          <p:nvPr/>
        </p:nvSpPr>
        <p:spPr>
          <a:xfrm>
            <a:off x="5253013" y="3456270"/>
            <a:ext cx="728768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Arrow: Right 74"/>
          <p:cNvSpPr/>
          <p:nvPr/>
        </p:nvSpPr>
        <p:spPr>
          <a:xfrm rot="3152584">
            <a:off x="8349170" y="2988503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Arrow: Right 75"/>
          <p:cNvSpPr/>
          <p:nvPr/>
        </p:nvSpPr>
        <p:spPr>
          <a:xfrm>
            <a:off x="8481768" y="3506228"/>
            <a:ext cx="728768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Arrow: Right 76"/>
          <p:cNvSpPr/>
          <p:nvPr/>
        </p:nvSpPr>
        <p:spPr>
          <a:xfrm rot="18603941">
            <a:off x="8347174" y="4161625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: Rounded Corners 77"/>
          <p:cNvSpPr/>
          <p:nvPr/>
        </p:nvSpPr>
        <p:spPr>
          <a:xfrm>
            <a:off x="9355979" y="3335363"/>
            <a:ext cx="877676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Rectangle 78"/>
          <p:cNvSpPr/>
          <p:nvPr/>
        </p:nvSpPr>
        <p:spPr>
          <a:xfrm>
            <a:off x="9575005" y="3406083"/>
            <a:ext cx="450876" cy="5772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Arrow: Right 79"/>
          <p:cNvSpPr/>
          <p:nvPr/>
        </p:nvSpPr>
        <p:spPr>
          <a:xfrm>
            <a:off x="10135271" y="3420985"/>
            <a:ext cx="444540" cy="57684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1" name="Picture 6" descr="HDFS Storage Efficiency Using Tiered Storage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609716" y="3321197"/>
            <a:ext cx="1398423" cy="773300"/>
          </a:xfrm>
          <a:prstGeom prst="rect">
            <a:avLst/>
          </a:prstGeom>
          <a:noFill/>
        </p:spPr>
      </p:pic>
      <p:sp>
        <p:nvSpPr>
          <p:cNvPr id="82" name="TextBox 81"/>
          <p:cNvSpPr txBox="1"/>
          <p:nvPr/>
        </p:nvSpPr>
        <p:spPr>
          <a:xfrm>
            <a:off x="5382815" y="5493708"/>
            <a:ext cx="1664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repartition</a:t>
            </a:r>
            <a:r>
              <a:rPr lang="fr-FR" sz="2000" b="1"/>
              <a:t>(N)</a:t>
            </a:r>
            <a:endParaRPr lang="fr-FR" sz="2000"/>
          </a:p>
        </p:txBody>
      </p:sp>
      <p:sp>
        <p:nvSpPr>
          <p:cNvPr id="83" name="TextBox 82"/>
          <p:cNvSpPr txBox="1"/>
          <p:nvPr/>
        </p:nvSpPr>
        <p:spPr>
          <a:xfrm>
            <a:off x="9141196" y="5477212"/>
            <a:ext cx="297575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repartition</a:t>
            </a:r>
            <a:r>
              <a:rPr lang="fr-FR" sz="2000" b="1"/>
              <a:t>(1)</a:t>
            </a:r>
          </a:p>
          <a:p>
            <a:endParaRPr lang="fr-FR" sz="2000" b="1"/>
          </a:p>
          <a:p>
            <a:r>
              <a:rPr lang="fr-FR" sz="2000" b="1"/>
              <a:t>Avoid</a:t>
            </a:r>
            <a:r>
              <a:rPr lang="fr-FR" sz="2000" b="1"/>
              <a:t> </a:t>
            </a:r>
            <a:r>
              <a:rPr lang="fr-FR" sz="2000" b="1"/>
              <a:t>too</a:t>
            </a:r>
            <a:r>
              <a:rPr lang="fr-FR" sz="2000" b="1"/>
              <a:t> </a:t>
            </a:r>
            <a:r>
              <a:rPr lang="fr-FR" sz="2000" b="1"/>
              <a:t>many</a:t>
            </a:r>
            <a:r>
              <a:rPr lang="fr-FR" sz="2000" b="1"/>
              <a:t> </a:t>
            </a:r>
            <a:r>
              <a:rPr lang="fr-FR" sz="2000" b="1"/>
              <a:t>small</a:t>
            </a:r>
            <a:r>
              <a:rPr lang="fr-FR" sz="2000" b="1"/>
              <a:t> files</a:t>
            </a:r>
            <a:endParaRPr lang="fr-FR" sz="2000"/>
          </a:p>
        </p:txBody>
      </p:sp>
      <p:sp>
        <p:nvSpPr>
          <p:cNvPr id="84" name="TextBox 83"/>
          <p:cNvSpPr txBox="1"/>
          <p:nvPr/>
        </p:nvSpPr>
        <p:spPr>
          <a:xfrm>
            <a:off x="7359125" y="5508668"/>
            <a:ext cx="1237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EFFICIENT</a:t>
            </a:r>
            <a:endParaRPr lang="fr-FR" sz="2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 transformation … in SQL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Typical</a:t>
            </a:r>
            <a:r>
              <a:rPr lang="fr-FR"/>
              <a:t> RAW to LAKE </a:t>
            </a:r>
            <a:br>
              <a:rPr lang="fr-FR"/>
            </a:br>
            <a:r>
              <a:rPr lang="fr-FR"/>
              <a:t>as Spark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55530" y="1768566"/>
            <a:ext cx="8201989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INSERT OVERWRITE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lake_team_domain.table</a:t>
            </a:r>
            <a:br>
              <a:rPr lang="fr-FR" sz="2400">
                <a:latin typeface="Arial"/>
                <a:cs typeface="Arial"/>
              </a:rPr>
            </a:br>
            <a:r>
              <a:rPr lang="fr-FR" sz="2400">
                <a:latin typeface="Arial"/>
                <a:cs typeface="Arial"/>
              </a:rPr>
              <a:t>SELECT /* +REPARTITION(col1, 2) */</a:t>
            </a:r>
          </a:p>
          <a:p>
            <a:r>
              <a:rPr lang="fr-FR" sz="2400">
                <a:latin typeface="Arial"/>
                <a:cs typeface="Arial"/>
              </a:rPr>
              <a:t>    col1, col2, </a:t>
            </a:r>
          </a:p>
          <a:p>
            <a:r>
              <a:rPr lang="fr-FR" sz="2400">
                <a:latin typeface="Arial"/>
                <a:cs typeface="Arial"/>
              </a:rPr>
              <a:t>    udf_func1(col3, col4)  as col3,</a:t>
            </a:r>
          </a:p>
          <a:p>
            <a:r>
              <a:rPr lang="fr-FR" sz="2400">
                <a:latin typeface="Arial"/>
                <a:cs typeface="Arial"/>
              </a:rPr>
              <a:t>    udf_func2(col4, col5)  as col4,    </a:t>
            </a:r>
          </a:p>
          <a:p>
            <a:r>
              <a:rPr lang="fr-FR" sz="2400">
                <a:latin typeface="Arial"/>
                <a:cs typeface="Arial"/>
              </a:rPr>
              <a:t>    ..</a:t>
            </a:r>
          </a:p>
          <a:p>
            <a:r>
              <a:rPr lang="fr-FR" sz="2400">
                <a:latin typeface="Arial"/>
                <a:cs typeface="Arial"/>
              </a:rPr>
              <a:t>FROM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raw_team_domain.table</a:t>
            </a:r>
            <a:endParaRPr lang="fr-FR" sz="2400">
              <a:latin typeface="Arial"/>
              <a:cs typeface="Arial"/>
            </a:endParaRPr>
          </a:p>
          <a:p>
            <a:r>
              <a:rPr lang="fr-FR" sz="2400">
                <a:latin typeface="Arial"/>
                <a:cs typeface="Arial"/>
              </a:rPr>
              <a:t>JOIN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lake_anotherTeam_domain.anotherTable</a:t>
            </a:r>
            <a:r>
              <a:rPr lang="fr-FR" sz="2400">
                <a:latin typeface="Arial"/>
                <a:cs typeface="Arial"/>
              </a:rPr>
              <a:t> x ON x.ID=id</a:t>
            </a:r>
          </a:p>
          <a:p>
            <a:r>
              <a:rPr lang="fr-FR" sz="2400">
                <a:latin typeface="Arial"/>
                <a:cs typeface="Arial"/>
              </a:rPr>
              <a:t>WHERE date='2022-10-22' AND ..</a:t>
            </a:r>
          </a:p>
          <a:p>
            <a:r>
              <a:rPr lang="fr-FR" sz="2400">
                <a:latin typeface="Arial"/>
                <a:cs typeface="Arial"/>
              </a:rPr>
              <a:t>SORT BY col1, col2, col3     -- idem </a:t>
            </a:r>
            <a:r>
              <a:rPr lang="fr-FR" sz="2400">
                <a:latin typeface="Arial"/>
                <a:cs typeface="Arial"/>
              </a:rPr>
              <a:t>sortWithinPartitions</a:t>
            </a:r>
            <a:endParaRPr lang="fr-FR" sz="2400">
              <a:latin typeface="Arial"/>
              <a:cs typeface="Arial"/>
            </a:endParaRPr>
          </a:p>
        </p:txBody>
      </p:sp>
      <p:sp>
        <p:nvSpPr>
          <p:cNvPr id="5" name="Left Brace 4"/>
          <p:cNvSpPr/>
          <p:nvPr/>
        </p:nvSpPr>
        <p:spPr>
          <a:xfrm>
            <a:off x="2618206" y="1880207"/>
            <a:ext cx="372140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/>
          <p:cNvSpPr/>
          <p:nvPr/>
        </p:nvSpPr>
        <p:spPr>
          <a:xfrm>
            <a:off x="2618206" y="3400664"/>
            <a:ext cx="363204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Left Brace 6"/>
          <p:cNvSpPr/>
          <p:nvPr/>
        </p:nvSpPr>
        <p:spPr>
          <a:xfrm>
            <a:off x="2618206" y="4392926"/>
            <a:ext cx="372140" cy="560091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384379" y="4506099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1229239" y="3475019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1" name="TextBox 10"/>
          <p:cNvSpPr txBox="1"/>
          <p:nvPr/>
        </p:nvSpPr>
        <p:spPr>
          <a:xfrm>
            <a:off x="1353878" y="1842179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sp>
        <p:nvSpPr>
          <p:cNvPr id="3" name="Left Brace 2"/>
          <p:cNvSpPr/>
          <p:nvPr/>
        </p:nvSpPr>
        <p:spPr>
          <a:xfrm>
            <a:off x="2618206" y="5181827"/>
            <a:ext cx="363204" cy="588653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1229239" y="5256181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12" name="TextBox 11"/>
          <p:cNvSpPr txBox="1"/>
          <p:nvPr/>
        </p:nvSpPr>
        <p:spPr>
          <a:xfrm>
            <a:off x="1385506" y="6175961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  <p:sp>
        <p:nvSpPr>
          <p:cNvPr id="13" name="Left Brace 12"/>
          <p:cNvSpPr/>
          <p:nvPr/>
        </p:nvSpPr>
        <p:spPr>
          <a:xfrm>
            <a:off x="2636078" y="6221408"/>
            <a:ext cx="354268" cy="40011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1392222" y="5775851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15" name="Left Brace 14"/>
          <p:cNvSpPr/>
          <p:nvPr/>
        </p:nvSpPr>
        <p:spPr>
          <a:xfrm>
            <a:off x="2618206" y="5815926"/>
            <a:ext cx="372140" cy="360036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15"/>
          <p:cNvSpPr/>
          <p:nvPr/>
        </p:nvSpPr>
        <p:spPr>
          <a:xfrm rot="16896999">
            <a:off x="-939515" y="1107057"/>
            <a:ext cx="2982997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Reminder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206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Explained</a:t>
            </a:r>
            <a:r>
              <a:rPr lang="fr-FR"/>
              <a:t> … SQL (-&gt; Files) -&gt; </a:t>
            </a:r>
            <a:r>
              <a:rPr lang="fr-FR"/>
              <a:t>Dataset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2912350" y="1295187"/>
            <a:ext cx="40687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>
                <a:latin typeface="Arial"/>
                <a:cs typeface="Arial"/>
              </a:rPr>
              <a:t>SELECT ..</a:t>
            </a:r>
          </a:p>
          <a:p>
            <a:r>
              <a:rPr lang="fr-FR" sz="2400">
                <a:latin typeface="Arial"/>
                <a:cs typeface="Arial"/>
              </a:rPr>
              <a:t>FROM </a:t>
            </a:r>
          </a:p>
          <a:p>
            <a:r>
              <a:rPr lang="fr-FR" sz="2400">
                <a:latin typeface="Arial"/>
                <a:cs typeface="Arial"/>
              </a:rPr>
              <a:t>       </a:t>
            </a:r>
            <a:r>
              <a:rPr lang="fr-FR" sz="2400">
                <a:latin typeface="Arial"/>
                <a:cs typeface="Arial"/>
              </a:rPr>
              <a:t>raw_team_domain.table</a:t>
            </a:r>
            <a:endParaRPr lang="fr-FR" sz="2400">
              <a:latin typeface="Arial"/>
              <a:cs typeface="Arial"/>
            </a:endParaRPr>
          </a:p>
        </p:txBody>
      </p:sp>
      <p:sp>
        <p:nvSpPr>
          <p:cNvPr id="5" name="Left Brace 4"/>
          <p:cNvSpPr/>
          <p:nvPr/>
        </p:nvSpPr>
        <p:spPr>
          <a:xfrm>
            <a:off x="2339473" y="1382069"/>
            <a:ext cx="372140" cy="105870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1333109" y="1693363"/>
            <a:ext cx="6674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read</a:t>
            </a:r>
            <a:endParaRPr lang="fr-FR" b="1"/>
          </a:p>
        </p:txBody>
      </p:sp>
      <p:sp>
        <p:nvSpPr>
          <p:cNvPr id="7" name="Rectangle: Folded Corner 6"/>
          <p:cNvSpPr/>
          <p:nvPr/>
        </p:nvSpPr>
        <p:spPr>
          <a:xfrm>
            <a:off x="6514532" y="3521480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: Folded Corner 7"/>
          <p:cNvSpPr/>
          <p:nvPr/>
        </p:nvSpPr>
        <p:spPr>
          <a:xfrm>
            <a:off x="6666932" y="3673880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: Folded Corner 8"/>
          <p:cNvSpPr/>
          <p:nvPr/>
        </p:nvSpPr>
        <p:spPr>
          <a:xfrm>
            <a:off x="6819332" y="3826280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094505" y="6181897"/>
            <a:ext cx="42727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Input = SELECT .. </a:t>
            </a:r>
            <a:r>
              <a:rPr lang="fr-FR" sz="2400" b="1"/>
              <a:t>from</a:t>
            </a:r>
            <a:r>
              <a:rPr lang="fr-FR" sz="2400" b="1"/>
              <a:t> SQL Table</a:t>
            </a:r>
          </a:p>
        </p:txBody>
      </p:sp>
      <p:sp>
        <p:nvSpPr>
          <p:cNvPr id="11" name="Arrow: Right 10"/>
          <p:cNvSpPr/>
          <p:nvPr/>
        </p:nvSpPr>
        <p:spPr>
          <a:xfrm rot="20633383">
            <a:off x="7616142" y="3356009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Right 11"/>
          <p:cNvSpPr/>
          <p:nvPr/>
        </p:nvSpPr>
        <p:spPr>
          <a:xfrm>
            <a:off x="7719715" y="3735412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/>
          <p:cNvSpPr/>
          <p:nvPr/>
        </p:nvSpPr>
        <p:spPr>
          <a:xfrm rot="1413933">
            <a:off x="7630297" y="4200009"/>
            <a:ext cx="745725" cy="102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: Rounded Corners 13"/>
          <p:cNvSpPr/>
          <p:nvPr/>
        </p:nvSpPr>
        <p:spPr>
          <a:xfrm>
            <a:off x="9580194" y="273794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9567736" y="3637533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9580194" y="4488380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/>
          <p:cNvSpPr/>
          <p:nvPr/>
        </p:nvSpPr>
        <p:spPr>
          <a:xfrm>
            <a:off x="10041833" y="292619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10040214" y="380180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10204025" y="4592343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10512692" y="395568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/>
          <p:cNvSpPr/>
          <p:nvPr/>
        </p:nvSpPr>
        <p:spPr>
          <a:xfrm>
            <a:off x="10505621" y="3124728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2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65704" y="2718076"/>
            <a:ext cx="521904" cy="811851"/>
          </a:xfrm>
          <a:prstGeom prst="rect">
            <a:avLst/>
          </a:prstGeom>
          <a:noFill/>
        </p:spPr>
      </p:pic>
      <p:pic>
        <p:nvPicPr>
          <p:cNvPr id="23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61091" y="3602421"/>
            <a:ext cx="521904" cy="811851"/>
          </a:xfrm>
          <a:prstGeom prst="rect">
            <a:avLst/>
          </a:prstGeom>
          <a:noFill/>
        </p:spPr>
      </p:pic>
      <p:pic>
        <p:nvPicPr>
          <p:cNvPr id="24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61091" y="4454795"/>
            <a:ext cx="521904" cy="811851"/>
          </a:xfrm>
          <a:prstGeom prst="rect">
            <a:avLst/>
          </a:prstGeom>
          <a:noFill/>
        </p:spPr>
      </p:pic>
      <p:sp>
        <p:nvSpPr>
          <p:cNvPr id="25" name="Arrow: Right 24"/>
          <p:cNvSpPr/>
          <p:nvPr/>
        </p:nvSpPr>
        <p:spPr>
          <a:xfrm rot="16200000">
            <a:off x="2891487" y="5845826"/>
            <a:ext cx="465374" cy="2757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6" name="Picture 4" descr="Apache Hive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89468" y="4879769"/>
            <a:ext cx="1014744" cy="911985"/>
          </a:xfrm>
          <a:prstGeom prst="rect">
            <a:avLst/>
          </a:prstGeom>
          <a:noFill/>
        </p:spPr>
      </p:pic>
      <p:sp>
        <p:nvSpPr>
          <p:cNvPr id="27" name="Cylinder 26"/>
          <p:cNvSpPr/>
          <p:nvPr/>
        </p:nvSpPr>
        <p:spPr>
          <a:xfrm>
            <a:off x="2122264" y="3324508"/>
            <a:ext cx="2174356" cy="99278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Cylinder 27"/>
          <p:cNvSpPr/>
          <p:nvPr/>
        </p:nvSpPr>
        <p:spPr>
          <a:xfrm>
            <a:off x="2632314" y="5071891"/>
            <a:ext cx="1061482" cy="562329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Left-Right 28"/>
          <p:cNvSpPr/>
          <p:nvPr/>
        </p:nvSpPr>
        <p:spPr>
          <a:xfrm rot="5400000">
            <a:off x="2847115" y="4574434"/>
            <a:ext cx="562330" cy="3402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Picture 2" descr="What is HDFS in Hadoop? Learn HDFS | Intellipaat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8123" y="3464668"/>
            <a:ext cx="1189972" cy="561518"/>
          </a:xfrm>
          <a:prstGeom prst="rect">
            <a:avLst/>
          </a:prstGeom>
          <a:noFill/>
        </p:spPr>
      </p:pic>
      <p:sp>
        <p:nvSpPr>
          <p:cNvPr id="31" name="TextBox 30"/>
          <p:cNvSpPr txBox="1"/>
          <p:nvPr/>
        </p:nvSpPr>
        <p:spPr>
          <a:xfrm>
            <a:off x="1505264" y="5694637"/>
            <a:ext cx="1407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Metastore</a:t>
            </a:r>
            <a:endParaRPr lang="fr-FR" b="1"/>
          </a:p>
        </p:txBody>
      </p:sp>
      <p:sp>
        <p:nvSpPr>
          <p:cNvPr id="32" name="TextBox 31"/>
          <p:cNvSpPr txBox="1"/>
          <p:nvPr/>
        </p:nvSpPr>
        <p:spPr>
          <a:xfrm>
            <a:off x="3296501" y="4493428"/>
            <a:ext cx="24000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Table = Directory</a:t>
            </a:r>
          </a:p>
          <a:p>
            <a:r>
              <a:rPr lang="fr-FR" sz="2400"/>
              <a:t>               + </a:t>
            </a:r>
            <a:r>
              <a:rPr lang="fr-FR" sz="2400"/>
              <a:t>schema</a:t>
            </a:r>
            <a:endParaRPr lang="fr-FR" sz="2400"/>
          </a:p>
        </p:txBody>
      </p:sp>
      <p:sp>
        <p:nvSpPr>
          <p:cNvPr id="33" name="Arrow: Right 32"/>
          <p:cNvSpPr/>
          <p:nvPr/>
        </p:nvSpPr>
        <p:spPr>
          <a:xfrm>
            <a:off x="5231143" y="3750429"/>
            <a:ext cx="465374" cy="2757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4692376" y="2980193"/>
            <a:ext cx="16847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Scan Files</a:t>
            </a:r>
          </a:p>
          <a:p>
            <a:r>
              <a:rPr lang="fr-FR" sz="2400" b="1"/>
              <a:t>In Directory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(</a:t>
            </a:r>
            <a:r>
              <a:rPr lang="fr-FR"/>
              <a:t>Hive</a:t>
            </a:r>
            <a:r>
              <a:rPr lang="fr-FR"/>
              <a:t>) </a:t>
            </a:r>
            <a:r>
              <a:rPr lang="fr-FR"/>
              <a:t>MetaStore</a:t>
            </a:r>
            <a:endParaRPr lang="fr-FR"/>
          </a:p>
        </p:txBody>
      </p:sp>
      <p:pic>
        <p:nvPicPr>
          <p:cNvPr id="4" name="Picture 4" descr="Apache Hive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4456" y="2932233"/>
            <a:ext cx="1014744" cy="911985"/>
          </a:xfrm>
          <a:prstGeom prst="rect">
            <a:avLst/>
          </a:prstGeom>
          <a:noFill/>
        </p:spPr>
      </p:pic>
      <p:sp>
        <p:nvSpPr>
          <p:cNvPr id="5" name="Cylinder 4"/>
          <p:cNvSpPr/>
          <p:nvPr/>
        </p:nvSpPr>
        <p:spPr>
          <a:xfrm>
            <a:off x="1607302" y="3124355"/>
            <a:ext cx="1061482" cy="562329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272845" y="1853405"/>
            <a:ext cx="6083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Store ONLY </a:t>
            </a:r>
            <a:r>
              <a:rPr lang="fr-FR" sz="2400" b="1"/>
              <a:t>metadata</a:t>
            </a:r>
            <a:r>
              <a:rPr lang="fr-FR" sz="2400" b="1"/>
              <a:t>  (DDL + partitions)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2527" y="2902960"/>
            <a:ext cx="598784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DDL:</a:t>
            </a:r>
          </a:p>
          <a:p>
            <a:r>
              <a:rPr lang="fr-FR" sz="2800"/>
              <a:t>CREATE EXTERNAL TABLE  </a:t>
            </a:r>
            <a:r>
              <a:rPr lang="fr-FR" sz="2800" b="1"/>
              <a:t>students</a:t>
            </a:r>
            <a:r>
              <a:rPr lang="fr-FR" sz="2800"/>
              <a:t> (</a:t>
            </a:r>
          </a:p>
          <a:p>
            <a:r>
              <a:rPr lang="fr-FR" sz="2800"/>
              <a:t>   </a:t>
            </a:r>
            <a:r>
              <a:rPr lang="fr-FR" sz="2800"/>
              <a:t>socialSecuId</a:t>
            </a:r>
            <a:r>
              <a:rPr lang="fr-FR" sz="2800"/>
              <a:t>: Int,</a:t>
            </a:r>
          </a:p>
          <a:p>
            <a:r>
              <a:rPr lang="fr-FR" sz="2800"/>
              <a:t>   </a:t>
            </a:r>
            <a:r>
              <a:rPr lang="fr-FR" sz="2800"/>
              <a:t>firstName</a:t>
            </a:r>
            <a:r>
              <a:rPr lang="fr-FR" sz="2800"/>
              <a:t> string, </a:t>
            </a:r>
            <a:r>
              <a:rPr lang="fr-FR" sz="2800"/>
              <a:t>lastName</a:t>
            </a:r>
            <a:r>
              <a:rPr lang="fr-FR" sz="2800"/>
              <a:t> string,</a:t>
            </a:r>
          </a:p>
          <a:p>
            <a:r>
              <a:rPr lang="fr-FR" sz="2800"/>
              <a:t>   </a:t>
            </a:r>
            <a:r>
              <a:rPr lang="fr-FR" sz="2800"/>
              <a:t>birth</a:t>
            </a:r>
            <a:r>
              <a:rPr lang="fr-FR" sz="2800"/>
              <a:t>: Date, …</a:t>
            </a:r>
          </a:p>
          <a:p>
            <a:r>
              <a:rPr lang="fr-FR" sz="2800"/>
              <a:t>) PARTITIONED BY (promo: Int)</a:t>
            </a:r>
          </a:p>
          <a:p>
            <a:r>
              <a:rPr lang="fr-FR" sz="2800"/>
              <a:t>STORED AS </a:t>
            </a:r>
            <a:r>
              <a:rPr lang="fr-FR" sz="2800" b="1"/>
              <a:t>parquet</a:t>
            </a:r>
          </a:p>
          <a:p>
            <a:r>
              <a:rPr lang="fr-FR" sz="2800" b="1"/>
              <a:t>LOCATION 'hdfs://lake/students'</a:t>
            </a:r>
            <a:endParaRPr lang="fr-FR" sz="2400" b="1"/>
          </a:p>
        </p:txBody>
      </p:sp>
      <p:sp>
        <p:nvSpPr>
          <p:cNvPr id="8" name="Arrow: Left 7"/>
          <p:cNvSpPr/>
          <p:nvPr/>
        </p:nvSpPr>
        <p:spPr>
          <a:xfrm rot="2020595">
            <a:off x="8745795" y="3637573"/>
            <a:ext cx="1025013" cy="41329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Left 8"/>
          <p:cNvSpPr/>
          <p:nvPr/>
        </p:nvSpPr>
        <p:spPr>
          <a:xfrm rot="19320681">
            <a:off x="8802108" y="5510516"/>
            <a:ext cx="1025013" cy="41329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2" descr="What is HDFS in Hadoop? Learn HDFS | Intellipaat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25471" y="5102297"/>
            <a:ext cx="1595360" cy="752810"/>
          </a:xfrm>
          <a:prstGeom prst="rect">
            <a:avLst/>
          </a:prstGeom>
          <a:noFill/>
        </p:spPr>
      </p:pic>
      <p:pic>
        <p:nvPicPr>
          <p:cNvPr id="11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867374" y="3091342"/>
            <a:ext cx="1595360" cy="1595360"/>
          </a:xfrm>
          <a:prstGeom prst="rect">
            <a:avLst/>
          </a:prstGeom>
          <a:noFill/>
        </p:spPr>
      </p:pic>
      <p:sp>
        <p:nvSpPr>
          <p:cNvPr id="12" name="TextBox 11"/>
          <p:cNvSpPr txBox="1"/>
          <p:nvPr/>
        </p:nvSpPr>
        <p:spPr>
          <a:xfrm>
            <a:off x="8490536" y="2385453"/>
            <a:ext cx="33933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Mapping SQL – </a:t>
            </a:r>
            <a:r>
              <a:rPr lang="fr-FR" sz="2400" b="1"/>
              <a:t>Dirs+Files</a:t>
            </a:r>
            <a:endParaRPr lang="fr-FR" sz="2400" b="1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Location </a:t>
            </a:r>
            <a:r>
              <a:rPr lang="fr-FR"/>
              <a:t>Dir</a:t>
            </a:r>
            <a:r>
              <a:rPr lang="fr-FR"/>
              <a:t> + Partitions</a:t>
            </a:r>
          </a:p>
        </p:txBody>
      </p:sp>
      <p:pic>
        <p:nvPicPr>
          <p:cNvPr id="4" name="Picture 6" descr="HDFS Storage Efficiency Using Tiered Storag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1518" y="1510779"/>
            <a:ext cx="1398423" cy="773300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1669856" y="1662588"/>
            <a:ext cx="41225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/ »     = root hdfs://host/</a:t>
            </a:r>
          </a:p>
        </p:txBody>
      </p:sp>
      <p:sp>
        <p:nvSpPr>
          <p:cNvPr id="9" name="Arrow: Bent-Up 8"/>
          <p:cNvSpPr/>
          <p:nvPr/>
        </p:nvSpPr>
        <p:spPr>
          <a:xfrm rot="5400000">
            <a:off x="2004336" y="2248313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711073" y="2445821"/>
            <a:ext cx="22972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/</a:t>
            </a:r>
            <a:r>
              <a:rPr lang="fr-FR" sz="2800" b="1"/>
              <a:t>lake</a:t>
            </a:r>
            <a:r>
              <a:rPr lang="fr-FR" sz="2800" b="1"/>
              <a:t> »  (</a:t>
            </a:r>
            <a:r>
              <a:rPr lang="fr-FR" sz="2800" b="1"/>
              <a:t>dir</a:t>
            </a:r>
            <a:r>
              <a:rPr lang="fr-FR" sz="2800" b="1"/>
              <a:t>)</a:t>
            </a:r>
          </a:p>
        </p:txBody>
      </p:sp>
      <p:sp>
        <p:nvSpPr>
          <p:cNvPr id="11" name="Arrow: Bent-Up 10"/>
          <p:cNvSpPr/>
          <p:nvPr/>
        </p:nvSpPr>
        <p:spPr>
          <a:xfrm rot="5400000">
            <a:off x="3028119" y="3041920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3782745" y="3242950"/>
            <a:ext cx="4985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/</a:t>
            </a:r>
            <a:r>
              <a:rPr lang="fr-FR" sz="2800" b="1"/>
              <a:t>students</a:t>
            </a:r>
            <a:r>
              <a:rPr lang="fr-FR" sz="2800" b="1"/>
              <a:t> »  (table </a:t>
            </a:r>
            <a:r>
              <a:rPr lang="fr-FR" sz="2800" b="1"/>
              <a:t>storage</a:t>
            </a:r>
            <a:r>
              <a:rPr lang="fr-FR" sz="2800" b="1"/>
              <a:t> </a:t>
            </a:r>
            <a:r>
              <a:rPr lang="fr-FR" sz="2800" b="1"/>
              <a:t>dir</a:t>
            </a:r>
            <a:r>
              <a:rPr lang="fr-FR" sz="2800" b="1"/>
              <a:t>)</a:t>
            </a:r>
          </a:p>
        </p:txBody>
      </p:sp>
      <p:sp>
        <p:nvSpPr>
          <p:cNvPr id="13" name="Arrow: Bent-Up 12"/>
          <p:cNvSpPr/>
          <p:nvPr/>
        </p:nvSpPr>
        <p:spPr>
          <a:xfrm rot="5400000">
            <a:off x="4351699" y="3865371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5105097" y="4101346"/>
            <a:ext cx="49813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/promo=2021 »  (partition </a:t>
            </a:r>
            <a:r>
              <a:rPr lang="fr-FR" sz="2800" b="1"/>
              <a:t>dir</a:t>
            </a:r>
            <a:r>
              <a:rPr lang="fr-FR" sz="2800" b="1"/>
              <a:t>)</a:t>
            </a:r>
          </a:p>
        </p:txBody>
      </p:sp>
      <p:sp>
        <p:nvSpPr>
          <p:cNvPr id="15" name="Arrow: Bent-Up 14"/>
          <p:cNvSpPr/>
          <p:nvPr/>
        </p:nvSpPr>
        <p:spPr>
          <a:xfrm rot="5400000">
            <a:off x="4351698" y="4388765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5153887" y="4648438"/>
            <a:ext cx="49813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/promo=2022 »  (partition </a:t>
            </a:r>
            <a:r>
              <a:rPr lang="fr-FR" sz="2800" b="1"/>
              <a:t>dir</a:t>
            </a:r>
            <a:r>
              <a:rPr lang="fr-FR" sz="2800" b="1"/>
              <a:t>)</a:t>
            </a:r>
          </a:p>
        </p:txBody>
      </p:sp>
      <p:sp>
        <p:nvSpPr>
          <p:cNvPr id="17" name="Arrow: Bent-Up 16"/>
          <p:cNvSpPr/>
          <p:nvPr/>
        </p:nvSpPr>
        <p:spPr>
          <a:xfrm rot="5400000">
            <a:off x="5450758" y="5221221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Bent-Up 17"/>
          <p:cNvSpPr/>
          <p:nvPr/>
        </p:nvSpPr>
        <p:spPr>
          <a:xfrm rot="5400000">
            <a:off x="5452630" y="5810661"/>
            <a:ext cx="671051" cy="619433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6203568" y="5436710"/>
            <a:ext cx="41945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file1.parquet»  (data file)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2730" y="6046310"/>
            <a:ext cx="41945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« file2.parquet»  (data file)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9586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-&gt; INSERT SQL Table (-&gt; Files)</a:t>
            </a:r>
          </a:p>
        </p:txBody>
      </p:sp>
      <p:sp>
        <p:nvSpPr>
          <p:cNvPr id="5" name="Rectangle: Rounded Corners 4"/>
          <p:cNvSpPr/>
          <p:nvPr/>
        </p:nvSpPr>
        <p:spPr>
          <a:xfrm>
            <a:off x="1281114" y="2601657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1281113" y="3361661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: Rounded Corners 6"/>
          <p:cNvSpPr/>
          <p:nvPr/>
        </p:nvSpPr>
        <p:spPr>
          <a:xfrm>
            <a:off x="1281113" y="4135498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Isosceles Triangle 7"/>
          <p:cNvSpPr/>
          <p:nvPr/>
        </p:nvSpPr>
        <p:spPr>
          <a:xfrm>
            <a:off x="1830135" y="2676797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Isosceles Triangle 8"/>
          <p:cNvSpPr/>
          <p:nvPr/>
        </p:nvSpPr>
        <p:spPr>
          <a:xfrm>
            <a:off x="1830135" y="3444519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2486982" y="2922005"/>
            <a:ext cx="2385611" cy="92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486982" y="3699964"/>
            <a:ext cx="2385611" cy="929"/>
          </a:xfrm>
          <a:prstGeom prst="straightConnector1">
            <a:avLst/>
          </a:prstGeom>
          <a:ln w="2222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Folded Corner 11"/>
          <p:cNvSpPr/>
          <p:nvPr/>
        </p:nvSpPr>
        <p:spPr>
          <a:xfrm>
            <a:off x="5062252" y="2630791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: Folded Corner 12"/>
          <p:cNvSpPr/>
          <p:nvPr/>
        </p:nvSpPr>
        <p:spPr>
          <a:xfrm>
            <a:off x="5062252" y="3445999"/>
            <a:ext cx="492710" cy="621437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6067386" y="5871286"/>
            <a:ext cx="48570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Output  </a:t>
            </a:r>
          </a:p>
          <a:p>
            <a:r>
              <a:rPr lang="fr-FR" sz="2400" b="1"/>
              <a:t>SQL: INSERT INTO/OVERWRITE Table</a:t>
            </a:r>
          </a:p>
        </p:txBody>
      </p:sp>
      <p:sp>
        <p:nvSpPr>
          <p:cNvPr id="15" name="Arrow: Right 14"/>
          <p:cNvSpPr/>
          <p:nvPr/>
        </p:nvSpPr>
        <p:spPr>
          <a:xfrm rot="16200000">
            <a:off x="8299698" y="5362674"/>
            <a:ext cx="465374" cy="2757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Picture 4" descr="Apache Hive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745611" y="4956245"/>
            <a:ext cx="1014744" cy="911985"/>
          </a:xfrm>
          <a:prstGeom prst="rect">
            <a:avLst/>
          </a:prstGeom>
          <a:noFill/>
        </p:spPr>
      </p:pic>
      <p:sp>
        <p:nvSpPr>
          <p:cNvPr id="17" name="Cylinder 16"/>
          <p:cNvSpPr/>
          <p:nvPr/>
        </p:nvSpPr>
        <p:spPr>
          <a:xfrm>
            <a:off x="7530475" y="2841356"/>
            <a:ext cx="2174356" cy="99278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Cylinder 17"/>
          <p:cNvSpPr/>
          <p:nvPr/>
        </p:nvSpPr>
        <p:spPr>
          <a:xfrm>
            <a:off x="8040525" y="4588739"/>
            <a:ext cx="1061482" cy="562329"/>
          </a:xfrm>
          <a:prstGeom prst="can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-Right 18"/>
          <p:cNvSpPr/>
          <p:nvPr/>
        </p:nvSpPr>
        <p:spPr>
          <a:xfrm rot="5400000">
            <a:off x="8255326" y="4091282"/>
            <a:ext cx="562330" cy="34024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" name="Picture 2" descr="What is HDFS in Hadoop? Learn HDFS | Intellipaat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291654" y="2841356"/>
            <a:ext cx="1189972" cy="561518"/>
          </a:xfrm>
          <a:prstGeom prst="rect">
            <a:avLst/>
          </a:prstGeom>
          <a:noFill/>
        </p:spPr>
      </p:pic>
      <p:sp>
        <p:nvSpPr>
          <p:cNvPr id="21" name="TextBox 20"/>
          <p:cNvSpPr txBox="1"/>
          <p:nvPr/>
        </p:nvSpPr>
        <p:spPr>
          <a:xfrm>
            <a:off x="9861407" y="5771113"/>
            <a:ext cx="1407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Metastore</a:t>
            </a:r>
            <a:endParaRPr lang="fr-FR" b="1"/>
          </a:p>
        </p:txBody>
      </p:sp>
      <p:sp>
        <p:nvSpPr>
          <p:cNvPr id="22" name="TextBox 21"/>
          <p:cNvSpPr txBox="1"/>
          <p:nvPr/>
        </p:nvSpPr>
        <p:spPr>
          <a:xfrm>
            <a:off x="8704712" y="4010276"/>
            <a:ext cx="24000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Table = Directory</a:t>
            </a:r>
          </a:p>
          <a:p>
            <a:r>
              <a:rPr lang="fr-FR" sz="2400"/>
              <a:t>               + </a:t>
            </a:r>
            <a:r>
              <a:rPr lang="fr-FR" sz="2400"/>
              <a:t>schema</a:t>
            </a:r>
            <a:endParaRPr lang="fr-FR" sz="2400"/>
          </a:p>
        </p:txBody>
      </p:sp>
      <p:sp>
        <p:nvSpPr>
          <p:cNvPr id="25" name="Arrow: Right 24"/>
          <p:cNvSpPr/>
          <p:nvPr/>
        </p:nvSpPr>
        <p:spPr>
          <a:xfrm>
            <a:off x="6283388" y="3031675"/>
            <a:ext cx="465374" cy="2757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Box 25"/>
          <p:cNvSpPr txBox="1"/>
          <p:nvPr/>
        </p:nvSpPr>
        <p:spPr>
          <a:xfrm>
            <a:off x="5744621" y="1725424"/>
            <a:ext cx="27177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Write Files</a:t>
            </a:r>
            <a:br>
              <a:rPr lang="fr-FR" sz="2400" b="1"/>
            </a:br>
            <a:r>
              <a:rPr lang="fr-FR" sz="2400" b="1"/>
              <a:t>(append/</a:t>
            </a:r>
            <a:r>
              <a:rPr lang="fr-FR" sz="2400" b="1"/>
              <a:t>overwrite</a:t>
            </a:r>
            <a:r>
              <a:rPr lang="fr-FR" sz="2400" b="1"/>
              <a:t>)</a:t>
            </a:r>
          </a:p>
          <a:p>
            <a:r>
              <a:rPr lang="fr-FR" sz="2400" b="1"/>
              <a:t>To Directory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4894" y="1272052"/>
            <a:ext cx="7240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>
                <a:latin typeface="Arial"/>
                <a:cs typeface="Arial"/>
              </a:rPr>
              <a:t>INSERT OVERWRITE </a:t>
            </a:r>
          </a:p>
          <a:p>
            <a:r>
              <a:rPr lang="fr-FR" sz="1800">
                <a:latin typeface="Arial"/>
                <a:cs typeface="Arial"/>
              </a:rPr>
              <a:t>       </a:t>
            </a:r>
            <a:r>
              <a:rPr lang="fr-FR" sz="1800">
                <a:latin typeface="Arial"/>
                <a:cs typeface="Arial"/>
              </a:rPr>
              <a:t>lake_team_domain.table</a:t>
            </a:r>
            <a:endParaRPr lang="fr-FR"/>
          </a:p>
        </p:txBody>
      </p:sp>
      <p:sp>
        <p:nvSpPr>
          <p:cNvPr id="29" name="Left Brace 28"/>
          <p:cNvSpPr/>
          <p:nvPr/>
        </p:nvSpPr>
        <p:spPr>
          <a:xfrm>
            <a:off x="1506960" y="1210294"/>
            <a:ext cx="372140" cy="72536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494725" y="1319827"/>
            <a:ext cx="7441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write</a:t>
            </a:r>
            <a:endParaRPr lang="fr-FR" b="1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Java &lt;-&gt; </a:t>
            </a:r>
            <a:r>
              <a:rPr lang="fr-FR"/>
              <a:t>Sql</a:t>
            </a:r>
            <a:r>
              <a:rPr lang="fr-FR"/>
              <a:t> Interactions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9156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Executing</a:t>
            </a:r>
            <a:r>
              <a:rPr lang="fr-FR"/>
              <a:t> Single SQL </a:t>
            </a:r>
            <a:r>
              <a:rPr lang="fr-FR"/>
              <a:t>from</a:t>
            </a:r>
            <a:r>
              <a:rPr lang="fr-FR"/>
              <a:t>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86680" y="2428931"/>
            <a:ext cx="652505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for( </a:t>
            </a:r>
            <a:r>
              <a:rPr lang="fr-FR" sz="2800"/>
              <a:t>int</a:t>
            </a:r>
            <a:r>
              <a:rPr lang="fr-FR" sz="2800"/>
              <a:t> i = 0; i &lt; 10; i++) {</a:t>
            </a:r>
          </a:p>
          <a:p>
            <a:r>
              <a:rPr lang="fr-FR" sz="2800"/>
              <a:t>   String </a:t>
            </a:r>
            <a:r>
              <a:rPr lang="fr-FR" sz="2800"/>
              <a:t>sql</a:t>
            </a:r>
            <a:r>
              <a:rPr lang="fr-FR" sz="2800"/>
              <a:t> = « SELECT * </a:t>
            </a:r>
            <a:r>
              <a:rPr lang="fr-FR" sz="2800"/>
              <a:t>from</a:t>
            </a:r>
            <a:r>
              <a:rPr lang="fr-FR" sz="2800"/>
              <a:t> </a:t>
            </a:r>
            <a:r>
              <a:rPr lang="fr-FR" sz="2800"/>
              <a:t>db.table</a:t>
            </a:r>
            <a:r>
              <a:rPr lang="fr-FR" sz="2800"/>
              <a:t> » + i;</a:t>
            </a:r>
          </a:p>
          <a:p>
            <a:endParaRPr lang="fr-FR" sz="2800"/>
          </a:p>
          <a:p>
            <a:r>
              <a:rPr lang="fr-FR" sz="2800"/>
              <a:t>   </a:t>
            </a:r>
            <a:r>
              <a:rPr lang="fr-FR" sz="2800"/>
              <a:t>Dataset</a:t>
            </a:r>
            <a:r>
              <a:rPr lang="fr-FR" sz="2800"/>
              <a:t>[Row] </a:t>
            </a:r>
            <a:r>
              <a:rPr lang="fr-FR" sz="2800"/>
              <a:t>ds</a:t>
            </a:r>
            <a:r>
              <a:rPr lang="fr-FR" sz="2800"/>
              <a:t> = </a:t>
            </a:r>
            <a:r>
              <a:rPr lang="fr-FR" sz="2800" b="1"/>
              <a:t>spark.sql</a:t>
            </a:r>
            <a:r>
              <a:rPr lang="fr-FR" sz="2800"/>
              <a:t>(</a:t>
            </a:r>
            <a:r>
              <a:rPr lang="fr-FR" sz="2800"/>
              <a:t>sql</a:t>
            </a:r>
            <a:r>
              <a:rPr lang="fr-FR" sz="2800"/>
              <a:t>);</a:t>
            </a:r>
          </a:p>
          <a:p>
            <a:endParaRPr lang="fr-FR" sz="2800"/>
          </a:p>
          <a:p>
            <a:r>
              <a:rPr lang="fr-FR" sz="2800"/>
              <a:t>   ..</a:t>
            </a:r>
          </a:p>
          <a:p>
            <a:r>
              <a:rPr lang="fr-FR" sz="2800"/>
              <a:t>}</a:t>
            </a:r>
          </a:p>
        </p:txBody>
      </p:sp>
      <p:pic>
        <p:nvPicPr>
          <p:cNvPr id="3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4126" y="2069417"/>
            <a:ext cx="1595360" cy="1595360"/>
          </a:xfrm>
          <a:prstGeom prst="rect">
            <a:avLst/>
          </a:prstGeom>
          <a:noFill/>
        </p:spPr>
      </p:pic>
      <p:pic>
        <p:nvPicPr>
          <p:cNvPr id="5" name="Picture 24" descr="Jav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509962" y="4297333"/>
            <a:ext cx="637540" cy="1186632"/>
          </a:xfrm>
          <a:prstGeom prst="rect">
            <a:avLst/>
          </a:prstGeom>
          <a:noFill/>
        </p:spPr>
      </p:pic>
      <p:sp>
        <p:nvSpPr>
          <p:cNvPr id="6" name="Arrow: Down 5"/>
          <p:cNvSpPr/>
          <p:nvPr/>
        </p:nvSpPr>
        <p:spPr>
          <a:xfrm flipV="1">
            <a:off x="1711103" y="3499206"/>
            <a:ext cx="436399" cy="59619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5535228" y="5629386"/>
            <a:ext cx="4291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 </a:t>
            </a:r>
            <a:r>
              <a:rPr lang="fr-FR"/>
              <a:t>imperative</a:t>
            </a:r>
            <a:r>
              <a:rPr lang="fr-FR"/>
              <a:t> in SQL  (</a:t>
            </a:r>
            <a:r>
              <a:rPr lang="fr-FR"/>
              <a:t>cf</a:t>
            </a:r>
            <a:r>
              <a:rPr lang="fr-FR"/>
              <a:t> PL/</a:t>
            </a:r>
            <a:r>
              <a:rPr lang="fr-FR"/>
              <a:t>Sql</a:t>
            </a:r>
            <a:r>
              <a:rPr lang="fr-FR"/>
              <a:t> extensions)</a:t>
            </a:r>
          </a:p>
          <a:p>
            <a:r>
              <a:rPr lang="fr-FR"/>
              <a:t>=&gt; OK in java code : if, for(), …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1729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./bin/spark-sql.sh   -f  </a:t>
            </a:r>
            <a:r>
              <a:rPr lang="fr-FR"/>
              <a:t>sql-script.hql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395928" y="1419014"/>
            <a:ext cx="10085944" cy="486579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0"/>
            <a:ext cx="11826240" cy="2263774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HQL =  </a:t>
            </a:r>
            <a:r>
              <a:rPr lang="fr-FR"/>
              <a:t>Hive</a:t>
            </a:r>
            <a:r>
              <a:rPr lang="fr-FR"/>
              <a:t> </a:t>
            </a:r>
            <a:r>
              <a:rPr lang="fr-FR"/>
              <a:t>Query</a:t>
            </a:r>
            <a:r>
              <a:rPr lang="fr-FR"/>
              <a:t> Langage</a:t>
            </a:r>
            <a:br>
              <a:rPr lang="fr-FR"/>
            </a:br>
            <a:r>
              <a:rPr lang="fr-FR"/>
              <a:t>... extension of SQL</a:t>
            </a:r>
            <a:br>
              <a:rPr lang="fr-FR"/>
            </a:br>
            <a:r>
              <a:rPr lang="fr-FR"/>
              <a:t> ";"-</a:t>
            </a:r>
            <a:r>
              <a:rPr lang="fr-FR"/>
              <a:t>separated</a:t>
            </a:r>
            <a:r>
              <a:rPr lang="fr-FR"/>
              <a:t>  </a:t>
            </a:r>
            <a:r>
              <a:rPr lang="fr-FR"/>
              <a:t>sequence</a:t>
            </a:r>
            <a:r>
              <a:rPr lang="fr-FR"/>
              <a:t> of  </a:t>
            </a:r>
            <a:r>
              <a:rPr lang="fr-FR"/>
              <a:t>statements</a:t>
            </a:r>
            <a:br>
              <a:rPr lang="fr-FR"/>
            </a:br>
            <a:r>
              <a:rPr lang="fr-FR"/>
              <a:t> (DML </a:t>
            </a:r>
            <a:r>
              <a:rPr lang="fr-FR"/>
              <a:t>Queries</a:t>
            </a:r>
            <a:r>
              <a:rPr lang="fr-FR"/>
              <a:t> + DDL)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17545" y="3228975"/>
            <a:ext cx="762952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/>
              <a:t>String </a:t>
            </a:r>
            <a:r>
              <a:rPr lang="fr-FR" sz="2400"/>
              <a:t>multiStatementSql</a:t>
            </a:r>
            <a:r>
              <a:rPr lang="fr-FR" sz="2400"/>
              <a:t> =</a:t>
            </a:r>
          </a:p>
          <a:p>
            <a:r>
              <a:rPr lang="fr-FR" sz="2400"/>
              <a:t>                 "</a:t>
            </a:r>
            <a:r>
              <a:rPr lang="fr-FR" sz="2400"/>
              <a:t>create</a:t>
            </a:r>
            <a:r>
              <a:rPr lang="fr-FR" sz="2400"/>
              <a:t> table xx as select.. </a:t>
            </a:r>
            <a:r>
              <a:rPr lang="fr-FR" sz="2400"/>
              <a:t>from</a:t>
            </a:r>
            <a:r>
              <a:rPr lang="fr-FR" sz="2400"/>
              <a:t> Table1 ...  \n "</a:t>
            </a:r>
          </a:p>
          <a:p>
            <a:r>
              <a:rPr lang="fr-FR" sz="2400"/>
              <a:t>	</a:t>
            </a:r>
            <a:r>
              <a:rPr lang="fr-FR" sz="2400" b="1"/>
              <a:t>+ "; " // &lt;==== </a:t>
            </a:r>
            <a:r>
              <a:rPr lang="fr-FR" sz="2400" b="1"/>
              <a:t>separator</a:t>
            </a:r>
            <a:endParaRPr lang="fr-FR" sz="2400" b="1"/>
          </a:p>
          <a:p>
            <a:r>
              <a:rPr lang="fr-FR" sz="2400"/>
              <a:t>	+ "select ... </a:t>
            </a:r>
            <a:r>
              <a:rPr lang="fr-FR" sz="2400"/>
              <a:t>from Table2"</a:t>
            </a:r>
          </a:p>
          <a:p>
            <a:r>
              <a:rPr lang="fr-FR" sz="2400"/>
              <a:t>	</a:t>
            </a:r>
            <a:r>
              <a:rPr lang="fr-FR" sz="2400" b="1"/>
              <a:t>+ ";"  // &lt;==== </a:t>
            </a:r>
            <a:r>
              <a:rPr lang="fr-FR" sz="2400" b="1"/>
              <a:t>separator</a:t>
            </a:r>
            <a:endParaRPr lang="fr-FR" sz="2400" b="1"/>
          </a:p>
          <a:p>
            <a:r>
              <a:rPr lang="fr-FR" sz="2400"/>
              <a:t>	+ "drop table xx"; </a:t>
            </a:r>
          </a:p>
          <a:p>
            <a:endParaRPr lang="fr-FR" sz="2400"/>
          </a:p>
          <a:p>
            <a:r>
              <a:rPr lang="fr-FR" sz="2400"/>
              <a:t>spark.sql</a:t>
            </a:r>
            <a:r>
              <a:rPr lang="fr-FR" sz="2400"/>
              <a:t>(  </a:t>
            </a:r>
            <a:r>
              <a:rPr lang="fr-FR" sz="2400"/>
              <a:t>multiStatementSql</a:t>
            </a:r>
            <a:r>
              <a:rPr lang="fr-FR" sz="2400"/>
              <a:t> )   </a:t>
            </a:r>
            <a:r>
              <a:rPr lang="fr-FR" sz="2400" b="1">
                <a:solidFill>
                  <a:srgbClr val="FF0000"/>
                </a:solidFill>
              </a:rPr>
              <a:t>//  &lt;=== FAIL !!!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spark-sql.sh   Equivalent to </a:t>
            </a:r>
            <a:br>
              <a:rPr lang="fr-FR"/>
            </a:br>
            <a:r>
              <a:rPr lang="fr-FR"/>
              <a:t>custom "</a:t>
            </a:r>
            <a:r>
              <a:rPr lang="fr-FR"/>
              <a:t>spark</a:t>
            </a:r>
            <a:r>
              <a:rPr lang="fr-FR"/>
              <a:t>" code + SQL escape </a:t>
            </a:r>
            <a:r>
              <a:rPr lang="fr-FR"/>
              <a:t>parsing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2971800" y="1908810"/>
            <a:ext cx="662072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String </a:t>
            </a:r>
            <a:r>
              <a:rPr lang="fr-FR" sz="2400"/>
              <a:t>hqlFileContent</a:t>
            </a:r>
            <a:r>
              <a:rPr lang="fr-FR" sz="2400"/>
              <a:t> = .....</a:t>
            </a:r>
          </a:p>
          <a:p>
            <a:endParaRPr lang="fr-FR" sz="2400"/>
          </a:p>
          <a:p>
            <a:r>
              <a:rPr lang="fr-FR" sz="2400"/>
              <a:t>// split by ";"</a:t>
            </a:r>
          </a:p>
          <a:p>
            <a:r>
              <a:rPr lang="fr-FR" sz="2400"/>
              <a:t>// escape ";"  in </a:t>
            </a:r>
            <a:r>
              <a:rPr lang="fr-FR" sz="2400"/>
              <a:t>sql</a:t>
            </a:r>
            <a:r>
              <a:rPr lang="fr-FR" sz="2400"/>
              <a:t>  line comment "-- .. ; ... ",   </a:t>
            </a:r>
          </a:p>
          <a:p>
            <a:r>
              <a:rPr lang="fr-FR" sz="2400"/>
              <a:t>// escape in </a:t>
            </a:r>
            <a:r>
              <a:rPr lang="fr-FR" sz="2400"/>
              <a:t>sql</a:t>
            </a:r>
            <a:r>
              <a:rPr lang="fr-FR" sz="2400"/>
              <a:t> multi-</a:t>
            </a:r>
            <a:r>
              <a:rPr lang="fr-FR" sz="2400"/>
              <a:t>lines</a:t>
            </a:r>
            <a:r>
              <a:rPr lang="fr-FR" sz="2400"/>
              <a:t> comment  "/* ...  ; ...  */"</a:t>
            </a:r>
          </a:p>
          <a:p>
            <a:r>
              <a:rPr lang="fr-FR" sz="2400"/>
              <a:t>// escape in </a:t>
            </a:r>
            <a:r>
              <a:rPr lang="fr-FR" sz="2400"/>
              <a:t>sql</a:t>
            </a:r>
            <a:r>
              <a:rPr lang="fr-FR" sz="2400"/>
              <a:t> chars "\;" but not "\\"</a:t>
            </a:r>
          </a:p>
          <a:p>
            <a:r>
              <a:rPr lang="fr-FR" sz="2400"/>
              <a:t>// (not in </a:t>
            </a:r>
            <a:r>
              <a:rPr lang="fr-FR" sz="2400"/>
              <a:t>spark</a:t>
            </a:r>
            <a:r>
              <a:rPr lang="fr-FR" sz="2400"/>
              <a:t> API !! </a:t>
            </a:r>
            <a:r>
              <a:rPr lang="fr-FR" sz="2400"/>
              <a:t>write</a:t>
            </a:r>
            <a:r>
              <a:rPr lang="fr-FR" sz="2400"/>
              <a:t> </a:t>
            </a:r>
            <a:r>
              <a:rPr lang="fr-FR" sz="2400"/>
              <a:t>yourself</a:t>
            </a:r>
            <a:r>
              <a:rPr lang="fr-FR" sz="2400"/>
              <a:t> )</a:t>
            </a:r>
          </a:p>
          <a:p>
            <a:r>
              <a:rPr lang="fr-FR" sz="2400"/>
              <a:t>List&lt;String&gt;  </a:t>
            </a:r>
            <a:r>
              <a:rPr lang="fr-FR" sz="2400"/>
              <a:t>sqlList</a:t>
            </a:r>
            <a:r>
              <a:rPr lang="fr-FR" sz="2400"/>
              <a:t> =  </a:t>
            </a:r>
            <a:r>
              <a:rPr lang="fr-FR" sz="2400" b="1"/>
              <a:t>splitHql</a:t>
            </a:r>
            <a:r>
              <a:rPr lang="fr-FR" sz="2400" b="1"/>
              <a:t>(</a:t>
            </a:r>
            <a:r>
              <a:rPr lang="fr-FR" sz="2400"/>
              <a:t>hqlFileContent</a:t>
            </a:r>
            <a:r>
              <a:rPr lang="fr-FR" sz="2400"/>
              <a:t>);</a:t>
            </a:r>
          </a:p>
          <a:p>
            <a:endParaRPr lang="fr-FR" sz="2400"/>
          </a:p>
          <a:p>
            <a:r>
              <a:rPr lang="fr-FR" sz="2400" b="1"/>
              <a:t>for</a:t>
            </a:r>
            <a:r>
              <a:rPr lang="fr-FR" sz="2400"/>
              <a:t>(String </a:t>
            </a:r>
            <a:r>
              <a:rPr lang="fr-FR" sz="2400"/>
              <a:t>singleSql</a:t>
            </a:r>
            <a:r>
              <a:rPr lang="fr-FR" sz="2400"/>
              <a:t> : </a:t>
            </a:r>
            <a:r>
              <a:rPr lang="fr-FR" sz="2400"/>
              <a:t>sqlList</a:t>
            </a:r>
            <a:r>
              <a:rPr lang="fr-FR" sz="2400"/>
              <a:t>) {</a:t>
            </a:r>
          </a:p>
          <a:p>
            <a:r>
              <a:rPr lang="fr-FR" sz="2400"/>
              <a:t>     </a:t>
            </a:r>
            <a:r>
              <a:rPr lang="fr-FR" sz="2400" b="1"/>
              <a:t>spark.sql</a:t>
            </a:r>
            <a:r>
              <a:rPr lang="fr-FR" sz="2400" b="1"/>
              <a:t>(</a:t>
            </a:r>
            <a:r>
              <a:rPr lang="fr-FR" sz="2400"/>
              <a:t>singleSql</a:t>
            </a:r>
            <a:r>
              <a:rPr lang="fr-FR" sz="2400"/>
              <a:t>).show();</a:t>
            </a:r>
          </a:p>
          <a:p>
            <a:r>
              <a:rPr lang="fr-FR" sz="2400"/>
              <a:t>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Java </a:t>
            </a:r>
            <a:r>
              <a:rPr lang="fr-FR"/>
              <a:t>DataSet</a:t>
            </a:r>
            <a:r>
              <a:rPr lang="fr-FR"/>
              <a:t> as SQL </a:t>
            </a:r>
            <a:r>
              <a:rPr lang="fr-FR"/>
              <a:t>View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608510" y="2588045"/>
            <a:ext cx="598407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Dataset</a:t>
            </a:r>
            <a:r>
              <a:rPr lang="fr-FR" sz="2800"/>
              <a:t>[Row] </a:t>
            </a:r>
            <a:r>
              <a:rPr lang="fr-FR" sz="2800"/>
              <a:t>ds</a:t>
            </a:r>
            <a:r>
              <a:rPr lang="fr-FR" sz="2800"/>
              <a:t> = ..</a:t>
            </a:r>
          </a:p>
          <a:p>
            <a:endParaRPr lang="fr-FR" sz="2800"/>
          </a:p>
          <a:p>
            <a:r>
              <a:rPr lang="fr-FR" sz="2800"/>
              <a:t>ds.</a:t>
            </a:r>
            <a:r>
              <a:rPr lang="fr-FR" sz="2800" b="1"/>
              <a:t>createTemporaryView</a:t>
            </a:r>
            <a:r>
              <a:rPr lang="fr-FR" sz="2800"/>
              <a:t>(« </a:t>
            </a:r>
            <a:r>
              <a:rPr lang="fr-FR" sz="2800" b="1"/>
              <a:t>myview1</a:t>
            </a:r>
            <a:r>
              <a:rPr lang="fr-FR" sz="2800"/>
              <a:t> »)</a:t>
            </a:r>
          </a:p>
          <a:p>
            <a:endParaRPr lang="fr-FR" sz="2800"/>
          </a:p>
          <a:p>
            <a:r>
              <a:rPr lang="fr-FR" sz="2800"/>
              <a:t>spark.sql</a:t>
            </a:r>
            <a:r>
              <a:rPr lang="fr-FR" sz="2800"/>
              <a:t>(« SELECT * FROM </a:t>
            </a:r>
            <a:r>
              <a:rPr lang="fr-FR" sz="2800" b="1"/>
              <a:t>myview1</a:t>
            </a:r>
            <a:r>
              <a:rPr lang="fr-FR" sz="2800"/>
              <a:t> »)</a:t>
            </a:r>
          </a:p>
        </p:txBody>
      </p:sp>
      <p:pic>
        <p:nvPicPr>
          <p:cNvPr id="5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4126" y="2069417"/>
            <a:ext cx="1595360" cy="1595360"/>
          </a:xfrm>
          <a:prstGeom prst="rect">
            <a:avLst/>
          </a:prstGeom>
          <a:noFill/>
        </p:spPr>
      </p:pic>
      <p:pic>
        <p:nvPicPr>
          <p:cNvPr id="6" name="Picture 24" descr="Jav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509962" y="4297333"/>
            <a:ext cx="637540" cy="1186632"/>
          </a:xfrm>
          <a:prstGeom prst="rect">
            <a:avLst/>
          </a:prstGeom>
          <a:noFill/>
        </p:spPr>
      </p:pic>
      <p:sp>
        <p:nvSpPr>
          <p:cNvPr id="7" name="Arrow: Down 6"/>
          <p:cNvSpPr/>
          <p:nvPr/>
        </p:nvSpPr>
        <p:spPr>
          <a:xfrm flipV="1">
            <a:off x="1711103" y="3499206"/>
            <a:ext cx="436399" cy="59619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/>
          <p:cNvSpPr/>
          <p:nvPr/>
        </p:nvSpPr>
        <p:spPr>
          <a:xfrm>
            <a:off x="8266806" y="3944053"/>
            <a:ext cx="299258" cy="4211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Arrow: Down 2"/>
          <p:cNvSpPr/>
          <p:nvPr/>
        </p:nvSpPr>
        <p:spPr>
          <a:xfrm>
            <a:off x="3973169" y="3116739"/>
            <a:ext cx="299258" cy="4211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/>
          <p:cNvSpPr/>
          <p:nvPr/>
        </p:nvSpPr>
        <p:spPr>
          <a:xfrm rot="18776924">
            <a:off x="6588272" y="4776033"/>
            <a:ext cx="299258" cy="4211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/>
          <p:cNvSpPr/>
          <p:nvPr/>
        </p:nvSpPr>
        <p:spPr>
          <a:xfrm rot="16200000">
            <a:off x="8229961" y="3714435"/>
            <a:ext cx="299258" cy="27511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Down 10"/>
          <p:cNvSpPr/>
          <p:nvPr/>
        </p:nvSpPr>
        <p:spPr>
          <a:xfrm rot="10800000">
            <a:off x="9774685" y="3116738"/>
            <a:ext cx="299258" cy="197325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Down 11"/>
          <p:cNvSpPr/>
          <p:nvPr/>
        </p:nvSpPr>
        <p:spPr>
          <a:xfrm rot="7884089">
            <a:off x="9517769" y="2754401"/>
            <a:ext cx="299258" cy="4211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Calling Java </a:t>
            </a:r>
            <a:r>
              <a:rPr lang="fr-FR"/>
              <a:t>from</a:t>
            </a:r>
            <a:r>
              <a:rPr lang="fr-FR"/>
              <a:t> SQL : User-</a:t>
            </a:r>
            <a:r>
              <a:rPr lang="fr-FR"/>
              <a:t>Defined</a:t>
            </a:r>
            <a:r>
              <a:rPr lang="fr-FR"/>
              <a:t> </a:t>
            </a:r>
            <a:r>
              <a:rPr lang="fr-FR"/>
              <a:t>Function</a:t>
            </a:r>
            <a:endParaRPr lang="fr-FR"/>
          </a:p>
        </p:txBody>
      </p:sp>
      <p:sp>
        <p:nvSpPr>
          <p:cNvPr id="4" name="Left Brace 3"/>
          <p:cNvSpPr/>
          <p:nvPr/>
        </p:nvSpPr>
        <p:spPr>
          <a:xfrm>
            <a:off x="3387443" y="2210452"/>
            <a:ext cx="363204" cy="6326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1998476" y="2284807"/>
            <a:ext cx="1238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transform</a:t>
            </a:r>
            <a:endParaRPr lang="fr-FR" b="1"/>
          </a:p>
        </p:txBody>
      </p:sp>
      <p:sp>
        <p:nvSpPr>
          <p:cNvPr id="7" name="TextBox 6"/>
          <p:cNvSpPr txBox="1"/>
          <p:nvPr/>
        </p:nvSpPr>
        <p:spPr>
          <a:xfrm>
            <a:off x="4366953" y="2023197"/>
            <a:ext cx="6096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>
                <a:latin typeface="Arial"/>
                <a:cs typeface="Arial"/>
              </a:rPr>
              <a:t>SELECT ..</a:t>
            </a:r>
            <a:br>
              <a:rPr lang="fr-FR" sz="2000">
                <a:latin typeface="Arial"/>
                <a:cs typeface="Arial"/>
              </a:rPr>
            </a:br>
            <a:r>
              <a:rPr lang="fr-FR" sz="2000">
                <a:latin typeface="Arial"/>
                <a:cs typeface="Arial"/>
              </a:rPr>
              <a:t>    </a:t>
            </a:r>
            <a:r>
              <a:rPr lang="fr-FR" sz="2000" b="1">
                <a:latin typeface="Arial"/>
                <a:cs typeface="Arial"/>
              </a:rPr>
              <a:t>udf_func1</a:t>
            </a:r>
            <a:r>
              <a:rPr lang="fr-FR" sz="2000">
                <a:latin typeface="Arial"/>
                <a:cs typeface="Arial"/>
              </a:rPr>
              <a:t>(col3, col4)  as col3,</a:t>
            </a:r>
          </a:p>
          <a:p>
            <a:r>
              <a:rPr lang="fr-FR" sz="2000">
                <a:latin typeface="Arial"/>
                <a:cs typeface="Arial"/>
              </a:rPr>
              <a:t>    </a:t>
            </a:r>
            <a:r>
              <a:rPr lang="fr-FR" sz="2000" b="1">
                <a:latin typeface="Arial"/>
                <a:cs typeface="Arial"/>
              </a:rPr>
              <a:t>udf_func2</a:t>
            </a:r>
            <a:r>
              <a:rPr lang="fr-FR" sz="2000">
                <a:latin typeface="Arial"/>
                <a:cs typeface="Arial"/>
              </a:rPr>
              <a:t>(col4, col5)  as col4,    </a:t>
            </a:r>
          </a:p>
        </p:txBody>
      </p:sp>
      <p:pic>
        <p:nvPicPr>
          <p:cNvPr id="8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87413" y="2878522"/>
            <a:ext cx="1595360" cy="1595360"/>
          </a:xfrm>
          <a:prstGeom prst="rect">
            <a:avLst/>
          </a:prstGeom>
          <a:noFill/>
        </p:spPr>
      </p:pic>
      <p:pic>
        <p:nvPicPr>
          <p:cNvPr id="9" name="Picture 24" descr="Jav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873249" y="5106438"/>
            <a:ext cx="637540" cy="1186632"/>
          </a:xfrm>
          <a:prstGeom prst="rect">
            <a:avLst/>
          </a:prstGeom>
          <a:noFill/>
        </p:spPr>
      </p:pic>
      <p:sp>
        <p:nvSpPr>
          <p:cNvPr id="10" name="Arrow: Down 9"/>
          <p:cNvSpPr/>
          <p:nvPr/>
        </p:nvSpPr>
        <p:spPr>
          <a:xfrm>
            <a:off x="3010612" y="4473882"/>
            <a:ext cx="411487" cy="54378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5183280" y="3864624"/>
            <a:ext cx="577196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int</a:t>
            </a:r>
            <a:r>
              <a:rPr lang="fr-FR" sz="2400"/>
              <a:t> func1(</a:t>
            </a:r>
            <a:r>
              <a:rPr lang="fr-FR" sz="2400"/>
              <a:t>int</a:t>
            </a:r>
            <a:r>
              <a:rPr lang="fr-FR" sz="2400"/>
              <a:t> x, </a:t>
            </a:r>
            <a:r>
              <a:rPr lang="fr-FR" sz="2400"/>
              <a:t>int</a:t>
            </a:r>
            <a:r>
              <a:rPr lang="fr-FR" sz="2400"/>
              <a:t> y) { return </a:t>
            </a:r>
            <a:r>
              <a:rPr lang="fr-FR" sz="2400"/>
              <a:t>x+y</a:t>
            </a:r>
            <a:r>
              <a:rPr lang="fr-FR" sz="2400"/>
              <a:t>; }</a:t>
            </a:r>
          </a:p>
          <a:p>
            <a:endParaRPr lang="fr-FR" sz="2400"/>
          </a:p>
          <a:p>
            <a:r>
              <a:rPr lang="fr-FR" sz="2400" b="1"/>
              <a:t>spark.udf</a:t>
            </a:r>
            <a:r>
              <a:rPr lang="fr-FR" sz="2400" b="1"/>
              <a:t>().</a:t>
            </a:r>
            <a:r>
              <a:rPr lang="fr-FR" sz="2400" b="1"/>
              <a:t>register</a:t>
            </a:r>
            <a:r>
              <a:rPr lang="fr-FR" sz="2400"/>
              <a:t>(« udf_func1",</a:t>
            </a:r>
          </a:p>
          <a:p>
            <a:r>
              <a:rPr lang="fr-FR" sz="2400"/>
              <a:t>       (UDF2&lt;</a:t>
            </a:r>
            <a:r>
              <a:rPr lang="fr-FR" sz="2400"/>
              <a:t>Integer,Integer</a:t>
            </a:r>
            <a:r>
              <a:rPr lang="fr-FR" sz="2400"/>
              <a:t>, Integer&gt;) ::func1, </a:t>
            </a:r>
          </a:p>
          <a:p>
            <a:r>
              <a:rPr lang="fr-FR" sz="2400"/>
              <a:t>       </a:t>
            </a:r>
            <a:r>
              <a:rPr lang="fr-FR" sz="2400"/>
              <a:t>DataTypes.IntegerType</a:t>
            </a:r>
            <a:r>
              <a:rPr lang="fr-FR" sz="2400"/>
              <a:t>);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= </a:t>
            </a:r>
            <a:r>
              <a:rPr lang="fr-FR"/>
              <a:t>Unified</a:t>
            </a:r>
            <a:r>
              <a:rPr lang="fr-FR"/>
              <a:t> </a:t>
            </a:r>
            <a:r>
              <a:rPr lang="fr-FR"/>
              <a:t>Sql</a:t>
            </a:r>
            <a:r>
              <a:rPr lang="fr-FR"/>
              <a:t>-Files-Java</a:t>
            </a:r>
          </a:p>
        </p:txBody>
      </p:sp>
      <p:pic>
        <p:nvPicPr>
          <p:cNvPr id="5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88420" y="1108588"/>
            <a:ext cx="1595360" cy="1595360"/>
          </a:xfrm>
          <a:prstGeom prst="rect">
            <a:avLst/>
          </a:prstGeom>
          <a:noFill/>
        </p:spPr>
      </p:pic>
      <p:pic>
        <p:nvPicPr>
          <p:cNvPr id="6" name="Picture 24" descr="Jav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18591" y="4995825"/>
            <a:ext cx="637540" cy="1186632"/>
          </a:xfrm>
          <a:prstGeom prst="rect">
            <a:avLst/>
          </a:prstGeom>
          <a:noFill/>
        </p:spPr>
      </p:pic>
      <p:pic>
        <p:nvPicPr>
          <p:cNvPr id="7" name="Picture 8" descr="Files icon PNG and SVG Vector Free Download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167899" y="3166421"/>
            <a:ext cx="938925" cy="1126710"/>
          </a:xfrm>
          <a:prstGeom prst="rect">
            <a:avLst/>
          </a:prstGeom>
          <a:noFill/>
        </p:spPr>
      </p:pic>
      <p:sp>
        <p:nvSpPr>
          <p:cNvPr id="8" name="Arrow: Up-Down 7"/>
          <p:cNvSpPr/>
          <p:nvPr/>
        </p:nvSpPr>
        <p:spPr>
          <a:xfrm rot="18728148">
            <a:off x="5768008" y="2169202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Up-Down 8"/>
          <p:cNvSpPr/>
          <p:nvPr/>
        </p:nvSpPr>
        <p:spPr>
          <a:xfrm rot="16200000">
            <a:off x="5437668" y="3493395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Up-Down 9"/>
          <p:cNvSpPr/>
          <p:nvPr/>
        </p:nvSpPr>
        <p:spPr>
          <a:xfrm rot="13801363">
            <a:off x="5777972" y="4817934"/>
            <a:ext cx="382385" cy="82876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4266907" y="4264228"/>
            <a:ext cx="740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595" y="3579921"/>
            <a:ext cx="22397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Dataset</a:t>
            </a:r>
            <a:r>
              <a:rPr lang="fr-FR" sz="2800"/>
              <a:t> / RDD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2" descr="William Ardila, Author at Nub8 » Page 3 of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040862" y="3263965"/>
            <a:ext cx="3063080" cy="153154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10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: </a:t>
            </a:r>
            <a:r>
              <a:rPr lang="fr-FR"/>
              <a:t>Unified</a:t>
            </a:r>
            <a:r>
              <a:rPr lang="fr-FR"/>
              <a:t> Engine </a:t>
            </a:r>
            <a:br>
              <a:rPr lang="fr-FR"/>
            </a:br>
            <a:r>
              <a:rPr lang="fr-FR"/>
              <a:t>(Distributed Storage, Distributed </a:t>
            </a:r>
            <a:r>
              <a:rPr lang="fr-FR"/>
              <a:t>Compute</a:t>
            </a:r>
            <a:r>
              <a:rPr lang="fr-FR"/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04435" y="3705127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6585906" y="412674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7058384" y="4280629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7218342" y="388861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3090025" y="4413632"/>
            <a:ext cx="17084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/>
              <a:t>Files</a:t>
            </a:r>
          </a:p>
          <a:p>
            <a:pPr algn="ctr"/>
            <a:r>
              <a:rPr lang="fr-FR" sz="2400"/>
              <a:t>(parquet, ..)</a:t>
            </a:r>
          </a:p>
        </p:txBody>
      </p:sp>
      <p:sp>
        <p:nvSpPr>
          <p:cNvPr id="14" name="Arrow: Up-Down 13"/>
          <p:cNvSpPr/>
          <p:nvPr/>
        </p:nvSpPr>
        <p:spPr>
          <a:xfrm rot="18728148">
            <a:off x="5049439" y="2287189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Up-Down 14"/>
          <p:cNvSpPr/>
          <p:nvPr/>
        </p:nvSpPr>
        <p:spPr>
          <a:xfrm rot="16200000">
            <a:off x="4719099" y="3611382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74" name="Picture 2" descr="Apache Hive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833781" y="1561720"/>
            <a:ext cx="936018" cy="841231"/>
          </a:xfrm>
          <a:prstGeom prst="rect">
            <a:avLst/>
          </a:prstGeom>
          <a:noFill/>
        </p:spPr>
      </p:pic>
      <p:pic>
        <p:nvPicPr>
          <p:cNvPr id="3078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969851" y="1226575"/>
            <a:ext cx="1595360" cy="1595360"/>
          </a:xfrm>
          <a:prstGeom prst="rect">
            <a:avLst/>
          </a:prstGeom>
          <a:noFill/>
        </p:spPr>
      </p:pic>
      <p:sp>
        <p:nvSpPr>
          <p:cNvPr id="16" name="Arrow: Up-Down 15"/>
          <p:cNvSpPr/>
          <p:nvPr/>
        </p:nvSpPr>
        <p:spPr>
          <a:xfrm rot="13801363">
            <a:off x="5059403" y="4935921"/>
            <a:ext cx="382385" cy="82876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5913915" y="3182836"/>
            <a:ext cx="2177934" cy="161266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Up-Down 19"/>
          <p:cNvSpPr/>
          <p:nvPr/>
        </p:nvSpPr>
        <p:spPr>
          <a:xfrm>
            <a:off x="6769089" y="2135432"/>
            <a:ext cx="382385" cy="632970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Up-Down 20"/>
          <p:cNvSpPr/>
          <p:nvPr/>
        </p:nvSpPr>
        <p:spPr>
          <a:xfrm rot="16200000">
            <a:off x="8723453" y="3597126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6087927" y="1676305"/>
            <a:ext cx="1915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Compute</a:t>
            </a:r>
            <a:r>
              <a:rPr lang="fr-FR" sz="2000"/>
              <a:t>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7323" y="2900740"/>
            <a:ext cx="27970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Distributed </a:t>
            </a:r>
            <a:r>
              <a:rPr lang="fr-FR" sz="2400" b="1"/>
              <a:t>Compute</a:t>
            </a:r>
            <a:endParaRPr lang="fr-FR" sz="2400" b="1"/>
          </a:p>
        </p:txBody>
      </p:sp>
      <p:sp>
        <p:nvSpPr>
          <p:cNvPr id="24" name="TextBox 23"/>
          <p:cNvSpPr txBox="1"/>
          <p:nvPr/>
        </p:nvSpPr>
        <p:spPr>
          <a:xfrm>
            <a:off x="6270315" y="3131568"/>
            <a:ext cx="16065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RDD (API)</a:t>
            </a:r>
          </a:p>
        </p:txBody>
      </p:sp>
      <p:pic>
        <p:nvPicPr>
          <p:cNvPr id="25" name="Picture 38" descr="Présentation Hadoop Distributed File System – Blog technique Groupe SII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32582" y="3505342"/>
            <a:ext cx="2050663" cy="967656"/>
          </a:xfrm>
          <a:prstGeom prst="rect">
            <a:avLst/>
          </a:prstGeom>
          <a:noFill/>
        </p:spPr>
      </p:pic>
      <p:sp>
        <p:nvSpPr>
          <p:cNvPr id="26" name="Arrow: Up-Down 25"/>
          <p:cNvSpPr/>
          <p:nvPr/>
        </p:nvSpPr>
        <p:spPr>
          <a:xfrm rot="16200000">
            <a:off x="2504791" y="3603060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88058" y="2938994"/>
            <a:ext cx="2596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Distributed </a:t>
            </a:r>
            <a:r>
              <a:rPr lang="fr-FR" sz="2400" b="1"/>
              <a:t>Storage</a:t>
            </a:r>
          </a:p>
        </p:txBody>
      </p:sp>
      <p:pic>
        <p:nvPicPr>
          <p:cNvPr id="28" name="Picture 24" descr="Java (langage) — Wikipédia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600023" y="5534991"/>
            <a:ext cx="637540" cy="1186632"/>
          </a:xfrm>
          <a:prstGeom prst="rect">
            <a:avLst/>
          </a:prstGeom>
          <a:noFill/>
        </p:spPr>
      </p:pic>
      <p:pic>
        <p:nvPicPr>
          <p:cNvPr id="3080" name="Picture 8" descr="Files icon PNG and SVG Vector Free Download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407071" y="3325256"/>
            <a:ext cx="938925" cy="1126710"/>
          </a:xfrm>
          <a:prstGeom prst="rect">
            <a:avLst/>
          </a:prstGeom>
          <a:noFill/>
        </p:spPr>
      </p:pic>
      <p:sp>
        <p:nvSpPr>
          <p:cNvPr id="4" name="Arrow: Up-Down 3"/>
          <p:cNvSpPr/>
          <p:nvPr/>
        </p:nvSpPr>
        <p:spPr>
          <a:xfrm>
            <a:off x="6760350" y="5105000"/>
            <a:ext cx="382385" cy="632970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5240631" y="5713518"/>
            <a:ext cx="70503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RDD </a:t>
            </a:r>
            <a:r>
              <a:rPr lang="fr-FR" sz="2800"/>
              <a:t>is</a:t>
            </a:r>
            <a:r>
              <a:rPr lang="fr-FR" sz="2800"/>
              <a:t> an abstract class API</a:t>
            </a:r>
          </a:p>
          <a:p>
            <a:r>
              <a:rPr lang="fr-FR" sz="2800"/>
              <a:t>=&gt; Can plug </a:t>
            </a:r>
            <a:r>
              <a:rPr lang="fr-FR" sz="2800"/>
              <a:t>any</a:t>
            </a:r>
            <a:r>
              <a:rPr lang="fr-FR" sz="2800"/>
              <a:t> User-</a:t>
            </a:r>
            <a:r>
              <a:rPr lang="fr-FR" sz="2800"/>
              <a:t>Defined</a:t>
            </a:r>
            <a:r>
              <a:rPr lang="fr-FR" sz="2800"/>
              <a:t> </a:t>
            </a:r>
            <a:r>
              <a:rPr lang="fr-FR" sz="2800"/>
              <a:t>implementations</a:t>
            </a:r>
            <a:endParaRPr lang="fr-FR" sz="2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API …. SQL Extensions</a:t>
            </a:r>
          </a:p>
        </p:txBody>
      </p:sp>
      <p:pic>
        <p:nvPicPr>
          <p:cNvPr id="4" name="Picture 2" descr="Apache Hive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42709" y="1627303"/>
            <a:ext cx="936018" cy="841231"/>
          </a:xfrm>
          <a:prstGeom prst="rect">
            <a:avLst/>
          </a:prstGeom>
          <a:noFill/>
        </p:spPr>
      </p:pic>
      <p:pic>
        <p:nvPicPr>
          <p:cNvPr id="5" name="Picture 6" descr="Sql Icon Royalty Free SVG, Cliparts, Vectors, And Stock Illustration. Image  68255859.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78779" y="1292158"/>
            <a:ext cx="1595360" cy="159536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7220564" y="3722178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7002035" y="4143791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7474513" y="4297680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7634471" y="3905662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6389036" y="2681459"/>
            <a:ext cx="2177934" cy="213109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6363617" y="2681459"/>
            <a:ext cx="229024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Dataset</a:t>
            </a:r>
            <a:r>
              <a:rPr lang="fr-FR" sz="2800"/>
              <a:t>&lt;T&gt; </a:t>
            </a:r>
          </a:p>
          <a:p>
            <a:r>
              <a:rPr lang="fr-FR" sz="2800"/>
              <a:t>Dataset</a:t>
            </a:r>
            <a:r>
              <a:rPr lang="fr-FR" sz="2800"/>
              <a:t>&lt;Row&gt;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45558" y="2905780"/>
            <a:ext cx="8226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RDD</a:t>
            </a:r>
          </a:p>
        </p:txBody>
      </p:sp>
      <p:pic>
        <p:nvPicPr>
          <p:cNvPr id="14" name="Picture 8" descr="Apache Spark — Wikipédi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125235" y="1493075"/>
            <a:ext cx="1731327" cy="898847"/>
          </a:xfrm>
          <a:prstGeom prst="rect">
            <a:avLst/>
          </a:prstGeom>
          <a:noFill/>
        </p:spPr>
      </p:pic>
      <p:sp>
        <p:nvSpPr>
          <p:cNvPr id="15" name="Arrow: Up-Down 14"/>
          <p:cNvSpPr/>
          <p:nvPr/>
        </p:nvSpPr>
        <p:spPr>
          <a:xfrm rot="18728148">
            <a:off x="5467860" y="2073337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Up-Down 15"/>
          <p:cNvSpPr/>
          <p:nvPr/>
        </p:nvSpPr>
        <p:spPr>
          <a:xfrm rot="16200000">
            <a:off x="5137520" y="3397530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Up-Down 16"/>
          <p:cNvSpPr/>
          <p:nvPr/>
        </p:nvSpPr>
        <p:spPr>
          <a:xfrm rot="13801363">
            <a:off x="5477824" y="4722069"/>
            <a:ext cx="382385" cy="82876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24" descr="Java (langage) — Wikipé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318299" y="4955884"/>
            <a:ext cx="637540" cy="1186632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190720" y="3181602"/>
            <a:ext cx="26319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Column</a:t>
            </a:r>
            <a:r>
              <a:rPr lang="fr-FR" sz="2400" b="1"/>
              <a:t> API</a:t>
            </a:r>
          </a:p>
          <a:p>
            <a:r>
              <a:rPr lang="fr-FR" sz="2400" b="1"/>
              <a:t>Expression API</a:t>
            </a:r>
          </a:p>
          <a:p>
            <a:r>
              <a:rPr lang="fr-FR" sz="2400"/>
              <a:t>(</a:t>
            </a:r>
            <a:r>
              <a:rPr lang="fr-FR" sz="2400"/>
              <a:t>operator</a:t>
            </a:r>
            <a:r>
              <a:rPr lang="fr-FR" sz="2400"/>
              <a:t> </a:t>
            </a:r>
            <a:r>
              <a:rPr lang="fr-FR" sz="2400"/>
              <a:t>overload</a:t>
            </a:r>
            <a:r>
              <a:rPr lang="fr-FR" sz="2400"/>
              <a:t>)</a:t>
            </a:r>
          </a:p>
        </p:txBody>
      </p:sp>
      <p:pic>
        <p:nvPicPr>
          <p:cNvPr id="20" name="Picture 26" descr="Scala (langage) — Wikipédia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10718" y="3429000"/>
            <a:ext cx="1719743" cy="705535"/>
          </a:xfrm>
          <a:prstGeom prst="rect">
            <a:avLst/>
          </a:prstGeom>
          <a:noFill/>
        </p:spPr>
      </p:pic>
      <p:sp>
        <p:nvSpPr>
          <p:cNvPr id="21" name="TextBox 20"/>
          <p:cNvSpPr txBox="1"/>
          <p:nvPr/>
        </p:nvSpPr>
        <p:spPr>
          <a:xfrm>
            <a:off x="129273" y="5097395"/>
            <a:ext cx="4079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Lambda</a:t>
            </a:r>
            <a:r>
              <a:rPr lang="fr-FR" sz="2400"/>
              <a:t> /</a:t>
            </a:r>
            <a:r>
              <a:rPr lang="fr-FR" sz="2400"/>
              <a:t>Function</a:t>
            </a:r>
            <a:endParaRPr lang="fr-FR" sz="2400"/>
          </a:p>
          <a:p>
            <a:r>
              <a:rPr lang="fr-FR" sz="2400"/>
              <a:t>+ runtime </a:t>
            </a:r>
            <a:r>
              <a:rPr lang="fr-FR" sz="2400" b="1"/>
              <a:t>compile to </a:t>
            </a:r>
            <a:r>
              <a:rPr lang="fr-FR" sz="2400" b="1"/>
              <a:t>bytecode</a:t>
            </a:r>
            <a:endParaRPr lang="fr-FR" sz="2400" b="1"/>
          </a:p>
          <a:p>
            <a:r>
              <a:rPr lang="fr-FR" sz="2400"/>
              <a:t>  ( </a:t>
            </a:r>
            <a:r>
              <a:rPr lang="fr-FR" sz="2400"/>
              <a:t>WholeStageCodeGen</a:t>
            </a:r>
            <a:r>
              <a:rPr lang="fr-FR" sz="2400"/>
              <a:t> ) </a:t>
            </a:r>
            <a:endParaRPr lang="fr-FR" sz="2400" b="1"/>
          </a:p>
        </p:txBody>
      </p:sp>
      <p:sp>
        <p:nvSpPr>
          <p:cNvPr id="24" name="Rectangle 23"/>
          <p:cNvSpPr/>
          <p:nvPr/>
        </p:nvSpPr>
        <p:spPr>
          <a:xfrm>
            <a:off x="10602613" y="3701292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/>
          <p:cNvSpPr/>
          <p:nvPr/>
        </p:nvSpPr>
        <p:spPr>
          <a:xfrm>
            <a:off x="10384084" y="4122905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856562" y="4276794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11016520" y="3884776"/>
            <a:ext cx="288174" cy="266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9967934" y="2681459"/>
            <a:ext cx="1631124" cy="2131097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Curved Down 28"/>
          <p:cNvSpPr/>
          <p:nvPr/>
        </p:nvSpPr>
        <p:spPr>
          <a:xfrm rot="10800000">
            <a:off x="8807864" y="3937035"/>
            <a:ext cx="898767" cy="360645"/>
          </a:xfrm>
          <a:prstGeom prst="curvedDownArrow">
            <a:avLst>
              <a:gd name="adj1" fmla="val 33342"/>
              <a:gd name="adj2" fmla="val 90819"/>
              <a:gd name="adj3" fmla="val 6195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0" name="Arrow: Curved Down 29"/>
          <p:cNvSpPr/>
          <p:nvPr/>
        </p:nvSpPr>
        <p:spPr>
          <a:xfrm>
            <a:off x="8879955" y="3188514"/>
            <a:ext cx="898767" cy="360645"/>
          </a:xfrm>
          <a:prstGeom prst="curvedDownArrow">
            <a:avLst>
              <a:gd name="adj1" fmla="val 33342"/>
              <a:gd name="adj2" fmla="val 90819"/>
              <a:gd name="adj3" fmla="val 6195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34338" y="3527404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encoder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Extensions: Hadoop </a:t>
            </a:r>
            <a:r>
              <a:rPr lang="fr-FR"/>
              <a:t>FileSystem</a:t>
            </a:r>
            <a:r>
              <a:rPr lang="fr-FR"/>
              <a:t> API</a:t>
            </a:r>
          </a:p>
        </p:txBody>
      </p:sp>
      <p:pic>
        <p:nvPicPr>
          <p:cNvPr id="4" name="Picture 38" descr="Présentation Hadoop Distributed File System – Blog technique Groupe SII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86223" y="1454523"/>
            <a:ext cx="2050663" cy="967656"/>
          </a:xfrm>
          <a:prstGeom prst="rect">
            <a:avLst/>
          </a:prstGeom>
          <a:noFill/>
        </p:spPr>
      </p:pic>
      <p:sp>
        <p:nvSpPr>
          <p:cNvPr id="5" name="TextBox 4"/>
          <p:cNvSpPr txBox="1"/>
          <p:nvPr/>
        </p:nvSpPr>
        <p:spPr>
          <a:xfrm>
            <a:off x="5824680" y="2356433"/>
            <a:ext cx="36555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Distributed Storage API</a:t>
            </a:r>
          </a:p>
        </p:txBody>
      </p:sp>
      <p:sp>
        <p:nvSpPr>
          <p:cNvPr id="6" name="Arrow: Up-Down 5"/>
          <p:cNvSpPr/>
          <p:nvPr/>
        </p:nvSpPr>
        <p:spPr>
          <a:xfrm rot="18728148">
            <a:off x="4393136" y="2154453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Up-Down 6"/>
          <p:cNvSpPr/>
          <p:nvPr/>
        </p:nvSpPr>
        <p:spPr>
          <a:xfrm rot="16200000">
            <a:off x="4062796" y="3478646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Up-Down 7"/>
          <p:cNvSpPr/>
          <p:nvPr/>
        </p:nvSpPr>
        <p:spPr>
          <a:xfrm rot="13801363">
            <a:off x="4403100" y="4803185"/>
            <a:ext cx="382385" cy="82876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722" name="Picture 2" descr="Hadoop Cluster Configuration Files | Edurek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656006" y="3400978"/>
            <a:ext cx="3513650" cy="908290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6238568" y="4309268"/>
            <a:ext cx="34556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abstract class </a:t>
            </a:r>
            <a:r>
              <a:rPr lang="fr-FR" sz="2400" b="1"/>
              <a:t>FileSystem</a:t>
            </a:r>
            <a:r>
              <a:rPr lang="fr-FR" sz="2400" b="1"/>
              <a:t> {</a:t>
            </a:r>
          </a:p>
          <a:p>
            <a:r>
              <a:rPr lang="fr-FR" sz="2400" b="1"/>
              <a:t>  ..</a:t>
            </a:r>
            <a:r>
              <a:rPr lang="fr-FR" sz="2400" b="1"/>
              <a:t>read</a:t>
            </a:r>
            <a:r>
              <a:rPr lang="fr-FR" sz="2400" b="1"/>
              <a:t>, </a:t>
            </a:r>
            <a:r>
              <a:rPr lang="fr-FR" sz="2400" b="1"/>
              <a:t>write</a:t>
            </a:r>
            <a:r>
              <a:rPr lang="fr-FR" sz="2400" b="1"/>
              <a:t>, </a:t>
            </a:r>
            <a:r>
              <a:rPr lang="fr-FR" sz="2400" b="1"/>
              <a:t>list</a:t>
            </a:r>
            <a:r>
              <a:rPr lang="fr-FR" sz="2400" b="1"/>
              <a:t>, </a:t>
            </a:r>
          </a:p>
          <a:p>
            <a:r>
              <a:rPr lang="fr-FR" sz="2400" b="1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925" y="2274055"/>
            <a:ext cx="38014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HDFS </a:t>
            </a:r>
            <a:r>
              <a:rPr lang="fr-FR" sz="2400"/>
              <a:t>implements</a:t>
            </a:r>
            <a:r>
              <a:rPr lang="fr-FR" sz="2400"/>
              <a:t> </a:t>
            </a:r>
            <a:r>
              <a:rPr lang="fr-FR" sz="2400"/>
              <a:t>FileSystem</a:t>
            </a:r>
            <a:endParaRPr lang="fr-FR" sz="2400"/>
          </a:p>
        </p:txBody>
      </p:sp>
      <p:pic>
        <p:nvPicPr>
          <p:cNvPr id="11" name="Picture 8" descr="Apache Spark — Wikipédi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92348" y="3348614"/>
            <a:ext cx="1731327" cy="898847"/>
          </a:xfrm>
          <a:prstGeom prst="rect">
            <a:avLst/>
          </a:prstGeom>
          <a:noFill/>
        </p:spPr>
      </p:pic>
      <p:sp>
        <p:nvSpPr>
          <p:cNvPr id="12" name="Arrow: Left 11"/>
          <p:cNvSpPr/>
          <p:nvPr/>
        </p:nvSpPr>
        <p:spPr>
          <a:xfrm>
            <a:off x="9551088" y="3748018"/>
            <a:ext cx="494071" cy="46166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459965" y="3517133"/>
            <a:ext cx="15560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java.io.File</a:t>
            </a:r>
            <a:endParaRPr lang="fr-FR" sz="2400" b="1"/>
          </a:p>
          <a:p>
            <a:r>
              <a:rPr lang="fr-FR" sz="2400" b="1"/>
              <a:t> adapter</a:t>
            </a:r>
            <a:endParaRPr lang="fr-FR" sz="2400"/>
          </a:p>
        </p:txBody>
      </p:sp>
      <p:pic>
        <p:nvPicPr>
          <p:cNvPr id="14" name="Picture 24" descr="Java (langage) — Wikipé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7202" y="3099830"/>
            <a:ext cx="637540" cy="1186632"/>
          </a:xfrm>
          <a:prstGeom prst="rect">
            <a:avLst/>
          </a:prstGeom>
          <a:noFill/>
        </p:spPr>
      </p:pic>
      <p:pic>
        <p:nvPicPr>
          <p:cNvPr id="15" name="Picture 40" descr="Upload/Download your Azure Storage files by using Azure Data Lake Storage  Plugin with Workload Automation - WORKLOAD AUTOMATION COMMUNIT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44507" y="5197394"/>
            <a:ext cx="1447594" cy="836499"/>
          </a:xfrm>
          <a:prstGeom prst="rect">
            <a:avLst/>
          </a:prstGeom>
          <a:noFill/>
        </p:spPr>
      </p:pic>
      <p:pic>
        <p:nvPicPr>
          <p:cNvPr id="16" name="Picture 46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97925" y="6005102"/>
            <a:ext cx="698767" cy="571975"/>
          </a:xfrm>
          <a:prstGeom prst="rect">
            <a:avLst/>
          </a:prstGeom>
          <a:noFill/>
        </p:spPr>
      </p:pic>
      <p:pic>
        <p:nvPicPr>
          <p:cNvPr id="17" name="Picture 48" descr="Apache Iceber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922861" y="6047698"/>
            <a:ext cx="1447594" cy="394469"/>
          </a:xfrm>
          <a:prstGeom prst="rect">
            <a:avLst/>
          </a:prstGeom>
          <a:noFill/>
        </p:spPr>
      </p:pic>
      <p:pic>
        <p:nvPicPr>
          <p:cNvPr id="18" name="Picture 36" descr="Amazon S3 101. S3 is a Simple Storage Service that is… | by Vedha Sankar |  featurepreneur | Medium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716568" y="4650572"/>
            <a:ext cx="903472" cy="676732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1892101" y="5150827"/>
            <a:ext cx="2070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More </a:t>
            </a:r>
            <a:r>
              <a:rPr lang="fr-FR" sz="2400" b="1"/>
              <a:t>adapters</a:t>
            </a:r>
            <a:endParaRPr lang="fr-FR" sz="2400" b="1"/>
          </a:p>
          <a:p>
            <a:r>
              <a:rPr lang="fr-FR" sz="2400" b="1"/>
              <a:t>   ….</a:t>
            </a:r>
            <a:endParaRPr lang="fr-FR" sz="2400"/>
          </a:p>
        </p:txBody>
      </p:sp>
      <p:sp>
        <p:nvSpPr>
          <p:cNvPr id="20" name="TextBox 19"/>
          <p:cNvSpPr txBox="1"/>
          <p:nvPr/>
        </p:nvSpPr>
        <p:spPr>
          <a:xfrm>
            <a:off x="7031039" y="5729819"/>
            <a:ext cx="504009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Spark relies on the API</a:t>
            </a:r>
          </a:p>
          <a:p>
            <a:r>
              <a:rPr lang="fr-FR" sz="2800"/>
              <a:t>=&gt; Can plug </a:t>
            </a:r>
            <a:r>
              <a:rPr lang="fr-FR" sz="2800"/>
              <a:t>any</a:t>
            </a:r>
            <a:r>
              <a:rPr lang="fr-FR" sz="2800"/>
              <a:t> </a:t>
            </a:r>
            <a:r>
              <a:rPr lang="fr-FR" sz="2800"/>
              <a:t>implementations</a:t>
            </a:r>
            <a:endParaRPr lang="fr-FR" sz="28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Extensions: Cluster </a:t>
            </a:r>
            <a:r>
              <a:rPr lang="fr-FR"/>
              <a:t>Scheduler</a:t>
            </a:r>
            <a:r>
              <a:rPr lang="fr-FR"/>
              <a:t> API</a:t>
            </a:r>
          </a:p>
        </p:txBody>
      </p:sp>
      <p:pic>
        <p:nvPicPr>
          <p:cNvPr id="3" name="Picture 42" descr="William Ardila, Author at Nub8 » Page 3 of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416963" y="3767918"/>
            <a:ext cx="2198294" cy="1099147"/>
          </a:xfrm>
          <a:prstGeom prst="rect">
            <a:avLst/>
          </a:prstGeom>
          <a:noFill/>
        </p:spPr>
      </p:pic>
      <p:sp>
        <p:nvSpPr>
          <p:cNvPr id="21" name="TextBox 20"/>
          <p:cNvSpPr txBox="1"/>
          <p:nvPr/>
        </p:nvSpPr>
        <p:spPr>
          <a:xfrm>
            <a:off x="4076645" y="1585838"/>
            <a:ext cx="1735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Manager</a:t>
            </a:r>
          </a:p>
          <a:p>
            <a:r>
              <a:rPr lang="fr-FR"/>
              <a:t>Scheduler</a:t>
            </a:r>
            <a:r>
              <a:rPr lang="fr-FR"/>
              <a:t> API</a:t>
            </a:r>
          </a:p>
        </p:txBody>
      </p:sp>
      <p:sp>
        <p:nvSpPr>
          <p:cNvPr id="22" name="Arrow: Up-Down 21"/>
          <p:cNvSpPr/>
          <p:nvPr/>
        </p:nvSpPr>
        <p:spPr>
          <a:xfrm rot="5400000">
            <a:off x="2331583" y="3639393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3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067807" y="5258739"/>
            <a:ext cx="896605" cy="875258"/>
          </a:xfrm>
          <a:prstGeom prst="rect">
            <a:avLst/>
          </a:prstGeom>
          <a:noFill/>
        </p:spPr>
      </p:pic>
      <p:pic>
        <p:nvPicPr>
          <p:cNvPr id="24" name="Picture 44" descr="How to Run an Application on Spark Standalone Cluster | by Chuan Xu | Medium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769807" y="2568068"/>
            <a:ext cx="1676749" cy="943171"/>
          </a:xfrm>
          <a:prstGeom prst="rect">
            <a:avLst/>
          </a:prstGeom>
          <a:noFill/>
        </p:spPr>
      </p:pic>
      <p:pic>
        <p:nvPicPr>
          <p:cNvPr id="33794" name="Picture 2" descr="Apache Mesos - Wikipe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868513" y="1751330"/>
            <a:ext cx="1832248" cy="633133"/>
          </a:xfrm>
          <a:prstGeom prst="rect">
            <a:avLst/>
          </a:prstGeom>
          <a:noFill/>
        </p:spPr>
      </p:pic>
      <p:sp>
        <p:nvSpPr>
          <p:cNvPr id="25" name="Arrow: Up-Down 24"/>
          <p:cNvSpPr/>
          <p:nvPr/>
        </p:nvSpPr>
        <p:spPr>
          <a:xfrm rot="18728148">
            <a:off x="8519446" y="4898880"/>
            <a:ext cx="382385" cy="961878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Arrow: Up-Down 25"/>
          <p:cNvSpPr/>
          <p:nvPr/>
        </p:nvSpPr>
        <p:spPr>
          <a:xfrm rot="16200000">
            <a:off x="8782735" y="3639269"/>
            <a:ext cx="382385" cy="837106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Up-Down 26"/>
          <p:cNvSpPr/>
          <p:nvPr/>
        </p:nvSpPr>
        <p:spPr>
          <a:xfrm rot="13801363">
            <a:off x="8535855" y="2225852"/>
            <a:ext cx="369689" cy="1122020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8" descr="Apache Spark — Wikipédia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18586" y="3481642"/>
            <a:ext cx="1731327" cy="898847"/>
          </a:xfrm>
          <a:prstGeom prst="rect">
            <a:avLst/>
          </a:prstGeom>
          <a:noFill/>
        </p:spPr>
      </p:pic>
      <p:sp>
        <p:nvSpPr>
          <p:cNvPr id="29" name="TextBox 28"/>
          <p:cNvSpPr txBox="1"/>
          <p:nvPr/>
        </p:nvSpPr>
        <p:spPr>
          <a:xfrm>
            <a:off x="3888389" y="2905780"/>
            <a:ext cx="2995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TaskScheduler</a:t>
            </a:r>
            <a:r>
              <a:rPr lang="fr-FR" sz="2800"/>
              <a:t> (SPI)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3792" y="2865083"/>
            <a:ext cx="4559723" cy="282779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3293792" y="3478178"/>
            <a:ext cx="481106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abstract class </a:t>
            </a:r>
            <a:r>
              <a:rPr lang="fr-FR" sz="2400" b="1"/>
              <a:t>TaskScheduler</a:t>
            </a:r>
            <a:r>
              <a:rPr lang="fr-FR" sz="2400" b="1"/>
              <a:t> {</a:t>
            </a:r>
          </a:p>
          <a:p>
            <a:r>
              <a:rPr lang="fr-FR" sz="2400" b="1"/>
              <a:t>  ..</a:t>
            </a:r>
            <a:r>
              <a:rPr lang="fr-FR" sz="2400" b="1"/>
              <a:t>start,stop</a:t>
            </a:r>
            <a:r>
              <a:rPr lang="fr-FR" sz="2400" b="1"/>
              <a:t>,</a:t>
            </a:r>
            <a:br>
              <a:rPr lang="fr-FR" sz="2400" b="1"/>
            </a:br>
            <a:r>
              <a:rPr lang="fr-FR" sz="2400" b="1"/>
              <a:t>  </a:t>
            </a:r>
            <a:r>
              <a:rPr lang="fr-FR" sz="2400" b="1"/>
              <a:t>submitTasks,cancelTasks</a:t>
            </a:r>
            <a:r>
              <a:rPr lang="fr-FR" sz="2400" b="1"/>
              <a:t>,</a:t>
            </a:r>
          </a:p>
          <a:p>
            <a:r>
              <a:rPr lang="fr-FR" sz="2400" b="1"/>
              <a:t>  </a:t>
            </a:r>
            <a:r>
              <a:rPr lang="fr-FR" sz="2400" b="1"/>
              <a:t>notify</a:t>
            </a:r>
            <a:r>
              <a:rPr lang="fr-FR" sz="2400" b="1"/>
              <a:t> Host-</a:t>
            </a:r>
            <a:r>
              <a:rPr lang="fr-FR" sz="2400" b="1"/>
              <a:t>Executor</a:t>
            </a:r>
            <a:r>
              <a:rPr lang="fr-FR" sz="2400" b="1"/>
              <a:t>-</a:t>
            </a:r>
            <a:r>
              <a:rPr lang="fr-FR" sz="2400" b="1"/>
              <a:t>Task</a:t>
            </a:r>
            <a:r>
              <a:rPr lang="fr-FR" sz="2400" b="1"/>
              <a:t> changes</a:t>
            </a:r>
          </a:p>
          <a:p>
            <a:r>
              <a:rPr lang="fr-FR" sz="2400" b="1"/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 descr="Apache Spark: core concepts, architecture and internal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2005" y="1673942"/>
            <a:ext cx="11753131" cy="36293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« Extensions » </a:t>
            </a:r>
            <a:br>
              <a:rPr lang="fr-FR"/>
            </a:br>
            <a:r>
              <a:rPr lang="fr-FR"/>
              <a:t>backport</a:t>
            </a:r>
            <a:r>
              <a:rPr lang="fr-FR"/>
              <a:t> API to </a:t>
            </a:r>
            <a:r>
              <a:rPr lang="fr-FR"/>
              <a:t>other</a:t>
            </a:r>
            <a:r>
              <a:rPr lang="fr-FR"/>
              <a:t> Languages (Python, R)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56877" y="2010532"/>
            <a:ext cx="276633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public class </a:t>
            </a:r>
            <a:r>
              <a:rPr lang="fr-FR" b="1"/>
              <a:t>Dataset</a:t>
            </a:r>
            <a:r>
              <a:rPr lang="fr-FR"/>
              <a:t> {</a:t>
            </a:r>
          </a:p>
          <a:p>
            <a:endParaRPr lang="fr-FR"/>
          </a:p>
          <a:p>
            <a:r>
              <a:rPr lang="fr-FR"/>
              <a:t>… </a:t>
            </a:r>
            <a:r>
              <a:rPr lang="fr-FR"/>
              <a:t>hundred</a:t>
            </a:r>
            <a:r>
              <a:rPr lang="fr-FR"/>
              <a:t> </a:t>
            </a:r>
            <a:r>
              <a:rPr lang="fr-FR"/>
              <a:t>methods</a:t>
            </a:r>
            <a:r>
              <a:rPr lang="fr-FR"/>
              <a:t> …</a:t>
            </a:r>
          </a:p>
          <a:p>
            <a:endParaRPr lang="fr-FR"/>
          </a:p>
          <a:p>
            <a:r>
              <a:rPr lang="fr-FR"/>
              <a:t>public Y  </a:t>
            </a:r>
            <a:r>
              <a:rPr lang="fr-FR" b="1"/>
              <a:t>method123</a:t>
            </a:r>
            <a:r>
              <a:rPr lang="fr-FR"/>
              <a:t> (X </a:t>
            </a:r>
            <a:r>
              <a:rPr lang="fr-FR"/>
              <a:t>x</a:t>
            </a:r>
            <a:r>
              <a:rPr lang="fr-FR"/>
              <a:t>) {</a:t>
            </a:r>
          </a:p>
          <a:p>
            <a:r>
              <a:rPr lang="fr-FR"/>
              <a:t>  … </a:t>
            </a:r>
            <a:r>
              <a:rPr lang="fr-FR"/>
              <a:t>internals</a:t>
            </a:r>
            <a:r>
              <a:rPr lang="fr-FR"/>
              <a:t> </a:t>
            </a:r>
            <a:r>
              <a:rPr lang="fr-FR"/>
              <a:t>sparkContext</a:t>
            </a:r>
            <a:r>
              <a:rPr lang="fr-FR"/>
              <a:t>…</a:t>
            </a:r>
          </a:p>
          <a:p>
            <a:r>
              <a:rPr lang="fr-FR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7530" y="2011452"/>
            <a:ext cx="7377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API</a:t>
            </a:r>
          </a:p>
        </p:txBody>
      </p:sp>
      <p:pic>
        <p:nvPicPr>
          <p:cNvPr id="7" name="Picture 24" descr="Java (langage)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618" y="1710524"/>
            <a:ext cx="637540" cy="1186632"/>
          </a:xfrm>
          <a:prstGeom prst="rect">
            <a:avLst/>
          </a:prstGeom>
          <a:noFill/>
        </p:spPr>
      </p:pic>
      <p:pic>
        <p:nvPicPr>
          <p:cNvPr id="8" name="Picture 26" descr="Scala (langage) — Wikipédia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01385" y="5290257"/>
            <a:ext cx="1719743" cy="705535"/>
          </a:xfrm>
          <a:prstGeom prst="rect">
            <a:avLst/>
          </a:prstGeom>
          <a:noFill/>
        </p:spPr>
      </p:pic>
      <p:sp>
        <p:nvSpPr>
          <p:cNvPr id="9" name="Arrow: Left 8"/>
          <p:cNvSpPr/>
          <p:nvPr/>
        </p:nvSpPr>
        <p:spPr>
          <a:xfrm rot="16200000">
            <a:off x="8336855" y="4470702"/>
            <a:ext cx="747850" cy="5567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9240044" y="5350636"/>
            <a:ext cx="24681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SparkContext</a:t>
            </a:r>
            <a:endParaRPr lang="fr-FR" sz="3200" b="1"/>
          </a:p>
        </p:txBody>
      </p:sp>
      <p:pic>
        <p:nvPicPr>
          <p:cNvPr id="12" name="Picture 30" descr="Python-Logo-PNG-Image - Indigo.amsterdam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6102" y="2010532"/>
            <a:ext cx="2015656" cy="1007828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4893679" y="2011452"/>
            <a:ext cx="7377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862" y="2046740"/>
            <a:ext cx="383880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class </a:t>
            </a:r>
            <a:r>
              <a:rPr lang="fr-FR" b="1"/>
              <a:t>DataFrame</a:t>
            </a:r>
            <a:r>
              <a:rPr lang="fr-FR" b="1"/>
              <a:t>: </a:t>
            </a:r>
            <a:endParaRPr lang="fr-FR"/>
          </a:p>
          <a:p>
            <a:endParaRPr lang="fr-FR"/>
          </a:p>
          <a:p>
            <a:r>
              <a:rPr lang="fr-FR"/>
              <a:t>… </a:t>
            </a:r>
            <a:r>
              <a:rPr lang="fr-FR"/>
              <a:t>hundred</a:t>
            </a:r>
            <a:r>
              <a:rPr lang="fr-FR"/>
              <a:t> </a:t>
            </a:r>
            <a:r>
              <a:rPr lang="fr-FR"/>
              <a:t>methods</a:t>
            </a:r>
            <a:r>
              <a:rPr lang="fr-FR"/>
              <a:t> …</a:t>
            </a:r>
          </a:p>
          <a:p>
            <a:endParaRPr lang="fr-FR"/>
          </a:p>
          <a:p>
            <a:r>
              <a:rPr lang="fr-FR"/>
              <a:t>def</a:t>
            </a:r>
            <a:r>
              <a:rPr lang="fr-FR"/>
              <a:t> </a:t>
            </a:r>
            <a:r>
              <a:rPr lang="fr-FR" b="1"/>
              <a:t>method123</a:t>
            </a:r>
            <a:r>
              <a:rPr lang="fr-FR"/>
              <a:t> (self, x) -&gt; Y</a:t>
            </a:r>
          </a:p>
          <a:p>
            <a:r>
              <a:rPr lang="fr-FR"/>
              <a:t>   self._</a:t>
            </a:r>
            <a:r>
              <a:rPr lang="fr-FR"/>
              <a:t>jdf.method</a:t>
            </a:r>
            <a:r>
              <a:rPr lang="fr-FR"/>
              <a:t>(x, </a:t>
            </a:r>
            <a:r>
              <a:rPr lang="fr-FR"/>
              <a:t>self.sparkSession</a:t>
            </a:r>
            <a:r>
              <a:rPr lang="fr-FR"/>
              <a:t>)</a:t>
            </a:r>
          </a:p>
          <a:p>
            <a:endParaRPr lang="fr-FR"/>
          </a:p>
        </p:txBody>
      </p:sp>
      <p:sp>
        <p:nvSpPr>
          <p:cNvPr id="17" name="Arrow: Left 16"/>
          <p:cNvSpPr/>
          <p:nvPr/>
        </p:nvSpPr>
        <p:spPr>
          <a:xfrm>
            <a:off x="4804466" y="2979576"/>
            <a:ext cx="553065" cy="898847"/>
          </a:xfrm>
          <a:prstGeom prst="leftArrow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Left 17"/>
          <p:cNvSpPr/>
          <p:nvPr/>
        </p:nvSpPr>
        <p:spPr>
          <a:xfrm flipH="1">
            <a:off x="6379937" y="2979575"/>
            <a:ext cx="454534" cy="898847"/>
          </a:xfrm>
          <a:prstGeom prst="leftArrow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rot="16200000">
            <a:off x="2255744" y="4290948"/>
            <a:ext cx="868254" cy="28633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Arrow: Left 19"/>
          <p:cNvSpPr/>
          <p:nvPr/>
        </p:nvSpPr>
        <p:spPr>
          <a:xfrm rot="8639132">
            <a:off x="5112270" y="4571396"/>
            <a:ext cx="1640110" cy="29533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/>
          <p:cNvSpPr txBox="1"/>
          <p:nvPr/>
        </p:nvSpPr>
        <p:spPr>
          <a:xfrm>
            <a:off x="908381" y="4878366"/>
            <a:ext cx="42917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from py4j.java_gateway import </a:t>
            </a:r>
            <a:r>
              <a:rPr lang="en-US"/>
              <a:t>JavaObject</a:t>
            </a:r>
            <a:endParaRPr lang="en-US"/>
          </a:p>
          <a:p>
            <a:r>
              <a:rPr lang="en-US"/>
              <a:t>from subprocess import </a:t>
            </a:r>
            <a:r>
              <a:rPr lang="en-US"/>
              <a:t>Popen</a:t>
            </a:r>
            <a:br>
              <a:rPr lang="en-US"/>
            </a:br>
            <a:r>
              <a:rPr lang="en-US"/>
              <a:t>from </a:t>
            </a:r>
            <a:r>
              <a:rPr lang="en-US"/>
              <a:t>pyspark.context</a:t>
            </a:r>
            <a:r>
              <a:rPr lang="en-US"/>
              <a:t> import </a:t>
            </a:r>
            <a:r>
              <a:rPr lang="en-US"/>
              <a:t>SparkContext</a:t>
            </a:r>
            <a:endParaRPr lang="en-US"/>
          </a:p>
          <a:p>
            <a:r>
              <a:rPr lang="en-US"/>
              <a:t>..</a:t>
            </a:r>
          </a:p>
          <a:p>
            <a:r>
              <a:rPr lang="fr-FR"/>
              <a:t>pid</a:t>
            </a:r>
            <a:r>
              <a:rPr lang="fr-FR"/>
              <a:t> = </a:t>
            </a:r>
            <a:r>
              <a:rPr lang="fr-FR"/>
              <a:t>Popen</a:t>
            </a:r>
            <a:r>
              <a:rPr lang="fr-FR"/>
              <a:t>(« </a:t>
            </a:r>
            <a:r>
              <a:rPr lang="fr-FR"/>
              <a:t>spark-submit</a:t>
            </a:r>
            <a:r>
              <a:rPr lang="fr-FR"/>
              <a:t> »  …)</a:t>
            </a:r>
          </a:p>
          <a:p>
            <a:r>
              <a:rPr lang="fr-FR"/>
              <a:t>Socket(.. )</a:t>
            </a:r>
          </a:p>
        </p:txBody>
      </p:sp>
      <p:sp>
        <p:nvSpPr>
          <p:cNvPr id="25" name="TextBox 24"/>
          <p:cNvSpPr txBox="1"/>
          <p:nvPr/>
        </p:nvSpPr>
        <p:spPr>
          <a:xfrm rot="19481232">
            <a:off x="5503787" y="4249450"/>
            <a:ext cx="59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py4j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4" name="Picture 42" descr="William Ardila, Author at Nub8 » Page 3 of 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93706" y="3861635"/>
            <a:ext cx="2198294" cy="1099147"/>
          </a:xfrm>
          <a:prstGeom prst="rect">
            <a:avLst/>
          </a:prstGeom>
          <a:noFill/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28063" y="806791"/>
            <a:ext cx="791712" cy="7917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25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Core</a:t>
            </a:r>
            <a:r>
              <a:rPr lang="fr-FR"/>
              <a:t> + …</a:t>
            </a:r>
          </a:p>
        </p:txBody>
      </p:sp>
      <p:pic>
        <p:nvPicPr>
          <p:cNvPr id="3076" name="Picture 4" descr="Upcoming Meetups - airisData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694928" y="1546686"/>
            <a:ext cx="1994595" cy="1356618"/>
          </a:xfrm>
          <a:prstGeom prst="rect">
            <a:avLst/>
          </a:prstGeom>
          <a:noFill/>
        </p:spPr>
      </p:pic>
      <p:pic>
        <p:nvPicPr>
          <p:cNvPr id="3080" name="Picture 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931076" y="1546686"/>
            <a:ext cx="2482088" cy="1422400"/>
          </a:xfrm>
          <a:prstGeom prst="rect">
            <a:avLst/>
          </a:prstGeom>
          <a:noFill/>
        </p:spPr>
      </p:pic>
      <p:pic>
        <p:nvPicPr>
          <p:cNvPr id="3082" name="Picture 10" descr="My First Foray into Spark MLlib. As a data science team that&amp;#39;s always… | by  Dan Piltzer | Red Ventures Data Science &amp;amp; Engineering | Medium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28265" y="1695311"/>
            <a:ext cx="2665230" cy="951917"/>
          </a:xfrm>
          <a:prstGeom prst="rect">
            <a:avLst/>
          </a:prstGeom>
          <a:noFill/>
        </p:spPr>
      </p:pic>
      <p:pic>
        <p:nvPicPr>
          <p:cNvPr id="3084" name="Picture 12" descr="Big Data Processing Using Apache Spark - Part 6: Graph Data Analytics with Spark  GraphX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9355712" y="1531425"/>
            <a:ext cx="1849623" cy="1325563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19680" y="872292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Structured</a:t>
            </a:r>
            <a:br>
              <a:rPr lang="fr-FR"/>
            </a:br>
            <a:r>
              <a:rPr lang="fr-FR"/>
              <a:t> Data</a:t>
            </a:r>
          </a:p>
        </p:txBody>
      </p:sp>
      <p:sp>
        <p:nvSpPr>
          <p:cNvPr id="7" name="Cylinder 6"/>
          <p:cNvSpPr/>
          <p:nvPr/>
        </p:nvSpPr>
        <p:spPr>
          <a:xfrm>
            <a:off x="1800003" y="979224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6" name="Picture 14" descr="Streamlio Claims Pulsar Performance Advantages Over Kafka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691744" y="649749"/>
            <a:ext cx="1431056" cy="951917"/>
          </a:xfrm>
          <a:prstGeom prst="rect">
            <a:avLst/>
          </a:prstGeom>
          <a:noFill/>
        </p:spPr>
      </p:pic>
      <p:sp>
        <p:nvSpPr>
          <p:cNvPr id="8" name="Cylinder 7"/>
          <p:cNvSpPr/>
          <p:nvPr/>
        </p:nvSpPr>
        <p:spPr>
          <a:xfrm rot="16200000">
            <a:off x="4899374" y="910516"/>
            <a:ext cx="259006" cy="84597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8" name="Picture 16" descr="Apache Kafka : Flux de données temps réel | OVHcloud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3789512" y="1215863"/>
            <a:ext cx="718608" cy="277919"/>
          </a:xfrm>
          <a:prstGeom prst="rect">
            <a:avLst/>
          </a:prstGeom>
          <a:noFill/>
        </p:spPr>
      </p:pic>
      <p:sp>
        <p:nvSpPr>
          <p:cNvPr id="12" name="Rectangle: Rounded Corners 11"/>
          <p:cNvSpPr/>
          <p:nvPr/>
        </p:nvSpPr>
        <p:spPr>
          <a:xfrm>
            <a:off x="809962" y="16405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Rounded Corners 22"/>
          <p:cNvSpPr/>
          <p:nvPr/>
        </p:nvSpPr>
        <p:spPr>
          <a:xfrm>
            <a:off x="3551468" y="1635335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Rounded Corners 23"/>
          <p:cNvSpPr/>
          <p:nvPr/>
        </p:nvSpPr>
        <p:spPr>
          <a:xfrm>
            <a:off x="6286574" y="16232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: Rounded Corners 24"/>
          <p:cNvSpPr/>
          <p:nvPr/>
        </p:nvSpPr>
        <p:spPr>
          <a:xfrm>
            <a:off x="9031816" y="1590324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4" name="Picture 22" descr="The Quantum Graph Recurrent Neural Network — PennyLane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778999" y="817930"/>
            <a:ext cx="889451" cy="669529"/>
          </a:xfrm>
          <a:prstGeom prst="rect">
            <a:avLst/>
          </a:prstGeom>
          <a:noFill/>
        </p:spPr>
      </p:pic>
      <p:sp>
        <p:nvSpPr>
          <p:cNvPr id="13" name="Rectangle: Rounded Corners 12"/>
          <p:cNvSpPr/>
          <p:nvPr/>
        </p:nvSpPr>
        <p:spPr>
          <a:xfrm>
            <a:off x="4018354" y="385038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8" descr="Apache Spark — Wikipédia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75554" y="3945924"/>
            <a:ext cx="1731327" cy="898847"/>
          </a:xfrm>
          <a:prstGeom prst="rect">
            <a:avLst/>
          </a:prstGeom>
          <a:noFill/>
        </p:spPr>
      </p:pic>
      <p:sp>
        <p:nvSpPr>
          <p:cNvPr id="14" name="TextBox 13"/>
          <p:cNvSpPr txBox="1"/>
          <p:nvPr/>
        </p:nvSpPr>
        <p:spPr>
          <a:xfrm>
            <a:off x="6755663" y="412978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sp>
        <p:nvSpPr>
          <p:cNvPr id="15" name="TextBox 14"/>
          <p:cNvSpPr txBox="1"/>
          <p:nvPr/>
        </p:nvSpPr>
        <p:spPr>
          <a:xfrm>
            <a:off x="1650900" y="379094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DataSource</a:t>
            </a:r>
            <a:r>
              <a:rPr lang="fr-FR"/>
              <a:t> </a:t>
            </a:r>
            <a:r>
              <a:rPr lang="fr-FR"/>
              <a:t>Connectors</a:t>
            </a:r>
            <a:endParaRPr lang="fr-FR"/>
          </a:p>
          <a:p>
            <a:r>
              <a:rPr lang="fr-FR"/>
              <a:t>(Hadoop API)</a:t>
            </a:r>
          </a:p>
        </p:txBody>
      </p:sp>
      <p:sp>
        <p:nvSpPr>
          <p:cNvPr id="17" name="Arrow: Up-Down 16"/>
          <p:cNvSpPr/>
          <p:nvPr/>
        </p:nvSpPr>
        <p:spPr>
          <a:xfrm rot="5400000">
            <a:off x="2522832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8709460" y="394303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Manager</a:t>
            </a:r>
          </a:p>
        </p:txBody>
      </p:sp>
      <p:sp>
        <p:nvSpPr>
          <p:cNvPr id="35" name="Arrow: Up-Down 34"/>
          <p:cNvSpPr/>
          <p:nvPr/>
        </p:nvSpPr>
        <p:spPr>
          <a:xfrm rot="5400000">
            <a:off x="9400610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6250010" y="5261663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Languages Support</a:t>
            </a:r>
          </a:p>
        </p:txBody>
      </p:sp>
      <p:sp>
        <p:nvSpPr>
          <p:cNvPr id="37" name="Arrow: Up-Down 36"/>
          <p:cNvSpPr/>
          <p:nvPr/>
        </p:nvSpPr>
        <p:spPr>
          <a:xfrm rot="10800000">
            <a:off x="5928832" y="5190670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6474534" y="30604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Modules</a:t>
            </a:r>
          </a:p>
        </p:txBody>
      </p:sp>
      <p:sp>
        <p:nvSpPr>
          <p:cNvPr id="39" name="Arrow: Up-Down 38"/>
          <p:cNvSpPr/>
          <p:nvPr/>
        </p:nvSpPr>
        <p:spPr>
          <a:xfrm rot="10800000">
            <a:off x="5965396" y="2979059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6" name="Picture 24" descr="Java (langage) — Wikipédia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4561705" y="5554641"/>
            <a:ext cx="637540" cy="1186632"/>
          </a:xfrm>
          <a:prstGeom prst="rect">
            <a:avLst/>
          </a:prstGeom>
          <a:noFill/>
        </p:spPr>
      </p:pic>
      <p:pic>
        <p:nvPicPr>
          <p:cNvPr id="3098" name="Picture 26" descr="Scala (langage) — Wikipédia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567553" y="6066414"/>
            <a:ext cx="1719743" cy="705535"/>
          </a:xfrm>
          <a:prstGeom prst="rect">
            <a:avLst/>
          </a:prstGeom>
          <a:noFill/>
        </p:spPr>
      </p:pic>
      <p:pic>
        <p:nvPicPr>
          <p:cNvPr id="3102" name="Picture 30" descr="Python-Logo-PNG-Image - Indigo.amsterdam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6865951" y="5799353"/>
            <a:ext cx="2015656" cy="1007828"/>
          </a:xfrm>
          <a:prstGeom prst="rect">
            <a:avLst/>
          </a:prstGeom>
          <a:noFill/>
        </p:spPr>
      </p:pic>
      <p:pic>
        <p:nvPicPr>
          <p:cNvPr id="3106" name="Picture 34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26061" y="5989133"/>
            <a:ext cx="911091" cy="706120"/>
          </a:xfrm>
          <a:prstGeom prst="rect">
            <a:avLst/>
          </a:prstGeom>
          <a:noFill/>
        </p:spPr>
      </p:pic>
      <p:pic>
        <p:nvPicPr>
          <p:cNvPr id="3110" name="Picture 38" descr="Présentation Hadoop Distributed File System – Blog technique Groupe SII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34928" y="3327277"/>
            <a:ext cx="1393418" cy="657519"/>
          </a:xfrm>
          <a:prstGeom prst="rect">
            <a:avLst/>
          </a:prstGeom>
          <a:noFill/>
        </p:spPr>
      </p:pic>
      <p:pic>
        <p:nvPicPr>
          <p:cNvPr id="3112" name="Picture 40" descr="Upload/Download your Azure Storage files by using Azure Data Lake Storage  Plugin with Workload Automation - WORKLOAD AUTOMATION COMMUNITY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65341" y="4499093"/>
            <a:ext cx="1447594" cy="836499"/>
          </a:xfrm>
          <a:prstGeom prst="rect">
            <a:avLst/>
          </a:prstGeom>
          <a:noFill/>
        </p:spPr>
      </p:pic>
      <p:pic>
        <p:nvPicPr>
          <p:cNvPr id="50" name="Picture 2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688770" y="4775421"/>
            <a:ext cx="896605" cy="875258"/>
          </a:xfrm>
          <a:prstGeom prst="rect">
            <a:avLst/>
          </a:prstGeom>
          <a:noFill/>
        </p:spPr>
      </p:pic>
      <p:pic>
        <p:nvPicPr>
          <p:cNvPr id="3116" name="Picture 44" descr="How to Run an Application on Spark Standalone Cluster | by Chuan Xu | Medium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346550" y="3171738"/>
            <a:ext cx="1676749" cy="943171"/>
          </a:xfrm>
          <a:prstGeom prst="rect">
            <a:avLst/>
          </a:prstGeom>
          <a:noFill/>
        </p:spPr>
      </p:pic>
      <p:pic>
        <p:nvPicPr>
          <p:cNvPr id="3118" name="Picture 46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8759" y="5306801"/>
            <a:ext cx="698767" cy="571975"/>
          </a:xfrm>
          <a:prstGeom prst="rect">
            <a:avLst/>
          </a:prstGeom>
          <a:noFill/>
        </p:spPr>
      </p:pic>
      <p:pic>
        <p:nvPicPr>
          <p:cNvPr id="3120" name="Picture 48" descr="Apache Iceber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643695" y="5349397"/>
            <a:ext cx="1447594" cy="394469"/>
          </a:xfrm>
          <a:prstGeom prst="rect">
            <a:avLst/>
          </a:prstGeom>
          <a:noFill/>
        </p:spPr>
      </p:pic>
      <p:pic>
        <p:nvPicPr>
          <p:cNvPr id="3108" name="Picture 36" descr="Amazon S3 101. S3 is a Simple Storage Service that is… | by Vedha Sankar |  featurepreneur | Medium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437402" y="3952271"/>
            <a:ext cx="903472" cy="6767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341757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 </a:t>
            </a:r>
            <a:r>
              <a:rPr lang="fr-FR"/>
              <a:t>principles</a:t>
            </a:r>
            <a:br>
              <a:rPr lang="fr-FR"/>
            </a:br>
            <a:br>
              <a:rPr lang="fr-FR"/>
            </a:br>
            <a:r>
              <a:rPr lang="fr-FR"/>
              <a:t>Low-</a:t>
            </a:r>
            <a:r>
              <a:rPr lang="fr-FR"/>
              <a:t>level</a:t>
            </a:r>
            <a:r>
              <a:rPr lang="fr-FR"/>
              <a:t> </a:t>
            </a:r>
            <a:r>
              <a:rPr lang="fr-FR"/>
              <a:t>internal</a:t>
            </a:r>
            <a:r>
              <a:rPr lang="fr-FR"/>
              <a:t> SPI, </a:t>
            </a:r>
            <a:br>
              <a:rPr lang="fr-FR"/>
            </a:br>
            <a:r>
              <a:rPr lang="fr-FR"/>
              <a:t>should</a:t>
            </a:r>
            <a:r>
              <a:rPr lang="fr-FR"/>
              <a:t> not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used</a:t>
            </a:r>
            <a:r>
              <a:rPr lang="fr-FR"/>
              <a:t> </a:t>
            </a:r>
            <a:r>
              <a:rPr lang="fr-FR"/>
              <a:t>directly</a:t>
            </a:r>
            <a:endParaRPr lang="fr-F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0049" y="0"/>
            <a:ext cx="11618595" cy="114626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RDD[T]  = </a:t>
            </a:r>
            <a:r>
              <a:rPr lang="fr-FR"/>
              <a:t>Resilient</a:t>
            </a:r>
            <a:r>
              <a:rPr lang="fr-FR"/>
              <a:t> Distributed  </a:t>
            </a:r>
            <a:r>
              <a:rPr lang="fr-FR"/>
              <a:t>Dataset</a:t>
            </a:r>
            <a:r>
              <a:rPr lang="fr-FR"/>
              <a:t> of  "T"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14747" y="1839342"/>
            <a:ext cx="12747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RDD &lt;T&gt;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E74AB1AA-CE32-C902-FE02-59B83200565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8986692"/>
              </p:ext>
            </p:extLst>
          </p:nvPr>
        </p:nvGraphicFramePr>
        <p:xfrm>
          <a:off x="4745826" y="2234565"/>
          <a:ext cx="2700348" cy="2195195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01C6F25C-1B3E-B5B1-F9F5-76B812B4132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745826" y="2234565"/>
                    <a:ext cx="2700348" cy="2195195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C4F34B0A-DC19-1DCA-BCB4-6D58E2A90A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98495340"/>
              </p:ext>
            </p:extLst>
          </p:nvPr>
        </p:nvGraphicFramePr>
        <p:xfrm>
          <a:off x="5426039" y="2757518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62069821-22DF-1FAB-6B4B-99FAEA51C455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426039" y="2757518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20950" y="246965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 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F4697361-1597-0DF9-E4D1-29A149D3901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4602758"/>
              </p:ext>
            </p:extLst>
          </p:nvPr>
        </p:nvGraphicFramePr>
        <p:xfrm>
          <a:off x="5416438" y="3320218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22" name="Object 21">
                    <a:extLst>
                      <a:ext uri="{FF2B5EF4-FFF2-40B4-BE49-F238E27FC236}">
                        <a16:creationId xmlns:a16="http://schemas.microsoft.com/office/drawing/2014/main" id="{08CCE271-1A21-3E3A-9CBE-3150789E0C6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416438" y="3320218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29468" y="3254354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101011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D50279FE-2FBC-F320-429A-FBE77B67889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0742989"/>
              </p:ext>
            </p:extLst>
          </p:nvPr>
        </p:nvGraphicFramePr>
        <p:xfrm>
          <a:off x="5426039" y="3829077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24" name="Object 23">
                    <a:extLst>
                      <a:ext uri="{FF2B5EF4-FFF2-40B4-BE49-F238E27FC236}">
                        <a16:creationId xmlns:a16="http://schemas.microsoft.com/office/drawing/2014/main" id="{435537FC-D4A6-BC0E-2EA4-0D8964C7B5B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426039" y="3829077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539069" y="3763213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010110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6039" y="2731953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0101010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5935" y="4974294"/>
            <a:ext cx="963212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"T" java </a:t>
            </a:r>
            <a:r>
              <a:rPr lang="fr-FR" sz="2400"/>
              <a:t>object</a:t>
            </a:r>
            <a:r>
              <a:rPr lang="fr-FR" sz="2400"/>
              <a:t> instances are </a:t>
            </a:r>
            <a:r>
              <a:rPr lang="fr-FR" sz="2400"/>
              <a:t>just</a:t>
            </a:r>
            <a:r>
              <a:rPr lang="fr-FR" sz="2400"/>
              <a:t> </a:t>
            </a:r>
            <a:r>
              <a:rPr lang="fr-FR" sz="2400"/>
              <a:t>Serializable</a:t>
            </a:r>
            <a:r>
              <a:rPr lang="fr-FR" sz="2400"/>
              <a:t> in </a:t>
            </a:r>
            <a:r>
              <a:rPr lang="fr-FR" sz="2400"/>
              <a:t>binary</a:t>
            </a:r>
            <a:r>
              <a:rPr lang="fr-FR" sz="2400"/>
              <a:t>  "01010101"</a:t>
            </a:r>
          </a:p>
          <a:p>
            <a:endParaRPr lang="fr-FR" sz="2400"/>
          </a:p>
          <a:p>
            <a:r>
              <a:rPr lang="fr-FR" sz="2400"/>
              <a:t>For end-user, </a:t>
            </a:r>
            <a:r>
              <a:rPr lang="fr-FR" sz="2400"/>
              <a:t>you</a:t>
            </a:r>
            <a:r>
              <a:rPr lang="fr-FR" sz="2400"/>
              <a:t> can not display </a:t>
            </a:r>
            <a:r>
              <a:rPr lang="fr-FR" sz="2400"/>
              <a:t>rows</a:t>
            </a:r>
            <a:r>
              <a:rPr lang="fr-FR" sz="2400"/>
              <a:t>   (can not do "</a:t>
            </a:r>
            <a:r>
              <a:rPr lang="fr-FR" sz="2400"/>
              <a:t>rdd.show</a:t>
            </a:r>
            <a:r>
              <a:rPr lang="fr-FR" sz="2400"/>
              <a:t>()"),  </a:t>
            </a:r>
          </a:p>
          <a:p>
            <a:r>
              <a:rPr lang="fr-FR" sz="2400"/>
              <a:t>you</a:t>
            </a:r>
            <a:r>
              <a:rPr lang="fr-FR" sz="2400"/>
              <a:t> can not </a:t>
            </a:r>
            <a:r>
              <a:rPr lang="fr-FR" sz="2400"/>
              <a:t>query</a:t>
            </a:r>
            <a:r>
              <a:rPr lang="fr-FR" sz="2400"/>
              <a:t> SQL </a:t>
            </a:r>
            <a:r>
              <a:rPr lang="fr-FR" sz="2400"/>
              <a:t>columns</a:t>
            </a:r>
            <a:r>
              <a:rPr lang="fr-FR" sz="2400"/>
              <a:t>  (can not do "</a:t>
            </a:r>
            <a:r>
              <a:rPr lang="fr-FR" sz="2400"/>
              <a:t>rdd.select</a:t>
            </a:r>
            <a:r>
              <a:rPr lang="fr-FR" sz="2400"/>
              <a:t>(..)"  or "</a:t>
            </a:r>
            <a:r>
              <a:rPr lang="fr-FR" sz="2400"/>
              <a:t>rdd.sql</a:t>
            </a:r>
            <a:r>
              <a:rPr lang="fr-FR" sz="2400"/>
              <a:t>(..)" 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9819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Doc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26360" y="1508760"/>
            <a:ext cx="906478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A </a:t>
            </a:r>
            <a:r>
              <a:rPr lang="en-US" sz="2800" b="1"/>
              <a:t>Resilient Distributed Dataset </a:t>
            </a:r>
            <a:r>
              <a:rPr lang="en-US" sz="2800"/>
              <a:t>(RDD), </a:t>
            </a:r>
          </a:p>
          <a:p>
            <a:r>
              <a:rPr lang="en-US" sz="2800"/>
              <a:t>   the</a:t>
            </a:r>
            <a:r>
              <a:rPr lang="en-US" sz="2800" b="1"/>
              <a:t> basic abstraction</a:t>
            </a:r>
            <a:r>
              <a:rPr lang="en-US" sz="2800"/>
              <a:t> in Spark. </a:t>
            </a:r>
          </a:p>
          <a:p>
            <a:endParaRPr lang="en-US" sz="2800"/>
          </a:p>
          <a:p>
            <a:r>
              <a:rPr lang="en-US" sz="2800"/>
              <a:t>Represents </a:t>
            </a:r>
          </a:p>
          <a:p>
            <a:r>
              <a:rPr lang="en-US" sz="2800"/>
              <a:t>   an </a:t>
            </a:r>
            <a:r>
              <a:rPr lang="en-US" sz="2800" b="1"/>
              <a:t>immutable</a:t>
            </a:r>
            <a:r>
              <a:rPr lang="en-US" sz="2800"/>
              <a:t>, </a:t>
            </a:r>
          </a:p>
          <a:p>
            <a:r>
              <a:rPr lang="en-US" sz="2800"/>
              <a:t>   </a:t>
            </a:r>
            <a:r>
              <a:rPr lang="en-US" sz="2800" b="1"/>
              <a:t>partitioned</a:t>
            </a:r>
            <a:r>
              <a:rPr lang="en-US" sz="2800"/>
              <a:t> </a:t>
            </a:r>
            <a:r>
              <a:rPr lang="en-US" sz="2800" b="1"/>
              <a:t>collection</a:t>
            </a:r>
            <a:r>
              <a:rPr lang="en-US" sz="2800"/>
              <a:t> of elements </a:t>
            </a:r>
          </a:p>
          <a:p>
            <a:r>
              <a:rPr lang="en-US" sz="2800"/>
              <a:t>   that can be operated on</a:t>
            </a:r>
            <a:r>
              <a:rPr lang="en-US" sz="2800" b="1"/>
              <a:t> in parallel</a:t>
            </a:r>
            <a:r>
              <a:rPr lang="en-US" sz="2800"/>
              <a:t>. </a:t>
            </a:r>
          </a:p>
          <a:p>
            <a:endParaRPr lang="en-US" sz="2800"/>
          </a:p>
          <a:p>
            <a:r>
              <a:rPr lang="en-US" sz="2800"/>
              <a:t>This class contains the basic operations available on all RDDs,</a:t>
            </a:r>
          </a:p>
          <a:p>
            <a:r>
              <a:rPr lang="en-US" sz="2800"/>
              <a:t>    such as `map`, `filter`, and `persist`. </a:t>
            </a:r>
          </a:p>
          <a:p>
            <a:r>
              <a:rPr lang="en-US" sz="2800"/>
              <a:t>In addition, </a:t>
            </a:r>
            <a:r>
              <a:rPr lang="en-US" sz="2800"/>
              <a:t>PairRDDFunctions</a:t>
            </a:r>
            <a:r>
              <a:rPr lang="en-US" sz="2800"/>
              <a:t> (..) of key-value pairs,  </a:t>
            </a:r>
          </a:p>
          <a:p>
            <a:r>
              <a:rPr lang="en-US" sz="2800"/>
              <a:t>   (..contains) `</a:t>
            </a:r>
            <a:r>
              <a:rPr lang="en-US" sz="2800"/>
              <a:t>groupByKey</a:t>
            </a:r>
            <a:r>
              <a:rPr lang="en-US" sz="2800"/>
              <a:t>` and `join` (..)</a:t>
            </a:r>
            <a:endParaRPr lang="fr-FR" sz="28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439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Abstract </a:t>
            </a:r>
            <a:r>
              <a:rPr lang="fr-FR"/>
              <a:t>methods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956560" y="764777"/>
            <a:ext cx="6502003" cy="5939547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388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Doc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8240" y="1513840"/>
            <a:ext cx="924559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Internally, each RDD is characterized by :</a:t>
            </a:r>
          </a:p>
          <a:p>
            <a:endParaRPr lang="en-US" sz="2800"/>
          </a:p>
          <a:p>
            <a:r>
              <a:rPr lang="en-US" sz="2800"/>
              <a:t>  - A </a:t>
            </a:r>
            <a:r>
              <a:rPr lang="en-US" sz="2800" b="1"/>
              <a:t>list of partitions</a:t>
            </a:r>
            <a:br>
              <a:rPr lang="en-US" sz="2800" b="1"/>
            </a:br>
            <a:endParaRPr lang="en-US" sz="2800" b="1"/>
          </a:p>
          <a:p>
            <a:r>
              <a:rPr lang="en-US" sz="2800"/>
              <a:t>  - A </a:t>
            </a:r>
            <a:r>
              <a:rPr lang="en-US" sz="2800" b="1"/>
              <a:t>function for computing </a:t>
            </a:r>
            <a:r>
              <a:rPr lang="en-US" sz="2800"/>
              <a:t>each split</a:t>
            </a:r>
            <a:br>
              <a:rPr lang="en-US" sz="2800"/>
            </a:br>
            <a:endParaRPr lang="en-US" sz="2800"/>
          </a:p>
          <a:p>
            <a:r>
              <a:rPr lang="en-US" sz="2800"/>
              <a:t>  - A list of </a:t>
            </a:r>
            <a:r>
              <a:rPr lang="en-US" sz="2800" b="1"/>
              <a:t>dependencies on other RDDs</a:t>
            </a:r>
            <a:br>
              <a:rPr lang="en-US" sz="2800" b="1"/>
            </a:br>
            <a:endParaRPr lang="en-US" sz="2800" b="1"/>
          </a:p>
          <a:p>
            <a:r>
              <a:rPr lang="en-US" sz="2800"/>
              <a:t>  - Optionally, a </a:t>
            </a:r>
            <a:r>
              <a:rPr lang="en-US" sz="2800" b="1"/>
              <a:t>Partitioner</a:t>
            </a:r>
            <a:endParaRPr lang="en-US" sz="2800"/>
          </a:p>
          <a:p>
            <a:r>
              <a:rPr lang="en-US" sz="2800"/>
              <a:t>  - Optionally, a list of </a:t>
            </a:r>
            <a:r>
              <a:rPr lang="en-US" sz="2800" b="1"/>
              <a:t>preferred locations</a:t>
            </a:r>
            <a:endParaRPr lang="fr-FR" sz="28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995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Doc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80" y="1894840"/>
            <a:ext cx="1176257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All (..) in Spark is done based on these methods, </a:t>
            </a:r>
          </a:p>
          <a:p>
            <a:r>
              <a:rPr lang="en-US" sz="2400"/>
              <a:t>  allowing each RDD </a:t>
            </a:r>
            <a:r>
              <a:rPr lang="en-US" sz="2400" b="1"/>
              <a:t>to implement </a:t>
            </a:r>
            <a:r>
              <a:rPr lang="en-US" sz="2400"/>
              <a:t>its own </a:t>
            </a:r>
            <a:r>
              <a:rPr lang="en-US" sz="2400" b="1"/>
              <a:t>way of computing </a:t>
            </a:r>
            <a:r>
              <a:rPr lang="en-US" sz="2400"/>
              <a:t>itself. </a:t>
            </a:r>
          </a:p>
          <a:p>
            <a:endParaRPr lang="en-US" sz="2400"/>
          </a:p>
          <a:p>
            <a:r>
              <a:rPr lang="en-US" sz="2400"/>
              <a:t>Indeed, users </a:t>
            </a:r>
            <a:r>
              <a:rPr lang="en-US" sz="2400" b="1"/>
              <a:t>can implement </a:t>
            </a:r>
            <a:r>
              <a:rPr lang="en-US" sz="2400"/>
              <a:t>custom RDDs </a:t>
            </a:r>
          </a:p>
          <a:p>
            <a:r>
              <a:rPr lang="en-US" sz="2400"/>
              <a:t>   (e.g. for reading data from a new storage system) </a:t>
            </a:r>
          </a:p>
          <a:p>
            <a:r>
              <a:rPr lang="en-US" sz="2400"/>
              <a:t>  by </a:t>
            </a:r>
            <a:r>
              <a:rPr lang="en-US" sz="2400" b="1"/>
              <a:t>overriding </a:t>
            </a:r>
            <a:r>
              <a:rPr lang="en-US" sz="2400"/>
              <a:t>these functions. </a:t>
            </a:r>
          </a:p>
          <a:p>
            <a:endParaRPr lang="en-US" sz="2400"/>
          </a:p>
          <a:p>
            <a:r>
              <a:rPr lang="en-US" sz="2400"/>
              <a:t>Please refer to the</a:t>
            </a:r>
          </a:p>
          <a:p>
            <a:r>
              <a:rPr lang="en-US" sz="2400"/>
              <a:t>   &lt;a </a:t>
            </a:r>
            <a:r>
              <a:rPr lang="en-US" sz="2400"/>
              <a:t>href</a:t>
            </a:r>
            <a:r>
              <a:rPr lang="en-US" sz="2400"/>
              <a:t>="http://people.csail.mit.edu/</a:t>
            </a:r>
            <a:r>
              <a:rPr lang="en-US" sz="2400"/>
              <a:t>matei</a:t>
            </a:r>
            <a:r>
              <a:rPr lang="en-US" sz="2400"/>
              <a:t>/papers/2012/nsdi_spark.pdf"&gt;Spark paper&lt;/a&gt;</a:t>
            </a:r>
          </a:p>
          <a:p>
            <a:r>
              <a:rPr lang="en-US" sz="2400"/>
              <a:t>   for more details on RDD internals.</a:t>
            </a:r>
            <a:endParaRPr lang="fr-FR" sz="24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RDD Paper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31625" y="294640"/>
            <a:ext cx="5544030" cy="6504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90008"/>
            <a:ext cx="22127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A </a:t>
            </a:r>
            <a:r>
              <a:rPr lang="fr-FR" sz="2400" b="1"/>
              <a:t>Fault-Tolerant</a:t>
            </a:r>
            <a:endParaRPr lang="fr-FR" sz="2400" b="1"/>
          </a:p>
          <a:p>
            <a:r>
              <a:rPr lang="fr-FR" sz="2400" b="1"/>
              <a:t>Abstraction</a:t>
            </a:r>
          </a:p>
          <a:p>
            <a:r>
              <a:rPr lang="fr-FR" sz="2400" b="1"/>
              <a:t>For In-Memory</a:t>
            </a:r>
            <a:br>
              <a:rPr lang="fr-FR" sz="2400" b="1"/>
            </a:br>
            <a:r>
              <a:rPr lang="fr-FR" sz="2400" b="1"/>
              <a:t>Cluster </a:t>
            </a:r>
          </a:p>
          <a:p>
            <a:r>
              <a:rPr lang="fr-FR" sz="2400" b="1"/>
              <a:t>computing</a:t>
            </a:r>
            <a:endParaRPr lang="fr-FR" sz="2400" b="1"/>
          </a:p>
        </p:txBody>
      </p:sp>
      <p:sp>
        <p:nvSpPr>
          <p:cNvPr id="7" name="TextBox 6"/>
          <p:cNvSpPr txBox="1"/>
          <p:nvPr/>
        </p:nvSpPr>
        <p:spPr>
          <a:xfrm>
            <a:off x="777240" y="3952240"/>
            <a:ext cx="49448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 achieve fault tolerance efficiently, </a:t>
            </a:r>
          </a:p>
          <a:p>
            <a:r>
              <a:rPr lang="en-US"/>
              <a:t>RDDs provide a restricted form of shared memory, </a:t>
            </a:r>
          </a:p>
          <a:p>
            <a:r>
              <a:rPr lang="en-US"/>
              <a:t>based on coarse-grained transformations</a:t>
            </a:r>
            <a:endParaRPr lang="fr-FR"/>
          </a:p>
        </p:txBody>
      </p:sp>
      <p:sp>
        <p:nvSpPr>
          <p:cNvPr id="8" name="Speech Bubble: Oval 7"/>
          <p:cNvSpPr/>
          <p:nvPr/>
        </p:nvSpPr>
        <p:spPr>
          <a:xfrm>
            <a:off x="394800" y="3700165"/>
            <a:ext cx="5327255" cy="1427480"/>
          </a:xfrm>
          <a:prstGeom prst="wedgeEllipseCallout">
            <a:avLst>
              <a:gd name="adj1" fmla="val 67987"/>
              <a:gd name="adj2" fmla="val -66701"/>
            </a:avLst>
          </a:prstGeom>
          <a:noFill/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0" y="0"/>
            <a:ext cx="10515600" cy="112231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Fault</a:t>
            </a:r>
            <a:r>
              <a:rPr lang="fr-FR"/>
              <a:t> </a:t>
            </a:r>
            <a:r>
              <a:rPr lang="fr-FR"/>
              <a:t>Tolerant</a:t>
            </a:r>
            <a:r>
              <a:rPr lang="fr-FR"/>
              <a:t> - Computation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DF73F8DF-9960-C695-7D62-CE7AE07F749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04376" y="486885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DF73F8DF-9960-C695-7D62-CE7AE07F749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804376" y="486885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095E9A9-33B5-9270-B480-94048DD0221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26616" y="519215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9095E9A9-33B5-9270-B480-94048DD0221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26616" y="519215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3BCE760F-1FCC-63D3-9557-603F10038E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26617" y="556977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3BCE760F-1FCC-63D3-9557-603F10038EA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26617" y="556977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D5D46C38-FA24-1131-872D-DB0CCA3153C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39067" y="594279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D5D46C38-FA24-1131-872D-DB0CCA3153C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39067" y="594279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A9A5BEE3-47A0-2FFC-F2DA-52D0555D263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147523" y="486885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A9A5BEE3-47A0-2FFC-F2DA-52D0555D263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147523" y="486885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C02563D2-9EBA-8451-D01F-51231E551EF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69763" y="519215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C02563D2-9EBA-8451-D01F-51231E551EF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569763" y="519215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5D73924F-D958-1C35-1CA2-4534A0D89C4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69764" y="556977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5D73924F-D958-1C35-1CA2-4534A0D89C4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569764" y="556977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Arrow: Right 10"/>
          <p:cNvSpPr/>
          <p:nvPr/>
        </p:nvSpPr>
        <p:spPr>
          <a:xfrm>
            <a:off x="5366804" y="5418719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079439" y="5192156"/>
            <a:ext cx="838958" cy="838958"/>
          </a:xfrm>
          <a:prstGeom prst="rect">
            <a:avLst/>
          </a:prstGeom>
          <a:noFill/>
        </p:spPr>
      </p:pic>
      <p:sp>
        <p:nvSpPr>
          <p:cNvPr id="13" name="Arrow: Right 12"/>
          <p:cNvSpPr/>
          <p:nvPr/>
        </p:nvSpPr>
        <p:spPr>
          <a:xfrm rot="2438084">
            <a:off x="1522270" y="4949511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&quot;Not Allowed&quot; Symbol 13"/>
          <p:cNvSpPr/>
          <p:nvPr/>
        </p:nvSpPr>
        <p:spPr>
          <a:xfrm>
            <a:off x="9540024" y="5193276"/>
            <a:ext cx="861388" cy="75299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438504" y="5281332"/>
            <a:ext cx="12572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Crash ?</a:t>
            </a:r>
          </a:p>
        </p:txBody>
      </p:sp>
      <p:sp>
        <p:nvSpPr>
          <p:cNvPr id="16" name="Arrow: Curved Down 15"/>
          <p:cNvSpPr/>
          <p:nvPr/>
        </p:nvSpPr>
        <p:spPr>
          <a:xfrm flipH="1">
            <a:off x="4646302" y="3792129"/>
            <a:ext cx="6133458" cy="94227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29950" y="3397806"/>
            <a:ext cx="54187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Option 1: </a:t>
            </a:r>
            <a:r>
              <a:rPr lang="fr-FR" sz="2400" b="1"/>
              <a:t>retry-compute</a:t>
            </a:r>
            <a:r>
              <a:rPr lang="fr-FR" sz="2400"/>
              <a:t> (on </a:t>
            </a:r>
            <a:r>
              <a:rPr lang="fr-FR" sz="2400"/>
              <a:t>same</a:t>
            </a:r>
            <a:r>
              <a:rPr lang="fr-FR" sz="2400"/>
              <a:t> server)</a:t>
            </a:r>
          </a:p>
        </p:txBody>
      </p:sp>
      <p:sp>
        <p:nvSpPr>
          <p:cNvPr id="18" name="&quot;Not Allowed&quot; Symbol 17"/>
          <p:cNvSpPr/>
          <p:nvPr/>
        </p:nvSpPr>
        <p:spPr>
          <a:xfrm>
            <a:off x="5173652" y="3772194"/>
            <a:ext cx="861388" cy="75299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9" name="Arrow: Curved Down 18"/>
          <p:cNvSpPr/>
          <p:nvPr/>
        </p:nvSpPr>
        <p:spPr>
          <a:xfrm flipH="1">
            <a:off x="3398519" y="2853516"/>
            <a:ext cx="2912171" cy="74719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015918" y="1828800"/>
            <a:ext cx="6160165" cy="8229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Option 2: find shuffle dependency </a:t>
            </a:r>
            <a:r>
              <a:rPr lang="fr-FR" sz="2400" b="1"/>
              <a:t>backup Copy </a:t>
            </a:r>
            <a:br>
              <a:rPr lang="fr-FR" sz="2400" b="1"/>
            </a:br>
            <a:r>
              <a:rPr lang="fr-FR" sz="2400"/>
              <a:t>(on different server / storage)</a:t>
            </a:r>
          </a:p>
        </p:txBody>
      </p:sp>
      <p:sp>
        <p:nvSpPr>
          <p:cNvPr id="21" name="&quot;Not Allowed&quot; Symbol 20"/>
          <p:cNvSpPr/>
          <p:nvPr/>
        </p:nvSpPr>
        <p:spPr>
          <a:xfrm>
            <a:off x="667423" y="2992408"/>
            <a:ext cx="861388" cy="75299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6" name="Arrow: Right 25"/>
          <p:cNvSpPr/>
          <p:nvPr/>
        </p:nvSpPr>
        <p:spPr>
          <a:xfrm rot="826378">
            <a:off x="1336563" y="5452892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Right 26"/>
          <p:cNvSpPr/>
          <p:nvPr/>
        </p:nvSpPr>
        <p:spPr>
          <a:xfrm rot="19673776">
            <a:off x="1404866" y="6135898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Arrow: Right 27"/>
          <p:cNvSpPr/>
          <p:nvPr/>
        </p:nvSpPr>
        <p:spPr>
          <a:xfrm rot="2438084">
            <a:off x="6635570" y="4814954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19673776">
            <a:off x="6604380" y="6060327"/>
            <a:ext cx="1096323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TextBox 29"/>
          <p:cNvSpPr txBox="1"/>
          <p:nvPr/>
        </p:nvSpPr>
        <p:spPr>
          <a:xfrm>
            <a:off x="6028038" y="3928294"/>
            <a:ext cx="1041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Lost</a:t>
            </a:r>
            <a:r>
              <a:rPr lang="fr-FR" sz="2800" b="1"/>
              <a:t> 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70431" y="2818304"/>
            <a:ext cx="1503556" cy="13716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Retreive </a:t>
            </a:r>
            <a:endParaRPr lang="fr-FR" sz="2800" b="1"/>
          </a:p>
          <a:p>
            <a:r>
              <a:rPr lang="fr-FR" sz="2800" b="1"/>
              <a:t>Shuffle </a:t>
            </a:r>
            <a:br>
              <a:rPr lang="fr-FR" sz="2800" b="1"/>
            </a:br>
            <a:r>
              <a:rPr lang="fr-FR" sz="2800" b="1"/>
              <a:t>File</a:t>
            </a:r>
          </a:p>
        </p:txBody>
      </p:sp>
      <p:sp>
        <p:nvSpPr>
          <p:cNvPr id="43190" name="Freeform 43189"/>
          <p:cNvSpPr/>
          <p:nvPr/>
        </p:nvSpPr>
        <p:spPr>
          <a:xfrm>
            <a:off x="1676400" y="1596268"/>
            <a:ext cx="12700" cy="2667000"/>
          </a:xfrm>
          <a:custGeom>
            <a:avLst/>
            <a:gdLst/>
            <a:ahLst/>
            <a:cxnLst/>
            <a:rect l="l" t="t" r="r" b="b"/>
            <a:pathLst>
              <a:path w="476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19050">
            <a:solidFill>
              <a:srgbClr val="59595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/>
        </p:txBody>
      </p:sp>
      <p:sp>
        <p:nvSpPr>
          <p:cNvPr id="43191" name="Freeform 43188"/>
          <p:cNvSpPr/>
          <p:nvPr/>
        </p:nvSpPr>
        <p:spPr>
          <a:xfrm>
            <a:off x="11835977" y="1395904"/>
            <a:ext cx="12700" cy="2794000"/>
          </a:xfrm>
          <a:custGeom>
            <a:avLst/>
            <a:gdLst/>
            <a:ahLst/>
            <a:cxnLst/>
            <a:rect l="l" t="t" r="r" b="b"/>
            <a:pathLst>
              <a:path w="455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19050">
            <a:solidFill>
              <a:srgbClr val="59595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0"/>
            <a:ext cx="10864645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What</a:t>
            </a:r>
            <a:r>
              <a:rPr lang="fr-FR"/>
              <a:t> if a Spark-</a:t>
            </a:r>
            <a:r>
              <a:rPr lang="fr-FR"/>
              <a:t>Executor</a:t>
            </a:r>
            <a:r>
              <a:rPr lang="fr-FR"/>
              <a:t> crash / Node stop  ?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199252" y="2562468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1199251" y="3322472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: Rounded Corners 5"/>
          <p:cNvSpPr/>
          <p:nvPr/>
        </p:nvSpPr>
        <p:spPr>
          <a:xfrm>
            <a:off x="1212674" y="409630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Isosceles Triangle 6"/>
          <p:cNvSpPr/>
          <p:nvPr/>
        </p:nvSpPr>
        <p:spPr>
          <a:xfrm>
            <a:off x="1541499" y="2715121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Isosceles Triangle 8"/>
          <p:cNvSpPr/>
          <p:nvPr/>
        </p:nvSpPr>
        <p:spPr>
          <a:xfrm>
            <a:off x="2036145" y="2890849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Isosceles Triangle 9"/>
          <p:cNvSpPr/>
          <p:nvPr/>
        </p:nvSpPr>
        <p:spPr>
          <a:xfrm>
            <a:off x="1483510" y="3424748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Isosceles Triangle 10"/>
          <p:cNvSpPr/>
          <p:nvPr/>
        </p:nvSpPr>
        <p:spPr>
          <a:xfrm>
            <a:off x="2036145" y="3625334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Isosceles Triangle 11"/>
          <p:cNvSpPr/>
          <p:nvPr/>
        </p:nvSpPr>
        <p:spPr>
          <a:xfrm>
            <a:off x="1678987" y="4212498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: Rounded Corners 14"/>
          <p:cNvSpPr/>
          <p:nvPr/>
        </p:nvSpPr>
        <p:spPr>
          <a:xfrm>
            <a:off x="8677576" y="2572198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: Rounded Corners 15"/>
          <p:cNvSpPr/>
          <p:nvPr/>
        </p:nvSpPr>
        <p:spPr>
          <a:xfrm>
            <a:off x="8677575" y="3332202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: Rounded Corners 16"/>
          <p:cNvSpPr/>
          <p:nvPr/>
        </p:nvSpPr>
        <p:spPr>
          <a:xfrm>
            <a:off x="8677575" y="410603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Isosceles Triangle 20"/>
          <p:cNvSpPr/>
          <p:nvPr/>
        </p:nvSpPr>
        <p:spPr>
          <a:xfrm>
            <a:off x="9226597" y="2647338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Isosceles Triangle 21"/>
          <p:cNvSpPr/>
          <p:nvPr/>
        </p:nvSpPr>
        <p:spPr>
          <a:xfrm>
            <a:off x="9226597" y="3415060"/>
            <a:ext cx="523696" cy="57389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: Rounded Corners 29"/>
          <p:cNvSpPr/>
          <p:nvPr/>
        </p:nvSpPr>
        <p:spPr>
          <a:xfrm>
            <a:off x="5014938" y="3322472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5028361" y="4096309"/>
            <a:ext cx="1535837" cy="705775"/>
          </a:xfrm>
          <a:prstGeom prst="round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Isosceles Triangle 31"/>
          <p:cNvSpPr/>
          <p:nvPr/>
        </p:nvSpPr>
        <p:spPr>
          <a:xfrm>
            <a:off x="5299197" y="3424748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Isosceles Triangle 32"/>
          <p:cNvSpPr/>
          <p:nvPr/>
        </p:nvSpPr>
        <p:spPr>
          <a:xfrm>
            <a:off x="5851832" y="3625334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Isosceles Triangle 33"/>
          <p:cNvSpPr/>
          <p:nvPr/>
        </p:nvSpPr>
        <p:spPr>
          <a:xfrm>
            <a:off x="5494674" y="4212498"/>
            <a:ext cx="304799" cy="322415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 rot="17016510">
            <a:off x="-666732" y="2777037"/>
            <a:ext cx="247375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50">
                <a:ln w="9525" cmpd="sng">
                  <a:solidFill>
                    <a:schemeClr val="accent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alpha val="40000"/>
                    </a:schemeClr>
                  </a:glow>
                </a:effectLst>
              </a:rPr>
              <a:t>???????</a:t>
            </a:r>
          </a:p>
        </p:txBody>
      </p:sp>
      <p:sp>
        <p:nvSpPr>
          <p:cNvPr id="36" name="&quot;Not Allowed&quot; Symbol 35"/>
          <p:cNvSpPr/>
          <p:nvPr/>
        </p:nvSpPr>
        <p:spPr>
          <a:xfrm>
            <a:off x="2450808" y="2412414"/>
            <a:ext cx="994723" cy="910147"/>
          </a:xfrm>
          <a:prstGeom prst="noSmoking">
            <a:avLst>
              <a:gd name="adj" fmla="val 13992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7" name="Cylinder 36"/>
          <p:cNvSpPr/>
          <p:nvPr/>
        </p:nvSpPr>
        <p:spPr>
          <a:xfrm>
            <a:off x="11348879" y="2601809"/>
            <a:ext cx="444627" cy="56285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Curved Left 37"/>
          <p:cNvSpPr/>
          <p:nvPr/>
        </p:nvSpPr>
        <p:spPr>
          <a:xfrm>
            <a:off x="10383365" y="2902124"/>
            <a:ext cx="375236" cy="1482856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9" name="Arrow: Curved Left 38"/>
          <p:cNvSpPr/>
          <p:nvPr/>
        </p:nvSpPr>
        <p:spPr>
          <a:xfrm flipV="1">
            <a:off x="10394879" y="3052056"/>
            <a:ext cx="375236" cy="604205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462684" y="5073503"/>
            <a:ext cx="47054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/>
              <a:t>after</a:t>
            </a:r>
            <a:r>
              <a:rPr lang="fr-FR" sz="2400"/>
              <a:t> </a:t>
            </a:r>
            <a:r>
              <a:rPr lang="fr-FR" sz="2400"/>
              <a:t>shuffle</a:t>
            </a:r>
            <a:r>
              <a:rPr lang="fr-FR" sz="2400"/>
              <a:t> </a:t>
            </a:r>
            <a:r>
              <a:rPr lang="fr-FR" sz="2400"/>
              <a:t>operation</a:t>
            </a:r>
            <a:r>
              <a:rPr lang="fr-FR" sz="2400"/>
              <a:t>,</a:t>
            </a:r>
          </a:p>
          <a:p>
            <a:r>
              <a:rPr lang="fr-FR" sz="2400"/>
              <a:t>=&gt; </a:t>
            </a:r>
            <a:r>
              <a:rPr lang="fr-FR" sz="2400"/>
              <a:t>Replicate</a:t>
            </a:r>
            <a:r>
              <a:rPr lang="fr-FR" sz="2400"/>
              <a:t> (peer-to-peer) </a:t>
            </a:r>
          </a:p>
          <a:p>
            <a:r>
              <a:rPr lang="fr-FR" sz="2400"/>
              <a:t>  / </a:t>
            </a:r>
            <a:r>
              <a:rPr lang="fr-FR" sz="2400"/>
              <a:t>Persist</a:t>
            </a:r>
            <a:r>
              <a:rPr lang="fr-FR" sz="2400"/>
              <a:t> Blocks  (mem and/or </a:t>
            </a:r>
            <a:r>
              <a:rPr lang="fr-FR" sz="2400"/>
              <a:t>disk</a:t>
            </a:r>
            <a:r>
              <a:rPr lang="fr-FR" sz="2400"/>
              <a:t>)</a:t>
            </a:r>
          </a:p>
          <a:p>
            <a:r>
              <a:rPr lang="fr-FR" sz="2400"/>
              <a:t>…</a:t>
            </a:r>
            <a:r>
              <a:rPr lang="fr-FR" sz="2400"/>
              <a:t>using</a:t>
            </a:r>
            <a:r>
              <a:rPr lang="fr-FR" sz="2400"/>
              <a:t> </a:t>
            </a:r>
            <a:r>
              <a:rPr lang="fr-FR" sz="2400"/>
              <a:t>ShuffleService</a:t>
            </a:r>
            <a:r>
              <a:rPr lang="fr-FR" sz="2400"/>
              <a:t> + </a:t>
            </a:r>
            <a:r>
              <a:rPr lang="fr-FR" sz="2400"/>
              <a:t>storage</a:t>
            </a:r>
            <a:endParaRPr lang="fr-FR" sz="2400"/>
          </a:p>
        </p:txBody>
      </p:sp>
      <p:sp>
        <p:nvSpPr>
          <p:cNvPr id="41" name="Isosceles Triangle 40"/>
          <p:cNvSpPr/>
          <p:nvPr/>
        </p:nvSpPr>
        <p:spPr>
          <a:xfrm>
            <a:off x="6183358" y="3376093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Isosceles Triangle 41"/>
          <p:cNvSpPr/>
          <p:nvPr/>
        </p:nvSpPr>
        <p:spPr>
          <a:xfrm>
            <a:off x="6156631" y="4365221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Cylinder 42"/>
          <p:cNvSpPr/>
          <p:nvPr/>
        </p:nvSpPr>
        <p:spPr>
          <a:xfrm>
            <a:off x="11348879" y="3403663"/>
            <a:ext cx="444627" cy="56285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Cylinder 43"/>
          <p:cNvSpPr/>
          <p:nvPr/>
        </p:nvSpPr>
        <p:spPr>
          <a:xfrm>
            <a:off x="11348879" y="4165448"/>
            <a:ext cx="444627" cy="56285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Cylinder 44"/>
          <p:cNvSpPr/>
          <p:nvPr/>
        </p:nvSpPr>
        <p:spPr>
          <a:xfrm>
            <a:off x="3774895" y="3406205"/>
            <a:ext cx="444627" cy="56285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Cylinder 45"/>
          <p:cNvSpPr/>
          <p:nvPr/>
        </p:nvSpPr>
        <p:spPr>
          <a:xfrm>
            <a:off x="3774895" y="4165448"/>
            <a:ext cx="444627" cy="56285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Arrow: Right 50"/>
          <p:cNvSpPr/>
          <p:nvPr/>
        </p:nvSpPr>
        <p:spPr>
          <a:xfrm>
            <a:off x="7293510" y="4524429"/>
            <a:ext cx="728768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Arrow: Right 51"/>
          <p:cNvSpPr/>
          <p:nvPr/>
        </p:nvSpPr>
        <p:spPr>
          <a:xfrm rot="18920224">
            <a:off x="7140241" y="4225394"/>
            <a:ext cx="887707" cy="19917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Arrow: Right 52"/>
          <p:cNvSpPr/>
          <p:nvPr/>
        </p:nvSpPr>
        <p:spPr>
          <a:xfrm rot="17782749">
            <a:off x="6837838" y="3849311"/>
            <a:ext cx="1552148" cy="1467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Arrow: Right 53"/>
          <p:cNvSpPr/>
          <p:nvPr/>
        </p:nvSpPr>
        <p:spPr>
          <a:xfrm rot="3152584">
            <a:off x="7134695" y="4041374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Arrow: Right 54"/>
          <p:cNvSpPr/>
          <p:nvPr/>
        </p:nvSpPr>
        <p:spPr>
          <a:xfrm rot="18603941">
            <a:off x="7108251" y="3204385"/>
            <a:ext cx="997956" cy="1534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Arrow: Right 55"/>
          <p:cNvSpPr/>
          <p:nvPr/>
        </p:nvSpPr>
        <p:spPr>
          <a:xfrm>
            <a:off x="7289937" y="3569433"/>
            <a:ext cx="728768" cy="1736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TextBox 56"/>
          <p:cNvSpPr txBox="1"/>
          <p:nvPr/>
        </p:nvSpPr>
        <p:spPr>
          <a:xfrm>
            <a:off x="2916463" y="5122997"/>
            <a:ext cx="51564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/>
              <a:t>Recompute/</a:t>
            </a:r>
            <a:r>
              <a:rPr lang="fr-FR" sz="2400"/>
              <a:t>recover</a:t>
            </a:r>
            <a:r>
              <a:rPr lang="fr-FR" sz="2400"/>
              <a:t> </a:t>
            </a:r>
            <a:r>
              <a:rPr lang="fr-FR" sz="2400"/>
              <a:t>lost</a:t>
            </a:r>
            <a:r>
              <a:rPr lang="fr-FR" sz="2400"/>
              <a:t> blocks</a:t>
            </a:r>
          </a:p>
          <a:p>
            <a:r>
              <a:rPr lang="fr-FR" sz="2400"/>
              <a:t>From</a:t>
            </a:r>
            <a:r>
              <a:rPr lang="fr-FR" sz="2400"/>
              <a:t> mem or </a:t>
            </a:r>
            <a:r>
              <a:rPr lang="fr-FR" sz="2400"/>
              <a:t>disk</a:t>
            </a:r>
            <a:endParaRPr lang="fr-FR" sz="2400"/>
          </a:p>
          <a:p>
            <a:r>
              <a:rPr lang="fr-FR" sz="2400"/>
              <a:t>…</a:t>
            </a:r>
            <a:r>
              <a:rPr lang="fr-FR" sz="2400"/>
              <a:t>using</a:t>
            </a:r>
            <a:r>
              <a:rPr lang="fr-FR" sz="2400"/>
              <a:t> </a:t>
            </a:r>
            <a:r>
              <a:rPr lang="fr-FR" sz="2400"/>
              <a:t>ShuffleService</a:t>
            </a:r>
            <a:r>
              <a:rPr lang="fr-FR" sz="2400"/>
              <a:t> + </a:t>
            </a:r>
            <a:r>
              <a:rPr lang="fr-FR" sz="2400"/>
              <a:t>storage</a:t>
            </a:r>
            <a:endParaRPr lang="fr-FR" sz="2400"/>
          </a:p>
        </p:txBody>
      </p:sp>
      <p:sp>
        <p:nvSpPr>
          <p:cNvPr id="62" name="Rectangle 61"/>
          <p:cNvSpPr/>
          <p:nvPr/>
        </p:nvSpPr>
        <p:spPr>
          <a:xfrm>
            <a:off x="10915686" y="4146521"/>
            <a:ext cx="270743" cy="655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/>
          <p:cNvSpPr/>
          <p:nvPr/>
        </p:nvSpPr>
        <p:spPr>
          <a:xfrm>
            <a:off x="10915686" y="3370115"/>
            <a:ext cx="270743" cy="655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Rectangle 63"/>
          <p:cNvSpPr/>
          <p:nvPr/>
        </p:nvSpPr>
        <p:spPr>
          <a:xfrm>
            <a:off x="10915686" y="2570581"/>
            <a:ext cx="270743" cy="655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/>
          <p:cNvSpPr/>
          <p:nvPr/>
        </p:nvSpPr>
        <p:spPr>
          <a:xfrm>
            <a:off x="4410707" y="4097450"/>
            <a:ext cx="270743" cy="655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Rectangle 65"/>
          <p:cNvSpPr/>
          <p:nvPr/>
        </p:nvSpPr>
        <p:spPr>
          <a:xfrm>
            <a:off x="4407961" y="3333392"/>
            <a:ext cx="270743" cy="6555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TextBox 66"/>
          <p:cNvSpPr txBox="1"/>
          <p:nvPr/>
        </p:nvSpPr>
        <p:spPr>
          <a:xfrm rot="19457646">
            <a:off x="4295569" y="2504047"/>
            <a:ext cx="17642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Shuffle</a:t>
            </a:r>
            <a:r>
              <a:rPr lang="fr-FR" sz="2000" b="1"/>
              <a:t>-service</a:t>
            </a:r>
          </a:p>
        </p:txBody>
      </p:sp>
      <p:sp>
        <p:nvSpPr>
          <p:cNvPr id="68" name="TextBox 67"/>
          <p:cNvSpPr txBox="1"/>
          <p:nvPr/>
        </p:nvSpPr>
        <p:spPr>
          <a:xfrm rot="19440000">
            <a:off x="3824177" y="2497277"/>
            <a:ext cx="15959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block </a:t>
            </a:r>
            <a:r>
              <a:rPr lang="fr-FR" sz="2000" b="1"/>
              <a:t>storage</a:t>
            </a:r>
            <a:endParaRPr lang="fr-FR" sz="2000" b="1"/>
          </a:p>
        </p:txBody>
      </p:sp>
      <p:sp>
        <p:nvSpPr>
          <p:cNvPr id="69" name="Arrow: Right 68"/>
          <p:cNvSpPr/>
          <p:nvPr/>
        </p:nvSpPr>
        <p:spPr>
          <a:xfrm rot="361816">
            <a:off x="4750041" y="4404796"/>
            <a:ext cx="1397080" cy="16024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Arrow: Right 69"/>
          <p:cNvSpPr/>
          <p:nvPr/>
        </p:nvSpPr>
        <p:spPr>
          <a:xfrm rot="21212454">
            <a:off x="4192725" y="3536913"/>
            <a:ext cx="1929264" cy="171561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Isosceles Triangle 70"/>
          <p:cNvSpPr/>
          <p:nvPr/>
        </p:nvSpPr>
        <p:spPr>
          <a:xfrm>
            <a:off x="3824455" y="3529530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Isosceles Triangle 71"/>
          <p:cNvSpPr/>
          <p:nvPr/>
        </p:nvSpPr>
        <p:spPr>
          <a:xfrm>
            <a:off x="4441508" y="4266952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Isosceles Triangle 73"/>
          <p:cNvSpPr/>
          <p:nvPr/>
        </p:nvSpPr>
        <p:spPr>
          <a:xfrm>
            <a:off x="10912648" y="3569433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Isosceles Triangle 74"/>
          <p:cNvSpPr/>
          <p:nvPr/>
        </p:nvSpPr>
        <p:spPr>
          <a:xfrm>
            <a:off x="10900227" y="4230159"/>
            <a:ext cx="304799" cy="322415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188" name="Freeform 43188"/>
          <p:cNvSpPr/>
          <p:nvPr/>
        </p:nvSpPr>
        <p:spPr>
          <a:xfrm>
            <a:off x="8382000" y="2222500"/>
            <a:ext cx="12700" cy="2794000"/>
          </a:xfrm>
          <a:custGeom>
            <a:avLst/>
            <a:gdLst/>
            <a:ahLst/>
            <a:cxnLst/>
            <a:rect l="l" t="t" r="r" b="b"/>
            <a:pathLst>
              <a:path w="455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19050">
            <a:solidFill>
              <a:srgbClr val="59595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3189" name="Freeform 43189"/>
          <p:cNvSpPr/>
          <p:nvPr/>
        </p:nvSpPr>
        <p:spPr>
          <a:xfrm>
            <a:off x="3175000" y="2349500"/>
            <a:ext cx="12700" cy="2667000"/>
          </a:xfrm>
          <a:custGeom>
            <a:avLst/>
            <a:gdLst/>
            <a:ahLst/>
            <a:cxnLst/>
            <a:rect l="l" t="t" r="r" b="b"/>
            <a:pathLst>
              <a:path w="476" h="100000" fill="none">
                <a:moveTo>
                  <a:pt x="0" y="0"/>
                </a:moveTo>
                <a:lnTo>
                  <a:pt x="0" y="100000"/>
                </a:lnTo>
              </a:path>
            </a:pathLst>
          </a:custGeom>
          <a:ln w="19050">
            <a:solidFill>
              <a:srgbClr val="59595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381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CoarseGrain</a:t>
            </a:r>
            <a:r>
              <a:rPr lang="fr-FR"/>
              <a:t> … </a:t>
            </a:r>
            <a:r>
              <a:rPr lang="fr-FR"/>
              <a:t>Scheduler</a:t>
            </a:r>
            <a:r>
              <a:rPr lang="fr-FR"/>
              <a:t>/</a:t>
            </a:r>
            <a:r>
              <a:rPr lang="fr-FR"/>
              <a:t>Executor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C4C4AD06-F01D-4E7D-1AF1-4DDB8C7406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21338" y="450817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C4C4AD06-F01D-4E7D-1AF1-4DDB8C7406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121338" y="450817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Left Brace 4"/>
          <p:cNvSpPr/>
          <p:nvPr/>
        </p:nvSpPr>
        <p:spPr>
          <a:xfrm>
            <a:off x="4545711" y="4508174"/>
            <a:ext cx="351583" cy="1553912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450807" y="4411848"/>
            <a:ext cx="503958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CoarseGrain</a:t>
            </a:r>
            <a:endParaRPr lang="fr-FR" sz="3200" b="1"/>
          </a:p>
          <a:p>
            <a:r>
              <a:rPr lang="fr-FR" sz="3200"/>
              <a:t>partition</a:t>
            </a:r>
          </a:p>
          <a:p>
            <a:r>
              <a:rPr lang="fr-FR" sz="3200"/>
              <a:t>= unit of </a:t>
            </a:r>
            <a:r>
              <a:rPr lang="fr-FR" sz="3200"/>
              <a:t>caching</a:t>
            </a:r>
            <a:r>
              <a:rPr lang="fr-FR" sz="3200"/>
              <a:t>/</a:t>
            </a:r>
            <a:br>
              <a:rPr lang="fr-FR" sz="3200"/>
            </a:br>
            <a:r>
              <a:rPr lang="fr-FR" sz="3200"/>
              <a:t>         </a:t>
            </a:r>
            <a:r>
              <a:rPr lang="fr-FR" sz="3200"/>
              <a:t>recomputation</a:t>
            </a:r>
            <a:endParaRPr lang="fr-FR" sz="3200"/>
          </a:p>
          <a:p>
            <a:r>
              <a:rPr lang="fr-FR" sz="3200"/>
              <a:t>        (all </a:t>
            </a:r>
            <a:r>
              <a:rPr lang="fr-FR" sz="3200"/>
              <a:t>elements</a:t>
            </a:r>
            <a:r>
              <a:rPr lang="fr-FR" sz="3200"/>
              <a:t> or </a:t>
            </a:r>
            <a:r>
              <a:rPr lang="fr-FR" sz="3200"/>
              <a:t>nothing</a:t>
            </a:r>
            <a:r>
              <a:rPr lang="fr-FR" sz="3200"/>
              <a:t>)</a:t>
            </a:r>
          </a:p>
        </p:txBody>
      </p:sp>
      <p:pic>
        <p:nvPicPr>
          <p:cNvPr id="7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655079" y="2162269"/>
            <a:ext cx="915912" cy="1373375"/>
          </a:xfrm>
          <a:prstGeom prst="rect">
            <a:avLst/>
          </a:prstGeom>
          <a:noFill/>
        </p:spPr>
      </p:pic>
      <p:pic>
        <p:nvPicPr>
          <p:cNvPr id="8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749745" y="2366256"/>
            <a:ext cx="915912" cy="1373375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>
          <a:xfrm>
            <a:off x="6297957" y="1037983"/>
            <a:ext cx="57204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Spark-</a:t>
            </a:r>
            <a:r>
              <a:rPr lang="fr-FR" sz="2400" b="1"/>
              <a:t>executor</a:t>
            </a:r>
            <a:endParaRPr lang="fr-FR" sz="2400" b="1"/>
          </a:p>
          <a:p>
            <a:r>
              <a:rPr lang="fr-FR" sz="2400"/>
              <a:t>Implements</a:t>
            </a:r>
            <a:r>
              <a:rPr lang="fr-FR" sz="2400"/>
              <a:t> </a:t>
            </a:r>
            <a:r>
              <a:rPr lang="fr-FR" sz="2400"/>
              <a:t>task</a:t>
            </a:r>
            <a:r>
              <a:rPr lang="fr-FR" sz="2400"/>
              <a:t> main </a:t>
            </a:r>
            <a:r>
              <a:rPr lang="fr-FR" sz="2400"/>
              <a:t>loop</a:t>
            </a:r>
            <a:endParaRPr lang="fr-FR" sz="2400"/>
          </a:p>
          <a:p>
            <a:r>
              <a:rPr lang="fr-FR" sz="2400"/>
              <a:t> … </a:t>
            </a:r>
            <a:r>
              <a:rPr lang="fr-FR" sz="2400"/>
              <a:t>internally</a:t>
            </a:r>
            <a:r>
              <a:rPr lang="fr-FR" sz="2400"/>
              <a:t> </a:t>
            </a:r>
            <a:r>
              <a:rPr lang="fr-FR" sz="2400"/>
              <a:t>called</a:t>
            </a:r>
            <a:r>
              <a:rPr lang="fr-FR" sz="2400"/>
              <a:t> « </a:t>
            </a:r>
            <a:r>
              <a:rPr lang="fr-FR" sz="2400"/>
              <a:t>CoarseGrainExecutor</a:t>
            </a:r>
            <a:r>
              <a:rPr lang="fr-FR" sz="2400"/>
              <a:t> »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629" y="1040693"/>
            <a:ext cx="57347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Spark-driver</a:t>
            </a:r>
          </a:p>
          <a:p>
            <a:r>
              <a:rPr lang="fr-FR" sz="2400"/>
              <a:t>Implements</a:t>
            </a:r>
            <a:r>
              <a:rPr lang="fr-FR" sz="2400"/>
              <a:t> </a:t>
            </a:r>
            <a:r>
              <a:rPr lang="fr-FR" sz="2400"/>
              <a:t>Fault</a:t>
            </a:r>
            <a:r>
              <a:rPr lang="fr-FR" sz="2400"/>
              <a:t> </a:t>
            </a:r>
            <a:r>
              <a:rPr lang="fr-FR" sz="2400"/>
              <a:t>Tolerance+Distribution</a:t>
            </a:r>
            <a:endParaRPr lang="fr-FR" sz="2400"/>
          </a:p>
          <a:p>
            <a:r>
              <a:rPr lang="fr-FR" sz="2400"/>
              <a:t>… </a:t>
            </a:r>
            <a:r>
              <a:rPr lang="fr-FR" sz="2400"/>
              <a:t>internally</a:t>
            </a:r>
            <a:r>
              <a:rPr lang="fr-FR" sz="2400"/>
              <a:t> </a:t>
            </a:r>
            <a:r>
              <a:rPr lang="fr-FR" sz="2400"/>
              <a:t>called</a:t>
            </a:r>
            <a:r>
              <a:rPr lang="fr-FR" sz="2400"/>
              <a:t> « </a:t>
            </a:r>
            <a:r>
              <a:rPr lang="fr-FR" sz="2400"/>
              <a:t>CoarseGrainScheduler</a:t>
            </a:r>
            <a:r>
              <a:rPr lang="fr-FR" sz="2400"/>
              <a:t> »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" name="Object 10">
            <a:extLst>
              <a:ext uri="{FF2B5EF4-FFF2-40B4-BE49-F238E27FC236}">
                <a16:creationId xmlns:a16="http://schemas.microsoft.com/office/drawing/2014/main" id="{0630D65A-833B-5A97-EFE2-BCE7684EE11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39163" y="4453897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" name="Object 10">
                    <a:extLst>
                      <a:ext uri="{FF2B5EF4-FFF2-40B4-BE49-F238E27FC236}">
                        <a16:creationId xmlns:a16="http://schemas.microsoft.com/office/drawing/2014/main" id="{0630D65A-833B-5A97-EFE2-BCE7684EE11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839163" y="4453897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" name="Arrow: Right 13"/>
          <p:cNvSpPr/>
          <p:nvPr/>
        </p:nvSpPr>
        <p:spPr>
          <a:xfrm>
            <a:off x="7353084" y="5003762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 descr="CPU X : Infos Smartphones – Applications sur Google Pla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8065719" y="4777199"/>
            <a:ext cx="838958" cy="838958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69286" y="2510566"/>
            <a:ext cx="915912" cy="1373375"/>
          </a:xfrm>
          <a:prstGeom prst="rect">
            <a:avLst/>
          </a:prstGeom>
          <a:noFill/>
        </p:spPr>
      </p:pic>
      <p:sp>
        <p:nvSpPr>
          <p:cNvPr id="12" name="Arrow: Right 11"/>
          <p:cNvSpPr/>
          <p:nvPr/>
        </p:nvSpPr>
        <p:spPr>
          <a:xfrm rot="2284202">
            <a:off x="7354657" y="5671075"/>
            <a:ext cx="70218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lowchart: Magnetic Disk 12"/>
          <p:cNvSpPr/>
          <p:nvPr/>
        </p:nvSpPr>
        <p:spPr>
          <a:xfrm>
            <a:off x="8187087" y="5983578"/>
            <a:ext cx="596221" cy="56153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RDD =  R..  </a:t>
            </a:r>
            <a:r>
              <a:rPr lang="fr-FR" b="1"/>
              <a:t>Distributed</a:t>
            </a:r>
            <a:r>
              <a:rPr lang="fr-FR"/>
              <a:t>  </a:t>
            </a:r>
            <a:r>
              <a:rPr lang="fr-FR"/>
              <a:t>Dataset</a:t>
            </a:r>
            <a:endParaRPr lang="fr-F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: Rounded Corners 55"/>
          <p:cNvSpPr/>
          <p:nvPr/>
        </p:nvSpPr>
        <p:spPr>
          <a:xfrm>
            <a:off x="7700838" y="1216753"/>
            <a:ext cx="3026744" cy="5458912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519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: Collection of </a:t>
            </a:r>
            <a:r>
              <a:rPr lang="fr-FR"/>
              <a:t>Objects</a:t>
            </a:r>
            <a:r>
              <a:rPr lang="fr-FR"/>
              <a:t>,</a:t>
            </a:r>
            <a:br>
              <a:rPr lang="fr-FR"/>
            </a:br>
            <a:r>
              <a:rPr lang="fr-FR"/>
              <a:t>parallelize</a:t>
            </a:r>
            <a:r>
              <a:rPr lang="fr-FR"/>
              <a:t> 1 CPU per partition</a:t>
            </a:r>
          </a:p>
        </p:txBody>
      </p:sp>
      <p:sp>
        <p:nvSpPr>
          <p:cNvPr id="4" name="Rectangle: Rounded Corners 3"/>
          <p:cNvSpPr/>
          <p:nvPr/>
        </p:nvSpPr>
        <p:spPr>
          <a:xfrm>
            <a:off x="1815295" y="1257825"/>
            <a:ext cx="3026744" cy="5458912"/>
          </a:xfrm>
          <a:prstGeom prst="roundRect">
            <a:avLst/>
          </a:prstGeom>
          <a:pattFill prst="wdUpDiag">
            <a:fgClr>
              <a:schemeClr val="accent1"/>
            </a:fgClr>
            <a:bgClr>
              <a:schemeClr val="bg1"/>
            </a:bgClr>
          </a:patt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4E3F015D-5ACE-084F-C95B-47C4BB3B6B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92896" y="139413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4E3F015D-5ACE-084F-C95B-47C4BB3B6BC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392896" y="139413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3918A94A-E8B4-1A9E-F868-DEF5656EA45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6" y="171743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3918A94A-E8B4-1A9E-F868-DEF5656EA45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6" y="171743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B2C6DE0C-29BF-266B-4D05-B526C5EB85F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7" y="209505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B2C6DE0C-29BF-266B-4D05-B526C5EB85F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7" y="209505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F973C8F0-9D42-08AE-E67A-68B26865E9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27587" y="2468075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F973C8F0-9D42-08AE-E67A-68B26865E9C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27587" y="2468075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8219C8DD-EC27-881E-420A-83958705694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92896" y="3046157"/>
          <a:ext cx="1949323" cy="199731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8219C8DD-EC27-881E-420A-83958705694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392896" y="3046157"/>
                    <a:ext cx="1949323" cy="199731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B350948F-C985-9A8F-2D35-96F9F6A23B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6" y="3322959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B350948F-C985-9A8F-2D35-96F9F6A23B9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6" y="3322959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1C092A6E-065B-3D13-94CC-CF661E67F67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7" y="370057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1C092A6E-065B-3D13-94CC-CF661E67F67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7" y="370057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DDFDC60D-D977-3539-9906-FFA2ABBF05E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27587" y="4073598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DDFDC60D-D977-3539-9906-FFA2ABBF05E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27587" y="4073598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A05D7C15-7AFD-0B9A-F1D3-BC0B641DB43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92896" y="5103148"/>
          <a:ext cx="1949323" cy="123959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A05D7C15-7AFD-0B9A-F1D3-BC0B641DB43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392896" y="5103148"/>
                    <a:ext cx="1949323" cy="123959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C1835B60-8F27-ADFB-2C73-F863C79F4B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6" y="543962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C1835B60-8F27-ADFB-2C73-F863C79F4B7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6" y="543962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DE104EBB-F51E-BC68-CA45-9D2350A1F0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15137" y="581724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DE104EBB-F51E-BC68-CA45-9D2350A1F06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15137" y="581724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" name="Object 30">
            <a:extLst>
              <a:ext uri="{FF2B5EF4-FFF2-40B4-BE49-F238E27FC236}">
                <a16:creationId xmlns:a16="http://schemas.microsoft.com/office/drawing/2014/main" id="{58903DB6-105A-3524-ADAE-25EC299EDA3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827587" y="443290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1" name="Object 30">
                    <a:extLst>
                      <a:ext uri="{FF2B5EF4-FFF2-40B4-BE49-F238E27FC236}">
                        <a16:creationId xmlns:a16="http://schemas.microsoft.com/office/drawing/2014/main" id="{58903DB6-105A-3524-ADAE-25EC299EDA3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827587" y="443290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" name="Object 33">
            <a:extLst>
              <a:ext uri="{FF2B5EF4-FFF2-40B4-BE49-F238E27FC236}">
                <a16:creationId xmlns:a16="http://schemas.microsoft.com/office/drawing/2014/main" id="{6CBFB690-D10E-7275-2794-DC32DA9F3FF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64363" y="139413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6CBFB690-D10E-7275-2794-DC32DA9F3FF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264363" y="139413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" name="Object 34">
            <a:extLst>
              <a:ext uri="{FF2B5EF4-FFF2-40B4-BE49-F238E27FC236}">
                <a16:creationId xmlns:a16="http://schemas.microsoft.com/office/drawing/2014/main" id="{D11BCAA5-5ACD-FF0F-2673-C3237FB20F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3" y="171743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5" name="Object 34">
                    <a:extLst>
                      <a:ext uri="{FF2B5EF4-FFF2-40B4-BE49-F238E27FC236}">
                        <a16:creationId xmlns:a16="http://schemas.microsoft.com/office/drawing/2014/main" id="{D11BCAA5-5ACD-FF0F-2673-C3237FB20F2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3" y="171743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" name="Object 35">
            <a:extLst>
              <a:ext uri="{FF2B5EF4-FFF2-40B4-BE49-F238E27FC236}">
                <a16:creationId xmlns:a16="http://schemas.microsoft.com/office/drawing/2014/main" id="{F9C5A38F-BF7E-DB8F-9C67-3EFEEBD0F91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4" y="209505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F9C5A38F-BF7E-DB8F-9C67-3EFEEBD0F91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4" y="209505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" name="Object 40">
            <a:extLst>
              <a:ext uri="{FF2B5EF4-FFF2-40B4-BE49-F238E27FC236}">
                <a16:creationId xmlns:a16="http://schemas.microsoft.com/office/drawing/2014/main" id="{333A551B-526E-2E45-4A66-832EA4CE9AF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64363" y="3241939"/>
          <a:ext cx="1949323" cy="123959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1" name="Object 40">
                    <a:extLst>
                      <a:ext uri="{FF2B5EF4-FFF2-40B4-BE49-F238E27FC236}">
                        <a16:creationId xmlns:a16="http://schemas.microsoft.com/office/drawing/2014/main" id="{333A551B-526E-2E45-4A66-832EA4CE9AF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264363" y="3241939"/>
                    <a:ext cx="1949323" cy="123959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" name="Object 42">
            <a:extLst>
              <a:ext uri="{FF2B5EF4-FFF2-40B4-BE49-F238E27FC236}">
                <a16:creationId xmlns:a16="http://schemas.microsoft.com/office/drawing/2014/main" id="{8A2D5643-B6C4-2AFC-8F10-A67F588E5CE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1" y="3737049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43" name="Object 42">
                    <a:extLst>
                      <a:ext uri="{FF2B5EF4-FFF2-40B4-BE49-F238E27FC236}">
                        <a16:creationId xmlns:a16="http://schemas.microsoft.com/office/drawing/2014/main" id="{8A2D5643-B6C4-2AFC-8F10-A67F588E5CE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1" y="3737049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8" name="Object 47">
            <a:extLst>
              <a:ext uri="{FF2B5EF4-FFF2-40B4-BE49-F238E27FC236}">
                <a16:creationId xmlns:a16="http://schemas.microsoft.com/office/drawing/2014/main" id="{36A48D23-CC75-8D6D-BBE4-37E6737267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64363" y="4752726"/>
          <a:ext cx="1949323" cy="1590016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8" name="Object 47">
                    <a:extLst>
                      <a:ext uri="{FF2B5EF4-FFF2-40B4-BE49-F238E27FC236}">
                        <a16:creationId xmlns:a16="http://schemas.microsoft.com/office/drawing/2014/main" id="{36A48D23-CC75-8D6D-BBE4-37E67372670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264363" y="4752726"/>
                    <a:ext cx="1949323" cy="159001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" name="Object 48">
            <a:extLst>
              <a:ext uri="{FF2B5EF4-FFF2-40B4-BE49-F238E27FC236}">
                <a16:creationId xmlns:a16="http://schemas.microsoft.com/office/drawing/2014/main" id="{1364C4A0-6168-32DC-F7DE-10039351EA0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3" y="5439626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49" name="Object 48">
                    <a:extLst>
                      <a:ext uri="{FF2B5EF4-FFF2-40B4-BE49-F238E27FC236}">
                        <a16:creationId xmlns:a16="http://schemas.microsoft.com/office/drawing/2014/main" id="{1364C4A0-6168-32DC-F7DE-10039351EA09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3" y="5439626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" name="Object 49">
            <a:extLst>
              <a:ext uri="{FF2B5EF4-FFF2-40B4-BE49-F238E27FC236}">
                <a16:creationId xmlns:a16="http://schemas.microsoft.com/office/drawing/2014/main" id="{24B1348F-6062-2624-FA0F-F0C53B6AF4A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4" y="5817243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0" name="Object 49">
                    <a:extLst>
                      <a:ext uri="{FF2B5EF4-FFF2-40B4-BE49-F238E27FC236}">
                        <a16:creationId xmlns:a16="http://schemas.microsoft.com/office/drawing/2014/main" id="{24B1348F-6062-2624-FA0F-F0C53B6AF4A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4" y="5817243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5" name="Arrow: Right 54"/>
          <p:cNvSpPr/>
          <p:nvPr/>
        </p:nvSpPr>
        <p:spPr>
          <a:xfrm>
            <a:off x="5138204" y="1855680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850839" y="1629117"/>
            <a:ext cx="838958" cy="838958"/>
          </a:xfrm>
          <a:prstGeom prst="rect">
            <a:avLst/>
          </a:prstGeom>
          <a:noFill/>
        </p:spPr>
      </p:pic>
      <p:sp>
        <p:nvSpPr>
          <p:cNvPr id="57" name="Arrow: Right 56"/>
          <p:cNvSpPr/>
          <p:nvPr/>
        </p:nvSpPr>
        <p:spPr>
          <a:xfrm>
            <a:off x="5138204" y="3715928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Picture 57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850839" y="3489365"/>
            <a:ext cx="838958" cy="838958"/>
          </a:xfrm>
          <a:prstGeom prst="rect">
            <a:avLst/>
          </a:prstGeom>
          <a:noFill/>
        </p:spPr>
      </p:pic>
      <p:sp>
        <p:nvSpPr>
          <p:cNvPr id="59" name="Arrow: Right 58"/>
          <p:cNvSpPr/>
          <p:nvPr/>
        </p:nvSpPr>
        <p:spPr>
          <a:xfrm>
            <a:off x="5138204" y="5455446"/>
            <a:ext cx="2266469" cy="3858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0" name="Picture 59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850839" y="5228883"/>
            <a:ext cx="838958" cy="838958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" name="Object 60">
            <a:extLst>
              <a:ext uri="{FF2B5EF4-FFF2-40B4-BE49-F238E27FC236}">
                <a16:creationId xmlns:a16="http://schemas.microsoft.com/office/drawing/2014/main" id="{5F3B406E-A3FC-FB83-8590-9C8E0A08055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686602" y="5013791"/>
          <a:ext cx="1053247" cy="38601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1" name="Object 60">
                    <a:extLst>
                      <a:ext uri="{FF2B5EF4-FFF2-40B4-BE49-F238E27FC236}">
                        <a16:creationId xmlns:a16="http://schemas.microsoft.com/office/drawing/2014/main" id="{5F3B406E-A3FC-FB83-8590-9C8E0A08055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686602" y="5013791"/>
                    <a:ext cx="1053247" cy="3860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84" y="0"/>
            <a:ext cx="12136016" cy="93593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Distribution: Partition &lt; </a:t>
            </a:r>
            <a:r>
              <a:rPr lang="fr-FR"/>
              <a:t>Executor</a:t>
            </a:r>
            <a:r>
              <a:rPr lang="fr-FR"/>
              <a:t> &lt;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54265" y="1527964"/>
            <a:ext cx="2782737" cy="1734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Rounded Corners 4"/>
          <p:cNvSpPr/>
          <p:nvPr/>
        </p:nvSpPr>
        <p:spPr>
          <a:xfrm>
            <a:off x="1257700" y="1947821"/>
            <a:ext cx="2165988" cy="12096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1082" y="1823215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47C7AE1D-649B-71AA-15B5-1A06E63A86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2860" y="2191381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47C7AE1D-649B-71AA-15B5-1A06E63A867A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752860" y="2191381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EF01231E-6CE6-2637-9210-500CC0EB78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3198" y="233383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EF01231E-6CE6-2637-9210-500CC0EB78F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83198" y="233383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006AF527-6F47-BC28-F32D-62784F0051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3198" y="255299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006AF527-6F47-BC28-F32D-62784F00510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83198" y="255299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734B2768-BA21-BA1D-BBAF-1DB4ABC1DB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90232" y="279605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734B2768-BA21-BA1D-BBAF-1DB4ABC1DB6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90232" y="279605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06290" y="1194991"/>
            <a:ext cx="1408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1392446" y="1614323"/>
            <a:ext cx="1577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767931" y="3801267"/>
            <a:ext cx="2769072" cy="1734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1082" y="4127506"/>
            <a:ext cx="915912" cy="1373375"/>
          </a:xfrm>
          <a:prstGeom prst="rect">
            <a:avLst/>
          </a:prstGeom>
          <a:noFill/>
        </p:spPr>
      </p:pic>
      <p:sp>
        <p:nvSpPr>
          <p:cNvPr id="47" name="TextBox 46"/>
          <p:cNvSpPr txBox="1"/>
          <p:nvPr/>
        </p:nvSpPr>
        <p:spPr>
          <a:xfrm>
            <a:off x="906290" y="3499282"/>
            <a:ext cx="1408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1392446" y="3918614"/>
            <a:ext cx="1577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1686722" y="1917036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9526" y="5837972"/>
            <a:ext cx="328141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several</a:t>
            </a:r>
            <a:r>
              <a:rPr lang="fr-FR" sz="2800"/>
              <a:t> </a:t>
            </a:r>
            <a:r>
              <a:rPr lang="fr-FR" sz="2800"/>
              <a:t>worker</a:t>
            </a:r>
            <a:r>
              <a:rPr lang="fr-FR" sz="2800"/>
              <a:t> </a:t>
            </a:r>
            <a:r>
              <a:rPr lang="fr-FR" sz="2800"/>
              <a:t>nodes</a:t>
            </a:r>
            <a:endParaRPr lang="fr-FR" sz="2800"/>
          </a:p>
          <a:p>
            <a:endParaRPr lang="fr-FR" sz="2800"/>
          </a:p>
        </p:txBody>
      </p:sp>
      <p:sp>
        <p:nvSpPr>
          <p:cNvPr id="70" name="TextBox 69"/>
          <p:cNvSpPr txBox="1"/>
          <p:nvPr/>
        </p:nvSpPr>
        <p:spPr>
          <a:xfrm>
            <a:off x="4927122" y="5699264"/>
            <a:ext cx="356636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Several</a:t>
            </a:r>
            <a:r>
              <a:rPr lang="fr-FR" sz="2800"/>
              <a:t> </a:t>
            </a:r>
            <a:r>
              <a:rPr lang="fr-FR" sz="2800"/>
              <a:t>spark-executor</a:t>
            </a:r>
            <a:r>
              <a:rPr lang="fr-FR" sz="2800"/>
              <a:t> </a:t>
            </a:r>
          </a:p>
          <a:p>
            <a:r>
              <a:rPr lang="fr-FR" sz="2800"/>
              <a:t>  </a:t>
            </a:r>
            <a:r>
              <a:rPr lang="fr-FR" sz="2800"/>
              <a:t>processes</a:t>
            </a:r>
            <a:r>
              <a:rPr lang="fr-FR" sz="2800"/>
              <a:t> per node</a:t>
            </a:r>
            <a:endParaRPr lang="fr-FR" sz="2800"/>
          </a:p>
          <a:p>
            <a:endParaRPr lang="fr-FR" sz="2800"/>
          </a:p>
        </p:txBody>
      </p:sp>
      <p:sp>
        <p:nvSpPr>
          <p:cNvPr id="88" name="Rectangle: Rounded Corners 87"/>
          <p:cNvSpPr/>
          <p:nvPr/>
        </p:nvSpPr>
        <p:spPr>
          <a:xfrm>
            <a:off x="1257700" y="4221684"/>
            <a:ext cx="2165988" cy="12096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" name="Object 88">
            <a:extLst>
              <a:ext uri="{FF2B5EF4-FFF2-40B4-BE49-F238E27FC236}">
                <a16:creationId xmlns:a16="http://schemas.microsoft.com/office/drawing/2014/main" id="{FB027931-D0AA-A9DD-72B0-A725EC16D62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2860" y="4465244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89" name="Object 88">
                    <a:extLst>
                      <a:ext uri="{FF2B5EF4-FFF2-40B4-BE49-F238E27FC236}">
                        <a16:creationId xmlns:a16="http://schemas.microsoft.com/office/drawing/2014/main" id="{FB027931-D0AA-A9DD-72B0-A725EC16D624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752860" y="4465244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" name="Object 89">
            <a:extLst>
              <a:ext uri="{FF2B5EF4-FFF2-40B4-BE49-F238E27FC236}">
                <a16:creationId xmlns:a16="http://schemas.microsoft.com/office/drawing/2014/main" id="{3D9F3C85-27DD-5C3C-44DB-70720B1B0AF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3198" y="460770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0" name="Object 89">
                    <a:extLst>
                      <a:ext uri="{FF2B5EF4-FFF2-40B4-BE49-F238E27FC236}">
                        <a16:creationId xmlns:a16="http://schemas.microsoft.com/office/drawing/2014/main" id="{3D9F3C85-27DD-5C3C-44DB-70720B1B0AF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83198" y="460770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" name="Object 90">
            <a:extLst>
              <a:ext uri="{FF2B5EF4-FFF2-40B4-BE49-F238E27FC236}">
                <a16:creationId xmlns:a16="http://schemas.microsoft.com/office/drawing/2014/main" id="{49B6392F-702A-39A2-4B64-D59E2FBBA23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3198" y="48268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1" name="Object 90">
                    <a:extLst>
                      <a:ext uri="{FF2B5EF4-FFF2-40B4-BE49-F238E27FC236}">
                        <a16:creationId xmlns:a16="http://schemas.microsoft.com/office/drawing/2014/main" id="{49B6392F-702A-39A2-4B64-D59E2FBBA23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83198" y="48268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2" name="Object 91">
            <a:extLst>
              <a:ext uri="{FF2B5EF4-FFF2-40B4-BE49-F238E27FC236}">
                <a16:creationId xmlns:a16="http://schemas.microsoft.com/office/drawing/2014/main" id="{D39E51FF-20A0-8CD3-003C-BC334CDF534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90232" y="506992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2" name="Object 91">
                    <a:extLst>
                      <a:ext uri="{FF2B5EF4-FFF2-40B4-BE49-F238E27FC236}">
                        <a16:creationId xmlns:a16="http://schemas.microsoft.com/office/drawing/2014/main" id="{D39E51FF-20A0-8CD3-003C-BC334CDF534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990232" y="506992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1686722" y="4190899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927122" y="1560312"/>
            <a:ext cx="3152497" cy="39756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: Rounded Corners 94"/>
          <p:cNvSpPr/>
          <p:nvPr/>
        </p:nvSpPr>
        <p:spPr>
          <a:xfrm>
            <a:off x="5430557" y="1980170"/>
            <a:ext cx="2165988" cy="12096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469166" y="2914571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" name="Object 96">
            <a:extLst>
              <a:ext uri="{FF2B5EF4-FFF2-40B4-BE49-F238E27FC236}">
                <a16:creationId xmlns:a16="http://schemas.microsoft.com/office/drawing/2014/main" id="{FE621875-6CD3-16DF-5991-42684DB5B6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25717" y="2223730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97" name="Object 96">
                    <a:extLst>
                      <a:ext uri="{FF2B5EF4-FFF2-40B4-BE49-F238E27FC236}">
                        <a16:creationId xmlns:a16="http://schemas.microsoft.com/office/drawing/2014/main" id="{FE621875-6CD3-16DF-5991-42684DB5B660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925717" y="2223730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8" name="Object 97">
            <a:extLst>
              <a:ext uri="{FF2B5EF4-FFF2-40B4-BE49-F238E27FC236}">
                <a16:creationId xmlns:a16="http://schemas.microsoft.com/office/drawing/2014/main" id="{6D29A1C7-0D8F-90D5-2947-08DDBCD917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56055" y="236618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8" name="Object 97">
                    <a:extLst>
                      <a:ext uri="{FF2B5EF4-FFF2-40B4-BE49-F238E27FC236}">
                        <a16:creationId xmlns:a16="http://schemas.microsoft.com/office/drawing/2014/main" id="{6D29A1C7-0D8F-90D5-2947-08DDBCD9177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56055" y="236618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9" name="Object 98">
            <a:extLst>
              <a:ext uri="{FF2B5EF4-FFF2-40B4-BE49-F238E27FC236}">
                <a16:creationId xmlns:a16="http://schemas.microsoft.com/office/drawing/2014/main" id="{3B66454A-F514-50A3-BF03-9BF01F67FA5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56055" y="258534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9" name="Object 98">
                    <a:extLst>
                      <a:ext uri="{FF2B5EF4-FFF2-40B4-BE49-F238E27FC236}">
                        <a16:creationId xmlns:a16="http://schemas.microsoft.com/office/drawing/2014/main" id="{3B66454A-F514-50A3-BF03-9BF01F67FA5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56055" y="258534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0" name="Object 99">
            <a:extLst>
              <a:ext uri="{FF2B5EF4-FFF2-40B4-BE49-F238E27FC236}">
                <a16:creationId xmlns:a16="http://schemas.microsoft.com/office/drawing/2014/main" id="{2619E6C3-EFD7-BE9E-F5A0-F84727F97C3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63089" y="282840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0" name="Object 99">
                    <a:extLst>
                      <a:ext uri="{FF2B5EF4-FFF2-40B4-BE49-F238E27FC236}">
                        <a16:creationId xmlns:a16="http://schemas.microsoft.com/office/drawing/2014/main" id="{2619E6C3-EFD7-BE9E-F5A0-F84727F97C3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63089" y="282840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5079147" y="1227340"/>
            <a:ext cx="1408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endParaRPr lang="fr-FR"/>
          </a:p>
        </p:txBody>
      </p:sp>
      <p:sp>
        <p:nvSpPr>
          <p:cNvPr id="102" name="TextBox 101"/>
          <p:cNvSpPr txBox="1"/>
          <p:nvPr/>
        </p:nvSpPr>
        <p:spPr>
          <a:xfrm>
            <a:off x="5565303" y="1646672"/>
            <a:ext cx="1577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06" name="TextBox 105"/>
          <p:cNvSpPr txBox="1"/>
          <p:nvPr/>
        </p:nvSpPr>
        <p:spPr>
          <a:xfrm>
            <a:off x="5565303" y="3220288"/>
            <a:ext cx="1577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07" name="TextBox 106"/>
          <p:cNvSpPr txBox="1"/>
          <p:nvPr/>
        </p:nvSpPr>
        <p:spPr>
          <a:xfrm>
            <a:off x="5859579" y="1949385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3</a:t>
            </a:r>
          </a:p>
        </p:txBody>
      </p:sp>
      <p:sp>
        <p:nvSpPr>
          <p:cNvPr id="108" name="Rectangle: Rounded Corners 107"/>
          <p:cNvSpPr/>
          <p:nvPr/>
        </p:nvSpPr>
        <p:spPr>
          <a:xfrm>
            <a:off x="5430557" y="3523358"/>
            <a:ext cx="2165988" cy="120969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9" name="Object 108">
            <a:extLst>
              <a:ext uri="{FF2B5EF4-FFF2-40B4-BE49-F238E27FC236}">
                <a16:creationId xmlns:a16="http://schemas.microsoft.com/office/drawing/2014/main" id="{EE0020AB-A1D2-33DA-B5A7-664C133CC1A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925717" y="3766918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09" name="Object 108">
                    <a:extLst>
                      <a:ext uri="{FF2B5EF4-FFF2-40B4-BE49-F238E27FC236}">
                        <a16:creationId xmlns:a16="http://schemas.microsoft.com/office/drawing/2014/main" id="{EE0020AB-A1D2-33DA-B5A7-664C133CC1AD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925717" y="3766918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0" name="Object 109">
            <a:extLst>
              <a:ext uri="{FF2B5EF4-FFF2-40B4-BE49-F238E27FC236}">
                <a16:creationId xmlns:a16="http://schemas.microsoft.com/office/drawing/2014/main" id="{4EA0A17A-E375-3EED-4236-7406ED5F789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56055" y="390937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0" name="Object 109">
                    <a:extLst>
                      <a:ext uri="{FF2B5EF4-FFF2-40B4-BE49-F238E27FC236}">
                        <a16:creationId xmlns:a16="http://schemas.microsoft.com/office/drawing/2014/main" id="{4EA0A17A-E375-3EED-4236-7406ED5F789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56055" y="390937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1" name="Object 110">
            <a:extLst>
              <a:ext uri="{FF2B5EF4-FFF2-40B4-BE49-F238E27FC236}">
                <a16:creationId xmlns:a16="http://schemas.microsoft.com/office/drawing/2014/main" id="{34A8FA59-AB8D-8A6B-D281-B9E92AC431F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56055" y="412853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1" name="Object 110">
                    <a:extLst>
                      <a:ext uri="{FF2B5EF4-FFF2-40B4-BE49-F238E27FC236}">
                        <a16:creationId xmlns:a16="http://schemas.microsoft.com/office/drawing/2014/main" id="{34A8FA59-AB8D-8A6B-D281-B9E92AC431F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56055" y="412853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2" name="Object 111">
            <a:extLst>
              <a:ext uri="{FF2B5EF4-FFF2-40B4-BE49-F238E27FC236}">
                <a16:creationId xmlns:a16="http://schemas.microsoft.com/office/drawing/2014/main" id="{0F3DF7BE-4070-75B2-85F0-54502DA579F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163089" y="437159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2" name="Object 111">
                    <a:extLst>
                      <a:ext uri="{FF2B5EF4-FFF2-40B4-BE49-F238E27FC236}">
                        <a16:creationId xmlns:a16="http://schemas.microsoft.com/office/drawing/2014/main" id="{0F3DF7BE-4070-75B2-85F0-54502DA579F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6163089" y="437159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3" name="TextBox 112"/>
          <p:cNvSpPr txBox="1"/>
          <p:nvPr/>
        </p:nvSpPr>
        <p:spPr>
          <a:xfrm>
            <a:off x="5859579" y="3492573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87103" y="1560312"/>
            <a:ext cx="3152497" cy="39756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Rectangle: Rounded Corners 114"/>
          <p:cNvSpPr/>
          <p:nvPr/>
        </p:nvSpPr>
        <p:spPr>
          <a:xfrm>
            <a:off x="9390538" y="1980169"/>
            <a:ext cx="2496662" cy="32740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29147" y="2914571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7" name="Object 116">
            <a:extLst>
              <a:ext uri="{FF2B5EF4-FFF2-40B4-BE49-F238E27FC236}">
                <a16:creationId xmlns:a16="http://schemas.microsoft.com/office/drawing/2014/main" id="{46C40128-FE5C-D7F1-D9E4-F7923AE878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85698" y="2223730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17" name="Object 116">
                    <a:extLst>
                      <a:ext uri="{FF2B5EF4-FFF2-40B4-BE49-F238E27FC236}">
                        <a16:creationId xmlns:a16="http://schemas.microsoft.com/office/drawing/2014/main" id="{46C40128-FE5C-D7F1-D9E4-F7923AE8784D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885698" y="2223730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8" name="Object 117">
            <a:extLst>
              <a:ext uri="{FF2B5EF4-FFF2-40B4-BE49-F238E27FC236}">
                <a16:creationId xmlns:a16="http://schemas.microsoft.com/office/drawing/2014/main" id="{7537CD9C-D03F-40FE-40CC-1991F4EE54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16036" y="236618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8" name="Object 117">
                    <a:extLst>
                      <a:ext uri="{FF2B5EF4-FFF2-40B4-BE49-F238E27FC236}">
                        <a16:creationId xmlns:a16="http://schemas.microsoft.com/office/drawing/2014/main" id="{7537CD9C-D03F-40FE-40CC-1991F4EE542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16036" y="236618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9" name="Object 118">
            <a:extLst>
              <a:ext uri="{FF2B5EF4-FFF2-40B4-BE49-F238E27FC236}">
                <a16:creationId xmlns:a16="http://schemas.microsoft.com/office/drawing/2014/main" id="{9F9B377D-CDD8-49B5-5A20-E9B49E63F7C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16036" y="258534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19" name="Object 118">
                    <a:extLst>
                      <a:ext uri="{FF2B5EF4-FFF2-40B4-BE49-F238E27FC236}">
                        <a16:creationId xmlns:a16="http://schemas.microsoft.com/office/drawing/2014/main" id="{9F9B377D-CDD8-49B5-5A20-E9B49E63F7C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16036" y="258534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0" name="Object 119">
            <a:extLst>
              <a:ext uri="{FF2B5EF4-FFF2-40B4-BE49-F238E27FC236}">
                <a16:creationId xmlns:a16="http://schemas.microsoft.com/office/drawing/2014/main" id="{E726D2E7-387C-7E8B-8DD8-3E3857F9707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23070" y="282840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0" name="Object 119">
                    <a:extLst>
                      <a:ext uri="{FF2B5EF4-FFF2-40B4-BE49-F238E27FC236}">
                        <a16:creationId xmlns:a16="http://schemas.microsoft.com/office/drawing/2014/main" id="{E726D2E7-387C-7E8B-8DD8-3E3857F9707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23070" y="282840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9039128" y="1227340"/>
            <a:ext cx="1408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Worker</a:t>
            </a:r>
            <a:r>
              <a:rPr lang="fr-FR"/>
              <a:t> </a:t>
            </a:r>
            <a:r>
              <a:rPr lang="fr-FR"/>
              <a:t>node</a:t>
            </a:r>
            <a:endParaRPr lang="fr-FR"/>
          </a:p>
        </p:txBody>
      </p:sp>
      <p:sp>
        <p:nvSpPr>
          <p:cNvPr id="122" name="TextBox 121"/>
          <p:cNvSpPr txBox="1"/>
          <p:nvPr/>
        </p:nvSpPr>
        <p:spPr>
          <a:xfrm>
            <a:off x="9525284" y="1646672"/>
            <a:ext cx="1577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124" name="TextBox 123"/>
          <p:cNvSpPr txBox="1"/>
          <p:nvPr/>
        </p:nvSpPr>
        <p:spPr>
          <a:xfrm>
            <a:off x="9819560" y="1949385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5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6" name="Object 125">
            <a:extLst>
              <a:ext uri="{FF2B5EF4-FFF2-40B4-BE49-F238E27FC236}">
                <a16:creationId xmlns:a16="http://schemas.microsoft.com/office/drawing/2014/main" id="{561CE587-0F05-05B7-7D2C-1417A0257B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14632" y="340828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26" name="Object 125">
                    <a:extLst>
                      <a:ext uri="{FF2B5EF4-FFF2-40B4-BE49-F238E27FC236}">
                        <a16:creationId xmlns:a16="http://schemas.microsoft.com/office/drawing/2014/main" id="{561CE587-0F05-05B7-7D2C-1417A0257B9F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9914632" y="340828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7" name="Object 126">
            <a:extLst>
              <a:ext uri="{FF2B5EF4-FFF2-40B4-BE49-F238E27FC236}">
                <a16:creationId xmlns:a16="http://schemas.microsoft.com/office/drawing/2014/main" id="{50C1BAA3-BE69-5999-A68D-325A4D4F55A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44970" y="35507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7" name="Object 126">
                    <a:extLst>
                      <a:ext uri="{FF2B5EF4-FFF2-40B4-BE49-F238E27FC236}">
                        <a16:creationId xmlns:a16="http://schemas.microsoft.com/office/drawing/2014/main" id="{50C1BAA3-BE69-5999-A68D-325A4D4F55A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44970" y="35507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" name="Object 127">
            <a:extLst>
              <a:ext uri="{FF2B5EF4-FFF2-40B4-BE49-F238E27FC236}">
                <a16:creationId xmlns:a16="http://schemas.microsoft.com/office/drawing/2014/main" id="{B8A89BBB-914B-6812-16C0-4B477DEBF1B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44970" y="37698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8" name="Object 127">
                    <a:extLst>
                      <a:ext uri="{FF2B5EF4-FFF2-40B4-BE49-F238E27FC236}">
                        <a16:creationId xmlns:a16="http://schemas.microsoft.com/office/drawing/2014/main" id="{B8A89BBB-914B-6812-16C0-4B477DEBF1B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44970" y="37698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9" name="Object 128">
            <a:extLst>
              <a:ext uri="{FF2B5EF4-FFF2-40B4-BE49-F238E27FC236}">
                <a16:creationId xmlns:a16="http://schemas.microsoft.com/office/drawing/2014/main" id="{81640C31-2FA4-45AE-C7FC-6FEF4437A70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52004" y="40129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29" name="Object 128">
                    <a:extLst>
                      <a:ext uri="{FF2B5EF4-FFF2-40B4-BE49-F238E27FC236}">
                        <a16:creationId xmlns:a16="http://schemas.microsoft.com/office/drawing/2014/main" id="{81640C31-2FA4-45AE-C7FC-6FEF4437A70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152004" y="40129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0" name="TextBox 129"/>
          <p:cNvSpPr txBox="1"/>
          <p:nvPr/>
        </p:nvSpPr>
        <p:spPr>
          <a:xfrm>
            <a:off x="9848494" y="3133938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6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1" name="Object 130">
            <a:extLst>
              <a:ext uri="{FF2B5EF4-FFF2-40B4-BE49-F238E27FC236}">
                <a16:creationId xmlns:a16="http://schemas.microsoft.com/office/drawing/2014/main" id="{F7EDD725-E48E-CDB6-EB8A-F76748C120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067032" y="356068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31" name="Object 130">
                    <a:extLst>
                      <a:ext uri="{FF2B5EF4-FFF2-40B4-BE49-F238E27FC236}">
                        <a16:creationId xmlns:a16="http://schemas.microsoft.com/office/drawing/2014/main" id="{F7EDD725-E48E-CDB6-EB8A-F76748C1207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067032" y="356068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2" name="Object 131">
            <a:extLst>
              <a:ext uri="{FF2B5EF4-FFF2-40B4-BE49-F238E27FC236}">
                <a16:creationId xmlns:a16="http://schemas.microsoft.com/office/drawing/2014/main" id="{3E22EEB5-95EA-6B48-2701-3ABE18DDC16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97370" y="37031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2" name="Object 131">
                    <a:extLst>
                      <a:ext uri="{FF2B5EF4-FFF2-40B4-BE49-F238E27FC236}">
                        <a16:creationId xmlns:a16="http://schemas.microsoft.com/office/drawing/2014/main" id="{3E22EEB5-95EA-6B48-2701-3ABE18DDC16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297370" y="37031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3" name="Object 132">
            <a:extLst>
              <a:ext uri="{FF2B5EF4-FFF2-40B4-BE49-F238E27FC236}">
                <a16:creationId xmlns:a16="http://schemas.microsoft.com/office/drawing/2014/main" id="{290A5737-DF5B-A685-B802-BCEE6FE3AE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97370" y="39222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3" name="Object 132">
                    <a:extLst>
                      <a:ext uri="{FF2B5EF4-FFF2-40B4-BE49-F238E27FC236}">
                        <a16:creationId xmlns:a16="http://schemas.microsoft.com/office/drawing/2014/main" id="{290A5737-DF5B-A685-B802-BCEE6FE3AEB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297370" y="39222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" name="Object 133">
            <a:extLst>
              <a:ext uri="{FF2B5EF4-FFF2-40B4-BE49-F238E27FC236}">
                <a16:creationId xmlns:a16="http://schemas.microsoft.com/office/drawing/2014/main" id="{55D02B92-66E4-4CA7-085C-4FD60B194B9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4404" y="41653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4" name="Object 133">
                    <a:extLst>
                      <a:ext uri="{FF2B5EF4-FFF2-40B4-BE49-F238E27FC236}">
                        <a16:creationId xmlns:a16="http://schemas.microsoft.com/office/drawing/2014/main" id="{55D02B92-66E4-4CA7-085C-4FD60B194B9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04404" y="41653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35" name="TextBox 134"/>
          <p:cNvSpPr txBox="1"/>
          <p:nvPr/>
        </p:nvSpPr>
        <p:spPr>
          <a:xfrm>
            <a:off x="10000894" y="3286338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7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6" name="Object 135">
            <a:extLst>
              <a:ext uri="{FF2B5EF4-FFF2-40B4-BE49-F238E27FC236}">
                <a16:creationId xmlns:a16="http://schemas.microsoft.com/office/drawing/2014/main" id="{885BE9CE-D4E4-A742-7156-651E53B85E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19432" y="371308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36" name="Object 135">
                    <a:extLst>
                      <a:ext uri="{FF2B5EF4-FFF2-40B4-BE49-F238E27FC236}">
                        <a16:creationId xmlns:a16="http://schemas.microsoft.com/office/drawing/2014/main" id="{885BE9CE-D4E4-A742-7156-651E53B85ED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219432" y="371308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7" name="Object 136">
            <a:extLst>
              <a:ext uri="{FF2B5EF4-FFF2-40B4-BE49-F238E27FC236}">
                <a16:creationId xmlns:a16="http://schemas.microsoft.com/office/drawing/2014/main" id="{9CC1F1FD-0256-3CA4-743B-40B73284AA3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49770" y="38555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7" name="Object 136">
                    <a:extLst>
                      <a:ext uri="{FF2B5EF4-FFF2-40B4-BE49-F238E27FC236}">
                        <a16:creationId xmlns:a16="http://schemas.microsoft.com/office/drawing/2014/main" id="{9CC1F1FD-0256-3CA4-743B-40B73284AA3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49770" y="38555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8" name="Object 137">
            <a:extLst>
              <a:ext uri="{FF2B5EF4-FFF2-40B4-BE49-F238E27FC236}">
                <a16:creationId xmlns:a16="http://schemas.microsoft.com/office/drawing/2014/main" id="{95DA2701-537D-6935-F278-2EE49119398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49770" y="40746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8" name="Object 137">
                    <a:extLst>
                      <a:ext uri="{FF2B5EF4-FFF2-40B4-BE49-F238E27FC236}">
                        <a16:creationId xmlns:a16="http://schemas.microsoft.com/office/drawing/2014/main" id="{95DA2701-537D-6935-F278-2EE49119398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49770" y="40746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9" name="Object 138">
            <a:extLst>
              <a:ext uri="{FF2B5EF4-FFF2-40B4-BE49-F238E27FC236}">
                <a16:creationId xmlns:a16="http://schemas.microsoft.com/office/drawing/2014/main" id="{59EC0DF2-D63F-7D42-3D8D-A09164E809E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56804" y="43177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9" name="Object 138">
                    <a:extLst>
                      <a:ext uri="{FF2B5EF4-FFF2-40B4-BE49-F238E27FC236}">
                        <a16:creationId xmlns:a16="http://schemas.microsoft.com/office/drawing/2014/main" id="{59EC0DF2-D63F-7D42-3D8D-A09164E809E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56804" y="43177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0" name="TextBox 139"/>
          <p:cNvSpPr txBox="1"/>
          <p:nvPr/>
        </p:nvSpPr>
        <p:spPr>
          <a:xfrm>
            <a:off x="10153294" y="3438738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8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1" name="Object 140">
            <a:extLst>
              <a:ext uri="{FF2B5EF4-FFF2-40B4-BE49-F238E27FC236}">
                <a16:creationId xmlns:a16="http://schemas.microsoft.com/office/drawing/2014/main" id="{5E50024D-F9C4-6D3A-399B-281908EFF1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71832" y="386548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41" name="Object 140">
                    <a:extLst>
                      <a:ext uri="{FF2B5EF4-FFF2-40B4-BE49-F238E27FC236}">
                        <a16:creationId xmlns:a16="http://schemas.microsoft.com/office/drawing/2014/main" id="{5E50024D-F9C4-6D3A-399B-281908EFF1F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371832" y="386548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2" name="Object 141">
            <a:extLst>
              <a:ext uri="{FF2B5EF4-FFF2-40B4-BE49-F238E27FC236}">
                <a16:creationId xmlns:a16="http://schemas.microsoft.com/office/drawing/2014/main" id="{5A59523E-D257-518F-B7BE-1C2F982EFFC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02170" y="40079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2" name="Object 141">
                    <a:extLst>
                      <a:ext uri="{FF2B5EF4-FFF2-40B4-BE49-F238E27FC236}">
                        <a16:creationId xmlns:a16="http://schemas.microsoft.com/office/drawing/2014/main" id="{5A59523E-D257-518F-B7BE-1C2F982EFFC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602170" y="40079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3" name="Object 142">
            <a:extLst>
              <a:ext uri="{FF2B5EF4-FFF2-40B4-BE49-F238E27FC236}">
                <a16:creationId xmlns:a16="http://schemas.microsoft.com/office/drawing/2014/main" id="{E40625BF-E1AC-C05E-7214-5C54C80D4C3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02170" y="42270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3" name="Object 142">
                    <a:extLst>
                      <a:ext uri="{FF2B5EF4-FFF2-40B4-BE49-F238E27FC236}">
                        <a16:creationId xmlns:a16="http://schemas.microsoft.com/office/drawing/2014/main" id="{E40625BF-E1AC-C05E-7214-5C54C80D4C3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602170" y="42270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4" name="Object 143">
            <a:extLst>
              <a:ext uri="{FF2B5EF4-FFF2-40B4-BE49-F238E27FC236}">
                <a16:creationId xmlns:a16="http://schemas.microsoft.com/office/drawing/2014/main" id="{08F7BB5A-29D6-E306-1A00-4F6AF893B15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609204" y="44701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4" name="Object 143">
                    <a:extLst>
                      <a:ext uri="{FF2B5EF4-FFF2-40B4-BE49-F238E27FC236}">
                        <a16:creationId xmlns:a16="http://schemas.microsoft.com/office/drawing/2014/main" id="{08F7BB5A-29D6-E306-1A00-4F6AF893B15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609204" y="44701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10305694" y="3591138"/>
            <a:ext cx="1162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9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6" name="Object 145">
            <a:extLst>
              <a:ext uri="{FF2B5EF4-FFF2-40B4-BE49-F238E27FC236}">
                <a16:creationId xmlns:a16="http://schemas.microsoft.com/office/drawing/2014/main" id="{4B934FEE-BDA0-7A31-A51D-C4DC7615860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524232" y="401788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46" name="Object 145">
                    <a:extLst>
                      <a:ext uri="{FF2B5EF4-FFF2-40B4-BE49-F238E27FC236}">
                        <a16:creationId xmlns:a16="http://schemas.microsoft.com/office/drawing/2014/main" id="{4B934FEE-BDA0-7A31-A51D-C4DC76158604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524232" y="401788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7" name="Object 146">
            <a:extLst>
              <a:ext uri="{FF2B5EF4-FFF2-40B4-BE49-F238E27FC236}">
                <a16:creationId xmlns:a16="http://schemas.microsoft.com/office/drawing/2014/main" id="{1B98FEDE-EE64-0258-BE3A-04EDCEF5498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754570" y="416034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7" name="Object 146">
                    <a:extLst>
                      <a:ext uri="{FF2B5EF4-FFF2-40B4-BE49-F238E27FC236}">
                        <a16:creationId xmlns:a16="http://schemas.microsoft.com/office/drawing/2014/main" id="{1B98FEDE-EE64-0258-BE3A-04EDCEF5498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754570" y="416034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8" name="Object 147">
            <a:extLst>
              <a:ext uri="{FF2B5EF4-FFF2-40B4-BE49-F238E27FC236}">
                <a16:creationId xmlns:a16="http://schemas.microsoft.com/office/drawing/2014/main" id="{DE2807BA-ECE0-4172-202B-FEAA6EB485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754570" y="43794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8" name="Object 147">
                    <a:extLst>
                      <a:ext uri="{FF2B5EF4-FFF2-40B4-BE49-F238E27FC236}">
                        <a16:creationId xmlns:a16="http://schemas.microsoft.com/office/drawing/2014/main" id="{DE2807BA-ECE0-4172-202B-FEAA6EB4857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754570" y="43794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9" name="Object 148">
            <a:extLst>
              <a:ext uri="{FF2B5EF4-FFF2-40B4-BE49-F238E27FC236}">
                <a16:creationId xmlns:a16="http://schemas.microsoft.com/office/drawing/2014/main" id="{445936DB-8471-6AEF-0AB3-20C3C283D0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761604" y="462256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9" name="Object 148">
                    <a:extLst>
                      <a:ext uri="{FF2B5EF4-FFF2-40B4-BE49-F238E27FC236}">
                        <a16:creationId xmlns:a16="http://schemas.microsoft.com/office/drawing/2014/main" id="{445936DB-8471-6AEF-0AB3-20C3C283D06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761604" y="462256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0" name="TextBox 149"/>
          <p:cNvSpPr txBox="1"/>
          <p:nvPr/>
        </p:nvSpPr>
        <p:spPr>
          <a:xfrm>
            <a:off x="10458094" y="3743538"/>
            <a:ext cx="127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 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62680" y="5723839"/>
            <a:ext cx="29177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Several</a:t>
            </a:r>
            <a:r>
              <a:rPr lang="fr-FR" sz="2800"/>
              <a:t> partitions</a:t>
            </a:r>
          </a:p>
          <a:p>
            <a:r>
              <a:rPr lang="fr-FR" sz="2800"/>
              <a:t>Per </a:t>
            </a:r>
            <a:r>
              <a:rPr lang="fr-FR" sz="2800"/>
              <a:t>spark-executor</a:t>
            </a:r>
            <a:endParaRPr lang="fr-FR" sz="28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77815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Optimize</a:t>
            </a:r>
            <a:r>
              <a:rPr lang="fr-FR"/>
              <a:t> </a:t>
            </a:r>
            <a:r>
              <a:rPr lang="fr-FR"/>
              <a:t>parallelism</a:t>
            </a:r>
            <a:r>
              <a:rPr lang="fr-FR"/>
              <a:t>: </a:t>
            </a:r>
            <a:br>
              <a:rPr lang="fr-FR"/>
            </a:br>
            <a:r>
              <a:rPr lang="fr-FR"/>
              <a:t>Adapt</a:t>
            </a:r>
            <a:r>
              <a:rPr lang="fr-FR"/>
              <a:t> partitions to </a:t>
            </a:r>
            <a:r>
              <a:rPr lang="fr-FR"/>
              <a:t>number</a:t>
            </a:r>
            <a:r>
              <a:rPr lang="fr-FR"/>
              <a:t> of </a:t>
            </a:r>
            <a:r>
              <a:rPr lang="fr-FR"/>
              <a:t>Cores</a:t>
            </a:r>
            <a:endParaRPr lang="fr-FR"/>
          </a:p>
        </p:txBody>
      </p:sp>
      <p:sp>
        <p:nvSpPr>
          <p:cNvPr id="34" name="Rectangle: Rounded Corners 33"/>
          <p:cNvSpPr/>
          <p:nvPr/>
        </p:nvSpPr>
        <p:spPr>
          <a:xfrm>
            <a:off x="1242099" y="1955116"/>
            <a:ext cx="3848062" cy="10787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A1B1FCB9-E24A-AE49-4F6A-CB019FEA4BB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93973" y="201621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A1B1FCB9-E24A-AE49-4F6A-CB019FEA4BB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493973" y="201621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113B41C0-ED22-B4BA-16DA-73CCD462D4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24311" y="215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113B41C0-ED22-B4BA-16DA-73CCD462D4D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724311" y="215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74AD9270-774A-5825-1147-2AB644E7D1C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24311" y="237782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74AD9270-774A-5825-1147-2AB644E7D1C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724311" y="237782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1227B26D-786E-4027-6893-ABEE70D0FF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31345" y="262088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1227B26D-786E-4027-6893-ABEE70D0FF1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731345" y="262088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6" name="Arrow: Right 25"/>
          <p:cNvSpPr/>
          <p:nvPr/>
        </p:nvSpPr>
        <p:spPr>
          <a:xfrm>
            <a:off x="2762606" y="2407714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7" name="Picture 26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19865" y="2237782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" name="Object 35">
            <a:extLst>
              <a:ext uri="{FF2B5EF4-FFF2-40B4-BE49-F238E27FC236}">
                <a16:creationId xmlns:a16="http://schemas.microsoft.com/office/drawing/2014/main" id="{8EEBFBFC-BEB3-94E3-CED0-7672513DEF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2239" y="201621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36" name="Object 35">
                    <a:extLst>
                      <a:ext uri="{FF2B5EF4-FFF2-40B4-BE49-F238E27FC236}">
                        <a16:creationId xmlns:a16="http://schemas.microsoft.com/office/drawing/2014/main" id="{8EEBFBFC-BEB3-94E3-CED0-7672513DEF7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72239" y="201621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" name="Object 36">
            <a:extLst>
              <a:ext uri="{FF2B5EF4-FFF2-40B4-BE49-F238E27FC236}">
                <a16:creationId xmlns:a16="http://schemas.microsoft.com/office/drawing/2014/main" id="{03EC4754-EDB4-5F62-4658-4E9823E648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02577" y="215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7" name="Object 36">
                    <a:extLst>
                      <a:ext uri="{FF2B5EF4-FFF2-40B4-BE49-F238E27FC236}">
                        <a16:creationId xmlns:a16="http://schemas.microsoft.com/office/drawing/2014/main" id="{03EC4754-EDB4-5F62-4658-4E9823E6482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4002577" y="215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" name="Object 37">
            <a:extLst>
              <a:ext uri="{FF2B5EF4-FFF2-40B4-BE49-F238E27FC236}">
                <a16:creationId xmlns:a16="http://schemas.microsoft.com/office/drawing/2014/main" id="{DF7ACE04-07F5-F706-E1AC-737917EF03F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02577" y="237782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8" name="Object 37">
                    <a:extLst>
                      <a:ext uri="{FF2B5EF4-FFF2-40B4-BE49-F238E27FC236}">
                        <a16:creationId xmlns:a16="http://schemas.microsoft.com/office/drawing/2014/main" id="{DF7ACE04-07F5-F706-E1AC-737917EF03F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4002577" y="237782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" name="Object 38">
            <a:extLst>
              <a:ext uri="{FF2B5EF4-FFF2-40B4-BE49-F238E27FC236}">
                <a16:creationId xmlns:a16="http://schemas.microsoft.com/office/drawing/2014/main" id="{4C94F87D-0976-B2B9-6926-8D01F2B7E8E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009611" y="262088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9" name="Object 38">
                    <a:extLst>
                      <a:ext uri="{FF2B5EF4-FFF2-40B4-BE49-F238E27FC236}">
                        <a16:creationId xmlns:a16="http://schemas.microsoft.com/office/drawing/2014/main" id="{4C94F87D-0976-B2B9-6926-8D01F2B7E8E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4009611" y="262088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376846" y="1621618"/>
            <a:ext cx="378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Spark-</a:t>
            </a:r>
            <a:r>
              <a:rPr lang="fr-FR"/>
              <a:t>executor</a:t>
            </a:r>
            <a:r>
              <a:rPr lang="fr-FR"/>
              <a:t>:  1 partition &lt;&lt; N </a:t>
            </a:r>
            <a:r>
              <a:rPr lang="fr-FR"/>
              <a:t>cores</a:t>
            </a:r>
            <a:endParaRPr lang="fr-FR"/>
          </a:p>
        </p:txBody>
      </p:sp>
      <p:sp>
        <p:nvSpPr>
          <p:cNvPr id="42" name="Rectangle: Rounded Corners 41"/>
          <p:cNvSpPr/>
          <p:nvPr/>
        </p:nvSpPr>
        <p:spPr>
          <a:xfrm>
            <a:off x="1191617" y="4700901"/>
            <a:ext cx="3848062" cy="200435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" name="Object 42">
            <a:extLst>
              <a:ext uri="{FF2B5EF4-FFF2-40B4-BE49-F238E27FC236}">
                <a16:creationId xmlns:a16="http://schemas.microsoft.com/office/drawing/2014/main" id="{03136892-0F9E-4962-D2EB-1D0AE58A9D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43491" y="4761998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3" name="Object 42">
                    <a:extLst>
                      <a:ext uri="{FF2B5EF4-FFF2-40B4-BE49-F238E27FC236}">
                        <a16:creationId xmlns:a16="http://schemas.microsoft.com/office/drawing/2014/main" id="{03136892-0F9E-4962-D2EB-1D0AE58A9D6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443491" y="4761998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4" name="Object 43">
            <a:extLst>
              <a:ext uri="{FF2B5EF4-FFF2-40B4-BE49-F238E27FC236}">
                <a16:creationId xmlns:a16="http://schemas.microsoft.com/office/drawing/2014/main" id="{44677C95-7716-590C-6B48-B44422C640B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3829" y="490445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44" name="Object 43">
                    <a:extLst>
                      <a:ext uri="{FF2B5EF4-FFF2-40B4-BE49-F238E27FC236}">
                        <a16:creationId xmlns:a16="http://schemas.microsoft.com/office/drawing/2014/main" id="{44677C95-7716-590C-6B48-B44422C640B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73829" y="490445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" name="Object 44">
            <a:extLst>
              <a:ext uri="{FF2B5EF4-FFF2-40B4-BE49-F238E27FC236}">
                <a16:creationId xmlns:a16="http://schemas.microsoft.com/office/drawing/2014/main" id="{AEB3B7AE-1339-D020-147F-B70FAD298E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3829" y="512361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45" name="Object 44">
                    <a:extLst>
                      <a:ext uri="{FF2B5EF4-FFF2-40B4-BE49-F238E27FC236}">
                        <a16:creationId xmlns:a16="http://schemas.microsoft.com/office/drawing/2014/main" id="{AEB3B7AE-1339-D020-147F-B70FAD298ED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73829" y="512361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" name="Object 45">
            <a:extLst>
              <a:ext uri="{FF2B5EF4-FFF2-40B4-BE49-F238E27FC236}">
                <a16:creationId xmlns:a16="http://schemas.microsoft.com/office/drawing/2014/main" id="{2B7FD10C-DC4B-CF7A-CC04-EECD0073169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0863" y="536667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46" name="Object 45">
                    <a:extLst>
                      <a:ext uri="{FF2B5EF4-FFF2-40B4-BE49-F238E27FC236}">
                        <a16:creationId xmlns:a16="http://schemas.microsoft.com/office/drawing/2014/main" id="{2B7FD10C-DC4B-CF7A-CC04-EECD0073169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80863" y="536667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7" name="Arrow: Right 46"/>
          <p:cNvSpPr/>
          <p:nvPr/>
        </p:nvSpPr>
        <p:spPr>
          <a:xfrm>
            <a:off x="2712124" y="5153500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8" name="Picture 47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869383" y="4983568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" name="Object 48">
            <a:extLst>
              <a:ext uri="{FF2B5EF4-FFF2-40B4-BE49-F238E27FC236}">
                <a16:creationId xmlns:a16="http://schemas.microsoft.com/office/drawing/2014/main" id="{DD2F7397-8897-4608-84F5-C0D66731DB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21757" y="4761998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9" name="Object 48">
                    <a:extLst>
                      <a:ext uri="{FF2B5EF4-FFF2-40B4-BE49-F238E27FC236}">
                        <a16:creationId xmlns:a16="http://schemas.microsoft.com/office/drawing/2014/main" id="{DD2F7397-8897-4608-84F5-C0D66731DBF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21757" y="4761998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" name="Object 49">
            <a:extLst>
              <a:ext uri="{FF2B5EF4-FFF2-40B4-BE49-F238E27FC236}">
                <a16:creationId xmlns:a16="http://schemas.microsoft.com/office/drawing/2014/main" id="{15A42233-1F8D-8876-0984-FFBAC2DA5EF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2095" y="490445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0" name="Object 49">
                    <a:extLst>
                      <a:ext uri="{FF2B5EF4-FFF2-40B4-BE49-F238E27FC236}">
                        <a16:creationId xmlns:a16="http://schemas.microsoft.com/office/drawing/2014/main" id="{15A42233-1F8D-8876-0984-FFBAC2DA5EF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2095" y="490445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" name="Object 50">
            <a:extLst>
              <a:ext uri="{FF2B5EF4-FFF2-40B4-BE49-F238E27FC236}">
                <a16:creationId xmlns:a16="http://schemas.microsoft.com/office/drawing/2014/main" id="{0D8DA929-B358-923B-B0D2-349F5E024C1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2095" y="512361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1" name="Object 50">
                    <a:extLst>
                      <a:ext uri="{FF2B5EF4-FFF2-40B4-BE49-F238E27FC236}">
                        <a16:creationId xmlns:a16="http://schemas.microsoft.com/office/drawing/2014/main" id="{0D8DA929-B358-923B-B0D2-349F5E024C1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2095" y="512361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2" name="Object 51">
            <a:extLst>
              <a:ext uri="{FF2B5EF4-FFF2-40B4-BE49-F238E27FC236}">
                <a16:creationId xmlns:a16="http://schemas.microsoft.com/office/drawing/2014/main" id="{7D809001-6DD2-2C86-7704-118154E045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9129" y="536667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2" name="Object 51">
                    <a:extLst>
                      <a:ext uri="{FF2B5EF4-FFF2-40B4-BE49-F238E27FC236}">
                        <a16:creationId xmlns:a16="http://schemas.microsoft.com/office/drawing/2014/main" id="{7D809001-6DD2-2C86-7704-118154E0454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9129" y="536667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1326364" y="4367404"/>
            <a:ext cx="3774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r>
              <a:rPr lang="fr-FR"/>
              <a:t>: N partitions ~ N </a:t>
            </a:r>
            <a:r>
              <a:rPr lang="fr-FR"/>
              <a:t>cores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" name="Object 53">
            <a:extLst>
              <a:ext uri="{FF2B5EF4-FFF2-40B4-BE49-F238E27FC236}">
                <a16:creationId xmlns:a16="http://schemas.microsoft.com/office/drawing/2014/main" id="{20CDCE83-1C58-F416-901B-F61A5825074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43491" y="573321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4" name="Object 53">
                    <a:extLst>
                      <a:ext uri="{FF2B5EF4-FFF2-40B4-BE49-F238E27FC236}">
                        <a16:creationId xmlns:a16="http://schemas.microsoft.com/office/drawing/2014/main" id="{20CDCE83-1C58-F416-901B-F61A5825074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443491" y="573321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5" name="Object 54">
            <a:extLst>
              <a:ext uri="{FF2B5EF4-FFF2-40B4-BE49-F238E27FC236}">
                <a16:creationId xmlns:a16="http://schemas.microsoft.com/office/drawing/2014/main" id="{075BCF1F-8BA2-EF09-33EE-8265BA77882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3829" y="587567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5" name="Object 54">
                    <a:extLst>
                      <a:ext uri="{FF2B5EF4-FFF2-40B4-BE49-F238E27FC236}">
                        <a16:creationId xmlns:a16="http://schemas.microsoft.com/office/drawing/2014/main" id="{075BCF1F-8BA2-EF09-33EE-8265BA77882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73829" y="587567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" name="Object 55">
            <a:extLst>
              <a:ext uri="{FF2B5EF4-FFF2-40B4-BE49-F238E27FC236}">
                <a16:creationId xmlns:a16="http://schemas.microsoft.com/office/drawing/2014/main" id="{BAD22D1D-616F-EB8A-D1B9-3C834E933CD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73829" y="609482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6" name="Object 55">
                    <a:extLst>
                      <a:ext uri="{FF2B5EF4-FFF2-40B4-BE49-F238E27FC236}">
                        <a16:creationId xmlns:a16="http://schemas.microsoft.com/office/drawing/2014/main" id="{BAD22D1D-616F-EB8A-D1B9-3C834E933CD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73829" y="609482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" name="Object 56">
            <a:extLst>
              <a:ext uri="{FF2B5EF4-FFF2-40B4-BE49-F238E27FC236}">
                <a16:creationId xmlns:a16="http://schemas.microsoft.com/office/drawing/2014/main" id="{35A1A810-2588-F957-A1CA-F582AB12987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80863" y="633789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7" name="Object 56">
                    <a:extLst>
                      <a:ext uri="{FF2B5EF4-FFF2-40B4-BE49-F238E27FC236}">
                        <a16:creationId xmlns:a16="http://schemas.microsoft.com/office/drawing/2014/main" id="{35A1A810-2588-F957-A1CA-F582AB12987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80863" y="633789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8" name="Arrow: Right 57"/>
          <p:cNvSpPr/>
          <p:nvPr/>
        </p:nvSpPr>
        <p:spPr>
          <a:xfrm>
            <a:off x="2712124" y="6124715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9" name="Picture 58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869383" y="5954783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0" name="Object 59">
            <a:extLst>
              <a:ext uri="{FF2B5EF4-FFF2-40B4-BE49-F238E27FC236}">
                <a16:creationId xmlns:a16="http://schemas.microsoft.com/office/drawing/2014/main" id="{4D68212E-B01F-AEE0-30AE-9CBBFD1607E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21757" y="5733213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60" name="Object 59">
                    <a:extLst>
                      <a:ext uri="{FF2B5EF4-FFF2-40B4-BE49-F238E27FC236}">
                        <a16:creationId xmlns:a16="http://schemas.microsoft.com/office/drawing/2014/main" id="{4D68212E-B01F-AEE0-30AE-9CBBFD1607E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21757" y="5733213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" name="Object 60">
            <a:extLst>
              <a:ext uri="{FF2B5EF4-FFF2-40B4-BE49-F238E27FC236}">
                <a16:creationId xmlns:a16="http://schemas.microsoft.com/office/drawing/2014/main" id="{7E74A659-3AC2-B100-4696-93B6098D6E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2095" y="587567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1" name="Object 60">
                    <a:extLst>
                      <a:ext uri="{FF2B5EF4-FFF2-40B4-BE49-F238E27FC236}">
                        <a16:creationId xmlns:a16="http://schemas.microsoft.com/office/drawing/2014/main" id="{7E74A659-3AC2-B100-4696-93B6098D6E6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2095" y="587567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2" name="Object 61">
            <a:extLst>
              <a:ext uri="{FF2B5EF4-FFF2-40B4-BE49-F238E27FC236}">
                <a16:creationId xmlns:a16="http://schemas.microsoft.com/office/drawing/2014/main" id="{268C6446-95D1-D6FC-DDAB-65E6EEB4842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2095" y="609482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2" name="Object 61">
                    <a:extLst>
                      <a:ext uri="{FF2B5EF4-FFF2-40B4-BE49-F238E27FC236}">
                        <a16:creationId xmlns:a16="http://schemas.microsoft.com/office/drawing/2014/main" id="{268C6446-95D1-D6FC-DDAB-65E6EEB4842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2095" y="609482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" name="Object 62">
            <a:extLst>
              <a:ext uri="{FF2B5EF4-FFF2-40B4-BE49-F238E27FC236}">
                <a16:creationId xmlns:a16="http://schemas.microsoft.com/office/drawing/2014/main" id="{3F36C7F8-1CBB-8F54-560D-0CFF3F381C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9129" y="633789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3" name="Object 62">
                    <a:extLst>
                      <a:ext uri="{FF2B5EF4-FFF2-40B4-BE49-F238E27FC236}">
                        <a16:creationId xmlns:a16="http://schemas.microsoft.com/office/drawing/2014/main" id="{3F36C7F8-1CBB-8F54-560D-0CFF3F381C4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959129" y="633789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7" name="Rectangle: Rounded Corners 66"/>
          <p:cNvSpPr/>
          <p:nvPr/>
        </p:nvSpPr>
        <p:spPr>
          <a:xfrm>
            <a:off x="7082960" y="3104479"/>
            <a:ext cx="4509595" cy="313884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8" name="Object 67">
            <a:extLst>
              <a:ext uri="{FF2B5EF4-FFF2-40B4-BE49-F238E27FC236}">
                <a16:creationId xmlns:a16="http://schemas.microsoft.com/office/drawing/2014/main" id="{4882CF32-C35D-EC42-790A-93FD3DA1BCC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835" y="3165577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68" name="Object 67">
                    <a:extLst>
                      <a:ext uri="{FF2B5EF4-FFF2-40B4-BE49-F238E27FC236}">
                        <a16:creationId xmlns:a16="http://schemas.microsoft.com/office/drawing/2014/main" id="{4882CF32-C35D-EC42-790A-93FD3DA1BCC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334835" y="3165577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" name="Object 68">
            <a:extLst>
              <a:ext uri="{FF2B5EF4-FFF2-40B4-BE49-F238E27FC236}">
                <a16:creationId xmlns:a16="http://schemas.microsoft.com/office/drawing/2014/main" id="{53B77C13-B183-DD31-C37D-6656AE85E0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65173" y="330803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69" name="Object 68">
                    <a:extLst>
                      <a:ext uri="{FF2B5EF4-FFF2-40B4-BE49-F238E27FC236}">
                        <a16:creationId xmlns:a16="http://schemas.microsoft.com/office/drawing/2014/main" id="{53B77C13-B183-DD31-C37D-6656AE85E0D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65173" y="330803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" name="Object 69">
            <a:extLst>
              <a:ext uri="{FF2B5EF4-FFF2-40B4-BE49-F238E27FC236}">
                <a16:creationId xmlns:a16="http://schemas.microsoft.com/office/drawing/2014/main" id="{33FB7FDD-ACC5-574A-1009-A1CF2805FEF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65173" y="352719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0" name="Object 69">
                    <a:extLst>
                      <a:ext uri="{FF2B5EF4-FFF2-40B4-BE49-F238E27FC236}">
                        <a16:creationId xmlns:a16="http://schemas.microsoft.com/office/drawing/2014/main" id="{33FB7FDD-ACC5-574A-1009-A1CF2805FEF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65173" y="352719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1" name="Object 70">
            <a:extLst>
              <a:ext uri="{FF2B5EF4-FFF2-40B4-BE49-F238E27FC236}">
                <a16:creationId xmlns:a16="http://schemas.microsoft.com/office/drawing/2014/main" id="{7C21B8FB-6586-40CF-347E-F195E6674CA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72207" y="377025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1" name="Object 70">
                    <a:extLst>
                      <a:ext uri="{FF2B5EF4-FFF2-40B4-BE49-F238E27FC236}">
                        <a16:creationId xmlns:a16="http://schemas.microsoft.com/office/drawing/2014/main" id="{7C21B8FB-6586-40CF-347E-F195E6674CA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2207" y="377025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2" name="Arrow: Right 71"/>
          <p:cNvSpPr/>
          <p:nvPr/>
        </p:nvSpPr>
        <p:spPr>
          <a:xfrm>
            <a:off x="8603468" y="3557079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3" name="Picture 72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760727" y="3387147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" name="Object 73">
            <a:extLst>
              <a:ext uri="{FF2B5EF4-FFF2-40B4-BE49-F238E27FC236}">
                <a16:creationId xmlns:a16="http://schemas.microsoft.com/office/drawing/2014/main" id="{C2301E09-9F3E-348C-B87F-161490BDC3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613101" y="3165577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4" name="Object 73">
                    <a:extLst>
                      <a:ext uri="{FF2B5EF4-FFF2-40B4-BE49-F238E27FC236}">
                        <a16:creationId xmlns:a16="http://schemas.microsoft.com/office/drawing/2014/main" id="{C2301E09-9F3E-348C-B87F-161490BDC3D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613101" y="3165577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" name="Object 74">
            <a:extLst>
              <a:ext uri="{FF2B5EF4-FFF2-40B4-BE49-F238E27FC236}">
                <a16:creationId xmlns:a16="http://schemas.microsoft.com/office/drawing/2014/main" id="{8D4EFD97-4C2E-34B7-008E-3DCDCCE583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3439" y="330803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5" name="Object 74">
                    <a:extLst>
                      <a:ext uri="{FF2B5EF4-FFF2-40B4-BE49-F238E27FC236}">
                        <a16:creationId xmlns:a16="http://schemas.microsoft.com/office/drawing/2014/main" id="{8D4EFD97-4C2E-34B7-008E-3DCDCCE5837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43439" y="330803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" name="Object 75">
            <a:extLst>
              <a:ext uri="{FF2B5EF4-FFF2-40B4-BE49-F238E27FC236}">
                <a16:creationId xmlns:a16="http://schemas.microsoft.com/office/drawing/2014/main" id="{D3A21008-D433-16A4-D7D6-D837307F1EC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3439" y="352719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6" name="Object 75">
                    <a:extLst>
                      <a:ext uri="{FF2B5EF4-FFF2-40B4-BE49-F238E27FC236}">
                        <a16:creationId xmlns:a16="http://schemas.microsoft.com/office/drawing/2014/main" id="{D3A21008-D433-16A4-D7D6-D837307F1EC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43439" y="352719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" name="Object 76">
            <a:extLst>
              <a:ext uri="{FF2B5EF4-FFF2-40B4-BE49-F238E27FC236}">
                <a16:creationId xmlns:a16="http://schemas.microsoft.com/office/drawing/2014/main" id="{5D96B77B-64A1-5711-A43E-82583D96B96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50473" y="3770254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77" name="Object 76">
                    <a:extLst>
                      <a:ext uri="{FF2B5EF4-FFF2-40B4-BE49-F238E27FC236}">
                        <a16:creationId xmlns:a16="http://schemas.microsoft.com/office/drawing/2014/main" id="{5D96B77B-64A1-5711-A43E-82583D96B96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50473" y="3770254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7217708" y="2770983"/>
            <a:ext cx="4086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executor</a:t>
            </a:r>
            <a:r>
              <a:rPr lang="fr-FR"/>
              <a:t>: N partitions &gt;&gt;  few </a:t>
            </a:r>
            <a:r>
              <a:rPr lang="fr-FR"/>
              <a:t>cores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" name="Object 78">
            <a:extLst>
              <a:ext uri="{FF2B5EF4-FFF2-40B4-BE49-F238E27FC236}">
                <a16:creationId xmlns:a16="http://schemas.microsoft.com/office/drawing/2014/main" id="{DA65AB5C-E2B8-8CE5-2C33-54962248B5B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34835" y="4136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9" name="Object 78">
                    <a:extLst>
                      <a:ext uri="{FF2B5EF4-FFF2-40B4-BE49-F238E27FC236}">
                        <a16:creationId xmlns:a16="http://schemas.microsoft.com/office/drawing/2014/main" id="{DA65AB5C-E2B8-8CE5-2C33-54962248B5B7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334835" y="4136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0" name="Object 79">
            <a:extLst>
              <a:ext uri="{FF2B5EF4-FFF2-40B4-BE49-F238E27FC236}">
                <a16:creationId xmlns:a16="http://schemas.microsoft.com/office/drawing/2014/main" id="{34C01630-63C1-2D9C-3A2F-4966EC26133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65173" y="4279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0" name="Object 79">
                    <a:extLst>
                      <a:ext uri="{FF2B5EF4-FFF2-40B4-BE49-F238E27FC236}">
                        <a16:creationId xmlns:a16="http://schemas.microsoft.com/office/drawing/2014/main" id="{34C01630-63C1-2D9C-3A2F-4966EC26133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65173" y="4279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" name="Object 80">
            <a:extLst>
              <a:ext uri="{FF2B5EF4-FFF2-40B4-BE49-F238E27FC236}">
                <a16:creationId xmlns:a16="http://schemas.microsoft.com/office/drawing/2014/main" id="{8B23F6E6-5A13-9C74-8C3B-3F4C1601A9F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65173" y="4498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1" name="Object 80">
                    <a:extLst>
                      <a:ext uri="{FF2B5EF4-FFF2-40B4-BE49-F238E27FC236}">
                        <a16:creationId xmlns:a16="http://schemas.microsoft.com/office/drawing/2014/main" id="{8B23F6E6-5A13-9C74-8C3B-3F4C1601A9F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65173" y="4498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" name="Object 81">
            <a:extLst>
              <a:ext uri="{FF2B5EF4-FFF2-40B4-BE49-F238E27FC236}">
                <a16:creationId xmlns:a16="http://schemas.microsoft.com/office/drawing/2014/main" id="{D38526AE-BB76-5F5C-CF1D-7FF13605547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72207" y="4741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2" name="Object 81">
                    <a:extLst>
                      <a:ext uri="{FF2B5EF4-FFF2-40B4-BE49-F238E27FC236}">
                        <a16:creationId xmlns:a16="http://schemas.microsoft.com/office/drawing/2014/main" id="{D38526AE-BB76-5F5C-CF1D-7FF13605547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572207" y="4741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3" name="Arrow: Right 82"/>
          <p:cNvSpPr/>
          <p:nvPr/>
        </p:nvSpPr>
        <p:spPr>
          <a:xfrm>
            <a:off x="8603468" y="4528294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4" name="Picture 83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760727" y="4358362"/>
            <a:ext cx="505279" cy="505279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5" name="Object 84">
            <a:extLst>
              <a:ext uri="{FF2B5EF4-FFF2-40B4-BE49-F238E27FC236}">
                <a16:creationId xmlns:a16="http://schemas.microsoft.com/office/drawing/2014/main" id="{D6345E4C-A2F6-24E0-CD71-456AFA8F66E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613101" y="4136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5" name="Object 84">
                    <a:extLst>
                      <a:ext uri="{FF2B5EF4-FFF2-40B4-BE49-F238E27FC236}">
                        <a16:creationId xmlns:a16="http://schemas.microsoft.com/office/drawing/2014/main" id="{D6345E4C-A2F6-24E0-CD71-456AFA8F66E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613101" y="4136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" name="Object 85">
            <a:extLst>
              <a:ext uri="{FF2B5EF4-FFF2-40B4-BE49-F238E27FC236}">
                <a16:creationId xmlns:a16="http://schemas.microsoft.com/office/drawing/2014/main" id="{6515DFA6-226F-67C6-A1F4-CD359E63EB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3439" y="4279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6" name="Object 85">
                    <a:extLst>
                      <a:ext uri="{FF2B5EF4-FFF2-40B4-BE49-F238E27FC236}">
                        <a16:creationId xmlns:a16="http://schemas.microsoft.com/office/drawing/2014/main" id="{6515DFA6-226F-67C6-A1F4-CD359E63EB4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43439" y="4279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7" name="Object 86">
            <a:extLst>
              <a:ext uri="{FF2B5EF4-FFF2-40B4-BE49-F238E27FC236}">
                <a16:creationId xmlns:a16="http://schemas.microsoft.com/office/drawing/2014/main" id="{2D995612-65F8-BC48-4B27-7F922F8D5B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3439" y="4498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7" name="Object 86">
                    <a:extLst>
                      <a:ext uri="{FF2B5EF4-FFF2-40B4-BE49-F238E27FC236}">
                        <a16:creationId xmlns:a16="http://schemas.microsoft.com/office/drawing/2014/main" id="{2D995612-65F8-BC48-4B27-7F922F8D5B4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43439" y="4498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" name="Object 87">
            <a:extLst>
              <a:ext uri="{FF2B5EF4-FFF2-40B4-BE49-F238E27FC236}">
                <a16:creationId xmlns:a16="http://schemas.microsoft.com/office/drawing/2014/main" id="{E5EA0E40-BB60-7BE6-FCCC-3EA48C59D52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50473" y="4741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88" name="Object 87">
                    <a:extLst>
                      <a:ext uri="{FF2B5EF4-FFF2-40B4-BE49-F238E27FC236}">
                        <a16:creationId xmlns:a16="http://schemas.microsoft.com/office/drawing/2014/main" id="{E5EA0E40-BB60-7BE6-FCCC-3EA48C59D52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850473" y="4741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" name="Object 88">
            <a:extLst>
              <a:ext uri="{FF2B5EF4-FFF2-40B4-BE49-F238E27FC236}">
                <a16:creationId xmlns:a16="http://schemas.microsoft.com/office/drawing/2014/main" id="{E3583797-4C87-1C4A-87E2-339DD164A96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87235" y="42891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9" name="Object 88">
                    <a:extLst>
                      <a:ext uri="{FF2B5EF4-FFF2-40B4-BE49-F238E27FC236}">
                        <a16:creationId xmlns:a16="http://schemas.microsoft.com/office/drawing/2014/main" id="{E3583797-4C87-1C4A-87E2-339DD164A96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487235" y="42891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" name="Object 89">
            <a:extLst>
              <a:ext uri="{FF2B5EF4-FFF2-40B4-BE49-F238E27FC236}">
                <a16:creationId xmlns:a16="http://schemas.microsoft.com/office/drawing/2014/main" id="{1E350B34-77BD-1D83-6436-61B2F168E6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7573" y="44316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0" name="Object 89">
                    <a:extLst>
                      <a:ext uri="{FF2B5EF4-FFF2-40B4-BE49-F238E27FC236}">
                        <a16:creationId xmlns:a16="http://schemas.microsoft.com/office/drawing/2014/main" id="{1E350B34-77BD-1D83-6436-61B2F168E681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717573" y="44316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" name="Object 90">
            <a:extLst>
              <a:ext uri="{FF2B5EF4-FFF2-40B4-BE49-F238E27FC236}">
                <a16:creationId xmlns:a16="http://schemas.microsoft.com/office/drawing/2014/main" id="{D2A358CD-DDDA-D044-BF6D-A571CE3EBD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17573" y="46508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1" name="Object 90">
                    <a:extLst>
                      <a:ext uri="{FF2B5EF4-FFF2-40B4-BE49-F238E27FC236}">
                        <a16:creationId xmlns:a16="http://schemas.microsoft.com/office/drawing/2014/main" id="{D2A358CD-DDDA-D044-BF6D-A571CE3EBD3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717573" y="46508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2" name="Object 91">
            <a:extLst>
              <a:ext uri="{FF2B5EF4-FFF2-40B4-BE49-F238E27FC236}">
                <a16:creationId xmlns:a16="http://schemas.microsoft.com/office/drawing/2014/main" id="{653539FE-FE5F-4EE5-F351-0AB141873A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24607" y="48938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2" name="Object 91">
                    <a:extLst>
                      <a:ext uri="{FF2B5EF4-FFF2-40B4-BE49-F238E27FC236}">
                        <a16:creationId xmlns:a16="http://schemas.microsoft.com/office/drawing/2014/main" id="{653539FE-FE5F-4EE5-F351-0AB141873A1B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724607" y="48938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3" name="Object 92">
            <a:extLst>
              <a:ext uri="{FF2B5EF4-FFF2-40B4-BE49-F238E27FC236}">
                <a16:creationId xmlns:a16="http://schemas.microsoft.com/office/drawing/2014/main" id="{83963EFD-2084-91CF-A9C1-F555008507F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639635" y="44415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93" name="Object 92">
                    <a:extLst>
                      <a:ext uri="{FF2B5EF4-FFF2-40B4-BE49-F238E27FC236}">
                        <a16:creationId xmlns:a16="http://schemas.microsoft.com/office/drawing/2014/main" id="{83963EFD-2084-91CF-A9C1-F555008507F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639635" y="44415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4" name="Object 93">
            <a:extLst>
              <a:ext uri="{FF2B5EF4-FFF2-40B4-BE49-F238E27FC236}">
                <a16:creationId xmlns:a16="http://schemas.microsoft.com/office/drawing/2014/main" id="{21CA15BC-16A8-B2EB-0519-46344F36915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69973" y="45840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4" name="Object 93">
                    <a:extLst>
                      <a:ext uri="{FF2B5EF4-FFF2-40B4-BE49-F238E27FC236}">
                        <a16:creationId xmlns:a16="http://schemas.microsoft.com/office/drawing/2014/main" id="{21CA15BC-16A8-B2EB-0519-46344F36915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869973" y="45840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5" name="Object 94">
            <a:extLst>
              <a:ext uri="{FF2B5EF4-FFF2-40B4-BE49-F238E27FC236}">
                <a16:creationId xmlns:a16="http://schemas.microsoft.com/office/drawing/2014/main" id="{08B3FCC5-6D60-FD3E-57B2-B6005FB031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69973" y="48032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5" name="Object 94">
                    <a:extLst>
                      <a:ext uri="{FF2B5EF4-FFF2-40B4-BE49-F238E27FC236}">
                        <a16:creationId xmlns:a16="http://schemas.microsoft.com/office/drawing/2014/main" id="{08B3FCC5-6D60-FD3E-57B2-B6005FB031D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869973" y="48032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6" name="Object 95">
            <a:extLst>
              <a:ext uri="{FF2B5EF4-FFF2-40B4-BE49-F238E27FC236}">
                <a16:creationId xmlns:a16="http://schemas.microsoft.com/office/drawing/2014/main" id="{DB10B082-BCFC-6ECB-25CC-085042D172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877007" y="50462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6" name="Object 95">
                    <a:extLst>
                      <a:ext uri="{FF2B5EF4-FFF2-40B4-BE49-F238E27FC236}">
                        <a16:creationId xmlns:a16="http://schemas.microsoft.com/office/drawing/2014/main" id="{DB10B082-BCFC-6ECB-25CC-085042D172B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877007" y="50462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" name="Object 96">
            <a:extLst>
              <a:ext uri="{FF2B5EF4-FFF2-40B4-BE49-F238E27FC236}">
                <a16:creationId xmlns:a16="http://schemas.microsoft.com/office/drawing/2014/main" id="{56B94963-5BA2-2475-524C-FD2ADE5798C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792035" y="45939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97" name="Object 96">
                    <a:extLst>
                      <a:ext uri="{FF2B5EF4-FFF2-40B4-BE49-F238E27FC236}">
                        <a16:creationId xmlns:a16="http://schemas.microsoft.com/office/drawing/2014/main" id="{56B94963-5BA2-2475-524C-FD2ADE5798C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792035" y="45939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8" name="Object 97">
            <a:extLst>
              <a:ext uri="{FF2B5EF4-FFF2-40B4-BE49-F238E27FC236}">
                <a16:creationId xmlns:a16="http://schemas.microsoft.com/office/drawing/2014/main" id="{3D22232D-1BBB-47E7-F258-D58FD8126E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22373" y="47364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8" name="Object 97">
                    <a:extLst>
                      <a:ext uri="{FF2B5EF4-FFF2-40B4-BE49-F238E27FC236}">
                        <a16:creationId xmlns:a16="http://schemas.microsoft.com/office/drawing/2014/main" id="{3D22232D-1BBB-47E7-F258-D58FD8126E0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22373" y="47364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9" name="Object 98">
            <a:extLst>
              <a:ext uri="{FF2B5EF4-FFF2-40B4-BE49-F238E27FC236}">
                <a16:creationId xmlns:a16="http://schemas.microsoft.com/office/drawing/2014/main" id="{32AC2BE1-51AF-9CC6-C24F-B99C23E5BFE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22373" y="49556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99" name="Object 98">
                    <a:extLst>
                      <a:ext uri="{FF2B5EF4-FFF2-40B4-BE49-F238E27FC236}">
                        <a16:creationId xmlns:a16="http://schemas.microsoft.com/office/drawing/2014/main" id="{32AC2BE1-51AF-9CC6-C24F-B99C23E5BFE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22373" y="49556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0" name="Object 99">
            <a:extLst>
              <a:ext uri="{FF2B5EF4-FFF2-40B4-BE49-F238E27FC236}">
                <a16:creationId xmlns:a16="http://schemas.microsoft.com/office/drawing/2014/main" id="{E1BC3F6D-5559-FCD8-41B2-5815CE403A0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29407" y="519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0" name="Object 99">
                    <a:extLst>
                      <a:ext uri="{FF2B5EF4-FFF2-40B4-BE49-F238E27FC236}">
                        <a16:creationId xmlns:a16="http://schemas.microsoft.com/office/drawing/2014/main" id="{E1BC3F6D-5559-FCD8-41B2-5815CE403A0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29407" y="519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1" name="Object 100">
            <a:extLst>
              <a:ext uri="{FF2B5EF4-FFF2-40B4-BE49-F238E27FC236}">
                <a16:creationId xmlns:a16="http://schemas.microsoft.com/office/drawing/2014/main" id="{9CAAEBEA-CD42-DC51-7CF3-F020B87581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944435" y="47463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1" name="Object 100">
                    <a:extLst>
                      <a:ext uri="{FF2B5EF4-FFF2-40B4-BE49-F238E27FC236}">
                        <a16:creationId xmlns:a16="http://schemas.microsoft.com/office/drawing/2014/main" id="{9CAAEBEA-CD42-DC51-7CF3-F020B87581C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7944435" y="47463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2" name="Object 101">
            <a:extLst>
              <a:ext uri="{FF2B5EF4-FFF2-40B4-BE49-F238E27FC236}">
                <a16:creationId xmlns:a16="http://schemas.microsoft.com/office/drawing/2014/main" id="{38E6510F-8DDD-972C-A237-5E6EC9F38C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174773" y="48888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2" name="Object 101">
                    <a:extLst>
                      <a:ext uri="{FF2B5EF4-FFF2-40B4-BE49-F238E27FC236}">
                        <a16:creationId xmlns:a16="http://schemas.microsoft.com/office/drawing/2014/main" id="{38E6510F-8DDD-972C-A237-5E6EC9F38C4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174773" y="48888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3" name="Object 102">
            <a:extLst>
              <a:ext uri="{FF2B5EF4-FFF2-40B4-BE49-F238E27FC236}">
                <a16:creationId xmlns:a16="http://schemas.microsoft.com/office/drawing/2014/main" id="{C2D16A2F-50EA-BF61-6CB4-8D34E8FF56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174773" y="51080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3" name="Object 102">
                    <a:extLst>
                      <a:ext uri="{FF2B5EF4-FFF2-40B4-BE49-F238E27FC236}">
                        <a16:creationId xmlns:a16="http://schemas.microsoft.com/office/drawing/2014/main" id="{C2D16A2F-50EA-BF61-6CB4-8D34E8FF56C9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174773" y="51080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4" name="Object 103">
            <a:extLst>
              <a:ext uri="{FF2B5EF4-FFF2-40B4-BE49-F238E27FC236}">
                <a16:creationId xmlns:a16="http://schemas.microsoft.com/office/drawing/2014/main" id="{FD0C3141-3A45-3E12-1E8E-392D2FFA9BE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181807" y="53510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4" name="Object 103">
                    <a:extLst>
                      <a:ext uri="{FF2B5EF4-FFF2-40B4-BE49-F238E27FC236}">
                        <a16:creationId xmlns:a16="http://schemas.microsoft.com/office/drawing/2014/main" id="{FD0C3141-3A45-3E12-1E8E-392D2FFA9BE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181807" y="53510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5" name="Object 104">
            <a:extLst>
              <a:ext uri="{FF2B5EF4-FFF2-40B4-BE49-F238E27FC236}">
                <a16:creationId xmlns:a16="http://schemas.microsoft.com/office/drawing/2014/main" id="{CEA39A9A-19B4-0C0B-C12F-AAB267F7A08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096835" y="48987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5" name="Object 104">
                    <a:extLst>
                      <a:ext uri="{FF2B5EF4-FFF2-40B4-BE49-F238E27FC236}">
                        <a16:creationId xmlns:a16="http://schemas.microsoft.com/office/drawing/2014/main" id="{CEA39A9A-19B4-0C0B-C12F-AAB267F7A08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096835" y="48987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6" name="Object 105">
            <a:extLst>
              <a:ext uri="{FF2B5EF4-FFF2-40B4-BE49-F238E27FC236}">
                <a16:creationId xmlns:a16="http://schemas.microsoft.com/office/drawing/2014/main" id="{A404055B-D69A-B856-E9A5-2E15B66DB8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27173" y="50412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6" name="Object 105">
                    <a:extLst>
                      <a:ext uri="{FF2B5EF4-FFF2-40B4-BE49-F238E27FC236}">
                        <a16:creationId xmlns:a16="http://schemas.microsoft.com/office/drawing/2014/main" id="{A404055B-D69A-B856-E9A5-2E15B66DB8F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327173" y="50412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7" name="Object 106">
            <a:extLst>
              <a:ext uri="{FF2B5EF4-FFF2-40B4-BE49-F238E27FC236}">
                <a16:creationId xmlns:a16="http://schemas.microsoft.com/office/drawing/2014/main" id="{9609D45B-D31C-9F16-8DAD-5CF39797C6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27173" y="52604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7" name="Object 106">
                    <a:extLst>
                      <a:ext uri="{FF2B5EF4-FFF2-40B4-BE49-F238E27FC236}">
                        <a16:creationId xmlns:a16="http://schemas.microsoft.com/office/drawing/2014/main" id="{9609D45B-D31C-9F16-8DAD-5CF39797C677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327173" y="52604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8" name="Object 107">
            <a:extLst>
              <a:ext uri="{FF2B5EF4-FFF2-40B4-BE49-F238E27FC236}">
                <a16:creationId xmlns:a16="http://schemas.microsoft.com/office/drawing/2014/main" id="{7901BD2A-2A33-7A82-16F4-A94FE083C60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34207" y="55034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08" name="Object 107">
                    <a:extLst>
                      <a:ext uri="{FF2B5EF4-FFF2-40B4-BE49-F238E27FC236}">
                        <a16:creationId xmlns:a16="http://schemas.microsoft.com/office/drawing/2014/main" id="{7901BD2A-2A33-7A82-16F4-A94FE083C60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334207" y="55034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9" name="Object 108">
            <a:extLst>
              <a:ext uri="{FF2B5EF4-FFF2-40B4-BE49-F238E27FC236}">
                <a16:creationId xmlns:a16="http://schemas.microsoft.com/office/drawing/2014/main" id="{2CF769AE-B0A5-61E5-A0B2-40ED196F8B3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65501" y="42891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9" name="Object 108">
                    <a:extLst>
                      <a:ext uri="{FF2B5EF4-FFF2-40B4-BE49-F238E27FC236}">
                        <a16:creationId xmlns:a16="http://schemas.microsoft.com/office/drawing/2014/main" id="{2CF769AE-B0A5-61E5-A0B2-40ED196F8B3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765501" y="42891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0" name="Object 109">
            <a:extLst>
              <a:ext uri="{FF2B5EF4-FFF2-40B4-BE49-F238E27FC236}">
                <a16:creationId xmlns:a16="http://schemas.microsoft.com/office/drawing/2014/main" id="{B5097DFB-E4F5-6A09-4536-F83FC05EE0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95839" y="44316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0" name="Object 109">
                    <a:extLst>
                      <a:ext uri="{FF2B5EF4-FFF2-40B4-BE49-F238E27FC236}">
                        <a16:creationId xmlns:a16="http://schemas.microsoft.com/office/drawing/2014/main" id="{B5097DFB-E4F5-6A09-4536-F83FC05EE0D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995839" y="44316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1" name="Object 110">
            <a:extLst>
              <a:ext uri="{FF2B5EF4-FFF2-40B4-BE49-F238E27FC236}">
                <a16:creationId xmlns:a16="http://schemas.microsoft.com/office/drawing/2014/main" id="{E7AEE62E-47E4-E044-8A6E-A39A58F7CA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95839" y="46508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1" name="Object 110">
                    <a:extLst>
                      <a:ext uri="{FF2B5EF4-FFF2-40B4-BE49-F238E27FC236}">
                        <a16:creationId xmlns:a16="http://schemas.microsoft.com/office/drawing/2014/main" id="{E7AEE62E-47E4-E044-8A6E-A39A58F7CA81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9995839" y="46508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2" name="Object 111">
            <a:extLst>
              <a:ext uri="{FF2B5EF4-FFF2-40B4-BE49-F238E27FC236}">
                <a16:creationId xmlns:a16="http://schemas.microsoft.com/office/drawing/2014/main" id="{F7EA40BB-FE77-BD7B-2F81-B77F17C2FE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002873" y="48938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2" name="Object 111">
                    <a:extLst>
                      <a:ext uri="{FF2B5EF4-FFF2-40B4-BE49-F238E27FC236}">
                        <a16:creationId xmlns:a16="http://schemas.microsoft.com/office/drawing/2014/main" id="{F7EA40BB-FE77-BD7B-2F81-B77F17C2FEB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002873" y="48938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3" name="Object 112">
            <a:extLst>
              <a:ext uri="{FF2B5EF4-FFF2-40B4-BE49-F238E27FC236}">
                <a16:creationId xmlns:a16="http://schemas.microsoft.com/office/drawing/2014/main" id="{4E4D820E-DBDF-D3FA-30EE-F3C189069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17901" y="44415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3" name="Object 112">
                    <a:extLst>
                      <a:ext uri="{FF2B5EF4-FFF2-40B4-BE49-F238E27FC236}">
                        <a16:creationId xmlns:a16="http://schemas.microsoft.com/office/drawing/2014/main" id="{4E4D820E-DBDF-D3FA-30EE-F3C18906924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917901" y="44415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4" name="Object 113">
            <a:extLst>
              <a:ext uri="{FF2B5EF4-FFF2-40B4-BE49-F238E27FC236}">
                <a16:creationId xmlns:a16="http://schemas.microsoft.com/office/drawing/2014/main" id="{A722D839-B733-2497-2B0E-45E1EB9B80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48239" y="45840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4" name="Object 113">
                    <a:extLst>
                      <a:ext uri="{FF2B5EF4-FFF2-40B4-BE49-F238E27FC236}">
                        <a16:creationId xmlns:a16="http://schemas.microsoft.com/office/drawing/2014/main" id="{A722D839-B733-2497-2B0E-45E1EB9B801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148239" y="45840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5" name="Object 114">
            <a:extLst>
              <a:ext uri="{FF2B5EF4-FFF2-40B4-BE49-F238E27FC236}">
                <a16:creationId xmlns:a16="http://schemas.microsoft.com/office/drawing/2014/main" id="{DF42C530-4864-6856-529E-7E54F3C22F7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48239" y="48032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5" name="Object 114">
                    <a:extLst>
                      <a:ext uri="{FF2B5EF4-FFF2-40B4-BE49-F238E27FC236}">
                        <a16:creationId xmlns:a16="http://schemas.microsoft.com/office/drawing/2014/main" id="{DF42C530-4864-6856-529E-7E54F3C22F7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148239" y="48032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6" name="Object 115">
            <a:extLst>
              <a:ext uri="{FF2B5EF4-FFF2-40B4-BE49-F238E27FC236}">
                <a16:creationId xmlns:a16="http://schemas.microsoft.com/office/drawing/2014/main" id="{FC0DD69D-6584-699A-7495-B231A6B866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55273" y="50462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6" name="Object 115">
                    <a:extLst>
                      <a:ext uri="{FF2B5EF4-FFF2-40B4-BE49-F238E27FC236}">
                        <a16:creationId xmlns:a16="http://schemas.microsoft.com/office/drawing/2014/main" id="{FC0DD69D-6584-699A-7495-B231A6B866A4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155273" y="50462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7" name="Object 116">
            <a:extLst>
              <a:ext uri="{FF2B5EF4-FFF2-40B4-BE49-F238E27FC236}">
                <a16:creationId xmlns:a16="http://schemas.microsoft.com/office/drawing/2014/main" id="{AAC3CAF9-91C8-CDA6-2224-B26D0B46F5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070301" y="45939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17" name="Object 116">
                    <a:extLst>
                      <a:ext uri="{FF2B5EF4-FFF2-40B4-BE49-F238E27FC236}">
                        <a16:creationId xmlns:a16="http://schemas.microsoft.com/office/drawing/2014/main" id="{AAC3CAF9-91C8-CDA6-2224-B26D0B46F52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0070301" y="45939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8" name="Object 117">
            <a:extLst>
              <a:ext uri="{FF2B5EF4-FFF2-40B4-BE49-F238E27FC236}">
                <a16:creationId xmlns:a16="http://schemas.microsoft.com/office/drawing/2014/main" id="{D643BA46-97CC-FFC0-F592-80F4CF0804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0639" y="47364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8" name="Object 117">
                    <a:extLst>
                      <a:ext uri="{FF2B5EF4-FFF2-40B4-BE49-F238E27FC236}">
                        <a16:creationId xmlns:a16="http://schemas.microsoft.com/office/drawing/2014/main" id="{D643BA46-97CC-FFC0-F592-80F4CF08044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300639" y="47364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9" name="Object 118">
            <a:extLst>
              <a:ext uri="{FF2B5EF4-FFF2-40B4-BE49-F238E27FC236}">
                <a16:creationId xmlns:a16="http://schemas.microsoft.com/office/drawing/2014/main" id="{C8172161-60E2-51C7-B03A-A65270E1373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0639" y="49556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19" name="Object 118">
                    <a:extLst>
                      <a:ext uri="{FF2B5EF4-FFF2-40B4-BE49-F238E27FC236}">
                        <a16:creationId xmlns:a16="http://schemas.microsoft.com/office/drawing/2014/main" id="{C8172161-60E2-51C7-B03A-A65270E1373D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300639" y="49556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0" name="Object 119">
            <a:extLst>
              <a:ext uri="{FF2B5EF4-FFF2-40B4-BE49-F238E27FC236}">
                <a16:creationId xmlns:a16="http://schemas.microsoft.com/office/drawing/2014/main" id="{0349BBDD-F6D2-6D55-94CE-3EFCEAF1CF1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307673" y="51986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20" name="Object 119">
                    <a:extLst>
                      <a:ext uri="{FF2B5EF4-FFF2-40B4-BE49-F238E27FC236}">
                        <a16:creationId xmlns:a16="http://schemas.microsoft.com/office/drawing/2014/main" id="{0349BBDD-F6D2-6D55-94CE-3EFCEAF1CF1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307673" y="51986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1" name="Object 120">
            <a:extLst>
              <a:ext uri="{FF2B5EF4-FFF2-40B4-BE49-F238E27FC236}">
                <a16:creationId xmlns:a16="http://schemas.microsoft.com/office/drawing/2014/main" id="{FD875BD1-301B-4208-5909-60598763155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222701" y="474639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1" name="Object 120">
                    <a:extLst>
                      <a:ext uri="{FF2B5EF4-FFF2-40B4-BE49-F238E27FC236}">
                        <a16:creationId xmlns:a16="http://schemas.microsoft.com/office/drawing/2014/main" id="{FD875BD1-301B-4208-5909-60598763155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0222701" y="474639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2" name="Object 121">
            <a:extLst>
              <a:ext uri="{FF2B5EF4-FFF2-40B4-BE49-F238E27FC236}">
                <a16:creationId xmlns:a16="http://schemas.microsoft.com/office/drawing/2014/main" id="{5152FFC4-F33B-8846-CE84-392497281C3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53039" y="488884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22" name="Object 121">
                    <a:extLst>
                      <a:ext uri="{FF2B5EF4-FFF2-40B4-BE49-F238E27FC236}">
                        <a16:creationId xmlns:a16="http://schemas.microsoft.com/office/drawing/2014/main" id="{5152FFC4-F33B-8846-CE84-392497281C3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453039" y="488884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3" name="Object 122">
            <a:extLst>
              <a:ext uri="{FF2B5EF4-FFF2-40B4-BE49-F238E27FC236}">
                <a16:creationId xmlns:a16="http://schemas.microsoft.com/office/drawing/2014/main" id="{79980E56-9750-A0E4-8DFF-56F137A17D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53039" y="510800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23" name="Object 122">
                    <a:extLst>
                      <a:ext uri="{FF2B5EF4-FFF2-40B4-BE49-F238E27FC236}">
                        <a16:creationId xmlns:a16="http://schemas.microsoft.com/office/drawing/2014/main" id="{79980E56-9750-A0E4-8DFF-56F137A17DD6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453039" y="510800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4" name="Object 123">
            <a:extLst>
              <a:ext uri="{FF2B5EF4-FFF2-40B4-BE49-F238E27FC236}">
                <a16:creationId xmlns:a16="http://schemas.microsoft.com/office/drawing/2014/main" id="{05AA54C5-8210-435B-26B8-1411D063D5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460073" y="535106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24" name="Object 123">
                    <a:extLst>
                      <a:ext uri="{FF2B5EF4-FFF2-40B4-BE49-F238E27FC236}">
                        <a16:creationId xmlns:a16="http://schemas.microsoft.com/office/drawing/2014/main" id="{05AA54C5-8210-435B-26B8-1411D063D559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460073" y="535106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pic>
        <p:nvPicPr>
          <p:cNvPr id="4" name="Picture 3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946947" y="2817646"/>
            <a:ext cx="505279" cy="505279"/>
          </a:xfrm>
          <a:prstGeom prst="rect">
            <a:avLst/>
          </a:prstGeom>
          <a:noFill/>
        </p:spPr>
      </p:pic>
      <p:pic>
        <p:nvPicPr>
          <p:cNvPr id="3" name="Picture 2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950883" y="2919256"/>
            <a:ext cx="1481525" cy="1481525"/>
          </a:xfrm>
          <a:prstGeom prst="rect">
            <a:avLst/>
          </a:prstGeom>
          <a:noFill/>
        </p:spPr>
      </p:pic>
      <p:pic>
        <p:nvPicPr>
          <p:cNvPr id="1026" name="Picture 2" descr="Waiting In A Queue - Daily Devotional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8925746" y="5303642"/>
            <a:ext cx="3028950" cy="1514475"/>
          </a:xfrm>
          <a:prstGeom prst="rect">
            <a:avLst/>
          </a:prstGeom>
          <a:noFill/>
        </p:spPr>
      </p:pic>
      <p:pic>
        <p:nvPicPr>
          <p:cNvPr id="5" name="Picture 4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099347" y="2970046"/>
            <a:ext cx="505279" cy="505279"/>
          </a:xfrm>
          <a:prstGeom prst="rect">
            <a:avLst/>
          </a:prstGeom>
          <a:noFill/>
        </p:spPr>
      </p:pic>
      <p:pic>
        <p:nvPicPr>
          <p:cNvPr id="10" name="Picture 9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251747" y="3122446"/>
            <a:ext cx="505279" cy="505279"/>
          </a:xfrm>
          <a:prstGeom prst="rect">
            <a:avLst/>
          </a:prstGeom>
          <a:noFill/>
        </p:spPr>
      </p:pic>
      <p:pic>
        <p:nvPicPr>
          <p:cNvPr id="11" name="Picture 10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404147" y="3274846"/>
            <a:ext cx="505279" cy="505279"/>
          </a:xfrm>
          <a:prstGeom prst="rect">
            <a:avLst/>
          </a:prstGeom>
          <a:noFill/>
        </p:spPr>
      </p:pic>
      <p:pic>
        <p:nvPicPr>
          <p:cNvPr id="12" name="Picture 11" descr="CPU X : Infos Smartphones – Applications sur Google Play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556547" y="3436576"/>
            <a:ext cx="505279" cy="5052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Skewed Data </a:t>
            </a:r>
            <a:br>
              <a:rPr lang="fr-FR"/>
            </a:br>
            <a:r>
              <a:rPr lang="fr-FR"/>
              <a:t>… need to be repartitioned equally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74FF7AB6-2F93-9827-A8D1-36AC16B3285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36771" y="3303430"/>
          <a:ext cx="1484230" cy="1520770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74FF7AB6-2F93-9827-A8D1-36AC16B3285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936771" y="3303430"/>
                    <a:ext cx="1484230" cy="15207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645D86C0-B591-9C9A-91C5-B3F8C4AA578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77910" y="3521655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645D86C0-B591-9C9A-91C5-B3F8C4AA5783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277910" y="3521655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0E15D3B8-77E4-B885-E920-436BE56064E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50901" y="1749884"/>
          <a:ext cx="1484230" cy="310709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0E15D3B8-77E4-B885-E920-436BE56064E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50901" y="1749884"/>
                    <a:ext cx="1484230" cy="310709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5BA5DE95-96E1-5FD8-7C23-4C6EA0D6B38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899340" y="3303430"/>
          <a:ext cx="1484230" cy="1520770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5BA5DE95-96E1-5FD8-7C23-4C6EA0D6B38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899340" y="3303430"/>
                    <a:ext cx="1484230" cy="152077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274D0295-C3CE-08C6-B7B7-ED91009A14B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98461" y="3521655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274D0295-C3CE-08C6-B7B7-ED91009A14B0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198461" y="3521655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10F9DE16-AE22-13CD-CADF-9A0D08693B6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3078776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10F9DE16-AE22-13CD-CADF-9A0D08693B6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3078776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7" name="Object 16">
            <a:extLst>
              <a:ext uri="{FF2B5EF4-FFF2-40B4-BE49-F238E27FC236}">
                <a16:creationId xmlns:a16="http://schemas.microsoft.com/office/drawing/2014/main" id="{60A7977F-97A9-15F1-688F-EF637D8339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3340684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7" name="Object 16">
                    <a:extLst>
                      <a:ext uri="{FF2B5EF4-FFF2-40B4-BE49-F238E27FC236}">
                        <a16:creationId xmlns:a16="http://schemas.microsoft.com/office/drawing/2014/main" id="{60A7977F-97A9-15F1-688F-EF637D83393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3340684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E49EFEF4-CDFF-7417-AD3C-6DBDBFD7998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3606607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8" name="Object 17">
                    <a:extLst>
                      <a:ext uri="{FF2B5EF4-FFF2-40B4-BE49-F238E27FC236}">
                        <a16:creationId xmlns:a16="http://schemas.microsoft.com/office/drawing/2014/main" id="{E49EFEF4-CDFF-7417-AD3C-6DBDBFD7998A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3606607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" name="Object 18">
            <a:extLst>
              <a:ext uri="{FF2B5EF4-FFF2-40B4-BE49-F238E27FC236}">
                <a16:creationId xmlns:a16="http://schemas.microsoft.com/office/drawing/2014/main" id="{87BE0843-106C-E5D1-90FC-F15504EC984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3872530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19" name="Object 18">
                    <a:extLst>
                      <a:ext uri="{FF2B5EF4-FFF2-40B4-BE49-F238E27FC236}">
                        <a16:creationId xmlns:a16="http://schemas.microsoft.com/office/drawing/2014/main" id="{87BE0843-106C-E5D1-90FC-F15504EC984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3872530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BEEB47AB-7AC0-CF58-A079-337C140A7DE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4134438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BEEB47AB-7AC0-CF58-A079-337C140A7DE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4134438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5DF3A675-B49B-98A8-1F3B-ED9C9EBE31F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4400361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5DF3A675-B49B-98A8-1F3B-ED9C9EBE31F7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4400361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" name="Object 31">
            <a:extLst>
              <a:ext uri="{FF2B5EF4-FFF2-40B4-BE49-F238E27FC236}">
                <a16:creationId xmlns:a16="http://schemas.microsoft.com/office/drawing/2014/main" id="{A69FFF96-2767-1B19-A1D6-C658544EDF1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98461" y="3770542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2" name="Object 31">
                    <a:extLst>
                      <a:ext uri="{FF2B5EF4-FFF2-40B4-BE49-F238E27FC236}">
                        <a16:creationId xmlns:a16="http://schemas.microsoft.com/office/drawing/2014/main" id="{A69FFF96-2767-1B19-A1D6-C658544EDF1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5198461" y="3770542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" name="Object 32">
            <a:extLst>
              <a:ext uri="{FF2B5EF4-FFF2-40B4-BE49-F238E27FC236}">
                <a16:creationId xmlns:a16="http://schemas.microsoft.com/office/drawing/2014/main" id="{7AD79EF7-CD45-EA9A-43C1-003BB272058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2281026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3" name="Object 32">
                    <a:extLst>
                      <a:ext uri="{FF2B5EF4-FFF2-40B4-BE49-F238E27FC236}">
                        <a16:creationId xmlns:a16="http://schemas.microsoft.com/office/drawing/2014/main" id="{7AD79EF7-CD45-EA9A-43C1-003BB272058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2281026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" name="Object 33">
            <a:extLst>
              <a:ext uri="{FF2B5EF4-FFF2-40B4-BE49-F238E27FC236}">
                <a16:creationId xmlns:a16="http://schemas.microsoft.com/office/drawing/2014/main" id="{C3FBE7E3-18DD-6396-D869-9E2666430F6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2546949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C3FBE7E3-18DD-6396-D869-9E2666430F68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2546949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" name="Object 34">
            <a:extLst>
              <a:ext uri="{FF2B5EF4-FFF2-40B4-BE49-F238E27FC236}">
                <a16:creationId xmlns:a16="http://schemas.microsoft.com/office/drawing/2014/main" id="{4486A3A8-24E6-3D17-59C5-940D28A75D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259382" y="2812872"/>
          <a:ext cx="801952" cy="261908"/>
        </p:xfrm>
        <a:graphic>
          <a:graphicData uri="http://schemas.openxmlformats.org/presentationml/2006/ole">
            <p:oleObj xmlns:mc="http://schemas.openxmlformats.org/markup-compatibility/2006" name="Bitmap Image" r:id="rId4" imgW="3508920" imgH="1310760" progId="PBrush">
              <p:embed/>
              <p:pic>
                <p:nvPicPr>
                  <p:cNvPr id="35" name="Object 34">
                    <a:extLst>
                      <a:ext uri="{FF2B5EF4-FFF2-40B4-BE49-F238E27FC236}">
                        <a16:creationId xmlns:a16="http://schemas.microsoft.com/office/drawing/2014/main" id="{4486A3A8-24E6-3D17-59C5-940D28A75D81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382" y="2812872"/>
                    <a:ext cx="801952" cy="26190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6" name="Arrow: Down 35"/>
          <p:cNvSpPr/>
          <p:nvPr/>
        </p:nvSpPr>
        <p:spPr>
          <a:xfrm rot="3718805">
            <a:off x="7035282" y="4849722"/>
            <a:ext cx="163286" cy="52251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Arrow: Down 36"/>
          <p:cNvSpPr/>
          <p:nvPr/>
        </p:nvSpPr>
        <p:spPr>
          <a:xfrm rot="2388835">
            <a:off x="7348721" y="4907870"/>
            <a:ext cx="163286" cy="52251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Down 37"/>
          <p:cNvSpPr/>
          <p:nvPr/>
        </p:nvSpPr>
        <p:spPr>
          <a:xfrm>
            <a:off x="7656702" y="4954775"/>
            <a:ext cx="163286" cy="52251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5346442" y="5665009"/>
            <a:ext cx="5841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Target: move </a:t>
            </a:r>
            <a:r>
              <a:rPr lang="fr-FR"/>
              <a:t>each</a:t>
            </a:r>
            <a:r>
              <a:rPr lang="fr-FR"/>
              <a:t> </a:t>
            </a:r>
            <a:r>
              <a:rPr lang="fr-FR"/>
              <a:t>row</a:t>
            </a:r>
            <a:r>
              <a:rPr lang="fr-FR"/>
              <a:t>[i]  to </a:t>
            </a:r>
            <a:r>
              <a:rPr lang="fr-FR"/>
              <a:t>node</a:t>
            </a:r>
            <a:r>
              <a:rPr lang="fr-FR"/>
              <a:t>[j]   j = « </a:t>
            </a:r>
            <a:r>
              <a:rPr lang="fr-FR"/>
              <a:t>rowId</a:t>
            </a:r>
            <a:r>
              <a:rPr lang="fr-FR"/>
              <a:t> modulo N »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/>
          <p:cNvSpPr/>
          <p:nvPr/>
        </p:nvSpPr>
        <p:spPr>
          <a:xfrm>
            <a:off x="2051192" y="4650830"/>
            <a:ext cx="8799688" cy="14075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Rectangle 59"/>
          <p:cNvSpPr/>
          <p:nvPr/>
        </p:nvSpPr>
        <p:spPr>
          <a:xfrm>
            <a:off x="2051192" y="970280"/>
            <a:ext cx="8799688" cy="33331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647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« Narrow » / « Wide » Transformations</a:t>
            </a:r>
          </a:p>
        </p:txBody>
      </p:sp>
      <p:sp>
        <p:nvSpPr>
          <p:cNvPr id="5" name="Rectangle: Rounded Corners 4"/>
          <p:cNvSpPr/>
          <p:nvPr/>
        </p:nvSpPr>
        <p:spPr>
          <a:xfrm>
            <a:off x="2735734" y="1037446"/>
            <a:ext cx="7978228" cy="10787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54098" y="1628568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47C7AE1D-649B-71AA-15B5-1A06E63A867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87608" y="109854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47C7AE1D-649B-71AA-15B5-1A06E63A867A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2987608" y="109854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EF01231E-6CE6-2637-9210-500CC0EB78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6" y="12409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EF01231E-6CE6-2637-9210-500CC0EB78F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6" y="12409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" name="Object 8">
            <a:extLst>
              <a:ext uri="{FF2B5EF4-FFF2-40B4-BE49-F238E27FC236}">
                <a16:creationId xmlns:a16="http://schemas.microsoft.com/office/drawing/2014/main" id="{006AF527-6F47-BC28-F32D-62784F0051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6" y="146015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9" name="Object 8">
                    <a:extLst>
                      <a:ext uri="{FF2B5EF4-FFF2-40B4-BE49-F238E27FC236}">
                        <a16:creationId xmlns:a16="http://schemas.microsoft.com/office/drawing/2014/main" id="{006AF527-6F47-BC28-F32D-62784F00510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6" y="146015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734B2768-BA21-BA1D-BBAF-1DB4ABC1DB6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24980" y="170321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734B2768-BA21-BA1D-BBAF-1DB4ABC1DB6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24980" y="170321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Arrow: Right 10"/>
          <p:cNvSpPr/>
          <p:nvPr/>
        </p:nvSpPr>
        <p:spPr>
          <a:xfrm>
            <a:off x="4256241" y="1490044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01F6C604-D58F-F0EB-6368-354C63F57B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65874" y="1098542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01F6C604-D58F-F0EB-6368-354C63F57BD6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265874" y="1098542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179DFDAA-A182-A6F5-EB92-5022D583C53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2" y="124099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179DFDAA-A182-A6F5-EB92-5022D583C53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2" y="124099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AAC3AB8F-3BE3-A03D-D7FC-11BED0EBD1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2" y="146015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AAC3AB8F-3BE3-A03D-D7FC-11BED0EBD1A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2" y="146015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75825AD3-FB27-8183-3E69-401F9BEFC64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03246" y="1703219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75825AD3-FB27-8183-3E69-401F9BEFC64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03246" y="1703219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Rectangle: Rounded Corners 18"/>
          <p:cNvSpPr/>
          <p:nvPr/>
        </p:nvSpPr>
        <p:spPr>
          <a:xfrm>
            <a:off x="2735734" y="2231082"/>
            <a:ext cx="7978227" cy="200435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75330D6E-0946-BC6E-9C9D-4DFBC0CAC8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87609" y="2292179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75330D6E-0946-BC6E-9C9D-4DFBC0CAC8B3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2987609" y="2292179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FA9D3103-CCBB-1754-2485-01CB439173E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7" y="243463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FA9D3103-CCBB-1754-2485-01CB439173E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7" y="243463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" name="Object 21">
            <a:extLst>
              <a:ext uri="{FF2B5EF4-FFF2-40B4-BE49-F238E27FC236}">
                <a16:creationId xmlns:a16="http://schemas.microsoft.com/office/drawing/2014/main" id="{F34E1C03-E36D-59D6-81C4-D35336AA439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7" y="265379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2" name="Object 21">
                    <a:extLst>
                      <a:ext uri="{FF2B5EF4-FFF2-40B4-BE49-F238E27FC236}">
                        <a16:creationId xmlns:a16="http://schemas.microsoft.com/office/drawing/2014/main" id="{F34E1C03-E36D-59D6-81C4-D35336AA439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7" y="265379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" name="Object 22">
            <a:extLst>
              <a:ext uri="{FF2B5EF4-FFF2-40B4-BE49-F238E27FC236}">
                <a16:creationId xmlns:a16="http://schemas.microsoft.com/office/drawing/2014/main" id="{C548CECB-6BEA-6D28-098B-47C3CA2C66E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24981" y="289685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3" name="Object 22">
                    <a:extLst>
                      <a:ext uri="{FF2B5EF4-FFF2-40B4-BE49-F238E27FC236}">
                        <a16:creationId xmlns:a16="http://schemas.microsoft.com/office/drawing/2014/main" id="{C548CECB-6BEA-6D28-098B-47C3CA2C66E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24981" y="289685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4" name="Arrow: Right 23"/>
          <p:cNvSpPr/>
          <p:nvPr/>
        </p:nvSpPr>
        <p:spPr>
          <a:xfrm>
            <a:off x="4256242" y="2683681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6" name="Object 25">
            <a:extLst>
              <a:ext uri="{FF2B5EF4-FFF2-40B4-BE49-F238E27FC236}">
                <a16:creationId xmlns:a16="http://schemas.microsoft.com/office/drawing/2014/main" id="{ED23D542-96CE-5D05-8951-D447895D5D2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65875" y="2292179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26" name="Object 25">
                    <a:extLst>
                      <a:ext uri="{FF2B5EF4-FFF2-40B4-BE49-F238E27FC236}">
                        <a16:creationId xmlns:a16="http://schemas.microsoft.com/office/drawing/2014/main" id="{ED23D542-96CE-5D05-8951-D447895D5D26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265875" y="2292179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" name="Object 26">
            <a:extLst>
              <a:ext uri="{FF2B5EF4-FFF2-40B4-BE49-F238E27FC236}">
                <a16:creationId xmlns:a16="http://schemas.microsoft.com/office/drawing/2014/main" id="{77BD00A5-B3F8-A24A-563B-3B7F1E81D2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3" y="243463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7" name="Object 26">
                    <a:extLst>
                      <a:ext uri="{FF2B5EF4-FFF2-40B4-BE49-F238E27FC236}">
                        <a16:creationId xmlns:a16="http://schemas.microsoft.com/office/drawing/2014/main" id="{77BD00A5-B3F8-A24A-563B-3B7F1E81D20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3" y="243463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8" name="Object 27">
            <a:extLst>
              <a:ext uri="{FF2B5EF4-FFF2-40B4-BE49-F238E27FC236}">
                <a16:creationId xmlns:a16="http://schemas.microsoft.com/office/drawing/2014/main" id="{00C3E864-D273-44AB-3F8A-AA3BA36659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3" y="2653795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8" name="Object 27">
                    <a:extLst>
                      <a:ext uri="{FF2B5EF4-FFF2-40B4-BE49-F238E27FC236}">
                        <a16:creationId xmlns:a16="http://schemas.microsoft.com/office/drawing/2014/main" id="{00C3E864-D273-44AB-3F8A-AA3BA366590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3" y="2653795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9" name="Object 28">
            <a:extLst>
              <a:ext uri="{FF2B5EF4-FFF2-40B4-BE49-F238E27FC236}">
                <a16:creationId xmlns:a16="http://schemas.microsoft.com/office/drawing/2014/main" id="{9610879E-F2A3-0ECB-30A0-0F6F0F905FF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03247" y="289685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29" name="Object 28">
                    <a:extLst>
                      <a:ext uri="{FF2B5EF4-FFF2-40B4-BE49-F238E27FC236}">
                        <a16:creationId xmlns:a16="http://schemas.microsoft.com/office/drawing/2014/main" id="{9610879E-F2A3-0ECB-30A0-0F6F0F905FF7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03247" y="289685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" name="Object 30">
            <a:extLst>
              <a:ext uri="{FF2B5EF4-FFF2-40B4-BE49-F238E27FC236}">
                <a16:creationId xmlns:a16="http://schemas.microsoft.com/office/drawing/2014/main" id="{5D0FCF57-5314-5BBA-C1CA-4D8FCEC37A8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987609" y="3263394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31" name="Object 30">
                    <a:extLst>
                      <a:ext uri="{FF2B5EF4-FFF2-40B4-BE49-F238E27FC236}">
                        <a16:creationId xmlns:a16="http://schemas.microsoft.com/office/drawing/2014/main" id="{5D0FCF57-5314-5BBA-C1CA-4D8FCEC37A8C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2987609" y="3263394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" name="Object 31">
            <a:extLst>
              <a:ext uri="{FF2B5EF4-FFF2-40B4-BE49-F238E27FC236}">
                <a16:creationId xmlns:a16="http://schemas.microsoft.com/office/drawing/2014/main" id="{C9C8FFF3-E20A-C0D2-0E33-51FA21CB2E9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7" y="340585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2" name="Object 31">
                    <a:extLst>
                      <a:ext uri="{FF2B5EF4-FFF2-40B4-BE49-F238E27FC236}">
                        <a16:creationId xmlns:a16="http://schemas.microsoft.com/office/drawing/2014/main" id="{C9C8FFF3-E20A-C0D2-0E33-51FA21CB2E9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7" y="340585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3" name="Object 32">
            <a:extLst>
              <a:ext uri="{FF2B5EF4-FFF2-40B4-BE49-F238E27FC236}">
                <a16:creationId xmlns:a16="http://schemas.microsoft.com/office/drawing/2014/main" id="{7B82A5D6-986A-CCF0-120B-4F3785A07F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17947" y="362501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3" name="Object 32">
                    <a:extLst>
                      <a:ext uri="{FF2B5EF4-FFF2-40B4-BE49-F238E27FC236}">
                        <a16:creationId xmlns:a16="http://schemas.microsoft.com/office/drawing/2014/main" id="{7B82A5D6-986A-CCF0-120B-4F3785A07F8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17947" y="362501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4" name="Object 33">
            <a:extLst>
              <a:ext uri="{FF2B5EF4-FFF2-40B4-BE49-F238E27FC236}">
                <a16:creationId xmlns:a16="http://schemas.microsoft.com/office/drawing/2014/main" id="{F23F7121-2988-CF2E-84C3-06923C39D1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24981" y="386807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4" name="Object 33">
                    <a:extLst>
                      <a:ext uri="{FF2B5EF4-FFF2-40B4-BE49-F238E27FC236}">
                        <a16:creationId xmlns:a16="http://schemas.microsoft.com/office/drawing/2014/main" id="{F23F7121-2988-CF2E-84C3-06923C39D10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24981" y="386807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35" name="Arrow: Right 34"/>
          <p:cNvSpPr/>
          <p:nvPr/>
        </p:nvSpPr>
        <p:spPr>
          <a:xfrm>
            <a:off x="4256242" y="3654896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7" name="Object 36">
            <a:extLst>
              <a:ext uri="{FF2B5EF4-FFF2-40B4-BE49-F238E27FC236}">
                <a16:creationId xmlns:a16="http://schemas.microsoft.com/office/drawing/2014/main" id="{DF432E03-E867-DA86-A5AF-BEDE3341A3E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65875" y="3263394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37" name="Object 36">
                    <a:extLst>
                      <a:ext uri="{FF2B5EF4-FFF2-40B4-BE49-F238E27FC236}">
                        <a16:creationId xmlns:a16="http://schemas.microsoft.com/office/drawing/2014/main" id="{DF432E03-E867-DA86-A5AF-BEDE3341A3E8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265875" y="3263394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" name="Object 37">
            <a:extLst>
              <a:ext uri="{FF2B5EF4-FFF2-40B4-BE49-F238E27FC236}">
                <a16:creationId xmlns:a16="http://schemas.microsoft.com/office/drawing/2014/main" id="{FC56210C-06CF-7A59-8FC5-9C0135F92FD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3" y="340585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8" name="Object 37">
                    <a:extLst>
                      <a:ext uri="{FF2B5EF4-FFF2-40B4-BE49-F238E27FC236}">
                        <a16:creationId xmlns:a16="http://schemas.microsoft.com/office/drawing/2014/main" id="{FC56210C-06CF-7A59-8FC5-9C0135F92FD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3" y="340585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" name="Object 38">
            <a:extLst>
              <a:ext uri="{FF2B5EF4-FFF2-40B4-BE49-F238E27FC236}">
                <a16:creationId xmlns:a16="http://schemas.microsoft.com/office/drawing/2014/main" id="{CE89387D-D971-C591-2B0C-D2243A4F7AA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96213" y="3625010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39" name="Object 38">
                    <a:extLst>
                      <a:ext uri="{FF2B5EF4-FFF2-40B4-BE49-F238E27FC236}">
                        <a16:creationId xmlns:a16="http://schemas.microsoft.com/office/drawing/2014/main" id="{CE89387D-D971-C591-2B0C-D2243A4F7AA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496213" y="3625010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0" name="Object 39">
            <a:extLst>
              <a:ext uri="{FF2B5EF4-FFF2-40B4-BE49-F238E27FC236}">
                <a16:creationId xmlns:a16="http://schemas.microsoft.com/office/drawing/2014/main" id="{1C911414-0D9A-B9DC-FA23-25BF4FE76E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03247" y="3868071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0" name="Object 39">
                    <a:extLst>
                      <a:ext uri="{FF2B5EF4-FFF2-40B4-BE49-F238E27FC236}">
                        <a16:creationId xmlns:a16="http://schemas.microsoft.com/office/drawing/2014/main" id="{1C911414-0D9A-B9DC-FA23-25BF4FE76E0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03247" y="3868071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1" name="Rectangle: Rounded Corners 40"/>
          <p:cNvSpPr/>
          <p:nvPr/>
        </p:nvSpPr>
        <p:spPr>
          <a:xfrm>
            <a:off x="2767286" y="4821225"/>
            <a:ext cx="7978228" cy="107877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97985" y="4685857"/>
            <a:ext cx="915912" cy="1373375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3" name="Object 42">
            <a:extLst>
              <a:ext uri="{FF2B5EF4-FFF2-40B4-BE49-F238E27FC236}">
                <a16:creationId xmlns:a16="http://schemas.microsoft.com/office/drawing/2014/main" id="{E0E199A0-C988-26F1-99A9-59B645AB24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019160" y="4882321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43" name="Object 42">
                    <a:extLst>
                      <a:ext uri="{FF2B5EF4-FFF2-40B4-BE49-F238E27FC236}">
                        <a16:creationId xmlns:a16="http://schemas.microsoft.com/office/drawing/2014/main" id="{E0E199A0-C988-26F1-99A9-59B645AB248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3019160" y="4882321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4" name="Object 43">
            <a:extLst>
              <a:ext uri="{FF2B5EF4-FFF2-40B4-BE49-F238E27FC236}">
                <a16:creationId xmlns:a16="http://schemas.microsoft.com/office/drawing/2014/main" id="{A49373A0-856D-314B-7241-CE899C5EB7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49498" y="502477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4" name="Object 43">
                    <a:extLst>
                      <a:ext uri="{FF2B5EF4-FFF2-40B4-BE49-F238E27FC236}">
                        <a16:creationId xmlns:a16="http://schemas.microsoft.com/office/drawing/2014/main" id="{A49373A0-856D-314B-7241-CE899C5EB78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49498" y="502477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" name="Object 44">
            <a:extLst>
              <a:ext uri="{FF2B5EF4-FFF2-40B4-BE49-F238E27FC236}">
                <a16:creationId xmlns:a16="http://schemas.microsoft.com/office/drawing/2014/main" id="{3EFD8B06-B7B9-1533-8235-6A91EF7496F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49498" y="524393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5" name="Object 44">
                    <a:extLst>
                      <a:ext uri="{FF2B5EF4-FFF2-40B4-BE49-F238E27FC236}">
                        <a16:creationId xmlns:a16="http://schemas.microsoft.com/office/drawing/2014/main" id="{3EFD8B06-B7B9-1533-8235-6A91EF7496F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49498" y="524393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" name="Object 45">
            <a:extLst>
              <a:ext uri="{FF2B5EF4-FFF2-40B4-BE49-F238E27FC236}">
                <a16:creationId xmlns:a16="http://schemas.microsoft.com/office/drawing/2014/main" id="{6730534B-D999-643D-D7A6-D95E16E219A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56532" y="548699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6" name="Object 45">
                    <a:extLst>
                      <a:ext uri="{FF2B5EF4-FFF2-40B4-BE49-F238E27FC236}">
                        <a16:creationId xmlns:a16="http://schemas.microsoft.com/office/drawing/2014/main" id="{6730534B-D999-643D-D7A6-D95E16E219A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3256532" y="548699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7" name="Arrow: Right 46"/>
          <p:cNvSpPr/>
          <p:nvPr/>
        </p:nvSpPr>
        <p:spPr>
          <a:xfrm>
            <a:off x="4287793" y="5273823"/>
            <a:ext cx="890158" cy="1778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8" name="Object 47">
            <a:extLst>
              <a:ext uri="{FF2B5EF4-FFF2-40B4-BE49-F238E27FC236}">
                <a16:creationId xmlns:a16="http://schemas.microsoft.com/office/drawing/2014/main" id="{0F303F37-E2C6-1747-207F-A847E79D6C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97426" y="4882321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48" name="Object 47">
                    <a:extLst>
                      <a:ext uri="{FF2B5EF4-FFF2-40B4-BE49-F238E27FC236}">
                        <a16:creationId xmlns:a16="http://schemas.microsoft.com/office/drawing/2014/main" id="{0F303F37-E2C6-1747-207F-A847E79D6CE7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297426" y="4882321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" name="Object 48">
            <a:extLst>
              <a:ext uri="{FF2B5EF4-FFF2-40B4-BE49-F238E27FC236}">
                <a16:creationId xmlns:a16="http://schemas.microsoft.com/office/drawing/2014/main" id="{8B9DA7D1-2E3A-351B-8808-5E01F6E0AF3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27764" y="502477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49" name="Object 48">
                    <a:extLst>
                      <a:ext uri="{FF2B5EF4-FFF2-40B4-BE49-F238E27FC236}">
                        <a16:creationId xmlns:a16="http://schemas.microsoft.com/office/drawing/2014/main" id="{8B9DA7D1-2E3A-351B-8808-5E01F6E0AF3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27764" y="502477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0" name="Object 49">
            <a:extLst>
              <a:ext uri="{FF2B5EF4-FFF2-40B4-BE49-F238E27FC236}">
                <a16:creationId xmlns:a16="http://schemas.microsoft.com/office/drawing/2014/main" id="{FA4801C4-2F29-FFDA-519E-70C0EEA31E4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27764" y="524393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0" name="Object 49">
                    <a:extLst>
                      <a:ext uri="{FF2B5EF4-FFF2-40B4-BE49-F238E27FC236}">
                        <a16:creationId xmlns:a16="http://schemas.microsoft.com/office/drawing/2014/main" id="{FA4801C4-2F29-FFDA-519E-70C0EEA31E4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27764" y="524393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1" name="Object 50">
            <a:extLst>
              <a:ext uri="{FF2B5EF4-FFF2-40B4-BE49-F238E27FC236}">
                <a16:creationId xmlns:a16="http://schemas.microsoft.com/office/drawing/2014/main" id="{3D5E8229-72A0-4A8F-FD37-6784E8E253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34798" y="548699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1" name="Object 50">
                    <a:extLst>
                      <a:ext uri="{FF2B5EF4-FFF2-40B4-BE49-F238E27FC236}">
                        <a16:creationId xmlns:a16="http://schemas.microsoft.com/office/drawing/2014/main" id="{3D5E8229-72A0-4A8F-FD37-6784E8E2533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534798" y="548699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2" name="Left Brace 61"/>
          <p:cNvSpPr/>
          <p:nvPr/>
        </p:nvSpPr>
        <p:spPr>
          <a:xfrm rot="16200000">
            <a:off x="4668047" y="4988314"/>
            <a:ext cx="329574" cy="25954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7" name="Object 66">
            <a:extLst>
              <a:ext uri="{FF2B5EF4-FFF2-40B4-BE49-F238E27FC236}">
                <a16:creationId xmlns:a16="http://schemas.microsoft.com/office/drawing/2014/main" id="{538EAF48-B561-1032-D937-213DC051E7D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43683" y="2687711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67" name="Object 66">
                    <a:extLst>
                      <a:ext uri="{FF2B5EF4-FFF2-40B4-BE49-F238E27FC236}">
                        <a16:creationId xmlns:a16="http://schemas.microsoft.com/office/drawing/2014/main" id="{538EAF48-B561-1032-D937-213DC051E7D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743683" y="2687711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8" name="Object 67">
            <a:extLst>
              <a:ext uri="{FF2B5EF4-FFF2-40B4-BE49-F238E27FC236}">
                <a16:creationId xmlns:a16="http://schemas.microsoft.com/office/drawing/2014/main" id="{C86B21CC-E72B-C6C9-9D97-929FCB8A8D6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74021" y="283016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8" name="Object 67">
                    <a:extLst>
                      <a:ext uri="{FF2B5EF4-FFF2-40B4-BE49-F238E27FC236}">
                        <a16:creationId xmlns:a16="http://schemas.microsoft.com/office/drawing/2014/main" id="{C86B21CC-E72B-C6C9-9D97-929FCB8A8D6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74021" y="283016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" name="Object 68">
            <a:extLst>
              <a:ext uri="{FF2B5EF4-FFF2-40B4-BE49-F238E27FC236}">
                <a16:creationId xmlns:a16="http://schemas.microsoft.com/office/drawing/2014/main" id="{0B4529BB-F5B4-1B14-90E5-09DC2512908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74021" y="304932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9" name="Object 68">
                    <a:extLst>
                      <a:ext uri="{FF2B5EF4-FFF2-40B4-BE49-F238E27FC236}">
                        <a16:creationId xmlns:a16="http://schemas.microsoft.com/office/drawing/2014/main" id="{0B4529BB-F5B4-1B14-90E5-09DC2512908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74021" y="304932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" name="Object 69">
            <a:extLst>
              <a:ext uri="{FF2B5EF4-FFF2-40B4-BE49-F238E27FC236}">
                <a16:creationId xmlns:a16="http://schemas.microsoft.com/office/drawing/2014/main" id="{17B51A42-5CA5-A1E6-B352-F376D21FBF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81055" y="3292388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0" name="Object 69">
                    <a:extLst>
                      <a:ext uri="{FF2B5EF4-FFF2-40B4-BE49-F238E27FC236}">
                        <a16:creationId xmlns:a16="http://schemas.microsoft.com/office/drawing/2014/main" id="{17B51A42-5CA5-A1E6-B352-F376D21FBF6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81055" y="3292388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5" name="Object 74">
            <a:extLst>
              <a:ext uri="{FF2B5EF4-FFF2-40B4-BE49-F238E27FC236}">
                <a16:creationId xmlns:a16="http://schemas.microsoft.com/office/drawing/2014/main" id="{E5EACB3F-6113-5A64-2704-A73EFF1460F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72146" y="4873350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5" name="Object 74">
                    <a:extLst>
                      <a:ext uri="{FF2B5EF4-FFF2-40B4-BE49-F238E27FC236}">
                        <a16:creationId xmlns:a16="http://schemas.microsoft.com/office/drawing/2014/main" id="{E5EACB3F-6113-5A64-2704-A73EFF1460F3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772146" y="4873350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" name="Object 75">
            <a:extLst>
              <a:ext uri="{FF2B5EF4-FFF2-40B4-BE49-F238E27FC236}">
                <a16:creationId xmlns:a16="http://schemas.microsoft.com/office/drawing/2014/main" id="{3675F9A0-E37E-5FA3-E712-EB569107E18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2484" y="501580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6" name="Object 75">
                    <a:extLst>
                      <a:ext uri="{FF2B5EF4-FFF2-40B4-BE49-F238E27FC236}">
                        <a16:creationId xmlns:a16="http://schemas.microsoft.com/office/drawing/2014/main" id="{3675F9A0-E37E-5FA3-E712-EB569107E18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002484" y="501580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7" name="Object 76">
            <a:extLst>
              <a:ext uri="{FF2B5EF4-FFF2-40B4-BE49-F238E27FC236}">
                <a16:creationId xmlns:a16="http://schemas.microsoft.com/office/drawing/2014/main" id="{82D9139E-5197-998F-EEBB-B1F9226F0DC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2484" y="5234966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7" name="Object 76">
                    <a:extLst>
                      <a:ext uri="{FF2B5EF4-FFF2-40B4-BE49-F238E27FC236}">
                        <a16:creationId xmlns:a16="http://schemas.microsoft.com/office/drawing/2014/main" id="{82D9139E-5197-998F-EEBB-B1F9226F0DC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002484" y="5234966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" name="Object 77">
            <a:extLst>
              <a:ext uri="{FF2B5EF4-FFF2-40B4-BE49-F238E27FC236}">
                <a16:creationId xmlns:a16="http://schemas.microsoft.com/office/drawing/2014/main" id="{6B8BE053-491D-4023-1306-44C18E6F991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09518" y="5478027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8" name="Object 77">
                    <a:extLst>
                      <a:ext uri="{FF2B5EF4-FFF2-40B4-BE49-F238E27FC236}">
                        <a16:creationId xmlns:a16="http://schemas.microsoft.com/office/drawing/2014/main" id="{6B8BE053-491D-4023-1306-44C18E6F991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9009518" y="5478027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" name="Object 78">
            <a:extLst>
              <a:ext uri="{FF2B5EF4-FFF2-40B4-BE49-F238E27FC236}">
                <a16:creationId xmlns:a16="http://schemas.microsoft.com/office/drawing/2014/main" id="{0793F599-650B-80FF-C871-BBA24C5665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740595" y="1136836"/>
          <a:ext cx="1174018" cy="935874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79" name="Object 78">
                    <a:extLst>
                      <a:ext uri="{FF2B5EF4-FFF2-40B4-BE49-F238E27FC236}">
                        <a16:creationId xmlns:a16="http://schemas.microsoft.com/office/drawing/2014/main" id="{0793F599-650B-80FF-C871-BBA24C5665D0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740595" y="1136836"/>
                    <a:ext cx="1174018" cy="93587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0" name="Object 79">
            <a:extLst>
              <a:ext uri="{FF2B5EF4-FFF2-40B4-BE49-F238E27FC236}">
                <a16:creationId xmlns:a16="http://schemas.microsoft.com/office/drawing/2014/main" id="{D2CF97FA-309B-83EC-8903-26E3A67199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70933" y="127929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0" name="Object 79">
                    <a:extLst>
                      <a:ext uri="{FF2B5EF4-FFF2-40B4-BE49-F238E27FC236}">
                        <a16:creationId xmlns:a16="http://schemas.microsoft.com/office/drawing/2014/main" id="{D2CF97FA-309B-83EC-8903-26E3A6719996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70933" y="127929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1" name="Object 80">
            <a:extLst>
              <a:ext uri="{FF2B5EF4-FFF2-40B4-BE49-F238E27FC236}">
                <a16:creationId xmlns:a16="http://schemas.microsoft.com/office/drawing/2014/main" id="{003E0533-4CBD-8218-B745-52107A88CC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70933" y="1498452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1" name="Object 80">
                    <a:extLst>
                      <a:ext uri="{FF2B5EF4-FFF2-40B4-BE49-F238E27FC236}">
                        <a16:creationId xmlns:a16="http://schemas.microsoft.com/office/drawing/2014/main" id="{003E0533-4CBD-8218-B745-52107A88CC73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70933" y="1498452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2" name="Object 81">
            <a:extLst>
              <a:ext uri="{FF2B5EF4-FFF2-40B4-BE49-F238E27FC236}">
                <a16:creationId xmlns:a16="http://schemas.microsoft.com/office/drawing/2014/main" id="{FC21FEDD-D843-0755-F7E6-A4FF79E1AF9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77967" y="1741513"/>
          <a:ext cx="634339" cy="232487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82" name="Object 81">
                    <a:extLst>
                      <a:ext uri="{FF2B5EF4-FFF2-40B4-BE49-F238E27FC236}">
                        <a16:creationId xmlns:a16="http://schemas.microsoft.com/office/drawing/2014/main" id="{FC21FEDD-D843-0755-F7E6-A4FF79E1AF9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77967" y="1741513"/>
                    <a:ext cx="634339" cy="232487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3" name="Arrow: Right 82"/>
          <p:cNvSpPr/>
          <p:nvPr/>
        </p:nvSpPr>
        <p:spPr>
          <a:xfrm>
            <a:off x="6908843" y="1496110"/>
            <a:ext cx="1445643" cy="1636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Arrow: Right 83"/>
          <p:cNvSpPr/>
          <p:nvPr/>
        </p:nvSpPr>
        <p:spPr>
          <a:xfrm rot="2383977">
            <a:off x="6729145" y="2170199"/>
            <a:ext cx="2047787" cy="1618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Arrow: Right 84"/>
          <p:cNvSpPr/>
          <p:nvPr/>
        </p:nvSpPr>
        <p:spPr>
          <a:xfrm rot="3862986">
            <a:off x="5905419" y="3121733"/>
            <a:ext cx="3668167" cy="157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Arrow: Right 85"/>
          <p:cNvSpPr/>
          <p:nvPr/>
        </p:nvSpPr>
        <p:spPr>
          <a:xfrm rot="1257993">
            <a:off x="6862228" y="2686481"/>
            <a:ext cx="1747903" cy="15165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Arrow: Right 86"/>
          <p:cNvSpPr/>
          <p:nvPr/>
        </p:nvSpPr>
        <p:spPr>
          <a:xfrm rot="2605742">
            <a:off x="6648754" y="4442752"/>
            <a:ext cx="2101525" cy="15233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Arrow: Right 88"/>
          <p:cNvSpPr/>
          <p:nvPr/>
        </p:nvSpPr>
        <p:spPr>
          <a:xfrm rot="18298034">
            <a:off x="6385337" y="2741501"/>
            <a:ext cx="2477676" cy="1505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Arrow: Right 89"/>
          <p:cNvSpPr/>
          <p:nvPr/>
        </p:nvSpPr>
        <p:spPr>
          <a:xfrm rot="20313254">
            <a:off x="6876221" y="3443868"/>
            <a:ext cx="1755759" cy="1646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Arrow: Right 90"/>
          <p:cNvSpPr/>
          <p:nvPr/>
        </p:nvSpPr>
        <p:spPr>
          <a:xfrm rot="19777861">
            <a:off x="6881313" y="2001755"/>
            <a:ext cx="1537471" cy="151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Arrow: Right 91"/>
          <p:cNvSpPr/>
          <p:nvPr/>
        </p:nvSpPr>
        <p:spPr>
          <a:xfrm rot="3578062">
            <a:off x="6209663" y="3672433"/>
            <a:ext cx="3047248" cy="1526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Oval 92"/>
          <p:cNvSpPr/>
          <p:nvPr/>
        </p:nvSpPr>
        <p:spPr>
          <a:xfrm>
            <a:off x="6872541" y="1500995"/>
            <a:ext cx="180586" cy="16336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Oval 94"/>
          <p:cNvSpPr/>
          <p:nvPr/>
        </p:nvSpPr>
        <p:spPr>
          <a:xfrm>
            <a:off x="6897223" y="2402507"/>
            <a:ext cx="180586" cy="16336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Oval 95"/>
          <p:cNvSpPr/>
          <p:nvPr/>
        </p:nvSpPr>
        <p:spPr>
          <a:xfrm>
            <a:off x="6872541" y="3729560"/>
            <a:ext cx="180586" cy="16336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Arrow: Right 96"/>
          <p:cNvSpPr/>
          <p:nvPr/>
        </p:nvSpPr>
        <p:spPr>
          <a:xfrm>
            <a:off x="7030216" y="5259454"/>
            <a:ext cx="1445643" cy="16366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Arrow: Right 97"/>
          <p:cNvSpPr/>
          <p:nvPr/>
        </p:nvSpPr>
        <p:spPr>
          <a:xfrm rot="18489754">
            <a:off x="6505662" y="4309199"/>
            <a:ext cx="2477676" cy="1505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Arrow: Right 98"/>
          <p:cNvSpPr/>
          <p:nvPr/>
        </p:nvSpPr>
        <p:spPr>
          <a:xfrm rot="17627813">
            <a:off x="5851059" y="3616201"/>
            <a:ext cx="3709714" cy="1435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Oval 99"/>
          <p:cNvSpPr/>
          <p:nvPr/>
        </p:nvSpPr>
        <p:spPr>
          <a:xfrm>
            <a:off x="6879039" y="5243333"/>
            <a:ext cx="180586" cy="16336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TextBox 100"/>
          <p:cNvSpPr txBox="1"/>
          <p:nvPr/>
        </p:nvSpPr>
        <p:spPr>
          <a:xfrm>
            <a:off x="4188457" y="6270792"/>
            <a:ext cx="14195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narrow</a:t>
            </a:r>
            <a:endParaRPr lang="fr-FR" sz="3200" b="1"/>
          </a:p>
        </p:txBody>
      </p:sp>
      <p:sp>
        <p:nvSpPr>
          <p:cNvPr id="102" name="TextBox 101"/>
          <p:cNvSpPr txBox="1"/>
          <p:nvPr/>
        </p:nvSpPr>
        <p:spPr>
          <a:xfrm>
            <a:off x="7098408" y="6243796"/>
            <a:ext cx="26035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Wide (</a:t>
            </a:r>
            <a:r>
              <a:rPr lang="fr-FR" sz="3200" b="1"/>
              <a:t>shuffle</a:t>
            </a:r>
            <a:r>
              <a:rPr lang="fr-FR" sz="3200" b="1"/>
              <a:t>)</a:t>
            </a:r>
          </a:p>
        </p:txBody>
      </p:sp>
      <p:sp>
        <p:nvSpPr>
          <p:cNvPr id="103" name="Left Brace 102"/>
          <p:cNvSpPr/>
          <p:nvPr/>
        </p:nvSpPr>
        <p:spPr>
          <a:xfrm rot="16200000">
            <a:off x="7568500" y="4967901"/>
            <a:ext cx="329574" cy="259543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endParaRPr lang="fr-F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5300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=  (~RDD) Set of &lt;Data&gt;  + Encoder</a:t>
            </a:r>
          </a:p>
        </p:txBody>
      </p:sp>
      <p:pic>
        <p:nvPicPr>
          <p:cNvPr id="4" name="Picture 2" descr="Working with Tabular Data - Matthewrenze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721600" y="1986279"/>
            <a:ext cx="2986114" cy="2623783"/>
          </a:xfrm>
          <a:prstGeom prst="rect">
            <a:avLst/>
          </a:prstGeom>
          <a:noFill/>
        </p:spPr>
      </p:pic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8621AAAC-059B-80D5-CD25-7FD094F59B5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58624" y="2185911"/>
          <a:ext cx="2905096" cy="2361091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8621AAAC-059B-80D5-CD25-7FD094F59B54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458624" y="2185911"/>
                    <a:ext cx="2905096" cy="236109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13778959-227A-780C-9CE2-A2C7CBE4C1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87806" y="2763266"/>
          <a:ext cx="1211664" cy="452866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13778959-227A-780C-9CE2-A2C7CBE4C1C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787806" y="2763266"/>
                    <a:ext cx="1211664" cy="4528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374D1934-A733-C6E7-5D07-7D244FE39F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87806" y="3311085"/>
          <a:ext cx="1211664" cy="452866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374D1934-A733-C6E7-5D07-7D244FE39F02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787806" y="3311085"/>
                    <a:ext cx="1211664" cy="4528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7E097A94-5756-E60E-7748-E4D4A6875F3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87806" y="3858904"/>
          <a:ext cx="1211664" cy="452866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7E097A94-5756-E60E-7748-E4D4A6875F3D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787806" y="3858904"/>
                    <a:ext cx="1211664" cy="452866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885901" y="2407759"/>
            <a:ext cx="74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</a:t>
            </a:r>
            <a:r>
              <a:rPr lang="fr-FR"/>
              <a:t>[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5130" y="1712620"/>
            <a:ext cx="4169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&lt;Row&gt;  = « </a:t>
            </a:r>
            <a:r>
              <a:rPr lang="fr-FR" sz="2400"/>
              <a:t>DataFrame</a:t>
            </a:r>
            <a:r>
              <a:rPr lang="fr-FR" sz="2400"/>
              <a:t> 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7570" y="4085337"/>
            <a:ext cx="745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RDD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01C6F25C-1B3E-B5B1-F9F5-76B812B413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08649" y="4480560"/>
          <a:ext cx="2700348" cy="2195195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01C6F25C-1B3E-B5B1-F9F5-76B812B41329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4708649" y="4480560"/>
                    <a:ext cx="2700348" cy="2195195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62069821-22DF-1FAB-6B4B-99FAEA51C45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88862" y="5003513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62069821-22DF-1FAB-6B4B-99FAEA51C455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5388862" y="5003513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05547" y="1726720"/>
            <a:ext cx="59018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&lt;</a:t>
            </a:r>
            <a:r>
              <a:rPr lang="fr-FR" sz="2400"/>
              <a:t>UserDefinedClass</a:t>
            </a:r>
            <a:r>
              <a:rPr lang="fr-FR" sz="2400"/>
              <a:t>&gt;  (~</a:t>
            </a:r>
            <a:r>
              <a:rPr lang="fr-FR" sz="2400"/>
              <a:t>RDD+Encoder</a:t>
            </a:r>
            <a:r>
              <a:rPr lang="fr-FR" sz="240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3773" y="4715650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 ]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" name="Object 21">
            <a:extLst>
              <a:ext uri="{FF2B5EF4-FFF2-40B4-BE49-F238E27FC236}">
                <a16:creationId xmlns:a16="http://schemas.microsoft.com/office/drawing/2014/main" id="{08CCE271-1A21-3E3A-9CBE-3150789E0C6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79261" y="5566213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2" name="Object 21">
                    <a:extLst>
                      <a:ext uri="{FF2B5EF4-FFF2-40B4-BE49-F238E27FC236}">
                        <a16:creationId xmlns:a16="http://schemas.microsoft.com/office/drawing/2014/main" id="{08CCE271-1A21-3E3A-9CBE-3150789E0C68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5379261" y="5566213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492291" y="5500349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101011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" name="Object 23">
            <a:extLst>
              <a:ext uri="{FF2B5EF4-FFF2-40B4-BE49-F238E27FC236}">
                <a16:creationId xmlns:a16="http://schemas.microsoft.com/office/drawing/2014/main" id="{435537FC-D4A6-BC0E-2EA4-0D8964C7B5B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88862" y="6075072"/>
          <a:ext cx="1171656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4" name="Object 23">
                    <a:extLst>
                      <a:ext uri="{FF2B5EF4-FFF2-40B4-BE49-F238E27FC236}">
                        <a16:creationId xmlns:a16="http://schemas.microsoft.com/office/drawing/2014/main" id="{435537FC-D4A6-BC0E-2EA4-0D8964C7B5BA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5388862" y="6075072"/>
                    <a:ext cx="1171656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501892" y="6009208"/>
            <a:ext cx="886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010110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862" y="497794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0101010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7" name="Object 16">
            <a:extLst>
              <a:ext uri="{FF2B5EF4-FFF2-40B4-BE49-F238E27FC236}">
                <a16:creationId xmlns:a16="http://schemas.microsoft.com/office/drawing/2014/main" id="{0C13FCEB-F4FB-E45C-6FAE-BB7C4C40D07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6923" y="2777126"/>
          <a:ext cx="635649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17" name="Object 16">
                    <a:extLst>
                      <a:ext uri="{FF2B5EF4-FFF2-40B4-BE49-F238E27FC236}">
                        <a16:creationId xmlns:a16="http://schemas.microsoft.com/office/drawing/2014/main" id="{0C13FCEB-F4FB-E45C-6FAE-BB7C4C40D078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706923" y="2777126"/>
                    <a:ext cx="635649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51999ECE-0AA6-ED94-3C7C-AE899849173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4162" y="3348279"/>
          <a:ext cx="635649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18" name="Object 17">
                    <a:extLst>
                      <a:ext uri="{FF2B5EF4-FFF2-40B4-BE49-F238E27FC236}">
                        <a16:creationId xmlns:a16="http://schemas.microsoft.com/office/drawing/2014/main" id="{51999ECE-0AA6-ED94-3C7C-AE899849173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704162" y="3348279"/>
                    <a:ext cx="635649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16DA2F1C-BC6B-6F40-ECC3-D3D3CC2636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04161" y="3894032"/>
          <a:ext cx="635649" cy="378478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16DA2F1C-BC6B-6F40-ECC3-D3D3CC263657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704161" y="3894032"/>
                    <a:ext cx="635649" cy="37847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6" name="Arrow: Left-Right 25"/>
          <p:cNvSpPr/>
          <p:nvPr/>
        </p:nvSpPr>
        <p:spPr>
          <a:xfrm>
            <a:off x="2435057" y="2874009"/>
            <a:ext cx="272764" cy="210183"/>
          </a:xfrm>
          <a:prstGeom prst="leftRightArrow">
            <a:avLst>
              <a:gd name="adj1" fmla="val 48034"/>
              <a:gd name="adj2" fmla="val 3258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row: Left-Right 26"/>
          <p:cNvSpPr/>
          <p:nvPr/>
        </p:nvSpPr>
        <p:spPr>
          <a:xfrm>
            <a:off x="2445489" y="3411080"/>
            <a:ext cx="272764" cy="210183"/>
          </a:xfrm>
          <a:prstGeom prst="leftRightArrow">
            <a:avLst>
              <a:gd name="adj1" fmla="val 48034"/>
              <a:gd name="adj2" fmla="val 3258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Arrow: Left-Right 27"/>
          <p:cNvSpPr/>
          <p:nvPr/>
        </p:nvSpPr>
        <p:spPr>
          <a:xfrm>
            <a:off x="2442727" y="3977836"/>
            <a:ext cx="272764" cy="210183"/>
          </a:xfrm>
          <a:prstGeom prst="leftRightArrow">
            <a:avLst>
              <a:gd name="adj1" fmla="val 48034"/>
              <a:gd name="adj2" fmla="val 3258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TextBox 28"/>
          <p:cNvSpPr txBox="1"/>
          <p:nvPr/>
        </p:nvSpPr>
        <p:spPr>
          <a:xfrm>
            <a:off x="1573022" y="2419295"/>
            <a:ext cx="997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Object[ 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7189" y="2540750"/>
            <a:ext cx="74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</a:t>
            </a:r>
            <a:r>
              <a:rPr lang="fr-FR"/>
              <a:t>[ ]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/>
          <p:cNvSpPr/>
          <p:nvPr/>
        </p:nvSpPr>
        <p:spPr>
          <a:xfrm>
            <a:off x="1013285" y="2311548"/>
            <a:ext cx="2954338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599" y="0"/>
            <a:ext cx="11801475" cy="102531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= </a:t>
            </a:r>
            <a:r>
              <a:rPr lang="fr-FR"/>
              <a:t>sql</a:t>
            </a:r>
            <a:r>
              <a:rPr lang="fr-FR"/>
              <a:t> </a:t>
            </a:r>
            <a:r>
              <a:rPr lang="fr-FR"/>
              <a:t>wrapper</a:t>
            </a:r>
            <a:r>
              <a:rPr lang="fr-FR"/>
              <a:t> for RDD, in module </a:t>
            </a:r>
            <a:r>
              <a:rPr lang="fr-FR"/>
              <a:t>spark-sql</a:t>
            </a:r>
            <a:endParaRPr lang="fr-FR"/>
          </a:p>
        </p:txBody>
      </p:sp>
      <p:sp>
        <p:nvSpPr>
          <p:cNvPr id="7" name="Rectangle: Rounded Corners 6"/>
          <p:cNvSpPr/>
          <p:nvPr/>
        </p:nvSpPr>
        <p:spPr>
          <a:xfrm>
            <a:off x="614438" y="1352996"/>
            <a:ext cx="7910285" cy="263475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: Rounded Corners 7"/>
          <p:cNvSpPr/>
          <p:nvPr/>
        </p:nvSpPr>
        <p:spPr>
          <a:xfrm>
            <a:off x="6988944" y="5091517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946144" y="5187059"/>
            <a:ext cx="1731327" cy="898847"/>
          </a:xfrm>
          <a:prstGeom prst="rect">
            <a:avLst/>
          </a:prstGeom>
          <a:noFill/>
        </p:spPr>
      </p:pic>
      <p:sp>
        <p:nvSpPr>
          <p:cNvPr id="10" name="TextBox 9"/>
          <p:cNvSpPr txBox="1"/>
          <p:nvPr/>
        </p:nvSpPr>
        <p:spPr>
          <a:xfrm>
            <a:off x="9726253" y="5370920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F92C9747-3A53-509B-F9DD-7618AC043F0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410276" y="1808284"/>
          <a:ext cx="2681003" cy="2179469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F92C9747-3A53-509B-F9DD-7618AC043F01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4410276" y="1808284"/>
                    <a:ext cx="2681003" cy="217946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C345D04A-7353-90AB-C448-2E07D00CAE4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2142183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C345D04A-7353-90AB-C448-2E07D00CAE4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2142183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8D05898D-9AB6-8AF1-A943-E5477964B7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2690002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8D05898D-9AB6-8AF1-A943-E5477964B730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2690002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E0E8DFD1-0BF0-235A-2FC2-427CDB07A1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6786" y="3237821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5" imgW="3508920" imgH="131076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E0E8DFD1-0BF0-235A-2FC2-427CDB07A1F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5076786" y="3237821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199405" y="1322137"/>
            <a:ext cx="52022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class </a:t>
            </a:r>
            <a:r>
              <a:rPr lang="fr-FR" sz="2800"/>
              <a:t>org.apache.spark.sql</a:t>
            </a:r>
            <a:r>
              <a:rPr lang="fr-FR" sz="2800" b="1"/>
              <a:t>.Dataset</a:t>
            </a:r>
            <a:endParaRPr lang="fr-FR" sz="2800"/>
          </a:p>
        </p:txBody>
      </p:sp>
      <p:sp>
        <p:nvSpPr>
          <p:cNvPr id="22" name="TextBox 21"/>
          <p:cNvSpPr txBox="1"/>
          <p:nvPr/>
        </p:nvSpPr>
        <p:spPr>
          <a:xfrm>
            <a:off x="3667276" y="4490704"/>
            <a:ext cx="4791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class </a:t>
            </a:r>
            <a:r>
              <a:rPr lang="fr-FR" sz="2800"/>
              <a:t>org.apache.spark.rdd.</a:t>
            </a:r>
            <a:r>
              <a:rPr lang="fr-FR" sz="2800" b="1"/>
              <a:t>RDD</a:t>
            </a:r>
            <a:endParaRPr lang="fr-FR" sz="2800"/>
          </a:p>
        </p:txBody>
      </p:sp>
      <p:sp>
        <p:nvSpPr>
          <p:cNvPr id="30" name="Arrow: Down 29"/>
          <p:cNvSpPr/>
          <p:nvPr/>
        </p:nvSpPr>
        <p:spPr>
          <a:xfrm>
            <a:off x="5684762" y="3987753"/>
            <a:ext cx="512838" cy="66686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3526971" y="4518137"/>
            <a:ext cx="8350553" cy="220197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32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65553" y="2338974"/>
            <a:ext cx="1731327" cy="898847"/>
          </a:xfrm>
          <a:prstGeom prst="rect">
            <a:avLst/>
          </a:prstGeom>
          <a:noFill/>
        </p:spPr>
      </p:pic>
      <p:sp>
        <p:nvSpPr>
          <p:cNvPr id="34" name="TextBox 33"/>
          <p:cNvSpPr txBox="1"/>
          <p:nvPr/>
        </p:nvSpPr>
        <p:spPr>
          <a:xfrm>
            <a:off x="2899666" y="2519896"/>
            <a:ext cx="9573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Sql</a:t>
            </a:r>
            <a:endParaRPr lang="fr-FR" sz="4800" b="1"/>
          </a:p>
        </p:txBody>
      </p:sp>
      <p:sp>
        <p:nvSpPr>
          <p:cNvPr id="36" name="TextBox 35"/>
          <p:cNvSpPr txBox="1"/>
          <p:nvPr/>
        </p:nvSpPr>
        <p:spPr>
          <a:xfrm>
            <a:off x="1156304" y="1017407"/>
            <a:ext cx="2085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module </a:t>
            </a:r>
            <a:r>
              <a:rPr lang="fr-FR" sz="1800"/>
              <a:t>spark-sql</a:t>
            </a:r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3241523" y="4168675"/>
            <a:ext cx="1925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m</a:t>
            </a:r>
            <a:r>
              <a:rPr lang="fr-FR" sz="1800"/>
              <a:t>odule </a:t>
            </a:r>
            <a:r>
              <a:rPr lang="fr-FR" sz="1800"/>
              <a:t>spark</a:t>
            </a:r>
            <a:r>
              <a:rPr lang="fr-FR" sz="1800"/>
              <a:t> </a:t>
            </a:r>
            <a:r>
              <a:rPr lang="fr-FR" sz="1800"/>
              <a:t>core</a:t>
            </a:r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" name="Object 2">
            <a:extLst>
              <a:ext uri="{FF2B5EF4-FFF2-40B4-BE49-F238E27FC236}">
                <a16:creationId xmlns:a16="http://schemas.microsoft.com/office/drawing/2014/main" id="{A9C01D02-73AA-F21E-C9C1-D94E0150012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60197" y="5091517"/>
          <a:ext cx="1948799" cy="1584238"/>
        </p:xfrm>
        <a:graphic>
          <a:graphicData uri="http://schemas.openxmlformats.org/presentationml/2006/ole">
            <p:oleObj xmlns:mc="http://schemas.openxmlformats.org/markup-compatibility/2006" name="Bitmap Image" r:id="rId3" imgW="2994840" imgH="2434680" progId="PBrush">
              <p:embed/>
              <p:pic>
                <p:nvPicPr>
                  <p:cNvPr id="3" name="Object 2">
                    <a:extLst>
                      <a:ext uri="{FF2B5EF4-FFF2-40B4-BE49-F238E27FC236}">
                        <a16:creationId xmlns:a16="http://schemas.microsoft.com/office/drawing/2014/main" id="{A9C01D02-73AA-F21E-C9C1-D94E0150012C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460197" y="5091517"/>
                    <a:ext cx="1948799" cy="158423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23A6CD7D-A2F9-9ED0-7296-E70914CD1B0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3" y="5457306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23A6CD7D-A2F9-9ED0-7296-E70914CD1B0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3" y="5457306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" name="Object 20">
            <a:extLst>
              <a:ext uri="{FF2B5EF4-FFF2-40B4-BE49-F238E27FC236}">
                <a16:creationId xmlns:a16="http://schemas.microsoft.com/office/drawing/2014/main" id="{2947CDF3-F7C5-2239-7AC0-19CD580B5A7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3" y="5808041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1" name="Object 20">
                    <a:extLst>
                      <a:ext uri="{FF2B5EF4-FFF2-40B4-BE49-F238E27FC236}">
                        <a16:creationId xmlns:a16="http://schemas.microsoft.com/office/drawing/2014/main" id="{2947CDF3-F7C5-2239-7AC0-19CD580B5A7B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3" y="5808041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" name="Object 22">
            <a:extLst>
              <a:ext uri="{FF2B5EF4-FFF2-40B4-BE49-F238E27FC236}">
                <a16:creationId xmlns:a16="http://schemas.microsoft.com/office/drawing/2014/main" id="{DF00CBD8-CE84-4D13-DBD9-E5A27391FD7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000652" y="6151453"/>
          <a:ext cx="845567" cy="273142"/>
        </p:xfrm>
        <a:graphic>
          <a:graphicData uri="http://schemas.openxmlformats.org/presentationml/2006/ole">
            <p:oleObj xmlns:mc="http://schemas.openxmlformats.org/markup-compatibility/2006" name="Bitmap Image" r:id="rId7" imgW="1489680" imgH="480240" progId="PBrush">
              <p:embed/>
              <p:pic>
                <p:nvPicPr>
                  <p:cNvPr id="23" name="Object 22">
                    <a:extLst>
                      <a:ext uri="{FF2B5EF4-FFF2-40B4-BE49-F238E27FC236}">
                        <a16:creationId xmlns:a16="http://schemas.microsoft.com/office/drawing/2014/main" id="{DF00CBD8-CE84-4D13-DBD9-E5A27391FD7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000652" y="6151453"/>
                    <a:ext cx="845567" cy="27314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2899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module "spark-sql"</a:t>
            </a:r>
          </a:p>
        </p:txBody>
      </p:sp>
      <p:sp>
        <p:nvSpPr>
          <p:cNvPr id="43186" name="TextBox 2"/>
          <p:cNvSpPr txBox="1"/>
          <p:nvPr/>
        </p:nvSpPr>
        <p:spPr>
          <a:xfrm>
            <a:off x="3048000" y="2743200"/>
            <a:ext cx="7320242" cy="1371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/>
              <a:t>=&gt; SQL Grammar  to Code parser</a:t>
            </a:r>
            <a:br>
              <a:rPr sz="2800"/>
            </a:br>
            <a:br>
              <a:rPr sz="2800"/>
            </a:br>
            <a:r>
              <a:rPr sz="2800"/>
              <a:t>Expression AST (=Abstract Syntactic Tree)</a:t>
            </a:r>
            <a:endParaRPr sz="28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073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Encoder .. </a:t>
            </a:r>
            <a:r>
              <a:rPr lang="fr-FR"/>
              <a:t>Internal</a:t>
            </a:r>
            <a:r>
              <a:rPr lang="fr-FR"/>
              <a:t> Expression </a:t>
            </a:r>
            <a:r>
              <a:rPr lang="fr-FR"/>
              <a:t>with</a:t>
            </a:r>
            <a:r>
              <a:rPr lang="fr-FR"/>
              <a:t> </a:t>
            </a:r>
            <a:r>
              <a:rPr lang="fr-FR"/>
              <a:t>DataType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3806736" y="2689286"/>
            <a:ext cx="3289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abstract class </a:t>
            </a:r>
            <a:r>
              <a:rPr lang="fr-FR" sz="2400" b="1"/>
              <a:t>Expression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867" y="1513522"/>
            <a:ext cx="894489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Expression abstract class AST ( Abstract </a:t>
            </a:r>
            <a:r>
              <a:rPr lang="fr-FR" sz="2800"/>
              <a:t>Syntactic</a:t>
            </a:r>
            <a:r>
              <a:rPr lang="fr-FR" sz="2800"/>
              <a:t> </a:t>
            </a:r>
            <a:r>
              <a:rPr lang="fr-FR" sz="2800"/>
              <a:t>Tree</a:t>
            </a:r>
            <a:r>
              <a:rPr lang="fr-FR" sz="2800"/>
              <a:t> )  </a:t>
            </a:r>
          </a:p>
          <a:p>
            <a:r>
              <a:rPr lang="fr-FR" sz="2800"/>
              <a:t>for </a:t>
            </a:r>
            <a:r>
              <a:rPr lang="fr-FR" sz="2800"/>
              <a:t>Sql</a:t>
            </a:r>
            <a:r>
              <a:rPr lang="fr-FR" sz="2800"/>
              <a:t> / </a:t>
            </a:r>
            <a:r>
              <a:rPr lang="fr-FR" sz="2800"/>
              <a:t>CodeGenerator</a:t>
            </a:r>
            <a:r>
              <a:rPr lang="fr-FR" sz="2800"/>
              <a:t> /  Java Getter-Setter</a:t>
            </a:r>
          </a:p>
        </p:txBody>
      </p:sp>
      <p:cxnSp>
        <p:nvCxnSpPr>
          <p:cNvPr id="8" name="Straight Arrow Connector 7"/>
          <p:cNvCxnSpPr>
            <a:endCxn id="4" idx="2"/>
          </p:cNvCxnSpPr>
          <p:nvPr/>
        </p:nvCxnSpPr>
        <p:spPr>
          <a:xfrm flipV="1">
            <a:off x="5450359" y="3150951"/>
            <a:ext cx="1090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227008" y="4336641"/>
            <a:ext cx="1579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LeafExpression</a:t>
            </a:r>
            <a:endParaRPr lang="fr-FR"/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1884515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2955001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916967" y="4349091"/>
            <a:ext cx="1752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UnaryExpression</a:t>
            </a:r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5867402" y="4361984"/>
            <a:ext cx="1782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BinaryExpression</a:t>
            </a:r>
            <a:endParaRPr lang="fr-FR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4647994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6464306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1863011" y="3743796"/>
            <a:ext cx="995044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31525" y="4361984"/>
            <a:ext cx="764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Literal</a:t>
            </a:r>
            <a:endParaRPr lang="fr-FR"/>
          </a:p>
        </p:txBody>
      </p:sp>
      <p:cxnSp>
        <p:nvCxnSpPr>
          <p:cNvPr id="19" name="Straight Arrow Connector 18"/>
          <p:cNvCxnSpPr/>
          <p:nvPr/>
        </p:nvCxnSpPr>
        <p:spPr>
          <a:xfrm flipV="1">
            <a:off x="2955002" y="473131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531604" y="515226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2531605" y="516763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2860985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138746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4641047" y="471594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217649" y="513689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4217650" y="515226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4547030" y="515226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4824791" y="515226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6482137" y="4731316"/>
            <a:ext cx="0" cy="42095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6058739" y="5152267"/>
            <a:ext cx="84577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V="1">
            <a:off x="6058740" y="5167638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6388120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6665881" y="5167637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976123" y="5482914"/>
            <a:ext cx="13563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(</a:t>
            </a:r>
            <a:r>
              <a:rPr lang="fr-FR"/>
              <a:t>Named</a:t>
            </a:r>
            <a:r>
              <a:rPr lang="fr-FR"/>
              <a:t>)</a:t>
            </a:r>
          </a:p>
          <a:p>
            <a:r>
              <a:rPr lang="fr-FR"/>
              <a:t>Attr</a:t>
            </a:r>
            <a:r>
              <a:rPr lang="fr-FR"/>
              <a:t>, Alias, 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38655" y="5588587"/>
            <a:ext cx="2911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+, -, *, ==, !=, &lt;=, &gt;=, LIKE, … </a:t>
            </a:r>
          </a:p>
          <a:p>
            <a:r>
              <a:rPr lang="fr-FR"/>
              <a:t>AND, OR,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06736" y="5601480"/>
            <a:ext cx="1393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-, Not, new ..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2756395" y="2949677"/>
            <a:ext cx="906865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279201" y="2712153"/>
            <a:ext cx="13938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DataType</a:t>
            </a:r>
            <a:endParaRPr lang="fr-FR" sz="2400" b="1"/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8561102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 flipV="1">
            <a:off x="9534829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V="1">
            <a:off x="10541994" y="3743795"/>
            <a:ext cx="1" cy="5928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848295" y="4439680"/>
            <a:ext cx="2039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CreateNamedStruct</a:t>
            </a:r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9023860" y="4767565"/>
            <a:ext cx="1298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CreateArray</a:t>
            </a:r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9927691" y="5152267"/>
            <a:ext cx="1228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CreateMap</a:t>
            </a:r>
            <a:endParaRPr lang="fr-FR"/>
          </a:p>
        </p:txBody>
      </p:sp>
      <p:sp>
        <p:nvSpPr>
          <p:cNvPr id="50" name="TextBox 49"/>
          <p:cNvSpPr txBox="1"/>
          <p:nvPr/>
        </p:nvSpPr>
        <p:spPr>
          <a:xfrm>
            <a:off x="10191728" y="4399314"/>
            <a:ext cx="1358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InitJavaBean</a:t>
            </a:r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11444748" y="458398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…</a:t>
            </a:r>
          </a:p>
        </p:txBody>
      </p:sp>
      <p:cxnSp>
        <p:nvCxnSpPr>
          <p:cNvPr id="52" name="Straight Arrow Connector 51"/>
          <p:cNvCxnSpPr/>
          <p:nvPr/>
        </p:nvCxnSpPr>
        <p:spPr>
          <a:xfrm flipV="1">
            <a:off x="11021189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11350569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1628330" y="3743795"/>
            <a:ext cx="0" cy="40558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class </a:t>
            </a:r>
            <a:r>
              <a:rPr lang="fr-FR"/>
              <a:t>Dataset</a:t>
            </a:r>
            <a:r>
              <a:rPr lang="fr-FR"/>
              <a:t>&lt;T&gt; {     </a:t>
            </a:r>
            <a:r>
              <a:rPr lang="fr-FR"/>
              <a:t>internals</a:t>
            </a:r>
            <a:r>
              <a:rPr lang="fr-FR"/>
              <a:t>…  }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85D340DA-FBDF-EC2E-171D-3CCC36685A8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9398" y="2491414"/>
          <a:ext cx="1949323" cy="155391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85D340DA-FBDF-EC2E-171D-3CCC36685A8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79398" y="2491414"/>
                    <a:ext cx="1949323" cy="155391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0462" y="2029749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Dataset</a:t>
            </a:r>
            <a:r>
              <a:rPr lang="fr-FR" sz="2400" b="1"/>
              <a:t>&lt;T&gt;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021622" y="2809240"/>
            <a:ext cx="1198880" cy="45913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2021622" y="3472806"/>
            <a:ext cx="1244600" cy="257229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02058" y="1991806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SparkSession</a:t>
            </a:r>
            <a:endParaRPr lang="fr-FR" sz="2400" b="1"/>
          </a:p>
        </p:txBody>
      </p:sp>
      <p:sp>
        <p:nvSpPr>
          <p:cNvPr id="15" name="TextBox 14"/>
          <p:cNvSpPr txBox="1"/>
          <p:nvPr/>
        </p:nvSpPr>
        <p:spPr>
          <a:xfrm>
            <a:off x="9521757" y="2002912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SparkContext</a:t>
            </a:r>
            <a:endParaRPr lang="fr-FR" sz="2400" b="1"/>
          </a:p>
        </p:txBody>
      </p:sp>
      <p:cxnSp>
        <p:nvCxnSpPr>
          <p:cNvPr id="16" name="Straight Arrow Connector 15"/>
          <p:cNvCxnSpPr>
            <a:endCxn id="15" idx="1"/>
          </p:cNvCxnSpPr>
          <p:nvPr/>
        </p:nvCxnSpPr>
        <p:spPr>
          <a:xfrm flipV="1">
            <a:off x="8976360" y="2233745"/>
            <a:ext cx="545397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11944" y="3459480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Encoder&lt;T&gt;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1944" y="2535535"/>
            <a:ext cx="2570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QueryExecution</a:t>
            </a:r>
            <a:endParaRPr lang="fr-FR" sz="2400" b="1"/>
          </a:p>
        </p:txBody>
      </p:sp>
      <p:cxnSp>
        <p:nvCxnSpPr>
          <p:cNvPr id="20" name="Straight Arrow Connector 19"/>
          <p:cNvCxnSpPr/>
          <p:nvPr/>
        </p:nvCxnSpPr>
        <p:spPr>
          <a:xfrm flipV="1">
            <a:off x="5804119" y="2260581"/>
            <a:ext cx="1198880" cy="45913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5778" y="3131506"/>
            <a:ext cx="31766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LogicalPlan</a:t>
            </a:r>
            <a:r>
              <a:rPr lang="fr-FR" sz="2400" b="1"/>
              <a:t>  (AST)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804119" y="2856249"/>
            <a:ext cx="1198880" cy="521329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5778" y="5423418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ExecutedPlan</a:t>
            </a:r>
            <a:endParaRPr lang="fr-FR" sz="2400" b="1"/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7828280" y="3647440"/>
            <a:ext cx="0" cy="612658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9057640" y="5699760"/>
            <a:ext cx="1137920" cy="0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312400" y="5468927"/>
            <a:ext cx="944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RDD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5152" y="5319322"/>
            <a:ext cx="1055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execute</a:t>
            </a:r>
            <a:r>
              <a:rPr lang="fr-FR"/>
              <a:t>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0823" y="3714569"/>
            <a:ext cx="1025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analyze</a:t>
            </a:r>
            <a:r>
              <a:rPr lang="fr-FR"/>
              <a:t>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2058" y="4377031"/>
            <a:ext cx="2113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AnalyzedPlan</a:t>
            </a:r>
            <a:endParaRPr lang="fr-FR" sz="2400" b="1"/>
          </a:p>
        </p:txBody>
      </p:sp>
      <p:sp>
        <p:nvSpPr>
          <p:cNvPr id="39" name="TextBox 38"/>
          <p:cNvSpPr txBox="1"/>
          <p:nvPr/>
        </p:nvSpPr>
        <p:spPr>
          <a:xfrm>
            <a:off x="10312400" y="4377030"/>
            <a:ext cx="1420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Schema</a:t>
            </a:r>
            <a:endParaRPr lang="fr-FR" sz="2400" b="1"/>
          </a:p>
        </p:txBody>
      </p:sp>
      <p:sp>
        <p:nvSpPr>
          <p:cNvPr id="40" name="TextBox 39"/>
          <p:cNvSpPr txBox="1"/>
          <p:nvPr/>
        </p:nvSpPr>
        <p:spPr>
          <a:xfrm>
            <a:off x="9121432" y="4272935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schema()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828280" y="4894149"/>
            <a:ext cx="0" cy="612658"/>
          </a:xfrm>
          <a:prstGeom prst="straightConnector1">
            <a:avLst/>
          </a:prstGeom>
          <a:ln w="25400"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50823" y="4961278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action</a:t>
            </a:r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9058251" y="4664763"/>
            <a:ext cx="1152767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96677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Encoder&lt;T&gt;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D745B209-4DC6-34E4-9717-DB4313E039D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1337" y="2143932"/>
          <a:ext cx="1465715" cy="547819"/>
        </p:xfrm>
        <a:graphic>
          <a:graphicData uri="http://schemas.openxmlformats.org/presentationml/2006/ole">
            <p:oleObj xmlns:mc="http://schemas.openxmlformats.org/markup-compatibility/2006" name="Bitmap Image" r:id="rId2" imgW="3508920" imgH="131076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D745B209-4DC6-34E4-9717-DB4313E039D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31337" y="2143932"/>
                    <a:ext cx="1465715" cy="54781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57990486-BB89-C3B3-05D4-C2C8C25FC5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154324" y="4124241"/>
          <a:ext cx="1171656" cy="328418"/>
        </p:xfrm>
        <a:graphic>
          <a:graphicData uri="http://schemas.openxmlformats.org/presentationml/2006/ole">
            <p:oleObj xmlns:mc="http://schemas.openxmlformats.org/markup-compatibility/2006" name="Bitmap Image" r:id="rId4" imgW="1489680" imgH="48024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57990486-BB89-C3B3-05D4-C2C8C25FC502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154324" y="4124241"/>
                    <a:ext cx="1171656" cy="328418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267354" y="4008317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Object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8888682" y="4418351"/>
            <a:ext cx="806085" cy="2670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 flipH="1">
            <a:off x="8850575" y="3961015"/>
            <a:ext cx="812799" cy="26703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8905980" y="3476181"/>
            <a:ext cx="168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Getter Methods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06346" y="4761983"/>
            <a:ext cx="1644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Setter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081" y="1410225"/>
            <a:ext cx="97912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Encoder = { </a:t>
            </a:r>
            <a:r>
              <a:rPr lang="fr-FR" sz="2800" b="1"/>
              <a:t>objectSerializer</a:t>
            </a:r>
            <a:r>
              <a:rPr lang="fr-FR" sz="2800"/>
              <a:t>, </a:t>
            </a:r>
            <a:r>
              <a:rPr lang="fr-FR" sz="2800" b="1"/>
              <a:t>objectDeserializer</a:t>
            </a:r>
            <a:r>
              <a:rPr lang="fr-FR" sz="2800"/>
              <a:t>: Expression, </a:t>
            </a:r>
            <a:r>
              <a:rPr lang="fr-FR" sz="2800" b="1"/>
              <a:t>class</a:t>
            </a:r>
            <a:r>
              <a:rPr lang="fr-FR" sz="2800"/>
              <a:t>}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10736709" y="4638455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flipV="1">
            <a:off x="10909429" y="4645003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11080758" y="4645003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11278498" y="4657612"/>
            <a:ext cx="0" cy="49286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46471" y="5342816"/>
            <a:ext cx="2436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field1, field2, … </a:t>
            </a:r>
            <a:r>
              <a:rPr lang="fr-FR"/>
              <a:t>fieldN</a:t>
            </a:r>
            <a:endParaRPr lang="fr-FR"/>
          </a:p>
        </p:txBody>
      </p:sp>
      <p:sp>
        <p:nvSpPr>
          <p:cNvPr id="30" name="Rectangle: Rounded Corners 29"/>
          <p:cNvSpPr/>
          <p:nvPr/>
        </p:nvSpPr>
        <p:spPr>
          <a:xfrm>
            <a:off x="2970196" y="2163215"/>
            <a:ext cx="3732614" cy="443668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: Rounded Corners 30"/>
          <p:cNvSpPr/>
          <p:nvPr/>
        </p:nvSpPr>
        <p:spPr>
          <a:xfrm>
            <a:off x="4845304" y="2917230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Arrow: Right 31"/>
          <p:cNvSpPr/>
          <p:nvPr/>
        </p:nvSpPr>
        <p:spPr>
          <a:xfrm>
            <a:off x="5697238" y="3432800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row: Right 32"/>
          <p:cNvSpPr/>
          <p:nvPr/>
        </p:nvSpPr>
        <p:spPr>
          <a:xfrm flipH="1">
            <a:off x="5659132" y="2975464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3647079" y="2630581"/>
            <a:ext cx="1358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[1]</a:t>
            </a:r>
          </a:p>
        </p:txBody>
      </p:sp>
      <p:sp>
        <p:nvSpPr>
          <p:cNvPr id="37" name="Rectangle: Rounded Corners 36"/>
          <p:cNvSpPr/>
          <p:nvPr/>
        </p:nvSpPr>
        <p:spPr>
          <a:xfrm>
            <a:off x="4833066" y="3945280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Arrow: Right 37"/>
          <p:cNvSpPr/>
          <p:nvPr/>
        </p:nvSpPr>
        <p:spPr>
          <a:xfrm>
            <a:off x="5685000" y="4460850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Arrow: Right 38"/>
          <p:cNvSpPr/>
          <p:nvPr/>
        </p:nvSpPr>
        <p:spPr>
          <a:xfrm flipH="1">
            <a:off x="5646894" y="4003514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3644304" y="3754266"/>
            <a:ext cx="1288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[2]</a:t>
            </a:r>
          </a:p>
        </p:txBody>
      </p:sp>
      <p:sp>
        <p:nvSpPr>
          <p:cNvPr id="41" name="Rectangle: Rounded Corners 40"/>
          <p:cNvSpPr/>
          <p:nvPr/>
        </p:nvSpPr>
        <p:spPr>
          <a:xfrm>
            <a:off x="4833066" y="5447636"/>
            <a:ext cx="1781307" cy="88756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>
            <a:off x="5685000" y="5963206"/>
            <a:ext cx="806085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Arrow: Right 42"/>
          <p:cNvSpPr/>
          <p:nvPr/>
        </p:nvSpPr>
        <p:spPr>
          <a:xfrm flipH="1">
            <a:off x="5646894" y="5505870"/>
            <a:ext cx="812799" cy="3077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3566645" y="5373893"/>
            <a:ext cx="1335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fieldExpr</a:t>
            </a:r>
            <a:r>
              <a:rPr lang="fr-FR"/>
              <a:t>[N]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3685" y="3016454"/>
            <a:ext cx="9753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name</a:t>
            </a:r>
            <a:endParaRPr lang="fr-FR"/>
          </a:p>
          <a:p>
            <a:r>
              <a:rPr lang="fr-FR"/>
              <a:t>type</a:t>
            </a:r>
          </a:p>
        </p:txBody>
      </p:sp>
      <p:pic>
        <p:nvPicPr>
          <p:cNvPr id="46" name="Picture 2" descr="Working with Tabular Data - Matthewrenze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67217" y="4343167"/>
            <a:ext cx="1810934" cy="1591198"/>
          </a:xfrm>
          <a:prstGeom prst="rect">
            <a:avLst/>
          </a:prstGeom>
          <a:noFill/>
        </p:spPr>
      </p:pic>
      <p:cxnSp>
        <p:nvCxnSpPr>
          <p:cNvPr id="14" name="Straight Arrow Connector 13"/>
          <p:cNvCxnSpPr/>
          <p:nvPr/>
        </p:nvCxnSpPr>
        <p:spPr>
          <a:xfrm flipH="1" flipV="1">
            <a:off x="773886" y="485324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91814" y="6378733"/>
            <a:ext cx="2133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colValues</a:t>
            </a:r>
            <a:r>
              <a:rPr lang="fr-FR"/>
              <a:t>[ </a:t>
            </a:r>
            <a:r>
              <a:rPr lang="fr-FR"/>
              <a:t>rowIndex</a:t>
            </a:r>
            <a:r>
              <a:rPr lang="fr-FR"/>
              <a:t>]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789126" y="514788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794206" y="5462841"/>
            <a:ext cx="589271" cy="953572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/>
          <p:nvPr/>
        </p:nvCxnSpPr>
        <p:spPr>
          <a:xfrm flipV="1">
            <a:off x="614071" y="2419267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V="1">
            <a:off x="1019080" y="2431373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455580" y="2441239"/>
            <a:ext cx="0" cy="567986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6031" y="3029712"/>
            <a:ext cx="2895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row.getAt</a:t>
            </a:r>
            <a:r>
              <a:rPr lang="fr-FR"/>
              <a:t>(</a:t>
            </a:r>
            <a:r>
              <a:rPr lang="fr-FR"/>
              <a:t>colIndex</a:t>
            </a:r>
            <a:r>
              <a:rPr lang="fr-FR"/>
              <a:t>)</a:t>
            </a:r>
          </a:p>
          <a:p>
            <a:r>
              <a:rPr lang="fr-FR"/>
              <a:t>       .</a:t>
            </a:r>
            <a:r>
              <a:rPr lang="fr-FR"/>
              <a:t>setAt</a:t>
            </a:r>
            <a:r>
              <a:rPr lang="fr-FR"/>
              <a:t>(</a:t>
            </a:r>
            <a:r>
              <a:rPr lang="fr-FR"/>
              <a:t>colIndex</a:t>
            </a:r>
            <a:r>
              <a:rPr lang="fr-FR"/>
              <a:t>, value)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0505" y="4060004"/>
            <a:ext cx="1846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Columnar</a:t>
            </a:r>
            <a:r>
              <a:rPr lang="fr-FR"/>
              <a:t> </a:t>
            </a:r>
            <a:r>
              <a:rPr lang="fr-FR"/>
              <a:t>storage</a:t>
            </a:r>
            <a:endParaRPr lang="fr-FR"/>
          </a:p>
        </p:txBody>
      </p:sp>
      <p:sp>
        <p:nvSpPr>
          <p:cNvPr id="53" name="TextBox 52"/>
          <p:cNvSpPr txBox="1"/>
          <p:nvPr/>
        </p:nvSpPr>
        <p:spPr>
          <a:xfrm>
            <a:off x="359110" y="1516884"/>
            <a:ext cx="15386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Row </a:t>
            </a:r>
            <a:r>
              <a:rPr lang="fr-FR"/>
              <a:t>storage</a:t>
            </a:r>
            <a:endParaRPr lang="fr-FR"/>
          </a:p>
          <a:p>
            <a:r>
              <a:rPr lang="fr-FR"/>
              <a:t>Dataset</a:t>
            </a:r>
            <a:r>
              <a:rPr lang="fr-FR"/>
              <a:t>&lt;Row&gt;</a:t>
            </a:r>
          </a:p>
        </p:txBody>
      </p:sp>
      <p:sp>
        <p:nvSpPr>
          <p:cNvPr id="54" name="Arrow: Chevron 53"/>
          <p:cNvSpPr/>
          <p:nvPr/>
        </p:nvSpPr>
        <p:spPr>
          <a:xfrm>
            <a:off x="7158413" y="4708144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5" name="Arrow: Chevron 54"/>
          <p:cNvSpPr/>
          <p:nvPr/>
        </p:nvSpPr>
        <p:spPr>
          <a:xfrm>
            <a:off x="7509521" y="4733120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6" name="Arrow: Chevron 55"/>
          <p:cNvSpPr/>
          <p:nvPr/>
        </p:nvSpPr>
        <p:spPr>
          <a:xfrm rot="10800000">
            <a:off x="7498257" y="3707939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7" name="Arrow: Chevron 56"/>
          <p:cNvSpPr/>
          <p:nvPr/>
        </p:nvSpPr>
        <p:spPr>
          <a:xfrm rot="10800000">
            <a:off x="7165717" y="3700922"/>
            <a:ext cx="442844" cy="474681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59675" y="2508110"/>
            <a:ext cx="16902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Convert</a:t>
            </a:r>
            <a:r>
              <a:rPr lang="fr-FR"/>
              <a:t> </a:t>
            </a:r>
          </a:p>
          <a:p>
            <a:r>
              <a:rPr lang="fr-FR"/>
              <a:t>To Spark </a:t>
            </a:r>
          </a:p>
          <a:p>
            <a:r>
              <a:rPr lang="fr-FR"/>
              <a:t>« Type System 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5414" y="2239281"/>
            <a:ext cx="21455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CreateNamedStruct</a:t>
            </a:r>
            <a:endParaRPr lang="fr-F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0"/>
            <a:ext cx="10515600" cy="281178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Types,  </a:t>
            </a:r>
            <a:r>
              <a:rPr lang="fr-FR"/>
              <a:t>Nested</a:t>
            </a:r>
            <a:r>
              <a:rPr lang="fr-FR"/>
              <a:t> </a:t>
            </a:r>
            <a:r>
              <a:rPr lang="fr-FR"/>
              <a:t>struct</a:t>
            </a:r>
            <a:r>
              <a:rPr lang="fr-FR"/>
              <a:t>/</a:t>
            </a:r>
            <a:r>
              <a:rPr lang="fr-FR"/>
              <a:t>map</a:t>
            </a:r>
            <a:r>
              <a:rPr lang="fr-FR"/>
              <a:t>/</a:t>
            </a:r>
            <a:r>
              <a:rPr lang="fr-FR"/>
              <a:t>array</a:t>
            </a:r>
            <a:br>
              <a:rPr lang="fr-FR"/>
            </a:br>
            <a:br>
              <a:rPr lang="fr-FR"/>
            </a:br>
            <a:br>
              <a:rPr lang="fr-FR"/>
            </a:br>
            <a:r>
              <a:rPr lang="fr-FR"/>
              <a:t>SQL "</a:t>
            </a:r>
            <a:r>
              <a:rPr lang="fr-FR"/>
              <a:t>lateral</a:t>
            </a:r>
            <a:r>
              <a:rPr lang="fr-FR"/>
              <a:t> </a:t>
            </a:r>
            <a:r>
              <a:rPr lang="fr-FR"/>
              <a:t>view</a:t>
            </a:r>
            <a:r>
              <a:rPr lang="fr-FR"/>
              <a:t>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6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Internal</a:t>
            </a:r>
            <a:r>
              <a:rPr lang="fr-FR"/>
              <a:t> Spark « Type System »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4895299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 flipV="1">
            <a:off x="6678360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8524365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55503" y="1742484"/>
            <a:ext cx="39786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fr-FR" sz="2400"/>
              <a:t>…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10719417" y="2074730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V="1">
            <a:off x="2572611" y="208802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V="1">
            <a:off x="934064" y="208802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934064" y="2074450"/>
            <a:ext cx="9950447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6316" y="2617658"/>
            <a:ext cx="14571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NullType</a:t>
            </a:r>
            <a:endParaRPr lang="fr-FR" sz="280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569703" y="3232994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1499217" y="3825839"/>
            <a:ext cx="327926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1528916" y="3829896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0775" y="4326787"/>
            <a:ext cx="2066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BooleanType</a:t>
            </a:r>
            <a:endParaRPr lang="fr-FR" sz="2800"/>
          </a:p>
        </p:txBody>
      </p:sp>
      <p:sp>
        <p:nvSpPr>
          <p:cNvPr id="28" name="TextBox 27"/>
          <p:cNvSpPr txBox="1"/>
          <p:nvPr/>
        </p:nvSpPr>
        <p:spPr>
          <a:xfrm>
            <a:off x="5043058" y="3529416"/>
            <a:ext cx="39786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fr-FR" sz="2400"/>
              <a:t>…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2408407" y="3854535"/>
            <a:ext cx="11983" cy="95810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V="1">
            <a:off x="3400734" y="3858791"/>
            <a:ext cx="1" cy="592845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4381079" y="3840934"/>
            <a:ext cx="0" cy="971706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5744039" y="1646754"/>
            <a:ext cx="10798" cy="441270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Left Brace 37"/>
          <p:cNvSpPr/>
          <p:nvPr/>
        </p:nvSpPr>
        <p:spPr>
          <a:xfrm rot="16200000">
            <a:off x="2315102" y="3617254"/>
            <a:ext cx="524410" cy="463303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Left Brace 39"/>
          <p:cNvSpPr/>
          <p:nvPr/>
        </p:nvSpPr>
        <p:spPr>
          <a:xfrm rot="16200000">
            <a:off x="8262160" y="2528926"/>
            <a:ext cx="524410" cy="684770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1055401" y="6149881"/>
            <a:ext cx="3838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Simple</a:t>
            </a:r>
            <a:r>
              <a:rPr lang="fr-FR" sz="2800"/>
              <a:t> Value (like in SQL)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7080" y="6157255"/>
            <a:ext cx="46387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Composite</a:t>
            </a:r>
            <a:r>
              <a:rPr lang="fr-FR" sz="2800"/>
              <a:t> Value (like in JSON)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03176" y="2610380"/>
            <a:ext cx="18982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AtomicType</a:t>
            </a:r>
            <a:endParaRPr lang="fr-FR" sz="2800"/>
          </a:p>
        </p:txBody>
      </p:sp>
      <p:sp>
        <p:nvSpPr>
          <p:cNvPr id="44" name="TextBox 43"/>
          <p:cNvSpPr txBox="1"/>
          <p:nvPr/>
        </p:nvSpPr>
        <p:spPr>
          <a:xfrm>
            <a:off x="3931045" y="2587757"/>
            <a:ext cx="1763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Struct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5" name="TextBox 44"/>
          <p:cNvSpPr txBox="1"/>
          <p:nvPr/>
        </p:nvSpPr>
        <p:spPr>
          <a:xfrm>
            <a:off x="5954036" y="2560140"/>
            <a:ext cx="16800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Array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6" name="TextBox 45"/>
          <p:cNvSpPr txBox="1"/>
          <p:nvPr/>
        </p:nvSpPr>
        <p:spPr>
          <a:xfrm>
            <a:off x="7716811" y="2569183"/>
            <a:ext cx="1556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Map</a:t>
            </a:r>
            <a:r>
              <a:rPr lang="fr-FR" sz="2800"/>
              <a:t>Type</a:t>
            </a:r>
            <a:endParaRPr lang="fr-FR" sz="2800"/>
          </a:p>
        </p:txBody>
      </p:sp>
      <p:sp>
        <p:nvSpPr>
          <p:cNvPr id="47" name="TextBox 46"/>
          <p:cNvSpPr txBox="1"/>
          <p:nvPr/>
        </p:nvSpPr>
        <p:spPr>
          <a:xfrm>
            <a:off x="9319963" y="2563776"/>
            <a:ext cx="26899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UserDefinedType</a:t>
            </a:r>
            <a:endParaRPr lang="fr-FR" sz="2800"/>
          </a:p>
        </p:txBody>
      </p:sp>
      <p:sp>
        <p:nvSpPr>
          <p:cNvPr id="48" name="TextBox 47"/>
          <p:cNvSpPr txBox="1"/>
          <p:nvPr/>
        </p:nvSpPr>
        <p:spPr>
          <a:xfrm>
            <a:off x="1375239" y="4855656"/>
            <a:ext cx="2117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NumericType</a:t>
            </a:r>
            <a:endParaRPr lang="fr-FR" sz="2800"/>
          </a:p>
        </p:txBody>
      </p:sp>
      <p:sp>
        <p:nvSpPr>
          <p:cNvPr id="49" name="TextBox 48"/>
          <p:cNvSpPr txBox="1"/>
          <p:nvPr/>
        </p:nvSpPr>
        <p:spPr>
          <a:xfrm>
            <a:off x="2500690" y="4357879"/>
            <a:ext cx="17216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StringType</a:t>
            </a:r>
            <a:endParaRPr lang="fr-FR" sz="2800"/>
          </a:p>
        </p:txBody>
      </p:sp>
      <p:sp>
        <p:nvSpPr>
          <p:cNvPr id="50" name="TextBox 49"/>
          <p:cNvSpPr txBox="1"/>
          <p:nvPr/>
        </p:nvSpPr>
        <p:spPr>
          <a:xfrm>
            <a:off x="3667566" y="4870222"/>
            <a:ext cx="1555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DateType</a:t>
            </a:r>
            <a:endParaRPr lang="fr-FR" sz="2800"/>
          </a:p>
        </p:txBody>
      </p:sp>
      <p:sp>
        <p:nvSpPr>
          <p:cNvPr id="51" name="TextBox 50"/>
          <p:cNvSpPr txBox="1"/>
          <p:nvPr/>
        </p:nvSpPr>
        <p:spPr>
          <a:xfrm>
            <a:off x="4803111" y="1016574"/>
            <a:ext cx="19379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/>
              <a:t>DataType</a:t>
            </a:r>
            <a:endParaRPr lang="fr-FR" sz="3600"/>
          </a:p>
        </p:txBody>
      </p:sp>
      <p:sp>
        <p:nvSpPr>
          <p:cNvPr id="52" name="Rectangle 51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061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DataType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55767" y="1096331"/>
            <a:ext cx="5658736" cy="56901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Hive</a:t>
            </a:r>
            <a:r>
              <a:rPr lang="fr-FR"/>
              <a:t> - Spark SQL supports </a:t>
            </a:r>
            <a:r>
              <a:rPr lang="fr-FR"/>
              <a:t>Struct</a:t>
            </a:r>
            <a:r>
              <a:rPr lang="fr-FR"/>
              <a:t>, List, </a:t>
            </a:r>
            <a:r>
              <a:rPr lang="fr-FR"/>
              <a:t>Map</a:t>
            </a:r>
            <a:r>
              <a:rPr lang="fr-FR"/>
              <a:t>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4794" y="1954161"/>
            <a:ext cx="11145743" cy="3293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Example:</a:t>
            </a:r>
          </a:p>
          <a:p>
            <a:endParaRPr lang="fr-FR" sz="2400"/>
          </a:p>
          <a:p>
            <a:r>
              <a:rPr lang="fr-FR" sz="2400"/>
              <a:t>CREATE  EXTERNAL  TABLE  `</a:t>
            </a:r>
            <a:r>
              <a:rPr lang="fr-FR" sz="2400"/>
              <a:t>student</a:t>
            </a:r>
            <a:r>
              <a:rPr lang="fr-FR" sz="2400"/>
              <a:t>` (</a:t>
            </a:r>
          </a:p>
          <a:p>
            <a:r>
              <a:rPr lang="fr-FR" sz="2400"/>
              <a:t>    </a:t>
            </a:r>
            <a:r>
              <a:rPr lang="fr-FR" sz="2400"/>
              <a:t>firstName</a:t>
            </a:r>
            <a:r>
              <a:rPr lang="fr-FR" sz="2400"/>
              <a:t> string,  </a:t>
            </a:r>
            <a:r>
              <a:rPr lang="fr-FR" sz="2400"/>
              <a:t>lastName</a:t>
            </a:r>
            <a:r>
              <a:rPr lang="fr-FR" sz="2400"/>
              <a:t> string,</a:t>
            </a:r>
          </a:p>
          <a:p>
            <a:endParaRPr lang="fr-FR" sz="2400"/>
          </a:p>
          <a:p>
            <a:r>
              <a:rPr lang="fr-FR" sz="2400"/>
              <a:t>    </a:t>
            </a:r>
            <a:r>
              <a:rPr lang="fr-FR" sz="2400"/>
              <a:t>practicedSports</a:t>
            </a:r>
            <a:r>
              <a:rPr lang="fr-FR" sz="2400"/>
              <a:t> </a:t>
            </a:r>
            <a:r>
              <a:rPr lang="fr-FR" sz="3200" b="1"/>
              <a:t>array</a:t>
            </a:r>
            <a:r>
              <a:rPr lang="fr-FR" sz="3200" b="1"/>
              <a:t>&lt; </a:t>
            </a:r>
            <a:r>
              <a:rPr lang="fr-FR" sz="3200" b="1"/>
              <a:t>named_struct</a:t>
            </a:r>
            <a:r>
              <a:rPr lang="fr-FR" sz="3200" b="1"/>
              <a:t>&lt; </a:t>
            </a:r>
            <a:r>
              <a:rPr lang="fr-FR" sz="2400"/>
              <a:t>name</a:t>
            </a:r>
            <a:r>
              <a:rPr lang="fr-FR" sz="2400"/>
              <a:t>: string, </a:t>
            </a:r>
            <a:r>
              <a:rPr lang="fr-FR" sz="2400"/>
              <a:t>numberYear</a:t>
            </a:r>
            <a:r>
              <a:rPr lang="fr-FR" sz="2400"/>
              <a:t>: </a:t>
            </a:r>
            <a:r>
              <a:rPr lang="fr-FR" sz="2400"/>
              <a:t>int</a:t>
            </a:r>
            <a:r>
              <a:rPr lang="fr-FR" sz="3200"/>
              <a:t> </a:t>
            </a:r>
            <a:r>
              <a:rPr lang="fr-FR" sz="3200" b="1"/>
              <a:t>&gt; &gt;</a:t>
            </a:r>
            <a:r>
              <a:rPr lang="fr-FR" sz="2400"/>
              <a:t>,</a:t>
            </a:r>
          </a:p>
          <a:p>
            <a:r>
              <a:rPr lang="fr-FR" sz="2400"/>
              <a:t>    </a:t>
            </a:r>
            <a:r>
              <a:rPr lang="fr-FR" sz="2400"/>
              <a:t>diploma</a:t>
            </a:r>
            <a:r>
              <a:rPr lang="fr-FR" sz="2400"/>
              <a:t> </a:t>
            </a:r>
            <a:r>
              <a:rPr lang="fr-FR" sz="3200" b="1"/>
              <a:t>map</a:t>
            </a:r>
            <a:r>
              <a:rPr lang="fr-FR" sz="3200" b="1"/>
              <a:t>&lt;</a:t>
            </a:r>
            <a:r>
              <a:rPr lang="fr-FR" sz="2400"/>
              <a:t>string, </a:t>
            </a:r>
            <a:r>
              <a:rPr lang="fr-FR" sz="3200" b="1"/>
              <a:t>named_struct</a:t>
            </a:r>
            <a:r>
              <a:rPr lang="fr-FR" sz="3200" b="1"/>
              <a:t>&lt;</a:t>
            </a:r>
            <a:r>
              <a:rPr lang="fr-FR" sz="2400"/>
              <a:t>mention: string, </a:t>
            </a:r>
            <a:r>
              <a:rPr lang="fr-FR" sz="2400"/>
              <a:t>obtentionDate</a:t>
            </a:r>
            <a:r>
              <a:rPr lang="fr-FR" sz="2400"/>
              <a:t>: Date</a:t>
            </a:r>
            <a:r>
              <a:rPr lang="fr-FR" sz="3200"/>
              <a:t> </a:t>
            </a:r>
            <a:r>
              <a:rPr lang="fr-FR" sz="3200" b="1"/>
              <a:t>&gt; &gt;</a:t>
            </a:r>
          </a:p>
          <a:p>
            <a:r>
              <a:rPr lang="fr-FR" sz="2400"/>
              <a:t>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712" y="0"/>
            <a:ext cx="11742575" cy="100440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Nested</a:t>
            </a:r>
            <a:r>
              <a:rPr lang="fr-FR"/>
              <a:t> </a:t>
            </a:r>
            <a:r>
              <a:rPr lang="fr-FR"/>
              <a:t>fields</a:t>
            </a:r>
            <a:r>
              <a:rPr lang="fr-FR"/>
              <a:t> in File Format: Parquet / </a:t>
            </a:r>
            <a:r>
              <a:rPr lang="fr-FR"/>
              <a:t>Orc</a:t>
            </a:r>
            <a:r>
              <a:rPr lang="fr-FR"/>
              <a:t> / </a:t>
            </a:r>
            <a:r>
              <a:rPr lang="fr-FR"/>
              <a:t>Json</a:t>
            </a:r>
            <a:endParaRPr lang="fr-FR"/>
          </a:p>
        </p:txBody>
      </p:sp>
      <p:pic>
        <p:nvPicPr>
          <p:cNvPr id="18434" name="Picture 2" descr="Understanding the Parquet file format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49845" y="1629853"/>
            <a:ext cx="2619375" cy="1743075"/>
          </a:xfrm>
          <a:prstGeom prst="rect">
            <a:avLst/>
          </a:prstGeom>
          <a:noFill/>
        </p:spPr>
      </p:pic>
      <p:pic>
        <p:nvPicPr>
          <p:cNvPr id="18436" name="Picture 4" descr="Json images vectorielles, Json vecteurs libres de droits | Depositphotos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538497" y="4541889"/>
            <a:ext cx="1469770" cy="146977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13998" y="1496140"/>
            <a:ext cx="6399255" cy="1988933"/>
          </a:xfrm>
          <a:prstGeom prst="rect">
            <a:avLst/>
          </a:prstGeom>
        </p:spPr>
      </p:pic>
      <p:pic>
        <p:nvPicPr>
          <p:cNvPr id="6" name="Picture 8" descr="Apache Spark — Wikipédi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160789" y="3362769"/>
            <a:ext cx="1731327" cy="898847"/>
          </a:xfrm>
          <a:prstGeom prst="rect">
            <a:avLst/>
          </a:prstGeom>
          <a:noFill/>
        </p:spPr>
      </p:pic>
      <p:sp>
        <p:nvSpPr>
          <p:cNvPr id="7" name="Arrow: Up-Down 6"/>
          <p:cNvSpPr/>
          <p:nvPr/>
        </p:nvSpPr>
        <p:spPr>
          <a:xfrm rot="18785820">
            <a:off x="9177364" y="2828613"/>
            <a:ext cx="434443" cy="10683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Up-Down 7"/>
          <p:cNvSpPr/>
          <p:nvPr/>
        </p:nvSpPr>
        <p:spPr>
          <a:xfrm rot="13574382">
            <a:off x="9179789" y="4104438"/>
            <a:ext cx="434443" cy="1068313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0277168" y="4659243"/>
            <a:ext cx="1614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DataType</a:t>
            </a:r>
            <a:endParaRPr lang="fr-FR" b="1"/>
          </a:p>
        </p:txBody>
      </p:sp>
      <p:sp>
        <p:nvSpPr>
          <p:cNvPr id="10" name="TextBox 9"/>
          <p:cNvSpPr txBox="1"/>
          <p:nvPr/>
        </p:nvSpPr>
        <p:spPr>
          <a:xfrm>
            <a:off x="1194619" y="5596160"/>
            <a:ext cx="5840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JSON </a:t>
            </a:r>
            <a:r>
              <a:rPr lang="fr-FR" sz="2400" b="1"/>
              <a:t>DataType</a:t>
            </a:r>
            <a:r>
              <a:rPr lang="fr-FR" sz="2400" b="1"/>
              <a:t>                ~   Spark </a:t>
            </a:r>
            <a:r>
              <a:rPr lang="fr-FR" sz="2400" b="1"/>
              <a:t>DataType</a:t>
            </a:r>
            <a:endParaRPr lang="fr-FR" sz="2400" b="1"/>
          </a:p>
          <a:p>
            <a:r>
              <a:rPr lang="fr-FR" sz="2400" b="1"/>
              <a:t>(</a:t>
            </a:r>
            <a:r>
              <a:rPr lang="fr-FR" sz="2400" b="1"/>
              <a:t>map</a:t>
            </a:r>
            <a:r>
              <a:rPr lang="fr-FR" sz="2400" b="1"/>
              <a:t> </a:t>
            </a:r>
            <a:r>
              <a:rPr lang="fr-FR" sz="2400" b="1"/>
              <a:t>with</a:t>
            </a:r>
            <a:r>
              <a:rPr lang="fr-FR" sz="2400" b="1"/>
              <a:t> string </a:t>
            </a:r>
            <a:r>
              <a:rPr lang="fr-FR" sz="2400" b="1"/>
              <a:t>only</a:t>
            </a:r>
            <a:r>
              <a:rPr lang="fr-FR" sz="2400" b="1"/>
              <a:t>)</a:t>
            </a:r>
            <a:endParaRPr lang="fr-FR" b="1"/>
          </a:p>
        </p:txBody>
      </p:sp>
      <p:sp>
        <p:nvSpPr>
          <p:cNvPr id="11" name="TextBox 10"/>
          <p:cNvSpPr txBox="1"/>
          <p:nvPr/>
        </p:nvSpPr>
        <p:spPr>
          <a:xfrm>
            <a:off x="425245" y="3654055"/>
            <a:ext cx="68133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Parquet </a:t>
            </a:r>
            <a:r>
              <a:rPr lang="fr-FR" sz="2400" b="1"/>
              <a:t>DataType</a:t>
            </a:r>
            <a:r>
              <a:rPr lang="fr-FR" sz="2400" b="1"/>
              <a:t>              ~   Spark </a:t>
            </a:r>
            <a:r>
              <a:rPr lang="fr-FR" sz="2400" b="1"/>
              <a:t>DataType</a:t>
            </a:r>
            <a:endParaRPr lang="fr-FR" sz="2400" b="1"/>
          </a:p>
          <a:p>
            <a:r>
              <a:rPr lang="fr-FR" sz="2400" b="1"/>
              <a:t>Nested</a:t>
            </a:r>
            <a:r>
              <a:rPr lang="fr-FR" sz="2400" b="1"/>
              <a:t> </a:t>
            </a:r>
            <a:r>
              <a:rPr lang="fr-FR" sz="2400" b="1"/>
              <a:t>Encoding</a:t>
            </a:r>
            <a:r>
              <a:rPr lang="fr-FR" sz="2400" b="1"/>
              <a:t> </a:t>
            </a:r>
            <a:r>
              <a:rPr lang="fr-FR" sz="2400" b="1"/>
              <a:t>with</a:t>
            </a:r>
            <a:r>
              <a:rPr lang="fr-FR" sz="2400" b="1"/>
              <a:t> « </a:t>
            </a:r>
            <a:r>
              <a:rPr lang="fr-FR" sz="2400" b="1"/>
              <a:t>definition</a:t>
            </a:r>
            <a:r>
              <a:rPr lang="fr-FR" sz="2400" b="1"/>
              <a:t> » + « </a:t>
            </a:r>
            <a:r>
              <a:rPr lang="fr-FR" sz="2400" b="1"/>
              <a:t>repetition</a:t>
            </a:r>
            <a:r>
              <a:rPr lang="fr-FR" sz="2400" b="1"/>
              <a:t> »</a:t>
            </a:r>
            <a:endParaRPr lang="fr-FR" b="1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Nested</a:t>
            </a:r>
            <a:r>
              <a:rPr lang="fr-FR"/>
              <a:t> Fields in Spark SQL UDF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9922" y="1828525"/>
            <a:ext cx="6350969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SELECT </a:t>
            </a:r>
            <a:r>
              <a:rPr lang="fr-FR" sz="2800"/>
              <a:t>ename</a:t>
            </a:r>
            <a:r>
              <a:rPr lang="fr-FR" sz="2800"/>
              <a:t>, </a:t>
            </a:r>
          </a:p>
          <a:p>
            <a:r>
              <a:rPr lang="fr-FR" sz="2800"/>
              <a:t>      </a:t>
            </a:r>
            <a:r>
              <a:rPr lang="fr-FR" sz="2800" b="1"/>
              <a:t>exists</a:t>
            </a:r>
            <a:r>
              <a:rPr lang="fr-FR" sz="2800" b="1"/>
              <a:t>(</a:t>
            </a:r>
            <a:r>
              <a:rPr lang="fr-FR" sz="2800"/>
              <a:t>dept_list</a:t>
            </a:r>
            <a:r>
              <a:rPr lang="fr-FR" sz="2800"/>
              <a:t>, x -&gt; x = 10) as found10</a:t>
            </a:r>
          </a:p>
          <a:p>
            <a:r>
              <a:rPr lang="fr-FR" sz="2800"/>
              <a:t>FROM </a:t>
            </a:r>
            <a:r>
              <a:rPr lang="fr-FR" sz="2800"/>
              <a:t>employee</a:t>
            </a:r>
            <a:endParaRPr lang="fr-FR" sz="2800"/>
          </a:p>
          <a:p>
            <a:br>
              <a:rPr lang="fr-FR" sz="2000">
                <a:latin typeface="+mj-lt"/>
              </a:rPr>
            </a:br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</a:t>
            </a:r>
            <a:r>
              <a:rPr lang="fr-FR" sz="2000">
                <a:latin typeface="Calibri Light"/>
                <a:cs typeface="Calibri Light"/>
              </a:rPr>
              <a:t>ename</a:t>
            </a:r>
            <a:r>
              <a:rPr lang="fr-FR" sz="2000">
                <a:latin typeface="Calibri Light"/>
                <a:cs typeface="Calibri Light"/>
              </a:rPr>
              <a:t>  | found10  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  | </a:t>
            </a:r>
            <a:r>
              <a:rPr lang="fr-FR" sz="2000" b="1">
                <a:latin typeface="Calibri Light"/>
                <a:cs typeface="Calibri Light"/>
              </a:rPr>
              <a:t>false</a:t>
            </a:r>
            <a:r>
              <a:rPr lang="fr-FR" sz="2000">
                <a:latin typeface="Calibri Light"/>
                <a:cs typeface="Calibri Light"/>
              </a:rPr>
              <a:t>    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  | </a:t>
            </a:r>
            <a:r>
              <a:rPr lang="fr-FR" sz="2000" b="1">
                <a:latin typeface="Calibri Light"/>
                <a:cs typeface="Calibri Light"/>
              </a:rPr>
              <a:t>true</a:t>
            </a:r>
            <a:r>
              <a:rPr lang="fr-FR" sz="2000" b="1">
                <a:latin typeface="Calibri Light"/>
                <a:cs typeface="Calibri Light"/>
              </a:rPr>
              <a:t>      </a:t>
            </a:r>
            <a:r>
              <a:rPr lang="fr-FR" sz="2000">
                <a:latin typeface="Calibri Light"/>
                <a:cs typeface="Calibri Light"/>
              </a:rPr>
              <a:t>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  | </a:t>
            </a:r>
            <a:r>
              <a:rPr lang="fr-FR" sz="2000" b="1">
                <a:latin typeface="Calibri Light"/>
                <a:cs typeface="Calibri Light"/>
              </a:rPr>
              <a:t>false           </a:t>
            </a:r>
            <a:r>
              <a:rPr lang="fr-FR" sz="2000">
                <a:latin typeface="Calibri Light"/>
                <a:cs typeface="Calibri Light"/>
              </a:rPr>
              <a:t>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endParaRPr lang="fr-FR" sz="2800"/>
          </a:p>
        </p:txBody>
      </p:sp>
      <p:sp>
        <p:nvSpPr>
          <p:cNvPr id="5" name="TextBox 4"/>
          <p:cNvSpPr txBox="1"/>
          <p:nvPr/>
        </p:nvSpPr>
        <p:spPr>
          <a:xfrm>
            <a:off x="449826" y="1920858"/>
            <a:ext cx="3778663" cy="3662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>
                <a:cs typeface="Calibri Light"/>
              </a:rPr>
              <a:t>SELECT </a:t>
            </a:r>
            <a:r>
              <a:rPr lang="fr-FR" sz="2800">
                <a:cs typeface="Calibri Light"/>
              </a:rPr>
              <a:t>ename</a:t>
            </a:r>
            <a:r>
              <a:rPr lang="fr-FR" sz="2800">
                <a:cs typeface="Calibri Light"/>
              </a:rPr>
              <a:t>, </a:t>
            </a:r>
            <a:r>
              <a:rPr lang="fr-FR" sz="2800" b="1">
                <a:cs typeface="Calibri Light"/>
              </a:rPr>
              <a:t>dept_list</a:t>
            </a:r>
            <a:endParaRPr lang="fr-FR" sz="2800" b="1">
              <a:cs typeface="Calibri Light"/>
            </a:endParaRPr>
          </a:p>
          <a:p>
            <a:r>
              <a:rPr lang="fr-FR" sz="2800">
                <a:cs typeface="Calibri Light"/>
              </a:rPr>
              <a:t>FROM </a:t>
            </a:r>
            <a:r>
              <a:rPr lang="fr-FR" sz="2800">
                <a:cs typeface="Calibri Light"/>
              </a:rPr>
              <a:t>employee</a:t>
            </a:r>
            <a:endParaRPr lang="fr-FR" sz="2800"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</a:t>
            </a:r>
            <a:r>
              <a:rPr lang="fr-FR" sz="2000">
                <a:latin typeface="Calibri Light"/>
                <a:cs typeface="Calibri Light"/>
              </a:rPr>
              <a:t>ename</a:t>
            </a:r>
            <a:r>
              <a:rPr lang="fr-FR" sz="2000">
                <a:latin typeface="Calibri Light"/>
                <a:cs typeface="Calibri Light"/>
              </a:rPr>
              <a:t>  | </a:t>
            </a:r>
            <a:r>
              <a:rPr lang="fr-FR" sz="2000">
                <a:latin typeface="Calibri Light"/>
                <a:cs typeface="Calibri Light"/>
              </a:rPr>
              <a:t>dept_list</a:t>
            </a:r>
            <a:r>
              <a:rPr lang="fr-FR" sz="2000">
                <a:latin typeface="Calibri Light"/>
                <a:cs typeface="Calibri Light"/>
              </a:rPr>
              <a:t> 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10,20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20,30,40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SQL </a:t>
            </a:r>
            <a:r>
              <a:rPr lang="fr-FR"/>
              <a:t>Grammar</a:t>
            </a:r>
            <a:r>
              <a:rPr lang="fr-FR"/>
              <a:t> Extension: « </a:t>
            </a:r>
            <a:r>
              <a:rPr lang="fr-FR"/>
              <a:t>lateral</a:t>
            </a:r>
            <a:r>
              <a:rPr lang="fr-FR"/>
              <a:t> </a:t>
            </a:r>
            <a:r>
              <a:rPr lang="fr-FR"/>
              <a:t>view</a:t>
            </a:r>
            <a:r>
              <a:rPr lang="fr-FR"/>
              <a:t> 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21710" y="1806676"/>
            <a:ext cx="6706323" cy="45550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SELECT </a:t>
            </a:r>
            <a:r>
              <a:rPr lang="fr-FR" sz="2400"/>
              <a:t>ename</a:t>
            </a:r>
            <a:r>
              <a:rPr lang="fr-FR" sz="2400"/>
              <a:t>, </a:t>
            </a:r>
            <a:r>
              <a:rPr lang="fr-FR" sz="2400"/>
              <a:t>dept_id</a:t>
            </a:r>
            <a:r>
              <a:rPr lang="fr-FR" sz="2400"/>
              <a:t> </a:t>
            </a:r>
          </a:p>
          <a:p>
            <a:r>
              <a:rPr lang="fr-FR" sz="2400"/>
              <a:t>FROM </a:t>
            </a:r>
            <a:r>
              <a:rPr lang="fr-FR" sz="2400"/>
              <a:t>employee</a:t>
            </a:r>
            <a:endParaRPr lang="fr-FR" sz="2400"/>
          </a:p>
          <a:p>
            <a:r>
              <a:rPr lang="fr-FR" sz="2400" b="1"/>
              <a:t>LATERAL VIEW </a:t>
            </a:r>
            <a:r>
              <a:rPr lang="fr-FR" sz="2400" b="1"/>
              <a:t>explode</a:t>
            </a:r>
            <a:r>
              <a:rPr lang="fr-FR" sz="2400" b="1"/>
              <a:t>(</a:t>
            </a:r>
            <a:r>
              <a:rPr lang="fr-FR" sz="2400" b="1"/>
              <a:t>dept_list</a:t>
            </a:r>
            <a:r>
              <a:rPr lang="fr-FR" sz="2400" b="1"/>
              <a:t>)</a:t>
            </a:r>
            <a:r>
              <a:rPr lang="fr-FR" sz="2400"/>
              <a:t> </a:t>
            </a:r>
            <a:r>
              <a:rPr lang="fr-FR" sz="2400"/>
              <a:t>depts</a:t>
            </a:r>
            <a:r>
              <a:rPr lang="fr-FR" sz="2400"/>
              <a:t> AS </a:t>
            </a:r>
            <a:r>
              <a:rPr lang="fr-FR" sz="2400"/>
              <a:t>dept_id</a:t>
            </a:r>
            <a:r>
              <a:rPr lang="fr-FR" sz="2400"/>
              <a:t>;</a:t>
            </a:r>
          </a:p>
          <a:p>
            <a:endParaRPr lang="fr-FR"/>
          </a:p>
          <a:p>
            <a:r>
              <a:rPr lang="fr-FR" sz="2000">
                <a:latin typeface="Calibri Light"/>
                <a:cs typeface="Calibri Light"/>
              </a:rPr>
              <a:t>+---------+----------+</a:t>
            </a:r>
          </a:p>
          <a:p>
            <a:r>
              <a:rPr lang="fr-FR" sz="2000">
                <a:latin typeface="Calibri Light"/>
                <a:cs typeface="Calibri Light"/>
              </a:rPr>
              <a:t>|</a:t>
            </a:r>
            <a:r>
              <a:rPr lang="fr-FR" sz="2000">
                <a:latin typeface="Calibri Light"/>
                <a:cs typeface="Calibri Light"/>
              </a:rPr>
              <a:t>ename|dept_id</a:t>
            </a:r>
            <a:r>
              <a:rPr lang="fr-FR" sz="2000">
                <a:latin typeface="Calibri Light"/>
                <a:cs typeface="Calibri Light"/>
              </a:rPr>
              <a:t>|</a:t>
            </a:r>
          </a:p>
          <a:p>
            <a:r>
              <a:rPr lang="fr-FR" sz="2000">
                <a:latin typeface="Calibri Light"/>
                <a:cs typeface="Calibri Light"/>
              </a:rPr>
              <a:t>+---------+----------+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| 20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| 10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| 20 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| 20 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| 30 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| 40       |</a:t>
            </a:r>
          </a:p>
          <a:p>
            <a:r>
              <a:rPr lang="fr-FR" sz="2000">
                <a:latin typeface="Calibri Light"/>
                <a:cs typeface="Calibri Light"/>
              </a:rPr>
              <a:t>+---------+----------+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130" y="1806676"/>
            <a:ext cx="377866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>
                <a:cs typeface="Calibri Light"/>
              </a:rPr>
              <a:t>SELECT </a:t>
            </a:r>
            <a:r>
              <a:rPr lang="fr-FR" sz="2800">
                <a:cs typeface="Calibri Light"/>
              </a:rPr>
              <a:t>ename</a:t>
            </a:r>
            <a:r>
              <a:rPr lang="fr-FR" sz="2800">
                <a:cs typeface="Calibri Light"/>
              </a:rPr>
              <a:t>, </a:t>
            </a:r>
            <a:r>
              <a:rPr lang="fr-FR" sz="2800" b="1">
                <a:cs typeface="Calibri Light"/>
              </a:rPr>
              <a:t>dept_list</a:t>
            </a:r>
            <a:endParaRPr lang="fr-FR" sz="2800" b="1">
              <a:cs typeface="Calibri Light"/>
            </a:endParaRPr>
          </a:p>
          <a:p>
            <a:r>
              <a:rPr lang="fr-FR" sz="2800">
                <a:cs typeface="Calibri Light"/>
              </a:rPr>
              <a:t>FROM </a:t>
            </a:r>
            <a:r>
              <a:rPr lang="fr-FR" sz="2800">
                <a:cs typeface="Calibri Light"/>
              </a:rPr>
              <a:t>employee</a:t>
            </a:r>
            <a:endParaRPr lang="fr-FR" sz="2800"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endParaRPr lang="fr-FR" sz="2000">
              <a:latin typeface="Calibri Light"/>
              <a:cs typeface="Calibri Light"/>
            </a:endParaRP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</a:t>
            </a:r>
            <a:r>
              <a:rPr lang="fr-FR" sz="2000">
                <a:latin typeface="Calibri Light"/>
                <a:cs typeface="Calibri Light"/>
              </a:rPr>
              <a:t>ename</a:t>
            </a:r>
            <a:r>
              <a:rPr lang="fr-FR" sz="2000">
                <a:latin typeface="Calibri Light"/>
                <a:cs typeface="Calibri Light"/>
              </a:rPr>
              <a:t>  | </a:t>
            </a:r>
            <a:r>
              <a:rPr lang="fr-FR" sz="2000">
                <a:latin typeface="Calibri Light"/>
                <a:cs typeface="Calibri Light"/>
              </a:rPr>
              <a:t>dept_list</a:t>
            </a:r>
            <a:r>
              <a:rPr lang="fr-FR" sz="2000">
                <a:latin typeface="Calibri Light"/>
                <a:cs typeface="Calibri Light"/>
              </a:rPr>
              <a:t> 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10,20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20,30,40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More  SQL:  </a:t>
            </a:r>
            <a:r>
              <a:rPr lang="fr-FR"/>
              <a:t>collect_list</a:t>
            </a:r>
            <a:r>
              <a:rPr lang="fr-FR"/>
              <a:t>(</a:t>
            </a:r>
            <a:r>
              <a:rPr lang="fr-FR"/>
              <a:t>row</a:t>
            </a:r>
            <a:r>
              <a:rPr lang="fr-FR"/>
              <a:t>) -&gt;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1" y="1961534"/>
            <a:ext cx="3778663" cy="42165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>
                <a:cs typeface="Calibri Light"/>
              </a:rPr>
              <a:t>SELECT </a:t>
            </a:r>
            <a:r>
              <a:rPr lang="fr-FR" sz="2800">
                <a:cs typeface="Calibri Light"/>
              </a:rPr>
              <a:t>ename</a:t>
            </a:r>
            <a:r>
              <a:rPr lang="fr-FR" sz="2800">
                <a:cs typeface="Calibri Light"/>
              </a:rPr>
              <a:t>, </a:t>
            </a:r>
            <a:r>
              <a:rPr lang="fr-FR" sz="2800" b="1">
                <a:cs typeface="Calibri Light"/>
              </a:rPr>
              <a:t>dept_list</a:t>
            </a:r>
            <a:endParaRPr lang="fr-FR" sz="2800" b="1">
              <a:cs typeface="Calibri Light"/>
            </a:endParaRPr>
          </a:p>
          <a:p>
            <a:r>
              <a:rPr lang="fr-FR" sz="2800">
                <a:cs typeface="Calibri Light"/>
              </a:rPr>
              <a:t>FROM </a:t>
            </a:r>
            <a:r>
              <a:rPr lang="fr-FR" sz="2800">
                <a:cs typeface="Calibri Light"/>
              </a:rPr>
              <a:t>employee</a:t>
            </a:r>
            <a:endParaRPr lang="fr-FR" sz="2800"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</a:t>
            </a:r>
            <a:r>
              <a:rPr lang="fr-FR" sz="2000">
                <a:latin typeface="Calibri Light"/>
                <a:cs typeface="Calibri Light"/>
              </a:rPr>
              <a:t>ename</a:t>
            </a:r>
            <a:r>
              <a:rPr lang="fr-FR" sz="2000">
                <a:latin typeface="Calibri Light"/>
                <a:cs typeface="Calibri Light"/>
              </a:rPr>
              <a:t>  | </a:t>
            </a:r>
            <a:r>
              <a:rPr lang="fr-FR" sz="2000">
                <a:latin typeface="Calibri Light"/>
                <a:cs typeface="Calibri Light"/>
              </a:rPr>
              <a:t>dept_list</a:t>
            </a:r>
            <a:r>
              <a:rPr lang="fr-FR" sz="2000">
                <a:latin typeface="Calibri Light"/>
                <a:cs typeface="Calibri Light"/>
              </a:rPr>
              <a:t> 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10,20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20,30,40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9872" y="1961534"/>
            <a:ext cx="7026924" cy="41242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>
                <a:cs typeface="Calibri Light"/>
              </a:rPr>
              <a:t>SELECT </a:t>
            </a:r>
            <a:r>
              <a:rPr lang="fr-FR" sz="2800">
                <a:cs typeface="Calibri Light"/>
              </a:rPr>
              <a:t>ename</a:t>
            </a:r>
            <a:r>
              <a:rPr lang="fr-FR" sz="2800">
                <a:cs typeface="Calibri Light"/>
              </a:rPr>
              <a:t>, </a:t>
            </a:r>
            <a:r>
              <a:rPr lang="fr-FR" sz="2800" b="1">
                <a:cs typeface="Calibri Light"/>
              </a:rPr>
              <a:t>collect_list</a:t>
            </a:r>
            <a:r>
              <a:rPr lang="fr-FR" sz="2800" b="1">
                <a:cs typeface="Calibri Light"/>
              </a:rPr>
              <a:t>(</a:t>
            </a:r>
            <a:r>
              <a:rPr lang="fr-FR" sz="2800" b="1">
                <a:cs typeface="Calibri Light"/>
              </a:rPr>
              <a:t>dept_id</a:t>
            </a:r>
            <a:r>
              <a:rPr lang="fr-FR" sz="2800" b="1">
                <a:cs typeface="Calibri Light"/>
              </a:rPr>
              <a:t> + 1) as ls</a:t>
            </a:r>
          </a:p>
          <a:p>
            <a:r>
              <a:rPr lang="fr-FR" sz="2800">
                <a:cs typeface="Calibri Light"/>
              </a:rPr>
              <a:t>FROM ( SELECT * FROM employee</a:t>
            </a:r>
            <a:endParaRPr lang="fr-FR" sz="2800">
              <a:cs typeface="Calibri Light"/>
            </a:endParaRPr>
          </a:p>
          <a:p>
            <a:r>
              <a:rPr lang="en-US" sz="2400">
                <a:cs typeface="Calibri Light"/>
              </a:rPr>
              <a:t>     LATERAL VIEW explode(</a:t>
            </a:r>
            <a:r>
              <a:rPr lang="en-US" sz="2400">
                <a:cs typeface="Calibri Light"/>
              </a:rPr>
              <a:t>dept_list</a:t>
            </a:r>
            <a:r>
              <a:rPr lang="en-US" sz="2400">
                <a:cs typeface="Calibri Light"/>
              </a:rPr>
              <a:t>) depts AS </a:t>
            </a:r>
            <a:r>
              <a:rPr lang="en-US" sz="2400">
                <a:cs typeface="Calibri Light"/>
              </a:rPr>
              <a:t>dept_id</a:t>
            </a:r>
            <a:r>
              <a:rPr lang="en-US" sz="2400">
                <a:cs typeface="Calibri Light"/>
              </a:rPr>
              <a:t> )</a:t>
            </a:r>
            <a:br>
              <a:rPr lang="en-US" sz="2400">
                <a:cs typeface="Calibri Light"/>
              </a:rPr>
            </a:br>
            <a:r>
              <a:rPr lang="en-US" sz="2400">
                <a:cs typeface="Calibri Light"/>
              </a:rPr>
              <a:t>GROUP BY </a:t>
            </a:r>
            <a:r>
              <a:rPr lang="en-US" sz="2400">
                <a:cs typeface="Calibri Light"/>
              </a:rPr>
              <a:t>ename</a:t>
            </a:r>
            <a:endParaRPr lang="fr-FR" sz="2400">
              <a:cs typeface="Calibri Light"/>
            </a:endParaRPr>
          </a:p>
          <a:p>
            <a:endParaRPr lang="fr-FR">
              <a:latin typeface="Calibri Light"/>
              <a:cs typeface="Calibri Light"/>
            </a:endParaRP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</a:t>
            </a:r>
            <a:r>
              <a:rPr lang="fr-FR" sz="2000">
                <a:latin typeface="Calibri Light"/>
                <a:cs typeface="Calibri Light"/>
              </a:rPr>
              <a:t>ename</a:t>
            </a:r>
            <a:r>
              <a:rPr lang="fr-FR" sz="2000">
                <a:latin typeface="Calibri Light"/>
                <a:cs typeface="Calibri Light"/>
              </a:rPr>
              <a:t>  | ls              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  <a:p>
            <a:r>
              <a:rPr lang="fr-FR" sz="2000">
                <a:latin typeface="Calibri Light"/>
                <a:cs typeface="Calibri Light"/>
              </a:rPr>
              <a:t>| Tom 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21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      |</a:t>
            </a:r>
          </a:p>
          <a:p>
            <a:r>
              <a:rPr lang="fr-FR" sz="2000">
                <a:latin typeface="Calibri Light"/>
                <a:cs typeface="Calibri Light"/>
              </a:rPr>
              <a:t>| Jerry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11,21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     |</a:t>
            </a:r>
          </a:p>
          <a:p>
            <a:r>
              <a:rPr lang="fr-FR" sz="2000">
                <a:latin typeface="Calibri Light"/>
                <a:cs typeface="Calibri Light"/>
              </a:rPr>
              <a:t>| Riley     | </a:t>
            </a:r>
            <a:r>
              <a:rPr lang="fr-FR" sz="2000" b="1">
                <a:latin typeface="Calibri Light"/>
                <a:cs typeface="Calibri Light"/>
              </a:rPr>
              <a:t>[</a:t>
            </a:r>
            <a:r>
              <a:rPr lang="fr-FR" sz="2000">
                <a:latin typeface="Calibri Light"/>
                <a:cs typeface="Calibri Light"/>
              </a:rPr>
              <a:t>21,31,41</a:t>
            </a:r>
            <a:r>
              <a:rPr lang="fr-FR" sz="2000" b="1">
                <a:latin typeface="Calibri Light"/>
                <a:cs typeface="Calibri Light"/>
              </a:rPr>
              <a:t>]</a:t>
            </a:r>
            <a:r>
              <a:rPr lang="fr-FR" sz="2000">
                <a:latin typeface="Calibri Light"/>
                <a:cs typeface="Calibri Light"/>
              </a:rPr>
              <a:t> |</a:t>
            </a:r>
          </a:p>
          <a:p>
            <a:r>
              <a:rPr lang="fr-FR" sz="2000">
                <a:latin typeface="Calibri Light"/>
                <a:cs typeface="Calibri Light"/>
              </a:rPr>
              <a:t>+-----------+--------------+</a:t>
            </a:r>
          </a:p>
        </p:txBody>
      </p:sp>
      <p:sp>
        <p:nvSpPr>
          <p:cNvPr id="6" name="Rectangle 5"/>
          <p:cNvSpPr/>
          <p:nvPr/>
        </p:nvSpPr>
        <p:spPr>
          <a:xfrm rot="17029166">
            <a:off x="-572230" y="917309"/>
            <a:ext cx="2334165" cy="92333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54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Appendix</a:t>
            </a:r>
            <a:endParaRPr lang="en-US" sz="5400" b="1" cap="none" spc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335" y="0"/>
            <a:ext cx="1143933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UDF / UDAF   (User </a:t>
            </a:r>
            <a:r>
              <a:rPr lang="fr-FR"/>
              <a:t>Defined</a:t>
            </a:r>
            <a:r>
              <a:rPr lang="fr-FR"/>
              <a:t> </a:t>
            </a:r>
            <a:r>
              <a:rPr lang="fr-FR"/>
              <a:t>Aggregate</a:t>
            </a:r>
            <a:r>
              <a:rPr lang="fr-FR"/>
              <a:t> </a:t>
            </a:r>
            <a:r>
              <a:rPr lang="fr-FR"/>
              <a:t>Function</a:t>
            </a:r>
            <a:r>
              <a:rPr lang="fr-FR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531" y="1940767"/>
            <a:ext cx="49920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  UDF :     f(x, y) {  return x + y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6265" y="2635898"/>
            <a:ext cx="5158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Function</a:t>
            </a:r>
            <a:r>
              <a:rPr lang="fr-FR"/>
              <a:t> like in Math : idempotent, </a:t>
            </a:r>
            <a:r>
              <a:rPr lang="fr-FR"/>
              <a:t>side-effect</a:t>
            </a:r>
            <a:r>
              <a:rPr lang="fr-FR"/>
              <a:t> </a:t>
            </a:r>
            <a:r>
              <a:rPr lang="fr-FR"/>
              <a:t>less</a:t>
            </a:r>
            <a:r>
              <a:rPr lang="fr-FR"/>
              <a:t>, 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951" y="3429000"/>
            <a:ext cx="4676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! = UDAF :  </a:t>
            </a:r>
            <a:r>
              <a:rPr lang="fr-FR" sz="2400"/>
              <a:t>Aggregate</a:t>
            </a:r>
            <a:r>
              <a:rPr lang="fr-FR" sz="2400"/>
              <a:t> / </a:t>
            </a:r>
            <a:r>
              <a:rPr lang="fr-FR" sz="2400"/>
              <a:t>Accumulator</a:t>
            </a:r>
            <a:endParaRPr lang="fr-FR" sz="2400"/>
          </a:p>
        </p:txBody>
      </p:sp>
      <p:sp>
        <p:nvSpPr>
          <p:cNvPr id="7" name="TextBox 6"/>
          <p:cNvSpPr txBox="1"/>
          <p:nvPr/>
        </p:nvSpPr>
        <p:spPr>
          <a:xfrm>
            <a:off x="1262742" y="4142706"/>
            <a:ext cx="8631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like in « SELECT count(..), </a:t>
            </a:r>
            <a:r>
              <a:rPr lang="fr-FR" sz="2400"/>
              <a:t>sum</a:t>
            </a:r>
            <a:r>
              <a:rPr lang="fr-FR" sz="2400"/>
              <a:t>(..), </a:t>
            </a:r>
            <a:r>
              <a:rPr lang="fr-FR" sz="2400"/>
              <a:t>average</a:t>
            </a:r>
            <a:r>
              <a:rPr lang="fr-FR" sz="2400"/>
              <a:t>(..)  FROM .. GROUP BY .. 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2742" y="4730277"/>
            <a:ext cx="499277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Object instance, Class </a:t>
            </a:r>
            <a:r>
              <a:rPr lang="fr-FR" sz="2400"/>
              <a:t>with</a:t>
            </a:r>
            <a:r>
              <a:rPr lang="fr-FR" sz="2400"/>
              <a:t> 3 </a:t>
            </a:r>
            <a:r>
              <a:rPr lang="fr-FR" sz="2400"/>
              <a:t>methods</a:t>
            </a:r>
            <a:r>
              <a:rPr lang="fr-FR" sz="2400"/>
              <a:t>:</a:t>
            </a:r>
          </a:p>
          <a:p>
            <a:r>
              <a:rPr lang="fr-FR" sz="2400"/>
              <a:t>   init()</a:t>
            </a:r>
          </a:p>
          <a:p>
            <a:r>
              <a:rPr lang="fr-FR" sz="2400"/>
              <a:t>   </a:t>
            </a:r>
            <a:r>
              <a:rPr lang="fr-FR" sz="2400"/>
              <a:t>add</a:t>
            </a:r>
            <a:r>
              <a:rPr lang="fr-FR" sz="2400"/>
              <a:t>(value)</a:t>
            </a:r>
          </a:p>
          <a:p>
            <a:r>
              <a:rPr lang="fr-FR" sz="2400"/>
              <a:t>   </a:t>
            </a:r>
            <a:r>
              <a:rPr lang="fr-FR" sz="2400"/>
              <a:t>Result</a:t>
            </a:r>
            <a:r>
              <a:rPr lang="fr-FR" sz="2400"/>
              <a:t> </a:t>
            </a:r>
            <a:r>
              <a:rPr lang="fr-FR" sz="2400"/>
              <a:t>getResult</a:t>
            </a:r>
            <a:r>
              <a:rPr lang="fr-FR" sz="2400"/>
              <a:t>()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704" y="0"/>
            <a:ext cx="11488994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List, </a:t>
            </a:r>
            <a:r>
              <a:rPr lang="fr-FR"/>
              <a:t>Map</a:t>
            </a:r>
            <a:r>
              <a:rPr lang="fr-FR"/>
              <a:t>, </a:t>
            </a:r>
            <a:r>
              <a:rPr lang="fr-FR"/>
              <a:t>Struct</a:t>
            </a:r>
            <a:r>
              <a:rPr lang="fr-FR"/>
              <a:t> …  </a:t>
            </a:r>
            <a:r>
              <a:rPr lang="fr-FR"/>
              <a:t>denormalize</a:t>
            </a:r>
            <a:r>
              <a:rPr lang="fr-FR"/>
              <a:t> data, </a:t>
            </a:r>
            <a:r>
              <a:rPr lang="fr-FR"/>
              <a:t>avoid</a:t>
            </a:r>
            <a:r>
              <a:rPr lang="fr-FR"/>
              <a:t> Joins</a:t>
            </a:r>
          </a:p>
        </p:txBody>
      </p:sp>
      <p:sp>
        <p:nvSpPr>
          <p:cNvPr id="4" name="Cylinder 3"/>
          <p:cNvSpPr/>
          <p:nvPr/>
        </p:nvSpPr>
        <p:spPr>
          <a:xfrm>
            <a:off x="427704" y="1629697"/>
            <a:ext cx="4476136" cy="4599981"/>
          </a:xfrm>
          <a:prstGeom prst="can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: Folded Corner 4"/>
          <p:cNvSpPr/>
          <p:nvPr/>
        </p:nvSpPr>
        <p:spPr>
          <a:xfrm>
            <a:off x="5449530" y="2898058"/>
            <a:ext cx="6607276" cy="2300748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Left Brace 5"/>
          <p:cNvSpPr/>
          <p:nvPr/>
        </p:nvSpPr>
        <p:spPr>
          <a:xfrm>
            <a:off x="5545394" y="3657600"/>
            <a:ext cx="155448" cy="91440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5623118" y="3786822"/>
            <a:ext cx="6421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ID, </a:t>
            </a:r>
            <a:r>
              <a:rPr lang="fr-FR" sz="2800"/>
              <a:t>obj</a:t>
            </a:r>
            <a:r>
              <a:rPr lang="fr-FR" sz="2800"/>
              <a:t>,    obj_info1,  obj_info2, …</a:t>
            </a:r>
            <a:r>
              <a:rPr lang="fr-FR" sz="2800"/>
              <a:t>obj_infoN</a:t>
            </a:r>
            <a:endParaRPr lang="fr-FR" sz="2800"/>
          </a:p>
        </p:txBody>
      </p:sp>
      <p:sp>
        <p:nvSpPr>
          <p:cNvPr id="9" name="Left Brace 8"/>
          <p:cNvSpPr/>
          <p:nvPr/>
        </p:nvSpPr>
        <p:spPr>
          <a:xfrm flipH="1">
            <a:off x="11805722" y="3657600"/>
            <a:ext cx="239154" cy="914400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2015863" y="3573345"/>
            <a:ext cx="1149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/>
              <a:t>ID, </a:t>
            </a:r>
            <a:r>
              <a:rPr lang="fr-FR" sz="2800" b="1"/>
              <a:t>obj</a:t>
            </a:r>
            <a:endParaRPr lang="fr-FR" sz="2800" b="1"/>
          </a:p>
        </p:txBody>
      </p:sp>
      <p:sp>
        <p:nvSpPr>
          <p:cNvPr id="13" name="Rectangle: Folded Corner 12"/>
          <p:cNvSpPr/>
          <p:nvPr/>
        </p:nvSpPr>
        <p:spPr>
          <a:xfrm>
            <a:off x="1792456" y="3451290"/>
            <a:ext cx="1452716" cy="766917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759542" y="6229678"/>
            <a:ext cx="4240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Normalized</a:t>
            </a:r>
            <a:r>
              <a:rPr lang="fr-FR" sz="2400"/>
              <a:t> </a:t>
            </a:r>
            <a:r>
              <a:rPr lang="fr-FR" sz="2400"/>
              <a:t>relationnal</a:t>
            </a:r>
            <a:r>
              <a:rPr lang="fr-FR" sz="2400"/>
              <a:t> </a:t>
            </a:r>
            <a:r>
              <a:rPr lang="fr-FR" sz="2400"/>
              <a:t>database</a:t>
            </a:r>
            <a:endParaRPr lang="fr-FR" sz="2400"/>
          </a:p>
        </p:txBody>
      </p:sp>
      <p:sp>
        <p:nvSpPr>
          <p:cNvPr id="15" name="TextBox 14"/>
          <p:cNvSpPr txBox="1"/>
          <p:nvPr/>
        </p:nvSpPr>
        <p:spPr>
          <a:xfrm>
            <a:off x="6457335" y="6229678"/>
            <a:ext cx="51930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Efficient DE-</a:t>
            </a:r>
            <a:r>
              <a:rPr lang="fr-FR" sz="2400"/>
              <a:t>normalized</a:t>
            </a:r>
            <a:r>
              <a:rPr lang="fr-FR" sz="2400"/>
              <a:t> </a:t>
            </a:r>
            <a:r>
              <a:rPr lang="fr-FR" sz="2400"/>
              <a:t>analytics</a:t>
            </a:r>
            <a:r>
              <a:rPr lang="fr-FR" sz="2400"/>
              <a:t>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290" y="4574714"/>
            <a:ext cx="16889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obj_info1</a:t>
            </a:r>
          </a:p>
        </p:txBody>
      </p:sp>
      <p:sp>
        <p:nvSpPr>
          <p:cNvPr id="19" name="Rectangle: Folded Corner 18"/>
          <p:cNvSpPr/>
          <p:nvPr/>
        </p:nvSpPr>
        <p:spPr>
          <a:xfrm>
            <a:off x="523290" y="4527792"/>
            <a:ext cx="1541733" cy="538832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TextBox 19"/>
          <p:cNvSpPr txBox="1"/>
          <p:nvPr/>
        </p:nvSpPr>
        <p:spPr>
          <a:xfrm>
            <a:off x="1703439" y="5295577"/>
            <a:ext cx="1762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obj_info2</a:t>
            </a:r>
          </a:p>
        </p:txBody>
      </p:sp>
      <p:sp>
        <p:nvSpPr>
          <p:cNvPr id="21" name="Rectangle: Folded Corner 20"/>
          <p:cNvSpPr/>
          <p:nvPr/>
        </p:nvSpPr>
        <p:spPr>
          <a:xfrm>
            <a:off x="1703439" y="5248655"/>
            <a:ext cx="1541733" cy="538832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3023669" y="4618922"/>
            <a:ext cx="1762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obj_info3</a:t>
            </a:r>
          </a:p>
        </p:txBody>
      </p:sp>
      <p:sp>
        <p:nvSpPr>
          <p:cNvPr id="23" name="Rectangle: Folded Corner 22"/>
          <p:cNvSpPr/>
          <p:nvPr/>
        </p:nvSpPr>
        <p:spPr>
          <a:xfrm>
            <a:off x="2964427" y="4572000"/>
            <a:ext cx="1821426" cy="538832"/>
          </a:xfrm>
          <a:prstGeom prst="foldedCorner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Straight Arrow Connector 24"/>
          <p:cNvCxnSpPr>
            <a:endCxn id="19" idx="0"/>
          </p:cNvCxnSpPr>
          <p:nvPr/>
        </p:nvCxnSpPr>
        <p:spPr>
          <a:xfrm flipH="1">
            <a:off x="1294157" y="4310042"/>
            <a:ext cx="409283" cy="21775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21" idx="0"/>
          </p:cNvCxnSpPr>
          <p:nvPr/>
        </p:nvCxnSpPr>
        <p:spPr>
          <a:xfrm flipH="1">
            <a:off x="2474306" y="4340262"/>
            <a:ext cx="3673" cy="908393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>
            <a:off x="2806892" y="4275708"/>
            <a:ext cx="616460" cy="231738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206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 Transformations </a:t>
            </a:r>
          </a:p>
        </p:txBody>
      </p:sp>
      <p:sp>
        <p:nvSpPr>
          <p:cNvPr id="43187" name="TextBox 2"/>
          <p:cNvSpPr txBox="1"/>
          <p:nvPr/>
        </p:nvSpPr>
        <p:spPr>
          <a:xfrm>
            <a:off x="3048000" y="2743200"/>
            <a:ext cx="6096000" cy="1066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200"/>
              <a:t>Data Lineage </a:t>
            </a:r>
            <a:br>
              <a:rPr sz="3200"/>
            </a:br>
            <a:r>
              <a:rPr sz="3200"/>
              <a:t>DAG  (= Directed Acyclic Graph)</a:t>
            </a:r>
            <a:endParaRPr sz="320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840" y="0"/>
            <a:ext cx="7188200" cy="14484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Abstract RDD class </a:t>
            </a:r>
            <a:br>
              <a:rPr lang="fr-FR"/>
            </a:br>
            <a:r>
              <a:rPr lang="fr-FR"/>
              <a:t>=&gt; (</a:t>
            </a:r>
            <a:r>
              <a:rPr lang="fr-FR"/>
              <a:t>many</a:t>
            </a:r>
            <a:r>
              <a:rPr lang="fr-FR"/>
              <a:t>) </a:t>
            </a:r>
            <a:r>
              <a:rPr lang="fr-FR"/>
              <a:t>concrete</a:t>
            </a:r>
            <a:r>
              <a:rPr lang="fr-FR"/>
              <a:t> </a:t>
            </a:r>
            <a:r>
              <a:rPr lang="fr-FR"/>
              <a:t>sub</a:t>
            </a:r>
            <a:r>
              <a:rPr lang="fr-FR"/>
              <a:t>-classes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5619" y="44959"/>
            <a:ext cx="4690221" cy="675999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1869" y="2480229"/>
            <a:ext cx="4743861" cy="4324725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121156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1 </a:t>
            </a:r>
            <a:r>
              <a:rPr lang="fr-FR"/>
              <a:t>algorithm</a:t>
            </a:r>
            <a:r>
              <a:rPr lang="fr-FR"/>
              <a:t> / transformation  =&gt; 1 RDD </a:t>
            </a:r>
            <a:r>
              <a:rPr lang="fr-FR"/>
              <a:t>Sub</a:t>
            </a:r>
            <a:r>
              <a:rPr lang="fr-FR"/>
              <a:t>-class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4800" y="1777122"/>
            <a:ext cx="6636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Example:   </a:t>
            </a:r>
            <a:r>
              <a:rPr lang="fr-FR" sz="2400"/>
              <a:t>rdd.map</a:t>
            </a:r>
            <a:r>
              <a:rPr lang="fr-FR" sz="2400"/>
              <a:t>( </a:t>
            </a:r>
            <a:r>
              <a:rPr lang="fr-FR" sz="2400"/>
              <a:t>func</a:t>
            </a:r>
            <a:r>
              <a:rPr lang="fr-FR" sz="2400"/>
              <a:t> )     or   </a:t>
            </a:r>
            <a:r>
              <a:rPr lang="fr-FR" sz="2400"/>
              <a:t>rdd.flatMap</a:t>
            </a:r>
            <a:r>
              <a:rPr lang="fr-FR" sz="2400"/>
              <a:t>( </a:t>
            </a:r>
            <a:r>
              <a:rPr lang="fr-FR" sz="2400"/>
              <a:t>func</a:t>
            </a:r>
            <a:r>
              <a:rPr lang="fr-FR" sz="2400"/>
              <a:t> 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3580" y="2426821"/>
            <a:ext cx="5375733" cy="29122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37720" y="3058160"/>
            <a:ext cx="6012039" cy="3645471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97697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Call </a:t>
            </a:r>
            <a:r>
              <a:rPr lang="fr-FR"/>
              <a:t>transform</a:t>
            </a:r>
            <a:r>
              <a:rPr lang="fr-FR"/>
              <a:t> </a:t>
            </a:r>
            <a:r>
              <a:rPr lang="fr-FR"/>
              <a:t>function</a:t>
            </a:r>
            <a:r>
              <a:rPr lang="fr-FR"/>
              <a:t> =&gt; </a:t>
            </a:r>
            <a:r>
              <a:rPr lang="fr-FR"/>
              <a:t>Create</a:t>
            </a:r>
            <a:r>
              <a:rPr lang="fr-FR"/>
              <a:t> new RDD (</a:t>
            </a:r>
            <a:r>
              <a:rPr lang="fr-FR"/>
              <a:t>linked</a:t>
            </a:r>
            <a:r>
              <a:rPr lang="fr-FR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848" y="1949468"/>
            <a:ext cx="377552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RDD rdd1 = … </a:t>
            </a:r>
            <a:r>
              <a:rPr lang="fr-FR" sz="2400"/>
              <a:t>read</a:t>
            </a:r>
            <a:endParaRPr lang="fr-FR" sz="2400"/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rdd2   =  rdd1 .</a:t>
            </a:r>
            <a:r>
              <a:rPr lang="fr-FR" sz="2400"/>
              <a:t>map</a:t>
            </a:r>
            <a:r>
              <a:rPr lang="fr-FR" sz="2400"/>
              <a:t>( .. )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rdd3 = .. </a:t>
            </a:r>
            <a:r>
              <a:rPr lang="fr-FR" sz="2400"/>
              <a:t>read</a:t>
            </a:r>
            <a:endParaRPr lang="fr-FR" sz="2400"/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RDD rdd4 = rdd2 .</a:t>
            </a:r>
            <a:r>
              <a:rPr lang="fr-FR" sz="2400"/>
              <a:t>join</a:t>
            </a:r>
            <a:r>
              <a:rPr lang="fr-FR" sz="2400"/>
              <a:t>( rdd3 )</a:t>
            </a:r>
          </a:p>
          <a:p>
            <a:endParaRPr lang="fr-FR" sz="24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25B6C6F-DC0A-6652-FAA9-E5D163A534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49354" y="1761030"/>
          <a:ext cx="1261297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925B6C6F-DC0A-6652-FAA9-E5D163A5340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649354" y="1761030"/>
                    <a:ext cx="1261297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14043" y="186484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3EA69F9D-EC3C-5D0B-E2B0-A4579829B9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79345" y="2926275"/>
          <a:ext cx="1662868" cy="100544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3EA69F9D-EC3C-5D0B-E2B0-A4579829B94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79345" y="2926275"/>
                    <a:ext cx="1662868" cy="100544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38097" y="3062544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4979345" y="2398486"/>
            <a:ext cx="426267" cy="409271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91590" y="231060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dependency</a:t>
            </a:r>
            <a:endParaRPr lang="fr-FR" sz="20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A63E41C4-067A-8323-810F-6DEA1B46E3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95342" y="477888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A63E41C4-067A-8323-810F-6DEA1B46E31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095342" y="477888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4478BACD-F98C-DA08-08A4-E10A5CE4C1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44806" y="4240444"/>
          <a:ext cx="1308533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4478BACD-F98C-DA08-08A4-E10A5CE4C18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544806" y="4240444"/>
                    <a:ext cx="1308533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19810" y="4369138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107" y="5053444"/>
            <a:ext cx="1579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RDD2, RDD3 )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 flipH="1" flipV="1">
            <a:off x="7962266" y="4553804"/>
            <a:ext cx="1030223" cy="367901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6709497" y="3491093"/>
            <a:ext cx="2306548" cy="1287796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689729" y="3697986"/>
            <a:ext cx="16401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dependencies</a:t>
            </a:r>
            <a:endParaRPr lang="fr-FR" sz="20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087" y="0"/>
            <a:ext cx="11879826" cy="976978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Call </a:t>
            </a:r>
            <a:r>
              <a:rPr lang="fr-FR"/>
              <a:t>compute</a:t>
            </a:r>
            <a:r>
              <a:rPr lang="fr-FR"/>
              <a:t>() =&gt; … </a:t>
            </a:r>
            <a:r>
              <a:rPr lang="fr-FR"/>
              <a:t>dependency.compute</a:t>
            </a:r>
            <a:r>
              <a:rPr lang="fr-FR"/>
              <a:t>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69810" y="6194526"/>
            <a:ext cx="27024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(1) : rdd4.compute()</a:t>
            </a:r>
          </a:p>
          <a:p>
            <a:endParaRPr lang="fr-FR" sz="2400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925B6C6F-DC0A-6652-FAA9-E5D163A5340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649354" y="1761030"/>
          <a:ext cx="1261297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925B6C6F-DC0A-6652-FAA9-E5D163A5340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649354" y="1761030"/>
                    <a:ext cx="1261297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14043" y="1864841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" name="Object 6">
            <a:extLst>
              <a:ext uri="{FF2B5EF4-FFF2-40B4-BE49-F238E27FC236}">
                <a16:creationId xmlns:a16="http://schemas.microsoft.com/office/drawing/2014/main" id="{3EA69F9D-EC3C-5D0B-E2B0-A4579829B9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979345" y="2926275"/>
          <a:ext cx="1662868" cy="100544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7" name="Object 6">
                    <a:extLst>
                      <a:ext uri="{FF2B5EF4-FFF2-40B4-BE49-F238E27FC236}">
                        <a16:creationId xmlns:a16="http://schemas.microsoft.com/office/drawing/2014/main" id="{3EA69F9D-EC3C-5D0B-E2B0-A4579829B94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79345" y="2926275"/>
                    <a:ext cx="1662868" cy="100544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38097" y="3062544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" name="Object 11">
            <a:extLst>
              <a:ext uri="{FF2B5EF4-FFF2-40B4-BE49-F238E27FC236}">
                <a16:creationId xmlns:a16="http://schemas.microsoft.com/office/drawing/2014/main" id="{A63E41C4-067A-8323-810F-6DEA1B46E3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095342" y="477888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2" name="Object 11">
                    <a:extLst>
                      <a:ext uri="{FF2B5EF4-FFF2-40B4-BE49-F238E27FC236}">
                        <a16:creationId xmlns:a16="http://schemas.microsoft.com/office/drawing/2014/main" id="{A63E41C4-067A-8323-810F-6DEA1B46E31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095342" y="477888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4478BACD-F98C-DA08-08A4-E10A5CE4C1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44806" y="4240444"/>
          <a:ext cx="1308533" cy="79120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4478BACD-F98C-DA08-08A4-E10A5CE4C18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544806" y="4240444"/>
                    <a:ext cx="1308533" cy="79120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719810" y="4369138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107" y="5053444"/>
            <a:ext cx="15792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RDD2, RDD3 )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99233" y="3796031"/>
            <a:ext cx="284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(2a) : rdd3.compute()</a:t>
            </a:r>
          </a:p>
          <a:p>
            <a:endParaRPr lang="fr-FR" sz="2400"/>
          </a:p>
        </p:txBody>
      </p:sp>
      <p:sp>
        <p:nvSpPr>
          <p:cNvPr id="11" name="TextBox 10"/>
          <p:cNvSpPr txBox="1"/>
          <p:nvPr/>
        </p:nvSpPr>
        <p:spPr>
          <a:xfrm>
            <a:off x="7814871" y="3247755"/>
            <a:ext cx="2864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(2b) : rdd2.compute()</a:t>
            </a:r>
          </a:p>
        </p:txBody>
      </p:sp>
      <p:sp>
        <p:nvSpPr>
          <p:cNvPr id="16" name="Arrow: Curved Up 15"/>
          <p:cNvSpPr/>
          <p:nvPr/>
        </p:nvSpPr>
        <p:spPr>
          <a:xfrm rot="12542338">
            <a:off x="8051362" y="4436888"/>
            <a:ext cx="105902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Arrow: Curved Up 16"/>
          <p:cNvSpPr/>
          <p:nvPr/>
        </p:nvSpPr>
        <p:spPr>
          <a:xfrm rot="12542338">
            <a:off x="6740060" y="3831603"/>
            <a:ext cx="259958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Arrow: Curved Up 19"/>
          <p:cNvSpPr/>
          <p:nvPr/>
        </p:nvSpPr>
        <p:spPr>
          <a:xfrm rot="12542338">
            <a:off x="4999320" y="2068509"/>
            <a:ext cx="1437694" cy="50385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99096" y="1870245"/>
            <a:ext cx="2702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(3) : rdd1.compute()</a:t>
            </a:r>
          </a:p>
        </p:txBody>
      </p:sp>
      <p:sp>
        <p:nvSpPr>
          <p:cNvPr id="24" name="Arrow: Right 23"/>
          <p:cNvSpPr/>
          <p:nvPr/>
        </p:nvSpPr>
        <p:spPr>
          <a:xfrm>
            <a:off x="6062574" y="6194526"/>
            <a:ext cx="1933066" cy="4768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825" y="0"/>
            <a:ext cx="11944349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Transformations API  </a:t>
            </a:r>
            <a:br>
              <a:rPr lang="fr-FR"/>
            </a:br>
            <a:r>
              <a:rPr lang="fr-FR"/>
              <a:t>(</a:t>
            </a:r>
            <a:r>
              <a:rPr lang="fr-FR"/>
              <a:t>Similar</a:t>
            </a:r>
            <a:r>
              <a:rPr lang="fr-FR"/>
              <a:t> to RDD </a:t>
            </a:r>
            <a:r>
              <a:rPr lang="fr-FR"/>
              <a:t>methods</a:t>
            </a:r>
            <a:r>
              <a:rPr lang="fr-FR"/>
              <a:t>, </a:t>
            </a:r>
            <a:r>
              <a:rPr lang="fr-FR"/>
              <a:t>different</a:t>
            </a:r>
            <a:r>
              <a:rPr lang="fr-FR"/>
              <a:t> </a:t>
            </a:r>
            <a:r>
              <a:rPr lang="fr-FR"/>
              <a:t>sub</a:t>
            </a:r>
            <a:r>
              <a:rPr lang="fr-FR"/>
              <a:t>-classes)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2091670"/>
            <a:ext cx="392049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/>
              <a:t>abstract class RDD&lt;T&gt; {</a:t>
            </a:r>
          </a:p>
          <a:p>
            <a:endParaRPr lang="fr-FR" sz="2000"/>
          </a:p>
          <a:p>
            <a:r>
              <a:rPr lang="fr-FR" sz="2000"/>
              <a:t>     public RDD&lt;U&gt; </a:t>
            </a:r>
            <a:r>
              <a:rPr lang="fr-FR" sz="2000" b="1"/>
              <a:t>map</a:t>
            </a:r>
            <a:r>
              <a:rPr lang="fr-FR" sz="2000"/>
              <a:t>(</a:t>
            </a:r>
            <a:r>
              <a:rPr lang="fr-FR" sz="2000"/>
              <a:t>func</a:t>
            </a:r>
            <a:r>
              <a:rPr lang="fr-FR" sz="2000"/>
              <a:t>&lt;T,U&gt;) {</a:t>
            </a:r>
          </a:p>
          <a:p>
            <a:r>
              <a:rPr lang="fr-FR" sz="2000"/>
              <a:t>         return new </a:t>
            </a:r>
            <a:r>
              <a:rPr lang="fr-FR" sz="2000"/>
              <a:t>MapRDD</a:t>
            </a:r>
            <a:r>
              <a:rPr lang="fr-FR" sz="2000"/>
              <a:t>(</a:t>
            </a:r>
            <a:r>
              <a:rPr lang="fr-FR" sz="2000"/>
              <a:t>func</a:t>
            </a:r>
            <a:r>
              <a:rPr lang="fr-FR" sz="2000"/>
              <a:t>);</a:t>
            </a:r>
          </a:p>
          <a:p>
            <a:r>
              <a:rPr lang="fr-FR" sz="2000"/>
              <a:t>     }</a:t>
            </a:r>
          </a:p>
          <a:p>
            <a:r>
              <a:rPr lang="fr-FR" sz="2000"/>
              <a:t>}</a:t>
            </a:r>
          </a:p>
          <a:p>
            <a:endParaRPr lang="fr-FR" sz="2000"/>
          </a:p>
          <a:p>
            <a:endParaRPr lang="fr-FR" sz="2000"/>
          </a:p>
          <a:p>
            <a:endParaRPr lang="fr-FR" sz="2000"/>
          </a:p>
          <a:p>
            <a:endParaRPr lang="fr-FR" sz="2000"/>
          </a:p>
          <a:p>
            <a:endParaRPr lang="fr-FR" sz="2000"/>
          </a:p>
          <a:p>
            <a:r>
              <a:rPr lang="fr-FR" sz="2000"/>
              <a:t>class </a:t>
            </a:r>
            <a:r>
              <a:rPr lang="fr-FR" sz="2000" b="1"/>
              <a:t>MapRDD</a:t>
            </a:r>
            <a:r>
              <a:rPr lang="fr-FR" sz="2000"/>
              <a:t> </a:t>
            </a:r>
            <a:r>
              <a:rPr lang="fr-FR" sz="2000"/>
              <a:t>extends</a:t>
            </a:r>
            <a:r>
              <a:rPr lang="fr-FR" sz="2000"/>
              <a:t> RDD {</a:t>
            </a:r>
          </a:p>
          <a:p>
            <a:r>
              <a:rPr lang="fr-FR" sz="2000"/>
              <a:t>   ..</a:t>
            </a:r>
          </a:p>
          <a:p>
            <a:r>
              <a:rPr lang="fr-FR" sz="2000"/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26330" y="2091670"/>
            <a:ext cx="726567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/>
              <a:t>class </a:t>
            </a:r>
            <a:r>
              <a:rPr lang="fr-FR" sz="2000"/>
              <a:t>Dataset</a:t>
            </a:r>
            <a:r>
              <a:rPr lang="fr-FR" sz="2000"/>
              <a:t>&lt;T&gt; {</a:t>
            </a:r>
          </a:p>
          <a:p>
            <a:endParaRPr lang="fr-FR" sz="2000"/>
          </a:p>
          <a:p>
            <a:r>
              <a:rPr lang="fr-FR" sz="2000"/>
              <a:t>     public </a:t>
            </a:r>
            <a:r>
              <a:rPr lang="fr-FR" sz="2000"/>
              <a:t>Dataset</a:t>
            </a:r>
            <a:r>
              <a:rPr lang="fr-FR" sz="2000"/>
              <a:t>&lt;U&gt; </a:t>
            </a:r>
            <a:r>
              <a:rPr lang="fr-FR" sz="2000" b="1"/>
              <a:t>map</a:t>
            </a:r>
            <a:r>
              <a:rPr lang="fr-FR" sz="2000"/>
              <a:t>(</a:t>
            </a:r>
            <a:r>
              <a:rPr lang="fr-FR" sz="2000"/>
              <a:t>func</a:t>
            </a:r>
            <a:r>
              <a:rPr lang="fr-FR" sz="2000"/>
              <a:t>&lt;T,U&gt;,  Encoder&lt;U&gt;) {</a:t>
            </a:r>
          </a:p>
          <a:p>
            <a:r>
              <a:rPr lang="fr-FR" sz="2000"/>
              <a:t>         return </a:t>
            </a:r>
            <a:r>
              <a:rPr lang="fr-FR" sz="2000"/>
              <a:t>Dataset</a:t>
            </a:r>
            <a:r>
              <a:rPr lang="fr-FR" sz="2000"/>
              <a:t>(</a:t>
            </a:r>
            <a:br>
              <a:rPr lang="fr-FR" sz="2000"/>
            </a:br>
            <a:r>
              <a:rPr lang="fr-FR" sz="2000"/>
              <a:t>                   new </a:t>
            </a:r>
            <a:r>
              <a:rPr lang="fr-FR" sz="2000"/>
              <a:t>QueryExecution</a:t>
            </a:r>
            <a:r>
              <a:rPr lang="fr-FR" sz="2000"/>
              <a:t>(sc, new </a:t>
            </a:r>
            <a:r>
              <a:rPr lang="fr-FR" sz="2000"/>
              <a:t>MapLogicalPlan</a:t>
            </a:r>
            <a:r>
              <a:rPr lang="fr-FR" sz="2000"/>
              <a:t>(</a:t>
            </a:r>
            <a:r>
              <a:rPr lang="fr-FR" sz="2000"/>
              <a:t>this</a:t>
            </a:r>
            <a:r>
              <a:rPr lang="fr-FR" sz="2000"/>
              <a:t>, </a:t>
            </a:r>
            <a:r>
              <a:rPr lang="fr-FR" sz="2000"/>
              <a:t>func</a:t>
            </a:r>
            <a:r>
              <a:rPr lang="fr-FR" sz="2000"/>
              <a:t>)),  </a:t>
            </a:r>
            <a:br>
              <a:rPr lang="fr-FR" sz="2000"/>
            </a:br>
            <a:r>
              <a:rPr lang="fr-FR" sz="2000"/>
              <a:t>                   encoder));</a:t>
            </a:r>
          </a:p>
          <a:p>
            <a:r>
              <a:rPr lang="fr-FR" sz="2000"/>
              <a:t>     }</a:t>
            </a:r>
          </a:p>
          <a:p>
            <a:r>
              <a:rPr lang="fr-FR" sz="2000"/>
              <a:t>}</a:t>
            </a:r>
          </a:p>
          <a:p>
            <a:endParaRPr lang="fr-FR" sz="2000"/>
          </a:p>
          <a:p>
            <a:endParaRPr lang="fr-FR" sz="2000"/>
          </a:p>
          <a:p>
            <a:r>
              <a:rPr lang="fr-FR" sz="2000"/>
              <a:t>class </a:t>
            </a:r>
            <a:r>
              <a:rPr lang="fr-FR" sz="2000"/>
              <a:t>QueryExecution</a:t>
            </a:r>
            <a:r>
              <a:rPr lang="fr-FR" sz="2000"/>
              <a:t> { .. }</a:t>
            </a:r>
          </a:p>
          <a:p>
            <a:r>
              <a:rPr lang="fr-FR" sz="2000"/>
              <a:t>abstract class </a:t>
            </a:r>
            <a:r>
              <a:rPr lang="fr-FR" sz="2000"/>
              <a:t>LogicalPlan</a:t>
            </a:r>
            <a:r>
              <a:rPr lang="fr-FR" sz="2000"/>
              <a:t> </a:t>
            </a:r>
            <a:r>
              <a:rPr lang="fr-FR" sz="2000"/>
              <a:t>extends</a:t>
            </a:r>
            <a:r>
              <a:rPr lang="fr-FR" sz="2000"/>
              <a:t> Expression {   ..  }</a:t>
            </a:r>
          </a:p>
          <a:p>
            <a:endParaRPr lang="fr-FR" sz="2000"/>
          </a:p>
          <a:p>
            <a:r>
              <a:rPr lang="fr-FR" sz="2000"/>
              <a:t>class </a:t>
            </a:r>
            <a:r>
              <a:rPr lang="fr-FR" sz="2000" b="1"/>
              <a:t>MapLogicalPlan</a:t>
            </a:r>
            <a:r>
              <a:rPr lang="fr-FR" sz="2000" b="1"/>
              <a:t> </a:t>
            </a:r>
            <a:r>
              <a:rPr lang="fr-FR" sz="2000"/>
              <a:t>extends</a:t>
            </a:r>
            <a:r>
              <a:rPr lang="fr-FR" sz="2000"/>
              <a:t> </a:t>
            </a:r>
            <a:r>
              <a:rPr lang="fr-FR" sz="2000"/>
              <a:t>MapLogicalPlan</a:t>
            </a:r>
            <a:r>
              <a:rPr lang="fr-FR" sz="2000"/>
              <a:t> {   .. 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691" y="0"/>
            <a:ext cx="11702844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Dependencies</a:t>
            </a:r>
            <a:r>
              <a:rPr lang="fr-FR"/>
              <a:t> : DAG (</a:t>
            </a:r>
            <a:r>
              <a:rPr lang="fr-FR"/>
              <a:t>Directed</a:t>
            </a:r>
            <a:r>
              <a:rPr lang="fr-FR"/>
              <a:t> </a:t>
            </a:r>
            <a:r>
              <a:rPr lang="fr-FR"/>
              <a:t>Acyclic</a:t>
            </a:r>
            <a:r>
              <a:rPr lang="fr-FR"/>
              <a:t> Graph)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" name="Object 3">
            <a:extLst>
              <a:ext uri="{FF2B5EF4-FFF2-40B4-BE49-F238E27FC236}">
                <a16:creationId xmlns:a16="http://schemas.microsoft.com/office/drawing/2014/main" id="{125469CE-3106-64CC-CA65-7A96FE007CA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28003" y="225141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4" name="Object 3">
                    <a:extLst>
                      <a:ext uri="{FF2B5EF4-FFF2-40B4-BE49-F238E27FC236}">
                        <a16:creationId xmlns:a16="http://schemas.microsoft.com/office/drawing/2014/main" id="{125469CE-3106-64CC-CA65-7A96FE007CA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28003" y="225141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41444" y="2337620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" name="Object 5">
            <a:extLst>
              <a:ext uri="{FF2B5EF4-FFF2-40B4-BE49-F238E27FC236}">
                <a16:creationId xmlns:a16="http://schemas.microsoft.com/office/drawing/2014/main" id="{FD6BCED5-AEAB-197E-1911-E759434D593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28003" y="3974522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6" name="Object 5">
                    <a:extLst>
                      <a:ext uri="{FF2B5EF4-FFF2-40B4-BE49-F238E27FC236}">
                        <a16:creationId xmlns:a16="http://schemas.microsoft.com/office/drawing/2014/main" id="{FD6BCED5-AEAB-197E-1911-E759434D593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28003" y="3974522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241444" y="406072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3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" name="Object 7">
            <a:extLst>
              <a:ext uri="{FF2B5EF4-FFF2-40B4-BE49-F238E27FC236}">
                <a16:creationId xmlns:a16="http://schemas.microsoft.com/office/drawing/2014/main" id="{4AC293FB-728B-8BBD-2214-428588909AA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29183" y="2251419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8" name="Object 7">
                    <a:extLst>
                      <a:ext uri="{FF2B5EF4-FFF2-40B4-BE49-F238E27FC236}">
                        <a16:creationId xmlns:a16="http://schemas.microsoft.com/office/drawing/2014/main" id="{4AC293FB-728B-8BBD-2214-428588909AA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229183" y="2251419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299948" y="2383786"/>
            <a:ext cx="15921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2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RDD1 )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3753154" y="3133356"/>
            <a:ext cx="1224116" cy="0"/>
          </a:xfrm>
          <a:prstGeom prst="straightConnector1">
            <a:avLst/>
          </a:prstGeom>
          <a:ln w="381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rrow: Left 12"/>
          <p:cNvSpPr/>
          <p:nvPr/>
        </p:nvSpPr>
        <p:spPr>
          <a:xfrm rot="10800000">
            <a:off x="3944883" y="2479123"/>
            <a:ext cx="1032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3590871" y="1926661"/>
            <a:ext cx="1812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 propagation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0188" y="3179483"/>
            <a:ext cx="1414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Computation</a:t>
            </a:r>
          </a:p>
          <a:p>
            <a:r>
              <a:rPr lang="fr-FR"/>
              <a:t>dependency</a:t>
            </a:r>
            <a:endParaRPr lang="fr-FR"/>
          </a:p>
        </p:txBody>
      </p:sp>
      <p:sp>
        <p:nvSpPr>
          <p:cNvPr id="16" name="Arrow: Left 15"/>
          <p:cNvSpPr/>
          <p:nvPr/>
        </p:nvSpPr>
        <p:spPr>
          <a:xfrm rot="12862942">
            <a:off x="7176625" y="3152467"/>
            <a:ext cx="1032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Left 16"/>
          <p:cNvSpPr/>
          <p:nvPr/>
        </p:nvSpPr>
        <p:spPr>
          <a:xfrm rot="10352045">
            <a:off x="4020423" y="4176859"/>
            <a:ext cx="4080387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E5FDE379-39E1-7978-4FE6-AB3E2525FEF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363693" y="3311740"/>
          <a:ext cx="1662868" cy="13255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8" name="Object 17">
                    <a:extLst>
                      <a:ext uri="{FF2B5EF4-FFF2-40B4-BE49-F238E27FC236}">
                        <a16:creationId xmlns:a16="http://schemas.microsoft.com/office/drawing/2014/main" id="{E5FDE379-39E1-7978-4FE6-AB3E2525FEF7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8363693" y="3311740"/>
                    <a:ext cx="1662868" cy="13255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459412" y="3563439"/>
            <a:ext cx="16321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4</a:t>
            </a:r>
          </a:p>
          <a:p>
            <a:r>
              <a:rPr lang="fr-FR"/>
              <a:t> = </a:t>
            </a:r>
            <a:r>
              <a:rPr lang="fr-FR"/>
              <a:t>func</a:t>
            </a:r>
            <a:r>
              <a:rPr lang="fr-FR"/>
              <a:t>( </a:t>
            </a:r>
          </a:p>
          <a:p>
            <a:r>
              <a:rPr lang="fr-FR"/>
              <a:t>   RDD2, RDD3)</a:t>
            </a:r>
          </a:p>
        </p:txBody>
      </p:sp>
      <p:sp>
        <p:nvSpPr>
          <p:cNvPr id="20" name="&quot;Not Allowed&quot; Symbol 19"/>
          <p:cNvSpPr/>
          <p:nvPr/>
        </p:nvSpPr>
        <p:spPr>
          <a:xfrm>
            <a:off x="869197" y="4486769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1" name="&quot;Not Allowed&quot; Symbol 20"/>
          <p:cNvSpPr/>
          <p:nvPr/>
        </p:nvSpPr>
        <p:spPr>
          <a:xfrm>
            <a:off x="869197" y="2721938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2" name="Arrow: Left 21"/>
          <p:cNvSpPr/>
          <p:nvPr/>
        </p:nvSpPr>
        <p:spPr>
          <a:xfrm rot="10800000">
            <a:off x="1422287" y="2659958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Arrow: Left 22"/>
          <p:cNvSpPr/>
          <p:nvPr/>
        </p:nvSpPr>
        <p:spPr>
          <a:xfrm rot="10800000">
            <a:off x="1403452" y="4430055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&quot;Not Allowed&quot; Symbol 23"/>
          <p:cNvSpPr/>
          <p:nvPr/>
        </p:nvSpPr>
        <p:spPr>
          <a:xfrm>
            <a:off x="10917765" y="3721345"/>
            <a:ext cx="376084" cy="384523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5" name="Arrow: Left 24"/>
          <p:cNvSpPr/>
          <p:nvPr/>
        </p:nvSpPr>
        <p:spPr>
          <a:xfrm rot="10800000">
            <a:off x="10285960" y="3721345"/>
            <a:ext cx="437434" cy="4350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Left Brace 25"/>
          <p:cNvSpPr/>
          <p:nvPr/>
        </p:nvSpPr>
        <p:spPr>
          <a:xfrm rot="16200000">
            <a:off x="10744647" y="5135560"/>
            <a:ext cx="308963" cy="112073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Left Brace 26"/>
          <p:cNvSpPr/>
          <p:nvPr/>
        </p:nvSpPr>
        <p:spPr>
          <a:xfrm rot="16200000">
            <a:off x="5894448" y="1713637"/>
            <a:ext cx="369332" cy="8024956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5299948" y="6039465"/>
            <a:ext cx="2376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Transformation DAG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5365" y="5900965"/>
            <a:ext cx="2066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Terminal </a:t>
            </a:r>
            <a:r>
              <a:rPr lang="fr-FR"/>
              <a:t>Result</a:t>
            </a:r>
            <a:endParaRPr lang="fr-FR"/>
          </a:p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.count() 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855" y="5900964"/>
            <a:ext cx="2066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RDD Init</a:t>
            </a:r>
          </a:p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.</a:t>
            </a:r>
            <a:r>
              <a:rPr lang="fr-FR"/>
              <a:t>read</a:t>
            </a:r>
            <a:r>
              <a:rPr lang="fr-FR"/>
              <a:t>() )</a:t>
            </a:r>
          </a:p>
        </p:txBody>
      </p:sp>
      <p:sp>
        <p:nvSpPr>
          <p:cNvPr id="31" name="Left Brace 30"/>
          <p:cNvSpPr/>
          <p:nvPr/>
        </p:nvSpPr>
        <p:spPr>
          <a:xfrm rot="16200000">
            <a:off x="926153" y="5123486"/>
            <a:ext cx="308963" cy="1120738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3 </a:t>
            </a:r>
            <a:r>
              <a:rPr lang="fr-FR"/>
              <a:t>equivalent</a:t>
            </a:r>
            <a:r>
              <a:rPr lang="fr-FR"/>
              <a:t> </a:t>
            </a:r>
            <a:r>
              <a:rPr lang="fr-FR"/>
              <a:t>formalisms</a:t>
            </a:r>
            <a:r>
              <a:rPr lang="fr-FR"/>
              <a:t>:</a:t>
            </a:r>
            <a:br>
              <a:rPr lang="fr-FR"/>
            </a:br>
            <a:r>
              <a:rPr lang="fr-FR"/>
              <a:t>SSA </a:t>
            </a:r>
            <a:r>
              <a:rPr lang="fr-FR"/>
              <a:t>create</a:t>
            </a:r>
            <a:r>
              <a:rPr lang="fr-FR"/>
              <a:t> Api,  Expression </a:t>
            </a:r>
            <a:r>
              <a:rPr lang="fr-FR"/>
              <a:t>Algebra</a:t>
            </a:r>
            <a:r>
              <a:rPr lang="fr-FR"/>
              <a:t>,  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798" y="3067719"/>
            <a:ext cx="3309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/>
              <a:t>RDD rdd1 = … </a:t>
            </a:r>
            <a:r>
              <a:rPr lang="fr-FR" sz="1800"/>
              <a:t>read</a:t>
            </a:r>
            <a:endParaRPr lang="fr-FR" sz="1800"/>
          </a:p>
          <a:p>
            <a:r>
              <a:rPr lang="fr-FR" sz="1800"/>
              <a:t>RDD rdd2   =  rdd1 .</a:t>
            </a:r>
            <a:r>
              <a:rPr lang="fr-FR" sz="1800"/>
              <a:t>map</a:t>
            </a:r>
            <a:r>
              <a:rPr lang="fr-FR" sz="1800"/>
              <a:t>( .. )</a:t>
            </a:r>
          </a:p>
          <a:p>
            <a:r>
              <a:rPr lang="fr-FR" sz="1800"/>
              <a:t>RDD rdd3 = .. </a:t>
            </a:r>
            <a:r>
              <a:rPr lang="fr-FR" sz="1800"/>
              <a:t>read</a:t>
            </a:r>
            <a:endParaRPr lang="fr-FR" sz="1800"/>
          </a:p>
          <a:p>
            <a:r>
              <a:rPr lang="fr-FR" sz="1800"/>
              <a:t>RDD rdd4 = rdd2 .</a:t>
            </a:r>
            <a:r>
              <a:rPr lang="fr-FR" sz="1800"/>
              <a:t>join</a:t>
            </a:r>
            <a:r>
              <a:rPr lang="fr-FR" sz="1800"/>
              <a:t>( rdd3 )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847" y="2064945"/>
            <a:ext cx="564372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SSA = Static Single Assignment</a:t>
            </a:r>
            <a:br>
              <a:rPr lang="fr-FR" sz="3200" b="1"/>
            </a:br>
            <a:r>
              <a:rPr lang="fr-FR" sz="3200" b="1"/>
              <a:t>RDD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9633" y="1997782"/>
            <a:ext cx="42141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Expression </a:t>
            </a:r>
            <a:r>
              <a:rPr lang="fr-FR" sz="3200" b="1"/>
              <a:t>Algebra</a:t>
            </a:r>
            <a:r>
              <a:rPr lang="fr-FR" sz="3200" b="1"/>
              <a:t>,  </a:t>
            </a:r>
            <a:r>
              <a:rPr lang="fr-FR" sz="3200" b="1"/>
              <a:t>Sql</a:t>
            </a:r>
            <a:endParaRPr lang="fr-FR" sz="3200" b="1"/>
          </a:p>
        </p:txBody>
      </p:sp>
      <p:sp>
        <p:nvSpPr>
          <p:cNvPr id="8" name="TextBox 7"/>
          <p:cNvSpPr txBox="1"/>
          <p:nvPr/>
        </p:nvSpPr>
        <p:spPr>
          <a:xfrm>
            <a:off x="7741397" y="2652221"/>
            <a:ext cx="42575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SELECT  </a:t>
            </a:r>
            <a:r>
              <a:rPr lang="fr-FR" sz="2400"/>
              <a:t>map</a:t>
            </a:r>
            <a:r>
              <a:rPr lang="fr-FR" sz="2400"/>
              <a:t>(t1) FROM Table1 t1</a:t>
            </a:r>
            <a:br>
              <a:rPr lang="fr-FR" sz="2400"/>
            </a:br>
            <a:r>
              <a:rPr lang="fr-FR" sz="2400"/>
              <a:t>JOIN Table2 t2 on 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1287" y="3714152"/>
            <a:ext cx="466698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new </a:t>
            </a:r>
            <a:r>
              <a:rPr lang="fr-FR" sz="2400"/>
              <a:t>JoinRDD</a:t>
            </a:r>
            <a:r>
              <a:rPr lang="fr-FR" sz="2400"/>
              <a:t>( </a:t>
            </a:r>
            <a:br>
              <a:rPr lang="fr-FR" sz="2400"/>
            </a:br>
            <a:r>
              <a:rPr lang="fr-FR" sz="2400"/>
              <a:t>    new </a:t>
            </a:r>
            <a:r>
              <a:rPr lang="fr-FR" sz="2400"/>
              <a:t>MapRDD</a:t>
            </a:r>
            <a:r>
              <a:rPr lang="fr-FR" sz="2400"/>
              <a:t>( </a:t>
            </a:r>
            <a:r>
              <a:rPr lang="fr-FR" sz="2400"/>
              <a:t>readRDD</a:t>
            </a:r>
            <a:r>
              <a:rPr lang="fr-FR" sz="2400"/>
              <a:t>(table1) ),</a:t>
            </a:r>
          </a:p>
          <a:p>
            <a:r>
              <a:rPr lang="fr-FR" sz="2400"/>
              <a:t>    </a:t>
            </a:r>
            <a:r>
              <a:rPr lang="fr-FR" sz="2400"/>
              <a:t>readRDD</a:t>
            </a:r>
            <a:r>
              <a:rPr lang="fr-FR" sz="2400"/>
              <a:t>(table2)</a:t>
            </a:r>
          </a:p>
          <a:p>
            <a:r>
              <a:rPr lang="fr-FR" sz="2400"/>
              <a:t>   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5794" y="4794883"/>
            <a:ext cx="9378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/>
              <a:t>DAG</a:t>
            </a:r>
          </a:p>
        </p:txBody>
      </p:sp>
      <p:sp>
        <p:nvSpPr>
          <p:cNvPr id="11" name="Arrow: Up-Down 10"/>
          <p:cNvSpPr/>
          <p:nvPr/>
        </p:nvSpPr>
        <p:spPr>
          <a:xfrm rot="18845530">
            <a:off x="5088194" y="3743804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Up-Down 11"/>
          <p:cNvSpPr/>
          <p:nvPr/>
        </p:nvSpPr>
        <p:spPr>
          <a:xfrm rot="2777646">
            <a:off x="6019641" y="3744830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Up-Down 12"/>
          <p:cNvSpPr/>
          <p:nvPr/>
        </p:nvSpPr>
        <p:spPr>
          <a:xfrm rot="5400000">
            <a:off x="5588227" y="2986187"/>
            <a:ext cx="481762" cy="885627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" name="Object 13">
            <a:extLst>
              <a:ext uri="{FF2B5EF4-FFF2-40B4-BE49-F238E27FC236}">
                <a16:creationId xmlns:a16="http://schemas.microsoft.com/office/drawing/2014/main" id="{D62F3F90-AC8B-A2C7-4A1E-C55152CE020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62919" y="5492307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4" name="Object 13">
                    <a:extLst>
                      <a:ext uri="{FF2B5EF4-FFF2-40B4-BE49-F238E27FC236}">
                        <a16:creationId xmlns:a16="http://schemas.microsoft.com/office/drawing/2014/main" id="{D62F3F90-AC8B-A2C7-4A1E-C55152CE020C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662919" y="5492307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208AE3AF-EADE-28C6-F4A5-ACC1A46758C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56064" y="6072245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208AE3AF-EADE-28C6-F4A5-ACC1A46758C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656064" y="6072245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9844D68C-F2A1-1780-E485-D744F5AC1D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84108" y="5492308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9844D68C-F2A1-1780-E485-D744F5AC1D9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84108" y="5492308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Arrow: Left 16"/>
          <p:cNvSpPr/>
          <p:nvPr/>
        </p:nvSpPr>
        <p:spPr>
          <a:xfrm rot="10800000">
            <a:off x="5267074" y="5581901"/>
            <a:ext cx="444901" cy="171170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Left 17"/>
          <p:cNvSpPr/>
          <p:nvPr/>
        </p:nvSpPr>
        <p:spPr>
          <a:xfrm rot="12862942">
            <a:off x="6320643" y="5732676"/>
            <a:ext cx="365735" cy="211045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Arrow: Left 18"/>
          <p:cNvSpPr/>
          <p:nvPr/>
        </p:nvSpPr>
        <p:spPr>
          <a:xfrm rot="10352045">
            <a:off x="5227069" y="6061069"/>
            <a:ext cx="1520559" cy="17840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7265EE62-39F4-9B3F-0418-DC48179998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905297" y="5838198"/>
          <a:ext cx="487814" cy="388863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7265EE62-39F4-9B3F-0418-DC481799986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905297" y="5838198"/>
                    <a:ext cx="487814" cy="388863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756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Dataset</a:t>
            </a:r>
            <a:r>
              <a:rPr lang="fr-FR"/>
              <a:t> </a:t>
            </a:r>
            <a:r>
              <a:rPr lang="fr-FR"/>
              <a:t>operations</a:t>
            </a:r>
            <a:r>
              <a:rPr lang="fr-FR"/>
              <a:t>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04840" y="1441200"/>
            <a:ext cx="5176353" cy="51706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&lt;T1&gt;   ds1 =  </a:t>
            </a:r>
            <a:r>
              <a:rPr lang="fr-FR"/>
              <a:t>spark.read</a:t>
            </a:r>
            <a:r>
              <a:rPr lang="fr-FR"/>
              <a:t> ….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&lt;T2&gt;    ds2 =  ds1.map(   x -&gt; f(x)  );</a:t>
            </a:r>
          </a:p>
          <a:p>
            <a:endParaRPr lang="fr-FR"/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&lt;Row&gt;  ds3 =  ds2.toDF();</a:t>
            </a:r>
          </a:p>
          <a:p>
            <a:endParaRPr lang="fr-FR"/>
          </a:p>
          <a:p>
            <a:r>
              <a:rPr lang="fr-FR"/>
              <a:t>Dataset</a:t>
            </a:r>
            <a:r>
              <a:rPr lang="fr-FR"/>
              <a:t>&lt;Row&gt;  ds4 =  ds3 .filter(  « col &gt;= value »)</a:t>
            </a:r>
            <a:br>
              <a:rPr lang="fr-FR"/>
            </a:br>
            <a:r>
              <a:rPr lang="fr-FR"/>
              <a:t>                                              .</a:t>
            </a:r>
            <a:r>
              <a:rPr lang="fr-FR"/>
              <a:t>filter</a:t>
            </a:r>
            <a:r>
              <a:rPr lang="fr-FR"/>
              <a:t>( x -&gt; g(x) )</a:t>
            </a:r>
            <a:br>
              <a:rPr lang="fr-FR"/>
            </a:br>
            <a:r>
              <a:rPr lang="fr-FR"/>
              <a:t>                                              .</a:t>
            </a:r>
            <a:r>
              <a:rPr lang="fr-FR"/>
              <a:t>map</a:t>
            </a:r>
            <a:r>
              <a:rPr lang="fr-FR"/>
              <a:t>( y -&gt; h(y) );</a:t>
            </a:r>
          </a:p>
          <a:p>
            <a:endParaRPr lang="fr-FR"/>
          </a:p>
          <a:p>
            <a:r>
              <a:rPr lang="fr-FR"/>
              <a:t>…</a:t>
            </a:r>
          </a:p>
          <a:p>
            <a:r>
              <a:rPr lang="fr-FR"/>
              <a:t>Dataset</a:t>
            </a:r>
            <a:r>
              <a:rPr lang="fr-FR"/>
              <a:t>&lt;Row&gt;  </a:t>
            </a:r>
            <a:r>
              <a:rPr lang="fr-FR"/>
              <a:t>dsN</a:t>
            </a:r>
            <a:r>
              <a:rPr lang="fr-FR"/>
              <a:t> =   ds4  .    </a:t>
            </a:r>
            <a:r>
              <a:rPr lang="fr-FR"/>
              <a:t>join</a:t>
            </a:r>
            <a:r>
              <a:rPr lang="fr-FR"/>
              <a:t>( </a:t>
            </a:r>
            <a:r>
              <a:rPr lang="fr-FR"/>
              <a:t>dsJoined</a:t>
            </a:r>
            <a:r>
              <a:rPr lang="fr-FR"/>
              <a:t>)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 sz="2400"/>
              <a:t>ds</a:t>
            </a:r>
            <a:r>
              <a:rPr lang="fr-FR" sz="2400"/>
              <a:t> . </a:t>
            </a:r>
            <a:r>
              <a:rPr lang="fr-FR" sz="2400" b="1"/>
              <a:t>show</a:t>
            </a:r>
            <a:r>
              <a:rPr lang="fr-FR" sz="2400"/>
              <a:t>();  // =&gt; TRIGGER COMPUTE !!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" name="Object 4">
            <a:extLst>
              <a:ext uri="{FF2B5EF4-FFF2-40B4-BE49-F238E27FC236}">
                <a16:creationId xmlns:a16="http://schemas.microsoft.com/office/drawing/2014/main" id="{ADB9C511-2A58-C4ED-F08D-4AD824C88E9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18904" y="1441200"/>
          <a:ext cx="793241" cy="45085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5" name="Object 4">
                    <a:extLst>
                      <a:ext uri="{FF2B5EF4-FFF2-40B4-BE49-F238E27FC236}">
                        <a16:creationId xmlns:a16="http://schemas.microsoft.com/office/drawing/2014/main" id="{ADB9C511-2A58-C4ED-F08D-4AD824C88E93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18904" y="1441200"/>
                    <a:ext cx="793241" cy="45085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Arrow: Right 5"/>
          <p:cNvSpPr/>
          <p:nvPr/>
        </p:nvSpPr>
        <p:spPr>
          <a:xfrm rot="2221328">
            <a:off x="2726526" y="1205647"/>
            <a:ext cx="926009" cy="3320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2274270" y="8373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…</a:t>
            </a:r>
          </a:p>
        </p:txBody>
      </p:sp>
      <p:sp>
        <p:nvSpPr>
          <p:cNvPr id="8" name="Arrow: Curved Left 7"/>
          <p:cNvSpPr/>
          <p:nvPr/>
        </p:nvSpPr>
        <p:spPr>
          <a:xfrm>
            <a:off x="4220080" y="1920406"/>
            <a:ext cx="234785" cy="450851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858883" y="1469555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ds1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" name="Object 9">
            <a:extLst>
              <a:ext uri="{FF2B5EF4-FFF2-40B4-BE49-F238E27FC236}">
                <a16:creationId xmlns:a16="http://schemas.microsoft.com/office/drawing/2014/main" id="{B1BEB85E-B6B0-E267-42E7-8F55BC72C4E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779017" y="2397087"/>
          <a:ext cx="793241" cy="369332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0" name="Object 9">
                    <a:extLst>
                      <a:ext uri="{FF2B5EF4-FFF2-40B4-BE49-F238E27FC236}">
                        <a16:creationId xmlns:a16="http://schemas.microsoft.com/office/drawing/2014/main" id="{B1BEB85E-B6B0-E267-42E7-8F55BC72C4E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779017" y="2397087"/>
                    <a:ext cx="793241" cy="369332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00404" y="2397086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ds2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" name="Object 12">
            <a:extLst>
              <a:ext uri="{FF2B5EF4-FFF2-40B4-BE49-F238E27FC236}">
                <a16:creationId xmlns:a16="http://schemas.microsoft.com/office/drawing/2014/main" id="{C6B37236-D670-897C-18BC-4466CEF351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08256" y="4282174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3" name="Object 12">
                    <a:extLst>
                      <a:ext uri="{FF2B5EF4-FFF2-40B4-BE49-F238E27FC236}">
                        <a16:creationId xmlns:a16="http://schemas.microsoft.com/office/drawing/2014/main" id="{C6B37236-D670-897C-18BC-4466CEF3511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08256" y="4282174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944846" y="4282174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ds4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" name="Object 14">
            <a:extLst>
              <a:ext uri="{FF2B5EF4-FFF2-40B4-BE49-F238E27FC236}">
                <a16:creationId xmlns:a16="http://schemas.microsoft.com/office/drawing/2014/main" id="{28A26B0F-F942-E11C-E161-E8FD6CA8DE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2612" y="3607870"/>
          <a:ext cx="793241" cy="27337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5" name="Object 14">
                    <a:extLst>
                      <a:ext uri="{FF2B5EF4-FFF2-40B4-BE49-F238E27FC236}">
                        <a16:creationId xmlns:a16="http://schemas.microsoft.com/office/drawing/2014/main" id="{28A26B0F-F942-E11C-E161-E8FD6CA8DE30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512612" y="3607870"/>
                    <a:ext cx="793241" cy="27337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" name="Object 15">
            <a:extLst>
              <a:ext uri="{FF2B5EF4-FFF2-40B4-BE49-F238E27FC236}">
                <a16:creationId xmlns:a16="http://schemas.microsoft.com/office/drawing/2014/main" id="{2637F367-CD16-FCBC-925B-1333BAA0485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2145" y="3916780"/>
          <a:ext cx="793241" cy="273379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6" name="Object 15">
                    <a:extLst>
                      <a:ext uri="{FF2B5EF4-FFF2-40B4-BE49-F238E27FC236}">
                        <a16:creationId xmlns:a16="http://schemas.microsoft.com/office/drawing/2014/main" id="{2637F367-CD16-FCBC-925B-1333BAA0485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512145" y="3916780"/>
                    <a:ext cx="793241" cy="273379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7" name="Arrow: Curved Left 16"/>
          <p:cNvSpPr/>
          <p:nvPr/>
        </p:nvSpPr>
        <p:spPr>
          <a:xfrm>
            <a:off x="4264522" y="2766419"/>
            <a:ext cx="234785" cy="450851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8" name="Object 17">
            <a:extLst>
              <a:ext uri="{FF2B5EF4-FFF2-40B4-BE49-F238E27FC236}">
                <a16:creationId xmlns:a16="http://schemas.microsoft.com/office/drawing/2014/main" id="{B788FF72-EEC0-235F-4E3A-60DF2B99C0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23459" y="3278161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18" name="Object 17">
                    <a:extLst>
                      <a:ext uri="{FF2B5EF4-FFF2-40B4-BE49-F238E27FC236}">
                        <a16:creationId xmlns:a16="http://schemas.microsoft.com/office/drawing/2014/main" id="{B788FF72-EEC0-235F-4E3A-60DF2B99C06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23459" y="3278161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944846" y="3278161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ds3</a:t>
            </a:r>
          </a:p>
        </p:txBody>
      </p:sp>
      <p:sp>
        <p:nvSpPr>
          <p:cNvPr id="12" name="Arrow: Curved Left 11"/>
          <p:cNvSpPr/>
          <p:nvPr/>
        </p:nvSpPr>
        <p:spPr>
          <a:xfrm>
            <a:off x="4308249" y="3595399"/>
            <a:ext cx="351710" cy="64276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0" name="Object 19">
            <a:extLst>
              <a:ext uri="{FF2B5EF4-FFF2-40B4-BE49-F238E27FC236}">
                <a16:creationId xmlns:a16="http://schemas.microsoft.com/office/drawing/2014/main" id="{265B9010-8A71-FE92-66D8-A7E89CB7541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858883" y="5113509"/>
          <a:ext cx="793241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20" name="Object 19">
                    <a:extLst>
                      <a:ext uri="{FF2B5EF4-FFF2-40B4-BE49-F238E27FC236}">
                        <a16:creationId xmlns:a16="http://schemas.microsoft.com/office/drawing/2014/main" id="{265B9010-8A71-FE92-66D8-A7E89CB7541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858883" y="5113509"/>
                    <a:ext cx="793241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995473" y="5113509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dsN</a:t>
            </a:r>
            <a:endParaRPr lang="fr-FR"/>
          </a:p>
        </p:txBody>
      </p:sp>
      <p:sp>
        <p:nvSpPr>
          <p:cNvPr id="22" name="Arrow: Right 21"/>
          <p:cNvSpPr/>
          <p:nvPr/>
        </p:nvSpPr>
        <p:spPr>
          <a:xfrm rot="5400000">
            <a:off x="4066611" y="4728881"/>
            <a:ext cx="400456" cy="21065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Arrow: Right 23"/>
          <p:cNvSpPr/>
          <p:nvPr/>
        </p:nvSpPr>
        <p:spPr>
          <a:xfrm rot="2664194">
            <a:off x="3816422" y="4823927"/>
            <a:ext cx="349440" cy="18885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7" name="Object 26">
            <a:extLst>
              <a:ext uri="{FF2B5EF4-FFF2-40B4-BE49-F238E27FC236}">
                <a16:creationId xmlns:a16="http://schemas.microsoft.com/office/drawing/2014/main" id="{84202815-ED7C-C99F-4901-F1670CE3AD8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16917" y="4671105"/>
          <a:ext cx="1174657" cy="308441"/>
        </p:xfrm>
        <a:graphic>
          <a:graphicData uri="http://schemas.openxmlformats.org/presentationml/2006/ole">
            <p:oleObj xmlns:mc="http://schemas.openxmlformats.org/markup-compatibility/2006" name="Bitmap Image" r:id="rId2" imgW="2994840" imgH="2434680" progId="PBrush">
              <p:embed/>
              <p:pic>
                <p:nvPicPr>
                  <p:cNvPr id="27" name="Object 26">
                    <a:extLst>
                      <a:ext uri="{FF2B5EF4-FFF2-40B4-BE49-F238E27FC236}">
                        <a16:creationId xmlns:a16="http://schemas.microsoft.com/office/drawing/2014/main" id="{84202815-ED7C-C99F-4901-F1670CE3AD8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2616917" y="4671105"/>
                    <a:ext cx="1174657" cy="308441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2757142" y="4640659"/>
            <a:ext cx="10842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dsJoined</a:t>
            </a:r>
            <a:endParaRPr lang="fr-FR"/>
          </a:p>
        </p:txBody>
      </p:sp>
      <p:sp>
        <p:nvSpPr>
          <p:cNvPr id="29" name="Arrow: Right 28"/>
          <p:cNvSpPr/>
          <p:nvPr/>
        </p:nvSpPr>
        <p:spPr>
          <a:xfrm rot="2221328">
            <a:off x="4572483" y="5705837"/>
            <a:ext cx="926009" cy="33202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Left Brace 29"/>
          <p:cNvSpPr/>
          <p:nvPr/>
        </p:nvSpPr>
        <p:spPr>
          <a:xfrm>
            <a:off x="2001520" y="837399"/>
            <a:ext cx="343364" cy="94559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Left Brace 30"/>
          <p:cNvSpPr/>
          <p:nvPr/>
        </p:nvSpPr>
        <p:spPr>
          <a:xfrm>
            <a:off x="1975082" y="1986212"/>
            <a:ext cx="343364" cy="3586547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Left Brace 31"/>
          <p:cNvSpPr/>
          <p:nvPr/>
        </p:nvSpPr>
        <p:spPr>
          <a:xfrm>
            <a:off x="1975082" y="5763553"/>
            <a:ext cx="343364" cy="945594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834394" y="1125530"/>
            <a:ext cx="10177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Create</a:t>
            </a:r>
            <a:endParaRPr lang="fr-FR" b="1"/>
          </a:p>
        </p:txBody>
      </p:sp>
      <p:sp>
        <p:nvSpPr>
          <p:cNvPr id="34" name="TextBox 33"/>
          <p:cNvSpPr txBox="1"/>
          <p:nvPr/>
        </p:nvSpPr>
        <p:spPr>
          <a:xfrm>
            <a:off x="403570" y="3513726"/>
            <a:ext cx="1478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Transform</a:t>
            </a:r>
            <a:endParaRPr lang="fr-FR" b="1"/>
          </a:p>
        </p:txBody>
      </p:sp>
      <p:sp>
        <p:nvSpPr>
          <p:cNvPr id="35" name="TextBox 34"/>
          <p:cNvSpPr txBox="1"/>
          <p:nvPr/>
        </p:nvSpPr>
        <p:spPr>
          <a:xfrm>
            <a:off x="701339" y="5955983"/>
            <a:ext cx="1011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Action</a:t>
            </a:r>
            <a:endParaRPr lang="fr-FR" b="1"/>
          </a:p>
        </p:txBody>
      </p:sp>
      <p:pic>
        <p:nvPicPr>
          <p:cNvPr id="3" name="Picture 2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81193" y="2018145"/>
            <a:ext cx="779737" cy="779737"/>
          </a:xfrm>
          <a:prstGeom prst="rect">
            <a:avLst/>
          </a:prstGeom>
          <a:noFill/>
        </p:spPr>
      </p:pic>
      <p:pic>
        <p:nvPicPr>
          <p:cNvPr id="23" name="Picture 22" descr="CPU X : Infos Smartphones – Applications sur Google Play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0798360" y="5718773"/>
            <a:ext cx="908079" cy="908079"/>
          </a:xfrm>
          <a:prstGeom prst="rect">
            <a:avLst/>
          </a:prstGeom>
          <a:noFill/>
        </p:spPr>
      </p:pic>
      <p:pic>
        <p:nvPicPr>
          <p:cNvPr id="25" name="Picture 24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43869" y="3429000"/>
            <a:ext cx="779737" cy="779737"/>
          </a:xfrm>
          <a:prstGeom prst="rect">
            <a:avLst/>
          </a:prstGeom>
          <a:noFill/>
        </p:spPr>
      </p:pic>
      <p:pic>
        <p:nvPicPr>
          <p:cNvPr id="28" name="Picture 27" descr="lazy girl sleeping on work unproductive workers cute cartoon illustration  1893571 Vector Art at Vecteezy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881191" y="4728640"/>
            <a:ext cx="779737" cy="77973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/>
          <p:nvPr/>
        </p:nvSpPr>
        <p:spPr>
          <a:xfrm>
            <a:off x="1099185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/>
              <a:t>Dataset</a:t>
            </a:r>
            <a:r>
              <a:rPr lang="fr-FR"/>
              <a:t> Transformation  != 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599" y="2574697"/>
            <a:ext cx="963969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Transformations</a:t>
            </a:r>
            <a:r>
              <a:rPr lang="fr-FR" sz="2400"/>
              <a:t>  = </a:t>
            </a:r>
            <a:r>
              <a:rPr lang="fr-FR" sz="2400"/>
              <a:t>lazy</a:t>
            </a:r>
            <a:r>
              <a:rPr lang="fr-FR" sz="2400"/>
              <a:t>,   </a:t>
            </a:r>
            <a:r>
              <a:rPr lang="fr-FR" sz="2400"/>
              <a:t>returning</a:t>
            </a:r>
            <a:r>
              <a:rPr lang="fr-FR" sz="2400"/>
              <a:t> </a:t>
            </a:r>
            <a:r>
              <a:rPr lang="fr-FR" sz="2400"/>
              <a:t>another</a:t>
            </a:r>
            <a:r>
              <a:rPr lang="fr-FR" sz="2400"/>
              <a:t> </a:t>
            </a:r>
            <a:r>
              <a:rPr lang="fr-FR" sz="2400"/>
              <a:t>Dataset</a:t>
            </a:r>
            <a:r>
              <a:rPr lang="fr-FR" sz="2400"/>
              <a:t> (on driver),  </a:t>
            </a:r>
          </a:p>
          <a:p>
            <a:r>
              <a:rPr lang="fr-FR" sz="2400"/>
              <a:t>                                   but </a:t>
            </a:r>
            <a:r>
              <a:rPr lang="fr-FR" sz="2400"/>
              <a:t>virtual</a:t>
            </a:r>
            <a:r>
              <a:rPr lang="fr-FR" sz="2400"/>
              <a:t> "data" </a:t>
            </a:r>
            <a:r>
              <a:rPr lang="fr-FR" sz="2400"/>
              <a:t>would</a:t>
            </a:r>
            <a:r>
              <a:rPr lang="fr-FR" sz="2400"/>
              <a:t> </a:t>
            </a:r>
            <a:r>
              <a:rPr lang="fr-FR" sz="2400"/>
              <a:t>be</a:t>
            </a:r>
            <a:r>
              <a:rPr lang="fr-FR" sz="2400"/>
              <a:t> </a:t>
            </a:r>
            <a:r>
              <a:rPr lang="fr-FR" sz="2400"/>
              <a:t>computed</a:t>
            </a:r>
            <a:r>
              <a:rPr lang="fr-FR" sz="2400"/>
              <a:t> </a:t>
            </a:r>
            <a:r>
              <a:rPr lang="fr-FR" sz="2400"/>
              <a:t>later</a:t>
            </a:r>
            <a:r>
              <a:rPr lang="fr-FR" sz="2400"/>
              <a:t> on </a:t>
            </a:r>
            <a:r>
              <a:rPr lang="fr-FR" sz="2400"/>
              <a:t>executors</a:t>
            </a:r>
            <a:endParaRPr lang="fr-FR" sz="2400"/>
          </a:p>
          <a:p>
            <a:endParaRPr lang="fr-FR" sz="2400"/>
          </a:p>
          <a:p>
            <a:r>
              <a:rPr lang="fr-FR" sz="2400"/>
              <a:t>    !=  </a:t>
            </a:r>
          </a:p>
          <a:p>
            <a:endParaRPr lang="fr-FR" sz="2400"/>
          </a:p>
          <a:p>
            <a:r>
              <a:rPr lang="fr-FR" sz="2400" b="1"/>
              <a:t>Actions</a:t>
            </a:r>
            <a:r>
              <a:rPr lang="fr-FR" sz="2400"/>
              <a:t> = </a:t>
            </a:r>
            <a:r>
              <a:rPr lang="fr-FR" sz="2400"/>
              <a:t>immediate</a:t>
            </a:r>
            <a:r>
              <a:rPr lang="fr-FR" sz="2400"/>
              <a:t>,  return value (long or List)  on Driver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5850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Avoiding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  multiple </a:t>
            </a:r>
            <a:r>
              <a:rPr lang="fr-FR"/>
              <a:t>recomputations</a:t>
            </a:r>
            <a:br>
              <a:rPr lang="fr-FR"/>
            </a:br>
            <a:r>
              <a:rPr lang="fr-FR"/>
              <a:t>(compromise </a:t>
            </a:r>
            <a:r>
              <a:rPr lang="fr-FR"/>
              <a:t>RAM+Disk</a:t>
            </a:r>
            <a:r>
              <a:rPr lang="fr-FR"/>
              <a:t>  &lt;-&gt;  CPU)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9005" y="1917857"/>
            <a:ext cx="1159919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 API</a:t>
            </a:r>
          </a:p>
          <a:p>
            <a:endParaRPr lang="fr-FR" sz="2400"/>
          </a:p>
          <a:p>
            <a:r>
              <a:rPr lang="fr-FR" sz="2400" b="1"/>
              <a:t>.cache()</a:t>
            </a:r>
            <a:r>
              <a:rPr lang="fr-FR" sz="2400"/>
              <a:t>    </a:t>
            </a:r>
          </a:p>
          <a:p>
            <a:endParaRPr lang="fr-FR" sz="2400"/>
          </a:p>
          <a:p>
            <a:r>
              <a:rPr lang="fr-FR" sz="2400"/>
              <a:t>// idem  </a:t>
            </a:r>
            <a:r>
              <a:rPr lang="fr-FR" sz="2400" b="1"/>
              <a:t>.</a:t>
            </a:r>
            <a:r>
              <a:rPr lang="fr-FR" sz="2400" b="1"/>
              <a:t>persist</a:t>
            </a:r>
            <a:r>
              <a:rPr lang="fr-FR" sz="2400"/>
              <a:t>(MEMORY_AND_DISK)  </a:t>
            </a:r>
            <a:r>
              <a:rPr lang="fr-FR" sz="2400"/>
              <a:t>cf</a:t>
            </a:r>
            <a:r>
              <a:rPr lang="fr-FR" sz="2400"/>
              <a:t> </a:t>
            </a:r>
            <a:r>
              <a:rPr lang="fr-FR" sz="2400"/>
              <a:t>also</a:t>
            </a:r>
            <a:r>
              <a:rPr lang="fr-FR" sz="2400"/>
              <a:t> DISK_ONLY, ..</a:t>
            </a:r>
            <a:br>
              <a:rPr lang="fr-FR" sz="2400"/>
            </a:br>
            <a:endParaRPr lang="fr-FR" sz="2400"/>
          </a:p>
          <a:p>
            <a:r>
              <a:rPr lang="fr-FR" sz="2400" b="1"/>
              <a:t>.</a:t>
            </a:r>
            <a:r>
              <a:rPr lang="fr-FR" sz="2400" b="1"/>
              <a:t>unpersist</a:t>
            </a:r>
            <a:r>
              <a:rPr lang="fr-FR" sz="2400" b="1"/>
              <a:t>()</a:t>
            </a:r>
            <a:r>
              <a:rPr lang="fr-FR" sz="2400"/>
              <a:t>  // </a:t>
            </a:r>
            <a:r>
              <a:rPr lang="fr-FR" sz="2400"/>
              <a:t>maybe</a:t>
            </a:r>
            <a:r>
              <a:rPr lang="fr-FR" sz="2400"/>
              <a:t> </a:t>
            </a:r>
            <a:r>
              <a:rPr lang="fr-FR" sz="2400"/>
              <a:t>unnecessary</a:t>
            </a:r>
            <a:r>
              <a:rPr lang="fr-FR" sz="2400"/>
              <a:t> (</a:t>
            </a:r>
            <a:r>
              <a:rPr lang="fr-FR" sz="2400"/>
              <a:t>gc</a:t>
            </a:r>
            <a:r>
              <a:rPr lang="fr-FR" sz="2400"/>
              <a:t> on driver)?</a:t>
            </a:r>
            <a:br>
              <a:rPr lang="fr-FR" sz="2400"/>
            </a:br>
            <a:br>
              <a:rPr lang="fr-FR" sz="2400"/>
            </a:br>
            <a:r>
              <a:rPr lang="fr-FR" sz="2400"/>
              <a:t>newDs</a:t>
            </a:r>
            <a:r>
              <a:rPr lang="fr-FR" sz="2400"/>
              <a:t> = </a:t>
            </a:r>
            <a:r>
              <a:rPr lang="fr-FR" sz="2400"/>
              <a:t>ds</a:t>
            </a:r>
            <a:r>
              <a:rPr lang="fr-FR" sz="2400" b="1"/>
              <a:t>.localCheckpoint</a:t>
            </a:r>
            <a:r>
              <a:rPr lang="fr-FR" sz="2400" b="1"/>
              <a:t>()</a:t>
            </a:r>
            <a:r>
              <a:rPr lang="fr-FR" sz="2400"/>
              <a:t>   // idem cache() + </a:t>
            </a:r>
            <a:r>
              <a:rPr lang="fr-FR" sz="2400"/>
              <a:t>cut</a:t>
            </a:r>
            <a:r>
              <a:rPr lang="fr-FR" sz="2400"/>
              <a:t> </a:t>
            </a:r>
            <a:r>
              <a:rPr lang="fr-FR" sz="2400"/>
              <a:t>from</a:t>
            </a:r>
            <a:r>
              <a:rPr lang="fr-FR" sz="2400"/>
              <a:t> DAG to </a:t>
            </a:r>
            <a:r>
              <a:rPr lang="fr-FR" sz="2400"/>
              <a:t>read</a:t>
            </a:r>
            <a:r>
              <a:rPr lang="fr-FR" sz="2400"/>
              <a:t> </a:t>
            </a:r>
            <a:r>
              <a:rPr lang="fr-FR" sz="2400"/>
              <a:t>from</a:t>
            </a:r>
            <a:r>
              <a:rPr lang="fr-FR" sz="2400"/>
              <a:t> memory</a:t>
            </a:r>
          </a:p>
          <a:p>
            <a:endParaRPr lang="fr-FR" sz="2400"/>
          </a:p>
          <a:p>
            <a:r>
              <a:rPr lang="fr-FR" sz="2400"/>
              <a:t>newDs</a:t>
            </a:r>
            <a:r>
              <a:rPr lang="fr-FR" sz="2400"/>
              <a:t> = </a:t>
            </a:r>
            <a:r>
              <a:rPr lang="fr-FR" sz="2400"/>
              <a:t>ds</a:t>
            </a:r>
            <a:r>
              <a:rPr lang="fr-FR" sz="2400" b="1"/>
              <a:t>.checkpoint</a:t>
            </a:r>
            <a:r>
              <a:rPr lang="fr-FR" sz="2400" b="1"/>
              <a:t>()</a:t>
            </a:r>
            <a:r>
              <a:rPr lang="fr-FR" sz="2400"/>
              <a:t>   // idem ".</a:t>
            </a:r>
            <a:r>
              <a:rPr lang="fr-FR" sz="2400"/>
              <a:t>save</a:t>
            </a:r>
            <a:r>
              <a:rPr lang="fr-FR" sz="2400"/>
              <a:t>()" to reliable </a:t>
            </a:r>
            <a:r>
              <a:rPr lang="fr-FR" sz="2400"/>
              <a:t>storage</a:t>
            </a:r>
            <a:r>
              <a:rPr lang="fr-FR" sz="2400"/>
              <a:t> + </a:t>
            </a:r>
            <a:r>
              <a:rPr lang="fr-FR" sz="2400"/>
              <a:t>cut</a:t>
            </a:r>
            <a:r>
              <a:rPr lang="fr-FR" sz="2400"/>
              <a:t> </a:t>
            </a:r>
            <a:r>
              <a:rPr lang="fr-FR" sz="2400"/>
              <a:t>from</a:t>
            </a:r>
            <a:r>
              <a:rPr lang="fr-FR" sz="2400"/>
              <a:t> DAG to ".</a:t>
            </a:r>
            <a:r>
              <a:rPr lang="fr-FR" sz="2400"/>
              <a:t>read</a:t>
            </a:r>
            <a:r>
              <a:rPr lang="fr-FR" sz="2400"/>
              <a:t>()"</a:t>
            </a:r>
            <a:br>
              <a:rPr lang="fr-FR" sz="2400"/>
            </a:br>
            <a:endParaRPr lang="fr-FR" sz="2400"/>
          </a:p>
        </p:txBody>
      </p:sp>
      <p:sp>
        <p:nvSpPr>
          <p:cNvPr id="6" name="Rectangle 5"/>
          <p:cNvSpPr/>
          <p:nvPr/>
        </p:nvSpPr>
        <p:spPr>
          <a:xfrm>
            <a:off x="9608949" y="5921501"/>
            <a:ext cx="2690456" cy="70788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sz="40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cf</a:t>
            </a:r>
            <a:r>
              <a:rPr lang="en-US" sz="4000" b="1" cap="none" spc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 next doc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Streaming :  micro </a:t>
            </a:r>
            <a:r>
              <a:rPr lang="fr-FR"/>
              <a:t>Batches</a:t>
            </a:r>
            <a:endParaRPr lang="fr-F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40" y="0"/>
            <a:ext cx="1182116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DStream</a:t>
            </a:r>
            <a:r>
              <a:rPr lang="fr-FR"/>
              <a:t> API … as + </a:t>
            </a:r>
            <a:r>
              <a:rPr lang="fr-FR"/>
              <a:t>enriched</a:t>
            </a:r>
            <a:r>
              <a:rPr lang="fr-FR"/>
              <a:t> </a:t>
            </a:r>
            <a:r>
              <a:rPr lang="fr-FR"/>
              <a:t>DataSet</a:t>
            </a:r>
            <a:r>
              <a:rPr lang="fr-FR"/>
              <a:t> API</a:t>
            </a:r>
          </a:p>
        </p:txBody>
      </p:sp>
      <p:sp>
        <p:nvSpPr>
          <p:cNvPr id="4" name="Cylinder 3"/>
          <p:cNvSpPr/>
          <p:nvPr/>
        </p:nvSpPr>
        <p:spPr>
          <a:xfrm rot="16200000">
            <a:off x="1259841" y="1643380"/>
            <a:ext cx="528320" cy="13919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Arrow: Right 4"/>
          <p:cNvSpPr/>
          <p:nvPr/>
        </p:nvSpPr>
        <p:spPr>
          <a:xfrm>
            <a:off x="2788921" y="2148840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436880" y="2738120"/>
            <a:ext cx="3147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Real-Time</a:t>
            </a:r>
            <a:r>
              <a:rPr lang="fr-FR"/>
              <a:t> Streaming </a:t>
            </a:r>
            <a:r>
              <a:rPr lang="fr-FR"/>
              <a:t>datasource</a:t>
            </a:r>
            <a:endParaRPr lang="fr-FR"/>
          </a:p>
        </p:txBody>
      </p:sp>
      <p:pic>
        <p:nvPicPr>
          <p:cNvPr id="7" name="Picture 14" descr="Streamlio Claims Pulsar Performance Advantages Over Kafk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12707" y="3060016"/>
            <a:ext cx="2076214" cy="1381066"/>
          </a:xfrm>
          <a:prstGeom prst="rect">
            <a:avLst/>
          </a:prstGeom>
          <a:noFill/>
        </p:spPr>
      </p:pic>
      <p:pic>
        <p:nvPicPr>
          <p:cNvPr id="8" name="Picture 16" descr="Apache Kafka : Flux de données temps réel | OVHcloud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121" y="3952558"/>
            <a:ext cx="2200122" cy="850889"/>
          </a:xfrm>
          <a:prstGeom prst="rect">
            <a:avLst/>
          </a:prstGeom>
          <a:noFill/>
        </p:spPr>
      </p:pic>
      <p:pic>
        <p:nvPicPr>
          <p:cNvPr id="17410" name="Picture 2" descr="JMS Producer - Connector Hub | Solace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65929" y="4911648"/>
            <a:ext cx="1611511" cy="725680"/>
          </a:xfrm>
          <a:prstGeom prst="rect">
            <a:avLst/>
          </a:prstGeom>
          <a:noFill/>
        </p:spPr>
      </p:pic>
      <p:pic>
        <p:nvPicPr>
          <p:cNvPr id="17412" name="Picture 4" descr="Messaging that just works — RabbitMQ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765929" y="5999480"/>
            <a:ext cx="2085769" cy="322579"/>
          </a:xfrm>
          <a:prstGeom prst="rect">
            <a:avLst/>
          </a:prstGeom>
          <a:noFill/>
        </p:spPr>
      </p:pic>
      <p:sp>
        <p:nvSpPr>
          <p:cNvPr id="9" name="Arrow: Pentagon 8"/>
          <p:cNvSpPr/>
          <p:nvPr/>
        </p:nvSpPr>
        <p:spPr>
          <a:xfrm>
            <a:off x="4419600" y="2076688"/>
            <a:ext cx="1051560" cy="731520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4043680" y="1705848"/>
            <a:ext cx="1916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DStream API</a:t>
            </a:r>
          </a:p>
        </p:txBody>
      </p:sp>
      <p:sp>
        <p:nvSpPr>
          <p:cNvPr id="14" name="Arrow: Right 13"/>
          <p:cNvSpPr/>
          <p:nvPr/>
        </p:nvSpPr>
        <p:spPr>
          <a:xfrm rot="2315193">
            <a:off x="7431712" y="2543088"/>
            <a:ext cx="512580" cy="24725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 rot="2315193">
            <a:off x="7099117" y="2488859"/>
            <a:ext cx="482074" cy="2458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5596882" y="4086292"/>
            <a:ext cx="463225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/>
          <p:cNvSpPr/>
          <p:nvPr/>
        </p:nvSpPr>
        <p:spPr>
          <a:xfrm>
            <a:off x="6172987" y="4091372"/>
            <a:ext cx="463225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/>
          <p:cNvSpPr/>
          <p:nvPr/>
        </p:nvSpPr>
        <p:spPr>
          <a:xfrm>
            <a:off x="6757187" y="4091372"/>
            <a:ext cx="463225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/>
          <p:cNvSpPr txBox="1"/>
          <p:nvPr/>
        </p:nvSpPr>
        <p:spPr>
          <a:xfrm>
            <a:off x="5066398" y="3216734"/>
            <a:ext cx="2538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Split in micro batch </a:t>
            </a:r>
            <a:r>
              <a:rPr lang="fr-FR"/>
              <a:t>RDDs</a:t>
            </a:r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7836368" y="4086292"/>
            <a:ext cx="463225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4995986" y="5165770"/>
            <a:ext cx="463225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3577596" y="4428507"/>
            <a:ext cx="165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--</a:t>
            </a:r>
            <a:r>
              <a:rPr lang="fr-FR"/>
              <a:t>remove</a:t>
            </a:r>
            <a:r>
              <a:rPr lang="fr-FR"/>
              <a:t> last </a:t>
            </a:r>
            <a:br>
              <a:rPr lang="fr-FR"/>
            </a:br>
            <a:r>
              <a:rPr lang="fr-FR"/>
              <a:t>    </a:t>
            </a:r>
            <a:r>
              <a:rPr lang="fr-FR"/>
              <a:t>from</a:t>
            </a:r>
            <a:r>
              <a:rPr lang="fr-FR"/>
              <a:t> </a:t>
            </a:r>
            <a:r>
              <a:rPr lang="fr-FR"/>
              <a:t>window</a:t>
            </a:r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8289720" y="3279345"/>
            <a:ext cx="1278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++</a:t>
            </a:r>
            <a:r>
              <a:rPr lang="fr-FR"/>
              <a:t>add</a:t>
            </a:r>
            <a:r>
              <a:rPr lang="fr-FR"/>
              <a:t> new </a:t>
            </a:r>
          </a:p>
          <a:p>
            <a:r>
              <a:rPr lang="fr-FR"/>
              <a:t>to </a:t>
            </a:r>
            <a:r>
              <a:rPr lang="fr-FR"/>
              <a:t>window</a:t>
            </a:r>
            <a:endParaRPr lang="fr-FR"/>
          </a:p>
        </p:txBody>
      </p:sp>
      <p:sp>
        <p:nvSpPr>
          <p:cNvPr id="24" name="TextBox 23"/>
          <p:cNvSpPr txBox="1"/>
          <p:nvPr/>
        </p:nvSpPr>
        <p:spPr>
          <a:xfrm>
            <a:off x="6321038" y="6207705"/>
            <a:ext cx="1490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Time </a:t>
            </a:r>
            <a:r>
              <a:rPr lang="fr-FR"/>
              <a:t>Window</a:t>
            </a:r>
            <a:endParaRPr lang="fr-FR"/>
          </a:p>
        </p:txBody>
      </p:sp>
      <p:sp>
        <p:nvSpPr>
          <p:cNvPr id="26" name="Arrow: Left-Right 25"/>
          <p:cNvSpPr/>
          <p:nvPr/>
        </p:nvSpPr>
        <p:spPr>
          <a:xfrm>
            <a:off x="5567905" y="6076631"/>
            <a:ext cx="2841787" cy="86996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row: Right 28"/>
          <p:cNvSpPr/>
          <p:nvPr/>
        </p:nvSpPr>
        <p:spPr>
          <a:xfrm>
            <a:off x="9108441" y="2139950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Parallelogram 26"/>
          <p:cNvSpPr/>
          <p:nvPr/>
        </p:nvSpPr>
        <p:spPr>
          <a:xfrm>
            <a:off x="9961880" y="2148840"/>
            <a:ext cx="574040" cy="400051"/>
          </a:xfrm>
          <a:prstGeom prst="parallelogra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Parallelogram 30"/>
          <p:cNvSpPr/>
          <p:nvPr/>
        </p:nvSpPr>
        <p:spPr>
          <a:xfrm>
            <a:off x="10576560" y="2144394"/>
            <a:ext cx="574040" cy="400051"/>
          </a:xfrm>
          <a:prstGeom prst="parallelogra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Parallelogram 31"/>
          <p:cNvSpPr/>
          <p:nvPr/>
        </p:nvSpPr>
        <p:spPr>
          <a:xfrm>
            <a:off x="11191240" y="2135504"/>
            <a:ext cx="574040" cy="400051"/>
          </a:xfrm>
          <a:prstGeom prst="parallelogram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>
            <a:off x="9382760" y="2738120"/>
            <a:ext cx="26239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Output </a:t>
            </a:r>
            <a:r>
              <a:rPr lang="fr-FR"/>
              <a:t>transformed</a:t>
            </a:r>
            <a:r>
              <a:rPr lang="fr-FR"/>
              <a:t> </a:t>
            </a:r>
            <a:r>
              <a:rPr lang="fr-FR"/>
              <a:t>RDDs</a:t>
            </a:r>
            <a:br>
              <a:rPr lang="fr-FR"/>
            </a:br>
            <a:r>
              <a:rPr lang="fr-FR"/>
              <a:t>«  </a:t>
            </a:r>
            <a:r>
              <a:rPr lang="fr-FR"/>
              <a:t>stream</a:t>
            </a:r>
            <a:r>
              <a:rPr lang="fr-FR"/>
              <a:t> » of micro batch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4284" y="1724044"/>
            <a:ext cx="11910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Fill </a:t>
            </a:r>
            <a:r>
              <a:rPr lang="fr-FR"/>
              <a:t>current</a:t>
            </a:r>
            <a:endParaRPr lang="fr-FR"/>
          </a:p>
          <a:p>
            <a:r>
              <a:rPr lang="fr-FR"/>
              <a:t> « </a:t>
            </a:r>
            <a:r>
              <a:rPr lang="fr-FR" b="1"/>
              <a:t>buffer »</a:t>
            </a:r>
          </a:p>
        </p:txBody>
      </p:sp>
      <p:sp>
        <p:nvSpPr>
          <p:cNvPr id="30" name="Arrow: Curved Down 29"/>
          <p:cNvSpPr/>
          <p:nvPr/>
        </p:nvSpPr>
        <p:spPr>
          <a:xfrm rot="10800000">
            <a:off x="7100685" y="4683774"/>
            <a:ext cx="619760" cy="41687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6" name="Arrow: Curved Down 35"/>
          <p:cNvSpPr/>
          <p:nvPr/>
        </p:nvSpPr>
        <p:spPr>
          <a:xfrm rot="10800000">
            <a:off x="6321039" y="4705260"/>
            <a:ext cx="619760" cy="416878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265350" y="5128180"/>
            <a:ext cx="2886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Rolling 1 at </a:t>
            </a:r>
            <a:r>
              <a:rPr lang="fr-FR"/>
              <a:t>each</a:t>
            </a:r>
            <a:r>
              <a:rPr lang="fr-FR"/>
              <a:t> micro batch</a:t>
            </a:r>
          </a:p>
        </p:txBody>
      </p:sp>
      <p:sp>
        <p:nvSpPr>
          <p:cNvPr id="39" name="Arrow: Right 38"/>
          <p:cNvSpPr/>
          <p:nvPr/>
        </p:nvSpPr>
        <p:spPr>
          <a:xfrm rot="5400000">
            <a:off x="7858926" y="3383454"/>
            <a:ext cx="529993" cy="4178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/>
          <p:cNvSpPr/>
          <p:nvPr/>
        </p:nvSpPr>
        <p:spPr>
          <a:xfrm>
            <a:off x="7931226" y="2712043"/>
            <a:ext cx="209514" cy="4168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/>
          <p:cNvSpPr/>
          <p:nvPr/>
        </p:nvSpPr>
        <p:spPr>
          <a:xfrm>
            <a:off x="8159428" y="2712043"/>
            <a:ext cx="235024" cy="4168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Arrow: Right 41"/>
          <p:cNvSpPr/>
          <p:nvPr/>
        </p:nvSpPr>
        <p:spPr>
          <a:xfrm rot="5400000">
            <a:off x="4974275" y="4474871"/>
            <a:ext cx="529993" cy="41780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5471161" y="3978095"/>
            <a:ext cx="3032760" cy="64633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TextBox 43"/>
          <p:cNvSpPr txBox="1"/>
          <p:nvPr/>
        </p:nvSpPr>
        <p:spPr>
          <a:xfrm>
            <a:off x="8593827" y="4193336"/>
            <a:ext cx="3001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=  </a:t>
            </a:r>
            <a:r>
              <a:rPr lang="fr-FR"/>
              <a:t>DataSet</a:t>
            </a:r>
            <a:r>
              <a:rPr lang="fr-FR"/>
              <a:t> for </a:t>
            </a:r>
            <a:r>
              <a:rPr lang="fr-FR"/>
              <a:t>current</a:t>
            </a:r>
            <a:r>
              <a:rPr lang="fr-FR"/>
              <a:t> </a:t>
            </a:r>
            <a:r>
              <a:rPr lang="fr-FR"/>
              <a:t>window</a:t>
            </a:r>
            <a:endParaRPr lang="fr-FR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096" y="0"/>
            <a:ext cx="10515600" cy="1393371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DStream</a:t>
            </a:r>
            <a:br>
              <a:rPr lang="fr-FR"/>
            </a:br>
            <a:r>
              <a:rPr lang="fr-FR"/>
              <a:t>is similar to Dataset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14171" y="2225524"/>
            <a:ext cx="8346516" cy="40626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all the API in </a:t>
            </a:r>
            <a:r>
              <a:rPr lang="fr-FR" sz="2000"/>
              <a:t>Dataset</a:t>
            </a:r>
            <a:r>
              <a:rPr lang="fr-FR" sz="2000"/>
              <a:t> are </a:t>
            </a:r>
            <a:r>
              <a:rPr lang="fr-FR" sz="2000"/>
              <a:t>similar</a:t>
            </a:r>
            <a:r>
              <a:rPr lang="fr-FR" sz="2000"/>
              <a:t> on </a:t>
            </a:r>
            <a:r>
              <a:rPr lang="fr-FR" sz="2000"/>
              <a:t>DStream</a:t>
            </a:r>
            <a:endParaRPr lang="fr-FR" sz="2000"/>
          </a:p>
          <a:p>
            <a:endParaRPr lang="fr-FR" sz="2000"/>
          </a:p>
          <a:p>
            <a:r>
              <a:rPr lang="fr-FR" sz="2000"/>
              <a:t>example</a:t>
            </a:r>
            <a:r>
              <a:rPr lang="fr-FR" sz="2000"/>
              <a:t>:</a:t>
            </a:r>
          </a:p>
          <a:p>
            <a:endParaRPr lang="fr-FR" sz="2000"/>
          </a:p>
          <a:p>
            <a:r>
              <a:rPr lang="fr-FR" sz="2000"/>
              <a:t>DStream</a:t>
            </a:r>
            <a:r>
              <a:rPr lang="fr-FR" sz="2000"/>
              <a:t> </a:t>
            </a:r>
            <a:r>
              <a:rPr lang="fr-FR" sz="2000"/>
              <a:t>sourceDstream</a:t>
            </a:r>
            <a:r>
              <a:rPr lang="fr-FR" sz="2000"/>
              <a:t> =  ...</a:t>
            </a:r>
          </a:p>
          <a:p>
            <a:r>
              <a:rPr lang="fr-FR" sz="2000"/>
              <a:t>DStream</a:t>
            </a:r>
            <a:r>
              <a:rPr lang="fr-FR" sz="2000"/>
              <a:t> </a:t>
            </a:r>
            <a:r>
              <a:rPr lang="fr-FR" sz="2000"/>
              <a:t>transformedDstream</a:t>
            </a:r>
            <a:r>
              <a:rPr lang="fr-FR" sz="2000"/>
              <a:t> = </a:t>
            </a:r>
            <a:r>
              <a:rPr lang="fr-FR" sz="2000"/>
              <a:t>sourceDstream.filter</a:t>
            </a:r>
            <a:r>
              <a:rPr lang="fr-FR" sz="2000"/>
              <a:t>(..).</a:t>
            </a:r>
            <a:r>
              <a:rPr lang="fr-FR" sz="2000"/>
              <a:t>map</a:t>
            </a:r>
            <a:r>
              <a:rPr lang="fr-FR" sz="2000"/>
              <a:t>(..).</a:t>
            </a:r>
            <a:r>
              <a:rPr lang="fr-FR" sz="2000"/>
              <a:t>repartition</a:t>
            </a:r>
            <a:r>
              <a:rPr lang="fr-FR" sz="2000"/>
              <a:t>(..);</a:t>
            </a:r>
          </a:p>
          <a:p>
            <a:endParaRPr lang="fr-FR" sz="2000"/>
          </a:p>
          <a:p>
            <a:r>
              <a:rPr lang="fr-FR" sz="2000"/>
              <a:t>is</a:t>
            </a:r>
            <a:r>
              <a:rPr lang="fr-FR" sz="2000"/>
              <a:t> </a:t>
            </a:r>
            <a:r>
              <a:rPr lang="fr-FR" sz="2000"/>
              <a:t>similar</a:t>
            </a:r>
            <a:r>
              <a:rPr lang="fr-FR" sz="2000"/>
              <a:t> to </a:t>
            </a:r>
          </a:p>
          <a:p>
            <a:endParaRPr lang="fr-FR" sz="2000"/>
          </a:p>
          <a:p>
            <a:r>
              <a:rPr lang="fr-FR" sz="2000"/>
              <a:t>Dataset</a:t>
            </a:r>
            <a:r>
              <a:rPr lang="fr-FR" sz="2000"/>
              <a:t> nextDs_5s =  ... </a:t>
            </a:r>
            <a:r>
              <a:rPr lang="fr-FR" sz="2000"/>
              <a:t>sourceDstream</a:t>
            </a:r>
            <a:r>
              <a:rPr lang="fr-FR" sz="2000"/>
              <a:t>.  &lt;&lt;</a:t>
            </a:r>
            <a:r>
              <a:rPr lang="fr-FR" sz="2000"/>
              <a:t>next</a:t>
            </a:r>
            <a:r>
              <a:rPr lang="fr-FR" sz="2000"/>
              <a:t> </a:t>
            </a:r>
            <a:r>
              <a:rPr lang="fr-FR" sz="2000"/>
              <a:t>microbatch</a:t>
            </a:r>
            <a:r>
              <a:rPr lang="fr-FR" sz="2000"/>
              <a:t> </a:t>
            </a:r>
            <a:r>
              <a:rPr lang="fr-FR" sz="2000"/>
              <a:t>dataset</a:t>
            </a:r>
            <a:r>
              <a:rPr lang="fr-FR" sz="2000"/>
              <a:t>&gt;&gt;</a:t>
            </a:r>
          </a:p>
          <a:p>
            <a:r>
              <a:rPr lang="fr-FR" sz="2000"/>
              <a:t>Dataset</a:t>
            </a:r>
            <a:r>
              <a:rPr lang="fr-FR" sz="2000"/>
              <a:t> </a:t>
            </a:r>
            <a:r>
              <a:rPr lang="fr-FR" sz="2000"/>
              <a:t>transformedDs</a:t>
            </a:r>
            <a:r>
              <a:rPr lang="fr-FR" sz="2000"/>
              <a:t> = nextDs_5s.filter(..).</a:t>
            </a:r>
            <a:r>
              <a:rPr lang="fr-FR" sz="2000"/>
              <a:t>map</a:t>
            </a:r>
            <a:r>
              <a:rPr lang="fr-FR" sz="2000"/>
              <a:t>(..).</a:t>
            </a:r>
            <a:r>
              <a:rPr lang="fr-FR" sz="2000"/>
              <a:t>repartition</a:t>
            </a:r>
            <a:r>
              <a:rPr lang="fr-FR" sz="2000"/>
              <a:t>(..);</a:t>
            </a:r>
          </a:p>
          <a:p>
            <a:endParaRPr lang="fr-FR" sz="2000"/>
          </a:p>
          <a:p>
            <a:endParaRPr lang="fr-FR" sz="200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Typical</a:t>
            </a:r>
            <a:r>
              <a:rPr lang="fr-FR"/>
              <a:t> Usage … Streaming vs Daily</a:t>
            </a:r>
          </a:p>
        </p:txBody>
      </p:sp>
      <p:sp>
        <p:nvSpPr>
          <p:cNvPr id="4" name="Cylinder 3"/>
          <p:cNvSpPr/>
          <p:nvPr/>
        </p:nvSpPr>
        <p:spPr>
          <a:xfrm rot="16200000">
            <a:off x="1844041" y="4620260"/>
            <a:ext cx="528320" cy="13919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Cylinder 4"/>
          <p:cNvSpPr/>
          <p:nvPr/>
        </p:nvSpPr>
        <p:spPr>
          <a:xfrm>
            <a:off x="1839430" y="1542784"/>
            <a:ext cx="1082040" cy="11633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row: Right 5"/>
          <p:cNvSpPr/>
          <p:nvPr/>
        </p:nvSpPr>
        <p:spPr>
          <a:xfrm>
            <a:off x="3490430" y="1933944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4531830" y="1806943"/>
            <a:ext cx="1391920" cy="7518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/>
          <p:cNvSpPr/>
          <p:nvPr/>
        </p:nvSpPr>
        <p:spPr>
          <a:xfrm>
            <a:off x="6553670" y="1933944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Cylinder 8"/>
          <p:cNvSpPr/>
          <p:nvPr/>
        </p:nvSpPr>
        <p:spPr>
          <a:xfrm>
            <a:off x="7737310" y="1542784"/>
            <a:ext cx="1082040" cy="11633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3828250" y="2651966"/>
            <a:ext cx="3301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historical</a:t>
            </a:r>
            <a:r>
              <a:rPr lang="fr-FR"/>
              <a:t> / replay-</a:t>
            </a:r>
            <a:r>
              <a:rPr lang="fr-FR"/>
              <a:t>daily</a:t>
            </a:r>
            <a:r>
              <a:rPr lang="fr-FR"/>
              <a:t> job </a:t>
            </a:r>
          </a:p>
          <a:p>
            <a:r>
              <a:rPr lang="fr-FR"/>
              <a:t>RAW to LAKE</a:t>
            </a:r>
          </a:p>
        </p:txBody>
      </p:sp>
      <p:sp>
        <p:nvSpPr>
          <p:cNvPr id="11" name="Arrow: Right 10"/>
          <p:cNvSpPr/>
          <p:nvPr/>
        </p:nvSpPr>
        <p:spPr>
          <a:xfrm>
            <a:off x="3373121" y="5125720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4414521" y="4998719"/>
            <a:ext cx="1391920" cy="7518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Right 12"/>
          <p:cNvSpPr/>
          <p:nvPr/>
        </p:nvSpPr>
        <p:spPr>
          <a:xfrm>
            <a:off x="6436361" y="5125720"/>
            <a:ext cx="67564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/>
          <p:cNvSpPr txBox="1"/>
          <p:nvPr/>
        </p:nvSpPr>
        <p:spPr>
          <a:xfrm>
            <a:off x="4111331" y="5808223"/>
            <a:ext cx="2436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Real-Time (</a:t>
            </a:r>
            <a:r>
              <a:rPr lang="fr-FR"/>
              <a:t>incremental</a:t>
            </a:r>
            <a:r>
              <a:rPr lang="fr-FR"/>
              <a:t>)</a:t>
            </a:r>
            <a:br>
              <a:rPr lang="fr-FR"/>
            </a:br>
            <a:r>
              <a:rPr lang="fr-FR"/>
              <a:t>job RAW to LAKE</a:t>
            </a:r>
          </a:p>
        </p:txBody>
      </p:sp>
      <p:sp>
        <p:nvSpPr>
          <p:cNvPr id="16" name="Cylinder 15"/>
          <p:cNvSpPr/>
          <p:nvPr/>
        </p:nvSpPr>
        <p:spPr>
          <a:xfrm rot="16200000">
            <a:off x="8014170" y="5146792"/>
            <a:ext cx="528320" cy="139192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Cylinder 16"/>
          <p:cNvSpPr/>
          <p:nvPr/>
        </p:nvSpPr>
        <p:spPr>
          <a:xfrm>
            <a:off x="7737310" y="4905907"/>
            <a:ext cx="1082040" cy="528322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/>
          <p:cNvSpPr txBox="1"/>
          <p:nvPr/>
        </p:nvSpPr>
        <p:spPr>
          <a:xfrm>
            <a:off x="8945880" y="4659729"/>
            <a:ext cx="31578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Key=Value </a:t>
            </a:r>
            <a:r>
              <a:rPr lang="fr-FR"/>
              <a:t>database</a:t>
            </a:r>
            <a:endParaRPr lang="fr-FR"/>
          </a:p>
          <a:p>
            <a:r>
              <a:rPr lang="fr-FR"/>
              <a:t>(</a:t>
            </a:r>
            <a:r>
              <a:rPr lang="fr-FR"/>
              <a:t>example</a:t>
            </a:r>
            <a:r>
              <a:rPr lang="fr-FR"/>
              <a:t>: HBASE, Cassandra, ..</a:t>
            </a:r>
          </a:p>
          <a:p>
            <a:r>
              <a:rPr lang="fr-FR"/>
              <a:t>To </a:t>
            </a:r>
            <a:r>
              <a:rPr lang="fr-FR"/>
              <a:t>avoid</a:t>
            </a:r>
            <a:r>
              <a:rPr lang="fr-FR"/>
              <a:t> </a:t>
            </a:r>
            <a:r>
              <a:rPr lang="fr-FR"/>
              <a:t>many</a:t>
            </a:r>
            <a:r>
              <a:rPr lang="fr-FR"/>
              <a:t> </a:t>
            </a:r>
            <a:r>
              <a:rPr lang="fr-FR"/>
              <a:t>small</a:t>
            </a:r>
            <a:r>
              <a:rPr lang="fr-FR"/>
              <a:t> HDFS Files)</a:t>
            </a:r>
          </a:p>
        </p:txBody>
      </p:sp>
      <p:sp>
        <p:nvSpPr>
          <p:cNvPr id="19" name="Arrow: Right 18"/>
          <p:cNvSpPr/>
          <p:nvPr/>
        </p:nvSpPr>
        <p:spPr>
          <a:xfrm rot="16200000">
            <a:off x="8034958" y="2886241"/>
            <a:ext cx="48768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/>
          <p:cNvSpPr/>
          <p:nvPr/>
        </p:nvSpPr>
        <p:spPr>
          <a:xfrm>
            <a:off x="7737310" y="3418470"/>
            <a:ext cx="1082040" cy="4876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Arrow: Right 20"/>
          <p:cNvSpPr/>
          <p:nvPr/>
        </p:nvSpPr>
        <p:spPr>
          <a:xfrm rot="16200000">
            <a:off x="8034490" y="4179097"/>
            <a:ext cx="487680" cy="39116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TextBox 21"/>
          <p:cNvSpPr txBox="1"/>
          <p:nvPr/>
        </p:nvSpPr>
        <p:spPr>
          <a:xfrm>
            <a:off x="8963176" y="3363127"/>
            <a:ext cx="229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end-of-</a:t>
            </a:r>
            <a:r>
              <a:rPr lang="fr-FR"/>
              <a:t>day</a:t>
            </a:r>
            <a:r>
              <a:rPr lang="fr-FR"/>
              <a:t> flush</a:t>
            </a:r>
            <a:br>
              <a:rPr lang="fr-FR"/>
            </a:br>
            <a:r>
              <a:rPr lang="fr-FR"/>
              <a:t>HBASE to PARQUET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Typical</a:t>
            </a:r>
            <a:r>
              <a:rPr lang="fr-FR"/>
              <a:t> Architectures.. Lambda vs Kappa</a:t>
            </a:r>
          </a:p>
        </p:txBody>
      </p:sp>
      <p:pic>
        <p:nvPicPr>
          <p:cNvPr id="16386" name="Picture 2" descr="The Lambda Architecture contains both a traditional batch data pipeline and a fast streaming pipeline for real-time data, as well as a serving layer for responding to queries.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2751448"/>
            <a:ext cx="5693968" cy="2491112"/>
          </a:xfrm>
          <a:prstGeom prst="rect">
            <a:avLst/>
          </a:prstGeom>
          <a:noFill/>
        </p:spPr>
      </p:pic>
      <p:pic>
        <p:nvPicPr>
          <p:cNvPr id="16388" name="Picture 4" descr="Kappa Architecture Diagram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794075" y="2992120"/>
            <a:ext cx="6397925" cy="1695450"/>
          </a:xfrm>
          <a:prstGeom prst="rect">
            <a:avLst/>
          </a:prstGeom>
          <a:noFill/>
        </p:spPr>
      </p:pic>
      <p:sp>
        <p:nvSpPr>
          <p:cNvPr id="4" name="TextBox 3"/>
          <p:cNvSpPr txBox="1"/>
          <p:nvPr/>
        </p:nvSpPr>
        <p:spPr>
          <a:xfrm>
            <a:off x="2184400" y="1884680"/>
            <a:ext cx="1630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/>
              <a:t>Lambda</a:t>
            </a:r>
            <a:endParaRPr lang="fr-FR" b="1"/>
          </a:p>
        </p:txBody>
      </p:sp>
      <p:sp>
        <p:nvSpPr>
          <p:cNvPr id="7" name="TextBox 6"/>
          <p:cNvSpPr txBox="1"/>
          <p:nvPr/>
        </p:nvSpPr>
        <p:spPr>
          <a:xfrm>
            <a:off x="8177697" y="1884680"/>
            <a:ext cx="1630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/>
              <a:t>Kappa</a:t>
            </a:r>
            <a:endParaRPr lang="fr-FR" b="1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05433"/>
            <a:ext cx="10515600" cy="184713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Takeaway</a:t>
            </a:r>
            <a:br>
              <a:rPr lang="fr-FR"/>
            </a:br>
            <a:br>
              <a:rPr lang="fr-FR"/>
            </a:br>
            <a:r>
              <a:rPr lang="fr-FR"/>
              <a:t>What did you learn?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6" name="Picture 14" descr="Streamlio Claims Pulsar Performance Advantages Over Kafk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91744" y="649749"/>
            <a:ext cx="1431056" cy="951917"/>
          </a:xfrm>
          <a:prstGeom prst="rect">
            <a:avLst/>
          </a:prstGeom>
          <a:noFill/>
        </p:spPr>
      </p:pic>
      <p:pic>
        <p:nvPicPr>
          <p:cNvPr id="3114" name="Picture 42" descr="William Ardila, Author at Nub8 » Page 3 of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93706" y="3861635"/>
            <a:ext cx="2198294" cy="1099147"/>
          </a:xfrm>
          <a:prstGeom prst="rect">
            <a:avLst/>
          </a:prstGeom>
          <a:noFill/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28063" y="806791"/>
            <a:ext cx="791712" cy="7917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254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Core</a:t>
            </a:r>
            <a:r>
              <a:rPr lang="fr-FR"/>
              <a:t> + …</a:t>
            </a:r>
          </a:p>
        </p:txBody>
      </p:sp>
      <p:pic>
        <p:nvPicPr>
          <p:cNvPr id="3076" name="Picture 4" descr="Upcoming Meetups - airisData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694928" y="1546686"/>
            <a:ext cx="1994595" cy="1356618"/>
          </a:xfrm>
          <a:prstGeom prst="rect">
            <a:avLst/>
          </a:prstGeom>
          <a:noFill/>
        </p:spPr>
      </p:pic>
      <p:pic>
        <p:nvPicPr>
          <p:cNvPr id="3080" name="Picture 8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31076" y="1546686"/>
            <a:ext cx="2482088" cy="1422400"/>
          </a:xfrm>
          <a:prstGeom prst="rect">
            <a:avLst/>
          </a:prstGeom>
          <a:noFill/>
        </p:spPr>
      </p:pic>
      <p:pic>
        <p:nvPicPr>
          <p:cNvPr id="3082" name="Picture 10" descr="My First Foray into Spark MLlib. As a data science team that&amp;#39;s always… | by  Dan Piltzer | Red Ventures Data Science &amp;amp; Engineering | Medium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428265" y="1695311"/>
            <a:ext cx="2665230" cy="951917"/>
          </a:xfrm>
          <a:prstGeom prst="rect">
            <a:avLst/>
          </a:prstGeom>
          <a:noFill/>
        </p:spPr>
      </p:pic>
      <p:pic>
        <p:nvPicPr>
          <p:cNvPr id="3084" name="Picture 12" descr="Big Data Processing Using Apache Spark - Part 6: Graph Data Analytics with Spark  GraphX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9355712" y="1531425"/>
            <a:ext cx="1849623" cy="1325563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619680" y="872292"/>
            <a:ext cx="118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Structured</a:t>
            </a:r>
            <a:br>
              <a:rPr lang="fr-FR"/>
            </a:br>
            <a:r>
              <a:rPr lang="fr-FR"/>
              <a:t> Data</a:t>
            </a:r>
          </a:p>
        </p:txBody>
      </p:sp>
      <p:sp>
        <p:nvSpPr>
          <p:cNvPr id="7" name="Cylinder 6"/>
          <p:cNvSpPr/>
          <p:nvPr/>
        </p:nvSpPr>
        <p:spPr>
          <a:xfrm>
            <a:off x="1800003" y="979224"/>
            <a:ext cx="901700" cy="6111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Cylinder 7"/>
          <p:cNvSpPr/>
          <p:nvPr/>
        </p:nvSpPr>
        <p:spPr>
          <a:xfrm rot="16200000">
            <a:off x="4899374" y="910516"/>
            <a:ext cx="259006" cy="845977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88" name="Picture 16" descr="Apache Kafka : Flux de données temps réel | OVHcloud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3789512" y="1215863"/>
            <a:ext cx="718608" cy="277919"/>
          </a:xfrm>
          <a:prstGeom prst="rect">
            <a:avLst/>
          </a:prstGeom>
          <a:noFill/>
        </p:spPr>
      </p:pic>
      <p:sp>
        <p:nvSpPr>
          <p:cNvPr id="12" name="Rectangle: Rounded Corners 11"/>
          <p:cNvSpPr/>
          <p:nvPr/>
        </p:nvSpPr>
        <p:spPr>
          <a:xfrm>
            <a:off x="809962" y="16405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: Rounded Corners 22"/>
          <p:cNvSpPr/>
          <p:nvPr/>
        </p:nvSpPr>
        <p:spPr>
          <a:xfrm>
            <a:off x="3551468" y="1635335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: Rounded Corners 23"/>
          <p:cNvSpPr/>
          <p:nvPr/>
        </p:nvSpPr>
        <p:spPr>
          <a:xfrm>
            <a:off x="6286574" y="1623253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: Rounded Corners 24"/>
          <p:cNvSpPr/>
          <p:nvPr/>
        </p:nvSpPr>
        <p:spPr>
          <a:xfrm>
            <a:off x="9031816" y="1590324"/>
            <a:ext cx="2595033" cy="1172427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4" name="Picture 22" descr="The Quantum Graph Recurrent Neural Network — PennyLane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9778999" y="817930"/>
            <a:ext cx="889451" cy="669529"/>
          </a:xfrm>
          <a:prstGeom prst="rect">
            <a:avLst/>
          </a:prstGeom>
          <a:noFill/>
        </p:spPr>
      </p:pic>
      <p:sp>
        <p:nvSpPr>
          <p:cNvPr id="13" name="Rectangle: Rounded Corners 12"/>
          <p:cNvSpPr/>
          <p:nvPr/>
        </p:nvSpPr>
        <p:spPr>
          <a:xfrm>
            <a:off x="4018354" y="3850382"/>
            <a:ext cx="4536440" cy="1099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Picture 8" descr="Apache Spark — Wikipédia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75554" y="3945924"/>
            <a:ext cx="1731327" cy="898847"/>
          </a:xfrm>
          <a:prstGeom prst="rect">
            <a:avLst/>
          </a:prstGeom>
          <a:noFill/>
        </p:spPr>
      </p:pic>
      <p:sp>
        <p:nvSpPr>
          <p:cNvPr id="14" name="TextBox 13"/>
          <p:cNvSpPr txBox="1"/>
          <p:nvPr/>
        </p:nvSpPr>
        <p:spPr>
          <a:xfrm>
            <a:off x="6755663" y="4129785"/>
            <a:ext cx="13623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/>
              <a:t>Core</a:t>
            </a:r>
            <a:endParaRPr lang="fr-FR" sz="4800" b="1"/>
          </a:p>
        </p:txBody>
      </p:sp>
      <p:sp>
        <p:nvSpPr>
          <p:cNvPr id="15" name="TextBox 14"/>
          <p:cNvSpPr txBox="1"/>
          <p:nvPr/>
        </p:nvSpPr>
        <p:spPr>
          <a:xfrm>
            <a:off x="1650900" y="3790947"/>
            <a:ext cx="2377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DataSource</a:t>
            </a:r>
            <a:r>
              <a:rPr lang="fr-FR"/>
              <a:t> </a:t>
            </a:r>
            <a:r>
              <a:rPr lang="fr-FR"/>
              <a:t>Connectors</a:t>
            </a:r>
            <a:endParaRPr lang="fr-FR"/>
          </a:p>
          <a:p>
            <a:r>
              <a:rPr lang="fr-FR"/>
              <a:t>(Hadoop API)</a:t>
            </a:r>
          </a:p>
        </p:txBody>
      </p:sp>
      <p:sp>
        <p:nvSpPr>
          <p:cNvPr id="17" name="Arrow: Up-Down 16"/>
          <p:cNvSpPr/>
          <p:nvPr/>
        </p:nvSpPr>
        <p:spPr>
          <a:xfrm rot="5400000">
            <a:off x="2522832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TextBox 33"/>
          <p:cNvSpPr txBox="1"/>
          <p:nvPr/>
        </p:nvSpPr>
        <p:spPr>
          <a:xfrm>
            <a:off x="8709460" y="3943031"/>
            <a:ext cx="1735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 Manager</a:t>
            </a:r>
          </a:p>
        </p:txBody>
      </p:sp>
      <p:sp>
        <p:nvSpPr>
          <p:cNvPr id="35" name="Arrow: Up-Down 34"/>
          <p:cNvSpPr/>
          <p:nvPr/>
        </p:nvSpPr>
        <p:spPr>
          <a:xfrm rot="5400000">
            <a:off x="9400610" y="4118309"/>
            <a:ext cx="357742" cy="86150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/>
          <p:cNvSpPr txBox="1"/>
          <p:nvPr/>
        </p:nvSpPr>
        <p:spPr>
          <a:xfrm>
            <a:off x="6250010" y="5261663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Languages Support</a:t>
            </a:r>
          </a:p>
        </p:txBody>
      </p:sp>
      <p:sp>
        <p:nvSpPr>
          <p:cNvPr id="37" name="Arrow: Up-Down 36"/>
          <p:cNvSpPr/>
          <p:nvPr/>
        </p:nvSpPr>
        <p:spPr>
          <a:xfrm rot="10800000">
            <a:off x="5928832" y="5190670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TextBox 37"/>
          <p:cNvSpPr txBox="1"/>
          <p:nvPr/>
        </p:nvSpPr>
        <p:spPr>
          <a:xfrm>
            <a:off x="6474534" y="30604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Modules</a:t>
            </a:r>
          </a:p>
        </p:txBody>
      </p:sp>
      <p:sp>
        <p:nvSpPr>
          <p:cNvPr id="39" name="Arrow: Up-Down 38"/>
          <p:cNvSpPr/>
          <p:nvPr/>
        </p:nvSpPr>
        <p:spPr>
          <a:xfrm rot="10800000">
            <a:off x="5965396" y="2979059"/>
            <a:ext cx="357742" cy="59018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96" name="Picture 24" descr="Java (langage) — Wikipédia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4561705" y="5554641"/>
            <a:ext cx="637540" cy="1186632"/>
          </a:xfrm>
          <a:prstGeom prst="rect">
            <a:avLst/>
          </a:prstGeom>
          <a:noFill/>
        </p:spPr>
      </p:pic>
      <p:pic>
        <p:nvPicPr>
          <p:cNvPr id="3098" name="Picture 26" descr="Scala (langage) — Wikipédia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567553" y="6066414"/>
            <a:ext cx="1719743" cy="705535"/>
          </a:xfrm>
          <a:prstGeom prst="rect">
            <a:avLst/>
          </a:prstGeom>
          <a:noFill/>
        </p:spPr>
      </p:pic>
      <p:pic>
        <p:nvPicPr>
          <p:cNvPr id="3102" name="Picture 30" descr="Python-Logo-PNG-Image - Indigo.amsterdam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6865951" y="5799353"/>
            <a:ext cx="2015656" cy="1007828"/>
          </a:xfrm>
          <a:prstGeom prst="rect">
            <a:avLst/>
          </a:prstGeom>
          <a:noFill/>
        </p:spPr>
      </p:pic>
      <p:pic>
        <p:nvPicPr>
          <p:cNvPr id="3106" name="Picture 34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26061" y="5989133"/>
            <a:ext cx="911091" cy="706120"/>
          </a:xfrm>
          <a:prstGeom prst="rect">
            <a:avLst/>
          </a:prstGeom>
          <a:noFill/>
        </p:spPr>
      </p:pic>
      <p:pic>
        <p:nvPicPr>
          <p:cNvPr id="3110" name="Picture 38" descr="Présentation Hadoop Distributed File System – Blog technique Groupe SII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34928" y="3327277"/>
            <a:ext cx="1393418" cy="657519"/>
          </a:xfrm>
          <a:prstGeom prst="rect">
            <a:avLst/>
          </a:prstGeom>
          <a:noFill/>
        </p:spPr>
      </p:pic>
      <p:pic>
        <p:nvPicPr>
          <p:cNvPr id="3112" name="Picture 40" descr="Upload/Download your Azure Storage files by using Azure Data Lake Storage  Plugin with Workload Automation - WORKLOAD AUTOMATION COMMUNITY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65341" y="4499093"/>
            <a:ext cx="1447594" cy="836499"/>
          </a:xfrm>
          <a:prstGeom prst="rect">
            <a:avLst/>
          </a:prstGeom>
          <a:noFill/>
        </p:spPr>
      </p:pic>
      <p:pic>
        <p:nvPicPr>
          <p:cNvPr id="50" name="Picture 2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688770" y="4775421"/>
            <a:ext cx="896605" cy="875258"/>
          </a:xfrm>
          <a:prstGeom prst="rect">
            <a:avLst/>
          </a:prstGeom>
          <a:noFill/>
        </p:spPr>
      </p:pic>
      <p:pic>
        <p:nvPicPr>
          <p:cNvPr id="3116" name="Picture 44" descr="How to Run an Application on Spark Standalone Cluster | by Chuan Xu | Medium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346550" y="3171738"/>
            <a:ext cx="1676749" cy="943171"/>
          </a:xfrm>
          <a:prstGeom prst="rect">
            <a:avLst/>
          </a:prstGeom>
          <a:noFill/>
        </p:spPr>
      </p:pic>
      <p:pic>
        <p:nvPicPr>
          <p:cNvPr id="3118" name="Picture 46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8759" y="5306801"/>
            <a:ext cx="698767" cy="571975"/>
          </a:xfrm>
          <a:prstGeom prst="rect">
            <a:avLst/>
          </a:prstGeom>
          <a:noFill/>
        </p:spPr>
      </p:pic>
      <p:pic>
        <p:nvPicPr>
          <p:cNvPr id="3120" name="Picture 48" descr="Apache Iceber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643695" y="5349397"/>
            <a:ext cx="1447594" cy="394469"/>
          </a:xfrm>
          <a:prstGeom prst="rect">
            <a:avLst/>
          </a:prstGeom>
          <a:noFill/>
        </p:spPr>
      </p:pic>
      <p:pic>
        <p:nvPicPr>
          <p:cNvPr id="3108" name="Picture 36" descr="Amazon S3 101. S3 is a Simple Storage Service that is… | by Vedha Sankar |  featurepreneur | Medium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437402" y="3952271"/>
            <a:ext cx="903472" cy="6767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5212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MindMap</a:t>
            </a:r>
            <a:endParaRPr lang="fr-FR"/>
          </a:p>
        </p:txBody>
      </p:sp>
      <p:pic>
        <p:nvPicPr>
          <p:cNvPr id="5" name="Picture 8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1032" y="3529525"/>
            <a:ext cx="1731327" cy="898847"/>
          </a:xfrm>
          <a:prstGeom prst="rect">
            <a:avLst/>
          </a:prstGeom>
          <a:noFill/>
        </p:spPr>
      </p:pic>
      <p:pic>
        <p:nvPicPr>
          <p:cNvPr id="6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31284" y="2789526"/>
            <a:ext cx="2029257" cy="1162898"/>
          </a:xfrm>
          <a:prstGeom prst="rect">
            <a:avLst/>
          </a:prstGeom>
          <a:noFill/>
        </p:spPr>
      </p:pic>
      <p:cxnSp>
        <p:nvCxnSpPr>
          <p:cNvPr id="8" name="Straight Connector 7"/>
          <p:cNvCxnSpPr/>
          <p:nvPr/>
        </p:nvCxnSpPr>
        <p:spPr>
          <a:xfrm flipH="1" flipV="1">
            <a:off x="4378322" y="3778314"/>
            <a:ext cx="724848" cy="26106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19155" y="4639374"/>
            <a:ext cx="21592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/>
              <a:t>spark-core</a:t>
            </a:r>
            <a:endParaRPr lang="fr-FR" sz="3600"/>
          </a:p>
        </p:txBody>
      </p:sp>
      <p:cxnSp>
        <p:nvCxnSpPr>
          <p:cNvPr id="10" name="Straight Connector 9"/>
          <p:cNvCxnSpPr/>
          <p:nvPr/>
        </p:nvCxnSpPr>
        <p:spPr>
          <a:xfrm flipV="1">
            <a:off x="7057103" y="3232165"/>
            <a:ext cx="322683" cy="403312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4139" y="5456849"/>
            <a:ext cx="1030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/>
              <a:t>RDD</a:t>
            </a:r>
            <a:endParaRPr lang="fr-FR" b="1"/>
          </a:p>
        </p:txBody>
      </p:sp>
      <p:sp>
        <p:nvSpPr>
          <p:cNvPr id="14" name="TextBox 13"/>
          <p:cNvSpPr txBox="1"/>
          <p:nvPr/>
        </p:nvSpPr>
        <p:spPr>
          <a:xfrm>
            <a:off x="7057103" y="2485355"/>
            <a:ext cx="14721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Sample</a:t>
            </a:r>
            <a:r>
              <a:rPr lang="fr-FR" sz="2000"/>
              <a:t> </a:t>
            </a:r>
            <a:br>
              <a:rPr lang="fr-FR" sz="2000"/>
            </a:br>
            <a:r>
              <a:rPr lang="fr-FR" sz="2000"/>
              <a:t>Raw-to-Lake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7856191" y="2014252"/>
            <a:ext cx="212116" cy="51057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8045614" y="2736237"/>
            <a:ext cx="549219" cy="6816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6982216" y="4288293"/>
            <a:ext cx="901345" cy="230671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81602" y="451449"/>
            <a:ext cx="34148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spark.read.format</a:t>
            </a:r>
            <a:r>
              <a:rPr lang="fr-FR"/>
              <a:t>(« csv »)</a:t>
            </a:r>
          </a:p>
          <a:p>
            <a:r>
              <a:rPr lang="fr-FR"/>
              <a:t>.</a:t>
            </a:r>
            <a:r>
              <a:rPr lang="fr-FR"/>
              <a:t>load</a:t>
            </a:r>
            <a:r>
              <a:rPr lang="fr-FR"/>
              <a:t>(« hdfs://raw/table1 »)</a:t>
            </a:r>
          </a:p>
          <a:p>
            <a:r>
              <a:rPr lang="fr-FR"/>
              <a:t>.</a:t>
            </a:r>
            <a:r>
              <a:rPr lang="fr-FR"/>
              <a:t>map</a:t>
            </a:r>
            <a:r>
              <a:rPr lang="fr-FR"/>
              <a:t>( ..)</a:t>
            </a:r>
          </a:p>
          <a:p>
            <a:r>
              <a:rPr lang="fr-FR"/>
              <a:t>.</a:t>
            </a:r>
            <a:r>
              <a:rPr lang="fr-FR"/>
              <a:t>repartition</a:t>
            </a:r>
            <a:r>
              <a:rPr lang="fr-FR"/>
              <a:t>(3, « col1 ») </a:t>
            </a:r>
          </a:p>
          <a:p>
            <a:r>
              <a:rPr lang="fr-FR"/>
              <a:t>.</a:t>
            </a:r>
            <a:r>
              <a:rPr lang="fr-FR"/>
              <a:t>sortWithinPartitions</a:t>
            </a:r>
            <a:r>
              <a:rPr lang="fr-FR"/>
              <a:t>(« col2 »)          .</a:t>
            </a:r>
            <a:r>
              <a:rPr lang="fr-FR"/>
              <a:t>write.save</a:t>
            </a:r>
            <a:r>
              <a:rPr lang="fr-FR"/>
              <a:t>(« hdfs://lake/table1 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7798" y="2382043"/>
            <a:ext cx="340215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INSERT INTO lake_table1</a:t>
            </a:r>
          </a:p>
          <a:p>
            <a:r>
              <a:rPr lang="fr-FR"/>
              <a:t>SELECT /*+ REPARTITION(3, col1) */</a:t>
            </a:r>
          </a:p>
          <a:p>
            <a:r>
              <a:rPr lang="fr-FR"/>
              <a:t>   *, </a:t>
            </a:r>
            <a:r>
              <a:rPr lang="fr-FR"/>
              <a:t>udf_func</a:t>
            </a:r>
            <a:r>
              <a:rPr lang="fr-FR"/>
              <a:t>(..)</a:t>
            </a:r>
          </a:p>
          <a:p>
            <a:r>
              <a:rPr lang="fr-FR"/>
              <a:t>FROM raw_table1</a:t>
            </a:r>
          </a:p>
          <a:p>
            <a:r>
              <a:rPr lang="fr-FR"/>
              <a:t>JOIN ..  </a:t>
            </a:r>
          </a:p>
          <a:p>
            <a:r>
              <a:rPr lang="fr-FR"/>
              <a:t>SORT BY col2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H="1" flipV="1">
            <a:off x="3026279" y="2452781"/>
            <a:ext cx="550235" cy="695125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10630" y="1155250"/>
            <a:ext cx="11607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Advanced </a:t>
            </a:r>
          </a:p>
          <a:p>
            <a:r>
              <a:rPr lang="fr-FR"/>
              <a:t>SQL</a:t>
            </a:r>
          </a:p>
          <a:p>
            <a:r>
              <a:rPr lang="fr-FR"/>
              <a:t>Features</a:t>
            </a:r>
            <a:endParaRPr lang="fr-FR"/>
          </a:p>
        </p:txBody>
      </p:sp>
      <p:cxnSp>
        <p:nvCxnSpPr>
          <p:cNvPr id="31" name="Straight Connector 30"/>
          <p:cNvCxnSpPr/>
          <p:nvPr/>
        </p:nvCxnSpPr>
        <p:spPr>
          <a:xfrm>
            <a:off x="4772456" y="1522587"/>
            <a:ext cx="522497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62914" y="1939991"/>
            <a:ext cx="17495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Analytical</a:t>
            </a:r>
            <a:r>
              <a:rPr lang="fr-FR"/>
              <a:t> </a:t>
            </a:r>
            <a:r>
              <a:rPr lang="fr-FR"/>
              <a:t>query</a:t>
            </a:r>
            <a:endParaRPr lang="fr-FR"/>
          </a:p>
          <a:p>
            <a:r>
              <a:rPr lang="fr-FR"/>
              <a:t>partition over by</a:t>
            </a:r>
          </a:p>
        </p:txBody>
      </p:sp>
      <p:cxnSp>
        <p:nvCxnSpPr>
          <p:cNvPr id="34" name="Straight Connector 33"/>
          <p:cNvCxnSpPr/>
          <p:nvPr/>
        </p:nvCxnSpPr>
        <p:spPr>
          <a:xfrm flipV="1">
            <a:off x="3833717" y="2141691"/>
            <a:ext cx="254649" cy="806776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4664643" y="1660861"/>
            <a:ext cx="494936" cy="10355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4518881" y="1776353"/>
            <a:ext cx="414683" cy="264849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354979" y="128658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Union, </a:t>
            </a:r>
            <a:r>
              <a:rPr lang="fr-FR"/>
              <a:t>join</a:t>
            </a:r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5142950" y="1625049"/>
            <a:ext cx="1793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Order</a:t>
            </a:r>
            <a:r>
              <a:rPr lang="fr-FR"/>
              <a:t> by /sort by</a:t>
            </a:r>
          </a:p>
        </p:txBody>
      </p:sp>
      <p:cxnSp>
        <p:nvCxnSpPr>
          <p:cNvPr id="42" name="Straight Connector 41"/>
          <p:cNvCxnSpPr/>
          <p:nvPr/>
        </p:nvCxnSpPr>
        <p:spPr>
          <a:xfrm flipV="1">
            <a:off x="4661369" y="1240842"/>
            <a:ext cx="732303" cy="16410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43319" y="1039770"/>
            <a:ext cx="1193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UDF, UDAF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1236" y="1244969"/>
            <a:ext cx="1215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composite </a:t>
            </a:r>
          </a:p>
          <a:p>
            <a:r>
              <a:rPr lang="fr-FR"/>
              <a:t>types</a:t>
            </a:r>
          </a:p>
        </p:txBody>
      </p:sp>
      <p:cxnSp>
        <p:nvCxnSpPr>
          <p:cNvPr id="47" name="Straight Connector 46"/>
          <p:cNvCxnSpPr/>
          <p:nvPr/>
        </p:nvCxnSpPr>
        <p:spPr>
          <a:xfrm flipH="1">
            <a:off x="2929826" y="905557"/>
            <a:ext cx="219012" cy="377422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2438056" y="949877"/>
            <a:ext cx="298997" cy="35644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53621" y="596265"/>
            <a:ext cx="661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array</a:t>
            </a:r>
            <a:endParaRPr lang="fr-FR"/>
          </a:p>
        </p:txBody>
      </p:sp>
      <p:cxnSp>
        <p:nvCxnSpPr>
          <p:cNvPr id="54" name="Straight Connector 53"/>
          <p:cNvCxnSpPr/>
          <p:nvPr/>
        </p:nvCxnSpPr>
        <p:spPr>
          <a:xfrm>
            <a:off x="2749787" y="876490"/>
            <a:ext cx="87881" cy="41639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384272" y="442624"/>
            <a:ext cx="725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struct</a:t>
            </a:r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2975067" y="590965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map</a:t>
            </a:r>
            <a:endParaRPr lang="fr-FR"/>
          </a:p>
        </p:txBody>
      </p:sp>
      <p:cxnSp>
        <p:nvCxnSpPr>
          <p:cNvPr id="60" name="Straight Connector 59"/>
          <p:cNvCxnSpPr>
            <a:endCxn id="12" idx="0"/>
          </p:cNvCxnSpPr>
          <p:nvPr/>
        </p:nvCxnSpPr>
        <p:spPr>
          <a:xfrm flipH="1">
            <a:off x="3719431" y="5179288"/>
            <a:ext cx="487129" cy="277561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>
            <a:off x="3651461" y="5889648"/>
            <a:ext cx="636042" cy="208192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09040" y="6105356"/>
            <a:ext cx="981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Resilient</a:t>
            </a:r>
            <a:endParaRPr lang="fr-FR"/>
          </a:p>
        </p:txBody>
      </p:sp>
      <p:sp>
        <p:nvSpPr>
          <p:cNvPr id="65" name="TextBox 64"/>
          <p:cNvSpPr txBox="1"/>
          <p:nvPr/>
        </p:nvSpPr>
        <p:spPr>
          <a:xfrm>
            <a:off x="3023214" y="6136416"/>
            <a:ext cx="1328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Distributed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87503" y="6129487"/>
            <a:ext cx="901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cxnSp>
        <p:nvCxnSpPr>
          <p:cNvPr id="68" name="Straight Connector 67"/>
          <p:cNvCxnSpPr/>
          <p:nvPr/>
        </p:nvCxnSpPr>
        <p:spPr>
          <a:xfrm>
            <a:off x="3453093" y="5899839"/>
            <a:ext cx="0" cy="27030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H="1">
            <a:off x="2699650" y="5864285"/>
            <a:ext cx="556867" cy="205111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>
            <a:off x="3342872" y="3604254"/>
            <a:ext cx="517055" cy="215851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/>
          <p:nvPr/>
        </p:nvCxnSpPr>
        <p:spPr>
          <a:xfrm flipH="1">
            <a:off x="6316285" y="4751344"/>
            <a:ext cx="2074717" cy="417966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0031951" y="5066562"/>
            <a:ext cx="2301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Distributed </a:t>
            </a:r>
            <a:r>
              <a:rPr lang="fr-FR" sz="2000"/>
              <a:t>Storages</a:t>
            </a:r>
            <a:endParaRPr lang="fr-FR" sz="2000"/>
          </a:p>
        </p:txBody>
      </p:sp>
      <p:sp>
        <p:nvSpPr>
          <p:cNvPr id="86" name="TextBox 85"/>
          <p:cNvSpPr txBox="1"/>
          <p:nvPr/>
        </p:nvSpPr>
        <p:spPr>
          <a:xfrm>
            <a:off x="2185483" y="3724300"/>
            <a:ext cx="12378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/>
              <a:t>Dataset</a:t>
            </a:r>
            <a:r>
              <a:rPr lang="fr-FR" sz="2400"/>
              <a:t> 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184710" y="4334033"/>
            <a:ext cx="17043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Unified</a:t>
            </a:r>
            <a:r>
              <a:rPr lang="fr-FR" sz="2000"/>
              <a:t> Engine</a:t>
            </a:r>
          </a:p>
        </p:txBody>
      </p:sp>
      <p:cxnSp>
        <p:nvCxnSpPr>
          <p:cNvPr id="117" name="Straight Connector 116"/>
          <p:cNvCxnSpPr/>
          <p:nvPr/>
        </p:nvCxnSpPr>
        <p:spPr>
          <a:xfrm>
            <a:off x="9658719" y="4767226"/>
            <a:ext cx="886378" cy="299336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 flipH="1">
            <a:off x="10085182" y="5428938"/>
            <a:ext cx="445167" cy="35508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10982332" y="5428938"/>
            <a:ext cx="484539" cy="33707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/>
          <p:nvPr/>
        </p:nvCxnSpPr>
        <p:spPr>
          <a:xfrm flipH="1">
            <a:off x="8747928" y="4751344"/>
            <a:ext cx="265611" cy="31521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7534813" y="5010011"/>
            <a:ext cx="23659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Distributed </a:t>
            </a:r>
            <a:r>
              <a:rPr lang="fr-FR" sz="2000"/>
              <a:t>Compute</a:t>
            </a:r>
            <a:br>
              <a:rPr lang="fr-FR" sz="2000"/>
            </a:br>
            <a:r>
              <a:rPr lang="fr-FR" sz="2000"/>
              <a:t>(Cluster Manager)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557667" y="5704982"/>
            <a:ext cx="1548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HadoopFS</a:t>
            </a:r>
            <a:r>
              <a:rPr lang="fr-FR"/>
              <a:t> Api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85607" y="5657670"/>
            <a:ext cx="11063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Implems</a:t>
            </a:r>
            <a:r>
              <a:rPr lang="fr-FR"/>
              <a:t>: </a:t>
            </a:r>
          </a:p>
          <a:p>
            <a:r>
              <a:rPr lang="fr-FR"/>
              <a:t>HDFS,</a:t>
            </a:r>
          </a:p>
          <a:p>
            <a:r>
              <a:rPr lang="fr-FR"/>
              <a:t>Azure, </a:t>
            </a:r>
          </a:p>
          <a:p>
            <a:r>
              <a:rPr lang="fr-FR"/>
              <a:t>Aws</a:t>
            </a:r>
            <a:r>
              <a:rPr lang="fr-FR"/>
              <a:t>,.. </a:t>
            </a:r>
          </a:p>
        </p:txBody>
      </p:sp>
      <p:cxnSp>
        <p:nvCxnSpPr>
          <p:cNvPr id="140" name="Straight Connector 139"/>
          <p:cNvCxnSpPr/>
          <p:nvPr/>
        </p:nvCxnSpPr>
        <p:spPr>
          <a:xfrm flipH="1">
            <a:off x="7846628" y="5693512"/>
            <a:ext cx="445167" cy="35508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>
            <a:off x="8489041" y="5694263"/>
            <a:ext cx="484539" cy="33707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8592316" y="5922995"/>
            <a:ext cx="1891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Implems</a:t>
            </a:r>
            <a:r>
              <a:rPr lang="fr-FR"/>
              <a:t>: </a:t>
            </a:r>
          </a:p>
          <a:p>
            <a:r>
              <a:rPr lang="fr-FR"/>
              <a:t>Yarn,Kubernetes</a:t>
            </a:r>
            <a:r>
              <a:rPr lang="fr-FR"/>
              <a:t>.. 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08903" y="5995593"/>
            <a:ext cx="1524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Task-Executor</a:t>
            </a:r>
            <a:endParaRPr lang="fr-FR"/>
          </a:p>
          <a:p>
            <a:r>
              <a:rPr lang="fr-FR"/>
              <a:t> Api</a:t>
            </a:r>
          </a:p>
        </p:txBody>
      </p:sp>
      <p:cxnSp>
        <p:nvCxnSpPr>
          <p:cNvPr id="145" name="Straight Connector 144"/>
          <p:cNvCxnSpPr/>
          <p:nvPr/>
        </p:nvCxnSpPr>
        <p:spPr>
          <a:xfrm flipH="1">
            <a:off x="4800442" y="4476897"/>
            <a:ext cx="635925" cy="328105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5363564" y="5179288"/>
            <a:ext cx="1845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Languages Support</a:t>
            </a:r>
          </a:p>
        </p:txBody>
      </p:sp>
      <p:cxnSp>
        <p:nvCxnSpPr>
          <p:cNvPr id="151" name="Straight Connector 150"/>
          <p:cNvCxnSpPr/>
          <p:nvPr/>
        </p:nvCxnSpPr>
        <p:spPr>
          <a:xfrm flipH="1">
            <a:off x="5660371" y="5524418"/>
            <a:ext cx="219872" cy="169094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5177416" y="5636313"/>
            <a:ext cx="660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Scala</a:t>
            </a:r>
          </a:p>
        </p:txBody>
      </p:sp>
      <p:cxnSp>
        <p:nvCxnSpPr>
          <p:cNvPr id="154" name="Straight Connector 153"/>
          <p:cNvCxnSpPr/>
          <p:nvPr/>
        </p:nvCxnSpPr>
        <p:spPr>
          <a:xfrm flipH="1">
            <a:off x="5950897" y="5558598"/>
            <a:ext cx="120569" cy="385336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5564435" y="5877903"/>
            <a:ext cx="57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</a:t>
            </a:r>
          </a:p>
        </p:txBody>
      </p:sp>
      <p:cxnSp>
        <p:nvCxnSpPr>
          <p:cNvPr id="157" name="Straight Connector 156"/>
          <p:cNvCxnSpPr>
            <a:stCxn id="150" idx="2"/>
            <a:endCxn id="160" idx="0"/>
          </p:cNvCxnSpPr>
          <p:nvPr/>
        </p:nvCxnSpPr>
        <p:spPr>
          <a:xfrm>
            <a:off x="6286349" y="5548620"/>
            <a:ext cx="44433" cy="57087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904575" y="6119493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Python</a:t>
            </a:r>
          </a:p>
        </p:txBody>
      </p:sp>
      <p:cxnSp>
        <p:nvCxnSpPr>
          <p:cNvPr id="163" name="Straight Connector 162"/>
          <p:cNvCxnSpPr/>
          <p:nvPr/>
        </p:nvCxnSpPr>
        <p:spPr>
          <a:xfrm>
            <a:off x="6463672" y="5540642"/>
            <a:ext cx="167631" cy="27758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6615974" y="583405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40883" y="6474688"/>
            <a:ext cx="1700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Pyspark</a:t>
            </a:r>
            <a:r>
              <a:rPr lang="fr-FR"/>
              <a:t> pandas</a:t>
            </a:r>
          </a:p>
        </p:txBody>
      </p:sp>
      <p:cxnSp>
        <p:nvCxnSpPr>
          <p:cNvPr id="170" name="Straight Connector 169"/>
          <p:cNvCxnSpPr>
            <a:endCxn id="160" idx="2"/>
          </p:cNvCxnSpPr>
          <p:nvPr/>
        </p:nvCxnSpPr>
        <p:spPr>
          <a:xfrm flipV="1">
            <a:off x="6039862" y="6488825"/>
            <a:ext cx="290919" cy="77715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/>
          <p:cNvCxnSpPr>
            <a:endCxn id="169" idx="0"/>
          </p:cNvCxnSpPr>
          <p:nvPr/>
        </p:nvCxnSpPr>
        <p:spPr>
          <a:xfrm flipH="1" flipV="1">
            <a:off x="6391052" y="6474688"/>
            <a:ext cx="412810" cy="91852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207968" y="3019140"/>
            <a:ext cx="1589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Expression AST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53352" y="3319660"/>
            <a:ext cx="134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Column</a:t>
            </a:r>
            <a:r>
              <a:rPr lang="fr-FR"/>
              <a:t> API</a:t>
            </a:r>
          </a:p>
        </p:txBody>
      </p:sp>
      <p:cxnSp>
        <p:nvCxnSpPr>
          <p:cNvPr id="183" name="Straight Connector 182"/>
          <p:cNvCxnSpPr/>
          <p:nvPr/>
        </p:nvCxnSpPr>
        <p:spPr>
          <a:xfrm flipH="1">
            <a:off x="2225931" y="5061642"/>
            <a:ext cx="1030586" cy="18038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91565" y="5054836"/>
            <a:ext cx="1670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3 == </a:t>
            </a:r>
            <a:r>
              <a:rPr lang="fr-FR"/>
              <a:t>formalisms</a:t>
            </a:r>
            <a:endParaRPr lang="fr-FR"/>
          </a:p>
        </p:txBody>
      </p:sp>
      <p:cxnSp>
        <p:nvCxnSpPr>
          <p:cNvPr id="186" name="Straight Connector 185"/>
          <p:cNvCxnSpPr/>
          <p:nvPr/>
        </p:nvCxnSpPr>
        <p:spPr>
          <a:xfrm flipH="1">
            <a:off x="591565" y="5456999"/>
            <a:ext cx="390772" cy="222437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>
            <a:off x="1223227" y="5464175"/>
            <a:ext cx="0" cy="39862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/>
          <p:cNvCxnSpPr/>
          <p:nvPr/>
        </p:nvCxnSpPr>
        <p:spPr>
          <a:xfrm>
            <a:off x="1416137" y="5456849"/>
            <a:ext cx="292643" cy="179464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103341" y="5670578"/>
            <a:ext cx="668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API</a:t>
            </a:r>
          </a:p>
          <a:p>
            <a:r>
              <a:rPr lang="fr-FR"/>
              <a:t>(SSA)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82635" y="5855733"/>
            <a:ext cx="11867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Algebric</a:t>
            </a:r>
            <a:endParaRPr lang="fr-FR"/>
          </a:p>
          <a:p>
            <a:r>
              <a:rPr lang="fr-FR"/>
              <a:t>Expression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621424" y="5594243"/>
            <a:ext cx="6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DAG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726757" y="4368667"/>
            <a:ext cx="134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Encoder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361244" y="2102042"/>
            <a:ext cx="134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TypeSystem</a:t>
            </a:r>
            <a:endParaRPr lang="fr-FR"/>
          </a:p>
        </p:txBody>
      </p:sp>
      <p:cxnSp>
        <p:nvCxnSpPr>
          <p:cNvPr id="202" name="Straight Connector 201"/>
          <p:cNvCxnSpPr/>
          <p:nvPr/>
        </p:nvCxnSpPr>
        <p:spPr>
          <a:xfrm>
            <a:off x="2699123" y="1857550"/>
            <a:ext cx="138545" cy="284141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/>
          <p:cNvCxnSpPr/>
          <p:nvPr/>
        </p:nvCxnSpPr>
        <p:spPr>
          <a:xfrm flipH="1" flipV="1">
            <a:off x="2909922" y="4131115"/>
            <a:ext cx="214305" cy="32725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/>
          <p:cNvCxnSpPr/>
          <p:nvPr/>
        </p:nvCxnSpPr>
        <p:spPr>
          <a:xfrm flipH="1" flipV="1">
            <a:off x="1765897" y="3340735"/>
            <a:ext cx="395574" cy="383565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/>
          <p:cNvCxnSpPr>
            <a:endCxn id="182" idx="3"/>
          </p:cNvCxnSpPr>
          <p:nvPr/>
        </p:nvCxnSpPr>
        <p:spPr>
          <a:xfrm flipH="1" flipV="1">
            <a:off x="1598097" y="3504326"/>
            <a:ext cx="529712" cy="333867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/>
          <p:cNvCxnSpPr/>
          <p:nvPr/>
        </p:nvCxnSpPr>
        <p:spPr>
          <a:xfrm flipH="1">
            <a:off x="1755887" y="3950074"/>
            <a:ext cx="346696" cy="15736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77773" y="3915385"/>
            <a:ext cx="1200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/>
              <a:t>Execution</a:t>
            </a:r>
            <a:endParaRPr lang="fr-FR" sz="2000"/>
          </a:p>
          <a:p>
            <a:pPr algn="ctr"/>
            <a:r>
              <a:rPr lang="fr-FR" sz="2000"/>
              <a:t>Plan </a:t>
            </a:r>
          </a:p>
        </p:txBody>
      </p:sp>
      <p:cxnSp>
        <p:nvCxnSpPr>
          <p:cNvPr id="238" name="Straight Connector 237"/>
          <p:cNvCxnSpPr/>
          <p:nvPr/>
        </p:nvCxnSpPr>
        <p:spPr>
          <a:xfrm flipH="1">
            <a:off x="554968" y="4529832"/>
            <a:ext cx="346696" cy="157363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/>
          <p:cNvCxnSpPr/>
          <p:nvPr/>
        </p:nvCxnSpPr>
        <p:spPr>
          <a:xfrm>
            <a:off x="1034596" y="4510876"/>
            <a:ext cx="392262" cy="189424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/>
          <p:cNvCxnSpPr/>
          <p:nvPr/>
        </p:nvCxnSpPr>
        <p:spPr>
          <a:xfrm>
            <a:off x="2048226" y="1975166"/>
            <a:ext cx="352602" cy="174388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1081857" y="1728655"/>
            <a:ext cx="134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Schema</a:t>
            </a:r>
            <a:endParaRPr lang="fr-FR"/>
          </a:p>
        </p:txBody>
      </p:sp>
      <p:sp>
        <p:nvSpPr>
          <p:cNvPr id="250" name="TextBox 249"/>
          <p:cNvSpPr txBox="1"/>
          <p:nvPr/>
        </p:nvSpPr>
        <p:spPr>
          <a:xfrm>
            <a:off x="46468" y="4597573"/>
            <a:ext cx="895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Logical</a:t>
            </a:r>
            <a:endParaRPr lang="fr-FR" sz="2000"/>
          </a:p>
        </p:txBody>
      </p:sp>
      <p:sp>
        <p:nvSpPr>
          <p:cNvPr id="251" name="TextBox 250"/>
          <p:cNvSpPr txBox="1"/>
          <p:nvPr/>
        </p:nvSpPr>
        <p:spPr>
          <a:xfrm>
            <a:off x="957443" y="4589503"/>
            <a:ext cx="1010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Physical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127499" y="2461186"/>
            <a:ext cx="17969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= </a:t>
            </a:r>
            <a:r>
              <a:rPr lang="fr-FR" sz="2400"/>
              <a:t>Dataframe</a:t>
            </a:r>
            <a:r>
              <a:rPr lang="fr-FR" sz="2400"/>
              <a:t> 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8916" y="2178300"/>
            <a:ext cx="2057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Dataset</a:t>
            </a:r>
            <a:r>
              <a:rPr lang="fr-FR" sz="2400"/>
              <a:t>&lt;Row&gt; </a:t>
            </a:r>
          </a:p>
        </p:txBody>
      </p:sp>
      <p:cxnSp>
        <p:nvCxnSpPr>
          <p:cNvPr id="258" name="Straight Connector 257"/>
          <p:cNvCxnSpPr/>
          <p:nvPr/>
        </p:nvCxnSpPr>
        <p:spPr>
          <a:xfrm flipH="1" flipV="1">
            <a:off x="2426602" y="2887617"/>
            <a:ext cx="657653" cy="344389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101</Slides>
  <Notes>0</Notes>
  <HiddenSlides>1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Unified Engine Features  (Sql, Dataset &amp; Api)</dc:title>
  <dc:creator>NAUWYNCK Arnaud</dc:creator>
  <cp:lastModifiedBy>arnaud</cp:lastModifiedBy>
  <cp:revision>25</cp:revision>
  <dcterms:created xsi:type="dcterms:W3CDTF">2025-01-07T18:01:03Z</dcterms:created>
  <dcterms:modified xsi:type="dcterms:W3CDTF">2025-11-22T19:22:25Z</dcterms:modified>
</cp:coreProperties>
</file>