
<file path=[Content_Types].xml><?xml version="1.0" encoding="utf-8"?>
<Types xmlns="http://schemas.openxmlformats.org/package/2006/content-types">
  <Default Extension="bin" ContentType="application/vnd.openxmlformats-officedocument.oleObject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2"/>
  </p:notesMasterIdLst>
  <p:sldIdLst>
    <p:sldId id="256" r:id="rId2"/>
    <p:sldId id="360" r:id="rId3"/>
    <p:sldId id="257" r:id="rId4"/>
    <p:sldId id="258" r:id="rId5"/>
    <p:sldId id="357" r:id="rId6"/>
    <p:sldId id="280" r:id="rId7"/>
    <p:sldId id="395" r:id="rId8"/>
    <p:sldId id="316" r:id="rId9"/>
    <p:sldId id="305" r:id="rId10"/>
    <p:sldId id="336" r:id="rId11"/>
    <p:sldId id="318" r:id="rId12"/>
    <p:sldId id="409" r:id="rId13"/>
    <p:sldId id="410" r:id="rId14"/>
    <p:sldId id="411" r:id="rId15"/>
    <p:sldId id="412" r:id="rId16"/>
    <p:sldId id="259" r:id="rId17"/>
    <p:sldId id="286" r:id="rId18"/>
    <p:sldId id="287" r:id="rId19"/>
    <p:sldId id="291" r:id="rId20"/>
    <p:sldId id="260" r:id="rId21"/>
    <p:sldId id="281" r:id="rId22"/>
    <p:sldId id="413" r:id="rId23"/>
    <p:sldId id="416" r:id="rId24"/>
    <p:sldId id="381" r:id="rId25"/>
    <p:sldId id="414" r:id="rId26"/>
    <p:sldId id="417" r:id="rId27"/>
    <p:sldId id="415" r:id="rId28"/>
    <p:sldId id="375" r:id="rId29"/>
    <p:sldId id="263" r:id="rId30"/>
    <p:sldId id="282" r:id="rId31"/>
    <p:sldId id="289" r:id="rId32"/>
    <p:sldId id="396" r:id="rId33"/>
    <p:sldId id="337" r:id="rId34"/>
    <p:sldId id="362" r:id="rId35"/>
    <p:sldId id="363" r:id="rId36"/>
    <p:sldId id="364" r:id="rId37"/>
    <p:sldId id="366" r:id="rId38"/>
    <p:sldId id="367" r:id="rId39"/>
    <p:sldId id="398" r:id="rId40"/>
    <p:sldId id="368" r:id="rId41"/>
    <p:sldId id="370" r:id="rId42"/>
    <p:sldId id="376" r:id="rId43"/>
    <p:sldId id="321" r:id="rId44"/>
    <p:sldId id="377" r:id="rId45"/>
    <p:sldId id="379" r:id="rId46"/>
    <p:sldId id="378" r:id="rId47"/>
    <p:sldId id="369" r:id="rId48"/>
    <p:sldId id="382" r:id="rId49"/>
    <p:sldId id="397" r:id="rId50"/>
    <p:sldId id="383" r:id="rId51"/>
    <p:sldId id="372" r:id="rId52"/>
    <p:sldId id="373" r:id="rId53"/>
    <p:sldId id="275" r:id="rId54"/>
    <p:sldId id="276" r:id="rId55"/>
    <p:sldId id="388" r:id="rId56"/>
    <p:sldId id="385" r:id="rId57"/>
    <p:sldId id="386" r:id="rId58"/>
    <p:sldId id="387" r:id="rId59"/>
    <p:sldId id="389" r:id="rId60"/>
    <p:sldId id="406" r:id="rId61"/>
    <p:sldId id="384" r:id="rId62"/>
    <p:sldId id="390" r:id="rId63"/>
    <p:sldId id="391" r:id="rId64"/>
    <p:sldId id="392" r:id="rId65"/>
    <p:sldId id="393" r:id="rId66"/>
    <p:sldId id="329" r:id="rId67"/>
    <p:sldId id="408" r:id="rId68"/>
    <p:sldId id="399" r:id="rId69"/>
    <p:sldId id="374" r:id="rId70"/>
    <p:sldId id="322" r:id="rId71"/>
    <p:sldId id="325" r:id="rId72"/>
    <p:sldId id="332" r:id="rId73"/>
    <p:sldId id="418" r:id="rId74"/>
    <p:sldId id="419" r:id="rId75"/>
    <p:sldId id="338" r:id="rId76"/>
    <p:sldId id="331" r:id="rId77"/>
    <p:sldId id="320" r:id="rId78"/>
    <p:sldId id="326" r:id="rId79"/>
    <p:sldId id="323" r:id="rId80"/>
    <p:sldId id="324" r:id="rId81"/>
    <p:sldId id="327" r:id="rId82"/>
    <p:sldId id="328" r:id="rId83"/>
    <p:sldId id="394" r:id="rId84"/>
    <p:sldId id="401" r:id="rId85"/>
    <p:sldId id="400" r:id="rId86"/>
    <p:sldId id="296" r:id="rId87"/>
    <p:sldId id="340" r:id="rId88"/>
    <p:sldId id="294" r:id="rId89"/>
    <p:sldId id="341" r:id="rId90"/>
    <p:sldId id="339" r:id="rId91"/>
    <p:sldId id="300" r:id="rId92"/>
    <p:sldId id="345" r:id="rId93"/>
    <p:sldId id="301" r:id="rId94"/>
    <p:sldId id="302" r:id="rId95"/>
    <p:sldId id="402" r:id="rId96"/>
    <p:sldId id="295" r:id="rId97"/>
    <p:sldId id="303" r:id="rId98"/>
    <p:sldId id="304" r:id="rId99"/>
    <p:sldId id="293" r:id="rId100"/>
    <p:sldId id="358" r:id="rId101"/>
    <p:sldId id="307" r:id="rId102"/>
    <p:sldId id="352" r:id="rId103"/>
    <p:sldId id="309" r:id="rId104"/>
    <p:sldId id="349" r:id="rId105"/>
    <p:sldId id="308" r:id="rId106"/>
    <p:sldId id="350" r:id="rId107"/>
    <p:sldId id="351" r:id="rId108"/>
    <p:sldId id="353" r:id="rId109"/>
    <p:sldId id="310" r:id="rId110"/>
    <p:sldId id="404" r:id="rId111"/>
    <p:sldId id="348" r:id="rId112"/>
    <p:sldId id="343" r:id="rId113"/>
    <p:sldId id="344" r:id="rId114"/>
    <p:sldId id="346" r:id="rId115"/>
    <p:sldId id="347" r:id="rId116"/>
    <p:sldId id="297" r:id="rId117"/>
    <p:sldId id="298" r:id="rId118"/>
    <p:sldId id="299" r:id="rId119"/>
    <p:sldId id="407" r:id="rId120"/>
    <p:sldId id="405" r:id="rId121"/>
    <p:sldId id="361" r:id="rId122"/>
    <p:sldId id="284" r:id="rId123"/>
    <p:sldId id="262" r:id="rId124"/>
    <p:sldId id="264" r:id="rId125"/>
    <p:sldId id="265" r:id="rId126"/>
    <p:sldId id="267" r:id="rId127"/>
    <p:sldId id="272" r:id="rId128"/>
    <p:sldId id="342" r:id="rId129"/>
    <p:sldId id="273" r:id="rId130"/>
    <p:sldId id="359" r:id="rId131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309" autoAdjust="0"/>
    <p:restoredTop sz="94660"/>
  </p:normalViewPr>
  <p:slideViewPr>
    <p:cSldViewPr snapToGrid="0">
      <p:cViewPr varScale="1">
        <p:scale>
          <a:sx n="79" d="100"/>
          <a:sy n="79" d="100"/>
        </p:scale>
        <p:origin x="72" y="19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63" Type="http://schemas.openxmlformats.org/officeDocument/2006/relationships/slide" Target="slides/slide62.xml"/><Relationship Id="rId84" Type="http://schemas.openxmlformats.org/officeDocument/2006/relationships/slide" Target="slides/slide83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28" Type="http://schemas.openxmlformats.org/officeDocument/2006/relationships/slide" Target="slides/slide127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18" Type="http://schemas.openxmlformats.org/officeDocument/2006/relationships/slide" Target="slides/slide117.xml"/><Relationship Id="rId134" Type="http://schemas.openxmlformats.org/officeDocument/2006/relationships/viewProps" Target="viewProps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124" Type="http://schemas.openxmlformats.org/officeDocument/2006/relationships/slide" Target="slides/slide123.xml"/><Relationship Id="rId129" Type="http://schemas.openxmlformats.org/officeDocument/2006/relationships/slide" Target="slides/slide128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130" Type="http://schemas.openxmlformats.org/officeDocument/2006/relationships/slide" Target="slides/slide129.xml"/><Relationship Id="rId135" Type="http://schemas.openxmlformats.org/officeDocument/2006/relationships/theme" Target="theme/theme1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slide" Target="slides/slide124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131" Type="http://schemas.openxmlformats.org/officeDocument/2006/relationships/slide" Target="slides/slide130.xml"/><Relationship Id="rId136" Type="http://schemas.openxmlformats.org/officeDocument/2006/relationships/tableStyles" Target="tableStyles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32" Type="http://schemas.openxmlformats.org/officeDocument/2006/relationships/notesMaster" Target="notesMasters/notesMaster1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slide" Target="slides/slide12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26" Type="http://schemas.openxmlformats.org/officeDocument/2006/relationships/slide" Target="slides/slide25.xml"/><Relationship Id="rId47" Type="http://schemas.openxmlformats.org/officeDocument/2006/relationships/slide" Target="slides/slide46.xml"/><Relationship Id="rId68" Type="http://schemas.openxmlformats.org/officeDocument/2006/relationships/slide" Target="slides/slide67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presProps" Target="pres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90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6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34162F6-DB49-42F8-8300-FE4E2F05F52D}" type="datetimeFigureOut">
              <a:rPr lang="fr-FR" smtClean="0"/>
              <a:t>23/09/2026</a:t>
            </a:fld>
            <a:endParaRPr lang="fr-F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06A5868-C7F9-469C-872A-EAF2AABC5EA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581763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A85587-6633-42EF-B3E5-2D6D5A817CFC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EB73831C-429F-40C2-9DA8-B9CE9A58B4F7}" type="slidenum">
              <a:t>42</a:t>
            </a:fld>
            <a:endParaRPr lang="fr-FR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B67B783-22B3-4306-AF6D-43FE09AA79CB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217488" y="812800"/>
            <a:ext cx="7124700" cy="4008438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C7E4F2F-1B1E-4ABA-92FF-9559DEA30D89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pPr rtl="0"/>
            <a:endParaRPr lang="fr-FR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72829E6A-AA21-4CDE-A31C-49AA2BC31342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104A746C-1AA1-4BA6-9643-D98C7B57BA9B}" type="slidenum">
              <a:t>44</a:t>
            </a:fld>
            <a:endParaRPr lang="en-US"/>
          </a:p>
        </p:txBody>
      </p:sp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A2877448-E47B-4A5E-A19C-5F3E174F7740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533400" y="763588"/>
            <a:ext cx="6704013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52FB64C6-3111-4A05-A46D-BA7124432E08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B96FD7-3A87-41F0-8494-411FE25EE379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BB3053B5-5306-40A5-B0FB-CE3B01B03688}" type="slidenum">
              <a:t>53</a:t>
            </a:fld>
            <a:endParaRPr lang="fr-FR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A146377-6EC1-4411-B8A5-EC0A26D98B5B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217488" y="812800"/>
            <a:ext cx="7124700" cy="4008438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952085B-3AFF-44A8-845A-89411434EA79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pPr rtl="0"/>
            <a:endParaRPr lang="fr-FR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717DF21-67F8-4ED7-B682-0A411B39AE5F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41D7DD81-57A4-4663-8A19-D42D07EB20A8}" type="slidenum">
              <a:t>54</a:t>
            </a:fld>
            <a:endParaRPr lang="fr-FR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5445142-DB53-4FE6-BED1-BB7A65C24E9C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217488" y="812800"/>
            <a:ext cx="7124700" cy="4008438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6D8548B-1F18-4033-B013-735F3F271D12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pPr rtl="0"/>
            <a:endParaRPr lang="fr-FR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3C487A9C-0F3A-45E3-90A1-E01A68683A04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8C804D81-ED59-4493-84FF-C1415207E8E1}" type="slidenum">
              <a:t>55</a:t>
            </a:fld>
            <a:endParaRPr lang="en-US"/>
          </a:p>
        </p:txBody>
      </p:sp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EFA57087-0B5E-499F-ADE7-16A13FE7D961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533400" y="763588"/>
            <a:ext cx="6704013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72B78197-D30A-4185-BF3B-30117AEEC46B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1272EEB9-DF0F-47C4-BD90-3BA0E35A69A5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A7BF0611-9F72-4261-A22B-68855641DECB}" type="slidenum">
              <a:t>56</a:t>
            </a:fld>
            <a:endParaRPr lang="en-US"/>
          </a:p>
        </p:txBody>
      </p:sp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BFC030CA-0F22-4884-B645-3E5BABEAF076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533400" y="763588"/>
            <a:ext cx="6704013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F795E371-1826-457A-9B5E-24ECEEDE137B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610B1DCF-4099-4E8D-8CAA-6761EAD75FEF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B8AD9235-1B26-4338-AF08-8036D508F2F8}" type="slidenum">
              <a:t>57</a:t>
            </a:fld>
            <a:endParaRPr lang="en-US"/>
          </a:p>
        </p:txBody>
      </p:sp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760F36BA-E4CF-4AA2-91CB-3605FAB4258F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533400" y="763588"/>
            <a:ext cx="6704013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38E9B7E7-0180-40AD-BE8D-BE4CC5AECC96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00AF83C1-DAF8-47CE-8980-D9420E9EF56D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C0C74EAC-3A61-4EF6-9ECB-8D938D4858B6}" type="slidenum">
              <a:t>58</a:t>
            </a:fld>
            <a:endParaRPr lang="en-US"/>
          </a:p>
        </p:txBody>
      </p:sp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FE00D77A-5880-46DB-BDED-EF4311E0BE70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533400" y="763588"/>
            <a:ext cx="6704013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85C1D1CE-E62C-4196-A850-2454E75CFD4B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1E5D5E73-5880-4D8F-AD4B-896635E1EA81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BE89BB57-0639-4CE6-87D1-06E00F2D9AD4}" type="slidenum">
              <a:t>59</a:t>
            </a:fld>
            <a:endParaRPr lang="en-US"/>
          </a:p>
        </p:txBody>
      </p:sp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D1782366-E44E-48B0-AF29-CA0D94400ABF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533400" y="763588"/>
            <a:ext cx="6704013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ABF4DADB-76B6-40C7-8818-3A58C059CC3E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74F689-BFD1-FB12-52C3-145EB0782F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61F4203-6287-3FC8-67F7-8D909854A88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2F192D-BA11-1E43-7EDA-8426304499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CEDCC8-A1A3-4FE6-8F36-ADAE6F19199A}" type="datetimeFigureOut">
              <a:rPr lang="fr-FR" smtClean="0"/>
              <a:t>23/09/2026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12D000-E2FE-22AC-89B9-2EAC0B4AFE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B42563-398B-EC62-71A9-EE6ED93179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D74E02-1A5E-4633-B287-79DCC0AE97B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39711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134CCB-C9F9-B1B0-A4A3-8A7BC2B1F6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3884AC-4784-9B4E-614D-235B311E1B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E32079-DC38-8AD0-B284-70F4DE4033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CEDCC8-A1A3-4FE6-8F36-ADAE6F19199A}" type="datetimeFigureOut">
              <a:rPr lang="fr-FR" smtClean="0"/>
              <a:t>23/09/2026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ACB95D-792F-81E2-7D81-95741BD10B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C9C597-EBB2-BF6A-451C-1EF617243D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D74E02-1A5E-4633-B287-79DCC0AE97B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624609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A35C2C-0FEA-341D-69DA-96B247E9E8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ACF98F-4082-1BA9-FE70-87859E15DA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BAC126-DF69-4B3F-3BB7-920BCFB630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CEDCC8-A1A3-4FE6-8F36-ADAE6F19199A}" type="datetimeFigureOut">
              <a:rPr lang="fr-FR" smtClean="0"/>
              <a:t>23/09/2026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95E7AC-4281-A6E1-D5EB-D57956AB37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E7125C-3CB2-1E31-F522-B2AC8FFE96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D74E02-1A5E-4633-B287-79DCC0AE97B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354430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AE8029-A7A9-F8CF-EF31-6E5AA38EE3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924F65-BE01-50E6-539C-79806E0AA56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3E9A720-83F8-07B2-1800-EF0BA6F91B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2F9014-7229-A358-FBE0-719EFC80A4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CEDCC8-A1A3-4FE6-8F36-ADAE6F19199A}" type="datetimeFigureOut">
              <a:rPr lang="fr-FR" smtClean="0"/>
              <a:t>23/09/2026</a:t>
            </a:fld>
            <a:endParaRPr lang="fr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79B0A3-9BF6-1054-C7F1-B9EDD243CA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6D751A-FF83-D66A-FF4A-41CB71857C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D74E02-1A5E-4633-B287-79DCC0AE97B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222566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7A2367-3D94-76BF-7D45-D5C453D7FC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1E3F2B-342B-633C-42F5-3F68C09598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B77A1D3-ED6E-50C3-47C6-F0822D2536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5DFF704-F9DC-C3BC-6C4B-2F2DAC5713F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BEAF0EA-97F0-F423-37AB-FADFB4215E8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AA18F92-EF0C-F366-A8A6-A764F8E909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CEDCC8-A1A3-4FE6-8F36-ADAE6F19199A}" type="datetimeFigureOut">
              <a:rPr lang="fr-FR" smtClean="0"/>
              <a:t>23/09/2026</a:t>
            </a:fld>
            <a:endParaRPr lang="fr-F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CF8168E-A24E-751B-6265-9D0AA7CEC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4359983-23BD-5788-F5E6-A26294554F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D74E02-1A5E-4633-B287-79DCC0AE97B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612845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E95417-15C8-5719-E3F2-C54D59A6BF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42308AD-6C98-9567-0A99-910B765DAE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CEDCC8-A1A3-4FE6-8F36-ADAE6F19199A}" type="datetimeFigureOut">
              <a:rPr lang="fr-FR" smtClean="0"/>
              <a:t>23/09/2026</a:t>
            </a:fld>
            <a:endParaRPr lang="fr-F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D987D6F-34AF-0FAF-CBEB-C80F031E60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6EF999-1065-028E-7A46-57923DCD87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D74E02-1A5E-4633-B287-79DCC0AE97B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362075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F199B52-510C-8D7E-DB17-71B4A0442B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CEDCC8-A1A3-4FE6-8F36-ADAE6F19199A}" type="datetimeFigureOut">
              <a:rPr lang="fr-FR" smtClean="0"/>
              <a:t>23/09/2026</a:t>
            </a:fld>
            <a:endParaRPr lang="fr-F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4799B47-CD4C-D622-D733-8D747D046E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1D0E73-EB93-66D9-E75C-50C62287F3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D74E02-1A5E-4633-B287-79DCC0AE97B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237698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CFBBFB-C198-A0E0-B271-86959DF276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A9D95D-E359-8804-9CB4-63063ADF28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810C49E-8746-6411-E817-686756EE2D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8344958-1AB8-5E98-9828-FAA07BF228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CEDCC8-A1A3-4FE6-8F36-ADAE6F19199A}" type="datetimeFigureOut">
              <a:rPr lang="fr-FR" smtClean="0"/>
              <a:t>23/09/2026</a:t>
            </a:fld>
            <a:endParaRPr lang="fr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D16D0E-8CDD-D6FA-4840-A3C478F32A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6EE8125-5B26-7D4D-7427-7A99B2D4A6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D74E02-1A5E-4633-B287-79DCC0AE97B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685705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6CE3D2-EEB8-1C7B-1601-71D76FD89F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61678E8-D73E-9669-36E4-500D8D11682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1C6DDE-D0E7-7A91-8EA3-9169DD614B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4C2136F-D0B5-C353-EBFF-B5D0A29884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CEDCC8-A1A3-4FE6-8F36-ADAE6F19199A}" type="datetimeFigureOut">
              <a:rPr lang="fr-FR" smtClean="0"/>
              <a:t>23/09/2026</a:t>
            </a:fld>
            <a:endParaRPr lang="fr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0D6406-2261-F24E-0ED1-000699F46A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370AE02-D363-8F42-0E47-3A811CC684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D74E02-1A5E-4633-B287-79DCC0AE97B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689016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72629D-F594-BFD7-0F47-19C7DCE704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42D25F0-F230-9CEA-AD44-80EE9456ED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A63F0C-E31B-51DA-0C80-2373178222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CEDCC8-A1A3-4FE6-8F36-ADAE6F19199A}" type="datetimeFigureOut">
              <a:rPr lang="fr-FR" smtClean="0"/>
              <a:t>23/09/2026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789FCA-0435-C101-E8B4-425907C48D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222909-46AB-F944-53D8-2DD444F5EB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D74E02-1A5E-4633-B287-79DCC0AE97B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056938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278CFCC-448D-27BE-ADC7-A8395552710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A5788A5-0E6D-65B7-7885-0915B7CF52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F60B37-77DE-0B53-3AAC-48BC0CBFBB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CEDCC8-A1A3-4FE6-8F36-ADAE6F19199A}" type="datetimeFigureOut">
              <a:rPr lang="fr-FR" smtClean="0"/>
              <a:t>23/09/2026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D70614-2779-C6C5-6D4D-BEA1BA9507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1F2952-17FC-AB98-50C3-D4947557F9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D74E02-1A5E-4633-B287-79DCC0AE97B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769901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BD5D1DD-0E56-0B61-6115-0815B750DE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43CBCF-28F8-8E4C-4A35-130770DC33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D6DC13-E265-86A6-C17C-9408EAF2EA6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CEDCC8-A1A3-4FE6-8F36-ADAE6F19199A}" type="datetimeFigureOut">
              <a:rPr lang="fr-FR" smtClean="0"/>
              <a:t>23/09/2026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8169CD-140C-DA55-34EF-7C8018AC38F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AFBF91-13F6-F6EE-7389-7D18B1FAB9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D74E02-1A5E-4633-B287-79DCC0AE97B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001838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Arnaud-Nauwynck" TargetMode="External"/><Relationship Id="rId2" Type="http://schemas.openxmlformats.org/officeDocument/2006/relationships/hyperlink" Target="mailto:arnaud.nauwynck@gmail.com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hyperlink" Target="http://arnaud-nauwynck.github.io/" TargetMode="External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7" Type="http://schemas.openxmlformats.org/officeDocument/2006/relationships/image" Target="../media/image27.jpe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5" Type="http://schemas.openxmlformats.org/officeDocument/2006/relationships/image" Target="../media/image25.jpeg"/><Relationship Id="rId4" Type="http://schemas.openxmlformats.org/officeDocument/2006/relationships/image" Target="../media/image24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0.png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3.png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7.png"/></Relationships>
</file>

<file path=ppt/slides/_rels/slide5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png"/><Relationship Id="rId3" Type="http://schemas.openxmlformats.org/officeDocument/2006/relationships/image" Target="../media/image48.png"/><Relationship Id="rId7" Type="http://schemas.openxmlformats.org/officeDocument/2006/relationships/image" Target="../media/image5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1.png"/><Relationship Id="rId5" Type="http://schemas.openxmlformats.org/officeDocument/2006/relationships/image" Target="../media/image50.png"/><Relationship Id="rId4" Type="http://schemas.openxmlformats.org/officeDocument/2006/relationships/image" Target="../media/image49.png"/><Relationship Id="rId9" Type="http://schemas.openxmlformats.org/officeDocument/2006/relationships/image" Target="../media/image54.png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9.png"/><Relationship Id="rId3" Type="http://schemas.openxmlformats.org/officeDocument/2006/relationships/image" Target="../media/image46.png"/><Relationship Id="rId7" Type="http://schemas.openxmlformats.org/officeDocument/2006/relationships/image" Target="../media/image58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7.png"/><Relationship Id="rId5" Type="http://schemas.openxmlformats.org/officeDocument/2006/relationships/image" Target="../media/image56.jpeg"/><Relationship Id="rId4" Type="http://schemas.openxmlformats.org/officeDocument/2006/relationships/image" Target="../media/image55.png"/></Relationships>
</file>

<file path=ppt/slides/_rels/slide6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9.png"/><Relationship Id="rId3" Type="http://schemas.openxmlformats.org/officeDocument/2006/relationships/image" Target="../media/image46.png"/><Relationship Id="rId7" Type="http://schemas.openxmlformats.org/officeDocument/2006/relationships/image" Target="../media/image58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7.png"/><Relationship Id="rId5" Type="http://schemas.openxmlformats.org/officeDocument/2006/relationships/image" Target="../media/image56.jpeg"/><Relationship Id="rId4" Type="http://schemas.openxmlformats.org/officeDocument/2006/relationships/image" Target="../media/image55.png"/></Relationships>
</file>

<file path=ppt/slides/_rels/slide6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8.png"/><Relationship Id="rId3" Type="http://schemas.openxmlformats.org/officeDocument/2006/relationships/image" Target="../media/image45.png"/><Relationship Id="rId7" Type="http://schemas.openxmlformats.org/officeDocument/2006/relationships/image" Target="../media/image57.png"/><Relationship Id="rId2" Type="http://schemas.openxmlformats.org/officeDocument/2006/relationships/image" Target="../media/image60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6.jpeg"/><Relationship Id="rId5" Type="http://schemas.openxmlformats.org/officeDocument/2006/relationships/image" Target="../media/image55.png"/><Relationship Id="rId4" Type="http://schemas.openxmlformats.org/officeDocument/2006/relationships/image" Target="../media/image46.png"/><Relationship Id="rId9" Type="http://schemas.openxmlformats.org/officeDocument/2006/relationships/image" Target="../media/image59.png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YVAVugfnW6Y" TargetMode="External"/><Relationship Id="rId2" Type="http://schemas.openxmlformats.org/officeDocument/2006/relationships/image" Target="../media/image61.jpeg"/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7" Type="http://schemas.openxmlformats.org/officeDocument/2006/relationships/image" Target="../media/image66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5.png"/><Relationship Id="rId5" Type="http://schemas.openxmlformats.org/officeDocument/2006/relationships/image" Target="../media/image64.png"/><Relationship Id="rId4" Type="http://schemas.openxmlformats.org/officeDocument/2006/relationships/image" Target="../media/image63.png"/></Relationships>
</file>

<file path=ppt/slides/_rels/slide6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2.png"/><Relationship Id="rId3" Type="http://schemas.openxmlformats.org/officeDocument/2006/relationships/image" Target="../media/image62.png"/><Relationship Id="rId7" Type="http://schemas.openxmlformats.org/officeDocument/2006/relationships/image" Target="../media/image71.jpeg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0.png"/><Relationship Id="rId11" Type="http://schemas.openxmlformats.org/officeDocument/2006/relationships/image" Target="../media/image59.png"/><Relationship Id="rId5" Type="http://schemas.openxmlformats.org/officeDocument/2006/relationships/image" Target="../media/image69.png"/><Relationship Id="rId10" Type="http://schemas.openxmlformats.org/officeDocument/2006/relationships/image" Target="../media/image74.png"/><Relationship Id="rId4" Type="http://schemas.openxmlformats.org/officeDocument/2006/relationships/image" Target="../media/image68.png"/><Relationship Id="rId9" Type="http://schemas.openxmlformats.org/officeDocument/2006/relationships/image" Target="../media/image73.png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8.png"/><Relationship Id="rId4" Type="http://schemas.openxmlformats.org/officeDocument/2006/relationships/image" Target="../media/image77.jpeg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7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2.gif"/><Relationship Id="rId5" Type="http://schemas.openxmlformats.org/officeDocument/2006/relationships/image" Target="../media/image81.png"/><Relationship Id="rId4" Type="http://schemas.openxmlformats.org/officeDocument/2006/relationships/image" Target="../media/image62.png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2.png"/><Relationship Id="rId4" Type="http://schemas.openxmlformats.org/officeDocument/2006/relationships/image" Target="../media/image84.png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png"/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6.png"/><Relationship Id="rId5" Type="http://schemas.openxmlformats.org/officeDocument/2006/relationships/image" Target="../media/image62.png"/><Relationship Id="rId4" Type="http://schemas.openxmlformats.org/officeDocument/2006/relationships/image" Target="../media/image84.png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8.png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png"/><Relationship Id="rId7" Type="http://schemas.openxmlformats.org/officeDocument/2006/relationships/image" Target="../media/image88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7.png"/><Relationship Id="rId5" Type="http://schemas.openxmlformats.org/officeDocument/2006/relationships/image" Target="../media/image86.png"/><Relationship Id="rId4" Type="http://schemas.openxmlformats.org/officeDocument/2006/relationships/image" Target="../media/image83.png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7.xml"/></Relationships>
</file>

<file path=ppt/slides/_rels/slide7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.bin"/><Relationship Id="rId3" Type="http://schemas.openxmlformats.org/officeDocument/2006/relationships/image" Target="../media/image89.png"/><Relationship Id="rId7" Type="http://schemas.openxmlformats.org/officeDocument/2006/relationships/image" Target="../media/image92.pn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91.png"/><Relationship Id="rId5" Type="http://schemas.openxmlformats.org/officeDocument/2006/relationships/image" Target="../media/image85.png"/><Relationship Id="rId4" Type="http://schemas.openxmlformats.org/officeDocument/2006/relationships/image" Target="../media/image62.png"/><Relationship Id="rId9" Type="http://schemas.openxmlformats.org/officeDocument/2006/relationships/image" Target="../media/image90.wmf"/></Relationships>
</file>

<file path=ppt/slides/_rels/slide78.xml.rels><?xml version="1.0" encoding="UTF-8" standalone="yes"?>
<Relationships xmlns="http://schemas.openxmlformats.org/package/2006/relationships"><Relationship Id="rId8" Type="http://schemas.openxmlformats.org/officeDocument/2006/relationships/image" Target="../media/image99.jpeg"/><Relationship Id="rId13" Type="http://schemas.openxmlformats.org/officeDocument/2006/relationships/image" Target="../media/image104.png"/><Relationship Id="rId3" Type="http://schemas.openxmlformats.org/officeDocument/2006/relationships/image" Target="../media/image94.png"/><Relationship Id="rId7" Type="http://schemas.openxmlformats.org/officeDocument/2006/relationships/image" Target="../media/image98.png"/><Relationship Id="rId12" Type="http://schemas.openxmlformats.org/officeDocument/2006/relationships/image" Target="../media/image103.png"/><Relationship Id="rId17" Type="http://schemas.openxmlformats.org/officeDocument/2006/relationships/image" Target="../media/image62.png"/><Relationship Id="rId2" Type="http://schemas.openxmlformats.org/officeDocument/2006/relationships/image" Target="../media/image93.png"/><Relationship Id="rId16" Type="http://schemas.openxmlformats.org/officeDocument/2006/relationships/image" Target="../media/image10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7.png"/><Relationship Id="rId11" Type="http://schemas.openxmlformats.org/officeDocument/2006/relationships/image" Target="../media/image102.png"/><Relationship Id="rId5" Type="http://schemas.openxmlformats.org/officeDocument/2006/relationships/image" Target="../media/image96.jpeg"/><Relationship Id="rId15" Type="http://schemas.openxmlformats.org/officeDocument/2006/relationships/image" Target="../media/image106.png"/><Relationship Id="rId10" Type="http://schemas.openxmlformats.org/officeDocument/2006/relationships/image" Target="../media/image101.jpeg"/><Relationship Id="rId4" Type="http://schemas.openxmlformats.org/officeDocument/2006/relationships/image" Target="../media/image95.jpeg"/><Relationship Id="rId9" Type="http://schemas.openxmlformats.org/officeDocument/2006/relationships/image" Target="../media/image100.png"/><Relationship Id="rId14" Type="http://schemas.openxmlformats.org/officeDocument/2006/relationships/image" Target="../media/image105.png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8.jpeg"/><Relationship Id="rId1" Type="http://schemas.openxmlformats.org/officeDocument/2006/relationships/slideLayout" Target="../slideLayouts/slideLayout7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7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9.png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6.png"/><Relationship Id="rId13" Type="http://schemas.openxmlformats.org/officeDocument/2006/relationships/image" Target="../media/image65.png"/><Relationship Id="rId18" Type="http://schemas.openxmlformats.org/officeDocument/2006/relationships/image" Target="../media/image70.png"/><Relationship Id="rId3" Type="http://schemas.openxmlformats.org/officeDocument/2006/relationships/image" Target="../media/image111.png"/><Relationship Id="rId21" Type="http://schemas.openxmlformats.org/officeDocument/2006/relationships/image" Target="../media/image73.png"/><Relationship Id="rId7" Type="http://schemas.openxmlformats.org/officeDocument/2006/relationships/image" Target="../media/image115.jpeg"/><Relationship Id="rId12" Type="http://schemas.openxmlformats.org/officeDocument/2006/relationships/image" Target="../media/image63.png"/><Relationship Id="rId17" Type="http://schemas.openxmlformats.org/officeDocument/2006/relationships/image" Target="../media/image69.png"/><Relationship Id="rId2" Type="http://schemas.openxmlformats.org/officeDocument/2006/relationships/image" Target="../media/image67.png"/><Relationship Id="rId16" Type="http://schemas.openxmlformats.org/officeDocument/2006/relationships/image" Target="../media/image68.png"/><Relationship Id="rId20" Type="http://schemas.openxmlformats.org/officeDocument/2006/relationships/image" Target="../media/image7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4.png"/><Relationship Id="rId11" Type="http://schemas.openxmlformats.org/officeDocument/2006/relationships/image" Target="../media/image62.png"/><Relationship Id="rId5" Type="http://schemas.openxmlformats.org/officeDocument/2006/relationships/image" Target="../media/image113.jpeg"/><Relationship Id="rId15" Type="http://schemas.openxmlformats.org/officeDocument/2006/relationships/image" Target="../media/image119.png"/><Relationship Id="rId10" Type="http://schemas.openxmlformats.org/officeDocument/2006/relationships/image" Target="../media/image118.png"/><Relationship Id="rId19" Type="http://schemas.openxmlformats.org/officeDocument/2006/relationships/image" Target="../media/image71.jpeg"/><Relationship Id="rId4" Type="http://schemas.openxmlformats.org/officeDocument/2006/relationships/image" Target="../media/image112.jpeg"/><Relationship Id="rId9" Type="http://schemas.openxmlformats.org/officeDocument/2006/relationships/image" Target="../media/image117.png"/><Relationship Id="rId14" Type="http://schemas.openxmlformats.org/officeDocument/2006/relationships/image" Target="../media/image66.png"/><Relationship Id="rId22" Type="http://schemas.openxmlformats.org/officeDocument/2006/relationships/image" Target="../media/image74.png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2.png"/><Relationship Id="rId2" Type="http://schemas.openxmlformats.org/officeDocument/2006/relationships/image" Target="../media/image12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3.png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4.png"/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5.png"/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126.png"/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7.jpg"/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8.jpg"/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9.jp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3.png"/><Relationship Id="rId4" Type="http://schemas.openxmlformats.org/officeDocument/2006/relationships/image" Target="../media/image130.png"/></Relationships>
</file>

<file path=ppt/slides/_rels/slide10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1.jpg"/><Relationship Id="rId1" Type="http://schemas.openxmlformats.org/officeDocument/2006/relationships/slideLayout" Target="../slideLayouts/slideLayout2.xml"/></Relationships>
</file>

<file path=ppt/slides/_rels/slide10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2.jpg"/><Relationship Id="rId1" Type="http://schemas.openxmlformats.org/officeDocument/2006/relationships/slideLayout" Target="../slideLayouts/slideLayout2.xml"/></Relationships>
</file>

<file path=ppt/slides/_rels/slide10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4.png"/><Relationship Id="rId2" Type="http://schemas.openxmlformats.org/officeDocument/2006/relationships/image" Target="../media/image133.png"/><Relationship Id="rId1" Type="http://schemas.openxmlformats.org/officeDocument/2006/relationships/slideLayout" Target="../slideLayouts/slideLayout2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5.jpeg"/><Relationship Id="rId1" Type="http://schemas.openxmlformats.org/officeDocument/2006/relationships/slideLayout" Target="../slideLayouts/slideLayout2.xml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.bin"/><Relationship Id="rId3" Type="http://schemas.openxmlformats.org/officeDocument/2006/relationships/image" Target="../media/image137.png"/><Relationship Id="rId7" Type="http://schemas.openxmlformats.org/officeDocument/2006/relationships/image" Target="../media/image141.jpe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140.jpeg"/><Relationship Id="rId5" Type="http://schemas.openxmlformats.org/officeDocument/2006/relationships/image" Target="../media/image139.jpeg"/><Relationship Id="rId4" Type="http://schemas.openxmlformats.org/officeDocument/2006/relationships/image" Target="../media/image138.png"/><Relationship Id="rId9" Type="http://schemas.openxmlformats.org/officeDocument/2006/relationships/image" Target="../media/image136.wmf"/></Relationships>
</file>

<file path=ppt/slides/_rels/slide1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2.png"/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.png"/><Relationship Id="rId4" Type="http://schemas.openxmlformats.org/officeDocument/2006/relationships/image" Target="../media/image28.jpeg"/></Relationships>
</file>

<file path=ppt/slides/_rels/slide1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3.png"/><Relationship Id="rId1" Type="http://schemas.openxmlformats.org/officeDocument/2006/relationships/slideLayout" Target="../slideLayouts/slideLayout2.xml"/></Relationships>
</file>

<file path=ppt/slides/_rels/slide1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7" Type="http://schemas.openxmlformats.org/officeDocument/2006/relationships/image" Target="../media/image146.png"/><Relationship Id="rId2" Type="http://schemas.openxmlformats.org/officeDocument/2006/relationships/image" Target="../media/image1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5.png"/><Relationship Id="rId5" Type="http://schemas.openxmlformats.org/officeDocument/2006/relationships/image" Target="../media/image144.png"/><Relationship Id="rId4" Type="http://schemas.openxmlformats.org/officeDocument/2006/relationships/image" Target="../media/image64.png"/></Relationships>
</file>

<file path=ppt/slides/_rels/slide1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147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9.png"/><Relationship Id="rId5" Type="http://schemas.openxmlformats.org/officeDocument/2006/relationships/image" Target="../media/image148.png"/><Relationship Id="rId4" Type="http://schemas.openxmlformats.org/officeDocument/2006/relationships/image" Target="../media/image85.png"/></Relationships>
</file>

<file path=ppt/slides/_rels/slide1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7CD9B1-DD4F-3722-3072-6F4B0930C2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00418" y="636730"/>
            <a:ext cx="11191164" cy="3548418"/>
          </a:xfrm>
        </p:spPr>
        <p:txBody>
          <a:bodyPr>
            <a:normAutofit/>
          </a:bodyPr>
          <a:lstStyle/>
          <a:p>
            <a:r>
              <a:rPr lang="fr-FR" dirty="0"/>
              <a:t>Introduction to Big </a:t>
            </a:r>
            <a:r>
              <a:rPr lang="fr-FR" dirty="0" err="1"/>
              <a:t>Datalake</a:t>
            </a:r>
            <a:r>
              <a:rPr lang="fr-FR" dirty="0"/>
              <a:t> Storage </a:t>
            </a:r>
            <a:br>
              <a:rPr lang="fr-FR" dirty="0"/>
            </a:br>
            <a:r>
              <a:rPr lang="fr-FR" dirty="0"/>
              <a:t>&lt;-&gt; Big Cluster </a:t>
            </a:r>
            <a:r>
              <a:rPr lang="fr-FR" dirty="0" err="1"/>
              <a:t>Compute</a:t>
            </a:r>
            <a:r>
              <a:rPr lang="fr-FR" dirty="0"/>
              <a:t> </a:t>
            </a:r>
            <a:br>
              <a:rPr lang="fr-FR" dirty="0"/>
            </a:br>
            <a:br>
              <a:rPr lang="fr-FR" dirty="0"/>
            </a:br>
            <a:r>
              <a:rPr lang="fr-FR" dirty="0" err="1"/>
              <a:t>Sample</a:t>
            </a:r>
            <a:r>
              <a:rPr lang="fr-FR" dirty="0"/>
              <a:t> Usages in </a:t>
            </a:r>
            <a:r>
              <a:rPr lang="fr-FR" dirty="0" err="1"/>
              <a:t>Companies</a:t>
            </a:r>
            <a:endParaRPr lang="fr-FR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1A314BD-CF1E-D50A-B37A-91C162D0BF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5008087"/>
            <a:ext cx="9144000" cy="728521"/>
          </a:xfrm>
        </p:spPr>
        <p:txBody>
          <a:bodyPr>
            <a:noAutofit/>
          </a:bodyPr>
          <a:lstStyle/>
          <a:p>
            <a:r>
              <a:rPr lang="fr-FR" sz="1600" dirty="0"/>
              <a:t>arnaud.nauwynck@gmail.com</a:t>
            </a:r>
          </a:p>
          <a:p>
            <a:r>
              <a:rPr lang="fr-FR" sz="1600" dirty="0"/>
              <a:t>Course 2026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812B0F2-E1F9-15EC-2D04-10CB50C05F8D}"/>
              </a:ext>
            </a:extLst>
          </p:cNvPr>
          <p:cNvSpPr txBox="1"/>
          <p:nvPr/>
        </p:nvSpPr>
        <p:spPr>
          <a:xfrm>
            <a:off x="8282976" y="5076415"/>
            <a:ext cx="30450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@Copyright All </a:t>
            </a:r>
            <a:r>
              <a:rPr lang="fr-FR" dirty="0" err="1"/>
              <a:t>rights</a:t>
            </a:r>
            <a:r>
              <a:rPr lang="fr-FR" dirty="0"/>
              <a:t> </a:t>
            </a:r>
            <a:r>
              <a:rPr lang="fr-FR" dirty="0" err="1"/>
              <a:t>reserved</a:t>
            </a:r>
            <a:endParaRPr lang="fr-FR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A326AB6-222F-0B55-F0E8-784C32F5F21C}"/>
              </a:ext>
            </a:extLst>
          </p:cNvPr>
          <p:cNvSpPr txBox="1"/>
          <p:nvPr/>
        </p:nvSpPr>
        <p:spPr>
          <a:xfrm>
            <a:off x="1979985" y="5836437"/>
            <a:ext cx="610571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/>
              <a:t>this</a:t>
            </a:r>
            <a:r>
              <a:rPr lang="fr-FR" dirty="0"/>
              <a:t> document: </a:t>
            </a:r>
            <a:br>
              <a:rPr lang="fr-FR" dirty="0"/>
            </a:br>
            <a:r>
              <a:rPr lang="fr-FR" dirty="0"/>
              <a:t>https://github.com/Arnaud-Nauwynck/Presentations/big-data/</a:t>
            </a:r>
            <a:br>
              <a:rPr lang="fr-FR" dirty="0"/>
            </a:br>
            <a:r>
              <a:rPr lang="fr-FR" dirty="0"/>
              <a:t> 0-Introduction-Big-Datalake-Storage-Big-cluster-Compute</a:t>
            </a:r>
          </a:p>
        </p:txBody>
      </p:sp>
    </p:spTree>
    <p:extLst>
      <p:ext uri="{BB962C8B-B14F-4D97-AF65-F5344CB8AC3E}">
        <p14:creationId xmlns:p14="http://schemas.microsoft.com/office/powerpoint/2010/main" val="17592170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9597E0-7142-AA18-02FE-3F35D90B7D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/>
              <a:t>Objectives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286BE52-6EBC-FB24-149B-1C8B20C1EDBE}"/>
              </a:ext>
            </a:extLst>
          </p:cNvPr>
          <p:cNvSpPr txBox="1"/>
          <p:nvPr/>
        </p:nvSpPr>
        <p:spPr>
          <a:xfrm>
            <a:off x="523103" y="1871086"/>
            <a:ext cx="296747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12h (3x 3h + 2 x 1h30) of </a:t>
            </a:r>
            <a:r>
              <a:rPr lang="fr-FR" dirty="0" err="1"/>
              <a:t>CMs</a:t>
            </a:r>
            <a:endParaRPr lang="fr-FR" dirty="0"/>
          </a:p>
          <a:p>
            <a:r>
              <a:rPr lang="fr-FR" dirty="0"/>
              <a:t>12 x 3h of </a:t>
            </a:r>
            <a:r>
              <a:rPr lang="fr-FR" dirty="0" err="1"/>
              <a:t>TDs</a:t>
            </a:r>
            <a:endParaRPr lang="fr-FR" dirty="0"/>
          </a:p>
          <a:p>
            <a:r>
              <a:rPr lang="fr-FR" dirty="0"/>
              <a:t>5 x 3h of TD Onlines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4DFCEE9-FB59-B0F9-E529-6A019E6F1A97}"/>
              </a:ext>
            </a:extLst>
          </p:cNvPr>
          <p:cNvSpPr txBox="1"/>
          <p:nvPr/>
        </p:nvSpPr>
        <p:spPr>
          <a:xfrm>
            <a:off x="4257523" y="2211009"/>
            <a:ext cx="6851876" cy="2677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/>
              <a:t>Objective Lesson 1 :  </a:t>
            </a:r>
            <a:r>
              <a:rPr lang="fr-FR" sz="2400" dirty="0" err="1"/>
              <a:t>Overview</a:t>
            </a:r>
            <a:r>
              <a:rPr lang="fr-FR" sz="2400" dirty="0"/>
              <a:t> </a:t>
            </a:r>
          </a:p>
          <a:p>
            <a:endParaRPr lang="fr-FR" sz="2400" dirty="0"/>
          </a:p>
          <a:p>
            <a:r>
              <a:rPr lang="fr-FR" sz="2400" dirty="0" err="1"/>
              <a:t>What</a:t>
            </a:r>
            <a:r>
              <a:rPr lang="fr-FR" sz="2400" dirty="0"/>
              <a:t> </a:t>
            </a:r>
            <a:r>
              <a:rPr lang="fr-FR" sz="2400" dirty="0" err="1"/>
              <a:t>is</a:t>
            </a:r>
            <a:r>
              <a:rPr lang="fr-FR" sz="2400" dirty="0"/>
              <a:t> </a:t>
            </a:r>
            <a:r>
              <a:rPr lang="fr-FR" sz="2400" dirty="0" err="1"/>
              <a:t>BigData</a:t>
            </a:r>
            <a:r>
              <a:rPr lang="fr-FR" sz="2400" dirty="0"/>
              <a:t> ?</a:t>
            </a:r>
          </a:p>
          <a:p>
            <a:r>
              <a:rPr lang="fr-FR" sz="2400" dirty="0" err="1"/>
              <a:t>What</a:t>
            </a:r>
            <a:r>
              <a:rPr lang="fr-FR" sz="2400" dirty="0"/>
              <a:t> </a:t>
            </a:r>
            <a:r>
              <a:rPr lang="fr-FR" sz="2400" dirty="0" err="1"/>
              <a:t>is</a:t>
            </a:r>
            <a:r>
              <a:rPr lang="fr-FR" sz="2400" dirty="0"/>
              <a:t> Spark ?</a:t>
            </a:r>
          </a:p>
          <a:p>
            <a:r>
              <a:rPr lang="fr-FR" sz="2400" dirty="0" err="1"/>
              <a:t>What</a:t>
            </a:r>
            <a:r>
              <a:rPr lang="fr-FR" sz="2400" dirty="0"/>
              <a:t> </a:t>
            </a:r>
            <a:r>
              <a:rPr lang="fr-FR" sz="2400" dirty="0" err="1"/>
              <a:t>is</a:t>
            </a:r>
            <a:r>
              <a:rPr lang="fr-FR" sz="2400" dirty="0"/>
              <a:t> Data </a:t>
            </a:r>
            <a:r>
              <a:rPr lang="fr-FR" sz="2400" dirty="0" err="1"/>
              <a:t>processing</a:t>
            </a:r>
            <a:r>
              <a:rPr lang="fr-FR" sz="2400" dirty="0"/>
              <a:t> ?</a:t>
            </a:r>
          </a:p>
          <a:p>
            <a:r>
              <a:rPr lang="fr-FR" sz="2400" dirty="0"/>
              <a:t>   … </a:t>
            </a:r>
            <a:r>
              <a:rPr lang="fr-FR" sz="2400" dirty="0" err="1"/>
              <a:t>concrete</a:t>
            </a:r>
            <a:r>
              <a:rPr lang="fr-FR" sz="2400" dirty="0"/>
              <a:t> </a:t>
            </a:r>
            <a:r>
              <a:rPr lang="fr-FR" sz="2400" dirty="0" err="1"/>
              <a:t>examples</a:t>
            </a:r>
            <a:r>
              <a:rPr lang="fr-FR" sz="2400" dirty="0"/>
              <a:t> </a:t>
            </a:r>
            <a:r>
              <a:rPr lang="fr-FR" sz="2400" dirty="0" err="1"/>
              <a:t>from</a:t>
            </a:r>
            <a:r>
              <a:rPr lang="fr-FR" sz="2400" dirty="0"/>
              <a:t> </a:t>
            </a:r>
            <a:r>
              <a:rPr lang="fr-FR" sz="2400" dirty="0" err="1"/>
              <a:t>experience</a:t>
            </a:r>
            <a:r>
              <a:rPr lang="fr-FR" sz="2400" dirty="0"/>
              <a:t> in a </a:t>
            </a:r>
            <a:r>
              <a:rPr lang="fr-FR" sz="2400" dirty="0" err="1"/>
              <a:t>company</a:t>
            </a:r>
            <a:endParaRPr lang="fr-FR" sz="2400" dirty="0"/>
          </a:p>
          <a:p>
            <a:endParaRPr lang="fr-FR" sz="24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F6961B0-6187-8BA8-C01E-1AE91BF64425}"/>
              </a:ext>
            </a:extLst>
          </p:cNvPr>
          <p:cNvSpPr txBox="1"/>
          <p:nvPr/>
        </p:nvSpPr>
        <p:spPr>
          <a:xfrm>
            <a:off x="2193943" y="5530728"/>
            <a:ext cx="908159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/>
              <a:t>Objective </a:t>
            </a:r>
            <a:r>
              <a:rPr lang="fr-FR" sz="2400" dirty="0" err="1"/>
              <a:t>Lessons</a:t>
            </a:r>
            <a:r>
              <a:rPr lang="fr-FR" sz="2400" dirty="0"/>
              <a:t> 2,3,4 :   </a:t>
            </a:r>
            <a:r>
              <a:rPr lang="fr-FR" sz="2400" dirty="0" err="1"/>
              <a:t>Deep</a:t>
            </a:r>
            <a:r>
              <a:rPr lang="fr-FR" sz="2400" dirty="0"/>
              <a:t> Dive in </a:t>
            </a:r>
            <a:r>
              <a:rPr lang="fr-FR" sz="2400" dirty="0" err="1"/>
              <a:t>BigData</a:t>
            </a:r>
            <a:r>
              <a:rPr lang="fr-FR" sz="2400" dirty="0"/>
              <a:t> </a:t>
            </a:r>
            <a:r>
              <a:rPr lang="fr-FR" sz="2400" dirty="0" err="1"/>
              <a:t>Ecosystem</a:t>
            </a:r>
            <a:r>
              <a:rPr lang="fr-FR" sz="2400" dirty="0"/>
              <a:t> + Spark</a:t>
            </a:r>
          </a:p>
          <a:p>
            <a:r>
              <a:rPr lang="fr-FR" sz="2400" dirty="0"/>
              <a:t>    </a:t>
            </a:r>
          </a:p>
        </p:txBody>
      </p:sp>
    </p:spTree>
    <p:extLst>
      <p:ext uri="{BB962C8B-B14F-4D97-AF65-F5344CB8AC3E}">
        <p14:creationId xmlns:p14="http://schemas.microsoft.com/office/powerpoint/2010/main" val="7420288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9456B0-71A4-CF8C-E88D-0B1478AC2D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0001"/>
            <a:ext cx="10515600" cy="1325563"/>
          </a:xfrm>
        </p:spPr>
        <p:txBody>
          <a:bodyPr/>
          <a:lstStyle/>
          <a:p>
            <a:pPr algn="ctr"/>
            <a:r>
              <a:rPr lang="fr-FR" dirty="0" err="1"/>
              <a:t>Outline</a:t>
            </a:r>
            <a:endParaRPr lang="fr-F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D800C1-B011-5B30-76B4-9FA377D888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60914" y="1630439"/>
            <a:ext cx="8427961" cy="4862436"/>
          </a:xfrm>
        </p:spPr>
        <p:txBody>
          <a:bodyPr>
            <a:normAutofit fontScale="92500" lnSpcReduction="10000"/>
          </a:bodyPr>
          <a:lstStyle/>
          <a:p>
            <a:r>
              <a:rPr lang="fr-FR" dirty="0" err="1"/>
              <a:t>What</a:t>
            </a:r>
            <a:r>
              <a:rPr lang="fr-FR" dirty="0"/>
              <a:t> </a:t>
            </a:r>
            <a:r>
              <a:rPr lang="fr-FR" dirty="0" err="1"/>
              <a:t>is</a:t>
            </a:r>
            <a:r>
              <a:rPr lang="fr-FR" dirty="0"/>
              <a:t> </a:t>
            </a:r>
            <a:r>
              <a:rPr lang="fr-FR" dirty="0" err="1"/>
              <a:t>BigData</a:t>
            </a:r>
            <a:r>
              <a:rPr lang="fr-FR" dirty="0"/>
              <a:t> ?</a:t>
            </a:r>
          </a:p>
          <a:p>
            <a:pPr lvl="1"/>
            <a:r>
              <a:rPr lang="fr-FR" dirty="0" err="1"/>
              <a:t>Order</a:t>
            </a:r>
            <a:r>
              <a:rPr lang="fr-FR" dirty="0"/>
              <a:t> of Magnitudes for « Big »</a:t>
            </a:r>
          </a:p>
          <a:p>
            <a:pPr lvl="1"/>
            <a:r>
              <a:rPr lang="fr-FR" dirty="0"/>
              <a:t>Distributed System challenges</a:t>
            </a:r>
          </a:p>
          <a:p>
            <a:pPr lvl="1"/>
            <a:r>
              <a:rPr lang="fr-FR" dirty="0" err="1"/>
              <a:t>Scaling</a:t>
            </a:r>
            <a:r>
              <a:rPr lang="fr-FR" dirty="0"/>
              <a:t> Storage </a:t>
            </a:r>
            <a:r>
              <a:rPr lang="fr-FR" dirty="0" err="1"/>
              <a:t>Resources</a:t>
            </a:r>
            <a:r>
              <a:rPr lang="fr-FR" dirty="0"/>
              <a:t>: </a:t>
            </a:r>
            <a:r>
              <a:rPr lang="fr-FR" dirty="0" err="1"/>
              <a:t>Hdfs</a:t>
            </a:r>
            <a:endParaRPr lang="fr-FR" dirty="0"/>
          </a:p>
          <a:p>
            <a:pPr lvl="1"/>
            <a:r>
              <a:rPr lang="fr-FR" dirty="0" err="1"/>
              <a:t>Scaling</a:t>
            </a:r>
            <a:r>
              <a:rPr lang="fr-FR" dirty="0"/>
              <a:t> </a:t>
            </a:r>
            <a:r>
              <a:rPr lang="fr-FR" dirty="0" err="1"/>
              <a:t>Compute</a:t>
            </a:r>
            <a:r>
              <a:rPr lang="fr-FR" dirty="0"/>
              <a:t> </a:t>
            </a:r>
            <a:r>
              <a:rPr lang="fr-FR" dirty="0" err="1"/>
              <a:t>Resources</a:t>
            </a:r>
            <a:r>
              <a:rPr lang="fr-FR" dirty="0"/>
              <a:t>: </a:t>
            </a:r>
            <a:r>
              <a:rPr lang="fr-FR" dirty="0" err="1"/>
              <a:t>Yarn</a:t>
            </a:r>
            <a:r>
              <a:rPr lang="fr-FR" dirty="0"/>
              <a:t>, </a:t>
            </a:r>
            <a:r>
              <a:rPr lang="fr-FR" dirty="0" err="1"/>
              <a:t>Kubernetes</a:t>
            </a:r>
            <a:endParaRPr lang="fr-FR" dirty="0"/>
          </a:p>
          <a:p>
            <a:pPr lvl="1"/>
            <a:r>
              <a:rPr lang="fr-FR" dirty="0" err="1"/>
              <a:t>Using</a:t>
            </a:r>
            <a:r>
              <a:rPr lang="fr-FR" dirty="0"/>
              <a:t> Storage – </a:t>
            </a:r>
            <a:r>
              <a:rPr lang="fr-FR" dirty="0" err="1"/>
              <a:t>Compute</a:t>
            </a:r>
            <a:r>
              <a:rPr lang="fr-FR" dirty="0"/>
              <a:t> apis</a:t>
            </a:r>
          </a:p>
          <a:p>
            <a:pPr lvl="1"/>
            <a:r>
              <a:rPr lang="fr-FR" dirty="0"/>
              <a:t>Evolution of Hardware – Softwares – Hadoop </a:t>
            </a:r>
            <a:r>
              <a:rPr lang="fr-FR" dirty="0" err="1"/>
              <a:t>Ecosystem</a:t>
            </a:r>
            <a:r>
              <a:rPr lang="fr-FR" dirty="0"/>
              <a:t>, Spark</a:t>
            </a:r>
          </a:p>
          <a:p>
            <a:r>
              <a:rPr lang="fr-FR" dirty="0"/>
              <a:t>Description of a </a:t>
            </a:r>
            <a:r>
              <a:rPr lang="fr-FR" dirty="0" err="1"/>
              <a:t>Datalake</a:t>
            </a:r>
            <a:endParaRPr lang="fr-FR" dirty="0"/>
          </a:p>
          <a:p>
            <a:pPr lvl="1"/>
            <a:r>
              <a:rPr lang="fr-FR" dirty="0"/>
              <a:t>Content</a:t>
            </a:r>
          </a:p>
          <a:p>
            <a:pPr lvl="1"/>
            <a:r>
              <a:rPr lang="fr-FR" dirty="0"/>
              <a:t>Usages</a:t>
            </a:r>
          </a:p>
          <a:p>
            <a:r>
              <a:rPr lang="fr-FR" dirty="0"/>
              <a:t>Example of Data-</a:t>
            </a:r>
            <a:r>
              <a:rPr lang="fr-FR" dirty="0" err="1"/>
              <a:t>Processing</a:t>
            </a:r>
            <a:endParaRPr lang="fr-FR" dirty="0"/>
          </a:p>
          <a:p>
            <a:pPr lvl="1"/>
            <a:r>
              <a:rPr lang="fr-FR" dirty="0"/>
              <a:t>RAW to LAKE, Reports</a:t>
            </a:r>
          </a:p>
          <a:p>
            <a:r>
              <a:rPr lang="fr-FR" dirty="0"/>
              <a:t>Evolution to Cloud</a:t>
            </a:r>
          </a:p>
        </p:txBody>
      </p:sp>
    </p:spTree>
    <p:extLst>
      <p:ext uri="{BB962C8B-B14F-4D97-AF65-F5344CB8AC3E}">
        <p14:creationId xmlns:p14="http://schemas.microsoft.com/office/powerpoint/2010/main" val="34546683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9CADFC-B2AE-719F-2122-1612781E64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99943"/>
          </a:xfrm>
        </p:spPr>
        <p:txBody>
          <a:bodyPr/>
          <a:lstStyle/>
          <a:p>
            <a:pPr algn="ctr"/>
            <a:r>
              <a:rPr lang="fr-FR" dirty="0"/>
              <a:t>About Me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C48EBCF-510E-C67E-C69A-1A52E4848C20}"/>
              </a:ext>
            </a:extLst>
          </p:cNvPr>
          <p:cNvSpPr txBox="1"/>
          <p:nvPr/>
        </p:nvSpPr>
        <p:spPr>
          <a:xfrm>
            <a:off x="5135730" y="3339251"/>
            <a:ext cx="5322163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/>
              <a:t>IT </a:t>
            </a:r>
            <a:r>
              <a:rPr lang="fr-FR" sz="2400" dirty="0" err="1"/>
              <a:t>Passionate</a:t>
            </a:r>
            <a:r>
              <a:rPr lang="fr-FR" sz="2400" dirty="0"/>
              <a:t> </a:t>
            </a:r>
            <a:r>
              <a:rPr lang="fr-FR" sz="2400" dirty="0" err="1"/>
              <a:t>since</a:t>
            </a:r>
            <a:r>
              <a:rPr lang="fr-FR" sz="2400" dirty="0"/>
              <a:t> ~30 </a:t>
            </a:r>
            <a:r>
              <a:rPr lang="fr-FR" sz="2400" dirty="0" err="1"/>
              <a:t>years</a:t>
            </a:r>
            <a:endParaRPr lang="fr-FR" sz="2400" dirty="0"/>
          </a:p>
          <a:p>
            <a:endParaRPr lang="fr-FR" sz="2400" dirty="0"/>
          </a:p>
          <a:p>
            <a:r>
              <a:rPr lang="fr-FR" sz="2400" dirty="0" err="1"/>
              <a:t>Working</a:t>
            </a:r>
            <a:r>
              <a:rPr lang="fr-FR" sz="2400" dirty="0"/>
              <a:t> at Société Générale (La </a:t>
            </a:r>
            <a:r>
              <a:rPr lang="fr-FR" sz="2400" dirty="0" err="1"/>
              <a:t>Defense</a:t>
            </a:r>
            <a:r>
              <a:rPr lang="fr-FR" sz="2400" dirty="0"/>
              <a:t>)</a:t>
            </a:r>
          </a:p>
          <a:p>
            <a:r>
              <a:rPr lang="fr-FR" sz="2400" dirty="0"/>
              <a:t>In </a:t>
            </a:r>
            <a:r>
              <a:rPr lang="fr-FR" sz="2400" dirty="0" err="1"/>
              <a:t>BigData</a:t>
            </a:r>
            <a:r>
              <a:rPr lang="fr-FR" sz="2400" dirty="0"/>
              <a:t> team </a:t>
            </a:r>
            <a:r>
              <a:rPr lang="fr-FR" sz="2400" dirty="0" err="1"/>
              <a:t>since</a:t>
            </a:r>
            <a:r>
              <a:rPr lang="fr-FR" sz="2400" dirty="0"/>
              <a:t> ~14 </a:t>
            </a:r>
            <a:r>
              <a:rPr lang="fr-FR" sz="2400" dirty="0" err="1"/>
              <a:t>years</a:t>
            </a:r>
            <a:endParaRPr lang="fr-FR" sz="2400" dirty="0"/>
          </a:p>
          <a:p>
            <a:endParaRPr lang="fr-FR" sz="2400" dirty="0"/>
          </a:p>
          <a:p>
            <a:r>
              <a:rPr lang="fr-FR" sz="2400" dirty="0"/>
              <a:t>Expert Java + </a:t>
            </a:r>
            <a:r>
              <a:rPr lang="fr-FR" sz="2400" dirty="0" err="1"/>
              <a:t>BigData</a:t>
            </a:r>
            <a:r>
              <a:rPr lang="fr-FR" sz="2400" dirty="0"/>
              <a:t> + more</a:t>
            </a:r>
          </a:p>
          <a:p>
            <a:endParaRPr lang="fr-FR" sz="24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047D4A8-B637-6AFD-DEFC-3F3008C9F27A}"/>
              </a:ext>
            </a:extLst>
          </p:cNvPr>
          <p:cNvSpPr txBox="1"/>
          <p:nvPr/>
        </p:nvSpPr>
        <p:spPr>
          <a:xfrm>
            <a:off x="4832767" y="2258512"/>
            <a:ext cx="472735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>
                <a:hlinkClick r:id="rId2"/>
              </a:rPr>
              <a:t>arnaud.nauwynck@gmail.com</a:t>
            </a:r>
            <a:endParaRPr lang="fr-FR" sz="20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26542B8-6CD2-CCFC-22C0-3A10EDBF2E2F}"/>
              </a:ext>
            </a:extLst>
          </p:cNvPr>
          <p:cNvSpPr txBox="1"/>
          <p:nvPr/>
        </p:nvSpPr>
        <p:spPr>
          <a:xfrm>
            <a:off x="315157" y="4424252"/>
            <a:ext cx="428791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>
                <a:hlinkClick r:id="rId3"/>
              </a:rPr>
              <a:t>https://github.com/Arnaud-Nauwynck</a:t>
            </a:r>
            <a:endParaRPr lang="fr-FR" sz="20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7A00664D-D7EB-5AD5-1587-309E3C991B1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8331" y="1176700"/>
            <a:ext cx="3302334" cy="248363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A2061E17-4205-187F-755B-5725B8CE63A9}"/>
              </a:ext>
            </a:extLst>
          </p:cNvPr>
          <p:cNvSpPr txBox="1"/>
          <p:nvPr/>
        </p:nvSpPr>
        <p:spPr>
          <a:xfrm>
            <a:off x="4114800" y="1810590"/>
            <a:ext cx="38089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NOT </a:t>
            </a:r>
            <a:r>
              <a:rPr lang="fr-FR" dirty="0" err="1"/>
              <a:t>using</a:t>
            </a:r>
            <a:r>
              <a:rPr lang="fr-FR" dirty="0"/>
              <a:t> Twitter/LinkedIn/</a:t>
            </a:r>
            <a:r>
              <a:rPr lang="fr-FR" dirty="0" err="1"/>
              <a:t>FaceBook</a:t>
            </a:r>
            <a:r>
              <a:rPr lang="fr-FR" dirty="0"/>
              <a:t>/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2308253-E8ED-7912-2F13-8E48A4391023}"/>
              </a:ext>
            </a:extLst>
          </p:cNvPr>
          <p:cNvSpPr txBox="1"/>
          <p:nvPr/>
        </p:nvSpPr>
        <p:spPr>
          <a:xfrm>
            <a:off x="4216893" y="2299317"/>
            <a:ext cx="6158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/>
              <a:t>Only</a:t>
            </a:r>
            <a:endParaRPr lang="fr-FR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64A8F58-A1EB-20E9-6E2B-32876BE645D4}"/>
              </a:ext>
            </a:extLst>
          </p:cNvPr>
          <p:cNvSpPr txBox="1"/>
          <p:nvPr/>
        </p:nvSpPr>
        <p:spPr>
          <a:xfrm>
            <a:off x="315157" y="5512273"/>
            <a:ext cx="385073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dirty="0">
                <a:hlinkClick r:id="rId5"/>
              </a:rPr>
              <a:t>http://arnaud-nauwynck.github.io/</a:t>
            </a:r>
            <a:endParaRPr lang="fr-FR" sz="2000" dirty="0"/>
          </a:p>
          <a:p>
            <a:endParaRPr lang="fr-FR" sz="16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00E9891-2ABB-CE0D-C3E1-F6D4A6A0C04F}"/>
              </a:ext>
            </a:extLst>
          </p:cNvPr>
          <p:cNvSpPr txBox="1"/>
          <p:nvPr/>
        </p:nvSpPr>
        <p:spPr>
          <a:xfrm>
            <a:off x="315157" y="4057680"/>
            <a:ext cx="14047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/>
              <a:t>Github</a:t>
            </a:r>
            <a:r>
              <a:rPr lang="fr-FR" dirty="0"/>
              <a:t> repos</a:t>
            </a:r>
          </a:p>
        </p:txBody>
      </p:sp>
      <p:pic>
        <p:nvPicPr>
          <p:cNvPr id="1026" name="Picture 2" descr="Basalte">
            <a:extLst>
              <a:ext uri="{FF2B5EF4-FFF2-40B4-BE49-F238E27FC236}">
                <a16:creationId xmlns:a16="http://schemas.microsoft.com/office/drawing/2014/main" id="{021E4CCD-8D96-87EE-7E9C-E337D2CC89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90850" y="4712717"/>
            <a:ext cx="2670237" cy="17801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035994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F3E14A-F964-8CA3-E7EB-5895C2257F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3848" y="3717925"/>
            <a:ext cx="11925904" cy="2726418"/>
          </a:xfrm>
        </p:spPr>
        <p:txBody>
          <a:bodyPr>
            <a:normAutofit fontScale="90000"/>
          </a:bodyPr>
          <a:lstStyle/>
          <a:p>
            <a:pPr algn="ctr"/>
            <a:r>
              <a:rPr lang="fr-FR" dirty="0"/>
              <a:t>DISCLAIMER</a:t>
            </a:r>
            <a:br>
              <a:rPr lang="fr-FR" dirty="0"/>
            </a:br>
            <a:br>
              <a:rPr lang="fr-FR" dirty="0"/>
            </a:br>
            <a:r>
              <a:rPr lang="fr-FR" dirty="0"/>
              <a:t>I do not know </a:t>
            </a:r>
            <a:r>
              <a:rPr lang="fr-FR" dirty="0" err="1"/>
              <a:t>everything</a:t>
            </a:r>
            <a:r>
              <a:rPr lang="fr-FR" dirty="0"/>
              <a:t>. I </a:t>
            </a:r>
            <a:r>
              <a:rPr lang="fr-FR" dirty="0" err="1"/>
              <a:t>am</a:t>
            </a:r>
            <a:r>
              <a:rPr lang="fr-FR" dirty="0"/>
              <a:t> </a:t>
            </a:r>
            <a:r>
              <a:rPr lang="fr-FR" dirty="0" err="1"/>
              <a:t>biaised</a:t>
            </a:r>
            <a:r>
              <a:rPr lang="fr-FR" dirty="0"/>
              <a:t> </a:t>
            </a:r>
            <a:r>
              <a:rPr lang="fr-FR" dirty="0" err="1"/>
              <a:t>with</a:t>
            </a:r>
            <a:r>
              <a:rPr lang="fr-FR" dirty="0"/>
              <a:t> </a:t>
            </a:r>
            <a:r>
              <a:rPr lang="fr-FR" dirty="0" err="1"/>
              <a:t>what</a:t>
            </a:r>
            <a:r>
              <a:rPr lang="fr-FR" dirty="0"/>
              <a:t> I know.</a:t>
            </a:r>
            <a:br>
              <a:rPr lang="fr-FR" dirty="0"/>
            </a:br>
            <a:r>
              <a:rPr lang="fr-FR" dirty="0" err="1"/>
              <a:t>My</a:t>
            </a:r>
            <a:r>
              <a:rPr lang="fr-FR" dirty="0"/>
              <a:t> opinions do not </a:t>
            </a:r>
            <a:r>
              <a:rPr lang="fr-FR" dirty="0" err="1"/>
              <a:t>represent</a:t>
            </a:r>
            <a:r>
              <a:rPr lang="fr-FR" dirty="0"/>
              <a:t> </a:t>
            </a:r>
            <a:r>
              <a:rPr lang="fr-FR" dirty="0" err="1"/>
              <a:t>any</a:t>
            </a:r>
            <a:r>
              <a:rPr lang="fr-FR" dirty="0"/>
              <a:t> </a:t>
            </a:r>
            <a:r>
              <a:rPr lang="fr-FR" dirty="0" err="1"/>
              <a:t>company</a:t>
            </a:r>
            <a:endParaRPr lang="fr-FR" dirty="0"/>
          </a:p>
        </p:txBody>
      </p:sp>
      <p:pic>
        <p:nvPicPr>
          <p:cNvPr id="2050" name="Picture 2" descr="The Legality of Video Disclaimers | ELEVATOR">
            <a:extLst>
              <a:ext uri="{FF2B5EF4-FFF2-40B4-BE49-F238E27FC236}">
                <a16:creationId xmlns:a16="http://schemas.microsoft.com/office/drawing/2014/main" id="{DA62A5C9-BE31-728D-A5D4-B1E16CB4B1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23331" y="637875"/>
            <a:ext cx="4419146" cy="25853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944128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C7ECD2-BEBA-6439-8CEE-53D6A8034E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/>
              <a:t>About You … </a:t>
            </a:r>
            <a:br>
              <a:rPr lang="fr-FR" dirty="0"/>
            </a:br>
            <a:r>
              <a:rPr lang="fr-FR" dirty="0"/>
              <a:t>Quick Survey 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8A46E80-7A52-DDB4-A963-89AB9A812633}"/>
              </a:ext>
            </a:extLst>
          </p:cNvPr>
          <p:cNvSpPr txBox="1"/>
          <p:nvPr/>
        </p:nvSpPr>
        <p:spPr>
          <a:xfrm>
            <a:off x="3688672" y="2272684"/>
            <a:ext cx="6031651" cy="37856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fr-FR" sz="2400" dirty="0"/>
          </a:p>
          <a:p>
            <a:r>
              <a:rPr lang="fr-FR" sz="2400" dirty="0" err="1"/>
              <a:t>Raise</a:t>
            </a:r>
            <a:r>
              <a:rPr lang="fr-FR" sz="2400" dirty="0"/>
              <a:t> </a:t>
            </a:r>
            <a:r>
              <a:rPr lang="fr-FR" sz="2400" dirty="0" err="1"/>
              <a:t>your</a:t>
            </a:r>
            <a:r>
              <a:rPr lang="fr-FR" sz="2400" dirty="0"/>
              <a:t> Hands…</a:t>
            </a:r>
          </a:p>
          <a:p>
            <a:endParaRPr lang="fr-FR" sz="2400" dirty="0"/>
          </a:p>
          <a:p>
            <a:r>
              <a:rPr lang="fr-FR" sz="2400" dirty="0"/>
              <a:t>You are </a:t>
            </a:r>
            <a:r>
              <a:rPr lang="fr-FR" sz="2400" dirty="0" err="1"/>
              <a:t>developper</a:t>
            </a:r>
            <a:r>
              <a:rPr lang="fr-FR" sz="2400" dirty="0"/>
              <a:t> ?    </a:t>
            </a:r>
          </a:p>
          <a:p>
            <a:endParaRPr lang="fr-FR" sz="2400" dirty="0"/>
          </a:p>
          <a:p>
            <a:r>
              <a:rPr lang="fr-FR" sz="2400" dirty="0"/>
              <a:t>In Java ? SQL ?</a:t>
            </a:r>
          </a:p>
          <a:p>
            <a:endParaRPr lang="fr-FR" sz="2400" dirty="0"/>
          </a:p>
          <a:p>
            <a:r>
              <a:rPr lang="fr-FR" sz="2400" dirty="0"/>
              <a:t>You know Hadoop / </a:t>
            </a:r>
            <a:r>
              <a:rPr lang="fr-FR" sz="2400" dirty="0" err="1"/>
              <a:t>Hdfs</a:t>
            </a:r>
            <a:r>
              <a:rPr lang="fr-FR" sz="2400" dirty="0"/>
              <a:t> / Spark ?</a:t>
            </a:r>
          </a:p>
          <a:p>
            <a:endParaRPr lang="fr-FR" sz="2400" dirty="0"/>
          </a:p>
          <a:p>
            <a:r>
              <a:rPr lang="fr-FR" sz="2400" dirty="0"/>
              <a:t>You </a:t>
            </a:r>
            <a:r>
              <a:rPr lang="fr-FR" sz="2400" dirty="0" err="1"/>
              <a:t>want</a:t>
            </a:r>
            <a:r>
              <a:rPr lang="fr-FR" sz="2400" dirty="0"/>
              <a:t> to </a:t>
            </a:r>
            <a:r>
              <a:rPr lang="fr-FR" sz="2400" dirty="0" err="1"/>
              <a:t>be</a:t>
            </a:r>
            <a:r>
              <a:rPr lang="fr-FR" sz="2400" dirty="0"/>
              <a:t> Data </a:t>
            </a:r>
            <a:r>
              <a:rPr lang="fr-FR" sz="2400" dirty="0" err="1"/>
              <a:t>Engineer</a:t>
            </a:r>
            <a:r>
              <a:rPr lang="fr-FR" sz="2400" dirty="0"/>
              <a:t> / Data </a:t>
            </a:r>
            <a:r>
              <a:rPr lang="fr-FR" sz="2400" dirty="0" err="1"/>
              <a:t>Scientist</a:t>
            </a:r>
            <a:r>
              <a:rPr lang="fr-FR" sz="2400" dirty="0"/>
              <a:t> ?</a:t>
            </a:r>
          </a:p>
        </p:txBody>
      </p:sp>
    </p:spTree>
    <p:extLst>
      <p:ext uri="{BB962C8B-B14F-4D97-AF65-F5344CB8AC3E}">
        <p14:creationId xmlns:p14="http://schemas.microsoft.com/office/powerpoint/2010/main" val="37977991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9456B0-71A4-CF8C-E88D-0B1478AC2D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0001"/>
            <a:ext cx="10515600" cy="1325563"/>
          </a:xfrm>
        </p:spPr>
        <p:txBody>
          <a:bodyPr/>
          <a:lstStyle/>
          <a:p>
            <a:pPr algn="ctr"/>
            <a:r>
              <a:rPr lang="fr-FR" dirty="0" err="1"/>
              <a:t>Outline</a:t>
            </a:r>
            <a:endParaRPr lang="fr-FR" dirty="0"/>
          </a:p>
        </p:txBody>
      </p:sp>
      <p:sp>
        <p:nvSpPr>
          <p:cNvPr id="4" name="Arrow: Right 3">
            <a:extLst>
              <a:ext uri="{FF2B5EF4-FFF2-40B4-BE49-F238E27FC236}">
                <a16:creationId xmlns:a16="http://schemas.microsoft.com/office/drawing/2014/main" id="{DDD0192B-78FC-DA6C-C265-8EE665F30D7C}"/>
              </a:ext>
            </a:extLst>
          </p:cNvPr>
          <p:cNvSpPr/>
          <p:nvPr/>
        </p:nvSpPr>
        <p:spPr>
          <a:xfrm>
            <a:off x="2554209" y="1990170"/>
            <a:ext cx="710213" cy="39061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BE06039A-AC06-75EA-899E-C93E008959C7}"/>
              </a:ext>
            </a:extLst>
          </p:cNvPr>
          <p:cNvSpPr txBox="1">
            <a:spLocks/>
          </p:cNvSpPr>
          <p:nvPr/>
        </p:nvSpPr>
        <p:spPr>
          <a:xfrm>
            <a:off x="2960914" y="1630439"/>
            <a:ext cx="8427961" cy="4862436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 err="1"/>
              <a:t>What</a:t>
            </a:r>
            <a:r>
              <a:rPr lang="fr-FR" dirty="0"/>
              <a:t> </a:t>
            </a:r>
            <a:r>
              <a:rPr lang="fr-FR" dirty="0" err="1"/>
              <a:t>is</a:t>
            </a:r>
            <a:r>
              <a:rPr lang="fr-FR" dirty="0"/>
              <a:t> </a:t>
            </a:r>
            <a:r>
              <a:rPr lang="fr-FR" dirty="0" err="1"/>
              <a:t>BigData</a:t>
            </a:r>
            <a:r>
              <a:rPr lang="fr-FR" dirty="0"/>
              <a:t> ?</a:t>
            </a:r>
          </a:p>
          <a:p>
            <a:pPr lvl="1"/>
            <a:r>
              <a:rPr lang="fr-FR" sz="3500" b="1" dirty="0" err="1"/>
              <a:t>Order</a:t>
            </a:r>
            <a:r>
              <a:rPr lang="fr-FR" sz="3500" b="1" dirty="0"/>
              <a:t> of Magnitudes for « Big »</a:t>
            </a:r>
          </a:p>
          <a:p>
            <a:pPr lvl="1"/>
            <a:r>
              <a:rPr lang="fr-FR" dirty="0"/>
              <a:t>Distributed System challenges</a:t>
            </a:r>
          </a:p>
          <a:p>
            <a:pPr lvl="1"/>
            <a:r>
              <a:rPr lang="fr-FR" dirty="0" err="1"/>
              <a:t>Scaling</a:t>
            </a:r>
            <a:r>
              <a:rPr lang="fr-FR" dirty="0"/>
              <a:t> Storage </a:t>
            </a:r>
            <a:r>
              <a:rPr lang="fr-FR" dirty="0" err="1"/>
              <a:t>Resources</a:t>
            </a:r>
            <a:r>
              <a:rPr lang="fr-FR" dirty="0"/>
              <a:t>: </a:t>
            </a:r>
            <a:r>
              <a:rPr lang="fr-FR" dirty="0" err="1"/>
              <a:t>Hdfs</a:t>
            </a:r>
            <a:endParaRPr lang="fr-FR" dirty="0"/>
          </a:p>
          <a:p>
            <a:pPr lvl="1"/>
            <a:r>
              <a:rPr lang="fr-FR" dirty="0" err="1"/>
              <a:t>Scaling</a:t>
            </a:r>
            <a:r>
              <a:rPr lang="fr-FR" dirty="0"/>
              <a:t> </a:t>
            </a:r>
            <a:r>
              <a:rPr lang="fr-FR" dirty="0" err="1"/>
              <a:t>Compute</a:t>
            </a:r>
            <a:r>
              <a:rPr lang="fr-FR" dirty="0"/>
              <a:t> </a:t>
            </a:r>
            <a:r>
              <a:rPr lang="fr-FR" dirty="0" err="1"/>
              <a:t>Resources</a:t>
            </a:r>
            <a:r>
              <a:rPr lang="fr-FR" dirty="0"/>
              <a:t>: </a:t>
            </a:r>
            <a:r>
              <a:rPr lang="fr-FR" dirty="0" err="1"/>
              <a:t>Yarn</a:t>
            </a:r>
            <a:r>
              <a:rPr lang="fr-FR" dirty="0"/>
              <a:t>, </a:t>
            </a:r>
            <a:r>
              <a:rPr lang="fr-FR" dirty="0" err="1"/>
              <a:t>Kubernetes</a:t>
            </a:r>
            <a:endParaRPr lang="fr-FR" dirty="0"/>
          </a:p>
          <a:p>
            <a:pPr lvl="1"/>
            <a:r>
              <a:rPr lang="fr-FR" dirty="0" err="1"/>
              <a:t>Using</a:t>
            </a:r>
            <a:r>
              <a:rPr lang="fr-FR" dirty="0"/>
              <a:t> Storage – </a:t>
            </a:r>
            <a:r>
              <a:rPr lang="fr-FR" dirty="0" err="1"/>
              <a:t>Compute</a:t>
            </a:r>
            <a:r>
              <a:rPr lang="fr-FR" dirty="0"/>
              <a:t> apis</a:t>
            </a:r>
          </a:p>
          <a:p>
            <a:pPr lvl="1"/>
            <a:r>
              <a:rPr lang="fr-FR" dirty="0"/>
              <a:t>Evolution of Hardware – Softwares – Hadoop </a:t>
            </a:r>
            <a:r>
              <a:rPr lang="fr-FR" dirty="0" err="1"/>
              <a:t>Ecosystem</a:t>
            </a:r>
            <a:r>
              <a:rPr lang="fr-FR" dirty="0"/>
              <a:t>, Spark</a:t>
            </a:r>
          </a:p>
          <a:p>
            <a:r>
              <a:rPr lang="fr-FR" dirty="0"/>
              <a:t>Description of a </a:t>
            </a:r>
            <a:r>
              <a:rPr lang="fr-FR" dirty="0" err="1"/>
              <a:t>Datalake</a:t>
            </a:r>
            <a:endParaRPr lang="fr-FR" dirty="0"/>
          </a:p>
          <a:p>
            <a:pPr lvl="1"/>
            <a:r>
              <a:rPr lang="fr-FR" dirty="0"/>
              <a:t>Content</a:t>
            </a:r>
          </a:p>
          <a:p>
            <a:pPr lvl="1"/>
            <a:r>
              <a:rPr lang="fr-FR" dirty="0"/>
              <a:t>Usages</a:t>
            </a:r>
          </a:p>
          <a:p>
            <a:r>
              <a:rPr lang="fr-FR" dirty="0"/>
              <a:t>Example of Data-</a:t>
            </a:r>
            <a:r>
              <a:rPr lang="fr-FR" dirty="0" err="1"/>
              <a:t>Processing</a:t>
            </a:r>
            <a:endParaRPr lang="fr-FR" dirty="0"/>
          </a:p>
          <a:p>
            <a:pPr lvl="1"/>
            <a:r>
              <a:rPr lang="fr-FR" dirty="0"/>
              <a:t>RAW to LAKE, Reports</a:t>
            </a:r>
          </a:p>
          <a:p>
            <a:r>
              <a:rPr lang="fr-FR" dirty="0"/>
              <a:t>Evolution to Cloud</a:t>
            </a:r>
          </a:p>
        </p:txBody>
      </p:sp>
    </p:spTree>
    <p:extLst>
      <p:ext uri="{BB962C8B-B14F-4D97-AF65-F5344CB8AC3E}">
        <p14:creationId xmlns:p14="http://schemas.microsoft.com/office/powerpoint/2010/main" val="3551592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46" name="Picture 14" descr="Hadoop | Smile.eu">
            <a:extLst>
              <a:ext uri="{FF2B5EF4-FFF2-40B4-BE49-F238E27FC236}">
                <a16:creationId xmlns:a16="http://schemas.microsoft.com/office/drawing/2014/main" id="{5B47BFD2-DBF4-12FE-44EA-F946E54D76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03639" y="4548547"/>
            <a:ext cx="1236920" cy="12314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448" name="Picture 16" descr="Apache Spark — Wikipédia">
            <a:extLst>
              <a:ext uri="{FF2B5EF4-FFF2-40B4-BE49-F238E27FC236}">
                <a16:creationId xmlns:a16="http://schemas.microsoft.com/office/drawing/2014/main" id="{70628EB4-C236-4D23-8428-5EAE223EE4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06814" y="5603567"/>
            <a:ext cx="1836453" cy="9535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F297652-3225-0ECC-EA6A-66334F298A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9111"/>
            <a:ext cx="10515600" cy="727679"/>
          </a:xfrm>
        </p:spPr>
        <p:txBody>
          <a:bodyPr/>
          <a:lstStyle/>
          <a:p>
            <a:pPr algn="ctr"/>
            <a:r>
              <a:rPr lang="fr-FR" dirty="0"/>
              <a:t>How Big ? =&gt; </a:t>
            </a:r>
            <a:r>
              <a:rPr lang="fr-FR" dirty="0" err="1"/>
              <a:t>Then</a:t>
            </a:r>
            <a:r>
              <a:rPr lang="fr-FR" dirty="0"/>
              <a:t> </a:t>
            </a:r>
            <a:r>
              <a:rPr lang="fr-FR" dirty="0" err="1"/>
              <a:t>Which</a:t>
            </a:r>
            <a:r>
              <a:rPr lang="fr-FR" dirty="0"/>
              <a:t> Tool</a:t>
            </a:r>
          </a:p>
        </p:txBody>
      </p:sp>
      <p:sp>
        <p:nvSpPr>
          <p:cNvPr id="4" name="Arrow: Left-Right 3">
            <a:extLst>
              <a:ext uri="{FF2B5EF4-FFF2-40B4-BE49-F238E27FC236}">
                <a16:creationId xmlns:a16="http://schemas.microsoft.com/office/drawing/2014/main" id="{3DB51950-D928-1B60-E054-63A40004BB72}"/>
              </a:ext>
            </a:extLst>
          </p:cNvPr>
          <p:cNvSpPr/>
          <p:nvPr/>
        </p:nvSpPr>
        <p:spPr>
          <a:xfrm>
            <a:off x="721165" y="2525231"/>
            <a:ext cx="1469067" cy="362891"/>
          </a:xfrm>
          <a:prstGeom prst="left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32B305F-1254-DF06-1D10-E9F4AF8F545E}"/>
              </a:ext>
            </a:extLst>
          </p:cNvPr>
          <p:cNvSpPr txBox="1"/>
          <p:nvPr/>
        </p:nvSpPr>
        <p:spPr>
          <a:xfrm>
            <a:off x="217579" y="1209021"/>
            <a:ext cx="176708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/>
              <a:t>1 ..   1 000</a:t>
            </a:r>
          </a:p>
        </p:txBody>
      </p:sp>
      <p:pic>
        <p:nvPicPr>
          <p:cNvPr id="18434" name="Picture 2" descr="Notepad++ - Wikipedia">
            <a:extLst>
              <a:ext uri="{FF2B5EF4-FFF2-40B4-BE49-F238E27FC236}">
                <a16:creationId xmlns:a16="http://schemas.microsoft.com/office/drawing/2014/main" id="{7B1214F0-4F1F-606B-5A51-C9C7144CEB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4170" y="1150364"/>
            <a:ext cx="1147763" cy="995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25298A7-0D5E-CA1C-4236-F64E509E3428}"/>
              </a:ext>
            </a:extLst>
          </p:cNvPr>
          <p:cNvSpPr txBox="1"/>
          <p:nvPr/>
        </p:nvSpPr>
        <p:spPr>
          <a:xfrm>
            <a:off x="1187069" y="2156664"/>
            <a:ext cx="107420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/>
              <a:t>50 000</a:t>
            </a:r>
          </a:p>
        </p:txBody>
      </p:sp>
      <p:sp>
        <p:nvSpPr>
          <p:cNvPr id="8" name="Arrow: Left-Right 7">
            <a:extLst>
              <a:ext uri="{FF2B5EF4-FFF2-40B4-BE49-F238E27FC236}">
                <a16:creationId xmlns:a16="http://schemas.microsoft.com/office/drawing/2014/main" id="{5065BF8C-818F-5E9F-1EE1-F05D4B442E48}"/>
              </a:ext>
            </a:extLst>
          </p:cNvPr>
          <p:cNvSpPr/>
          <p:nvPr/>
        </p:nvSpPr>
        <p:spPr>
          <a:xfrm>
            <a:off x="308343" y="1700674"/>
            <a:ext cx="1279375" cy="362891"/>
          </a:xfrm>
          <a:prstGeom prst="left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8436" name="Picture 4" descr="40 raccourcis clavier pour Excel">
            <a:extLst>
              <a:ext uri="{FF2B5EF4-FFF2-40B4-BE49-F238E27FC236}">
                <a16:creationId xmlns:a16="http://schemas.microsoft.com/office/drawing/2014/main" id="{B0769CE6-3B26-87E7-DDD6-6AF3BDCCEE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88254" y="2335843"/>
            <a:ext cx="1170281" cy="6173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Arrow: Left-Right 8">
            <a:extLst>
              <a:ext uri="{FF2B5EF4-FFF2-40B4-BE49-F238E27FC236}">
                <a16:creationId xmlns:a16="http://schemas.microsoft.com/office/drawing/2014/main" id="{C99D4AE1-1C0B-E517-2F48-561A31D1A0E9}"/>
              </a:ext>
            </a:extLst>
          </p:cNvPr>
          <p:cNvSpPr/>
          <p:nvPr/>
        </p:nvSpPr>
        <p:spPr>
          <a:xfrm>
            <a:off x="1345019" y="3501186"/>
            <a:ext cx="2413590" cy="362891"/>
          </a:xfrm>
          <a:prstGeom prst="left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C75407D-985A-D2FB-7AEB-51E5C66A3273}"/>
              </a:ext>
            </a:extLst>
          </p:cNvPr>
          <p:cNvSpPr txBox="1"/>
          <p:nvPr/>
        </p:nvSpPr>
        <p:spPr>
          <a:xfrm>
            <a:off x="2068268" y="3090909"/>
            <a:ext cx="192618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/>
              <a:t>1 Million (e6)</a:t>
            </a:r>
          </a:p>
        </p:txBody>
      </p:sp>
      <p:pic>
        <p:nvPicPr>
          <p:cNvPr id="18438" name="Picture 6" descr="pandas (software) - Wikipedia">
            <a:extLst>
              <a:ext uri="{FF2B5EF4-FFF2-40B4-BE49-F238E27FC236}">
                <a16:creationId xmlns:a16="http://schemas.microsoft.com/office/drawing/2014/main" id="{53D29B0B-8048-B33F-3D3A-2125CDAA16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87974" y="3286783"/>
            <a:ext cx="1796299" cy="7276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Arrow: Left-Right 10">
            <a:extLst>
              <a:ext uri="{FF2B5EF4-FFF2-40B4-BE49-F238E27FC236}">
                <a16:creationId xmlns:a16="http://schemas.microsoft.com/office/drawing/2014/main" id="{54FC5458-8B96-BB69-F980-4D6B503B4957}"/>
              </a:ext>
            </a:extLst>
          </p:cNvPr>
          <p:cNvSpPr/>
          <p:nvPr/>
        </p:nvSpPr>
        <p:spPr>
          <a:xfrm>
            <a:off x="2200940" y="4445443"/>
            <a:ext cx="3483333" cy="362891"/>
          </a:xfrm>
          <a:prstGeom prst="left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4E869BF-7BE0-D08A-1E6D-356A6C35CA70}"/>
              </a:ext>
            </a:extLst>
          </p:cNvPr>
          <p:cNvSpPr txBox="1"/>
          <p:nvPr/>
        </p:nvSpPr>
        <p:spPr>
          <a:xfrm>
            <a:off x="4105289" y="4031689"/>
            <a:ext cx="17962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/>
              <a:t>1 Billion(e9)</a:t>
            </a:r>
          </a:p>
        </p:txBody>
      </p:sp>
      <p:sp>
        <p:nvSpPr>
          <p:cNvPr id="13" name="Arrow: Left-Right 12">
            <a:extLst>
              <a:ext uri="{FF2B5EF4-FFF2-40B4-BE49-F238E27FC236}">
                <a16:creationId xmlns:a16="http://schemas.microsoft.com/office/drawing/2014/main" id="{D67D5FDC-02DB-FDC2-5D65-819E2A2F1C72}"/>
              </a:ext>
            </a:extLst>
          </p:cNvPr>
          <p:cNvSpPr/>
          <p:nvPr/>
        </p:nvSpPr>
        <p:spPr>
          <a:xfrm>
            <a:off x="3031362" y="5561628"/>
            <a:ext cx="7585247" cy="362891"/>
          </a:xfrm>
          <a:prstGeom prst="left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8442" name="Picture 10" descr="Expertise PostgreSQL - Prestataire expert PostgreSQL - Alfa-Safety">
            <a:extLst>
              <a:ext uri="{FF2B5EF4-FFF2-40B4-BE49-F238E27FC236}">
                <a16:creationId xmlns:a16="http://schemas.microsoft.com/office/drawing/2014/main" id="{BB1014D0-2779-BB05-4DBB-B600829A60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19314" y="4071776"/>
            <a:ext cx="983745" cy="9535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AF3B62DA-884F-3D3A-A42D-D7D03DC265D7}"/>
              </a:ext>
            </a:extLst>
          </p:cNvPr>
          <p:cNvSpPr txBox="1"/>
          <p:nvPr/>
        </p:nvSpPr>
        <p:spPr>
          <a:xfrm>
            <a:off x="8257954" y="5199167"/>
            <a:ext cx="22434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/>
              <a:t>&gt;= e9 : BIG Data</a:t>
            </a:r>
          </a:p>
        </p:txBody>
      </p:sp>
      <p:pic>
        <p:nvPicPr>
          <p:cNvPr id="18444" name="Picture 12" descr="MySQL — Wikipédia">
            <a:extLst>
              <a:ext uri="{FF2B5EF4-FFF2-40B4-BE49-F238E27FC236}">
                <a16:creationId xmlns:a16="http://schemas.microsoft.com/office/drawing/2014/main" id="{7D8C65E3-7155-81C2-67AF-9DA4A07968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12328" y="4198435"/>
            <a:ext cx="1410161" cy="7276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1C553F5E-2B96-73C3-128A-40397EAEB5D8}"/>
              </a:ext>
            </a:extLst>
          </p:cNvPr>
          <p:cNvSpPr txBox="1"/>
          <p:nvPr/>
        </p:nvSpPr>
        <p:spPr>
          <a:xfrm>
            <a:off x="2244237" y="3699464"/>
            <a:ext cx="13617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( </a:t>
            </a:r>
            <a:r>
              <a:rPr lang="fr-FR" b="1" dirty="0"/>
              <a:t>Giga</a:t>
            </a:r>
            <a:r>
              <a:rPr lang="fr-FR" dirty="0"/>
              <a:t> Bytes)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003BF78-AD6F-DB03-344E-10FDC1972C50}"/>
              </a:ext>
            </a:extLst>
          </p:cNvPr>
          <p:cNvSpPr txBox="1"/>
          <p:nvPr/>
        </p:nvSpPr>
        <p:spPr>
          <a:xfrm>
            <a:off x="4204889" y="4689969"/>
            <a:ext cx="13324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( </a:t>
            </a:r>
            <a:r>
              <a:rPr lang="fr-FR" b="1" dirty="0" err="1"/>
              <a:t>Tera</a:t>
            </a:r>
            <a:r>
              <a:rPr lang="fr-FR" dirty="0"/>
              <a:t> Bytes)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3EA1DCC-9659-0896-D25A-874D48462FCB}"/>
              </a:ext>
            </a:extLst>
          </p:cNvPr>
          <p:cNvSpPr txBox="1"/>
          <p:nvPr/>
        </p:nvSpPr>
        <p:spPr>
          <a:xfrm>
            <a:off x="8322636" y="5895672"/>
            <a:ext cx="13522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( </a:t>
            </a:r>
            <a:r>
              <a:rPr lang="fr-FR" b="1" dirty="0" err="1"/>
              <a:t>Peta</a:t>
            </a:r>
            <a:r>
              <a:rPr lang="fr-FR" dirty="0"/>
              <a:t> Bytes)</a:t>
            </a:r>
          </a:p>
        </p:txBody>
      </p:sp>
      <p:pic>
        <p:nvPicPr>
          <p:cNvPr id="18" name="Image 17">
            <a:extLst>
              <a:ext uri="{FF2B5EF4-FFF2-40B4-BE49-F238E27FC236}">
                <a16:creationId xmlns:a16="http://schemas.microsoft.com/office/drawing/2014/main" id="{785B7B99-2789-4F9E-937D-4B578346B4B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871992" y="3314850"/>
            <a:ext cx="1903985" cy="615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02244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BEE883-C1E1-3962-3D6C-F9BF51FA8A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 err="1"/>
              <a:t>Compute</a:t>
            </a:r>
            <a:r>
              <a:rPr lang="fr-FR" dirty="0"/>
              <a:t> </a:t>
            </a:r>
            <a:r>
              <a:rPr lang="fr-FR" dirty="0" err="1"/>
              <a:t>Resources</a:t>
            </a:r>
            <a:br>
              <a:rPr lang="fr-FR" dirty="0"/>
            </a:br>
            <a:r>
              <a:rPr lang="fr-FR" dirty="0"/>
              <a:t>Vertical </a:t>
            </a:r>
            <a:r>
              <a:rPr lang="fr-FR" dirty="0" err="1"/>
              <a:t>Scaling</a:t>
            </a:r>
            <a:endParaRPr lang="fr-FR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2A6A0E7-2239-085E-EE5C-7C9E2D177FBA}"/>
              </a:ext>
            </a:extLst>
          </p:cNvPr>
          <p:cNvSpPr txBox="1"/>
          <p:nvPr/>
        </p:nvSpPr>
        <p:spPr>
          <a:xfrm>
            <a:off x="2833577" y="2371061"/>
            <a:ext cx="7060394" cy="34163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 err="1"/>
              <a:t>Historically</a:t>
            </a:r>
            <a:r>
              <a:rPr lang="fr-FR" sz="2400" dirty="0"/>
              <a:t>: </a:t>
            </a:r>
            <a:br>
              <a:rPr lang="fr-FR" sz="2400" dirty="0"/>
            </a:br>
            <a:r>
              <a:rPr lang="fr-FR" sz="2400" dirty="0"/>
              <a:t>        have </a:t>
            </a:r>
            <a:r>
              <a:rPr lang="fr-FR" sz="2400" dirty="0" err="1"/>
              <a:t>Bigger</a:t>
            </a:r>
            <a:r>
              <a:rPr lang="fr-FR" sz="2400" dirty="0"/>
              <a:t> </a:t>
            </a:r>
            <a:r>
              <a:rPr lang="fr-FR" sz="2400" dirty="0" err="1"/>
              <a:t>needs</a:t>
            </a:r>
            <a:r>
              <a:rPr lang="fr-FR" sz="2400" dirty="0"/>
              <a:t> =&gt; </a:t>
            </a:r>
            <a:r>
              <a:rPr lang="fr-FR" sz="2400" dirty="0" err="1"/>
              <a:t>buy</a:t>
            </a:r>
            <a:r>
              <a:rPr lang="fr-FR" sz="2400" dirty="0"/>
              <a:t> BIGGER Server</a:t>
            </a:r>
          </a:p>
          <a:p>
            <a:endParaRPr lang="fr-FR" sz="2400" dirty="0"/>
          </a:p>
          <a:p>
            <a:r>
              <a:rPr lang="fr-FR" sz="2400" dirty="0"/>
              <a:t>Very </a:t>
            </a:r>
            <a:r>
              <a:rPr lang="fr-FR" sz="2400" dirty="0" err="1"/>
              <a:t>Frequent</a:t>
            </a:r>
            <a:r>
              <a:rPr lang="fr-FR" sz="2400" dirty="0"/>
              <a:t> in Bank OLTP </a:t>
            </a:r>
            <a:r>
              <a:rPr lang="fr-FR" sz="2400" dirty="0" err="1"/>
              <a:t>Databases</a:t>
            </a:r>
            <a:endParaRPr lang="fr-FR" sz="2400" dirty="0"/>
          </a:p>
          <a:p>
            <a:endParaRPr lang="fr-FR" sz="2400" dirty="0"/>
          </a:p>
          <a:p>
            <a:r>
              <a:rPr lang="fr-FR" sz="2400" dirty="0"/>
              <a:t>128 </a:t>
            </a:r>
            <a:r>
              <a:rPr lang="fr-FR" sz="2400" dirty="0" err="1"/>
              <a:t>cores</a:t>
            </a:r>
            <a:r>
              <a:rPr lang="fr-FR" sz="2400" dirty="0"/>
              <a:t>  x  500Go RAM +  SAN Bay of </a:t>
            </a:r>
            <a:r>
              <a:rPr lang="fr-FR" sz="2400" dirty="0" err="1"/>
              <a:t>Disks</a:t>
            </a:r>
            <a:endParaRPr lang="fr-FR" sz="2400" dirty="0"/>
          </a:p>
          <a:p>
            <a:endParaRPr lang="fr-FR" sz="2400" dirty="0"/>
          </a:p>
          <a:p>
            <a:r>
              <a:rPr lang="fr-FR" sz="2400" dirty="0"/>
              <a:t>= Millions of Euros</a:t>
            </a:r>
          </a:p>
          <a:p>
            <a:r>
              <a:rPr lang="fr-FR" sz="2400" dirty="0"/>
              <a:t>.. BUT </a:t>
            </a:r>
            <a:r>
              <a:rPr lang="fr-FR" sz="2400" dirty="0" err="1"/>
              <a:t>price</a:t>
            </a:r>
            <a:r>
              <a:rPr lang="fr-FR" sz="2400" dirty="0"/>
              <a:t> </a:t>
            </a:r>
            <a:r>
              <a:rPr lang="fr-FR" sz="2400" dirty="0" err="1"/>
              <a:t>is</a:t>
            </a:r>
            <a:r>
              <a:rPr lang="fr-FR" sz="2400" dirty="0"/>
              <a:t> </a:t>
            </a:r>
            <a:r>
              <a:rPr lang="fr-FR" sz="2400" dirty="0" err="1"/>
              <a:t>exponential</a:t>
            </a:r>
            <a:r>
              <a:rPr lang="fr-FR" sz="2400" dirty="0"/>
              <a:t> to performance, and </a:t>
            </a:r>
            <a:r>
              <a:rPr lang="fr-FR" sz="2400" dirty="0" err="1"/>
              <a:t>limited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7485778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AFEA56-9D54-3E93-D147-5E499CC003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 err="1"/>
              <a:t>BigData</a:t>
            </a:r>
            <a:r>
              <a:rPr lang="fr-FR" dirty="0"/>
              <a:t> </a:t>
            </a:r>
            <a:r>
              <a:rPr lang="fr-FR" dirty="0" err="1"/>
              <a:t>definition</a:t>
            </a:r>
            <a:endParaRPr lang="fr-FR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EDA7B99-14C4-405B-58FC-7A4FE18522D9}"/>
              </a:ext>
            </a:extLst>
          </p:cNvPr>
          <p:cNvSpPr txBox="1"/>
          <p:nvPr/>
        </p:nvSpPr>
        <p:spPr>
          <a:xfrm>
            <a:off x="3232297" y="3981891"/>
            <a:ext cx="62183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600" dirty="0"/>
              <a:t>3 V = Volume / Velocity / </a:t>
            </a:r>
            <a:r>
              <a:rPr lang="fr-FR" sz="3600" dirty="0" err="1"/>
              <a:t>Variety</a:t>
            </a:r>
            <a:endParaRPr lang="fr-FR" sz="36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6A94239-6BFD-01DD-35C5-61B06917D28E}"/>
              </a:ext>
            </a:extLst>
          </p:cNvPr>
          <p:cNvSpPr txBox="1"/>
          <p:nvPr/>
        </p:nvSpPr>
        <p:spPr>
          <a:xfrm>
            <a:off x="2488019" y="3031423"/>
            <a:ext cx="802835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dirty="0"/>
              <a:t>Data </a:t>
            </a:r>
            <a:r>
              <a:rPr lang="fr-FR" sz="2800" dirty="0" err="1"/>
              <a:t>does</a:t>
            </a:r>
            <a:r>
              <a:rPr lang="fr-FR" sz="2800" dirty="0"/>
              <a:t> not fit on 1 server … </a:t>
            </a:r>
            <a:r>
              <a:rPr lang="fr-FR" sz="2800" dirty="0" err="1"/>
              <a:t>even</a:t>
            </a:r>
            <a:r>
              <a:rPr lang="fr-FR" sz="2800" dirty="0"/>
              <a:t> </a:t>
            </a:r>
            <a:r>
              <a:rPr lang="fr-FR" sz="2800" dirty="0" err="1"/>
              <a:t>Huge</a:t>
            </a:r>
            <a:r>
              <a:rPr lang="fr-FR" sz="2800" dirty="0"/>
              <a:t>, </a:t>
            </a:r>
            <a:r>
              <a:rPr lang="fr-FR" sz="2800" dirty="0" err="1"/>
              <a:t>because</a:t>
            </a:r>
            <a:r>
              <a:rPr lang="fr-FR" sz="2800" dirty="0"/>
              <a:t> of</a:t>
            </a:r>
          </a:p>
        </p:txBody>
      </p:sp>
    </p:spTree>
    <p:extLst>
      <p:ext uri="{BB962C8B-B14F-4D97-AF65-F5344CB8AC3E}">
        <p14:creationId xmlns:p14="http://schemas.microsoft.com/office/powerpoint/2010/main" val="41870004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A9A7AE-A807-47A9-84CE-809DCE6A27BC}"/>
              </a:ext>
            </a:extLst>
          </p:cNvPr>
          <p:cNvSpPr txBox="1">
            <a:spLocks/>
          </p:cNvSpPr>
          <p:nvPr/>
        </p:nvSpPr>
        <p:spPr>
          <a:xfrm>
            <a:off x="0" y="95964"/>
            <a:ext cx="12115800" cy="1547638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="ctr"/>
          <a:lstStyle>
            <a:lvl1pPr algn="ctr" rtl="0" hangingPunct="0">
              <a:tabLst/>
              <a:defRPr lang="fr-FR" sz="4400" b="0" i="0" u="none" strike="noStrike" kern="1200" cap="none">
                <a:ln>
                  <a:noFill/>
                </a:ln>
                <a:highlight>
                  <a:scrgbClr r="0" g="0" b="0">
                    <a:alpha val="0"/>
                  </a:scrgbClr>
                </a:highlight>
                <a:latin typeface="Liberation Sans" pitchFamily="18"/>
                <a:ea typeface="Microsoft YaHei" pitchFamily="2"/>
              </a:defRPr>
            </a:lvl1pPr>
          </a:lstStyle>
          <a:p>
            <a:r>
              <a:rPr lang="fr-FR" sz="5321" dirty="0" err="1">
                <a:solidFill>
                  <a:sysClr val="windowText" lastClr="000000"/>
                </a:solidFill>
              </a:rPr>
              <a:t>Bigger</a:t>
            </a:r>
            <a:r>
              <a:rPr lang="fr-FR" sz="5321" dirty="0">
                <a:solidFill>
                  <a:sysClr val="windowText" lastClr="000000"/>
                </a:solidFill>
              </a:rPr>
              <a:t> Hardware, </a:t>
            </a:r>
            <a:r>
              <a:rPr lang="fr-FR" sz="5321" dirty="0" err="1">
                <a:solidFill>
                  <a:sysClr val="windowText" lastClr="000000"/>
                </a:solidFill>
              </a:rPr>
              <a:t>different</a:t>
            </a:r>
            <a:r>
              <a:rPr lang="fr-FR" sz="5321" dirty="0">
                <a:solidFill>
                  <a:sysClr val="windowText" lastClr="000000"/>
                </a:solidFill>
              </a:rPr>
              <a:t> Software</a:t>
            </a:r>
          </a:p>
          <a:p>
            <a:r>
              <a:rPr lang="fr-FR" sz="5321" dirty="0">
                <a:solidFill>
                  <a:sysClr val="windowText" lastClr="000000"/>
                </a:solidFill>
              </a:rPr>
              <a:t>Vertical </a:t>
            </a:r>
            <a:r>
              <a:rPr lang="fr-FR" sz="5321" dirty="0" err="1">
                <a:solidFill>
                  <a:sysClr val="windowText" lastClr="000000"/>
                </a:solidFill>
              </a:rPr>
              <a:t>Scaling</a:t>
            </a:r>
            <a:r>
              <a:rPr lang="fr-FR" sz="5321" dirty="0">
                <a:solidFill>
                  <a:sysClr val="windowText" lastClr="000000"/>
                </a:solidFill>
              </a:rPr>
              <a:t> -&gt; </a:t>
            </a:r>
            <a:r>
              <a:rPr lang="fr-FR" sz="5321" dirty="0" err="1">
                <a:solidFill>
                  <a:sysClr val="windowText" lastClr="000000"/>
                </a:solidFill>
              </a:rPr>
              <a:t>Horyzontal</a:t>
            </a:r>
            <a:endParaRPr lang="fr-FR" sz="5321" dirty="0">
              <a:solidFill>
                <a:sysClr val="windowText" lastClr="00000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86FA988-9247-4F4D-9352-919CA4196FD8}"/>
              </a:ext>
            </a:extLst>
          </p:cNvPr>
          <p:cNvSpPr txBox="1"/>
          <p:nvPr/>
        </p:nvSpPr>
        <p:spPr>
          <a:xfrm>
            <a:off x="521752" y="4424861"/>
            <a:ext cx="4844724" cy="61337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386" dirty="0"/>
              <a:t>1 OS, 1 process, N Threads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D1D4DDB-6111-4E2F-926F-C2BF99175F6D}"/>
              </a:ext>
            </a:extLst>
          </p:cNvPr>
          <p:cNvSpPr txBox="1"/>
          <p:nvPr/>
        </p:nvSpPr>
        <p:spPr>
          <a:xfrm>
            <a:off x="7545891" y="4517159"/>
            <a:ext cx="4319772" cy="16554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386" dirty="0"/>
              <a:t>Distributed </a:t>
            </a:r>
            <a:r>
              <a:rPr lang="fr-FR" sz="3386" dirty="0" err="1"/>
              <a:t>computing</a:t>
            </a:r>
            <a:endParaRPr lang="fr-FR" sz="3386" dirty="0"/>
          </a:p>
          <a:p>
            <a:r>
              <a:rPr lang="fr-FR" sz="3386" dirty="0"/>
              <a:t>… </a:t>
            </a:r>
            <a:r>
              <a:rPr lang="fr-FR" sz="3386" dirty="0" err="1"/>
              <a:t>Sotfwares</a:t>
            </a:r>
            <a:r>
              <a:rPr lang="fr-FR" sz="3386" dirty="0"/>
              <a:t> </a:t>
            </a:r>
            <a:r>
              <a:rPr lang="fr-FR" sz="3386" dirty="0" err="1"/>
              <a:t>need</a:t>
            </a:r>
            <a:endParaRPr lang="fr-FR" sz="3386" dirty="0"/>
          </a:p>
          <a:p>
            <a:r>
              <a:rPr lang="fr-FR" sz="3386" dirty="0"/>
              <a:t>Network, </a:t>
            </a:r>
            <a:r>
              <a:rPr lang="fr-FR" sz="3386" dirty="0" err="1"/>
              <a:t>Fault</a:t>
            </a:r>
            <a:r>
              <a:rPr lang="fr-FR" sz="3386" dirty="0"/>
              <a:t> </a:t>
            </a:r>
            <a:r>
              <a:rPr lang="fr-FR" sz="3386" dirty="0" err="1"/>
              <a:t>Tolerant</a:t>
            </a:r>
            <a:endParaRPr lang="fr-FR" sz="3386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0A44D2F-EC23-4A7C-8442-8DB0011545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4358" y="2412346"/>
            <a:ext cx="1873045" cy="1990872"/>
          </a:xfrm>
          <a:prstGeom prst="rect">
            <a:avLst/>
          </a:prstGeom>
        </p:spPr>
      </p:pic>
      <p:pic>
        <p:nvPicPr>
          <p:cNvPr id="9222" name="Picture 6">
            <a:extLst>
              <a:ext uri="{FF2B5EF4-FFF2-40B4-BE49-F238E27FC236}">
                <a16:creationId xmlns:a16="http://schemas.microsoft.com/office/drawing/2014/main" id="{172B6485-0544-4489-BB03-47923BC376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9439" y="2739673"/>
            <a:ext cx="4946752" cy="15824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231384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DAE3282D-02C6-4934-B738-F2C8C1EE23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599" y="840589"/>
            <a:ext cx="9002641" cy="5873976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68FECA8A-3CA2-433D-BCE8-E1B259704CBC}"/>
              </a:ext>
            </a:extLst>
          </p:cNvPr>
          <p:cNvSpPr txBox="1">
            <a:spLocks/>
          </p:cNvSpPr>
          <p:nvPr/>
        </p:nvSpPr>
        <p:spPr>
          <a:xfrm>
            <a:off x="38100" y="0"/>
            <a:ext cx="12115800" cy="735107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="ctr"/>
          <a:lstStyle>
            <a:lvl1pPr algn="ctr" rtl="0" hangingPunct="0">
              <a:tabLst/>
              <a:defRPr lang="fr-FR" sz="4400" b="0" i="0" u="none" strike="noStrike" kern="1200" cap="none">
                <a:ln>
                  <a:noFill/>
                </a:ln>
                <a:highlight>
                  <a:scrgbClr r="0" g="0" b="0">
                    <a:alpha val="0"/>
                  </a:scrgbClr>
                </a:highlight>
                <a:latin typeface="Liberation Sans" pitchFamily="18"/>
                <a:ea typeface="Microsoft YaHei" pitchFamily="2"/>
              </a:defRPr>
            </a:lvl1pPr>
          </a:lstStyle>
          <a:p>
            <a:r>
              <a:rPr lang="fr-FR" dirty="0">
                <a:solidFill>
                  <a:sysClr val="windowText" lastClr="000000"/>
                </a:solidFill>
              </a:rPr>
              <a:t>Big Hardwares = </a:t>
            </a:r>
            <a:r>
              <a:rPr lang="fr-FR" dirty="0" err="1">
                <a:solidFill>
                  <a:sysClr val="windowText" lastClr="000000"/>
                </a:solidFill>
              </a:rPr>
              <a:t>commodities</a:t>
            </a:r>
            <a:r>
              <a:rPr lang="fr-FR" dirty="0">
                <a:solidFill>
                  <a:sysClr val="windowText" lastClr="000000"/>
                </a:solidFill>
              </a:rPr>
              <a:t> on Cloud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872B75BC-F49E-4D0B-A148-EAC148936F1E}"/>
              </a:ext>
            </a:extLst>
          </p:cNvPr>
          <p:cNvSpPr txBox="1"/>
          <p:nvPr/>
        </p:nvSpPr>
        <p:spPr>
          <a:xfrm>
            <a:off x="358588" y="3137647"/>
            <a:ext cx="16337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/>
              <a:t>512 Go of RAM</a:t>
            </a:r>
          </a:p>
        </p:txBody>
      </p:sp>
      <p:sp>
        <p:nvSpPr>
          <p:cNvPr id="6" name="Ellipse 5">
            <a:extLst>
              <a:ext uri="{FF2B5EF4-FFF2-40B4-BE49-F238E27FC236}">
                <a16:creationId xmlns:a16="http://schemas.microsoft.com/office/drawing/2014/main" id="{98314CF7-1E88-4B89-9363-FA4BB5E3F0C0}"/>
              </a:ext>
            </a:extLst>
          </p:cNvPr>
          <p:cNvSpPr/>
          <p:nvPr/>
        </p:nvSpPr>
        <p:spPr>
          <a:xfrm>
            <a:off x="3478306" y="3182471"/>
            <a:ext cx="600635" cy="313764"/>
          </a:xfrm>
          <a:prstGeom prst="ellipse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8" name="Connecteur droit avec flèche 7">
            <a:extLst>
              <a:ext uri="{FF2B5EF4-FFF2-40B4-BE49-F238E27FC236}">
                <a16:creationId xmlns:a16="http://schemas.microsoft.com/office/drawing/2014/main" id="{9A2CF3E9-F2F0-40CD-AF1A-4D1D232CEE51}"/>
              </a:ext>
            </a:extLst>
          </p:cNvPr>
          <p:cNvCxnSpPr/>
          <p:nvPr/>
        </p:nvCxnSpPr>
        <p:spPr>
          <a:xfrm>
            <a:off x="1968324" y="3325906"/>
            <a:ext cx="500881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ZoneTexte 11">
            <a:extLst>
              <a:ext uri="{FF2B5EF4-FFF2-40B4-BE49-F238E27FC236}">
                <a16:creationId xmlns:a16="http://schemas.microsoft.com/office/drawing/2014/main" id="{A218CFEF-5345-4EE9-9358-08070A39F4B4}"/>
              </a:ext>
            </a:extLst>
          </p:cNvPr>
          <p:cNvSpPr txBox="1"/>
          <p:nvPr/>
        </p:nvSpPr>
        <p:spPr>
          <a:xfrm>
            <a:off x="627887" y="6345233"/>
            <a:ext cx="10454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/>
              <a:t>8 $/</a:t>
            </a:r>
            <a:r>
              <a:rPr lang="fr-FR" b="1" dirty="0" err="1"/>
              <a:t>Hour</a:t>
            </a:r>
            <a:endParaRPr lang="fr-FR" b="1" dirty="0"/>
          </a:p>
        </p:txBody>
      </p:sp>
      <p:sp>
        <p:nvSpPr>
          <p:cNvPr id="13" name="Ellipse 12">
            <a:extLst>
              <a:ext uri="{FF2B5EF4-FFF2-40B4-BE49-F238E27FC236}">
                <a16:creationId xmlns:a16="http://schemas.microsoft.com/office/drawing/2014/main" id="{DFDC4E15-8F09-49F8-84D0-F1B3389CAE32}"/>
              </a:ext>
            </a:extLst>
          </p:cNvPr>
          <p:cNvSpPr/>
          <p:nvPr/>
        </p:nvSpPr>
        <p:spPr>
          <a:xfrm>
            <a:off x="2379932" y="6439362"/>
            <a:ext cx="600635" cy="314723"/>
          </a:xfrm>
          <a:prstGeom prst="ellipse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14" name="Connecteur droit avec flèche 13">
            <a:extLst>
              <a:ext uri="{FF2B5EF4-FFF2-40B4-BE49-F238E27FC236}">
                <a16:creationId xmlns:a16="http://schemas.microsoft.com/office/drawing/2014/main" id="{853A92F9-2207-4761-9730-F37B65EEDBB8}"/>
              </a:ext>
            </a:extLst>
          </p:cNvPr>
          <p:cNvCxnSpPr/>
          <p:nvPr/>
        </p:nvCxnSpPr>
        <p:spPr>
          <a:xfrm>
            <a:off x="1741928" y="6590235"/>
            <a:ext cx="500881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528263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F9232B5C-F93F-4E05-80BC-5EC4ED4D14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0510" y="888483"/>
            <a:ext cx="8409348" cy="5522043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F96BDC4B-BBD9-4CDD-8720-E50CB13EA5A1}"/>
              </a:ext>
            </a:extLst>
          </p:cNvPr>
          <p:cNvSpPr txBox="1">
            <a:spLocks/>
          </p:cNvSpPr>
          <p:nvPr/>
        </p:nvSpPr>
        <p:spPr>
          <a:xfrm>
            <a:off x="38100" y="0"/>
            <a:ext cx="12115800" cy="735107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="ctr"/>
          <a:lstStyle>
            <a:lvl1pPr algn="ctr" rtl="0" hangingPunct="0">
              <a:tabLst/>
              <a:defRPr lang="fr-FR" sz="4400" b="0" i="0" u="none" strike="noStrike" kern="1200" cap="none">
                <a:ln>
                  <a:noFill/>
                </a:ln>
                <a:highlight>
                  <a:scrgbClr r="0" g="0" b="0">
                    <a:alpha val="0"/>
                  </a:scrgbClr>
                </a:highlight>
                <a:latin typeface="Liberation Sans" pitchFamily="18"/>
                <a:ea typeface="Microsoft YaHei" pitchFamily="2"/>
              </a:defRPr>
            </a:lvl1pPr>
          </a:lstStyle>
          <a:p>
            <a:r>
              <a:rPr lang="fr-FR" dirty="0">
                <a:solidFill>
                  <a:sysClr val="windowText" lastClr="000000"/>
                </a:solidFill>
              </a:rPr>
              <a:t>Big Hardwares = </a:t>
            </a:r>
            <a:r>
              <a:rPr lang="fr-FR" dirty="0" err="1">
                <a:solidFill>
                  <a:sysClr val="windowText" lastClr="000000"/>
                </a:solidFill>
              </a:rPr>
              <a:t>commodities</a:t>
            </a:r>
            <a:r>
              <a:rPr lang="fr-FR" dirty="0">
                <a:solidFill>
                  <a:sysClr val="windowText" lastClr="000000"/>
                </a:solidFill>
              </a:rPr>
              <a:t> on Cloud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208284CA-A4F6-4A7E-B6CE-43E35D03CAC1}"/>
              </a:ext>
            </a:extLst>
          </p:cNvPr>
          <p:cNvSpPr txBox="1"/>
          <p:nvPr/>
        </p:nvSpPr>
        <p:spPr>
          <a:xfrm>
            <a:off x="275226" y="3105834"/>
            <a:ext cx="175080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/>
              <a:t>1024 Go of RAM</a:t>
            </a:r>
            <a:br>
              <a:rPr lang="fr-FR" b="1" dirty="0"/>
            </a:br>
            <a:r>
              <a:rPr lang="fr-FR" b="1" dirty="0"/>
              <a:t>(=1 </a:t>
            </a:r>
            <a:r>
              <a:rPr lang="fr-FR" b="1" dirty="0" err="1"/>
              <a:t>Tera</a:t>
            </a:r>
            <a:r>
              <a:rPr lang="fr-FR" b="1" dirty="0"/>
              <a:t>)</a:t>
            </a:r>
          </a:p>
        </p:txBody>
      </p:sp>
      <p:sp>
        <p:nvSpPr>
          <p:cNvPr id="6" name="Ellipse 5">
            <a:extLst>
              <a:ext uri="{FF2B5EF4-FFF2-40B4-BE49-F238E27FC236}">
                <a16:creationId xmlns:a16="http://schemas.microsoft.com/office/drawing/2014/main" id="{3142E87B-F0C6-4B33-85E4-E73726602F4E}"/>
              </a:ext>
            </a:extLst>
          </p:cNvPr>
          <p:cNvSpPr/>
          <p:nvPr/>
        </p:nvSpPr>
        <p:spPr>
          <a:xfrm>
            <a:off x="3478306" y="3182471"/>
            <a:ext cx="600635" cy="313764"/>
          </a:xfrm>
          <a:prstGeom prst="ellipse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7" name="Connecteur droit avec flèche 6">
            <a:extLst>
              <a:ext uri="{FF2B5EF4-FFF2-40B4-BE49-F238E27FC236}">
                <a16:creationId xmlns:a16="http://schemas.microsoft.com/office/drawing/2014/main" id="{A2991D7D-225B-4DC9-BE88-E57F2EE65D89}"/>
              </a:ext>
            </a:extLst>
          </p:cNvPr>
          <p:cNvCxnSpPr/>
          <p:nvPr/>
        </p:nvCxnSpPr>
        <p:spPr>
          <a:xfrm>
            <a:off x="1968324" y="3325906"/>
            <a:ext cx="500881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ZoneTexte 7">
            <a:extLst>
              <a:ext uri="{FF2B5EF4-FFF2-40B4-BE49-F238E27FC236}">
                <a16:creationId xmlns:a16="http://schemas.microsoft.com/office/drawing/2014/main" id="{5BDF9FEA-0FF0-44D5-ADBA-EFF5212A1A71}"/>
              </a:ext>
            </a:extLst>
          </p:cNvPr>
          <p:cNvSpPr txBox="1"/>
          <p:nvPr/>
        </p:nvSpPr>
        <p:spPr>
          <a:xfrm>
            <a:off x="491699" y="5969516"/>
            <a:ext cx="1162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/>
              <a:t>15 $/</a:t>
            </a:r>
            <a:r>
              <a:rPr lang="fr-FR" b="1" dirty="0" err="1"/>
              <a:t>Hour</a:t>
            </a:r>
            <a:endParaRPr lang="fr-FR" b="1" dirty="0"/>
          </a:p>
        </p:txBody>
      </p:sp>
      <p:sp>
        <p:nvSpPr>
          <p:cNvPr id="9" name="Ellipse 8">
            <a:extLst>
              <a:ext uri="{FF2B5EF4-FFF2-40B4-BE49-F238E27FC236}">
                <a16:creationId xmlns:a16="http://schemas.microsoft.com/office/drawing/2014/main" id="{6C5F7EE2-E4E2-4A61-9050-25AF65C8A63B}"/>
              </a:ext>
            </a:extLst>
          </p:cNvPr>
          <p:cNvSpPr/>
          <p:nvPr/>
        </p:nvSpPr>
        <p:spPr>
          <a:xfrm>
            <a:off x="2243744" y="6063645"/>
            <a:ext cx="600635" cy="314723"/>
          </a:xfrm>
          <a:prstGeom prst="ellipse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10" name="Connecteur droit avec flèche 9">
            <a:extLst>
              <a:ext uri="{FF2B5EF4-FFF2-40B4-BE49-F238E27FC236}">
                <a16:creationId xmlns:a16="http://schemas.microsoft.com/office/drawing/2014/main" id="{A8AE3559-4E6F-4E09-A9C2-A2FF9EF2EB7D}"/>
              </a:ext>
            </a:extLst>
          </p:cNvPr>
          <p:cNvCxnSpPr/>
          <p:nvPr/>
        </p:nvCxnSpPr>
        <p:spPr>
          <a:xfrm>
            <a:off x="1605740" y="6214518"/>
            <a:ext cx="500881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2837883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7A36147E-CE80-4E80-A708-8C00AB102072}"/>
              </a:ext>
            </a:extLst>
          </p:cNvPr>
          <p:cNvSpPr txBox="1"/>
          <p:nvPr/>
        </p:nvSpPr>
        <p:spPr>
          <a:xfrm>
            <a:off x="4073651" y="2288233"/>
            <a:ext cx="404469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4000" b="1" dirty="0"/>
              <a:t>Rule of </a:t>
            </a:r>
            <a:r>
              <a:rPr lang="fr-FR" sz="4000" b="1" dirty="0" err="1"/>
              <a:t>Thumb</a:t>
            </a:r>
            <a:r>
              <a:rPr lang="fr-FR" sz="4000" b="1" dirty="0"/>
              <a:t>  #1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FE48D35E-66B7-46DC-A2D7-A793A595C06F}"/>
              </a:ext>
            </a:extLst>
          </p:cNvPr>
          <p:cNvSpPr txBox="1"/>
          <p:nvPr/>
        </p:nvSpPr>
        <p:spPr>
          <a:xfrm>
            <a:off x="672826" y="3861881"/>
            <a:ext cx="11358366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/>
              <a:t>If </a:t>
            </a:r>
            <a:r>
              <a:rPr lang="fr-FR" sz="2400" dirty="0" err="1"/>
              <a:t>your</a:t>
            </a:r>
            <a:r>
              <a:rPr lang="fr-FR" sz="2400" dirty="0"/>
              <a:t> batch </a:t>
            </a:r>
            <a:r>
              <a:rPr lang="fr-FR" sz="2400" dirty="0" err="1"/>
              <a:t>needs</a:t>
            </a:r>
            <a:r>
              <a:rPr lang="fr-FR" sz="2400" dirty="0"/>
              <a:t> </a:t>
            </a:r>
            <a:r>
              <a:rPr lang="fr-FR" sz="2400" dirty="0" err="1"/>
              <a:t>less</a:t>
            </a:r>
            <a:r>
              <a:rPr lang="fr-FR" sz="2400" dirty="0"/>
              <a:t> </a:t>
            </a:r>
            <a:r>
              <a:rPr lang="fr-FR" sz="2400" dirty="0" err="1"/>
              <a:t>than</a:t>
            </a:r>
            <a:r>
              <a:rPr lang="fr-FR" sz="2400" dirty="0"/>
              <a:t> 1 </a:t>
            </a:r>
            <a:r>
              <a:rPr lang="fr-FR" sz="2400" dirty="0" err="1"/>
              <a:t>Tera</a:t>
            </a:r>
            <a:r>
              <a:rPr lang="fr-FR" sz="2400" dirty="0"/>
              <a:t> of RAM …  Don’t </a:t>
            </a:r>
            <a:r>
              <a:rPr lang="fr-FR" sz="2400" dirty="0" err="1"/>
              <a:t>bother</a:t>
            </a:r>
            <a:r>
              <a:rPr lang="fr-FR" sz="2400" dirty="0"/>
              <a:t> …  </a:t>
            </a:r>
            <a:r>
              <a:rPr lang="fr-FR" sz="2400" dirty="0" err="1"/>
              <a:t>just</a:t>
            </a:r>
            <a:r>
              <a:rPr lang="fr-FR" sz="2400" dirty="0"/>
              <a:t> put </a:t>
            </a:r>
            <a:r>
              <a:rPr lang="fr-FR" sz="2400" dirty="0" err="1"/>
              <a:t>everything</a:t>
            </a:r>
            <a:r>
              <a:rPr lang="fr-FR" sz="2400" dirty="0"/>
              <a:t> in RAM</a:t>
            </a:r>
          </a:p>
          <a:p>
            <a:endParaRPr lang="fr-FR" sz="2400" dirty="0"/>
          </a:p>
          <a:p>
            <a:r>
              <a:rPr lang="fr-FR" sz="2400" dirty="0"/>
              <a:t>Do not </a:t>
            </a:r>
            <a:r>
              <a:rPr lang="fr-FR" sz="2400" dirty="0" err="1"/>
              <a:t>pretend</a:t>
            </a:r>
            <a:r>
              <a:rPr lang="fr-FR" sz="2400" dirty="0"/>
              <a:t> </a:t>
            </a:r>
            <a:r>
              <a:rPr lang="fr-FR" sz="2400" dirty="0" err="1"/>
              <a:t>it</a:t>
            </a:r>
            <a:r>
              <a:rPr lang="fr-FR" sz="2400" dirty="0"/>
              <a:t> </a:t>
            </a:r>
            <a:r>
              <a:rPr lang="fr-FR" sz="2400" dirty="0" err="1"/>
              <a:t>is</a:t>
            </a:r>
            <a:r>
              <a:rPr lang="fr-FR" sz="2400" dirty="0"/>
              <a:t> « Big-Data »,  use standalone </a:t>
            </a:r>
            <a:r>
              <a:rPr lang="fr-FR" sz="2400" dirty="0" err="1"/>
              <a:t>DuckDB</a:t>
            </a:r>
            <a:r>
              <a:rPr lang="fr-FR" sz="2400" dirty="0"/>
              <a:t>,  not </a:t>
            </a:r>
            <a:r>
              <a:rPr lang="fr-FR" sz="2400" dirty="0" err="1"/>
              <a:t>distributed</a:t>
            </a:r>
            <a:r>
              <a:rPr lang="fr-FR" sz="2400" dirty="0"/>
              <a:t> Spark</a:t>
            </a:r>
          </a:p>
        </p:txBody>
      </p:sp>
    </p:spTree>
    <p:extLst>
      <p:ext uri="{BB962C8B-B14F-4D97-AF65-F5344CB8AC3E}">
        <p14:creationId xmlns:p14="http://schemas.microsoft.com/office/powerpoint/2010/main" val="324113975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3F106F89-7A4D-403F-85BB-C0E55740DB6D}"/>
              </a:ext>
            </a:extLst>
          </p:cNvPr>
          <p:cNvSpPr txBox="1"/>
          <p:nvPr/>
        </p:nvSpPr>
        <p:spPr>
          <a:xfrm>
            <a:off x="4073651" y="2288233"/>
            <a:ext cx="404469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4000" b="1" dirty="0"/>
              <a:t>Rule of </a:t>
            </a:r>
            <a:r>
              <a:rPr lang="fr-FR" sz="4000" b="1" dirty="0" err="1"/>
              <a:t>Thumb</a:t>
            </a:r>
            <a:r>
              <a:rPr lang="fr-FR" sz="4000" b="1" dirty="0"/>
              <a:t>  #2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C4EFEDF8-C8B0-4760-B57D-AC4DCA71B203}"/>
              </a:ext>
            </a:extLst>
          </p:cNvPr>
          <p:cNvSpPr txBox="1"/>
          <p:nvPr/>
        </p:nvSpPr>
        <p:spPr>
          <a:xfrm>
            <a:off x="1888783" y="3429000"/>
            <a:ext cx="9170780" cy="30469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/>
              <a:t>If </a:t>
            </a:r>
            <a:r>
              <a:rPr lang="fr-FR" sz="2400" dirty="0" err="1"/>
              <a:t>your</a:t>
            </a:r>
            <a:r>
              <a:rPr lang="fr-FR" sz="2400" dirty="0"/>
              <a:t> batch </a:t>
            </a:r>
            <a:r>
              <a:rPr lang="fr-FR" sz="2400" dirty="0" err="1"/>
              <a:t>needs</a:t>
            </a:r>
            <a:r>
              <a:rPr lang="fr-FR" sz="2400" dirty="0"/>
              <a:t> more </a:t>
            </a:r>
            <a:r>
              <a:rPr lang="fr-FR" sz="2400" dirty="0" err="1"/>
              <a:t>than</a:t>
            </a:r>
            <a:r>
              <a:rPr lang="fr-FR" sz="2400" dirty="0"/>
              <a:t> 1 </a:t>
            </a:r>
            <a:r>
              <a:rPr lang="fr-FR" sz="2400" dirty="0" err="1"/>
              <a:t>Tera</a:t>
            </a:r>
            <a:r>
              <a:rPr lang="fr-FR" sz="2400" dirty="0"/>
              <a:t> of RAM ??? … </a:t>
            </a:r>
            <a:r>
              <a:rPr lang="fr-FR" sz="2400" dirty="0" err="1"/>
              <a:t>Explain</a:t>
            </a:r>
            <a:r>
              <a:rPr lang="fr-FR" sz="2400" dirty="0"/>
              <a:t> me </a:t>
            </a:r>
            <a:r>
              <a:rPr lang="fr-FR" sz="2400" dirty="0" err="1"/>
              <a:t>why</a:t>
            </a:r>
            <a:r>
              <a:rPr lang="fr-FR" sz="2400" dirty="0"/>
              <a:t> !</a:t>
            </a:r>
          </a:p>
          <a:p>
            <a:endParaRPr lang="fr-FR" sz="2400" dirty="0"/>
          </a:p>
          <a:p>
            <a:r>
              <a:rPr lang="fr-FR" sz="2400" dirty="0" err="1"/>
              <a:t>Maybe</a:t>
            </a:r>
            <a:r>
              <a:rPr lang="fr-FR" sz="2400" dirty="0"/>
              <a:t> </a:t>
            </a:r>
            <a:r>
              <a:rPr lang="fr-FR" sz="2400" dirty="0" err="1"/>
              <a:t>you</a:t>
            </a:r>
            <a:r>
              <a:rPr lang="fr-FR" sz="2400" dirty="0"/>
              <a:t> </a:t>
            </a:r>
            <a:r>
              <a:rPr lang="fr-FR" sz="2400" dirty="0" err="1"/>
              <a:t>don’t</a:t>
            </a:r>
            <a:r>
              <a:rPr lang="fr-FR" sz="2400" dirty="0"/>
              <a:t> </a:t>
            </a:r>
            <a:r>
              <a:rPr lang="fr-FR" sz="2400" dirty="0" err="1"/>
              <a:t>need</a:t>
            </a:r>
            <a:r>
              <a:rPr lang="fr-FR" sz="2400" dirty="0"/>
              <a:t> to </a:t>
            </a:r>
            <a:r>
              <a:rPr lang="fr-FR" sz="2400" dirty="0" err="1"/>
              <a:t>reload</a:t>
            </a:r>
            <a:r>
              <a:rPr lang="fr-FR" sz="2400" dirty="0"/>
              <a:t> 30 </a:t>
            </a:r>
            <a:r>
              <a:rPr lang="fr-FR" sz="2400" dirty="0" err="1"/>
              <a:t>years</a:t>
            </a:r>
            <a:r>
              <a:rPr lang="fr-FR" sz="2400" dirty="0"/>
              <a:t> of </a:t>
            </a:r>
            <a:r>
              <a:rPr lang="fr-FR" sz="2400" dirty="0" err="1"/>
              <a:t>archived</a:t>
            </a:r>
            <a:r>
              <a:rPr lang="fr-FR" sz="2400" dirty="0"/>
              <a:t> data, </a:t>
            </a:r>
          </a:p>
          <a:p>
            <a:r>
              <a:rPr lang="fr-FR" sz="2400" dirty="0"/>
              <a:t>to </a:t>
            </a:r>
            <a:r>
              <a:rPr lang="fr-FR" sz="2400" dirty="0" err="1"/>
              <a:t>compute</a:t>
            </a:r>
            <a:r>
              <a:rPr lang="fr-FR" sz="2400" dirty="0"/>
              <a:t> on live/</a:t>
            </a:r>
            <a:r>
              <a:rPr lang="fr-FR" sz="2400" dirty="0" err="1"/>
              <a:t>yesterday</a:t>
            </a:r>
            <a:r>
              <a:rPr lang="fr-FR" sz="2400" dirty="0"/>
              <a:t> data</a:t>
            </a:r>
          </a:p>
          <a:p>
            <a:endParaRPr lang="fr-FR" sz="2400" dirty="0"/>
          </a:p>
          <a:p>
            <a:r>
              <a:rPr lang="fr-FR" sz="2400" dirty="0"/>
              <a:t>=&gt; 99% of time,  </a:t>
            </a:r>
            <a:r>
              <a:rPr lang="fr-FR" sz="2400" dirty="0" err="1"/>
              <a:t>rule</a:t>
            </a:r>
            <a:r>
              <a:rPr lang="fr-FR" sz="2400" dirty="0"/>
              <a:t> #1 </a:t>
            </a:r>
            <a:r>
              <a:rPr lang="fr-FR" sz="2400" dirty="0" err="1"/>
              <a:t>applies</a:t>
            </a:r>
            <a:r>
              <a:rPr lang="fr-FR" sz="2400" dirty="0"/>
              <a:t>,  </a:t>
            </a:r>
            <a:br>
              <a:rPr lang="fr-FR" sz="2400" dirty="0"/>
            </a:br>
            <a:br>
              <a:rPr lang="fr-FR" sz="2400" dirty="0"/>
            </a:br>
            <a:r>
              <a:rPr lang="fr-FR" sz="2400" dirty="0"/>
              <a:t>but </a:t>
            </a:r>
            <a:r>
              <a:rPr lang="fr-FR" sz="2400" dirty="0" err="1"/>
              <a:t>developpers</a:t>
            </a:r>
            <a:r>
              <a:rPr lang="fr-FR" sz="2400" dirty="0"/>
              <a:t> are </a:t>
            </a:r>
            <a:r>
              <a:rPr lang="fr-FR" sz="2400" dirty="0" err="1"/>
              <a:t>lazy</a:t>
            </a:r>
            <a:r>
              <a:rPr lang="fr-FR" sz="2400" dirty="0"/>
              <a:t> / managers </a:t>
            </a:r>
            <a:r>
              <a:rPr lang="fr-FR" sz="2400" dirty="0" err="1"/>
              <a:t>prefer</a:t>
            </a:r>
            <a:r>
              <a:rPr lang="fr-FR" sz="2400" dirty="0"/>
              <a:t> </a:t>
            </a:r>
            <a:r>
              <a:rPr lang="fr-FR" sz="2400" dirty="0" err="1"/>
              <a:t>paying</a:t>
            </a:r>
            <a:r>
              <a:rPr lang="fr-FR" sz="2400" dirty="0"/>
              <a:t> to </a:t>
            </a:r>
            <a:r>
              <a:rPr lang="fr-FR" sz="2400" dirty="0" err="1"/>
              <a:t>avoid</a:t>
            </a:r>
            <a:r>
              <a:rPr lang="fr-FR" sz="2400" dirty="0"/>
              <a:t> </a:t>
            </a:r>
            <a:r>
              <a:rPr lang="fr-FR" sz="2400" dirty="0" err="1"/>
              <a:t>risky</a:t>
            </a:r>
            <a:r>
              <a:rPr lang="fr-FR" sz="2400" dirty="0"/>
              <a:t> changes</a:t>
            </a:r>
          </a:p>
        </p:txBody>
      </p:sp>
    </p:spTree>
    <p:extLst>
      <p:ext uri="{BB962C8B-B14F-4D97-AF65-F5344CB8AC3E}">
        <p14:creationId xmlns:p14="http://schemas.microsoft.com/office/powerpoint/2010/main" val="187535771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9CADFC-B2AE-719F-2122-1612781E64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246172"/>
          </a:xfrm>
        </p:spPr>
        <p:txBody>
          <a:bodyPr>
            <a:normAutofit fontScale="90000"/>
          </a:bodyPr>
          <a:lstStyle/>
          <a:p>
            <a:pPr algn="ctr"/>
            <a:r>
              <a:rPr lang="fr-FR" dirty="0" err="1"/>
              <a:t>BigData</a:t>
            </a:r>
            <a:r>
              <a:rPr lang="fr-FR" dirty="0"/>
              <a:t> At </a:t>
            </a:r>
            <a:r>
              <a:rPr lang="fr-FR" dirty="0" err="1"/>
              <a:t>Scale</a:t>
            </a:r>
            <a:br>
              <a:rPr lang="fr-FR" dirty="0"/>
            </a:br>
            <a:r>
              <a:rPr lang="fr-FR" dirty="0"/>
              <a:t>Google Datacenter</a:t>
            </a:r>
          </a:p>
        </p:txBody>
      </p:sp>
      <p:pic>
        <p:nvPicPr>
          <p:cNvPr id="2050" name="Picture 2" descr="Data center Google sécurité et pra">
            <a:extLst>
              <a:ext uri="{FF2B5EF4-FFF2-40B4-BE49-F238E27FC236}">
                <a16:creationId xmlns:a16="http://schemas.microsoft.com/office/drawing/2014/main" id="{F5B3E944-26E4-EC96-2B99-5EF7F2EED6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54574" y="2439602"/>
            <a:ext cx="6762750" cy="2990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 descr="Les GAFA dominent l'économie ! FAUX">
            <a:extLst>
              <a:ext uri="{FF2B5EF4-FFF2-40B4-BE49-F238E27FC236}">
                <a16:creationId xmlns:a16="http://schemas.microsoft.com/office/drawing/2014/main" id="{9EC25FDE-2794-3860-6D1F-684BDEC423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2272" y="811197"/>
            <a:ext cx="2857500" cy="1600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4893794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7649EA-6981-E4E0-27A5-56690CA7C8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/>
              <a:t>Not </a:t>
            </a:r>
            <a:r>
              <a:rPr lang="fr-FR" dirty="0" err="1"/>
              <a:t>Only</a:t>
            </a:r>
            <a:r>
              <a:rPr lang="fr-FR" dirty="0"/>
              <a:t> </a:t>
            </a:r>
            <a:r>
              <a:rPr lang="fr-FR" dirty="0" err="1"/>
              <a:t>Gafas</a:t>
            </a:r>
            <a:endParaRPr lang="fr-FR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ADED764-DBA5-9B71-3BD4-4B9DABFF79A4}"/>
              </a:ext>
            </a:extLst>
          </p:cNvPr>
          <p:cNvSpPr txBox="1"/>
          <p:nvPr/>
        </p:nvSpPr>
        <p:spPr>
          <a:xfrm>
            <a:off x="1793289" y="1735186"/>
            <a:ext cx="71600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/>
              <a:t>Example of </a:t>
            </a:r>
            <a:r>
              <a:rPr lang="fr-FR" sz="2400" dirty="0" err="1"/>
              <a:t>Smaller</a:t>
            </a:r>
            <a:r>
              <a:rPr lang="fr-FR" sz="2400" dirty="0"/>
              <a:t> </a:t>
            </a:r>
            <a:r>
              <a:rPr lang="fr-FR" sz="2400" dirty="0" err="1"/>
              <a:t>Companies</a:t>
            </a:r>
            <a:r>
              <a:rPr lang="fr-FR" sz="2400" dirty="0"/>
              <a:t>, </a:t>
            </a:r>
            <a:r>
              <a:rPr lang="fr-FR" sz="2400" dirty="0" err="1"/>
              <a:t>obviously</a:t>
            </a:r>
            <a:r>
              <a:rPr lang="fr-FR" sz="2400" dirty="0"/>
              <a:t> </a:t>
            </a:r>
            <a:r>
              <a:rPr lang="fr-FR" sz="2400" dirty="0" err="1"/>
              <a:t>doing</a:t>
            </a:r>
            <a:r>
              <a:rPr lang="fr-FR" sz="2400" dirty="0"/>
              <a:t> </a:t>
            </a:r>
            <a:r>
              <a:rPr lang="fr-FR" sz="2400" dirty="0" err="1"/>
              <a:t>BigData</a:t>
            </a:r>
            <a:endParaRPr lang="fr-FR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DA25E7F-1A73-1B6A-80CD-373E93C5C1CF}"/>
              </a:ext>
            </a:extLst>
          </p:cNvPr>
          <p:cNvSpPr txBox="1"/>
          <p:nvPr/>
        </p:nvSpPr>
        <p:spPr>
          <a:xfrm>
            <a:off x="4123675" y="2463319"/>
            <a:ext cx="5653407" cy="41549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/>
              <a:t>Criteo  (internet </a:t>
            </a:r>
            <a:r>
              <a:rPr lang="fr-FR" sz="2400" dirty="0" err="1"/>
              <a:t>advertisment</a:t>
            </a:r>
            <a:r>
              <a:rPr lang="fr-FR" sz="2400" dirty="0"/>
              <a:t>)</a:t>
            </a:r>
          </a:p>
          <a:p>
            <a:r>
              <a:rPr lang="fr-FR" sz="2400" dirty="0" err="1"/>
              <a:t>Cern</a:t>
            </a:r>
            <a:r>
              <a:rPr lang="fr-FR" sz="2400" dirty="0"/>
              <a:t>    (particule </a:t>
            </a:r>
            <a:r>
              <a:rPr lang="fr-FR" sz="2400" dirty="0" err="1"/>
              <a:t>accelerators</a:t>
            </a:r>
            <a:r>
              <a:rPr lang="fr-FR" sz="2400" dirty="0"/>
              <a:t>)</a:t>
            </a:r>
          </a:p>
          <a:p>
            <a:r>
              <a:rPr lang="fr-FR" sz="2400" dirty="0" err="1"/>
              <a:t>Gouvernment</a:t>
            </a:r>
            <a:endParaRPr lang="fr-FR" sz="2400" dirty="0"/>
          </a:p>
          <a:p>
            <a:r>
              <a:rPr lang="fr-FR" sz="2400" dirty="0"/>
              <a:t>Social Networks</a:t>
            </a:r>
          </a:p>
          <a:p>
            <a:r>
              <a:rPr lang="fr-FR" sz="2400" dirty="0"/>
              <a:t>Auchan, Carrefour, ..  (E-Commerce)</a:t>
            </a:r>
          </a:p>
          <a:p>
            <a:r>
              <a:rPr lang="fr-FR" sz="2400" dirty="0" err="1"/>
              <a:t>MeteoFrance</a:t>
            </a:r>
            <a:r>
              <a:rPr lang="fr-FR" sz="2400" dirty="0"/>
              <a:t>  ( </a:t>
            </a:r>
            <a:r>
              <a:rPr lang="fr-FR" sz="2400" dirty="0" err="1"/>
              <a:t>Computing</a:t>
            </a:r>
            <a:r>
              <a:rPr lang="fr-FR" sz="2400" dirty="0"/>
              <a:t>, </a:t>
            </a:r>
            <a:r>
              <a:rPr lang="fr-FR" sz="2400" dirty="0" err="1"/>
              <a:t>Satelite</a:t>
            </a:r>
            <a:r>
              <a:rPr lang="fr-FR" sz="2400" dirty="0"/>
              <a:t> Images)</a:t>
            </a:r>
          </a:p>
          <a:p>
            <a:r>
              <a:rPr lang="fr-FR" sz="2400" dirty="0"/>
              <a:t>Uber, Taxis, Cars  ( IOT ) </a:t>
            </a:r>
          </a:p>
          <a:p>
            <a:r>
              <a:rPr lang="fr-FR" sz="2400" dirty="0" err="1"/>
              <a:t>Medical</a:t>
            </a:r>
            <a:r>
              <a:rPr lang="fr-FR" sz="2400" dirty="0"/>
              <a:t>, </a:t>
            </a:r>
            <a:r>
              <a:rPr lang="fr-FR" sz="2400" dirty="0" err="1"/>
              <a:t>Pharmaceutic</a:t>
            </a:r>
            <a:r>
              <a:rPr lang="fr-FR" sz="2400" dirty="0"/>
              <a:t>, </a:t>
            </a:r>
            <a:r>
              <a:rPr lang="fr-FR" sz="2400" dirty="0" err="1"/>
              <a:t>Genetics</a:t>
            </a:r>
            <a:endParaRPr lang="fr-FR" sz="2400" dirty="0"/>
          </a:p>
          <a:p>
            <a:r>
              <a:rPr lang="fr-FR" sz="2400" dirty="0"/>
              <a:t>Industries</a:t>
            </a:r>
          </a:p>
          <a:p>
            <a:r>
              <a:rPr lang="fr-FR" sz="2400" dirty="0"/>
              <a:t>Banks</a:t>
            </a:r>
          </a:p>
          <a:p>
            <a:r>
              <a:rPr lang="fr-FR" sz="2400" dirty="0"/>
              <a:t>..</a:t>
            </a:r>
          </a:p>
        </p:txBody>
      </p:sp>
    </p:spTree>
    <p:extLst>
      <p:ext uri="{BB962C8B-B14F-4D97-AF65-F5344CB8AC3E}">
        <p14:creationId xmlns:p14="http://schemas.microsoft.com/office/powerpoint/2010/main" val="377038000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722FDA-AE01-7929-6F77-128DBDC337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8144"/>
            <a:ext cx="10515600" cy="1325563"/>
          </a:xfrm>
        </p:spPr>
        <p:txBody>
          <a:bodyPr/>
          <a:lstStyle/>
          <a:p>
            <a:pPr algn="ctr"/>
            <a:r>
              <a:rPr lang="fr-FR" dirty="0" err="1"/>
              <a:t>BigData</a:t>
            </a:r>
            <a:r>
              <a:rPr lang="fr-FR" dirty="0"/>
              <a:t> In Banks ?</a:t>
            </a:r>
          </a:p>
        </p:txBody>
      </p:sp>
      <p:sp>
        <p:nvSpPr>
          <p:cNvPr id="4" name="Arrow: Down 3">
            <a:extLst>
              <a:ext uri="{FF2B5EF4-FFF2-40B4-BE49-F238E27FC236}">
                <a16:creationId xmlns:a16="http://schemas.microsoft.com/office/drawing/2014/main" id="{75B63903-9BE7-68D8-337C-86566DA77395}"/>
              </a:ext>
            </a:extLst>
          </p:cNvPr>
          <p:cNvSpPr/>
          <p:nvPr/>
        </p:nvSpPr>
        <p:spPr>
          <a:xfrm rot="3269640">
            <a:off x="4441379" y="1426828"/>
            <a:ext cx="363985" cy="732407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Arrow: Down 4">
            <a:extLst>
              <a:ext uri="{FF2B5EF4-FFF2-40B4-BE49-F238E27FC236}">
                <a16:creationId xmlns:a16="http://schemas.microsoft.com/office/drawing/2014/main" id="{DDF23F0A-A221-E97A-5AEB-CE8D4DF82CA1}"/>
              </a:ext>
            </a:extLst>
          </p:cNvPr>
          <p:cNvSpPr/>
          <p:nvPr/>
        </p:nvSpPr>
        <p:spPr>
          <a:xfrm rot="18650453">
            <a:off x="7163930" y="1488585"/>
            <a:ext cx="363985" cy="732407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CFAE132-E9A3-6FFA-3718-A55BA82095D9}"/>
              </a:ext>
            </a:extLst>
          </p:cNvPr>
          <p:cNvSpPr txBox="1"/>
          <p:nvPr/>
        </p:nvSpPr>
        <p:spPr>
          <a:xfrm>
            <a:off x="2880805" y="2290439"/>
            <a:ext cx="28463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/>
              <a:t>Corporate</a:t>
            </a:r>
            <a:r>
              <a:rPr lang="fr-FR" dirty="0"/>
              <a:t> Investment Bank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E1F2CBC-B42A-F529-1716-FF993FD56659}"/>
              </a:ext>
            </a:extLst>
          </p:cNvPr>
          <p:cNvSpPr txBox="1"/>
          <p:nvPr/>
        </p:nvSpPr>
        <p:spPr>
          <a:xfrm>
            <a:off x="6863919" y="2290439"/>
            <a:ext cx="40847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Network Bank  (for </a:t>
            </a:r>
            <a:r>
              <a:rPr lang="fr-FR" dirty="0" err="1"/>
              <a:t>everybody</a:t>
            </a:r>
            <a:r>
              <a:rPr lang="fr-FR" dirty="0"/>
              <a:t> </a:t>
            </a:r>
            <a:r>
              <a:rPr lang="fr-FR" dirty="0" err="1"/>
              <a:t>customers</a:t>
            </a:r>
            <a:r>
              <a:rPr lang="fr-FR" dirty="0"/>
              <a:t>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EA5BE9B-C6C0-6C9B-8CC1-5F0837682F17}"/>
              </a:ext>
            </a:extLst>
          </p:cNvPr>
          <p:cNvSpPr txBox="1"/>
          <p:nvPr/>
        </p:nvSpPr>
        <p:spPr>
          <a:xfrm>
            <a:off x="2880805" y="2646950"/>
            <a:ext cx="29681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(for </a:t>
            </a:r>
            <a:r>
              <a:rPr lang="fr-FR" dirty="0" err="1"/>
              <a:t>private</a:t>
            </a:r>
            <a:r>
              <a:rPr lang="fr-FR" dirty="0"/>
              <a:t>  / </a:t>
            </a:r>
            <a:r>
              <a:rPr lang="fr-FR" dirty="0" err="1"/>
              <a:t>owned</a:t>
            </a:r>
            <a:r>
              <a:rPr lang="fr-FR" dirty="0"/>
              <a:t> trading )</a:t>
            </a:r>
          </a:p>
        </p:txBody>
      </p:sp>
      <p:sp>
        <p:nvSpPr>
          <p:cNvPr id="9" name="Arrow: Down 8">
            <a:extLst>
              <a:ext uri="{FF2B5EF4-FFF2-40B4-BE49-F238E27FC236}">
                <a16:creationId xmlns:a16="http://schemas.microsoft.com/office/drawing/2014/main" id="{53206851-1934-2FA5-9AB0-B51C52ABFE27}"/>
              </a:ext>
            </a:extLst>
          </p:cNvPr>
          <p:cNvSpPr/>
          <p:nvPr/>
        </p:nvSpPr>
        <p:spPr>
          <a:xfrm>
            <a:off x="4046448" y="3142657"/>
            <a:ext cx="363985" cy="732407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Arrow: Down 9">
            <a:extLst>
              <a:ext uri="{FF2B5EF4-FFF2-40B4-BE49-F238E27FC236}">
                <a16:creationId xmlns:a16="http://schemas.microsoft.com/office/drawing/2014/main" id="{7A5AF1E0-9483-2EE9-4B4F-C5AC10F68E89}"/>
              </a:ext>
            </a:extLst>
          </p:cNvPr>
          <p:cNvSpPr/>
          <p:nvPr/>
        </p:nvSpPr>
        <p:spPr>
          <a:xfrm>
            <a:off x="7461392" y="3142657"/>
            <a:ext cx="363985" cy="732407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DF65663-CB5C-7D99-CC88-4949F0BD4782}"/>
              </a:ext>
            </a:extLst>
          </p:cNvPr>
          <p:cNvSpPr txBox="1"/>
          <p:nvPr/>
        </p:nvSpPr>
        <p:spPr>
          <a:xfrm>
            <a:off x="7097696" y="3875064"/>
            <a:ext cx="297889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Example of Société </a:t>
            </a:r>
            <a:r>
              <a:rPr lang="fr-FR" dirty="0" err="1"/>
              <a:t>Genérale</a:t>
            </a:r>
            <a:r>
              <a:rPr lang="fr-FR" dirty="0"/>
              <a:t>: </a:t>
            </a:r>
          </a:p>
          <a:p>
            <a:r>
              <a:rPr lang="fr-FR" dirty="0"/>
              <a:t>At Val de Fontenay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2751410-FAF4-E9DF-2C82-A88754AA377C}"/>
              </a:ext>
            </a:extLst>
          </p:cNvPr>
          <p:cNvSpPr txBox="1"/>
          <p:nvPr/>
        </p:nvSpPr>
        <p:spPr>
          <a:xfrm>
            <a:off x="3241828" y="3875064"/>
            <a:ext cx="297889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Example of Société </a:t>
            </a:r>
            <a:r>
              <a:rPr lang="fr-FR" dirty="0" err="1"/>
              <a:t>Genérale</a:t>
            </a:r>
            <a:r>
              <a:rPr lang="fr-FR" dirty="0"/>
              <a:t>: </a:t>
            </a:r>
          </a:p>
          <a:p>
            <a:r>
              <a:rPr lang="fr-FR" dirty="0"/>
              <a:t>At La </a:t>
            </a:r>
            <a:r>
              <a:rPr lang="fr-FR" dirty="0" err="1"/>
              <a:t>Defense</a:t>
            </a:r>
            <a:endParaRPr lang="fr-FR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72BA772-B412-7092-4E15-55748CCB6A7E}"/>
              </a:ext>
            </a:extLst>
          </p:cNvPr>
          <p:cNvSpPr txBox="1"/>
          <p:nvPr/>
        </p:nvSpPr>
        <p:spPr>
          <a:xfrm>
            <a:off x="7452515" y="4869238"/>
            <a:ext cx="3218382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Data for </a:t>
            </a:r>
          </a:p>
          <a:p>
            <a:pPr marL="285750" indent="-285750">
              <a:buFontTx/>
              <a:buChar char="-"/>
            </a:pPr>
            <a:r>
              <a:rPr lang="fr-FR" dirty="0"/>
              <a:t>RGPD… </a:t>
            </a:r>
            <a:r>
              <a:rPr lang="fr-FR" dirty="0" err="1"/>
              <a:t>warn</a:t>
            </a:r>
            <a:r>
              <a:rPr lang="fr-FR" dirty="0"/>
              <a:t> </a:t>
            </a:r>
            <a:r>
              <a:rPr lang="fr-FR" dirty="0" err="1"/>
              <a:t>personnal</a:t>
            </a:r>
            <a:r>
              <a:rPr lang="fr-FR" dirty="0"/>
              <a:t> data!</a:t>
            </a:r>
          </a:p>
          <a:p>
            <a:pPr marL="285750" indent="-285750">
              <a:buFontTx/>
              <a:buChar char="-"/>
            </a:pPr>
            <a:r>
              <a:rPr lang="fr-FR" dirty="0"/>
              <a:t>Anti </a:t>
            </a:r>
            <a:r>
              <a:rPr lang="fr-FR" dirty="0" err="1"/>
              <a:t>Fraud</a:t>
            </a:r>
            <a:r>
              <a:rPr lang="fr-FR" dirty="0"/>
              <a:t> </a:t>
            </a:r>
            <a:r>
              <a:rPr lang="fr-FR" dirty="0" err="1"/>
              <a:t>detection</a:t>
            </a:r>
            <a:r>
              <a:rPr lang="fr-FR" dirty="0"/>
              <a:t>, </a:t>
            </a:r>
          </a:p>
          <a:p>
            <a:pPr marL="285750" indent="-285750">
              <a:buFontTx/>
              <a:buChar char="-"/>
            </a:pPr>
            <a:r>
              <a:rPr lang="fr-FR" dirty="0" err="1"/>
              <a:t>customers-oriented</a:t>
            </a:r>
            <a:endParaRPr lang="fr-FR" dirty="0"/>
          </a:p>
          <a:p>
            <a:pPr marL="285750" indent="-285750">
              <a:buFontTx/>
              <a:buChar char="-"/>
            </a:pPr>
            <a:r>
              <a:rPr lang="fr-FR" dirty="0"/>
              <a:t>Business </a:t>
            </a:r>
            <a:r>
              <a:rPr lang="fr-FR" dirty="0" err="1"/>
              <a:t>analysis</a:t>
            </a:r>
            <a:endParaRPr lang="fr-FR" dirty="0"/>
          </a:p>
          <a:p>
            <a:pPr marL="285750" indent="-285750">
              <a:buFontTx/>
              <a:buChar char="-"/>
            </a:pPr>
            <a:r>
              <a:rPr lang="fr-FR" dirty="0"/>
              <a:t>..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5D366FE-415D-805F-FAE8-E25B13D604EE}"/>
              </a:ext>
            </a:extLst>
          </p:cNvPr>
          <p:cNvSpPr txBox="1"/>
          <p:nvPr/>
        </p:nvSpPr>
        <p:spPr>
          <a:xfrm>
            <a:off x="2497135" y="4734850"/>
            <a:ext cx="4128438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Data for</a:t>
            </a:r>
          </a:p>
          <a:p>
            <a:pPr marL="285750" indent="-285750">
              <a:buFontTx/>
              <a:buChar char="-"/>
            </a:pPr>
            <a:r>
              <a:rPr lang="fr-FR" dirty="0" err="1"/>
              <a:t>Historical</a:t>
            </a:r>
            <a:r>
              <a:rPr lang="fr-FR" dirty="0"/>
              <a:t> </a:t>
            </a:r>
            <a:r>
              <a:rPr lang="fr-FR" dirty="0" err="1"/>
              <a:t>Market</a:t>
            </a:r>
            <a:r>
              <a:rPr lang="fr-FR" dirty="0"/>
              <a:t> datas</a:t>
            </a:r>
          </a:p>
          <a:p>
            <a:pPr marL="285750" indent="-285750">
              <a:buFontTx/>
              <a:buChar char="-"/>
            </a:pPr>
            <a:r>
              <a:rPr lang="fr-FR" dirty="0"/>
              <a:t>Risk / Var management</a:t>
            </a:r>
          </a:p>
          <a:p>
            <a:pPr marL="285750" indent="-285750">
              <a:buFontTx/>
              <a:buChar char="-"/>
            </a:pPr>
            <a:r>
              <a:rPr lang="fr-FR" dirty="0" err="1"/>
              <a:t>Aggregation</a:t>
            </a:r>
            <a:r>
              <a:rPr lang="fr-FR" dirty="0"/>
              <a:t> of all Trading </a:t>
            </a:r>
            <a:r>
              <a:rPr lang="fr-FR" dirty="0" err="1"/>
              <a:t>departments</a:t>
            </a:r>
            <a:endParaRPr lang="fr-FR" dirty="0"/>
          </a:p>
          <a:p>
            <a:pPr marL="285750" indent="-285750">
              <a:buFontTx/>
              <a:buChar char="-"/>
            </a:pPr>
            <a:r>
              <a:rPr lang="fr-FR" dirty="0" err="1"/>
              <a:t>Regulatory</a:t>
            </a:r>
            <a:r>
              <a:rPr lang="fr-FR" dirty="0"/>
              <a:t> </a:t>
            </a:r>
            <a:r>
              <a:rPr lang="fr-FR" dirty="0" err="1"/>
              <a:t>Reporting</a:t>
            </a:r>
            <a:endParaRPr lang="fr-FR" dirty="0"/>
          </a:p>
          <a:p>
            <a:pPr marL="285750" indent="-285750">
              <a:buFontTx/>
              <a:buChar char="-"/>
            </a:pPr>
            <a:r>
              <a:rPr lang="fr-FR" dirty="0"/>
              <a:t>Business </a:t>
            </a:r>
            <a:r>
              <a:rPr lang="fr-FR" dirty="0" err="1"/>
              <a:t>analysis</a:t>
            </a:r>
            <a:endParaRPr lang="fr-FR" dirty="0"/>
          </a:p>
          <a:p>
            <a:pPr marL="285750" indent="-285750">
              <a:buFontTx/>
              <a:buChar char="-"/>
            </a:pPr>
            <a:r>
              <a:rPr lang="fr-FR" dirty="0"/>
              <a:t>..</a:t>
            </a:r>
          </a:p>
          <a:p>
            <a:pPr marL="285750" indent="-285750">
              <a:buFontTx/>
              <a:buChar char="-"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28174657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5AEC74-F104-6104-6AA3-FA7D41A6B6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 err="1"/>
              <a:t>BigData</a:t>
            </a:r>
            <a:r>
              <a:rPr lang="fr-FR" dirty="0"/>
              <a:t> at SG (Investment Bank)</a:t>
            </a:r>
          </a:p>
        </p:txBody>
      </p:sp>
      <p:sp>
        <p:nvSpPr>
          <p:cNvPr id="4" name="Cylinder 3">
            <a:extLst>
              <a:ext uri="{FF2B5EF4-FFF2-40B4-BE49-F238E27FC236}">
                <a16:creationId xmlns:a16="http://schemas.microsoft.com/office/drawing/2014/main" id="{5964E212-10AF-C149-DE31-36977CE614B1}"/>
              </a:ext>
            </a:extLst>
          </p:cNvPr>
          <p:cNvSpPr/>
          <p:nvPr/>
        </p:nvSpPr>
        <p:spPr>
          <a:xfrm>
            <a:off x="254493" y="1997476"/>
            <a:ext cx="5321993" cy="4389676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6C1B264-5A39-EABE-5662-F17D6B2E316F}"/>
              </a:ext>
            </a:extLst>
          </p:cNvPr>
          <p:cNvSpPr txBox="1"/>
          <p:nvPr/>
        </p:nvSpPr>
        <p:spPr>
          <a:xfrm>
            <a:off x="692457" y="3122721"/>
            <a:ext cx="4884029" cy="30469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600" dirty="0"/>
              <a:t>PROD Cluster</a:t>
            </a:r>
          </a:p>
          <a:p>
            <a:r>
              <a:rPr lang="fr-FR" sz="3600" dirty="0"/>
              <a:t>&gt;= </a:t>
            </a:r>
            <a:r>
              <a:rPr lang="fr-FR" sz="4800" b="1" dirty="0"/>
              <a:t>3 </a:t>
            </a:r>
            <a:r>
              <a:rPr lang="fr-FR" sz="4800" b="1" dirty="0" err="1"/>
              <a:t>Petas</a:t>
            </a:r>
            <a:r>
              <a:rPr lang="fr-FR" sz="4800" b="1" dirty="0"/>
              <a:t> of Data </a:t>
            </a:r>
            <a:br>
              <a:rPr lang="fr-FR" sz="3600" dirty="0"/>
            </a:br>
            <a:endParaRPr lang="fr-FR" sz="3600" dirty="0"/>
          </a:p>
          <a:p>
            <a:r>
              <a:rPr lang="fr-FR" sz="3600" dirty="0"/>
              <a:t>( 9 </a:t>
            </a:r>
            <a:r>
              <a:rPr lang="fr-FR" sz="3600" dirty="0" err="1"/>
              <a:t>petas</a:t>
            </a:r>
            <a:r>
              <a:rPr lang="fr-FR" sz="3600" dirty="0"/>
              <a:t> of </a:t>
            </a:r>
            <a:r>
              <a:rPr lang="fr-FR" sz="3600" dirty="0" err="1"/>
              <a:t>Disks</a:t>
            </a:r>
            <a:r>
              <a:rPr lang="fr-FR" sz="3600" dirty="0"/>
              <a:t>, </a:t>
            </a:r>
          </a:p>
          <a:p>
            <a:r>
              <a:rPr lang="fr-FR" sz="3600" dirty="0" err="1"/>
              <a:t>with</a:t>
            </a:r>
            <a:r>
              <a:rPr lang="fr-FR" sz="3600" dirty="0"/>
              <a:t> </a:t>
            </a:r>
            <a:r>
              <a:rPr lang="fr-FR" sz="3600" dirty="0" err="1"/>
              <a:t>replicationFactor</a:t>
            </a:r>
            <a:r>
              <a:rPr lang="fr-FR" sz="3600" dirty="0"/>
              <a:t>=3)</a:t>
            </a:r>
          </a:p>
        </p:txBody>
      </p:sp>
      <p:sp>
        <p:nvSpPr>
          <p:cNvPr id="6" name="Cylinder 5">
            <a:extLst>
              <a:ext uri="{FF2B5EF4-FFF2-40B4-BE49-F238E27FC236}">
                <a16:creationId xmlns:a16="http://schemas.microsoft.com/office/drawing/2014/main" id="{F0702488-8456-9485-D785-04731FB00165}"/>
              </a:ext>
            </a:extLst>
          </p:cNvPr>
          <p:cNvSpPr/>
          <p:nvPr/>
        </p:nvSpPr>
        <p:spPr>
          <a:xfrm>
            <a:off x="5737382" y="1494854"/>
            <a:ext cx="5321993" cy="4984981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F6B6E0D-7C12-3BCA-6106-51C07F5021D9}"/>
              </a:ext>
            </a:extLst>
          </p:cNvPr>
          <p:cNvSpPr txBox="1"/>
          <p:nvPr/>
        </p:nvSpPr>
        <p:spPr>
          <a:xfrm>
            <a:off x="6167020" y="3122721"/>
            <a:ext cx="4769191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600" dirty="0"/>
              <a:t>+ DEV Cluster</a:t>
            </a:r>
            <a:br>
              <a:rPr lang="fr-FR" sz="3600" dirty="0"/>
            </a:br>
            <a:endParaRPr lang="fr-FR" sz="3600" dirty="0"/>
          </a:p>
          <a:p>
            <a:r>
              <a:rPr lang="fr-FR" sz="3600" dirty="0"/>
              <a:t>.. </a:t>
            </a:r>
            <a:r>
              <a:rPr lang="fr-FR" sz="3600" dirty="0" err="1"/>
              <a:t>Containing</a:t>
            </a:r>
            <a:r>
              <a:rPr lang="fr-FR" sz="3600" dirty="0"/>
              <a:t> </a:t>
            </a:r>
            <a:br>
              <a:rPr lang="fr-FR" sz="3600" dirty="0"/>
            </a:br>
            <a:r>
              <a:rPr lang="fr-FR" sz="3600" dirty="0"/>
              <a:t>   backups of PROD Data</a:t>
            </a:r>
          </a:p>
        </p:txBody>
      </p:sp>
      <p:sp>
        <p:nvSpPr>
          <p:cNvPr id="9" name="Cylinder 8">
            <a:extLst>
              <a:ext uri="{FF2B5EF4-FFF2-40B4-BE49-F238E27FC236}">
                <a16:creationId xmlns:a16="http://schemas.microsoft.com/office/drawing/2014/main" id="{D757CDB0-DEE9-8988-A47D-0135345F0574}"/>
              </a:ext>
            </a:extLst>
          </p:cNvPr>
          <p:cNvSpPr/>
          <p:nvPr/>
        </p:nvSpPr>
        <p:spPr>
          <a:xfrm>
            <a:off x="10120544" y="2814221"/>
            <a:ext cx="2004703" cy="1577266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Cylinder 9">
            <a:extLst>
              <a:ext uri="{FF2B5EF4-FFF2-40B4-BE49-F238E27FC236}">
                <a16:creationId xmlns:a16="http://schemas.microsoft.com/office/drawing/2014/main" id="{C96F3823-AE3A-25B4-5F92-2208FA0C7F68}"/>
              </a:ext>
            </a:extLst>
          </p:cNvPr>
          <p:cNvSpPr/>
          <p:nvPr/>
        </p:nvSpPr>
        <p:spPr>
          <a:xfrm>
            <a:off x="10831156" y="4135030"/>
            <a:ext cx="1183689" cy="1296015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0065E42-8335-252F-7F79-5E651345D165}"/>
              </a:ext>
            </a:extLst>
          </p:cNvPr>
          <p:cNvSpPr txBox="1"/>
          <p:nvPr/>
        </p:nvSpPr>
        <p:spPr>
          <a:xfrm>
            <a:off x="10346352" y="3078744"/>
            <a:ext cx="1720471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600" dirty="0"/>
              <a:t>+ </a:t>
            </a:r>
            <a:r>
              <a:rPr lang="fr-FR" sz="3600" dirty="0" err="1"/>
              <a:t>others</a:t>
            </a:r>
            <a:endParaRPr lang="fr-FR" sz="3600" dirty="0"/>
          </a:p>
          <a:p>
            <a:r>
              <a:rPr lang="fr-FR" sz="3600" dirty="0"/>
              <a:t>Clusters</a:t>
            </a:r>
          </a:p>
        </p:txBody>
      </p:sp>
    </p:spTree>
    <p:extLst>
      <p:ext uri="{BB962C8B-B14F-4D97-AF65-F5344CB8AC3E}">
        <p14:creationId xmlns:p14="http://schemas.microsoft.com/office/powerpoint/2010/main" val="382541670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9CADFC-B2AE-719F-2122-1612781E64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99943"/>
          </a:xfrm>
        </p:spPr>
        <p:txBody>
          <a:bodyPr>
            <a:normAutofit fontScale="90000"/>
          </a:bodyPr>
          <a:lstStyle/>
          <a:p>
            <a:pPr algn="ctr"/>
            <a:r>
              <a:rPr lang="fr-FR" dirty="0" err="1"/>
              <a:t>Typical</a:t>
            </a:r>
            <a:r>
              <a:rPr lang="fr-FR" dirty="0"/>
              <a:t> Datacenter Hardware</a:t>
            </a:r>
            <a:br>
              <a:rPr lang="fr-FR" dirty="0"/>
            </a:br>
            <a:r>
              <a:rPr lang="fr-FR" dirty="0"/>
              <a:t>= N Racks x  10 </a:t>
            </a:r>
            <a:r>
              <a:rPr lang="fr-FR" dirty="0" err="1"/>
              <a:t>blades</a:t>
            </a:r>
            <a:r>
              <a:rPr lang="fr-FR" dirty="0"/>
              <a:t> (1U / 2U)</a:t>
            </a:r>
          </a:p>
        </p:txBody>
      </p:sp>
      <p:pic>
        <p:nvPicPr>
          <p:cNvPr id="3074" name="Picture 2" descr="What is a Data Center Rack? - RackSolutions Blog">
            <a:extLst>
              <a:ext uri="{FF2B5EF4-FFF2-40B4-BE49-F238E27FC236}">
                <a16:creationId xmlns:a16="http://schemas.microsoft.com/office/drawing/2014/main" id="{F3A5BDA0-AC70-8C36-5140-2EF9F0D70F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4765" y="2044638"/>
            <a:ext cx="2442469" cy="36637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8787526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3A5CC-5AFF-E25D-04EF-857D46EDA6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/>
              <a:t>1U Server for </a:t>
            </a:r>
            <a:r>
              <a:rPr lang="fr-FR" dirty="0" err="1"/>
              <a:t>Datalake</a:t>
            </a:r>
            <a:endParaRPr lang="fr-FR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A3A1E93-B2CF-729A-2817-29AA3F3601E5}"/>
              </a:ext>
            </a:extLst>
          </p:cNvPr>
          <p:cNvSpPr txBox="1"/>
          <p:nvPr/>
        </p:nvSpPr>
        <p:spPr>
          <a:xfrm>
            <a:off x="1426697" y="3388134"/>
            <a:ext cx="92150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/>
              <a:t>1 server =     42 </a:t>
            </a:r>
            <a:r>
              <a:rPr lang="fr-FR" sz="2400" b="1" dirty="0" err="1"/>
              <a:t>cores</a:t>
            </a:r>
            <a:r>
              <a:rPr lang="fr-FR" sz="2400" dirty="0"/>
              <a:t>     +   </a:t>
            </a:r>
            <a:r>
              <a:rPr lang="fr-FR" sz="2400" b="1" dirty="0"/>
              <a:t>256</a:t>
            </a:r>
            <a:r>
              <a:rPr lang="fr-FR" sz="2400" dirty="0"/>
              <a:t> Go RAM   +   </a:t>
            </a:r>
            <a:r>
              <a:rPr lang="fr-FR" sz="2400" b="1" dirty="0"/>
              <a:t>network</a:t>
            </a:r>
            <a:r>
              <a:rPr lang="fr-FR" sz="2400" dirty="0"/>
              <a:t> 1Gb/s   +     </a:t>
            </a:r>
            <a:r>
              <a:rPr lang="fr-FR" sz="2400" b="1" dirty="0"/>
              <a:t>8</a:t>
            </a:r>
            <a:r>
              <a:rPr lang="fr-FR" sz="2400" dirty="0"/>
              <a:t> </a:t>
            </a:r>
            <a:r>
              <a:rPr lang="fr-FR" sz="2400" dirty="0" err="1"/>
              <a:t>disks</a:t>
            </a:r>
            <a:endParaRPr lang="fr-FR" sz="2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73A55E8-E910-83E1-CB4B-1BEF8BD752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37543" y="2496796"/>
            <a:ext cx="2993331" cy="605793"/>
          </a:xfrm>
          <a:prstGeom prst="rect">
            <a:avLst/>
          </a:prstGeom>
        </p:spPr>
      </p:pic>
      <p:sp>
        <p:nvSpPr>
          <p:cNvPr id="6" name="Left Brace 5">
            <a:extLst>
              <a:ext uri="{FF2B5EF4-FFF2-40B4-BE49-F238E27FC236}">
                <a16:creationId xmlns:a16="http://schemas.microsoft.com/office/drawing/2014/main" id="{F779CEE7-D360-865E-01D4-F7045FD96460}"/>
              </a:ext>
            </a:extLst>
          </p:cNvPr>
          <p:cNvSpPr/>
          <p:nvPr/>
        </p:nvSpPr>
        <p:spPr>
          <a:xfrm rot="16200000">
            <a:off x="5788216" y="1755890"/>
            <a:ext cx="343092" cy="5507295"/>
          </a:xfrm>
          <a:prstGeom prst="leftBrac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Left Brace 6">
            <a:extLst>
              <a:ext uri="{FF2B5EF4-FFF2-40B4-BE49-F238E27FC236}">
                <a16:creationId xmlns:a16="http://schemas.microsoft.com/office/drawing/2014/main" id="{C5DBEA13-8DEB-3E78-A069-F419A15F9CC0}"/>
              </a:ext>
            </a:extLst>
          </p:cNvPr>
          <p:cNvSpPr/>
          <p:nvPr/>
        </p:nvSpPr>
        <p:spPr>
          <a:xfrm rot="16200000">
            <a:off x="9948542" y="3828576"/>
            <a:ext cx="343092" cy="1361922"/>
          </a:xfrm>
          <a:prstGeom prst="leftBrac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E9F56BA-D1BA-0A76-44D0-457ACCF80717}"/>
              </a:ext>
            </a:extLst>
          </p:cNvPr>
          <p:cNvSpPr txBox="1"/>
          <p:nvPr/>
        </p:nvSpPr>
        <p:spPr>
          <a:xfrm>
            <a:off x="4726819" y="4984610"/>
            <a:ext cx="313977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/>
              <a:t>« </a:t>
            </a:r>
            <a:r>
              <a:rPr lang="fr-FR" sz="2400" b="1" dirty="0" err="1"/>
              <a:t>Compute</a:t>
            </a:r>
            <a:r>
              <a:rPr lang="fr-FR" sz="2400" dirty="0"/>
              <a:t> » </a:t>
            </a:r>
            <a:r>
              <a:rPr lang="fr-FR" sz="2400" dirty="0" err="1"/>
              <a:t>Resources</a:t>
            </a:r>
            <a:endParaRPr lang="fr-FR" sz="24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FA599C2-34E8-97FA-EC14-257C74FCE05D}"/>
              </a:ext>
            </a:extLst>
          </p:cNvPr>
          <p:cNvSpPr txBox="1"/>
          <p:nvPr/>
        </p:nvSpPr>
        <p:spPr>
          <a:xfrm>
            <a:off x="8960516" y="4984610"/>
            <a:ext cx="293971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/>
              <a:t>« </a:t>
            </a:r>
            <a:r>
              <a:rPr lang="fr-FR" sz="2400" b="1" dirty="0"/>
              <a:t>Storage</a:t>
            </a:r>
            <a:r>
              <a:rPr lang="fr-FR" sz="2400" dirty="0"/>
              <a:t> » </a:t>
            </a:r>
            <a:r>
              <a:rPr lang="fr-FR" sz="2400" dirty="0" err="1"/>
              <a:t>Resources</a:t>
            </a:r>
            <a:endParaRPr lang="fr-FR" sz="2400" dirty="0"/>
          </a:p>
        </p:txBody>
      </p:sp>
    </p:spTree>
    <p:extLst>
      <p:ext uri="{BB962C8B-B14F-4D97-AF65-F5344CB8AC3E}">
        <p14:creationId xmlns:p14="http://schemas.microsoft.com/office/powerpoint/2010/main" val="71858488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CFA45CD-676A-4E95-92C4-D5BDA58BD1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7821"/>
            <a:ext cx="10515600" cy="959073"/>
          </a:xfrm>
        </p:spPr>
        <p:txBody>
          <a:bodyPr>
            <a:normAutofit/>
          </a:bodyPr>
          <a:lstStyle/>
          <a:p>
            <a:r>
              <a:rPr lang="fr-FR" dirty="0"/>
              <a:t>Old Assumptions</a:t>
            </a:r>
          </a:p>
        </p:txBody>
      </p:sp>
      <p:pic>
        <p:nvPicPr>
          <p:cNvPr id="4" name="Picture 13">
            <a:extLst>
              <a:ext uri="{FF2B5EF4-FFF2-40B4-BE49-F238E27FC236}">
                <a16:creationId xmlns:a16="http://schemas.microsoft.com/office/drawing/2014/main" id="{87BC634A-317C-49BE-AF95-8FFB063FF691}"/>
              </a:ext>
            </a:extLst>
          </p:cNvPr>
          <p:cNvPicPr>
            <a:picLocks noChangeAspect="1"/>
          </p:cNvPicPr>
          <p:nvPr/>
        </p:nvPicPr>
        <p:blipFill>
          <a:blip r:embed="rId2">
            <a:lum/>
            <a:alphaModFix/>
          </a:blip>
          <a:srcRect/>
          <a:stretch>
            <a:fillRect/>
          </a:stretch>
        </p:blipFill>
        <p:spPr>
          <a:xfrm>
            <a:off x="227390" y="1036894"/>
            <a:ext cx="1877181" cy="1740105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E272D295-1CCB-4A7A-8905-DDA1734F0862}"/>
              </a:ext>
            </a:extLst>
          </p:cNvPr>
          <p:cNvSpPr txBox="1"/>
          <p:nvPr/>
        </p:nvSpPr>
        <p:spPr>
          <a:xfrm>
            <a:off x="2969367" y="2062663"/>
            <a:ext cx="8995243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 dirty="0"/>
              <a:t>Storage </a:t>
            </a:r>
            <a:r>
              <a:rPr lang="fr-FR" sz="2400" dirty="0" err="1"/>
              <a:t>is</a:t>
            </a:r>
            <a:r>
              <a:rPr lang="fr-FR" sz="2400" dirty="0"/>
              <a:t> Slow,    (HDD Disk </a:t>
            </a:r>
            <a:r>
              <a:rPr lang="fr-FR" sz="2400" dirty="0" err="1"/>
              <a:t>random</a:t>
            </a:r>
            <a:r>
              <a:rPr lang="fr-FR" sz="2400" dirty="0"/>
              <a:t> </a:t>
            </a:r>
            <a:r>
              <a:rPr lang="fr-FR" sz="2400" dirty="0" err="1"/>
              <a:t>acces</a:t>
            </a:r>
            <a:r>
              <a:rPr lang="fr-FR" sz="2400" dirty="0"/>
              <a:t> « </a:t>
            </a:r>
            <a:r>
              <a:rPr lang="fr-FR" sz="2400" dirty="0" err="1"/>
              <a:t>seek</a:t>
            </a:r>
            <a:r>
              <a:rPr lang="fr-FR" sz="2400" dirty="0"/>
              <a:t> » ~5 </a:t>
            </a:r>
            <a:r>
              <a:rPr lang="fr-FR" sz="2400" dirty="0" err="1"/>
              <a:t>millis</a:t>
            </a:r>
            <a:r>
              <a:rPr lang="fr-FR" sz="2400" dirty="0"/>
              <a:t>)</a:t>
            </a:r>
          </a:p>
          <a:p>
            <a:r>
              <a:rPr lang="fr-FR" sz="2400" dirty="0"/>
              <a:t>Storage has </a:t>
            </a:r>
            <a:r>
              <a:rPr lang="fr-FR" sz="2400" dirty="0" err="1"/>
              <a:t>low</a:t>
            </a:r>
            <a:r>
              <a:rPr lang="fr-FR" sz="2400" dirty="0"/>
              <a:t> IO </a:t>
            </a:r>
            <a:r>
              <a:rPr lang="fr-FR" sz="2400" dirty="0" err="1"/>
              <a:t>Bandwidth</a:t>
            </a:r>
            <a:r>
              <a:rPr lang="fr-FR" sz="2400" dirty="0"/>
              <a:t>  (&lt;= 150 Mo/s)</a:t>
            </a:r>
          </a:p>
          <a:p>
            <a:r>
              <a:rPr lang="fr-FR" sz="2400" dirty="0" err="1"/>
              <a:t>Sata</a:t>
            </a:r>
            <a:r>
              <a:rPr lang="fr-FR" sz="2400" dirty="0"/>
              <a:t> or PCI bus </a:t>
            </a:r>
            <a:r>
              <a:rPr lang="fr-FR" sz="2400" dirty="0" err="1"/>
              <a:t>is</a:t>
            </a:r>
            <a:r>
              <a:rPr lang="fr-FR" sz="2400" dirty="0"/>
              <a:t> slow, </a:t>
            </a:r>
            <a:r>
              <a:rPr lang="fr-FR" sz="2400" dirty="0" err="1"/>
              <a:t>saturing</a:t>
            </a:r>
            <a:r>
              <a:rPr lang="fr-FR" sz="2400" dirty="0"/>
              <a:t> the CPU (~~1Go/s)</a:t>
            </a:r>
          </a:p>
          <a:p>
            <a:r>
              <a:rPr lang="fr-FR" sz="2400" dirty="0"/>
              <a:t>Network </a:t>
            </a:r>
            <a:r>
              <a:rPr lang="fr-FR" sz="2400" dirty="0" err="1"/>
              <a:t>is</a:t>
            </a:r>
            <a:r>
              <a:rPr lang="fr-FR" sz="2400" dirty="0"/>
              <a:t> Slow (</a:t>
            </a:r>
            <a:r>
              <a:rPr lang="fr-FR" sz="2400" dirty="0" err="1"/>
              <a:t>latency</a:t>
            </a:r>
            <a:r>
              <a:rPr lang="fr-FR" sz="2400" dirty="0"/>
              <a:t> … ~20 ms)</a:t>
            </a:r>
          </a:p>
          <a:p>
            <a:r>
              <a:rPr lang="fr-FR" sz="2400" dirty="0"/>
              <a:t>Network has </a:t>
            </a:r>
            <a:r>
              <a:rPr lang="fr-FR" sz="2400" dirty="0" err="1"/>
              <a:t>low</a:t>
            </a:r>
            <a:r>
              <a:rPr lang="fr-FR" sz="2400" dirty="0"/>
              <a:t> </a:t>
            </a:r>
            <a:r>
              <a:rPr lang="fr-FR" sz="2400" dirty="0" err="1"/>
              <a:t>Bandwidth</a:t>
            </a:r>
            <a:r>
              <a:rPr lang="fr-FR" sz="2400" dirty="0"/>
              <a:t> (1Go/s ?)</a:t>
            </a:r>
            <a:br>
              <a:rPr lang="fr-FR" sz="2400" dirty="0"/>
            </a:br>
            <a:endParaRPr lang="fr-FR" sz="2400" dirty="0"/>
          </a:p>
          <a:p>
            <a:r>
              <a:rPr lang="fr-FR" sz="2400" dirty="0"/>
              <a:t>=&gt;  Hadoop </a:t>
            </a:r>
            <a:r>
              <a:rPr lang="fr-FR" sz="2400" dirty="0" err="1"/>
              <a:t>was</a:t>
            </a:r>
            <a:r>
              <a:rPr lang="fr-FR" sz="2400" dirty="0"/>
              <a:t> </a:t>
            </a:r>
            <a:r>
              <a:rPr lang="fr-FR" sz="2400" dirty="0" err="1"/>
              <a:t>internally</a:t>
            </a:r>
            <a:r>
              <a:rPr lang="fr-FR" sz="2400" dirty="0"/>
              <a:t> </a:t>
            </a:r>
            <a:r>
              <a:rPr lang="fr-FR" sz="2400" dirty="0" err="1"/>
              <a:t>designed</a:t>
            </a:r>
            <a:r>
              <a:rPr lang="fr-FR" sz="2400" dirty="0"/>
              <a:t> to :</a:t>
            </a:r>
            <a:br>
              <a:rPr lang="fr-FR" sz="2400" dirty="0"/>
            </a:br>
            <a:endParaRPr lang="fr-FR" sz="2400" dirty="0"/>
          </a:p>
          <a:p>
            <a:r>
              <a:rPr lang="fr-FR" sz="2400" b="1" dirty="0"/>
              <a:t>use RAM </a:t>
            </a:r>
            <a:r>
              <a:rPr lang="fr-FR" sz="2400" b="1" dirty="0" err="1"/>
              <a:t>Caching</a:t>
            </a:r>
            <a:r>
              <a:rPr lang="fr-FR" sz="2400" b="1" dirty="0"/>
              <a:t> to </a:t>
            </a:r>
            <a:r>
              <a:rPr lang="fr-FR" sz="2400" b="1" dirty="0" err="1"/>
              <a:t>avoid</a:t>
            </a:r>
            <a:r>
              <a:rPr lang="fr-FR" sz="2400" b="1" dirty="0"/>
              <a:t> Disk </a:t>
            </a:r>
            <a:r>
              <a:rPr lang="fr-FR" sz="2400" b="1" dirty="0" err="1"/>
              <a:t>access</a:t>
            </a:r>
            <a:endParaRPr lang="fr-FR" sz="2400" b="1" dirty="0"/>
          </a:p>
          <a:p>
            <a:r>
              <a:rPr lang="fr-FR" sz="2400" b="1" dirty="0"/>
              <a:t>use CPU </a:t>
            </a:r>
            <a:r>
              <a:rPr lang="fr-FR" sz="2400" b="1" dirty="0" err="1"/>
              <a:t>near</a:t>
            </a:r>
            <a:r>
              <a:rPr lang="fr-FR" sz="2400" b="1" dirty="0"/>
              <a:t> to </a:t>
            </a:r>
            <a:r>
              <a:rPr lang="fr-FR" sz="2400" b="1" dirty="0" err="1"/>
              <a:t>Disks</a:t>
            </a:r>
            <a:endParaRPr lang="fr-FR" sz="2400" b="1" dirty="0"/>
          </a:p>
          <a:p>
            <a:r>
              <a:rPr lang="fr-FR" sz="2400" b="1" dirty="0"/>
              <a:t>move code </a:t>
            </a:r>
            <a:r>
              <a:rPr lang="fr-FR" sz="2400" b="1" dirty="0" err="1"/>
              <a:t>execution</a:t>
            </a:r>
            <a:r>
              <a:rPr lang="fr-FR" sz="2400" b="1" dirty="0"/>
              <a:t> </a:t>
            </a:r>
            <a:r>
              <a:rPr lang="fr-FR" sz="2400" b="1" dirty="0" err="1"/>
              <a:t>near</a:t>
            </a:r>
            <a:r>
              <a:rPr lang="fr-FR" sz="2400" b="1" dirty="0"/>
              <a:t> to </a:t>
            </a:r>
            <a:r>
              <a:rPr lang="fr-FR" sz="2400" b="1" dirty="0" err="1"/>
              <a:t>disk</a:t>
            </a:r>
            <a:r>
              <a:rPr lang="fr-FR" sz="2400" b="1" dirty="0"/>
              <a:t>, </a:t>
            </a:r>
            <a:r>
              <a:rPr lang="fr-FR" sz="2400" b="1" dirty="0" err="1"/>
              <a:t>avoid</a:t>
            </a:r>
            <a:r>
              <a:rPr lang="fr-FR" sz="2400" b="1" dirty="0"/>
              <a:t> move Data</a:t>
            </a:r>
          </a:p>
          <a:p>
            <a:r>
              <a:rPr lang="fr-FR" sz="2400" b="1" dirty="0" err="1"/>
              <a:t>avoid</a:t>
            </a:r>
            <a:r>
              <a:rPr lang="fr-FR" sz="2400" b="1" dirty="0"/>
              <a:t> Network</a:t>
            </a:r>
          </a:p>
        </p:txBody>
      </p:sp>
    </p:spTree>
    <p:extLst>
      <p:ext uri="{BB962C8B-B14F-4D97-AF65-F5344CB8AC3E}">
        <p14:creationId xmlns:p14="http://schemas.microsoft.com/office/powerpoint/2010/main" val="85016809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B10AB89-F814-4960-9FF8-67D872D7FF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2102" y="1"/>
            <a:ext cx="11909898" cy="904672"/>
          </a:xfrm>
        </p:spPr>
        <p:txBody>
          <a:bodyPr>
            <a:normAutofit fontScale="90000"/>
          </a:bodyPr>
          <a:lstStyle/>
          <a:p>
            <a:r>
              <a:rPr lang="fr-FR" dirty="0"/>
              <a:t>Old Assumption:  use « </a:t>
            </a:r>
            <a:r>
              <a:rPr lang="fr-FR" dirty="0" err="1"/>
              <a:t>DataNode</a:t>
            </a:r>
            <a:r>
              <a:rPr lang="fr-FR" dirty="0"/>
              <a:t> » as «Code </a:t>
            </a:r>
            <a:r>
              <a:rPr lang="fr-FR" dirty="0" err="1"/>
              <a:t>Executors</a:t>
            </a:r>
            <a:r>
              <a:rPr lang="fr-FR" dirty="0"/>
              <a:t> »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A063F332-AED8-4463-9069-7F811EC967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0783" y="1051807"/>
            <a:ext cx="9007812" cy="5604861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F395FBAA-84CD-44A1-BB5D-34B792BA7EC9}"/>
              </a:ext>
            </a:extLst>
          </p:cNvPr>
          <p:cNvSpPr/>
          <p:nvPr/>
        </p:nvSpPr>
        <p:spPr>
          <a:xfrm>
            <a:off x="7762671" y="1352145"/>
            <a:ext cx="2363823" cy="425098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??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AA8FCBAC-FE9E-43BB-BD6D-F7622AE00520}"/>
              </a:ext>
            </a:extLst>
          </p:cNvPr>
          <p:cNvSpPr txBox="1"/>
          <p:nvPr/>
        </p:nvSpPr>
        <p:spPr>
          <a:xfrm>
            <a:off x="8336605" y="3103124"/>
            <a:ext cx="139230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/>
              <a:t>Adapt</a:t>
            </a:r>
            <a:br>
              <a:rPr lang="fr-FR" dirty="0"/>
            </a:br>
            <a:r>
              <a:rPr lang="fr-FR" dirty="0"/>
              <a:t>Architectural</a:t>
            </a:r>
          </a:p>
          <a:p>
            <a:r>
              <a:rPr lang="fr-FR" dirty="0" err="1"/>
              <a:t>Choices</a:t>
            </a:r>
            <a:r>
              <a:rPr lang="fr-FR" dirty="0"/>
              <a:t> … ?</a:t>
            </a:r>
          </a:p>
        </p:txBody>
      </p:sp>
    </p:spTree>
    <p:extLst>
      <p:ext uri="{BB962C8B-B14F-4D97-AF65-F5344CB8AC3E}">
        <p14:creationId xmlns:p14="http://schemas.microsoft.com/office/powerpoint/2010/main" val="295659651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48DB01-2766-62D5-9C8F-DF7D365BFA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6903" y="23777"/>
            <a:ext cx="11247363" cy="1325563"/>
          </a:xfrm>
        </p:spPr>
        <p:txBody>
          <a:bodyPr>
            <a:normAutofit/>
          </a:bodyPr>
          <a:lstStyle/>
          <a:p>
            <a:r>
              <a:rPr lang="fr-FR" dirty="0"/>
              <a:t>Hardware Evolutions…  =&gt; Software Adaptations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DA3CEFC-8833-2B8E-BD35-5837D700A2E9}"/>
              </a:ext>
            </a:extLst>
          </p:cNvPr>
          <p:cNvSpPr txBox="1"/>
          <p:nvPr/>
        </p:nvSpPr>
        <p:spPr>
          <a:xfrm>
            <a:off x="876903" y="1403047"/>
            <a:ext cx="10893367" cy="489364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/>
              <a:t>HDD = Hard Disk  (</a:t>
            </a:r>
            <a:r>
              <a:rPr lang="fr-FR" sz="2400" dirty="0" err="1"/>
              <a:t>magnetic</a:t>
            </a:r>
            <a:r>
              <a:rPr lang="fr-FR" sz="2400" dirty="0"/>
              <a:t> + </a:t>
            </a:r>
            <a:r>
              <a:rPr lang="fr-FR" sz="2400" dirty="0" err="1"/>
              <a:t>disks</a:t>
            </a:r>
            <a:r>
              <a:rPr lang="fr-FR" sz="2400" dirty="0"/>
              <a:t> rotation)  =&gt;   slow « </a:t>
            </a:r>
            <a:r>
              <a:rPr lang="fr-FR" sz="2400" dirty="0" err="1"/>
              <a:t>seek</a:t>
            </a:r>
            <a:r>
              <a:rPr lang="fr-FR" sz="2400" dirty="0"/>
              <a:t> » to position</a:t>
            </a:r>
          </a:p>
          <a:p>
            <a:r>
              <a:rPr lang="fr-FR" sz="2400" dirty="0"/>
              <a:t>SSD =&gt; no more « </a:t>
            </a:r>
            <a:r>
              <a:rPr lang="fr-FR" sz="2400" dirty="0" err="1"/>
              <a:t>seek</a:t>
            </a:r>
            <a:r>
              <a:rPr lang="fr-FR" sz="2400" dirty="0"/>
              <a:t> » </a:t>
            </a:r>
            <a:r>
              <a:rPr lang="fr-FR" sz="2400" dirty="0" err="1"/>
              <a:t>problem</a:t>
            </a:r>
            <a:r>
              <a:rPr lang="fr-FR" sz="2400" dirty="0"/>
              <a:t>, </a:t>
            </a:r>
            <a:r>
              <a:rPr lang="fr-FR" sz="2400" dirty="0" err="1"/>
              <a:t>so</a:t>
            </a:r>
            <a:r>
              <a:rPr lang="fr-FR" sz="2400" dirty="0"/>
              <a:t> NO </a:t>
            </a:r>
            <a:r>
              <a:rPr lang="fr-FR" sz="2400" dirty="0" err="1"/>
              <a:t>need</a:t>
            </a:r>
            <a:r>
              <a:rPr lang="fr-FR" sz="2400" dirty="0"/>
              <a:t> to </a:t>
            </a:r>
            <a:r>
              <a:rPr lang="fr-FR" sz="2400" dirty="0" err="1"/>
              <a:t>locally</a:t>
            </a:r>
            <a:r>
              <a:rPr lang="fr-FR" sz="2400" dirty="0"/>
              <a:t> cache data in RAM</a:t>
            </a:r>
          </a:p>
          <a:p>
            <a:r>
              <a:rPr lang="fr-FR" sz="2400" dirty="0"/>
              <a:t>             and </a:t>
            </a:r>
            <a:r>
              <a:rPr lang="fr-FR" sz="2400" dirty="0" err="1"/>
              <a:t>huge</a:t>
            </a:r>
            <a:r>
              <a:rPr lang="fr-FR" sz="2400" dirty="0"/>
              <a:t> </a:t>
            </a:r>
            <a:r>
              <a:rPr lang="fr-FR" sz="2400" dirty="0" err="1"/>
              <a:t>read</a:t>
            </a:r>
            <a:r>
              <a:rPr lang="fr-FR" sz="2400" dirty="0"/>
              <a:t> Go per second</a:t>
            </a:r>
          </a:p>
          <a:p>
            <a:endParaRPr lang="fr-FR" sz="2400" dirty="0"/>
          </a:p>
          <a:p>
            <a:r>
              <a:rPr lang="fr-FR" sz="2400" dirty="0"/>
              <a:t>Disk </a:t>
            </a:r>
            <a:r>
              <a:rPr lang="fr-FR" sz="2400" dirty="0" err="1"/>
              <a:t>connectivity</a:t>
            </a:r>
            <a:r>
              <a:rPr lang="fr-FR" sz="2400" dirty="0"/>
              <a:t> to </a:t>
            </a:r>
            <a:r>
              <a:rPr lang="fr-FR" sz="2400" dirty="0" err="1"/>
              <a:t>motherboard</a:t>
            </a:r>
            <a:r>
              <a:rPr lang="fr-FR" sz="2400" dirty="0"/>
              <a:t> =&gt;  HDI &lt; SCSI &lt; SATA &lt; …PCI </a:t>
            </a:r>
            <a:r>
              <a:rPr lang="fr-FR" sz="2400" dirty="0" err="1"/>
              <a:t>Nvme</a:t>
            </a:r>
            <a:r>
              <a:rPr lang="fr-FR" sz="2400" dirty="0"/>
              <a:t> …</a:t>
            </a:r>
          </a:p>
          <a:p>
            <a:r>
              <a:rPr lang="fr-FR" sz="2400" dirty="0"/>
              <a:t>             Google « </a:t>
            </a:r>
            <a:r>
              <a:rPr lang="fr-FR" sz="2400" dirty="0" err="1"/>
              <a:t>nvme</a:t>
            </a:r>
            <a:r>
              <a:rPr lang="fr-FR" sz="2400" dirty="0"/>
              <a:t> vs </a:t>
            </a:r>
            <a:r>
              <a:rPr lang="fr-FR" sz="2400" dirty="0" err="1"/>
              <a:t>sata</a:t>
            </a:r>
            <a:r>
              <a:rPr lang="fr-FR" sz="2400" dirty="0"/>
              <a:t> </a:t>
            </a:r>
            <a:r>
              <a:rPr lang="fr-FR" sz="2400" dirty="0" err="1"/>
              <a:t>ssd</a:t>
            </a:r>
            <a:r>
              <a:rPr lang="fr-FR" sz="2400" dirty="0"/>
              <a:t> </a:t>
            </a:r>
            <a:r>
              <a:rPr lang="fr-FR" sz="2400" dirty="0" err="1"/>
              <a:t>bandwidth</a:t>
            </a:r>
            <a:r>
              <a:rPr lang="fr-FR" sz="2400" dirty="0"/>
              <a:t> »</a:t>
            </a:r>
          </a:p>
          <a:p>
            <a:r>
              <a:rPr lang="fr-FR" sz="2400" dirty="0"/>
              <a:t>             SSD + </a:t>
            </a:r>
            <a:r>
              <a:rPr lang="fr-FR" sz="2400" dirty="0" err="1"/>
              <a:t>NvMe</a:t>
            </a:r>
            <a:r>
              <a:rPr lang="fr-FR" sz="2400" dirty="0"/>
              <a:t> =&gt; HUGE </a:t>
            </a:r>
            <a:r>
              <a:rPr lang="fr-FR" sz="2400" dirty="0" err="1"/>
              <a:t>bandwith</a:t>
            </a:r>
            <a:r>
              <a:rPr lang="fr-FR" sz="2400" dirty="0"/>
              <a:t> … &gt; 4Go per seconds</a:t>
            </a:r>
          </a:p>
          <a:p>
            <a:r>
              <a:rPr lang="fr-FR" sz="2400" dirty="0"/>
              <a:t>                  ( </a:t>
            </a:r>
            <a:r>
              <a:rPr lang="fr-FR" sz="2400" dirty="0" err="1"/>
              <a:t>maybe</a:t>
            </a:r>
            <a:r>
              <a:rPr lang="fr-FR" sz="2400" dirty="0"/>
              <a:t> more </a:t>
            </a:r>
            <a:r>
              <a:rPr lang="fr-FR" sz="2400" dirty="0" err="1"/>
              <a:t>than</a:t>
            </a:r>
            <a:r>
              <a:rPr lang="fr-FR" sz="2400" dirty="0"/>
              <a:t> network </a:t>
            </a:r>
            <a:r>
              <a:rPr lang="fr-FR" sz="2400" dirty="0" err="1"/>
              <a:t>card</a:t>
            </a:r>
            <a:r>
              <a:rPr lang="fr-FR" sz="2400" dirty="0"/>
              <a:t> support?)</a:t>
            </a:r>
          </a:p>
          <a:p>
            <a:endParaRPr lang="fr-FR" sz="2400" dirty="0"/>
          </a:p>
          <a:p>
            <a:r>
              <a:rPr lang="fr-FR" sz="2400" dirty="0"/>
              <a:t>Network </a:t>
            </a:r>
            <a:r>
              <a:rPr lang="fr-FR" sz="2400" dirty="0" err="1"/>
              <a:t>cards</a:t>
            </a:r>
            <a:r>
              <a:rPr lang="fr-FR" sz="2400" dirty="0"/>
              <a:t> … 10Go/s  … </a:t>
            </a:r>
            <a:r>
              <a:rPr lang="fr-FR" sz="2400" dirty="0" err="1"/>
              <a:t>fiber</a:t>
            </a:r>
            <a:r>
              <a:rPr lang="fr-FR" sz="2400" dirty="0"/>
              <a:t> </a:t>
            </a:r>
            <a:r>
              <a:rPr lang="fr-FR" sz="2400" dirty="0" err="1"/>
              <a:t>channel</a:t>
            </a:r>
            <a:r>
              <a:rPr lang="fr-FR" sz="2400" dirty="0"/>
              <a:t> 100Go/s</a:t>
            </a:r>
          </a:p>
          <a:p>
            <a:r>
              <a:rPr lang="fr-FR" sz="2400" dirty="0"/>
              <a:t>	So </a:t>
            </a:r>
            <a:r>
              <a:rPr lang="fr-FR" sz="2400" dirty="0" err="1"/>
              <a:t>downloading</a:t>
            </a:r>
            <a:r>
              <a:rPr lang="fr-FR" sz="2400" dirty="0"/>
              <a:t> HUGE file for Full scan </a:t>
            </a:r>
            <a:r>
              <a:rPr lang="fr-FR" sz="2400" dirty="0" err="1"/>
              <a:t>is</a:t>
            </a:r>
            <a:r>
              <a:rPr lang="fr-FR" sz="2400" dirty="0"/>
              <a:t> </a:t>
            </a:r>
            <a:r>
              <a:rPr lang="fr-FR" sz="2400" dirty="0" err="1"/>
              <a:t>now</a:t>
            </a:r>
            <a:r>
              <a:rPr lang="fr-FR" sz="2400" dirty="0"/>
              <a:t> OK !!</a:t>
            </a:r>
          </a:p>
          <a:p>
            <a:r>
              <a:rPr lang="fr-FR" sz="2400" dirty="0"/>
              <a:t>             </a:t>
            </a:r>
            <a:r>
              <a:rPr lang="fr-FR" sz="2400" b="1" dirty="0"/>
              <a:t>No more </a:t>
            </a:r>
            <a:r>
              <a:rPr lang="fr-FR" sz="2400" b="1" dirty="0" err="1"/>
              <a:t>need</a:t>
            </a:r>
            <a:r>
              <a:rPr lang="fr-FR" sz="2400" b="1" dirty="0"/>
              <a:t> to cache in local RAM, no </a:t>
            </a:r>
            <a:r>
              <a:rPr lang="fr-FR" sz="2400" b="1" dirty="0" err="1"/>
              <a:t>need</a:t>
            </a:r>
            <a:r>
              <a:rPr lang="fr-FR" sz="2400" b="1" dirty="0"/>
              <a:t> to </a:t>
            </a:r>
            <a:r>
              <a:rPr lang="fr-FR" sz="2400" b="1" dirty="0" err="1"/>
              <a:t>collocate</a:t>
            </a:r>
            <a:r>
              <a:rPr lang="fr-FR" sz="2400" b="1" dirty="0"/>
              <a:t> program </a:t>
            </a:r>
            <a:r>
              <a:rPr lang="fr-FR" sz="2400" b="1" dirty="0" err="1"/>
              <a:t>near</a:t>
            </a:r>
            <a:r>
              <a:rPr lang="fr-FR" sz="2400" b="1" dirty="0"/>
              <a:t> data</a:t>
            </a:r>
          </a:p>
          <a:p>
            <a:endParaRPr lang="fr-FR" sz="2400" dirty="0"/>
          </a:p>
        </p:txBody>
      </p:sp>
    </p:spTree>
    <p:extLst>
      <p:ext uri="{BB962C8B-B14F-4D97-AF65-F5344CB8AC3E}">
        <p14:creationId xmlns:p14="http://schemas.microsoft.com/office/powerpoint/2010/main" val="162396755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165C657-97AF-417D-875B-06CA76095C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"/>
            <a:ext cx="10515600" cy="787941"/>
          </a:xfrm>
        </p:spPr>
        <p:txBody>
          <a:bodyPr>
            <a:normAutofit fontScale="90000"/>
          </a:bodyPr>
          <a:lstStyle/>
          <a:p>
            <a:r>
              <a:rPr lang="fr-FR" dirty="0" err="1"/>
              <a:t>Today</a:t>
            </a:r>
            <a:r>
              <a:rPr lang="fr-FR" dirty="0"/>
              <a:t> … SSD NVME, </a:t>
            </a:r>
            <a:r>
              <a:rPr lang="fr-FR" dirty="0" err="1"/>
              <a:t>PCiExpress</a:t>
            </a:r>
            <a:r>
              <a:rPr lang="fr-FR" dirty="0"/>
              <a:t>, </a:t>
            </a:r>
            <a:r>
              <a:rPr lang="fr-FR" dirty="0" err="1"/>
              <a:t>Fiber</a:t>
            </a:r>
            <a:r>
              <a:rPr lang="fr-FR" dirty="0"/>
              <a:t> </a:t>
            </a:r>
            <a:r>
              <a:rPr lang="fr-FR" dirty="0" err="1"/>
              <a:t>channel</a:t>
            </a:r>
            <a:r>
              <a:rPr lang="fr-FR" dirty="0"/>
              <a:t>, …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FC449888-8FBA-4B9B-8241-7704DB8FBF19}"/>
              </a:ext>
            </a:extLst>
          </p:cNvPr>
          <p:cNvSpPr txBox="1"/>
          <p:nvPr/>
        </p:nvSpPr>
        <p:spPr>
          <a:xfrm>
            <a:off x="2410824" y="2910780"/>
            <a:ext cx="689426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SSD </a:t>
            </a:r>
            <a:r>
              <a:rPr lang="fr-FR" dirty="0" err="1"/>
              <a:t>Disks</a:t>
            </a:r>
            <a:r>
              <a:rPr lang="fr-FR" dirty="0"/>
              <a:t>   =&gt;  no « </a:t>
            </a:r>
            <a:r>
              <a:rPr lang="fr-FR" dirty="0" err="1"/>
              <a:t>seek</a:t>
            </a:r>
            <a:r>
              <a:rPr lang="fr-FR" dirty="0"/>
              <a:t> »  </a:t>
            </a:r>
            <a:r>
              <a:rPr lang="fr-FR" dirty="0" err="1"/>
              <a:t>latency</a:t>
            </a:r>
            <a:r>
              <a:rPr lang="fr-FR" dirty="0"/>
              <a:t>  </a:t>
            </a:r>
            <a:r>
              <a:rPr lang="fr-FR" b="1" dirty="0"/>
              <a:t>~2 Millions </a:t>
            </a:r>
            <a:r>
              <a:rPr lang="fr-FR" b="1" dirty="0" err="1"/>
              <a:t>random</a:t>
            </a:r>
            <a:r>
              <a:rPr lang="fr-FR" b="1" dirty="0"/>
              <a:t> 4K IOPS per sec</a:t>
            </a:r>
          </a:p>
          <a:p>
            <a:r>
              <a:rPr lang="fr-FR" dirty="0" err="1"/>
              <a:t>huge</a:t>
            </a:r>
            <a:r>
              <a:rPr lang="fr-FR" dirty="0"/>
              <a:t> </a:t>
            </a:r>
            <a:r>
              <a:rPr lang="fr-FR" dirty="0" err="1"/>
              <a:t>bandwidth</a:t>
            </a:r>
            <a:r>
              <a:rPr lang="fr-FR" dirty="0"/>
              <a:t>     </a:t>
            </a:r>
            <a:r>
              <a:rPr lang="fr-FR" b="1" dirty="0"/>
              <a:t>~15 GB/s</a:t>
            </a:r>
          </a:p>
          <a:p>
            <a:r>
              <a:rPr lang="fr-FR" dirty="0"/>
              <a:t>Network </a:t>
            </a:r>
            <a:r>
              <a:rPr lang="fr-FR" b="1" dirty="0"/>
              <a:t>~300 Go/s</a:t>
            </a:r>
          </a:p>
          <a:p>
            <a:endParaRPr lang="fr-FR" dirty="0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9B3901A6-138F-4AA9-AEBA-01D34BC934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0824" y="1229634"/>
            <a:ext cx="7404385" cy="1517258"/>
          </a:xfrm>
          <a:prstGeom prst="rect">
            <a:avLst/>
          </a:prstGeom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2309ACC3-A593-440D-8CF0-ECDD2B3BDB44}"/>
              </a:ext>
            </a:extLst>
          </p:cNvPr>
          <p:cNvSpPr txBox="1"/>
          <p:nvPr/>
        </p:nvSpPr>
        <p:spPr>
          <a:xfrm>
            <a:off x="916187" y="4308734"/>
            <a:ext cx="10552761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b="1" dirty="0"/>
              <a:t>Do not </a:t>
            </a:r>
            <a:r>
              <a:rPr lang="fr-FR" sz="2400" b="1" dirty="0" err="1"/>
              <a:t>be</a:t>
            </a:r>
            <a:r>
              <a:rPr lang="fr-FR" sz="2400" b="1" dirty="0"/>
              <a:t> </a:t>
            </a:r>
            <a:r>
              <a:rPr lang="fr-FR" sz="2400" b="1" dirty="0" err="1"/>
              <a:t>afraid</a:t>
            </a:r>
            <a:r>
              <a:rPr lang="fr-FR" sz="2400" b="1" dirty="0"/>
              <a:t> of </a:t>
            </a:r>
            <a:r>
              <a:rPr lang="fr-FR" sz="2400" b="1" dirty="0" err="1"/>
              <a:t>reading</a:t>
            </a:r>
            <a:r>
              <a:rPr lang="fr-FR" sz="2400" b="1" dirty="0"/>
              <a:t> « </a:t>
            </a:r>
            <a:r>
              <a:rPr lang="fr-FR" sz="2400" b="1" dirty="0" err="1"/>
              <a:t>FullScan</a:t>
            </a:r>
            <a:r>
              <a:rPr lang="fr-FR" sz="2400" b="1" dirty="0"/>
              <a:t> » Data </a:t>
            </a:r>
            <a:r>
              <a:rPr lang="fr-FR" sz="2400" b="1" dirty="0" err="1"/>
              <a:t>from</a:t>
            </a:r>
            <a:r>
              <a:rPr lang="fr-FR" sz="2400" b="1" dirty="0"/>
              <a:t> Disk, </a:t>
            </a:r>
            <a:r>
              <a:rPr lang="fr-FR" sz="2400" b="1" dirty="0" err="1"/>
              <a:t>even</a:t>
            </a:r>
            <a:r>
              <a:rPr lang="fr-FR" sz="2400" b="1" dirty="0"/>
              <a:t> </a:t>
            </a:r>
            <a:r>
              <a:rPr lang="fr-FR" sz="2400" b="1" dirty="0" err="1"/>
              <a:t>Remotely</a:t>
            </a:r>
            <a:r>
              <a:rPr lang="fr-FR" sz="2400" b="1" dirty="0"/>
              <a:t>, No Cache</a:t>
            </a:r>
            <a:endParaRPr lang="fr-FR" sz="2400" dirty="0"/>
          </a:p>
          <a:p>
            <a:endParaRPr lang="fr-FR" sz="2400" dirty="0"/>
          </a:p>
          <a:p>
            <a:r>
              <a:rPr lang="fr-FR" sz="2400" dirty="0"/>
              <a:t>Example: </a:t>
            </a:r>
            <a:r>
              <a:rPr lang="fr-FR" sz="2400" dirty="0" err="1"/>
              <a:t>reading</a:t>
            </a:r>
            <a:r>
              <a:rPr lang="fr-FR" sz="2400" dirty="0"/>
              <a:t> 1 </a:t>
            </a:r>
            <a:r>
              <a:rPr lang="fr-FR" sz="2400" dirty="0" err="1"/>
              <a:t>Tera</a:t>
            </a:r>
            <a:r>
              <a:rPr lang="fr-FR" sz="2400" dirty="0"/>
              <a:t>, </a:t>
            </a:r>
            <a:r>
              <a:rPr lang="fr-FR" sz="2400" dirty="0" err="1"/>
              <a:t>might</a:t>
            </a:r>
            <a:r>
              <a:rPr lang="fr-FR" sz="2400" dirty="0"/>
              <a:t> </a:t>
            </a:r>
            <a:r>
              <a:rPr lang="fr-FR" sz="2400" dirty="0" err="1"/>
              <a:t>take</a:t>
            </a:r>
            <a:r>
              <a:rPr lang="fr-FR" sz="2400" dirty="0"/>
              <a:t> ~1024/15= 68 seconds </a:t>
            </a:r>
            <a:r>
              <a:rPr lang="fr-FR" sz="2400" dirty="0" err="1"/>
              <a:t>from</a:t>
            </a:r>
            <a:r>
              <a:rPr lang="fr-FR" sz="2400" dirty="0"/>
              <a:t> a single </a:t>
            </a:r>
            <a:r>
              <a:rPr lang="fr-FR" sz="2400" dirty="0" err="1"/>
              <a:t>disk</a:t>
            </a:r>
            <a:endParaRPr lang="fr-FR" sz="2400" dirty="0"/>
          </a:p>
          <a:p>
            <a:r>
              <a:rPr lang="fr-FR" sz="2400" dirty="0"/>
              <a:t>And </a:t>
            </a:r>
            <a:r>
              <a:rPr lang="fr-FR" sz="2400" dirty="0" err="1"/>
              <a:t>with</a:t>
            </a:r>
            <a:r>
              <a:rPr lang="fr-FR" sz="2400" dirty="0"/>
              <a:t> </a:t>
            </a:r>
            <a:r>
              <a:rPr lang="fr-FR" sz="2400" dirty="0" err="1"/>
              <a:t>distributed</a:t>
            </a:r>
            <a:r>
              <a:rPr lang="fr-FR" sz="2400" dirty="0"/>
              <a:t> </a:t>
            </a:r>
            <a:r>
              <a:rPr lang="fr-FR" sz="2400" dirty="0" err="1"/>
              <a:t>disks</a:t>
            </a:r>
            <a:r>
              <a:rPr lang="fr-FR" sz="2400" dirty="0"/>
              <a:t> …  </a:t>
            </a:r>
            <a:r>
              <a:rPr lang="fr-FR" sz="2400" dirty="0" err="1"/>
              <a:t>Providing</a:t>
            </a:r>
            <a:r>
              <a:rPr lang="fr-FR" sz="2400" dirty="0"/>
              <a:t> the data </a:t>
            </a:r>
            <a:r>
              <a:rPr lang="fr-FR" sz="2400" dirty="0" err="1"/>
              <a:t>is</a:t>
            </a:r>
            <a:r>
              <a:rPr lang="fr-FR" sz="2400" dirty="0"/>
              <a:t> NOT the </a:t>
            </a:r>
            <a:r>
              <a:rPr lang="fr-FR" sz="2400" dirty="0" err="1"/>
              <a:t>bottleneck</a:t>
            </a:r>
            <a:endParaRPr lang="fr-FR" sz="2400" dirty="0"/>
          </a:p>
          <a:p>
            <a:endParaRPr lang="fr-FR" sz="2400" dirty="0"/>
          </a:p>
          <a:p>
            <a:r>
              <a:rPr lang="fr-FR" sz="2400" dirty="0"/>
              <a:t>The </a:t>
            </a:r>
            <a:r>
              <a:rPr lang="fr-FR" sz="2400" dirty="0" err="1"/>
              <a:t>bottleneck</a:t>
            </a:r>
            <a:r>
              <a:rPr lang="fr-FR" sz="2400" dirty="0"/>
              <a:t> </a:t>
            </a:r>
            <a:r>
              <a:rPr lang="fr-FR" sz="2400" dirty="0" err="1"/>
              <a:t>is</a:t>
            </a:r>
            <a:r>
              <a:rPr lang="fr-FR" sz="2400" dirty="0"/>
              <a:t> </a:t>
            </a:r>
            <a:r>
              <a:rPr lang="fr-FR" sz="2400" dirty="0" err="1"/>
              <a:t>your</a:t>
            </a:r>
            <a:r>
              <a:rPr lang="fr-FR" sz="2400" dirty="0"/>
              <a:t> RAM+CPU </a:t>
            </a:r>
            <a:r>
              <a:rPr lang="fr-FR" sz="2400" dirty="0" err="1"/>
              <a:t>processing</a:t>
            </a:r>
            <a:r>
              <a:rPr lang="fr-FR" sz="2400" dirty="0"/>
              <a:t> of </a:t>
            </a:r>
            <a:r>
              <a:rPr lang="fr-FR" sz="2400" dirty="0" err="1"/>
              <a:t>it</a:t>
            </a:r>
            <a:endParaRPr lang="fr-FR" sz="2400" dirty="0"/>
          </a:p>
        </p:txBody>
      </p:sp>
    </p:spTree>
    <p:extLst>
      <p:ext uri="{BB962C8B-B14F-4D97-AF65-F5344CB8AC3E}">
        <p14:creationId xmlns:p14="http://schemas.microsoft.com/office/powerpoint/2010/main" val="335719223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B10AB89-F814-4960-9FF8-67D872D7FF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2102" y="1"/>
            <a:ext cx="11909898" cy="904672"/>
          </a:xfrm>
        </p:spPr>
        <p:txBody>
          <a:bodyPr>
            <a:normAutofit fontScale="90000"/>
          </a:bodyPr>
          <a:lstStyle/>
          <a:p>
            <a:r>
              <a:rPr lang="fr-FR" dirty="0"/>
              <a:t>Old Assumption:  use « </a:t>
            </a:r>
            <a:r>
              <a:rPr lang="fr-FR" dirty="0" err="1"/>
              <a:t>DataNode</a:t>
            </a:r>
            <a:r>
              <a:rPr lang="fr-FR" dirty="0"/>
              <a:t> » as «Code </a:t>
            </a:r>
            <a:r>
              <a:rPr lang="fr-FR" dirty="0" err="1"/>
              <a:t>Executors</a:t>
            </a:r>
            <a:r>
              <a:rPr lang="fr-FR" dirty="0"/>
              <a:t> »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A063F332-AED8-4463-9069-7F811EC967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0783" y="1051807"/>
            <a:ext cx="9007812" cy="56048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537039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123E62E-D60E-49BB-8795-798A8FA394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Compute</a:t>
            </a:r>
            <a:r>
              <a:rPr lang="fr-FR" dirty="0"/>
              <a:t> &lt;-&gt; Storage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3FC7B5F6-3005-4C9B-BC59-CCF0901A2DE2}"/>
              </a:ext>
            </a:extLst>
          </p:cNvPr>
          <p:cNvSpPr txBox="1"/>
          <p:nvPr/>
        </p:nvSpPr>
        <p:spPr>
          <a:xfrm>
            <a:off x="1865684" y="2300751"/>
            <a:ext cx="8460632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800" dirty="0"/>
              <a:t>RAM+CPU = </a:t>
            </a:r>
            <a:r>
              <a:rPr lang="fr-FR" sz="1800" dirty="0" err="1"/>
              <a:t>Electricity</a:t>
            </a:r>
            <a:r>
              <a:rPr lang="fr-FR" sz="1800" dirty="0"/>
              <a:t> =  </a:t>
            </a:r>
            <a:r>
              <a:rPr lang="fr-FR" sz="1800" dirty="0" err="1"/>
              <a:t>Pay</a:t>
            </a:r>
            <a:r>
              <a:rPr lang="fr-FR" sz="1800" dirty="0"/>
              <a:t> $$$      = « </a:t>
            </a:r>
            <a:r>
              <a:rPr lang="fr-FR" sz="1800" dirty="0" err="1"/>
              <a:t>compute</a:t>
            </a:r>
            <a:r>
              <a:rPr lang="fr-FR" sz="1800" dirty="0"/>
              <a:t> »</a:t>
            </a:r>
          </a:p>
          <a:p>
            <a:endParaRPr lang="fr-FR" dirty="0"/>
          </a:p>
          <a:p>
            <a:r>
              <a:rPr lang="fr-FR" sz="1800" dirty="0"/>
              <a:t>        … </a:t>
            </a:r>
            <a:r>
              <a:rPr lang="fr-FR" sz="1800" dirty="0" err="1"/>
              <a:t>very</a:t>
            </a:r>
            <a:r>
              <a:rPr lang="fr-FR" sz="1800" dirty="0"/>
              <a:t> </a:t>
            </a:r>
            <a:r>
              <a:rPr lang="fr-FR" sz="1800" dirty="0" err="1"/>
              <a:t>limited</a:t>
            </a:r>
            <a:r>
              <a:rPr lang="fr-FR" sz="1800" dirty="0"/>
              <a:t> </a:t>
            </a:r>
            <a:r>
              <a:rPr lang="fr-FR" sz="1800" dirty="0" err="1"/>
              <a:t>resource</a:t>
            </a:r>
            <a:r>
              <a:rPr lang="fr-FR" sz="1800" dirty="0"/>
              <a:t>   ….   </a:t>
            </a:r>
            <a:r>
              <a:rPr lang="fr-FR" sz="1800" dirty="0" err="1"/>
              <a:t>Pay</a:t>
            </a:r>
            <a:r>
              <a:rPr lang="fr-FR" sz="1800" dirty="0"/>
              <a:t> as </a:t>
            </a:r>
            <a:r>
              <a:rPr lang="fr-FR" sz="1800" dirty="0" err="1"/>
              <a:t>you</a:t>
            </a:r>
            <a:r>
              <a:rPr lang="fr-FR" sz="1800" dirty="0"/>
              <a:t> go,  sharing / provision on </a:t>
            </a:r>
            <a:r>
              <a:rPr lang="fr-FR" sz="1800" dirty="0" err="1"/>
              <a:t>demand</a:t>
            </a:r>
            <a:endParaRPr lang="fr-FR" sz="1800" dirty="0"/>
          </a:p>
          <a:p>
            <a:endParaRPr lang="fr-FR" dirty="0"/>
          </a:p>
          <a:p>
            <a:endParaRPr lang="fr-FR" dirty="0"/>
          </a:p>
          <a:p>
            <a:r>
              <a:rPr lang="fr-FR" dirty="0"/>
              <a:t>Disk  =  « </a:t>
            </a:r>
            <a:r>
              <a:rPr lang="fr-FR" dirty="0" err="1"/>
              <a:t>storage</a:t>
            </a:r>
            <a:r>
              <a:rPr lang="fr-FR" dirty="0"/>
              <a:t> »   (can </a:t>
            </a:r>
            <a:r>
              <a:rPr lang="fr-FR" dirty="0" err="1"/>
              <a:t>be</a:t>
            </a:r>
            <a:r>
              <a:rPr lang="fr-FR" dirty="0"/>
              <a:t> Hot / Cold / </a:t>
            </a:r>
            <a:r>
              <a:rPr lang="fr-FR" dirty="0" err="1"/>
              <a:t>Archived</a:t>
            </a:r>
            <a:r>
              <a:rPr lang="fr-FR" dirty="0"/>
              <a:t>  :  </a:t>
            </a:r>
            <a:r>
              <a:rPr lang="fr-FR" dirty="0" err="1"/>
              <a:t>choose</a:t>
            </a:r>
            <a:r>
              <a:rPr lang="fr-FR" dirty="0"/>
              <a:t> </a:t>
            </a:r>
            <a:r>
              <a:rPr lang="fr-FR" dirty="0" err="1"/>
              <a:t>disks</a:t>
            </a:r>
            <a:r>
              <a:rPr lang="fr-FR" dirty="0"/>
              <a:t> for  </a:t>
            </a:r>
            <a:r>
              <a:rPr lang="fr-FR" dirty="0" err="1"/>
              <a:t>price</a:t>
            </a:r>
            <a:r>
              <a:rPr lang="fr-FR" dirty="0"/>
              <a:t>/speed ratio )</a:t>
            </a:r>
          </a:p>
          <a:p>
            <a:endParaRPr lang="fr-FR" dirty="0"/>
          </a:p>
          <a:p>
            <a:r>
              <a:rPr lang="fr-FR" dirty="0"/>
              <a:t>        …  </a:t>
            </a:r>
            <a:r>
              <a:rPr lang="fr-FR" dirty="0" err="1"/>
              <a:t>Huge</a:t>
            </a:r>
            <a:r>
              <a:rPr lang="fr-FR" dirty="0"/>
              <a:t> </a:t>
            </a:r>
            <a:r>
              <a:rPr lang="fr-FR" dirty="0" err="1"/>
              <a:t>resources</a:t>
            </a:r>
            <a:r>
              <a:rPr lang="fr-FR" dirty="0"/>
              <a:t> but </a:t>
            </a:r>
            <a:r>
              <a:rPr lang="fr-FR" dirty="0" err="1"/>
              <a:t>mostly</a:t>
            </a:r>
            <a:r>
              <a:rPr lang="fr-FR" dirty="0"/>
              <a:t> </a:t>
            </a:r>
            <a:r>
              <a:rPr lang="fr-FR" dirty="0" err="1"/>
              <a:t>unused</a:t>
            </a:r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r>
              <a:rPr lang="fr-FR" dirty="0"/>
              <a:t>You </a:t>
            </a:r>
            <a:r>
              <a:rPr lang="fr-FR" dirty="0" err="1"/>
              <a:t>need</a:t>
            </a:r>
            <a:r>
              <a:rPr lang="fr-FR" dirty="0"/>
              <a:t> </a:t>
            </a:r>
            <a:r>
              <a:rPr lang="fr-FR" dirty="0" err="1"/>
              <a:t>different</a:t>
            </a:r>
            <a:r>
              <a:rPr lang="fr-FR" dirty="0"/>
              <a:t> </a:t>
            </a:r>
            <a:r>
              <a:rPr lang="fr-FR" dirty="0" err="1"/>
              <a:t>Elasticity</a:t>
            </a:r>
            <a:r>
              <a:rPr lang="fr-FR" dirty="0"/>
              <a:t> for </a:t>
            </a:r>
            <a:r>
              <a:rPr lang="fr-FR" dirty="0" err="1"/>
              <a:t>Compute</a:t>
            </a:r>
            <a:r>
              <a:rPr lang="fr-FR" dirty="0"/>
              <a:t> &lt;-&gt; Storage,  not a « 1 </a:t>
            </a:r>
            <a:r>
              <a:rPr lang="fr-FR" dirty="0" err="1"/>
              <a:t>cpu</a:t>
            </a:r>
            <a:r>
              <a:rPr lang="fr-FR" dirty="0"/>
              <a:t>=8 </a:t>
            </a:r>
            <a:r>
              <a:rPr lang="fr-FR" dirty="0" err="1"/>
              <a:t>disks</a:t>
            </a:r>
            <a:r>
              <a:rPr lang="fr-FR" dirty="0"/>
              <a:t> » </a:t>
            </a:r>
            <a:r>
              <a:rPr lang="fr-FR" dirty="0" err="1"/>
              <a:t>fixed</a:t>
            </a:r>
            <a:r>
              <a:rPr lang="fr-FR" dirty="0"/>
              <a:t> ratio</a:t>
            </a:r>
          </a:p>
        </p:txBody>
      </p:sp>
    </p:spTree>
    <p:extLst>
      <p:ext uri="{BB962C8B-B14F-4D97-AF65-F5344CB8AC3E}">
        <p14:creationId xmlns:p14="http://schemas.microsoft.com/office/powerpoint/2010/main" val="99517952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>
            <a:extLst>
              <a:ext uri="{FF2B5EF4-FFF2-40B4-BE49-F238E27FC236}">
                <a16:creationId xmlns:a16="http://schemas.microsoft.com/office/drawing/2014/main" id="{4C26B4CC-49D0-19DB-F226-7EEE206F22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5759074" y="3280115"/>
            <a:ext cx="1762029" cy="87298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8DC625B-C5E0-E474-04C0-FDB7E17063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0305" y="365125"/>
            <a:ext cx="12085562" cy="1325563"/>
          </a:xfrm>
        </p:spPr>
        <p:txBody>
          <a:bodyPr>
            <a:normAutofit fontScale="90000"/>
          </a:bodyPr>
          <a:lstStyle/>
          <a:p>
            <a:r>
              <a:rPr lang="fr-FR" dirty="0"/>
              <a:t>Trend.. </a:t>
            </a:r>
            <a:r>
              <a:rPr lang="fr-FR" dirty="0" err="1"/>
              <a:t>Splitting</a:t>
            </a:r>
            <a:r>
              <a:rPr lang="fr-FR" dirty="0"/>
              <a:t> </a:t>
            </a:r>
            <a:r>
              <a:rPr lang="fr-FR" dirty="0" err="1"/>
              <a:t>Compute</a:t>
            </a:r>
            <a:r>
              <a:rPr lang="fr-FR" dirty="0"/>
              <a:t> and Storage </a:t>
            </a:r>
            <a:r>
              <a:rPr lang="fr-FR" dirty="0" err="1"/>
              <a:t>Resources</a:t>
            </a:r>
            <a:br>
              <a:rPr lang="fr-FR" dirty="0"/>
            </a:br>
            <a:r>
              <a:rPr lang="fr-FR" dirty="0" err="1"/>
              <a:t>Virtualizing</a:t>
            </a:r>
            <a:r>
              <a:rPr lang="fr-FR" dirty="0"/>
              <a:t> (</a:t>
            </a:r>
            <a:r>
              <a:rPr lang="fr-FR" dirty="0" err="1"/>
              <a:t>VMs,Kubernetes,Cloud</a:t>
            </a:r>
            <a:r>
              <a:rPr lang="fr-FR" dirty="0"/>
              <a:t>) for </a:t>
            </a:r>
            <a:r>
              <a:rPr lang="fr-FR" dirty="0" err="1"/>
              <a:t>Elasticity</a:t>
            </a:r>
            <a:r>
              <a:rPr lang="fr-FR" dirty="0"/>
              <a:t> &amp; </a:t>
            </a:r>
            <a:r>
              <a:rPr lang="fr-FR" dirty="0" err="1"/>
              <a:t>Costs</a:t>
            </a:r>
            <a:endParaRPr lang="fr-FR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A0E8686-7C6B-C7FB-CBAB-4D0E74C8F6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02076" y="2032339"/>
            <a:ext cx="2993331" cy="605793"/>
          </a:xfrm>
          <a:prstGeom prst="rect">
            <a:avLst/>
          </a:prstGeom>
        </p:spPr>
      </p:pic>
      <p:sp>
        <p:nvSpPr>
          <p:cNvPr id="5" name="Left Brace 4">
            <a:extLst>
              <a:ext uri="{FF2B5EF4-FFF2-40B4-BE49-F238E27FC236}">
                <a16:creationId xmlns:a16="http://schemas.microsoft.com/office/drawing/2014/main" id="{D7D7A75F-BA05-A88D-FF17-2BAC0860771B}"/>
              </a:ext>
            </a:extLst>
          </p:cNvPr>
          <p:cNvSpPr/>
          <p:nvPr/>
        </p:nvSpPr>
        <p:spPr>
          <a:xfrm rot="16200000" flipV="1">
            <a:off x="5323464" y="1843772"/>
            <a:ext cx="343092" cy="2185868"/>
          </a:xfrm>
          <a:prstGeom prst="leftBrac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Left Brace 5">
            <a:extLst>
              <a:ext uri="{FF2B5EF4-FFF2-40B4-BE49-F238E27FC236}">
                <a16:creationId xmlns:a16="http://schemas.microsoft.com/office/drawing/2014/main" id="{0A78F06B-3DAA-7B14-03A3-69858FE39CF2}"/>
              </a:ext>
            </a:extLst>
          </p:cNvPr>
          <p:cNvSpPr/>
          <p:nvPr/>
        </p:nvSpPr>
        <p:spPr>
          <a:xfrm rot="16200000" flipV="1">
            <a:off x="6856164" y="2569009"/>
            <a:ext cx="343092" cy="735394"/>
          </a:xfrm>
          <a:prstGeom prst="leftBrac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B155396-4437-A8F9-98A6-AB2D4BC602D1}"/>
              </a:ext>
            </a:extLst>
          </p:cNvPr>
          <p:cNvSpPr txBox="1"/>
          <p:nvPr/>
        </p:nvSpPr>
        <p:spPr>
          <a:xfrm>
            <a:off x="3626601" y="3060122"/>
            <a:ext cx="687502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/>
              <a:t>1 </a:t>
            </a:r>
            <a:r>
              <a:rPr lang="fr-FR" sz="2400" dirty="0" err="1"/>
              <a:t>Fixed</a:t>
            </a:r>
            <a:r>
              <a:rPr lang="fr-FR" sz="2400" dirty="0"/>
              <a:t> « </a:t>
            </a:r>
            <a:r>
              <a:rPr lang="fr-FR" sz="2400" b="1" dirty="0" err="1"/>
              <a:t>Compute</a:t>
            </a:r>
            <a:r>
              <a:rPr lang="fr-FR" sz="2400" dirty="0"/>
              <a:t> » +     local « </a:t>
            </a:r>
            <a:r>
              <a:rPr lang="fr-FR" sz="2400" b="1" dirty="0"/>
              <a:t>Storage</a:t>
            </a:r>
            <a:r>
              <a:rPr lang="fr-FR" sz="2400" dirty="0"/>
              <a:t> »  Resource</a:t>
            </a:r>
          </a:p>
        </p:txBody>
      </p:sp>
      <p:sp>
        <p:nvSpPr>
          <p:cNvPr id="9" name="Arrow: Down 8">
            <a:extLst>
              <a:ext uri="{FF2B5EF4-FFF2-40B4-BE49-F238E27FC236}">
                <a16:creationId xmlns:a16="http://schemas.microsoft.com/office/drawing/2014/main" id="{47EAB860-3B0D-2A68-FB11-35BAA42AF256}"/>
              </a:ext>
            </a:extLst>
          </p:cNvPr>
          <p:cNvSpPr/>
          <p:nvPr/>
        </p:nvSpPr>
        <p:spPr>
          <a:xfrm rot="2580127">
            <a:off x="4504291" y="3661552"/>
            <a:ext cx="387048" cy="783772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Arrow: Down 9">
            <a:extLst>
              <a:ext uri="{FF2B5EF4-FFF2-40B4-BE49-F238E27FC236}">
                <a16:creationId xmlns:a16="http://schemas.microsoft.com/office/drawing/2014/main" id="{56761AF2-DA36-8269-D43A-E821BA166E05}"/>
              </a:ext>
            </a:extLst>
          </p:cNvPr>
          <p:cNvSpPr/>
          <p:nvPr/>
        </p:nvSpPr>
        <p:spPr>
          <a:xfrm rot="19017581">
            <a:off x="7442765" y="3767691"/>
            <a:ext cx="387048" cy="783772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8EFFE9B-A36F-A283-4C89-874E481ACC86}"/>
              </a:ext>
            </a:extLst>
          </p:cNvPr>
          <p:cNvSpPr txBox="1"/>
          <p:nvPr/>
        </p:nvSpPr>
        <p:spPr>
          <a:xfrm>
            <a:off x="1853698" y="4468621"/>
            <a:ext cx="35474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b="1" dirty="0" err="1"/>
              <a:t>Compute</a:t>
            </a:r>
            <a:r>
              <a:rPr lang="fr-FR" sz="2000" b="1" dirty="0"/>
              <a:t> ONLY </a:t>
            </a:r>
            <a:r>
              <a:rPr lang="fr-FR" sz="2000" dirty="0"/>
              <a:t>Virtual Resource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3D3EB71-917C-73AB-D710-00A6301499DF}"/>
              </a:ext>
            </a:extLst>
          </p:cNvPr>
          <p:cNvSpPr txBox="1"/>
          <p:nvPr/>
        </p:nvSpPr>
        <p:spPr>
          <a:xfrm>
            <a:off x="995643" y="5075851"/>
            <a:ext cx="440550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Provision </a:t>
            </a:r>
            <a:r>
              <a:rPr lang="fr-FR" b="1" dirty="0"/>
              <a:t>on-</a:t>
            </a:r>
            <a:r>
              <a:rPr lang="fr-FR" b="1" dirty="0" err="1"/>
              <a:t>demand</a:t>
            </a:r>
            <a:r>
              <a:rPr lang="fr-FR" b="1" dirty="0"/>
              <a:t> Cluster, </a:t>
            </a:r>
            <a:r>
              <a:rPr lang="fr-FR" b="1" dirty="0" err="1"/>
              <a:t>VMs</a:t>
            </a:r>
            <a:r>
              <a:rPr lang="fr-FR" b="1" dirty="0"/>
              <a:t> in cluster</a:t>
            </a:r>
          </a:p>
          <a:p>
            <a:r>
              <a:rPr lang="fr-FR" dirty="0" err="1"/>
              <a:t>Choose</a:t>
            </a:r>
            <a:r>
              <a:rPr lang="fr-FR" dirty="0"/>
              <a:t> RAM (compromise perf/</a:t>
            </a:r>
            <a:r>
              <a:rPr lang="fr-FR" dirty="0" err="1"/>
              <a:t>cost</a:t>
            </a:r>
            <a:r>
              <a:rPr lang="fr-FR" dirty="0"/>
              <a:t>) per VM</a:t>
            </a:r>
          </a:p>
          <a:p>
            <a:r>
              <a:rPr lang="fr-FR" dirty="0" err="1"/>
              <a:t>Dedicated</a:t>
            </a:r>
            <a:r>
              <a:rPr lang="fr-FR" dirty="0"/>
              <a:t> for app </a:t>
            </a:r>
            <a:r>
              <a:rPr lang="fr-FR" dirty="0" err="1"/>
              <a:t>workloads</a:t>
            </a:r>
            <a:endParaRPr lang="fr-FR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B3A1A27-3443-E3F3-4828-277840CA8913}"/>
              </a:ext>
            </a:extLst>
          </p:cNvPr>
          <p:cNvSpPr txBox="1"/>
          <p:nvPr/>
        </p:nvSpPr>
        <p:spPr>
          <a:xfrm>
            <a:off x="7223356" y="4533463"/>
            <a:ext cx="338099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b="1" dirty="0"/>
              <a:t>Storage ONLY </a:t>
            </a:r>
            <a:r>
              <a:rPr lang="fr-FR" sz="2000" dirty="0"/>
              <a:t>Virtual Resource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60A86DE-3A81-D674-24C2-BC0DBCC96641}"/>
              </a:ext>
            </a:extLst>
          </p:cNvPr>
          <p:cNvSpPr txBox="1"/>
          <p:nvPr/>
        </p:nvSpPr>
        <p:spPr>
          <a:xfrm>
            <a:off x="7223356" y="5075851"/>
            <a:ext cx="369742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/>
              <a:t>Elastic</a:t>
            </a:r>
            <a:r>
              <a:rPr lang="fr-FR" dirty="0"/>
              <a:t> </a:t>
            </a:r>
            <a:r>
              <a:rPr lang="fr-FR" dirty="0" err="1"/>
              <a:t>storage</a:t>
            </a:r>
            <a:r>
              <a:rPr lang="fr-FR" dirty="0"/>
              <a:t>, </a:t>
            </a:r>
            <a:r>
              <a:rPr lang="fr-FR" dirty="0" err="1"/>
              <a:t>pay</a:t>
            </a:r>
            <a:r>
              <a:rPr lang="fr-FR" dirty="0"/>
              <a:t> as-</a:t>
            </a:r>
            <a:r>
              <a:rPr lang="fr-FR" dirty="0" err="1"/>
              <a:t>you</a:t>
            </a:r>
            <a:r>
              <a:rPr lang="fr-FR" dirty="0"/>
              <a:t>-go</a:t>
            </a:r>
          </a:p>
          <a:p>
            <a:r>
              <a:rPr lang="fr-FR" dirty="0" err="1"/>
              <a:t>Dedicated</a:t>
            </a:r>
            <a:r>
              <a:rPr lang="fr-FR" dirty="0"/>
              <a:t> hardwares for data </a:t>
            </a:r>
            <a:r>
              <a:rPr lang="fr-FR" dirty="0" err="1"/>
              <a:t>density</a:t>
            </a:r>
            <a:endParaRPr lang="fr-FR" dirty="0"/>
          </a:p>
        </p:txBody>
      </p:sp>
      <p:pic>
        <p:nvPicPr>
          <p:cNvPr id="15" name="Picture 4" descr="Dakota Server Storage &amp;amp; Microcloud Solutions | Intel Xeon Scalable  Processors">
            <a:extLst>
              <a:ext uri="{FF2B5EF4-FFF2-40B4-BE49-F238E27FC236}">
                <a16:creationId xmlns:a16="http://schemas.microsoft.com/office/drawing/2014/main" id="{D56418B5-CFE0-A500-9C72-F587A4E969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08014" y="5708675"/>
            <a:ext cx="3126913" cy="1149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292" name="Picture 4" descr="What Is the Memory Controller? (with pictures)">
            <a:extLst>
              <a:ext uri="{FF2B5EF4-FFF2-40B4-BE49-F238E27FC236}">
                <a16:creationId xmlns:a16="http://schemas.microsoft.com/office/drawing/2014/main" id="{1D9FCE4F-8593-18DE-4C39-51F50E0D63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9889" y="5910613"/>
            <a:ext cx="2484815" cy="7454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58E77247-4C10-83C1-1051-50C62A02DE3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98649" y="5873095"/>
            <a:ext cx="1603865" cy="909049"/>
          </a:xfrm>
          <a:prstGeom prst="rect">
            <a:avLst/>
          </a:prstGeom>
        </p:spPr>
      </p:pic>
      <p:pic>
        <p:nvPicPr>
          <p:cNvPr id="12294" name="Picture 6" descr="Benefits of Snagless Pass Through RJ45 Connector - FAQs | RJ45 Connectors &amp;  Ethernet Patch Cords Manufacturer | EXW">
            <a:extLst>
              <a:ext uri="{FF2B5EF4-FFF2-40B4-BE49-F238E27FC236}">
                <a16:creationId xmlns:a16="http://schemas.microsoft.com/office/drawing/2014/main" id="{5BF396B3-E6F4-B6A3-028F-367B2FAA83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36459" y="5875815"/>
            <a:ext cx="1152268" cy="9063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9911395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>
            <a:extLst>
              <a:ext uri="{FF2B5EF4-FFF2-40B4-BE49-F238E27FC236}">
                <a16:creationId xmlns:a16="http://schemas.microsoft.com/office/drawing/2014/main" id="{FF459953-3905-4572-A6B7-C58D9C8523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66545" y="826255"/>
            <a:ext cx="6364290" cy="55528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986E73BF-18BB-4B13-8863-4A753D392195}"/>
              </a:ext>
            </a:extLst>
          </p:cNvPr>
          <p:cNvSpPr txBox="1">
            <a:spLocks/>
          </p:cNvSpPr>
          <p:nvPr/>
        </p:nvSpPr>
        <p:spPr>
          <a:xfrm>
            <a:off x="670397" y="0"/>
            <a:ext cx="10971300" cy="1144631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="ctr"/>
          <a:lstStyle>
            <a:lvl1pPr algn="ctr" rtl="0" hangingPunct="0">
              <a:tabLst/>
              <a:defRPr lang="fr-FR" sz="4400" b="0" i="0" u="none" strike="noStrike" kern="1200" cap="none">
                <a:ln>
                  <a:noFill/>
                </a:ln>
                <a:highlight>
                  <a:scrgbClr r="0" g="0" b="0">
                    <a:alpha val="0"/>
                  </a:scrgbClr>
                </a:highlight>
                <a:latin typeface="Liberation Sans" pitchFamily="18"/>
                <a:ea typeface="Microsoft YaHei" pitchFamily="2"/>
              </a:defRPr>
            </a:lvl1pPr>
          </a:lstStyle>
          <a:p>
            <a:r>
              <a:rPr lang="fr-FR" sz="5321" dirty="0">
                <a:solidFill>
                  <a:sysClr val="windowText" lastClr="000000"/>
                </a:solidFill>
              </a:rPr>
              <a:t>Data Density</a:t>
            </a:r>
          </a:p>
        </p:txBody>
      </p:sp>
      <p:pic>
        <p:nvPicPr>
          <p:cNvPr id="6148" name="Picture 4" descr="Dakota Server Storage &amp;amp; Microcloud Solutions | Intel Xeon Scalable  Processors">
            <a:extLst>
              <a:ext uri="{FF2B5EF4-FFF2-40B4-BE49-F238E27FC236}">
                <a16:creationId xmlns:a16="http://schemas.microsoft.com/office/drawing/2014/main" id="{2E3F4165-D322-46D7-BB6A-5655FE8FDE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68" y="2287985"/>
            <a:ext cx="6483658" cy="23831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2F6BEE4-0421-4B2D-B591-BC2A38F32D68}"/>
              </a:ext>
            </a:extLst>
          </p:cNvPr>
          <p:cNvSpPr txBox="1"/>
          <p:nvPr/>
        </p:nvSpPr>
        <p:spPr>
          <a:xfrm>
            <a:off x="1214943" y="5028713"/>
            <a:ext cx="3279103" cy="42736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177" dirty="0"/>
              <a:t>48 * HDD </a:t>
            </a:r>
            <a:r>
              <a:rPr lang="fr-FR" sz="2177" dirty="0" err="1"/>
              <a:t>disks</a:t>
            </a:r>
            <a:r>
              <a:rPr lang="fr-FR" sz="2177" dirty="0"/>
              <a:t>  in 2U </a:t>
            </a:r>
            <a:r>
              <a:rPr lang="fr-FR" sz="2177" dirty="0" err="1"/>
              <a:t>blade</a:t>
            </a:r>
            <a:endParaRPr lang="fr-FR" sz="2177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D2C4726-80C2-419E-AF0E-00F127F60920}"/>
              </a:ext>
            </a:extLst>
          </p:cNvPr>
          <p:cNvSpPr txBox="1"/>
          <p:nvPr/>
        </p:nvSpPr>
        <p:spPr>
          <a:xfrm>
            <a:off x="6593415" y="5966244"/>
            <a:ext cx="4632422" cy="76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177" dirty="0"/>
              <a:t>32 * SSD (E.1 EDSFF)  in 1U </a:t>
            </a:r>
            <a:r>
              <a:rPr lang="fr-FR" sz="2177" dirty="0" err="1"/>
              <a:t>blade</a:t>
            </a:r>
            <a:endParaRPr lang="fr-FR" sz="2177" dirty="0"/>
          </a:p>
          <a:p>
            <a:r>
              <a:rPr lang="fr-FR" sz="2177" dirty="0"/>
              <a:t>… 500 </a:t>
            </a:r>
            <a:r>
              <a:rPr lang="fr-FR" sz="2177" dirty="0" err="1"/>
              <a:t>Tera</a:t>
            </a:r>
            <a:r>
              <a:rPr lang="fr-FR" sz="2177" dirty="0"/>
              <a:t> / 1 </a:t>
            </a:r>
            <a:r>
              <a:rPr lang="fr-FR" sz="2177" dirty="0" err="1"/>
              <a:t>Peta</a:t>
            </a:r>
            <a:r>
              <a:rPr lang="fr-FR" sz="2177" dirty="0"/>
              <a:t> !!   … 200 000 euros</a:t>
            </a:r>
          </a:p>
        </p:txBody>
      </p:sp>
    </p:spTree>
    <p:extLst>
      <p:ext uri="{BB962C8B-B14F-4D97-AF65-F5344CB8AC3E}">
        <p14:creationId xmlns:p14="http://schemas.microsoft.com/office/powerpoint/2010/main" val="260883146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3A5CC-5AFF-E25D-04EF-857D46EDA6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/>
              <a:t>On-</a:t>
            </a:r>
            <a:r>
              <a:rPr lang="fr-FR" dirty="0" err="1"/>
              <a:t>Premise</a:t>
            </a:r>
            <a:r>
              <a:rPr lang="fr-FR" dirty="0"/>
              <a:t> « Small »  </a:t>
            </a:r>
            <a:r>
              <a:rPr lang="fr-FR" dirty="0" err="1"/>
              <a:t>Datalake</a:t>
            </a:r>
            <a:r>
              <a:rPr lang="fr-FR" dirty="0"/>
              <a:t> ?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A3A1E93-B2CF-729A-2817-29AA3F3601E5}"/>
              </a:ext>
            </a:extLst>
          </p:cNvPr>
          <p:cNvSpPr txBox="1"/>
          <p:nvPr/>
        </p:nvSpPr>
        <p:spPr>
          <a:xfrm>
            <a:off x="2312633" y="2499065"/>
            <a:ext cx="9215022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/>
              <a:t>100 servers  for PROD</a:t>
            </a:r>
          </a:p>
          <a:p>
            <a:r>
              <a:rPr lang="fr-FR" sz="2800" dirty="0"/>
              <a:t>( + 120 servers for DEV )</a:t>
            </a:r>
          </a:p>
          <a:p>
            <a:endParaRPr lang="fr-FR" sz="2800" dirty="0"/>
          </a:p>
          <a:p>
            <a:r>
              <a:rPr lang="fr-FR" sz="2800" dirty="0"/>
              <a:t>=     4200 </a:t>
            </a:r>
            <a:r>
              <a:rPr lang="fr-FR" sz="2800" dirty="0" err="1"/>
              <a:t>cores</a:t>
            </a:r>
            <a:r>
              <a:rPr lang="fr-FR" sz="2800" dirty="0"/>
              <a:t>     </a:t>
            </a:r>
          </a:p>
          <a:p>
            <a:r>
              <a:rPr lang="fr-FR" sz="2800" dirty="0"/>
              <a:t>       +   25600 Go RAM   :  25 </a:t>
            </a:r>
            <a:r>
              <a:rPr lang="fr-FR" sz="2800" dirty="0" err="1"/>
              <a:t>Tera</a:t>
            </a:r>
            <a:r>
              <a:rPr lang="fr-FR" sz="2800" dirty="0"/>
              <a:t> of RAMS</a:t>
            </a:r>
          </a:p>
          <a:p>
            <a:r>
              <a:rPr lang="fr-FR" sz="2800" dirty="0"/>
              <a:t>       +    800 </a:t>
            </a:r>
            <a:r>
              <a:rPr lang="fr-FR" sz="2800" dirty="0" err="1"/>
              <a:t>disks</a:t>
            </a:r>
            <a:r>
              <a:rPr lang="fr-FR" sz="2800" dirty="0"/>
              <a:t>             :  2 </a:t>
            </a:r>
            <a:r>
              <a:rPr lang="fr-FR" sz="2800" dirty="0" err="1"/>
              <a:t>Petas</a:t>
            </a:r>
            <a:r>
              <a:rPr lang="fr-FR" sz="2800" dirty="0"/>
              <a:t> of Data  ( 6 </a:t>
            </a:r>
            <a:r>
              <a:rPr lang="fr-FR" sz="2800" dirty="0" err="1"/>
              <a:t>peta</a:t>
            </a:r>
            <a:r>
              <a:rPr lang="fr-FR" sz="2800" dirty="0"/>
              <a:t> of </a:t>
            </a:r>
            <a:r>
              <a:rPr lang="fr-FR" sz="2800" dirty="0" err="1"/>
              <a:t>Disks</a:t>
            </a:r>
            <a:r>
              <a:rPr lang="fr-FR" sz="2800" dirty="0"/>
              <a:t> 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0A11BF8-84E8-40AF-9846-DC3EC4FB2A48}"/>
              </a:ext>
            </a:extLst>
          </p:cNvPr>
          <p:cNvSpPr txBox="1"/>
          <p:nvPr/>
        </p:nvSpPr>
        <p:spPr>
          <a:xfrm>
            <a:off x="6010182" y="5326601"/>
            <a:ext cx="24872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… </a:t>
            </a:r>
            <a:r>
              <a:rPr lang="fr-FR" dirty="0" err="1"/>
              <a:t>now</a:t>
            </a:r>
            <a:r>
              <a:rPr lang="fr-FR" dirty="0"/>
              <a:t> 3 </a:t>
            </a:r>
            <a:r>
              <a:rPr lang="fr-FR" dirty="0" err="1"/>
              <a:t>Petas</a:t>
            </a:r>
            <a:r>
              <a:rPr lang="fr-FR" dirty="0"/>
              <a:t> on Azure</a:t>
            </a:r>
          </a:p>
        </p:txBody>
      </p:sp>
    </p:spTree>
    <p:extLst>
      <p:ext uri="{BB962C8B-B14F-4D97-AF65-F5344CB8AC3E}">
        <p14:creationId xmlns:p14="http://schemas.microsoft.com/office/powerpoint/2010/main" val="242479987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2EB1CE-D1D3-FE25-9782-4BCE52929F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431" y="37456"/>
            <a:ext cx="10515600" cy="1037606"/>
          </a:xfrm>
        </p:spPr>
        <p:txBody>
          <a:bodyPr/>
          <a:lstStyle/>
          <a:p>
            <a:pPr algn="ctr"/>
            <a:r>
              <a:rPr lang="fr-FR" dirty="0"/>
              <a:t>Hadoop Cluster Architecture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1F9F16B-5C89-3346-2D17-FC73822D30AD}"/>
              </a:ext>
            </a:extLst>
          </p:cNvPr>
          <p:cNvSpPr txBox="1"/>
          <p:nvPr/>
        </p:nvSpPr>
        <p:spPr>
          <a:xfrm>
            <a:off x="9127907" y="5771848"/>
            <a:ext cx="36664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err="1"/>
              <a:t>Installed</a:t>
            </a:r>
            <a:r>
              <a:rPr lang="fr-FR" dirty="0"/>
              <a:t> Hadoop Distribution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212A47A-C717-7993-8B36-16B7AC5B3C3D}"/>
              </a:ext>
            </a:extLst>
          </p:cNvPr>
          <p:cNvSpPr/>
          <p:nvPr/>
        </p:nvSpPr>
        <p:spPr>
          <a:xfrm>
            <a:off x="3408603" y="1261477"/>
            <a:ext cx="6630445" cy="4611971"/>
          </a:xfrm>
          <a:prstGeom prst="rect">
            <a:avLst/>
          </a:prstGeom>
          <a:noFill/>
          <a:ln w="222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A8A7FEB-F2B9-8EC3-94F7-ECD94A32089F}"/>
              </a:ext>
            </a:extLst>
          </p:cNvPr>
          <p:cNvSpPr/>
          <p:nvPr/>
        </p:nvSpPr>
        <p:spPr>
          <a:xfrm>
            <a:off x="3561003" y="1366535"/>
            <a:ext cx="6318388" cy="4405313"/>
          </a:xfrm>
          <a:prstGeom prst="rect">
            <a:avLst/>
          </a:prstGeom>
          <a:noFill/>
          <a:ln w="222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3AFE1BD-0E15-C831-A91E-B75827DF0D93}"/>
              </a:ext>
            </a:extLst>
          </p:cNvPr>
          <p:cNvSpPr txBox="1"/>
          <p:nvPr/>
        </p:nvSpPr>
        <p:spPr>
          <a:xfrm>
            <a:off x="6153858" y="953449"/>
            <a:ext cx="9137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Firewall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33BF048-653F-15CA-D495-A1A1A388794C}"/>
              </a:ext>
            </a:extLst>
          </p:cNvPr>
          <p:cNvSpPr/>
          <p:nvPr/>
        </p:nvSpPr>
        <p:spPr>
          <a:xfrm>
            <a:off x="5245130" y="2116440"/>
            <a:ext cx="992618" cy="60142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4800EB0-6BE7-BE60-CC87-20618A3E6F1C}"/>
              </a:ext>
            </a:extLst>
          </p:cNvPr>
          <p:cNvSpPr/>
          <p:nvPr/>
        </p:nvSpPr>
        <p:spPr>
          <a:xfrm>
            <a:off x="5485364" y="2405037"/>
            <a:ext cx="992619" cy="65052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C6F00474-1C1D-753A-DF2C-7B9006A157C6}"/>
              </a:ext>
            </a:extLst>
          </p:cNvPr>
          <p:cNvSpPr/>
          <p:nvPr/>
        </p:nvSpPr>
        <p:spPr>
          <a:xfrm>
            <a:off x="2674413" y="2391631"/>
            <a:ext cx="399142" cy="32816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" name="Flowchart: Direct Access Storage 11">
            <a:extLst>
              <a:ext uri="{FF2B5EF4-FFF2-40B4-BE49-F238E27FC236}">
                <a16:creationId xmlns:a16="http://schemas.microsoft.com/office/drawing/2014/main" id="{9EB1D0AD-2999-B0CA-3971-4CF1E7278792}"/>
              </a:ext>
            </a:extLst>
          </p:cNvPr>
          <p:cNvSpPr/>
          <p:nvPr/>
        </p:nvSpPr>
        <p:spPr>
          <a:xfrm>
            <a:off x="3152454" y="2492816"/>
            <a:ext cx="653636" cy="125791"/>
          </a:xfrm>
          <a:prstGeom prst="flowChartMagneticDrum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5BE8F52-8090-952A-30A1-8FD00E34F131}"/>
              </a:ext>
            </a:extLst>
          </p:cNvPr>
          <p:cNvSpPr txBox="1"/>
          <p:nvPr/>
        </p:nvSpPr>
        <p:spPr>
          <a:xfrm>
            <a:off x="3603816" y="1982048"/>
            <a:ext cx="14510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/>
              <a:t>LoadBalancer</a:t>
            </a:r>
            <a:endParaRPr lang="fr-FR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081831E-4009-6AFD-0E48-4C464D3C253B}"/>
              </a:ext>
            </a:extLst>
          </p:cNvPr>
          <p:cNvSpPr/>
          <p:nvPr/>
        </p:nvSpPr>
        <p:spPr>
          <a:xfrm>
            <a:off x="4141795" y="2367475"/>
            <a:ext cx="334835" cy="42309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21CD6FE-5D93-ED05-316E-F4445BAE03AD}"/>
              </a:ext>
            </a:extLst>
          </p:cNvPr>
          <p:cNvSpPr txBox="1"/>
          <p:nvPr/>
        </p:nvSpPr>
        <p:spPr>
          <a:xfrm>
            <a:off x="802755" y="1967076"/>
            <a:ext cx="2599943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/>
              <a:t>Allow</a:t>
            </a:r>
            <a:r>
              <a:rPr lang="fr-FR" dirty="0"/>
              <a:t> </a:t>
            </a:r>
            <a:r>
              <a:rPr lang="fr-FR" b="1" dirty="0"/>
              <a:t>Https</a:t>
            </a:r>
            <a:br>
              <a:rPr lang="fr-FR" dirty="0"/>
            </a:br>
            <a:r>
              <a:rPr lang="fr-FR" dirty="0"/>
              <a:t>Hadoop APIs</a:t>
            </a:r>
          </a:p>
          <a:p>
            <a:r>
              <a:rPr lang="fr-FR" dirty="0"/>
              <a:t>(Knox, </a:t>
            </a:r>
            <a:r>
              <a:rPr lang="fr-FR" dirty="0" err="1"/>
              <a:t>Oozie</a:t>
            </a:r>
            <a:r>
              <a:rPr lang="fr-FR" dirty="0"/>
              <a:t>, </a:t>
            </a:r>
            <a:r>
              <a:rPr lang="fr-FR" dirty="0" err="1"/>
              <a:t>Yarn</a:t>
            </a:r>
            <a:r>
              <a:rPr lang="fr-FR" dirty="0"/>
              <a:t>, </a:t>
            </a:r>
          </a:p>
          <a:p>
            <a:r>
              <a:rPr lang="fr-FR" dirty="0"/>
              <a:t> </a:t>
            </a:r>
            <a:r>
              <a:rPr lang="fr-FR" dirty="0" err="1"/>
              <a:t>Hdfs</a:t>
            </a:r>
            <a:r>
              <a:rPr lang="fr-FR" dirty="0"/>
              <a:t>, </a:t>
            </a:r>
            <a:r>
              <a:rPr lang="fr-FR" dirty="0" err="1"/>
              <a:t>Hive</a:t>
            </a:r>
            <a:r>
              <a:rPr lang="fr-FR" dirty="0"/>
              <a:t> Hue, </a:t>
            </a:r>
            <a:r>
              <a:rPr lang="fr-FR" dirty="0" err="1"/>
              <a:t>Ambari</a:t>
            </a:r>
            <a:r>
              <a:rPr lang="fr-FR" dirty="0"/>
              <a:t>..)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D6B46F2-01BA-E402-3B73-1056CAE78DFC}"/>
              </a:ext>
            </a:extLst>
          </p:cNvPr>
          <p:cNvSpPr/>
          <p:nvPr/>
        </p:nvSpPr>
        <p:spPr>
          <a:xfrm>
            <a:off x="3867679" y="3529984"/>
            <a:ext cx="714429" cy="42980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C922C31-A2E3-A0D6-3EAD-786C32BB9F15}"/>
              </a:ext>
            </a:extLst>
          </p:cNvPr>
          <p:cNvSpPr txBox="1"/>
          <p:nvPr/>
        </p:nvSpPr>
        <p:spPr>
          <a:xfrm>
            <a:off x="759251" y="3429320"/>
            <a:ext cx="206813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/>
              <a:t>Allow</a:t>
            </a:r>
            <a:r>
              <a:rPr lang="fr-FR" dirty="0"/>
              <a:t> </a:t>
            </a:r>
            <a:r>
              <a:rPr lang="fr-FR" b="1" dirty="0"/>
              <a:t>SSH</a:t>
            </a:r>
          </a:p>
          <a:p>
            <a:r>
              <a:rPr lang="fr-FR" dirty="0"/>
              <a:t>On « Edge » Node</a:t>
            </a:r>
            <a:br>
              <a:rPr lang="fr-FR" dirty="0"/>
            </a:br>
            <a:r>
              <a:rPr lang="fr-FR" dirty="0"/>
              <a:t>for command line</a:t>
            </a:r>
            <a:br>
              <a:rPr lang="fr-FR" dirty="0"/>
            </a:br>
            <a:r>
              <a:rPr lang="fr-FR" dirty="0" err="1"/>
              <a:t>oozie</a:t>
            </a:r>
            <a:r>
              <a:rPr lang="fr-FR" dirty="0"/>
              <a:t>, </a:t>
            </a:r>
            <a:r>
              <a:rPr lang="fr-FR" dirty="0" err="1"/>
              <a:t>yarn</a:t>
            </a:r>
            <a:r>
              <a:rPr lang="fr-FR" dirty="0"/>
              <a:t>, Spark, ..</a:t>
            </a:r>
          </a:p>
        </p:txBody>
      </p:sp>
      <p:pic>
        <p:nvPicPr>
          <p:cNvPr id="6146" name="Picture 2" descr="Hortonworks - Wikipedia">
            <a:extLst>
              <a:ext uri="{FF2B5EF4-FFF2-40B4-BE49-F238E27FC236}">
                <a16:creationId xmlns:a16="http://schemas.microsoft.com/office/drawing/2014/main" id="{2E9B164A-FAA0-3241-1075-755EEBE33F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58266" y="6026482"/>
            <a:ext cx="2256807" cy="7940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DFCE2030-3B3A-76F3-94A7-EC2382A62528}"/>
              </a:ext>
            </a:extLst>
          </p:cNvPr>
          <p:cNvSpPr txBox="1"/>
          <p:nvPr/>
        </p:nvSpPr>
        <p:spPr>
          <a:xfrm>
            <a:off x="4560546" y="1482833"/>
            <a:ext cx="267041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2 Main </a:t>
            </a:r>
            <a:r>
              <a:rPr lang="fr-FR" b="1" dirty="0" err="1"/>
              <a:t>HeadNode</a:t>
            </a:r>
            <a:r>
              <a:rPr lang="fr-FR" dirty="0"/>
              <a:t> Server</a:t>
            </a:r>
          </a:p>
          <a:p>
            <a:r>
              <a:rPr lang="fr-FR" dirty="0"/>
              <a:t>(</a:t>
            </a:r>
            <a:r>
              <a:rPr lang="fr-FR" dirty="0" err="1"/>
              <a:t>NameNode</a:t>
            </a:r>
            <a:r>
              <a:rPr lang="fr-FR" dirty="0"/>
              <a:t>, </a:t>
            </a:r>
            <a:r>
              <a:rPr lang="fr-FR" dirty="0" err="1"/>
              <a:t>Oozie</a:t>
            </a:r>
            <a:r>
              <a:rPr lang="fr-FR" dirty="0"/>
              <a:t>, </a:t>
            </a:r>
            <a:r>
              <a:rPr lang="fr-FR" dirty="0" err="1"/>
              <a:t>Yarn</a:t>
            </a:r>
            <a:r>
              <a:rPr lang="fr-FR" dirty="0"/>
              <a:t>..)</a:t>
            </a:r>
          </a:p>
        </p:txBody>
      </p:sp>
      <p:pic>
        <p:nvPicPr>
          <p:cNvPr id="6148" name="Picture 4" descr="PostgreSQL - Visual Studio Marketplace">
            <a:extLst>
              <a:ext uri="{FF2B5EF4-FFF2-40B4-BE49-F238E27FC236}">
                <a16:creationId xmlns:a16="http://schemas.microsoft.com/office/drawing/2014/main" id="{AEC5A034-D1D5-4796-84E7-BB340ADA63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22085" y="3159358"/>
            <a:ext cx="361039" cy="3594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80851CAA-929A-252F-8791-17F8040F9C9B}"/>
              </a:ext>
            </a:extLst>
          </p:cNvPr>
          <p:cNvSpPr txBox="1"/>
          <p:nvPr/>
        </p:nvSpPr>
        <p:spPr>
          <a:xfrm>
            <a:off x="5423973" y="3429679"/>
            <a:ext cx="192200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/>
              <a:t>Postgresql</a:t>
            </a:r>
            <a:r>
              <a:rPr lang="fr-FR" dirty="0"/>
              <a:t> for </a:t>
            </a:r>
          </a:p>
          <a:p>
            <a:r>
              <a:rPr lang="fr-FR" dirty="0" err="1"/>
              <a:t>Oozie,Yarn,Ranger</a:t>
            </a:r>
            <a:r>
              <a:rPr lang="fr-FR" dirty="0"/>
              <a:t>,</a:t>
            </a:r>
            <a:br>
              <a:rPr lang="fr-FR" dirty="0"/>
            </a:br>
            <a:r>
              <a:rPr lang="fr-FR" dirty="0"/>
              <a:t> </a:t>
            </a:r>
            <a:r>
              <a:rPr lang="fr-FR" dirty="0" err="1"/>
              <a:t>Hive</a:t>
            </a:r>
            <a:r>
              <a:rPr lang="fr-FR" dirty="0"/>
              <a:t> </a:t>
            </a:r>
            <a:r>
              <a:rPr lang="fr-FR" dirty="0" err="1"/>
              <a:t>Metastore</a:t>
            </a:r>
            <a:r>
              <a:rPr lang="fr-FR" dirty="0"/>
              <a:t>..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7D51280-A4C4-372D-3BF4-82CA500A7276}"/>
              </a:ext>
            </a:extLst>
          </p:cNvPr>
          <p:cNvSpPr/>
          <p:nvPr/>
        </p:nvSpPr>
        <p:spPr>
          <a:xfrm>
            <a:off x="7602123" y="2199469"/>
            <a:ext cx="742392" cy="35943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1" name="Cylinder 20">
            <a:extLst>
              <a:ext uri="{FF2B5EF4-FFF2-40B4-BE49-F238E27FC236}">
                <a16:creationId xmlns:a16="http://schemas.microsoft.com/office/drawing/2014/main" id="{3654A6D8-C9EE-F1E1-46D1-1B12CF1483D1}"/>
              </a:ext>
            </a:extLst>
          </p:cNvPr>
          <p:cNvSpPr/>
          <p:nvPr/>
        </p:nvSpPr>
        <p:spPr>
          <a:xfrm>
            <a:off x="8421672" y="2213874"/>
            <a:ext cx="184822" cy="228109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2" name="Cylinder 21">
            <a:extLst>
              <a:ext uri="{FF2B5EF4-FFF2-40B4-BE49-F238E27FC236}">
                <a16:creationId xmlns:a16="http://schemas.microsoft.com/office/drawing/2014/main" id="{45E39264-F99B-6620-2FDB-2CFF5AF2A894}"/>
              </a:ext>
            </a:extLst>
          </p:cNvPr>
          <p:cNvSpPr/>
          <p:nvPr/>
        </p:nvSpPr>
        <p:spPr>
          <a:xfrm>
            <a:off x="8490052" y="2269097"/>
            <a:ext cx="184822" cy="228109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3" name="Cylinder 22">
            <a:extLst>
              <a:ext uri="{FF2B5EF4-FFF2-40B4-BE49-F238E27FC236}">
                <a16:creationId xmlns:a16="http://schemas.microsoft.com/office/drawing/2014/main" id="{5AEDFFAC-871B-97B7-AE62-3072FF661D9A}"/>
              </a:ext>
            </a:extLst>
          </p:cNvPr>
          <p:cNvSpPr/>
          <p:nvPr/>
        </p:nvSpPr>
        <p:spPr>
          <a:xfrm>
            <a:off x="8567209" y="2321380"/>
            <a:ext cx="184822" cy="228109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4" name="Cylinder 23">
            <a:extLst>
              <a:ext uri="{FF2B5EF4-FFF2-40B4-BE49-F238E27FC236}">
                <a16:creationId xmlns:a16="http://schemas.microsoft.com/office/drawing/2014/main" id="{6CF7FA9E-1F1A-299B-473E-D157ACFB23E8}"/>
              </a:ext>
            </a:extLst>
          </p:cNvPr>
          <p:cNvSpPr/>
          <p:nvPr/>
        </p:nvSpPr>
        <p:spPr>
          <a:xfrm>
            <a:off x="8620035" y="2383151"/>
            <a:ext cx="184822" cy="228109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F987018-383F-8E58-A88E-1D9A06AC6DF7}"/>
              </a:ext>
            </a:extLst>
          </p:cNvPr>
          <p:cNvSpPr txBox="1"/>
          <p:nvPr/>
        </p:nvSpPr>
        <p:spPr>
          <a:xfrm>
            <a:off x="7302312" y="1888150"/>
            <a:ext cx="16438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100 </a:t>
            </a:r>
            <a:r>
              <a:rPr lang="fr-FR" b="1" dirty="0" err="1"/>
              <a:t>DataNodes</a:t>
            </a:r>
            <a:endParaRPr lang="fr-FR" b="1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65947DB1-1E68-1BAB-371A-6D298DD8F781}"/>
              </a:ext>
            </a:extLst>
          </p:cNvPr>
          <p:cNvSpPr/>
          <p:nvPr/>
        </p:nvSpPr>
        <p:spPr>
          <a:xfrm>
            <a:off x="7818478" y="2621834"/>
            <a:ext cx="742392" cy="35943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7" name="Cylinder 26">
            <a:extLst>
              <a:ext uri="{FF2B5EF4-FFF2-40B4-BE49-F238E27FC236}">
                <a16:creationId xmlns:a16="http://schemas.microsoft.com/office/drawing/2014/main" id="{455141CF-6A78-7B7B-36BF-B49C08BCBC8B}"/>
              </a:ext>
            </a:extLst>
          </p:cNvPr>
          <p:cNvSpPr/>
          <p:nvPr/>
        </p:nvSpPr>
        <p:spPr>
          <a:xfrm>
            <a:off x="8638027" y="2636239"/>
            <a:ext cx="184822" cy="228109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8" name="Cylinder 27">
            <a:extLst>
              <a:ext uri="{FF2B5EF4-FFF2-40B4-BE49-F238E27FC236}">
                <a16:creationId xmlns:a16="http://schemas.microsoft.com/office/drawing/2014/main" id="{724838E7-F516-7CE4-9A20-4FFFE912F354}"/>
              </a:ext>
            </a:extLst>
          </p:cNvPr>
          <p:cNvSpPr/>
          <p:nvPr/>
        </p:nvSpPr>
        <p:spPr>
          <a:xfrm>
            <a:off x="8706407" y="2691462"/>
            <a:ext cx="184822" cy="228109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9" name="Cylinder 28">
            <a:extLst>
              <a:ext uri="{FF2B5EF4-FFF2-40B4-BE49-F238E27FC236}">
                <a16:creationId xmlns:a16="http://schemas.microsoft.com/office/drawing/2014/main" id="{58DDEE11-07C4-44C9-770E-E9ACA6BA392D}"/>
              </a:ext>
            </a:extLst>
          </p:cNvPr>
          <p:cNvSpPr/>
          <p:nvPr/>
        </p:nvSpPr>
        <p:spPr>
          <a:xfrm>
            <a:off x="8783564" y="2743745"/>
            <a:ext cx="184822" cy="228109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0" name="Cylinder 29">
            <a:extLst>
              <a:ext uri="{FF2B5EF4-FFF2-40B4-BE49-F238E27FC236}">
                <a16:creationId xmlns:a16="http://schemas.microsoft.com/office/drawing/2014/main" id="{E8EF41A2-C818-1B94-9EDB-43F8AE71739E}"/>
              </a:ext>
            </a:extLst>
          </p:cNvPr>
          <p:cNvSpPr/>
          <p:nvPr/>
        </p:nvSpPr>
        <p:spPr>
          <a:xfrm>
            <a:off x="8836390" y="2805516"/>
            <a:ext cx="184822" cy="228109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B0649C12-4D7F-0A2D-9F4D-57709DC60F7D}"/>
              </a:ext>
            </a:extLst>
          </p:cNvPr>
          <p:cNvSpPr/>
          <p:nvPr/>
        </p:nvSpPr>
        <p:spPr>
          <a:xfrm>
            <a:off x="8039800" y="3079623"/>
            <a:ext cx="742392" cy="35943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2" name="Cylinder 31">
            <a:extLst>
              <a:ext uri="{FF2B5EF4-FFF2-40B4-BE49-F238E27FC236}">
                <a16:creationId xmlns:a16="http://schemas.microsoft.com/office/drawing/2014/main" id="{3E55C1BE-8B4C-D67A-FDD8-C4F5E32CF386}"/>
              </a:ext>
            </a:extLst>
          </p:cNvPr>
          <p:cNvSpPr/>
          <p:nvPr/>
        </p:nvSpPr>
        <p:spPr>
          <a:xfrm>
            <a:off x="8859349" y="3094028"/>
            <a:ext cx="184822" cy="228109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3" name="Cylinder 32">
            <a:extLst>
              <a:ext uri="{FF2B5EF4-FFF2-40B4-BE49-F238E27FC236}">
                <a16:creationId xmlns:a16="http://schemas.microsoft.com/office/drawing/2014/main" id="{48680086-C894-F2B1-42BD-9C0D051E3AA8}"/>
              </a:ext>
            </a:extLst>
          </p:cNvPr>
          <p:cNvSpPr/>
          <p:nvPr/>
        </p:nvSpPr>
        <p:spPr>
          <a:xfrm>
            <a:off x="8927729" y="3149251"/>
            <a:ext cx="184822" cy="228109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4" name="Cylinder 33">
            <a:extLst>
              <a:ext uri="{FF2B5EF4-FFF2-40B4-BE49-F238E27FC236}">
                <a16:creationId xmlns:a16="http://schemas.microsoft.com/office/drawing/2014/main" id="{12630136-CB7E-D337-47F5-73FD2234C245}"/>
              </a:ext>
            </a:extLst>
          </p:cNvPr>
          <p:cNvSpPr/>
          <p:nvPr/>
        </p:nvSpPr>
        <p:spPr>
          <a:xfrm>
            <a:off x="9004886" y="3201534"/>
            <a:ext cx="184822" cy="228109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5" name="Cylinder 34">
            <a:extLst>
              <a:ext uri="{FF2B5EF4-FFF2-40B4-BE49-F238E27FC236}">
                <a16:creationId xmlns:a16="http://schemas.microsoft.com/office/drawing/2014/main" id="{E1A29015-C3E9-8FBF-1AE7-DDE628CF4670}"/>
              </a:ext>
            </a:extLst>
          </p:cNvPr>
          <p:cNvSpPr/>
          <p:nvPr/>
        </p:nvSpPr>
        <p:spPr>
          <a:xfrm>
            <a:off x="9057712" y="3263305"/>
            <a:ext cx="184822" cy="228109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FF3B41A2-1159-53AC-3396-90A0BC705114}"/>
              </a:ext>
            </a:extLst>
          </p:cNvPr>
          <p:cNvSpPr/>
          <p:nvPr/>
        </p:nvSpPr>
        <p:spPr>
          <a:xfrm>
            <a:off x="8225994" y="3526302"/>
            <a:ext cx="742392" cy="35943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7" name="Cylinder 36">
            <a:extLst>
              <a:ext uri="{FF2B5EF4-FFF2-40B4-BE49-F238E27FC236}">
                <a16:creationId xmlns:a16="http://schemas.microsoft.com/office/drawing/2014/main" id="{3282CAC5-5627-0825-0D45-E07E2874EC3B}"/>
              </a:ext>
            </a:extLst>
          </p:cNvPr>
          <p:cNvSpPr/>
          <p:nvPr/>
        </p:nvSpPr>
        <p:spPr>
          <a:xfrm>
            <a:off x="9045543" y="3540707"/>
            <a:ext cx="184822" cy="228109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8" name="Cylinder 37">
            <a:extLst>
              <a:ext uri="{FF2B5EF4-FFF2-40B4-BE49-F238E27FC236}">
                <a16:creationId xmlns:a16="http://schemas.microsoft.com/office/drawing/2014/main" id="{BEA40400-116F-A434-CFA3-8F931894AAD3}"/>
              </a:ext>
            </a:extLst>
          </p:cNvPr>
          <p:cNvSpPr/>
          <p:nvPr/>
        </p:nvSpPr>
        <p:spPr>
          <a:xfrm>
            <a:off x="9113923" y="3595930"/>
            <a:ext cx="184822" cy="228109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9" name="Cylinder 38">
            <a:extLst>
              <a:ext uri="{FF2B5EF4-FFF2-40B4-BE49-F238E27FC236}">
                <a16:creationId xmlns:a16="http://schemas.microsoft.com/office/drawing/2014/main" id="{859C3BF1-5240-58C4-6DF2-ED7ED01CF30D}"/>
              </a:ext>
            </a:extLst>
          </p:cNvPr>
          <p:cNvSpPr/>
          <p:nvPr/>
        </p:nvSpPr>
        <p:spPr>
          <a:xfrm>
            <a:off x="9191080" y="3648213"/>
            <a:ext cx="184822" cy="228109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0" name="Cylinder 39">
            <a:extLst>
              <a:ext uri="{FF2B5EF4-FFF2-40B4-BE49-F238E27FC236}">
                <a16:creationId xmlns:a16="http://schemas.microsoft.com/office/drawing/2014/main" id="{63A9B018-CF4E-0920-F30D-72100CE3A7EA}"/>
              </a:ext>
            </a:extLst>
          </p:cNvPr>
          <p:cNvSpPr/>
          <p:nvPr/>
        </p:nvSpPr>
        <p:spPr>
          <a:xfrm>
            <a:off x="9243906" y="3709984"/>
            <a:ext cx="184822" cy="228109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739BB291-14CF-DDD7-513D-53636D56294C}"/>
              </a:ext>
            </a:extLst>
          </p:cNvPr>
          <p:cNvSpPr/>
          <p:nvPr/>
        </p:nvSpPr>
        <p:spPr>
          <a:xfrm>
            <a:off x="8421672" y="3966421"/>
            <a:ext cx="742392" cy="35943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2" name="Cylinder 41">
            <a:extLst>
              <a:ext uri="{FF2B5EF4-FFF2-40B4-BE49-F238E27FC236}">
                <a16:creationId xmlns:a16="http://schemas.microsoft.com/office/drawing/2014/main" id="{389FBC6F-950F-29BA-ADE5-6A5C4764AE79}"/>
              </a:ext>
            </a:extLst>
          </p:cNvPr>
          <p:cNvSpPr/>
          <p:nvPr/>
        </p:nvSpPr>
        <p:spPr>
          <a:xfrm>
            <a:off x="9241221" y="3980826"/>
            <a:ext cx="184822" cy="228109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3" name="Cylinder 42">
            <a:extLst>
              <a:ext uri="{FF2B5EF4-FFF2-40B4-BE49-F238E27FC236}">
                <a16:creationId xmlns:a16="http://schemas.microsoft.com/office/drawing/2014/main" id="{CD719874-69B2-A467-B2E0-4333D0C0A98F}"/>
              </a:ext>
            </a:extLst>
          </p:cNvPr>
          <p:cNvSpPr/>
          <p:nvPr/>
        </p:nvSpPr>
        <p:spPr>
          <a:xfrm>
            <a:off x="9309601" y="4036049"/>
            <a:ext cx="184822" cy="228109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4" name="Cylinder 43">
            <a:extLst>
              <a:ext uri="{FF2B5EF4-FFF2-40B4-BE49-F238E27FC236}">
                <a16:creationId xmlns:a16="http://schemas.microsoft.com/office/drawing/2014/main" id="{3759F031-D7D9-F21C-ABBF-0A0FD70636AC}"/>
              </a:ext>
            </a:extLst>
          </p:cNvPr>
          <p:cNvSpPr/>
          <p:nvPr/>
        </p:nvSpPr>
        <p:spPr>
          <a:xfrm>
            <a:off x="9386758" y="4088332"/>
            <a:ext cx="184822" cy="228109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5" name="Cylinder 44">
            <a:extLst>
              <a:ext uri="{FF2B5EF4-FFF2-40B4-BE49-F238E27FC236}">
                <a16:creationId xmlns:a16="http://schemas.microsoft.com/office/drawing/2014/main" id="{F4B5AA26-F4CE-CAA3-1AAE-B19D880A5093}"/>
              </a:ext>
            </a:extLst>
          </p:cNvPr>
          <p:cNvSpPr/>
          <p:nvPr/>
        </p:nvSpPr>
        <p:spPr>
          <a:xfrm>
            <a:off x="9439584" y="4150103"/>
            <a:ext cx="184822" cy="228109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6" name="Flowchart: Direct Access Storage 45">
            <a:extLst>
              <a:ext uri="{FF2B5EF4-FFF2-40B4-BE49-F238E27FC236}">
                <a16:creationId xmlns:a16="http://schemas.microsoft.com/office/drawing/2014/main" id="{44140EF7-36DE-8869-529E-6EC15427A699}"/>
              </a:ext>
            </a:extLst>
          </p:cNvPr>
          <p:cNvSpPr/>
          <p:nvPr/>
        </p:nvSpPr>
        <p:spPr>
          <a:xfrm>
            <a:off x="3127931" y="3667734"/>
            <a:ext cx="653636" cy="125791"/>
          </a:xfrm>
          <a:prstGeom prst="flowChartMagneticDrum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111A083B-93AC-554B-3B6B-B0E9045BA353}"/>
              </a:ext>
            </a:extLst>
          </p:cNvPr>
          <p:cNvSpPr/>
          <p:nvPr/>
        </p:nvSpPr>
        <p:spPr>
          <a:xfrm>
            <a:off x="3876592" y="4813905"/>
            <a:ext cx="696604" cy="22810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8" name="Cylinder 47">
            <a:extLst>
              <a:ext uri="{FF2B5EF4-FFF2-40B4-BE49-F238E27FC236}">
                <a16:creationId xmlns:a16="http://schemas.microsoft.com/office/drawing/2014/main" id="{35B00399-59B6-1C3B-6981-C5CA8797BA41}"/>
              </a:ext>
            </a:extLst>
          </p:cNvPr>
          <p:cNvSpPr/>
          <p:nvPr/>
        </p:nvSpPr>
        <p:spPr>
          <a:xfrm>
            <a:off x="4732853" y="4748651"/>
            <a:ext cx="184822" cy="228109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9" name="Cylinder 48">
            <a:extLst>
              <a:ext uri="{FF2B5EF4-FFF2-40B4-BE49-F238E27FC236}">
                <a16:creationId xmlns:a16="http://schemas.microsoft.com/office/drawing/2014/main" id="{367A7E16-C0B6-7691-6D25-0AD3746ACAE0}"/>
              </a:ext>
            </a:extLst>
          </p:cNvPr>
          <p:cNvSpPr/>
          <p:nvPr/>
        </p:nvSpPr>
        <p:spPr>
          <a:xfrm>
            <a:off x="4801233" y="4803874"/>
            <a:ext cx="184822" cy="228109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0" name="Cylinder 49">
            <a:extLst>
              <a:ext uri="{FF2B5EF4-FFF2-40B4-BE49-F238E27FC236}">
                <a16:creationId xmlns:a16="http://schemas.microsoft.com/office/drawing/2014/main" id="{D82C5574-8DCF-0414-E199-338A3F237510}"/>
              </a:ext>
            </a:extLst>
          </p:cNvPr>
          <p:cNvSpPr/>
          <p:nvPr/>
        </p:nvSpPr>
        <p:spPr>
          <a:xfrm>
            <a:off x="4878390" y="4856157"/>
            <a:ext cx="184822" cy="228109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1" name="Cylinder 50">
            <a:extLst>
              <a:ext uri="{FF2B5EF4-FFF2-40B4-BE49-F238E27FC236}">
                <a16:creationId xmlns:a16="http://schemas.microsoft.com/office/drawing/2014/main" id="{B66A2798-7F2B-C13C-9809-E6BB34883C52}"/>
              </a:ext>
            </a:extLst>
          </p:cNvPr>
          <p:cNvSpPr/>
          <p:nvPr/>
        </p:nvSpPr>
        <p:spPr>
          <a:xfrm>
            <a:off x="4931216" y="4917928"/>
            <a:ext cx="184822" cy="228109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26D8FBC4-DDA6-BB1E-4BF7-5F98E7525B2E}"/>
              </a:ext>
            </a:extLst>
          </p:cNvPr>
          <p:cNvSpPr/>
          <p:nvPr/>
        </p:nvSpPr>
        <p:spPr>
          <a:xfrm>
            <a:off x="8626486" y="4395350"/>
            <a:ext cx="742392" cy="35943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3" name="Cylinder 52">
            <a:extLst>
              <a:ext uri="{FF2B5EF4-FFF2-40B4-BE49-F238E27FC236}">
                <a16:creationId xmlns:a16="http://schemas.microsoft.com/office/drawing/2014/main" id="{4B750C86-9483-8842-7332-0BAA233D665C}"/>
              </a:ext>
            </a:extLst>
          </p:cNvPr>
          <p:cNvSpPr/>
          <p:nvPr/>
        </p:nvSpPr>
        <p:spPr>
          <a:xfrm>
            <a:off x="9446035" y="4409755"/>
            <a:ext cx="184822" cy="228109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4" name="Cylinder 53">
            <a:extLst>
              <a:ext uri="{FF2B5EF4-FFF2-40B4-BE49-F238E27FC236}">
                <a16:creationId xmlns:a16="http://schemas.microsoft.com/office/drawing/2014/main" id="{852711D9-4B25-3F60-EF4D-A7BA0E96B70E}"/>
              </a:ext>
            </a:extLst>
          </p:cNvPr>
          <p:cNvSpPr/>
          <p:nvPr/>
        </p:nvSpPr>
        <p:spPr>
          <a:xfrm>
            <a:off x="9514415" y="4464978"/>
            <a:ext cx="184822" cy="228109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5" name="Cylinder 54">
            <a:extLst>
              <a:ext uri="{FF2B5EF4-FFF2-40B4-BE49-F238E27FC236}">
                <a16:creationId xmlns:a16="http://schemas.microsoft.com/office/drawing/2014/main" id="{F8D09E47-E13E-3E14-1AD4-94C4A7CECC52}"/>
              </a:ext>
            </a:extLst>
          </p:cNvPr>
          <p:cNvSpPr/>
          <p:nvPr/>
        </p:nvSpPr>
        <p:spPr>
          <a:xfrm>
            <a:off x="9591572" y="4517261"/>
            <a:ext cx="184822" cy="228109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6" name="Cylinder 55">
            <a:extLst>
              <a:ext uri="{FF2B5EF4-FFF2-40B4-BE49-F238E27FC236}">
                <a16:creationId xmlns:a16="http://schemas.microsoft.com/office/drawing/2014/main" id="{B06BAB50-B9A3-AA9D-B020-2F93E717248C}"/>
              </a:ext>
            </a:extLst>
          </p:cNvPr>
          <p:cNvSpPr/>
          <p:nvPr/>
        </p:nvSpPr>
        <p:spPr>
          <a:xfrm>
            <a:off x="9644398" y="4579032"/>
            <a:ext cx="184822" cy="228109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82ED38F1-335B-D889-509C-2D0584A6E735}"/>
              </a:ext>
            </a:extLst>
          </p:cNvPr>
          <p:cNvSpPr/>
          <p:nvPr/>
        </p:nvSpPr>
        <p:spPr>
          <a:xfrm>
            <a:off x="3942043" y="5103424"/>
            <a:ext cx="696604" cy="22810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8" name="Cylinder 57">
            <a:extLst>
              <a:ext uri="{FF2B5EF4-FFF2-40B4-BE49-F238E27FC236}">
                <a16:creationId xmlns:a16="http://schemas.microsoft.com/office/drawing/2014/main" id="{F62EB61A-C646-9361-AD60-AD65B813A060}"/>
              </a:ext>
            </a:extLst>
          </p:cNvPr>
          <p:cNvSpPr/>
          <p:nvPr/>
        </p:nvSpPr>
        <p:spPr>
          <a:xfrm>
            <a:off x="4798304" y="5038170"/>
            <a:ext cx="184822" cy="228109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9" name="Cylinder 58">
            <a:extLst>
              <a:ext uri="{FF2B5EF4-FFF2-40B4-BE49-F238E27FC236}">
                <a16:creationId xmlns:a16="http://schemas.microsoft.com/office/drawing/2014/main" id="{9210EF82-9114-8A82-4702-E4D486BC0CC1}"/>
              </a:ext>
            </a:extLst>
          </p:cNvPr>
          <p:cNvSpPr/>
          <p:nvPr/>
        </p:nvSpPr>
        <p:spPr>
          <a:xfrm>
            <a:off x="4866684" y="5093393"/>
            <a:ext cx="184822" cy="228109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0" name="Cylinder 59">
            <a:extLst>
              <a:ext uri="{FF2B5EF4-FFF2-40B4-BE49-F238E27FC236}">
                <a16:creationId xmlns:a16="http://schemas.microsoft.com/office/drawing/2014/main" id="{21D925AC-2C99-0686-F1A7-E60D530F225D}"/>
              </a:ext>
            </a:extLst>
          </p:cNvPr>
          <p:cNvSpPr/>
          <p:nvPr/>
        </p:nvSpPr>
        <p:spPr>
          <a:xfrm>
            <a:off x="4943841" y="5145676"/>
            <a:ext cx="184822" cy="228109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1" name="Cylinder 60">
            <a:extLst>
              <a:ext uri="{FF2B5EF4-FFF2-40B4-BE49-F238E27FC236}">
                <a16:creationId xmlns:a16="http://schemas.microsoft.com/office/drawing/2014/main" id="{A7FEB221-FFD9-12AA-7C02-690975249862}"/>
              </a:ext>
            </a:extLst>
          </p:cNvPr>
          <p:cNvSpPr/>
          <p:nvPr/>
        </p:nvSpPr>
        <p:spPr>
          <a:xfrm>
            <a:off x="4996667" y="5207447"/>
            <a:ext cx="184822" cy="228109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11D597A7-1849-5F14-F25B-CDD4D7D2E5FC}"/>
              </a:ext>
            </a:extLst>
          </p:cNvPr>
          <p:cNvSpPr/>
          <p:nvPr/>
        </p:nvSpPr>
        <p:spPr>
          <a:xfrm>
            <a:off x="4036249" y="5407931"/>
            <a:ext cx="696604" cy="22810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3" name="Cylinder 62">
            <a:extLst>
              <a:ext uri="{FF2B5EF4-FFF2-40B4-BE49-F238E27FC236}">
                <a16:creationId xmlns:a16="http://schemas.microsoft.com/office/drawing/2014/main" id="{37749F40-CDBB-F0BD-70EC-EF7081819E15}"/>
              </a:ext>
            </a:extLst>
          </p:cNvPr>
          <p:cNvSpPr/>
          <p:nvPr/>
        </p:nvSpPr>
        <p:spPr>
          <a:xfrm>
            <a:off x="4892510" y="5342677"/>
            <a:ext cx="184822" cy="228109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144" name="Cylinder 6143">
            <a:extLst>
              <a:ext uri="{FF2B5EF4-FFF2-40B4-BE49-F238E27FC236}">
                <a16:creationId xmlns:a16="http://schemas.microsoft.com/office/drawing/2014/main" id="{2174C4FC-AF72-E8A3-4D66-6128FEA74C5D}"/>
              </a:ext>
            </a:extLst>
          </p:cNvPr>
          <p:cNvSpPr/>
          <p:nvPr/>
        </p:nvSpPr>
        <p:spPr>
          <a:xfrm>
            <a:off x="4960890" y="5397900"/>
            <a:ext cx="184822" cy="228109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145" name="Cylinder 6144">
            <a:extLst>
              <a:ext uri="{FF2B5EF4-FFF2-40B4-BE49-F238E27FC236}">
                <a16:creationId xmlns:a16="http://schemas.microsoft.com/office/drawing/2014/main" id="{19D7F7EF-1DD9-140B-C3BA-1E49EA35A84C}"/>
              </a:ext>
            </a:extLst>
          </p:cNvPr>
          <p:cNvSpPr/>
          <p:nvPr/>
        </p:nvSpPr>
        <p:spPr>
          <a:xfrm>
            <a:off x="5038047" y="5450183"/>
            <a:ext cx="184822" cy="228109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147" name="Cylinder 6146">
            <a:extLst>
              <a:ext uri="{FF2B5EF4-FFF2-40B4-BE49-F238E27FC236}">
                <a16:creationId xmlns:a16="http://schemas.microsoft.com/office/drawing/2014/main" id="{A72CC6BF-5B4F-C34F-9D25-59FAE56A024B}"/>
              </a:ext>
            </a:extLst>
          </p:cNvPr>
          <p:cNvSpPr/>
          <p:nvPr/>
        </p:nvSpPr>
        <p:spPr>
          <a:xfrm>
            <a:off x="5090873" y="5511954"/>
            <a:ext cx="184822" cy="228109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149" name="Flowchart: Direct Access Storage 6148">
            <a:extLst>
              <a:ext uri="{FF2B5EF4-FFF2-40B4-BE49-F238E27FC236}">
                <a16:creationId xmlns:a16="http://schemas.microsoft.com/office/drawing/2014/main" id="{EDCF461F-C7FC-D0A3-D58C-8EFE58CBF338}"/>
              </a:ext>
            </a:extLst>
          </p:cNvPr>
          <p:cNvSpPr/>
          <p:nvPr/>
        </p:nvSpPr>
        <p:spPr>
          <a:xfrm>
            <a:off x="3174389" y="5166433"/>
            <a:ext cx="653636" cy="125791"/>
          </a:xfrm>
          <a:prstGeom prst="flowChartMagneticDrum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150" name="TextBox 6149">
            <a:extLst>
              <a:ext uri="{FF2B5EF4-FFF2-40B4-BE49-F238E27FC236}">
                <a16:creationId xmlns:a16="http://schemas.microsoft.com/office/drawing/2014/main" id="{50E70521-1105-86D8-7D07-EAFC5DB37034}"/>
              </a:ext>
            </a:extLst>
          </p:cNvPr>
          <p:cNvSpPr txBox="1"/>
          <p:nvPr/>
        </p:nvSpPr>
        <p:spPr>
          <a:xfrm>
            <a:off x="723928" y="4998335"/>
            <a:ext cx="216988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For streaming</a:t>
            </a:r>
          </a:p>
          <a:p>
            <a:r>
              <a:rPr lang="fr-FR" b="1" dirty="0"/>
              <a:t>Kafka</a:t>
            </a:r>
            <a:r>
              <a:rPr lang="fr-FR" dirty="0"/>
              <a:t>, </a:t>
            </a:r>
            <a:r>
              <a:rPr lang="fr-FR" dirty="0" err="1"/>
              <a:t>Jms</a:t>
            </a:r>
            <a:r>
              <a:rPr lang="fr-FR" dirty="0"/>
              <a:t>, </a:t>
            </a:r>
            <a:r>
              <a:rPr lang="fr-FR" dirty="0" err="1"/>
              <a:t>tibcoEMS</a:t>
            </a:r>
            <a:endParaRPr lang="fr-FR" dirty="0"/>
          </a:p>
          <a:p>
            <a:r>
              <a:rPr lang="fr-FR" dirty="0" err="1"/>
              <a:t>Flume</a:t>
            </a:r>
            <a:r>
              <a:rPr lang="fr-FR" dirty="0"/>
              <a:t> + http front</a:t>
            </a:r>
          </a:p>
        </p:txBody>
      </p:sp>
      <p:sp>
        <p:nvSpPr>
          <p:cNvPr id="6151" name="TextBox 6150">
            <a:extLst>
              <a:ext uri="{FF2B5EF4-FFF2-40B4-BE49-F238E27FC236}">
                <a16:creationId xmlns:a16="http://schemas.microsoft.com/office/drawing/2014/main" id="{34A14935-95F6-9A0A-B5CE-2FDE31449577}"/>
              </a:ext>
            </a:extLst>
          </p:cNvPr>
          <p:cNvSpPr txBox="1"/>
          <p:nvPr/>
        </p:nvSpPr>
        <p:spPr>
          <a:xfrm>
            <a:off x="3659803" y="4406931"/>
            <a:ext cx="16158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8 Kafka Brokers</a:t>
            </a:r>
          </a:p>
        </p:txBody>
      </p:sp>
      <p:sp>
        <p:nvSpPr>
          <p:cNvPr id="6152" name="TextBox 6151">
            <a:extLst>
              <a:ext uri="{FF2B5EF4-FFF2-40B4-BE49-F238E27FC236}">
                <a16:creationId xmlns:a16="http://schemas.microsoft.com/office/drawing/2014/main" id="{1EEE6EEB-ACD5-2522-7A2A-662B36FEF522}"/>
              </a:ext>
            </a:extLst>
          </p:cNvPr>
          <p:cNvSpPr txBox="1"/>
          <p:nvPr/>
        </p:nvSpPr>
        <p:spPr>
          <a:xfrm>
            <a:off x="3897749" y="3567462"/>
            <a:ext cx="4700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$ _</a:t>
            </a:r>
          </a:p>
        </p:txBody>
      </p:sp>
      <p:sp>
        <p:nvSpPr>
          <p:cNvPr id="6153" name="Rectangle 6152">
            <a:extLst>
              <a:ext uri="{FF2B5EF4-FFF2-40B4-BE49-F238E27FC236}">
                <a16:creationId xmlns:a16="http://schemas.microsoft.com/office/drawing/2014/main" id="{D2329D3D-CA78-33AE-9E8C-AFF54972791E}"/>
              </a:ext>
            </a:extLst>
          </p:cNvPr>
          <p:cNvSpPr/>
          <p:nvPr/>
        </p:nvSpPr>
        <p:spPr>
          <a:xfrm>
            <a:off x="6674096" y="5168612"/>
            <a:ext cx="742392" cy="35943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154" name="Flowchart: Direct Access Storage 6153">
            <a:extLst>
              <a:ext uri="{FF2B5EF4-FFF2-40B4-BE49-F238E27FC236}">
                <a16:creationId xmlns:a16="http://schemas.microsoft.com/office/drawing/2014/main" id="{DA17DC1E-D45B-FE5B-873F-9A99E46A3887}"/>
              </a:ext>
            </a:extLst>
          </p:cNvPr>
          <p:cNvSpPr/>
          <p:nvPr/>
        </p:nvSpPr>
        <p:spPr>
          <a:xfrm rot="5400000">
            <a:off x="6781369" y="5841656"/>
            <a:ext cx="653636" cy="125791"/>
          </a:xfrm>
          <a:prstGeom prst="flowChartMagneticDrum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155" name="TextBox 6154">
            <a:extLst>
              <a:ext uri="{FF2B5EF4-FFF2-40B4-BE49-F238E27FC236}">
                <a16:creationId xmlns:a16="http://schemas.microsoft.com/office/drawing/2014/main" id="{BFF7BC90-26CE-13B9-A74C-9E80F73C944D}"/>
              </a:ext>
            </a:extLst>
          </p:cNvPr>
          <p:cNvSpPr txBox="1"/>
          <p:nvPr/>
        </p:nvSpPr>
        <p:spPr>
          <a:xfrm>
            <a:off x="6139059" y="6307679"/>
            <a:ext cx="30087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http for ADMIN (</a:t>
            </a:r>
            <a:r>
              <a:rPr lang="fr-FR" dirty="0" err="1"/>
              <a:t>Internal</a:t>
            </a:r>
            <a:r>
              <a:rPr lang="fr-FR" dirty="0"/>
              <a:t> APIs)</a:t>
            </a:r>
          </a:p>
        </p:txBody>
      </p:sp>
    </p:spTree>
    <p:extLst>
      <p:ext uri="{BB962C8B-B14F-4D97-AF65-F5344CB8AC3E}">
        <p14:creationId xmlns:p14="http://schemas.microsoft.com/office/powerpoint/2010/main" val="178908052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9456B0-71A4-CF8C-E88D-0B1478AC2D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0001"/>
            <a:ext cx="10515600" cy="1325563"/>
          </a:xfrm>
        </p:spPr>
        <p:txBody>
          <a:bodyPr/>
          <a:lstStyle/>
          <a:p>
            <a:pPr algn="ctr"/>
            <a:r>
              <a:rPr lang="fr-FR" dirty="0" err="1"/>
              <a:t>Outline</a:t>
            </a:r>
            <a:endParaRPr lang="fr-FR" dirty="0"/>
          </a:p>
        </p:txBody>
      </p:sp>
      <p:sp>
        <p:nvSpPr>
          <p:cNvPr id="4" name="Arrow: Right 3">
            <a:extLst>
              <a:ext uri="{FF2B5EF4-FFF2-40B4-BE49-F238E27FC236}">
                <a16:creationId xmlns:a16="http://schemas.microsoft.com/office/drawing/2014/main" id="{DDD0192B-78FC-DA6C-C265-8EE665F30D7C}"/>
              </a:ext>
            </a:extLst>
          </p:cNvPr>
          <p:cNvSpPr/>
          <p:nvPr/>
        </p:nvSpPr>
        <p:spPr>
          <a:xfrm>
            <a:off x="2494531" y="2294970"/>
            <a:ext cx="710213" cy="39061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777735CF-5868-6814-75FC-8F123C8839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60914" y="1630439"/>
            <a:ext cx="8427961" cy="4862436"/>
          </a:xfrm>
        </p:spPr>
        <p:txBody>
          <a:bodyPr>
            <a:normAutofit fontScale="92500" lnSpcReduction="10000"/>
          </a:bodyPr>
          <a:lstStyle/>
          <a:p>
            <a:r>
              <a:rPr lang="fr-FR" dirty="0" err="1"/>
              <a:t>What</a:t>
            </a:r>
            <a:r>
              <a:rPr lang="fr-FR" dirty="0"/>
              <a:t> </a:t>
            </a:r>
            <a:r>
              <a:rPr lang="fr-FR" dirty="0" err="1"/>
              <a:t>is</a:t>
            </a:r>
            <a:r>
              <a:rPr lang="fr-FR" dirty="0"/>
              <a:t> </a:t>
            </a:r>
            <a:r>
              <a:rPr lang="fr-FR" dirty="0" err="1"/>
              <a:t>BigData</a:t>
            </a:r>
            <a:r>
              <a:rPr lang="fr-FR" dirty="0"/>
              <a:t> ?</a:t>
            </a:r>
          </a:p>
          <a:p>
            <a:pPr lvl="1"/>
            <a:r>
              <a:rPr lang="fr-FR" dirty="0" err="1"/>
              <a:t>Order</a:t>
            </a:r>
            <a:r>
              <a:rPr lang="fr-FR" dirty="0"/>
              <a:t> of Magnitudes for « Big »</a:t>
            </a:r>
          </a:p>
          <a:p>
            <a:pPr lvl="1"/>
            <a:r>
              <a:rPr lang="fr-FR" sz="3500" b="1" dirty="0"/>
              <a:t>Distributed System challenges</a:t>
            </a:r>
          </a:p>
          <a:p>
            <a:pPr lvl="1"/>
            <a:r>
              <a:rPr lang="fr-FR" dirty="0" err="1"/>
              <a:t>Scaling</a:t>
            </a:r>
            <a:r>
              <a:rPr lang="fr-FR" dirty="0"/>
              <a:t> Storage </a:t>
            </a:r>
            <a:r>
              <a:rPr lang="fr-FR" dirty="0" err="1"/>
              <a:t>Resources</a:t>
            </a:r>
            <a:r>
              <a:rPr lang="fr-FR" dirty="0"/>
              <a:t>: </a:t>
            </a:r>
            <a:r>
              <a:rPr lang="fr-FR" dirty="0" err="1"/>
              <a:t>Hdfs</a:t>
            </a:r>
            <a:endParaRPr lang="fr-FR" dirty="0"/>
          </a:p>
          <a:p>
            <a:pPr lvl="1"/>
            <a:r>
              <a:rPr lang="fr-FR" dirty="0" err="1"/>
              <a:t>Scaling</a:t>
            </a:r>
            <a:r>
              <a:rPr lang="fr-FR" dirty="0"/>
              <a:t> </a:t>
            </a:r>
            <a:r>
              <a:rPr lang="fr-FR" dirty="0" err="1"/>
              <a:t>Compute</a:t>
            </a:r>
            <a:r>
              <a:rPr lang="fr-FR" dirty="0"/>
              <a:t> </a:t>
            </a:r>
            <a:r>
              <a:rPr lang="fr-FR" dirty="0" err="1"/>
              <a:t>Resources</a:t>
            </a:r>
            <a:r>
              <a:rPr lang="fr-FR" dirty="0"/>
              <a:t>: </a:t>
            </a:r>
            <a:r>
              <a:rPr lang="fr-FR" dirty="0" err="1"/>
              <a:t>Yarn</a:t>
            </a:r>
            <a:r>
              <a:rPr lang="fr-FR" dirty="0"/>
              <a:t>, </a:t>
            </a:r>
            <a:r>
              <a:rPr lang="fr-FR" dirty="0" err="1"/>
              <a:t>Kubernetes</a:t>
            </a:r>
            <a:endParaRPr lang="fr-FR" dirty="0"/>
          </a:p>
          <a:p>
            <a:pPr lvl="1"/>
            <a:r>
              <a:rPr lang="fr-FR" dirty="0" err="1"/>
              <a:t>Using</a:t>
            </a:r>
            <a:r>
              <a:rPr lang="fr-FR" dirty="0"/>
              <a:t> Storage – </a:t>
            </a:r>
            <a:r>
              <a:rPr lang="fr-FR" dirty="0" err="1"/>
              <a:t>Compute</a:t>
            </a:r>
            <a:r>
              <a:rPr lang="fr-FR" dirty="0"/>
              <a:t> apis</a:t>
            </a:r>
          </a:p>
          <a:p>
            <a:pPr lvl="1"/>
            <a:r>
              <a:rPr lang="fr-FR" dirty="0"/>
              <a:t>Evolution of Hardware – Softwares – Hadoop </a:t>
            </a:r>
            <a:r>
              <a:rPr lang="fr-FR" dirty="0" err="1"/>
              <a:t>Ecosystem</a:t>
            </a:r>
            <a:r>
              <a:rPr lang="fr-FR" dirty="0"/>
              <a:t>, Spark</a:t>
            </a:r>
          </a:p>
          <a:p>
            <a:r>
              <a:rPr lang="fr-FR" dirty="0"/>
              <a:t>Description of a </a:t>
            </a:r>
            <a:r>
              <a:rPr lang="fr-FR" dirty="0" err="1"/>
              <a:t>Datalake</a:t>
            </a:r>
            <a:endParaRPr lang="fr-FR" dirty="0"/>
          </a:p>
          <a:p>
            <a:pPr lvl="1"/>
            <a:r>
              <a:rPr lang="fr-FR" dirty="0"/>
              <a:t>Content</a:t>
            </a:r>
          </a:p>
          <a:p>
            <a:pPr lvl="1"/>
            <a:r>
              <a:rPr lang="fr-FR" dirty="0"/>
              <a:t>Usages</a:t>
            </a:r>
          </a:p>
          <a:p>
            <a:r>
              <a:rPr lang="fr-FR" dirty="0"/>
              <a:t>Example of Data-</a:t>
            </a:r>
            <a:r>
              <a:rPr lang="fr-FR" dirty="0" err="1"/>
              <a:t>Processing</a:t>
            </a:r>
            <a:endParaRPr lang="fr-FR" dirty="0"/>
          </a:p>
          <a:p>
            <a:pPr lvl="1"/>
            <a:r>
              <a:rPr lang="fr-FR" dirty="0"/>
              <a:t>RAW to LAKE, Reports</a:t>
            </a:r>
          </a:p>
          <a:p>
            <a:r>
              <a:rPr lang="fr-FR" dirty="0"/>
              <a:t>Evolution to Cloud</a:t>
            </a:r>
          </a:p>
        </p:txBody>
      </p:sp>
    </p:spTree>
    <p:extLst>
      <p:ext uri="{BB962C8B-B14F-4D97-AF65-F5344CB8AC3E}">
        <p14:creationId xmlns:p14="http://schemas.microsoft.com/office/powerpoint/2010/main" val="168060592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639FE9-C1A2-E019-6BD7-18C235E9FD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8989" y="1548067"/>
            <a:ext cx="11630781" cy="4112505"/>
          </a:xfrm>
        </p:spPr>
        <p:txBody>
          <a:bodyPr>
            <a:normAutofit fontScale="90000"/>
          </a:bodyPr>
          <a:lstStyle/>
          <a:p>
            <a:pPr algn="ctr"/>
            <a:r>
              <a:rPr lang="fr-FR" dirty="0"/>
              <a:t>Handling 1 Server + 1 Disk</a:t>
            </a:r>
            <a:br>
              <a:rPr lang="fr-FR" dirty="0"/>
            </a:br>
            <a:r>
              <a:rPr lang="fr-FR" dirty="0"/>
              <a:t> … OK </a:t>
            </a:r>
            <a:r>
              <a:rPr lang="fr-FR" dirty="0" err="1"/>
              <a:t>with</a:t>
            </a:r>
            <a:r>
              <a:rPr lang="fr-FR" dirty="0"/>
              <a:t> </a:t>
            </a:r>
            <a:r>
              <a:rPr lang="fr-FR" dirty="0" err="1"/>
              <a:t>SSH,Bash,Java</a:t>
            </a:r>
            <a:r>
              <a:rPr lang="fr-FR" dirty="0"/>
              <a:t>...</a:t>
            </a:r>
            <a:br>
              <a:rPr lang="fr-FR" dirty="0"/>
            </a:br>
            <a:br>
              <a:rPr lang="fr-FR" dirty="0"/>
            </a:br>
            <a:r>
              <a:rPr lang="fr-FR" dirty="0"/>
              <a:t>How to </a:t>
            </a:r>
            <a:r>
              <a:rPr lang="fr-FR" dirty="0" err="1"/>
              <a:t>handle</a:t>
            </a:r>
            <a:r>
              <a:rPr lang="fr-FR" dirty="0"/>
              <a:t> 300 Servers ?</a:t>
            </a:r>
            <a:br>
              <a:rPr lang="fr-FR" dirty="0"/>
            </a:br>
            <a:r>
              <a:rPr lang="fr-FR" dirty="0"/>
              <a:t>1 Billions Files ? In 50 Millions Directories ?</a:t>
            </a:r>
            <a:br>
              <a:rPr lang="fr-FR" dirty="0"/>
            </a:br>
            <a:br>
              <a:rPr lang="fr-FR" dirty="0"/>
            </a:br>
            <a:r>
              <a:rPr lang="fr-FR" dirty="0"/>
              <a:t>… At </a:t>
            </a:r>
            <a:r>
              <a:rPr lang="fr-FR" dirty="0" err="1"/>
              <a:t>Scale</a:t>
            </a:r>
            <a:r>
              <a:rPr lang="fr-FR" dirty="0"/>
              <a:t> </a:t>
            </a:r>
            <a:br>
              <a:rPr lang="fr-FR" dirty="0"/>
            </a:br>
            <a:r>
              <a:rPr lang="fr-FR" dirty="0"/>
              <a:t>(performance, and </a:t>
            </a:r>
            <a:r>
              <a:rPr lang="fr-FR" dirty="0" err="1"/>
              <a:t>way</a:t>
            </a:r>
            <a:r>
              <a:rPr lang="fr-FR" dirty="0"/>
              <a:t> of </a:t>
            </a:r>
            <a:r>
              <a:rPr lang="fr-FR" dirty="0" err="1"/>
              <a:t>working</a:t>
            </a:r>
            <a:r>
              <a:rPr lang="fr-FR" dirty="0"/>
              <a:t> in IT teams)</a:t>
            </a:r>
          </a:p>
        </p:txBody>
      </p:sp>
    </p:spTree>
    <p:extLst>
      <p:ext uri="{BB962C8B-B14F-4D97-AF65-F5344CB8AC3E}">
        <p14:creationId xmlns:p14="http://schemas.microsoft.com/office/powerpoint/2010/main" val="211718127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372253-86D7-E713-E0A2-69A3CBD527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49" y="365125"/>
            <a:ext cx="11940418" cy="1325563"/>
          </a:xfrm>
        </p:spPr>
        <p:txBody>
          <a:bodyPr/>
          <a:lstStyle/>
          <a:p>
            <a:r>
              <a:rPr lang="fr-FR" dirty="0"/>
              <a:t>Challenge #1: </a:t>
            </a:r>
            <a:r>
              <a:rPr lang="fr-FR" dirty="0" err="1"/>
              <a:t>Unify</a:t>
            </a:r>
            <a:r>
              <a:rPr lang="fr-FR" dirty="0"/>
              <a:t> « Virtual » Storage </a:t>
            </a:r>
            <a:r>
              <a:rPr lang="fr-FR" dirty="0" err="1"/>
              <a:t>Resources</a:t>
            </a:r>
            <a:endParaRPr lang="fr-FR" dirty="0"/>
          </a:p>
        </p:txBody>
      </p:sp>
      <p:sp>
        <p:nvSpPr>
          <p:cNvPr id="4" name="Cylinder 3">
            <a:extLst>
              <a:ext uri="{FF2B5EF4-FFF2-40B4-BE49-F238E27FC236}">
                <a16:creationId xmlns:a16="http://schemas.microsoft.com/office/drawing/2014/main" id="{28DCD11A-A3E4-CA36-1F63-E60EC8B18EC6}"/>
              </a:ext>
            </a:extLst>
          </p:cNvPr>
          <p:cNvSpPr/>
          <p:nvPr/>
        </p:nvSpPr>
        <p:spPr>
          <a:xfrm>
            <a:off x="2175691" y="1821518"/>
            <a:ext cx="184822" cy="228109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Cylinder 4">
            <a:extLst>
              <a:ext uri="{FF2B5EF4-FFF2-40B4-BE49-F238E27FC236}">
                <a16:creationId xmlns:a16="http://schemas.microsoft.com/office/drawing/2014/main" id="{97CF7B05-BED3-AE6B-7A81-DE8139978BA7}"/>
              </a:ext>
            </a:extLst>
          </p:cNvPr>
          <p:cNvSpPr/>
          <p:nvPr/>
        </p:nvSpPr>
        <p:spPr>
          <a:xfrm>
            <a:off x="2244071" y="1876741"/>
            <a:ext cx="184822" cy="228109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Cylinder 5">
            <a:extLst>
              <a:ext uri="{FF2B5EF4-FFF2-40B4-BE49-F238E27FC236}">
                <a16:creationId xmlns:a16="http://schemas.microsoft.com/office/drawing/2014/main" id="{FA21B136-6A5F-183F-BDBB-D003BD68EAB6}"/>
              </a:ext>
            </a:extLst>
          </p:cNvPr>
          <p:cNvSpPr/>
          <p:nvPr/>
        </p:nvSpPr>
        <p:spPr>
          <a:xfrm>
            <a:off x="2321228" y="1929024"/>
            <a:ext cx="184822" cy="228109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Cylinder 6">
            <a:extLst>
              <a:ext uri="{FF2B5EF4-FFF2-40B4-BE49-F238E27FC236}">
                <a16:creationId xmlns:a16="http://schemas.microsoft.com/office/drawing/2014/main" id="{786F5FB4-C742-ECC1-9AB4-9F28E537B4E9}"/>
              </a:ext>
            </a:extLst>
          </p:cNvPr>
          <p:cNvSpPr/>
          <p:nvPr/>
        </p:nvSpPr>
        <p:spPr>
          <a:xfrm>
            <a:off x="2374054" y="1990795"/>
            <a:ext cx="184822" cy="228109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Cylinder 7">
            <a:extLst>
              <a:ext uri="{FF2B5EF4-FFF2-40B4-BE49-F238E27FC236}">
                <a16:creationId xmlns:a16="http://schemas.microsoft.com/office/drawing/2014/main" id="{8D64B590-D269-F6A4-F905-4610A43D7A6D}"/>
              </a:ext>
            </a:extLst>
          </p:cNvPr>
          <p:cNvSpPr/>
          <p:nvPr/>
        </p:nvSpPr>
        <p:spPr>
          <a:xfrm>
            <a:off x="2392046" y="2340643"/>
            <a:ext cx="184822" cy="228109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Cylinder 8">
            <a:extLst>
              <a:ext uri="{FF2B5EF4-FFF2-40B4-BE49-F238E27FC236}">
                <a16:creationId xmlns:a16="http://schemas.microsoft.com/office/drawing/2014/main" id="{FCC8816D-AB16-7D07-8662-02E664ADC4AA}"/>
              </a:ext>
            </a:extLst>
          </p:cNvPr>
          <p:cNvSpPr/>
          <p:nvPr/>
        </p:nvSpPr>
        <p:spPr>
          <a:xfrm>
            <a:off x="2460426" y="2395866"/>
            <a:ext cx="184822" cy="228109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Cylinder 9">
            <a:extLst>
              <a:ext uri="{FF2B5EF4-FFF2-40B4-BE49-F238E27FC236}">
                <a16:creationId xmlns:a16="http://schemas.microsoft.com/office/drawing/2014/main" id="{B793CB38-A20A-7A42-BE07-ADDDD787720D}"/>
              </a:ext>
            </a:extLst>
          </p:cNvPr>
          <p:cNvSpPr/>
          <p:nvPr/>
        </p:nvSpPr>
        <p:spPr>
          <a:xfrm>
            <a:off x="2537583" y="2448149"/>
            <a:ext cx="184822" cy="228109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Cylinder 10">
            <a:extLst>
              <a:ext uri="{FF2B5EF4-FFF2-40B4-BE49-F238E27FC236}">
                <a16:creationId xmlns:a16="http://schemas.microsoft.com/office/drawing/2014/main" id="{42BA5BC9-D482-7C0C-0F68-3C040DAECA62}"/>
              </a:ext>
            </a:extLst>
          </p:cNvPr>
          <p:cNvSpPr/>
          <p:nvPr/>
        </p:nvSpPr>
        <p:spPr>
          <a:xfrm>
            <a:off x="2590409" y="2509920"/>
            <a:ext cx="184822" cy="228109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" name="Cylinder 11">
            <a:extLst>
              <a:ext uri="{FF2B5EF4-FFF2-40B4-BE49-F238E27FC236}">
                <a16:creationId xmlns:a16="http://schemas.microsoft.com/office/drawing/2014/main" id="{E6148935-ECFF-4ED9-D683-6C2BA917AB3B}"/>
              </a:ext>
            </a:extLst>
          </p:cNvPr>
          <p:cNvSpPr/>
          <p:nvPr/>
        </p:nvSpPr>
        <p:spPr>
          <a:xfrm>
            <a:off x="2613368" y="2798432"/>
            <a:ext cx="184822" cy="228109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" name="Cylinder 12">
            <a:extLst>
              <a:ext uri="{FF2B5EF4-FFF2-40B4-BE49-F238E27FC236}">
                <a16:creationId xmlns:a16="http://schemas.microsoft.com/office/drawing/2014/main" id="{0A2EF0BE-0104-43AD-9927-796C7140C938}"/>
              </a:ext>
            </a:extLst>
          </p:cNvPr>
          <p:cNvSpPr/>
          <p:nvPr/>
        </p:nvSpPr>
        <p:spPr>
          <a:xfrm>
            <a:off x="2681748" y="2853655"/>
            <a:ext cx="184822" cy="228109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" name="Cylinder 13">
            <a:extLst>
              <a:ext uri="{FF2B5EF4-FFF2-40B4-BE49-F238E27FC236}">
                <a16:creationId xmlns:a16="http://schemas.microsoft.com/office/drawing/2014/main" id="{92F65CE1-3C92-3A9E-8110-4496C7FDD64C}"/>
              </a:ext>
            </a:extLst>
          </p:cNvPr>
          <p:cNvSpPr/>
          <p:nvPr/>
        </p:nvSpPr>
        <p:spPr>
          <a:xfrm>
            <a:off x="2758905" y="2905938"/>
            <a:ext cx="184822" cy="228109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5" name="Cylinder 14">
            <a:extLst>
              <a:ext uri="{FF2B5EF4-FFF2-40B4-BE49-F238E27FC236}">
                <a16:creationId xmlns:a16="http://schemas.microsoft.com/office/drawing/2014/main" id="{DE6D7816-A02B-B25A-0038-B9DEC3F99A33}"/>
              </a:ext>
            </a:extLst>
          </p:cNvPr>
          <p:cNvSpPr/>
          <p:nvPr/>
        </p:nvSpPr>
        <p:spPr>
          <a:xfrm>
            <a:off x="2811731" y="2967709"/>
            <a:ext cx="184822" cy="228109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7" name="Cylinder 16">
            <a:extLst>
              <a:ext uri="{FF2B5EF4-FFF2-40B4-BE49-F238E27FC236}">
                <a16:creationId xmlns:a16="http://schemas.microsoft.com/office/drawing/2014/main" id="{6B2149F4-7313-6818-CFB3-85E60B180F70}"/>
              </a:ext>
            </a:extLst>
          </p:cNvPr>
          <p:cNvSpPr/>
          <p:nvPr/>
        </p:nvSpPr>
        <p:spPr>
          <a:xfrm>
            <a:off x="2799562" y="3245111"/>
            <a:ext cx="184822" cy="228109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8" name="Cylinder 17">
            <a:extLst>
              <a:ext uri="{FF2B5EF4-FFF2-40B4-BE49-F238E27FC236}">
                <a16:creationId xmlns:a16="http://schemas.microsoft.com/office/drawing/2014/main" id="{AB17997E-C050-4553-711B-0BB01F913473}"/>
              </a:ext>
            </a:extLst>
          </p:cNvPr>
          <p:cNvSpPr/>
          <p:nvPr/>
        </p:nvSpPr>
        <p:spPr>
          <a:xfrm>
            <a:off x="2867942" y="3300334"/>
            <a:ext cx="184822" cy="228109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9" name="Cylinder 18">
            <a:extLst>
              <a:ext uri="{FF2B5EF4-FFF2-40B4-BE49-F238E27FC236}">
                <a16:creationId xmlns:a16="http://schemas.microsoft.com/office/drawing/2014/main" id="{8CF8F44C-1154-D0CC-CF7C-C7718E54CFF9}"/>
              </a:ext>
            </a:extLst>
          </p:cNvPr>
          <p:cNvSpPr/>
          <p:nvPr/>
        </p:nvSpPr>
        <p:spPr>
          <a:xfrm>
            <a:off x="2945099" y="3352617"/>
            <a:ext cx="184822" cy="228109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0" name="Cylinder 19">
            <a:extLst>
              <a:ext uri="{FF2B5EF4-FFF2-40B4-BE49-F238E27FC236}">
                <a16:creationId xmlns:a16="http://schemas.microsoft.com/office/drawing/2014/main" id="{CAD810A8-2A24-B271-7F4D-84F2C0F568EC}"/>
              </a:ext>
            </a:extLst>
          </p:cNvPr>
          <p:cNvSpPr/>
          <p:nvPr/>
        </p:nvSpPr>
        <p:spPr>
          <a:xfrm>
            <a:off x="2997925" y="3414388"/>
            <a:ext cx="184822" cy="228109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2" name="Cylinder 21">
            <a:extLst>
              <a:ext uri="{FF2B5EF4-FFF2-40B4-BE49-F238E27FC236}">
                <a16:creationId xmlns:a16="http://schemas.microsoft.com/office/drawing/2014/main" id="{F13BF4D1-73D4-1874-A8B4-180273C54F60}"/>
              </a:ext>
            </a:extLst>
          </p:cNvPr>
          <p:cNvSpPr/>
          <p:nvPr/>
        </p:nvSpPr>
        <p:spPr>
          <a:xfrm>
            <a:off x="2995240" y="3685230"/>
            <a:ext cx="184822" cy="228109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3" name="Cylinder 22">
            <a:extLst>
              <a:ext uri="{FF2B5EF4-FFF2-40B4-BE49-F238E27FC236}">
                <a16:creationId xmlns:a16="http://schemas.microsoft.com/office/drawing/2014/main" id="{7BF8B29A-63A7-E8CF-E9E8-92104D7ECC23}"/>
              </a:ext>
            </a:extLst>
          </p:cNvPr>
          <p:cNvSpPr/>
          <p:nvPr/>
        </p:nvSpPr>
        <p:spPr>
          <a:xfrm>
            <a:off x="3063620" y="3740453"/>
            <a:ext cx="184822" cy="228109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4" name="Cylinder 23">
            <a:extLst>
              <a:ext uri="{FF2B5EF4-FFF2-40B4-BE49-F238E27FC236}">
                <a16:creationId xmlns:a16="http://schemas.microsoft.com/office/drawing/2014/main" id="{B1560B78-7841-EB5E-87F3-8BCC18A6FC63}"/>
              </a:ext>
            </a:extLst>
          </p:cNvPr>
          <p:cNvSpPr/>
          <p:nvPr/>
        </p:nvSpPr>
        <p:spPr>
          <a:xfrm>
            <a:off x="3140777" y="3792736"/>
            <a:ext cx="184822" cy="228109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5" name="Cylinder 24">
            <a:extLst>
              <a:ext uri="{FF2B5EF4-FFF2-40B4-BE49-F238E27FC236}">
                <a16:creationId xmlns:a16="http://schemas.microsoft.com/office/drawing/2014/main" id="{4A825BC8-6E37-A55C-1F16-18EBF61E7683}"/>
              </a:ext>
            </a:extLst>
          </p:cNvPr>
          <p:cNvSpPr/>
          <p:nvPr/>
        </p:nvSpPr>
        <p:spPr>
          <a:xfrm>
            <a:off x="3193603" y="3854507"/>
            <a:ext cx="184822" cy="228109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7" name="Cylinder 26">
            <a:extLst>
              <a:ext uri="{FF2B5EF4-FFF2-40B4-BE49-F238E27FC236}">
                <a16:creationId xmlns:a16="http://schemas.microsoft.com/office/drawing/2014/main" id="{DA5AE7C0-B344-B86A-4315-57FD23DB13D3}"/>
              </a:ext>
            </a:extLst>
          </p:cNvPr>
          <p:cNvSpPr/>
          <p:nvPr/>
        </p:nvSpPr>
        <p:spPr>
          <a:xfrm>
            <a:off x="3200054" y="4114159"/>
            <a:ext cx="184822" cy="228109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8" name="Cylinder 27">
            <a:extLst>
              <a:ext uri="{FF2B5EF4-FFF2-40B4-BE49-F238E27FC236}">
                <a16:creationId xmlns:a16="http://schemas.microsoft.com/office/drawing/2014/main" id="{70720775-576C-E944-E38B-EA2093EDB9AE}"/>
              </a:ext>
            </a:extLst>
          </p:cNvPr>
          <p:cNvSpPr/>
          <p:nvPr/>
        </p:nvSpPr>
        <p:spPr>
          <a:xfrm>
            <a:off x="3268434" y="4169382"/>
            <a:ext cx="184822" cy="228109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9" name="Cylinder 28">
            <a:extLst>
              <a:ext uri="{FF2B5EF4-FFF2-40B4-BE49-F238E27FC236}">
                <a16:creationId xmlns:a16="http://schemas.microsoft.com/office/drawing/2014/main" id="{8769DB75-E94A-BE41-7921-28634A6E9FBD}"/>
              </a:ext>
            </a:extLst>
          </p:cNvPr>
          <p:cNvSpPr/>
          <p:nvPr/>
        </p:nvSpPr>
        <p:spPr>
          <a:xfrm>
            <a:off x="3345591" y="4221665"/>
            <a:ext cx="184822" cy="228109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0" name="Cylinder 29">
            <a:extLst>
              <a:ext uri="{FF2B5EF4-FFF2-40B4-BE49-F238E27FC236}">
                <a16:creationId xmlns:a16="http://schemas.microsoft.com/office/drawing/2014/main" id="{2F400B6B-D84C-66B3-28E4-9AFD983AA41F}"/>
              </a:ext>
            </a:extLst>
          </p:cNvPr>
          <p:cNvSpPr/>
          <p:nvPr/>
        </p:nvSpPr>
        <p:spPr>
          <a:xfrm>
            <a:off x="3398417" y="4283436"/>
            <a:ext cx="184822" cy="228109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1" name="Left Brace 30">
            <a:extLst>
              <a:ext uri="{FF2B5EF4-FFF2-40B4-BE49-F238E27FC236}">
                <a16:creationId xmlns:a16="http://schemas.microsoft.com/office/drawing/2014/main" id="{E5D1CED9-AE33-0844-D66E-7D0971B6F12A}"/>
              </a:ext>
            </a:extLst>
          </p:cNvPr>
          <p:cNvSpPr/>
          <p:nvPr/>
        </p:nvSpPr>
        <p:spPr>
          <a:xfrm rot="16200000">
            <a:off x="2570932" y="4239081"/>
            <a:ext cx="343092" cy="1361922"/>
          </a:xfrm>
          <a:prstGeom prst="leftBrac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933C9A1-D40F-1388-4E61-EDED8A8C8963}"/>
              </a:ext>
            </a:extLst>
          </p:cNvPr>
          <p:cNvSpPr txBox="1"/>
          <p:nvPr/>
        </p:nvSpPr>
        <p:spPr>
          <a:xfrm>
            <a:off x="1250362" y="5181270"/>
            <a:ext cx="446276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/>
              <a:t>Physical « </a:t>
            </a:r>
            <a:r>
              <a:rPr lang="fr-FR" sz="2400" b="1" dirty="0"/>
              <a:t>Storage</a:t>
            </a:r>
            <a:r>
              <a:rPr lang="fr-FR" sz="2400" dirty="0"/>
              <a:t> » </a:t>
            </a:r>
            <a:r>
              <a:rPr lang="fr-FR" sz="2400" dirty="0" err="1"/>
              <a:t>Resources</a:t>
            </a:r>
            <a:endParaRPr lang="fr-FR" sz="2400" dirty="0"/>
          </a:p>
          <a:p>
            <a:r>
              <a:rPr lang="fr-FR" sz="2400" dirty="0"/>
              <a:t>= 800 HDD </a:t>
            </a:r>
            <a:r>
              <a:rPr lang="fr-FR" sz="2400" dirty="0" err="1"/>
              <a:t>Disks</a:t>
            </a:r>
            <a:r>
              <a:rPr lang="fr-FR" sz="2400" dirty="0"/>
              <a:t> </a:t>
            </a:r>
            <a:br>
              <a:rPr lang="fr-FR" sz="2400" dirty="0"/>
            </a:br>
            <a:r>
              <a:rPr lang="fr-FR" sz="2400" dirty="0"/>
              <a:t>   (on 100 Linux servers + network)</a:t>
            </a:r>
          </a:p>
        </p:txBody>
      </p:sp>
      <p:sp>
        <p:nvSpPr>
          <p:cNvPr id="33" name="Cylinder 32">
            <a:extLst>
              <a:ext uri="{FF2B5EF4-FFF2-40B4-BE49-F238E27FC236}">
                <a16:creationId xmlns:a16="http://schemas.microsoft.com/office/drawing/2014/main" id="{A23D3FF2-681A-71CF-9156-010C36344EE7}"/>
              </a:ext>
            </a:extLst>
          </p:cNvPr>
          <p:cNvSpPr/>
          <p:nvPr/>
        </p:nvSpPr>
        <p:spPr>
          <a:xfrm>
            <a:off x="6598291" y="2254080"/>
            <a:ext cx="1152337" cy="1766766"/>
          </a:xfrm>
          <a:prstGeom prst="can">
            <a:avLst/>
          </a:prstGeom>
          <a:pattFill prst="wdUpDiag">
            <a:fgClr>
              <a:schemeClr val="accent1"/>
            </a:fgClr>
            <a:bgClr>
              <a:schemeClr val="bg1"/>
            </a:bgClr>
          </a:patt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4" name="Arrow: Left-Right 33">
            <a:extLst>
              <a:ext uri="{FF2B5EF4-FFF2-40B4-BE49-F238E27FC236}">
                <a16:creationId xmlns:a16="http://schemas.microsoft.com/office/drawing/2014/main" id="{34598430-00CB-3F26-BAF6-6419DD57DE06}"/>
              </a:ext>
            </a:extLst>
          </p:cNvPr>
          <p:cNvSpPr/>
          <p:nvPr/>
        </p:nvSpPr>
        <p:spPr>
          <a:xfrm>
            <a:off x="4567121" y="2800170"/>
            <a:ext cx="1265201" cy="614588"/>
          </a:xfrm>
          <a:prstGeom prst="left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5" name="Left Brace 34">
            <a:extLst>
              <a:ext uri="{FF2B5EF4-FFF2-40B4-BE49-F238E27FC236}">
                <a16:creationId xmlns:a16="http://schemas.microsoft.com/office/drawing/2014/main" id="{09C4EB18-5D59-A947-B0EA-592D6BF4EB4F}"/>
              </a:ext>
            </a:extLst>
          </p:cNvPr>
          <p:cNvSpPr/>
          <p:nvPr/>
        </p:nvSpPr>
        <p:spPr>
          <a:xfrm rot="16200000">
            <a:off x="7002913" y="4239081"/>
            <a:ext cx="343092" cy="1361922"/>
          </a:xfrm>
          <a:prstGeom prst="leftBrac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82FA7DE-3252-AE0A-EC3F-2A33F3C91FEB}"/>
              </a:ext>
            </a:extLst>
          </p:cNvPr>
          <p:cNvSpPr txBox="1"/>
          <p:nvPr/>
        </p:nvSpPr>
        <p:spPr>
          <a:xfrm>
            <a:off x="6192476" y="5219072"/>
            <a:ext cx="5241628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/>
              <a:t>1 Virtual (Abstract) « </a:t>
            </a:r>
            <a:r>
              <a:rPr lang="fr-FR" sz="2400" b="1" dirty="0"/>
              <a:t>Storage</a:t>
            </a:r>
            <a:r>
              <a:rPr lang="fr-FR" sz="2400" dirty="0"/>
              <a:t> » Resource</a:t>
            </a:r>
          </a:p>
          <a:p>
            <a:r>
              <a:rPr lang="fr-FR" sz="2400" dirty="0"/>
              <a:t>= HDFS </a:t>
            </a:r>
            <a:br>
              <a:rPr lang="fr-FR" sz="2400" dirty="0"/>
            </a:br>
            <a:r>
              <a:rPr lang="fr-FR" sz="2400" dirty="0"/>
              <a:t> Hadoop Distributed File System</a:t>
            </a:r>
          </a:p>
        </p:txBody>
      </p:sp>
      <p:sp>
        <p:nvSpPr>
          <p:cNvPr id="37" name="Arrow: Right 36">
            <a:extLst>
              <a:ext uri="{FF2B5EF4-FFF2-40B4-BE49-F238E27FC236}">
                <a16:creationId xmlns:a16="http://schemas.microsoft.com/office/drawing/2014/main" id="{E48F0B98-78E6-84B1-23F2-2AF07E2BA496}"/>
              </a:ext>
            </a:extLst>
          </p:cNvPr>
          <p:cNvSpPr/>
          <p:nvPr/>
        </p:nvSpPr>
        <p:spPr>
          <a:xfrm>
            <a:off x="9009255" y="2509920"/>
            <a:ext cx="1024955" cy="34373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9" name="Arrow: Right 38">
            <a:extLst>
              <a:ext uri="{FF2B5EF4-FFF2-40B4-BE49-F238E27FC236}">
                <a16:creationId xmlns:a16="http://schemas.microsoft.com/office/drawing/2014/main" id="{DCDFA6FC-3C68-81EA-F431-163841E5F0A3}"/>
              </a:ext>
            </a:extLst>
          </p:cNvPr>
          <p:cNvSpPr/>
          <p:nvPr/>
        </p:nvSpPr>
        <p:spPr>
          <a:xfrm rot="10800000">
            <a:off x="8997774" y="2990142"/>
            <a:ext cx="1024955" cy="34373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7310E63-0B95-C8A8-00C0-D87B4DC30A3C}"/>
              </a:ext>
            </a:extLst>
          </p:cNvPr>
          <p:cNvSpPr txBox="1"/>
          <p:nvPr/>
        </p:nvSpPr>
        <p:spPr>
          <a:xfrm>
            <a:off x="10208441" y="2738029"/>
            <a:ext cx="19154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IO </a:t>
            </a:r>
            <a:r>
              <a:rPr lang="fr-FR" dirty="0" err="1"/>
              <a:t>Read+Write</a:t>
            </a:r>
            <a:r>
              <a:rPr lang="fr-FR" dirty="0"/>
              <a:t> API</a:t>
            </a:r>
          </a:p>
        </p:txBody>
      </p:sp>
    </p:spTree>
    <p:extLst>
      <p:ext uri="{BB962C8B-B14F-4D97-AF65-F5344CB8AC3E}">
        <p14:creationId xmlns:p14="http://schemas.microsoft.com/office/powerpoint/2010/main" val="59131102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DBA3D1-78B2-FC63-12DE-882F1B0FD4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9963" y="365125"/>
            <a:ext cx="11824304" cy="1325563"/>
          </a:xfrm>
        </p:spPr>
        <p:txBody>
          <a:bodyPr/>
          <a:lstStyle/>
          <a:p>
            <a:r>
              <a:rPr lang="fr-FR" dirty="0" err="1"/>
              <a:t>Mind</a:t>
            </a:r>
            <a:r>
              <a:rPr lang="fr-FR" dirty="0"/>
              <a:t> Shift  .. </a:t>
            </a:r>
            <a:r>
              <a:rPr lang="fr-FR" dirty="0" err="1"/>
              <a:t>Datalake</a:t>
            </a:r>
            <a:r>
              <a:rPr lang="fr-FR" dirty="0"/>
              <a:t> </a:t>
            </a:r>
            <a:r>
              <a:rPr lang="fr-FR" dirty="0" err="1"/>
              <a:t>FileSystem</a:t>
            </a:r>
            <a:r>
              <a:rPr lang="fr-FR" dirty="0"/>
              <a:t> Abstractions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3602B8B-D631-10ED-E328-9014C87F2616}"/>
              </a:ext>
            </a:extLst>
          </p:cNvPr>
          <p:cNvSpPr txBox="1"/>
          <p:nvPr/>
        </p:nvSpPr>
        <p:spPr>
          <a:xfrm>
            <a:off x="1253312" y="1609762"/>
            <a:ext cx="3051092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dirty="0" err="1"/>
              <a:t>Instead</a:t>
            </a:r>
            <a:r>
              <a:rPr lang="fr-FR" sz="2000" dirty="0"/>
              <a:t> of  </a:t>
            </a:r>
          </a:p>
          <a:p>
            <a:r>
              <a:rPr lang="fr-FR" sz="2000" dirty="0"/>
              <a:t>Handling </a:t>
            </a:r>
            <a:r>
              <a:rPr lang="fr-FR" sz="2000" dirty="0" err="1"/>
              <a:t>remote</a:t>
            </a:r>
            <a:r>
              <a:rPr lang="fr-FR" sz="2000" dirty="0"/>
              <a:t> SSH / SCP </a:t>
            </a:r>
          </a:p>
          <a:p>
            <a:r>
              <a:rPr lang="fr-FR" sz="2000" dirty="0"/>
              <a:t>and </a:t>
            </a:r>
            <a:r>
              <a:rPr lang="fr-FR" sz="2000" dirty="0" err="1"/>
              <a:t>naming</a:t>
            </a:r>
            <a:r>
              <a:rPr lang="fr-FR" sz="2000" dirty="0"/>
              <a:t> server &amp; </a:t>
            </a:r>
            <a:r>
              <a:rPr lang="fr-FR" sz="2000" dirty="0" err="1"/>
              <a:t>dirs</a:t>
            </a:r>
            <a:r>
              <a:rPr lang="fr-FR" sz="2000" dirty="0"/>
              <a:t> …</a:t>
            </a:r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D5FCB8DC-3A79-5AC9-AF22-58B1B30D9E5C}"/>
              </a:ext>
            </a:extLst>
          </p:cNvPr>
          <p:cNvSpPr/>
          <p:nvPr/>
        </p:nvSpPr>
        <p:spPr>
          <a:xfrm>
            <a:off x="5923611" y="4064000"/>
            <a:ext cx="512838" cy="63862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9EA3A1C-3DD6-DBAE-A073-5BE236CF3FC7}"/>
              </a:ext>
            </a:extLst>
          </p:cNvPr>
          <p:cNvSpPr txBox="1"/>
          <p:nvPr/>
        </p:nvSpPr>
        <p:spPr>
          <a:xfrm>
            <a:off x="707571" y="3040631"/>
            <a:ext cx="5364354" cy="286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fr-FR" sz="2000" dirty="0"/>
          </a:p>
          <a:p>
            <a:r>
              <a:rPr lang="fr-FR" sz="2000" dirty="0"/>
              <a:t># SSH for </a:t>
            </a:r>
            <a:r>
              <a:rPr lang="fr-FR" sz="2000" dirty="0" err="1"/>
              <a:t>Remote</a:t>
            </a:r>
            <a:r>
              <a:rPr lang="fr-FR" sz="2000" dirty="0"/>
              <a:t> command</a:t>
            </a:r>
          </a:p>
          <a:p>
            <a:r>
              <a:rPr lang="fr-FR" sz="2000" dirty="0"/>
              <a:t>$ </a:t>
            </a:r>
            <a:r>
              <a:rPr lang="fr-FR" sz="2000" b="1" dirty="0" err="1">
                <a:solidFill>
                  <a:srgbClr val="FF0000"/>
                </a:solidFill>
              </a:rPr>
              <a:t>ssh</a:t>
            </a:r>
            <a:r>
              <a:rPr lang="fr-FR" sz="2000" b="1" dirty="0">
                <a:solidFill>
                  <a:srgbClr val="FF0000"/>
                </a:solidFill>
              </a:rPr>
              <a:t>  server-abc-for-</a:t>
            </a:r>
            <a:r>
              <a:rPr lang="fr-FR" sz="2000" b="1" dirty="0" err="1">
                <a:solidFill>
                  <a:srgbClr val="FF0000"/>
                </a:solidFill>
              </a:rPr>
              <a:t>dept</a:t>
            </a:r>
            <a:r>
              <a:rPr lang="fr-FR" sz="2000" b="1" dirty="0">
                <a:solidFill>
                  <a:srgbClr val="FF0000"/>
                </a:solidFill>
              </a:rPr>
              <a:t>-</a:t>
            </a:r>
            <a:r>
              <a:rPr lang="fr-FR" sz="2000" b="1" dirty="0" err="1">
                <a:solidFill>
                  <a:srgbClr val="FF0000"/>
                </a:solidFill>
              </a:rPr>
              <a:t>xyz</a:t>
            </a:r>
            <a:endParaRPr lang="fr-FR" sz="2000" b="1" dirty="0">
              <a:solidFill>
                <a:srgbClr val="FF0000"/>
              </a:solidFill>
            </a:endParaRPr>
          </a:p>
          <a:p>
            <a:r>
              <a:rPr lang="fr-FR" sz="2000" dirty="0"/>
              <a:t>$ cd </a:t>
            </a:r>
            <a:r>
              <a:rPr lang="fr-FR" sz="2000" dirty="0" err="1"/>
              <a:t>someDir</a:t>
            </a:r>
            <a:endParaRPr lang="fr-FR" sz="2000" dirty="0"/>
          </a:p>
          <a:p>
            <a:r>
              <a:rPr lang="fr-FR" sz="2000" dirty="0"/>
              <a:t>$ </a:t>
            </a:r>
            <a:r>
              <a:rPr lang="fr-FR" sz="2000" dirty="0" err="1"/>
              <a:t>mkdir</a:t>
            </a:r>
            <a:r>
              <a:rPr lang="fr-FR" sz="2000" dirty="0"/>
              <a:t> .. Ls … </a:t>
            </a:r>
            <a:r>
              <a:rPr lang="fr-FR" sz="2000" dirty="0" err="1"/>
              <a:t>cp</a:t>
            </a:r>
            <a:r>
              <a:rPr lang="fr-FR" sz="2000" dirty="0"/>
              <a:t> … launch java</a:t>
            </a:r>
          </a:p>
          <a:p>
            <a:r>
              <a:rPr lang="fr-FR" sz="2000" dirty="0"/>
              <a:t>$ </a:t>
            </a:r>
            <a:r>
              <a:rPr lang="fr-FR" sz="2000" b="1" dirty="0" err="1">
                <a:solidFill>
                  <a:srgbClr val="FF0000"/>
                </a:solidFill>
              </a:rPr>
              <a:t>scp</a:t>
            </a:r>
            <a:r>
              <a:rPr lang="fr-FR" sz="2000" dirty="0"/>
              <a:t> </a:t>
            </a:r>
            <a:r>
              <a:rPr lang="fr-FR" sz="2000" dirty="0" err="1"/>
              <a:t>result.file</a:t>
            </a:r>
            <a:r>
              <a:rPr lang="fr-FR" sz="2000" dirty="0"/>
              <a:t>   </a:t>
            </a:r>
            <a:r>
              <a:rPr lang="fr-FR" sz="2000" b="1" dirty="0" err="1">
                <a:solidFill>
                  <a:srgbClr val="FF0000"/>
                </a:solidFill>
              </a:rPr>
              <a:t>another</a:t>
            </a:r>
            <a:r>
              <a:rPr lang="fr-FR" sz="2000" b="1" dirty="0">
                <a:solidFill>
                  <a:srgbClr val="FF0000"/>
                </a:solidFill>
              </a:rPr>
              <a:t>-server: </a:t>
            </a:r>
          </a:p>
          <a:p>
            <a:endParaRPr lang="fr-FR" sz="2000" dirty="0"/>
          </a:p>
          <a:p>
            <a:r>
              <a:rPr lang="fr-FR" sz="2000" dirty="0"/>
              <a:t># SCP for </a:t>
            </a:r>
            <a:r>
              <a:rPr lang="fr-FR" sz="2000" dirty="0" err="1"/>
              <a:t>Remote</a:t>
            </a:r>
            <a:r>
              <a:rPr lang="fr-FR" sz="2000" dirty="0"/>
              <a:t> Copy to Local</a:t>
            </a:r>
          </a:p>
          <a:p>
            <a:r>
              <a:rPr lang="fr-FR" sz="2000" dirty="0"/>
              <a:t>$ </a:t>
            </a:r>
            <a:r>
              <a:rPr lang="fr-FR" sz="2000" b="1" dirty="0" err="1">
                <a:solidFill>
                  <a:srgbClr val="FF0000"/>
                </a:solidFill>
              </a:rPr>
              <a:t>scp</a:t>
            </a:r>
            <a:r>
              <a:rPr lang="fr-FR" sz="2000" dirty="0"/>
              <a:t> </a:t>
            </a:r>
            <a:r>
              <a:rPr lang="fr-FR" sz="2000" b="1" dirty="0" err="1">
                <a:solidFill>
                  <a:srgbClr val="FF0000"/>
                </a:solidFill>
              </a:rPr>
              <a:t>server-abc-for-dept-xyz:</a:t>
            </a:r>
            <a:r>
              <a:rPr lang="fr-FR" sz="2000" dirty="0" err="1"/>
              <a:t>result.file</a:t>
            </a:r>
            <a:r>
              <a:rPr lang="fr-FR" sz="2000" dirty="0"/>
              <a:t>   </a:t>
            </a:r>
            <a:r>
              <a:rPr lang="fr-FR" sz="2000" dirty="0" err="1"/>
              <a:t>local.file</a:t>
            </a:r>
            <a:endParaRPr lang="fr-FR" sz="20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D35DE91-0B95-47E0-AF44-23C6A6FDA53F}"/>
              </a:ext>
            </a:extLst>
          </p:cNvPr>
          <p:cNvSpPr txBox="1"/>
          <p:nvPr/>
        </p:nvSpPr>
        <p:spPr>
          <a:xfrm>
            <a:off x="6965647" y="3096269"/>
            <a:ext cx="4462568" cy="31700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dirty="0"/>
              <a:t># </a:t>
            </a:r>
            <a:r>
              <a:rPr lang="fr-FR" sz="2000" dirty="0" err="1"/>
              <a:t>execute</a:t>
            </a:r>
            <a:r>
              <a:rPr lang="fr-FR" sz="2000" dirty="0"/>
              <a:t> </a:t>
            </a:r>
            <a:r>
              <a:rPr lang="fr-FR" sz="2000" dirty="0" err="1"/>
              <a:t>commands</a:t>
            </a:r>
            <a:r>
              <a:rPr lang="fr-FR" sz="2000" dirty="0"/>
              <a:t> </a:t>
            </a:r>
            <a:r>
              <a:rPr lang="fr-FR" sz="2000" dirty="0" err="1"/>
              <a:t>from</a:t>
            </a:r>
            <a:r>
              <a:rPr lang="fr-FR" sz="2000" dirty="0"/>
              <a:t> </a:t>
            </a:r>
            <a:r>
              <a:rPr lang="fr-FR" sz="2000" dirty="0" err="1"/>
              <a:t>any</a:t>
            </a:r>
            <a:r>
              <a:rPr lang="fr-FR" sz="2000" dirty="0"/>
              <a:t> client</a:t>
            </a:r>
          </a:p>
          <a:p>
            <a:r>
              <a:rPr lang="fr-FR" sz="2000" dirty="0"/>
              <a:t>$ </a:t>
            </a:r>
            <a:r>
              <a:rPr lang="fr-FR" sz="2000" b="1" dirty="0" err="1">
                <a:solidFill>
                  <a:srgbClr val="00B050"/>
                </a:solidFill>
              </a:rPr>
              <a:t>hdfs</a:t>
            </a:r>
            <a:r>
              <a:rPr lang="fr-FR" sz="2000" b="1" dirty="0">
                <a:solidFill>
                  <a:srgbClr val="00B050"/>
                </a:solidFill>
              </a:rPr>
              <a:t> </a:t>
            </a:r>
            <a:r>
              <a:rPr lang="fr-FR" sz="2000" dirty="0" err="1"/>
              <a:t>dfs</a:t>
            </a:r>
            <a:r>
              <a:rPr lang="fr-FR" sz="2000" dirty="0"/>
              <a:t> –ls  </a:t>
            </a:r>
            <a:r>
              <a:rPr lang="fr-FR" sz="2000" b="1" dirty="0">
                <a:solidFill>
                  <a:srgbClr val="00B050"/>
                </a:solidFill>
              </a:rPr>
              <a:t>/</a:t>
            </a:r>
            <a:r>
              <a:rPr lang="fr-FR" sz="2000" b="1" dirty="0" err="1">
                <a:solidFill>
                  <a:srgbClr val="00B050"/>
                </a:solidFill>
              </a:rPr>
              <a:t>datalake</a:t>
            </a:r>
            <a:r>
              <a:rPr lang="fr-FR" sz="2000" b="1" dirty="0">
                <a:solidFill>
                  <a:srgbClr val="00B050"/>
                </a:solidFill>
              </a:rPr>
              <a:t>/a/b</a:t>
            </a:r>
          </a:p>
          <a:p>
            <a:r>
              <a:rPr lang="fr-FR" sz="2000" dirty="0"/>
              <a:t>$ </a:t>
            </a:r>
            <a:r>
              <a:rPr lang="fr-FR" sz="2000" b="1" dirty="0" err="1">
                <a:solidFill>
                  <a:srgbClr val="00B050"/>
                </a:solidFill>
              </a:rPr>
              <a:t>hdfs</a:t>
            </a:r>
            <a:r>
              <a:rPr lang="fr-FR" sz="2000" dirty="0"/>
              <a:t> </a:t>
            </a:r>
            <a:r>
              <a:rPr lang="fr-FR" sz="2000" dirty="0" err="1"/>
              <a:t>dfs</a:t>
            </a:r>
            <a:r>
              <a:rPr lang="fr-FR" sz="2000" dirty="0"/>
              <a:t> </a:t>
            </a:r>
            <a:r>
              <a:rPr lang="fr-FR" sz="2000" dirty="0" err="1"/>
              <a:t>mkdir</a:t>
            </a:r>
            <a:r>
              <a:rPr lang="fr-FR" sz="2000" dirty="0"/>
              <a:t> /</a:t>
            </a:r>
            <a:r>
              <a:rPr lang="fr-FR" sz="2000" dirty="0" err="1"/>
              <a:t>datalake</a:t>
            </a:r>
            <a:r>
              <a:rPr lang="fr-FR" sz="2000" dirty="0"/>
              <a:t>/a/b/c</a:t>
            </a:r>
          </a:p>
          <a:p>
            <a:r>
              <a:rPr lang="fr-FR" sz="2000" dirty="0"/>
              <a:t>$ </a:t>
            </a:r>
            <a:r>
              <a:rPr lang="fr-FR" sz="2000" b="1" dirty="0" err="1">
                <a:solidFill>
                  <a:srgbClr val="00B050"/>
                </a:solidFill>
              </a:rPr>
              <a:t>hdfs</a:t>
            </a:r>
            <a:r>
              <a:rPr lang="fr-FR" sz="2000" dirty="0"/>
              <a:t> </a:t>
            </a:r>
            <a:r>
              <a:rPr lang="fr-FR" sz="2000" dirty="0" err="1"/>
              <a:t>dfs</a:t>
            </a:r>
            <a:r>
              <a:rPr lang="fr-FR" sz="2000" dirty="0"/>
              <a:t> </a:t>
            </a:r>
            <a:r>
              <a:rPr lang="fr-FR" sz="2000" dirty="0" err="1"/>
              <a:t>rm</a:t>
            </a:r>
            <a:r>
              <a:rPr lang="fr-FR" sz="2000" dirty="0"/>
              <a:t> /</a:t>
            </a:r>
            <a:r>
              <a:rPr lang="fr-FR" sz="2000" dirty="0" err="1"/>
              <a:t>datalake</a:t>
            </a:r>
            <a:r>
              <a:rPr lang="fr-FR" sz="2000" dirty="0"/>
              <a:t>/a/b/d</a:t>
            </a:r>
          </a:p>
          <a:p>
            <a:endParaRPr lang="fr-FR" sz="2000" dirty="0"/>
          </a:p>
          <a:p>
            <a:r>
              <a:rPr lang="fr-FR" sz="2000" dirty="0"/>
              <a:t># </a:t>
            </a:r>
            <a:r>
              <a:rPr lang="fr-FR" sz="2000" dirty="0" err="1"/>
              <a:t>Upload</a:t>
            </a:r>
            <a:r>
              <a:rPr lang="fr-FR" sz="2000" dirty="0"/>
              <a:t> local file to </a:t>
            </a:r>
            <a:r>
              <a:rPr lang="fr-FR" sz="2000" dirty="0" err="1"/>
              <a:t>Remote</a:t>
            </a:r>
            <a:endParaRPr lang="fr-FR" sz="2000" dirty="0"/>
          </a:p>
          <a:p>
            <a:r>
              <a:rPr lang="fr-FR" sz="2000" dirty="0"/>
              <a:t>$ </a:t>
            </a:r>
            <a:r>
              <a:rPr lang="fr-FR" sz="2000" b="1" dirty="0" err="1">
                <a:solidFill>
                  <a:srgbClr val="00B050"/>
                </a:solidFill>
              </a:rPr>
              <a:t>hdfs</a:t>
            </a:r>
            <a:r>
              <a:rPr lang="fr-FR" sz="2000" dirty="0"/>
              <a:t> </a:t>
            </a:r>
            <a:r>
              <a:rPr lang="fr-FR" sz="2000" dirty="0" err="1"/>
              <a:t>dfs</a:t>
            </a:r>
            <a:r>
              <a:rPr lang="fr-FR" sz="2000" dirty="0"/>
              <a:t> put ./</a:t>
            </a:r>
            <a:r>
              <a:rPr lang="fr-FR" sz="2000" dirty="0" err="1"/>
              <a:t>local.file</a:t>
            </a:r>
            <a:r>
              <a:rPr lang="fr-FR" sz="2000" dirty="0"/>
              <a:t>   /</a:t>
            </a:r>
            <a:r>
              <a:rPr lang="fr-FR" sz="2000" dirty="0" err="1"/>
              <a:t>datalake</a:t>
            </a:r>
            <a:r>
              <a:rPr lang="fr-FR" sz="2000" dirty="0"/>
              <a:t>/a/file</a:t>
            </a:r>
          </a:p>
          <a:p>
            <a:endParaRPr lang="fr-FR" sz="2000" dirty="0"/>
          </a:p>
          <a:p>
            <a:r>
              <a:rPr lang="fr-FR" sz="2000" dirty="0"/>
              <a:t># Download </a:t>
            </a:r>
            <a:r>
              <a:rPr lang="fr-FR" sz="2000" dirty="0" err="1"/>
              <a:t>Remote</a:t>
            </a:r>
            <a:r>
              <a:rPr lang="fr-FR" sz="2000" dirty="0"/>
              <a:t> File to local</a:t>
            </a:r>
          </a:p>
          <a:p>
            <a:r>
              <a:rPr lang="fr-FR" sz="2000" dirty="0"/>
              <a:t>$ </a:t>
            </a:r>
            <a:r>
              <a:rPr lang="fr-FR" sz="2000" b="1" dirty="0" err="1">
                <a:solidFill>
                  <a:srgbClr val="00B050"/>
                </a:solidFill>
              </a:rPr>
              <a:t>hdfs</a:t>
            </a:r>
            <a:r>
              <a:rPr lang="fr-FR" sz="2000" dirty="0"/>
              <a:t> </a:t>
            </a:r>
            <a:r>
              <a:rPr lang="fr-FR" sz="2000" dirty="0" err="1"/>
              <a:t>dfs</a:t>
            </a:r>
            <a:r>
              <a:rPr lang="fr-FR" sz="2000" dirty="0"/>
              <a:t> </a:t>
            </a:r>
            <a:r>
              <a:rPr lang="fr-FR" sz="2000" dirty="0" err="1"/>
              <a:t>get</a:t>
            </a:r>
            <a:r>
              <a:rPr lang="fr-FR" sz="2000" dirty="0"/>
              <a:t> /</a:t>
            </a:r>
            <a:r>
              <a:rPr lang="fr-FR" sz="2000" dirty="0" err="1"/>
              <a:t>datalake</a:t>
            </a:r>
            <a:r>
              <a:rPr lang="fr-FR" sz="2000" dirty="0"/>
              <a:t>/a/file   ./</a:t>
            </a:r>
            <a:r>
              <a:rPr lang="fr-FR" sz="2000" dirty="0" err="1"/>
              <a:t>local.file</a:t>
            </a:r>
            <a:endParaRPr lang="fr-FR" sz="20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4E527D4-29DD-A0D9-6FDC-10307F64528A}"/>
              </a:ext>
            </a:extLst>
          </p:cNvPr>
          <p:cNvSpPr txBox="1"/>
          <p:nvPr/>
        </p:nvSpPr>
        <p:spPr>
          <a:xfrm>
            <a:off x="7245048" y="1596458"/>
            <a:ext cx="3693640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dirty="0"/>
              <a:t>Do </a:t>
            </a:r>
            <a:r>
              <a:rPr lang="fr-FR" sz="2000" dirty="0" err="1"/>
              <a:t>this</a:t>
            </a:r>
            <a:r>
              <a:rPr lang="fr-FR" sz="2000" dirty="0"/>
              <a:t>:</a:t>
            </a:r>
          </a:p>
          <a:p>
            <a:r>
              <a:rPr lang="fr-FR" sz="2000" dirty="0"/>
              <a:t>Servers are invisible to </a:t>
            </a:r>
            <a:r>
              <a:rPr lang="fr-FR" sz="2000" dirty="0" err="1"/>
              <a:t>users</a:t>
            </a:r>
            <a:endParaRPr lang="fr-FR" sz="2000" dirty="0"/>
          </a:p>
          <a:p>
            <a:r>
              <a:rPr lang="fr-FR" sz="2000" dirty="0"/>
              <a:t>User </a:t>
            </a:r>
            <a:r>
              <a:rPr lang="fr-FR" sz="2000" dirty="0" err="1"/>
              <a:t>see</a:t>
            </a:r>
            <a:r>
              <a:rPr lang="fr-FR" sz="2000" dirty="0"/>
              <a:t> </a:t>
            </a:r>
            <a:r>
              <a:rPr lang="fr-FR" sz="2000" dirty="0" err="1"/>
              <a:t>virtual</a:t>
            </a:r>
            <a:r>
              <a:rPr lang="fr-FR" sz="2000" dirty="0"/>
              <a:t> HDFS  </a:t>
            </a:r>
            <a:r>
              <a:rPr lang="fr-FR" sz="2000" dirty="0" err="1"/>
              <a:t>Dirs</a:t>
            </a:r>
            <a:r>
              <a:rPr lang="fr-FR" sz="2000" dirty="0"/>
              <a:t> &amp; Files</a:t>
            </a:r>
          </a:p>
        </p:txBody>
      </p:sp>
    </p:spTree>
    <p:extLst>
      <p:ext uri="{BB962C8B-B14F-4D97-AF65-F5344CB8AC3E}">
        <p14:creationId xmlns:p14="http://schemas.microsoft.com/office/powerpoint/2010/main" val="176190619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9FA378-9CBB-4EAE-A9A4-65BDABAC3B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dirty="0"/>
              <a:t>Challenges of Distributed System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96322D2-DDA4-B238-08C1-769A1B02D205}"/>
              </a:ext>
            </a:extLst>
          </p:cNvPr>
          <p:cNvSpPr txBox="1"/>
          <p:nvPr/>
        </p:nvSpPr>
        <p:spPr>
          <a:xfrm>
            <a:off x="4591353" y="1867504"/>
            <a:ext cx="3942618" cy="45243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600" dirty="0"/>
              <a:t>How to </a:t>
            </a:r>
            <a:r>
              <a:rPr lang="fr-FR" sz="3600" dirty="0" err="1"/>
              <a:t>Handle</a:t>
            </a:r>
            <a:r>
              <a:rPr lang="fr-FR" sz="3600" dirty="0"/>
              <a:t> ? </a:t>
            </a:r>
          </a:p>
          <a:p>
            <a:r>
              <a:rPr lang="fr-FR" sz="3600" dirty="0" err="1"/>
              <a:t>Failures</a:t>
            </a:r>
            <a:r>
              <a:rPr lang="fr-FR" sz="3600" dirty="0"/>
              <a:t>, </a:t>
            </a:r>
          </a:p>
          <a:p>
            <a:r>
              <a:rPr lang="fr-FR" sz="3600" dirty="0" err="1"/>
              <a:t>Resilience</a:t>
            </a:r>
            <a:r>
              <a:rPr lang="fr-FR" sz="3600" dirty="0"/>
              <a:t>, </a:t>
            </a:r>
          </a:p>
          <a:p>
            <a:r>
              <a:rPr lang="fr-FR" sz="3600" dirty="0" err="1"/>
              <a:t>Horyzontal</a:t>
            </a:r>
            <a:r>
              <a:rPr lang="fr-FR" sz="3600" dirty="0"/>
              <a:t> </a:t>
            </a:r>
            <a:r>
              <a:rPr lang="fr-FR" sz="3600" dirty="0" err="1"/>
              <a:t>Scalling</a:t>
            </a:r>
            <a:r>
              <a:rPr lang="fr-FR" sz="3600" dirty="0"/>
              <a:t>, </a:t>
            </a:r>
          </a:p>
          <a:p>
            <a:r>
              <a:rPr lang="fr-FR" sz="3600" dirty="0" err="1"/>
              <a:t>Availability</a:t>
            </a:r>
            <a:r>
              <a:rPr lang="fr-FR" sz="3600" dirty="0"/>
              <a:t>, </a:t>
            </a:r>
          </a:p>
          <a:p>
            <a:r>
              <a:rPr lang="fr-FR" sz="3600" dirty="0"/>
              <a:t>Consistance, </a:t>
            </a:r>
          </a:p>
          <a:p>
            <a:r>
              <a:rPr lang="fr-FR" sz="3600" dirty="0" err="1"/>
              <a:t>Replication</a:t>
            </a:r>
            <a:r>
              <a:rPr lang="fr-FR" sz="3600" dirty="0"/>
              <a:t>, </a:t>
            </a:r>
          </a:p>
          <a:p>
            <a:r>
              <a:rPr lang="fr-FR" sz="3600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85192736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92832E-F630-9BD2-6C64-EBFAFE8DC2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Sh*</a:t>
            </a:r>
            <a:r>
              <a:rPr lang="fr-FR" dirty="0" err="1"/>
              <a:t>ts</a:t>
            </a:r>
            <a:r>
              <a:rPr lang="fr-FR" dirty="0"/>
              <a:t> </a:t>
            </a:r>
            <a:r>
              <a:rPr lang="fr-FR" dirty="0" err="1"/>
              <a:t>Happens</a:t>
            </a:r>
            <a:r>
              <a:rPr lang="fr-FR" dirty="0"/>
              <a:t> (Hardware </a:t>
            </a:r>
            <a:r>
              <a:rPr lang="fr-FR" dirty="0" err="1"/>
              <a:t>Failures</a:t>
            </a:r>
            <a:r>
              <a:rPr lang="fr-FR" dirty="0"/>
              <a:t>, Software, Electric Power, Network, Data Corruption ..)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F0467E9-7506-669F-C73D-4B6734577F05}"/>
              </a:ext>
            </a:extLst>
          </p:cNvPr>
          <p:cNvSpPr txBox="1"/>
          <p:nvPr/>
        </p:nvSpPr>
        <p:spPr>
          <a:xfrm>
            <a:off x="2225524" y="2440445"/>
            <a:ext cx="7841955" cy="34163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/>
              <a:t>Example for </a:t>
            </a:r>
            <a:r>
              <a:rPr lang="fr-FR" sz="3600" b="1" dirty="0"/>
              <a:t>1 Disk</a:t>
            </a:r>
            <a:endParaRPr lang="fr-FR" sz="2400" b="1" dirty="0"/>
          </a:p>
          <a:p>
            <a:r>
              <a:rPr lang="fr-FR" sz="2400" dirty="0"/>
              <a:t>    </a:t>
            </a:r>
          </a:p>
          <a:p>
            <a:r>
              <a:rPr lang="fr-FR" sz="2400" dirty="0"/>
              <a:t>              MTBF = </a:t>
            </a:r>
            <a:r>
              <a:rPr lang="fr-FR" sz="2400" dirty="0" err="1"/>
              <a:t>Mean</a:t>
            </a:r>
            <a:r>
              <a:rPr lang="fr-FR" sz="2400" dirty="0"/>
              <a:t> Time </a:t>
            </a:r>
            <a:r>
              <a:rPr lang="fr-FR" sz="2400" dirty="0" err="1"/>
              <a:t>Between</a:t>
            </a:r>
            <a:r>
              <a:rPr lang="fr-FR" sz="2400" dirty="0"/>
              <a:t> Failure  = </a:t>
            </a:r>
            <a:r>
              <a:rPr lang="fr-FR" sz="3600" b="1" dirty="0"/>
              <a:t>~25 </a:t>
            </a:r>
            <a:r>
              <a:rPr lang="fr-FR" sz="3600" b="1" dirty="0" err="1"/>
              <a:t>years</a:t>
            </a:r>
            <a:endParaRPr lang="fr-FR" sz="2400" b="1" dirty="0"/>
          </a:p>
          <a:p>
            <a:endParaRPr lang="fr-FR" sz="2400" dirty="0"/>
          </a:p>
          <a:p>
            <a:r>
              <a:rPr lang="fr-FR" sz="2400" dirty="0"/>
              <a:t>   … FINE !     ….  </a:t>
            </a:r>
            <a:r>
              <a:rPr lang="fr-FR" sz="2400" dirty="0" err="1"/>
              <a:t>Wait</a:t>
            </a:r>
            <a:r>
              <a:rPr lang="fr-FR" sz="2400" dirty="0"/>
              <a:t> !  Fine ????</a:t>
            </a:r>
          </a:p>
          <a:p>
            <a:endParaRPr lang="fr-FR" sz="2400" dirty="0"/>
          </a:p>
          <a:p>
            <a:endParaRPr lang="fr-FR" sz="2400" dirty="0"/>
          </a:p>
          <a:p>
            <a:r>
              <a:rPr lang="fr-FR" sz="2400" dirty="0"/>
              <a:t>for a big cluster 20 000 servers x 8 </a:t>
            </a:r>
            <a:r>
              <a:rPr lang="fr-FR" sz="2400" dirty="0" err="1"/>
              <a:t>Disks</a:t>
            </a:r>
            <a:r>
              <a:rPr lang="fr-FR" sz="2400" dirty="0"/>
              <a:t>   =&gt;    ??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2D969CF-47E2-17F4-1187-AF18B0EF05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30112" y="4286552"/>
            <a:ext cx="3272728" cy="238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50619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00177C-77AC-6701-3DE6-1D69A73483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5087" y="365125"/>
            <a:ext cx="11524342" cy="1325563"/>
          </a:xfrm>
        </p:spPr>
        <p:txBody>
          <a:bodyPr/>
          <a:lstStyle/>
          <a:p>
            <a:r>
              <a:rPr lang="fr-FR" dirty="0"/>
              <a:t>Big Data = </a:t>
            </a:r>
            <a:r>
              <a:rPr lang="fr-FR" dirty="0" err="1"/>
              <a:t>Handle</a:t>
            </a:r>
            <a:r>
              <a:rPr lang="fr-FR" dirty="0"/>
              <a:t> « Normal » (</a:t>
            </a:r>
            <a:r>
              <a:rPr lang="fr-FR" dirty="0" err="1"/>
              <a:t>recurrent</a:t>
            </a:r>
            <a:r>
              <a:rPr lang="fr-FR" dirty="0"/>
              <a:t>) </a:t>
            </a:r>
            <a:r>
              <a:rPr lang="fr-FR" dirty="0" err="1"/>
              <a:t>Failures</a:t>
            </a:r>
            <a:r>
              <a:rPr lang="fr-FR" dirty="0"/>
              <a:t> !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EED96E8-487B-4491-C6D3-E063E080E140}"/>
              </a:ext>
            </a:extLst>
          </p:cNvPr>
          <p:cNvSpPr txBox="1"/>
          <p:nvPr/>
        </p:nvSpPr>
        <p:spPr>
          <a:xfrm>
            <a:off x="435429" y="2240038"/>
            <a:ext cx="11476860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dirty="0"/>
              <a:t>1 Disk:  25 Y = 25*365*24  </a:t>
            </a:r>
            <a:r>
              <a:rPr lang="fr-FR" sz="2800" dirty="0" err="1"/>
              <a:t>hours</a:t>
            </a:r>
            <a:r>
              <a:rPr lang="fr-FR" sz="2800" dirty="0"/>
              <a:t>  = 219k </a:t>
            </a:r>
            <a:r>
              <a:rPr lang="fr-FR" sz="2800" dirty="0" err="1"/>
              <a:t>hours</a:t>
            </a:r>
            <a:r>
              <a:rPr lang="fr-FR" sz="2800" dirty="0"/>
              <a:t>  …   1 Cluster: 20000*8=160k </a:t>
            </a:r>
          </a:p>
          <a:p>
            <a:r>
              <a:rPr lang="fr-FR" sz="2800" dirty="0"/>
              <a:t>=&gt; In </a:t>
            </a:r>
            <a:r>
              <a:rPr lang="fr-FR" sz="2800" dirty="0" err="1"/>
              <a:t>average</a:t>
            </a:r>
            <a:r>
              <a:rPr lang="fr-FR" sz="2800" dirty="0"/>
              <a:t> :   </a:t>
            </a:r>
            <a:r>
              <a:rPr lang="fr-FR" sz="2800" b="1" dirty="0">
                <a:solidFill>
                  <a:srgbClr val="FF0000"/>
                </a:solidFill>
              </a:rPr>
              <a:t>1 </a:t>
            </a:r>
            <a:r>
              <a:rPr lang="fr-FR" sz="2800" b="1" dirty="0" err="1">
                <a:solidFill>
                  <a:srgbClr val="FF0000"/>
                </a:solidFill>
              </a:rPr>
              <a:t>failure</a:t>
            </a:r>
            <a:r>
              <a:rPr lang="fr-FR" sz="2800" b="1" dirty="0">
                <a:solidFill>
                  <a:srgbClr val="FF0000"/>
                </a:solidFill>
              </a:rPr>
              <a:t> </a:t>
            </a:r>
            <a:r>
              <a:rPr lang="fr-FR" sz="2800" b="1" dirty="0" err="1">
                <a:solidFill>
                  <a:srgbClr val="FF0000"/>
                </a:solidFill>
              </a:rPr>
              <a:t>every</a:t>
            </a:r>
            <a:r>
              <a:rPr lang="fr-FR" sz="2800" b="1" dirty="0">
                <a:solidFill>
                  <a:srgbClr val="FF0000"/>
                </a:solidFill>
              </a:rPr>
              <a:t> 1h30mn … 17 per </a:t>
            </a:r>
            <a:r>
              <a:rPr lang="fr-FR" sz="2800" b="1" dirty="0" err="1">
                <a:solidFill>
                  <a:srgbClr val="FF0000"/>
                </a:solidFill>
              </a:rPr>
              <a:t>days</a:t>
            </a:r>
            <a:r>
              <a:rPr lang="fr-FR" sz="2800" b="1" dirty="0">
                <a:solidFill>
                  <a:srgbClr val="FF0000"/>
                </a:solidFill>
              </a:rPr>
              <a:t> !!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CCF697B-F69E-7C06-C08D-74C98CE65DBA}"/>
              </a:ext>
            </a:extLst>
          </p:cNvPr>
          <p:cNvSpPr txBox="1"/>
          <p:nvPr/>
        </p:nvSpPr>
        <p:spPr>
          <a:xfrm>
            <a:off x="804087" y="4117219"/>
            <a:ext cx="11003205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4000" dirty="0"/>
              <a:t>Failure </a:t>
            </a:r>
            <a:r>
              <a:rPr lang="fr-FR" sz="4000" dirty="0" err="1"/>
              <a:t>is</a:t>
            </a:r>
            <a:r>
              <a:rPr lang="fr-FR" sz="4000" dirty="0"/>
              <a:t> </a:t>
            </a:r>
            <a:r>
              <a:rPr lang="fr-FR" sz="4000" b="1" dirty="0"/>
              <a:t>NOT </a:t>
            </a:r>
            <a:r>
              <a:rPr lang="fr-FR" sz="4000" b="1" dirty="0" err="1"/>
              <a:t>exceptional</a:t>
            </a:r>
            <a:r>
              <a:rPr lang="fr-FR" sz="4000" dirty="0"/>
              <a:t>,  </a:t>
            </a:r>
            <a:r>
              <a:rPr lang="fr-FR" sz="4000" dirty="0" err="1"/>
              <a:t>it</a:t>
            </a:r>
            <a:r>
              <a:rPr lang="fr-FR" sz="4000" dirty="0"/>
              <a:t> </a:t>
            </a:r>
            <a:r>
              <a:rPr lang="fr-FR" sz="4000" dirty="0" err="1"/>
              <a:t>is</a:t>
            </a:r>
            <a:r>
              <a:rPr lang="fr-FR" sz="4000" dirty="0"/>
              <a:t> the « normal » </a:t>
            </a:r>
            <a:r>
              <a:rPr lang="fr-FR" sz="4000" dirty="0" err="1"/>
              <a:t>way</a:t>
            </a:r>
            <a:r>
              <a:rPr lang="fr-FR" sz="4000" dirty="0"/>
              <a:t> </a:t>
            </a:r>
          </a:p>
          <a:p>
            <a:endParaRPr lang="fr-FR" sz="4000" dirty="0"/>
          </a:p>
          <a:p>
            <a:r>
              <a:rPr lang="fr-FR" sz="4000" dirty="0"/>
              <a:t>System must (</a:t>
            </a:r>
            <a:r>
              <a:rPr lang="fr-FR" sz="4000" dirty="0" err="1"/>
              <a:t>try</a:t>
            </a:r>
            <a:r>
              <a:rPr lang="fr-FR" sz="4000" dirty="0"/>
              <a:t> to) </a:t>
            </a:r>
            <a:r>
              <a:rPr lang="fr-FR" sz="4000" b="1" dirty="0" err="1"/>
              <a:t>handle</a:t>
            </a:r>
            <a:r>
              <a:rPr lang="fr-FR" sz="4000" b="1" dirty="0"/>
              <a:t> </a:t>
            </a:r>
            <a:r>
              <a:rPr lang="fr-FR" sz="4000" b="1" dirty="0" err="1"/>
              <a:t>it</a:t>
            </a:r>
            <a:r>
              <a:rPr lang="fr-FR" sz="4000" b="1" dirty="0"/>
              <a:t> TRANSPARENTLY </a:t>
            </a:r>
          </a:p>
        </p:txBody>
      </p:sp>
    </p:spTree>
    <p:extLst>
      <p:ext uri="{BB962C8B-B14F-4D97-AF65-F5344CB8AC3E}">
        <p14:creationId xmlns:p14="http://schemas.microsoft.com/office/powerpoint/2010/main" val="313389074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9456B0-71A4-CF8C-E88D-0B1478AC2D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0001"/>
            <a:ext cx="10515600" cy="1325563"/>
          </a:xfrm>
        </p:spPr>
        <p:txBody>
          <a:bodyPr/>
          <a:lstStyle/>
          <a:p>
            <a:pPr algn="ctr"/>
            <a:r>
              <a:rPr lang="fr-FR" dirty="0" err="1"/>
              <a:t>Outline</a:t>
            </a:r>
            <a:endParaRPr lang="fr-FR" dirty="0"/>
          </a:p>
        </p:txBody>
      </p:sp>
      <p:sp>
        <p:nvSpPr>
          <p:cNvPr id="4" name="Arrow: Right 3">
            <a:extLst>
              <a:ext uri="{FF2B5EF4-FFF2-40B4-BE49-F238E27FC236}">
                <a16:creationId xmlns:a16="http://schemas.microsoft.com/office/drawing/2014/main" id="{DDD0192B-78FC-DA6C-C265-8EE665F30D7C}"/>
              </a:ext>
            </a:extLst>
          </p:cNvPr>
          <p:cNvSpPr/>
          <p:nvPr/>
        </p:nvSpPr>
        <p:spPr>
          <a:xfrm>
            <a:off x="2497446" y="2638476"/>
            <a:ext cx="710213" cy="39061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FA0F47FE-AA32-DCD1-4738-C8E16DDCD7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60914" y="1630439"/>
            <a:ext cx="8427961" cy="4862436"/>
          </a:xfrm>
        </p:spPr>
        <p:txBody>
          <a:bodyPr>
            <a:normAutofit fontScale="92500" lnSpcReduction="10000"/>
          </a:bodyPr>
          <a:lstStyle/>
          <a:p>
            <a:r>
              <a:rPr lang="fr-FR" dirty="0" err="1"/>
              <a:t>What</a:t>
            </a:r>
            <a:r>
              <a:rPr lang="fr-FR" dirty="0"/>
              <a:t> </a:t>
            </a:r>
            <a:r>
              <a:rPr lang="fr-FR" dirty="0" err="1"/>
              <a:t>is</a:t>
            </a:r>
            <a:r>
              <a:rPr lang="fr-FR" dirty="0"/>
              <a:t> </a:t>
            </a:r>
            <a:r>
              <a:rPr lang="fr-FR" dirty="0" err="1"/>
              <a:t>BigData</a:t>
            </a:r>
            <a:r>
              <a:rPr lang="fr-FR" dirty="0"/>
              <a:t> ?</a:t>
            </a:r>
          </a:p>
          <a:p>
            <a:pPr lvl="1"/>
            <a:r>
              <a:rPr lang="fr-FR" dirty="0" err="1"/>
              <a:t>Order</a:t>
            </a:r>
            <a:r>
              <a:rPr lang="fr-FR" dirty="0"/>
              <a:t> of Magnitudes for « Big »</a:t>
            </a:r>
          </a:p>
          <a:p>
            <a:pPr lvl="1"/>
            <a:r>
              <a:rPr lang="fr-FR" dirty="0"/>
              <a:t>Distributed System challenges</a:t>
            </a:r>
          </a:p>
          <a:p>
            <a:pPr lvl="1"/>
            <a:r>
              <a:rPr lang="fr-FR" sz="3500" b="1" dirty="0" err="1"/>
              <a:t>Scaling</a:t>
            </a:r>
            <a:r>
              <a:rPr lang="fr-FR" sz="3500" b="1" dirty="0"/>
              <a:t> Storage </a:t>
            </a:r>
            <a:r>
              <a:rPr lang="fr-FR" sz="3500" b="1" dirty="0" err="1"/>
              <a:t>Resources</a:t>
            </a:r>
            <a:r>
              <a:rPr lang="fr-FR" sz="3500" b="1" dirty="0"/>
              <a:t>: </a:t>
            </a:r>
            <a:r>
              <a:rPr lang="fr-FR" sz="3500" b="1" dirty="0" err="1"/>
              <a:t>Hdfs</a:t>
            </a:r>
            <a:endParaRPr lang="fr-FR" sz="3500" b="1" dirty="0"/>
          </a:p>
          <a:p>
            <a:pPr lvl="1"/>
            <a:r>
              <a:rPr lang="fr-FR" dirty="0" err="1"/>
              <a:t>Scaling</a:t>
            </a:r>
            <a:r>
              <a:rPr lang="fr-FR" dirty="0"/>
              <a:t> </a:t>
            </a:r>
            <a:r>
              <a:rPr lang="fr-FR" dirty="0" err="1"/>
              <a:t>Compute</a:t>
            </a:r>
            <a:r>
              <a:rPr lang="fr-FR" dirty="0"/>
              <a:t> </a:t>
            </a:r>
            <a:r>
              <a:rPr lang="fr-FR" dirty="0" err="1"/>
              <a:t>Resources</a:t>
            </a:r>
            <a:r>
              <a:rPr lang="fr-FR" dirty="0"/>
              <a:t>: </a:t>
            </a:r>
            <a:r>
              <a:rPr lang="fr-FR" dirty="0" err="1"/>
              <a:t>Yarn</a:t>
            </a:r>
            <a:r>
              <a:rPr lang="fr-FR" dirty="0"/>
              <a:t>, </a:t>
            </a:r>
            <a:r>
              <a:rPr lang="fr-FR" dirty="0" err="1"/>
              <a:t>Kubernetes</a:t>
            </a:r>
            <a:endParaRPr lang="fr-FR" dirty="0"/>
          </a:p>
          <a:p>
            <a:pPr lvl="1"/>
            <a:r>
              <a:rPr lang="fr-FR" dirty="0" err="1"/>
              <a:t>Using</a:t>
            </a:r>
            <a:r>
              <a:rPr lang="fr-FR" dirty="0"/>
              <a:t> Storage – </a:t>
            </a:r>
            <a:r>
              <a:rPr lang="fr-FR" dirty="0" err="1"/>
              <a:t>Compute</a:t>
            </a:r>
            <a:r>
              <a:rPr lang="fr-FR" dirty="0"/>
              <a:t> apis</a:t>
            </a:r>
          </a:p>
          <a:p>
            <a:pPr lvl="1"/>
            <a:r>
              <a:rPr lang="fr-FR" dirty="0"/>
              <a:t>Evolution of Hardware – Softwares – Hadoop </a:t>
            </a:r>
            <a:r>
              <a:rPr lang="fr-FR" dirty="0" err="1"/>
              <a:t>Ecosystem</a:t>
            </a:r>
            <a:r>
              <a:rPr lang="fr-FR" dirty="0"/>
              <a:t>, Spark</a:t>
            </a:r>
          </a:p>
          <a:p>
            <a:r>
              <a:rPr lang="fr-FR" dirty="0"/>
              <a:t>Description of a </a:t>
            </a:r>
            <a:r>
              <a:rPr lang="fr-FR" dirty="0" err="1"/>
              <a:t>Datalake</a:t>
            </a:r>
            <a:endParaRPr lang="fr-FR" dirty="0"/>
          </a:p>
          <a:p>
            <a:pPr lvl="1"/>
            <a:r>
              <a:rPr lang="fr-FR" dirty="0"/>
              <a:t>Content</a:t>
            </a:r>
          </a:p>
          <a:p>
            <a:pPr lvl="1"/>
            <a:r>
              <a:rPr lang="fr-FR" dirty="0"/>
              <a:t>Usages</a:t>
            </a:r>
          </a:p>
          <a:p>
            <a:r>
              <a:rPr lang="fr-FR" dirty="0"/>
              <a:t>Example of Data-</a:t>
            </a:r>
            <a:r>
              <a:rPr lang="fr-FR" dirty="0" err="1"/>
              <a:t>Processing</a:t>
            </a:r>
            <a:endParaRPr lang="fr-FR" dirty="0"/>
          </a:p>
          <a:p>
            <a:pPr lvl="1"/>
            <a:r>
              <a:rPr lang="fr-FR" dirty="0"/>
              <a:t>RAW to LAKE, Reports</a:t>
            </a:r>
          </a:p>
          <a:p>
            <a:r>
              <a:rPr lang="fr-FR" dirty="0"/>
              <a:t>Evolution to Cloud</a:t>
            </a:r>
          </a:p>
        </p:txBody>
      </p:sp>
    </p:spTree>
    <p:extLst>
      <p:ext uri="{BB962C8B-B14F-4D97-AF65-F5344CB8AC3E}">
        <p14:creationId xmlns:p14="http://schemas.microsoft.com/office/powerpoint/2010/main" val="337490314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108A84-93B5-C217-7C1A-250BCFB1AD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1266714" cy="1325563"/>
          </a:xfrm>
        </p:spPr>
        <p:txBody>
          <a:bodyPr>
            <a:normAutofit fontScale="90000"/>
          </a:bodyPr>
          <a:lstStyle/>
          <a:p>
            <a:r>
              <a:rPr lang="fr-FR" dirty="0"/>
              <a:t>How to </a:t>
            </a:r>
            <a:r>
              <a:rPr lang="fr-FR" dirty="0" err="1"/>
              <a:t>Handle</a:t>
            </a:r>
            <a:r>
              <a:rPr lang="fr-FR" dirty="0"/>
              <a:t> Disk Crash: </a:t>
            </a:r>
            <a:br>
              <a:rPr lang="fr-FR" dirty="0"/>
            </a:br>
            <a:r>
              <a:rPr lang="fr-FR" dirty="0"/>
              <a:t>   </a:t>
            </a:r>
            <a:r>
              <a:rPr lang="fr-FR" dirty="0" err="1"/>
              <a:t>Obviously</a:t>
            </a:r>
            <a:r>
              <a:rPr lang="fr-FR" dirty="0"/>
              <a:t> </a:t>
            </a:r>
            <a:r>
              <a:rPr lang="fr-FR" dirty="0" err="1"/>
              <a:t>Replication</a:t>
            </a:r>
            <a:r>
              <a:rPr lang="fr-FR" dirty="0"/>
              <a:t> Copies,  But in XA &amp; Real-Time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A40C533-86A3-6B9F-F4FA-D3266F7F5260}"/>
              </a:ext>
            </a:extLst>
          </p:cNvPr>
          <p:cNvSpPr txBox="1"/>
          <p:nvPr/>
        </p:nvSpPr>
        <p:spPr>
          <a:xfrm>
            <a:off x="3655181" y="1916723"/>
            <a:ext cx="579915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b="1" dirty="0"/>
              <a:t>RF = </a:t>
            </a:r>
            <a:r>
              <a:rPr lang="fr-FR" sz="2800" b="1" dirty="0" err="1"/>
              <a:t>Replication</a:t>
            </a:r>
            <a:r>
              <a:rPr lang="fr-FR" sz="2800" b="1" dirty="0"/>
              <a:t> Factor = 3</a:t>
            </a:r>
            <a:r>
              <a:rPr lang="fr-FR" sz="2400" dirty="0"/>
              <a:t>   (or more!)  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8B7FA39-7747-1461-8C15-8B9E92918B71}"/>
              </a:ext>
            </a:extLst>
          </p:cNvPr>
          <p:cNvSpPr txBox="1"/>
          <p:nvPr/>
        </p:nvSpPr>
        <p:spPr>
          <a:xfrm>
            <a:off x="22646" y="3012500"/>
            <a:ext cx="275113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dirty="0"/>
              <a:t>End-user </a:t>
            </a:r>
            <a:r>
              <a:rPr lang="fr-FR" sz="2000" dirty="0" err="1"/>
              <a:t>operation</a:t>
            </a:r>
            <a:r>
              <a:rPr lang="fr-FR" sz="2000" dirty="0"/>
              <a:t> =  </a:t>
            </a:r>
          </a:p>
          <a:p>
            <a:r>
              <a:rPr lang="fr-FR" sz="2000" dirty="0"/>
              <a:t>Write to a « </a:t>
            </a:r>
            <a:r>
              <a:rPr lang="fr-FR" sz="2000" dirty="0" err="1"/>
              <a:t>virtual</a:t>
            </a:r>
            <a:r>
              <a:rPr lang="fr-FR" sz="2000" dirty="0"/>
              <a:t> File »</a:t>
            </a:r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C343B3AD-D6CE-F484-98ED-5E935455BBEE}"/>
              </a:ext>
            </a:extLst>
          </p:cNvPr>
          <p:cNvSpPr/>
          <p:nvPr/>
        </p:nvSpPr>
        <p:spPr>
          <a:xfrm rot="18083724">
            <a:off x="4686488" y="3512415"/>
            <a:ext cx="1059543" cy="41607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7E80ADD0-D51A-FA6C-6281-70053A653C8F}"/>
              </a:ext>
            </a:extLst>
          </p:cNvPr>
          <p:cNvSpPr/>
          <p:nvPr/>
        </p:nvSpPr>
        <p:spPr>
          <a:xfrm rot="21230640">
            <a:off x="4873877" y="3885268"/>
            <a:ext cx="1059543" cy="41607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A91B2AF0-583C-1B10-39ED-B2175C9D889F}"/>
              </a:ext>
            </a:extLst>
          </p:cNvPr>
          <p:cNvSpPr/>
          <p:nvPr/>
        </p:nvSpPr>
        <p:spPr>
          <a:xfrm rot="3344882">
            <a:off x="4703061" y="4395010"/>
            <a:ext cx="1059543" cy="41607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2050" name="Picture 2" descr="SSD — Wikipédia">
            <a:extLst>
              <a:ext uri="{FF2B5EF4-FFF2-40B4-BE49-F238E27FC236}">
                <a16:creationId xmlns:a16="http://schemas.microsoft.com/office/drawing/2014/main" id="{7C2FE4A4-8E4F-926E-5493-BC2EB2813C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4964" y="4503636"/>
            <a:ext cx="1890141" cy="12418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F424B66-F254-62DA-7D79-3A14BC007165}"/>
              </a:ext>
            </a:extLst>
          </p:cNvPr>
          <p:cNvSpPr txBox="1"/>
          <p:nvPr/>
        </p:nvSpPr>
        <p:spPr>
          <a:xfrm>
            <a:off x="4909416" y="5586368"/>
            <a:ext cx="2998641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 err="1"/>
              <a:t>Then</a:t>
            </a:r>
            <a:r>
              <a:rPr lang="fr-FR" sz="2400" dirty="0"/>
              <a:t> Dispatch to </a:t>
            </a:r>
          </a:p>
          <a:p>
            <a:r>
              <a:rPr lang="fr-FR" sz="2400" dirty="0"/>
              <a:t>the </a:t>
            </a:r>
            <a:r>
              <a:rPr lang="fr-FR" sz="2400" dirty="0" err="1"/>
              <a:t>current</a:t>
            </a:r>
            <a:r>
              <a:rPr lang="fr-FR" sz="2400" dirty="0"/>
              <a:t> « Master »</a:t>
            </a:r>
          </a:p>
          <a:p>
            <a:r>
              <a:rPr lang="fr-FR" sz="2400" dirty="0"/>
              <a:t>Server for </a:t>
            </a:r>
            <a:r>
              <a:rPr lang="fr-FR" sz="2400" dirty="0" err="1"/>
              <a:t>this</a:t>
            </a:r>
            <a:r>
              <a:rPr lang="fr-FR" sz="2400" dirty="0"/>
              <a:t> group</a:t>
            </a:r>
          </a:p>
        </p:txBody>
      </p:sp>
      <p:sp>
        <p:nvSpPr>
          <p:cNvPr id="13" name="Arrow: Curved Up 12">
            <a:extLst>
              <a:ext uri="{FF2B5EF4-FFF2-40B4-BE49-F238E27FC236}">
                <a16:creationId xmlns:a16="http://schemas.microsoft.com/office/drawing/2014/main" id="{F03BF47E-78EC-7DCF-0D98-F891ABCC1837}"/>
              </a:ext>
            </a:extLst>
          </p:cNvPr>
          <p:cNvSpPr/>
          <p:nvPr/>
        </p:nvSpPr>
        <p:spPr>
          <a:xfrm rot="18759799" flipV="1">
            <a:off x="8075255" y="4056352"/>
            <a:ext cx="1022920" cy="648997"/>
          </a:xfrm>
          <a:prstGeom prst="curvedUpArrow">
            <a:avLst>
              <a:gd name="adj1" fmla="val 25000"/>
              <a:gd name="adj2" fmla="val 45666"/>
              <a:gd name="adj3" fmla="val 2500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sp>
        <p:nvSpPr>
          <p:cNvPr id="14" name="Arrow: Curved Up 13">
            <a:extLst>
              <a:ext uri="{FF2B5EF4-FFF2-40B4-BE49-F238E27FC236}">
                <a16:creationId xmlns:a16="http://schemas.microsoft.com/office/drawing/2014/main" id="{E66D76A6-0602-4B93-7C5D-DC3A1F9E794F}"/>
              </a:ext>
            </a:extLst>
          </p:cNvPr>
          <p:cNvSpPr/>
          <p:nvPr/>
        </p:nvSpPr>
        <p:spPr>
          <a:xfrm rot="17506719" flipV="1">
            <a:off x="7207532" y="3090805"/>
            <a:ext cx="2208968" cy="1255132"/>
          </a:xfrm>
          <a:prstGeom prst="curvedUpArrow">
            <a:avLst>
              <a:gd name="adj1" fmla="val 9785"/>
              <a:gd name="adj2" fmla="val 29554"/>
              <a:gd name="adj3" fmla="val 26883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7AD1B62-D463-D3CF-370F-1B475E2999AF}"/>
              </a:ext>
            </a:extLst>
          </p:cNvPr>
          <p:cNvSpPr txBox="1"/>
          <p:nvPr/>
        </p:nvSpPr>
        <p:spPr>
          <a:xfrm>
            <a:off x="8218220" y="5657671"/>
            <a:ext cx="397378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 err="1"/>
              <a:t>Then</a:t>
            </a:r>
            <a:r>
              <a:rPr lang="fr-FR" sz="2400" dirty="0"/>
              <a:t> </a:t>
            </a:r>
            <a:r>
              <a:rPr lang="fr-FR" sz="2400" dirty="0" err="1"/>
              <a:t>Immediate</a:t>
            </a:r>
            <a:r>
              <a:rPr lang="fr-FR" sz="2400" dirty="0"/>
              <a:t> COPY</a:t>
            </a:r>
          </a:p>
          <a:p>
            <a:r>
              <a:rPr lang="fr-FR" sz="2400" dirty="0"/>
              <a:t>… </a:t>
            </a:r>
            <a:r>
              <a:rPr lang="fr-FR" sz="2400" dirty="0" err="1"/>
              <a:t>hopefully</a:t>
            </a:r>
            <a:r>
              <a:rPr lang="fr-FR" sz="2400" dirty="0"/>
              <a:t> </a:t>
            </a:r>
            <a:r>
              <a:rPr lang="fr-FR" sz="2400" dirty="0" err="1"/>
              <a:t>Transactionally</a:t>
            </a:r>
            <a:endParaRPr lang="fr-FR" sz="2400" dirty="0"/>
          </a:p>
          <a:p>
            <a:r>
              <a:rPr lang="fr-FR" sz="2400" dirty="0"/>
              <a:t>To </a:t>
            </a:r>
            <a:r>
              <a:rPr lang="fr-FR" sz="2400" dirty="0" err="1"/>
              <a:t>current</a:t>
            </a:r>
            <a:r>
              <a:rPr lang="fr-FR" sz="2400" dirty="0"/>
              <a:t> « follower » servers</a:t>
            </a:r>
          </a:p>
        </p:txBody>
      </p:sp>
      <p:pic>
        <p:nvPicPr>
          <p:cNvPr id="17" name="Picture 2" descr="SSD — Wikipédia">
            <a:extLst>
              <a:ext uri="{FF2B5EF4-FFF2-40B4-BE49-F238E27FC236}">
                <a16:creationId xmlns:a16="http://schemas.microsoft.com/office/drawing/2014/main" id="{74A8ACF7-DA08-FDD4-7CB2-F1A5CB487B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25815" y="3809586"/>
            <a:ext cx="1890141" cy="12418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2" descr="SSD — Wikipédia">
            <a:extLst>
              <a:ext uri="{FF2B5EF4-FFF2-40B4-BE49-F238E27FC236}">
                <a16:creationId xmlns:a16="http://schemas.microsoft.com/office/drawing/2014/main" id="{3599837D-42F1-C354-E8AB-69839C908A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04576" y="2561134"/>
            <a:ext cx="1890141" cy="12418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Arrow: Right 18">
            <a:extLst>
              <a:ext uri="{FF2B5EF4-FFF2-40B4-BE49-F238E27FC236}">
                <a16:creationId xmlns:a16="http://schemas.microsoft.com/office/drawing/2014/main" id="{1E2FFCF1-E29E-1E12-A896-D40D879DAC79}"/>
              </a:ext>
            </a:extLst>
          </p:cNvPr>
          <p:cNvSpPr/>
          <p:nvPr/>
        </p:nvSpPr>
        <p:spPr>
          <a:xfrm>
            <a:off x="1943078" y="4014457"/>
            <a:ext cx="552303" cy="41607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071F9E5-C388-FDEE-98F3-99A438F0827B}"/>
              </a:ext>
            </a:extLst>
          </p:cNvPr>
          <p:cNvSpPr txBox="1"/>
          <p:nvPr/>
        </p:nvSpPr>
        <p:spPr>
          <a:xfrm>
            <a:off x="1281342" y="5170001"/>
            <a:ext cx="2214261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 err="1"/>
              <a:t>Sharding</a:t>
            </a:r>
            <a:r>
              <a:rPr lang="fr-FR" sz="2400" dirty="0"/>
              <a:t>:</a:t>
            </a:r>
          </a:p>
          <a:p>
            <a:r>
              <a:rPr lang="fr-FR" sz="2400" dirty="0" err="1"/>
              <a:t>Choosing</a:t>
            </a:r>
            <a:r>
              <a:rPr lang="fr-FR" sz="2400" dirty="0"/>
              <a:t> </a:t>
            </a:r>
          </a:p>
          <a:p>
            <a:r>
              <a:rPr lang="fr-FR" sz="2400" dirty="0"/>
              <a:t>group of 3 </a:t>
            </a:r>
            <a:r>
              <a:rPr lang="fr-FR" sz="2400" dirty="0" err="1"/>
              <a:t>disks</a:t>
            </a:r>
            <a:r>
              <a:rPr lang="fr-FR" sz="2400" dirty="0"/>
              <a:t> </a:t>
            </a:r>
          </a:p>
          <a:p>
            <a:r>
              <a:rPr lang="fr-FR" sz="2400" dirty="0"/>
              <a:t>out of 20000</a:t>
            </a:r>
          </a:p>
        </p:txBody>
      </p:sp>
      <p:pic>
        <p:nvPicPr>
          <p:cNvPr id="21" name="Picture 2" descr="SSD — Wikipédia">
            <a:extLst>
              <a:ext uri="{FF2B5EF4-FFF2-40B4-BE49-F238E27FC236}">
                <a16:creationId xmlns:a16="http://schemas.microsoft.com/office/drawing/2014/main" id="{CB1311F7-DB94-0BA0-CF30-0169999231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63179" y="2969794"/>
            <a:ext cx="501165" cy="3292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" name="Picture 2" descr="SSD — Wikipédia">
            <a:extLst>
              <a:ext uri="{FF2B5EF4-FFF2-40B4-BE49-F238E27FC236}">
                <a16:creationId xmlns:a16="http://schemas.microsoft.com/office/drawing/2014/main" id="{8184EC52-EB82-FD3F-AA18-2625A013E7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14807" y="3324917"/>
            <a:ext cx="501165" cy="3292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" name="Picture 2" descr="SSD — Wikipédia">
            <a:extLst>
              <a:ext uri="{FF2B5EF4-FFF2-40B4-BE49-F238E27FC236}">
                <a16:creationId xmlns:a16="http://schemas.microsoft.com/office/drawing/2014/main" id="{E100850D-C551-E8A7-CD55-250BF2F1ED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1264" y="4430338"/>
            <a:ext cx="501165" cy="3292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" name="Picture 2" descr="SSD — Wikipédia">
            <a:extLst>
              <a:ext uri="{FF2B5EF4-FFF2-40B4-BE49-F238E27FC236}">
                <a16:creationId xmlns:a16="http://schemas.microsoft.com/office/drawing/2014/main" id="{F072BF67-87D3-BFAB-8F65-74C017B90A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27577" y="4071486"/>
            <a:ext cx="501165" cy="3292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" name="Picture 2" descr="SSD — Wikipédia">
            <a:extLst>
              <a:ext uri="{FF2B5EF4-FFF2-40B4-BE49-F238E27FC236}">
                <a16:creationId xmlns:a16="http://schemas.microsoft.com/office/drawing/2014/main" id="{628F157C-5BFC-201C-8399-F66696AB89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28163" y="3696414"/>
            <a:ext cx="501165" cy="3292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" name="Picture 2" descr="SSD — Wikipédia">
            <a:extLst>
              <a:ext uri="{FF2B5EF4-FFF2-40B4-BE49-F238E27FC236}">
                <a16:creationId xmlns:a16="http://schemas.microsoft.com/office/drawing/2014/main" id="{57A15AD6-3B08-B710-E53A-20E83C6E17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27577" y="4846518"/>
            <a:ext cx="501165" cy="3292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" name="Picture 2" descr="SSD — Wikipédia">
            <a:extLst>
              <a:ext uri="{FF2B5EF4-FFF2-40B4-BE49-F238E27FC236}">
                <a16:creationId xmlns:a16="http://schemas.microsoft.com/office/drawing/2014/main" id="{F4933D50-7ACD-658E-55A3-4D75834376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63178" y="2604678"/>
            <a:ext cx="501165" cy="3292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Rectangle 29">
            <a:extLst>
              <a:ext uri="{FF2B5EF4-FFF2-40B4-BE49-F238E27FC236}">
                <a16:creationId xmlns:a16="http://schemas.microsoft.com/office/drawing/2014/main" id="{069DD4B6-757E-D000-9EE4-49BB4764CE58}"/>
              </a:ext>
            </a:extLst>
          </p:cNvPr>
          <p:cNvSpPr/>
          <p:nvPr/>
        </p:nvSpPr>
        <p:spPr>
          <a:xfrm>
            <a:off x="3126867" y="5158350"/>
            <a:ext cx="827292" cy="407891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31" name="Picture 2" descr="SSD — Wikipédia">
            <a:extLst>
              <a:ext uri="{FF2B5EF4-FFF2-40B4-BE49-F238E27FC236}">
                <a16:creationId xmlns:a16="http://schemas.microsoft.com/office/drawing/2014/main" id="{6AD0A48D-964C-0378-3AF7-326BF1A067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28163" y="5197652"/>
            <a:ext cx="501165" cy="3292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85C5C7E0-DDCA-1B90-919E-60FF896D6A49}"/>
              </a:ext>
            </a:extLst>
          </p:cNvPr>
          <p:cNvCxnSpPr/>
          <p:nvPr/>
        </p:nvCxnSpPr>
        <p:spPr>
          <a:xfrm>
            <a:off x="4055781" y="3090894"/>
            <a:ext cx="0" cy="2290848"/>
          </a:xfrm>
          <a:prstGeom prst="line">
            <a:avLst/>
          </a:prstGeom>
          <a:ln w="317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EC67126C-3331-597C-88C1-6E35D48BA2A7}"/>
              </a:ext>
            </a:extLst>
          </p:cNvPr>
          <p:cNvCxnSpPr>
            <a:cxnSpLocks/>
          </p:cNvCxnSpPr>
          <p:nvPr/>
        </p:nvCxnSpPr>
        <p:spPr>
          <a:xfrm>
            <a:off x="3831501" y="5362294"/>
            <a:ext cx="236790" cy="0"/>
          </a:xfrm>
          <a:prstGeom prst="line">
            <a:avLst/>
          </a:prstGeom>
          <a:ln w="317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2E8CF40E-54BC-B20D-D75A-7399C8130D9F}"/>
              </a:ext>
            </a:extLst>
          </p:cNvPr>
          <p:cNvCxnSpPr>
            <a:cxnSpLocks/>
          </p:cNvCxnSpPr>
          <p:nvPr/>
        </p:nvCxnSpPr>
        <p:spPr>
          <a:xfrm>
            <a:off x="3818991" y="4236128"/>
            <a:ext cx="236790" cy="0"/>
          </a:xfrm>
          <a:prstGeom prst="line">
            <a:avLst/>
          </a:prstGeom>
          <a:ln w="317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B9C1F927-16CA-CF07-F114-A9F8DE036189}"/>
              </a:ext>
            </a:extLst>
          </p:cNvPr>
          <p:cNvCxnSpPr>
            <a:cxnSpLocks/>
          </p:cNvCxnSpPr>
          <p:nvPr/>
        </p:nvCxnSpPr>
        <p:spPr>
          <a:xfrm>
            <a:off x="3834473" y="3091742"/>
            <a:ext cx="236790" cy="0"/>
          </a:xfrm>
          <a:prstGeom prst="line">
            <a:avLst/>
          </a:prstGeom>
          <a:ln w="317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1" name="Picture 2" descr="SSD — Wikipédia">
            <a:extLst>
              <a:ext uri="{FF2B5EF4-FFF2-40B4-BE49-F238E27FC236}">
                <a16:creationId xmlns:a16="http://schemas.microsoft.com/office/drawing/2014/main" id="{54632998-F90A-8068-13A9-05D5690948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11853" y="5611239"/>
            <a:ext cx="501165" cy="3292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0124814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2F2B26-21AB-43C4-93CA-FE14EAE875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The Devil </a:t>
            </a:r>
            <a:r>
              <a:rPr lang="fr-FR" dirty="0" err="1"/>
              <a:t>hides</a:t>
            </a:r>
            <a:r>
              <a:rPr lang="fr-FR" dirty="0"/>
              <a:t> in the Details …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73682EE-E580-F49A-3F71-77B9FD6D3A12}"/>
              </a:ext>
            </a:extLst>
          </p:cNvPr>
          <p:cNvSpPr txBox="1"/>
          <p:nvPr/>
        </p:nvSpPr>
        <p:spPr>
          <a:xfrm>
            <a:off x="957944" y="1882018"/>
            <a:ext cx="10581808" cy="45243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/>
              <a:t>the « master » server can not </a:t>
            </a:r>
            <a:r>
              <a:rPr lang="fr-FR" sz="2400" dirty="0" err="1"/>
              <a:t>reach</a:t>
            </a:r>
            <a:r>
              <a:rPr lang="fr-FR" sz="2400" dirty="0"/>
              <a:t> </a:t>
            </a:r>
            <a:r>
              <a:rPr lang="fr-FR" sz="2400" dirty="0" err="1"/>
              <a:t>other</a:t>
            </a:r>
            <a:r>
              <a:rPr lang="fr-FR" sz="2400" dirty="0"/>
              <a:t> for </a:t>
            </a:r>
            <a:r>
              <a:rPr lang="fr-FR" sz="2400" dirty="0" err="1"/>
              <a:t>copying</a:t>
            </a:r>
            <a:r>
              <a:rPr lang="fr-FR" sz="2400" dirty="0"/>
              <a:t> ? Or </a:t>
            </a:r>
            <a:r>
              <a:rPr lang="fr-FR" sz="2400" dirty="0" err="1"/>
              <a:t>takes</a:t>
            </a:r>
            <a:r>
              <a:rPr lang="fr-FR" sz="2400" dirty="0"/>
              <a:t> </a:t>
            </a:r>
            <a:r>
              <a:rPr lang="fr-FR" sz="2400" dirty="0" err="1"/>
              <a:t>too</a:t>
            </a:r>
            <a:r>
              <a:rPr lang="fr-FR" sz="2400" dirty="0"/>
              <a:t> long</a:t>
            </a:r>
          </a:p>
          <a:p>
            <a:endParaRPr lang="fr-FR" sz="2400" dirty="0"/>
          </a:p>
          <a:p>
            <a:r>
              <a:rPr lang="fr-FR" sz="2400" dirty="0"/>
              <a:t>Files </a:t>
            </a:r>
            <a:r>
              <a:rPr lang="fr-FR" sz="2400" dirty="0" err="1"/>
              <a:t>will</a:t>
            </a:r>
            <a:r>
              <a:rPr lang="fr-FR" sz="2400" dirty="0"/>
              <a:t> </a:t>
            </a:r>
            <a:r>
              <a:rPr lang="fr-FR" sz="2400" dirty="0" err="1"/>
              <a:t>become</a:t>
            </a:r>
            <a:r>
              <a:rPr lang="fr-FR" sz="2400" dirty="0"/>
              <a:t> « Under-</a:t>
            </a:r>
            <a:r>
              <a:rPr lang="fr-FR" sz="2400" dirty="0" err="1"/>
              <a:t>replicated</a:t>
            </a:r>
            <a:r>
              <a:rPr lang="fr-FR" sz="2400" dirty="0"/>
              <a:t> », </a:t>
            </a:r>
            <a:r>
              <a:rPr lang="fr-FR" sz="2400" dirty="0" err="1"/>
              <a:t>after</a:t>
            </a:r>
            <a:r>
              <a:rPr lang="fr-FR" sz="2400" dirty="0"/>
              <a:t> a server crash (or switch Off)</a:t>
            </a:r>
          </a:p>
          <a:p>
            <a:r>
              <a:rPr lang="fr-FR" sz="2400" dirty="0"/>
              <a:t>… « Over-</a:t>
            </a:r>
            <a:r>
              <a:rPr lang="fr-FR" sz="2400" dirty="0" err="1"/>
              <a:t>replicated</a:t>
            </a:r>
            <a:r>
              <a:rPr lang="fr-FR" sz="2400" dirty="0"/>
              <a:t> » </a:t>
            </a:r>
            <a:r>
              <a:rPr lang="fr-FR" sz="2400" dirty="0" err="1"/>
              <a:t>when</a:t>
            </a:r>
            <a:r>
              <a:rPr lang="fr-FR" sz="2400" dirty="0"/>
              <a:t> the server </a:t>
            </a:r>
            <a:r>
              <a:rPr lang="fr-FR" sz="2400" dirty="0" err="1"/>
              <a:t>rejoin</a:t>
            </a:r>
            <a:r>
              <a:rPr lang="fr-FR" sz="2400" dirty="0"/>
              <a:t> cluster (switch ON)</a:t>
            </a:r>
          </a:p>
          <a:p>
            <a:endParaRPr lang="fr-FR" sz="2400" dirty="0"/>
          </a:p>
          <a:p>
            <a:r>
              <a:rPr lang="fr-FR" sz="2400" dirty="0"/>
              <a:t>2 servers </a:t>
            </a:r>
            <a:r>
              <a:rPr lang="fr-FR" sz="2400" dirty="0" err="1"/>
              <a:t>pretend</a:t>
            </a:r>
            <a:r>
              <a:rPr lang="fr-FR" sz="2400" dirty="0"/>
              <a:t> to </a:t>
            </a:r>
            <a:r>
              <a:rPr lang="fr-FR" sz="2400" dirty="0" err="1"/>
              <a:t>be</a:t>
            </a:r>
            <a:r>
              <a:rPr lang="fr-FR" sz="2400" dirty="0"/>
              <a:t> « master » at </a:t>
            </a:r>
            <a:r>
              <a:rPr lang="fr-FR" sz="2400" dirty="0" err="1"/>
              <a:t>same</a:t>
            </a:r>
            <a:r>
              <a:rPr lang="fr-FR" sz="2400" dirty="0"/>
              <a:t> time   (network partition) ?</a:t>
            </a:r>
          </a:p>
          <a:p>
            <a:endParaRPr lang="fr-FR" sz="2400" dirty="0"/>
          </a:p>
          <a:p>
            <a:r>
              <a:rPr lang="fr-FR" sz="2400" dirty="0" err="1"/>
              <a:t>Reconcile</a:t>
            </a:r>
            <a:r>
              <a:rPr lang="fr-FR" sz="2400" dirty="0"/>
              <a:t> 2 </a:t>
            </a:r>
            <a:r>
              <a:rPr lang="fr-FR" sz="2400" dirty="0" err="1"/>
              <a:t>conflicting</a:t>
            </a:r>
            <a:r>
              <a:rPr lang="fr-FR" sz="2400" dirty="0"/>
              <a:t> (</a:t>
            </a:r>
            <a:r>
              <a:rPr lang="fr-FR" sz="2400" dirty="0" err="1"/>
              <a:t>diverged</a:t>
            </a:r>
            <a:r>
              <a:rPr lang="fr-FR" sz="2400" dirty="0"/>
              <a:t>) servers data ?</a:t>
            </a:r>
          </a:p>
          <a:p>
            <a:endParaRPr lang="fr-FR" sz="2400" dirty="0"/>
          </a:p>
          <a:p>
            <a:r>
              <a:rPr lang="fr-FR" sz="2400" dirty="0"/>
              <a:t>SPOF : Single Point Of </a:t>
            </a:r>
            <a:r>
              <a:rPr lang="fr-FR" sz="2400" dirty="0" err="1"/>
              <a:t>Failures</a:t>
            </a:r>
            <a:r>
              <a:rPr lang="fr-FR" sz="2400" dirty="0"/>
              <a:t> …   all servers </a:t>
            </a:r>
            <a:r>
              <a:rPr lang="fr-FR" sz="2400" dirty="0" err="1"/>
              <a:t>depends</a:t>
            </a:r>
            <a:r>
              <a:rPr lang="fr-FR" sz="2400" dirty="0"/>
              <a:t> of </a:t>
            </a:r>
            <a:r>
              <a:rPr lang="fr-FR" sz="2400" dirty="0" err="1"/>
              <a:t>same</a:t>
            </a:r>
            <a:r>
              <a:rPr lang="fr-FR" sz="2400" dirty="0"/>
              <a:t> Electric Power </a:t>
            </a:r>
            <a:r>
              <a:rPr lang="fr-FR" sz="2400" dirty="0" err="1"/>
              <a:t>supply</a:t>
            </a:r>
            <a:endParaRPr lang="fr-FR" sz="2400" dirty="0"/>
          </a:p>
          <a:p>
            <a:endParaRPr lang="fr-FR" sz="2400" dirty="0"/>
          </a:p>
          <a:p>
            <a:r>
              <a:rPr lang="fr-FR" sz="2400" dirty="0" err="1"/>
              <a:t>Etc</a:t>
            </a:r>
            <a:r>
              <a:rPr lang="fr-FR" sz="2400" dirty="0"/>
              <a:t>, </a:t>
            </a:r>
            <a:r>
              <a:rPr lang="fr-FR" sz="2400" dirty="0" err="1"/>
              <a:t>Etc</a:t>
            </a:r>
            <a:r>
              <a:rPr lang="fr-FR" sz="2400" dirty="0"/>
              <a:t>, </a:t>
            </a:r>
            <a:r>
              <a:rPr lang="fr-FR" sz="2400" dirty="0" err="1"/>
              <a:t>Etc</a:t>
            </a:r>
            <a:r>
              <a:rPr lang="fr-FR" sz="2400" dirty="0"/>
              <a:t> ...</a:t>
            </a:r>
          </a:p>
        </p:txBody>
      </p:sp>
    </p:spTree>
    <p:extLst>
      <p:ext uri="{BB962C8B-B14F-4D97-AF65-F5344CB8AC3E}">
        <p14:creationId xmlns:p14="http://schemas.microsoft.com/office/powerpoint/2010/main" val="224577027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CDD0B2-EFD4-4A52-893D-517A9A75375A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609754" y="47893"/>
            <a:ext cx="10971300" cy="1201666"/>
          </a:xfrm>
        </p:spPr>
        <p:txBody>
          <a:bodyPr vert="horz"/>
          <a:lstStyle/>
          <a:p>
            <a:pPr rtl="0"/>
            <a:r>
              <a:rPr lang="fr-FR" dirty="0"/>
              <a:t>CAP </a:t>
            </a:r>
            <a:r>
              <a:rPr lang="fr-FR" dirty="0" err="1"/>
              <a:t>Theorem</a:t>
            </a:r>
            <a:r>
              <a:rPr lang="fr-FR" dirty="0"/>
              <a:t> .. </a:t>
            </a:r>
            <a:r>
              <a:rPr lang="fr-FR" dirty="0" err="1"/>
              <a:t>Choose</a:t>
            </a:r>
            <a:r>
              <a:rPr lang="fr-FR" dirty="0"/>
              <a:t> 2 out of 3</a:t>
            </a:r>
          </a:p>
        </p:txBody>
      </p:sp>
      <p:pic>
        <p:nvPicPr>
          <p:cNvPr id="1026" name="Picture 2" descr="Visualization of CAP theorem. ">
            <a:extLst>
              <a:ext uri="{FF2B5EF4-FFF2-40B4-BE49-F238E27FC236}">
                <a16:creationId xmlns:a16="http://schemas.microsoft.com/office/drawing/2014/main" id="{10A6216A-2F97-4A47-9238-D369E8F419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35412" y="1025713"/>
            <a:ext cx="6454376" cy="58322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>
            <a:extLst>
              <a:ext uri="{FF2B5EF4-FFF2-40B4-BE49-F238E27FC236}">
                <a16:creationId xmlns:a16="http://schemas.microsoft.com/office/drawing/2014/main" id="{15FA4561-2784-4A7C-A8C2-A8207ECED3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0723" y="1209528"/>
            <a:ext cx="5448769" cy="43083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6AC82824-90BD-45E4-AE8C-023B59F07D2B}"/>
              </a:ext>
            </a:extLst>
          </p:cNvPr>
          <p:cNvSpPr txBox="1">
            <a:spLocks/>
          </p:cNvSpPr>
          <p:nvPr/>
        </p:nvSpPr>
        <p:spPr>
          <a:xfrm>
            <a:off x="609754" y="47893"/>
            <a:ext cx="10971300" cy="1201666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="ctr"/>
          <a:lstStyle>
            <a:lvl1pPr algn="ctr" hangingPunct="0">
              <a:tabLst/>
              <a:defRPr lang="fr-FR" sz="4400" b="0" i="0" u="none" strike="noStrike" kern="1200" cap="none">
                <a:ln>
                  <a:noFill/>
                </a:ln>
                <a:highlight>
                  <a:scrgbClr r="0" g="0" b="0">
                    <a:alpha val="0"/>
                  </a:scrgbClr>
                </a:highlight>
                <a:latin typeface="Liberation Sans" pitchFamily="18"/>
                <a:ea typeface="Microsoft YaHei" pitchFamily="2"/>
              </a:defRPr>
            </a:lvl1pPr>
          </a:lstStyle>
          <a:p>
            <a:pPr rtl="0"/>
            <a:r>
              <a:rPr lang="en-US" sz="5321" dirty="0">
                <a:solidFill>
                  <a:sysClr val="windowText" lastClr="000000"/>
                </a:solidFill>
              </a:rPr>
              <a:t>Databases choices</a:t>
            </a:r>
          </a:p>
        </p:txBody>
      </p:sp>
      <p:sp>
        <p:nvSpPr>
          <p:cNvPr id="2" name="Arrow: Right 1">
            <a:extLst>
              <a:ext uri="{FF2B5EF4-FFF2-40B4-BE49-F238E27FC236}">
                <a16:creationId xmlns:a16="http://schemas.microsoft.com/office/drawing/2014/main" id="{07D72B18-9292-439E-9EB4-930D2F4C1257}"/>
              </a:ext>
            </a:extLst>
          </p:cNvPr>
          <p:cNvSpPr/>
          <p:nvPr/>
        </p:nvSpPr>
        <p:spPr>
          <a:xfrm rot="16200000">
            <a:off x="5540172" y="5785287"/>
            <a:ext cx="618249" cy="34462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177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AEF2EEC-96E7-41CD-BB68-30C9B9EBD294}"/>
              </a:ext>
            </a:extLst>
          </p:cNvPr>
          <p:cNvSpPr txBox="1"/>
          <p:nvPr/>
        </p:nvSpPr>
        <p:spPr>
          <a:xfrm>
            <a:off x="5928588" y="5897815"/>
            <a:ext cx="6418617" cy="76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177" dirty="0"/>
              <a:t>« </a:t>
            </a:r>
            <a:r>
              <a:rPr lang="fr-FR" sz="2177" dirty="0" err="1"/>
              <a:t>Eventually</a:t>
            </a:r>
            <a:r>
              <a:rPr lang="fr-FR" sz="2177" dirty="0"/>
              <a:t> Consistent » </a:t>
            </a:r>
          </a:p>
          <a:p>
            <a:r>
              <a:rPr lang="fr-FR" sz="2177" dirty="0"/>
              <a:t>.. </a:t>
            </a:r>
            <a:r>
              <a:rPr lang="fr-FR" sz="2177" dirty="0" err="1"/>
              <a:t>Means</a:t>
            </a:r>
            <a:r>
              <a:rPr lang="fr-FR" sz="2177" dirty="0"/>
              <a:t> « NOT » </a:t>
            </a:r>
            <a:r>
              <a:rPr lang="fr-FR" sz="2177" dirty="0" err="1"/>
              <a:t>always</a:t>
            </a:r>
            <a:r>
              <a:rPr lang="fr-FR" sz="2177" dirty="0"/>
              <a:t> consistent … but ends to </a:t>
            </a:r>
            <a:r>
              <a:rPr lang="fr-FR" sz="2177" dirty="0" err="1"/>
              <a:t>be</a:t>
            </a:r>
            <a:r>
              <a:rPr lang="fr-FR" sz="2177" dirty="0"/>
              <a:t>(?)</a:t>
            </a:r>
          </a:p>
        </p:txBody>
      </p:sp>
      <p:sp>
        <p:nvSpPr>
          <p:cNvPr id="6" name="Arrow: Right 1">
            <a:extLst>
              <a:ext uri="{FF2B5EF4-FFF2-40B4-BE49-F238E27FC236}">
                <a16:creationId xmlns:a16="http://schemas.microsoft.com/office/drawing/2014/main" id="{8A0AC4CF-E8C3-4541-A884-75407784D8FE}"/>
              </a:ext>
            </a:extLst>
          </p:cNvPr>
          <p:cNvSpPr/>
          <p:nvPr/>
        </p:nvSpPr>
        <p:spPr>
          <a:xfrm rot="2105981">
            <a:off x="2560135" y="1395974"/>
            <a:ext cx="618249" cy="34462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177"/>
          </a:p>
        </p:txBody>
      </p:sp>
      <p:sp>
        <p:nvSpPr>
          <p:cNvPr id="7" name="TextBox 3">
            <a:extLst>
              <a:ext uri="{FF2B5EF4-FFF2-40B4-BE49-F238E27FC236}">
                <a16:creationId xmlns:a16="http://schemas.microsoft.com/office/drawing/2014/main" id="{65D1BB3A-4FB9-4E01-B068-3FB4292F98D8}"/>
              </a:ext>
            </a:extLst>
          </p:cNvPr>
          <p:cNvSpPr txBox="1"/>
          <p:nvPr/>
        </p:nvSpPr>
        <p:spPr>
          <a:xfrm>
            <a:off x="63012" y="829570"/>
            <a:ext cx="3158237" cy="143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177" dirty="0"/>
              <a:t>Ex: </a:t>
            </a:r>
            <a:r>
              <a:rPr lang="fr-FR" sz="2177" dirty="0" err="1"/>
              <a:t>Classical</a:t>
            </a:r>
            <a:r>
              <a:rPr lang="fr-FR" sz="2177" dirty="0"/>
              <a:t> </a:t>
            </a:r>
            <a:r>
              <a:rPr lang="fr-FR" sz="2177" dirty="0" err="1"/>
              <a:t>Databases</a:t>
            </a:r>
            <a:endParaRPr lang="fr-FR" sz="2177" dirty="0"/>
          </a:p>
          <a:p>
            <a:endParaRPr lang="fr-FR" sz="2177" dirty="0"/>
          </a:p>
          <a:p>
            <a:r>
              <a:rPr lang="fr-FR" sz="2177" dirty="0"/>
              <a:t>Not partition </a:t>
            </a:r>
            <a:r>
              <a:rPr lang="fr-FR" sz="2177" dirty="0" err="1"/>
              <a:t>tolerant</a:t>
            </a:r>
            <a:endParaRPr lang="fr-FR" sz="2177" dirty="0"/>
          </a:p>
          <a:p>
            <a:r>
              <a:rPr lang="fr-FR" sz="2177" dirty="0"/>
              <a:t>In </a:t>
            </a:r>
            <a:r>
              <a:rPr lang="fr-FR" sz="2177" dirty="0" err="1"/>
              <a:t>general</a:t>
            </a:r>
            <a:r>
              <a:rPr lang="fr-FR" sz="2177" dirty="0"/>
              <a:t>: « single </a:t>
            </a:r>
            <a:r>
              <a:rPr lang="fr-FR" sz="2177" dirty="0" err="1"/>
              <a:t>node</a:t>
            </a:r>
            <a:r>
              <a:rPr lang="fr-FR" sz="2177" dirty="0"/>
              <a:t> »</a:t>
            </a:r>
          </a:p>
        </p:txBody>
      </p:sp>
    </p:spTree>
    <p:extLst>
      <p:ext uri="{BB962C8B-B14F-4D97-AF65-F5344CB8AC3E}">
        <p14:creationId xmlns:p14="http://schemas.microsoft.com/office/powerpoint/2010/main" val="33204613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6D531B6-2389-4C1C-A847-479EA9F99418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843037" y="87227"/>
            <a:ext cx="11208657" cy="1325563"/>
          </a:xfrm>
        </p:spPr>
        <p:txBody>
          <a:bodyPr vert="horz"/>
          <a:lstStyle/>
          <a:p>
            <a:pPr lvl="0"/>
            <a:r>
              <a:rPr lang="en-US" dirty="0"/>
              <a:t>Hadoop Legacy Replication Factor: Rack Aware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8AD5929-C5B5-48D6-B8EF-4C2BD7080082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3349641" y="1750252"/>
            <a:ext cx="4391742" cy="3779153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Forme libre : forme 3">
            <a:extLst>
              <a:ext uri="{FF2B5EF4-FFF2-40B4-BE49-F238E27FC236}">
                <a16:creationId xmlns:a16="http://schemas.microsoft.com/office/drawing/2014/main" id="{D2B89EDC-6D95-45FF-9833-6716704C3BF1}"/>
              </a:ext>
            </a:extLst>
          </p:cNvPr>
          <p:cNvSpPr/>
          <p:nvPr/>
        </p:nvSpPr>
        <p:spPr>
          <a:xfrm>
            <a:off x="7188443" y="1935292"/>
            <a:ext cx="2008776" cy="319260"/>
          </a:xfrm>
          <a:custGeom>
            <a:avLst>
              <a:gd name="f0" fmla="val 4300"/>
              <a:gd name="f1" fmla="val 5400"/>
            </a:avLst>
            <a:gdLst>
              <a:gd name="f2" fmla="val w"/>
              <a:gd name="f3" fmla="val h"/>
              <a:gd name="f4" fmla="val 0"/>
              <a:gd name="f5" fmla="val 21600"/>
              <a:gd name="f6" fmla="val 10800"/>
              <a:gd name="f7" fmla="*/ f2 1 21600"/>
              <a:gd name="f8" fmla="*/ f3 1 21600"/>
              <a:gd name="f9" fmla="pin 0 f0 10800"/>
              <a:gd name="f10" fmla="pin 0 f1 10800"/>
              <a:gd name="f11" fmla="val f9"/>
              <a:gd name="f12" fmla="val f10"/>
              <a:gd name="f13" fmla="+- 21600 0 f9"/>
              <a:gd name="f14" fmla="+- 21600 0 f10"/>
              <a:gd name="f15" fmla="+- 10800 0 f10"/>
              <a:gd name="f16" fmla="*/ f9 f7 1"/>
              <a:gd name="f17" fmla="*/ f10 f8 1"/>
              <a:gd name="f18" fmla="*/ f9 f15 1"/>
              <a:gd name="f19" fmla="*/ f14 f8 1"/>
              <a:gd name="f20" fmla="*/ f12 f8 1"/>
              <a:gd name="f21" fmla="*/ f18 1 10800"/>
              <a:gd name="f22" fmla="+- 21600 0 f21"/>
              <a:gd name="f23" fmla="*/ f21 f7 1"/>
              <a:gd name="f24" fmla="*/ f22 f7 1"/>
            </a:gdLst>
            <a:ahLst>
              <a:ahXY gdRefX="f0" minX="f4" maxX="f6" gdRefY="f1" minY="f4" maxY="f6">
                <a:pos x="f16" y="f1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23" t="f20" r="f24" b="f19"/>
            <a:pathLst>
              <a:path w="21600" h="21600">
                <a:moveTo>
                  <a:pt x="f4" y="f6"/>
                </a:moveTo>
                <a:lnTo>
                  <a:pt x="f11" y="f4"/>
                </a:lnTo>
                <a:lnTo>
                  <a:pt x="f11" y="f12"/>
                </a:lnTo>
                <a:lnTo>
                  <a:pt x="f13" y="f12"/>
                </a:lnTo>
                <a:lnTo>
                  <a:pt x="f13" y="f4"/>
                </a:lnTo>
                <a:lnTo>
                  <a:pt x="f5" y="f6"/>
                </a:lnTo>
                <a:lnTo>
                  <a:pt x="f13" y="f5"/>
                </a:lnTo>
                <a:lnTo>
                  <a:pt x="f13" y="f14"/>
                </a:lnTo>
                <a:lnTo>
                  <a:pt x="f11" y="f14"/>
                </a:lnTo>
                <a:lnTo>
                  <a:pt x="f11" y="f5"/>
                </a:lnTo>
                <a:close/>
              </a:path>
            </a:pathLst>
          </a:custGeom>
          <a:solidFill>
            <a:srgbClr val="729FCF"/>
          </a:solidFill>
          <a:ln w="0">
            <a:solidFill>
              <a:srgbClr val="3465A4"/>
            </a:solidFill>
            <a:prstDash val="solid"/>
          </a:ln>
        </p:spPr>
        <p:txBody>
          <a:bodyPr vert="horz" wrap="square" lIns="108847" tIns="54423" rIns="108847" bIns="54423" anchor="ctr" anchorCtr="0" compatLnSpc="0">
            <a:noAutofit/>
          </a:bodyPr>
          <a:lstStyle/>
          <a:p>
            <a:pPr hangingPunct="0"/>
            <a:endParaRPr lang="en-US" sz="2177">
              <a:latin typeface="Liberation Sans" pitchFamily="18"/>
              <a:ea typeface="Microsoft YaHei" pitchFamily="2"/>
              <a:cs typeface="Lucida Sans" pitchFamily="2"/>
            </a:endParaRP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6D430316-20AE-4C67-8F7D-A17BE59E92B4}"/>
              </a:ext>
            </a:extLst>
          </p:cNvPr>
          <p:cNvSpPr txBox="1"/>
          <p:nvPr/>
        </p:nvSpPr>
        <p:spPr>
          <a:xfrm>
            <a:off x="7976056" y="2764704"/>
            <a:ext cx="2946259" cy="1394107"/>
          </a:xfrm>
          <a:prstGeom prst="rect">
            <a:avLst/>
          </a:prstGeom>
          <a:noFill/>
          <a:ln>
            <a:noFill/>
          </a:ln>
        </p:spPr>
        <p:txBody>
          <a:bodyPr vert="horz" wrap="square" lIns="108847" tIns="54423" rIns="108847" bIns="54423" anchorCtr="0" compatLnSpc="0">
            <a:spAutoFit/>
          </a:bodyPr>
          <a:lstStyle/>
          <a:p>
            <a:pPr hangingPunct="0"/>
            <a:r>
              <a:rPr lang="en-US" sz="2177" dirty="0">
                <a:latin typeface="Liberation Sans" pitchFamily="18"/>
                <a:ea typeface="Microsoft YaHei" pitchFamily="2"/>
                <a:cs typeface="Lucida Sans" pitchFamily="2"/>
              </a:rPr>
              <a:t>Top-Rack switch</a:t>
            </a:r>
          </a:p>
          <a:p>
            <a:pPr hangingPunct="0"/>
            <a:endParaRPr lang="en-US" sz="2177" dirty="0">
              <a:latin typeface="Liberation Sans" pitchFamily="18"/>
              <a:ea typeface="Microsoft YaHei" pitchFamily="2"/>
              <a:cs typeface="Lucida Sans" pitchFamily="2"/>
            </a:endParaRPr>
          </a:p>
          <a:p>
            <a:pPr hangingPunct="0"/>
            <a:r>
              <a:rPr lang="en-US" sz="2177" dirty="0">
                <a:latin typeface="Liberation Sans" pitchFamily="18"/>
                <a:ea typeface="Microsoft YaHei" pitchFamily="2"/>
                <a:cs typeface="Lucida Sans" pitchFamily="2"/>
              </a:rPr>
              <a:t>North-South traffic (fast)</a:t>
            </a:r>
          </a:p>
        </p:txBody>
      </p:sp>
      <p:sp>
        <p:nvSpPr>
          <p:cNvPr id="6" name="Forme libre : forme 5">
            <a:extLst>
              <a:ext uri="{FF2B5EF4-FFF2-40B4-BE49-F238E27FC236}">
                <a16:creationId xmlns:a16="http://schemas.microsoft.com/office/drawing/2014/main" id="{18E70670-0AEB-44CB-822D-89858EA2E8CD}"/>
              </a:ext>
            </a:extLst>
          </p:cNvPr>
          <p:cNvSpPr/>
          <p:nvPr/>
        </p:nvSpPr>
        <p:spPr>
          <a:xfrm rot="5362800">
            <a:off x="8212636" y="4251474"/>
            <a:ext cx="681530" cy="501592"/>
          </a:xfrm>
          <a:custGeom>
            <a:avLst>
              <a:gd name="f0" fmla="val 4300"/>
              <a:gd name="f1" fmla="val 5400"/>
            </a:avLst>
            <a:gdLst>
              <a:gd name="f2" fmla="val w"/>
              <a:gd name="f3" fmla="val h"/>
              <a:gd name="f4" fmla="val 0"/>
              <a:gd name="f5" fmla="val 21600"/>
              <a:gd name="f6" fmla="val 10800"/>
              <a:gd name="f7" fmla="*/ f2 1 21600"/>
              <a:gd name="f8" fmla="*/ f3 1 21600"/>
              <a:gd name="f9" fmla="pin 0 f0 10800"/>
              <a:gd name="f10" fmla="pin 0 f1 10800"/>
              <a:gd name="f11" fmla="val f9"/>
              <a:gd name="f12" fmla="val f10"/>
              <a:gd name="f13" fmla="+- 21600 0 f9"/>
              <a:gd name="f14" fmla="+- 21600 0 f10"/>
              <a:gd name="f15" fmla="+- 10800 0 f10"/>
              <a:gd name="f16" fmla="*/ f9 f7 1"/>
              <a:gd name="f17" fmla="*/ f10 f8 1"/>
              <a:gd name="f18" fmla="*/ f9 f15 1"/>
              <a:gd name="f19" fmla="*/ f14 f8 1"/>
              <a:gd name="f20" fmla="*/ f12 f8 1"/>
              <a:gd name="f21" fmla="*/ f18 1 10800"/>
              <a:gd name="f22" fmla="+- 21600 0 f21"/>
              <a:gd name="f23" fmla="*/ f21 f7 1"/>
              <a:gd name="f24" fmla="*/ f22 f7 1"/>
            </a:gdLst>
            <a:ahLst>
              <a:ahXY gdRefX="f0" minX="f4" maxX="f6" gdRefY="f1" minY="f4" maxY="f6">
                <a:pos x="f16" y="f1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23" t="f20" r="f24" b="f19"/>
            <a:pathLst>
              <a:path w="21600" h="21600">
                <a:moveTo>
                  <a:pt x="f4" y="f6"/>
                </a:moveTo>
                <a:lnTo>
                  <a:pt x="f11" y="f4"/>
                </a:lnTo>
                <a:lnTo>
                  <a:pt x="f11" y="f12"/>
                </a:lnTo>
                <a:lnTo>
                  <a:pt x="f13" y="f12"/>
                </a:lnTo>
                <a:lnTo>
                  <a:pt x="f13" y="f4"/>
                </a:lnTo>
                <a:lnTo>
                  <a:pt x="f5" y="f6"/>
                </a:lnTo>
                <a:lnTo>
                  <a:pt x="f13" y="f5"/>
                </a:lnTo>
                <a:lnTo>
                  <a:pt x="f13" y="f14"/>
                </a:lnTo>
                <a:lnTo>
                  <a:pt x="f11" y="f14"/>
                </a:lnTo>
                <a:lnTo>
                  <a:pt x="f11" y="f5"/>
                </a:lnTo>
                <a:close/>
              </a:path>
            </a:pathLst>
          </a:custGeom>
          <a:solidFill>
            <a:srgbClr val="729FCF"/>
          </a:solidFill>
          <a:ln w="0">
            <a:solidFill>
              <a:srgbClr val="3465A4"/>
            </a:solidFill>
            <a:prstDash val="solid"/>
          </a:ln>
        </p:spPr>
        <p:txBody>
          <a:bodyPr vert="horz" wrap="square" lIns="108847" tIns="54423" rIns="108847" bIns="54423" anchor="ctr" anchorCtr="0" compatLnSpc="0">
            <a:noAutofit/>
          </a:bodyPr>
          <a:lstStyle/>
          <a:p>
            <a:pPr hangingPunct="0"/>
            <a:endParaRPr lang="en-US" sz="2177">
              <a:latin typeface="Liberation Sans" pitchFamily="18"/>
              <a:ea typeface="Microsoft YaHei" pitchFamily="2"/>
              <a:cs typeface="Lucida Sans" pitchFamily="2"/>
            </a:endParaRP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0060ED15-4369-4008-9263-F2583757C2C8}"/>
              </a:ext>
            </a:extLst>
          </p:cNvPr>
          <p:cNvSpPr txBox="1"/>
          <p:nvPr/>
        </p:nvSpPr>
        <p:spPr>
          <a:xfrm>
            <a:off x="7422591" y="1282817"/>
            <a:ext cx="4746440" cy="752008"/>
          </a:xfrm>
          <a:prstGeom prst="rect">
            <a:avLst/>
          </a:prstGeom>
          <a:noFill/>
          <a:ln>
            <a:noFill/>
          </a:ln>
        </p:spPr>
        <p:txBody>
          <a:bodyPr vert="horz" wrap="square" lIns="108847" tIns="54423" rIns="108847" bIns="54423" anchorCtr="0" compatLnSpc="0">
            <a:spAutoFit/>
          </a:bodyPr>
          <a:lstStyle/>
          <a:p>
            <a:pPr hangingPunct="0"/>
            <a:r>
              <a:rPr lang="en-US" sz="2177" dirty="0">
                <a:latin typeface="Liberation Sans" pitchFamily="18"/>
                <a:ea typeface="Microsoft YaHei" pitchFamily="2"/>
                <a:cs typeface="Lucida Sans" pitchFamily="2"/>
              </a:rPr>
              <a:t>East-West traffic </a:t>
            </a:r>
          </a:p>
          <a:p>
            <a:pPr hangingPunct="0"/>
            <a:r>
              <a:rPr lang="en-US" sz="2177" dirty="0">
                <a:latin typeface="Liberation Sans" pitchFamily="18"/>
                <a:ea typeface="Microsoft YaHei" pitchFamily="2"/>
                <a:cs typeface="Lucida Sans" pitchFamily="2"/>
              </a:rPr>
              <a:t> (relatively slow / limited)</a:t>
            </a:r>
          </a:p>
        </p:txBody>
      </p:sp>
      <p:sp>
        <p:nvSpPr>
          <p:cNvPr id="8" name="Forme libre : forme 7">
            <a:extLst>
              <a:ext uri="{FF2B5EF4-FFF2-40B4-BE49-F238E27FC236}">
                <a16:creationId xmlns:a16="http://schemas.microsoft.com/office/drawing/2014/main" id="{A029C8E3-138E-4496-9A81-801D97C8C1D8}"/>
              </a:ext>
            </a:extLst>
          </p:cNvPr>
          <p:cNvSpPr/>
          <p:nvPr/>
        </p:nvSpPr>
        <p:spPr>
          <a:xfrm rot="16237200" flipH="1">
            <a:off x="3360671" y="3047001"/>
            <a:ext cx="552941" cy="550763"/>
          </a:xfrm>
          <a:custGeom>
            <a:avLst>
              <a:gd name="f0" fmla="val 16200000"/>
              <a:gd name="f1" fmla="val 5400000"/>
              <a:gd name="f2" fmla="val 5500"/>
            </a:avLst>
            <a:gdLst>
              <a:gd name="f3" fmla="val 21600000"/>
              <a:gd name="f4" fmla="val 10800000"/>
              <a:gd name="f5" fmla="val 5400000"/>
              <a:gd name="f6" fmla="val 180"/>
              <a:gd name="f7" fmla="val w"/>
              <a:gd name="f8" fmla="val h"/>
              <a:gd name="f9" fmla="val 0"/>
              <a:gd name="f10" fmla="*/ 5419351 1 1725033"/>
              <a:gd name="f11" fmla="sqrt 2"/>
              <a:gd name="f12" fmla="*/ 10800 10800 1"/>
              <a:gd name="f13" fmla="val 10800"/>
              <a:gd name="f14" fmla="val 21599999"/>
              <a:gd name="f15" fmla="min 0 21600"/>
              <a:gd name="f16" fmla="max 0 21600"/>
              <a:gd name="f17" fmla="*/ f10 1 2"/>
              <a:gd name="f18" fmla="*/ f7 1 21600"/>
              <a:gd name="f19" fmla="*/ f8 1 21600"/>
              <a:gd name="f20" fmla="*/ f10 1 180"/>
              <a:gd name="f21" fmla="*/ f11 1 2"/>
              <a:gd name="f22" fmla="pin 0 f0 21599999"/>
              <a:gd name="f23" fmla="pin 0 f2 10800"/>
              <a:gd name="f24" fmla="pin 0 f1 21599999"/>
              <a:gd name="f25" fmla="+- f16 0 f15"/>
              <a:gd name="f26" fmla="+- 10800 f23 0"/>
              <a:gd name="f27" fmla="+- f23 0 2700"/>
              <a:gd name="f28" fmla="+- 0 0 f22"/>
              <a:gd name="f29" fmla="+- 0 0 f24"/>
              <a:gd name="f30" fmla="*/ f23 f23 1"/>
              <a:gd name="f31" fmla="*/ 0 f18 1"/>
              <a:gd name="f32" fmla="*/ 21600 f18 1"/>
              <a:gd name="f33" fmla="*/ 21600 f19 1"/>
              <a:gd name="f34" fmla="*/ 0 f19 1"/>
              <a:gd name="f35" fmla="*/ f25 1 2"/>
              <a:gd name="f36" fmla="+- 21600 0 f26"/>
              <a:gd name="f37" fmla="+- f28 f5 0"/>
              <a:gd name="f38" fmla="+- f29 f5 0"/>
              <a:gd name="f39" fmla="+- f15 f35 0"/>
              <a:gd name="f40" fmla="*/ f35 f35 1"/>
              <a:gd name="f41" fmla="*/ f37 f6 1"/>
              <a:gd name="f42" fmla="*/ f38 f6 1"/>
              <a:gd name="f43" fmla="min f26 f36"/>
              <a:gd name="f44" fmla="max f26 f36"/>
              <a:gd name="f45" fmla="*/ f41 1 f4"/>
              <a:gd name="f46" fmla="*/ f42 1 f4"/>
              <a:gd name="f47" fmla="+- f44 0 f43"/>
              <a:gd name="f48" fmla="+- 0 0 f45"/>
              <a:gd name="f49" fmla="+- 0 0 f46"/>
              <a:gd name="f50" fmla="*/ f47 1 2"/>
              <a:gd name="f51" fmla="val f48"/>
              <a:gd name="f52" fmla="val f49"/>
              <a:gd name="f53" fmla="+- f43 f50 0"/>
              <a:gd name="f54" fmla="*/ f50 f50 1"/>
              <a:gd name="f55" fmla="*/ f51 f20 1"/>
              <a:gd name="f56" fmla="*/ f52 f20 1"/>
              <a:gd name="f57" fmla="+- f52 45 0"/>
              <a:gd name="f58" fmla="*/ f51 f10 1"/>
              <a:gd name="f59" fmla="*/ f52 f10 1"/>
              <a:gd name="f60" fmla="+- 0 0 f55"/>
              <a:gd name="f61" fmla="+- 0 0 f56"/>
              <a:gd name="f62" fmla="*/ f57 f10 1"/>
              <a:gd name="f63" fmla="*/ f58 1 f6"/>
              <a:gd name="f64" fmla="*/ f59 1 f6"/>
              <a:gd name="f65" fmla="*/ f60 f4 1"/>
              <a:gd name="f66" fmla="*/ f61 f4 1"/>
              <a:gd name="f67" fmla="*/ f62 1 180"/>
              <a:gd name="f68" fmla="+- 0 0 f63"/>
              <a:gd name="f69" fmla="+- 0 0 f64"/>
              <a:gd name="f70" fmla="*/ f65 1 f10"/>
              <a:gd name="f71" fmla="*/ f66 1 f10"/>
              <a:gd name="f72" fmla="+- 0 0 f67"/>
              <a:gd name="f73" fmla="+- f68 f10 0"/>
              <a:gd name="f74" fmla="+- f69 f10 0"/>
              <a:gd name="f75" fmla="+- f70 0 f5"/>
              <a:gd name="f76" fmla="+- f71 0 f5"/>
              <a:gd name="f77" fmla="*/ f72 f4 1"/>
              <a:gd name="f78" fmla="+- f73 f17 0"/>
              <a:gd name="f79" fmla="+- f74 f17 0"/>
              <a:gd name="f80" fmla="cos 1 f75"/>
              <a:gd name="f81" fmla="sin 1 f75"/>
              <a:gd name="f82" fmla="cos 1 f76"/>
              <a:gd name="f83" fmla="sin 1 f76"/>
              <a:gd name="f84" fmla="*/ f77 1 f10"/>
              <a:gd name="f85" fmla="+- 0 0 f78"/>
              <a:gd name="f86" fmla="+- 0 0 f79"/>
              <a:gd name="f87" fmla="+- 0 0 f80"/>
              <a:gd name="f88" fmla="+- 0 0 f81"/>
              <a:gd name="f89" fmla="+- 0 0 f82"/>
              <a:gd name="f90" fmla="+- 0 0 f83"/>
              <a:gd name="f91" fmla="+- f84 0 f5"/>
              <a:gd name="f92" fmla="*/ f85 f4 1"/>
              <a:gd name="f93" fmla="*/ f86 f4 1"/>
              <a:gd name="f94" fmla="*/ 10800 f87 1"/>
              <a:gd name="f95" fmla="*/ 10800 f88 1"/>
              <a:gd name="f96" fmla="*/ 10800 f89 1"/>
              <a:gd name="f97" fmla="*/ 10800 f90 1"/>
              <a:gd name="f98" fmla="*/ f26 f87 1"/>
              <a:gd name="f99" fmla="*/ f26 f88 1"/>
              <a:gd name="f100" fmla="*/ f26 f89 1"/>
              <a:gd name="f101" fmla="*/ f26 f90 1"/>
              <a:gd name="f102" fmla="*/ 13500 f89 1"/>
              <a:gd name="f103" fmla="*/ 13500 f90 1"/>
              <a:gd name="f104" fmla="*/ f27 f89 1"/>
              <a:gd name="f105" fmla="*/ f27 f90 1"/>
              <a:gd name="f106" fmla="cos 1 f91"/>
              <a:gd name="f107" fmla="sin 1 f91"/>
              <a:gd name="f108" fmla="*/ f92 1 f10"/>
              <a:gd name="f109" fmla="*/ f93 1 f10"/>
              <a:gd name="f110" fmla="+- f94 10800 0"/>
              <a:gd name="f111" fmla="+- f95 10800 0"/>
              <a:gd name="f112" fmla="+- f96 10800 0"/>
              <a:gd name="f113" fmla="+- f97 10800 0"/>
              <a:gd name="f114" fmla="+- f98 10800 0"/>
              <a:gd name="f115" fmla="+- f99 10800 0"/>
              <a:gd name="f116" fmla="+- f100 10800 0"/>
              <a:gd name="f117" fmla="+- f101 10800 0"/>
              <a:gd name="f118" fmla="+- f102 10800 0"/>
              <a:gd name="f119" fmla="+- f103 10800 0"/>
              <a:gd name="f120" fmla="+- f104 10800 0"/>
              <a:gd name="f121" fmla="+- f105 10800 0"/>
              <a:gd name="f122" fmla="+- 0 0 f106"/>
              <a:gd name="f123" fmla="+- 0 0 f107"/>
              <a:gd name="f124" fmla="+- f108 0 f5"/>
              <a:gd name="f125" fmla="+- f109 0 f5"/>
              <a:gd name="f126" fmla="+- f121 0 f119"/>
              <a:gd name="f127" fmla="+- f120 0 f118"/>
              <a:gd name="f128" fmla="cos 1 f124"/>
              <a:gd name="f129" fmla="sin 1 f124"/>
              <a:gd name="f130" fmla="cos 1 f125"/>
              <a:gd name="f131" fmla="sin 1 f125"/>
              <a:gd name="f132" fmla="+- f117 0 f53"/>
              <a:gd name="f133" fmla="+- f116 0 f53"/>
              <a:gd name="f134" fmla="+- f115 0 f53"/>
              <a:gd name="f135" fmla="+- f114 0 f53"/>
              <a:gd name="f136" fmla="+- f111 0 f39"/>
              <a:gd name="f137" fmla="+- f110 0 f39"/>
              <a:gd name="f138" fmla="+- f113 0 f39"/>
              <a:gd name="f139" fmla="+- f112 0 f39"/>
              <a:gd name="f140" fmla="*/ f126 f126 1"/>
              <a:gd name="f141" fmla="*/ f127 f127 1"/>
              <a:gd name="f142" fmla="+- 0 0 f128"/>
              <a:gd name="f143" fmla="+- 0 0 f129"/>
              <a:gd name="f144" fmla="+- 0 0 f130"/>
              <a:gd name="f145" fmla="+- 0 0 f131"/>
              <a:gd name="f146" fmla="at2 f132 f133"/>
              <a:gd name="f147" fmla="at2 f134 f135"/>
              <a:gd name="f148" fmla="at2 f136 f137"/>
              <a:gd name="f149" fmla="at2 f138 f139"/>
              <a:gd name="f150" fmla="+- f140 f141 0"/>
              <a:gd name="f151" fmla="*/ 10800 f142 1"/>
              <a:gd name="f152" fmla="*/ 10800 f143 1"/>
              <a:gd name="f153" fmla="*/ f23 f144 1"/>
              <a:gd name="f154" fmla="*/ f23 f145 1"/>
              <a:gd name="f155" fmla="+- f146 f5 0"/>
              <a:gd name="f156" fmla="+- f147 f5 0"/>
              <a:gd name="f157" fmla="+- f148 f5 0"/>
              <a:gd name="f158" fmla="+- f149 f5 0"/>
              <a:gd name="f159" fmla="sqrt f150"/>
              <a:gd name="f160" fmla="*/ f151 f151 1"/>
              <a:gd name="f161" fmla="*/ f152 f152 1"/>
              <a:gd name="f162" fmla="*/ f153 f153 1"/>
              <a:gd name="f163" fmla="*/ f154 f154 1"/>
              <a:gd name="f164" fmla="*/ f155 f10 1"/>
              <a:gd name="f165" fmla="*/ f156 f10 1"/>
              <a:gd name="f166" fmla="*/ f157 f10 1"/>
              <a:gd name="f167" fmla="*/ f158 f10 1"/>
              <a:gd name="f168" fmla="*/ f21 f159 1"/>
              <a:gd name="f169" fmla="+- f160 f161 0"/>
              <a:gd name="f170" fmla="+- f162 f163 0"/>
              <a:gd name="f171" fmla="*/ f164 1 f4"/>
              <a:gd name="f172" fmla="*/ f165 1 f4"/>
              <a:gd name="f173" fmla="*/ f166 1 f4"/>
              <a:gd name="f174" fmla="*/ f167 1 f4"/>
              <a:gd name="f175" fmla="*/ f168 f122 1"/>
              <a:gd name="f176" fmla="*/ f168 f123 1"/>
              <a:gd name="f177" fmla="sqrt f169"/>
              <a:gd name="f178" fmla="sqrt f170"/>
              <a:gd name="f179" fmla="+- 0 0 f171"/>
              <a:gd name="f180" fmla="+- 0 0 f172"/>
              <a:gd name="f181" fmla="+- 0 0 f173"/>
              <a:gd name="f182" fmla="+- 0 0 f174"/>
              <a:gd name="f183" fmla="+- f120 f175 0"/>
              <a:gd name="f184" fmla="+- f121 f176 0"/>
              <a:gd name="f185" fmla="*/ f12 1 f177"/>
              <a:gd name="f186" fmla="*/ f30 1 f178"/>
              <a:gd name="f187" fmla="+- 0 0 f179"/>
              <a:gd name="f188" fmla="+- 0 0 f180"/>
              <a:gd name="f189" fmla="+- 0 0 f181"/>
              <a:gd name="f190" fmla="+- 0 0 f182"/>
              <a:gd name="f191" fmla="*/ f142 f185 1"/>
              <a:gd name="f192" fmla="*/ f143 f185 1"/>
              <a:gd name="f193" fmla="*/ f144 f186 1"/>
              <a:gd name="f194" fmla="*/ f145 f186 1"/>
              <a:gd name="f195" fmla="*/ f187 f4 1"/>
              <a:gd name="f196" fmla="*/ f188 f4 1"/>
              <a:gd name="f197" fmla="*/ f189 f4 1"/>
              <a:gd name="f198" fmla="*/ f190 f4 1"/>
              <a:gd name="f199" fmla="+- 10800 0 f191"/>
              <a:gd name="f200" fmla="+- 10800 0 f192"/>
              <a:gd name="f201" fmla="+- 10800 0 f193"/>
              <a:gd name="f202" fmla="+- 10800 0 f194"/>
              <a:gd name="f203" fmla="*/ f195 1 f10"/>
              <a:gd name="f204" fmla="*/ f196 1 f10"/>
              <a:gd name="f205" fmla="*/ f197 1 f10"/>
              <a:gd name="f206" fmla="*/ f198 1 f10"/>
              <a:gd name="f207" fmla="*/ f199 f18 1"/>
              <a:gd name="f208" fmla="*/ f200 f19 1"/>
              <a:gd name="f209" fmla="*/ f201 f18 1"/>
              <a:gd name="f210" fmla="*/ f202 f19 1"/>
              <a:gd name="f211" fmla="+- f203 0 f5"/>
              <a:gd name="f212" fmla="+- f204 0 f5"/>
              <a:gd name="f213" fmla="+- f205 0 f5"/>
              <a:gd name="f214" fmla="+- f206 0 f5"/>
              <a:gd name="f215" fmla="cos 1 f211"/>
              <a:gd name="f216" fmla="sin 1 f211"/>
              <a:gd name="f217" fmla="+- f212 0 f211"/>
              <a:gd name="f218" fmla="cos 1 f213"/>
              <a:gd name="f219" fmla="sin 1 f213"/>
              <a:gd name="f220" fmla="+- f214 0 f213"/>
              <a:gd name="f221" fmla="+- 0 0 f215"/>
              <a:gd name="f222" fmla="+- 0 0 f216"/>
              <a:gd name="f223" fmla="+- f217 0 f3"/>
              <a:gd name="f224" fmla="+- 0 0 f218"/>
              <a:gd name="f225" fmla="+- 0 0 f219"/>
              <a:gd name="f226" fmla="+- f220 f3 0"/>
              <a:gd name="f227" fmla="*/ f50 f221 1"/>
              <a:gd name="f228" fmla="*/ f50 f222 1"/>
              <a:gd name="f229" fmla="?: f217 f223 f217"/>
              <a:gd name="f230" fmla="*/ f35 f224 1"/>
              <a:gd name="f231" fmla="*/ f35 f225 1"/>
              <a:gd name="f232" fmla="?: f220 f220 f226"/>
              <a:gd name="f233" fmla="*/ f227 f227 1"/>
              <a:gd name="f234" fmla="*/ f228 f228 1"/>
              <a:gd name="f235" fmla="*/ f230 f230 1"/>
              <a:gd name="f236" fmla="*/ f231 f231 1"/>
              <a:gd name="f237" fmla="+- f233 f234 0"/>
              <a:gd name="f238" fmla="+- f235 f236 0"/>
              <a:gd name="f239" fmla="sqrt f237"/>
              <a:gd name="f240" fmla="sqrt f238"/>
              <a:gd name="f241" fmla="*/ f54 1 f239"/>
              <a:gd name="f242" fmla="*/ f40 1 f240"/>
              <a:gd name="f243" fmla="*/ f221 f241 1"/>
              <a:gd name="f244" fmla="*/ f222 f241 1"/>
              <a:gd name="f245" fmla="*/ f224 f242 1"/>
              <a:gd name="f246" fmla="*/ f225 f242 1"/>
              <a:gd name="f247" fmla="+- f53 0 f243"/>
              <a:gd name="f248" fmla="+- f53 0 f244"/>
              <a:gd name="f249" fmla="+- f39 0 f245"/>
              <a:gd name="f250" fmla="+- f39 0 f246"/>
            </a:gdLst>
            <a:ahLst>
              <a:ahPolar gdRefAng="f0" minAng="f9" maxAng="f14">
                <a:pos x="f207" y="f208"/>
              </a:ahPolar>
              <a:ahPolar gdRefR="f2" minR="f9" maxR="f13" gdRefAng="f1" minAng="f9" maxAng="f14">
                <a:pos x="f209" y="f210"/>
              </a:ahPolar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31" t="f34" r="f32" b="f33"/>
            <a:pathLst>
              <a:path w="21600" h="21600">
                <a:moveTo>
                  <a:pt x="f247" y="f248"/>
                </a:moveTo>
                <a:arcTo wR="f50" hR="f50" stAng="f211" swAng="f229"/>
                <a:lnTo>
                  <a:pt x="f249" y="f250"/>
                </a:lnTo>
                <a:arcTo wR="f35" hR="f35" stAng="f213" swAng="f232"/>
                <a:lnTo>
                  <a:pt x="f119" y="f118"/>
                </a:lnTo>
                <a:lnTo>
                  <a:pt x="f184" y="f183"/>
                </a:lnTo>
                <a:lnTo>
                  <a:pt x="f121" y="f120"/>
                </a:lnTo>
                <a:close/>
              </a:path>
            </a:pathLst>
          </a:custGeom>
          <a:solidFill>
            <a:srgbClr val="729FCF"/>
          </a:solidFill>
          <a:ln w="0">
            <a:solidFill>
              <a:srgbClr val="3465A4"/>
            </a:solidFill>
            <a:prstDash val="solid"/>
          </a:ln>
        </p:spPr>
        <p:txBody>
          <a:bodyPr vert="horz" wrap="square" lIns="108847" tIns="54423" rIns="108847" bIns="54423" anchor="ctr" anchorCtr="0" compatLnSpc="0">
            <a:noAutofit/>
          </a:bodyPr>
          <a:lstStyle/>
          <a:p>
            <a:pPr hangingPunct="0"/>
            <a:endParaRPr lang="en-US" sz="2177">
              <a:latin typeface="Liberation Sans" pitchFamily="18"/>
              <a:ea typeface="Microsoft YaHei" pitchFamily="2"/>
              <a:cs typeface="Lucida Sans" pitchFamily="2"/>
            </a:endParaRP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14064183-3631-4940-9AD2-79F86EB2D122}"/>
              </a:ext>
            </a:extLst>
          </p:cNvPr>
          <p:cNvSpPr txBox="1"/>
          <p:nvPr/>
        </p:nvSpPr>
        <p:spPr>
          <a:xfrm>
            <a:off x="1095028" y="3112218"/>
            <a:ext cx="2326015" cy="1073058"/>
          </a:xfrm>
          <a:prstGeom prst="rect">
            <a:avLst/>
          </a:prstGeom>
          <a:noFill/>
          <a:ln>
            <a:noFill/>
          </a:ln>
        </p:spPr>
        <p:txBody>
          <a:bodyPr vert="horz" wrap="square" lIns="108847" tIns="54423" rIns="108847" bIns="54423" anchorCtr="0" compatLnSpc="0">
            <a:spAutoFit/>
          </a:bodyPr>
          <a:lstStyle/>
          <a:p>
            <a:pPr hangingPunct="0"/>
            <a:r>
              <a:rPr lang="en-US" sz="2177" dirty="0">
                <a:latin typeface="Liberation Sans" pitchFamily="18"/>
                <a:ea typeface="Microsoft YaHei" pitchFamily="2"/>
                <a:cs typeface="Lucida Sans" pitchFamily="2"/>
              </a:rPr>
              <a:t>Allow replicate 1</a:t>
            </a:r>
          </a:p>
          <a:p>
            <a:pPr hangingPunct="0"/>
            <a:r>
              <a:rPr lang="en-US" sz="2177" dirty="0">
                <a:latin typeface="Liberation Sans" pitchFamily="18"/>
                <a:ea typeface="Microsoft YaHei" pitchFamily="2"/>
                <a:cs typeface="Lucida Sans" pitchFamily="2"/>
              </a:rPr>
              <a:t>in same Rack</a:t>
            </a:r>
          </a:p>
          <a:p>
            <a:pPr hangingPunct="0"/>
            <a:r>
              <a:rPr lang="en-US" sz="2177" dirty="0">
                <a:latin typeface="Liberation Sans" pitchFamily="18"/>
                <a:ea typeface="Microsoft YaHei" pitchFamily="2"/>
                <a:cs typeface="Lucida Sans" pitchFamily="2"/>
              </a:rPr>
              <a:t>(fast)</a:t>
            </a:r>
          </a:p>
        </p:txBody>
      </p:sp>
      <p:sp>
        <p:nvSpPr>
          <p:cNvPr id="10" name="Forme libre : forme 9">
            <a:extLst>
              <a:ext uri="{FF2B5EF4-FFF2-40B4-BE49-F238E27FC236}">
                <a16:creationId xmlns:a16="http://schemas.microsoft.com/office/drawing/2014/main" id="{661B80BF-606A-490E-98CA-0107BF9D712B}"/>
              </a:ext>
            </a:extLst>
          </p:cNvPr>
          <p:cNvSpPr/>
          <p:nvPr/>
        </p:nvSpPr>
        <p:spPr>
          <a:xfrm rot="10852200" flipH="1">
            <a:off x="4525898" y="5477783"/>
            <a:ext cx="552941" cy="548587"/>
          </a:xfrm>
          <a:custGeom>
            <a:avLst>
              <a:gd name="f0" fmla="val 16200000"/>
              <a:gd name="f1" fmla="val 5400000"/>
              <a:gd name="f2" fmla="val 5500"/>
            </a:avLst>
            <a:gdLst>
              <a:gd name="f3" fmla="val 21600000"/>
              <a:gd name="f4" fmla="val 10800000"/>
              <a:gd name="f5" fmla="val 5400000"/>
              <a:gd name="f6" fmla="val 180"/>
              <a:gd name="f7" fmla="val w"/>
              <a:gd name="f8" fmla="val h"/>
              <a:gd name="f9" fmla="val 0"/>
              <a:gd name="f10" fmla="*/ 5419351 1 1725033"/>
              <a:gd name="f11" fmla="sqrt 2"/>
              <a:gd name="f12" fmla="*/ 10800 10800 1"/>
              <a:gd name="f13" fmla="val 10800"/>
              <a:gd name="f14" fmla="val 21599999"/>
              <a:gd name="f15" fmla="min 0 21600"/>
              <a:gd name="f16" fmla="max 0 21600"/>
              <a:gd name="f17" fmla="*/ f10 1 2"/>
              <a:gd name="f18" fmla="*/ f7 1 21600"/>
              <a:gd name="f19" fmla="*/ f8 1 21600"/>
              <a:gd name="f20" fmla="*/ f10 1 180"/>
              <a:gd name="f21" fmla="*/ f11 1 2"/>
              <a:gd name="f22" fmla="pin 0 f0 21599999"/>
              <a:gd name="f23" fmla="pin 0 f2 10800"/>
              <a:gd name="f24" fmla="pin 0 f1 21599999"/>
              <a:gd name="f25" fmla="+- f16 0 f15"/>
              <a:gd name="f26" fmla="+- 10800 f23 0"/>
              <a:gd name="f27" fmla="+- f23 0 2700"/>
              <a:gd name="f28" fmla="+- 0 0 f22"/>
              <a:gd name="f29" fmla="+- 0 0 f24"/>
              <a:gd name="f30" fmla="*/ f23 f23 1"/>
              <a:gd name="f31" fmla="*/ 0 f18 1"/>
              <a:gd name="f32" fmla="*/ 21600 f18 1"/>
              <a:gd name="f33" fmla="*/ 21600 f19 1"/>
              <a:gd name="f34" fmla="*/ 0 f19 1"/>
              <a:gd name="f35" fmla="*/ f25 1 2"/>
              <a:gd name="f36" fmla="+- 21600 0 f26"/>
              <a:gd name="f37" fmla="+- f28 f5 0"/>
              <a:gd name="f38" fmla="+- f29 f5 0"/>
              <a:gd name="f39" fmla="+- f15 f35 0"/>
              <a:gd name="f40" fmla="*/ f35 f35 1"/>
              <a:gd name="f41" fmla="*/ f37 f6 1"/>
              <a:gd name="f42" fmla="*/ f38 f6 1"/>
              <a:gd name="f43" fmla="min f26 f36"/>
              <a:gd name="f44" fmla="max f26 f36"/>
              <a:gd name="f45" fmla="*/ f41 1 f4"/>
              <a:gd name="f46" fmla="*/ f42 1 f4"/>
              <a:gd name="f47" fmla="+- f44 0 f43"/>
              <a:gd name="f48" fmla="+- 0 0 f45"/>
              <a:gd name="f49" fmla="+- 0 0 f46"/>
              <a:gd name="f50" fmla="*/ f47 1 2"/>
              <a:gd name="f51" fmla="val f48"/>
              <a:gd name="f52" fmla="val f49"/>
              <a:gd name="f53" fmla="+- f43 f50 0"/>
              <a:gd name="f54" fmla="*/ f50 f50 1"/>
              <a:gd name="f55" fmla="*/ f51 f20 1"/>
              <a:gd name="f56" fmla="*/ f52 f20 1"/>
              <a:gd name="f57" fmla="+- f52 45 0"/>
              <a:gd name="f58" fmla="*/ f51 f10 1"/>
              <a:gd name="f59" fmla="*/ f52 f10 1"/>
              <a:gd name="f60" fmla="+- 0 0 f55"/>
              <a:gd name="f61" fmla="+- 0 0 f56"/>
              <a:gd name="f62" fmla="*/ f57 f10 1"/>
              <a:gd name="f63" fmla="*/ f58 1 f6"/>
              <a:gd name="f64" fmla="*/ f59 1 f6"/>
              <a:gd name="f65" fmla="*/ f60 f4 1"/>
              <a:gd name="f66" fmla="*/ f61 f4 1"/>
              <a:gd name="f67" fmla="*/ f62 1 180"/>
              <a:gd name="f68" fmla="+- 0 0 f63"/>
              <a:gd name="f69" fmla="+- 0 0 f64"/>
              <a:gd name="f70" fmla="*/ f65 1 f10"/>
              <a:gd name="f71" fmla="*/ f66 1 f10"/>
              <a:gd name="f72" fmla="+- 0 0 f67"/>
              <a:gd name="f73" fmla="+- f68 f10 0"/>
              <a:gd name="f74" fmla="+- f69 f10 0"/>
              <a:gd name="f75" fmla="+- f70 0 f5"/>
              <a:gd name="f76" fmla="+- f71 0 f5"/>
              <a:gd name="f77" fmla="*/ f72 f4 1"/>
              <a:gd name="f78" fmla="+- f73 f17 0"/>
              <a:gd name="f79" fmla="+- f74 f17 0"/>
              <a:gd name="f80" fmla="cos 1 f75"/>
              <a:gd name="f81" fmla="sin 1 f75"/>
              <a:gd name="f82" fmla="cos 1 f76"/>
              <a:gd name="f83" fmla="sin 1 f76"/>
              <a:gd name="f84" fmla="*/ f77 1 f10"/>
              <a:gd name="f85" fmla="+- 0 0 f78"/>
              <a:gd name="f86" fmla="+- 0 0 f79"/>
              <a:gd name="f87" fmla="+- 0 0 f80"/>
              <a:gd name="f88" fmla="+- 0 0 f81"/>
              <a:gd name="f89" fmla="+- 0 0 f82"/>
              <a:gd name="f90" fmla="+- 0 0 f83"/>
              <a:gd name="f91" fmla="+- f84 0 f5"/>
              <a:gd name="f92" fmla="*/ f85 f4 1"/>
              <a:gd name="f93" fmla="*/ f86 f4 1"/>
              <a:gd name="f94" fmla="*/ 10800 f87 1"/>
              <a:gd name="f95" fmla="*/ 10800 f88 1"/>
              <a:gd name="f96" fmla="*/ 10800 f89 1"/>
              <a:gd name="f97" fmla="*/ 10800 f90 1"/>
              <a:gd name="f98" fmla="*/ f26 f87 1"/>
              <a:gd name="f99" fmla="*/ f26 f88 1"/>
              <a:gd name="f100" fmla="*/ f26 f89 1"/>
              <a:gd name="f101" fmla="*/ f26 f90 1"/>
              <a:gd name="f102" fmla="*/ 13500 f89 1"/>
              <a:gd name="f103" fmla="*/ 13500 f90 1"/>
              <a:gd name="f104" fmla="*/ f27 f89 1"/>
              <a:gd name="f105" fmla="*/ f27 f90 1"/>
              <a:gd name="f106" fmla="cos 1 f91"/>
              <a:gd name="f107" fmla="sin 1 f91"/>
              <a:gd name="f108" fmla="*/ f92 1 f10"/>
              <a:gd name="f109" fmla="*/ f93 1 f10"/>
              <a:gd name="f110" fmla="+- f94 10800 0"/>
              <a:gd name="f111" fmla="+- f95 10800 0"/>
              <a:gd name="f112" fmla="+- f96 10800 0"/>
              <a:gd name="f113" fmla="+- f97 10800 0"/>
              <a:gd name="f114" fmla="+- f98 10800 0"/>
              <a:gd name="f115" fmla="+- f99 10800 0"/>
              <a:gd name="f116" fmla="+- f100 10800 0"/>
              <a:gd name="f117" fmla="+- f101 10800 0"/>
              <a:gd name="f118" fmla="+- f102 10800 0"/>
              <a:gd name="f119" fmla="+- f103 10800 0"/>
              <a:gd name="f120" fmla="+- f104 10800 0"/>
              <a:gd name="f121" fmla="+- f105 10800 0"/>
              <a:gd name="f122" fmla="+- 0 0 f106"/>
              <a:gd name="f123" fmla="+- 0 0 f107"/>
              <a:gd name="f124" fmla="+- f108 0 f5"/>
              <a:gd name="f125" fmla="+- f109 0 f5"/>
              <a:gd name="f126" fmla="+- f121 0 f119"/>
              <a:gd name="f127" fmla="+- f120 0 f118"/>
              <a:gd name="f128" fmla="cos 1 f124"/>
              <a:gd name="f129" fmla="sin 1 f124"/>
              <a:gd name="f130" fmla="cos 1 f125"/>
              <a:gd name="f131" fmla="sin 1 f125"/>
              <a:gd name="f132" fmla="+- f117 0 f53"/>
              <a:gd name="f133" fmla="+- f116 0 f53"/>
              <a:gd name="f134" fmla="+- f115 0 f53"/>
              <a:gd name="f135" fmla="+- f114 0 f53"/>
              <a:gd name="f136" fmla="+- f111 0 f39"/>
              <a:gd name="f137" fmla="+- f110 0 f39"/>
              <a:gd name="f138" fmla="+- f113 0 f39"/>
              <a:gd name="f139" fmla="+- f112 0 f39"/>
              <a:gd name="f140" fmla="*/ f126 f126 1"/>
              <a:gd name="f141" fmla="*/ f127 f127 1"/>
              <a:gd name="f142" fmla="+- 0 0 f128"/>
              <a:gd name="f143" fmla="+- 0 0 f129"/>
              <a:gd name="f144" fmla="+- 0 0 f130"/>
              <a:gd name="f145" fmla="+- 0 0 f131"/>
              <a:gd name="f146" fmla="at2 f132 f133"/>
              <a:gd name="f147" fmla="at2 f134 f135"/>
              <a:gd name="f148" fmla="at2 f136 f137"/>
              <a:gd name="f149" fmla="at2 f138 f139"/>
              <a:gd name="f150" fmla="+- f140 f141 0"/>
              <a:gd name="f151" fmla="*/ 10800 f142 1"/>
              <a:gd name="f152" fmla="*/ 10800 f143 1"/>
              <a:gd name="f153" fmla="*/ f23 f144 1"/>
              <a:gd name="f154" fmla="*/ f23 f145 1"/>
              <a:gd name="f155" fmla="+- f146 f5 0"/>
              <a:gd name="f156" fmla="+- f147 f5 0"/>
              <a:gd name="f157" fmla="+- f148 f5 0"/>
              <a:gd name="f158" fmla="+- f149 f5 0"/>
              <a:gd name="f159" fmla="sqrt f150"/>
              <a:gd name="f160" fmla="*/ f151 f151 1"/>
              <a:gd name="f161" fmla="*/ f152 f152 1"/>
              <a:gd name="f162" fmla="*/ f153 f153 1"/>
              <a:gd name="f163" fmla="*/ f154 f154 1"/>
              <a:gd name="f164" fmla="*/ f155 f10 1"/>
              <a:gd name="f165" fmla="*/ f156 f10 1"/>
              <a:gd name="f166" fmla="*/ f157 f10 1"/>
              <a:gd name="f167" fmla="*/ f158 f10 1"/>
              <a:gd name="f168" fmla="*/ f21 f159 1"/>
              <a:gd name="f169" fmla="+- f160 f161 0"/>
              <a:gd name="f170" fmla="+- f162 f163 0"/>
              <a:gd name="f171" fmla="*/ f164 1 f4"/>
              <a:gd name="f172" fmla="*/ f165 1 f4"/>
              <a:gd name="f173" fmla="*/ f166 1 f4"/>
              <a:gd name="f174" fmla="*/ f167 1 f4"/>
              <a:gd name="f175" fmla="*/ f168 f122 1"/>
              <a:gd name="f176" fmla="*/ f168 f123 1"/>
              <a:gd name="f177" fmla="sqrt f169"/>
              <a:gd name="f178" fmla="sqrt f170"/>
              <a:gd name="f179" fmla="+- 0 0 f171"/>
              <a:gd name="f180" fmla="+- 0 0 f172"/>
              <a:gd name="f181" fmla="+- 0 0 f173"/>
              <a:gd name="f182" fmla="+- 0 0 f174"/>
              <a:gd name="f183" fmla="+- f120 f175 0"/>
              <a:gd name="f184" fmla="+- f121 f176 0"/>
              <a:gd name="f185" fmla="*/ f12 1 f177"/>
              <a:gd name="f186" fmla="*/ f30 1 f178"/>
              <a:gd name="f187" fmla="+- 0 0 f179"/>
              <a:gd name="f188" fmla="+- 0 0 f180"/>
              <a:gd name="f189" fmla="+- 0 0 f181"/>
              <a:gd name="f190" fmla="+- 0 0 f182"/>
              <a:gd name="f191" fmla="*/ f142 f185 1"/>
              <a:gd name="f192" fmla="*/ f143 f185 1"/>
              <a:gd name="f193" fmla="*/ f144 f186 1"/>
              <a:gd name="f194" fmla="*/ f145 f186 1"/>
              <a:gd name="f195" fmla="*/ f187 f4 1"/>
              <a:gd name="f196" fmla="*/ f188 f4 1"/>
              <a:gd name="f197" fmla="*/ f189 f4 1"/>
              <a:gd name="f198" fmla="*/ f190 f4 1"/>
              <a:gd name="f199" fmla="+- 10800 0 f191"/>
              <a:gd name="f200" fmla="+- 10800 0 f192"/>
              <a:gd name="f201" fmla="+- 10800 0 f193"/>
              <a:gd name="f202" fmla="+- 10800 0 f194"/>
              <a:gd name="f203" fmla="*/ f195 1 f10"/>
              <a:gd name="f204" fmla="*/ f196 1 f10"/>
              <a:gd name="f205" fmla="*/ f197 1 f10"/>
              <a:gd name="f206" fmla="*/ f198 1 f10"/>
              <a:gd name="f207" fmla="*/ f199 f18 1"/>
              <a:gd name="f208" fmla="*/ f200 f19 1"/>
              <a:gd name="f209" fmla="*/ f201 f18 1"/>
              <a:gd name="f210" fmla="*/ f202 f19 1"/>
              <a:gd name="f211" fmla="+- f203 0 f5"/>
              <a:gd name="f212" fmla="+- f204 0 f5"/>
              <a:gd name="f213" fmla="+- f205 0 f5"/>
              <a:gd name="f214" fmla="+- f206 0 f5"/>
              <a:gd name="f215" fmla="cos 1 f211"/>
              <a:gd name="f216" fmla="sin 1 f211"/>
              <a:gd name="f217" fmla="+- f212 0 f211"/>
              <a:gd name="f218" fmla="cos 1 f213"/>
              <a:gd name="f219" fmla="sin 1 f213"/>
              <a:gd name="f220" fmla="+- f214 0 f213"/>
              <a:gd name="f221" fmla="+- 0 0 f215"/>
              <a:gd name="f222" fmla="+- 0 0 f216"/>
              <a:gd name="f223" fmla="+- f217 0 f3"/>
              <a:gd name="f224" fmla="+- 0 0 f218"/>
              <a:gd name="f225" fmla="+- 0 0 f219"/>
              <a:gd name="f226" fmla="+- f220 f3 0"/>
              <a:gd name="f227" fmla="*/ f50 f221 1"/>
              <a:gd name="f228" fmla="*/ f50 f222 1"/>
              <a:gd name="f229" fmla="?: f217 f223 f217"/>
              <a:gd name="f230" fmla="*/ f35 f224 1"/>
              <a:gd name="f231" fmla="*/ f35 f225 1"/>
              <a:gd name="f232" fmla="?: f220 f220 f226"/>
              <a:gd name="f233" fmla="*/ f227 f227 1"/>
              <a:gd name="f234" fmla="*/ f228 f228 1"/>
              <a:gd name="f235" fmla="*/ f230 f230 1"/>
              <a:gd name="f236" fmla="*/ f231 f231 1"/>
              <a:gd name="f237" fmla="+- f233 f234 0"/>
              <a:gd name="f238" fmla="+- f235 f236 0"/>
              <a:gd name="f239" fmla="sqrt f237"/>
              <a:gd name="f240" fmla="sqrt f238"/>
              <a:gd name="f241" fmla="*/ f54 1 f239"/>
              <a:gd name="f242" fmla="*/ f40 1 f240"/>
              <a:gd name="f243" fmla="*/ f221 f241 1"/>
              <a:gd name="f244" fmla="*/ f222 f241 1"/>
              <a:gd name="f245" fmla="*/ f224 f242 1"/>
              <a:gd name="f246" fmla="*/ f225 f242 1"/>
              <a:gd name="f247" fmla="+- f53 0 f243"/>
              <a:gd name="f248" fmla="+- f53 0 f244"/>
              <a:gd name="f249" fmla="+- f39 0 f245"/>
              <a:gd name="f250" fmla="+- f39 0 f246"/>
            </a:gdLst>
            <a:ahLst>
              <a:ahPolar gdRefAng="f0" minAng="f9" maxAng="f14">
                <a:pos x="f207" y="f208"/>
              </a:ahPolar>
              <a:ahPolar gdRefR="f2" minR="f9" maxR="f13" gdRefAng="f1" minAng="f9" maxAng="f14">
                <a:pos x="f209" y="f210"/>
              </a:ahPolar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31" t="f34" r="f32" b="f33"/>
            <a:pathLst>
              <a:path w="21600" h="21600">
                <a:moveTo>
                  <a:pt x="f247" y="f248"/>
                </a:moveTo>
                <a:arcTo wR="f50" hR="f50" stAng="f211" swAng="f229"/>
                <a:lnTo>
                  <a:pt x="f249" y="f250"/>
                </a:lnTo>
                <a:arcTo wR="f35" hR="f35" stAng="f213" swAng="f232"/>
                <a:lnTo>
                  <a:pt x="f119" y="f118"/>
                </a:lnTo>
                <a:lnTo>
                  <a:pt x="f184" y="f183"/>
                </a:lnTo>
                <a:lnTo>
                  <a:pt x="f121" y="f120"/>
                </a:lnTo>
                <a:close/>
              </a:path>
            </a:pathLst>
          </a:custGeom>
          <a:solidFill>
            <a:srgbClr val="729FCF"/>
          </a:solidFill>
          <a:ln w="0">
            <a:solidFill>
              <a:srgbClr val="3465A4"/>
            </a:solidFill>
            <a:prstDash val="solid"/>
          </a:ln>
        </p:spPr>
        <p:txBody>
          <a:bodyPr vert="horz" wrap="square" lIns="108847" tIns="54423" rIns="108847" bIns="54423" anchor="ctr" anchorCtr="0" compatLnSpc="0">
            <a:noAutofit/>
          </a:bodyPr>
          <a:lstStyle/>
          <a:p>
            <a:pPr hangingPunct="0"/>
            <a:endParaRPr lang="en-US" sz="2177">
              <a:latin typeface="Liberation Sans" pitchFamily="18"/>
              <a:ea typeface="Microsoft YaHei" pitchFamily="2"/>
              <a:cs typeface="Lucida Sans" pitchFamily="2"/>
            </a:endParaRP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6EED5467-41A9-436D-9629-B224C6C0B944}"/>
              </a:ext>
            </a:extLst>
          </p:cNvPr>
          <p:cNvSpPr txBox="1"/>
          <p:nvPr/>
        </p:nvSpPr>
        <p:spPr>
          <a:xfrm>
            <a:off x="3349641" y="6028680"/>
            <a:ext cx="3681509" cy="752008"/>
          </a:xfrm>
          <a:prstGeom prst="rect">
            <a:avLst/>
          </a:prstGeom>
          <a:noFill/>
          <a:ln>
            <a:noFill/>
          </a:ln>
        </p:spPr>
        <p:txBody>
          <a:bodyPr vert="horz" wrap="square" lIns="108847" tIns="54423" rIns="108847" bIns="54423" anchorCtr="0" compatLnSpc="0">
            <a:spAutoFit/>
          </a:bodyPr>
          <a:lstStyle/>
          <a:p>
            <a:pPr hangingPunct="0"/>
            <a:r>
              <a:rPr lang="en-US" sz="2177" dirty="0">
                <a:latin typeface="Liberation Sans" pitchFamily="18"/>
                <a:ea typeface="Microsoft YaHei" pitchFamily="2"/>
                <a:cs typeface="Lucida Sans" pitchFamily="2"/>
              </a:rPr>
              <a:t>Then must replicate &gt;= 1</a:t>
            </a:r>
          </a:p>
          <a:p>
            <a:pPr hangingPunct="0"/>
            <a:r>
              <a:rPr lang="en-US" sz="2177" dirty="0">
                <a:latin typeface="Liberation Sans" pitchFamily="18"/>
                <a:ea typeface="Microsoft YaHei" pitchFamily="2"/>
                <a:cs typeface="Lucida Sans" pitchFamily="2"/>
              </a:rPr>
              <a:t>in other Rack</a:t>
            </a:r>
          </a:p>
        </p:txBody>
      </p:sp>
      <p:sp>
        <p:nvSpPr>
          <p:cNvPr id="12" name="Forme libre : forme 9">
            <a:extLst>
              <a:ext uri="{FF2B5EF4-FFF2-40B4-BE49-F238E27FC236}">
                <a16:creationId xmlns:a16="http://schemas.microsoft.com/office/drawing/2014/main" id="{06144C35-442D-ED81-3192-50CE24ACA266}"/>
              </a:ext>
            </a:extLst>
          </p:cNvPr>
          <p:cNvSpPr/>
          <p:nvPr/>
        </p:nvSpPr>
        <p:spPr>
          <a:xfrm rot="10852200" flipH="1">
            <a:off x="6618586" y="5619752"/>
            <a:ext cx="3148487" cy="548587"/>
          </a:xfrm>
          <a:custGeom>
            <a:avLst>
              <a:gd name="f0" fmla="val 16200000"/>
              <a:gd name="f1" fmla="val 5404930"/>
              <a:gd name="f2" fmla="val 8487"/>
            </a:avLst>
            <a:gdLst>
              <a:gd name="f3" fmla="val 21600000"/>
              <a:gd name="f4" fmla="val 10800000"/>
              <a:gd name="f5" fmla="val 5400000"/>
              <a:gd name="f6" fmla="val 180"/>
              <a:gd name="f7" fmla="val w"/>
              <a:gd name="f8" fmla="val h"/>
              <a:gd name="f9" fmla="val 0"/>
              <a:gd name="f10" fmla="*/ 5419351 1 1725033"/>
              <a:gd name="f11" fmla="sqrt 2"/>
              <a:gd name="f12" fmla="*/ 10800 10800 1"/>
              <a:gd name="f13" fmla="val 10800"/>
              <a:gd name="f14" fmla="val 21599999"/>
              <a:gd name="f15" fmla="min 0 21600"/>
              <a:gd name="f16" fmla="max 0 21600"/>
              <a:gd name="f17" fmla="*/ f10 1 2"/>
              <a:gd name="f18" fmla="*/ f7 1 21600"/>
              <a:gd name="f19" fmla="*/ f8 1 21600"/>
              <a:gd name="f20" fmla="*/ f10 1 180"/>
              <a:gd name="f21" fmla="*/ f11 1 2"/>
              <a:gd name="f22" fmla="pin 0 f0 21599999"/>
              <a:gd name="f23" fmla="pin 0 f2 10800"/>
              <a:gd name="f24" fmla="pin 0 f1 21599999"/>
              <a:gd name="f25" fmla="+- f16 0 f15"/>
              <a:gd name="f26" fmla="+- 10800 f23 0"/>
              <a:gd name="f27" fmla="+- f23 0 2700"/>
              <a:gd name="f28" fmla="+- 0 0 f22"/>
              <a:gd name="f29" fmla="+- 0 0 f24"/>
              <a:gd name="f30" fmla="*/ f23 f23 1"/>
              <a:gd name="f31" fmla="*/ 0 f18 1"/>
              <a:gd name="f32" fmla="*/ 21600 f18 1"/>
              <a:gd name="f33" fmla="*/ 21600 f19 1"/>
              <a:gd name="f34" fmla="*/ 0 f19 1"/>
              <a:gd name="f35" fmla="*/ f25 1 2"/>
              <a:gd name="f36" fmla="+- 21600 0 f26"/>
              <a:gd name="f37" fmla="+- f28 f5 0"/>
              <a:gd name="f38" fmla="+- f29 f5 0"/>
              <a:gd name="f39" fmla="+- f15 f35 0"/>
              <a:gd name="f40" fmla="*/ f35 f35 1"/>
              <a:gd name="f41" fmla="*/ f37 f6 1"/>
              <a:gd name="f42" fmla="*/ f38 f6 1"/>
              <a:gd name="f43" fmla="min f26 f36"/>
              <a:gd name="f44" fmla="max f26 f36"/>
              <a:gd name="f45" fmla="*/ f41 1 f4"/>
              <a:gd name="f46" fmla="*/ f42 1 f4"/>
              <a:gd name="f47" fmla="+- f44 0 f43"/>
              <a:gd name="f48" fmla="+- 0 0 f45"/>
              <a:gd name="f49" fmla="+- 0 0 f46"/>
              <a:gd name="f50" fmla="*/ f47 1 2"/>
              <a:gd name="f51" fmla="val f48"/>
              <a:gd name="f52" fmla="val f49"/>
              <a:gd name="f53" fmla="+- f43 f50 0"/>
              <a:gd name="f54" fmla="*/ f50 f50 1"/>
              <a:gd name="f55" fmla="*/ f51 f20 1"/>
              <a:gd name="f56" fmla="*/ f52 f20 1"/>
              <a:gd name="f57" fmla="+- f52 45 0"/>
              <a:gd name="f58" fmla="*/ f51 f10 1"/>
              <a:gd name="f59" fmla="*/ f52 f10 1"/>
              <a:gd name="f60" fmla="+- 0 0 f55"/>
              <a:gd name="f61" fmla="+- 0 0 f56"/>
              <a:gd name="f62" fmla="*/ f57 f10 1"/>
              <a:gd name="f63" fmla="*/ f58 1 f6"/>
              <a:gd name="f64" fmla="*/ f59 1 f6"/>
              <a:gd name="f65" fmla="*/ f60 f4 1"/>
              <a:gd name="f66" fmla="*/ f61 f4 1"/>
              <a:gd name="f67" fmla="*/ f62 1 180"/>
              <a:gd name="f68" fmla="+- 0 0 f63"/>
              <a:gd name="f69" fmla="+- 0 0 f64"/>
              <a:gd name="f70" fmla="*/ f65 1 f10"/>
              <a:gd name="f71" fmla="*/ f66 1 f10"/>
              <a:gd name="f72" fmla="+- 0 0 f67"/>
              <a:gd name="f73" fmla="+- f68 f10 0"/>
              <a:gd name="f74" fmla="+- f69 f10 0"/>
              <a:gd name="f75" fmla="+- f70 0 f5"/>
              <a:gd name="f76" fmla="+- f71 0 f5"/>
              <a:gd name="f77" fmla="*/ f72 f4 1"/>
              <a:gd name="f78" fmla="+- f73 f17 0"/>
              <a:gd name="f79" fmla="+- f74 f17 0"/>
              <a:gd name="f80" fmla="cos 1 f75"/>
              <a:gd name="f81" fmla="sin 1 f75"/>
              <a:gd name="f82" fmla="cos 1 f76"/>
              <a:gd name="f83" fmla="sin 1 f76"/>
              <a:gd name="f84" fmla="*/ f77 1 f10"/>
              <a:gd name="f85" fmla="+- 0 0 f78"/>
              <a:gd name="f86" fmla="+- 0 0 f79"/>
              <a:gd name="f87" fmla="+- 0 0 f80"/>
              <a:gd name="f88" fmla="+- 0 0 f81"/>
              <a:gd name="f89" fmla="+- 0 0 f82"/>
              <a:gd name="f90" fmla="+- 0 0 f83"/>
              <a:gd name="f91" fmla="+- f84 0 f5"/>
              <a:gd name="f92" fmla="*/ f85 f4 1"/>
              <a:gd name="f93" fmla="*/ f86 f4 1"/>
              <a:gd name="f94" fmla="*/ 10800 f87 1"/>
              <a:gd name="f95" fmla="*/ 10800 f88 1"/>
              <a:gd name="f96" fmla="*/ 10800 f89 1"/>
              <a:gd name="f97" fmla="*/ 10800 f90 1"/>
              <a:gd name="f98" fmla="*/ f26 f87 1"/>
              <a:gd name="f99" fmla="*/ f26 f88 1"/>
              <a:gd name="f100" fmla="*/ f26 f89 1"/>
              <a:gd name="f101" fmla="*/ f26 f90 1"/>
              <a:gd name="f102" fmla="*/ 13500 f89 1"/>
              <a:gd name="f103" fmla="*/ 13500 f90 1"/>
              <a:gd name="f104" fmla="*/ f27 f89 1"/>
              <a:gd name="f105" fmla="*/ f27 f90 1"/>
              <a:gd name="f106" fmla="cos 1 f91"/>
              <a:gd name="f107" fmla="sin 1 f91"/>
              <a:gd name="f108" fmla="*/ f92 1 f10"/>
              <a:gd name="f109" fmla="*/ f93 1 f10"/>
              <a:gd name="f110" fmla="+- f94 10800 0"/>
              <a:gd name="f111" fmla="+- f95 10800 0"/>
              <a:gd name="f112" fmla="+- f96 10800 0"/>
              <a:gd name="f113" fmla="+- f97 10800 0"/>
              <a:gd name="f114" fmla="+- f98 10800 0"/>
              <a:gd name="f115" fmla="+- f99 10800 0"/>
              <a:gd name="f116" fmla="+- f100 10800 0"/>
              <a:gd name="f117" fmla="+- f101 10800 0"/>
              <a:gd name="f118" fmla="+- f102 10800 0"/>
              <a:gd name="f119" fmla="+- f103 10800 0"/>
              <a:gd name="f120" fmla="+- f104 10800 0"/>
              <a:gd name="f121" fmla="+- f105 10800 0"/>
              <a:gd name="f122" fmla="+- 0 0 f106"/>
              <a:gd name="f123" fmla="+- 0 0 f107"/>
              <a:gd name="f124" fmla="+- f108 0 f5"/>
              <a:gd name="f125" fmla="+- f109 0 f5"/>
              <a:gd name="f126" fmla="+- f121 0 f119"/>
              <a:gd name="f127" fmla="+- f120 0 f118"/>
              <a:gd name="f128" fmla="cos 1 f124"/>
              <a:gd name="f129" fmla="sin 1 f124"/>
              <a:gd name="f130" fmla="cos 1 f125"/>
              <a:gd name="f131" fmla="sin 1 f125"/>
              <a:gd name="f132" fmla="+- f117 0 f53"/>
              <a:gd name="f133" fmla="+- f116 0 f53"/>
              <a:gd name="f134" fmla="+- f115 0 f53"/>
              <a:gd name="f135" fmla="+- f114 0 f53"/>
              <a:gd name="f136" fmla="+- f111 0 f39"/>
              <a:gd name="f137" fmla="+- f110 0 f39"/>
              <a:gd name="f138" fmla="+- f113 0 f39"/>
              <a:gd name="f139" fmla="+- f112 0 f39"/>
              <a:gd name="f140" fmla="*/ f126 f126 1"/>
              <a:gd name="f141" fmla="*/ f127 f127 1"/>
              <a:gd name="f142" fmla="+- 0 0 f128"/>
              <a:gd name="f143" fmla="+- 0 0 f129"/>
              <a:gd name="f144" fmla="+- 0 0 f130"/>
              <a:gd name="f145" fmla="+- 0 0 f131"/>
              <a:gd name="f146" fmla="at2 f132 f133"/>
              <a:gd name="f147" fmla="at2 f134 f135"/>
              <a:gd name="f148" fmla="at2 f136 f137"/>
              <a:gd name="f149" fmla="at2 f138 f139"/>
              <a:gd name="f150" fmla="+- f140 f141 0"/>
              <a:gd name="f151" fmla="*/ 10800 f142 1"/>
              <a:gd name="f152" fmla="*/ 10800 f143 1"/>
              <a:gd name="f153" fmla="*/ f23 f144 1"/>
              <a:gd name="f154" fmla="*/ f23 f145 1"/>
              <a:gd name="f155" fmla="+- f146 f5 0"/>
              <a:gd name="f156" fmla="+- f147 f5 0"/>
              <a:gd name="f157" fmla="+- f148 f5 0"/>
              <a:gd name="f158" fmla="+- f149 f5 0"/>
              <a:gd name="f159" fmla="sqrt f150"/>
              <a:gd name="f160" fmla="*/ f151 f151 1"/>
              <a:gd name="f161" fmla="*/ f152 f152 1"/>
              <a:gd name="f162" fmla="*/ f153 f153 1"/>
              <a:gd name="f163" fmla="*/ f154 f154 1"/>
              <a:gd name="f164" fmla="*/ f155 f10 1"/>
              <a:gd name="f165" fmla="*/ f156 f10 1"/>
              <a:gd name="f166" fmla="*/ f157 f10 1"/>
              <a:gd name="f167" fmla="*/ f158 f10 1"/>
              <a:gd name="f168" fmla="*/ f21 f159 1"/>
              <a:gd name="f169" fmla="+- f160 f161 0"/>
              <a:gd name="f170" fmla="+- f162 f163 0"/>
              <a:gd name="f171" fmla="*/ f164 1 f4"/>
              <a:gd name="f172" fmla="*/ f165 1 f4"/>
              <a:gd name="f173" fmla="*/ f166 1 f4"/>
              <a:gd name="f174" fmla="*/ f167 1 f4"/>
              <a:gd name="f175" fmla="*/ f168 f122 1"/>
              <a:gd name="f176" fmla="*/ f168 f123 1"/>
              <a:gd name="f177" fmla="sqrt f169"/>
              <a:gd name="f178" fmla="sqrt f170"/>
              <a:gd name="f179" fmla="+- 0 0 f171"/>
              <a:gd name="f180" fmla="+- 0 0 f172"/>
              <a:gd name="f181" fmla="+- 0 0 f173"/>
              <a:gd name="f182" fmla="+- 0 0 f174"/>
              <a:gd name="f183" fmla="+- f120 f175 0"/>
              <a:gd name="f184" fmla="+- f121 f176 0"/>
              <a:gd name="f185" fmla="*/ f12 1 f177"/>
              <a:gd name="f186" fmla="*/ f30 1 f178"/>
              <a:gd name="f187" fmla="+- 0 0 f179"/>
              <a:gd name="f188" fmla="+- 0 0 f180"/>
              <a:gd name="f189" fmla="+- 0 0 f181"/>
              <a:gd name="f190" fmla="+- 0 0 f182"/>
              <a:gd name="f191" fmla="*/ f142 f185 1"/>
              <a:gd name="f192" fmla="*/ f143 f185 1"/>
              <a:gd name="f193" fmla="*/ f144 f186 1"/>
              <a:gd name="f194" fmla="*/ f145 f186 1"/>
              <a:gd name="f195" fmla="*/ f187 f4 1"/>
              <a:gd name="f196" fmla="*/ f188 f4 1"/>
              <a:gd name="f197" fmla="*/ f189 f4 1"/>
              <a:gd name="f198" fmla="*/ f190 f4 1"/>
              <a:gd name="f199" fmla="+- 10800 0 f191"/>
              <a:gd name="f200" fmla="+- 10800 0 f192"/>
              <a:gd name="f201" fmla="+- 10800 0 f193"/>
              <a:gd name="f202" fmla="+- 10800 0 f194"/>
              <a:gd name="f203" fmla="*/ f195 1 f10"/>
              <a:gd name="f204" fmla="*/ f196 1 f10"/>
              <a:gd name="f205" fmla="*/ f197 1 f10"/>
              <a:gd name="f206" fmla="*/ f198 1 f10"/>
              <a:gd name="f207" fmla="*/ f199 f18 1"/>
              <a:gd name="f208" fmla="*/ f200 f19 1"/>
              <a:gd name="f209" fmla="*/ f201 f18 1"/>
              <a:gd name="f210" fmla="*/ f202 f19 1"/>
              <a:gd name="f211" fmla="+- f203 0 f5"/>
              <a:gd name="f212" fmla="+- f204 0 f5"/>
              <a:gd name="f213" fmla="+- f205 0 f5"/>
              <a:gd name="f214" fmla="+- f206 0 f5"/>
              <a:gd name="f215" fmla="cos 1 f211"/>
              <a:gd name="f216" fmla="sin 1 f211"/>
              <a:gd name="f217" fmla="+- f212 0 f211"/>
              <a:gd name="f218" fmla="cos 1 f213"/>
              <a:gd name="f219" fmla="sin 1 f213"/>
              <a:gd name="f220" fmla="+- f214 0 f213"/>
              <a:gd name="f221" fmla="+- 0 0 f215"/>
              <a:gd name="f222" fmla="+- 0 0 f216"/>
              <a:gd name="f223" fmla="+- f217 0 f3"/>
              <a:gd name="f224" fmla="+- 0 0 f218"/>
              <a:gd name="f225" fmla="+- 0 0 f219"/>
              <a:gd name="f226" fmla="+- f220 f3 0"/>
              <a:gd name="f227" fmla="*/ f50 f221 1"/>
              <a:gd name="f228" fmla="*/ f50 f222 1"/>
              <a:gd name="f229" fmla="?: f217 f223 f217"/>
              <a:gd name="f230" fmla="*/ f35 f224 1"/>
              <a:gd name="f231" fmla="*/ f35 f225 1"/>
              <a:gd name="f232" fmla="?: f220 f220 f226"/>
              <a:gd name="f233" fmla="*/ f227 f227 1"/>
              <a:gd name="f234" fmla="*/ f228 f228 1"/>
              <a:gd name="f235" fmla="*/ f230 f230 1"/>
              <a:gd name="f236" fmla="*/ f231 f231 1"/>
              <a:gd name="f237" fmla="+- f233 f234 0"/>
              <a:gd name="f238" fmla="+- f235 f236 0"/>
              <a:gd name="f239" fmla="sqrt f237"/>
              <a:gd name="f240" fmla="sqrt f238"/>
              <a:gd name="f241" fmla="*/ f54 1 f239"/>
              <a:gd name="f242" fmla="*/ f40 1 f240"/>
              <a:gd name="f243" fmla="*/ f221 f241 1"/>
              <a:gd name="f244" fmla="*/ f222 f241 1"/>
              <a:gd name="f245" fmla="*/ f224 f242 1"/>
              <a:gd name="f246" fmla="*/ f225 f242 1"/>
              <a:gd name="f247" fmla="+- f53 0 f243"/>
              <a:gd name="f248" fmla="+- f53 0 f244"/>
              <a:gd name="f249" fmla="+- f39 0 f245"/>
              <a:gd name="f250" fmla="+- f39 0 f246"/>
            </a:gdLst>
            <a:ahLst>
              <a:ahPolar gdRefAng="f0" minAng="f9" maxAng="f14">
                <a:pos x="f207" y="f208"/>
              </a:ahPolar>
              <a:ahPolar gdRefR="f2" minR="f9" maxR="f13" gdRefAng="f1" minAng="f9" maxAng="f14">
                <a:pos x="f209" y="f210"/>
              </a:ahPolar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31" t="f34" r="f32" b="f33"/>
            <a:pathLst>
              <a:path w="21600" h="21600">
                <a:moveTo>
                  <a:pt x="f247" y="f248"/>
                </a:moveTo>
                <a:arcTo wR="f50" hR="f50" stAng="f211" swAng="f229"/>
                <a:lnTo>
                  <a:pt x="f249" y="f250"/>
                </a:lnTo>
                <a:arcTo wR="f35" hR="f35" stAng="f213" swAng="f232"/>
                <a:lnTo>
                  <a:pt x="f119" y="f118"/>
                </a:lnTo>
                <a:lnTo>
                  <a:pt x="f184" y="f183"/>
                </a:lnTo>
                <a:lnTo>
                  <a:pt x="f121" y="f120"/>
                </a:lnTo>
                <a:close/>
              </a:path>
            </a:pathLst>
          </a:custGeom>
          <a:solidFill>
            <a:srgbClr val="729FCF"/>
          </a:solidFill>
          <a:ln w="0">
            <a:solidFill>
              <a:srgbClr val="3465A4"/>
            </a:solidFill>
            <a:prstDash val="solid"/>
          </a:ln>
        </p:spPr>
        <p:txBody>
          <a:bodyPr vert="horz" wrap="square" lIns="108847" tIns="54423" rIns="108847" bIns="54423" anchor="ctr" anchorCtr="0" compatLnSpc="0">
            <a:noAutofit/>
          </a:bodyPr>
          <a:lstStyle/>
          <a:p>
            <a:pPr hangingPunct="0"/>
            <a:endParaRPr lang="en-US" sz="2177">
              <a:latin typeface="Liberation Sans" pitchFamily="18"/>
              <a:ea typeface="Microsoft YaHei" pitchFamily="2"/>
              <a:cs typeface="Lucida Sans" pitchFamily="2"/>
            </a:endParaRPr>
          </a:p>
        </p:txBody>
      </p:sp>
      <p:sp>
        <p:nvSpPr>
          <p:cNvPr id="13" name="ZoneTexte 10">
            <a:extLst>
              <a:ext uri="{FF2B5EF4-FFF2-40B4-BE49-F238E27FC236}">
                <a16:creationId xmlns:a16="http://schemas.microsoft.com/office/drawing/2014/main" id="{8F60C5AA-96EE-C0B9-7E21-08CF47FDB22E}"/>
              </a:ext>
            </a:extLst>
          </p:cNvPr>
          <p:cNvSpPr txBox="1"/>
          <p:nvPr/>
        </p:nvSpPr>
        <p:spPr>
          <a:xfrm>
            <a:off x="7727058" y="6081739"/>
            <a:ext cx="4324636" cy="752008"/>
          </a:xfrm>
          <a:prstGeom prst="rect">
            <a:avLst/>
          </a:prstGeom>
          <a:noFill/>
          <a:ln>
            <a:noFill/>
          </a:ln>
        </p:spPr>
        <p:txBody>
          <a:bodyPr vert="horz" wrap="square" lIns="108847" tIns="54423" rIns="108847" bIns="54423" anchorCtr="0" compatLnSpc="0">
            <a:spAutoFit/>
          </a:bodyPr>
          <a:lstStyle/>
          <a:p>
            <a:pPr hangingPunct="0"/>
            <a:r>
              <a:rPr lang="en-US" sz="2177" dirty="0">
                <a:latin typeface="Liberation Sans" pitchFamily="18"/>
                <a:ea typeface="Microsoft YaHei" pitchFamily="2"/>
                <a:cs typeface="Lucida Sans" pitchFamily="2"/>
              </a:rPr>
              <a:t>replicate more.. In other HDFS datacenter (</a:t>
            </a:r>
            <a:r>
              <a:rPr lang="en-US" sz="2177" dirty="0" err="1">
                <a:latin typeface="Liberation Sans" pitchFamily="18"/>
                <a:ea typeface="Microsoft YaHei" pitchFamily="2"/>
                <a:cs typeface="Lucida Sans" pitchFamily="2"/>
              </a:rPr>
              <a:t>distcp</a:t>
            </a:r>
            <a:r>
              <a:rPr lang="en-US" sz="2177" dirty="0">
                <a:latin typeface="Liberation Sans" pitchFamily="18"/>
                <a:ea typeface="Microsoft YaHei" pitchFamily="2"/>
                <a:cs typeface="Lucida Sans" pitchFamily="2"/>
              </a:rPr>
              <a:t>)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3B1DED8B-4CDF-F8C4-03A1-2CAEAD1C9291}"/>
              </a:ext>
            </a:extLst>
          </p:cNvPr>
          <p:cNvPicPr>
            <a:picLocks noChangeAspect="1"/>
          </p:cNvPicPr>
          <p:nvPr/>
        </p:nvPicPr>
        <p:blipFill>
          <a:blip r:embed="rId4">
            <a:lum/>
            <a:alphaModFix/>
          </a:blip>
          <a:srcRect/>
          <a:stretch>
            <a:fillRect/>
          </a:stretch>
        </p:blipFill>
        <p:spPr>
          <a:xfrm>
            <a:off x="227390" y="1036894"/>
            <a:ext cx="1877181" cy="17401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4">
            <a:extLst>
              <a:ext uri="{FF2B5EF4-FFF2-40B4-BE49-F238E27FC236}">
                <a16:creationId xmlns:a16="http://schemas.microsoft.com/office/drawing/2014/main" id="{35181AEA-DBA1-437E-9912-4167A4C8020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480528" y="3244686"/>
            <a:ext cx="4799787" cy="47997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10588" tIns="55294" rIns="110588" bIns="55294" numCol="1" anchor="t" anchorCtr="0" compatLnSpc="1">
            <a:prstTxWarp prst="textNoShape">
              <a:avLst/>
            </a:prstTxWarp>
          </a:bodyPr>
          <a:lstStyle/>
          <a:p>
            <a:endParaRPr lang="fr-FR" sz="2177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B2DAAFD-AAC4-4CC8-A9FD-DEF061025D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9712" y="1454123"/>
            <a:ext cx="8346865" cy="4998968"/>
          </a:xfrm>
          <a:prstGeom prst="rect">
            <a:avLst/>
          </a:prstGeom>
        </p:spPr>
      </p:pic>
      <p:sp>
        <p:nvSpPr>
          <p:cNvPr id="7" name="Titre 1">
            <a:extLst>
              <a:ext uri="{FF2B5EF4-FFF2-40B4-BE49-F238E27FC236}">
                <a16:creationId xmlns:a16="http://schemas.microsoft.com/office/drawing/2014/main" id="{4312007C-44E3-42ED-BCF0-388353AB6B33}"/>
              </a:ext>
            </a:extLst>
          </p:cNvPr>
          <p:cNvSpPr txBox="1">
            <a:spLocks/>
          </p:cNvSpPr>
          <p:nvPr/>
        </p:nvSpPr>
        <p:spPr>
          <a:xfrm>
            <a:off x="609754" y="273422"/>
            <a:ext cx="10971300" cy="1144631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="ctr"/>
          <a:lstStyle>
            <a:lvl1pPr algn="ctr" rtl="0" hangingPunct="0">
              <a:tabLst/>
              <a:defRPr lang="en-US" sz="4400" b="0" i="0" u="none" strike="noStrike" kern="1200" cap="none">
                <a:ln>
                  <a:noFill/>
                </a:ln>
                <a:highlight>
                  <a:scrgbClr r="0" g="0" b="0">
                    <a:alpha val="0"/>
                  </a:scrgbClr>
                </a:highlight>
                <a:latin typeface="Liberation Sans" pitchFamily="18"/>
                <a:ea typeface="Microsoft YaHei" pitchFamily="2"/>
              </a:defRPr>
            </a:lvl1pPr>
          </a:lstStyle>
          <a:p>
            <a:r>
              <a:rPr lang="fr-FR" sz="5321" dirty="0" err="1">
                <a:solidFill>
                  <a:sysClr val="windowText" lastClr="000000"/>
                </a:solidFill>
              </a:rPr>
              <a:t>Writing</a:t>
            </a:r>
            <a:r>
              <a:rPr lang="fr-FR" sz="5321" dirty="0">
                <a:solidFill>
                  <a:sysClr val="windowText" lastClr="000000"/>
                </a:solidFill>
              </a:rPr>
              <a:t> a HDFS File</a:t>
            </a:r>
          </a:p>
        </p:txBody>
      </p:sp>
    </p:spTree>
    <p:extLst>
      <p:ext uri="{BB962C8B-B14F-4D97-AF65-F5344CB8AC3E}">
        <p14:creationId xmlns:p14="http://schemas.microsoft.com/office/powerpoint/2010/main" val="217336580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BEF9D02-C7D1-411A-BE86-ACFC7D673995}"/>
              </a:ext>
            </a:extLst>
          </p:cNvPr>
          <p:cNvSpPr txBox="1">
            <a:spLocks/>
          </p:cNvSpPr>
          <p:nvPr/>
        </p:nvSpPr>
        <p:spPr>
          <a:xfrm>
            <a:off x="609754" y="273422"/>
            <a:ext cx="10971300" cy="1144631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="ctr"/>
          <a:lstStyle>
            <a:lvl1pPr algn="ctr" rtl="0" hangingPunct="0">
              <a:tabLst/>
              <a:defRPr lang="en-US" sz="4400" b="0" i="0" u="none" strike="noStrike" kern="1200" cap="none">
                <a:ln>
                  <a:noFill/>
                </a:ln>
                <a:highlight>
                  <a:scrgbClr r="0" g="0" b="0">
                    <a:alpha val="0"/>
                  </a:scrgbClr>
                </a:highlight>
                <a:latin typeface="Liberation Sans" pitchFamily="18"/>
                <a:ea typeface="Microsoft YaHei" pitchFamily="2"/>
              </a:defRPr>
            </a:lvl1pPr>
          </a:lstStyle>
          <a:p>
            <a:r>
              <a:rPr lang="fr-FR" sz="5321" dirty="0">
                <a:solidFill>
                  <a:sysClr val="windowText" lastClr="000000"/>
                </a:solidFill>
              </a:rPr>
              <a:t>Reading a HDFS File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585AB13-37F7-49B5-BA22-574CD5836F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5915" y="1358405"/>
            <a:ext cx="8317065" cy="4942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796568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48DB01-2766-62D5-9C8F-DF7D365BFA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6904" y="23777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fr-FR" dirty="0"/>
              <a:t>Example on Azure Storage…  LRS, ZRS, GRS, GZRS</a:t>
            </a:r>
            <a:br>
              <a:rPr lang="fr-FR" dirty="0"/>
            </a:br>
            <a:r>
              <a:rPr lang="fr-FR" dirty="0"/>
              <a:t>1 </a:t>
            </a:r>
            <a:r>
              <a:rPr lang="fr-FR" dirty="0" err="1"/>
              <a:t>Region</a:t>
            </a:r>
            <a:r>
              <a:rPr lang="fr-FR" dirty="0"/>
              <a:t> = 3 AZ (</a:t>
            </a:r>
            <a:r>
              <a:rPr lang="fr-FR" dirty="0" err="1"/>
              <a:t>Availability</a:t>
            </a:r>
            <a:r>
              <a:rPr lang="fr-FR" dirty="0"/>
              <a:t> Zone) .. 3 Datacenters</a:t>
            </a:r>
          </a:p>
        </p:txBody>
      </p:sp>
      <p:pic>
        <p:nvPicPr>
          <p:cNvPr id="3074" name="Picture 2" descr="Diagram showing how data is replicated in a single data center with LRS">
            <a:extLst>
              <a:ext uri="{FF2B5EF4-FFF2-40B4-BE49-F238E27FC236}">
                <a16:creationId xmlns:a16="http://schemas.microsoft.com/office/drawing/2014/main" id="{4964632B-EAF6-61AC-3C50-6F60DE8BD8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0645" y="3373136"/>
            <a:ext cx="1680383" cy="17542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FDB5016-70D8-33EE-CABA-5B5AEE751CD4}"/>
              </a:ext>
            </a:extLst>
          </p:cNvPr>
          <p:cNvSpPr txBox="1"/>
          <p:nvPr/>
        </p:nvSpPr>
        <p:spPr>
          <a:xfrm>
            <a:off x="120953" y="2477731"/>
            <a:ext cx="241918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b="1" dirty="0"/>
              <a:t>LRS   </a:t>
            </a:r>
            <a:r>
              <a:rPr lang="fr-FR" sz="2400" dirty="0"/>
              <a:t>(</a:t>
            </a:r>
            <a:r>
              <a:rPr lang="fr-FR" sz="2400" dirty="0" err="1"/>
              <a:t>cheaper</a:t>
            </a:r>
            <a:r>
              <a:rPr lang="fr-FR" sz="2400" dirty="0"/>
              <a:t>)</a:t>
            </a:r>
          </a:p>
          <a:p>
            <a:r>
              <a:rPr lang="fr-FR" sz="2400" dirty="0"/>
              <a:t>     … 1 Datacenter</a:t>
            </a:r>
          </a:p>
        </p:txBody>
      </p:sp>
      <p:pic>
        <p:nvPicPr>
          <p:cNvPr id="3076" name="Picture 4" descr="Diagram showing how data is replicated in the primary region with ZRS">
            <a:extLst>
              <a:ext uri="{FF2B5EF4-FFF2-40B4-BE49-F238E27FC236}">
                <a16:creationId xmlns:a16="http://schemas.microsoft.com/office/drawing/2014/main" id="{BE4CF4D7-45B5-B7D5-F084-EE798120AD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57714" y="2868040"/>
            <a:ext cx="2593219" cy="25829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838357E-14CA-2658-F079-F34FC7D92182}"/>
              </a:ext>
            </a:extLst>
          </p:cNvPr>
          <p:cNvSpPr txBox="1"/>
          <p:nvPr/>
        </p:nvSpPr>
        <p:spPr>
          <a:xfrm>
            <a:off x="2860445" y="2431565"/>
            <a:ext cx="20774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b="1" dirty="0"/>
              <a:t>ZRS</a:t>
            </a:r>
            <a:r>
              <a:rPr lang="fr-FR" sz="2400" dirty="0"/>
              <a:t> … 1 </a:t>
            </a:r>
            <a:r>
              <a:rPr lang="fr-FR" sz="2400" dirty="0" err="1"/>
              <a:t>Region</a:t>
            </a:r>
            <a:endParaRPr lang="fr-FR" sz="2400" dirty="0"/>
          </a:p>
        </p:txBody>
      </p:sp>
      <p:pic>
        <p:nvPicPr>
          <p:cNvPr id="3078" name="Picture 6" descr="Diagram showing how data is replicated with GZRS or RA-GZRS">
            <a:extLst>
              <a:ext uri="{FF2B5EF4-FFF2-40B4-BE49-F238E27FC236}">
                <a16:creationId xmlns:a16="http://schemas.microsoft.com/office/drawing/2014/main" id="{C7971791-282B-4555-D755-99F75F4759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31312" y="4211019"/>
            <a:ext cx="4572001" cy="25765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0" name="Picture 8" descr="Diagram showing how data is replicated with GRS or RA-GRS">
            <a:extLst>
              <a:ext uri="{FF2B5EF4-FFF2-40B4-BE49-F238E27FC236}">
                <a16:creationId xmlns:a16="http://schemas.microsoft.com/office/drawing/2014/main" id="{4CD617C2-7CD3-E6E4-EF06-1C6FA88A95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68093" y="2007811"/>
            <a:ext cx="4279494" cy="17504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F167C26-77DA-45F2-A857-141EC35E9FA6}"/>
              </a:ext>
            </a:extLst>
          </p:cNvPr>
          <p:cNvSpPr txBox="1"/>
          <p:nvPr/>
        </p:nvSpPr>
        <p:spPr>
          <a:xfrm>
            <a:off x="7298412" y="3780509"/>
            <a:ext cx="443198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b="1" dirty="0"/>
              <a:t>(RA-) GZRS </a:t>
            </a:r>
            <a:r>
              <a:rPr lang="fr-FR" sz="2400" dirty="0"/>
              <a:t>   … 1 ZRS + </a:t>
            </a:r>
            <a:r>
              <a:rPr lang="fr-FR" sz="2400" dirty="0" err="1"/>
              <a:t>async</a:t>
            </a:r>
            <a:r>
              <a:rPr lang="fr-FR" sz="2400" dirty="0"/>
              <a:t> 1LRS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CD25914-7151-1754-6CE9-0B51D2BF36C1}"/>
              </a:ext>
            </a:extLst>
          </p:cNvPr>
          <p:cNvSpPr txBox="1"/>
          <p:nvPr/>
        </p:nvSpPr>
        <p:spPr>
          <a:xfrm>
            <a:off x="5490543" y="1546146"/>
            <a:ext cx="542231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b="1" dirty="0"/>
              <a:t>(RA-) GRS </a:t>
            </a:r>
            <a:r>
              <a:rPr lang="fr-FR" sz="2400" dirty="0"/>
              <a:t>   … 1 LRS + </a:t>
            </a:r>
            <a:r>
              <a:rPr lang="fr-FR" sz="2400" dirty="0" err="1"/>
              <a:t>async</a:t>
            </a:r>
            <a:r>
              <a:rPr lang="fr-FR" sz="2400" dirty="0"/>
              <a:t> 1LRS, 2 zones</a:t>
            </a:r>
          </a:p>
        </p:txBody>
      </p:sp>
    </p:spTree>
    <p:extLst>
      <p:ext uri="{BB962C8B-B14F-4D97-AF65-F5344CB8AC3E}">
        <p14:creationId xmlns:p14="http://schemas.microsoft.com/office/powerpoint/2010/main" val="229056129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BB1E9A-F496-E245-5C03-3303B4DBEEB9}"/>
              </a:ext>
            </a:extLst>
          </p:cNvPr>
          <p:cNvSpPr txBox="1">
            <a:spLocks/>
          </p:cNvSpPr>
          <p:nvPr/>
        </p:nvSpPr>
        <p:spPr>
          <a:xfrm>
            <a:off x="610350" y="2641113"/>
            <a:ext cx="10971300" cy="1201666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="ctr"/>
          <a:lstStyle>
            <a:lvl1pPr algn="ctr" hangingPunct="0">
              <a:tabLst/>
              <a:defRPr lang="fr-FR" sz="4400" b="0" i="0" u="none" strike="noStrike" kern="1200" cap="none">
                <a:ln>
                  <a:noFill/>
                </a:ln>
                <a:highlight>
                  <a:scrgbClr r="0" g="0" b="0">
                    <a:alpha val="0"/>
                  </a:scrgbClr>
                </a:highlight>
                <a:latin typeface="Liberation Sans" pitchFamily="18"/>
                <a:ea typeface="Microsoft YaHei" pitchFamily="2"/>
              </a:defRPr>
            </a:lvl1pPr>
          </a:lstStyle>
          <a:p>
            <a:pPr rtl="0"/>
            <a:r>
              <a:rPr lang="en-US" sz="5321" dirty="0">
                <a:solidFill>
                  <a:sysClr val="windowText" lastClr="000000"/>
                </a:solidFill>
              </a:rPr>
              <a:t>Recap … Storage Resources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8A82720-FE7B-899F-4722-2C785E75DC77}"/>
              </a:ext>
            </a:extLst>
          </p:cNvPr>
          <p:cNvSpPr txBox="1"/>
          <p:nvPr/>
        </p:nvSpPr>
        <p:spPr>
          <a:xfrm>
            <a:off x="8331200" y="5394476"/>
            <a:ext cx="265848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600" dirty="0" err="1"/>
              <a:t>Coffe</a:t>
            </a:r>
            <a:r>
              <a:rPr lang="fr-FR" sz="3600" dirty="0"/>
              <a:t> Break ?</a:t>
            </a:r>
          </a:p>
        </p:txBody>
      </p:sp>
    </p:spTree>
    <p:extLst>
      <p:ext uri="{BB962C8B-B14F-4D97-AF65-F5344CB8AC3E}">
        <p14:creationId xmlns:p14="http://schemas.microsoft.com/office/powerpoint/2010/main" val="144194808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9456B0-71A4-CF8C-E88D-0B1478AC2D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0001"/>
            <a:ext cx="10515600" cy="1325563"/>
          </a:xfrm>
        </p:spPr>
        <p:txBody>
          <a:bodyPr/>
          <a:lstStyle/>
          <a:p>
            <a:pPr algn="ctr"/>
            <a:r>
              <a:rPr lang="fr-FR" dirty="0" err="1"/>
              <a:t>Outline</a:t>
            </a:r>
            <a:endParaRPr lang="fr-FR" dirty="0"/>
          </a:p>
        </p:txBody>
      </p:sp>
      <p:sp>
        <p:nvSpPr>
          <p:cNvPr id="4" name="Arrow: Right 3">
            <a:extLst>
              <a:ext uri="{FF2B5EF4-FFF2-40B4-BE49-F238E27FC236}">
                <a16:creationId xmlns:a16="http://schemas.microsoft.com/office/drawing/2014/main" id="{DDD0192B-78FC-DA6C-C265-8EE665F30D7C}"/>
              </a:ext>
            </a:extLst>
          </p:cNvPr>
          <p:cNvSpPr/>
          <p:nvPr/>
        </p:nvSpPr>
        <p:spPr>
          <a:xfrm>
            <a:off x="2473253" y="3038383"/>
            <a:ext cx="710213" cy="39061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7ACAF2A5-098F-EC72-E334-D574EF1D3A36}"/>
              </a:ext>
            </a:extLst>
          </p:cNvPr>
          <p:cNvSpPr txBox="1">
            <a:spLocks/>
          </p:cNvSpPr>
          <p:nvPr/>
        </p:nvSpPr>
        <p:spPr>
          <a:xfrm>
            <a:off x="2960914" y="1630439"/>
            <a:ext cx="8960153" cy="4862436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 err="1"/>
              <a:t>What</a:t>
            </a:r>
            <a:r>
              <a:rPr lang="fr-FR" dirty="0"/>
              <a:t> </a:t>
            </a:r>
            <a:r>
              <a:rPr lang="fr-FR" dirty="0" err="1"/>
              <a:t>is</a:t>
            </a:r>
            <a:r>
              <a:rPr lang="fr-FR" dirty="0"/>
              <a:t> </a:t>
            </a:r>
            <a:r>
              <a:rPr lang="fr-FR" dirty="0" err="1"/>
              <a:t>BigData</a:t>
            </a:r>
            <a:r>
              <a:rPr lang="fr-FR" dirty="0"/>
              <a:t> ?</a:t>
            </a:r>
          </a:p>
          <a:p>
            <a:pPr lvl="1"/>
            <a:r>
              <a:rPr lang="fr-FR" dirty="0" err="1"/>
              <a:t>Order</a:t>
            </a:r>
            <a:r>
              <a:rPr lang="fr-FR" dirty="0"/>
              <a:t> of Magnitudes for « Big »</a:t>
            </a:r>
          </a:p>
          <a:p>
            <a:pPr lvl="1"/>
            <a:r>
              <a:rPr lang="fr-FR" dirty="0"/>
              <a:t>Distributed System challenges</a:t>
            </a:r>
          </a:p>
          <a:p>
            <a:pPr lvl="1"/>
            <a:r>
              <a:rPr lang="fr-FR" dirty="0" err="1"/>
              <a:t>Scaling</a:t>
            </a:r>
            <a:r>
              <a:rPr lang="fr-FR" dirty="0"/>
              <a:t> Storage </a:t>
            </a:r>
            <a:r>
              <a:rPr lang="fr-FR" dirty="0" err="1"/>
              <a:t>Resources</a:t>
            </a:r>
            <a:r>
              <a:rPr lang="fr-FR" dirty="0"/>
              <a:t>: </a:t>
            </a:r>
            <a:r>
              <a:rPr lang="fr-FR" dirty="0" err="1"/>
              <a:t>Hdfs</a:t>
            </a:r>
            <a:endParaRPr lang="fr-FR" dirty="0"/>
          </a:p>
          <a:p>
            <a:pPr lvl="1"/>
            <a:r>
              <a:rPr lang="fr-FR" sz="3500" b="1" dirty="0" err="1"/>
              <a:t>Scaling</a:t>
            </a:r>
            <a:r>
              <a:rPr lang="fr-FR" sz="3500" b="1" dirty="0"/>
              <a:t> </a:t>
            </a:r>
            <a:r>
              <a:rPr lang="fr-FR" sz="3500" b="1" dirty="0" err="1"/>
              <a:t>Compute</a:t>
            </a:r>
            <a:r>
              <a:rPr lang="fr-FR" sz="3500" b="1" dirty="0"/>
              <a:t> </a:t>
            </a:r>
            <a:r>
              <a:rPr lang="fr-FR" sz="3500" b="1" dirty="0" err="1"/>
              <a:t>Resources</a:t>
            </a:r>
            <a:r>
              <a:rPr lang="fr-FR" sz="3500" b="1" dirty="0"/>
              <a:t>: </a:t>
            </a:r>
            <a:r>
              <a:rPr lang="fr-FR" sz="3500" b="1" dirty="0" err="1"/>
              <a:t>Yarn</a:t>
            </a:r>
            <a:r>
              <a:rPr lang="fr-FR" sz="3500" b="1" dirty="0"/>
              <a:t>, </a:t>
            </a:r>
            <a:r>
              <a:rPr lang="fr-FR" sz="3500" b="1" dirty="0" err="1"/>
              <a:t>Kubernetes</a:t>
            </a:r>
            <a:endParaRPr lang="fr-FR" sz="3500" b="1" dirty="0"/>
          </a:p>
          <a:p>
            <a:pPr lvl="1"/>
            <a:r>
              <a:rPr lang="fr-FR" dirty="0" err="1"/>
              <a:t>Using</a:t>
            </a:r>
            <a:r>
              <a:rPr lang="fr-FR" dirty="0"/>
              <a:t> Storage – </a:t>
            </a:r>
            <a:r>
              <a:rPr lang="fr-FR" dirty="0" err="1"/>
              <a:t>Compute</a:t>
            </a:r>
            <a:r>
              <a:rPr lang="fr-FR" dirty="0"/>
              <a:t> apis</a:t>
            </a:r>
          </a:p>
          <a:p>
            <a:pPr lvl="1"/>
            <a:r>
              <a:rPr lang="fr-FR" dirty="0"/>
              <a:t>Evolution of Hardware – Softwares – Hadoop </a:t>
            </a:r>
            <a:r>
              <a:rPr lang="fr-FR" dirty="0" err="1"/>
              <a:t>Ecosystem</a:t>
            </a:r>
            <a:r>
              <a:rPr lang="fr-FR" dirty="0"/>
              <a:t>, Spark</a:t>
            </a:r>
          </a:p>
          <a:p>
            <a:r>
              <a:rPr lang="fr-FR" dirty="0"/>
              <a:t>Description of a </a:t>
            </a:r>
            <a:r>
              <a:rPr lang="fr-FR" dirty="0" err="1"/>
              <a:t>Datalake</a:t>
            </a:r>
            <a:endParaRPr lang="fr-FR" dirty="0"/>
          </a:p>
          <a:p>
            <a:pPr lvl="1"/>
            <a:r>
              <a:rPr lang="fr-FR" dirty="0"/>
              <a:t>Content</a:t>
            </a:r>
          </a:p>
          <a:p>
            <a:pPr lvl="1"/>
            <a:r>
              <a:rPr lang="fr-FR" dirty="0"/>
              <a:t>Usages</a:t>
            </a:r>
          </a:p>
          <a:p>
            <a:r>
              <a:rPr lang="fr-FR" dirty="0"/>
              <a:t>Example of Data-</a:t>
            </a:r>
            <a:r>
              <a:rPr lang="fr-FR" dirty="0" err="1"/>
              <a:t>Processing</a:t>
            </a:r>
            <a:endParaRPr lang="fr-FR" dirty="0"/>
          </a:p>
          <a:p>
            <a:pPr lvl="1"/>
            <a:r>
              <a:rPr lang="fr-FR" dirty="0"/>
              <a:t>RAW to LAKE, Reports</a:t>
            </a:r>
          </a:p>
          <a:p>
            <a:r>
              <a:rPr lang="fr-FR" dirty="0"/>
              <a:t>Evolution to Cloud</a:t>
            </a:r>
          </a:p>
        </p:txBody>
      </p:sp>
    </p:spTree>
    <p:extLst>
      <p:ext uri="{BB962C8B-B14F-4D97-AF65-F5344CB8AC3E}">
        <p14:creationId xmlns:p14="http://schemas.microsoft.com/office/powerpoint/2010/main" val="2373751675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2EB1CE-D1D3-FE25-9782-4BCE52929F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431" y="37456"/>
            <a:ext cx="10515600" cy="1037606"/>
          </a:xfrm>
        </p:spPr>
        <p:txBody>
          <a:bodyPr/>
          <a:lstStyle/>
          <a:p>
            <a:pPr algn="ctr"/>
            <a:r>
              <a:rPr lang="fr-FR" dirty="0" err="1"/>
              <a:t>Reminder</a:t>
            </a:r>
            <a:r>
              <a:rPr lang="fr-FR" dirty="0"/>
              <a:t> …  Hadoop Cluster Architecture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1F9F16B-5C89-3346-2D17-FC73822D30AD}"/>
              </a:ext>
            </a:extLst>
          </p:cNvPr>
          <p:cNvSpPr txBox="1"/>
          <p:nvPr/>
        </p:nvSpPr>
        <p:spPr>
          <a:xfrm>
            <a:off x="9127907" y="5771848"/>
            <a:ext cx="36664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err="1"/>
              <a:t>Installed</a:t>
            </a:r>
            <a:r>
              <a:rPr lang="fr-FR" dirty="0"/>
              <a:t> Hadoop Distribution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212A47A-C717-7993-8B36-16B7AC5B3C3D}"/>
              </a:ext>
            </a:extLst>
          </p:cNvPr>
          <p:cNvSpPr/>
          <p:nvPr/>
        </p:nvSpPr>
        <p:spPr>
          <a:xfrm>
            <a:off x="3408603" y="1261477"/>
            <a:ext cx="6630445" cy="4611971"/>
          </a:xfrm>
          <a:prstGeom prst="rect">
            <a:avLst/>
          </a:prstGeom>
          <a:noFill/>
          <a:ln w="222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A8A7FEB-F2B9-8EC3-94F7-ECD94A32089F}"/>
              </a:ext>
            </a:extLst>
          </p:cNvPr>
          <p:cNvSpPr/>
          <p:nvPr/>
        </p:nvSpPr>
        <p:spPr>
          <a:xfrm>
            <a:off x="3561003" y="1366535"/>
            <a:ext cx="6318388" cy="4405313"/>
          </a:xfrm>
          <a:prstGeom prst="rect">
            <a:avLst/>
          </a:prstGeom>
          <a:noFill/>
          <a:ln w="222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3AFE1BD-0E15-C831-A91E-B75827DF0D93}"/>
              </a:ext>
            </a:extLst>
          </p:cNvPr>
          <p:cNvSpPr txBox="1"/>
          <p:nvPr/>
        </p:nvSpPr>
        <p:spPr>
          <a:xfrm>
            <a:off x="6153858" y="953449"/>
            <a:ext cx="9137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Firewall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33BF048-653F-15CA-D495-A1A1A388794C}"/>
              </a:ext>
            </a:extLst>
          </p:cNvPr>
          <p:cNvSpPr/>
          <p:nvPr/>
        </p:nvSpPr>
        <p:spPr>
          <a:xfrm>
            <a:off x="5245130" y="2116440"/>
            <a:ext cx="992618" cy="60142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4800EB0-6BE7-BE60-CC87-20618A3E6F1C}"/>
              </a:ext>
            </a:extLst>
          </p:cNvPr>
          <p:cNvSpPr/>
          <p:nvPr/>
        </p:nvSpPr>
        <p:spPr>
          <a:xfrm>
            <a:off x="5485364" y="2405037"/>
            <a:ext cx="992619" cy="65052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C6F00474-1C1D-753A-DF2C-7B9006A157C6}"/>
              </a:ext>
            </a:extLst>
          </p:cNvPr>
          <p:cNvSpPr/>
          <p:nvPr/>
        </p:nvSpPr>
        <p:spPr>
          <a:xfrm>
            <a:off x="2674413" y="2391631"/>
            <a:ext cx="399142" cy="32816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" name="Flowchart: Direct Access Storage 11">
            <a:extLst>
              <a:ext uri="{FF2B5EF4-FFF2-40B4-BE49-F238E27FC236}">
                <a16:creationId xmlns:a16="http://schemas.microsoft.com/office/drawing/2014/main" id="{9EB1D0AD-2999-B0CA-3971-4CF1E7278792}"/>
              </a:ext>
            </a:extLst>
          </p:cNvPr>
          <p:cNvSpPr/>
          <p:nvPr/>
        </p:nvSpPr>
        <p:spPr>
          <a:xfrm>
            <a:off x="3152454" y="2492816"/>
            <a:ext cx="653636" cy="125791"/>
          </a:xfrm>
          <a:prstGeom prst="flowChartMagneticDrum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5BE8F52-8090-952A-30A1-8FD00E34F131}"/>
              </a:ext>
            </a:extLst>
          </p:cNvPr>
          <p:cNvSpPr txBox="1"/>
          <p:nvPr/>
        </p:nvSpPr>
        <p:spPr>
          <a:xfrm>
            <a:off x="3603816" y="1982048"/>
            <a:ext cx="14510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/>
              <a:t>LoadBalancer</a:t>
            </a:r>
            <a:endParaRPr lang="fr-FR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081831E-4009-6AFD-0E48-4C464D3C253B}"/>
              </a:ext>
            </a:extLst>
          </p:cNvPr>
          <p:cNvSpPr/>
          <p:nvPr/>
        </p:nvSpPr>
        <p:spPr>
          <a:xfrm>
            <a:off x="4141795" y="2367475"/>
            <a:ext cx="334835" cy="42309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21CD6FE-5D93-ED05-316E-F4445BAE03AD}"/>
              </a:ext>
            </a:extLst>
          </p:cNvPr>
          <p:cNvSpPr txBox="1"/>
          <p:nvPr/>
        </p:nvSpPr>
        <p:spPr>
          <a:xfrm>
            <a:off x="802755" y="1967076"/>
            <a:ext cx="2599943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/>
              <a:t>Allow</a:t>
            </a:r>
            <a:r>
              <a:rPr lang="fr-FR" dirty="0"/>
              <a:t> </a:t>
            </a:r>
            <a:r>
              <a:rPr lang="fr-FR" b="1" dirty="0"/>
              <a:t>Https</a:t>
            </a:r>
            <a:br>
              <a:rPr lang="fr-FR" dirty="0"/>
            </a:br>
            <a:r>
              <a:rPr lang="fr-FR" dirty="0"/>
              <a:t>Hadoop APIs</a:t>
            </a:r>
          </a:p>
          <a:p>
            <a:r>
              <a:rPr lang="fr-FR" dirty="0"/>
              <a:t>(Knox, </a:t>
            </a:r>
            <a:r>
              <a:rPr lang="fr-FR" dirty="0" err="1"/>
              <a:t>Oozie</a:t>
            </a:r>
            <a:r>
              <a:rPr lang="fr-FR" dirty="0"/>
              <a:t>, </a:t>
            </a:r>
            <a:r>
              <a:rPr lang="fr-FR" dirty="0" err="1"/>
              <a:t>Yarn</a:t>
            </a:r>
            <a:r>
              <a:rPr lang="fr-FR" dirty="0"/>
              <a:t>, </a:t>
            </a:r>
          </a:p>
          <a:p>
            <a:r>
              <a:rPr lang="fr-FR" dirty="0"/>
              <a:t> </a:t>
            </a:r>
            <a:r>
              <a:rPr lang="fr-FR" dirty="0" err="1"/>
              <a:t>Hdfs</a:t>
            </a:r>
            <a:r>
              <a:rPr lang="fr-FR" dirty="0"/>
              <a:t>, </a:t>
            </a:r>
            <a:r>
              <a:rPr lang="fr-FR" dirty="0" err="1"/>
              <a:t>Hive</a:t>
            </a:r>
            <a:r>
              <a:rPr lang="fr-FR" dirty="0"/>
              <a:t> Hue, </a:t>
            </a:r>
            <a:r>
              <a:rPr lang="fr-FR" dirty="0" err="1"/>
              <a:t>Ambari</a:t>
            </a:r>
            <a:r>
              <a:rPr lang="fr-FR" dirty="0"/>
              <a:t>..)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D6B46F2-01BA-E402-3B73-1056CAE78DFC}"/>
              </a:ext>
            </a:extLst>
          </p:cNvPr>
          <p:cNvSpPr/>
          <p:nvPr/>
        </p:nvSpPr>
        <p:spPr>
          <a:xfrm>
            <a:off x="3867679" y="3529984"/>
            <a:ext cx="714429" cy="42980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C922C31-A2E3-A0D6-3EAD-786C32BB9F15}"/>
              </a:ext>
            </a:extLst>
          </p:cNvPr>
          <p:cNvSpPr txBox="1"/>
          <p:nvPr/>
        </p:nvSpPr>
        <p:spPr>
          <a:xfrm>
            <a:off x="759251" y="3429320"/>
            <a:ext cx="206813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/>
              <a:t>Allow</a:t>
            </a:r>
            <a:r>
              <a:rPr lang="fr-FR" dirty="0"/>
              <a:t> </a:t>
            </a:r>
            <a:r>
              <a:rPr lang="fr-FR" b="1" dirty="0"/>
              <a:t>SSH</a:t>
            </a:r>
          </a:p>
          <a:p>
            <a:r>
              <a:rPr lang="fr-FR" dirty="0"/>
              <a:t>On « Edge » Node</a:t>
            </a:r>
            <a:br>
              <a:rPr lang="fr-FR" dirty="0"/>
            </a:br>
            <a:r>
              <a:rPr lang="fr-FR" dirty="0"/>
              <a:t>for command line</a:t>
            </a:r>
            <a:br>
              <a:rPr lang="fr-FR" dirty="0"/>
            </a:br>
            <a:r>
              <a:rPr lang="fr-FR" dirty="0" err="1"/>
              <a:t>oozie</a:t>
            </a:r>
            <a:r>
              <a:rPr lang="fr-FR" dirty="0"/>
              <a:t>, </a:t>
            </a:r>
            <a:r>
              <a:rPr lang="fr-FR" dirty="0" err="1"/>
              <a:t>yarn</a:t>
            </a:r>
            <a:r>
              <a:rPr lang="fr-FR" dirty="0"/>
              <a:t>, Spark, ..</a:t>
            </a:r>
          </a:p>
        </p:txBody>
      </p:sp>
      <p:pic>
        <p:nvPicPr>
          <p:cNvPr id="6146" name="Picture 2" descr="Hortonworks - Wikipedia">
            <a:extLst>
              <a:ext uri="{FF2B5EF4-FFF2-40B4-BE49-F238E27FC236}">
                <a16:creationId xmlns:a16="http://schemas.microsoft.com/office/drawing/2014/main" id="{2E9B164A-FAA0-3241-1075-755EEBE33F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58266" y="6026482"/>
            <a:ext cx="2256807" cy="7940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DFCE2030-3B3A-76F3-94A7-EC2382A62528}"/>
              </a:ext>
            </a:extLst>
          </p:cNvPr>
          <p:cNvSpPr txBox="1"/>
          <p:nvPr/>
        </p:nvSpPr>
        <p:spPr>
          <a:xfrm>
            <a:off x="4560546" y="1482833"/>
            <a:ext cx="267041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2 Main </a:t>
            </a:r>
            <a:r>
              <a:rPr lang="fr-FR" b="1" dirty="0" err="1"/>
              <a:t>HeadNode</a:t>
            </a:r>
            <a:r>
              <a:rPr lang="fr-FR" dirty="0"/>
              <a:t> Server</a:t>
            </a:r>
          </a:p>
          <a:p>
            <a:r>
              <a:rPr lang="fr-FR" dirty="0"/>
              <a:t>(</a:t>
            </a:r>
            <a:r>
              <a:rPr lang="fr-FR" dirty="0" err="1"/>
              <a:t>NameNode</a:t>
            </a:r>
            <a:r>
              <a:rPr lang="fr-FR" dirty="0"/>
              <a:t>, </a:t>
            </a:r>
            <a:r>
              <a:rPr lang="fr-FR" dirty="0" err="1"/>
              <a:t>Oozie</a:t>
            </a:r>
            <a:r>
              <a:rPr lang="fr-FR" dirty="0"/>
              <a:t>, </a:t>
            </a:r>
            <a:r>
              <a:rPr lang="fr-FR" dirty="0" err="1"/>
              <a:t>Yarn</a:t>
            </a:r>
            <a:r>
              <a:rPr lang="fr-FR" dirty="0"/>
              <a:t>..)</a:t>
            </a:r>
          </a:p>
        </p:txBody>
      </p:sp>
      <p:pic>
        <p:nvPicPr>
          <p:cNvPr id="6148" name="Picture 4" descr="PostgreSQL - Visual Studio Marketplace">
            <a:extLst>
              <a:ext uri="{FF2B5EF4-FFF2-40B4-BE49-F238E27FC236}">
                <a16:creationId xmlns:a16="http://schemas.microsoft.com/office/drawing/2014/main" id="{AEC5A034-D1D5-4796-84E7-BB340ADA63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22085" y="3159358"/>
            <a:ext cx="361039" cy="3594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80851CAA-929A-252F-8791-17F8040F9C9B}"/>
              </a:ext>
            </a:extLst>
          </p:cNvPr>
          <p:cNvSpPr txBox="1"/>
          <p:nvPr/>
        </p:nvSpPr>
        <p:spPr>
          <a:xfrm>
            <a:off x="5423973" y="3429679"/>
            <a:ext cx="192200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/>
              <a:t>Postgresql</a:t>
            </a:r>
            <a:r>
              <a:rPr lang="fr-FR" dirty="0"/>
              <a:t> for </a:t>
            </a:r>
          </a:p>
          <a:p>
            <a:r>
              <a:rPr lang="fr-FR" dirty="0" err="1"/>
              <a:t>Oozie,Yarn,Ranger</a:t>
            </a:r>
            <a:r>
              <a:rPr lang="fr-FR" dirty="0"/>
              <a:t>,</a:t>
            </a:r>
            <a:br>
              <a:rPr lang="fr-FR" dirty="0"/>
            </a:br>
            <a:r>
              <a:rPr lang="fr-FR" dirty="0"/>
              <a:t> </a:t>
            </a:r>
            <a:r>
              <a:rPr lang="fr-FR" dirty="0" err="1"/>
              <a:t>Hive</a:t>
            </a:r>
            <a:r>
              <a:rPr lang="fr-FR" dirty="0"/>
              <a:t> </a:t>
            </a:r>
            <a:r>
              <a:rPr lang="fr-FR" dirty="0" err="1"/>
              <a:t>Metastore</a:t>
            </a:r>
            <a:r>
              <a:rPr lang="fr-FR" dirty="0"/>
              <a:t>..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7D51280-A4C4-372D-3BF4-82CA500A7276}"/>
              </a:ext>
            </a:extLst>
          </p:cNvPr>
          <p:cNvSpPr/>
          <p:nvPr/>
        </p:nvSpPr>
        <p:spPr>
          <a:xfrm>
            <a:off x="7602123" y="2199469"/>
            <a:ext cx="742392" cy="35943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1" name="Cylinder 20">
            <a:extLst>
              <a:ext uri="{FF2B5EF4-FFF2-40B4-BE49-F238E27FC236}">
                <a16:creationId xmlns:a16="http://schemas.microsoft.com/office/drawing/2014/main" id="{3654A6D8-C9EE-F1E1-46D1-1B12CF1483D1}"/>
              </a:ext>
            </a:extLst>
          </p:cNvPr>
          <p:cNvSpPr/>
          <p:nvPr/>
        </p:nvSpPr>
        <p:spPr>
          <a:xfrm>
            <a:off x="8421672" y="2213874"/>
            <a:ext cx="184822" cy="228109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2" name="Cylinder 21">
            <a:extLst>
              <a:ext uri="{FF2B5EF4-FFF2-40B4-BE49-F238E27FC236}">
                <a16:creationId xmlns:a16="http://schemas.microsoft.com/office/drawing/2014/main" id="{45E39264-F99B-6620-2FDB-2CFF5AF2A894}"/>
              </a:ext>
            </a:extLst>
          </p:cNvPr>
          <p:cNvSpPr/>
          <p:nvPr/>
        </p:nvSpPr>
        <p:spPr>
          <a:xfrm>
            <a:off x="8490052" y="2269097"/>
            <a:ext cx="184822" cy="228109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3" name="Cylinder 22">
            <a:extLst>
              <a:ext uri="{FF2B5EF4-FFF2-40B4-BE49-F238E27FC236}">
                <a16:creationId xmlns:a16="http://schemas.microsoft.com/office/drawing/2014/main" id="{5AEDFFAC-871B-97B7-AE62-3072FF661D9A}"/>
              </a:ext>
            </a:extLst>
          </p:cNvPr>
          <p:cNvSpPr/>
          <p:nvPr/>
        </p:nvSpPr>
        <p:spPr>
          <a:xfrm>
            <a:off x="8567209" y="2321380"/>
            <a:ext cx="184822" cy="228109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4" name="Cylinder 23">
            <a:extLst>
              <a:ext uri="{FF2B5EF4-FFF2-40B4-BE49-F238E27FC236}">
                <a16:creationId xmlns:a16="http://schemas.microsoft.com/office/drawing/2014/main" id="{6CF7FA9E-1F1A-299B-473E-D157ACFB23E8}"/>
              </a:ext>
            </a:extLst>
          </p:cNvPr>
          <p:cNvSpPr/>
          <p:nvPr/>
        </p:nvSpPr>
        <p:spPr>
          <a:xfrm>
            <a:off x="8620035" y="2383151"/>
            <a:ext cx="184822" cy="228109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F987018-383F-8E58-A88E-1D9A06AC6DF7}"/>
              </a:ext>
            </a:extLst>
          </p:cNvPr>
          <p:cNvSpPr txBox="1"/>
          <p:nvPr/>
        </p:nvSpPr>
        <p:spPr>
          <a:xfrm>
            <a:off x="7302312" y="1888150"/>
            <a:ext cx="16438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100 </a:t>
            </a:r>
            <a:r>
              <a:rPr lang="fr-FR" b="1" dirty="0" err="1"/>
              <a:t>DataNodes</a:t>
            </a:r>
            <a:endParaRPr lang="fr-FR" b="1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65947DB1-1E68-1BAB-371A-6D298DD8F781}"/>
              </a:ext>
            </a:extLst>
          </p:cNvPr>
          <p:cNvSpPr/>
          <p:nvPr/>
        </p:nvSpPr>
        <p:spPr>
          <a:xfrm>
            <a:off x="7818478" y="2621834"/>
            <a:ext cx="742392" cy="35943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7" name="Cylinder 26">
            <a:extLst>
              <a:ext uri="{FF2B5EF4-FFF2-40B4-BE49-F238E27FC236}">
                <a16:creationId xmlns:a16="http://schemas.microsoft.com/office/drawing/2014/main" id="{455141CF-6A78-7B7B-36BF-B49C08BCBC8B}"/>
              </a:ext>
            </a:extLst>
          </p:cNvPr>
          <p:cNvSpPr/>
          <p:nvPr/>
        </p:nvSpPr>
        <p:spPr>
          <a:xfrm>
            <a:off x="8638027" y="2636239"/>
            <a:ext cx="184822" cy="228109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8" name="Cylinder 27">
            <a:extLst>
              <a:ext uri="{FF2B5EF4-FFF2-40B4-BE49-F238E27FC236}">
                <a16:creationId xmlns:a16="http://schemas.microsoft.com/office/drawing/2014/main" id="{724838E7-F516-7CE4-9A20-4FFFE912F354}"/>
              </a:ext>
            </a:extLst>
          </p:cNvPr>
          <p:cNvSpPr/>
          <p:nvPr/>
        </p:nvSpPr>
        <p:spPr>
          <a:xfrm>
            <a:off x="8706407" y="2691462"/>
            <a:ext cx="184822" cy="228109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9" name="Cylinder 28">
            <a:extLst>
              <a:ext uri="{FF2B5EF4-FFF2-40B4-BE49-F238E27FC236}">
                <a16:creationId xmlns:a16="http://schemas.microsoft.com/office/drawing/2014/main" id="{58DDEE11-07C4-44C9-770E-E9ACA6BA392D}"/>
              </a:ext>
            </a:extLst>
          </p:cNvPr>
          <p:cNvSpPr/>
          <p:nvPr/>
        </p:nvSpPr>
        <p:spPr>
          <a:xfrm>
            <a:off x="8783564" y="2743745"/>
            <a:ext cx="184822" cy="228109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0" name="Cylinder 29">
            <a:extLst>
              <a:ext uri="{FF2B5EF4-FFF2-40B4-BE49-F238E27FC236}">
                <a16:creationId xmlns:a16="http://schemas.microsoft.com/office/drawing/2014/main" id="{E8EF41A2-C818-1B94-9EDB-43F8AE71739E}"/>
              </a:ext>
            </a:extLst>
          </p:cNvPr>
          <p:cNvSpPr/>
          <p:nvPr/>
        </p:nvSpPr>
        <p:spPr>
          <a:xfrm>
            <a:off x="8836390" y="2805516"/>
            <a:ext cx="184822" cy="228109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B0649C12-4D7F-0A2D-9F4D-57709DC60F7D}"/>
              </a:ext>
            </a:extLst>
          </p:cNvPr>
          <p:cNvSpPr/>
          <p:nvPr/>
        </p:nvSpPr>
        <p:spPr>
          <a:xfrm>
            <a:off x="8039800" y="3079623"/>
            <a:ext cx="742392" cy="35943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2" name="Cylinder 31">
            <a:extLst>
              <a:ext uri="{FF2B5EF4-FFF2-40B4-BE49-F238E27FC236}">
                <a16:creationId xmlns:a16="http://schemas.microsoft.com/office/drawing/2014/main" id="{3E55C1BE-8B4C-D67A-FDD8-C4F5E32CF386}"/>
              </a:ext>
            </a:extLst>
          </p:cNvPr>
          <p:cNvSpPr/>
          <p:nvPr/>
        </p:nvSpPr>
        <p:spPr>
          <a:xfrm>
            <a:off x="8859349" y="3094028"/>
            <a:ext cx="184822" cy="228109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3" name="Cylinder 32">
            <a:extLst>
              <a:ext uri="{FF2B5EF4-FFF2-40B4-BE49-F238E27FC236}">
                <a16:creationId xmlns:a16="http://schemas.microsoft.com/office/drawing/2014/main" id="{48680086-C894-F2B1-42BD-9C0D051E3AA8}"/>
              </a:ext>
            </a:extLst>
          </p:cNvPr>
          <p:cNvSpPr/>
          <p:nvPr/>
        </p:nvSpPr>
        <p:spPr>
          <a:xfrm>
            <a:off x="8927729" y="3149251"/>
            <a:ext cx="184822" cy="228109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4" name="Cylinder 33">
            <a:extLst>
              <a:ext uri="{FF2B5EF4-FFF2-40B4-BE49-F238E27FC236}">
                <a16:creationId xmlns:a16="http://schemas.microsoft.com/office/drawing/2014/main" id="{12630136-CB7E-D337-47F5-73FD2234C245}"/>
              </a:ext>
            </a:extLst>
          </p:cNvPr>
          <p:cNvSpPr/>
          <p:nvPr/>
        </p:nvSpPr>
        <p:spPr>
          <a:xfrm>
            <a:off x="9004886" y="3201534"/>
            <a:ext cx="184822" cy="228109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5" name="Cylinder 34">
            <a:extLst>
              <a:ext uri="{FF2B5EF4-FFF2-40B4-BE49-F238E27FC236}">
                <a16:creationId xmlns:a16="http://schemas.microsoft.com/office/drawing/2014/main" id="{E1A29015-C3E9-8FBF-1AE7-DDE628CF4670}"/>
              </a:ext>
            </a:extLst>
          </p:cNvPr>
          <p:cNvSpPr/>
          <p:nvPr/>
        </p:nvSpPr>
        <p:spPr>
          <a:xfrm>
            <a:off x="9057712" y="3263305"/>
            <a:ext cx="184822" cy="228109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FF3B41A2-1159-53AC-3396-90A0BC705114}"/>
              </a:ext>
            </a:extLst>
          </p:cNvPr>
          <p:cNvSpPr/>
          <p:nvPr/>
        </p:nvSpPr>
        <p:spPr>
          <a:xfrm>
            <a:off x="8225994" y="3526302"/>
            <a:ext cx="742392" cy="35943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7" name="Cylinder 36">
            <a:extLst>
              <a:ext uri="{FF2B5EF4-FFF2-40B4-BE49-F238E27FC236}">
                <a16:creationId xmlns:a16="http://schemas.microsoft.com/office/drawing/2014/main" id="{3282CAC5-5627-0825-0D45-E07E2874EC3B}"/>
              </a:ext>
            </a:extLst>
          </p:cNvPr>
          <p:cNvSpPr/>
          <p:nvPr/>
        </p:nvSpPr>
        <p:spPr>
          <a:xfrm>
            <a:off x="9045543" y="3540707"/>
            <a:ext cx="184822" cy="228109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8" name="Cylinder 37">
            <a:extLst>
              <a:ext uri="{FF2B5EF4-FFF2-40B4-BE49-F238E27FC236}">
                <a16:creationId xmlns:a16="http://schemas.microsoft.com/office/drawing/2014/main" id="{BEA40400-116F-A434-CFA3-8F931894AAD3}"/>
              </a:ext>
            </a:extLst>
          </p:cNvPr>
          <p:cNvSpPr/>
          <p:nvPr/>
        </p:nvSpPr>
        <p:spPr>
          <a:xfrm>
            <a:off x="9113923" y="3595930"/>
            <a:ext cx="184822" cy="228109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9" name="Cylinder 38">
            <a:extLst>
              <a:ext uri="{FF2B5EF4-FFF2-40B4-BE49-F238E27FC236}">
                <a16:creationId xmlns:a16="http://schemas.microsoft.com/office/drawing/2014/main" id="{859C3BF1-5240-58C4-6DF2-ED7ED01CF30D}"/>
              </a:ext>
            </a:extLst>
          </p:cNvPr>
          <p:cNvSpPr/>
          <p:nvPr/>
        </p:nvSpPr>
        <p:spPr>
          <a:xfrm>
            <a:off x="9191080" y="3648213"/>
            <a:ext cx="184822" cy="228109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0" name="Cylinder 39">
            <a:extLst>
              <a:ext uri="{FF2B5EF4-FFF2-40B4-BE49-F238E27FC236}">
                <a16:creationId xmlns:a16="http://schemas.microsoft.com/office/drawing/2014/main" id="{63A9B018-CF4E-0920-F30D-72100CE3A7EA}"/>
              </a:ext>
            </a:extLst>
          </p:cNvPr>
          <p:cNvSpPr/>
          <p:nvPr/>
        </p:nvSpPr>
        <p:spPr>
          <a:xfrm>
            <a:off x="9243906" y="3709984"/>
            <a:ext cx="184822" cy="228109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739BB291-14CF-DDD7-513D-53636D56294C}"/>
              </a:ext>
            </a:extLst>
          </p:cNvPr>
          <p:cNvSpPr/>
          <p:nvPr/>
        </p:nvSpPr>
        <p:spPr>
          <a:xfrm>
            <a:off x="8421672" y="3966421"/>
            <a:ext cx="742392" cy="35943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2" name="Cylinder 41">
            <a:extLst>
              <a:ext uri="{FF2B5EF4-FFF2-40B4-BE49-F238E27FC236}">
                <a16:creationId xmlns:a16="http://schemas.microsoft.com/office/drawing/2014/main" id="{389FBC6F-950F-29BA-ADE5-6A5C4764AE79}"/>
              </a:ext>
            </a:extLst>
          </p:cNvPr>
          <p:cNvSpPr/>
          <p:nvPr/>
        </p:nvSpPr>
        <p:spPr>
          <a:xfrm>
            <a:off x="9241221" y="3980826"/>
            <a:ext cx="184822" cy="228109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3" name="Cylinder 42">
            <a:extLst>
              <a:ext uri="{FF2B5EF4-FFF2-40B4-BE49-F238E27FC236}">
                <a16:creationId xmlns:a16="http://schemas.microsoft.com/office/drawing/2014/main" id="{CD719874-69B2-A467-B2E0-4333D0C0A98F}"/>
              </a:ext>
            </a:extLst>
          </p:cNvPr>
          <p:cNvSpPr/>
          <p:nvPr/>
        </p:nvSpPr>
        <p:spPr>
          <a:xfrm>
            <a:off x="9309601" y="4036049"/>
            <a:ext cx="184822" cy="228109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4" name="Cylinder 43">
            <a:extLst>
              <a:ext uri="{FF2B5EF4-FFF2-40B4-BE49-F238E27FC236}">
                <a16:creationId xmlns:a16="http://schemas.microsoft.com/office/drawing/2014/main" id="{3759F031-D7D9-F21C-ABBF-0A0FD70636AC}"/>
              </a:ext>
            </a:extLst>
          </p:cNvPr>
          <p:cNvSpPr/>
          <p:nvPr/>
        </p:nvSpPr>
        <p:spPr>
          <a:xfrm>
            <a:off x="9386758" y="4088332"/>
            <a:ext cx="184822" cy="228109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5" name="Cylinder 44">
            <a:extLst>
              <a:ext uri="{FF2B5EF4-FFF2-40B4-BE49-F238E27FC236}">
                <a16:creationId xmlns:a16="http://schemas.microsoft.com/office/drawing/2014/main" id="{F4B5AA26-F4CE-CAA3-1AAE-B19D880A5093}"/>
              </a:ext>
            </a:extLst>
          </p:cNvPr>
          <p:cNvSpPr/>
          <p:nvPr/>
        </p:nvSpPr>
        <p:spPr>
          <a:xfrm>
            <a:off x="9439584" y="4150103"/>
            <a:ext cx="184822" cy="228109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6" name="Flowchart: Direct Access Storage 45">
            <a:extLst>
              <a:ext uri="{FF2B5EF4-FFF2-40B4-BE49-F238E27FC236}">
                <a16:creationId xmlns:a16="http://schemas.microsoft.com/office/drawing/2014/main" id="{44140EF7-36DE-8869-529E-6EC15427A699}"/>
              </a:ext>
            </a:extLst>
          </p:cNvPr>
          <p:cNvSpPr/>
          <p:nvPr/>
        </p:nvSpPr>
        <p:spPr>
          <a:xfrm>
            <a:off x="3127931" y="3667734"/>
            <a:ext cx="653636" cy="125791"/>
          </a:xfrm>
          <a:prstGeom prst="flowChartMagneticDrum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111A083B-93AC-554B-3B6B-B0E9045BA353}"/>
              </a:ext>
            </a:extLst>
          </p:cNvPr>
          <p:cNvSpPr/>
          <p:nvPr/>
        </p:nvSpPr>
        <p:spPr>
          <a:xfrm>
            <a:off x="3876592" y="4813905"/>
            <a:ext cx="696604" cy="22810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8" name="Cylinder 47">
            <a:extLst>
              <a:ext uri="{FF2B5EF4-FFF2-40B4-BE49-F238E27FC236}">
                <a16:creationId xmlns:a16="http://schemas.microsoft.com/office/drawing/2014/main" id="{35B00399-59B6-1C3B-6981-C5CA8797BA41}"/>
              </a:ext>
            </a:extLst>
          </p:cNvPr>
          <p:cNvSpPr/>
          <p:nvPr/>
        </p:nvSpPr>
        <p:spPr>
          <a:xfrm>
            <a:off x="4732853" y="4748651"/>
            <a:ext cx="184822" cy="228109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9" name="Cylinder 48">
            <a:extLst>
              <a:ext uri="{FF2B5EF4-FFF2-40B4-BE49-F238E27FC236}">
                <a16:creationId xmlns:a16="http://schemas.microsoft.com/office/drawing/2014/main" id="{367A7E16-C0B6-7691-6D25-0AD3746ACAE0}"/>
              </a:ext>
            </a:extLst>
          </p:cNvPr>
          <p:cNvSpPr/>
          <p:nvPr/>
        </p:nvSpPr>
        <p:spPr>
          <a:xfrm>
            <a:off x="4801233" y="4803874"/>
            <a:ext cx="184822" cy="228109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0" name="Cylinder 49">
            <a:extLst>
              <a:ext uri="{FF2B5EF4-FFF2-40B4-BE49-F238E27FC236}">
                <a16:creationId xmlns:a16="http://schemas.microsoft.com/office/drawing/2014/main" id="{D82C5574-8DCF-0414-E199-338A3F237510}"/>
              </a:ext>
            </a:extLst>
          </p:cNvPr>
          <p:cNvSpPr/>
          <p:nvPr/>
        </p:nvSpPr>
        <p:spPr>
          <a:xfrm>
            <a:off x="4878390" y="4856157"/>
            <a:ext cx="184822" cy="228109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1" name="Cylinder 50">
            <a:extLst>
              <a:ext uri="{FF2B5EF4-FFF2-40B4-BE49-F238E27FC236}">
                <a16:creationId xmlns:a16="http://schemas.microsoft.com/office/drawing/2014/main" id="{B66A2798-7F2B-C13C-9809-E6BB34883C52}"/>
              </a:ext>
            </a:extLst>
          </p:cNvPr>
          <p:cNvSpPr/>
          <p:nvPr/>
        </p:nvSpPr>
        <p:spPr>
          <a:xfrm>
            <a:off x="4931216" y="4917928"/>
            <a:ext cx="184822" cy="228109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26D8FBC4-DDA6-BB1E-4BF7-5F98E7525B2E}"/>
              </a:ext>
            </a:extLst>
          </p:cNvPr>
          <p:cNvSpPr/>
          <p:nvPr/>
        </p:nvSpPr>
        <p:spPr>
          <a:xfrm>
            <a:off x="8626486" y="4395350"/>
            <a:ext cx="742392" cy="35943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3" name="Cylinder 52">
            <a:extLst>
              <a:ext uri="{FF2B5EF4-FFF2-40B4-BE49-F238E27FC236}">
                <a16:creationId xmlns:a16="http://schemas.microsoft.com/office/drawing/2014/main" id="{4B750C86-9483-8842-7332-0BAA233D665C}"/>
              </a:ext>
            </a:extLst>
          </p:cNvPr>
          <p:cNvSpPr/>
          <p:nvPr/>
        </p:nvSpPr>
        <p:spPr>
          <a:xfrm>
            <a:off x="9446035" y="4409755"/>
            <a:ext cx="184822" cy="228109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4" name="Cylinder 53">
            <a:extLst>
              <a:ext uri="{FF2B5EF4-FFF2-40B4-BE49-F238E27FC236}">
                <a16:creationId xmlns:a16="http://schemas.microsoft.com/office/drawing/2014/main" id="{852711D9-4B25-3F60-EF4D-A7BA0E96B70E}"/>
              </a:ext>
            </a:extLst>
          </p:cNvPr>
          <p:cNvSpPr/>
          <p:nvPr/>
        </p:nvSpPr>
        <p:spPr>
          <a:xfrm>
            <a:off x="9514415" y="4464978"/>
            <a:ext cx="184822" cy="228109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5" name="Cylinder 54">
            <a:extLst>
              <a:ext uri="{FF2B5EF4-FFF2-40B4-BE49-F238E27FC236}">
                <a16:creationId xmlns:a16="http://schemas.microsoft.com/office/drawing/2014/main" id="{F8D09E47-E13E-3E14-1AD4-94C4A7CECC52}"/>
              </a:ext>
            </a:extLst>
          </p:cNvPr>
          <p:cNvSpPr/>
          <p:nvPr/>
        </p:nvSpPr>
        <p:spPr>
          <a:xfrm>
            <a:off x="9591572" y="4517261"/>
            <a:ext cx="184822" cy="228109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6" name="Cylinder 55">
            <a:extLst>
              <a:ext uri="{FF2B5EF4-FFF2-40B4-BE49-F238E27FC236}">
                <a16:creationId xmlns:a16="http://schemas.microsoft.com/office/drawing/2014/main" id="{B06BAB50-B9A3-AA9D-B020-2F93E717248C}"/>
              </a:ext>
            </a:extLst>
          </p:cNvPr>
          <p:cNvSpPr/>
          <p:nvPr/>
        </p:nvSpPr>
        <p:spPr>
          <a:xfrm>
            <a:off x="9644398" y="4579032"/>
            <a:ext cx="184822" cy="228109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82ED38F1-335B-D889-509C-2D0584A6E735}"/>
              </a:ext>
            </a:extLst>
          </p:cNvPr>
          <p:cNvSpPr/>
          <p:nvPr/>
        </p:nvSpPr>
        <p:spPr>
          <a:xfrm>
            <a:off x="3942043" y="5103424"/>
            <a:ext cx="696604" cy="22810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8" name="Cylinder 57">
            <a:extLst>
              <a:ext uri="{FF2B5EF4-FFF2-40B4-BE49-F238E27FC236}">
                <a16:creationId xmlns:a16="http://schemas.microsoft.com/office/drawing/2014/main" id="{F62EB61A-C646-9361-AD60-AD65B813A060}"/>
              </a:ext>
            </a:extLst>
          </p:cNvPr>
          <p:cNvSpPr/>
          <p:nvPr/>
        </p:nvSpPr>
        <p:spPr>
          <a:xfrm>
            <a:off x="4798304" y="5038170"/>
            <a:ext cx="184822" cy="228109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9" name="Cylinder 58">
            <a:extLst>
              <a:ext uri="{FF2B5EF4-FFF2-40B4-BE49-F238E27FC236}">
                <a16:creationId xmlns:a16="http://schemas.microsoft.com/office/drawing/2014/main" id="{9210EF82-9114-8A82-4702-E4D486BC0CC1}"/>
              </a:ext>
            </a:extLst>
          </p:cNvPr>
          <p:cNvSpPr/>
          <p:nvPr/>
        </p:nvSpPr>
        <p:spPr>
          <a:xfrm>
            <a:off x="4866684" y="5093393"/>
            <a:ext cx="184822" cy="228109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0" name="Cylinder 59">
            <a:extLst>
              <a:ext uri="{FF2B5EF4-FFF2-40B4-BE49-F238E27FC236}">
                <a16:creationId xmlns:a16="http://schemas.microsoft.com/office/drawing/2014/main" id="{21D925AC-2C99-0686-F1A7-E60D530F225D}"/>
              </a:ext>
            </a:extLst>
          </p:cNvPr>
          <p:cNvSpPr/>
          <p:nvPr/>
        </p:nvSpPr>
        <p:spPr>
          <a:xfrm>
            <a:off x="4943841" y="5145676"/>
            <a:ext cx="184822" cy="228109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1" name="Cylinder 60">
            <a:extLst>
              <a:ext uri="{FF2B5EF4-FFF2-40B4-BE49-F238E27FC236}">
                <a16:creationId xmlns:a16="http://schemas.microsoft.com/office/drawing/2014/main" id="{A7FEB221-FFD9-12AA-7C02-690975249862}"/>
              </a:ext>
            </a:extLst>
          </p:cNvPr>
          <p:cNvSpPr/>
          <p:nvPr/>
        </p:nvSpPr>
        <p:spPr>
          <a:xfrm>
            <a:off x="4996667" y="5207447"/>
            <a:ext cx="184822" cy="228109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11D597A7-1849-5F14-F25B-CDD4D7D2E5FC}"/>
              </a:ext>
            </a:extLst>
          </p:cNvPr>
          <p:cNvSpPr/>
          <p:nvPr/>
        </p:nvSpPr>
        <p:spPr>
          <a:xfrm>
            <a:off x="4036249" y="5407931"/>
            <a:ext cx="696604" cy="22810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3" name="Cylinder 62">
            <a:extLst>
              <a:ext uri="{FF2B5EF4-FFF2-40B4-BE49-F238E27FC236}">
                <a16:creationId xmlns:a16="http://schemas.microsoft.com/office/drawing/2014/main" id="{37749F40-CDBB-F0BD-70EC-EF7081819E15}"/>
              </a:ext>
            </a:extLst>
          </p:cNvPr>
          <p:cNvSpPr/>
          <p:nvPr/>
        </p:nvSpPr>
        <p:spPr>
          <a:xfrm>
            <a:off x="4892510" y="5342677"/>
            <a:ext cx="184822" cy="228109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144" name="Cylinder 6143">
            <a:extLst>
              <a:ext uri="{FF2B5EF4-FFF2-40B4-BE49-F238E27FC236}">
                <a16:creationId xmlns:a16="http://schemas.microsoft.com/office/drawing/2014/main" id="{2174C4FC-AF72-E8A3-4D66-6128FEA74C5D}"/>
              </a:ext>
            </a:extLst>
          </p:cNvPr>
          <p:cNvSpPr/>
          <p:nvPr/>
        </p:nvSpPr>
        <p:spPr>
          <a:xfrm>
            <a:off x="4960890" y="5397900"/>
            <a:ext cx="184822" cy="228109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145" name="Cylinder 6144">
            <a:extLst>
              <a:ext uri="{FF2B5EF4-FFF2-40B4-BE49-F238E27FC236}">
                <a16:creationId xmlns:a16="http://schemas.microsoft.com/office/drawing/2014/main" id="{19D7F7EF-1DD9-140B-C3BA-1E49EA35A84C}"/>
              </a:ext>
            </a:extLst>
          </p:cNvPr>
          <p:cNvSpPr/>
          <p:nvPr/>
        </p:nvSpPr>
        <p:spPr>
          <a:xfrm>
            <a:off x="5038047" y="5450183"/>
            <a:ext cx="184822" cy="228109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147" name="Cylinder 6146">
            <a:extLst>
              <a:ext uri="{FF2B5EF4-FFF2-40B4-BE49-F238E27FC236}">
                <a16:creationId xmlns:a16="http://schemas.microsoft.com/office/drawing/2014/main" id="{A72CC6BF-5B4F-C34F-9D25-59FAE56A024B}"/>
              </a:ext>
            </a:extLst>
          </p:cNvPr>
          <p:cNvSpPr/>
          <p:nvPr/>
        </p:nvSpPr>
        <p:spPr>
          <a:xfrm>
            <a:off x="5090873" y="5511954"/>
            <a:ext cx="184822" cy="228109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149" name="Flowchart: Direct Access Storage 6148">
            <a:extLst>
              <a:ext uri="{FF2B5EF4-FFF2-40B4-BE49-F238E27FC236}">
                <a16:creationId xmlns:a16="http://schemas.microsoft.com/office/drawing/2014/main" id="{EDCF461F-C7FC-D0A3-D58C-8EFE58CBF338}"/>
              </a:ext>
            </a:extLst>
          </p:cNvPr>
          <p:cNvSpPr/>
          <p:nvPr/>
        </p:nvSpPr>
        <p:spPr>
          <a:xfrm>
            <a:off x="3174389" y="5166433"/>
            <a:ext cx="653636" cy="125791"/>
          </a:xfrm>
          <a:prstGeom prst="flowChartMagneticDrum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150" name="TextBox 6149">
            <a:extLst>
              <a:ext uri="{FF2B5EF4-FFF2-40B4-BE49-F238E27FC236}">
                <a16:creationId xmlns:a16="http://schemas.microsoft.com/office/drawing/2014/main" id="{50E70521-1105-86D8-7D07-EAFC5DB37034}"/>
              </a:ext>
            </a:extLst>
          </p:cNvPr>
          <p:cNvSpPr txBox="1"/>
          <p:nvPr/>
        </p:nvSpPr>
        <p:spPr>
          <a:xfrm>
            <a:off x="723928" y="4998335"/>
            <a:ext cx="216988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For streaming</a:t>
            </a:r>
          </a:p>
          <a:p>
            <a:r>
              <a:rPr lang="fr-FR" b="1" dirty="0"/>
              <a:t>Kafka</a:t>
            </a:r>
            <a:r>
              <a:rPr lang="fr-FR" dirty="0"/>
              <a:t>, </a:t>
            </a:r>
            <a:r>
              <a:rPr lang="fr-FR" dirty="0" err="1"/>
              <a:t>Jms</a:t>
            </a:r>
            <a:r>
              <a:rPr lang="fr-FR" dirty="0"/>
              <a:t>, </a:t>
            </a:r>
            <a:r>
              <a:rPr lang="fr-FR" dirty="0" err="1"/>
              <a:t>tibcoEMS</a:t>
            </a:r>
            <a:endParaRPr lang="fr-FR" dirty="0"/>
          </a:p>
          <a:p>
            <a:r>
              <a:rPr lang="fr-FR" dirty="0" err="1"/>
              <a:t>Flume</a:t>
            </a:r>
            <a:r>
              <a:rPr lang="fr-FR" dirty="0"/>
              <a:t> + http front</a:t>
            </a:r>
          </a:p>
        </p:txBody>
      </p:sp>
      <p:sp>
        <p:nvSpPr>
          <p:cNvPr id="6151" name="TextBox 6150">
            <a:extLst>
              <a:ext uri="{FF2B5EF4-FFF2-40B4-BE49-F238E27FC236}">
                <a16:creationId xmlns:a16="http://schemas.microsoft.com/office/drawing/2014/main" id="{34A14935-95F6-9A0A-B5CE-2FDE31449577}"/>
              </a:ext>
            </a:extLst>
          </p:cNvPr>
          <p:cNvSpPr txBox="1"/>
          <p:nvPr/>
        </p:nvSpPr>
        <p:spPr>
          <a:xfrm>
            <a:off x="3659803" y="4406931"/>
            <a:ext cx="16158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8 Kafka Brokers</a:t>
            </a:r>
          </a:p>
        </p:txBody>
      </p:sp>
      <p:sp>
        <p:nvSpPr>
          <p:cNvPr id="6152" name="TextBox 6151">
            <a:extLst>
              <a:ext uri="{FF2B5EF4-FFF2-40B4-BE49-F238E27FC236}">
                <a16:creationId xmlns:a16="http://schemas.microsoft.com/office/drawing/2014/main" id="{1EEE6EEB-ACD5-2522-7A2A-662B36FEF522}"/>
              </a:ext>
            </a:extLst>
          </p:cNvPr>
          <p:cNvSpPr txBox="1"/>
          <p:nvPr/>
        </p:nvSpPr>
        <p:spPr>
          <a:xfrm>
            <a:off x="3897749" y="3567462"/>
            <a:ext cx="4700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$ _</a:t>
            </a:r>
          </a:p>
        </p:txBody>
      </p:sp>
      <p:sp>
        <p:nvSpPr>
          <p:cNvPr id="6153" name="Rectangle 6152">
            <a:extLst>
              <a:ext uri="{FF2B5EF4-FFF2-40B4-BE49-F238E27FC236}">
                <a16:creationId xmlns:a16="http://schemas.microsoft.com/office/drawing/2014/main" id="{D2329D3D-CA78-33AE-9E8C-AFF54972791E}"/>
              </a:ext>
            </a:extLst>
          </p:cNvPr>
          <p:cNvSpPr/>
          <p:nvPr/>
        </p:nvSpPr>
        <p:spPr>
          <a:xfrm>
            <a:off x="6674096" y="5168612"/>
            <a:ext cx="742392" cy="35943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154" name="Flowchart: Direct Access Storage 6153">
            <a:extLst>
              <a:ext uri="{FF2B5EF4-FFF2-40B4-BE49-F238E27FC236}">
                <a16:creationId xmlns:a16="http://schemas.microsoft.com/office/drawing/2014/main" id="{DA17DC1E-D45B-FE5B-873F-9A99E46A3887}"/>
              </a:ext>
            </a:extLst>
          </p:cNvPr>
          <p:cNvSpPr/>
          <p:nvPr/>
        </p:nvSpPr>
        <p:spPr>
          <a:xfrm rot="5400000">
            <a:off x="6781369" y="5841656"/>
            <a:ext cx="653636" cy="125791"/>
          </a:xfrm>
          <a:prstGeom prst="flowChartMagneticDrum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155" name="TextBox 6154">
            <a:extLst>
              <a:ext uri="{FF2B5EF4-FFF2-40B4-BE49-F238E27FC236}">
                <a16:creationId xmlns:a16="http://schemas.microsoft.com/office/drawing/2014/main" id="{BFF7BC90-26CE-13B9-A74C-9E80F73C944D}"/>
              </a:ext>
            </a:extLst>
          </p:cNvPr>
          <p:cNvSpPr txBox="1"/>
          <p:nvPr/>
        </p:nvSpPr>
        <p:spPr>
          <a:xfrm>
            <a:off x="6139059" y="6307679"/>
            <a:ext cx="30087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http for ADMIN (</a:t>
            </a:r>
            <a:r>
              <a:rPr lang="fr-FR" dirty="0" err="1"/>
              <a:t>Internal</a:t>
            </a:r>
            <a:r>
              <a:rPr lang="fr-FR" dirty="0"/>
              <a:t> APIs)</a:t>
            </a:r>
          </a:p>
        </p:txBody>
      </p:sp>
    </p:spTree>
    <p:extLst>
      <p:ext uri="{BB962C8B-B14F-4D97-AF65-F5344CB8AC3E}">
        <p14:creationId xmlns:p14="http://schemas.microsoft.com/office/powerpoint/2010/main" val="1903208100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C41F2E-D441-B11B-6662-DE80C94817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3848" y="365125"/>
            <a:ext cx="11780762" cy="1325563"/>
          </a:xfrm>
        </p:spPr>
        <p:txBody>
          <a:bodyPr/>
          <a:lstStyle/>
          <a:p>
            <a:r>
              <a:rPr lang="fr-FR" dirty="0"/>
              <a:t>2 Distributed Challenges :  1=Storage  + 1=</a:t>
            </a:r>
            <a:r>
              <a:rPr lang="fr-FR" dirty="0" err="1"/>
              <a:t>Compute</a:t>
            </a:r>
            <a:endParaRPr lang="fr-FR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EF9766B-7355-68B8-1DD5-1A4D7BE316A0}"/>
              </a:ext>
            </a:extLst>
          </p:cNvPr>
          <p:cNvSpPr/>
          <p:nvPr/>
        </p:nvSpPr>
        <p:spPr>
          <a:xfrm>
            <a:off x="4878276" y="2392993"/>
            <a:ext cx="742392" cy="35943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Cylinder 4">
            <a:extLst>
              <a:ext uri="{FF2B5EF4-FFF2-40B4-BE49-F238E27FC236}">
                <a16:creationId xmlns:a16="http://schemas.microsoft.com/office/drawing/2014/main" id="{2F03772C-226F-6802-589E-0788155B3031}"/>
              </a:ext>
            </a:extLst>
          </p:cNvPr>
          <p:cNvSpPr/>
          <p:nvPr/>
        </p:nvSpPr>
        <p:spPr>
          <a:xfrm>
            <a:off x="5697825" y="2407398"/>
            <a:ext cx="184822" cy="228109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Cylinder 5">
            <a:extLst>
              <a:ext uri="{FF2B5EF4-FFF2-40B4-BE49-F238E27FC236}">
                <a16:creationId xmlns:a16="http://schemas.microsoft.com/office/drawing/2014/main" id="{85959824-66C0-C4E0-6AD1-056878E55508}"/>
              </a:ext>
            </a:extLst>
          </p:cNvPr>
          <p:cNvSpPr/>
          <p:nvPr/>
        </p:nvSpPr>
        <p:spPr>
          <a:xfrm>
            <a:off x="5766205" y="2462621"/>
            <a:ext cx="184822" cy="228109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Cylinder 6">
            <a:extLst>
              <a:ext uri="{FF2B5EF4-FFF2-40B4-BE49-F238E27FC236}">
                <a16:creationId xmlns:a16="http://schemas.microsoft.com/office/drawing/2014/main" id="{A4CEB225-2DC0-0852-6DC6-EBD135F4D777}"/>
              </a:ext>
            </a:extLst>
          </p:cNvPr>
          <p:cNvSpPr/>
          <p:nvPr/>
        </p:nvSpPr>
        <p:spPr>
          <a:xfrm>
            <a:off x="5843362" y="2514904"/>
            <a:ext cx="184822" cy="228109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Cylinder 7">
            <a:extLst>
              <a:ext uri="{FF2B5EF4-FFF2-40B4-BE49-F238E27FC236}">
                <a16:creationId xmlns:a16="http://schemas.microsoft.com/office/drawing/2014/main" id="{12952ADC-8D6D-EF48-34AA-93FF3DD40365}"/>
              </a:ext>
            </a:extLst>
          </p:cNvPr>
          <p:cNvSpPr/>
          <p:nvPr/>
        </p:nvSpPr>
        <p:spPr>
          <a:xfrm>
            <a:off x="5896188" y="2576675"/>
            <a:ext cx="184822" cy="228109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3B57576-EAAC-7150-33F6-85AF54BEAB44}"/>
              </a:ext>
            </a:extLst>
          </p:cNvPr>
          <p:cNvSpPr/>
          <p:nvPr/>
        </p:nvSpPr>
        <p:spPr>
          <a:xfrm>
            <a:off x="5094631" y="2815358"/>
            <a:ext cx="742392" cy="35943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Cylinder 9">
            <a:extLst>
              <a:ext uri="{FF2B5EF4-FFF2-40B4-BE49-F238E27FC236}">
                <a16:creationId xmlns:a16="http://schemas.microsoft.com/office/drawing/2014/main" id="{C4659995-D816-85BE-9860-79A4D44AA52E}"/>
              </a:ext>
            </a:extLst>
          </p:cNvPr>
          <p:cNvSpPr/>
          <p:nvPr/>
        </p:nvSpPr>
        <p:spPr>
          <a:xfrm>
            <a:off x="5914180" y="2829763"/>
            <a:ext cx="184822" cy="228109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Cylinder 10">
            <a:extLst>
              <a:ext uri="{FF2B5EF4-FFF2-40B4-BE49-F238E27FC236}">
                <a16:creationId xmlns:a16="http://schemas.microsoft.com/office/drawing/2014/main" id="{A6ECE314-B40F-4060-5221-4FDDA742E02B}"/>
              </a:ext>
            </a:extLst>
          </p:cNvPr>
          <p:cNvSpPr/>
          <p:nvPr/>
        </p:nvSpPr>
        <p:spPr>
          <a:xfrm>
            <a:off x="5982560" y="2884986"/>
            <a:ext cx="184822" cy="228109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" name="Cylinder 11">
            <a:extLst>
              <a:ext uri="{FF2B5EF4-FFF2-40B4-BE49-F238E27FC236}">
                <a16:creationId xmlns:a16="http://schemas.microsoft.com/office/drawing/2014/main" id="{5A774C2C-7DF4-33BC-C61D-06A78BBB8B7E}"/>
              </a:ext>
            </a:extLst>
          </p:cNvPr>
          <p:cNvSpPr/>
          <p:nvPr/>
        </p:nvSpPr>
        <p:spPr>
          <a:xfrm>
            <a:off x="6059717" y="2937269"/>
            <a:ext cx="184822" cy="228109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" name="Cylinder 12">
            <a:extLst>
              <a:ext uri="{FF2B5EF4-FFF2-40B4-BE49-F238E27FC236}">
                <a16:creationId xmlns:a16="http://schemas.microsoft.com/office/drawing/2014/main" id="{5F27CF4E-0D7E-88FE-6416-452524DAED72}"/>
              </a:ext>
            </a:extLst>
          </p:cNvPr>
          <p:cNvSpPr/>
          <p:nvPr/>
        </p:nvSpPr>
        <p:spPr>
          <a:xfrm>
            <a:off x="6112543" y="2999040"/>
            <a:ext cx="184822" cy="228109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7A9FFA1-0AC4-CCBC-6E46-AE16FCF8960E}"/>
              </a:ext>
            </a:extLst>
          </p:cNvPr>
          <p:cNvSpPr/>
          <p:nvPr/>
        </p:nvSpPr>
        <p:spPr>
          <a:xfrm>
            <a:off x="5315953" y="3273147"/>
            <a:ext cx="742392" cy="35943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5" name="Cylinder 14">
            <a:extLst>
              <a:ext uri="{FF2B5EF4-FFF2-40B4-BE49-F238E27FC236}">
                <a16:creationId xmlns:a16="http://schemas.microsoft.com/office/drawing/2014/main" id="{06451E77-7F73-7617-96AB-D4AA55B1D005}"/>
              </a:ext>
            </a:extLst>
          </p:cNvPr>
          <p:cNvSpPr/>
          <p:nvPr/>
        </p:nvSpPr>
        <p:spPr>
          <a:xfrm>
            <a:off x="6135502" y="3287552"/>
            <a:ext cx="184822" cy="228109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6" name="Cylinder 15">
            <a:extLst>
              <a:ext uri="{FF2B5EF4-FFF2-40B4-BE49-F238E27FC236}">
                <a16:creationId xmlns:a16="http://schemas.microsoft.com/office/drawing/2014/main" id="{3100CED4-6BE4-C4D9-6D03-F73D68085DC4}"/>
              </a:ext>
            </a:extLst>
          </p:cNvPr>
          <p:cNvSpPr/>
          <p:nvPr/>
        </p:nvSpPr>
        <p:spPr>
          <a:xfrm>
            <a:off x="6203882" y="3342775"/>
            <a:ext cx="184822" cy="228109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7" name="Cylinder 16">
            <a:extLst>
              <a:ext uri="{FF2B5EF4-FFF2-40B4-BE49-F238E27FC236}">
                <a16:creationId xmlns:a16="http://schemas.microsoft.com/office/drawing/2014/main" id="{9F44D085-17BB-2926-79B7-83F462F3E803}"/>
              </a:ext>
            </a:extLst>
          </p:cNvPr>
          <p:cNvSpPr/>
          <p:nvPr/>
        </p:nvSpPr>
        <p:spPr>
          <a:xfrm>
            <a:off x="6281039" y="3395058"/>
            <a:ext cx="184822" cy="228109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8" name="Cylinder 17">
            <a:extLst>
              <a:ext uri="{FF2B5EF4-FFF2-40B4-BE49-F238E27FC236}">
                <a16:creationId xmlns:a16="http://schemas.microsoft.com/office/drawing/2014/main" id="{689457F5-115F-8896-A34E-FB227ACC5915}"/>
              </a:ext>
            </a:extLst>
          </p:cNvPr>
          <p:cNvSpPr/>
          <p:nvPr/>
        </p:nvSpPr>
        <p:spPr>
          <a:xfrm>
            <a:off x="6333865" y="3456829"/>
            <a:ext cx="184822" cy="228109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DD10AA4-D9E6-3F22-8BF7-601832BA6851}"/>
              </a:ext>
            </a:extLst>
          </p:cNvPr>
          <p:cNvSpPr/>
          <p:nvPr/>
        </p:nvSpPr>
        <p:spPr>
          <a:xfrm>
            <a:off x="5502147" y="3719826"/>
            <a:ext cx="742392" cy="35943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0" name="Cylinder 19">
            <a:extLst>
              <a:ext uri="{FF2B5EF4-FFF2-40B4-BE49-F238E27FC236}">
                <a16:creationId xmlns:a16="http://schemas.microsoft.com/office/drawing/2014/main" id="{BE1134D1-C59A-BCEF-7C1C-3C1E3297B125}"/>
              </a:ext>
            </a:extLst>
          </p:cNvPr>
          <p:cNvSpPr/>
          <p:nvPr/>
        </p:nvSpPr>
        <p:spPr>
          <a:xfrm>
            <a:off x="6321696" y="3734231"/>
            <a:ext cx="184822" cy="228109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1" name="Cylinder 20">
            <a:extLst>
              <a:ext uri="{FF2B5EF4-FFF2-40B4-BE49-F238E27FC236}">
                <a16:creationId xmlns:a16="http://schemas.microsoft.com/office/drawing/2014/main" id="{197D9A4B-3F35-78B8-E52F-D8774853E404}"/>
              </a:ext>
            </a:extLst>
          </p:cNvPr>
          <p:cNvSpPr/>
          <p:nvPr/>
        </p:nvSpPr>
        <p:spPr>
          <a:xfrm>
            <a:off x="6390076" y="3789454"/>
            <a:ext cx="184822" cy="228109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2" name="Cylinder 21">
            <a:extLst>
              <a:ext uri="{FF2B5EF4-FFF2-40B4-BE49-F238E27FC236}">
                <a16:creationId xmlns:a16="http://schemas.microsoft.com/office/drawing/2014/main" id="{8FEA5BB9-BD28-1E1E-6812-A5FCCFD1ACB0}"/>
              </a:ext>
            </a:extLst>
          </p:cNvPr>
          <p:cNvSpPr/>
          <p:nvPr/>
        </p:nvSpPr>
        <p:spPr>
          <a:xfrm>
            <a:off x="6467233" y="3841737"/>
            <a:ext cx="184822" cy="228109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3" name="Cylinder 22">
            <a:extLst>
              <a:ext uri="{FF2B5EF4-FFF2-40B4-BE49-F238E27FC236}">
                <a16:creationId xmlns:a16="http://schemas.microsoft.com/office/drawing/2014/main" id="{5320EC0A-2DC8-8A2B-FC91-DA5CF87B1464}"/>
              </a:ext>
            </a:extLst>
          </p:cNvPr>
          <p:cNvSpPr/>
          <p:nvPr/>
        </p:nvSpPr>
        <p:spPr>
          <a:xfrm>
            <a:off x="6520059" y="3903508"/>
            <a:ext cx="184822" cy="228109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3B9C81F-40EE-246C-CC06-16F934AD1366}"/>
              </a:ext>
            </a:extLst>
          </p:cNvPr>
          <p:cNvSpPr/>
          <p:nvPr/>
        </p:nvSpPr>
        <p:spPr>
          <a:xfrm>
            <a:off x="5697825" y="4159945"/>
            <a:ext cx="742392" cy="35943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5" name="Cylinder 24">
            <a:extLst>
              <a:ext uri="{FF2B5EF4-FFF2-40B4-BE49-F238E27FC236}">
                <a16:creationId xmlns:a16="http://schemas.microsoft.com/office/drawing/2014/main" id="{90D9A1FE-4760-51E5-3EA0-755D369E4319}"/>
              </a:ext>
            </a:extLst>
          </p:cNvPr>
          <p:cNvSpPr/>
          <p:nvPr/>
        </p:nvSpPr>
        <p:spPr>
          <a:xfrm>
            <a:off x="6517374" y="4174350"/>
            <a:ext cx="184822" cy="228109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6" name="Cylinder 25">
            <a:extLst>
              <a:ext uri="{FF2B5EF4-FFF2-40B4-BE49-F238E27FC236}">
                <a16:creationId xmlns:a16="http://schemas.microsoft.com/office/drawing/2014/main" id="{D0A3CA97-4436-E000-256C-32CC12A9E48E}"/>
              </a:ext>
            </a:extLst>
          </p:cNvPr>
          <p:cNvSpPr/>
          <p:nvPr/>
        </p:nvSpPr>
        <p:spPr>
          <a:xfrm>
            <a:off x="6585754" y="4229573"/>
            <a:ext cx="184822" cy="228109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7" name="Cylinder 26">
            <a:extLst>
              <a:ext uri="{FF2B5EF4-FFF2-40B4-BE49-F238E27FC236}">
                <a16:creationId xmlns:a16="http://schemas.microsoft.com/office/drawing/2014/main" id="{7E007B6F-8C06-3800-5FCE-02756111C2E3}"/>
              </a:ext>
            </a:extLst>
          </p:cNvPr>
          <p:cNvSpPr/>
          <p:nvPr/>
        </p:nvSpPr>
        <p:spPr>
          <a:xfrm>
            <a:off x="6662911" y="4281856"/>
            <a:ext cx="184822" cy="228109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8" name="Cylinder 27">
            <a:extLst>
              <a:ext uri="{FF2B5EF4-FFF2-40B4-BE49-F238E27FC236}">
                <a16:creationId xmlns:a16="http://schemas.microsoft.com/office/drawing/2014/main" id="{35E76D81-AAC7-8697-CDEB-38761A77A74C}"/>
              </a:ext>
            </a:extLst>
          </p:cNvPr>
          <p:cNvSpPr/>
          <p:nvPr/>
        </p:nvSpPr>
        <p:spPr>
          <a:xfrm>
            <a:off x="6715737" y="4343627"/>
            <a:ext cx="184822" cy="228109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7E59D753-F753-42AF-6E4E-77F7CE25D417}"/>
              </a:ext>
            </a:extLst>
          </p:cNvPr>
          <p:cNvSpPr/>
          <p:nvPr/>
        </p:nvSpPr>
        <p:spPr>
          <a:xfrm>
            <a:off x="5902639" y="4588874"/>
            <a:ext cx="742392" cy="35943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0" name="Cylinder 29">
            <a:extLst>
              <a:ext uri="{FF2B5EF4-FFF2-40B4-BE49-F238E27FC236}">
                <a16:creationId xmlns:a16="http://schemas.microsoft.com/office/drawing/2014/main" id="{50B17BB6-D4D9-D7D6-3C6E-DA3D12F98E8F}"/>
              </a:ext>
            </a:extLst>
          </p:cNvPr>
          <p:cNvSpPr/>
          <p:nvPr/>
        </p:nvSpPr>
        <p:spPr>
          <a:xfrm>
            <a:off x="6722188" y="4603279"/>
            <a:ext cx="184822" cy="228109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1" name="Cylinder 30">
            <a:extLst>
              <a:ext uri="{FF2B5EF4-FFF2-40B4-BE49-F238E27FC236}">
                <a16:creationId xmlns:a16="http://schemas.microsoft.com/office/drawing/2014/main" id="{00A1D668-B5FD-FEEC-A21C-3646A0B38535}"/>
              </a:ext>
            </a:extLst>
          </p:cNvPr>
          <p:cNvSpPr/>
          <p:nvPr/>
        </p:nvSpPr>
        <p:spPr>
          <a:xfrm>
            <a:off x="6790568" y="4658502"/>
            <a:ext cx="184822" cy="228109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2" name="Cylinder 31">
            <a:extLst>
              <a:ext uri="{FF2B5EF4-FFF2-40B4-BE49-F238E27FC236}">
                <a16:creationId xmlns:a16="http://schemas.microsoft.com/office/drawing/2014/main" id="{6AB94B4F-AC67-27F9-C582-3AD570D6588C}"/>
              </a:ext>
            </a:extLst>
          </p:cNvPr>
          <p:cNvSpPr/>
          <p:nvPr/>
        </p:nvSpPr>
        <p:spPr>
          <a:xfrm>
            <a:off x="6867725" y="4710785"/>
            <a:ext cx="184822" cy="228109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3" name="Cylinder 32">
            <a:extLst>
              <a:ext uri="{FF2B5EF4-FFF2-40B4-BE49-F238E27FC236}">
                <a16:creationId xmlns:a16="http://schemas.microsoft.com/office/drawing/2014/main" id="{D14160BF-485E-B82A-1F6E-96A5B33BAD5E}"/>
              </a:ext>
            </a:extLst>
          </p:cNvPr>
          <p:cNvSpPr/>
          <p:nvPr/>
        </p:nvSpPr>
        <p:spPr>
          <a:xfrm>
            <a:off x="6920551" y="4772556"/>
            <a:ext cx="184822" cy="228109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4" name="Cylinder 33">
            <a:extLst>
              <a:ext uri="{FF2B5EF4-FFF2-40B4-BE49-F238E27FC236}">
                <a16:creationId xmlns:a16="http://schemas.microsoft.com/office/drawing/2014/main" id="{C9449A75-114A-5EAA-F239-2320AF9C0A3E}"/>
              </a:ext>
            </a:extLst>
          </p:cNvPr>
          <p:cNvSpPr/>
          <p:nvPr/>
        </p:nvSpPr>
        <p:spPr>
          <a:xfrm>
            <a:off x="8413165" y="2635507"/>
            <a:ext cx="777315" cy="1449228"/>
          </a:xfrm>
          <a:prstGeom prst="can">
            <a:avLst/>
          </a:prstGeom>
          <a:pattFill prst="wdUpDiag">
            <a:fgClr>
              <a:schemeClr val="accent1"/>
            </a:fgClr>
            <a:bgClr>
              <a:schemeClr val="bg1"/>
            </a:bgClr>
          </a:patt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5" name="Arrow: Left-Right 34">
            <a:extLst>
              <a:ext uri="{FF2B5EF4-FFF2-40B4-BE49-F238E27FC236}">
                <a16:creationId xmlns:a16="http://schemas.microsoft.com/office/drawing/2014/main" id="{BBFDFBC1-9241-DC31-CE82-BBBD2E4BFE54}"/>
              </a:ext>
            </a:extLst>
          </p:cNvPr>
          <p:cNvSpPr/>
          <p:nvPr/>
        </p:nvSpPr>
        <p:spPr>
          <a:xfrm>
            <a:off x="7010129" y="3068812"/>
            <a:ext cx="1016780" cy="614588"/>
          </a:xfrm>
          <a:prstGeom prst="left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6" name="Left Brace 35">
            <a:extLst>
              <a:ext uri="{FF2B5EF4-FFF2-40B4-BE49-F238E27FC236}">
                <a16:creationId xmlns:a16="http://schemas.microsoft.com/office/drawing/2014/main" id="{F8F915C3-9546-C958-B5DB-3C32B6AD4347}"/>
              </a:ext>
            </a:extLst>
          </p:cNvPr>
          <p:cNvSpPr/>
          <p:nvPr/>
        </p:nvSpPr>
        <p:spPr>
          <a:xfrm rot="16200000">
            <a:off x="8685461" y="4377195"/>
            <a:ext cx="343092" cy="1361922"/>
          </a:xfrm>
          <a:prstGeom prst="leftBrac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B80A64E-9C86-6FFB-8EFE-D4BECAFB536D}"/>
              </a:ext>
            </a:extLst>
          </p:cNvPr>
          <p:cNvSpPr txBox="1"/>
          <p:nvPr/>
        </p:nvSpPr>
        <p:spPr>
          <a:xfrm>
            <a:off x="7246072" y="5399882"/>
            <a:ext cx="4168705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/>
              <a:t>1 Virtual « </a:t>
            </a:r>
            <a:r>
              <a:rPr lang="fr-FR" sz="2400" b="1" dirty="0"/>
              <a:t>Storage</a:t>
            </a:r>
            <a:r>
              <a:rPr lang="fr-FR" sz="2400" dirty="0"/>
              <a:t> » Resource</a:t>
            </a:r>
          </a:p>
          <a:p>
            <a:r>
              <a:rPr lang="fr-FR" sz="2400" dirty="0"/>
              <a:t>= HDFS </a:t>
            </a:r>
            <a:br>
              <a:rPr lang="fr-FR" sz="2400" dirty="0"/>
            </a:br>
            <a:r>
              <a:rPr lang="fr-FR" sz="2400" dirty="0"/>
              <a:t> Hadoop Distributed File System</a:t>
            </a:r>
          </a:p>
        </p:txBody>
      </p:sp>
      <p:sp>
        <p:nvSpPr>
          <p:cNvPr id="38" name="Arrow: Right 37">
            <a:extLst>
              <a:ext uri="{FF2B5EF4-FFF2-40B4-BE49-F238E27FC236}">
                <a16:creationId xmlns:a16="http://schemas.microsoft.com/office/drawing/2014/main" id="{58FBB680-BC34-A648-09FA-95FA4D3E6C83}"/>
              </a:ext>
            </a:extLst>
          </p:cNvPr>
          <p:cNvSpPr/>
          <p:nvPr/>
        </p:nvSpPr>
        <p:spPr>
          <a:xfrm>
            <a:off x="9472603" y="2851782"/>
            <a:ext cx="1024955" cy="34373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9" name="Arrow: Right 38">
            <a:extLst>
              <a:ext uri="{FF2B5EF4-FFF2-40B4-BE49-F238E27FC236}">
                <a16:creationId xmlns:a16="http://schemas.microsoft.com/office/drawing/2014/main" id="{4031719E-4FE5-8456-7A3E-241520D1A7FF}"/>
              </a:ext>
            </a:extLst>
          </p:cNvPr>
          <p:cNvSpPr/>
          <p:nvPr/>
        </p:nvSpPr>
        <p:spPr>
          <a:xfrm rot="10800000">
            <a:off x="9461122" y="3332004"/>
            <a:ext cx="1024955" cy="34373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E00F583F-4A74-F1C3-5BA2-548F5DADD486}"/>
              </a:ext>
            </a:extLst>
          </p:cNvPr>
          <p:cNvSpPr txBox="1"/>
          <p:nvPr/>
        </p:nvSpPr>
        <p:spPr>
          <a:xfrm>
            <a:off x="10585919" y="2906659"/>
            <a:ext cx="160608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IO </a:t>
            </a:r>
            <a:r>
              <a:rPr lang="fr-FR" dirty="0" err="1"/>
              <a:t>Read+Write</a:t>
            </a:r>
            <a:r>
              <a:rPr lang="fr-FR" dirty="0"/>
              <a:t> </a:t>
            </a:r>
          </a:p>
          <a:p>
            <a:r>
              <a:rPr lang="fr-FR" dirty="0"/>
              <a:t>API</a:t>
            </a:r>
          </a:p>
        </p:txBody>
      </p:sp>
      <p:sp>
        <p:nvSpPr>
          <p:cNvPr id="41" name="Arrow: Left-Right 40">
            <a:extLst>
              <a:ext uri="{FF2B5EF4-FFF2-40B4-BE49-F238E27FC236}">
                <a16:creationId xmlns:a16="http://schemas.microsoft.com/office/drawing/2014/main" id="{217C6E23-9BA9-3159-76F5-7B7E268D4F0A}"/>
              </a:ext>
            </a:extLst>
          </p:cNvPr>
          <p:cNvSpPr/>
          <p:nvPr/>
        </p:nvSpPr>
        <p:spPr>
          <a:xfrm>
            <a:off x="3586967" y="3109654"/>
            <a:ext cx="1016780" cy="614588"/>
          </a:xfrm>
          <a:prstGeom prst="left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3D9A860E-85BE-B20E-81C4-3114B6FBDAEA}"/>
              </a:ext>
            </a:extLst>
          </p:cNvPr>
          <p:cNvSpPr/>
          <p:nvPr/>
        </p:nvSpPr>
        <p:spPr>
          <a:xfrm>
            <a:off x="2499673" y="2750219"/>
            <a:ext cx="890482" cy="1424131"/>
          </a:xfrm>
          <a:prstGeom prst="rect">
            <a:avLst/>
          </a:prstGeom>
          <a:pattFill prst="wdUpDiag">
            <a:fgClr>
              <a:schemeClr val="accent1"/>
            </a:fgClr>
            <a:bgClr>
              <a:schemeClr val="bg1"/>
            </a:bgClr>
          </a:patt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3" name="Left Brace 42">
            <a:extLst>
              <a:ext uri="{FF2B5EF4-FFF2-40B4-BE49-F238E27FC236}">
                <a16:creationId xmlns:a16="http://schemas.microsoft.com/office/drawing/2014/main" id="{AB500FEF-75C6-863F-64E5-09EECB216BA9}"/>
              </a:ext>
            </a:extLst>
          </p:cNvPr>
          <p:cNvSpPr/>
          <p:nvPr/>
        </p:nvSpPr>
        <p:spPr>
          <a:xfrm rot="16200000">
            <a:off x="2862900" y="4419927"/>
            <a:ext cx="343092" cy="1361922"/>
          </a:xfrm>
          <a:prstGeom prst="leftBrac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043AD72-E667-554B-7861-FB7A9FDC544F}"/>
              </a:ext>
            </a:extLst>
          </p:cNvPr>
          <p:cNvSpPr txBox="1"/>
          <p:nvPr/>
        </p:nvSpPr>
        <p:spPr>
          <a:xfrm>
            <a:off x="1328433" y="5430046"/>
            <a:ext cx="511178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/>
              <a:t>1 Virtual « </a:t>
            </a:r>
            <a:r>
              <a:rPr lang="fr-FR" sz="2400" b="1" dirty="0" err="1"/>
              <a:t>Compute</a:t>
            </a:r>
            <a:r>
              <a:rPr lang="fr-FR" sz="2400" dirty="0"/>
              <a:t> » Resource</a:t>
            </a:r>
          </a:p>
          <a:p>
            <a:r>
              <a:rPr lang="fr-FR" sz="2400" dirty="0"/>
              <a:t>= </a:t>
            </a:r>
            <a:r>
              <a:rPr lang="fr-FR" sz="2400" dirty="0" err="1"/>
              <a:t>Yarn</a:t>
            </a:r>
            <a:r>
              <a:rPr lang="fr-FR" sz="2400" dirty="0"/>
              <a:t> (or </a:t>
            </a:r>
            <a:r>
              <a:rPr lang="fr-FR" sz="2400" dirty="0" err="1"/>
              <a:t>Kubernetes</a:t>
            </a:r>
            <a:r>
              <a:rPr lang="fr-FR" sz="2400" dirty="0"/>
              <a:t>)</a:t>
            </a:r>
            <a:br>
              <a:rPr lang="fr-FR" sz="2400" dirty="0"/>
            </a:br>
            <a:r>
              <a:rPr lang="fr-FR" sz="2400" dirty="0"/>
              <a:t> Distributed Container(Process/</a:t>
            </a:r>
            <a:r>
              <a:rPr lang="fr-FR" sz="2400" dirty="0" err="1"/>
              <a:t>Pod</a:t>
            </a:r>
            <a:r>
              <a:rPr lang="fr-FR" sz="2400" dirty="0"/>
              <a:t>) API</a:t>
            </a:r>
          </a:p>
        </p:txBody>
      </p:sp>
      <p:sp>
        <p:nvSpPr>
          <p:cNvPr id="45" name="Arrow: Right 44">
            <a:extLst>
              <a:ext uri="{FF2B5EF4-FFF2-40B4-BE49-F238E27FC236}">
                <a16:creationId xmlns:a16="http://schemas.microsoft.com/office/drawing/2014/main" id="{3398C777-72DF-B49B-91CE-D9CA133EBF85}"/>
              </a:ext>
            </a:extLst>
          </p:cNvPr>
          <p:cNvSpPr/>
          <p:nvPr/>
        </p:nvSpPr>
        <p:spPr>
          <a:xfrm>
            <a:off x="1245084" y="2962268"/>
            <a:ext cx="1024955" cy="34373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6" name="Arrow: Right 45">
            <a:extLst>
              <a:ext uri="{FF2B5EF4-FFF2-40B4-BE49-F238E27FC236}">
                <a16:creationId xmlns:a16="http://schemas.microsoft.com/office/drawing/2014/main" id="{FE495A80-CCA8-EEAC-B159-747667B66C58}"/>
              </a:ext>
            </a:extLst>
          </p:cNvPr>
          <p:cNvSpPr/>
          <p:nvPr/>
        </p:nvSpPr>
        <p:spPr>
          <a:xfrm rot="10800000">
            <a:off x="1233603" y="3442490"/>
            <a:ext cx="1024955" cy="34373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4C48BE17-6D92-FC4D-9BB9-0E1A72A864CE}"/>
              </a:ext>
            </a:extLst>
          </p:cNvPr>
          <p:cNvSpPr txBox="1"/>
          <p:nvPr/>
        </p:nvSpPr>
        <p:spPr>
          <a:xfrm>
            <a:off x="43416" y="2697048"/>
            <a:ext cx="1351396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Job </a:t>
            </a:r>
          </a:p>
          <a:p>
            <a:r>
              <a:rPr lang="fr-FR" dirty="0"/>
              <a:t>Start/Stop/..</a:t>
            </a:r>
          </a:p>
          <a:p>
            <a:r>
              <a:rPr lang="fr-FR" dirty="0"/>
              <a:t>/</a:t>
            </a:r>
            <a:r>
              <a:rPr lang="fr-FR" dirty="0" err="1"/>
              <a:t>Connect</a:t>
            </a:r>
            <a:endParaRPr lang="fr-FR" dirty="0"/>
          </a:p>
          <a:p>
            <a:r>
              <a:rPr lang="fr-FR" dirty="0"/>
              <a:t>API</a:t>
            </a:r>
          </a:p>
        </p:txBody>
      </p:sp>
    </p:spTree>
    <p:extLst>
      <p:ext uri="{BB962C8B-B14F-4D97-AF65-F5344CB8AC3E}">
        <p14:creationId xmlns:p14="http://schemas.microsoft.com/office/powerpoint/2010/main" val="3882368575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B02923-E790-7448-3F8F-13B1F0078A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fr-FR" dirty="0" err="1"/>
              <a:t>Mind</a:t>
            </a:r>
            <a:r>
              <a:rPr lang="fr-FR" dirty="0"/>
              <a:t> Shift: SSH -&gt; Job </a:t>
            </a:r>
            <a:r>
              <a:rPr lang="fr-FR" dirty="0" err="1"/>
              <a:t>Compute</a:t>
            </a:r>
            <a:r>
              <a:rPr lang="fr-FR" dirty="0"/>
              <a:t> Resource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2B858FB-7676-F2B2-D56C-D4159DB1EACC}"/>
              </a:ext>
            </a:extLst>
          </p:cNvPr>
          <p:cNvSpPr txBox="1"/>
          <p:nvPr/>
        </p:nvSpPr>
        <p:spPr>
          <a:xfrm>
            <a:off x="1272693" y="1182856"/>
            <a:ext cx="3670172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dirty="0" err="1"/>
              <a:t>Instead</a:t>
            </a:r>
            <a:r>
              <a:rPr lang="fr-FR" sz="2000" dirty="0"/>
              <a:t> of  </a:t>
            </a:r>
          </a:p>
          <a:p>
            <a:r>
              <a:rPr lang="fr-FR" sz="2000" dirty="0"/>
              <a:t>Handling </a:t>
            </a:r>
            <a:r>
              <a:rPr lang="fr-FR" sz="2000" dirty="0" err="1"/>
              <a:t>remote</a:t>
            </a:r>
            <a:r>
              <a:rPr lang="fr-FR" sz="2000" dirty="0"/>
              <a:t> SSH / </a:t>
            </a:r>
            <a:r>
              <a:rPr lang="fr-FR" sz="2000" dirty="0" err="1"/>
              <a:t>exec</a:t>
            </a:r>
            <a:r>
              <a:rPr lang="fr-FR" sz="2000" dirty="0"/>
              <a:t> - </a:t>
            </a:r>
            <a:r>
              <a:rPr lang="fr-FR" sz="2000" dirty="0" err="1"/>
              <a:t>kill</a:t>
            </a:r>
            <a:r>
              <a:rPr lang="fr-FR" sz="2000" dirty="0"/>
              <a:t> </a:t>
            </a:r>
          </a:p>
          <a:p>
            <a:r>
              <a:rPr lang="fr-FR" sz="2000" dirty="0"/>
              <a:t>and </a:t>
            </a:r>
            <a:r>
              <a:rPr lang="fr-FR" sz="2000" dirty="0" err="1"/>
              <a:t>naming</a:t>
            </a:r>
            <a:r>
              <a:rPr lang="fr-FR" sz="2000" dirty="0"/>
              <a:t> server &amp; </a:t>
            </a:r>
            <a:r>
              <a:rPr lang="fr-FR" sz="2000" dirty="0" err="1"/>
              <a:t>processes</a:t>
            </a:r>
            <a:r>
              <a:rPr lang="fr-FR" sz="2000" dirty="0"/>
              <a:t> …</a:t>
            </a:r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64A1B2CF-D2BC-214D-D494-CF47F73052A6}"/>
              </a:ext>
            </a:extLst>
          </p:cNvPr>
          <p:cNvSpPr/>
          <p:nvPr/>
        </p:nvSpPr>
        <p:spPr>
          <a:xfrm>
            <a:off x="5923611" y="4064000"/>
            <a:ext cx="512838" cy="63862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00C97CB-747E-E7C1-D35E-75ABF0E63E3D}"/>
              </a:ext>
            </a:extLst>
          </p:cNvPr>
          <p:cNvSpPr txBox="1"/>
          <p:nvPr/>
        </p:nvSpPr>
        <p:spPr>
          <a:xfrm>
            <a:off x="584320" y="2260582"/>
            <a:ext cx="4932441" cy="44012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fr-FR" sz="2000" dirty="0"/>
          </a:p>
          <a:p>
            <a:r>
              <a:rPr lang="fr-FR" sz="2000" dirty="0"/>
              <a:t># SSH for </a:t>
            </a:r>
            <a:r>
              <a:rPr lang="fr-FR" sz="2000" dirty="0" err="1"/>
              <a:t>Remote</a:t>
            </a:r>
            <a:r>
              <a:rPr lang="fr-FR" sz="2000" dirty="0"/>
              <a:t> command</a:t>
            </a:r>
          </a:p>
          <a:p>
            <a:r>
              <a:rPr lang="fr-FR" sz="2000" dirty="0"/>
              <a:t>$ </a:t>
            </a:r>
            <a:r>
              <a:rPr lang="fr-FR" sz="2000" b="1" dirty="0" err="1">
                <a:solidFill>
                  <a:srgbClr val="FF0000"/>
                </a:solidFill>
              </a:rPr>
              <a:t>ssh</a:t>
            </a:r>
            <a:r>
              <a:rPr lang="fr-FR" sz="2000" b="1" dirty="0">
                <a:solidFill>
                  <a:srgbClr val="FF0000"/>
                </a:solidFill>
              </a:rPr>
              <a:t>  server-abc-for-</a:t>
            </a:r>
            <a:r>
              <a:rPr lang="fr-FR" sz="2000" b="1" dirty="0" err="1">
                <a:solidFill>
                  <a:srgbClr val="FF0000"/>
                </a:solidFill>
              </a:rPr>
              <a:t>dept</a:t>
            </a:r>
            <a:r>
              <a:rPr lang="fr-FR" sz="2000" b="1" dirty="0">
                <a:solidFill>
                  <a:srgbClr val="FF0000"/>
                </a:solidFill>
              </a:rPr>
              <a:t>-</a:t>
            </a:r>
            <a:r>
              <a:rPr lang="fr-FR" sz="2000" b="1" dirty="0" err="1">
                <a:solidFill>
                  <a:srgbClr val="FF0000"/>
                </a:solidFill>
              </a:rPr>
              <a:t>xyz</a:t>
            </a:r>
            <a:endParaRPr lang="fr-FR" sz="2000" b="1" dirty="0">
              <a:solidFill>
                <a:srgbClr val="FF0000"/>
              </a:solidFill>
            </a:endParaRPr>
          </a:p>
          <a:p>
            <a:r>
              <a:rPr lang="fr-FR" sz="2000" dirty="0"/>
              <a:t>$ cd </a:t>
            </a:r>
            <a:r>
              <a:rPr lang="fr-FR" sz="2000" dirty="0" err="1"/>
              <a:t>someDir</a:t>
            </a:r>
            <a:endParaRPr lang="fr-FR" sz="2000" dirty="0"/>
          </a:p>
          <a:p>
            <a:endParaRPr lang="fr-FR" sz="2000" dirty="0"/>
          </a:p>
          <a:p>
            <a:r>
              <a:rPr lang="fr-FR" sz="2000" dirty="0"/>
              <a:t># long running services</a:t>
            </a:r>
          </a:p>
          <a:p>
            <a:r>
              <a:rPr lang="fr-FR" sz="2000" dirty="0"/>
              <a:t>$ </a:t>
            </a:r>
            <a:r>
              <a:rPr lang="fr-FR" sz="2000" dirty="0" err="1"/>
              <a:t>sudo</a:t>
            </a:r>
            <a:r>
              <a:rPr lang="fr-FR" sz="2000" dirty="0"/>
              <a:t> </a:t>
            </a:r>
            <a:r>
              <a:rPr lang="fr-FR" sz="2000" b="1" dirty="0" err="1">
                <a:solidFill>
                  <a:srgbClr val="FF0000"/>
                </a:solidFill>
              </a:rPr>
              <a:t>systemctl</a:t>
            </a:r>
            <a:r>
              <a:rPr lang="fr-FR" sz="2000" b="1" dirty="0">
                <a:solidFill>
                  <a:srgbClr val="FF0000"/>
                </a:solidFill>
              </a:rPr>
              <a:t> start </a:t>
            </a:r>
            <a:r>
              <a:rPr lang="fr-FR" sz="2000" dirty="0" err="1"/>
              <a:t>my</a:t>
            </a:r>
            <a:r>
              <a:rPr lang="fr-FR" sz="2000" dirty="0"/>
              <a:t>-service</a:t>
            </a:r>
          </a:p>
          <a:p>
            <a:r>
              <a:rPr lang="fr-FR" sz="2000" dirty="0"/>
              <a:t>$ do; if [ -e/proc/$</a:t>
            </a:r>
            <a:r>
              <a:rPr lang="fr-FR" sz="2000" dirty="0" err="1"/>
              <a:t>pid</a:t>
            </a:r>
            <a:r>
              <a:rPr lang="fr-FR" sz="2000" dirty="0"/>
              <a:t> ] </a:t>
            </a:r>
            <a:r>
              <a:rPr lang="fr-FR" sz="2000" b="1" dirty="0">
                <a:solidFill>
                  <a:srgbClr val="FF0000"/>
                </a:solidFill>
              </a:rPr>
              <a:t>./start.sh</a:t>
            </a:r>
            <a:r>
              <a:rPr lang="fr-FR" sz="2000" dirty="0"/>
              <a:t>; </a:t>
            </a:r>
            <a:r>
              <a:rPr lang="fr-FR" sz="2000" dirty="0" err="1"/>
              <a:t>sleep</a:t>
            </a:r>
            <a:r>
              <a:rPr lang="fr-FR" sz="2000" dirty="0"/>
              <a:t>; </a:t>
            </a:r>
            <a:r>
              <a:rPr lang="fr-FR" sz="2000" dirty="0" err="1"/>
              <a:t>done</a:t>
            </a:r>
            <a:endParaRPr lang="fr-FR" sz="2000" dirty="0"/>
          </a:p>
          <a:p>
            <a:endParaRPr lang="fr-FR" sz="2000" dirty="0"/>
          </a:p>
          <a:p>
            <a:r>
              <a:rPr lang="fr-FR" sz="2000" dirty="0"/>
              <a:t># (short running) job application</a:t>
            </a:r>
          </a:p>
          <a:p>
            <a:r>
              <a:rPr lang="fr-FR" sz="2000" dirty="0"/>
              <a:t>$ ./start.sh;  </a:t>
            </a:r>
            <a:r>
              <a:rPr lang="fr-FR" sz="2000" b="1" dirty="0" err="1">
                <a:solidFill>
                  <a:srgbClr val="FF0000"/>
                </a:solidFill>
              </a:rPr>
              <a:t>hdfs</a:t>
            </a:r>
            <a:r>
              <a:rPr lang="fr-FR" sz="2000" b="1" dirty="0">
                <a:solidFill>
                  <a:srgbClr val="FF0000"/>
                </a:solidFill>
              </a:rPr>
              <a:t> </a:t>
            </a:r>
            <a:r>
              <a:rPr lang="fr-FR" sz="2000" b="1" dirty="0" err="1">
                <a:solidFill>
                  <a:srgbClr val="FF0000"/>
                </a:solidFill>
              </a:rPr>
              <a:t>dfs</a:t>
            </a:r>
            <a:r>
              <a:rPr lang="fr-FR" sz="2000" b="1" dirty="0">
                <a:solidFill>
                  <a:srgbClr val="FF0000"/>
                </a:solidFill>
              </a:rPr>
              <a:t> –</a:t>
            </a:r>
            <a:r>
              <a:rPr lang="fr-FR" sz="2000" b="1" dirty="0" err="1">
                <a:solidFill>
                  <a:srgbClr val="FF0000"/>
                </a:solidFill>
              </a:rPr>
              <a:t>get</a:t>
            </a:r>
            <a:r>
              <a:rPr lang="fr-FR" sz="2000" b="1" dirty="0">
                <a:solidFill>
                  <a:srgbClr val="FF0000"/>
                </a:solidFill>
              </a:rPr>
              <a:t> yourapp.jar</a:t>
            </a:r>
          </a:p>
          <a:p>
            <a:r>
              <a:rPr lang="fr-FR" sz="2000" dirty="0"/>
              <a:t>$ </a:t>
            </a:r>
            <a:r>
              <a:rPr lang="fr-FR" sz="2000" b="1" dirty="0">
                <a:solidFill>
                  <a:srgbClr val="FF0000"/>
                </a:solidFill>
              </a:rPr>
              <a:t>java –jar yourapp.jar </a:t>
            </a:r>
          </a:p>
          <a:p>
            <a:r>
              <a:rPr lang="fr-FR" sz="2000" dirty="0"/>
              <a:t>$ </a:t>
            </a:r>
            <a:r>
              <a:rPr lang="fr-FR" sz="2000" dirty="0" err="1"/>
              <a:t>ps</a:t>
            </a:r>
            <a:r>
              <a:rPr lang="fr-FR" sz="2000" dirty="0"/>
              <a:t>, </a:t>
            </a:r>
            <a:r>
              <a:rPr lang="fr-FR" sz="2000" dirty="0" err="1"/>
              <a:t>pid</a:t>
            </a:r>
            <a:r>
              <a:rPr lang="fr-FR" sz="2000" dirty="0"/>
              <a:t>=..</a:t>
            </a:r>
          </a:p>
          <a:p>
            <a:r>
              <a:rPr lang="fr-FR" sz="2000" dirty="0"/>
              <a:t>$ </a:t>
            </a:r>
            <a:r>
              <a:rPr lang="fr-FR" sz="2000" b="1" dirty="0" err="1">
                <a:solidFill>
                  <a:srgbClr val="FF0000"/>
                </a:solidFill>
              </a:rPr>
              <a:t>kill</a:t>
            </a:r>
            <a:r>
              <a:rPr lang="fr-FR" sz="2000" b="1" dirty="0">
                <a:solidFill>
                  <a:srgbClr val="FF0000"/>
                </a:solidFill>
              </a:rPr>
              <a:t> -9 $</a:t>
            </a:r>
            <a:r>
              <a:rPr lang="fr-FR" sz="2000" b="1" dirty="0" err="1">
                <a:solidFill>
                  <a:srgbClr val="FF0000"/>
                </a:solidFill>
              </a:rPr>
              <a:t>pid</a:t>
            </a:r>
            <a:endParaRPr lang="fr-FR" sz="2000" b="1" dirty="0">
              <a:solidFill>
                <a:srgbClr val="FF000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2D06590-3D50-086E-A67D-D2B3BAC72BF2}"/>
              </a:ext>
            </a:extLst>
          </p:cNvPr>
          <p:cNvSpPr txBox="1"/>
          <p:nvPr/>
        </p:nvSpPr>
        <p:spPr>
          <a:xfrm>
            <a:off x="6922103" y="2329409"/>
            <a:ext cx="4861652" cy="44012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dirty="0"/>
              <a:t># </a:t>
            </a:r>
            <a:r>
              <a:rPr lang="fr-FR" sz="2000" dirty="0" err="1"/>
              <a:t>execute</a:t>
            </a:r>
            <a:r>
              <a:rPr lang="fr-FR" sz="2000" dirty="0"/>
              <a:t> </a:t>
            </a:r>
            <a:r>
              <a:rPr lang="fr-FR" sz="2000" dirty="0" err="1"/>
              <a:t>commands</a:t>
            </a:r>
            <a:r>
              <a:rPr lang="fr-FR" sz="2000" dirty="0"/>
              <a:t> </a:t>
            </a:r>
            <a:r>
              <a:rPr lang="fr-FR" sz="2000" dirty="0" err="1"/>
              <a:t>from</a:t>
            </a:r>
            <a:r>
              <a:rPr lang="fr-FR" sz="2000" dirty="0"/>
              <a:t> </a:t>
            </a:r>
            <a:r>
              <a:rPr lang="fr-FR" sz="2000" dirty="0" err="1"/>
              <a:t>any</a:t>
            </a:r>
            <a:r>
              <a:rPr lang="fr-FR" sz="2000" dirty="0"/>
              <a:t> client</a:t>
            </a:r>
          </a:p>
          <a:p>
            <a:r>
              <a:rPr lang="fr-FR" sz="2000" dirty="0"/>
              <a:t>$ </a:t>
            </a:r>
            <a:r>
              <a:rPr lang="fr-FR" sz="2000" dirty="0" err="1"/>
              <a:t>curl</a:t>
            </a:r>
            <a:r>
              <a:rPr lang="fr-FR" sz="2000" dirty="0"/>
              <a:t> http://ambari admin </a:t>
            </a:r>
            <a:r>
              <a:rPr lang="fr-FR" sz="2000" dirty="0" err="1"/>
              <a:t>commands</a:t>
            </a:r>
            <a:endParaRPr lang="fr-FR" sz="2000" dirty="0"/>
          </a:p>
          <a:p>
            <a:endParaRPr lang="fr-FR" sz="2000" dirty="0"/>
          </a:p>
          <a:p>
            <a:r>
              <a:rPr lang="fr-FR" sz="2000" dirty="0"/>
              <a:t>$ </a:t>
            </a:r>
            <a:r>
              <a:rPr lang="fr-FR" sz="2000" b="1" dirty="0" err="1">
                <a:solidFill>
                  <a:srgbClr val="00B050"/>
                </a:solidFill>
              </a:rPr>
              <a:t>oozie</a:t>
            </a:r>
            <a:r>
              <a:rPr lang="fr-FR" sz="2000" b="1" dirty="0">
                <a:solidFill>
                  <a:srgbClr val="00B050"/>
                </a:solidFill>
              </a:rPr>
              <a:t> job start .. </a:t>
            </a:r>
            <a:r>
              <a:rPr lang="fr-FR" sz="2000" b="1" dirty="0" err="1">
                <a:solidFill>
                  <a:srgbClr val="00B050"/>
                </a:solidFill>
              </a:rPr>
              <a:t>hdfs</a:t>
            </a:r>
            <a:r>
              <a:rPr lang="fr-FR" sz="2000" b="1" dirty="0">
                <a:solidFill>
                  <a:srgbClr val="00B050"/>
                </a:solidFill>
              </a:rPr>
              <a:t>://…/workflow.xml</a:t>
            </a:r>
          </a:p>
          <a:p>
            <a:r>
              <a:rPr lang="fr-FR" sz="2000" dirty="0"/>
              <a:t>$ </a:t>
            </a:r>
            <a:r>
              <a:rPr lang="fr-FR" sz="2000" b="1" dirty="0" err="1">
                <a:solidFill>
                  <a:srgbClr val="00B050"/>
                </a:solidFill>
              </a:rPr>
              <a:t>oozie</a:t>
            </a:r>
            <a:r>
              <a:rPr lang="fr-FR" sz="2000" b="1" dirty="0">
                <a:solidFill>
                  <a:srgbClr val="00B050"/>
                </a:solidFill>
              </a:rPr>
              <a:t> job start .. </a:t>
            </a:r>
            <a:r>
              <a:rPr lang="fr-FR" sz="2000" b="1" dirty="0" err="1">
                <a:solidFill>
                  <a:srgbClr val="00B050"/>
                </a:solidFill>
              </a:rPr>
              <a:t>hdfs</a:t>
            </a:r>
            <a:r>
              <a:rPr lang="fr-FR" sz="2000" b="1" dirty="0">
                <a:solidFill>
                  <a:srgbClr val="00B050"/>
                </a:solidFill>
              </a:rPr>
              <a:t>://…/coordinator.xml</a:t>
            </a:r>
          </a:p>
          <a:p>
            <a:r>
              <a:rPr lang="fr-FR" sz="2000" dirty="0"/>
              <a:t>$ </a:t>
            </a:r>
            <a:r>
              <a:rPr lang="fr-FR" sz="2000" b="1" dirty="0" err="1">
                <a:solidFill>
                  <a:srgbClr val="00B050"/>
                </a:solidFill>
              </a:rPr>
              <a:t>oozie</a:t>
            </a:r>
            <a:r>
              <a:rPr lang="fr-FR" sz="2000" b="1" dirty="0">
                <a:solidFill>
                  <a:srgbClr val="00B050"/>
                </a:solidFill>
              </a:rPr>
              <a:t> job </a:t>
            </a:r>
            <a:r>
              <a:rPr lang="fr-FR" sz="2000" b="1" dirty="0" err="1">
                <a:solidFill>
                  <a:srgbClr val="00B050"/>
                </a:solidFill>
              </a:rPr>
              <a:t>kill</a:t>
            </a:r>
            <a:r>
              <a:rPr lang="fr-FR" sz="2000" b="1" dirty="0">
                <a:solidFill>
                  <a:srgbClr val="00B050"/>
                </a:solidFill>
              </a:rPr>
              <a:t> $</a:t>
            </a:r>
            <a:r>
              <a:rPr lang="fr-FR" sz="2000" b="1" dirty="0" err="1">
                <a:solidFill>
                  <a:srgbClr val="00B050"/>
                </a:solidFill>
              </a:rPr>
              <a:t>oozieId</a:t>
            </a:r>
            <a:endParaRPr lang="fr-FR" sz="2000" dirty="0"/>
          </a:p>
          <a:p>
            <a:endParaRPr lang="fr-FR" sz="2000" dirty="0"/>
          </a:p>
          <a:p>
            <a:r>
              <a:rPr lang="fr-FR" sz="2000" dirty="0"/>
              <a:t>$ </a:t>
            </a:r>
            <a:r>
              <a:rPr lang="fr-FR" sz="2000" b="1" dirty="0" err="1">
                <a:solidFill>
                  <a:srgbClr val="00B050"/>
                </a:solidFill>
              </a:rPr>
              <a:t>yarn</a:t>
            </a:r>
            <a:r>
              <a:rPr lang="fr-FR" sz="2000" b="1" dirty="0">
                <a:solidFill>
                  <a:srgbClr val="00B050"/>
                </a:solidFill>
              </a:rPr>
              <a:t> app -</a:t>
            </a:r>
            <a:r>
              <a:rPr lang="fr-FR" sz="2000" b="1" dirty="0" err="1">
                <a:solidFill>
                  <a:srgbClr val="00B050"/>
                </a:solidFill>
              </a:rPr>
              <a:t>list</a:t>
            </a:r>
            <a:endParaRPr lang="fr-FR" sz="2000" b="1" dirty="0">
              <a:solidFill>
                <a:srgbClr val="00B050"/>
              </a:solidFill>
            </a:endParaRPr>
          </a:p>
          <a:p>
            <a:r>
              <a:rPr lang="fr-FR" sz="2000" dirty="0"/>
              <a:t>$ </a:t>
            </a:r>
            <a:r>
              <a:rPr lang="fr-FR" sz="2000" b="1" dirty="0" err="1">
                <a:solidFill>
                  <a:srgbClr val="00B050"/>
                </a:solidFill>
              </a:rPr>
              <a:t>yarn</a:t>
            </a:r>
            <a:r>
              <a:rPr lang="fr-FR" sz="2000" b="1" dirty="0">
                <a:solidFill>
                  <a:srgbClr val="00B050"/>
                </a:solidFill>
              </a:rPr>
              <a:t> app –</a:t>
            </a:r>
            <a:r>
              <a:rPr lang="fr-FR" sz="2000" b="1" dirty="0" err="1">
                <a:solidFill>
                  <a:srgbClr val="00B050"/>
                </a:solidFill>
              </a:rPr>
              <a:t>kill</a:t>
            </a:r>
            <a:r>
              <a:rPr lang="fr-FR" sz="2000" b="1" dirty="0">
                <a:solidFill>
                  <a:srgbClr val="00B050"/>
                </a:solidFill>
              </a:rPr>
              <a:t> $</a:t>
            </a:r>
            <a:r>
              <a:rPr lang="fr-FR" sz="2000" b="1" dirty="0" err="1">
                <a:solidFill>
                  <a:srgbClr val="00B050"/>
                </a:solidFill>
              </a:rPr>
              <a:t>yarnId</a:t>
            </a:r>
            <a:endParaRPr lang="fr-FR" sz="2000" b="1" dirty="0">
              <a:solidFill>
                <a:srgbClr val="00B050"/>
              </a:solidFill>
            </a:endParaRPr>
          </a:p>
          <a:p>
            <a:endParaRPr lang="fr-FR" sz="2000" dirty="0"/>
          </a:p>
          <a:p>
            <a:r>
              <a:rPr lang="fr-FR" sz="2000" dirty="0"/>
              <a:t># OR BETTER in </a:t>
            </a:r>
            <a:r>
              <a:rPr lang="fr-FR" sz="2000" dirty="0" err="1"/>
              <a:t>Kubernetes</a:t>
            </a:r>
            <a:endParaRPr lang="fr-FR" sz="2000" dirty="0"/>
          </a:p>
          <a:p>
            <a:r>
              <a:rPr lang="fr-FR" sz="2000" dirty="0"/>
              <a:t>$ </a:t>
            </a:r>
            <a:r>
              <a:rPr lang="fr-FR" sz="2000" b="1" dirty="0" err="1">
                <a:solidFill>
                  <a:srgbClr val="00B050"/>
                </a:solidFill>
              </a:rPr>
              <a:t>kubectl</a:t>
            </a:r>
            <a:r>
              <a:rPr lang="fr-FR" sz="2000" dirty="0"/>
              <a:t> </a:t>
            </a:r>
            <a:r>
              <a:rPr lang="fr-FR" sz="2000" dirty="0" err="1"/>
              <a:t>apply</a:t>
            </a:r>
            <a:r>
              <a:rPr lang="fr-FR" sz="2000" dirty="0"/>
              <a:t> –f </a:t>
            </a:r>
            <a:r>
              <a:rPr lang="fr-FR" sz="2000" dirty="0" err="1"/>
              <a:t>myservice.yml</a:t>
            </a:r>
            <a:endParaRPr lang="fr-FR" sz="2000" dirty="0"/>
          </a:p>
          <a:p>
            <a:r>
              <a:rPr lang="fr-FR" sz="2000" dirty="0"/>
              <a:t>$ </a:t>
            </a:r>
            <a:r>
              <a:rPr lang="fr-FR" sz="2000" b="1" dirty="0" err="1">
                <a:solidFill>
                  <a:srgbClr val="00B050"/>
                </a:solidFill>
              </a:rPr>
              <a:t>kubectl</a:t>
            </a:r>
            <a:r>
              <a:rPr lang="fr-FR" sz="2000" dirty="0"/>
              <a:t> </a:t>
            </a:r>
            <a:r>
              <a:rPr lang="fr-FR" sz="2000" dirty="0" err="1"/>
              <a:t>apply</a:t>
            </a:r>
            <a:r>
              <a:rPr lang="fr-FR" sz="2000" dirty="0"/>
              <a:t> –f </a:t>
            </a:r>
            <a:r>
              <a:rPr lang="fr-FR" sz="2000" dirty="0" err="1"/>
              <a:t>my-spark-job.yml</a:t>
            </a:r>
            <a:endParaRPr lang="fr-FR" sz="2000" dirty="0"/>
          </a:p>
          <a:p>
            <a:r>
              <a:rPr lang="fr-FR" sz="2000" dirty="0"/>
              <a:t>$ </a:t>
            </a:r>
            <a:r>
              <a:rPr lang="fr-FR" sz="2000" b="1" dirty="0" err="1">
                <a:solidFill>
                  <a:srgbClr val="00B050"/>
                </a:solidFill>
              </a:rPr>
              <a:t>kubectl</a:t>
            </a:r>
            <a:r>
              <a:rPr lang="fr-FR" sz="2000" dirty="0"/>
              <a:t> </a:t>
            </a:r>
            <a:r>
              <a:rPr lang="fr-FR" sz="2000" dirty="0" err="1"/>
              <a:t>sparkApp</a:t>
            </a:r>
            <a:r>
              <a:rPr lang="fr-FR" sz="2000" dirty="0"/>
              <a:t> </a:t>
            </a:r>
            <a:r>
              <a:rPr lang="fr-FR" sz="2000" dirty="0" err="1"/>
              <a:t>list|get|delete</a:t>
            </a:r>
            <a:endParaRPr lang="fr-FR" sz="20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B617684-6960-B215-6D91-7927F0DDDF71}"/>
              </a:ext>
            </a:extLst>
          </p:cNvPr>
          <p:cNvSpPr txBox="1"/>
          <p:nvPr/>
        </p:nvSpPr>
        <p:spPr>
          <a:xfrm>
            <a:off x="6668426" y="1182856"/>
            <a:ext cx="4946547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dirty="0"/>
              <a:t>Do </a:t>
            </a:r>
            <a:r>
              <a:rPr lang="fr-FR" sz="2000" dirty="0" err="1"/>
              <a:t>this</a:t>
            </a:r>
            <a:r>
              <a:rPr lang="fr-FR" sz="2000" dirty="0"/>
              <a:t>:</a:t>
            </a:r>
          </a:p>
          <a:p>
            <a:r>
              <a:rPr lang="fr-FR" sz="2000" b="1" dirty="0"/>
              <a:t>Servers are invisible to </a:t>
            </a:r>
            <a:r>
              <a:rPr lang="fr-FR" sz="2000" b="1" dirty="0" err="1"/>
              <a:t>users</a:t>
            </a:r>
            <a:endParaRPr lang="fr-FR" sz="2000" b="1" dirty="0"/>
          </a:p>
          <a:p>
            <a:r>
              <a:rPr lang="fr-FR" sz="2000" b="1" dirty="0"/>
              <a:t>User </a:t>
            </a:r>
            <a:r>
              <a:rPr lang="fr-FR" sz="2000" b="1" dirty="0" err="1"/>
              <a:t>see</a:t>
            </a:r>
            <a:r>
              <a:rPr lang="fr-FR" sz="2000" b="1" dirty="0"/>
              <a:t> </a:t>
            </a:r>
            <a:r>
              <a:rPr lang="fr-FR" sz="2000" b="1" dirty="0" err="1"/>
              <a:t>virtual</a:t>
            </a:r>
            <a:r>
              <a:rPr lang="fr-FR" sz="2000" b="1" dirty="0"/>
              <a:t> Services and Jobs </a:t>
            </a:r>
            <a:r>
              <a:rPr lang="fr-FR" sz="2000" b="1" dirty="0" err="1"/>
              <a:t>scheduling</a:t>
            </a:r>
            <a:endParaRPr lang="fr-FR" sz="2000" b="1" dirty="0"/>
          </a:p>
        </p:txBody>
      </p:sp>
    </p:spTree>
    <p:extLst>
      <p:ext uri="{BB962C8B-B14F-4D97-AF65-F5344CB8AC3E}">
        <p14:creationId xmlns:p14="http://schemas.microsoft.com/office/powerpoint/2010/main" val="2924271015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6FD4C-FDEB-4499-BC12-1284D1FB3E31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 vert="horz"/>
          <a:lstStyle/>
          <a:p>
            <a:pPr lvl="0" rtl="0"/>
            <a:r>
              <a:rPr lang="fr-FR"/>
              <a:t>Pet vs Cattle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86C8B79-1875-4BA2-8A5B-3BB92128A9EF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6292852" y="1507308"/>
            <a:ext cx="5680486" cy="3499634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2B4EEF9-FFE2-4653-9837-00ACFC2E242F}"/>
              </a:ext>
            </a:extLst>
          </p:cNvPr>
          <p:cNvPicPr>
            <a:picLocks noChangeAspect="1"/>
          </p:cNvPicPr>
          <p:nvPr/>
        </p:nvPicPr>
        <p:blipFill>
          <a:blip r:embed="rId4">
            <a:lum/>
            <a:alphaModFix/>
          </a:blip>
          <a:srcRect/>
          <a:stretch>
            <a:fillRect/>
          </a:stretch>
        </p:blipFill>
        <p:spPr>
          <a:xfrm>
            <a:off x="1306373" y="2083324"/>
            <a:ext cx="3047704" cy="1706278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576844F-A9AE-4D87-9682-5FB300162FE5}"/>
              </a:ext>
            </a:extLst>
          </p:cNvPr>
          <p:cNvSpPr txBox="1"/>
          <p:nvPr/>
        </p:nvSpPr>
        <p:spPr>
          <a:xfrm>
            <a:off x="154341" y="3877115"/>
            <a:ext cx="6065266" cy="1393978"/>
          </a:xfrm>
          <a:prstGeom prst="rect">
            <a:avLst/>
          </a:prstGeom>
          <a:noFill/>
          <a:ln>
            <a:noFill/>
          </a:ln>
        </p:spPr>
        <p:txBody>
          <a:bodyPr vert="horz" wrap="none" lIns="108847" tIns="54423" rIns="108847" bIns="54423" anchorCtr="0" compatLnSpc="0">
            <a:spAutoFit/>
          </a:bodyPr>
          <a:lstStyle/>
          <a:p>
            <a:pPr hangingPunct="0"/>
            <a:r>
              <a:rPr lang="fr-FR" sz="4354">
                <a:latin typeface="Liberation Sans" pitchFamily="18"/>
                <a:ea typeface="Microsoft YaHei" pitchFamily="2"/>
                <a:cs typeface="Lucida Sans" pitchFamily="2"/>
              </a:rPr>
              <a:t>Pet have id=name</a:t>
            </a:r>
          </a:p>
          <a:p>
            <a:pPr hangingPunct="0"/>
            <a:r>
              <a:rPr lang="fr-FR" sz="4354">
                <a:latin typeface="Liberation Sans" pitchFamily="18"/>
                <a:ea typeface="Microsoft YaHei" pitchFamily="2"/>
                <a:cs typeface="Lucida Sans" pitchFamily="2"/>
              </a:rPr>
              <a:t>You take extra care of it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FA30239-B914-4737-ABA9-F7FF7716EB89}"/>
              </a:ext>
            </a:extLst>
          </p:cNvPr>
          <p:cNvSpPr txBox="1"/>
          <p:nvPr/>
        </p:nvSpPr>
        <p:spPr>
          <a:xfrm>
            <a:off x="3930881" y="5400968"/>
            <a:ext cx="7250591" cy="1393978"/>
          </a:xfrm>
          <a:prstGeom prst="rect">
            <a:avLst/>
          </a:prstGeom>
          <a:noFill/>
          <a:ln>
            <a:noFill/>
          </a:ln>
        </p:spPr>
        <p:txBody>
          <a:bodyPr vert="horz" wrap="none" lIns="108847" tIns="54423" rIns="108847" bIns="54423" anchorCtr="0" compatLnSpc="0">
            <a:spAutoFit/>
          </a:bodyPr>
          <a:lstStyle/>
          <a:p>
            <a:pPr hangingPunct="0"/>
            <a:r>
              <a:rPr lang="fr-FR" sz="4354">
                <a:latin typeface="Liberation Sans" pitchFamily="18"/>
                <a:ea typeface="Microsoft YaHei" pitchFamily="2"/>
                <a:cs typeface="Lucida Sans" pitchFamily="2"/>
              </a:rPr>
              <a:t>Cattle &gt;= 1000 : anonymous</a:t>
            </a:r>
          </a:p>
          <a:p>
            <a:pPr hangingPunct="0"/>
            <a:r>
              <a:rPr lang="fr-FR" sz="4354">
                <a:latin typeface="Liberation Sans" pitchFamily="18"/>
                <a:ea typeface="Microsoft YaHei" pitchFamily="2"/>
                <a:cs typeface="Lucida Sans" pitchFamily="2"/>
              </a:rPr>
              <a:t>Id=Number, interchangeable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28E89C-3EA5-4F1D-A48D-FB2D38E71D54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609754" y="89689"/>
            <a:ext cx="10971300" cy="1512097"/>
          </a:xfrm>
        </p:spPr>
        <p:txBody>
          <a:bodyPr vert="horz"/>
          <a:lstStyle/>
          <a:p>
            <a:pPr lvl="0" rtl="0"/>
            <a:r>
              <a:rPr lang="fr-FR" dirty="0" err="1"/>
              <a:t>Launching</a:t>
            </a:r>
            <a:r>
              <a:rPr lang="fr-FR" dirty="0"/>
              <a:t> =&gt; </a:t>
            </a:r>
            <a:r>
              <a:rPr lang="fr-FR" dirty="0" err="1"/>
              <a:t>Scheduling</a:t>
            </a:r>
            <a:r>
              <a:rPr lang="fr-FR" dirty="0"/>
              <a:t> on </a:t>
            </a:r>
            <a:r>
              <a:rPr lang="fr-FR" dirty="0" err="1"/>
              <a:t>Allocated</a:t>
            </a:r>
            <a:r>
              <a:rPr lang="fr-FR" dirty="0"/>
              <a:t> Resource</a:t>
            </a:r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9CAB6953-2574-45CD-83F5-780F2D74ED11}"/>
              </a:ext>
            </a:extLst>
          </p:cNvPr>
          <p:cNvSpPr/>
          <p:nvPr/>
        </p:nvSpPr>
        <p:spPr>
          <a:xfrm>
            <a:off x="1488973" y="2851780"/>
            <a:ext cx="1088466" cy="435386"/>
          </a:xfrm>
          <a:custGeom>
            <a:avLst>
              <a:gd name="f0" fmla="val 16200000"/>
              <a:gd name="f1" fmla="val 5400000"/>
              <a:gd name="f2" fmla="val 5500"/>
            </a:avLst>
            <a:gdLst>
              <a:gd name="f3" fmla="val 21600000"/>
              <a:gd name="f4" fmla="val 10800000"/>
              <a:gd name="f5" fmla="val 5400000"/>
              <a:gd name="f6" fmla="val 180"/>
              <a:gd name="f7" fmla="val w"/>
              <a:gd name="f8" fmla="val h"/>
              <a:gd name="f9" fmla="val 0"/>
              <a:gd name="f10" fmla="*/ 5419351 1 1725033"/>
              <a:gd name="f11" fmla="sqrt 2"/>
              <a:gd name="f12" fmla="*/ 10800 10800 1"/>
              <a:gd name="f13" fmla="val 10800"/>
              <a:gd name="f14" fmla="val 21599999"/>
              <a:gd name="f15" fmla="min 0 21600"/>
              <a:gd name="f16" fmla="max 0 21600"/>
              <a:gd name="f17" fmla="*/ f10 1 2"/>
              <a:gd name="f18" fmla="*/ f7 1 21600"/>
              <a:gd name="f19" fmla="*/ f8 1 21600"/>
              <a:gd name="f20" fmla="*/ f10 1 180"/>
              <a:gd name="f21" fmla="*/ f11 1 2"/>
              <a:gd name="f22" fmla="pin 0 f0 21599999"/>
              <a:gd name="f23" fmla="pin 0 f2 10800"/>
              <a:gd name="f24" fmla="pin 0 f1 21599999"/>
              <a:gd name="f25" fmla="+- f16 0 f15"/>
              <a:gd name="f26" fmla="+- 10800 f23 0"/>
              <a:gd name="f27" fmla="+- f23 0 2700"/>
              <a:gd name="f28" fmla="+- 0 0 f22"/>
              <a:gd name="f29" fmla="+- 0 0 f24"/>
              <a:gd name="f30" fmla="*/ f23 f23 1"/>
              <a:gd name="f31" fmla="*/ 0 f18 1"/>
              <a:gd name="f32" fmla="*/ 21600 f18 1"/>
              <a:gd name="f33" fmla="*/ 21600 f19 1"/>
              <a:gd name="f34" fmla="*/ 0 f19 1"/>
              <a:gd name="f35" fmla="*/ f25 1 2"/>
              <a:gd name="f36" fmla="+- 21600 0 f26"/>
              <a:gd name="f37" fmla="+- f28 f5 0"/>
              <a:gd name="f38" fmla="+- f29 f5 0"/>
              <a:gd name="f39" fmla="+- f15 f35 0"/>
              <a:gd name="f40" fmla="*/ f35 f35 1"/>
              <a:gd name="f41" fmla="*/ f37 f6 1"/>
              <a:gd name="f42" fmla="*/ f38 f6 1"/>
              <a:gd name="f43" fmla="min f26 f36"/>
              <a:gd name="f44" fmla="max f26 f36"/>
              <a:gd name="f45" fmla="*/ f41 1 f4"/>
              <a:gd name="f46" fmla="*/ f42 1 f4"/>
              <a:gd name="f47" fmla="+- f44 0 f43"/>
              <a:gd name="f48" fmla="+- 0 0 f45"/>
              <a:gd name="f49" fmla="+- 0 0 f46"/>
              <a:gd name="f50" fmla="*/ f47 1 2"/>
              <a:gd name="f51" fmla="val f48"/>
              <a:gd name="f52" fmla="val f49"/>
              <a:gd name="f53" fmla="+- f43 f50 0"/>
              <a:gd name="f54" fmla="*/ f50 f50 1"/>
              <a:gd name="f55" fmla="*/ f51 f20 1"/>
              <a:gd name="f56" fmla="*/ f52 f20 1"/>
              <a:gd name="f57" fmla="+- f52 45 0"/>
              <a:gd name="f58" fmla="*/ f51 f10 1"/>
              <a:gd name="f59" fmla="*/ f52 f10 1"/>
              <a:gd name="f60" fmla="+- 0 0 f55"/>
              <a:gd name="f61" fmla="+- 0 0 f56"/>
              <a:gd name="f62" fmla="*/ f57 f10 1"/>
              <a:gd name="f63" fmla="*/ f58 1 f6"/>
              <a:gd name="f64" fmla="*/ f59 1 f6"/>
              <a:gd name="f65" fmla="*/ f60 f4 1"/>
              <a:gd name="f66" fmla="*/ f61 f4 1"/>
              <a:gd name="f67" fmla="*/ f62 1 180"/>
              <a:gd name="f68" fmla="+- 0 0 f63"/>
              <a:gd name="f69" fmla="+- 0 0 f64"/>
              <a:gd name="f70" fmla="*/ f65 1 f10"/>
              <a:gd name="f71" fmla="*/ f66 1 f10"/>
              <a:gd name="f72" fmla="+- 0 0 f67"/>
              <a:gd name="f73" fmla="+- f68 f10 0"/>
              <a:gd name="f74" fmla="+- f69 f10 0"/>
              <a:gd name="f75" fmla="+- f70 0 f5"/>
              <a:gd name="f76" fmla="+- f71 0 f5"/>
              <a:gd name="f77" fmla="*/ f72 f4 1"/>
              <a:gd name="f78" fmla="+- f73 f17 0"/>
              <a:gd name="f79" fmla="+- f74 f17 0"/>
              <a:gd name="f80" fmla="cos 1 f75"/>
              <a:gd name="f81" fmla="sin 1 f75"/>
              <a:gd name="f82" fmla="cos 1 f76"/>
              <a:gd name="f83" fmla="sin 1 f76"/>
              <a:gd name="f84" fmla="*/ f77 1 f10"/>
              <a:gd name="f85" fmla="+- 0 0 f78"/>
              <a:gd name="f86" fmla="+- 0 0 f79"/>
              <a:gd name="f87" fmla="+- 0 0 f80"/>
              <a:gd name="f88" fmla="+- 0 0 f81"/>
              <a:gd name="f89" fmla="+- 0 0 f82"/>
              <a:gd name="f90" fmla="+- 0 0 f83"/>
              <a:gd name="f91" fmla="+- f84 0 f5"/>
              <a:gd name="f92" fmla="*/ f85 f4 1"/>
              <a:gd name="f93" fmla="*/ f86 f4 1"/>
              <a:gd name="f94" fmla="*/ 10800 f87 1"/>
              <a:gd name="f95" fmla="*/ 10800 f88 1"/>
              <a:gd name="f96" fmla="*/ 10800 f89 1"/>
              <a:gd name="f97" fmla="*/ 10800 f90 1"/>
              <a:gd name="f98" fmla="*/ f26 f87 1"/>
              <a:gd name="f99" fmla="*/ f26 f88 1"/>
              <a:gd name="f100" fmla="*/ f26 f89 1"/>
              <a:gd name="f101" fmla="*/ f26 f90 1"/>
              <a:gd name="f102" fmla="*/ 13500 f89 1"/>
              <a:gd name="f103" fmla="*/ 13500 f90 1"/>
              <a:gd name="f104" fmla="*/ f27 f89 1"/>
              <a:gd name="f105" fmla="*/ f27 f90 1"/>
              <a:gd name="f106" fmla="cos 1 f91"/>
              <a:gd name="f107" fmla="sin 1 f91"/>
              <a:gd name="f108" fmla="*/ f92 1 f10"/>
              <a:gd name="f109" fmla="*/ f93 1 f10"/>
              <a:gd name="f110" fmla="+- f94 10800 0"/>
              <a:gd name="f111" fmla="+- f95 10800 0"/>
              <a:gd name="f112" fmla="+- f96 10800 0"/>
              <a:gd name="f113" fmla="+- f97 10800 0"/>
              <a:gd name="f114" fmla="+- f98 10800 0"/>
              <a:gd name="f115" fmla="+- f99 10800 0"/>
              <a:gd name="f116" fmla="+- f100 10800 0"/>
              <a:gd name="f117" fmla="+- f101 10800 0"/>
              <a:gd name="f118" fmla="+- f102 10800 0"/>
              <a:gd name="f119" fmla="+- f103 10800 0"/>
              <a:gd name="f120" fmla="+- f104 10800 0"/>
              <a:gd name="f121" fmla="+- f105 10800 0"/>
              <a:gd name="f122" fmla="+- 0 0 f106"/>
              <a:gd name="f123" fmla="+- 0 0 f107"/>
              <a:gd name="f124" fmla="+- f108 0 f5"/>
              <a:gd name="f125" fmla="+- f109 0 f5"/>
              <a:gd name="f126" fmla="+- f121 0 f119"/>
              <a:gd name="f127" fmla="+- f120 0 f118"/>
              <a:gd name="f128" fmla="cos 1 f124"/>
              <a:gd name="f129" fmla="sin 1 f124"/>
              <a:gd name="f130" fmla="cos 1 f125"/>
              <a:gd name="f131" fmla="sin 1 f125"/>
              <a:gd name="f132" fmla="+- f117 0 f53"/>
              <a:gd name="f133" fmla="+- f116 0 f53"/>
              <a:gd name="f134" fmla="+- f115 0 f53"/>
              <a:gd name="f135" fmla="+- f114 0 f53"/>
              <a:gd name="f136" fmla="+- f111 0 f39"/>
              <a:gd name="f137" fmla="+- f110 0 f39"/>
              <a:gd name="f138" fmla="+- f113 0 f39"/>
              <a:gd name="f139" fmla="+- f112 0 f39"/>
              <a:gd name="f140" fmla="*/ f126 f126 1"/>
              <a:gd name="f141" fmla="*/ f127 f127 1"/>
              <a:gd name="f142" fmla="+- 0 0 f128"/>
              <a:gd name="f143" fmla="+- 0 0 f129"/>
              <a:gd name="f144" fmla="+- 0 0 f130"/>
              <a:gd name="f145" fmla="+- 0 0 f131"/>
              <a:gd name="f146" fmla="at2 f132 f133"/>
              <a:gd name="f147" fmla="at2 f134 f135"/>
              <a:gd name="f148" fmla="at2 f136 f137"/>
              <a:gd name="f149" fmla="at2 f138 f139"/>
              <a:gd name="f150" fmla="+- f140 f141 0"/>
              <a:gd name="f151" fmla="*/ 10800 f142 1"/>
              <a:gd name="f152" fmla="*/ 10800 f143 1"/>
              <a:gd name="f153" fmla="*/ f23 f144 1"/>
              <a:gd name="f154" fmla="*/ f23 f145 1"/>
              <a:gd name="f155" fmla="+- f146 f5 0"/>
              <a:gd name="f156" fmla="+- f147 f5 0"/>
              <a:gd name="f157" fmla="+- f148 f5 0"/>
              <a:gd name="f158" fmla="+- f149 f5 0"/>
              <a:gd name="f159" fmla="sqrt f150"/>
              <a:gd name="f160" fmla="*/ f151 f151 1"/>
              <a:gd name="f161" fmla="*/ f152 f152 1"/>
              <a:gd name="f162" fmla="*/ f153 f153 1"/>
              <a:gd name="f163" fmla="*/ f154 f154 1"/>
              <a:gd name="f164" fmla="*/ f155 f10 1"/>
              <a:gd name="f165" fmla="*/ f156 f10 1"/>
              <a:gd name="f166" fmla="*/ f157 f10 1"/>
              <a:gd name="f167" fmla="*/ f158 f10 1"/>
              <a:gd name="f168" fmla="*/ f21 f159 1"/>
              <a:gd name="f169" fmla="+- f160 f161 0"/>
              <a:gd name="f170" fmla="+- f162 f163 0"/>
              <a:gd name="f171" fmla="*/ f164 1 f4"/>
              <a:gd name="f172" fmla="*/ f165 1 f4"/>
              <a:gd name="f173" fmla="*/ f166 1 f4"/>
              <a:gd name="f174" fmla="*/ f167 1 f4"/>
              <a:gd name="f175" fmla="*/ f168 f122 1"/>
              <a:gd name="f176" fmla="*/ f168 f123 1"/>
              <a:gd name="f177" fmla="sqrt f169"/>
              <a:gd name="f178" fmla="sqrt f170"/>
              <a:gd name="f179" fmla="+- 0 0 f171"/>
              <a:gd name="f180" fmla="+- 0 0 f172"/>
              <a:gd name="f181" fmla="+- 0 0 f173"/>
              <a:gd name="f182" fmla="+- 0 0 f174"/>
              <a:gd name="f183" fmla="+- f120 f175 0"/>
              <a:gd name="f184" fmla="+- f121 f176 0"/>
              <a:gd name="f185" fmla="*/ f12 1 f177"/>
              <a:gd name="f186" fmla="*/ f30 1 f178"/>
              <a:gd name="f187" fmla="+- 0 0 f179"/>
              <a:gd name="f188" fmla="+- 0 0 f180"/>
              <a:gd name="f189" fmla="+- 0 0 f181"/>
              <a:gd name="f190" fmla="+- 0 0 f182"/>
              <a:gd name="f191" fmla="*/ f142 f185 1"/>
              <a:gd name="f192" fmla="*/ f143 f185 1"/>
              <a:gd name="f193" fmla="*/ f144 f186 1"/>
              <a:gd name="f194" fmla="*/ f145 f186 1"/>
              <a:gd name="f195" fmla="*/ f187 f4 1"/>
              <a:gd name="f196" fmla="*/ f188 f4 1"/>
              <a:gd name="f197" fmla="*/ f189 f4 1"/>
              <a:gd name="f198" fmla="*/ f190 f4 1"/>
              <a:gd name="f199" fmla="+- 10800 0 f191"/>
              <a:gd name="f200" fmla="+- 10800 0 f192"/>
              <a:gd name="f201" fmla="+- 10800 0 f193"/>
              <a:gd name="f202" fmla="+- 10800 0 f194"/>
              <a:gd name="f203" fmla="*/ f195 1 f10"/>
              <a:gd name="f204" fmla="*/ f196 1 f10"/>
              <a:gd name="f205" fmla="*/ f197 1 f10"/>
              <a:gd name="f206" fmla="*/ f198 1 f10"/>
              <a:gd name="f207" fmla="*/ f199 f18 1"/>
              <a:gd name="f208" fmla="*/ f200 f19 1"/>
              <a:gd name="f209" fmla="*/ f201 f18 1"/>
              <a:gd name="f210" fmla="*/ f202 f19 1"/>
              <a:gd name="f211" fmla="+- f203 0 f5"/>
              <a:gd name="f212" fmla="+- f204 0 f5"/>
              <a:gd name="f213" fmla="+- f205 0 f5"/>
              <a:gd name="f214" fmla="+- f206 0 f5"/>
              <a:gd name="f215" fmla="cos 1 f211"/>
              <a:gd name="f216" fmla="sin 1 f211"/>
              <a:gd name="f217" fmla="+- f212 0 f211"/>
              <a:gd name="f218" fmla="cos 1 f213"/>
              <a:gd name="f219" fmla="sin 1 f213"/>
              <a:gd name="f220" fmla="+- f214 0 f213"/>
              <a:gd name="f221" fmla="+- 0 0 f215"/>
              <a:gd name="f222" fmla="+- 0 0 f216"/>
              <a:gd name="f223" fmla="+- f217 0 f3"/>
              <a:gd name="f224" fmla="+- 0 0 f218"/>
              <a:gd name="f225" fmla="+- 0 0 f219"/>
              <a:gd name="f226" fmla="+- f220 f3 0"/>
              <a:gd name="f227" fmla="*/ f50 f221 1"/>
              <a:gd name="f228" fmla="*/ f50 f222 1"/>
              <a:gd name="f229" fmla="?: f217 f223 f217"/>
              <a:gd name="f230" fmla="*/ f35 f224 1"/>
              <a:gd name="f231" fmla="*/ f35 f225 1"/>
              <a:gd name="f232" fmla="?: f220 f220 f226"/>
              <a:gd name="f233" fmla="*/ f227 f227 1"/>
              <a:gd name="f234" fmla="*/ f228 f228 1"/>
              <a:gd name="f235" fmla="*/ f230 f230 1"/>
              <a:gd name="f236" fmla="*/ f231 f231 1"/>
              <a:gd name="f237" fmla="+- f233 f234 0"/>
              <a:gd name="f238" fmla="+- f235 f236 0"/>
              <a:gd name="f239" fmla="sqrt f237"/>
              <a:gd name="f240" fmla="sqrt f238"/>
              <a:gd name="f241" fmla="*/ f54 1 f239"/>
              <a:gd name="f242" fmla="*/ f40 1 f240"/>
              <a:gd name="f243" fmla="*/ f221 f241 1"/>
              <a:gd name="f244" fmla="*/ f222 f241 1"/>
              <a:gd name="f245" fmla="*/ f224 f242 1"/>
              <a:gd name="f246" fmla="*/ f225 f242 1"/>
              <a:gd name="f247" fmla="+- f53 0 f243"/>
              <a:gd name="f248" fmla="+- f53 0 f244"/>
              <a:gd name="f249" fmla="+- f39 0 f245"/>
              <a:gd name="f250" fmla="+- f39 0 f246"/>
            </a:gdLst>
            <a:ahLst>
              <a:ahPolar gdRefAng="f0" minAng="f9" maxAng="f14">
                <a:pos x="f207" y="f208"/>
              </a:ahPolar>
              <a:ahPolar gdRefR="f2" minR="f9" maxR="f13" gdRefAng="f1" minAng="f9" maxAng="f14">
                <a:pos x="f209" y="f210"/>
              </a:ahPolar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31" t="f34" r="f32" b="f33"/>
            <a:pathLst>
              <a:path w="21600" h="21600">
                <a:moveTo>
                  <a:pt x="f247" y="f248"/>
                </a:moveTo>
                <a:arcTo wR="f50" hR="f50" stAng="f211" swAng="f229"/>
                <a:lnTo>
                  <a:pt x="f249" y="f250"/>
                </a:lnTo>
                <a:arcTo wR="f35" hR="f35" stAng="f213" swAng="f232"/>
                <a:lnTo>
                  <a:pt x="f119" y="f118"/>
                </a:lnTo>
                <a:lnTo>
                  <a:pt x="f184" y="f183"/>
                </a:lnTo>
                <a:lnTo>
                  <a:pt x="f121" y="f120"/>
                </a:lnTo>
                <a:close/>
              </a:path>
            </a:pathLst>
          </a:custGeom>
          <a:solidFill>
            <a:srgbClr val="729FCF"/>
          </a:solidFill>
          <a:ln w="0">
            <a:solidFill>
              <a:srgbClr val="3465A4"/>
            </a:solidFill>
            <a:prstDash val="solid"/>
          </a:ln>
        </p:spPr>
        <p:txBody>
          <a:bodyPr wrap="square" lIns="108847" tIns="54423" rIns="108847" bIns="54423" anchor="ctr" anchorCtr="0" compatLnSpc="0">
            <a:noAutofit/>
          </a:bodyPr>
          <a:lstStyle/>
          <a:p>
            <a:pPr hangingPunct="0"/>
            <a:endParaRPr lang="fr-FR" sz="2177">
              <a:latin typeface="Liberation Sans" pitchFamily="18"/>
              <a:ea typeface="Microsoft YaHei" pitchFamily="2"/>
              <a:cs typeface="Lucida Sans" pitchFamily="2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2333664-549F-4855-BBCB-B1B6370DEEDC}"/>
              </a:ext>
            </a:extLst>
          </p:cNvPr>
          <p:cNvSpPr txBox="1"/>
          <p:nvPr/>
        </p:nvSpPr>
        <p:spPr>
          <a:xfrm>
            <a:off x="217908" y="4136170"/>
            <a:ext cx="4607303" cy="2469209"/>
          </a:xfrm>
          <a:prstGeom prst="rect">
            <a:avLst/>
          </a:prstGeom>
          <a:noFill/>
          <a:ln>
            <a:noFill/>
          </a:ln>
        </p:spPr>
        <p:txBody>
          <a:bodyPr vert="horz" wrap="none" lIns="108847" tIns="54423" rIns="108847" bIns="54423" anchorCtr="0" compatLnSpc="0">
            <a:spAutoFit/>
          </a:bodyPr>
          <a:lstStyle/>
          <a:p>
            <a:pPr hangingPunct="0"/>
            <a:r>
              <a:rPr lang="fr-FR" sz="3200" dirty="0">
                <a:latin typeface="Liberation Sans" pitchFamily="18"/>
                <a:ea typeface="Microsoft YaHei" pitchFamily="2"/>
                <a:cs typeface="Lucida Sans" pitchFamily="2"/>
              </a:rPr>
              <a:t>You </a:t>
            </a:r>
            <a:r>
              <a:rPr lang="fr-FR" sz="3200" dirty="0" err="1">
                <a:latin typeface="Liberation Sans" pitchFamily="18"/>
                <a:ea typeface="Microsoft YaHei" pitchFamily="2"/>
                <a:cs typeface="Lucida Sans" pitchFamily="2"/>
              </a:rPr>
              <a:t>submit</a:t>
            </a:r>
            <a:endParaRPr lang="fr-FR" sz="3200" dirty="0">
              <a:latin typeface="Liberation Sans" pitchFamily="18"/>
              <a:ea typeface="Microsoft YaHei" pitchFamily="2"/>
              <a:cs typeface="Lucida Sans" pitchFamily="2"/>
            </a:endParaRPr>
          </a:p>
          <a:p>
            <a:pPr hangingPunct="0"/>
            <a:r>
              <a:rPr lang="fr-FR" sz="3200" dirty="0">
                <a:latin typeface="Liberation Sans" pitchFamily="18"/>
                <a:ea typeface="Microsoft YaHei" pitchFamily="2"/>
                <a:cs typeface="Lucida Sans" pitchFamily="2"/>
              </a:rPr>
              <a:t>Something to run</a:t>
            </a:r>
          </a:p>
          <a:p>
            <a:pPr hangingPunct="0"/>
            <a:endParaRPr lang="fr-FR" sz="3200" dirty="0">
              <a:latin typeface="Liberation Sans" pitchFamily="18"/>
              <a:ea typeface="Microsoft YaHei" pitchFamily="2"/>
              <a:cs typeface="Lucida Sans" pitchFamily="2"/>
            </a:endParaRPr>
          </a:p>
          <a:p>
            <a:pPr hangingPunct="0"/>
            <a:r>
              <a:rPr lang="fr-FR" sz="3200" dirty="0">
                <a:latin typeface="Liberation Sans" pitchFamily="18"/>
                <a:ea typeface="Microsoft YaHei" pitchFamily="2"/>
                <a:cs typeface="Lucida Sans" pitchFamily="2"/>
              </a:rPr>
              <a:t>You </a:t>
            </a:r>
            <a:r>
              <a:rPr lang="fr-FR" sz="3200" dirty="0" err="1">
                <a:latin typeface="Liberation Sans" pitchFamily="18"/>
                <a:ea typeface="Microsoft YaHei" pitchFamily="2"/>
                <a:cs typeface="Lucida Sans" pitchFamily="2"/>
              </a:rPr>
              <a:t>don’t</a:t>
            </a:r>
            <a:r>
              <a:rPr lang="fr-FR" sz="3200" dirty="0">
                <a:latin typeface="Liberation Sans" pitchFamily="18"/>
                <a:ea typeface="Microsoft YaHei" pitchFamily="2"/>
                <a:cs typeface="Lucida Sans" pitchFamily="2"/>
              </a:rPr>
              <a:t> run </a:t>
            </a:r>
            <a:r>
              <a:rPr lang="fr-FR" sz="3200" dirty="0" err="1">
                <a:latin typeface="Liberation Sans" pitchFamily="18"/>
                <a:ea typeface="Microsoft YaHei" pitchFamily="2"/>
                <a:cs typeface="Lucida Sans" pitchFamily="2"/>
              </a:rPr>
              <a:t>yourself</a:t>
            </a:r>
            <a:endParaRPr lang="fr-FR" sz="3200" dirty="0">
              <a:latin typeface="Liberation Sans" pitchFamily="18"/>
              <a:ea typeface="Microsoft YaHei" pitchFamily="2"/>
              <a:cs typeface="Lucida Sans" pitchFamily="2"/>
            </a:endParaRPr>
          </a:p>
          <a:p>
            <a:pPr hangingPunct="0"/>
            <a:r>
              <a:rPr lang="fr-FR" sz="3200" dirty="0">
                <a:latin typeface="Liberation Sans" pitchFamily="18"/>
                <a:ea typeface="Microsoft YaHei" pitchFamily="2"/>
                <a:cs typeface="Lucida Sans" pitchFamily="2"/>
              </a:rPr>
              <a:t>You </a:t>
            </a:r>
            <a:r>
              <a:rPr lang="fr-FR" sz="3200" dirty="0" err="1">
                <a:latin typeface="Liberation Sans" pitchFamily="18"/>
                <a:ea typeface="Microsoft YaHei" pitchFamily="2"/>
                <a:cs typeface="Lucida Sans" pitchFamily="2"/>
              </a:rPr>
              <a:t>don’t</a:t>
            </a:r>
            <a:r>
              <a:rPr lang="fr-FR" sz="3200" dirty="0">
                <a:latin typeface="Liberation Sans" pitchFamily="18"/>
                <a:ea typeface="Microsoft YaHei" pitchFamily="2"/>
                <a:cs typeface="Lucida Sans" pitchFamily="2"/>
              </a:rPr>
              <a:t> </a:t>
            </a:r>
            <a:r>
              <a:rPr lang="fr-FR" sz="3200" dirty="0" err="1">
                <a:latin typeface="Liberation Sans" pitchFamily="18"/>
                <a:ea typeface="Microsoft YaHei" pitchFamily="2"/>
                <a:cs typeface="Lucida Sans" pitchFamily="2"/>
              </a:rPr>
              <a:t>choose</a:t>
            </a:r>
            <a:r>
              <a:rPr lang="fr-FR" sz="3200" dirty="0">
                <a:latin typeface="Liberation Sans" pitchFamily="18"/>
                <a:ea typeface="Microsoft YaHei" pitchFamily="2"/>
                <a:cs typeface="Lucida Sans" pitchFamily="2"/>
              </a:rPr>
              <a:t> server</a:t>
            </a:r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60E96D17-4BB8-4405-9BC7-3D58306E8380}"/>
              </a:ext>
            </a:extLst>
          </p:cNvPr>
          <p:cNvSpPr/>
          <p:nvPr/>
        </p:nvSpPr>
        <p:spPr>
          <a:xfrm rot="5422200">
            <a:off x="3827446" y="1915812"/>
            <a:ext cx="653080" cy="2394625"/>
          </a:xfrm>
          <a:custGeom>
            <a:avLst>
              <a:gd name="f0" fmla="val 5400"/>
            </a:avLst>
            <a:gdLst>
              <a:gd name="f1" fmla="val 10800000"/>
              <a:gd name="f2" fmla="val 5400000"/>
              <a:gd name="f3" fmla="val 180"/>
              <a:gd name="f4" fmla="val w"/>
              <a:gd name="f5" fmla="val h"/>
              <a:gd name="f6" fmla="val 0"/>
              <a:gd name="f7" fmla="val 88"/>
              <a:gd name="f8" fmla="val 21600"/>
              <a:gd name="f9" fmla="val 44"/>
              <a:gd name="f10" fmla="val -2147483647"/>
              <a:gd name="f11" fmla="val 2147483647"/>
              <a:gd name="f12" fmla="val 10800"/>
              <a:gd name="f13" fmla="val 20"/>
              <a:gd name="f14" fmla="val 68"/>
              <a:gd name="f15" fmla="+- 0 0 0"/>
              <a:gd name="f16" fmla="*/ f4 1 88"/>
              <a:gd name="f17" fmla="*/ f5 1 21600"/>
              <a:gd name="f18" fmla="pin 0 f0 10800"/>
              <a:gd name="f19" fmla="*/ f15 f1 1"/>
              <a:gd name="f20" fmla="*/ f18 2 1"/>
              <a:gd name="f21" fmla="*/ f9 f16 1"/>
              <a:gd name="f22" fmla="*/ f18 f17 1"/>
              <a:gd name="f23" fmla="*/ 0 f16 1"/>
              <a:gd name="f24" fmla="*/ 88 f16 1"/>
              <a:gd name="f25" fmla="*/ 44 f16 1"/>
              <a:gd name="f26" fmla="*/ f19 1 f3"/>
              <a:gd name="f27" fmla="*/ 0 f17 1"/>
              <a:gd name="f28" fmla="*/ 10800 f17 1"/>
              <a:gd name="f29" fmla="*/ 21600 f17 1"/>
              <a:gd name="f30" fmla="*/ f20 1 4"/>
              <a:gd name="f31" fmla="*/ f20 1 2"/>
              <a:gd name="f32" fmla="+- f26 0 f2"/>
              <a:gd name="f33" fmla="*/ f30 6 1"/>
              <a:gd name="f34" fmla="+- 21600 0 f30"/>
              <a:gd name="f35" fmla="*/ f31 f17 1"/>
              <a:gd name="f36" fmla="*/ f33 1 11"/>
              <a:gd name="f37" fmla="*/ f34 f17 1"/>
              <a:gd name="f38" fmla="+- f30 0 f36"/>
              <a:gd name="f39" fmla="+- f34 f36 0"/>
              <a:gd name="f40" fmla="+- f30 f36 0"/>
            </a:gdLst>
            <a:ahLst>
              <a:ahXY gdRefY="f0" minY="f6" maxY="f12">
                <a:pos x="f21" y="f22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32">
                <a:pos x="f25" y="f35"/>
              </a:cxn>
              <a:cxn ang="f32">
                <a:pos x="f25" y="f27"/>
              </a:cxn>
              <a:cxn ang="f32">
                <a:pos x="f23" y="f28"/>
              </a:cxn>
              <a:cxn ang="f32">
                <a:pos x="f25" y="f29"/>
              </a:cxn>
              <a:cxn ang="f32">
                <a:pos x="f24" y="f28"/>
              </a:cxn>
            </a:cxnLst>
            <a:rect l="f23" t="f35" r="f24" b="f37"/>
            <a:pathLst>
              <a:path w="88" h="21600">
                <a:moveTo>
                  <a:pt x="f9" y="f6"/>
                </a:moveTo>
                <a:cubicBezTo>
                  <a:pt x="f13" y="f6"/>
                  <a:pt x="f6" y="f38"/>
                  <a:pt x="f6" y="f30"/>
                </a:cubicBezTo>
                <a:lnTo>
                  <a:pt x="f6" y="f34"/>
                </a:lnTo>
                <a:cubicBezTo>
                  <a:pt x="f6" y="f39"/>
                  <a:pt x="f13" y="f8"/>
                  <a:pt x="f9" y="f8"/>
                </a:cubicBezTo>
                <a:cubicBezTo>
                  <a:pt x="f14" y="f8"/>
                  <a:pt x="f7" y="f39"/>
                  <a:pt x="f7" y="f34"/>
                </a:cubicBezTo>
                <a:lnTo>
                  <a:pt x="f7" y="f30"/>
                </a:lnTo>
                <a:cubicBezTo>
                  <a:pt x="f7" y="f38"/>
                  <a:pt x="f14" y="f6"/>
                  <a:pt x="f9" y="f6"/>
                </a:cubicBezTo>
                <a:close/>
              </a:path>
              <a:path w="88" h="21600">
                <a:moveTo>
                  <a:pt x="f9" y="f6"/>
                </a:moveTo>
                <a:cubicBezTo>
                  <a:pt x="f13" y="f6"/>
                  <a:pt x="f6" y="f38"/>
                  <a:pt x="f6" y="f30"/>
                </a:cubicBezTo>
                <a:cubicBezTo>
                  <a:pt x="f6" y="f40"/>
                  <a:pt x="f13" y="f31"/>
                  <a:pt x="f9" y="f31"/>
                </a:cubicBezTo>
                <a:cubicBezTo>
                  <a:pt x="f14" y="f31"/>
                  <a:pt x="f7" y="f40"/>
                  <a:pt x="f7" y="f30"/>
                </a:cubicBezTo>
                <a:cubicBezTo>
                  <a:pt x="f7" y="f38"/>
                  <a:pt x="f14" y="f6"/>
                  <a:pt x="f9" y="f6"/>
                </a:cubicBezTo>
                <a:close/>
              </a:path>
            </a:pathLst>
          </a:custGeom>
          <a:solidFill>
            <a:srgbClr val="729FCF"/>
          </a:solidFill>
          <a:ln w="0">
            <a:solidFill>
              <a:srgbClr val="3465A4"/>
            </a:solidFill>
            <a:prstDash val="solid"/>
          </a:ln>
        </p:spPr>
        <p:txBody>
          <a:bodyPr wrap="none" lIns="108847" tIns="54423" rIns="108847" bIns="54423" anchor="ctr" anchorCtr="0" compatLnSpc="0">
            <a:noAutofit/>
          </a:bodyPr>
          <a:lstStyle/>
          <a:p>
            <a:pPr hangingPunct="0"/>
            <a:endParaRPr lang="fr-FR" sz="2177">
              <a:latin typeface="Liberation Sans" pitchFamily="18"/>
              <a:ea typeface="Microsoft YaHei" pitchFamily="2"/>
              <a:cs typeface="Lucida Sans" pitchFamily="2"/>
            </a:endParaRPr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393CCEC7-14A2-467C-B914-537872B3A14C}"/>
              </a:ext>
            </a:extLst>
          </p:cNvPr>
          <p:cNvSpPr/>
          <p:nvPr/>
        </p:nvSpPr>
        <p:spPr>
          <a:xfrm>
            <a:off x="1133155" y="3301099"/>
            <a:ext cx="435386" cy="217693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solidFill>
            <a:srgbClr val="0F4B8B"/>
          </a:solidFill>
          <a:ln w="0">
            <a:solidFill>
              <a:srgbClr val="3465A4"/>
            </a:solidFill>
            <a:prstDash val="solid"/>
          </a:ln>
        </p:spPr>
        <p:txBody>
          <a:bodyPr wrap="none" lIns="108847" tIns="54423" rIns="108847" bIns="54423" anchor="ctr" anchorCtr="0" compatLnSpc="0">
            <a:noAutofit/>
          </a:bodyPr>
          <a:lstStyle/>
          <a:p>
            <a:pPr hangingPunct="0"/>
            <a:endParaRPr lang="fr-FR" sz="2177">
              <a:latin typeface="Liberation Sans" pitchFamily="18"/>
              <a:ea typeface="Microsoft YaHei" pitchFamily="2"/>
              <a:cs typeface="Lucida Sans" pitchFamily="2"/>
            </a:endParaRPr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93F22026-4949-48F7-975B-02B0947DC242}"/>
              </a:ext>
            </a:extLst>
          </p:cNvPr>
          <p:cNvSpPr/>
          <p:nvPr/>
        </p:nvSpPr>
        <p:spPr>
          <a:xfrm>
            <a:off x="3788074" y="3004166"/>
            <a:ext cx="435386" cy="217693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solidFill>
            <a:srgbClr val="0F4B8B"/>
          </a:solidFill>
          <a:ln w="0">
            <a:solidFill>
              <a:srgbClr val="3465A4"/>
            </a:solidFill>
            <a:prstDash val="solid"/>
          </a:ln>
        </p:spPr>
        <p:txBody>
          <a:bodyPr wrap="none" lIns="108847" tIns="54423" rIns="108847" bIns="54423" anchor="ctr" anchorCtr="0" compatLnSpc="0">
            <a:noAutofit/>
          </a:bodyPr>
          <a:lstStyle/>
          <a:p>
            <a:pPr hangingPunct="0"/>
            <a:endParaRPr lang="fr-FR" sz="2177">
              <a:latin typeface="Liberation Sans" pitchFamily="18"/>
              <a:ea typeface="Microsoft YaHei" pitchFamily="2"/>
              <a:cs typeface="Lucida Sans" pitchFamily="2"/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C3906C24-576C-4299-9F92-E07229893040}"/>
              </a:ext>
            </a:extLst>
          </p:cNvPr>
          <p:cNvSpPr/>
          <p:nvPr/>
        </p:nvSpPr>
        <p:spPr>
          <a:xfrm>
            <a:off x="4354077" y="3004166"/>
            <a:ext cx="435386" cy="217693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solidFill>
            <a:srgbClr val="0F4B8B"/>
          </a:solidFill>
          <a:ln w="0">
            <a:solidFill>
              <a:srgbClr val="3465A4"/>
            </a:solidFill>
            <a:prstDash val="solid"/>
          </a:ln>
        </p:spPr>
        <p:txBody>
          <a:bodyPr wrap="none" lIns="108847" tIns="54423" rIns="108847" bIns="54423" anchor="ctr" anchorCtr="0" compatLnSpc="0">
            <a:noAutofit/>
          </a:bodyPr>
          <a:lstStyle/>
          <a:p>
            <a:pPr hangingPunct="0"/>
            <a:endParaRPr lang="fr-FR" sz="2177">
              <a:latin typeface="Liberation Sans" pitchFamily="18"/>
              <a:ea typeface="Microsoft YaHei" pitchFamily="2"/>
              <a:cs typeface="Lucida Sans" pitchFamily="2"/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11127C7F-BBE0-4701-858E-B105A0BA9747}"/>
              </a:ext>
            </a:extLst>
          </p:cNvPr>
          <p:cNvSpPr/>
          <p:nvPr/>
        </p:nvSpPr>
        <p:spPr>
          <a:xfrm>
            <a:off x="6879318" y="2133393"/>
            <a:ext cx="3483091" cy="2176932"/>
          </a:xfrm>
          <a:custGeom>
            <a:avLst/>
            <a:gdLst>
              <a:gd name="f0" fmla="val w"/>
              <a:gd name="f1" fmla="val h"/>
              <a:gd name="f2" fmla="val 0"/>
              <a:gd name="f3" fmla="val 21600"/>
              <a:gd name="f4" fmla="val 1930"/>
              <a:gd name="f5" fmla="val 7160"/>
              <a:gd name="f6" fmla="val 1530"/>
              <a:gd name="f7" fmla="val 4490"/>
              <a:gd name="f8" fmla="val 3400"/>
              <a:gd name="f9" fmla="val 1970"/>
              <a:gd name="f10" fmla="val 5270"/>
              <a:gd name="f11" fmla="val 5860"/>
              <a:gd name="f12" fmla="val 1950"/>
              <a:gd name="f13" fmla="val 6470"/>
              <a:gd name="f14" fmla="val 2210"/>
              <a:gd name="f15" fmla="val 6970"/>
              <a:gd name="f16" fmla="val 2600"/>
              <a:gd name="f17" fmla="val 7450"/>
              <a:gd name="f18" fmla="val 1390"/>
              <a:gd name="f19" fmla="val 8340"/>
              <a:gd name="f20" fmla="val 650"/>
              <a:gd name="f21" fmla="val 9340"/>
              <a:gd name="f22" fmla="val 10004"/>
              <a:gd name="f23" fmla="val 690"/>
              <a:gd name="f24" fmla="val 10710"/>
              <a:gd name="f25" fmla="val 1050"/>
              <a:gd name="f26" fmla="val 11210"/>
              <a:gd name="f27" fmla="val 1700"/>
              <a:gd name="f28" fmla="val 11570"/>
              <a:gd name="f29" fmla="val 630"/>
              <a:gd name="f30" fmla="val 12330"/>
              <a:gd name="f31" fmla="val 13150"/>
              <a:gd name="f32" fmla="val 13840"/>
              <a:gd name="f33" fmla="val 14470"/>
              <a:gd name="f34" fmla="val 460"/>
              <a:gd name="f35" fmla="val 14870"/>
              <a:gd name="f36" fmla="val 1160"/>
              <a:gd name="f37" fmla="val 15330"/>
              <a:gd name="f38" fmla="val 440"/>
              <a:gd name="f39" fmla="val 16020"/>
              <a:gd name="f40" fmla="val 16740"/>
              <a:gd name="f41" fmla="val 17910"/>
              <a:gd name="f42" fmla="val 18900"/>
              <a:gd name="f43" fmla="val 1130"/>
              <a:gd name="f44" fmla="val 19110"/>
              <a:gd name="f45" fmla="val 2710"/>
              <a:gd name="f46" fmla="val 20240"/>
              <a:gd name="f47" fmla="val 3150"/>
              <a:gd name="f48" fmla="val 21060"/>
              <a:gd name="f49" fmla="val 4580"/>
              <a:gd name="f50" fmla="val 6220"/>
              <a:gd name="f51" fmla="val 6720"/>
              <a:gd name="f52" fmla="val 21000"/>
              <a:gd name="f53" fmla="val 7200"/>
              <a:gd name="f54" fmla="val 20830"/>
              <a:gd name="f55" fmla="val 7660"/>
              <a:gd name="f56" fmla="val 21310"/>
              <a:gd name="f57" fmla="val 8460"/>
              <a:gd name="f58" fmla="val 9450"/>
              <a:gd name="f59" fmla="val 10460"/>
              <a:gd name="f60" fmla="val 12750"/>
              <a:gd name="f61" fmla="val 20310"/>
              <a:gd name="f62" fmla="val 14680"/>
              <a:gd name="f63" fmla="val 18650"/>
              <a:gd name="f64" fmla="val 15010"/>
              <a:gd name="f65" fmla="val 17200"/>
              <a:gd name="f66" fmla="val 17370"/>
              <a:gd name="f67" fmla="val 18920"/>
              <a:gd name="f68" fmla="val 15770"/>
              <a:gd name="f69" fmla="val 15220"/>
              <a:gd name="f70" fmla="val 14700"/>
              <a:gd name="f71" fmla="val 18710"/>
              <a:gd name="f72" fmla="val 14240"/>
              <a:gd name="f73" fmla="val 18310"/>
              <a:gd name="f74" fmla="val 13820"/>
              <a:gd name="f75" fmla="val 12490"/>
              <a:gd name="f76" fmla="val 11000"/>
              <a:gd name="f77" fmla="val 9890"/>
              <a:gd name="f78" fmla="val 8840"/>
              <a:gd name="f79" fmla="val 20790"/>
              <a:gd name="f80" fmla="val 8210"/>
              <a:gd name="f81" fmla="val 19510"/>
              <a:gd name="f82" fmla="val 7620"/>
              <a:gd name="f83" fmla="val 20000"/>
              <a:gd name="f84" fmla="val 7930"/>
              <a:gd name="f85" fmla="val 20290"/>
              <a:gd name="f86" fmla="val 6240"/>
              <a:gd name="f87" fmla="val 4850"/>
              <a:gd name="f88" fmla="val 3570"/>
              <a:gd name="f89" fmla="val 19280"/>
              <a:gd name="f90" fmla="val 2900"/>
              <a:gd name="f91" fmla="val 17640"/>
              <a:gd name="f92" fmla="val 1300"/>
              <a:gd name="f93" fmla="val 17600"/>
              <a:gd name="f94" fmla="val 480"/>
              <a:gd name="f95" fmla="val 16300"/>
              <a:gd name="f96" fmla="val 14660"/>
              <a:gd name="f97" fmla="val 13900"/>
              <a:gd name="f98" fmla="val 13210"/>
              <a:gd name="f99" fmla="val 1070"/>
              <a:gd name="f100" fmla="val 12640"/>
              <a:gd name="f101" fmla="val 380"/>
              <a:gd name="f102" fmla="val 12160"/>
              <a:gd name="f103" fmla="val 10120"/>
              <a:gd name="f104" fmla="val 8590"/>
              <a:gd name="f105" fmla="val 840"/>
              <a:gd name="f106" fmla="val 7330"/>
              <a:gd name="f107" fmla="val 7410"/>
              <a:gd name="f108" fmla="val 2040"/>
              <a:gd name="f109" fmla="val 7690"/>
              <a:gd name="f110" fmla="val 2090"/>
              <a:gd name="f111" fmla="val 7920"/>
              <a:gd name="f112" fmla="val 2790"/>
              <a:gd name="f113" fmla="val 7480"/>
              <a:gd name="f114" fmla="val 3050"/>
              <a:gd name="f115" fmla="val 7670"/>
              <a:gd name="f116" fmla="val 3310"/>
              <a:gd name="f117" fmla="val 11130"/>
              <a:gd name="f118" fmla="val 1910"/>
              <a:gd name="f119" fmla="val 11080"/>
              <a:gd name="f120" fmla="val 2160"/>
              <a:gd name="f121" fmla="val 11030"/>
              <a:gd name="f122" fmla="val 2400"/>
              <a:gd name="f123" fmla="val 14720"/>
              <a:gd name="f124" fmla="val 1400"/>
              <a:gd name="f125" fmla="val 14640"/>
              <a:gd name="f126" fmla="val 1720"/>
              <a:gd name="f127" fmla="val 14540"/>
              <a:gd name="f128" fmla="val 2010"/>
              <a:gd name="f129" fmla="val 19130"/>
              <a:gd name="f130" fmla="val 2890"/>
              <a:gd name="f131" fmla="val 19230"/>
              <a:gd name="f132" fmla="val 3290"/>
              <a:gd name="f133" fmla="val 19190"/>
              <a:gd name="f134" fmla="val 3380"/>
              <a:gd name="f135" fmla="val 20660"/>
              <a:gd name="f136" fmla="val 8170"/>
              <a:gd name="f137" fmla="val 20430"/>
              <a:gd name="f138" fmla="val 8620"/>
              <a:gd name="f139" fmla="val 20110"/>
              <a:gd name="f140" fmla="val 8990"/>
              <a:gd name="f141" fmla="val 18660"/>
              <a:gd name="f142" fmla="val 18740"/>
              <a:gd name="f143" fmla="val 14200"/>
              <a:gd name="f144" fmla="val 18280"/>
              <a:gd name="f145" fmla="val 12200"/>
              <a:gd name="f146" fmla="val 17000"/>
              <a:gd name="f147" fmla="val 11450"/>
              <a:gd name="f148" fmla="val 14320"/>
              <a:gd name="f149" fmla="val 17980"/>
              <a:gd name="f150" fmla="val 14350"/>
              <a:gd name="f151" fmla="val 17680"/>
              <a:gd name="f152" fmla="val 14370"/>
              <a:gd name="f153" fmla="val 17360"/>
              <a:gd name="f154" fmla="val 8220"/>
              <a:gd name="f155" fmla="val 8060"/>
              <a:gd name="f156" fmla="val 19250"/>
              <a:gd name="f157" fmla="val 7960"/>
              <a:gd name="f158" fmla="val 18950"/>
              <a:gd name="f159" fmla="val 7860"/>
              <a:gd name="f160" fmla="val 18640"/>
              <a:gd name="f161" fmla="val 3090"/>
              <a:gd name="f162" fmla="val 3280"/>
              <a:gd name="f163" fmla="val 17540"/>
              <a:gd name="f164" fmla="val 3460"/>
              <a:gd name="f165" fmla="val 17450"/>
              <a:gd name="f166" fmla="val 12900"/>
              <a:gd name="f167" fmla="val 1780"/>
              <a:gd name="f168" fmla="val 13130"/>
              <a:gd name="f169" fmla="val 2330"/>
              <a:gd name="f170" fmla="val 13040"/>
              <a:gd name="f171" fmla="*/ f0 1 21600"/>
              <a:gd name="f172" fmla="*/ f1 1 21600"/>
              <a:gd name="f173" fmla="*/ 3000 f171 1"/>
              <a:gd name="f174" fmla="*/ 17110 f171 1"/>
              <a:gd name="f175" fmla="*/ 17330 f172 1"/>
              <a:gd name="f176" fmla="*/ 3320 f172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73" t="f176" r="f174" b="f175"/>
            <a:pathLst>
              <a:path w="21600" h="21600">
                <a:moveTo>
                  <a:pt x="f4" y="f5"/>
                </a:moveTo>
                <a:cubicBezTo>
                  <a:pt x="f6" y="f7"/>
                  <a:pt x="f8" y="f9"/>
                  <a:pt x="f10" y="f9"/>
                </a:cubicBezTo>
                <a:cubicBezTo>
                  <a:pt x="f11" y="f12"/>
                  <a:pt x="f13" y="f14"/>
                  <a:pt x="f15" y="f16"/>
                </a:cubicBezTo>
                <a:cubicBezTo>
                  <a:pt x="f17" y="f18"/>
                  <a:pt x="f19" y="f20"/>
                  <a:pt x="f21" y="f20"/>
                </a:cubicBezTo>
                <a:cubicBezTo>
                  <a:pt x="f22" y="f23"/>
                  <a:pt x="f24" y="f25"/>
                  <a:pt x="f26" y="f27"/>
                </a:cubicBezTo>
                <a:cubicBezTo>
                  <a:pt x="f28" y="f29"/>
                  <a:pt x="f30" y="f2"/>
                  <a:pt x="f31" y="f2"/>
                </a:cubicBezTo>
                <a:cubicBezTo>
                  <a:pt x="f32" y="f2"/>
                  <a:pt x="f33" y="f34"/>
                  <a:pt x="f35" y="f36"/>
                </a:cubicBezTo>
                <a:cubicBezTo>
                  <a:pt x="f37" y="f38"/>
                  <a:pt x="f39" y="f2"/>
                  <a:pt x="f40" y="f2"/>
                </a:cubicBezTo>
                <a:cubicBezTo>
                  <a:pt x="f41" y="f2"/>
                  <a:pt x="f42" y="f43"/>
                  <a:pt x="f44" y="f45"/>
                </a:cubicBezTo>
                <a:cubicBezTo>
                  <a:pt x="f46" y="f47"/>
                  <a:pt x="f48" y="f49"/>
                  <a:pt x="f48" y="f50"/>
                </a:cubicBezTo>
                <a:cubicBezTo>
                  <a:pt x="f48" y="f51"/>
                  <a:pt x="f52" y="f53"/>
                  <a:pt x="f54" y="f55"/>
                </a:cubicBezTo>
                <a:cubicBezTo>
                  <a:pt x="f56" y="f57"/>
                  <a:pt x="f3" y="f58"/>
                  <a:pt x="f3" y="f59"/>
                </a:cubicBezTo>
                <a:cubicBezTo>
                  <a:pt x="f3" y="f60"/>
                  <a:pt x="f61" y="f62"/>
                  <a:pt x="f63" y="f64"/>
                </a:cubicBezTo>
                <a:cubicBezTo>
                  <a:pt x="f63" y="f65"/>
                  <a:pt x="f66" y="f67"/>
                  <a:pt x="f68" y="f67"/>
                </a:cubicBezTo>
                <a:cubicBezTo>
                  <a:pt x="f69" y="f67"/>
                  <a:pt x="f70" y="f71"/>
                  <a:pt x="f72" y="f73"/>
                </a:cubicBezTo>
                <a:cubicBezTo>
                  <a:pt x="f74" y="f46"/>
                  <a:pt x="f75" y="f3"/>
                  <a:pt x="f76" y="f3"/>
                </a:cubicBezTo>
                <a:cubicBezTo>
                  <a:pt x="f77" y="f3"/>
                  <a:pt x="f78" y="f79"/>
                  <a:pt x="f80" y="f81"/>
                </a:cubicBezTo>
                <a:cubicBezTo>
                  <a:pt x="f82" y="f83"/>
                  <a:pt x="f84" y="f85"/>
                  <a:pt x="f86" y="f85"/>
                </a:cubicBezTo>
                <a:cubicBezTo>
                  <a:pt x="f87" y="f85"/>
                  <a:pt x="f88" y="f89"/>
                  <a:pt x="f90" y="f91"/>
                </a:cubicBezTo>
                <a:cubicBezTo>
                  <a:pt x="f92" y="f93"/>
                  <a:pt x="f94" y="f95"/>
                  <a:pt x="f94" y="f96"/>
                </a:cubicBezTo>
                <a:cubicBezTo>
                  <a:pt x="f94" y="f97"/>
                  <a:pt x="f23" y="f98"/>
                  <a:pt x="f99" y="f100"/>
                </a:cubicBezTo>
                <a:cubicBezTo>
                  <a:pt x="f101" y="f102"/>
                  <a:pt x="f2" y="f26"/>
                  <a:pt x="f2" y="f103"/>
                </a:cubicBezTo>
                <a:cubicBezTo>
                  <a:pt x="f2" y="f104"/>
                  <a:pt x="f105" y="f106"/>
                  <a:pt x="f4" y="f5"/>
                </a:cubicBezTo>
                <a:close/>
              </a:path>
              <a:path w="21600" h="21600" fill="none">
                <a:moveTo>
                  <a:pt x="f4" y="f5"/>
                </a:moveTo>
                <a:cubicBezTo>
                  <a:pt x="f12" y="f107"/>
                  <a:pt x="f108" y="f109"/>
                  <a:pt x="f110" y="f111"/>
                </a:cubicBezTo>
              </a:path>
              <a:path w="21600" h="21600" fill="none">
                <a:moveTo>
                  <a:pt x="f15" y="f16"/>
                </a:moveTo>
                <a:cubicBezTo>
                  <a:pt x="f53" y="f112"/>
                  <a:pt x="f113" y="f114"/>
                  <a:pt x="f115" y="f116"/>
                </a:cubicBezTo>
              </a:path>
              <a:path w="21600" h="21600" fill="none">
                <a:moveTo>
                  <a:pt x="f26" y="f27"/>
                </a:moveTo>
                <a:cubicBezTo>
                  <a:pt x="f117" y="f118"/>
                  <a:pt x="f119" y="f120"/>
                  <a:pt x="f121" y="f122"/>
                </a:cubicBezTo>
              </a:path>
              <a:path w="21600" h="21600" fill="none">
                <a:moveTo>
                  <a:pt x="f35" y="f36"/>
                </a:moveTo>
                <a:cubicBezTo>
                  <a:pt x="f123" y="f124"/>
                  <a:pt x="f125" y="f126"/>
                  <a:pt x="f127" y="f128"/>
                </a:cubicBezTo>
              </a:path>
              <a:path w="21600" h="21600" fill="none">
                <a:moveTo>
                  <a:pt x="f44" y="f45"/>
                </a:moveTo>
                <a:cubicBezTo>
                  <a:pt x="f129" y="f130"/>
                  <a:pt x="f131" y="f132"/>
                  <a:pt x="f133" y="f134"/>
                </a:cubicBezTo>
              </a:path>
              <a:path w="21600" h="21600" fill="none">
                <a:moveTo>
                  <a:pt x="f54" y="f55"/>
                </a:moveTo>
                <a:cubicBezTo>
                  <a:pt x="f135" y="f136"/>
                  <a:pt x="f137" y="f138"/>
                  <a:pt x="f139" y="f140"/>
                </a:cubicBezTo>
              </a:path>
              <a:path w="21600" h="21600" fill="none">
                <a:moveTo>
                  <a:pt x="f141" y="f64"/>
                </a:moveTo>
                <a:cubicBezTo>
                  <a:pt x="f142" y="f143"/>
                  <a:pt x="f144" y="f145"/>
                  <a:pt x="f146" y="f147"/>
                </a:cubicBezTo>
              </a:path>
              <a:path w="21600" h="21600" fill="none">
                <a:moveTo>
                  <a:pt x="f72" y="f73"/>
                </a:moveTo>
                <a:cubicBezTo>
                  <a:pt x="f148" y="f149"/>
                  <a:pt x="f150" y="f151"/>
                  <a:pt x="f152" y="f153"/>
                </a:cubicBezTo>
              </a:path>
              <a:path w="21600" h="21600" fill="none">
                <a:moveTo>
                  <a:pt x="f154" y="f81"/>
                </a:moveTo>
                <a:cubicBezTo>
                  <a:pt x="f155" y="f156"/>
                  <a:pt x="f157" y="f158"/>
                  <a:pt x="f159" y="f160"/>
                </a:cubicBezTo>
              </a:path>
              <a:path w="21600" h="21600" fill="none">
                <a:moveTo>
                  <a:pt x="f90" y="f91"/>
                </a:moveTo>
                <a:cubicBezTo>
                  <a:pt x="f161" y="f93"/>
                  <a:pt x="f162" y="f163"/>
                  <a:pt x="f164" y="f165"/>
                </a:cubicBezTo>
              </a:path>
              <a:path w="21600" h="21600" fill="none">
                <a:moveTo>
                  <a:pt x="f99" y="f100"/>
                </a:moveTo>
                <a:cubicBezTo>
                  <a:pt x="f124" y="f166"/>
                  <a:pt x="f167" y="f168"/>
                  <a:pt x="f169" y="f170"/>
                </a:cubicBezTo>
              </a:path>
            </a:pathLst>
          </a:custGeom>
          <a:noFill/>
          <a:ln w="0">
            <a:solidFill>
              <a:srgbClr val="3465A4"/>
            </a:solidFill>
            <a:prstDash val="solid"/>
          </a:ln>
        </p:spPr>
        <p:txBody>
          <a:bodyPr wrap="square" lIns="108847" tIns="54423" rIns="108847" bIns="54423" anchor="ctr" anchorCtr="0" compatLnSpc="0">
            <a:noAutofit/>
          </a:bodyPr>
          <a:lstStyle/>
          <a:p>
            <a:pPr hangingPunct="0"/>
            <a:endParaRPr lang="fr-FR" sz="2177">
              <a:latin typeface="Liberation Sans" pitchFamily="18"/>
              <a:ea typeface="Microsoft YaHei" pitchFamily="2"/>
              <a:cs typeface="Lucida Sans" pitchFamily="2"/>
            </a:endParaRP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EE95C365-C25A-4443-A6D2-E864E7C14B59}"/>
              </a:ext>
            </a:extLst>
          </p:cNvPr>
          <p:cNvSpPr/>
          <p:nvPr/>
        </p:nvSpPr>
        <p:spPr>
          <a:xfrm>
            <a:off x="8838556" y="2568780"/>
            <a:ext cx="870773" cy="443223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solidFill>
            <a:srgbClr val="729FCF"/>
          </a:solidFill>
          <a:ln w="0">
            <a:solidFill>
              <a:srgbClr val="3465A4"/>
            </a:solidFill>
            <a:prstDash val="solid"/>
          </a:ln>
        </p:spPr>
        <p:txBody>
          <a:bodyPr wrap="none" lIns="108847" tIns="54423" rIns="108847" bIns="54423" anchor="ctr" anchorCtr="0" compatLnSpc="0">
            <a:noAutofit/>
          </a:bodyPr>
          <a:lstStyle/>
          <a:p>
            <a:pPr hangingPunct="0"/>
            <a:endParaRPr lang="fr-FR" sz="2177">
              <a:latin typeface="Liberation Sans" pitchFamily="18"/>
              <a:ea typeface="Microsoft YaHei" pitchFamily="2"/>
              <a:cs typeface="Lucida Sans" pitchFamily="2"/>
            </a:endParaRP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33681C15-A85B-4287-80A4-8E72DD72AE7D}"/>
              </a:ext>
            </a:extLst>
          </p:cNvPr>
          <p:cNvSpPr/>
          <p:nvPr/>
        </p:nvSpPr>
        <p:spPr>
          <a:xfrm>
            <a:off x="7532397" y="2778636"/>
            <a:ext cx="870773" cy="443223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solidFill>
            <a:srgbClr val="729FCF"/>
          </a:solidFill>
          <a:ln w="0">
            <a:solidFill>
              <a:srgbClr val="3465A4"/>
            </a:solidFill>
            <a:prstDash val="solid"/>
          </a:ln>
        </p:spPr>
        <p:txBody>
          <a:bodyPr wrap="none" lIns="108847" tIns="54423" rIns="108847" bIns="54423" anchor="ctr" anchorCtr="0" compatLnSpc="0">
            <a:noAutofit/>
          </a:bodyPr>
          <a:lstStyle/>
          <a:p>
            <a:pPr hangingPunct="0"/>
            <a:endParaRPr lang="fr-FR" sz="2177">
              <a:latin typeface="Liberation Sans" pitchFamily="18"/>
              <a:ea typeface="Microsoft YaHei" pitchFamily="2"/>
              <a:cs typeface="Lucida Sans" pitchFamily="2"/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E2F0BF79-508B-499A-826D-7084E6C7BDDC}"/>
              </a:ext>
            </a:extLst>
          </p:cNvPr>
          <p:cNvSpPr/>
          <p:nvPr/>
        </p:nvSpPr>
        <p:spPr>
          <a:xfrm>
            <a:off x="7750091" y="3004166"/>
            <a:ext cx="870773" cy="443223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solidFill>
            <a:srgbClr val="729FCF"/>
          </a:solidFill>
          <a:ln w="0">
            <a:solidFill>
              <a:srgbClr val="3465A4"/>
            </a:solidFill>
            <a:prstDash val="solid"/>
          </a:ln>
        </p:spPr>
        <p:txBody>
          <a:bodyPr wrap="none" lIns="108847" tIns="54423" rIns="108847" bIns="54423" anchor="ctr" anchorCtr="0" compatLnSpc="0">
            <a:noAutofit/>
          </a:bodyPr>
          <a:lstStyle/>
          <a:p>
            <a:pPr hangingPunct="0"/>
            <a:endParaRPr lang="fr-FR" sz="2177">
              <a:latin typeface="Liberation Sans" pitchFamily="18"/>
              <a:ea typeface="Microsoft YaHei" pitchFamily="2"/>
              <a:cs typeface="Lucida Sans" pitchFamily="2"/>
            </a:endParaRP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F2A36BAC-9653-41F5-A1CD-299C334615FC}"/>
              </a:ext>
            </a:extLst>
          </p:cNvPr>
          <p:cNvSpPr/>
          <p:nvPr/>
        </p:nvSpPr>
        <p:spPr>
          <a:xfrm>
            <a:off x="7314704" y="3439552"/>
            <a:ext cx="870773" cy="443223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solidFill>
            <a:srgbClr val="729FCF"/>
          </a:solidFill>
          <a:ln w="0">
            <a:solidFill>
              <a:srgbClr val="3465A4"/>
            </a:solidFill>
            <a:prstDash val="solid"/>
          </a:ln>
        </p:spPr>
        <p:txBody>
          <a:bodyPr wrap="none" lIns="108847" tIns="54423" rIns="108847" bIns="54423" anchor="ctr" anchorCtr="0" compatLnSpc="0">
            <a:noAutofit/>
          </a:bodyPr>
          <a:lstStyle/>
          <a:p>
            <a:pPr hangingPunct="0"/>
            <a:endParaRPr lang="fr-FR" sz="2177">
              <a:latin typeface="Liberation Sans" pitchFamily="18"/>
              <a:ea typeface="Microsoft YaHei" pitchFamily="2"/>
              <a:cs typeface="Lucida Sans" pitchFamily="2"/>
            </a:endParaRP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189429A4-441E-47E5-AB18-9540216ABC4E}"/>
              </a:ext>
            </a:extLst>
          </p:cNvPr>
          <p:cNvSpPr/>
          <p:nvPr/>
        </p:nvSpPr>
        <p:spPr>
          <a:xfrm>
            <a:off x="8359631" y="3518793"/>
            <a:ext cx="870773" cy="443223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solidFill>
            <a:srgbClr val="729FCF"/>
          </a:solidFill>
          <a:ln w="0">
            <a:solidFill>
              <a:srgbClr val="3465A4"/>
            </a:solidFill>
            <a:prstDash val="solid"/>
          </a:ln>
        </p:spPr>
        <p:txBody>
          <a:bodyPr wrap="none" lIns="108847" tIns="54423" rIns="108847" bIns="54423" anchor="ctr" anchorCtr="0" compatLnSpc="0">
            <a:noAutofit/>
          </a:bodyPr>
          <a:lstStyle/>
          <a:p>
            <a:pPr hangingPunct="0"/>
            <a:endParaRPr lang="fr-FR" sz="2177">
              <a:latin typeface="Liberation Sans" pitchFamily="18"/>
              <a:ea typeface="Microsoft YaHei" pitchFamily="2"/>
              <a:cs typeface="Lucida Sans" pitchFamily="2"/>
            </a:endParaRPr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7B157939-7D59-4F9C-8E15-3D60F4E1676F}"/>
              </a:ext>
            </a:extLst>
          </p:cNvPr>
          <p:cNvSpPr/>
          <p:nvPr/>
        </p:nvSpPr>
        <p:spPr>
          <a:xfrm>
            <a:off x="8795018" y="3301099"/>
            <a:ext cx="870773" cy="443223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solidFill>
            <a:srgbClr val="729FCF"/>
          </a:solidFill>
          <a:ln w="0">
            <a:solidFill>
              <a:srgbClr val="3465A4"/>
            </a:solidFill>
            <a:prstDash val="solid"/>
          </a:ln>
        </p:spPr>
        <p:txBody>
          <a:bodyPr wrap="none" lIns="108847" tIns="54423" rIns="108847" bIns="54423" anchor="ctr" anchorCtr="0" compatLnSpc="0">
            <a:noAutofit/>
          </a:bodyPr>
          <a:lstStyle/>
          <a:p>
            <a:pPr hangingPunct="0"/>
            <a:endParaRPr lang="fr-FR" sz="2177">
              <a:latin typeface="Liberation Sans" pitchFamily="18"/>
              <a:ea typeface="Microsoft YaHei" pitchFamily="2"/>
              <a:cs typeface="Lucida Sans" pitchFamily="2"/>
            </a:endParaRP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189C6FC7-2B0B-4B13-BDFA-85B626DA63E9}"/>
              </a:ext>
            </a:extLst>
          </p:cNvPr>
          <p:cNvSpPr/>
          <p:nvPr/>
        </p:nvSpPr>
        <p:spPr>
          <a:xfrm>
            <a:off x="9056250" y="2778636"/>
            <a:ext cx="870773" cy="443223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solidFill>
            <a:srgbClr val="729FCF"/>
          </a:solidFill>
          <a:ln w="0">
            <a:solidFill>
              <a:srgbClr val="3465A4"/>
            </a:solidFill>
            <a:prstDash val="solid"/>
          </a:ln>
        </p:spPr>
        <p:txBody>
          <a:bodyPr wrap="none" lIns="108847" tIns="54423" rIns="108847" bIns="54423" anchor="ctr" anchorCtr="0" compatLnSpc="0">
            <a:noAutofit/>
          </a:bodyPr>
          <a:lstStyle/>
          <a:p>
            <a:pPr hangingPunct="0"/>
            <a:endParaRPr lang="fr-FR" sz="2177">
              <a:latin typeface="Liberation Sans" pitchFamily="18"/>
              <a:ea typeface="Microsoft YaHei" pitchFamily="2"/>
              <a:cs typeface="Lucida Sans" pitchFamily="2"/>
            </a:endParaRPr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AFF2B66C-FC13-49EB-A8A1-D9E39FD0A964}"/>
              </a:ext>
            </a:extLst>
          </p:cNvPr>
          <p:cNvSpPr/>
          <p:nvPr/>
        </p:nvSpPr>
        <p:spPr>
          <a:xfrm>
            <a:off x="9056250" y="3439552"/>
            <a:ext cx="435386" cy="217693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solidFill>
            <a:srgbClr val="0F4B8B"/>
          </a:solidFill>
          <a:ln w="0">
            <a:solidFill>
              <a:srgbClr val="3465A4"/>
            </a:solidFill>
            <a:prstDash val="solid"/>
          </a:ln>
        </p:spPr>
        <p:txBody>
          <a:bodyPr wrap="none" lIns="108847" tIns="54423" rIns="108847" bIns="54423" anchor="ctr" anchorCtr="0" compatLnSpc="0">
            <a:noAutofit/>
          </a:bodyPr>
          <a:lstStyle/>
          <a:p>
            <a:pPr hangingPunct="0"/>
            <a:endParaRPr lang="fr-FR" sz="2177">
              <a:latin typeface="Liberation Sans" pitchFamily="18"/>
              <a:ea typeface="Microsoft YaHei" pitchFamily="2"/>
              <a:cs typeface="Lucida Sans" pitchFamily="2"/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1D31BEDB-2AEA-4862-B0B6-396703A1C8F2}"/>
              </a:ext>
            </a:extLst>
          </p:cNvPr>
          <p:cNvSpPr/>
          <p:nvPr/>
        </p:nvSpPr>
        <p:spPr>
          <a:xfrm>
            <a:off x="7967784" y="3091243"/>
            <a:ext cx="435386" cy="217693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solidFill>
            <a:srgbClr val="0F4B8B"/>
          </a:solidFill>
          <a:ln w="0">
            <a:solidFill>
              <a:srgbClr val="3465A4"/>
            </a:solidFill>
            <a:prstDash val="solid"/>
          </a:ln>
        </p:spPr>
        <p:txBody>
          <a:bodyPr wrap="none" lIns="108847" tIns="54423" rIns="108847" bIns="54423" anchor="ctr" anchorCtr="0" compatLnSpc="0">
            <a:noAutofit/>
          </a:bodyPr>
          <a:lstStyle/>
          <a:p>
            <a:pPr hangingPunct="0"/>
            <a:endParaRPr lang="fr-FR" sz="2177">
              <a:latin typeface="Liberation Sans" pitchFamily="18"/>
              <a:ea typeface="Microsoft YaHei" pitchFamily="2"/>
              <a:cs typeface="Lucida Sans" pitchFamily="2"/>
            </a:endParaRP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1AD71704-A7A8-4FAA-9EB1-3A2B902EF701}"/>
              </a:ext>
            </a:extLst>
          </p:cNvPr>
          <p:cNvSpPr/>
          <p:nvPr/>
        </p:nvSpPr>
        <p:spPr>
          <a:xfrm>
            <a:off x="7967784" y="3091243"/>
            <a:ext cx="434951" cy="217258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000" h="500">
                <a:moveTo>
                  <a:pt x="39" y="500"/>
                </a:moveTo>
                <a:lnTo>
                  <a:pt x="0" y="467"/>
                </a:lnTo>
                <a:lnTo>
                  <a:pt x="456" y="254"/>
                </a:lnTo>
                <a:lnTo>
                  <a:pt x="10" y="32"/>
                </a:lnTo>
                <a:lnTo>
                  <a:pt x="50" y="0"/>
                </a:lnTo>
                <a:lnTo>
                  <a:pt x="510" y="229"/>
                </a:lnTo>
                <a:lnTo>
                  <a:pt x="961" y="19"/>
                </a:lnTo>
                <a:lnTo>
                  <a:pt x="1000" y="52"/>
                </a:lnTo>
                <a:lnTo>
                  <a:pt x="563" y="256"/>
                </a:lnTo>
                <a:lnTo>
                  <a:pt x="988" y="467"/>
                </a:lnTo>
                <a:lnTo>
                  <a:pt x="948" y="500"/>
                </a:lnTo>
                <a:lnTo>
                  <a:pt x="509" y="281"/>
                </a:lnTo>
                <a:close/>
              </a:path>
            </a:pathLst>
          </a:custGeom>
          <a:solidFill>
            <a:srgbClr val="FF0A0A"/>
          </a:solidFill>
          <a:ln w="0">
            <a:solidFill>
              <a:srgbClr val="3465A4"/>
            </a:solidFill>
            <a:prstDash val="solid"/>
          </a:ln>
        </p:spPr>
        <p:txBody>
          <a:bodyPr wrap="none" lIns="108847" tIns="54423" rIns="108847" bIns="54423" anchor="ctr" anchorCtr="0" compatLnSpc="0">
            <a:noAutofit/>
          </a:bodyPr>
          <a:lstStyle/>
          <a:p>
            <a:pPr hangingPunct="0"/>
            <a:endParaRPr lang="fr-FR" sz="2177">
              <a:latin typeface="Liberation Sans" pitchFamily="18"/>
              <a:ea typeface="Microsoft YaHei" pitchFamily="2"/>
              <a:cs typeface="Lucida Sans" pitchFamily="2"/>
            </a:endParaRPr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2A1E7496-5FDF-4AD3-ADCD-2CCC300E6CD4}"/>
              </a:ext>
            </a:extLst>
          </p:cNvPr>
          <p:cNvSpPr/>
          <p:nvPr/>
        </p:nvSpPr>
        <p:spPr>
          <a:xfrm>
            <a:off x="5660237" y="2960627"/>
            <a:ext cx="1741545" cy="217693"/>
          </a:xfrm>
          <a:custGeom>
            <a:avLst>
              <a:gd name="f0" fmla="val 16200"/>
              <a:gd name="f1" fmla="val 5400"/>
            </a:avLst>
            <a:gdLst>
              <a:gd name="f2" fmla="val w"/>
              <a:gd name="f3" fmla="val h"/>
              <a:gd name="f4" fmla="val 0"/>
              <a:gd name="f5" fmla="val 21600"/>
              <a:gd name="f6" fmla="val 10800"/>
              <a:gd name="f7" fmla="*/ f2 1 21600"/>
              <a:gd name="f8" fmla="*/ f3 1 21600"/>
              <a:gd name="f9" fmla="pin 0 f0 21600"/>
              <a:gd name="f10" fmla="pin 0 f1 10800"/>
              <a:gd name="f11" fmla="val f10"/>
              <a:gd name="f12" fmla="val f9"/>
              <a:gd name="f13" fmla="+- 21600 0 f10"/>
              <a:gd name="f14" fmla="*/ f9 f7 1"/>
              <a:gd name="f15" fmla="*/ f10 f8 1"/>
              <a:gd name="f16" fmla="*/ 0 f7 1"/>
              <a:gd name="f17" fmla="+- 21600 0 f12"/>
              <a:gd name="f18" fmla="*/ f13 f8 1"/>
              <a:gd name="f19" fmla="*/ f11 f8 1"/>
              <a:gd name="f20" fmla="*/ f17 f11 1"/>
              <a:gd name="f21" fmla="*/ f20 1 10800"/>
              <a:gd name="f22" fmla="+- f12 f21 0"/>
              <a:gd name="f23" fmla="*/ f22 f7 1"/>
            </a:gdLst>
            <a:ahLst>
              <a:ahXY gdRefX="f0" minX="f4" maxX="f5" gdRefY="f1" minY="f4" maxY="f6">
                <a:pos x="f14" y="f15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6" t="f19" r="f23" b="f18"/>
            <a:pathLst>
              <a:path w="21600" h="21600">
                <a:moveTo>
                  <a:pt x="f4" y="f11"/>
                </a:moveTo>
                <a:lnTo>
                  <a:pt x="f12" y="f11"/>
                </a:lnTo>
                <a:lnTo>
                  <a:pt x="f12" y="f4"/>
                </a:lnTo>
                <a:lnTo>
                  <a:pt x="f5" y="f6"/>
                </a:lnTo>
                <a:lnTo>
                  <a:pt x="f12" y="f5"/>
                </a:lnTo>
                <a:lnTo>
                  <a:pt x="f12" y="f13"/>
                </a:lnTo>
                <a:lnTo>
                  <a:pt x="f4" y="f13"/>
                </a:lnTo>
                <a:close/>
              </a:path>
            </a:pathLst>
          </a:custGeom>
          <a:solidFill>
            <a:srgbClr val="729FCF"/>
          </a:solidFill>
          <a:ln w="0">
            <a:solidFill>
              <a:srgbClr val="3465A4"/>
            </a:solidFill>
            <a:prstDash val="solid"/>
          </a:ln>
        </p:spPr>
        <p:txBody>
          <a:bodyPr wrap="none" lIns="108847" tIns="54423" rIns="108847" bIns="54423" anchor="ctr" anchorCtr="0" compatLnSpc="0">
            <a:noAutofit/>
          </a:bodyPr>
          <a:lstStyle/>
          <a:p>
            <a:pPr hangingPunct="0"/>
            <a:endParaRPr lang="fr-FR" sz="2177">
              <a:latin typeface="Liberation Sans" pitchFamily="18"/>
              <a:ea typeface="Microsoft YaHei" pitchFamily="2"/>
              <a:cs typeface="Lucida Sans" pitchFamily="2"/>
            </a:endParaRPr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65B4FB6F-2A80-40EB-AD3F-C9227F824798}"/>
              </a:ext>
            </a:extLst>
          </p:cNvPr>
          <p:cNvSpPr/>
          <p:nvPr/>
        </p:nvSpPr>
        <p:spPr>
          <a:xfrm rot="499200">
            <a:off x="5878360" y="3307119"/>
            <a:ext cx="3047704" cy="217693"/>
          </a:xfrm>
          <a:custGeom>
            <a:avLst>
              <a:gd name="f0" fmla="val 16200"/>
              <a:gd name="f1" fmla="val 5400"/>
            </a:avLst>
            <a:gdLst>
              <a:gd name="f2" fmla="val w"/>
              <a:gd name="f3" fmla="val h"/>
              <a:gd name="f4" fmla="val 0"/>
              <a:gd name="f5" fmla="val 21600"/>
              <a:gd name="f6" fmla="val 10800"/>
              <a:gd name="f7" fmla="*/ f2 1 21600"/>
              <a:gd name="f8" fmla="*/ f3 1 21600"/>
              <a:gd name="f9" fmla="pin 0 f0 21600"/>
              <a:gd name="f10" fmla="pin 0 f1 10800"/>
              <a:gd name="f11" fmla="val f10"/>
              <a:gd name="f12" fmla="val f9"/>
              <a:gd name="f13" fmla="+- 21600 0 f10"/>
              <a:gd name="f14" fmla="*/ f9 f7 1"/>
              <a:gd name="f15" fmla="*/ f10 f8 1"/>
              <a:gd name="f16" fmla="*/ 0 f7 1"/>
              <a:gd name="f17" fmla="+- 21600 0 f12"/>
              <a:gd name="f18" fmla="*/ f13 f8 1"/>
              <a:gd name="f19" fmla="*/ f11 f8 1"/>
              <a:gd name="f20" fmla="*/ f17 f11 1"/>
              <a:gd name="f21" fmla="*/ f20 1 10800"/>
              <a:gd name="f22" fmla="+- f12 f21 0"/>
              <a:gd name="f23" fmla="*/ f22 f7 1"/>
            </a:gdLst>
            <a:ahLst>
              <a:ahXY gdRefX="f0" minX="f4" maxX="f5" gdRefY="f1" minY="f4" maxY="f6">
                <a:pos x="f14" y="f15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6" t="f19" r="f23" b="f18"/>
            <a:pathLst>
              <a:path w="21600" h="21600">
                <a:moveTo>
                  <a:pt x="f4" y="f11"/>
                </a:moveTo>
                <a:lnTo>
                  <a:pt x="f12" y="f11"/>
                </a:lnTo>
                <a:lnTo>
                  <a:pt x="f12" y="f4"/>
                </a:lnTo>
                <a:lnTo>
                  <a:pt x="f5" y="f6"/>
                </a:lnTo>
                <a:lnTo>
                  <a:pt x="f12" y="f5"/>
                </a:lnTo>
                <a:lnTo>
                  <a:pt x="f12" y="f13"/>
                </a:lnTo>
                <a:lnTo>
                  <a:pt x="f4" y="f13"/>
                </a:lnTo>
                <a:close/>
              </a:path>
            </a:pathLst>
          </a:custGeom>
          <a:solidFill>
            <a:srgbClr val="729FCF"/>
          </a:solidFill>
          <a:ln w="0">
            <a:solidFill>
              <a:srgbClr val="3465A4"/>
            </a:solidFill>
            <a:prstDash val="solid"/>
          </a:ln>
        </p:spPr>
        <p:txBody>
          <a:bodyPr wrap="none" lIns="108847" tIns="54423" rIns="108847" bIns="54423" anchor="ctr" anchorCtr="0" compatLnSpc="0">
            <a:noAutofit/>
          </a:bodyPr>
          <a:lstStyle/>
          <a:p>
            <a:pPr hangingPunct="0"/>
            <a:endParaRPr lang="fr-FR" sz="2177">
              <a:latin typeface="Liberation Sans" pitchFamily="18"/>
              <a:ea typeface="Microsoft YaHei" pitchFamily="2"/>
              <a:cs typeface="Lucida Sans" pitchFamily="2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4DF73CA-C1BD-455D-987E-BF1BA03EEC9B}"/>
              </a:ext>
            </a:extLst>
          </p:cNvPr>
          <p:cNvSpPr txBox="1"/>
          <p:nvPr/>
        </p:nvSpPr>
        <p:spPr>
          <a:xfrm>
            <a:off x="5878647" y="4619449"/>
            <a:ext cx="6226464" cy="1997349"/>
          </a:xfrm>
          <a:prstGeom prst="rect">
            <a:avLst/>
          </a:prstGeom>
          <a:noFill/>
          <a:ln>
            <a:noFill/>
          </a:ln>
        </p:spPr>
        <p:txBody>
          <a:bodyPr vert="horz" wrap="none" lIns="108847" tIns="54423" rIns="108847" bIns="54423" anchorCtr="0" compatLnSpc="0">
            <a:spAutoFit/>
          </a:bodyPr>
          <a:lstStyle/>
          <a:p>
            <a:pPr hangingPunct="0"/>
            <a:r>
              <a:rPr lang="fr-FR" sz="3200" dirty="0" err="1">
                <a:latin typeface="Liberation Sans" pitchFamily="18"/>
                <a:ea typeface="Microsoft YaHei" pitchFamily="2"/>
                <a:cs typeface="Lucida Sans" pitchFamily="2"/>
              </a:rPr>
              <a:t>Then</a:t>
            </a:r>
            <a:r>
              <a:rPr lang="fr-FR" sz="3200" dirty="0">
                <a:latin typeface="Liberation Sans" pitchFamily="18"/>
                <a:ea typeface="Microsoft YaHei" pitchFamily="2"/>
                <a:cs typeface="Lucida Sans" pitchFamily="2"/>
              </a:rPr>
              <a:t> </a:t>
            </a:r>
            <a:r>
              <a:rPr lang="fr-FR" sz="3200" dirty="0" err="1">
                <a:latin typeface="Liberation Sans" pitchFamily="18"/>
                <a:ea typeface="Microsoft YaHei" pitchFamily="2"/>
                <a:cs typeface="Lucida Sans" pitchFamily="2"/>
              </a:rPr>
              <a:t>wait</a:t>
            </a:r>
            <a:r>
              <a:rPr lang="fr-FR" sz="3200" dirty="0">
                <a:latin typeface="Liberation Sans" pitchFamily="18"/>
                <a:ea typeface="Microsoft YaHei" pitchFamily="2"/>
                <a:cs typeface="Lucida Sans" pitchFamily="2"/>
              </a:rPr>
              <a:t>..</a:t>
            </a:r>
          </a:p>
          <a:p>
            <a:pPr hangingPunct="0"/>
            <a:r>
              <a:rPr lang="fr-FR" sz="3200" dirty="0" err="1">
                <a:latin typeface="Liberation Sans" pitchFamily="18"/>
                <a:ea typeface="Microsoft YaHei" pitchFamily="2"/>
                <a:cs typeface="Lucida Sans" pitchFamily="2"/>
              </a:rPr>
              <a:t>maybe</a:t>
            </a:r>
            <a:r>
              <a:rPr lang="fr-FR" sz="3200" dirty="0">
                <a:latin typeface="Liberation Sans" pitchFamily="18"/>
                <a:ea typeface="Microsoft YaHei" pitchFamily="2"/>
                <a:cs typeface="Lucida Sans" pitchFamily="2"/>
              </a:rPr>
              <a:t> </a:t>
            </a:r>
            <a:r>
              <a:rPr lang="fr-FR" sz="3200" dirty="0" err="1">
                <a:latin typeface="Liberation Sans" pitchFamily="18"/>
                <a:ea typeface="Microsoft YaHei" pitchFamily="2"/>
                <a:cs typeface="Lucida Sans" pitchFamily="2"/>
              </a:rPr>
              <a:t>allocate</a:t>
            </a:r>
            <a:r>
              <a:rPr lang="fr-FR" sz="3200" dirty="0">
                <a:latin typeface="Liberation Sans" pitchFamily="18"/>
                <a:ea typeface="Microsoft YaHei" pitchFamily="2"/>
                <a:cs typeface="Lucida Sans" pitchFamily="2"/>
              </a:rPr>
              <a:t> ++</a:t>
            </a:r>
            <a:r>
              <a:rPr lang="fr-FR" sz="3200" dirty="0" err="1">
                <a:latin typeface="Liberation Sans" pitchFamily="18"/>
                <a:ea typeface="Microsoft YaHei" pitchFamily="2"/>
                <a:cs typeface="Lucida Sans" pitchFamily="2"/>
              </a:rPr>
              <a:t>resources</a:t>
            </a:r>
            <a:endParaRPr lang="fr-FR" sz="3200" dirty="0">
              <a:latin typeface="Liberation Sans" pitchFamily="18"/>
              <a:ea typeface="Microsoft YaHei" pitchFamily="2"/>
              <a:cs typeface="Lucida Sans" pitchFamily="2"/>
            </a:endParaRPr>
          </a:p>
          <a:p>
            <a:pPr hangingPunct="0"/>
            <a:r>
              <a:rPr lang="fr-FR" sz="3200" dirty="0">
                <a:latin typeface="Liberation Sans" pitchFamily="18"/>
                <a:ea typeface="Microsoft YaHei" pitchFamily="2"/>
                <a:cs typeface="Lucida Sans" pitchFamily="2"/>
              </a:rPr>
              <a:t>(=&gt; app retries </a:t>
            </a:r>
            <a:r>
              <a:rPr lang="fr-FR" sz="3200" dirty="0" err="1">
                <a:latin typeface="Liberation Sans" pitchFamily="18"/>
                <a:ea typeface="Microsoft YaHei" pitchFamily="2"/>
                <a:cs typeface="Lucida Sans" pitchFamily="2"/>
              </a:rPr>
              <a:t>managed</a:t>
            </a:r>
            <a:r>
              <a:rPr lang="fr-FR" sz="3200" dirty="0">
                <a:latin typeface="Liberation Sans" pitchFamily="18"/>
                <a:ea typeface="Microsoft YaHei" pitchFamily="2"/>
                <a:cs typeface="Lucida Sans" pitchFamily="2"/>
              </a:rPr>
              <a:t>)</a:t>
            </a:r>
          </a:p>
          <a:p>
            <a:pPr hangingPunct="0"/>
            <a:r>
              <a:rPr lang="fr-FR" sz="3200" dirty="0">
                <a:latin typeface="Liberation Sans" pitchFamily="18"/>
                <a:ea typeface="Microsoft YaHei" pitchFamily="2"/>
                <a:cs typeface="Lucida Sans" pitchFamily="2"/>
              </a:rPr>
              <a:t>You </a:t>
            </a:r>
            <a:r>
              <a:rPr lang="fr-FR" sz="3200" dirty="0" err="1">
                <a:latin typeface="Liberation Sans" pitchFamily="18"/>
                <a:ea typeface="Microsoft YaHei" pitchFamily="2"/>
                <a:cs typeface="Lucida Sans" pitchFamily="2"/>
              </a:rPr>
              <a:t>don’t</a:t>
            </a:r>
            <a:r>
              <a:rPr lang="fr-FR" sz="3200" dirty="0">
                <a:latin typeface="Liberation Sans" pitchFamily="18"/>
                <a:ea typeface="Microsoft YaHei" pitchFamily="2"/>
                <a:cs typeface="Lucida Sans" pitchFamily="2"/>
              </a:rPr>
              <a:t> have </a:t>
            </a:r>
            <a:r>
              <a:rPr lang="fr-FR" sz="3200" dirty="0" err="1">
                <a:latin typeface="Liberation Sans" pitchFamily="18"/>
                <a:ea typeface="Microsoft YaHei" pitchFamily="2"/>
                <a:cs typeface="Lucida Sans" pitchFamily="2"/>
              </a:rPr>
              <a:t>access</a:t>
            </a:r>
            <a:r>
              <a:rPr lang="fr-FR" sz="3200" dirty="0">
                <a:latin typeface="Liberation Sans" pitchFamily="18"/>
                <a:ea typeface="Microsoft YaHei" pitchFamily="2"/>
                <a:cs typeface="Lucida Sans" pitchFamily="2"/>
              </a:rPr>
              <a:t> to servers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09BBD99-9A2A-430C-8B26-7483154E0051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 vert="horz"/>
          <a:lstStyle/>
          <a:p>
            <a:pPr lvl="0"/>
            <a:r>
              <a:rPr lang="en-US"/>
              <a:t>Yarn Queue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FB08344-F88E-4960-AA80-ED5531272AA6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553155" y="1935292"/>
            <a:ext cx="6635287" cy="4125286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ZoneTexte 3">
            <a:extLst>
              <a:ext uri="{FF2B5EF4-FFF2-40B4-BE49-F238E27FC236}">
                <a16:creationId xmlns:a16="http://schemas.microsoft.com/office/drawing/2014/main" id="{CA4A17F7-9104-4E0C-B1DF-64DD01B88DDA}"/>
              </a:ext>
            </a:extLst>
          </p:cNvPr>
          <p:cNvSpPr txBox="1"/>
          <p:nvPr/>
        </p:nvSpPr>
        <p:spPr>
          <a:xfrm>
            <a:off x="7741382" y="2764703"/>
            <a:ext cx="3915865" cy="3320403"/>
          </a:xfrm>
          <a:prstGeom prst="rect">
            <a:avLst/>
          </a:prstGeom>
          <a:noFill/>
          <a:ln>
            <a:noFill/>
          </a:ln>
        </p:spPr>
        <p:txBody>
          <a:bodyPr vert="horz" wrap="square" lIns="108847" tIns="54423" rIns="108847" bIns="54423" anchorCtr="0" compatLnSpc="0">
            <a:spAutoFit/>
          </a:bodyPr>
          <a:lstStyle/>
          <a:p>
            <a:pPr hangingPunct="0"/>
            <a:r>
              <a:rPr lang="en-US" sz="2177">
                <a:latin typeface="Liberation Sans" pitchFamily="18"/>
                <a:ea typeface="Microsoft YaHei" pitchFamily="2"/>
                <a:cs typeface="Lucida Sans" pitchFamily="2"/>
              </a:rPr>
              <a:t>Queue Hierarchy :</a:t>
            </a:r>
          </a:p>
          <a:p>
            <a:pPr hangingPunct="0"/>
            <a:endParaRPr lang="en-US" sz="2177">
              <a:latin typeface="Liberation Sans" pitchFamily="18"/>
              <a:ea typeface="Microsoft YaHei" pitchFamily="2"/>
              <a:cs typeface="Lucida Sans" pitchFamily="2"/>
            </a:endParaRPr>
          </a:p>
          <a:p>
            <a:pPr hangingPunct="0"/>
            <a:r>
              <a:rPr lang="en-US" sz="2177">
                <a:latin typeface="Liberation Sans" pitchFamily="18"/>
                <a:ea typeface="Microsoft YaHei" pitchFamily="2"/>
                <a:cs typeface="Lucida Sans" pitchFamily="2"/>
              </a:rPr>
              <a:t>Child queues =&gt; sum to 100%</a:t>
            </a:r>
          </a:p>
          <a:p>
            <a:pPr hangingPunct="0"/>
            <a:endParaRPr lang="en-US" sz="2177">
              <a:latin typeface="Liberation Sans" pitchFamily="18"/>
              <a:ea typeface="Microsoft YaHei" pitchFamily="2"/>
              <a:cs typeface="Lucida Sans" pitchFamily="2"/>
            </a:endParaRPr>
          </a:p>
          <a:p>
            <a:pPr hangingPunct="0"/>
            <a:r>
              <a:rPr lang="en-US" sz="2177">
                <a:latin typeface="Liberation Sans" pitchFamily="18"/>
                <a:ea typeface="Microsoft YaHei" pitchFamily="2"/>
                <a:cs typeface="Lucida Sans" pitchFamily="2"/>
              </a:rPr>
              <a:t>Capacity / Max Capacity</a:t>
            </a:r>
          </a:p>
          <a:p>
            <a:pPr hangingPunct="0"/>
            <a:r>
              <a:rPr lang="en-US" sz="2177">
                <a:latin typeface="Liberation Sans" pitchFamily="18"/>
                <a:ea typeface="Microsoft YaHei" pitchFamily="2"/>
                <a:cs typeface="Lucida Sans" pitchFamily="2"/>
              </a:rPr>
              <a:t>   … over-quota  allowed</a:t>
            </a:r>
          </a:p>
          <a:p>
            <a:pPr hangingPunct="0"/>
            <a:endParaRPr lang="en-US" sz="2177">
              <a:latin typeface="Liberation Sans" pitchFamily="18"/>
              <a:ea typeface="Microsoft YaHei" pitchFamily="2"/>
              <a:cs typeface="Lucida Sans" pitchFamily="2"/>
            </a:endParaRPr>
          </a:p>
          <a:p>
            <a:pPr hangingPunct="0"/>
            <a:r>
              <a:rPr lang="en-US" sz="2177">
                <a:latin typeface="Liberation Sans" pitchFamily="18"/>
                <a:ea typeface="Microsoft YaHei" pitchFamily="2"/>
                <a:cs typeface="Lucida Sans" pitchFamily="2"/>
              </a:rPr>
              <a:t>If Preemption enabled =&gt; </a:t>
            </a:r>
            <a:br>
              <a:rPr lang="en-US" sz="2177">
                <a:latin typeface="Liberation Sans" pitchFamily="18"/>
                <a:ea typeface="Microsoft YaHei" pitchFamily="2"/>
                <a:cs typeface="Lucida Sans" pitchFamily="2"/>
              </a:rPr>
            </a:br>
            <a:r>
              <a:rPr lang="en-US" sz="2177">
                <a:latin typeface="Liberation Sans" pitchFamily="18"/>
                <a:ea typeface="Microsoft YaHei" pitchFamily="2"/>
                <a:cs typeface="Lucida Sans" pitchFamily="2"/>
              </a:rPr>
              <a:t>   may kill app in over-quota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rme libre : forme 1">
            <a:extLst>
              <a:ext uri="{FF2B5EF4-FFF2-40B4-BE49-F238E27FC236}">
                <a16:creationId xmlns:a16="http://schemas.microsoft.com/office/drawing/2014/main" id="{A58BB35A-B646-44B2-8E97-21DBF7169FCB}"/>
              </a:ext>
            </a:extLst>
          </p:cNvPr>
          <p:cNvSpPr/>
          <p:nvPr/>
        </p:nvSpPr>
        <p:spPr>
          <a:xfrm>
            <a:off x="10475766" y="2269845"/>
            <a:ext cx="1658821" cy="2211763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solidFill>
            <a:srgbClr val="FFFFFF"/>
          </a:solidFill>
          <a:ln w="0">
            <a:solidFill>
              <a:srgbClr val="3465A4"/>
            </a:solidFill>
            <a:prstDash val="solid"/>
          </a:ln>
        </p:spPr>
        <p:txBody>
          <a:bodyPr vert="horz" wrap="square" lIns="108847" tIns="54423" rIns="108847" bIns="54423" anchor="ctr" anchorCtr="0" compatLnSpc="0">
            <a:noAutofit/>
          </a:bodyPr>
          <a:lstStyle/>
          <a:p>
            <a:pPr algn="ctr" hangingPunct="0"/>
            <a:r>
              <a:rPr lang="en-US" sz="2177">
                <a:latin typeface="Liberation Sans" pitchFamily="18"/>
                <a:ea typeface="Microsoft YaHei" pitchFamily="2"/>
                <a:cs typeface="Lucida Sans" pitchFamily="2"/>
              </a:rPr>
              <a:t>1</a:t>
            </a:r>
          </a:p>
        </p:txBody>
      </p:sp>
      <p:sp>
        <p:nvSpPr>
          <p:cNvPr id="3" name="Forme libre : forme 2">
            <a:extLst>
              <a:ext uri="{FF2B5EF4-FFF2-40B4-BE49-F238E27FC236}">
                <a16:creationId xmlns:a16="http://schemas.microsoft.com/office/drawing/2014/main" id="{5D856B4F-AEC8-41A6-8338-53A5B25E3AF6}"/>
              </a:ext>
            </a:extLst>
          </p:cNvPr>
          <p:cNvSpPr/>
          <p:nvPr/>
        </p:nvSpPr>
        <p:spPr>
          <a:xfrm>
            <a:off x="10388689" y="2356922"/>
            <a:ext cx="1658821" cy="2211763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solidFill>
            <a:srgbClr val="FFFFFF"/>
          </a:solidFill>
          <a:ln w="0">
            <a:solidFill>
              <a:srgbClr val="3465A4"/>
            </a:solidFill>
            <a:prstDash val="solid"/>
          </a:ln>
        </p:spPr>
        <p:txBody>
          <a:bodyPr vert="horz" wrap="square" lIns="108847" tIns="54423" rIns="108847" bIns="54423" anchor="ctr" anchorCtr="0" compatLnSpc="0">
            <a:noAutofit/>
          </a:bodyPr>
          <a:lstStyle/>
          <a:p>
            <a:pPr hangingPunct="0"/>
            <a:endParaRPr lang="en-US" sz="2177">
              <a:latin typeface="Liberation Sans" pitchFamily="18"/>
              <a:ea typeface="Microsoft YaHei" pitchFamily="2"/>
              <a:cs typeface="Lucida Sans" pitchFamily="2"/>
            </a:endParaRPr>
          </a:p>
        </p:txBody>
      </p:sp>
      <p:sp>
        <p:nvSpPr>
          <p:cNvPr id="4" name="Forme libre : forme 3">
            <a:extLst>
              <a:ext uri="{FF2B5EF4-FFF2-40B4-BE49-F238E27FC236}">
                <a16:creationId xmlns:a16="http://schemas.microsoft.com/office/drawing/2014/main" id="{50E5DC97-0336-4EED-BE34-8894804B4590}"/>
              </a:ext>
            </a:extLst>
          </p:cNvPr>
          <p:cNvSpPr/>
          <p:nvPr/>
        </p:nvSpPr>
        <p:spPr>
          <a:xfrm>
            <a:off x="10345150" y="2487538"/>
            <a:ext cx="1658821" cy="2211763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solidFill>
            <a:srgbClr val="FFFFFF"/>
          </a:solidFill>
          <a:ln w="0">
            <a:solidFill>
              <a:srgbClr val="3465A4"/>
            </a:solidFill>
            <a:prstDash val="solid"/>
          </a:ln>
        </p:spPr>
        <p:txBody>
          <a:bodyPr vert="horz" wrap="square" lIns="108847" tIns="54423" rIns="108847" bIns="54423" anchor="ctr" anchorCtr="0" compatLnSpc="0">
            <a:noAutofit/>
          </a:bodyPr>
          <a:lstStyle/>
          <a:p>
            <a:pPr hangingPunct="0"/>
            <a:endParaRPr lang="en-US" sz="2177">
              <a:latin typeface="Liberation Sans" pitchFamily="18"/>
              <a:ea typeface="Microsoft YaHei" pitchFamily="2"/>
              <a:cs typeface="Lucida Sans" pitchFamily="2"/>
            </a:endParaRPr>
          </a:p>
        </p:txBody>
      </p:sp>
      <p:sp>
        <p:nvSpPr>
          <p:cNvPr id="5" name="Titre 4">
            <a:extLst>
              <a:ext uri="{FF2B5EF4-FFF2-40B4-BE49-F238E27FC236}">
                <a16:creationId xmlns:a16="http://schemas.microsoft.com/office/drawing/2014/main" id="{C15E653E-C56C-4669-91C6-778E2D2A0CD8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848865" y="137189"/>
            <a:ext cx="10515600" cy="1325563"/>
          </a:xfrm>
        </p:spPr>
        <p:txBody>
          <a:bodyPr vert="horz"/>
          <a:lstStyle/>
          <a:p>
            <a:pPr lvl="0" algn="ctr"/>
            <a:r>
              <a:rPr lang="en-US" dirty="0"/>
              <a:t>Hadoop Yarn Architecture</a:t>
            </a:r>
          </a:p>
        </p:txBody>
      </p:sp>
      <p:sp>
        <p:nvSpPr>
          <p:cNvPr id="6" name="Forme libre : forme 5">
            <a:extLst>
              <a:ext uri="{FF2B5EF4-FFF2-40B4-BE49-F238E27FC236}">
                <a16:creationId xmlns:a16="http://schemas.microsoft.com/office/drawing/2014/main" id="{BC8358D1-1230-405D-84B4-D253933F46F6}"/>
              </a:ext>
            </a:extLst>
          </p:cNvPr>
          <p:cNvSpPr/>
          <p:nvPr/>
        </p:nvSpPr>
        <p:spPr>
          <a:xfrm>
            <a:off x="2401527" y="2531076"/>
            <a:ext cx="1512966" cy="552941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solidFill>
            <a:srgbClr val="729FCF"/>
          </a:solidFill>
          <a:ln w="0">
            <a:solidFill>
              <a:srgbClr val="3465A4"/>
            </a:solidFill>
            <a:prstDash val="solid"/>
          </a:ln>
        </p:spPr>
        <p:txBody>
          <a:bodyPr vert="horz" wrap="square" lIns="108847" tIns="54423" rIns="108847" bIns="54423" anchor="ctr" anchorCtr="0" compatLnSpc="0">
            <a:noAutofit/>
          </a:bodyPr>
          <a:lstStyle/>
          <a:p>
            <a:pPr algn="ctr" hangingPunct="0">
              <a:defRPr sz="1800"/>
            </a:pPr>
            <a:r>
              <a:rPr lang="en-US" sz="2177">
                <a:latin typeface="Liberation Sans" pitchFamily="18"/>
                <a:ea typeface="Microsoft YaHei" pitchFamily="2"/>
                <a:cs typeface="Lucida Sans" pitchFamily="2"/>
              </a:rPr>
              <a:t>ResourceManager</a:t>
            </a:r>
          </a:p>
        </p:txBody>
      </p:sp>
      <p:sp>
        <p:nvSpPr>
          <p:cNvPr id="7" name="Forme libre : forme 6">
            <a:extLst>
              <a:ext uri="{FF2B5EF4-FFF2-40B4-BE49-F238E27FC236}">
                <a16:creationId xmlns:a16="http://schemas.microsoft.com/office/drawing/2014/main" id="{CACE25B0-AC33-4E05-BF81-93BD534D0247}"/>
              </a:ext>
            </a:extLst>
          </p:cNvPr>
          <p:cNvSpPr/>
          <p:nvPr/>
        </p:nvSpPr>
        <p:spPr>
          <a:xfrm>
            <a:off x="2401527" y="3636957"/>
            <a:ext cx="1512966" cy="552941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solidFill>
            <a:srgbClr val="729FCF"/>
          </a:solidFill>
          <a:ln w="0">
            <a:solidFill>
              <a:srgbClr val="3465A4"/>
            </a:solidFill>
            <a:prstDash val="solid"/>
          </a:ln>
        </p:spPr>
        <p:txBody>
          <a:bodyPr vert="horz" wrap="square" lIns="108847" tIns="54423" rIns="108847" bIns="54423" anchor="ctr" anchorCtr="0" compatLnSpc="0">
            <a:noAutofit/>
          </a:bodyPr>
          <a:lstStyle/>
          <a:p>
            <a:pPr algn="ctr" hangingPunct="0">
              <a:defRPr sz="1800"/>
            </a:pPr>
            <a:r>
              <a:rPr lang="en-US" sz="2177">
                <a:latin typeface="Liberation Sans" pitchFamily="18"/>
                <a:ea typeface="Microsoft YaHei" pitchFamily="2"/>
                <a:cs typeface="Lucida Sans" pitchFamily="2"/>
              </a:rPr>
              <a:t>ResourceManager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B210F1A3-8204-41FE-AD06-748C15E58A5E}"/>
              </a:ext>
            </a:extLst>
          </p:cNvPr>
          <p:cNvSpPr txBox="1"/>
          <p:nvPr/>
        </p:nvSpPr>
        <p:spPr>
          <a:xfrm>
            <a:off x="2445063" y="1978134"/>
            <a:ext cx="2670518" cy="430959"/>
          </a:xfrm>
          <a:prstGeom prst="rect">
            <a:avLst/>
          </a:prstGeom>
          <a:noFill/>
          <a:ln>
            <a:noFill/>
          </a:ln>
        </p:spPr>
        <p:txBody>
          <a:bodyPr vert="horz" wrap="square" lIns="108847" tIns="54423" rIns="108847" bIns="54423" anchorCtr="0" compatLnSpc="0">
            <a:spAutoFit/>
          </a:bodyPr>
          <a:lstStyle/>
          <a:p>
            <a:pPr hangingPunct="0"/>
            <a:r>
              <a:rPr lang="en-US" sz="2177" dirty="0">
                <a:latin typeface="Liberation Sans" pitchFamily="18"/>
                <a:ea typeface="Microsoft YaHei" pitchFamily="2"/>
                <a:cs typeface="Lucida Sans" pitchFamily="2"/>
              </a:rPr>
              <a:t>Yarn “RM”</a:t>
            </a:r>
          </a:p>
        </p:txBody>
      </p:sp>
      <p:sp>
        <p:nvSpPr>
          <p:cNvPr id="9" name="Forme libre : forme 8">
            <a:extLst>
              <a:ext uri="{FF2B5EF4-FFF2-40B4-BE49-F238E27FC236}">
                <a16:creationId xmlns:a16="http://schemas.microsoft.com/office/drawing/2014/main" id="{2390E48F-E864-469B-9B11-25D27A2C38CE}"/>
              </a:ext>
            </a:extLst>
          </p:cNvPr>
          <p:cNvSpPr/>
          <p:nvPr/>
        </p:nvSpPr>
        <p:spPr>
          <a:xfrm>
            <a:off x="1979201" y="2589854"/>
            <a:ext cx="217693" cy="217693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*/ 5419351 1 1725033"/>
              <a:gd name="f6" fmla="*/ 10800 10800 1"/>
              <a:gd name="f7" fmla="+- 0 0 0"/>
              <a:gd name="f8" fmla="+- 0 0 360"/>
              <a:gd name="f9" fmla="val 10800"/>
              <a:gd name="f10" fmla="*/ f3 1 21600"/>
              <a:gd name="f11" fmla="*/ f4 1 21600"/>
              <a:gd name="f12" fmla="*/ 0 f5 1"/>
              <a:gd name="f13" fmla="*/ f7 f0 1"/>
              <a:gd name="f14" fmla="*/ f8 f0 1"/>
              <a:gd name="f15" fmla="*/ 3163 f10 1"/>
              <a:gd name="f16" fmla="*/ 18437 f10 1"/>
              <a:gd name="f17" fmla="*/ 18437 f11 1"/>
              <a:gd name="f18" fmla="*/ 3163 f11 1"/>
              <a:gd name="f19" fmla="*/ f12 1 f2"/>
              <a:gd name="f20" fmla="*/ f13 1 f2"/>
              <a:gd name="f21" fmla="*/ f14 1 f2"/>
              <a:gd name="f22" fmla="*/ 10800 f10 1"/>
              <a:gd name="f23" fmla="*/ 0 f11 1"/>
              <a:gd name="f24" fmla="*/ 0 f10 1"/>
              <a:gd name="f25" fmla="*/ 10800 f11 1"/>
              <a:gd name="f26" fmla="*/ 21600 f11 1"/>
              <a:gd name="f27" fmla="*/ 21600 f10 1"/>
              <a:gd name="f28" fmla="+- 0 0 f19"/>
              <a:gd name="f29" fmla="+- f20 0 f1"/>
              <a:gd name="f30" fmla="+- f21 0 f1"/>
              <a:gd name="f31" fmla="*/ f28 f0 1"/>
              <a:gd name="f32" fmla="+- f30 0 f29"/>
              <a:gd name="f33" fmla="*/ f31 1 f5"/>
              <a:gd name="f34" fmla="+- f33 0 f1"/>
              <a:gd name="f35" fmla="cos 1 f34"/>
              <a:gd name="f36" fmla="sin 1 f34"/>
              <a:gd name="f37" fmla="+- 0 0 f35"/>
              <a:gd name="f38" fmla="+- 0 0 f36"/>
              <a:gd name="f39" fmla="*/ 10800 f37 1"/>
              <a:gd name="f40" fmla="*/ 10800 f38 1"/>
              <a:gd name="f41" fmla="*/ f39 f39 1"/>
              <a:gd name="f42" fmla="*/ f40 f40 1"/>
              <a:gd name="f43" fmla="+- f41 f42 0"/>
              <a:gd name="f44" fmla="sqrt f43"/>
              <a:gd name="f45" fmla="*/ f6 1 f44"/>
              <a:gd name="f46" fmla="*/ f37 f45 1"/>
              <a:gd name="f47" fmla="*/ f38 f45 1"/>
              <a:gd name="f48" fmla="+- 10800 0 f46"/>
              <a:gd name="f49" fmla="+- 10800 0 f47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22" y="f23"/>
              </a:cxn>
              <a:cxn ang="f29">
                <a:pos x="f15" y="f18"/>
              </a:cxn>
              <a:cxn ang="f29">
                <a:pos x="f24" y="f25"/>
              </a:cxn>
              <a:cxn ang="f29">
                <a:pos x="f15" y="f17"/>
              </a:cxn>
              <a:cxn ang="f29">
                <a:pos x="f22" y="f26"/>
              </a:cxn>
              <a:cxn ang="f29">
                <a:pos x="f16" y="f17"/>
              </a:cxn>
              <a:cxn ang="f29">
                <a:pos x="f27" y="f25"/>
              </a:cxn>
              <a:cxn ang="f29">
                <a:pos x="f16" y="f18"/>
              </a:cxn>
            </a:cxnLst>
            <a:rect l="f15" t="f18" r="f16" b="f17"/>
            <a:pathLst>
              <a:path w="21600" h="21600">
                <a:moveTo>
                  <a:pt x="f48" y="f49"/>
                </a:moveTo>
                <a:arcTo wR="f9" hR="f9" stAng="f29" swAng="f32"/>
                <a:close/>
              </a:path>
            </a:pathLst>
          </a:custGeom>
          <a:solidFill>
            <a:srgbClr val="729FCF"/>
          </a:solidFill>
          <a:ln w="0">
            <a:solidFill>
              <a:srgbClr val="3465A4"/>
            </a:solidFill>
            <a:prstDash val="solid"/>
          </a:ln>
        </p:spPr>
        <p:txBody>
          <a:bodyPr vert="horz" wrap="square" lIns="108847" tIns="54423" rIns="108847" bIns="54423" anchor="ctr" anchorCtr="0" compatLnSpc="0">
            <a:noAutofit/>
          </a:bodyPr>
          <a:lstStyle/>
          <a:p>
            <a:pPr hangingPunct="0"/>
            <a:endParaRPr lang="en-US" sz="2177">
              <a:latin typeface="Liberation Sans" pitchFamily="18"/>
              <a:ea typeface="Microsoft YaHei" pitchFamily="2"/>
              <a:cs typeface="Lucida Sans" pitchFamily="2"/>
            </a:endParaRPr>
          </a:p>
        </p:txBody>
      </p:sp>
      <p:sp>
        <p:nvSpPr>
          <p:cNvPr id="10" name="Connecteur droit 9">
            <a:extLst>
              <a:ext uri="{FF2B5EF4-FFF2-40B4-BE49-F238E27FC236}">
                <a16:creationId xmlns:a16="http://schemas.microsoft.com/office/drawing/2014/main" id="{E313B028-4817-44B1-9D81-D75F01390AE4}"/>
              </a:ext>
            </a:extLst>
          </p:cNvPr>
          <p:cNvSpPr/>
          <p:nvPr/>
        </p:nvSpPr>
        <p:spPr>
          <a:xfrm>
            <a:off x="2196895" y="2698700"/>
            <a:ext cx="217693" cy="0"/>
          </a:xfrm>
          <a:prstGeom prst="line">
            <a:avLst/>
          </a:prstGeom>
          <a:noFill/>
          <a:ln w="0">
            <a:solidFill>
              <a:srgbClr val="3465A4"/>
            </a:solidFill>
            <a:prstDash val="solid"/>
          </a:ln>
        </p:spPr>
        <p:txBody>
          <a:bodyPr vert="horz" wrap="square" lIns="108847" tIns="54423" rIns="108847" bIns="54423" anchor="ctr" anchorCtr="0" compatLnSpc="0"/>
          <a:lstStyle/>
          <a:p>
            <a:pPr hangingPunct="0"/>
            <a:endParaRPr lang="en-US" sz="2177">
              <a:latin typeface="Liberation Sans" pitchFamily="18"/>
              <a:ea typeface="Microsoft YaHei" pitchFamily="2"/>
              <a:cs typeface="Lucida Sans" pitchFamily="2"/>
            </a:endParaRPr>
          </a:p>
        </p:txBody>
      </p:sp>
      <p:sp>
        <p:nvSpPr>
          <p:cNvPr id="11" name="Forme libre : forme 10">
            <a:extLst>
              <a:ext uri="{FF2B5EF4-FFF2-40B4-BE49-F238E27FC236}">
                <a16:creationId xmlns:a16="http://schemas.microsoft.com/office/drawing/2014/main" id="{8841DF47-2F21-4F80-A773-286379682AC8}"/>
              </a:ext>
            </a:extLst>
          </p:cNvPr>
          <p:cNvSpPr/>
          <p:nvPr/>
        </p:nvSpPr>
        <p:spPr>
          <a:xfrm>
            <a:off x="1979201" y="2851521"/>
            <a:ext cx="217693" cy="217693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*/ 5419351 1 1725033"/>
              <a:gd name="f6" fmla="*/ 10800 10800 1"/>
              <a:gd name="f7" fmla="+- 0 0 0"/>
              <a:gd name="f8" fmla="+- 0 0 360"/>
              <a:gd name="f9" fmla="val 10800"/>
              <a:gd name="f10" fmla="*/ f3 1 21600"/>
              <a:gd name="f11" fmla="*/ f4 1 21600"/>
              <a:gd name="f12" fmla="*/ 0 f5 1"/>
              <a:gd name="f13" fmla="*/ f7 f0 1"/>
              <a:gd name="f14" fmla="*/ f8 f0 1"/>
              <a:gd name="f15" fmla="*/ 3163 f10 1"/>
              <a:gd name="f16" fmla="*/ 18437 f10 1"/>
              <a:gd name="f17" fmla="*/ 18437 f11 1"/>
              <a:gd name="f18" fmla="*/ 3163 f11 1"/>
              <a:gd name="f19" fmla="*/ f12 1 f2"/>
              <a:gd name="f20" fmla="*/ f13 1 f2"/>
              <a:gd name="f21" fmla="*/ f14 1 f2"/>
              <a:gd name="f22" fmla="*/ 10800 f10 1"/>
              <a:gd name="f23" fmla="*/ 0 f11 1"/>
              <a:gd name="f24" fmla="*/ 0 f10 1"/>
              <a:gd name="f25" fmla="*/ 10800 f11 1"/>
              <a:gd name="f26" fmla="*/ 21600 f11 1"/>
              <a:gd name="f27" fmla="*/ 21600 f10 1"/>
              <a:gd name="f28" fmla="+- 0 0 f19"/>
              <a:gd name="f29" fmla="+- f20 0 f1"/>
              <a:gd name="f30" fmla="+- f21 0 f1"/>
              <a:gd name="f31" fmla="*/ f28 f0 1"/>
              <a:gd name="f32" fmla="+- f30 0 f29"/>
              <a:gd name="f33" fmla="*/ f31 1 f5"/>
              <a:gd name="f34" fmla="+- f33 0 f1"/>
              <a:gd name="f35" fmla="cos 1 f34"/>
              <a:gd name="f36" fmla="sin 1 f34"/>
              <a:gd name="f37" fmla="+- 0 0 f35"/>
              <a:gd name="f38" fmla="+- 0 0 f36"/>
              <a:gd name="f39" fmla="*/ 10800 f37 1"/>
              <a:gd name="f40" fmla="*/ 10800 f38 1"/>
              <a:gd name="f41" fmla="*/ f39 f39 1"/>
              <a:gd name="f42" fmla="*/ f40 f40 1"/>
              <a:gd name="f43" fmla="+- f41 f42 0"/>
              <a:gd name="f44" fmla="sqrt f43"/>
              <a:gd name="f45" fmla="*/ f6 1 f44"/>
              <a:gd name="f46" fmla="*/ f37 f45 1"/>
              <a:gd name="f47" fmla="*/ f38 f45 1"/>
              <a:gd name="f48" fmla="+- 10800 0 f46"/>
              <a:gd name="f49" fmla="+- 10800 0 f47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22" y="f23"/>
              </a:cxn>
              <a:cxn ang="f29">
                <a:pos x="f15" y="f18"/>
              </a:cxn>
              <a:cxn ang="f29">
                <a:pos x="f24" y="f25"/>
              </a:cxn>
              <a:cxn ang="f29">
                <a:pos x="f15" y="f17"/>
              </a:cxn>
              <a:cxn ang="f29">
                <a:pos x="f22" y="f26"/>
              </a:cxn>
              <a:cxn ang="f29">
                <a:pos x="f16" y="f17"/>
              </a:cxn>
              <a:cxn ang="f29">
                <a:pos x="f27" y="f25"/>
              </a:cxn>
              <a:cxn ang="f29">
                <a:pos x="f16" y="f18"/>
              </a:cxn>
            </a:cxnLst>
            <a:rect l="f15" t="f18" r="f16" b="f17"/>
            <a:pathLst>
              <a:path w="21600" h="21600">
                <a:moveTo>
                  <a:pt x="f48" y="f49"/>
                </a:moveTo>
                <a:arcTo wR="f9" hR="f9" stAng="f29" swAng="f32"/>
                <a:close/>
              </a:path>
            </a:pathLst>
          </a:custGeom>
          <a:solidFill>
            <a:srgbClr val="729FCF"/>
          </a:solidFill>
          <a:ln w="0">
            <a:solidFill>
              <a:srgbClr val="3465A4"/>
            </a:solidFill>
            <a:prstDash val="solid"/>
          </a:ln>
        </p:spPr>
        <p:txBody>
          <a:bodyPr vert="horz" wrap="square" lIns="108847" tIns="54423" rIns="108847" bIns="54423" anchor="ctr" anchorCtr="0" compatLnSpc="0">
            <a:noAutofit/>
          </a:bodyPr>
          <a:lstStyle/>
          <a:p>
            <a:pPr hangingPunct="0"/>
            <a:endParaRPr lang="en-US" sz="2177">
              <a:latin typeface="Liberation Sans" pitchFamily="18"/>
              <a:ea typeface="Microsoft YaHei" pitchFamily="2"/>
              <a:cs typeface="Lucida Sans" pitchFamily="2"/>
            </a:endParaRPr>
          </a:p>
        </p:txBody>
      </p:sp>
      <p:sp>
        <p:nvSpPr>
          <p:cNvPr id="12" name="Connecteur droit 11">
            <a:extLst>
              <a:ext uri="{FF2B5EF4-FFF2-40B4-BE49-F238E27FC236}">
                <a16:creationId xmlns:a16="http://schemas.microsoft.com/office/drawing/2014/main" id="{38E4A969-CFA0-4349-823D-EB5B8ECB48D8}"/>
              </a:ext>
            </a:extLst>
          </p:cNvPr>
          <p:cNvSpPr/>
          <p:nvPr/>
        </p:nvSpPr>
        <p:spPr>
          <a:xfrm>
            <a:off x="2196895" y="2960368"/>
            <a:ext cx="217693" cy="0"/>
          </a:xfrm>
          <a:prstGeom prst="line">
            <a:avLst/>
          </a:prstGeom>
          <a:noFill/>
          <a:ln w="0">
            <a:solidFill>
              <a:srgbClr val="3465A4"/>
            </a:solidFill>
            <a:prstDash val="solid"/>
          </a:ln>
        </p:spPr>
        <p:txBody>
          <a:bodyPr vert="horz" wrap="square" lIns="108847" tIns="54423" rIns="108847" bIns="54423" anchor="ctr" anchorCtr="0" compatLnSpc="0"/>
          <a:lstStyle/>
          <a:p>
            <a:pPr hangingPunct="0"/>
            <a:endParaRPr lang="en-US" sz="2177">
              <a:latin typeface="Liberation Sans" pitchFamily="18"/>
              <a:ea typeface="Microsoft YaHei" pitchFamily="2"/>
              <a:cs typeface="Lucida Sans" pitchFamily="2"/>
            </a:endParaRPr>
          </a:p>
        </p:txBody>
      </p:sp>
      <p:sp>
        <p:nvSpPr>
          <p:cNvPr id="13" name="Forme libre : forme 12">
            <a:extLst>
              <a:ext uri="{FF2B5EF4-FFF2-40B4-BE49-F238E27FC236}">
                <a16:creationId xmlns:a16="http://schemas.microsoft.com/office/drawing/2014/main" id="{E5727B5A-E19F-4C25-B071-6E8571DCDE14}"/>
              </a:ext>
            </a:extLst>
          </p:cNvPr>
          <p:cNvSpPr/>
          <p:nvPr/>
        </p:nvSpPr>
        <p:spPr>
          <a:xfrm>
            <a:off x="1979201" y="3678755"/>
            <a:ext cx="217693" cy="217693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*/ 5419351 1 1725033"/>
              <a:gd name="f6" fmla="*/ 10800 10800 1"/>
              <a:gd name="f7" fmla="+- 0 0 0"/>
              <a:gd name="f8" fmla="+- 0 0 360"/>
              <a:gd name="f9" fmla="val 10800"/>
              <a:gd name="f10" fmla="*/ f3 1 21600"/>
              <a:gd name="f11" fmla="*/ f4 1 21600"/>
              <a:gd name="f12" fmla="*/ 0 f5 1"/>
              <a:gd name="f13" fmla="*/ f7 f0 1"/>
              <a:gd name="f14" fmla="*/ f8 f0 1"/>
              <a:gd name="f15" fmla="*/ 3163 f10 1"/>
              <a:gd name="f16" fmla="*/ 18437 f10 1"/>
              <a:gd name="f17" fmla="*/ 18437 f11 1"/>
              <a:gd name="f18" fmla="*/ 3163 f11 1"/>
              <a:gd name="f19" fmla="*/ f12 1 f2"/>
              <a:gd name="f20" fmla="*/ f13 1 f2"/>
              <a:gd name="f21" fmla="*/ f14 1 f2"/>
              <a:gd name="f22" fmla="*/ 10800 f10 1"/>
              <a:gd name="f23" fmla="*/ 0 f11 1"/>
              <a:gd name="f24" fmla="*/ 0 f10 1"/>
              <a:gd name="f25" fmla="*/ 10800 f11 1"/>
              <a:gd name="f26" fmla="*/ 21600 f11 1"/>
              <a:gd name="f27" fmla="*/ 21600 f10 1"/>
              <a:gd name="f28" fmla="+- 0 0 f19"/>
              <a:gd name="f29" fmla="+- f20 0 f1"/>
              <a:gd name="f30" fmla="+- f21 0 f1"/>
              <a:gd name="f31" fmla="*/ f28 f0 1"/>
              <a:gd name="f32" fmla="+- f30 0 f29"/>
              <a:gd name="f33" fmla="*/ f31 1 f5"/>
              <a:gd name="f34" fmla="+- f33 0 f1"/>
              <a:gd name="f35" fmla="cos 1 f34"/>
              <a:gd name="f36" fmla="sin 1 f34"/>
              <a:gd name="f37" fmla="+- 0 0 f35"/>
              <a:gd name="f38" fmla="+- 0 0 f36"/>
              <a:gd name="f39" fmla="*/ 10800 f37 1"/>
              <a:gd name="f40" fmla="*/ 10800 f38 1"/>
              <a:gd name="f41" fmla="*/ f39 f39 1"/>
              <a:gd name="f42" fmla="*/ f40 f40 1"/>
              <a:gd name="f43" fmla="+- f41 f42 0"/>
              <a:gd name="f44" fmla="sqrt f43"/>
              <a:gd name="f45" fmla="*/ f6 1 f44"/>
              <a:gd name="f46" fmla="*/ f37 f45 1"/>
              <a:gd name="f47" fmla="*/ f38 f45 1"/>
              <a:gd name="f48" fmla="+- 10800 0 f46"/>
              <a:gd name="f49" fmla="+- 10800 0 f47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22" y="f23"/>
              </a:cxn>
              <a:cxn ang="f29">
                <a:pos x="f15" y="f18"/>
              </a:cxn>
              <a:cxn ang="f29">
                <a:pos x="f24" y="f25"/>
              </a:cxn>
              <a:cxn ang="f29">
                <a:pos x="f15" y="f17"/>
              </a:cxn>
              <a:cxn ang="f29">
                <a:pos x="f22" y="f26"/>
              </a:cxn>
              <a:cxn ang="f29">
                <a:pos x="f16" y="f17"/>
              </a:cxn>
              <a:cxn ang="f29">
                <a:pos x="f27" y="f25"/>
              </a:cxn>
              <a:cxn ang="f29">
                <a:pos x="f16" y="f18"/>
              </a:cxn>
            </a:cxnLst>
            <a:rect l="f15" t="f18" r="f16" b="f17"/>
            <a:pathLst>
              <a:path w="21600" h="21600">
                <a:moveTo>
                  <a:pt x="f48" y="f49"/>
                </a:moveTo>
                <a:arcTo wR="f9" hR="f9" stAng="f29" swAng="f32"/>
                <a:close/>
              </a:path>
            </a:pathLst>
          </a:custGeom>
          <a:solidFill>
            <a:srgbClr val="729FCF"/>
          </a:solidFill>
          <a:ln w="0">
            <a:solidFill>
              <a:srgbClr val="3465A4"/>
            </a:solidFill>
            <a:prstDash val="solid"/>
          </a:ln>
        </p:spPr>
        <p:txBody>
          <a:bodyPr vert="horz" wrap="square" lIns="108847" tIns="54423" rIns="108847" bIns="54423" anchor="ctr" anchorCtr="0" compatLnSpc="0">
            <a:noAutofit/>
          </a:bodyPr>
          <a:lstStyle/>
          <a:p>
            <a:pPr hangingPunct="0"/>
            <a:endParaRPr lang="en-US" sz="2177">
              <a:latin typeface="Liberation Sans" pitchFamily="18"/>
              <a:ea typeface="Microsoft YaHei" pitchFamily="2"/>
              <a:cs typeface="Lucida Sans" pitchFamily="2"/>
            </a:endParaRPr>
          </a:p>
        </p:txBody>
      </p:sp>
      <p:sp>
        <p:nvSpPr>
          <p:cNvPr id="14" name="Connecteur droit 13">
            <a:extLst>
              <a:ext uri="{FF2B5EF4-FFF2-40B4-BE49-F238E27FC236}">
                <a16:creationId xmlns:a16="http://schemas.microsoft.com/office/drawing/2014/main" id="{C04D15EF-EDD4-410F-B535-177E815FC6A0}"/>
              </a:ext>
            </a:extLst>
          </p:cNvPr>
          <p:cNvSpPr/>
          <p:nvPr/>
        </p:nvSpPr>
        <p:spPr>
          <a:xfrm>
            <a:off x="2196895" y="3787602"/>
            <a:ext cx="217693" cy="0"/>
          </a:xfrm>
          <a:prstGeom prst="line">
            <a:avLst/>
          </a:prstGeom>
          <a:noFill/>
          <a:ln w="0">
            <a:solidFill>
              <a:srgbClr val="3465A4"/>
            </a:solidFill>
            <a:prstDash val="solid"/>
          </a:ln>
        </p:spPr>
        <p:txBody>
          <a:bodyPr vert="horz" wrap="square" lIns="108847" tIns="54423" rIns="108847" bIns="54423" anchor="ctr" anchorCtr="0" compatLnSpc="0"/>
          <a:lstStyle/>
          <a:p>
            <a:pPr hangingPunct="0"/>
            <a:endParaRPr lang="en-US" sz="2177">
              <a:latin typeface="Liberation Sans" pitchFamily="18"/>
              <a:ea typeface="Microsoft YaHei" pitchFamily="2"/>
              <a:cs typeface="Lucida Sans" pitchFamily="2"/>
            </a:endParaRPr>
          </a:p>
        </p:txBody>
      </p:sp>
      <p:sp>
        <p:nvSpPr>
          <p:cNvPr id="15" name="Forme libre : forme 14">
            <a:extLst>
              <a:ext uri="{FF2B5EF4-FFF2-40B4-BE49-F238E27FC236}">
                <a16:creationId xmlns:a16="http://schemas.microsoft.com/office/drawing/2014/main" id="{19E80EA0-27C2-4A35-8A3C-C2110133E3DB}"/>
              </a:ext>
            </a:extLst>
          </p:cNvPr>
          <p:cNvSpPr/>
          <p:nvPr/>
        </p:nvSpPr>
        <p:spPr>
          <a:xfrm>
            <a:off x="1979201" y="3940422"/>
            <a:ext cx="217693" cy="217693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*/ 5419351 1 1725033"/>
              <a:gd name="f6" fmla="*/ 10800 10800 1"/>
              <a:gd name="f7" fmla="+- 0 0 0"/>
              <a:gd name="f8" fmla="+- 0 0 360"/>
              <a:gd name="f9" fmla="val 10800"/>
              <a:gd name="f10" fmla="*/ f3 1 21600"/>
              <a:gd name="f11" fmla="*/ f4 1 21600"/>
              <a:gd name="f12" fmla="*/ 0 f5 1"/>
              <a:gd name="f13" fmla="*/ f7 f0 1"/>
              <a:gd name="f14" fmla="*/ f8 f0 1"/>
              <a:gd name="f15" fmla="*/ 3163 f10 1"/>
              <a:gd name="f16" fmla="*/ 18437 f10 1"/>
              <a:gd name="f17" fmla="*/ 18437 f11 1"/>
              <a:gd name="f18" fmla="*/ 3163 f11 1"/>
              <a:gd name="f19" fmla="*/ f12 1 f2"/>
              <a:gd name="f20" fmla="*/ f13 1 f2"/>
              <a:gd name="f21" fmla="*/ f14 1 f2"/>
              <a:gd name="f22" fmla="*/ 10800 f10 1"/>
              <a:gd name="f23" fmla="*/ 0 f11 1"/>
              <a:gd name="f24" fmla="*/ 0 f10 1"/>
              <a:gd name="f25" fmla="*/ 10800 f11 1"/>
              <a:gd name="f26" fmla="*/ 21600 f11 1"/>
              <a:gd name="f27" fmla="*/ 21600 f10 1"/>
              <a:gd name="f28" fmla="+- 0 0 f19"/>
              <a:gd name="f29" fmla="+- f20 0 f1"/>
              <a:gd name="f30" fmla="+- f21 0 f1"/>
              <a:gd name="f31" fmla="*/ f28 f0 1"/>
              <a:gd name="f32" fmla="+- f30 0 f29"/>
              <a:gd name="f33" fmla="*/ f31 1 f5"/>
              <a:gd name="f34" fmla="+- f33 0 f1"/>
              <a:gd name="f35" fmla="cos 1 f34"/>
              <a:gd name="f36" fmla="sin 1 f34"/>
              <a:gd name="f37" fmla="+- 0 0 f35"/>
              <a:gd name="f38" fmla="+- 0 0 f36"/>
              <a:gd name="f39" fmla="*/ 10800 f37 1"/>
              <a:gd name="f40" fmla="*/ 10800 f38 1"/>
              <a:gd name="f41" fmla="*/ f39 f39 1"/>
              <a:gd name="f42" fmla="*/ f40 f40 1"/>
              <a:gd name="f43" fmla="+- f41 f42 0"/>
              <a:gd name="f44" fmla="sqrt f43"/>
              <a:gd name="f45" fmla="*/ f6 1 f44"/>
              <a:gd name="f46" fmla="*/ f37 f45 1"/>
              <a:gd name="f47" fmla="*/ f38 f45 1"/>
              <a:gd name="f48" fmla="+- 10800 0 f46"/>
              <a:gd name="f49" fmla="+- 10800 0 f47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22" y="f23"/>
              </a:cxn>
              <a:cxn ang="f29">
                <a:pos x="f15" y="f18"/>
              </a:cxn>
              <a:cxn ang="f29">
                <a:pos x="f24" y="f25"/>
              </a:cxn>
              <a:cxn ang="f29">
                <a:pos x="f15" y="f17"/>
              </a:cxn>
              <a:cxn ang="f29">
                <a:pos x="f22" y="f26"/>
              </a:cxn>
              <a:cxn ang="f29">
                <a:pos x="f16" y="f17"/>
              </a:cxn>
              <a:cxn ang="f29">
                <a:pos x="f27" y="f25"/>
              </a:cxn>
              <a:cxn ang="f29">
                <a:pos x="f16" y="f18"/>
              </a:cxn>
            </a:cxnLst>
            <a:rect l="f15" t="f18" r="f16" b="f17"/>
            <a:pathLst>
              <a:path w="21600" h="21600">
                <a:moveTo>
                  <a:pt x="f48" y="f49"/>
                </a:moveTo>
                <a:arcTo wR="f9" hR="f9" stAng="f29" swAng="f32"/>
                <a:close/>
              </a:path>
            </a:pathLst>
          </a:custGeom>
          <a:solidFill>
            <a:srgbClr val="729FCF"/>
          </a:solidFill>
          <a:ln w="0">
            <a:solidFill>
              <a:srgbClr val="3465A4"/>
            </a:solidFill>
            <a:prstDash val="solid"/>
          </a:ln>
        </p:spPr>
        <p:txBody>
          <a:bodyPr vert="horz" wrap="square" lIns="108847" tIns="54423" rIns="108847" bIns="54423" anchor="ctr" anchorCtr="0" compatLnSpc="0">
            <a:noAutofit/>
          </a:bodyPr>
          <a:lstStyle/>
          <a:p>
            <a:pPr hangingPunct="0"/>
            <a:endParaRPr lang="en-US" sz="2177">
              <a:latin typeface="Liberation Sans" pitchFamily="18"/>
              <a:ea typeface="Microsoft YaHei" pitchFamily="2"/>
              <a:cs typeface="Lucida Sans" pitchFamily="2"/>
            </a:endParaRPr>
          </a:p>
        </p:txBody>
      </p:sp>
      <p:sp>
        <p:nvSpPr>
          <p:cNvPr id="16" name="Connecteur droit 15">
            <a:extLst>
              <a:ext uri="{FF2B5EF4-FFF2-40B4-BE49-F238E27FC236}">
                <a16:creationId xmlns:a16="http://schemas.microsoft.com/office/drawing/2014/main" id="{40704115-6874-44D4-9F06-0EBF058ACA00}"/>
              </a:ext>
            </a:extLst>
          </p:cNvPr>
          <p:cNvSpPr/>
          <p:nvPr/>
        </p:nvSpPr>
        <p:spPr>
          <a:xfrm>
            <a:off x="2196895" y="4049269"/>
            <a:ext cx="217693" cy="0"/>
          </a:xfrm>
          <a:prstGeom prst="line">
            <a:avLst/>
          </a:prstGeom>
          <a:noFill/>
          <a:ln w="0">
            <a:solidFill>
              <a:srgbClr val="3465A4"/>
            </a:solidFill>
            <a:prstDash val="solid"/>
          </a:ln>
        </p:spPr>
        <p:txBody>
          <a:bodyPr vert="horz" wrap="square" lIns="108847" tIns="54423" rIns="108847" bIns="54423" anchor="ctr" anchorCtr="0" compatLnSpc="0"/>
          <a:lstStyle/>
          <a:p>
            <a:pPr hangingPunct="0"/>
            <a:endParaRPr lang="en-US" sz="2177">
              <a:latin typeface="Liberation Sans" pitchFamily="18"/>
              <a:ea typeface="Microsoft YaHei" pitchFamily="2"/>
              <a:cs typeface="Lucida Sans" pitchFamily="2"/>
            </a:endParaRP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90DA8EA5-5D42-42BD-98DF-7C08559FD9B9}"/>
              </a:ext>
            </a:extLst>
          </p:cNvPr>
          <p:cNvSpPr txBox="1"/>
          <p:nvPr/>
        </p:nvSpPr>
        <p:spPr>
          <a:xfrm>
            <a:off x="276841" y="2487539"/>
            <a:ext cx="1768538" cy="1394107"/>
          </a:xfrm>
          <a:prstGeom prst="rect">
            <a:avLst/>
          </a:prstGeom>
          <a:noFill/>
          <a:ln>
            <a:noFill/>
          </a:ln>
        </p:spPr>
        <p:txBody>
          <a:bodyPr vert="horz" wrap="square" lIns="108847" tIns="54423" rIns="108847" bIns="54423" anchorCtr="0" compatLnSpc="0">
            <a:spAutoFit/>
          </a:bodyPr>
          <a:lstStyle/>
          <a:p>
            <a:pPr hangingPunct="0"/>
            <a:r>
              <a:rPr lang="en-US" sz="2177">
                <a:latin typeface="Liberation Sans" pitchFamily="18"/>
                <a:ea typeface="Microsoft YaHei" pitchFamily="2"/>
                <a:cs typeface="Lucida Sans" pitchFamily="2"/>
              </a:rPr>
              <a:t>Protobuf API</a:t>
            </a:r>
          </a:p>
          <a:p>
            <a:pPr hangingPunct="0"/>
            <a:r>
              <a:rPr lang="en-US" sz="2177">
                <a:latin typeface="Liberation Sans" pitchFamily="18"/>
                <a:ea typeface="Microsoft YaHei" pitchFamily="2"/>
                <a:cs typeface="Lucida Sans" pitchFamily="2"/>
              </a:rPr>
              <a:t>Http Rest</a:t>
            </a:r>
          </a:p>
          <a:p>
            <a:pPr hangingPunct="0"/>
            <a:r>
              <a:rPr lang="en-US" sz="2177">
                <a:latin typeface="Liberation Sans" pitchFamily="18"/>
                <a:ea typeface="Microsoft YaHei" pitchFamily="2"/>
                <a:cs typeface="Lucida Sans" pitchFamily="2"/>
              </a:rPr>
              <a:t>Web Yarnui</a:t>
            </a:r>
          </a:p>
        </p:txBody>
      </p:sp>
      <p:sp>
        <p:nvSpPr>
          <p:cNvPr id="18" name="Forme libre : forme 17">
            <a:extLst>
              <a:ext uri="{FF2B5EF4-FFF2-40B4-BE49-F238E27FC236}">
                <a16:creationId xmlns:a16="http://schemas.microsoft.com/office/drawing/2014/main" id="{636F37FE-FB83-4AC4-82CA-7750E3ABA46B}"/>
              </a:ext>
            </a:extLst>
          </p:cNvPr>
          <p:cNvSpPr/>
          <p:nvPr/>
        </p:nvSpPr>
        <p:spPr>
          <a:xfrm>
            <a:off x="4190964" y="4466369"/>
            <a:ext cx="552941" cy="552941"/>
          </a:xfrm>
          <a:custGeom>
            <a:avLst>
              <a:gd name="f0" fmla="val 5400"/>
            </a:avLst>
            <a:gdLst>
              <a:gd name="f1" fmla="val 10800000"/>
              <a:gd name="f2" fmla="val 5400000"/>
              <a:gd name="f3" fmla="val 180"/>
              <a:gd name="f4" fmla="val w"/>
              <a:gd name="f5" fmla="val h"/>
              <a:gd name="f6" fmla="val 0"/>
              <a:gd name="f7" fmla="val 88"/>
              <a:gd name="f8" fmla="val 21600"/>
              <a:gd name="f9" fmla="val 44"/>
              <a:gd name="f10" fmla="val -2147483647"/>
              <a:gd name="f11" fmla="val 2147483647"/>
              <a:gd name="f12" fmla="val 10800"/>
              <a:gd name="f13" fmla="val 20"/>
              <a:gd name="f14" fmla="val 68"/>
              <a:gd name="f15" fmla="+- 0 0 0"/>
              <a:gd name="f16" fmla="*/ f4 1 88"/>
              <a:gd name="f17" fmla="*/ f5 1 21600"/>
              <a:gd name="f18" fmla="pin 0 f0 10800"/>
              <a:gd name="f19" fmla="*/ f15 f1 1"/>
              <a:gd name="f20" fmla="*/ f18 2 1"/>
              <a:gd name="f21" fmla="*/ f9 f16 1"/>
              <a:gd name="f22" fmla="*/ f18 f17 1"/>
              <a:gd name="f23" fmla="*/ 0 f16 1"/>
              <a:gd name="f24" fmla="*/ 88 f16 1"/>
              <a:gd name="f25" fmla="*/ 44 f16 1"/>
              <a:gd name="f26" fmla="*/ f19 1 f3"/>
              <a:gd name="f27" fmla="*/ 0 f17 1"/>
              <a:gd name="f28" fmla="*/ 10800 f17 1"/>
              <a:gd name="f29" fmla="*/ 21600 f17 1"/>
              <a:gd name="f30" fmla="*/ f20 1 4"/>
              <a:gd name="f31" fmla="*/ f20 1 2"/>
              <a:gd name="f32" fmla="+- f26 0 f2"/>
              <a:gd name="f33" fmla="*/ f30 6 1"/>
              <a:gd name="f34" fmla="+- 21600 0 f30"/>
              <a:gd name="f35" fmla="*/ f31 f17 1"/>
              <a:gd name="f36" fmla="*/ f33 1 11"/>
              <a:gd name="f37" fmla="*/ f34 f17 1"/>
              <a:gd name="f38" fmla="+- f30 0 f36"/>
              <a:gd name="f39" fmla="+- f34 f36 0"/>
              <a:gd name="f40" fmla="+- f30 f36 0"/>
            </a:gdLst>
            <a:ahLst>
              <a:ahXY gdRefY="f0" minY="f6" maxY="f12">
                <a:pos x="f21" y="f22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32">
                <a:pos x="f25" y="f35"/>
              </a:cxn>
              <a:cxn ang="f32">
                <a:pos x="f25" y="f27"/>
              </a:cxn>
              <a:cxn ang="f32">
                <a:pos x="f23" y="f28"/>
              </a:cxn>
              <a:cxn ang="f32">
                <a:pos x="f25" y="f29"/>
              </a:cxn>
              <a:cxn ang="f32">
                <a:pos x="f24" y="f28"/>
              </a:cxn>
            </a:cxnLst>
            <a:rect l="f23" t="f35" r="f24" b="f37"/>
            <a:pathLst>
              <a:path w="88" h="21600">
                <a:moveTo>
                  <a:pt x="f9" y="f6"/>
                </a:moveTo>
                <a:cubicBezTo>
                  <a:pt x="f13" y="f6"/>
                  <a:pt x="f6" y="f38"/>
                  <a:pt x="f6" y="f30"/>
                </a:cubicBezTo>
                <a:lnTo>
                  <a:pt x="f6" y="f34"/>
                </a:lnTo>
                <a:cubicBezTo>
                  <a:pt x="f6" y="f39"/>
                  <a:pt x="f13" y="f8"/>
                  <a:pt x="f9" y="f8"/>
                </a:cubicBezTo>
                <a:cubicBezTo>
                  <a:pt x="f14" y="f8"/>
                  <a:pt x="f7" y="f39"/>
                  <a:pt x="f7" y="f34"/>
                </a:cubicBezTo>
                <a:lnTo>
                  <a:pt x="f7" y="f30"/>
                </a:lnTo>
                <a:cubicBezTo>
                  <a:pt x="f7" y="f38"/>
                  <a:pt x="f14" y="f6"/>
                  <a:pt x="f9" y="f6"/>
                </a:cubicBezTo>
                <a:close/>
              </a:path>
              <a:path w="88" h="21600">
                <a:moveTo>
                  <a:pt x="f9" y="f6"/>
                </a:moveTo>
                <a:cubicBezTo>
                  <a:pt x="f13" y="f6"/>
                  <a:pt x="f6" y="f38"/>
                  <a:pt x="f6" y="f30"/>
                </a:cubicBezTo>
                <a:cubicBezTo>
                  <a:pt x="f6" y="f40"/>
                  <a:pt x="f13" y="f31"/>
                  <a:pt x="f9" y="f31"/>
                </a:cubicBezTo>
                <a:cubicBezTo>
                  <a:pt x="f14" y="f31"/>
                  <a:pt x="f7" y="f40"/>
                  <a:pt x="f7" y="f30"/>
                </a:cubicBezTo>
                <a:cubicBezTo>
                  <a:pt x="f7" y="f38"/>
                  <a:pt x="f14" y="f6"/>
                  <a:pt x="f9" y="f6"/>
                </a:cubicBezTo>
                <a:close/>
              </a:path>
            </a:pathLst>
          </a:custGeom>
          <a:solidFill>
            <a:srgbClr val="729FCF"/>
          </a:solidFill>
          <a:ln w="0">
            <a:solidFill>
              <a:srgbClr val="3465A4"/>
            </a:solidFill>
            <a:prstDash val="solid"/>
          </a:ln>
        </p:spPr>
        <p:txBody>
          <a:bodyPr vert="horz" wrap="square" lIns="108847" tIns="54423" rIns="108847" bIns="54423" anchor="ctr" anchorCtr="0" compatLnSpc="0">
            <a:noAutofit/>
          </a:bodyPr>
          <a:lstStyle/>
          <a:p>
            <a:pPr hangingPunct="0"/>
            <a:endParaRPr lang="en-US" sz="2177">
              <a:latin typeface="Liberation Sans" pitchFamily="18"/>
              <a:ea typeface="Microsoft YaHei" pitchFamily="2"/>
              <a:cs typeface="Lucida Sans" pitchFamily="2"/>
            </a:endParaRPr>
          </a:p>
        </p:txBody>
      </p:sp>
      <p:sp>
        <p:nvSpPr>
          <p:cNvPr id="19" name="Connecteur droit 18">
            <a:extLst>
              <a:ext uri="{FF2B5EF4-FFF2-40B4-BE49-F238E27FC236}">
                <a16:creationId xmlns:a16="http://schemas.microsoft.com/office/drawing/2014/main" id="{159FACAE-2CA2-42A3-AEEA-707154C5FB9F}"/>
              </a:ext>
            </a:extLst>
          </p:cNvPr>
          <p:cNvSpPr/>
          <p:nvPr/>
        </p:nvSpPr>
        <p:spPr>
          <a:xfrm>
            <a:off x="3914494" y="3913428"/>
            <a:ext cx="276470" cy="829411"/>
          </a:xfrm>
          <a:prstGeom prst="line">
            <a:avLst/>
          </a:prstGeom>
          <a:noFill/>
          <a:ln w="0">
            <a:solidFill>
              <a:srgbClr val="3465A4"/>
            </a:solidFill>
            <a:prstDash val="solid"/>
          </a:ln>
        </p:spPr>
        <p:txBody>
          <a:bodyPr vert="horz" wrap="square" lIns="108847" tIns="54423" rIns="108847" bIns="54423" anchor="ctr" anchorCtr="0" compatLnSpc="0"/>
          <a:lstStyle/>
          <a:p>
            <a:pPr hangingPunct="0"/>
            <a:endParaRPr lang="en-US" sz="2177">
              <a:latin typeface="Liberation Sans" pitchFamily="18"/>
              <a:ea typeface="Microsoft YaHei" pitchFamily="2"/>
              <a:cs typeface="Lucida Sans" pitchFamily="2"/>
            </a:endParaRPr>
          </a:p>
        </p:txBody>
      </p:sp>
      <p:sp>
        <p:nvSpPr>
          <p:cNvPr id="20" name="Connecteur droit 19">
            <a:extLst>
              <a:ext uri="{FF2B5EF4-FFF2-40B4-BE49-F238E27FC236}">
                <a16:creationId xmlns:a16="http://schemas.microsoft.com/office/drawing/2014/main" id="{F7EECD97-6324-4E08-AB0D-73C1AE9C5FB8}"/>
              </a:ext>
            </a:extLst>
          </p:cNvPr>
          <p:cNvSpPr/>
          <p:nvPr/>
        </p:nvSpPr>
        <p:spPr>
          <a:xfrm>
            <a:off x="3914493" y="2807547"/>
            <a:ext cx="276906" cy="1935728"/>
          </a:xfrm>
          <a:prstGeom prst="line">
            <a:avLst/>
          </a:prstGeom>
          <a:noFill/>
          <a:ln w="0">
            <a:solidFill>
              <a:srgbClr val="3465A4"/>
            </a:solidFill>
            <a:prstDash val="solid"/>
          </a:ln>
        </p:spPr>
        <p:txBody>
          <a:bodyPr vert="horz" wrap="square" lIns="108847" tIns="54423" rIns="108847" bIns="54423" anchor="ctr" anchorCtr="0" compatLnSpc="0"/>
          <a:lstStyle/>
          <a:p>
            <a:pPr hangingPunct="0"/>
            <a:endParaRPr lang="en-US" sz="2177">
              <a:latin typeface="Liberation Sans" pitchFamily="18"/>
              <a:ea typeface="Microsoft YaHei" pitchFamily="2"/>
              <a:cs typeface="Lucida Sans" pitchFamily="2"/>
            </a:endParaRPr>
          </a:p>
        </p:txBody>
      </p:sp>
      <p:sp>
        <p:nvSpPr>
          <p:cNvPr id="21" name="ZoneTexte 20">
            <a:extLst>
              <a:ext uri="{FF2B5EF4-FFF2-40B4-BE49-F238E27FC236}">
                <a16:creationId xmlns:a16="http://schemas.microsoft.com/office/drawing/2014/main" id="{1858799F-CD35-4484-A612-FF21ED52CDC6}"/>
              </a:ext>
            </a:extLst>
          </p:cNvPr>
          <p:cNvSpPr txBox="1"/>
          <p:nvPr/>
        </p:nvSpPr>
        <p:spPr>
          <a:xfrm>
            <a:off x="3725101" y="5019310"/>
            <a:ext cx="3112296" cy="752008"/>
          </a:xfrm>
          <a:prstGeom prst="rect">
            <a:avLst/>
          </a:prstGeom>
          <a:noFill/>
          <a:ln>
            <a:noFill/>
          </a:ln>
        </p:spPr>
        <p:txBody>
          <a:bodyPr vert="horz" wrap="square" lIns="108847" tIns="54423" rIns="108847" bIns="54423" anchorCtr="0" compatLnSpc="0">
            <a:spAutoFit/>
          </a:bodyPr>
          <a:lstStyle/>
          <a:p>
            <a:pPr hangingPunct="0"/>
            <a:r>
              <a:rPr lang="en-US" sz="2177" dirty="0">
                <a:latin typeface="Liberation Sans" pitchFamily="18"/>
                <a:ea typeface="Microsoft YaHei" pitchFamily="2"/>
                <a:cs typeface="Lucida Sans" pitchFamily="2"/>
              </a:rPr>
              <a:t>Relational DB</a:t>
            </a:r>
          </a:p>
          <a:p>
            <a:pPr hangingPunct="0"/>
            <a:r>
              <a:rPr lang="en-US" sz="2177" dirty="0" err="1">
                <a:latin typeface="Liberation Sans" pitchFamily="18"/>
                <a:ea typeface="Microsoft YaHei" pitchFamily="2"/>
                <a:cs typeface="Lucida Sans" pitchFamily="2"/>
              </a:rPr>
              <a:t>eg.</a:t>
            </a:r>
            <a:r>
              <a:rPr lang="en-US" sz="2177" dirty="0">
                <a:latin typeface="Liberation Sans" pitchFamily="18"/>
                <a:ea typeface="Microsoft YaHei" pitchFamily="2"/>
                <a:cs typeface="Lucida Sans" pitchFamily="2"/>
              </a:rPr>
              <a:t> </a:t>
            </a:r>
            <a:r>
              <a:rPr lang="en-US" sz="2177" dirty="0" err="1">
                <a:latin typeface="Liberation Sans" pitchFamily="18"/>
                <a:ea typeface="Microsoft YaHei" pitchFamily="2"/>
                <a:cs typeface="Lucida Sans" pitchFamily="2"/>
              </a:rPr>
              <a:t>postgresql</a:t>
            </a:r>
            <a:endParaRPr lang="en-US" sz="2177" dirty="0">
              <a:latin typeface="Liberation Sans" pitchFamily="18"/>
              <a:ea typeface="Microsoft YaHei" pitchFamily="2"/>
              <a:cs typeface="Lucida Sans" pitchFamily="2"/>
            </a:endParaRPr>
          </a:p>
        </p:txBody>
      </p:sp>
      <p:sp>
        <p:nvSpPr>
          <p:cNvPr id="22" name="Forme libre : forme 21">
            <a:extLst>
              <a:ext uri="{FF2B5EF4-FFF2-40B4-BE49-F238E27FC236}">
                <a16:creationId xmlns:a16="http://schemas.microsoft.com/office/drawing/2014/main" id="{C6296B94-517F-4ACC-9D4D-2F18AEEC1504}"/>
              </a:ext>
            </a:extLst>
          </p:cNvPr>
          <p:cNvSpPr/>
          <p:nvPr/>
        </p:nvSpPr>
        <p:spPr>
          <a:xfrm>
            <a:off x="5719170" y="2531077"/>
            <a:ext cx="2065908" cy="27647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solidFill>
            <a:srgbClr val="729FCF"/>
          </a:solidFill>
          <a:ln w="0">
            <a:solidFill>
              <a:srgbClr val="3465A4"/>
            </a:solidFill>
            <a:prstDash val="solid"/>
          </a:ln>
        </p:spPr>
        <p:txBody>
          <a:bodyPr vert="horz" wrap="square" lIns="108847" tIns="54423" rIns="108847" bIns="54423" anchor="ctr" anchorCtr="0" compatLnSpc="0">
            <a:noAutofit/>
          </a:bodyPr>
          <a:lstStyle/>
          <a:p>
            <a:pPr algn="ctr" hangingPunct="0">
              <a:defRPr sz="1800"/>
            </a:pPr>
            <a:r>
              <a:rPr lang="en-US" sz="2177">
                <a:latin typeface="Liberation Sans" pitchFamily="18"/>
                <a:ea typeface="Microsoft YaHei" pitchFamily="2"/>
                <a:cs typeface="Lucida Sans" pitchFamily="2"/>
              </a:rPr>
              <a:t>NodeManager</a:t>
            </a:r>
          </a:p>
        </p:txBody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id="{0BE7781F-A86D-4BCD-9E64-91AD66A0D774}"/>
              </a:ext>
            </a:extLst>
          </p:cNvPr>
          <p:cNvSpPr txBox="1"/>
          <p:nvPr/>
        </p:nvSpPr>
        <p:spPr>
          <a:xfrm>
            <a:off x="6342643" y="2065214"/>
            <a:ext cx="1601351" cy="430959"/>
          </a:xfrm>
          <a:prstGeom prst="rect">
            <a:avLst/>
          </a:prstGeom>
          <a:noFill/>
          <a:ln>
            <a:noFill/>
          </a:ln>
        </p:spPr>
        <p:txBody>
          <a:bodyPr vert="horz" wrap="square" lIns="108847" tIns="54423" rIns="108847" bIns="54423" anchorCtr="0" compatLnSpc="0">
            <a:spAutoFit/>
          </a:bodyPr>
          <a:lstStyle/>
          <a:p>
            <a:pPr hangingPunct="0"/>
            <a:r>
              <a:rPr lang="en-US" sz="2177" dirty="0">
                <a:latin typeface="Liberation Sans" pitchFamily="18"/>
                <a:ea typeface="Microsoft YaHei" pitchFamily="2"/>
                <a:cs typeface="Lucida Sans" pitchFamily="2"/>
              </a:rPr>
              <a:t>Node</a:t>
            </a:r>
          </a:p>
        </p:txBody>
      </p:sp>
      <p:sp>
        <p:nvSpPr>
          <p:cNvPr id="24" name="Forme libre : forme 23">
            <a:extLst>
              <a:ext uri="{FF2B5EF4-FFF2-40B4-BE49-F238E27FC236}">
                <a16:creationId xmlns:a16="http://schemas.microsoft.com/office/drawing/2014/main" id="{A3FA158F-0A99-4871-B408-9EECFF22BC4D}"/>
              </a:ext>
            </a:extLst>
          </p:cNvPr>
          <p:cNvSpPr/>
          <p:nvPr/>
        </p:nvSpPr>
        <p:spPr>
          <a:xfrm>
            <a:off x="5660393" y="2487538"/>
            <a:ext cx="2211763" cy="2211763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 w="0">
            <a:solidFill>
              <a:srgbClr val="3465A4"/>
            </a:solidFill>
            <a:prstDash val="solid"/>
          </a:ln>
        </p:spPr>
        <p:txBody>
          <a:bodyPr vert="horz" wrap="square" lIns="108847" tIns="54423" rIns="108847" bIns="54423" anchor="ctr" anchorCtr="0" compatLnSpc="0">
            <a:noAutofit/>
          </a:bodyPr>
          <a:lstStyle/>
          <a:p>
            <a:pPr hangingPunct="0"/>
            <a:endParaRPr lang="en-US" sz="2177">
              <a:latin typeface="Liberation Sans" pitchFamily="18"/>
              <a:ea typeface="Microsoft YaHei" pitchFamily="2"/>
              <a:cs typeface="Lucida Sans" pitchFamily="2"/>
            </a:endParaRPr>
          </a:p>
        </p:txBody>
      </p:sp>
      <p:sp>
        <p:nvSpPr>
          <p:cNvPr id="25" name="Connecteur droit 24">
            <a:extLst>
              <a:ext uri="{FF2B5EF4-FFF2-40B4-BE49-F238E27FC236}">
                <a16:creationId xmlns:a16="http://schemas.microsoft.com/office/drawing/2014/main" id="{17E59F1E-26F4-4A8F-9C03-C45939F4E8E8}"/>
              </a:ext>
            </a:extLst>
          </p:cNvPr>
          <p:cNvSpPr/>
          <p:nvPr/>
        </p:nvSpPr>
        <p:spPr>
          <a:xfrm flipV="1">
            <a:off x="3914494" y="2661693"/>
            <a:ext cx="1804676" cy="145854"/>
          </a:xfrm>
          <a:prstGeom prst="line">
            <a:avLst/>
          </a:prstGeom>
          <a:noFill/>
          <a:ln w="0">
            <a:solidFill>
              <a:srgbClr val="3465A4"/>
            </a:solidFill>
            <a:prstDash val="solid"/>
          </a:ln>
        </p:spPr>
        <p:txBody>
          <a:bodyPr vert="horz" wrap="square" lIns="108847" tIns="54423" rIns="108847" bIns="54423" anchor="ctr" anchorCtr="0" compatLnSpc="0"/>
          <a:lstStyle/>
          <a:p>
            <a:pPr hangingPunct="0"/>
            <a:endParaRPr lang="en-US" sz="2177">
              <a:latin typeface="Liberation Sans" pitchFamily="18"/>
              <a:ea typeface="Microsoft YaHei" pitchFamily="2"/>
              <a:cs typeface="Lucida Sans" pitchFamily="2"/>
            </a:endParaRPr>
          </a:p>
        </p:txBody>
      </p:sp>
      <p:sp>
        <p:nvSpPr>
          <p:cNvPr id="26" name="Forme libre : forme 25">
            <a:extLst>
              <a:ext uri="{FF2B5EF4-FFF2-40B4-BE49-F238E27FC236}">
                <a16:creationId xmlns:a16="http://schemas.microsoft.com/office/drawing/2014/main" id="{02FDA04A-35FF-473E-8F9B-07EF267F87E4}"/>
              </a:ext>
            </a:extLst>
          </p:cNvPr>
          <p:cNvSpPr/>
          <p:nvPr/>
        </p:nvSpPr>
        <p:spPr>
          <a:xfrm>
            <a:off x="8120326" y="2531077"/>
            <a:ext cx="2065908" cy="27647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solidFill>
            <a:srgbClr val="729FCF"/>
          </a:solidFill>
          <a:ln w="0">
            <a:solidFill>
              <a:srgbClr val="3465A4"/>
            </a:solidFill>
            <a:prstDash val="solid"/>
          </a:ln>
        </p:spPr>
        <p:txBody>
          <a:bodyPr vert="horz" wrap="square" lIns="108847" tIns="54423" rIns="108847" bIns="54423" anchor="ctr" anchorCtr="0" compatLnSpc="0">
            <a:noAutofit/>
          </a:bodyPr>
          <a:lstStyle/>
          <a:p>
            <a:pPr algn="ctr" hangingPunct="0">
              <a:defRPr sz="1800"/>
            </a:pPr>
            <a:r>
              <a:rPr lang="en-US" sz="2177">
                <a:latin typeface="Liberation Sans" pitchFamily="18"/>
                <a:ea typeface="Microsoft YaHei" pitchFamily="2"/>
                <a:cs typeface="Lucida Sans" pitchFamily="2"/>
              </a:rPr>
              <a:t>NodeManager</a:t>
            </a:r>
          </a:p>
        </p:txBody>
      </p:sp>
      <p:sp>
        <p:nvSpPr>
          <p:cNvPr id="27" name="ZoneTexte 26">
            <a:extLst>
              <a:ext uri="{FF2B5EF4-FFF2-40B4-BE49-F238E27FC236}">
                <a16:creationId xmlns:a16="http://schemas.microsoft.com/office/drawing/2014/main" id="{0CC713A5-E9F1-43E2-8092-D604E2D1477A}"/>
              </a:ext>
            </a:extLst>
          </p:cNvPr>
          <p:cNvSpPr txBox="1"/>
          <p:nvPr/>
        </p:nvSpPr>
        <p:spPr>
          <a:xfrm>
            <a:off x="8743799" y="2065214"/>
            <a:ext cx="1688428" cy="430959"/>
          </a:xfrm>
          <a:prstGeom prst="rect">
            <a:avLst/>
          </a:prstGeom>
          <a:noFill/>
          <a:ln>
            <a:noFill/>
          </a:ln>
        </p:spPr>
        <p:txBody>
          <a:bodyPr vert="horz" wrap="square" lIns="108847" tIns="54423" rIns="108847" bIns="54423" anchorCtr="0" compatLnSpc="0">
            <a:spAutoFit/>
          </a:bodyPr>
          <a:lstStyle/>
          <a:p>
            <a:pPr hangingPunct="0"/>
            <a:r>
              <a:rPr lang="en-US" sz="2177" dirty="0">
                <a:latin typeface="Liberation Sans" pitchFamily="18"/>
                <a:ea typeface="Microsoft YaHei" pitchFamily="2"/>
                <a:cs typeface="Lucida Sans" pitchFamily="2"/>
              </a:rPr>
              <a:t>Node</a:t>
            </a:r>
          </a:p>
        </p:txBody>
      </p:sp>
      <p:sp>
        <p:nvSpPr>
          <p:cNvPr id="28" name="Forme libre : forme 27">
            <a:extLst>
              <a:ext uri="{FF2B5EF4-FFF2-40B4-BE49-F238E27FC236}">
                <a16:creationId xmlns:a16="http://schemas.microsoft.com/office/drawing/2014/main" id="{F8B24E1A-37B1-44FA-87C1-E6EE15F4C3E6}"/>
              </a:ext>
            </a:extLst>
          </p:cNvPr>
          <p:cNvSpPr/>
          <p:nvPr/>
        </p:nvSpPr>
        <p:spPr>
          <a:xfrm>
            <a:off x="8061548" y="2487538"/>
            <a:ext cx="2211763" cy="2211763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 w="0">
            <a:solidFill>
              <a:srgbClr val="3465A4"/>
            </a:solidFill>
            <a:prstDash val="solid"/>
          </a:ln>
        </p:spPr>
        <p:txBody>
          <a:bodyPr vert="horz" wrap="square" lIns="108847" tIns="54423" rIns="108847" bIns="54423" anchor="ctr" anchorCtr="0" compatLnSpc="0">
            <a:noAutofit/>
          </a:bodyPr>
          <a:lstStyle/>
          <a:p>
            <a:pPr hangingPunct="0"/>
            <a:endParaRPr lang="en-US" sz="2177">
              <a:latin typeface="Liberation Sans" pitchFamily="18"/>
              <a:ea typeface="Microsoft YaHei" pitchFamily="2"/>
              <a:cs typeface="Lucida Sans" pitchFamily="2"/>
            </a:endParaRPr>
          </a:p>
        </p:txBody>
      </p:sp>
      <p:sp>
        <p:nvSpPr>
          <p:cNvPr id="29" name="ZoneTexte 28">
            <a:extLst>
              <a:ext uri="{FF2B5EF4-FFF2-40B4-BE49-F238E27FC236}">
                <a16:creationId xmlns:a16="http://schemas.microsoft.com/office/drawing/2014/main" id="{3ED0F3FB-465E-4D82-A736-7662D51CBED5}"/>
              </a:ext>
            </a:extLst>
          </p:cNvPr>
          <p:cNvSpPr txBox="1"/>
          <p:nvPr/>
        </p:nvSpPr>
        <p:spPr>
          <a:xfrm>
            <a:off x="10549781" y="2068696"/>
            <a:ext cx="1230401" cy="752008"/>
          </a:xfrm>
          <a:prstGeom prst="rect">
            <a:avLst/>
          </a:prstGeom>
          <a:noFill/>
          <a:ln>
            <a:noFill/>
          </a:ln>
        </p:spPr>
        <p:txBody>
          <a:bodyPr vert="horz" wrap="square" lIns="108847" tIns="54423" rIns="108847" bIns="54423" anchorCtr="0" compatLnSpc="0">
            <a:spAutoFit/>
          </a:bodyPr>
          <a:lstStyle/>
          <a:p>
            <a:pPr hangingPunct="0"/>
            <a:r>
              <a:rPr lang="en-US" sz="2177">
                <a:latin typeface="Liberation Sans" pitchFamily="18"/>
                <a:ea typeface="Microsoft YaHei" pitchFamily="2"/>
                <a:cs typeface="Lucida Sans" pitchFamily="2"/>
              </a:rPr>
              <a:t>… Node</a:t>
            </a:r>
          </a:p>
        </p:txBody>
      </p:sp>
      <p:sp>
        <p:nvSpPr>
          <p:cNvPr id="30" name="Forme libre : forme 29">
            <a:extLst>
              <a:ext uri="{FF2B5EF4-FFF2-40B4-BE49-F238E27FC236}">
                <a16:creationId xmlns:a16="http://schemas.microsoft.com/office/drawing/2014/main" id="{26FD98DD-2FFD-4841-95AA-02FA3A6D8D7A}"/>
              </a:ext>
            </a:extLst>
          </p:cNvPr>
          <p:cNvSpPr/>
          <p:nvPr/>
        </p:nvSpPr>
        <p:spPr>
          <a:xfrm>
            <a:off x="5734409" y="3375726"/>
            <a:ext cx="1789437" cy="27647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solidFill>
            <a:srgbClr val="469F98"/>
          </a:solidFill>
          <a:ln w="0">
            <a:solidFill>
              <a:srgbClr val="3465A4"/>
            </a:solidFill>
            <a:prstDash val="solid"/>
          </a:ln>
        </p:spPr>
        <p:txBody>
          <a:bodyPr vert="horz" wrap="square" lIns="108847" tIns="54423" rIns="108847" bIns="54423" anchor="ctr" anchorCtr="0" compatLnSpc="0">
            <a:noAutofit/>
          </a:bodyPr>
          <a:lstStyle/>
          <a:p>
            <a:pPr algn="ctr" hangingPunct="0">
              <a:defRPr sz="1800"/>
            </a:pPr>
            <a:r>
              <a:rPr lang="en-US" sz="2177">
                <a:latin typeface="Liberation Sans" pitchFamily="18"/>
                <a:ea typeface="Microsoft YaHei" pitchFamily="2"/>
                <a:cs typeface="Lucida Sans" pitchFamily="2"/>
              </a:rPr>
              <a:t>AppMaster</a:t>
            </a:r>
          </a:p>
        </p:txBody>
      </p:sp>
      <p:sp>
        <p:nvSpPr>
          <p:cNvPr id="31" name="Forme libre : forme 30">
            <a:extLst>
              <a:ext uri="{FF2B5EF4-FFF2-40B4-BE49-F238E27FC236}">
                <a16:creationId xmlns:a16="http://schemas.microsoft.com/office/drawing/2014/main" id="{5EC19652-0A2F-4AA1-BC40-6BF735D4050F}"/>
              </a:ext>
            </a:extLst>
          </p:cNvPr>
          <p:cNvSpPr/>
          <p:nvPr/>
        </p:nvSpPr>
        <p:spPr>
          <a:xfrm>
            <a:off x="8244411" y="3798051"/>
            <a:ext cx="1789437" cy="27647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solidFill>
            <a:srgbClr val="469F98"/>
          </a:solidFill>
          <a:ln w="0">
            <a:solidFill>
              <a:srgbClr val="3465A4"/>
            </a:solidFill>
            <a:prstDash val="solid"/>
          </a:ln>
        </p:spPr>
        <p:txBody>
          <a:bodyPr vert="horz" wrap="square" lIns="108847" tIns="54423" rIns="108847" bIns="54423" anchor="ctr" anchorCtr="0" compatLnSpc="0">
            <a:noAutofit/>
          </a:bodyPr>
          <a:lstStyle/>
          <a:p>
            <a:pPr algn="ctr" hangingPunct="0">
              <a:defRPr sz="1800"/>
            </a:pPr>
            <a:r>
              <a:rPr lang="en-US" sz="2177">
                <a:latin typeface="Liberation Sans" pitchFamily="18"/>
                <a:ea typeface="Microsoft YaHei" pitchFamily="2"/>
                <a:cs typeface="Lucida Sans" pitchFamily="2"/>
              </a:rPr>
              <a:t>Container1</a:t>
            </a:r>
          </a:p>
        </p:txBody>
      </p:sp>
      <p:sp>
        <p:nvSpPr>
          <p:cNvPr id="32" name="Forme libre : forme 31">
            <a:extLst>
              <a:ext uri="{FF2B5EF4-FFF2-40B4-BE49-F238E27FC236}">
                <a16:creationId xmlns:a16="http://schemas.microsoft.com/office/drawing/2014/main" id="{9B3FDC8B-41E3-46D9-A6E2-70702952EF6A}"/>
              </a:ext>
            </a:extLst>
          </p:cNvPr>
          <p:cNvSpPr/>
          <p:nvPr/>
        </p:nvSpPr>
        <p:spPr>
          <a:xfrm>
            <a:off x="8244411" y="4233437"/>
            <a:ext cx="1789437" cy="27647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solidFill>
            <a:srgbClr val="469F98"/>
          </a:solidFill>
          <a:ln w="0">
            <a:solidFill>
              <a:srgbClr val="3465A4"/>
            </a:solidFill>
            <a:prstDash val="solid"/>
          </a:ln>
        </p:spPr>
        <p:txBody>
          <a:bodyPr vert="horz" wrap="square" lIns="108847" tIns="54423" rIns="108847" bIns="54423" anchor="ctr" anchorCtr="0" compatLnSpc="0">
            <a:noAutofit/>
          </a:bodyPr>
          <a:lstStyle/>
          <a:p>
            <a:pPr algn="ctr" hangingPunct="0">
              <a:defRPr sz="1800"/>
            </a:pPr>
            <a:r>
              <a:rPr lang="en-US" sz="2177">
                <a:latin typeface="Liberation Sans" pitchFamily="18"/>
                <a:ea typeface="Microsoft YaHei" pitchFamily="2"/>
                <a:cs typeface="Lucida Sans" pitchFamily="2"/>
              </a:rPr>
              <a:t>Container2</a:t>
            </a:r>
          </a:p>
        </p:txBody>
      </p:sp>
      <p:sp>
        <p:nvSpPr>
          <p:cNvPr id="33" name="Forme libre : forme 32">
            <a:extLst>
              <a:ext uri="{FF2B5EF4-FFF2-40B4-BE49-F238E27FC236}">
                <a16:creationId xmlns:a16="http://schemas.microsoft.com/office/drawing/2014/main" id="{621D0EA3-A1D0-4E5F-876C-54AFA32A7C6A}"/>
              </a:ext>
            </a:extLst>
          </p:cNvPr>
          <p:cNvSpPr/>
          <p:nvPr/>
        </p:nvSpPr>
        <p:spPr>
          <a:xfrm>
            <a:off x="10464881" y="4233437"/>
            <a:ext cx="1321398" cy="27647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solidFill>
            <a:srgbClr val="469F98"/>
          </a:solidFill>
          <a:ln w="0">
            <a:solidFill>
              <a:srgbClr val="3465A4"/>
            </a:solidFill>
            <a:prstDash val="solid"/>
          </a:ln>
        </p:spPr>
        <p:txBody>
          <a:bodyPr vert="horz" wrap="square" lIns="108847" tIns="54423" rIns="108847" bIns="54423" anchor="ctr" anchorCtr="0" compatLnSpc="0">
            <a:noAutofit/>
          </a:bodyPr>
          <a:lstStyle/>
          <a:p>
            <a:pPr algn="ctr" hangingPunct="0">
              <a:defRPr sz="1800"/>
            </a:pPr>
            <a:r>
              <a:rPr lang="en-US" sz="2177">
                <a:latin typeface="Liberation Sans" pitchFamily="18"/>
                <a:ea typeface="Microsoft YaHei" pitchFamily="2"/>
                <a:cs typeface="Lucida Sans" pitchFamily="2"/>
              </a:rPr>
              <a:t>Cont 3..</a:t>
            </a:r>
          </a:p>
        </p:txBody>
      </p:sp>
      <p:sp>
        <p:nvSpPr>
          <p:cNvPr id="34" name="Forme libre : forme 33">
            <a:extLst>
              <a:ext uri="{FF2B5EF4-FFF2-40B4-BE49-F238E27FC236}">
                <a16:creationId xmlns:a16="http://schemas.microsoft.com/office/drawing/2014/main" id="{5E8F58CA-8500-49FE-A4AE-AB8D03C8B04B}"/>
              </a:ext>
            </a:extLst>
          </p:cNvPr>
          <p:cNvSpPr/>
          <p:nvPr/>
        </p:nvSpPr>
        <p:spPr>
          <a:xfrm rot="5181600">
            <a:off x="6108988" y="2935254"/>
            <a:ext cx="276470" cy="294321"/>
          </a:xfrm>
          <a:custGeom>
            <a:avLst>
              <a:gd name="f0" fmla="val 16200000"/>
              <a:gd name="f1" fmla="val 5400000"/>
              <a:gd name="f2" fmla="val 5500"/>
            </a:avLst>
            <a:gdLst>
              <a:gd name="f3" fmla="val 21600000"/>
              <a:gd name="f4" fmla="val 10800000"/>
              <a:gd name="f5" fmla="val 5400000"/>
              <a:gd name="f6" fmla="val 180"/>
              <a:gd name="f7" fmla="val w"/>
              <a:gd name="f8" fmla="val h"/>
              <a:gd name="f9" fmla="val 0"/>
              <a:gd name="f10" fmla="*/ 5419351 1 1725033"/>
              <a:gd name="f11" fmla="sqrt 2"/>
              <a:gd name="f12" fmla="*/ 10800 10800 1"/>
              <a:gd name="f13" fmla="val 10800"/>
              <a:gd name="f14" fmla="val 21599999"/>
              <a:gd name="f15" fmla="min 0 21600"/>
              <a:gd name="f16" fmla="max 0 21600"/>
              <a:gd name="f17" fmla="*/ f10 1 2"/>
              <a:gd name="f18" fmla="*/ f7 1 21600"/>
              <a:gd name="f19" fmla="*/ f8 1 21600"/>
              <a:gd name="f20" fmla="*/ f10 1 180"/>
              <a:gd name="f21" fmla="*/ f11 1 2"/>
              <a:gd name="f22" fmla="pin 0 f0 21599999"/>
              <a:gd name="f23" fmla="pin 0 f2 10800"/>
              <a:gd name="f24" fmla="pin 0 f1 21599999"/>
              <a:gd name="f25" fmla="+- f16 0 f15"/>
              <a:gd name="f26" fmla="+- 10800 f23 0"/>
              <a:gd name="f27" fmla="+- f23 0 2700"/>
              <a:gd name="f28" fmla="+- 0 0 f22"/>
              <a:gd name="f29" fmla="+- 0 0 f24"/>
              <a:gd name="f30" fmla="*/ f23 f23 1"/>
              <a:gd name="f31" fmla="*/ 0 f18 1"/>
              <a:gd name="f32" fmla="*/ 21600 f18 1"/>
              <a:gd name="f33" fmla="*/ 21600 f19 1"/>
              <a:gd name="f34" fmla="*/ 0 f19 1"/>
              <a:gd name="f35" fmla="*/ f25 1 2"/>
              <a:gd name="f36" fmla="+- 21600 0 f26"/>
              <a:gd name="f37" fmla="+- f28 f5 0"/>
              <a:gd name="f38" fmla="+- f29 f5 0"/>
              <a:gd name="f39" fmla="+- f15 f35 0"/>
              <a:gd name="f40" fmla="*/ f35 f35 1"/>
              <a:gd name="f41" fmla="*/ f37 f6 1"/>
              <a:gd name="f42" fmla="*/ f38 f6 1"/>
              <a:gd name="f43" fmla="min f26 f36"/>
              <a:gd name="f44" fmla="max f26 f36"/>
              <a:gd name="f45" fmla="*/ f41 1 f4"/>
              <a:gd name="f46" fmla="*/ f42 1 f4"/>
              <a:gd name="f47" fmla="+- f44 0 f43"/>
              <a:gd name="f48" fmla="+- 0 0 f45"/>
              <a:gd name="f49" fmla="+- 0 0 f46"/>
              <a:gd name="f50" fmla="*/ f47 1 2"/>
              <a:gd name="f51" fmla="val f48"/>
              <a:gd name="f52" fmla="val f49"/>
              <a:gd name="f53" fmla="+- f43 f50 0"/>
              <a:gd name="f54" fmla="*/ f50 f50 1"/>
              <a:gd name="f55" fmla="*/ f51 f20 1"/>
              <a:gd name="f56" fmla="*/ f52 f20 1"/>
              <a:gd name="f57" fmla="+- f52 45 0"/>
              <a:gd name="f58" fmla="*/ f51 f10 1"/>
              <a:gd name="f59" fmla="*/ f52 f10 1"/>
              <a:gd name="f60" fmla="+- 0 0 f55"/>
              <a:gd name="f61" fmla="+- 0 0 f56"/>
              <a:gd name="f62" fmla="*/ f57 f10 1"/>
              <a:gd name="f63" fmla="*/ f58 1 f6"/>
              <a:gd name="f64" fmla="*/ f59 1 f6"/>
              <a:gd name="f65" fmla="*/ f60 f4 1"/>
              <a:gd name="f66" fmla="*/ f61 f4 1"/>
              <a:gd name="f67" fmla="*/ f62 1 180"/>
              <a:gd name="f68" fmla="+- 0 0 f63"/>
              <a:gd name="f69" fmla="+- 0 0 f64"/>
              <a:gd name="f70" fmla="*/ f65 1 f10"/>
              <a:gd name="f71" fmla="*/ f66 1 f10"/>
              <a:gd name="f72" fmla="+- 0 0 f67"/>
              <a:gd name="f73" fmla="+- f68 f10 0"/>
              <a:gd name="f74" fmla="+- f69 f10 0"/>
              <a:gd name="f75" fmla="+- f70 0 f5"/>
              <a:gd name="f76" fmla="+- f71 0 f5"/>
              <a:gd name="f77" fmla="*/ f72 f4 1"/>
              <a:gd name="f78" fmla="+- f73 f17 0"/>
              <a:gd name="f79" fmla="+- f74 f17 0"/>
              <a:gd name="f80" fmla="cos 1 f75"/>
              <a:gd name="f81" fmla="sin 1 f75"/>
              <a:gd name="f82" fmla="cos 1 f76"/>
              <a:gd name="f83" fmla="sin 1 f76"/>
              <a:gd name="f84" fmla="*/ f77 1 f10"/>
              <a:gd name="f85" fmla="+- 0 0 f78"/>
              <a:gd name="f86" fmla="+- 0 0 f79"/>
              <a:gd name="f87" fmla="+- 0 0 f80"/>
              <a:gd name="f88" fmla="+- 0 0 f81"/>
              <a:gd name="f89" fmla="+- 0 0 f82"/>
              <a:gd name="f90" fmla="+- 0 0 f83"/>
              <a:gd name="f91" fmla="+- f84 0 f5"/>
              <a:gd name="f92" fmla="*/ f85 f4 1"/>
              <a:gd name="f93" fmla="*/ f86 f4 1"/>
              <a:gd name="f94" fmla="*/ 10800 f87 1"/>
              <a:gd name="f95" fmla="*/ 10800 f88 1"/>
              <a:gd name="f96" fmla="*/ 10800 f89 1"/>
              <a:gd name="f97" fmla="*/ 10800 f90 1"/>
              <a:gd name="f98" fmla="*/ f26 f87 1"/>
              <a:gd name="f99" fmla="*/ f26 f88 1"/>
              <a:gd name="f100" fmla="*/ f26 f89 1"/>
              <a:gd name="f101" fmla="*/ f26 f90 1"/>
              <a:gd name="f102" fmla="*/ 13500 f89 1"/>
              <a:gd name="f103" fmla="*/ 13500 f90 1"/>
              <a:gd name="f104" fmla="*/ f27 f89 1"/>
              <a:gd name="f105" fmla="*/ f27 f90 1"/>
              <a:gd name="f106" fmla="cos 1 f91"/>
              <a:gd name="f107" fmla="sin 1 f91"/>
              <a:gd name="f108" fmla="*/ f92 1 f10"/>
              <a:gd name="f109" fmla="*/ f93 1 f10"/>
              <a:gd name="f110" fmla="+- f94 10800 0"/>
              <a:gd name="f111" fmla="+- f95 10800 0"/>
              <a:gd name="f112" fmla="+- f96 10800 0"/>
              <a:gd name="f113" fmla="+- f97 10800 0"/>
              <a:gd name="f114" fmla="+- f98 10800 0"/>
              <a:gd name="f115" fmla="+- f99 10800 0"/>
              <a:gd name="f116" fmla="+- f100 10800 0"/>
              <a:gd name="f117" fmla="+- f101 10800 0"/>
              <a:gd name="f118" fmla="+- f102 10800 0"/>
              <a:gd name="f119" fmla="+- f103 10800 0"/>
              <a:gd name="f120" fmla="+- f104 10800 0"/>
              <a:gd name="f121" fmla="+- f105 10800 0"/>
              <a:gd name="f122" fmla="+- 0 0 f106"/>
              <a:gd name="f123" fmla="+- 0 0 f107"/>
              <a:gd name="f124" fmla="+- f108 0 f5"/>
              <a:gd name="f125" fmla="+- f109 0 f5"/>
              <a:gd name="f126" fmla="+- f121 0 f119"/>
              <a:gd name="f127" fmla="+- f120 0 f118"/>
              <a:gd name="f128" fmla="cos 1 f124"/>
              <a:gd name="f129" fmla="sin 1 f124"/>
              <a:gd name="f130" fmla="cos 1 f125"/>
              <a:gd name="f131" fmla="sin 1 f125"/>
              <a:gd name="f132" fmla="+- f117 0 f53"/>
              <a:gd name="f133" fmla="+- f116 0 f53"/>
              <a:gd name="f134" fmla="+- f115 0 f53"/>
              <a:gd name="f135" fmla="+- f114 0 f53"/>
              <a:gd name="f136" fmla="+- f111 0 f39"/>
              <a:gd name="f137" fmla="+- f110 0 f39"/>
              <a:gd name="f138" fmla="+- f113 0 f39"/>
              <a:gd name="f139" fmla="+- f112 0 f39"/>
              <a:gd name="f140" fmla="*/ f126 f126 1"/>
              <a:gd name="f141" fmla="*/ f127 f127 1"/>
              <a:gd name="f142" fmla="+- 0 0 f128"/>
              <a:gd name="f143" fmla="+- 0 0 f129"/>
              <a:gd name="f144" fmla="+- 0 0 f130"/>
              <a:gd name="f145" fmla="+- 0 0 f131"/>
              <a:gd name="f146" fmla="at2 f132 f133"/>
              <a:gd name="f147" fmla="at2 f134 f135"/>
              <a:gd name="f148" fmla="at2 f136 f137"/>
              <a:gd name="f149" fmla="at2 f138 f139"/>
              <a:gd name="f150" fmla="+- f140 f141 0"/>
              <a:gd name="f151" fmla="*/ 10800 f142 1"/>
              <a:gd name="f152" fmla="*/ 10800 f143 1"/>
              <a:gd name="f153" fmla="*/ f23 f144 1"/>
              <a:gd name="f154" fmla="*/ f23 f145 1"/>
              <a:gd name="f155" fmla="+- f146 f5 0"/>
              <a:gd name="f156" fmla="+- f147 f5 0"/>
              <a:gd name="f157" fmla="+- f148 f5 0"/>
              <a:gd name="f158" fmla="+- f149 f5 0"/>
              <a:gd name="f159" fmla="sqrt f150"/>
              <a:gd name="f160" fmla="*/ f151 f151 1"/>
              <a:gd name="f161" fmla="*/ f152 f152 1"/>
              <a:gd name="f162" fmla="*/ f153 f153 1"/>
              <a:gd name="f163" fmla="*/ f154 f154 1"/>
              <a:gd name="f164" fmla="*/ f155 f10 1"/>
              <a:gd name="f165" fmla="*/ f156 f10 1"/>
              <a:gd name="f166" fmla="*/ f157 f10 1"/>
              <a:gd name="f167" fmla="*/ f158 f10 1"/>
              <a:gd name="f168" fmla="*/ f21 f159 1"/>
              <a:gd name="f169" fmla="+- f160 f161 0"/>
              <a:gd name="f170" fmla="+- f162 f163 0"/>
              <a:gd name="f171" fmla="*/ f164 1 f4"/>
              <a:gd name="f172" fmla="*/ f165 1 f4"/>
              <a:gd name="f173" fmla="*/ f166 1 f4"/>
              <a:gd name="f174" fmla="*/ f167 1 f4"/>
              <a:gd name="f175" fmla="*/ f168 f122 1"/>
              <a:gd name="f176" fmla="*/ f168 f123 1"/>
              <a:gd name="f177" fmla="sqrt f169"/>
              <a:gd name="f178" fmla="sqrt f170"/>
              <a:gd name="f179" fmla="+- 0 0 f171"/>
              <a:gd name="f180" fmla="+- 0 0 f172"/>
              <a:gd name="f181" fmla="+- 0 0 f173"/>
              <a:gd name="f182" fmla="+- 0 0 f174"/>
              <a:gd name="f183" fmla="+- f120 f175 0"/>
              <a:gd name="f184" fmla="+- f121 f176 0"/>
              <a:gd name="f185" fmla="*/ f12 1 f177"/>
              <a:gd name="f186" fmla="*/ f30 1 f178"/>
              <a:gd name="f187" fmla="+- 0 0 f179"/>
              <a:gd name="f188" fmla="+- 0 0 f180"/>
              <a:gd name="f189" fmla="+- 0 0 f181"/>
              <a:gd name="f190" fmla="+- 0 0 f182"/>
              <a:gd name="f191" fmla="*/ f142 f185 1"/>
              <a:gd name="f192" fmla="*/ f143 f185 1"/>
              <a:gd name="f193" fmla="*/ f144 f186 1"/>
              <a:gd name="f194" fmla="*/ f145 f186 1"/>
              <a:gd name="f195" fmla="*/ f187 f4 1"/>
              <a:gd name="f196" fmla="*/ f188 f4 1"/>
              <a:gd name="f197" fmla="*/ f189 f4 1"/>
              <a:gd name="f198" fmla="*/ f190 f4 1"/>
              <a:gd name="f199" fmla="+- 10800 0 f191"/>
              <a:gd name="f200" fmla="+- 10800 0 f192"/>
              <a:gd name="f201" fmla="+- 10800 0 f193"/>
              <a:gd name="f202" fmla="+- 10800 0 f194"/>
              <a:gd name="f203" fmla="*/ f195 1 f10"/>
              <a:gd name="f204" fmla="*/ f196 1 f10"/>
              <a:gd name="f205" fmla="*/ f197 1 f10"/>
              <a:gd name="f206" fmla="*/ f198 1 f10"/>
              <a:gd name="f207" fmla="*/ f199 f18 1"/>
              <a:gd name="f208" fmla="*/ f200 f19 1"/>
              <a:gd name="f209" fmla="*/ f201 f18 1"/>
              <a:gd name="f210" fmla="*/ f202 f19 1"/>
              <a:gd name="f211" fmla="+- f203 0 f5"/>
              <a:gd name="f212" fmla="+- f204 0 f5"/>
              <a:gd name="f213" fmla="+- f205 0 f5"/>
              <a:gd name="f214" fmla="+- f206 0 f5"/>
              <a:gd name="f215" fmla="cos 1 f211"/>
              <a:gd name="f216" fmla="sin 1 f211"/>
              <a:gd name="f217" fmla="+- f212 0 f211"/>
              <a:gd name="f218" fmla="cos 1 f213"/>
              <a:gd name="f219" fmla="sin 1 f213"/>
              <a:gd name="f220" fmla="+- f214 0 f213"/>
              <a:gd name="f221" fmla="+- 0 0 f215"/>
              <a:gd name="f222" fmla="+- 0 0 f216"/>
              <a:gd name="f223" fmla="+- f217 0 f3"/>
              <a:gd name="f224" fmla="+- 0 0 f218"/>
              <a:gd name="f225" fmla="+- 0 0 f219"/>
              <a:gd name="f226" fmla="+- f220 f3 0"/>
              <a:gd name="f227" fmla="*/ f50 f221 1"/>
              <a:gd name="f228" fmla="*/ f50 f222 1"/>
              <a:gd name="f229" fmla="?: f217 f223 f217"/>
              <a:gd name="f230" fmla="*/ f35 f224 1"/>
              <a:gd name="f231" fmla="*/ f35 f225 1"/>
              <a:gd name="f232" fmla="?: f220 f220 f226"/>
              <a:gd name="f233" fmla="*/ f227 f227 1"/>
              <a:gd name="f234" fmla="*/ f228 f228 1"/>
              <a:gd name="f235" fmla="*/ f230 f230 1"/>
              <a:gd name="f236" fmla="*/ f231 f231 1"/>
              <a:gd name="f237" fmla="+- f233 f234 0"/>
              <a:gd name="f238" fmla="+- f235 f236 0"/>
              <a:gd name="f239" fmla="sqrt f237"/>
              <a:gd name="f240" fmla="sqrt f238"/>
              <a:gd name="f241" fmla="*/ f54 1 f239"/>
              <a:gd name="f242" fmla="*/ f40 1 f240"/>
              <a:gd name="f243" fmla="*/ f221 f241 1"/>
              <a:gd name="f244" fmla="*/ f222 f241 1"/>
              <a:gd name="f245" fmla="*/ f224 f242 1"/>
              <a:gd name="f246" fmla="*/ f225 f242 1"/>
              <a:gd name="f247" fmla="+- f53 0 f243"/>
              <a:gd name="f248" fmla="+- f53 0 f244"/>
              <a:gd name="f249" fmla="+- f39 0 f245"/>
              <a:gd name="f250" fmla="+- f39 0 f246"/>
            </a:gdLst>
            <a:ahLst>
              <a:ahPolar gdRefAng="f0" minAng="f9" maxAng="f14">
                <a:pos x="f207" y="f208"/>
              </a:ahPolar>
              <a:ahPolar gdRefR="f2" minR="f9" maxR="f13" gdRefAng="f1" minAng="f9" maxAng="f14">
                <a:pos x="f209" y="f210"/>
              </a:ahPolar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31" t="f34" r="f32" b="f33"/>
            <a:pathLst>
              <a:path w="21600" h="21600">
                <a:moveTo>
                  <a:pt x="f247" y="f248"/>
                </a:moveTo>
                <a:arcTo wR="f50" hR="f50" stAng="f211" swAng="f229"/>
                <a:lnTo>
                  <a:pt x="f249" y="f250"/>
                </a:lnTo>
                <a:arcTo wR="f35" hR="f35" stAng="f213" swAng="f232"/>
                <a:lnTo>
                  <a:pt x="f119" y="f118"/>
                </a:lnTo>
                <a:lnTo>
                  <a:pt x="f184" y="f183"/>
                </a:lnTo>
                <a:lnTo>
                  <a:pt x="f121" y="f120"/>
                </a:lnTo>
                <a:close/>
              </a:path>
            </a:pathLst>
          </a:custGeom>
          <a:solidFill>
            <a:srgbClr val="729FCF"/>
          </a:solidFill>
          <a:ln w="0">
            <a:solidFill>
              <a:srgbClr val="3465A4"/>
            </a:solidFill>
            <a:prstDash val="solid"/>
          </a:ln>
        </p:spPr>
        <p:txBody>
          <a:bodyPr vert="horz" wrap="square" lIns="108847" tIns="54423" rIns="108847" bIns="54423" anchor="ctr" anchorCtr="0" compatLnSpc="0">
            <a:noAutofit/>
          </a:bodyPr>
          <a:lstStyle/>
          <a:p>
            <a:pPr hangingPunct="0"/>
            <a:endParaRPr lang="en-US" sz="2177">
              <a:latin typeface="Liberation Sans" pitchFamily="18"/>
              <a:ea typeface="Microsoft YaHei" pitchFamily="2"/>
              <a:cs typeface="Lucida Sans" pitchFamily="2"/>
            </a:endParaRPr>
          </a:p>
        </p:txBody>
      </p:sp>
      <p:sp>
        <p:nvSpPr>
          <p:cNvPr id="35" name="Forme libre : forme 34">
            <a:extLst>
              <a:ext uri="{FF2B5EF4-FFF2-40B4-BE49-F238E27FC236}">
                <a16:creationId xmlns:a16="http://schemas.microsoft.com/office/drawing/2014/main" id="{10EB05F5-3D27-46C7-984F-58067B64CBDE}"/>
              </a:ext>
            </a:extLst>
          </p:cNvPr>
          <p:cNvSpPr/>
          <p:nvPr/>
        </p:nvSpPr>
        <p:spPr>
          <a:xfrm rot="5181600">
            <a:off x="8429176" y="2967856"/>
            <a:ext cx="539442" cy="232496"/>
          </a:xfrm>
          <a:custGeom>
            <a:avLst>
              <a:gd name="f0" fmla="val 16200000"/>
              <a:gd name="f1" fmla="val 5400000"/>
              <a:gd name="f2" fmla="val 5500"/>
            </a:avLst>
            <a:gdLst>
              <a:gd name="f3" fmla="val 21600000"/>
              <a:gd name="f4" fmla="val 10800000"/>
              <a:gd name="f5" fmla="val 5400000"/>
              <a:gd name="f6" fmla="val 180"/>
              <a:gd name="f7" fmla="val w"/>
              <a:gd name="f8" fmla="val h"/>
              <a:gd name="f9" fmla="val 0"/>
              <a:gd name="f10" fmla="*/ 5419351 1 1725033"/>
              <a:gd name="f11" fmla="sqrt 2"/>
              <a:gd name="f12" fmla="*/ 10800 10800 1"/>
              <a:gd name="f13" fmla="val 10800"/>
              <a:gd name="f14" fmla="val 21599999"/>
              <a:gd name="f15" fmla="min 0 21600"/>
              <a:gd name="f16" fmla="max 0 21600"/>
              <a:gd name="f17" fmla="*/ f10 1 2"/>
              <a:gd name="f18" fmla="*/ f7 1 21600"/>
              <a:gd name="f19" fmla="*/ f8 1 21600"/>
              <a:gd name="f20" fmla="*/ f10 1 180"/>
              <a:gd name="f21" fmla="*/ f11 1 2"/>
              <a:gd name="f22" fmla="pin 0 f0 21599999"/>
              <a:gd name="f23" fmla="pin 0 f2 10800"/>
              <a:gd name="f24" fmla="pin 0 f1 21599999"/>
              <a:gd name="f25" fmla="+- f16 0 f15"/>
              <a:gd name="f26" fmla="+- 10800 f23 0"/>
              <a:gd name="f27" fmla="+- f23 0 2700"/>
              <a:gd name="f28" fmla="+- 0 0 f22"/>
              <a:gd name="f29" fmla="+- 0 0 f24"/>
              <a:gd name="f30" fmla="*/ f23 f23 1"/>
              <a:gd name="f31" fmla="*/ 0 f18 1"/>
              <a:gd name="f32" fmla="*/ 21600 f18 1"/>
              <a:gd name="f33" fmla="*/ 21600 f19 1"/>
              <a:gd name="f34" fmla="*/ 0 f19 1"/>
              <a:gd name="f35" fmla="*/ f25 1 2"/>
              <a:gd name="f36" fmla="+- 21600 0 f26"/>
              <a:gd name="f37" fmla="+- f28 f5 0"/>
              <a:gd name="f38" fmla="+- f29 f5 0"/>
              <a:gd name="f39" fmla="+- f15 f35 0"/>
              <a:gd name="f40" fmla="*/ f35 f35 1"/>
              <a:gd name="f41" fmla="*/ f37 f6 1"/>
              <a:gd name="f42" fmla="*/ f38 f6 1"/>
              <a:gd name="f43" fmla="min f26 f36"/>
              <a:gd name="f44" fmla="max f26 f36"/>
              <a:gd name="f45" fmla="*/ f41 1 f4"/>
              <a:gd name="f46" fmla="*/ f42 1 f4"/>
              <a:gd name="f47" fmla="+- f44 0 f43"/>
              <a:gd name="f48" fmla="+- 0 0 f45"/>
              <a:gd name="f49" fmla="+- 0 0 f46"/>
              <a:gd name="f50" fmla="*/ f47 1 2"/>
              <a:gd name="f51" fmla="val f48"/>
              <a:gd name="f52" fmla="val f49"/>
              <a:gd name="f53" fmla="+- f43 f50 0"/>
              <a:gd name="f54" fmla="*/ f50 f50 1"/>
              <a:gd name="f55" fmla="*/ f51 f20 1"/>
              <a:gd name="f56" fmla="*/ f52 f20 1"/>
              <a:gd name="f57" fmla="+- f52 45 0"/>
              <a:gd name="f58" fmla="*/ f51 f10 1"/>
              <a:gd name="f59" fmla="*/ f52 f10 1"/>
              <a:gd name="f60" fmla="+- 0 0 f55"/>
              <a:gd name="f61" fmla="+- 0 0 f56"/>
              <a:gd name="f62" fmla="*/ f57 f10 1"/>
              <a:gd name="f63" fmla="*/ f58 1 f6"/>
              <a:gd name="f64" fmla="*/ f59 1 f6"/>
              <a:gd name="f65" fmla="*/ f60 f4 1"/>
              <a:gd name="f66" fmla="*/ f61 f4 1"/>
              <a:gd name="f67" fmla="*/ f62 1 180"/>
              <a:gd name="f68" fmla="+- 0 0 f63"/>
              <a:gd name="f69" fmla="+- 0 0 f64"/>
              <a:gd name="f70" fmla="*/ f65 1 f10"/>
              <a:gd name="f71" fmla="*/ f66 1 f10"/>
              <a:gd name="f72" fmla="+- 0 0 f67"/>
              <a:gd name="f73" fmla="+- f68 f10 0"/>
              <a:gd name="f74" fmla="+- f69 f10 0"/>
              <a:gd name="f75" fmla="+- f70 0 f5"/>
              <a:gd name="f76" fmla="+- f71 0 f5"/>
              <a:gd name="f77" fmla="*/ f72 f4 1"/>
              <a:gd name="f78" fmla="+- f73 f17 0"/>
              <a:gd name="f79" fmla="+- f74 f17 0"/>
              <a:gd name="f80" fmla="cos 1 f75"/>
              <a:gd name="f81" fmla="sin 1 f75"/>
              <a:gd name="f82" fmla="cos 1 f76"/>
              <a:gd name="f83" fmla="sin 1 f76"/>
              <a:gd name="f84" fmla="*/ f77 1 f10"/>
              <a:gd name="f85" fmla="+- 0 0 f78"/>
              <a:gd name="f86" fmla="+- 0 0 f79"/>
              <a:gd name="f87" fmla="+- 0 0 f80"/>
              <a:gd name="f88" fmla="+- 0 0 f81"/>
              <a:gd name="f89" fmla="+- 0 0 f82"/>
              <a:gd name="f90" fmla="+- 0 0 f83"/>
              <a:gd name="f91" fmla="+- f84 0 f5"/>
              <a:gd name="f92" fmla="*/ f85 f4 1"/>
              <a:gd name="f93" fmla="*/ f86 f4 1"/>
              <a:gd name="f94" fmla="*/ 10800 f87 1"/>
              <a:gd name="f95" fmla="*/ 10800 f88 1"/>
              <a:gd name="f96" fmla="*/ 10800 f89 1"/>
              <a:gd name="f97" fmla="*/ 10800 f90 1"/>
              <a:gd name="f98" fmla="*/ f26 f87 1"/>
              <a:gd name="f99" fmla="*/ f26 f88 1"/>
              <a:gd name="f100" fmla="*/ f26 f89 1"/>
              <a:gd name="f101" fmla="*/ f26 f90 1"/>
              <a:gd name="f102" fmla="*/ 13500 f89 1"/>
              <a:gd name="f103" fmla="*/ 13500 f90 1"/>
              <a:gd name="f104" fmla="*/ f27 f89 1"/>
              <a:gd name="f105" fmla="*/ f27 f90 1"/>
              <a:gd name="f106" fmla="cos 1 f91"/>
              <a:gd name="f107" fmla="sin 1 f91"/>
              <a:gd name="f108" fmla="*/ f92 1 f10"/>
              <a:gd name="f109" fmla="*/ f93 1 f10"/>
              <a:gd name="f110" fmla="+- f94 10800 0"/>
              <a:gd name="f111" fmla="+- f95 10800 0"/>
              <a:gd name="f112" fmla="+- f96 10800 0"/>
              <a:gd name="f113" fmla="+- f97 10800 0"/>
              <a:gd name="f114" fmla="+- f98 10800 0"/>
              <a:gd name="f115" fmla="+- f99 10800 0"/>
              <a:gd name="f116" fmla="+- f100 10800 0"/>
              <a:gd name="f117" fmla="+- f101 10800 0"/>
              <a:gd name="f118" fmla="+- f102 10800 0"/>
              <a:gd name="f119" fmla="+- f103 10800 0"/>
              <a:gd name="f120" fmla="+- f104 10800 0"/>
              <a:gd name="f121" fmla="+- f105 10800 0"/>
              <a:gd name="f122" fmla="+- 0 0 f106"/>
              <a:gd name="f123" fmla="+- 0 0 f107"/>
              <a:gd name="f124" fmla="+- f108 0 f5"/>
              <a:gd name="f125" fmla="+- f109 0 f5"/>
              <a:gd name="f126" fmla="+- f121 0 f119"/>
              <a:gd name="f127" fmla="+- f120 0 f118"/>
              <a:gd name="f128" fmla="cos 1 f124"/>
              <a:gd name="f129" fmla="sin 1 f124"/>
              <a:gd name="f130" fmla="cos 1 f125"/>
              <a:gd name="f131" fmla="sin 1 f125"/>
              <a:gd name="f132" fmla="+- f117 0 f53"/>
              <a:gd name="f133" fmla="+- f116 0 f53"/>
              <a:gd name="f134" fmla="+- f115 0 f53"/>
              <a:gd name="f135" fmla="+- f114 0 f53"/>
              <a:gd name="f136" fmla="+- f111 0 f39"/>
              <a:gd name="f137" fmla="+- f110 0 f39"/>
              <a:gd name="f138" fmla="+- f113 0 f39"/>
              <a:gd name="f139" fmla="+- f112 0 f39"/>
              <a:gd name="f140" fmla="*/ f126 f126 1"/>
              <a:gd name="f141" fmla="*/ f127 f127 1"/>
              <a:gd name="f142" fmla="+- 0 0 f128"/>
              <a:gd name="f143" fmla="+- 0 0 f129"/>
              <a:gd name="f144" fmla="+- 0 0 f130"/>
              <a:gd name="f145" fmla="+- 0 0 f131"/>
              <a:gd name="f146" fmla="at2 f132 f133"/>
              <a:gd name="f147" fmla="at2 f134 f135"/>
              <a:gd name="f148" fmla="at2 f136 f137"/>
              <a:gd name="f149" fmla="at2 f138 f139"/>
              <a:gd name="f150" fmla="+- f140 f141 0"/>
              <a:gd name="f151" fmla="*/ 10800 f142 1"/>
              <a:gd name="f152" fmla="*/ 10800 f143 1"/>
              <a:gd name="f153" fmla="*/ f23 f144 1"/>
              <a:gd name="f154" fmla="*/ f23 f145 1"/>
              <a:gd name="f155" fmla="+- f146 f5 0"/>
              <a:gd name="f156" fmla="+- f147 f5 0"/>
              <a:gd name="f157" fmla="+- f148 f5 0"/>
              <a:gd name="f158" fmla="+- f149 f5 0"/>
              <a:gd name="f159" fmla="sqrt f150"/>
              <a:gd name="f160" fmla="*/ f151 f151 1"/>
              <a:gd name="f161" fmla="*/ f152 f152 1"/>
              <a:gd name="f162" fmla="*/ f153 f153 1"/>
              <a:gd name="f163" fmla="*/ f154 f154 1"/>
              <a:gd name="f164" fmla="*/ f155 f10 1"/>
              <a:gd name="f165" fmla="*/ f156 f10 1"/>
              <a:gd name="f166" fmla="*/ f157 f10 1"/>
              <a:gd name="f167" fmla="*/ f158 f10 1"/>
              <a:gd name="f168" fmla="*/ f21 f159 1"/>
              <a:gd name="f169" fmla="+- f160 f161 0"/>
              <a:gd name="f170" fmla="+- f162 f163 0"/>
              <a:gd name="f171" fmla="*/ f164 1 f4"/>
              <a:gd name="f172" fmla="*/ f165 1 f4"/>
              <a:gd name="f173" fmla="*/ f166 1 f4"/>
              <a:gd name="f174" fmla="*/ f167 1 f4"/>
              <a:gd name="f175" fmla="*/ f168 f122 1"/>
              <a:gd name="f176" fmla="*/ f168 f123 1"/>
              <a:gd name="f177" fmla="sqrt f169"/>
              <a:gd name="f178" fmla="sqrt f170"/>
              <a:gd name="f179" fmla="+- 0 0 f171"/>
              <a:gd name="f180" fmla="+- 0 0 f172"/>
              <a:gd name="f181" fmla="+- 0 0 f173"/>
              <a:gd name="f182" fmla="+- 0 0 f174"/>
              <a:gd name="f183" fmla="+- f120 f175 0"/>
              <a:gd name="f184" fmla="+- f121 f176 0"/>
              <a:gd name="f185" fmla="*/ f12 1 f177"/>
              <a:gd name="f186" fmla="*/ f30 1 f178"/>
              <a:gd name="f187" fmla="+- 0 0 f179"/>
              <a:gd name="f188" fmla="+- 0 0 f180"/>
              <a:gd name="f189" fmla="+- 0 0 f181"/>
              <a:gd name="f190" fmla="+- 0 0 f182"/>
              <a:gd name="f191" fmla="*/ f142 f185 1"/>
              <a:gd name="f192" fmla="*/ f143 f185 1"/>
              <a:gd name="f193" fmla="*/ f144 f186 1"/>
              <a:gd name="f194" fmla="*/ f145 f186 1"/>
              <a:gd name="f195" fmla="*/ f187 f4 1"/>
              <a:gd name="f196" fmla="*/ f188 f4 1"/>
              <a:gd name="f197" fmla="*/ f189 f4 1"/>
              <a:gd name="f198" fmla="*/ f190 f4 1"/>
              <a:gd name="f199" fmla="+- 10800 0 f191"/>
              <a:gd name="f200" fmla="+- 10800 0 f192"/>
              <a:gd name="f201" fmla="+- 10800 0 f193"/>
              <a:gd name="f202" fmla="+- 10800 0 f194"/>
              <a:gd name="f203" fmla="*/ f195 1 f10"/>
              <a:gd name="f204" fmla="*/ f196 1 f10"/>
              <a:gd name="f205" fmla="*/ f197 1 f10"/>
              <a:gd name="f206" fmla="*/ f198 1 f10"/>
              <a:gd name="f207" fmla="*/ f199 f18 1"/>
              <a:gd name="f208" fmla="*/ f200 f19 1"/>
              <a:gd name="f209" fmla="*/ f201 f18 1"/>
              <a:gd name="f210" fmla="*/ f202 f19 1"/>
              <a:gd name="f211" fmla="+- f203 0 f5"/>
              <a:gd name="f212" fmla="+- f204 0 f5"/>
              <a:gd name="f213" fmla="+- f205 0 f5"/>
              <a:gd name="f214" fmla="+- f206 0 f5"/>
              <a:gd name="f215" fmla="cos 1 f211"/>
              <a:gd name="f216" fmla="sin 1 f211"/>
              <a:gd name="f217" fmla="+- f212 0 f211"/>
              <a:gd name="f218" fmla="cos 1 f213"/>
              <a:gd name="f219" fmla="sin 1 f213"/>
              <a:gd name="f220" fmla="+- f214 0 f213"/>
              <a:gd name="f221" fmla="+- 0 0 f215"/>
              <a:gd name="f222" fmla="+- 0 0 f216"/>
              <a:gd name="f223" fmla="+- f217 0 f3"/>
              <a:gd name="f224" fmla="+- 0 0 f218"/>
              <a:gd name="f225" fmla="+- 0 0 f219"/>
              <a:gd name="f226" fmla="+- f220 f3 0"/>
              <a:gd name="f227" fmla="*/ f50 f221 1"/>
              <a:gd name="f228" fmla="*/ f50 f222 1"/>
              <a:gd name="f229" fmla="?: f217 f223 f217"/>
              <a:gd name="f230" fmla="*/ f35 f224 1"/>
              <a:gd name="f231" fmla="*/ f35 f225 1"/>
              <a:gd name="f232" fmla="?: f220 f220 f226"/>
              <a:gd name="f233" fmla="*/ f227 f227 1"/>
              <a:gd name="f234" fmla="*/ f228 f228 1"/>
              <a:gd name="f235" fmla="*/ f230 f230 1"/>
              <a:gd name="f236" fmla="*/ f231 f231 1"/>
              <a:gd name="f237" fmla="+- f233 f234 0"/>
              <a:gd name="f238" fmla="+- f235 f236 0"/>
              <a:gd name="f239" fmla="sqrt f237"/>
              <a:gd name="f240" fmla="sqrt f238"/>
              <a:gd name="f241" fmla="*/ f54 1 f239"/>
              <a:gd name="f242" fmla="*/ f40 1 f240"/>
              <a:gd name="f243" fmla="*/ f221 f241 1"/>
              <a:gd name="f244" fmla="*/ f222 f241 1"/>
              <a:gd name="f245" fmla="*/ f224 f242 1"/>
              <a:gd name="f246" fmla="*/ f225 f242 1"/>
              <a:gd name="f247" fmla="+- f53 0 f243"/>
              <a:gd name="f248" fmla="+- f53 0 f244"/>
              <a:gd name="f249" fmla="+- f39 0 f245"/>
              <a:gd name="f250" fmla="+- f39 0 f246"/>
            </a:gdLst>
            <a:ahLst>
              <a:ahPolar gdRefAng="f0" minAng="f9" maxAng="f14">
                <a:pos x="f207" y="f208"/>
              </a:ahPolar>
              <a:ahPolar gdRefR="f2" minR="f9" maxR="f13" gdRefAng="f1" minAng="f9" maxAng="f14">
                <a:pos x="f209" y="f210"/>
              </a:ahPolar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31" t="f34" r="f32" b="f33"/>
            <a:pathLst>
              <a:path w="21600" h="21600">
                <a:moveTo>
                  <a:pt x="f247" y="f248"/>
                </a:moveTo>
                <a:arcTo wR="f50" hR="f50" stAng="f211" swAng="f229"/>
                <a:lnTo>
                  <a:pt x="f249" y="f250"/>
                </a:lnTo>
                <a:arcTo wR="f35" hR="f35" stAng="f213" swAng="f232"/>
                <a:lnTo>
                  <a:pt x="f119" y="f118"/>
                </a:lnTo>
                <a:lnTo>
                  <a:pt x="f184" y="f183"/>
                </a:lnTo>
                <a:lnTo>
                  <a:pt x="f121" y="f120"/>
                </a:lnTo>
                <a:close/>
              </a:path>
            </a:pathLst>
          </a:custGeom>
          <a:solidFill>
            <a:srgbClr val="729FCF"/>
          </a:solidFill>
          <a:ln w="0">
            <a:solidFill>
              <a:srgbClr val="3465A4"/>
            </a:solidFill>
            <a:prstDash val="solid"/>
          </a:ln>
        </p:spPr>
        <p:txBody>
          <a:bodyPr vert="horz" wrap="square" lIns="108847" tIns="54423" rIns="108847" bIns="54423" anchor="ctr" anchorCtr="0" compatLnSpc="0">
            <a:noAutofit/>
          </a:bodyPr>
          <a:lstStyle/>
          <a:p>
            <a:pPr hangingPunct="0"/>
            <a:endParaRPr lang="en-US" sz="2177">
              <a:latin typeface="Liberation Sans" pitchFamily="18"/>
              <a:ea typeface="Microsoft YaHei" pitchFamily="2"/>
              <a:cs typeface="Lucida Sans" pitchFamily="2"/>
            </a:endParaRPr>
          </a:p>
        </p:txBody>
      </p:sp>
      <p:sp>
        <p:nvSpPr>
          <p:cNvPr id="36" name="Forme libre : forme 35">
            <a:extLst>
              <a:ext uri="{FF2B5EF4-FFF2-40B4-BE49-F238E27FC236}">
                <a16:creationId xmlns:a16="http://schemas.microsoft.com/office/drawing/2014/main" id="{485605E9-D1B2-44A4-A4A3-55525CB5311D}"/>
              </a:ext>
            </a:extLst>
          </p:cNvPr>
          <p:cNvSpPr/>
          <p:nvPr/>
        </p:nvSpPr>
        <p:spPr>
          <a:xfrm rot="5181600">
            <a:off x="8705647" y="2967856"/>
            <a:ext cx="539442" cy="232496"/>
          </a:xfrm>
          <a:custGeom>
            <a:avLst>
              <a:gd name="f0" fmla="val 16200000"/>
              <a:gd name="f1" fmla="val 5400000"/>
              <a:gd name="f2" fmla="val 5500"/>
            </a:avLst>
            <a:gdLst>
              <a:gd name="f3" fmla="val 21600000"/>
              <a:gd name="f4" fmla="val 10800000"/>
              <a:gd name="f5" fmla="val 5400000"/>
              <a:gd name="f6" fmla="val 180"/>
              <a:gd name="f7" fmla="val w"/>
              <a:gd name="f8" fmla="val h"/>
              <a:gd name="f9" fmla="val 0"/>
              <a:gd name="f10" fmla="*/ 5419351 1 1725033"/>
              <a:gd name="f11" fmla="sqrt 2"/>
              <a:gd name="f12" fmla="*/ 10800 10800 1"/>
              <a:gd name="f13" fmla="val 10800"/>
              <a:gd name="f14" fmla="val 21599999"/>
              <a:gd name="f15" fmla="min 0 21600"/>
              <a:gd name="f16" fmla="max 0 21600"/>
              <a:gd name="f17" fmla="*/ f10 1 2"/>
              <a:gd name="f18" fmla="*/ f7 1 21600"/>
              <a:gd name="f19" fmla="*/ f8 1 21600"/>
              <a:gd name="f20" fmla="*/ f10 1 180"/>
              <a:gd name="f21" fmla="*/ f11 1 2"/>
              <a:gd name="f22" fmla="pin 0 f0 21599999"/>
              <a:gd name="f23" fmla="pin 0 f2 10800"/>
              <a:gd name="f24" fmla="pin 0 f1 21599999"/>
              <a:gd name="f25" fmla="+- f16 0 f15"/>
              <a:gd name="f26" fmla="+- 10800 f23 0"/>
              <a:gd name="f27" fmla="+- f23 0 2700"/>
              <a:gd name="f28" fmla="+- 0 0 f22"/>
              <a:gd name="f29" fmla="+- 0 0 f24"/>
              <a:gd name="f30" fmla="*/ f23 f23 1"/>
              <a:gd name="f31" fmla="*/ 0 f18 1"/>
              <a:gd name="f32" fmla="*/ 21600 f18 1"/>
              <a:gd name="f33" fmla="*/ 21600 f19 1"/>
              <a:gd name="f34" fmla="*/ 0 f19 1"/>
              <a:gd name="f35" fmla="*/ f25 1 2"/>
              <a:gd name="f36" fmla="+- 21600 0 f26"/>
              <a:gd name="f37" fmla="+- f28 f5 0"/>
              <a:gd name="f38" fmla="+- f29 f5 0"/>
              <a:gd name="f39" fmla="+- f15 f35 0"/>
              <a:gd name="f40" fmla="*/ f35 f35 1"/>
              <a:gd name="f41" fmla="*/ f37 f6 1"/>
              <a:gd name="f42" fmla="*/ f38 f6 1"/>
              <a:gd name="f43" fmla="min f26 f36"/>
              <a:gd name="f44" fmla="max f26 f36"/>
              <a:gd name="f45" fmla="*/ f41 1 f4"/>
              <a:gd name="f46" fmla="*/ f42 1 f4"/>
              <a:gd name="f47" fmla="+- f44 0 f43"/>
              <a:gd name="f48" fmla="+- 0 0 f45"/>
              <a:gd name="f49" fmla="+- 0 0 f46"/>
              <a:gd name="f50" fmla="*/ f47 1 2"/>
              <a:gd name="f51" fmla="val f48"/>
              <a:gd name="f52" fmla="val f49"/>
              <a:gd name="f53" fmla="+- f43 f50 0"/>
              <a:gd name="f54" fmla="*/ f50 f50 1"/>
              <a:gd name="f55" fmla="*/ f51 f20 1"/>
              <a:gd name="f56" fmla="*/ f52 f20 1"/>
              <a:gd name="f57" fmla="+- f52 45 0"/>
              <a:gd name="f58" fmla="*/ f51 f10 1"/>
              <a:gd name="f59" fmla="*/ f52 f10 1"/>
              <a:gd name="f60" fmla="+- 0 0 f55"/>
              <a:gd name="f61" fmla="+- 0 0 f56"/>
              <a:gd name="f62" fmla="*/ f57 f10 1"/>
              <a:gd name="f63" fmla="*/ f58 1 f6"/>
              <a:gd name="f64" fmla="*/ f59 1 f6"/>
              <a:gd name="f65" fmla="*/ f60 f4 1"/>
              <a:gd name="f66" fmla="*/ f61 f4 1"/>
              <a:gd name="f67" fmla="*/ f62 1 180"/>
              <a:gd name="f68" fmla="+- 0 0 f63"/>
              <a:gd name="f69" fmla="+- 0 0 f64"/>
              <a:gd name="f70" fmla="*/ f65 1 f10"/>
              <a:gd name="f71" fmla="*/ f66 1 f10"/>
              <a:gd name="f72" fmla="+- 0 0 f67"/>
              <a:gd name="f73" fmla="+- f68 f10 0"/>
              <a:gd name="f74" fmla="+- f69 f10 0"/>
              <a:gd name="f75" fmla="+- f70 0 f5"/>
              <a:gd name="f76" fmla="+- f71 0 f5"/>
              <a:gd name="f77" fmla="*/ f72 f4 1"/>
              <a:gd name="f78" fmla="+- f73 f17 0"/>
              <a:gd name="f79" fmla="+- f74 f17 0"/>
              <a:gd name="f80" fmla="cos 1 f75"/>
              <a:gd name="f81" fmla="sin 1 f75"/>
              <a:gd name="f82" fmla="cos 1 f76"/>
              <a:gd name="f83" fmla="sin 1 f76"/>
              <a:gd name="f84" fmla="*/ f77 1 f10"/>
              <a:gd name="f85" fmla="+- 0 0 f78"/>
              <a:gd name="f86" fmla="+- 0 0 f79"/>
              <a:gd name="f87" fmla="+- 0 0 f80"/>
              <a:gd name="f88" fmla="+- 0 0 f81"/>
              <a:gd name="f89" fmla="+- 0 0 f82"/>
              <a:gd name="f90" fmla="+- 0 0 f83"/>
              <a:gd name="f91" fmla="+- f84 0 f5"/>
              <a:gd name="f92" fmla="*/ f85 f4 1"/>
              <a:gd name="f93" fmla="*/ f86 f4 1"/>
              <a:gd name="f94" fmla="*/ 10800 f87 1"/>
              <a:gd name="f95" fmla="*/ 10800 f88 1"/>
              <a:gd name="f96" fmla="*/ 10800 f89 1"/>
              <a:gd name="f97" fmla="*/ 10800 f90 1"/>
              <a:gd name="f98" fmla="*/ f26 f87 1"/>
              <a:gd name="f99" fmla="*/ f26 f88 1"/>
              <a:gd name="f100" fmla="*/ f26 f89 1"/>
              <a:gd name="f101" fmla="*/ f26 f90 1"/>
              <a:gd name="f102" fmla="*/ 13500 f89 1"/>
              <a:gd name="f103" fmla="*/ 13500 f90 1"/>
              <a:gd name="f104" fmla="*/ f27 f89 1"/>
              <a:gd name="f105" fmla="*/ f27 f90 1"/>
              <a:gd name="f106" fmla="cos 1 f91"/>
              <a:gd name="f107" fmla="sin 1 f91"/>
              <a:gd name="f108" fmla="*/ f92 1 f10"/>
              <a:gd name="f109" fmla="*/ f93 1 f10"/>
              <a:gd name="f110" fmla="+- f94 10800 0"/>
              <a:gd name="f111" fmla="+- f95 10800 0"/>
              <a:gd name="f112" fmla="+- f96 10800 0"/>
              <a:gd name="f113" fmla="+- f97 10800 0"/>
              <a:gd name="f114" fmla="+- f98 10800 0"/>
              <a:gd name="f115" fmla="+- f99 10800 0"/>
              <a:gd name="f116" fmla="+- f100 10800 0"/>
              <a:gd name="f117" fmla="+- f101 10800 0"/>
              <a:gd name="f118" fmla="+- f102 10800 0"/>
              <a:gd name="f119" fmla="+- f103 10800 0"/>
              <a:gd name="f120" fmla="+- f104 10800 0"/>
              <a:gd name="f121" fmla="+- f105 10800 0"/>
              <a:gd name="f122" fmla="+- 0 0 f106"/>
              <a:gd name="f123" fmla="+- 0 0 f107"/>
              <a:gd name="f124" fmla="+- f108 0 f5"/>
              <a:gd name="f125" fmla="+- f109 0 f5"/>
              <a:gd name="f126" fmla="+- f121 0 f119"/>
              <a:gd name="f127" fmla="+- f120 0 f118"/>
              <a:gd name="f128" fmla="cos 1 f124"/>
              <a:gd name="f129" fmla="sin 1 f124"/>
              <a:gd name="f130" fmla="cos 1 f125"/>
              <a:gd name="f131" fmla="sin 1 f125"/>
              <a:gd name="f132" fmla="+- f117 0 f53"/>
              <a:gd name="f133" fmla="+- f116 0 f53"/>
              <a:gd name="f134" fmla="+- f115 0 f53"/>
              <a:gd name="f135" fmla="+- f114 0 f53"/>
              <a:gd name="f136" fmla="+- f111 0 f39"/>
              <a:gd name="f137" fmla="+- f110 0 f39"/>
              <a:gd name="f138" fmla="+- f113 0 f39"/>
              <a:gd name="f139" fmla="+- f112 0 f39"/>
              <a:gd name="f140" fmla="*/ f126 f126 1"/>
              <a:gd name="f141" fmla="*/ f127 f127 1"/>
              <a:gd name="f142" fmla="+- 0 0 f128"/>
              <a:gd name="f143" fmla="+- 0 0 f129"/>
              <a:gd name="f144" fmla="+- 0 0 f130"/>
              <a:gd name="f145" fmla="+- 0 0 f131"/>
              <a:gd name="f146" fmla="at2 f132 f133"/>
              <a:gd name="f147" fmla="at2 f134 f135"/>
              <a:gd name="f148" fmla="at2 f136 f137"/>
              <a:gd name="f149" fmla="at2 f138 f139"/>
              <a:gd name="f150" fmla="+- f140 f141 0"/>
              <a:gd name="f151" fmla="*/ 10800 f142 1"/>
              <a:gd name="f152" fmla="*/ 10800 f143 1"/>
              <a:gd name="f153" fmla="*/ f23 f144 1"/>
              <a:gd name="f154" fmla="*/ f23 f145 1"/>
              <a:gd name="f155" fmla="+- f146 f5 0"/>
              <a:gd name="f156" fmla="+- f147 f5 0"/>
              <a:gd name="f157" fmla="+- f148 f5 0"/>
              <a:gd name="f158" fmla="+- f149 f5 0"/>
              <a:gd name="f159" fmla="sqrt f150"/>
              <a:gd name="f160" fmla="*/ f151 f151 1"/>
              <a:gd name="f161" fmla="*/ f152 f152 1"/>
              <a:gd name="f162" fmla="*/ f153 f153 1"/>
              <a:gd name="f163" fmla="*/ f154 f154 1"/>
              <a:gd name="f164" fmla="*/ f155 f10 1"/>
              <a:gd name="f165" fmla="*/ f156 f10 1"/>
              <a:gd name="f166" fmla="*/ f157 f10 1"/>
              <a:gd name="f167" fmla="*/ f158 f10 1"/>
              <a:gd name="f168" fmla="*/ f21 f159 1"/>
              <a:gd name="f169" fmla="+- f160 f161 0"/>
              <a:gd name="f170" fmla="+- f162 f163 0"/>
              <a:gd name="f171" fmla="*/ f164 1 f4"/>
              <a:gd name="f172" fmla="*/ f165 1 f4"/>
              <a:gd name="f173" fmla="*/ f166 1 f4"/>
              <a:gd name="f174" fmla="*/ f167 1 f4"/>
              <a:gd name="f175" fmla="*/ f168 f122 1"/>
              <a:gd name="f176" fmla="*/ f168 f123 1"/>
              <a:gd name="f177" fmla="sqrt f169"/>
              <a:gd name="f178" fmla="sqrt f170"/>
              <a:gd name="f179" fmla="+- 0 0 f171"/>
              <a:gd name="f180" fmla="+- 0 0 f172"/>
              <a:gd name="f181" fmla="+- 0 0 f173"/>
              <a:gd name="f182" fmla="+- 0 0 f174"/>
              <a:gd name="f183" fmla="+- f120 f175 0"/>
              <a:gd name="f184" fmla="+- f121 f176 0"/>
              <a:gd name="f185" fmla="*/ f12 1 f177"/>
              <a:gd name="f186" fmla="*/ f30 1 f178"/>
              <a:gd name="f187" fmla="+- 0 0 f179"/>
              <a:gd name="f188" fmla="+- 0 0 f180"/>
              <a:gd name="f189" fmla="+- 0 0 f181"/>
              <a:gd name="f190" fmla="+- 0 0 f182"/>
              <a:gd name="f191" fmla="*/ f142 f185 1"/>
              <a:gd name="f192" fmla="*/ f143 f185 1"/>
              <a:gd name="f193" fmla="*/ f144 f186 1"/>
              <a:gd name="f194" fmla="*/ f145 f186 1"/>
              <a:gd name="f195" fmla="*/ f187 f4 1"/>
              <a:gd name="f196" fmla="*/ f188 f4 1"/>
              <a:gd name="f197" fmla="*/ f189 f4 1"/>
              <a:gd name="f198" fmla="*/ f190 f4 1"/>
              <a:gd name="f199" fmla="+- 10800 0 f191"/>
              <a:gd name="f200" fmla="+- 10800 0 f192"/>
              <a:gd name="f201" fmla="+- 10800 0 f193"/>
              <a:gd name="f202" fmla="+- 10800 0 f194"/>
              <a:gd name="f203" fmla="*/ f195 1 f10"/>
              <a:gd name="f204" fmla="*/ f196 1 f10"/>
              <a:gd name="f205" fmla="*/ f197 1 f10"/>
              <a:gd name="f206" fmla="*/ f198 1 f10"/>
              <a:gd name="f207" fmla="*/ f199 f18 1"/>
              <a:gd name="f208" fmla="*/ f200 f19 1"/>
              <a:gd name="f209" fmla="*/ f201 f18 1"/>
              <a:gd name="f210" fmla="*/ f202 f19 1"/>
              <a:gd name="f211" fmla="+- f203 0 f5"/>
              <a:gd name="f212" fmla="+- f204 0 f5"/>
              <a:gd name="f213" fmla="+- f205 0 f5"/>
              <a:gd name="f214" fmla="+- f206 0 f5"/>
              <a:gd name="f215" fmla="cos 1 f211"/>
              <a:gd name="f216" fmla="sin 1 f211"/>
              <a:gd name="f217" fmla="+- f212 0 f211"/>
              <a:gd name="f218" fmla="cos 1 f213"/>
              <a:gd name="f219" fmla="sin 1 f213"/>
              <a:gd name="f220" fmla="+- f214 0 f213"/>
              <a:gd name="f221" fmla="+- 0 0 f215"/>
              <a:gd name="f222" fmla="+- 0 0 f216"/>
              <a:gd name="f223" fmla="+- f217 0 f3"/>
              <a:gd name="f224" fmla="+- 0 0 f218"/>
              <a:gd name="f225" fmla="+- 0 0 f219"/>
              <a:gd name="f226" fmla="+- f220 f3 0"/>
              <a:gd name="f227" fmla="*/ f50 f221 1"/>
              <a:gd name="f228" fmla="*/ f50 f222 1"/>
              <a:gd name="f229" fmla="?: f217 f223 f217"/>
              <a:gd name="f230" fmla="*/ f35 f224 1"/>
              <a:gd name="f231" fmla="*/ f35 f225 1"/>
              <a:gd name="f232" fmla="?: f220 f220 f226"/>
              <a:gd name="f233" fmla="*/ f227 f227 1"/>
              <a:gd name="f234" fmla="*/ f228 f228 1"/>
              <a:gd name="f235" fmla="*/ f230 f230 1"/>
              <a:gd name="f236" fmla="*/ f231 f231 1"/>
              <a:gd name="f237" fmla="+- f233 f234 0"/>
              <a:gd name="f238" fmla="+- f235 f236 0"/>
              <a:gd name="f239" fmla="sqrt f237"/>
              <a:gd name="f240" fmla="sqrt f238"/>
              <a:gd name="f241" fmla="*/ f54 1 f239"/>
              <a:gd name="f242" fmla="*/ f40 1 f240"/>
              <a:gd name="f243" fmla="*/ f221 f241 1"/>
              <a:gd name="f244" fmla="*/ f222 f241 1"/>
              <a:gd name="f245" fmla="*/ f224 f242 1"/>
              <a:gd name="f246" fmla="*/ f225 f242 1"/>
              <a:gd name="f247" fmla="+- f53 0 f243"/>
              <a:gd name="f248" fmla="+- f53 0 f244"/>
              <a:gd name="f249" fmla="+- f39 0 f245"/>
              <a:gd name="f250" fmla="+- f39 0 f246"/>
            </a:gdLst>
            <a:ahLst>
              <a:ahPolar gdRefAng="f0" minAng="f9" maxAng="f14">
                <a:pos x="f207" y="f208"/>
              </a:ahPolar>
              <a:ahPolar gdRefR="f2" minR="f9" maxR="f13" gdRefAng="f1" minAng="f9" maxAng="f14">
                <a:pos x="f209" y="f210"/>
              </a:ahPolar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31" t="f34" r="f32" b="f33"/>
            <a:pathLst>
              <a:path w="21600" h="21600">
                <a:moveTo>
                  <a:pt x="f247" y="f248"/>
                </a:moveTo>
                <a:arcTo wR="f50" hR="f50" stAng="f211" swAng="f229"/>
                <a:lnTo>
                  <a:pt x="f249" y="f250"/>
                </a:lnTo>
                <a:arcTo wR="f35" hR="f35" stAng="f213" swAng="f232"/>
                <a:lnTo>
                  <a:pt x="f119" y="f118"/>
                </a:lnTo>
                <a:lnTo>
                  <a:pt x="f184" y="f183"/>
                </a:lnTo>
                <a:lnTo>
                  <a:pt x="f121" y="f120"/>
                </a:lnTo>
                <a:close/>
              </a:path>
            </a:pathLst>
          </a:custGeom>
          <a:solidFill>
            <a:srgbClr val="729FCF"/>
          </a:solidFill>
          <a:ln w="0">
            <a:solidFill>
              <a:srgbClr val="3465A4"/>
            </a:solidFill>
            <a:prstDash val="solid"/>
          </a:ln>
        </p:spPr>
        <p:txBody>
          <a:bodyPr vert="horz" wrap="square" lIns="108847" tIns="54423" rIns="108847" bIns="54423" anchor="ctr" anchorCtr="0" compatLnSpc="0">
            <a:noAutofit/>
          </a:bodyPr>
          <a:lstStyle/>
          <a:p>
            <a:pPr hangingPunct="0"/>
            <a:endParaRPr lang="en-US" sz="2177">
              <a:latin typeface="Liberation Sans" pitchFamily="18"/>
              <a:ea typeface="Microsoft YaHei" pitchFamily="2"/>
              <a:cs typeface="Lucida Sans" pitchFamily="2"/>
            </a:endParaRPr>
          </a:p>
        </p:txBody>
      </p:sp>
      <p:sp>
        <p:nvSpPr>
          <p:cNvPr id="37" name="Forme libre : forme 36">
            <a:extLst>
              <a:ext uri="{FF2B5EF4-FFF2-40B4-BE49-F238E27FC236}">
                <a16:creationId xmlns:a16="http://schemas.microsoft.com/office/drawing/2014/main" id="{0E7A638A-F968-44C0-A792-FAB8C78A08F1}"/>
              </a:ext>
            </a:extLst>
          </p:cNvPr>
          <p:cNvSpPr/>
          <p:nvPr/>
        </p:nvSpPr>
        <p:spPr>
          <a:xfrm rot="9973800">
            <a:off x="4545450" y="3098547"/>
            <a:ext cx="834634" cy="491551"/>
          </a:xfrm>
          <a:custGeom>
            <a:avLst>
              <a:gd name="f0" fmla="val 16320000"/>
              <a:gd name="f1" fmla="val 5400000"/>
              <a:gd name="f2" fmla="val 5500"/>
            </a:avLst>
            <a:gdLst>
              <a:gd name="f3" fmla="val 21600000"/>
              <a:gd name="f4" fmla="val 10800000"/>
              <a:gd name="f5" fmla="val 5400000"/>
              <a:gd name="f6" fmla="val 180"/>
              <a:gd name="f7" fmla="val w"/>
              <a:gd name="f8" fmla="val h"/>
              <a:gd name="f9" fmla="val 0"/>
              <a:gd name="f10" fmla="*/ 5419351 1 1725033"/>
              <a:gd name="f11" fmla="sqrt 2"/>
              <a:gd name="f12" fmla="*/ 10800 10800 1"/>
              <a:gd name="f13" fmla="val 10800"/>
              <a:gd name="f14" fmla="val 21599999"/>
              <a:gd name="f15" fmla="min 0 21600"/>
              <a:gd name="f16" fmla="max 0 21600"/>
              <a:gd name="f17" fmla="*/ f10 1 2"/>
              <a:gd name="f18" fmla="*/ f7 1 21600"/>
              <a:gd name="f19" fmla="*/ f8 1 21600"/>
              <a:gd name="f20" fmla="*/ f10 1 180"/>
              <a:gd name="f21" fmla="*/ f11 1 2"/>
              <a:gd name="f22" fmla="pin 0 f0 21599999"/>
              <a:gd name="f23" fmla="pin 0 f2 10800"/>
              <a:gd name="f24" fmla="pin 0 f1 21599999"/>
              <a:gd name="f25" fmla="+- f16 0 f15"/>
              <a:gd name="f26" fmla="+- 10800 f23 0"/>
              <a:gd name="f27" fmla="+- f23 0 2700"/>
              <a:gd name="f28" fmla="+- 0 0 f22"/>
              <a:gd name="f29" fmla="+- 0 0 f24"/>
              <a:gd name="f30" fmla="*/ f23 f23 1"/>
              <a:gd name="f31" fmla="*/ 0 f18 1"/>
              <a:gd name="f32" fmla="*/ 21600 f18 1"/>
              <a:gd name="f33" fmla="*/ 21600 f19 1"/>
              <a:gd name="f34" fmla="*/ 0 f19 1"/>
              <a:gd name="f35" fmla="*/ f25 1 2"/>
              <a:gd name="f36" fmla="+- 21600 0 f26"/>
              <a:gd name="f37" fmla="+- f28 f5 0"/>
              <a:gd name="f38" fmla="+- f29 f5 0"/>
              <a:gd name="f39" fmla="+- f15 f35 0"/>
              <a:gd name="f40" fmla="*/ f35 f35 1"/>
              <a:gd name="f41" fmla="*/ f37 f6 1"/>
              <a:gd name="f42" fmla="*/ f38 f6 1"/>
              <a:gd name="f43" fmla="min f26 f36"/>
              <a:gd name="f44" fmla="max f26 f36"/>
              <a:gd name="f45" fmla="*/ f41 1 f4"/>
              <a:gd name="f46" fmla="*/ f42 1 f4"/>
              <a:gd name="f47" fmla="+- f44 0 f43"/>
              <a:gd name="f48" fmla="+- 0 0 f45"/>
              <a:gd name="f49" fmla="+- 0 0 f46"/>
              <a:gd name="f50" fmla="*/ f47 1 2"/>
              <a:gd name="f51" fmla="val f48"/>
              <a:gd name="f52" fmla="val f49"/>
              <a:gd name="f53" fmla="+- f43 f50 0"/>
              <a:gd name="f54" fmla="*/ f50 f50 1"/>
              <a:gd name="f55" fmla="*/ f51 f20 1"/>
              <a:gd name="f56" fmla="*/ f52 f20 1"/>
              <a:gd name="f57" fmla="+- f52 45 0"/>
              <a:gd name="f58" fmla="*/ f51 f10 1"/>
              <a:gd name="f59" fmla="*/ f52 f10 1"/>
              <a:gd name="f60" fmla="+- 0 0 f55"/>
              <a:gd name="f61" fmla="+- 0 0 f56"/>
              <a:gd name="f62" fmla="*/ f57 f10 1"/>
              <a:gd name="f63" fmla="*/ f58 1 f6"/>
              <a:gd name="f64" fmla="*/ f59 1 f6"/>
              <a:gd name="f65" fmla="*/ f60 f4 1"/>
              <a:gd name="f66" fmla="*/ f61 f4 1"/>
              <a:gd name="f67" fmla="*/ f62 1 180"/>
              <a:gd name="f68" fmla="+- 0 0 f63"/>
              <a:gd name="f69" fmla="+- 0 0 f64"/>
              <a:gd name="f70" fmla="*/ f65 1 f10"/>
              <a:gd name="f71" fmla="*/ f66 1 f10"/>
              <a:gd name="f72" fmla="+- 0 0 f67"/>
              <a:gd name="f73" fmla="+- f68 f10 0"/>
              <a:gd name="f74" fmla="+- f69 f10 0"/>
              <a:gd name="f75" fmla="+- f70 0 f5"/>
              <a:gd name="f76" fmla="+- f71 0 f5"/>
              <a:gd name="f77" fmla="*/ f72 f4 1"/>
              <a:gd name="f78" fmla="+- f73 f17 0"/>
              <a:gd name="f79" fmla="+- f74 f17 0"/>
              <a:gd name="f80" fmla="cos 1 f75"/>
              <a:gd name="f81" fmla="sin 1 f75"/>
              <a:gd name="f82" fmla="cos 1 f76"/>
              <a:gd name="f83" fmla="sin 1 f76"/>
              <a:gd name="f84" fmla="*/ f77 1 f10"/>
              <a:gd name="f85" fmla="+- 0 0 f78"/>
              <a:gd name="f86" fmla="+- 0 0 f79"/>
              <a:gd name="f87" fmla="+- 0 0 f80"/>
              <a:gd name="f88" fmla="+- 0 0 f81"/>
              <a:gd name="f89" fmla="+- 0 0 f82"/>
              <a:gd name="f90" fmla="+- 0 0 f83"/>
              <a:gd name="f91" fmla="+- f84 0 f5"/>
              <a:gd name="f92" fmla="*/ f85 f4 1"/>
              <a:gd name="f93" fmla="*/ f86 f4 1"/>
              <a:gd name="f94" fmla="*/ 10800 f87 1"/>
              <a:gd name="f95" fmla="*/ 10800 f88 1"/>
              <a:gd name="f96" fmla="*/ 10800 f89 1"/>
              <a:gd name="f97" fmla="*/ 10800 f90 1"/>
              <a:gd name="f98" fmla="*/ f26 f87 1"/>
              <a:gd name="f99" fmla="*/ f26 f88 1"/>
              <a:gd name="f100" fmla="*/ f26 f89 1"/>
              <a:gd name="f101" fmla="*/ f26 f90 1"/>
              <a:gd name="f102" fmla="*/ 13500 f89 1"/>
              <a:gd name="f103" fmla="*/ 13500 f90 1"/>
              <a:gd name="f104" fmla="*/ f27 f89 1"/>
              <a:gd name="f105" fmla="*/ f27 f90 1"/>
              <a:gd name="f106" fmla="cos 1 f91"/>
              <a:gd name="f107" fmla="sin 1 f91"/>
              <a:gd name="f108" fmla="*/ f92 1 f10"/>
              <a:gd name="f109" fmla="*/ f93 1 f10"/>
              <a:gd name="f110" fmla="+- f94 10800 0"/>
              <a:gd name="f111" fmla="+- f95 10800 0"/>
              <a:gd name="f112" fmla="+- f96 10800 0"/>
              <a:gd name="f113" fmla="+- f97 10800 0"/>
              <a:gd name="f114" fmla="+- f98 10800 0"/>
              <a:gd name="f115" fmla="+- f99 10800 0"/>
              <a:gd name="f116" fmla="+- f100 10800 0"/>
              <a:gd name="f117" fmla="+- f101 10800 0"/>
              <a:gd name="f118" fmla="+- f102 10800 0"/>
              <a:gd name="f119" fmla="+- f103 10800 0"/>
              <a:gd name="f120" fmla="+- f104 10800 0"/>
              <a:gd name="f121" fmla="+- f105 10800 0"/>
              <a:gd name="f122" fmla="+- 0 0 f106"/>
              <a:gd name="f123" fmla="+- 0 0 f107"/>
              <a:gd name="f124" fmla="+- f108 0 f5"/>
              <a:gd name="f125" fmla="+- f109 0 f5"/>
              <a:gd name="f126" fmla="+- f121 0 f119"/>
              <a:gd name="f127" fmla="+- f120 0 f118"/>
              <a:gd name="f128" fmla="cos 1 f124"/>
              <a:gd name="f129" fmla="sin 1 f124"/>
              <a:gd name="f130" fmla="cos 1 f125"/>
              <a:gd name="f131" fmla="sin 1 f125"/>
              <a:gd name="f132" fmla="+- f117 0 f53"/>
              <a:gd name="f133" fmla="+- f116 0 f53"/>
              <a:gd name="f134" fmla="+- f115 0 f53"/>
              <a:gd name="f135" fmla="+- f114 0 f53"/>
              <a:gd name="f136" fmla="+- f111 0 f39"/>
              <a:gd name="f137" fmla="+- f110 0 f39"/>
              <a:gd name="f138" fmla="+- f113 0 f39"/>
              <a:gd name="f139" fmla="+- f112 0 f39"/>
              <a:gd name="f140" fmla="*/ f126 f126 1"/>
              <a:gd name="f141" fmla="*/ f127 f127 1"/>
              <a:gd name="f142" fmla="+- 0 0 f128"/>
              <a:gd name="f143" fmla="+- 0 0 f129"/>
              <a:gd name="f144" fmla="+- 0 0 f130"/>
              <a:gd name="f145" fmla="+- 0 0 f131"/>
              <a:gd name="f146" fmla="at2 f132 f133"/>
              <a:gd name="f147" fmla="at2 f134 f135"/>
              <a:gd name="f148" fmla="at2 f136 f137"/>
              <a:gd name="f149" fmla="at2 f138 f139"/>
              <a:gd name="f150" fmla="+- f140 f141 0"/>
              <a:gd name="f151" fmla="*/ 10800 f142 1"/>
              <a:gd name="f152" fmla="*/ 10800 f143 1"/>
              <a:gd name="f153" fmla="*/ f23 f144 1"/>
              <a:gd name="f154" fmla="*/ f23 f145 1"/>
              <a:gd name="f155" fmla="+- f146 f5 0"/>
              <a:gd name="f156" fmla="+- f147 f5 0"/>
              <a:gd name="f157" fmla="+- f148 f5 0"/>
              <a:gd name="f158" fmla="+- f149 f5 0"/>
              <a:gd name="f159" fmla="sqrt f150"/>
              <a:gd name="f160" fmla="*/ f151 f151 1"/>
              <a:gd name="f161" fmla="*/ f152 f152 1"/>
              <a:gd name="f162" fmla="*/ f153 f153 1"/>
              <a:gd name="f163" fmla="*/ f154 f154 1"/>
              <a:gd name="f164" fmla="*/ f155 f10 1"/>
              <a:gd name="f165" fmla="*/ f156 f10 1"/>
              <a:gd name="f166" fmla="*/ f157 f10 1"/>
              <a:gd name="f167" fmla="*/ f158 f10 1"/>
              <a:gd name="f168" fmla="*/ f21 f159 1"/>
              <a:gd name="f169" fmla="+- f160 f161 0"/>
              <a:gd name="f170" fmla="+- f162 f163 0"/>
              <a:gd name="f171" fmla="*/ f164 1 f4"/>
              <a:gd name="f172" fmla="*/ f165 1 f4"/>
              <a:gd name="f173" fmla="*/ f166 1 f4"/>
              <a:gd name="f174" fmla="*/ f167 1 f4"/>
              <a:gd name="f175" fmla="*/ f168 f122 1"/>
              <a:gd name="f176" fmla="*/ f168 f123 1"/>
              <a:gd name="f177" fmla="sqrt f169"/>
              <a:gd name="f178" fmla="sqrt f170"/>
              <a:gd name="f179" fmla="+- 0 0 f171"/>
              <a:gd name="f180" fmla="+- 0 0 f172"/>
              <a:gd name="f181" fmla="+- 0 0 f173"/>
              <a:gd name="f182" fmla="+- 0 0 f174"/>
              <a:gd name="f183" fmla="+- f120 f175 0"/>
              <a:gd name="f184" fmla="+- f121 f176 0"/>
              <a:gd name="f185" fmla="*/ f12 1 f177"/>
              <a:gd name="f186" fmla="*/ f30 1 f178"/>
              <a:gd name="f187" fmla="+- 0 0 f179"/>
              <a:gd name="f188" fmla="+- 0 0 f180"/>
              <a:gd name="f189" fmla="+- 0 0 f181"/>
              <a:gd name="f190" fmla="+- 0 0 f182"/>
              <a:gd name="f191" fmla="*/ f142 f185 1"/>
              <a:gd name="f192" fmla="*/ f143 f185 1"/>
              <a:gd name="f193" fmla="*/ f144 f186 1"/>
              <a:gd name="f194" fmla="*/ f145 f186 1"/>
              <a:gd name="f195" fmla="*/ f187 f4 1"/>
              <a:gd name="f196" fmla="*/ f188 f4 1"/>
              <a:gd name="f197" fmla="*/ f189 f4 1"/>
              <a:gd name="f198" fmla="*/ f190 f4 1"/>
              <a:gd name="f199" fmla="+- 10800 0 f191"/>
              <a:gd name="f200" fmla="+- 10800 0 f192"/>
              <a:gd name="f201" fmla="+- 10800 0 f193"/>
              <a:gd name="f202" fmla="+- 10800 0 f194"/>
              <a:gd name="f203" fmla="*/ f195 1 f10"/>
              <a:gd name="f204" fmla="*/ f196 1 f10"/>
              <a:gd name="f205" fmla="*/ f197 1 f10"/>
              <a:gd name="f206" fmla="*/ f198 1 f10"/>
              <a:gd name="f207" fmla="*/ f199 f18 1"/>
              <a:gd name="f208" fmla="*/ f200 f19 1"/>
              <a:gd name="f209" fmla="*/ f201 f18 1"/>
              <a:gd name="f210" fmla="*/ f202 f19 1"/>
              <a:gd name="f211" fmla="+- f203 0 f5"/>
              <a:gd name="f212" fmla="+- f204 0 f5"/>
              <a:gd name="f213" fmla="+- f205 0 f5"/>
              <a:gd name="f214" fmla="+- f206 0 f5"/>
              <a:gd name="f215" fmla="cos 1 f211"/>
              <a:gd name="f216" fmla="sin 1 f211"/>
              <a:gd name="f217" fmla="+- f212 0 f211"/>
              <a:gd name="f218" fmla="cos 1 f213"/>
              <a:gd name="f219" fmla="sin 1 f213"/>
              <a:gd name="f220" fmla="+- f214 0 f213"/>
              <a:gd name="f221" fmla="+- 0 0 f215"/>
              <a:gd name="f222" fmla="+- 0 0 f216"/>
              <a:gd name="f223" fmla="+- f217 0 f3"/>
              <a:gd name="f224" fmla="+- 0 0 f218"/>
              <a:gd name="f225" fmla="+- 0 0 f219"/>
              <a:gd name="f226" fmla="+- f220 f3 0"/>
              <a:gd name="f227" fmla="*/ f50 f221 1"/>
              <a:gd name="f228" fmla="*/ f50 f222 1"/>
              <a:gd name="f229" fmla="?: f217 f223 f217"/>
              <a:gd name="f230" fmla="*/ f35 f224 1"/>
              <a:gd name="f231" fmla="*/ f35 f225 1"/>
              <a:gd name="f232" fmla="?: f220 f220 f226"/>
              <a:gd name="f233" fmla="*/ f227 f227 1"/>
              <a:gd name="f234" fmla="*/ f228 f228 1"/>
              <a:gd name="f235" fmla="*/ f230 f230 1"/>
              <a:gd name="f236" fmla="*/ f231 f231 1"/>
              <a:gd name="f237" fmla="+- f233 f234 0"/>
              <a:gd name="f238" fmla="+- f235 f236 0"/>
              <a:gd name="f239" fmla="sqrt f237"/>
              <a:gd name="f240" fmla="sqrt f238"/>
              <a:gd name="f241" fmla="*/ f54 1 f239"/>
              <a:gd name="f242" fmla="*/ f40 1 f240"/>
              <a:gd name="f243" fmla="*/ f221 f241 1"/>
              <a:gd name="f244" fmla="*/ f222 f241 1"/>
              <a:gd name="f245" fmla="*/ f224 f242 1"/>
              <a:gd name="f246" fmla="*/ f225 f242 1"/>
              <a:gd name="f247" fmla="+- f53 0 f243"/>
              <a:gd name="f248" fmla="+- f53 0 f244"/>
              <a:gd name="f249" fmla="+- f39 0 f245"/>
              <a:gd name="f250" fmla="+- f39 0 f246"/>
            </a:gdLst>
            <a:ahLst>
              <a:ahPolar gdRefAng="f0" minAng="f9" maxAng="f14">
                <a:pos x="f207" y="f208"/>
              </a:ahPolar>
              <a:ahPolar gdRefR="f2" minR="f9" maxR="f13" gdRefAng="f1" minAng="f9" maxAng="f14">
                <a:pos x="f209" y="f210"/>
              </a:ahPolar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31" t="f34" r="f32" b="f33"/>
            <a:pathLst>
              <a:path w="21600" h="21600">
                <a:moveTo>
                  <a:pt x="f247" y="f248"/>
                </a:moveTo>
                <a:arcTo wR="f50" hR="f50" stAng="f211" swAng="f229"/>
                <a:lnTo>
                  <a:pt x="f249" y="f250"/>
                </a:lnTo>
                <a:arcTo wR="f35" hR="f35" stAng="f213" swAng="f232"/>
                <a:lnTo>
                  <a:pt x="f119" y="f118"/>
                </a:lnTo>
                <a:lnTo>
                  <a:pt x="f184" y="f183"/>
                </a:lnTo>
                <a:lnTo>
                  <a:pt x="f121" y="f120"/>
                </a:lnTo>
                <a:close/>
              </a:path>
            </a:pathLst>
          </a:custGeom>
          <a:solidFill>
            <a:srgbClr val="729FCF"/>
          </a:solidFill>
          <a:ln w="0">
            <a:solidFill>
              <a:srgbClr val="3465A4"/>
            </a:solidFill>
            <a:prstDash val="solid"/>
          </a:ln>
        </p:spPr>
        <p:txBody>
          <a:bodyPr vert="horz" wrap="square" lIns="108847" tIns="54423" rIns="108847" bIns="54423" anchor="ctr" anchorCtr="0" compatLnSpc="0">
            <a:noAutofit/>
          </a:bodyPr>
          <a:lstStyle/>
          <a:p>
            <a:pPr hangingPunct="0"/>
            <a:endParaRPr lang="en-US" sz="2177">
              <a:latin typeface="Liberation Sans" pitchFamily="18"/>
              <a:ea typeface="Microsoft YaHei" pitchFamily="2"/>
              <a:cs typeface="Lucida Sans" pitchFamily="2"/>
            </a:endParaRPr>
          </a:p>
        </p:txBody>
      </p:sp>
      <p:sp>
        <p:nvSpPr>
          <p:cNvPr id="38" name="ZoneTexte 37">
            <a:extLst>
              <a:ext uri="{FF2B5EF4-FFF2-40B4-BE49-F238E27FC236}">
                <a16:creationId xmlns:a16="http://schemas.microsoft.com/office/drawing/2014/main" id="{831AE3F5-2913-463E-A9D6-DE80E6E5A0EA}"/>
              </a:ext>
            </a:extLst>
          </p:cNvPr>
          <p:cNvSpPr txBox="1"/>
          <p:nvPr/>
        </p:nvSpPr>
        <p:spPr>
          <a:xfrm>
            <a:off x="4181922" y="3536992"/>
            <a:ext cx="2478015" cy="752008"/>
          </a:xfrm>
          <a:prstGeom prst="rect">
            <a:avLst/>
          </a:prstGeom>
          <a:noFill/>
          <a:ln>
            <a:noFill/>
          </a:ln>
        </p:spPr>
        <p:txBody>
          <a:bodyPr vert="horz" wrap="square" lIns="108847" tIns="54423" rIns="108847" bIns="54423" anchorCtr="0" compatLnSpc="0">
            <a:spAutoFit/>
          </a:bodyPr>
          <a:lstStyle/>
          <a:p>
            <a:pPr hangingPunct="0"/>
            <a:r>
              <a:rPr lang="en-US" sz="2177" b="1" dirty="0">
                <a:latin typeface="Liberation Sans" pitchFamily="18"/>
                <a:ea typeface="Microsoft YaHei" pitchFamily="2"/>
                <a:cs typeface="Lucida Sans" pitchFamily="2"/>
              </a:rPr>
              <a:t>(3)</a:t>
            </a:r>
            <a:r>
              <a:rPr lang="en-US" sz="2177" dirty="0">
                <a:latin typeface="Liberation Sans" pitchFamily="18"/>
                <a:ea typeface="Microsoft YaHei" pitchFamily="2"/>
                <a:cs typeface="Lucida Sans" pitchFamily="2"/>
              </a:rPr>
              <a:t> request</a:t>
            </a:r>
          </a:p>
          <a:p>
            <a:pPr hangingPunct="0"/>
            <a:r>
              <a:rPr lang="en-US" sz="2177" dirty="0">
                <a:latin typeface="Liberation Sans" pitchFamily="18"/>
                <a:ea typeface="Microsoft YaHei" pitchFamily="2"/>
                <a:cs typeface="Lucida Sans" pitchFamily="2"/>
              </a:rPr>
              <a:t>resources</a:t>
            </a:r>
          </a:p>
        </p:txBody>
      </p:sp>
      <p:sp>
        <p:nvSpPr>
          <p:cNvPr id="39" name="Forme libre : forme 38">
            <a:extLst>
              <a:ext uri="{FF2B5EF4-FFF2-40B4-BE49-F238E27FC236}">
                <a16:creationId xmlns:a16="http://schemas.microsoft.com/office/drawing/2014/main" id="{686CDFB9-3C48-43C1-954E-27F76971B44F}"/>
              </a:ext>
            </a:extLst>
          </p:cNvPr>
          <p:cNvSpPr/>
          <p:nvPr/>
        </p:nvSpPr>
        <p:spPr>
          <a:xfrm rot="16993388">
            <a:off x="304703" y="4621224"/>
            <a:ext cx="1275585" cy="491551"/>
          </a:xfrm>
          <a:custGeom>
            <a:avLst>
              <a:gd name="f0" fmla="val 16320000"/>
              <a:gd name="f1" fmla="val 5400000"/>
              <a:gd name="f2" fmla="val 5500"/>
            </a:avLst>
            <a:gdLst>
              <a:gd name="f3" fmla="val 21600000"/>
              <a:gd name="f4" fmla="val 10800000"/>
              <a:gd name="f5" fmla="val 5400000"/>
              <a:gd name="f6" fmla="val 180"/>
              <a:gd name="f7" fmla="val w"/>
              <a:gd name="f8" fmla="val h"/>
              <a:gd name="f9" fmla="val 0"/>
              <a:gd name="f10" fmla="*/ 5419351 1 1725033"/>
              <a:gd name="f11" fmla="sqrt 2"/>
              <a:gd name="f12" fmla="*/ 10800 10800 1"/>
              <a:gd name="f13" fmla="val 10800"/>
              <a:gd name="f14" fmla="val 21599999"/>
              <a:gd name="f15" fmla="min 0 21600"/>
              <a:gd name="f16" fmla="max 0 21600"/>
              <a:gd name="f17" fmla="*/ f10 1 2"/>
              <a:gd name="f18" fmla="*/ f7 1 21600"/>
              <a:gd name="f19" fmla="*/ f8 1 21600"/>
              <a:gd name="f20" fmla="*/ f10 1 180"/>
              <a:gd name="f21" fmla="*/ f11 1 2"/>
              <a:gd name="f22" fmla="pin 0 f0 21599999"/>
              <a:gd name="f23" fmla="pin 0 f2 10800"/>
              <a:gd name="f24" fmla="pin 0 f1 21599999"/>
              <a:gd name="f25" fmla="+- f16 0 f15"/>
              <a:gd name="f26" fmla="+- 10800 f23 0"/>
              <a:gd name="f27" fmla="+- f23 0 2700"/>
              <a:gd name="f28" fmla="+- 0 0 f22"/>
              <a:gd name="f29" fmla="+- 0 0 f24"/>
              <a:gd name="f30" fmla="*/ f23 f23 1"/>
              <a:gd name="f31" fmla="*/ 0 f18 1"/>
              <a:gd name="f32" fmla="*/ 21600 f18 1"/>
              <a:gd name="f33" fmla="*/ 21600 f19 1"/>
              <a:gd name="f34" fmla="*/ 0 f19 1"/>
              <a:gd name="f35" fmla="*/ f25 1 2"/>
              <a:gd name="f36" fmla="+- 21600 0 f26"/>
              <a:gd name="f37" fmla="+- f28 f5 0"/>
              <a:gd name="f38" fmla="+- f29 f5 0"/>
              <a:gd name="f39" fmla="+- f15 f35 0"/>
              <a:gd name="f40" fmla="*/ f35 f35 1"/>
              <a:gd name="f41" fmla="*/ f37 f6 1"/>
              <a:gd name="f42" fmla="*/ f38 f6 1"/>
              <a:gd name="f43" fmla="min f26 f36"/>
              <a:gd name="f44" fmla="max f26 f36"/>
              <a:gd name="f45" fmla="*/ f41 1 f4"/>
              <a:gd name="f46" fmla="*/ f42 1 f4"/>
              <a:gd name="f47" fmla="+- f44 0 f43"/>
              <a:gd name="f48" fmla="+- 0 0 f45"/>
              <a:gd name="f49" fmla="+- 0 0 f46"/>
              <a:gd name="f50" fmla="*/ f47 1 2"/>
              <a:gd name="f51" fmla="val f48"/>
              <a:gd name="f52" fmla="val f49"/>
              <a:gd name="f53" fmla="+- f43 f50 0"/>
              <a:gd name="f54" fmla="*/ f50 f50 1"/>
              <a:gd name="f55" fmla="*/ f51 f20 1"/>
              <a:gd name="f56" fmla="*/ f52 f20 1"/>
              <a:gd name="f57" fmla="+- f52 45 0"/>
              <a:gd name="f58" fmla="*/ f51 f10 1"/>
              <a:gd name="f59" fmla="*/ f52 f10 1"/>
              <a:gd name="f60" fmla="+- 0 0 f55"/>
              <a:gd name="f61" fmla="+- 0 0 f56"/>
              <a:gd name="f62" fmla="*/ f57 f10 1"/>
              <a:gd name="f63" fmla="*/ f58 1 f6"/>
              <a:gd name="f64" fmla="*/ f59 1 f6"/>
              <a:gd name="f65" fmla="*/ f60 f4 1"/>
              <a:gd name="f66" fmla="*/ f61 f4 1"/>
              <a:gd name="f67" fmla="*/ f62 1 180"/>
              <a:gd name="f68" fmla="+- 0 0 f63"/>
              <a:gd name="f69" fmla="+- 0 0 f64"/>
              <a:gd name="f70" fmla="*/ f65 1 f10"/>
              <a:gd name="f71" fmla="*/ f66 1 f10"/>
              <a:gd name="f72" fmla="+- 0 0 f67"/>
              <a:gd name="f73" fmla="+- f68 f10 0"/>
              <a:gd name="f74" fmla="+- f69 f10 0"/>
              <a:gd name="f75" fmla="+- f70 0 f5"/>
              <a:gd name="f76" fmla="+- f71 0 f5"/>
              <a:gd name="f77" fmla="*/ f72 f4 1"/>
              <a:gd name="f78" fmla="+- f73 f17 0"/>
              <a:gd name="f79" fmla="+- f74 f17 0"/>
              <a:gd name="f80" fmla="cos 1 f75"/>
              <a:gd name="f81" fmla="sin 1 f75"/>
              <a:gd name="f82" fmla="cos 1 f76"/>
              <a:gd name="f83" fmla="sin 1 f76"/>
              <a:gd name="f84" fmla="*/ f77 1 f10"/>
              <a:gd name="f85" fmla="+- 0 0 f78"/>
              <a:gd name="f86" fmla="+- 0 0 f79"/>
              <a:gd name="f87" fmla="+- 0 0 f80"/>
              <a:gd name="f88" fmla="+- 0 0 f81"/>
              <a:gd name="f89" fmla="+- 0 0 f82"/>
              <a:gd name="f90" fmla="+- 0 0 f83"/>
              <a:gd name="f91" fmla="+- f84 0 f5"/>
              <a:gd name="f92" fmla="*/ f85 f4 1"/>
              <a:gd name="f93" fmla="*/ f86 f4 1"/>
              <a:gd name="f94" fmla="*/ 10800 f87 1"/>
              <a:gd name="f95" fmla="*/ 10800 f88 1"/>
              <a:gd name="f96" fmla="*/ 10800 f89 1"/>
              <a:gd name="f97" fmla="*/ 10800 f90 1"/>
              <a:gd name="f98" fmla="*/ f26 f87 1"/>
              <a:gd name="f99" fmla="*/ f26 f88 1"/>
              <a:gd name="f100" fmla="*/ f26 f89 1"/>
              <a:gd name="f101" fmla="*/ f26 f90 1"/>
              <a:gd name="f102" fmla="*/ 13500 f89 1"/>
              <a:gd name="f103" fmla="*/ 13500 f90 1"/>
              <a:gd name="f104" fmla="*/ f27 f89 1"/>
              <a:gd name="f105" fmla="*/ f27 f90 1"/>
              <a:gd name="f106" fmla="cos 1 f91"/>
              <a:gd name="f107" fmla="sin 1 f91"/>
              <a:gd name="f108" fmla="*/ f92 1 f10"/>
              <a:gd name="f109" fmla="*/ f93 1 f10"/>
              <a:gd name="f110" fmla="+- f94 10800 0"/>
              <a:gd name="f111" fmla="+- f95 10800 0"/>
              <a:gd name="f112" fmla="+- f96 10800 0"/>
              <a:gd name="f113" fmla="+- f97 10800 0"/>
              <a:gd name="f114" fmla="+- f98 10800 0"/>
              <a:gd name="f115" fmla="+- f99 10800 0"/>
              <a:gd name="f116" fmla="+- f100 10800 0"/>
              <a:gd name="f117" fmla="+- f101 10800 0"/>
              <a:gd name="f118" fmla="+- f102 10800 0"/>
              <a:gd name="f119" fmla="+- f103 10800 0"/>
              <a:gd name="f120" fmla="+- f104 10800 0"/>
              <a:gd name="f121" fmla="+- f105 10800 0"/>
              <a:gd name="f122" fmla="+- 0 0 f106"/>
              <a:gd name="f123" fmla="+- 0 0 f107"/>
              <a:gd name="f124" fmla="+- f108 0 f5"/>
              <a:gd name="f125" fmla="+- f109 0 f5"/>
              <a:gd name="f126" fmla="+- f121 0 f119"/>
              <a:gd name="f127" fmla="+- f120 0 f118"/>
              <a:gd name="f128" fmla="cos 1 f124"/>
              <a:gd name="f129" fmla="sin 1 f124"/>
              <a:gd name="f130" fmla="cos 1 f125"/>
              <a:gd name="f131" fmla="sin 1 f125"/>
              <a:gd name="f132" fmla="+- f117 0 f53"/>
              <a:gd name="f133" fmla="+- f116 0 f53"/>
              <a:gd name="f134" fmla="+- f115 0 f53"/>
              <a:gd name="f135" fmla="+- f114 0 f53"/>
              <a:gd name="f136" fmla="+- f111 0 f39"/>
              <a:gd name="f137" fmla="+- f110 0 f39"/>
              <a:gd name="f138" fmla="+- f113 0 f39"/>
              <a:gd name="f139" fmla="+- f112 0 f39"/>
              <a:gd name="f140" fmla="*/ f126 f126 1"/>
              <a:gd name="f141" fmla="*/ f127 f127 1"/>
              <a:gd name="f142" fmla="+- 0 0 f128"/>
              <a:gd name="f143" fmla="+- 0 0 f129"/>
              <a:gd name="f144" fmla="+- 0 0 f130"/>
              <a:gd name="f145" fmla="+- 0 0 f131"/>
              <a:gd name="f146" fmla="at2 f132 f133"/>
              <a:gd name="f147" fmla="at2 f134 f135"/>
              <a:gd name="f148" fmla="at2 f136 f137"/>
              <a:gd name="f149" fmla="at2 f138 f139"/>
              <a:gd name="f150" fmla="+- f140 f141 0"/>
              <a:gd name="f151" fmla="*/ 10800 f142 1"/>
              <a:gd name="f152" fmla="*/ 10800 f143 1"/>
              <a:gd name="f153" fmla="*/ f23 f144 1"/>
              <a:gd name="f154" fmla="*/ f23 f145 1"/>
              <a:gd name="f155" fmla="+- f146 f5 0"/>
              <a:gd name="f156" fmla="+- f147 f5 0"/>
              <a:gd name="f157" fmla="+- f148 f5 0"/>
              <a:gd name="f158" fmla="+- f149 f5 0"/>
              <a:gd name="f159" fmla="sqrt f150"/>
              <a:gd name="f160" fmla="*/ f151 f151 1"/>
              <a:gd name="f161" fmla="*/ f152 f152 1"/>
              <a:gd name="f162" fmla="*/ f153 f153 1"/>
              <a:gd name="f163" fmla="*/ f154 f154 1"/>
              <a:gd name="f164" fmla="*/ f155 f10 1"/>
              <a:gd name="f165" fmla="*/ f156 f10 1"/>
              <a:gd name="f166" fmla="*/ f157 f10 1"/>
              <a:gd name="f167" fmla="*/ f158 f10 1"/>
              <a:gd name="f168" fmla="*/ f21 f159 1"/>
              <a:gd name="f169" fmla="+- f160 f161 0"/>
              <a:gd name="f170" fmla="+- f162 f163 0"/>
              <a:gd name="f171" fmla="*/ f164 1 f4"/>
              <a:gd name="f172" fmla="*/ f165 1 f4"/>
              <a:gd name="f173" fmla="*/ f166 1 f4"/>
              <a:gd name="f174" fmla="*/ f167 1 f4"/>
              <a:gd name="f175" fmla="*/ f168 f122 1"/>
              <a:gd name="f176" fmla="*/ f168 f123 1"/>
              <a:gd name="f177" fmla="sqrt f169"/>
              <a:gd name="f178" fmla="sqrt f170"/>
              <a:gd name="f179" fmla="+- 0 0 f171"/>
              <a:gd name="f180" fmla="+- 0 0 f172"/>
              <a:gd name="f181" fmla="+- 0 0 f173"/>
              <a:gd name="f182" fmla="+- 0 0 f174"/>
              <a:gd name="f183" fmla="+- f120 f175 0"/>
              <a:gd name="f184" fmla="+- f121 f176 0"/>
              <a:gd name="f185" fmla="*/ f12 1 f177"/>
              <a:gd name="f186" fmla="*/ f30 1 f178"/>
              <a:gd name="f187" fmla="+- 0 0 f179"/>
              <a:gd name="f188" fmla="+- 0 0 f180"/>
              <a:gd name="f189" fmla="+- 0 0 f181"/>
              <a:gd name="f190" fmla="+- 0 0 f182"/>
              <a:gd name="f191" fmla="*/ f142 f185 1"/>
              <a:gd name="f192" fmla="*/ f143 f185 1"/>
              <a:gd name="f193" fmla="*/ f144 f186 1"/>
              <a:gd name="f194" fmla="*/ f145 f186 1"/>
              <a:gd name="f195" fmla="*/ f187 f4 1"/>
              <a:gd name="f196" fmla="*/ f188 f4 1"/>
              <a:gd name="f197" fmla="*/ f189 f4 1"/>
              <a:gd name="f198" fmla="*/ f190 f4 1"/>
              <a:gd name="f199" fmla="+- 10800 0 f191"/>
              <a:gd name="f200" fmla="+- 10800 0 f192"/>
              <a:gd name="f201" fmla="+- 10800 0 f193"/>
              <a:gd name="f202" fmla="+- 10800 0 f194"/>
              <a:gd name="f203" fmla="*/ f195 1 f10"/>
              <a:gd name="f204" fmla="*/ f196 1 f10"/>
              <a:gd name="f205" fmla="*/ f197 1 f10"/>
              <a:gd name="f206" fmla="*/ f198 1 f10"/>
              <a:gd name="f207" fmla="*/ f199 f18 1"/>
              <a:gd name="f208" fmla="*/ f200 f19 1"/>
              <a:gd name="f209" fmla="*/ f201 f18 1"/>
              <a:gd name="f210" fmla="*/ f202 f19 1"/>
              <a:gd name="f211" fmla="+- f203 0 f5"/>
              <a:gd name="f212" fmla="+- f204 0 f5"/>
              <a:gd name="f213" fmla="+- f205 0 f5"/>
              <a:gd name="f214" fmla="+- f206 0 f5"/>
              <a:gd name="f215" fmla="cos 1 f211"/>
              <a:gd name="f216" fmla="sin 1 f211"/>
              <a:gd name="f217" fmla="+- f212 0 f211"/>
              <a:gd name="f218" fmla="cos 1 f213"/>
              <a:gd name="f219" fmla="sin 1 f213"/>
              <a:gd name="f220" fmla="+- f214 0 f213"/>
              <a:gd name="f221" fmla="+- 0 0 f215"/>
              <a:gd name="f222" fmla="+- 0 0 f216"/>
              <a:gd name="f223" fmla="+- f217 0 f3"/>
              <a:gd name="f224" fmla="+- 0 0 f218"/>
              <a:gd name="f225" fmla="+- 0 0 f219"/>
              <a:gd name="f226" fmla="+- f220 f3 0"/>
              <a:gd name="f227" fmla="*/ f50 f221 1"/>
              <a:gd name="f228" fmla="*/ f50 f222 1"/>
              <a:gd name="f229" fmla="?: f217 f223 f217"/>
              <a:gd name="f230" fmla="*/ f35 f224 1"/>
              <a:gd name="f231" fmla="*/ f35 f225 1"/>
              <a:gd name="f232" fmla="?: f220 f220 f226"/>
              <a:gd name="f233" fmla="*/ f227 f227 1"/>
              <a:gd name="f234" fmla="*/ f228 f228 1"/>
              <a:gd name="f235" fmla="*/ f230 f230 1"/>
              <a:gd name="f236" fmla="*/ f231 f231 1"/>
              <a:gd name="f237" fmla="+- f233 f234 0"/>
              <a:gd name="f238" fmla="+- f235 f236 0"/>
              <a:gd name="f239" fmla="sqrt f237"/>
              <a:gd name="f240" fmla="sqrt f238"/>
              <a:gd name="f241" fmla="*/ f54 1 f239"/>
              <a:gd name="f242" fmla="*/ f40 1 f240"/>
              <a:gd name="f243" fmla="*/ f221 f241 1"/>
              <a:gd name="f244" fmla="*/ f222 f241 1"/>
              <a:gd name="f245" fmla="*/ f224 f242 1"/>
              <a:gd name="f246" fmla="*/ f225 f242 1"/>
              <a:gd name="f247" fmla="+- f53 0 f243"/>
              <a:gd name="f248" fmla="+- f53 0 f244"/>
              <a:gd name="f249" fmla="+- f39 0 f245"/>
              <a:gd name="f250" fmla="+- f39 0 f246"/>
            </a:gdLst>
            <a:ahLst>
              <a:ahPolar gdRefAng="f0" minAng="f9" maxAng="f14">
                <a:pos x="f207" y="f208"/>
              </a:ahPolar>
              <a:ahPolar gdRefR="f2" minR="f9" maxR="f13" gdRefAng="f1" minAng="f9" maxAng="f14">
                <a:pos x="f209" y="f210"/>
              </a:ahPolar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31" t="f34" r="f32" b="f33"/>
            <a:pathLst>
              <a:path w="21600" h="21600">
                <a:moveTo>
                  <a:pt x="f247" y="f248"/>
                </a:moveTo>
                <a:arcTo wR="f50" hR="f50" stAng="f211" swAng="f229"/>
                <a:lnTo>
                  <a:pt x="f249" y="f250"/>
                </a:lnTo>
                <a:arcTo wR="f35" hR="f35" stAng="f213" swAng="f232"/>
                <a:lnTo>
                  <a:pt x="f119" y="f118"/>
                </a:lnTo>
                <a:lnTo>
                  <a:pt x="f184" y="f183"/>
                </a:lnTo>
                <a:lnTo>
                  <a:pt x="f121" y="f120"/>
                </a:lnTo>
                <a:close/>
              </a:path>
            </a:pathLst>
          </a:custGeom>
          <a:solidFill>
            <a:srgbClr val="729FCF"/>
          </a:solidFill>
          <a:ln w="0">
            <a:solidFill>
              <a:srgbClr val="3465A4"/>
            </a:solidFill>
            <a:prstDash val="solid"/>
          </a:ln>
        </p:spPr>
        <p:txBody>
          <a:bodyPr vert="horz" wrap="square" lIns="108847" tIns="54423" rIns="108847" bIns="54423" anchor="ctr" anchorCtr="0" compatLnSpc="0">
            <a:noAutofit/>
          </a:bodyPr>
          <a:lstStyle/>
          <a:p>
            <a:pPr hangingPunct="0"/>
            <a:endParaRPr lang="en-US" sz="2177">
              <a:latin typeface="Liberation Sans" pitchFamily="18"/>
              <a:ea typeface="Microsoft YaHei" pitchFamily="2"/>
              <a:cs typeface="Lucida Sans" pitchFamily="2"/>
            </a:endParaRPr>
          </a:p>
        </p:txBody>
      </p:sp>
      <p:sp>
        <p:nvSpPr>
          <p:cNvPr id="40" name="ZoneTexte 39">
            <a:extLst>
              <a:ext uri="{FF2B5EF4-FFF2-40B4-BE49-F238E27FC236}">
                <a16:creationId xmlns:a16="http://schemas.microsoft.com/office/drawing/2014/main" id="{120280FF-EDFA-41A2-A19B-3D6B49A29DC2}"/>
              </a:ext>
            </a:extLst>
          </p:cNvPr>
          <p:cNvSpPr txBox="1"/>
          <p:nvPr/>
        </p:nvSpPr>
        <p:spPr>
          <a:xfrm>
            <a:off x="859387" y="5019310"/>
            <a:ext cx="2576373" cy="430959"/>
          </a:xfrm>
          <a:prstGeom prst="rect">
            <a:avLst/>
          </a:prstGeom>
          <a:noFill/>
          <a:ln>
            <a:noFill/>
          </a:ln>
        </p:spPr>
        <p:txBody>
          <a:bodyPr vert="horz" wrap="square" lIns="108847" tIns="54423" rIns="108847" bIns="54423" anchorCtr="0" compatLnSpc="0">
            <a:spAutoFit/>
          </a:bodyPr>
          <a:lstStyle/>
          <a:p>
            <a:pPr hangingPunct="0"/>
            <a:r>
              <a:rPr lang="en-US" sz="2177" b="1">
                <a:latin typeface="Liberation Sans" pitchFamily="18"/>
                <a:ea typeface="Microsoft YaHei" pitchFamily="2"/>
                <a:cs typeface="Lucida Sans" pitchFamily="2"/>
              </a:rPr>
              <a:t>(1)</a:t>
            </a:r>
            <a:r>
              <a:rPr lang="en-US" sz="2177">
                <a:latin typeface="Liberation Sans" pitchFamily="18"/>
                <a:ea typeface="Microsoft YaHei" pitchFamily="2"/>
                <a:cs typeface="Lucida Sans" pitchFamily="2"/>
              </a:rPr>
              <a:t> Submit app</a:t>
            </a:r>
          </a:p>
        </p:txBody>
      </p:sp>
      <p:sp>
        <p:nvSpPr>
          <p:cNvPr id="41" name="ZoneTexte 40">
            <a:extLst>
              <a:ext uri="{FF2B5EF4-FFF2-40B4-BE49-F238E27FC236}">
                <a16:creationId xmlns:a16="http://schemas.microsoft.com/office/drawing/2014/main" id="{5CE43D39-9F76-4DC6-A7CD-113335C28CBF}"/>
              </a:ext>
            </a:extLst>
          </p:cNvPr>
          <p:cNvSpPr txBox="1"/>
          <p:nvPr/>
        </p:nvSpPr>
        <p:spPr>
          <a:xfrm>
            <a:off x="6343949" y="2935116"/>
            <a:ext cx="2258816" cy="430959"/>
          </a:xfrm>
          <a:prstGeom prst="rect">
            <a:avLst/>
          </a:prstGeom>
          <a:noFill/>
          <a:ln>
            <a:noFill/>
          </a:ln>
        </p:spPr>
        <p:txBody>
          <a:bodyPr vert="horz" wrap="square" lIns="108847" tIns="54423" rIns="108847" bIns="54423" anchorCtr="0" compatLnSpc="0">
            <a:spAutoFit/>
          </a:bodyPr>
          <a:lstStyle/>
          <a:p>
            <a:pPr hangingPunct="0"/>
            <a:r>
              <a:rPr lang="en-US" sz="2177" b="1" dirty="0">
                <a:latin typeface="Liberation Sans" pitchFamily="18"/>
                <a:ea typeface="Microsoft YaHei" pitchFamily="2"/>
                <a:cs typeface="Lucida Sans" pitchFamily="2"/>
              </a:rPr>
              <a:t>(2)</a:t>
            </a:r>
            <a:r>
              <a:rPr lang="en-US" sz="2177" dirty="0">
                <a:latin typeface="Liberation Sans" pitchFamily="18"/>
                <a:ea typeface="Microsoft YaHei" pitchFamily="2"/>
                <a:cs typeface="Lucida Sans" pitchFamily="2"/>
              </a:rPr>
              <a:t> launch</a:t>
            </a:r>
          </a:p>
        </p:txBody>
      </p:sp>
      <p:sp>
        <p:nvSpPr>
          <p:cNvPr id="42" name="ZoneTexte 41">
            <a:extLst>
              <a:ext uri="{FF2B5EF4-FFF2-40B4-BE49-F238E27FC236}">
                <a16:creationId xmlns:a16="http://schemas.microsoft.com/office/drawing/2014/main" id="{7E4BDC1D-1F03-48AE-8C59-0F2E22FBEFE1}"/>
              </a:ext>
            </a:extLst>
          </p:cNvPr>
          <p:cNvSpPr txBox="1"/>
          <p:nvPr/>
        </p:nvSpPr>
        <p:spPr>
          <a:xfrm>
            <a:off x="9108651" y="2908557"/>
            <a:ext cx="1658820" cy="752008"/>
          </a:xfrm>
          <a:prstGeom prst="rect">
            <a:avLst/>
          </a:prstGeom>
          <a:noFill/>
          <a:ln>
            <a:noFill/>
          </a:ln>
        </p:spPr>
        <p:txBody>
          <a:bodyPr vert="horz" wrap="square" lIns="108847" tIns="54423" rIns="108847" bIns="54423" anchorCtr="0" compatLnSpc="0">
            <a:spAutoFit/>
          </a:bodyPr>
          <a:lstStyle/>
          <a:p>
            <a:pPr hangingPunct="0"/>
            <a:r>
              <a:rPr lang="en-US" sz="2177" b="1" dirty="0">
                <a:latin typeface="Liberation Sans" pitchFamily="18"/>
                <a:ea typeface="Microsoft YaHei" pitchFamily="2"/>
                <a:cs typeface="Lucida Sans" pitchFamily="2"/>
              </a:rPr>
              <a:t>(4,5..)</a:t>
            </a:r>
          </a:p>
          <a:p>
            <a:pPr hangingPunct="0"/>
            <a:r>
              <a:rPr lang="en-US" sz="2177" dirty="0">
                <a:latin typeface="Liberation Sans" pitchFamily="18"/>
                <a:ea typeface="Microsoft YaHei" pitchFamily="2"/>
                <a:cs typeface="Lucida Sans" pitchFamily="2"/>
              </a:rPr>
              <a:t> launch</a:t>
            </a:r>
          </a:p>
        </p:txBody>
      </p:sp>
      <p:sp>
        <p:nvSpPr>
          <p:cNvPr id="43" name="Forme libre : forme 42">
            <a:extLst>
              <a:ext uri="{FF2B5EF4-FFF2-40B4-BE49-F238E27FC236}">
                <a16:creationId xmlns:a16="http://schemas.microsoft.com/office/drawing/2014/main" id="{36358B1A-4875-430C-8A01-9B46D0BC0518}"/>
              </a:ext>
            </a:extLst>
          </p:cNvPr>
          <p:cNvSpPr/>
          <p:nvPr/>
        </p:nvSpPr>
        <p:spPr>
          <a:xfrm>
            <a:off x="683927" y="5572250"/>
            <a:ext cx="1789437" cy="552941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solidFill>
            <a:srgbClr val="469F98"/>
          </a:solidFill>
          <a:ln w="0">
            <a:solidFill>
              <a:srgbClr val="3465A4"/>
            </a:solidFill>
            <a:prstDash val="solid"/>
          </a:ln>
        </p:spPr>
        <p:txBody>
          <a:bodyPr vert="horz" wrap="square" lIns="108847" tIns="54423" rIns="108847" bIns="54423" anchor="ctr" anchorCtr="0" compatLnSpc="0">
            <a:noAutofit/>
          </a:bodyPr>
          <a:lstStyle/>
          <a:p>
            <a:pPr algn="ctr" hangingPunct="0">
              <a:defRPr sz="1800"/>
            </a:pPr>
            <a:r>
              <a:rPr lang="en-US" sz="2177">
                <a:latin typeface="Liberation Sans" pitchFamily="18"/>
                <a:ea typeface="Microsoft YaHei" pitchFamily="2"/>
                <a:cs typeface="Lucida Sans" pitchFamily="2"/>
              </a:rPr>
              <a:t>Submit Client App</a:t>
            </a:r>
          </a:p>
        </p:txBody>
      </p:sp>
      <p:pic>
        <p:nvPicPr>
          <p:cNvPr id="44" name="Picture 43">
            <a:extLst>
              <a:ext uri="{FF2B5EF4-FFF2-40B4-BE49-F238E27FC236}">
                <a16:creationId xmlns:a16="http://schemas.microsoft.com/office/drawing/2014/main" id="{F8592949-FDC1-06DB-3CF0-E2B43B593F1C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276841" y="67115"/>
            <a:ext cx="2423684" cy="15372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rme libre : forme 1">
            <a:extLst>
              <a:ext uri="{FF2B5EF4-FFF2-40B4-BE49-F238E27FC236}">
                <a16:creationId xmlns:a16="http://schemas.microsoft.com/office/drawing/2014/main" id="{4478BFA3-3880-4841-92FD-8BAC20B268D6}"/>
              </a:ext>
            </a:extLst>
          </p:cNvPr>
          <p:cNvSpPr/>
          <p:nvPr/>
        </p:nvSpPr>
        <p:spPr>
          <a:xfrm>
            <a:off x="10268295" y="2100512"/>
            <a:ext cx="1658821" cy="2211763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solidFill>
            <a:srgbClr val="FFFFFF"/>
          </a:solidFill>
          <a:ln w="0">
            <a:solidFill>
              <a:srgbClr val="3465A4"/>
            </a:solidFill>
            <a:prstDash val="solid"/>
          </a:ln>
        </p:spPr>
        <p:txBody>
          <a:bodyPr vert="horz" wrap="square" lIns="108847" tIns="54423" rIns="108847" bIns="54423" anchor="ctr" anchorCtr="0" compatLnSpc="0">
            <a:noAutofit/>
          </a:bodyPr>
          <a:lstStyle/>
          <a:p>
            <a:pPr algn="ctr" hangingPunct="0"/>
            <a:r>
              <a:rPr lang="en-US" sz="2177">
                <a:latin typeface="Liberation Sans" pitchFamily="18"/>
                <a:ea typeface="Microsoft YaHei" pitchFamily="2"/>
                <a:cs typeface="Lucida Sans" pitchFamily="2"/>
              </a:rPr>
              <a:t>1</a:t>
            </a:r>
          </a:p>
        </p:txBody>
      </p:sp>
      <p:sp>
        <p:nvSpPr>
          <p:cNvPr id="3" name="Forme libre : forme 2">
            <a:extLst>
              <a:ext uri="{FF2B5EF4-FFF2-40B4-BE49-F238E27FC236}">
                <a16:creationId xmlns:a16="http://schemas.microsoft.com/office/drawing/2014/main" id="{CA0FA9B2-92D7-4FE2-B095-24647EBFEFBD}"/>
              </a:ext>
            </a:extLst>
          </p:cNvPr>
          <p:cNvSpPr/>
          <p:nvPr/>
        </p:nvSpPr>
        <p:spPr>
          <a:xfrm>
            <a:off x="10181218" y="2187589"/>
            <a:ext cx="1658821" cy="2211763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solidFill>
            <a:srgbClr val="FFFFFF"/>
          </a:solidFill>
          <a:ln w="0">
            <a:solidFill>
              <a:srgbClr val="3465A4"/>
            </a:solidFill>
            <a:prstDash val="solid"/>
          </a:ln>
        </p:spPr>
        <p:txBody>
          <a:bodyPr vert="horz" wrap="square" lIns="108847" tIns="54423" rIns="108847" bIns="54423" anchor="ctr" anchorCtr="0" compatLnSpc="0">
            <a:noAutofit/>
          </a:bodyPr>
          <a:lstStyle/>
          <a:p>
            <a:pPr hangingPunct="0"/>
            <a:endParaRPr lang="en-US" sz="2177">
              <a:latin typeface="Liberation Sans" pitchFamily="18"/>
              <a:ea typeface="Microsoft YaHei" pitchFamily="2"/>
              <a:cs typeface="Lucida Sans" pitchFamily="2"/>
            </a:endParaRPr>
          </a:p>
        </p:txBody>
      </p:sp>
      <p:sp>
        <p:nvSpPr>
          <p:cNvPr id="4" name="Forme libre : forme 3">
            <a:extLst>
              <a:ext uri="{FF2B5EF4-FFF2-40B4-BE49-F238E27FC236}">
                <a16:creationId xmlns:a16="http://schemas.microsoft.com/office/drawing/2014/main" id="{2FDC3519-EA1C-44CB-8F2B-284F0DC0A954}"/>
              </a:ext>
            </a:extLst>
          </p:cNvPr>
          <p:cNvSpPr/>
          <p:nvPr/>
        </p:nvSpPr>
        <p:spPr>
          <a:xfrm>
            <a:off x="10137679" y="2318205"/>
            <a:ext cx="1658821" cy="2211763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solidFill>
            <a:srgbClr val="FFFFFF"/>
          </a:solidFill>
          <a:ln w="0">
            <a:solidFill>
              <a:srgbClr val="3465A4"/>
            </a:solidFill>
            <a:prstDash val="solid"/>
          </a:ln>
        </p:spPr>
        <p:txBody>
          <a:bodyPr vert="horz" wrap="square" lIns="108847" tIns="54423" rIns="108847" bIns="54423" anchor="ctr" anchorCtr="0" compatLnSpc="0">
            <a:noAutofit/>
          </a:bodyPr>
          <a:lstStyle/>
          <a:p>
            <a:pPr hangingPunct="0"/>
            <a:endParaRPr lang="en-US" sz="2177">
              <a:latin typeface="Liberation Sans" pitchFamily="18"/>
              <a:ea typeface="Microsoft YaHei" pitchFamily="2"/>
              <a:cs typeface="Lucida Sans" pitchFamily="2"/>
            </a:endParaRPr>
          </a:p>
        </p:txBody>
      </p:sp>
      <p:sp>
        <p:nvSpPr>
          <p:cNvPr id="5" name="Titre 4">
            <a:extLst>
              <a:ext uri="{FF2B5EF4-FFF2-40B4-BE49-F238E27FC236}">
                <a16:creationId xmlns:a16="http://schemas.microsoft.com/office/drawing/2014/main" id="{F8D47B83-BBFC-4045-8DA9-042473E25D43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838200" y="1919"/>
            <a:ext cx="10515600" cy="1325563"/>
          </a:xfrm>
        </p:spPr>
        <p:txBody>
          <a:bodyPr vert="horz"/>
          <a:lstStyle/>
          <a:p>
            <a:pPr lvl="0" algn="ctr"/>
            <a:r>
              <a:rPr lang="en-US" dirty="0"/>
              <a:t>Kubernetes Architecture</a:t>
            </a:r>
          </a:p>
        </p:txBody>
      </p:sp>
      <p:sp>
        <p:nvSpPr>
          <p:cNvPr id="6" name="Forme libre : forme 5">
            <a:extLst>
              <a:ext uri="{FF2B5EF4-FFF2-40B4-BE49-F238E27FC236}">
                <a16:creationId xmlns:a16="http://schemas.microsoft.com/office/drawing/2014/main" id="{675131A2-D455-4D2C-A6D2-6072B4A63AA6}"/>
              </a:ext>
            </a:extLst>
          </p:cNvPr>
          <p:cNvSpPr/>
          <p:nvPr/>
        </p:nvSpPr>
        <p:spPr>
          <a:xfrm>
            <a:off x="1830508" y="3104077"/>
            <a:ext cx="1512966" cy="552941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solidFill>
            <a:srgbClr val="729FCF"/>
          </a:solidFill>
          <a:ln w="0">
            <a:solidFill>
              <a:srgbClr val="3465A4"/>
            </a:solidFill>
            <a:prstDash val="solid"/>
          </a:ln>
        </p:spPr>
        <p:txBody>
          <a:bodyPr vert="horz" wrap="square" lIns="108847" tIns="54423" rIns="108847" bIns="54423" anchor="ctr" anchorCtr="0" compatLnSpc="0">
            <a:noAutofit/>
          </a:bodyPr>
          <a:lstStyle/>
          <a:p>
            <a:pPr algn="ctr" hangingPunct="0">
              <a:defRPr sz="1800"/>
            </a:pPr>
            <a:r>
              <a:rPr lang="en-US" sz="2177">
                <a:latin typeface="Liberation Sans" pitchFamily="18"/>
                <a:ea typeface="Microsoft YaHei" pitchFamily="2"/>
                <a:cs typeface="Lucida Sans" pitchFamily="2"/>
              </a:rPr>
              <a:t>Api Server</a:t>
            </a:r>
          </a:p>
        </p:txBody>
      </p:sp>
      <p:sp>
        <p:nvSpPr>
          <p:cNvPr id="7" name="Forme libre : forme 6">
            <a:extLst>
              <a:ext uri="{FF2B5EF4-FFF2-40B4-BE49-F238E27FC236}">
                <a16:creationId xmlns:a16="http://schemas.microsoft.com/office/drawing/2014/main" id="{B5C399A0-2069-4075-9D56-E607422C2522}"/>
              </a:ext>
            </a:extLst>
          </p:cNvPr>
          <p:cNvSpPr/>
          <p:nvPr/>
        </p:nvSpPr>
        <p:spPr>
          <a:xfrm>
            <a:off x="1408183" y="3249931"/>
            <a:ext cx="217693" cy="217693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*/ 5419351 1 1725033"/>
              <a:gd name="f6" fmla="*/ 10800 10800 1"/>
              <a:gd name="f7" fmla="+- 0 0 0"/>
              <a:gd name="f8" fmla="+- 0 0 360"/>
              <a:gd name="f9" fmla="val 10800"/>
              <a:gd name="f10" fmla="*/ f3 1 21600"/>
              <a:gd name="f11" fmla="*/ f4 1 21600"/>
              <a:gd name="f12" fmla="*/ 0 f5 1"/>
              <a:gd name="f13" fmla="*/ f7 f0 1"/>
              <a:gd name="f14" fmla="*/ f8 f0 1"/>
              <a:gd name="f15" fmla="*/ 3163 f10 1"/>
              <a:gd name="f16" fmla="*/ 18437 f10 1"/>
              <a:gd name="f17" fmla="*/ 18437 f11 1"/>
              <a:gd name="f18" fmla="*/ 3163 f11 1"/>
              <a:gd name="f19" fmla="*/ f12 1 f2"/>
              <a:gd name="f20" fmla="*/ f13 1 f2"/>
              <a:gd name="f21" fmla="*/ f14 1 f2"/>
              <a:gd name="f22" fmla="*/ 10800 f10 1"/>
              <a:gd name="f23" fmla="*/ 0 f11 1"/>
              <a:gd name="f24" fmla="*/ 0 f10 1"/>
              <a:gd name="f25" fmla="*/ 10800 f11 1"/>
              <a:gd name="f26" fmla="*/ 21600 f11 1"/>
              <a:gd name="f27" fmla="*/ 21600 f10 1"/>
              <a:gd name="f28" fmla="+- 0 0 f19"/>
              <a:gd name="f29" fmla="+- f20 0 f1"/>
              <a:gd name="f30" fmla="+- f21 0 f1"/>
              <a:gd name="f31" fmla="*/ f28 f0 1"/>
              <a:gd name="f32" fmla="+- f30 0 f29"/>
              <a:gd name="f33" fmla="*/ f31 1 f5"/>
              <a:gd name="f34" fmla="+- f33 0 f1"/>
              <a:gd name="f35" fmla="cos 1 f34"/>
              <a:gd name="f36" fmla="sin 1 f34"/>
              <a:gd name="f37" fmla="+- 0 0 f35"/>
              <a:gd name="f38" fmla="+- 0 0 f36"/>
              <a:gd name="f39" fmla="*/ 10800 f37 1"/>
              <a:gd name="f40" fmla="*/ 10800 f38 1"/>
              <a:gd name="f41" fmla="*/ f39 f39 1"/>
              <a:gd name="f42" fmla="*/ f40 f40 1"/>
              <a:gd name="f43" fmla="+- f41 f42 0"/>
              <a:gd name="f44" fmla="sqrt f43"/>
              <a:gd name="f45" fmla="*/ f6 1 f44"/>
              <a:gd name="f46" fmla="*/ f37 f45 1"/>
              <a:gd name="f47" fmla="*/ f38 f45 1"/>
              <a:gd name="f48" fmla="+- 10800 0 f46"/>
              <a:gd name="f49" fmla="+- 10800 0 f47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22" y="f23"/>
              </a:cxn>
              <a:cxn ang="f29">
                <a:pos x="f15" y="f18"/>
              </a:cxn>
              <a:cxn ang="f29">
                <a:pos x="f24" y="f25"/>
              </a:cxn>
              <a:cxn ang="f29">
                <a:pos x="f15" y="f17"/>
              </a:cxn>
              <a:cxn ang="f29">
                <a:pos x="f22" y="f26"/>
              </a:cxn>
              <a:cxn ang="f29">
                <a:pos x="f16" y="f17"/>
              </a:cxn>
              <a:cxn ang="f29">
                <a:pos x="f27" y="f25"/>
              </a:cxn>
              <a:cxn ang="f29">
                <a:pos x="f16" y="f18"/>
              </a:cxn>
            </a:cxnLst>
            <a:rect l="f15" t="f18" r="f16" b="f17"/>
            <a:pathLst>
              <a:path w="21600" h="21600">
                <a:moveTo>
                  <a:pt x="f48" y="f49"/>
                </a:moveTo>
                <a:arcTo wR="f9" hR="f9" stAng="f29" swAng="f32"/>
                <a:close/>
              </a:path>
            </a:pathLst>
          </a:custGeom>
          <a:solidFill>
            <a:srgbClr val="729FCF"/>
          </a:solidFill>
          <a:ln w="0">
            <a:solidFill>
              <a:srgbClr val="3465A4"/>
            </a:solidFill>
            <a:prstDash val="solid"/>
          </a:ln>
        </p:spPr>
        <p:txBody>
          <a:bodyPr vert="horz" wrap="square" lIns="108847" tIns="54423" rIns="108847" bIns="54423" anchor="ctr" anchorCtr="0" compatLnSpc="0">
            <a:noAutofit/>
          </a:bodyPr>
          <a:lstStyle/>
          <a:p>
            <a:pPr hangingPunct="0"/>
            <a:endParaRPr lang="en-US" sz="2177">
              <a:latin typeface="Liberation Sans" pitchFamily="18"/>
              <a:ea typeface="Microsoft YaHei" pitchFamily="2"/>
              <a:cs typeface="Lucida Sans" pitchFamily="2"/>
            </a:endParaRPr>
          </a:p>
        </p:txBody>
      </p:sp>
      <p:sp>
        <p:nvSpPr>
          <p:cNvPr id="8" name="Connecteur droit 7">
            <a:extLst>
              <a:ext uri="{FF2B5EF4-FFF2-40B4-BE49-F238E27FC236}">
                <a16:creationId xmlns:a16="http://schemas.microsoft.com/office/drawing/2014/main" id="{12C4D118-9D48-44A1-A6DB-454DC7A7EF4C}"/>
              </a:ext>
            </a:extLst>
          </p:cNvPr>
          <p:cNvSpPr/>
          <p:nvPr/>
        </p:nvSpPr>
        <p:spPr>
          <a:xfrm>
            <a:off x="1625876" y="3358778"/>
            <a:ext cx="217693" cy="0"/>
          </a:xfrm>
          <a:prstGeom prst="line">
            <a:avLst/>
          </a:prstGeom>
          <a:noFill/>
          <a:ln w="0">
            <a:solidFill>
              <a:srgbClr val="3465A4"/>
            </a:solidFill>
            <a:prstDash val="solid"/>
          </a:ln>
        </p:spPr>
        <p:txBody>
          <a:bodyPr vert="horz" wrap="square" lIns="108847" tIns="54423" rIns="108847" bIns="54423" anchor="ctr" anchorCtr="0" compatLnSpc="0"/>
          <a:lstStyle/>
          <a:p>
            <a:pPr hangingPunct="0"/>
            <a:endParaRPr lang="en-US" sz="2177">
              <a:latin typeface="Liberation Sans" pitchFamily="18"/>
              <a:ea typeface="Microsoft YaHei" pitchFamily="2"/>
              <a:cs typeface="Lucida Sans" pitchFamily="2"/>
            </a:endParaRP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1EEDC939-9EEF-45F3-9FBE-F39FF7BCA2CA}"/>
              </a:ext>
            </a:extLst>
          </p:cNvPr>
          <p:cNvSpPr txBox="1"/>
          <p:nvPr/>
        </p:nvSpPr>
        <p:spPr>
          <a:xfrm>
            <a:off x="15453" y="2997635"/>
            <a:ext cx="1370596" cy="430959"/>
          </a:xfrm>
          <a:prstGeom prst="rect">
            <a:avLst/>
          </a:prstGeom>
          <a:noFill/>
          <a:ln>
            <a:noFill/>
          </a:ln>
        </p:spPr>
        <p:txBody>
          <a:bodyPr vert="horz" wrap="square" lIns="108847" tIns="54423" rIns="108847" bIns="54423" anchorCtr="0" compatLnSpc="0">
            <a:spAutoFit/>
          </a:bodyPr>
          <a:lstStyle/>
          <a:p>
            <a:pPr hangingPunct="0"/>
            <a:r>
              <a:rPr lang="en-US" sz="2177">
                <a:latin typeface="Liberation Sans" pitchFamily="18"/>
                <a:ea typeface="Microsoft YaHei" pitchFamily="2"/>
                <a:cs typeface="Lucida Sans" pitchFamily="2"/>
              </a:rPr>
              <a:t>Http Rest</a:t>
            </a:r>
          </a:p>
        </p:txBody>
      </p:sp>
      <p:sp>
        <p:nvSpPr>
          <p:cNvPr id="10" name="Forme libre : forme 9">
            <a:extLst>
              <a:ext uri="{FF2B5EF4-FFF2-40B4-BE49-F238E27FC236}">
                <a16:creationId xmlns:a16="http://schemas.microsoft.com/office/drawing/2014/main" id="{EEEC84DC-4E56-4C2F-992B-754A717A923E}"/>
              </a:ext>
            </a:extLst>
          </p:cNvPr>
          <p:cNvSpPr/>
          <p:nvPr/>
        </p:nvSpPr>
        <p:spPr>
          <a:xfrm>
            <a:off x="3648245" y="2361743"/>
            <a:ext cx="552941" cy="552941"/>
          </a:xfrm>
          <a:custGeom>
            <a:avLst>
              <a:gd name="f0" fmla="val 5400"/>
            </a:avLst>
            <a:gdLst>
              <a:gd name="f1" fmla="val 10800000"/>
              <a:gd name="f2" fmla="val 5400000"/>
              <a:gd name="f3" fmla="val 180"/>
              <a:gd name="f4" fmla="val w"/>
              <a:gd name="f5" fmla="val h"/>
              <a:gd name="f6" fmla="val 0"/>
              <a:gd name="f7" fmla="val 88"/>
              <a:gd name="f8" fmla="val 21600"/>
              <a:gd name="f9" fmla="val 44"/>
              <a:gd name="f10" fmla="val -2147483647"/>
              <a:gd name="f11" fmla="val 2147483647"/>
              <a:gd name="f12" fmla="val 10800"/>
              <a:gd name="f13" fmla="val 20"/>
              <a:gd name="f14" fmla="val 68"/>
              <a:gd name="f15" fmla="+- 0 0 0"/>
              <a:gd name="f16" fmla="*/ f4 1 88"/>
              <a:gd name="f17" fmla="*/ f5 1 21600"/>
              <a:gd name="f18" fmla="pin 0 f0 10800"/>
              <a:gd name="f19" fmla="*/ f15 f1 1"/>
              <a:gd name="f20" fmla="*/ f18 2 1"/>
              <a:gd name="f21" fmla="*/ f9 f16 1"/>
              <a:gd name="f22" fmla="*/ f18 f17 1"/>
              <a:gd name="f23" fmla="*/ 0 f16 1"/>
              <a:gd name="f24" fmla="*/ 88 f16 1"/>
              <a:gd name="f25" fmla="*/ 44 f16 1"/>
              <a:gd name="f26" fmla="*/ f19 1 f3"/>
              <a:gd name="f27" fmla="*/ 0 f17 1"/>
              <a:gd name="f28" fmla="*/ 10800 f17 1"/>
              <a:gd name="f29" fmla="*/ 21600 f17 1"/>
              <a:gd name="f30" fmla="*/ f20 1 4"/>
              <a:gd name="f31" fmla="*/ f20 1 2"/>
              <a:gd name="f32" fmla="+- f26 0 f2"/>
              <a:gd name="f33" fmla="*/ f30 6 1"/>
              <a:gd name="f34" fmla="+- 21600 0 f30"/>
              <a:gd name="f35" fmla="*/ f31 f17 1"/>
              <a:gd name="f36" fmla="*/ f33 1 11"/>
              <a:gd name="f37" fmla="*/ f34 f17 1"/>
              <a:gd name="f38" fmla="+- f30 0 f36"/>
              <a:gd name="f39" fmla="+- f34 f36 0"/>
              <a:gd name="f40" fmla="+- f30 f36 0"/>
            </a:gdLst>
            <a:ahLst>
              <a:ahXY gdRefY="f0" minY="f6" maxY="f12">
                <a:pos x="f21" y="f22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32">
                <a:pos x="f25" y="f35"/>
              </a:cxn>
              <a:cxn ang="f32">
                <a:pos x="f25" y="f27"/>
              </a:cxn>
              <a:cxn ang="f32">
                <a:pos x="f23" y="f28"/>
              </a:cxn>
              <a:cxn ang="f32">
                <a:pos x="f25" y="f29"/>
              </a:cxn>
              <a:cxn ang="f32">
                <a:pos x="f24" y="f28"/>
              </a:cxn>
            </a:cxnLst>
            <a:rect l="f23" t="f35" r="f24" b="f37"/>
            <a:pathLst>
              <a:path w="88" h="21600">
                <a:moveTo>
                  <a:pt x="f9" y="f6"/>
                </a:moveTo>
                <a:cubicBezTo>
                  <a:pt x="f13" y="f6"/>
                  <a:pt x="f6" y="f38"/>
                  <a:pt x="f6" y="f30"/>
                </a:cubicBezTo>
                <a:lnTo>
                  <a:pt x="f6" y="f34"/>
                </a:lnTo>
                <a:cubicBezTo>
                  <a:pt x="f6" y="f39"/>
                  <a:pt x="f13" y="f8"/>
                  <a:pt x="f9" y="f8"/>
                </a:cubicBezTo>
                <a:cubicBezTo>
                  <a:pt x="f14" y="f8"/>
                  <a:pt x="f7" y="f39"/>
                  <a:pt x="f7" y="f34"/>
                </a:cubicBezTo>
                <a:lnTo>
                  <a:pt x="f7" y="f30"/>
                </a:lnTo>
                <a:cubicBezTo>
                  <a:pt x="f7" y="f38"/>
                  <a:pt x="f14" y="f6"/>
                  <a:pt x="f9" y="f6"/>
                </a:cubicBezTo>
                <a:close/>
              </a:path>
              <a:path w="88" h="21600">
                <a:moveTo>
                  <a:pt x="f9" y="f6"/>
                </a:moveTo>
                <a:cubicBezTo>
                  <a:pt x="f13" y="f6"/>
                  <a:pt x="f6" y="f38"/>
                  <a:pt x="f6" y="f30"/>
                </a:cubicBezTo>
                <a:cubicBezTo>
                  <a:pt x="f6" y="f40"/>
                  <a:pt x="f13" y="f31"/>
                  <a:pt x="f9" y="f31"/>
                </a:cubicBezTo>
                <a:cubicBezTo>
                  <a:pt x="f14" y="f31"/>
                  <a:pt x="f7" y="f40"/>
                  <a:pt x="f7" y="f30"/>
                </a:cubicBezTo>
                <a:cubicBezTo>
                  <a:pt x="f7" y="f38"/>
                  <a:pt x="f14" y="f6"/>
                  <a:pt x="f9" y="f6"/>
                </a:cubicBezTo>
                <a:close/>
              </a:path>
            </a:pathLst>
          </a:custGeom>
          <a:solidFill>
            <a:srgbClr val="729FCF"/>
          </a:solidFill>
          <a:ln w="0">
            <a:solidFill>
              <a:srgbClr val="3465A4"/>
            </a:solidFill>
            <a:prstDash val="solid"/>
          </a:ln>
        </p:spPr>
        <p:txBody>
          <a:bodyPr vert="horz" wrap="square" lIns="108847" tIns="54423" rIns="108847" bIns="54423" anchor="ctr" anchorCtr="0" compatLnSpc="0">
            <a:noAutofit/>
          </a:bodyPr>
          <a:lstStyle/>
          <a:p>
            <a:pPr hangingPunct="0"/>
            <a:endParaRPr lang="en-US" sz="2177">
              <a:latin typeface="Liberation Sans" pitchFamily="18"/>
              <a:ea typeface="Microsoft YaHei" pitchFamily="2"/>
              <a:cs typeface="Lucida Sans" pitchFamily="2"/>
            </a:endParaRPr>
          </a:p>
        </p:txBody>
      </p:sp>
      <p:sp>
        <p:nvSpPr>
          <p:cNvPr id="11" name="Connecteur droit 10">
            <a:extLst>
              <a:ext uri="{FF2B5EF4-FFF2-40B4-BE49-F238E27FC236}">
                <a16:creationId xmlns:a16="http://schemas.microsoft.com/office/drawing/2014/main" id="{17D7CE6A-0D3B-45D9-B24C-5B9D09C79C44}"/>
              </a:ext>
            </a:extLst>
          </p:cNvPr>
          <p:cNvSpPr/>
          <p:nvPr/>
        </p:nvSpPr>
        <p:spPr>
          <a:xfrm flipV="1">
            <a:off x="3095304" y="2638214"/>
            <a:ext cx="552942" cy="465863"/>
          </a:xfrm>
          <a:prstGeom prst="line">
            <a:avLst/>
          </a:prstGeom>
          <a:noFill/>
          <a:ln w="0">
            <a:solidFill>
              <a:srgbClr val="3465A4"/>
            </a:solidFill>
            <a:prstDash val="solid"/>
          </a:ln>
        </p:spPr>
        <p:txBody>
          <a:bodyPr vert="horz" wrap="square" lIns="108847" tIns="54423" rIns="108847" bIns="54423" anchor="ctr" anchorCtr="0" compatLnSpc="0"/>
          <a:lstStyle/>
          <a:p>
            <a:pPr hangingPunct="0"/>
            <a:endParaRPr lang="en-US" sz="2177">
              <a:latin typeface="Liberation Sans" pitchFamily="18"/>
              <a:ea typeface="Microsoft YaHei" pitchFamily="2"/>
              <a:cs typeface="Lucida Sans" pitchFamily="2"/>
            </a:endParaRP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740020C5-97AF-4C51-8BB6-0E0A48E8A418}"/>
              </a:ext>
            </a:extLst>
          </p:cNvPr>
          <p:cNvSpPr txBox="1"/>
          <p:nvPr/>
        </p:nvSpPr>
        <p:spPr>
          <a:xfrm>
            <a:off x="3371775" y="1942901"/>
            <a:ext cx="771505" cy="430959"/>
          </a:xfrm>
          <a:prstGeom prst="rect">
            <a:avLst/>
          </a:prstGeom>
          <a:noFill/>
          <a:ln>
            <a:noFill/>
          </a:ln>
        </p:spPr>
        <p:txBody>
          <a:bodyPr vert="horz" wrap="square" lIns="108847" tIns="54423" rIns="108847" bIns="54423" anchorCtr="0" compatLnSpc="0">
            <a:spAutoFit/>
          </a:bodyPr>
          <a:lstStyle/>
          <a:p>
            <a:pPr hangingPunct="0"/>
            <a:r>
              <a:rPr lang="en-US" sz="2177">
                <a:latin typeface="Liberation Sans" pitchFamily="18"/>
                <a:ea typeface="Microsoft YaHei" pitchFamily="2"/>
                <a:cs typeface="Lucida Sans" pitchFamily="2"/>
              </a:rPr>
              <a:t>Etcd</a:t>
            </a:r>
          </a:p>
        </p:txBody>
      </p:sp>
      <p:sp>
        <p:nvSpPr>
          <p:cNvPr id="13" name="Forme libre : forme 12">
            <a:extLst>
              <a:ext uri="{FF2B5EF4-FFF2-40B4-BE49-F238E27FC236}">
                <a16:creationId xmlns:a16="http://schemas.microsoft.com/office/drawing/2014/main" id="{B6C920DC-F77A-4440-BD06-85F42AE6864A}"/>
              </a:ext>
            </a:extLst>
          </p:cNvPr>
          <p:cNvSpPr/>
          <p:nvPr/>
        </p:nvSpPr>
        <p:spPr>
          <a:xfrm>
            <a:off x="5511699" y="2361744"/>
            <a:ext cx="2065908" cy="27647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solidFill>
            <a:srgbClr val="729FCF"/>
          </a:solidFill>
          <a:ln w="0">
            <a:solidFill>
              <a:srgbClr val="3465A4"/>
            </a:solidFill>
            <a:prstDash val="solid"/>
          </a:ln>
        </p:spPr>
        <p:txBody>
          <a:bodyPr vert="horz" wrap="square" lIns="108847" tIns="54423" rIns="108847" bIns="54423" anchor="ctr" anchorCtr="0" compatLnSpc="0">
            <a:noAutofit/>
          </a:bodyPr>
          <a:lstStyle/>
          <a:p>
            <a:pPr algn="ctr" hangingPunct="0">
              <a:defRPr sz="1800"/>
            </a:pPr>
            <a:r>
              <a:rPr lang="en-US" sz="2177">
                <a:latin typeface="Liberation Sans" pitchFamily="18"/>
                <a:ea typeface="Microsoft YaHei" pitchFamily="2"/>
                <a:cs typeface="Lucida Sans" pitchFamily="2"/>
              </a:rPr>
              <a:t>kubelet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9DD43574-0FAF-4996-9CF7-82FE9E5DA03A}"/>
              </a:ext>
            </a:extLst>
          </p:cNvPr>
          <p:cNvSpPr txBox="1"/>
          <p:nvPr/>
        </p:nvSpPr>
        <p:spPr>
          <a:xfrm>
            <a:off x="6135172" y="1895881"/>
            <a:ext cx="1495115" cy="430959"/>
          </a:xfrm>
          <a:prstGeom prst="rect">
            <a:avLst/>
          </a:prstGeom>
          <a:noFill/>
          <a:ln>
            <a:noFill/>
          </a:ln>
        </p:spPr>
        <p:txBody>
          <a:bodyPr vert="horz" wrap="square" lIns="108847" tIns="54423" rIns="108847" bIns="54423" anchorCtr="0" compatLnSpc="0">
            <a:spAutoFit/>
          </a:bodyPr>
          <a:lstStyle/>
          <a:p>
            <a:pPr hangingPunct="0"/>
            <a:r>
              <a:rPr lang="en-US" sz="2177" dirty="0">
                <a:latin typeface="Liberation Sans" pitchFamily="18"/>
                <a:ea typeface="Microsoft YaHei" pitchFamily="2"/>
                <a:cs typeface="Lucida Sans" pitchFamily="2"/>
              </a:rPr>
              <a:t>Node</a:t>
            </a:r>
          </a:p>
        </p:txBody>
      </p:sp>
      <p:sp>
        <p:nvSpPr>
          <p:cNvPr id="15" name="Forme libre : forme 14">
            <a:extLst>
              <a:ext uri="{FF2B5EF4-FFF2-40B4-BE49-F238E27FC236}">
                <a16:creationId xmlns:a16="http://schemas.microsoft.com/office/drawing/2014/main" id="{C4D288D0-2EE7-4E98-9CB8-E6CAF2ABBA3A}"/>
              </a:ext>
            </a:extLst>
          </p:cNvPr>
          <p:cNvSpPr/>
          <p:nvPr/>
        </p:nvSpPr>
        <p:spPr>
          <a:xfrm>
            <a:off x="5452922" y="2318205"/>
            <a:ext cx="2211763" cy="2211763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 w="0">
            <a:solidFill>
              <a:srgbClr val="3465A4"/>
            </a:solidFill>
            <a:prstDash val="solid"/>
          </a:ln>
        </p:spPr>
        <p:txBody>
          <a:bodyPr vert="horz" wrap="square" lIns="108847" tIns="54423" rIns="108847" bIns="54423" anchor="ctr" anchorCtr="0" compatLnSpc="0">
            <a:noAutofit/>
          </a:bodyPr>
          <a:lstStyle/>
          <a:p>
            <a:pPr hangingPunct="0"/>
            <a:endParaRPr lang="en-US" sz="2177">
              <a:latin typeface="Liberation Sans" pitchFamily="18"/>
              <a:ea typeface="Microsoft YaHei" pitchFamily="2"/>
              <a:cs typeface="Lucida Sans" pitchFamily="2"/>
            </a:endParaRPr>
          </a:p>
        </p:txBody>
      </p:sp>
      <p:sp>
        <p:nvSpPr>
          <p:cNvPr id="16" name="Connecteur droit 15">
            <a:extLst>
              <a:ext uri="{FF2B5EF4-FFF2-40B4-BE49-F238E27FC236}">
                <a16:creationId xmlns:a16="http://schemas.microsoft.com/office/drawing/2014/main" id="{D5260275-3419-4168-9838-D4DB002658F6}"/>
              </a:ext>
            </a:extLst>
          </p:cNvPr>
          <p:cNvSpPr/>
          <p:nvPr/>
        </p:nvSpPr>
        <p:spPr>
          <a:xfrm>
            <a:off x="4201186" y="2492359"/>
            <a:ext cx="1310513" cy="0"/>
          </a:xfrm>
          <a:prstGeom prst="line">
            <a:avLst/>
          </a:prstGeom>
          <a:noFill/>
          <a:ln w="0">
            <a:solidFill>
              <a:srgbClr val="3465A4"/>
            </a:solidFill>
            <a:prstDash val="solid"/>
          </a:ln>
        </p:spPr>
        <p:txBody>
          <a:bodyPr vert="horz" wrap="square" lIns="108847" tIns="54423" rIns="108847" bIns="54423" anchor="ctr" anchorCtr="0" compatLnSpc="0"/>
          <a:lstStyle/>
          <a:p>
            <a:pPr hangingPunct="0"/>
            <a:endParaRPr lang="en-US" sz="2177">
              <a:latin typeface="Liberation Sans" pitchFamily="18"/>
              <a:ea typeface="Microsoft YaHei" pitchFamily="2"/>
              <a:cs typeface="Lucida Sans" pitchFamily="2"/>
            </a:endParaRPr>
          </a:p>
        </p:txBody>
      </p:sp>
      <p:sp>
        <p:nvSpPr>
          <p:cNvPr id="17" name="Forme libre : forme 16">
            <a:extLst>
              <a:ext uri="{FF2B5EF4-FFF2-40B4-BE49-F238E27FC236}">
                <a16:creationId xmlns:a16="http://schemas.microsoft.com/office/drawing/2014/main" id="{AF6BCA63-B567-403D-ACD7-6C09D78B7FA7}"/>
              </a:ext>
            </a:extLst>
          </p:cNvPr>
          <p:cNvSpPr/>
          <p:nvPr/>
        </p:nvSpPr>
        <p:spPr>
          <a:xfrm>
            <a:off x="7912855" y="2361744"/>
            <a:ext cx="2065908" cy="27647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solidFill>
            <a:srgbClr val="729FCF"/>
          </a:solidFill>
          <a:ln w="0">
            <a:solidFill>
              <a:srgbClr val="3465A4"/>
            </a:solidFill>
            <a:prstDash val="solid"/>
          </a:ln>
        </p:spPr>
        <p:txBody>
          <a:bodyPr vert="horz" wrap="square" lIns="108847" tIns="54423" rIns="108847" bIns="54423" anchor="ctr" anchorCtr="0" compatLnSpc="0">
            <a:noAutofit/>
          </a:bodyPr>
          <a:lstStyle/>
          <a:p>
            <a:pPr algn="ctr" hangingPunct="0">
              <a:defRPr sz="1800"/>
            </a:pPr>
            <a:r>
              <a:rPr lang="en-US" sz="2177">
                <a:latin typeface="Liberation Sans" pitchFamily="18"/>
                <a:ea typeface="Microsoft YaHei" pitchFamily="2"/>
                <a:cs typeface="Lucida Sans" pitchFamily="2"/>
              </a:rPr>
              <a:t>kubelet</a:t>
            </a:r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A7218D29-17E5-4028-81FD-31382066669E}"/>
              </a:ext>
            </a:extLst>
          </p:cNvPr>
          <p:cNvSpPr txBox="1"/>
          <p:nvPr/>
        </p:nvSpPr>
        <p:spPr>
          <a:xfrm>
            <a:off x="8536327" y="1895881"/>
            <a:ext cx="1290049" cy="430959"/>
          </a:xfrm>
          <a:prstGeom prst="rect">
            <a:avLst/>
          </a:prstGeom>
          <a:noFill/>
          <a:ln>
            <a:noFill/>
          </a:ln>
        </p:spPr>
        <p:txBody>
          <a:bodyPr vert="horz" wrap="square" lIns="108847" tIns="54423" rIns="108847" bIns="54423" anchorCtr="0" compatLnSpc="0">
            <a:spAutoFit/>
          </a:bodyPr>
          <a:lstStyle/>
          <a:p>
            <a:pPr hangingPunct="0"/>
            <a:r>
              <a:rPr lang="en-US" sz="2177" dirty="0">
                <a:latin typeface="Liberation Sans" pitchFamily="18"/>
                <a:ea typeface="Microsoft YaHei" pitchFamily="2"/>
                <a:cs typeface="Lucida Sans" pitchFamily="2"/>
              </a:rPr>
              <a:t>Node</a:t>
            </a:r>
          </a:p>
        </p:txBody>
      </p:sp>
      <p:sp>
        <p:nvSpPr>
          <p:cNvPr id="19" name="Forme libre : forme 18">
            <a:extLst>
              <a:ext uri="{FF2B5EF4-FFF2-40B4-BE49-F238E27FC236}">
                <a16:creationId xmlns:a16="http://schemas.microsoft.com/office/drawing/2014/main" id="{E4EE8061-772E-4B4B-A19F-174D14DF3CCB}"/>
              </a:ext>
            </a:extLst>
          </p:cNvPr>
          <p:cNvSpPr/>
          <p:nvPr/>
        </p:nvSpPr>
        <p:spPr>
          <a:xfrm>
            <a:off x="7854077" y="2318205"/>
            <a:ext cx="2211763" cy="2211763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 w="0">
            <a:solidFill>
              <a:srgbClr val="3465A4"/>
            </a:solidFill>
            <a:prstDash val="solid"/>
          </a:ln>
        </p:spPr>
        <p:txBody>
          <a:bodyPr vert="horz" wrap="square" lIns="108847" tIns="54423" rIns="108847" bIns="54423" anchor="ctr" anchorCtr="0" compatLnSpc="0">
            <a:noAutofit/>
          </a:bodyPr>
          <a:lstStyle/>
          <a:p>
            <a:pPr hangingPunct="0"/>
            <a:endParaRPr lang="en-US" sz="2177">
              <a:latin typeface="Liberation Sans" pitchFamily="18"/>
              <a:ea typeface="Microsoft YaHei" pitchFamily="2"/>
              <a:cs typeface="Lucida Sans" pitchFamily="2"/>
            </a:endParaRPr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D3944EBB-0757-491F-B3F9-BE68A7669A15}"/>
              </a:ext>
            </a:extLst>
          </p:cNvPr>
          <p:cNvSpPr txBox="1"/>
          <p:nvPr/>
        </p:nvSpPr>
        <p:spPr>
          <a:xfrm>
            <a:off x="10342310" y="1899363"/>
            <a:ext cx="1230401" cy="752008"/>
          </a:xfrm>
          <a:prstGeom prst="rect">
            <a:avLst/>
          </a:prstGeom>
          <a:noFill/>
          <a:ln>
            <a:noFill/>
          </a:ln>
        </p:spPr>
        <p:txBody>
          <a:bodyPr vert="horz" wrap="square" lIns="108847" tIns="54423" rIns="108847" bIns="54423" anchorCtr="0" compatLnSpc="0">
            <a:spAutoFit/>
          </a:bodyPr>
          <a:lstStyle/>
          <a:p>
            <a:pPr hangingPunct="0"/>
            <a:r>
              <a:rPr lang="en-US" sz="2177">
                <a:latin typeface="Liberation Sans" pitchFamily="18"/>
                <a:ea typeface="Microsoft YaHei" pitchFamily="2"/>
                <a:cs typeface="Lucida Sans" pitchFamily="2"/>
              </a:rPr>
              <a:t>… Node</a:t>
            </a:r>
          </a:p>
        </p:txBody>
      </p:sp>
      <p:sp>
        <p:nvSpPr>
          <p:cNvPr id="21" name="Forme libre : forme 20">
            <a:extLst>
              <a:ext uri="{FF2B5EF4-FFF2-40B4-BE49-F238E27FC236}">
                <a16:creationId xmlns:a16="http://schemas.microsoft.com/office/drawing/2014/main" id="{13E8509B-3249-4E78-A7B5-22D695116275}"/>
              </a:ext>
            </a:extLst>
          </p:cNvPr>
          <p:cNvSpPr/>
          <p:nvPr/>
        </p:nvSpPr>
        <p:spPr>
          <a:xfrm>
            <a:off x="5526938" y="3206393"/>
            <a:ext cx="1789437" cy="27647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solidFill>
            <a:srgbClr val="469F98"/>
          </a:solidFill>
          <a:ln w="0">
            <a:solidFill>
              <a:srgbClr val="3465A4"/>
            </a:solidFill>
            <a:prstDash val="solid"/>
          </a:ln>
        </p:spPr>
        <p:txBody>
          <a:bodyPr vert="horz" wrap="square" lIns="108847" tIns="54423" rIns="108847" bIns="54423" anchor="ctr" anchorCtr="0" compatLnSpc="0">
            <a:noAutofit/>
          </a:bodyPr>
          <a:lstStyle/>
          <a:p>
            <a:pPr algn="ctr" hangingPunct="0">
              <a:defRPr sz="1800"/>
            </a:pPr>
            <a:r>
              <a:rPr lang="en-US" sz="2177">
                <a:latin typeface="Liberation Sans" pitchFamily="18"/>
                <a:ea typeface="Microsoft YaHei" pitchFamily="2"/>
                <a:cs typeface="Lucida Sans" pitchFamily="2"/>
              </a:rPr>
              <a:t>Operator</a:t>
            </a:r>
          </a:p>
        </p:txBody>
      </p:sp>
      <p:sp>
        <p:nvSpPr>
          <p:cNvPr id="22" name="Forme libre : forme 21">
            <a:extLst>
              <a:ext uri="{FF2B5EF4-FFF2-40B4-BE49-F238E27FC236}">
                <a16:creationId xmlns:a16="http://schemas.microsoft.com/office/drawing/2014/main" id="{CFFA59A7-9DBA-4478-A9B2-C2792643A8AA}"/>
              </a:ext>
            </a:extLst>
          </p:cNvPr>
          <p:cNvSpPr/>
          <p:nvPr/>
        </p:nvSpPr>
        <p:spPr>
          <a:xfrm>
            <a:off x="8036940" y="3628718"/>
            <a:ext cx="1789437" cy="27647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solidFill>
            <a:srgbClr val="469F98"/>
          </a:solidFill>
          <a:ln w="0">
            <a:solidFill>
              <a:srgbClr val="3465A4"/>
            </a:solidFill>
            <a:prstDash val="solid"/>
          </a:ln>
        </p:spPr>
        <p:txBody>
          <a:bodyPr vert="horz" wrap="square" lIns="108847" tIns="54423" rIns="108847" bIns="54423" anchor="ctr" anchorCtr="0" compatLnSpc="0">
            <a:noAutofit/>
          </a:bodyPr>
          <a:lstStyle/>
          <a:p>
            <a:pPr algn="ctr" hangingPunct="0">
              <a:defRPr sz="1800"/>
            </a:pPr>
            <a:r>
              <a:rPr lang="en-US" sz="2177">
                <a:latin typeface="Liberation Sans" pitchFamily="18"/>
                <a:ea typeface="Microsoft YaHei" pitchFamily="2"/>
                <a:cs typeface="Lucida Sans" pitchFamily="2"/>
              </a:rPr>
              <a:t>Container1</a:t>
            </a:r>
          </a:p>
        </p:txBody>
      </p:sp>
      <p:sp>
        <p:nvSpPr>
          <p:cNvPr id="23" name="Forme libre : forme 22">
            <a:extLst>
              <a:ext uri="{FF2B5EF4-FFF2-40B4-BE49-F238E27FC236}">
                <a16:creationId xmlns:a16="http://schemas.microsoft.com/office/drawing/2014/main" id="{8DF63F3B-4782-4337-96FE-312DC7F1E999}"/>
              </a:ext>
            </a:extLst>
          </p:cNvPr>
          <p:cNvSpPr/>
          <p:nvPr/>
        </p:nvSpPr>
        <p:spPr>
          <a:xfrm>
            <a:off x="8036940" y="4064104"/>
            <a:ext cx="1789437" cy="27647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solidFill>
            <a:srgbClr val="469F98"/>
          </a:solidFill>
          <a:ln w="0">
            <a:solidFill>
              <a:srgbClr val="3465A4"/>
            </a:solidFill>
            <a:prstDash val="solid"/>
          </a:ln>
        </p:spPr>
        <p:txBody>
          <a:bodyPr vert="horz" wrap="square" lIns="108847" tIns="54423" rIns="108847" bIns="54423" anchor="ctr" anchorCtr="0" compatLnSpc="0">
            <a:noAutofit/>
          </a:bodyPr>
          <a:lstStyle/>
          <a:p>
            <a:pPr algn="ctr" hangingPunct="0">
              <a:defRPr sz="1800"/>
            </a:pPr>
            <a:r>
              <a:rPr lang="en-US" sz="2177">
                <a:latin typeface="Liberation Sans" pitchFamily="18"/>
                <a:ea typeface="Microsoft YaHei" pitchFamily="2"/>
                <a:cs typeface="Lucida Sans" pitchFamily="2"/>
              </a:rPr>
              <a:t>Container2</a:t>
            </a:r>
          </a:p>
        </p:txBody>
      </p:sp>
      <p:sp>
        <p:nvSpPr>
          <p:cNvPr id="24" name="Forme libre : forme 23">
            <a:extLst>
              <a:ext uri="{FF2B5EF4-FFF2-40B4-BE49-F238E27FC236}">
                <a16:creationId xmlns:a16="http://schemas.microsoft.com/office/drawing/2014/main" id="{77075145-B626-46FE-A4C9-D9675350F71E}"/>
              </a:ext>
            </a:extLst>
          </p:cNvPr>
          <p:cNvSpPr/>
          <p:nvPr/>
        </p:nvSpPr>
        <p:spPr>
          <a:xfrm>
            <a:off x="10257410" y="4064104"/>
            <a:ext cx="1321398" cy="27647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solidFill>
            <a:srgbClr val="469F98"/>
          </a:solidFill>
          <a:ln w="0">
            <a:solidFill>
              <a:srgbClr val="3465A4"/>
            </a:solidFill>
            <a:prstDash val="solid"/>
          </a:ln>
        </p:spPr>
        <p:txBody>
          <a:bodyPr vert="horz" wrap="square" lIns="108847" tIns="54423" rIns="108847" bIns="54423" anchor="ctr" anchorCtr="0" compatLnSpc="0">
            <a:noAutofit/>
          </a:bodyPr>
          <a:lstStyle/>
          <a:p>
            <a:pPr algn="ctr" hangingPunct="0">
              <a:defRPr sz="1800"/>
            </a:pPr>
            <a:r>
              <a:rPr lang="en-US" sz="2177">
                <a:latin typeface="Liberation Sans" pitchFamily="18"/>
                <a:ea typeface="Microsoft YaHei" pitchFamily="2"/>
                <a:cs typeface="Lucida Sans" pitchFamily="2"/>
              </a:rPr>
              <a:t>Cont 3..</a:t>
            </a:r>
          </a:p>
        </p:txBody>
      </p:sp>
      <p:sp>
        <p:nvSpPr>
          <p:cNvPr id="25" name="Forme libre : forme 24">
            <a:extLst>
              <a:ext uri="{FF2B5EF4-FFF2-40B4-BE49-F238E27FC236}">
                <a16:creationId xmlns:a16="http://schemas.microsoft.com/office/drawing/2014/main" id="{FD199E6D-B0D4-4023-BE79-894E3E49152B}"/>
              </a:ext>
            </a:extLst>
          </p:cNvPr>
          <p:cNvSpPr/>
          <p:nvPr/>
        </p:nvSpPr>
        <p:spPr>
          <a:xfrm rot="5181600">
            <a:off x="8221705" y="2798523"/>
            <a:ext cx="539442" cy="232496"/>
          </a:xfrm>
          <a:custGeom>
            <a:avLst>
              <a:gd name="f0" fmla="val 16200000"/>
              <a:gd name="f1" fmla="val 5400000"/>
              <a:gd name="f2" fmla="val 5500"/>
            </a:avLst>
            <a:gdLst>
              <a:gd name="f3" fmla="val 21600000"/>
              <a:gd name="f4" fmla="val 10800000"/>
              <a:gd name="f5" fmla="val 5400000"/>
              <a:gd name="f6" fmla="val 180"/>
              <a:gd name="f7" fmla="val w"/>
              <a:gd name="f8" fmla="val h"/>
              <a:gd name="f9" fmla="val 0"/>
              <a:gd name="f10" fmla="*/ 5419351 1 1725033"/>
              <a:gd name="f11" fmla="sqrt 2"/>
              <a:gd name="f12" fmla="*/ 10800 10800 1"/>
              <a:gd name="f13" fmla="val 10800"/>
              <a:gd name="f14" fmla="val 21599999"/>
              <a:gd name="f15" fmla="min 0 21600"/>
              <a:gd name="f16" fmla="max 0 21600"/>
              <a:gd name="f17" fmla="*/ f10 1 2"/>
              <a:gd name="f18" fmla="*/ f7 1 21600"/>
              <a:gd name="f19" fmla="*/ f8 1 21600"/>
              <a:gd name="f20" fmla="*/ f10 1 180"/>
              <a:gd name="f21" fmla="*/ f11 1 2"/>
              <a:gd name="f22" fmla="pin 0 f0 21599999"/>
              <a:gd name="f23" fmla="pin 0 f2 10800"/>
              <a:gd name="f24" fmla="pin 0 f1 21599999"/>
              <a:gd name="f25" fmla="+- f16 0 f15"/>
              <a:gd name="f26" fmla="+- 10800 f23 0"/>
              <a:gd name="f27" fmla="+- f23 0 2700"/>
              <a:gd name="f28" fmla="+- 0 0 f22"/>
              <a:gd name="f29" fmla="+- 0 0 f24"/>
              <a:gd name="f30" fmla="*/ f23 f23 1"/>
              <a:gd name="f31" fmla="*/ 0 f18 1"/>
              <a:gd name="f32" fmla="*/ 21600 f18 1"/>
              <a:gd name="f33" fmla="*/ 21600 f19 1"/>
              <a:gd name="f34" fmla="*/ 0 f19 1"/>
              <a:gd name="f35" fmla="*/ f25 1 2"/>
              <a:gd name="f36" fmla="+- 21600 0 f26"/>
              <a:gd name="f37" fmla="+- f28 f5 0"/>
              <a:gd name="f38" fmla="+- f29 f5 0"/>
              <a:gd name="f39" fmla="+- f15 f35 0"/>
              <a:gd name="f40" fmla="*/ f35 f35 1"/>
              <a:gd name="f41" fmla="*/ f37 f6 1"/>
              <a:gd name="f42" fmla="*/ f38 f6 1"/>
              <a:gd name="f43" fmla="min f26 f36"/>
              <a:gd name="f44" fmla="max f26 f36"/>
              <a:gd name="f45" fmla="*/ f41 1 f4"/>
              <a:gd name="f46" fmla="*/ f42 1 f4"/>
              <a:gd name="f47" fmla="+- f44 0 f43"/>
              <a:gd name="f48" fmla="+- 0 0 f45"/>
              <a:gd name="f49" fmla="+- 0 0 f46"/>
              <a:gd name="f50" fmla="*/ f47 1 2"/>
              <a:gd name="f51" fmla="val f48"/>
              <a:gd name="f52" fmla="val f49"/>
              <a:gd name="f53" fmla="+- f43 f50 0"/>
              <a:gd name="f54" fmla="*/ f50 f50 1"/>
              <a:gd name="f55" fmla="*/ f51 f20 1"/>
              <a:gd name="f56" fmla="*/ f52 f20 1"/>
              <a:gd name="f57" fmla="+- f52 45 0"/>
              <a:gd name="f58" fmla="*/ f51 f10 1"/>
              <a:gd name="f59" fmla="*/ f52 f10 1"/>
              <a:gd name="f60" fmla="+- 0 0 f55"/>
              <a:gd name="f61" fmla="+- 0 0 f56"/>
              <a:gd name="f62" fmla="*/ f57 f10 1"/>
              <a:gd name="f63" fmla="*/ f58 1 f6"/>
              <a:gd name="f64" fmla="*/ f59 1 f6"/>
              <a:gd name="f65" fmla="*/ f60 f4 1"/>
              <a:gd name="f66" fmla="*/ f61 f4 1"/>
              <a:gd name="f67" fmla="*/ f62 1 180"/>
              <a:gd name="f68" fmla="+- 0 0 f63"/>
              <a:gd name="f69" fmla="+- 0 0 f64"/>
              <a:gd name="f70" fmla="*/ f65 1 f10"/>
              <a:gd name="f71" fmla="*/ f66 1 f10"/>
              <a:gd name="f72" fmla="+- 0 0 f67"/>
              <a:gd name="f73" fmla="+- f68 f10 0"/>
              <a:gd name="f74" fmla="+- f69 f10 0"/>
              <a:gd name="f75" fmla="+- f70 0 f5"/>
              <a:gd name="f76" fmla="+- f71 0 f5"/>
              <a:gd name="f77" fmla="*/ f72 f4 1"/>
              <a:gd name="f78" fmla="+- f73 f17 0"/>
              <a:gd name="f79" fmla="+- f74 f17 0"/>
              <a:gd name="f80" fmla="cos 1 f75"/>
              <a:gd name="f81" fmla="sin 1 f75"/>
              <a:gd name="f82" fmla="cos 1 f76"/>
              <a:gd name="f83" fmla="sin 1 f76"/>
              <a:gd name="f84" fmla="*/ f77 1 f10"/>
              <a:gd name="f85" fmla="+- 0 0 f78"/>
              <a:gd name="f86" fmla="+- 0 0 f79"/>
              <a:gd name="f87" fmla="+- 0 0 f80"/>
              <a:gd name="f88" fmla="+- 0 0 f81"/>
              <a:gd name="f89" fmla="+- 0 0 f82"/>
              <a:gd name="f90" fmla="+- 0 0 f83"/>
              <a:gd name="f91" fmla="+- f84 0 f5"/>
              <a:gd name="f92" fmla="*/ f85 f4 1"/>
              <a:gd name="f93" fmla="*/ f86 f4 1"/>
              <a:gd name="f94" fmla="*/ 10800 f87 1"/>
              <a:gd name="f95" fmla="*/ 10800 f88 1"/>
              <a:gd name="f96" fmla="*/ 10800 f89 1"/>
              <a:gd name="f97" fmla="*/ 10800 f90 1"/>
              <a:gd name="f98" fmla="*/ f26 f87 1"/>
              <a:gd name="f99" fmla="*/ f26 f88 1"/>
              <a:gd name="f100" fmla="*/ f26 f89 1"/>
              <a:gd name="f101" fmla="*/ f26 f90 1"/>
              <a:gd name="f102" fmla="*/ 13500 f89 1"/>
              <a:gd name="f103" fmla="*/ 13500 f90 1"/>
              <a:gd name="f104" fmla="*/ f27 f89 1"/>
              <a:gd name="f105" fmla="*/ f27 f90 1"/>
              <a:gd name="f106" fmla="cos 1 f91"/>
              <a:gd name="f107" fmla="sin 1 f91"/>
              <a:gd name="f108" fmla="*/ f92 1 f10"/>
              <a:gd name="f109" fmla="*/ f93 1 f10"/>
              <a:gd name="f110" fmla="+- f94 10800 0"/>
              <a:gd name="f111" fmla="+- f95 10800 0"/>
              <a:gd name="f112" fmla="+- f96 10800 0"/>
              <a:gd name="f113" fmla="+- f97 10800 0"/>
              <a:gd name="f114" fmla="+- f98 10800 0"/>
              <a:gd name="f115" fmla="+- f99 10800 0"/>
              <a:gd name="f116" fmla="+- f100 10800 0"/>
              <a:gd name="f117" fmla="+- f101 10800 0"/>
              <a:gd name="f118" fmla="+- f102 10800 0"/>
              <a:gd name="f119" fmla="+- f103 10800 0"/>
              <a:gd name="f120" fmla="+- f104 10800 0"/>
              <a:gd name="f121" fmla="+- f105 10800 0"/>
              <a:gd name="f122" fmla="+- 0 0 f106"/>
              <a:gd name="f123" fmla="+- 0 0 f107"/>
              <a:gd name="f124" fmla="+- f108 0 f5"/>
              <a:gd name="f125" fmla="+- f109 0 f5"/>
              <a:gd name="f126" fmla="+- f121 0 f119"/>
              <a:gd name="f127" fmla="+- f120 0 f118"/>
              <a:gd name="f128" fmla="cos 1 f124"/>
              <a:gd name="f129" fmla="sin 1 f124"/>
              <a:gd name="f130" fmla="cos 1 f125"/>
              <a:gd name="f131" fmla="sin 1 f125"/>
              <a:gd name="f132" fmla="+- f117 0 f53"/>
              <a:gd name="f133" fmla="+- f116 0 f53"/>
              <a:gd name="f134" fmla="+- f115 0 f53"/>
              <a:gd name="f135" fmla="+- f114 0 f53"/>
              <a:gd name="f136" fmla="+- f111 0 f39"/>
              <a:gd name="f137" fmla="+- f110 0 f39"/>
              <a:gd name="f138" fmla="+- f113 0 f39"/>
              <a:gd name="f139" fmla="+- f112 0 f39"/>
              <a:gd name="f140" fmla="*/ f126 f126 1"/>
              <a:gd name="f141" fmla="*/ f127 f127 1"/>
              <a:gd name="f142" fmla="+- 0 0 f128"/>
              <a:gd name="f143" fmla="+- 0 0 f129"/>
              <a:gd name="f144" fmla="+- 0 0 f130"/>
              <a:gd name="f145" fmla="+- 0 0 f131"/>
              <a:gd name="f146" fmla="at2 f132 f133"/>
              <a:gd name="f147" fmla="at2 f134 f135"/>
              <a:gd name="f148" fmla="at2 f136 f137"/>
              <a:gd name="f149" fmla="at2 f138 f139"/>
              <a:gd name="f150" fmla="+- f140 f141 0"/>
              <a:gd name="f151" fmla="*/ 10800 f142 1"/>
              <a:gd name="f152" fmla="*/ 10800 f143 1"/>
              <a:gd name="f153" fmla="*/ f23 f144 1"/>
              <a:gd name="f154" fmla="*/ f23 f145 1"/>
              <a:gd name="f155" fmla="+- f146 f5 0"/>
              <a:gd name="f156" fmla="+- f147 f5 0"/>
              <a:gd name="f157" fmla="+- f148 f5 0"/>
              <a:gd name="f158" fmla="+- f149 f5 0"/>
              <a:gd name="f159" fmla="sqrt f150"/>
              <a:gd name="f160" fmla="*/ f151 f151 1"/>
              <a:gd name="f161" fmla="*/ f152 f152 1"/>
              <a:gd name="f162" fmla="*/ f153 f153 1"/>
              <a:gd name="f163" fmla="*/ f154 f154 1"/>
              <a:gd name="f164" fmla="*/ f155 f10 1"/>
              <a:gd name="f165" fmla="*/ f156 f10 1"/>
              <a:gd name="f166" fmla="*/ f157 f10 1"/>
              <a:gd name="f167" fmla="*/ f158 f10 1"/>
              <a:gd name="f168" fmla="*/ f21 f159 1"/>
              <a:gd name="f169" fmla="+- f160 f161 0"/>
              <a:gd name="f170" fmla="+- f162 f163 0"/>
              <a:gd name="f171" fmla="*/ f164 1 f4"/>
              <a:gd name="f172" fmla="*/ f165 1 f4"/>
              <a:gd name="f173" fmla="*/ f166 1 f4"/>
              <a:gd name="f174" fmla="*/ f167 1 f4"/>
              <a:gd name="f175" fmla="*/ f168 f122 1"/>
              <a:gd name="f176" fmla="*/ f168 f123 1"/>
              <a:gd name="f177" fmla="sqrt f169"/>
              <a:gd name="f178" fmla="sqrt f170"/>
              <a:gd name="f179" fmla="+- 0 0 f171"/>
              <a:gd name="f180" fmla="+- 0 0 f172"/>
              <a:gd name="f181" fmla="+- 0 0 f173"/>
              <a:gd name="f182" fmla="+- 0 0 f174"/>
              <a:gd name="f183" fmla="+- f120 f175 0"/>
              <a:gd name="f184" fmla="+- f121 f176 0"/>
              <a:gd name="f185" fmla="*/ f12 1 f177"/>
              <a:gd name="f186" fmla="*/ f30 1 f178"/>
              <a:gd name="f187" fmla="+- 0 0 f179"/>
              <a:gd name="f188" fmla="+- 0 0 f180"/>
              <a:gd name="f189" fmla="+- 0 0 f181"/>
              <a:gd name="f190" fmla="+- 0 0 f182"/>
              <a:gd name="f191" fmla="*/ f142 f185 1"/>
              <a:gd name="f192" fmla="*/ f143 f185 1"/>
              <a:gd name="f193" fmla="*/ f144 f186 1"/>
              <a:gd name="f194" fmla="*/ f145 f186 1"/>
              <a:gd name="f195" fmla="*/ f187 f4 1"/>
              <a:gd name="f196" fmla="*/ f188 f4 1"/>
              <a:gd name="f197" fmla="*/ f189 f4 1"/>
              <a:gd name="f198" fmla="*/ f190 f4 1"/>
              <a:gd name="f199" fmla="+- 10800 0 f191"/>
              <a:gd name="f200" fmla="+- 10800 0 f192"/>
              <a:gd name="f201" fmla="+- 10800 0 f193"/>
              <a:gd name="f202" fmla="+- 10800 0 f194"/>
              <a:gd name="f203" fmla="*/ f195 1 f10"/>
              <a:gd name="f204" fmla="*/ f196 1 f10"/>
              <a:gd name="f205" fmla="*/ f197 1 f10"/>
              <a:gd name="f206" fmla="*/ f198 1 f10"/>
              <a:gd name="f207" fmla="*/ f199 f18 1"/>
              <a:gd name="f208" fmla="*/ f200 f19 1"/>
              <a:gd name="f209" fmla="*/ f201 f18 1"/>
              <a:gd name="f210" fmla="*/ f202 f19 1"/>
              <a:gd name="f211" fmla="+- f203 0 f5"/>
              <a:gd name="f212" fmla="+- f204 0 f5"/>
              <a:gd name="f213" fmla="+- f205 0 f5"/>
              <a:gd name="f214" fmla="+- f206 0 f5"/>
              <a:gd name="f215" fmla="cos 1 f211"/>
              <a:gd name="f216" fmla="sin 1 f211"/>
              <a:gd name="f217" fmla="+- f212 0 f211"/>
              <a:gd name="f218" fmla="cos 1 f213"/>
              <a:gd name="f219" fmla="sin 1 f213"/>
              <a:gd name="f220" fmla="+- f214 0 f213"/>
              <a:gd name="f221" fmla="+- 0 0 f215"/>
              <a:gd name="f222" fmla="+- 0 0 f216"/>
              <a:gd name="f223" fmla="+- f217 0 f3"/>
              <a:gd name="f224" fmla="+- 0 0 f218"/>
              <a:gd name="f225" fmla="+- 0 0 f219"/>
              <a:gd name="f226" fmla="+- f220 f3 0"/>
              <a:gd name="f227" fmla="*/ f50 f221 1"/>
              <a:gd name="f228" fmla="*/ f50 f222 1"/>
              <a:gd name="f229" fmla="?: f217 f223 f217"/>
              <a:gd name="f230" fmla="*/ f35 f224 1"/>
              <a:gd name="f231" fmla="*/ f35 f225 1"/>
              <a:gd name="f232" fmla="?: f220 f220 f226"/>
              <a:gd name="f233" fmla="*/ f227 f227 1"/>
              <a:gd name="f234" fmla="*/ f228 f228 1"/>
              <a:gd name="f235" fmla="*/ f230 f230 1"/>
              <a:gd name="f236" fmla="*/ f231 f231 1"/>
              <a:gd name="f237" fmla="+- f233 f234 0"/>
              <a:gd name="f238" fmla="+- f235 f236 0"/>
              <a:gd name="f239" fmla="sqrt f237"/>
              <a:gd name="f240" fmla="sqrt f238"/>
              <a:gd name="f241" fmla="*/ f54 1 f239"/>
              <a:gd name="f242" fmla="*/ f40 1 f240"/>
              <a:gd name="f243" fmla="*/ f221 f241 1"/>
              <a:gd name="f244" fmla="*/ f222 f241 1"/>
              <a:gd name="f245" fmla="*/ f224 f242 1"/>
              <a:gd name="f246" fmla="*/ f225 f242 1"/>
              <a:gd name="f247" fmla="+- f53 0 f243"/>
              <a:gd name="f248" fmla="+- f53 0 f244"/>
              <a:gd name="f249" fmla="+- f39 0 f245"/>
              <a:gd name="f250" fmla="+- f39 0 f246"/>
            </a:gdLst>
            <a:ahLst>
              <a:ahPolar gdRefAng="f0" minAng="f9" maxAng="f14">
                <a:pos x="f207" y="f208"/>
              </a:ahPolar>
              <a:ahPolar gdRefR="f2" minR="f9" maxR="f13" gdRefAng="f1" minAng="f9" maxAng="f14">
                <a:pos x="f209" y="f210"/>
              </a:ahPolar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31" t="f34" r="f32" b="f33"/>
            <a:pathLst>
              <a:path w="21600" h="21600">
                <a:moveTo>
                  <a:pt x="f247" y="f248"/>
                </a:moveTo>
                <a:arcTo wR="f50" hR="f50" stAng="f211" swAng="f229"/>
                <a:lnTo>
                  <a:pt x="f249" y="f250"/>
                </a:lnTo>
                <a:arcTo wR="f35" hR="f35" stAng="f213" swAng="f232"/>
                <a:lnTo>
                  <a:pt x="f119" y="f118"/>
                </a:lnTo>
                <a:lnTo>
                  <a:pt x="f184" y="f183"/>
                </a:lnTo>
                <a:lnTo>
                  <a:pt x="f121" y="f120"/>
                </a:lnTo>
                <a:close/>
              </a:path>
            </a:pathLst>
          </a:custGeom>
          <a:solidFill>
            <a:srgbClr val="729FCF"/>
          </a:solidFill>
          <a:ln w="0">
            <a:solidFill>
              <a:srgbClr val="3465A4"/>
            </a:solidFill>
            <a:prstDash val="solid"/>
          </a:ln>
        </p:spPr>
        <p:txBody>
          <a:bodyPr vert="horz" wrap="square" lIns="108847" tIns="54423" rIns="108847" bIns="54423" anchor="ctr" anchorCtr="0" compatLnSpc="0">
            <a:noAutofit/>
          </a:bodyPr>
          <a:lstStyle/>
          <a:p>
            <a:pPr hangingPunct="0"/>
            <a:endParaRPr lang="en-US" sz="2177">
              <a:latin typeface="Liberation Sans" pitchFamily="18"/>
              <a:ea typeface="Microsoft YaHei" pitchFamily="2"/>
              <a:cs typeface="Lucida Sans" pitchFamily="2"/>
            </a:endParaRPr>
          </a:p>
        </p:txBody>
      </p:sp>
      <p:sp>
        <p:nvSpPr>
          <p:cNvPr id="26" name="Forme libre : forme 25">
            <a:extLst>
              <a:ext uri="{FF2B5EF4-FFF2-40B4-BE49-F238E27FC236}">
                <a16:creationId xmlns:a16="http://schemas.microsoft.com/office/drawing/2014/main" id="{D98E421F-6D98-4673-A337-B4F6A0CFFDA0}"/>
              </a:ext>
            </a:extLst>
          </p:cNvPr>
          <p:cNvSpPr/>
          <p:nvPr/>
        </p:nvSpPr>
        <p:spPr>
          <a:xfrm rot="5181600">
            <a:off x="8498176" y="2798523"/>
            <a:ext cx="539442" cy="232496"/>
          </a:xfrm>
          <a:custGeom>
            <a:avLst>
              <a:gd name="f0" fmla="val 16200000"/>
              <a:gd name="f1" fmla="val 5400000"/>
              <a:gd name="f2" fmla="val 5500"/>
            </a:avLst>
            <a:gdLst>
              <a:gd name="f3" fmla="val 21600000"/>
              <a:gd name="f4" fmla="val 10800000"/>
              <a:gd name="f5" fmla="val 5400000"/>
              <a:gd name="f6" fmla="val 180"/>
              <a:gd name="f7" fmla="val w"/>
              <a:gd name="f8" fmla="val h"/>
              <a:gd name="f9" fmla="val 0"/>
              <a:gd name="f10" fmla="*/ 5419351 1 1725033"/>
              <a:gd name="f11" fmla="sqrt 2"/>
              <a:gd name="f12" fmla="*/ 10800 10800 1"/>
              <a:gd name="f13" fmla="val 10800"/>
              <a:gd name="f14" fmla="val 21599999"/>
              <a:gd name="f15" fmla="min 0 21600"/>
              <a:gd name="f16" fmla="max 0 21600"/>
              <a:gd name="f17" fmla="*/ f10 1 2"/>
              <a:gd name="f18" fmla="*/ f7 1 21600"/>
              <a:gd name="f19" fmla="*/ f8 1 21600"/>
              <a:gd name="f20" fmla="*/ f10 1 180"/>
              <a:gd name="f21" fmla="*/ f11 1 2"/>
              <a:gd name="f22" fmla="pin 0 f0 21599999"/>
              <a:gd name="f23" fmla="pin 0 f2 10800"/>
              <a:gd name="f24" fmla="pin 0 f1 21599999"/>
              <a:gd name="f25" fmla="+- f16 0 f15"/>
              <a:gd name="f26" fmla="+- 10800 f23 0"/>
              <a:gd name="f27" fmla="+- f23 0 2700"/>
              <a:gd name="f28" fmla="+- 0 0 f22"/>
              <a:gd name="f29" fmla="+- 0 0 f24"/>
              <a:gd name="f30" fmla="*/ f23 f23 1"/>
              <a:gd name="f31" fmla="*/ 0 f18 1"/>
              <a:gd name="f32" fmla="*/ 21600 f18 1"/>
              <a:gd name="f33" fmla="*/ 21600 f19 1"/>
              <a:gd name="f34" fmla="*/ 0 f19 1"/>
              <a:gd name="f35" fmla="*/ f25 1 2"/>
              <a:gd name="f36" fmla="+- 21600 0 f26"/>
              <a:gd name="f37" fmla="+- f28 f5 0"/>
              <a:gd name="f38" fmla="+- f29 f5 0"/>
              <a:gd name="f39" fmla="+- f15 f35 0"/>
              <a:gd name="f40" fmla="*/ f35 f35 1"/>
              <a:gd name="f41" fmla="*/ f37 f6 1"/>
              <a:gd name="f42" fmla="*/ f38 f6 1"/>
              <a:gd name="f43" fmla="min f26 f36"/>
              <a:gd name="f44" fmla="max f26 f36"/>
              <a:gd name="f45" fmla="*/ f41 1 f4"/>
              <a:gd name="f46" fmla="*/ f42 1 f4"/>
              <a:gd name="f47" fmla="+- f44 0 f43"/>
              <a:gd name="f48" fmla="+- 0 0 f45"/>
              <a:gd name="f49" fmla="+- 0 0 f46"/>
              <a:gd name="f50" fmla="*/ f47 1 2"/>
              <a:gd name="f51" fmla="val f48"/>
              <a:gd name="f52" fmla="val f49"/>
              <a:gd name="f53" fmla="+- f43 f50 0"/>
              <a:gd name="f54" fmla="*/ f50 f50 1"/>
              <a:gd name="f55" fmla="*/ f51 f20 1"/>
              <a:gd name="f56" fmla="*/ f52 f20 1"/>
              <a:gd name="f57" fmla="+- f52 45 0"/>
              <a:gd name="f58" fmla="*/ f51 f10 1"/>
              <a:gd name="f59" fmla="*/ f52 f10 1"/>
              <a:gd name="f60" fmla="+- 0 0 f55"/>
              <a:gd name="f61" fmla="+- 0 0 f56"/>
              <a:gd name="f62" fmla="*/ f57 f10 1"/>
              <a:gd name="f63" fmla="*/ f58 1 f6"/>
              <a:gd name="f64" fmla="*/ f59 1 f6"/>
              <a:gd name="f65" fmla="*/ f60 f4 1"/>
              <a:gd name="f66" fmla="*/ f61 f4 1"/>
              <a:gd name="f67" fmla="*/ f62 1 180"/>
              <a:gd name="f68" fmla="+- 0 0 f63"/>
              <a:gd name="f69" fmla="+- 0 0 f64"/>
              <a:gd name="f70" fmla="*/ f65 1 f10"/>
              <a:gd name="f71" fmla="*/ f66 1 f10"/>
              <a:gd name="f72" fmla="+- 0 0 f67"/>
              <a:gd name="f73" fmla="+- f68 f10 0"/>
              <a:gd name="f74" fmla="+- f69 f10 0"/>
              <a:gd name="f75" fmla="+- f70 0 f5"/>
              <a:gd name="f76" fmla="+- f71 0 f5"/>
              <a:gd name="f77" fmla="*/ f72 f4 1"/>
              <a:gd name="f78" fmla="+- f73 f17 0"/>
              <a:gd name="f79" fmla="+- f74 f17 0"/>
              <a:gd name="f80" fmla="cos 1 f75"/>
              <a:gd name="f81" fmla="sin 1 f75"/>
              <a:gd name="f82" fmla="cos 1 f76"/>
              <a:gd name="f83" fmla="sin 1 f76"/>
              <a:gd name="f84" fmla="*/ f77 1 f10"/>
              <a:gd name="f85" fmla="+- 0 0 f78"/>
              <a:gd name="f86" fmla="+- 0 0 f79"/>
              <a:gd name="f87" fmla="+- 0 0 f80"/>
              <a:gd name="f88" fmla="+- 0 0 f81"/>
              <a:gd name="f89" fmla="+- 0 0 f82"/>
              <a:gd name="f90" fmla="+- 0 0 f83"/>
              <a:gd name="f91" fmla="+- f84 0 f5"/>
              <a:gd name="f92" fmla="*/ f85 f4 1"/>
              <a:gd name="f93" fmla="*/ f86 f4 1"/>
              <a:gd name="f94" fmla="*/ 10800 f87 1"/>
              <a:gd name="f95" fmla="*/ 10800 f88 1"/>
              <a:gd name="f96" fmla="*/ 10800 f89 1"/>
              <a:gd name="f97" fmla="*/ 10800 f90 1"/>
              <a:gd name="f98" fmla="*/ f26 f87 1"/>
              <a:gd name="f99" fmla="*/ f26 f88 1"/>
              <a:gd name="f100" fmla="*/ f26 f89 1"/>
              <a:gd name="f101" fmla="*/ f26 f90 1"/>
              <a:gd name="f102" fmla="*/ 13500 f89 1"/>
              <a:gd name="f103" fmla="*/ 13500 f90 1"/>
              <a:gd name="f104" fmla="*/ f27 f89 1"/>
              <a:gd name="f105" fmla="*/ f27 f90 1"/>
              <a:gd name="f106" fmla="cos 1 f91"/>
              <a:gd name="f107" fmla="sin 1 f91"/>
              <a:gd name="f108" fmla="*/ f92 1 f10"/>
              <a:gd name="f109" fmla="*/ f93 1 f10"/>
              <a:gd name="f110" fmla="+- f94 10800 0"/>
              <a:gd name="f111" fmla="+- f95 10800 0"/>
              <a:gd name="f112" fmla="+- f96 10800 0"/>
              <a:gd name="f113" fmla="+- f97 10800 0"/>
              <a:gd name="f114" fmla="+- f98 10800 0"/>
              <a:gd name="f115" fmla="+- f99 10800 0"/>
              <a:gd name="f116" fmla="+- f100 10800 0"/>
              <a:gd name="f117" fmla="+- f101 10800 0"/>
              <a:gd name="f118" fmla="+- f102 10800 0"/>
              <a:gd name="f119" fmla="+- f103 10800 0"/>
              <a:gd name="f120" fmla="+- f104 10800 0"/>
              <a:gd name="f121" fmla="+- f105 10800 0"/>
              <a:gd name="f122" fmla="+- 0 0 f106"/>
              <a:gd name="f123" fmla="+- 0 0 f107"/>
              <a:gd name="f124" fmla="+- f108 0 f5"/>
              <a:gd name="f125" fmla="+- f109 0 f5"/>
              <a:gd name="f126" fmla="+- f121 0 f119"/>
              <a:gd name="f127" fmla="+- f120 0 f118"/>
              <a:gd name="f128" fmla="cos 1 f124"/>
              <a:gd name="f129" fmla="sin 1 f124"/>
              <a:gd name="f130" fmla="cos 1 f125"/>
              <a:gd name="f131" fmla="sin 1 f125"/>
              <a:gd name="f132" fmla="+- f117 0 f53"/>
              <a:gd name="f133" fmla="+- f116 0 f53"/>
              <a:gd name="f134" fmla="+- f115 0 f53"/>
              <a:gd name="f135" fmla="+- f114 0 f53"/>
              <a:gd name="f136" fmla="+- f111 0 f39"/>
              <a:gd name="f137" fmla="+- f110 0 f39"/>
              <a:gd name="f138" fmla="+- f113 0 f39"/>
              <a:gd name="f139" fmla="+- f112 0 f39"/>
              <a:gd name="f140" fmla="*/ f126 f126 1"/>
              <a:gd name="f141" fmla="*/ f127 f127 1"/>
              <a:gd name="f142" fmla="+- 0 0 f128"/>
              <a:gd name="f143" fmla="+- 0 0 f129"/>
              <a:gd name="f144" fmla="+- 0 0 f130"/>
              <a:gd name="f145" fmla="+- 0 0 f131"/>
              <a:gd name="f146" fmla="at2 f132 f133"/>
              <a:gd name="f147" fmla="at2 f134 f135"/>
              <a:gd name="f148" fmla="at2 f136 f137"/>
              <a:gd name="f149" fmla="at2 f138 f139"/>
              <a:gd name="f150" fmla="+- f140 f141 0"/>
              <a:gd name="f151" fmla="*/ 10800 f142 1"/>
              <a:gd name="f152" fmla="*/ 10800 f143 1"/>
              <a:gd name="f153" fmla="*/ f23 f144 1"/>
              <a:gd name="f154" fmla="*/ f23 f145 1"/>
              <a:gd name="f155" fmla="+- f146 f5 0"/>
              <a:gd name="f156" fmla="+- f147 f5 0"/>
              <a:gd name="f157" fmla="+- f148 f5 0"/>
              <a:gd name="f158" fmla="+- f149 f5 0"/>
              <a:gd name="f159" fmla="sqrt f150"/>
              <a:gd name="f160" fmla="*/ f151 f151 1"/>
              <a:gd name="f161" fmla="*/ f152 f152 1"/>
              <a:gd name="f162" fmla="*/ f153 f153 1"/>
              <a:gd name="f163" fmla="*/ f154 f154 1"/>
              <a:gd name="f164" fmla="*/ f155 f10 1"/>
              <a:gd name="f165" fmla="*/ f156 f10 1"/>
              <a:gd name="f166" fmla="*/ f157 f10 1"/>
              <a:gd name="f167" fmla="*/ f158 f10 1"/>
              <a:gd name="f168" fmla="*/ f21 f159 1"/>
              <a:gd name="f169" fmla="+- f160 f161 0"/>
              <a:gd name="f170" fmla="+- f162 f163 0"/>
              <a:gd name="f171" fmla="*/ f164 1 f4"/>
              <a:gd name="f172" fmla="*/ f165 1 f4"/>
              <a:gd name="f173" fmla="*/ f166 1 f4"/>
              <a:gd name="f174" fmla="*/ f167 1 f4"/>
              <a:gd name="f175" fmla="*/ f168 f122 1"/>
              <a:gd name="f176" fmla="*/ f168 f123 1"/>
              <a:gd name="f177" fmla="sqrt f169"/>
              <a:gd name="f178" fmla="sqrt f170"/>
              <a:gd name="f179" fmla="+- 0 0 f171"/>
              <a:gd name="f180" fmla="+- 0 0 f172"/>
              <a:gd name="f181" fmla="+- 0 0 f173"/>
              <a:gd name="f182" fmla="+- 0 0 f174"/>
              <a:gd name="f183" fmla="+- f120 f175 0"/>
              <a:gd name="f184" fmla="+- f121 f176 0"/>
              <a:gd name="f185" fmla="*/ f12 1 f177"/>
              <a:gd name="f186" fmla="*/ f30 1 f178"/>
              <a:gd name="f187" fmla="+- 0 0 f179"/>
              <a:gd name="f188" fmla="+- 0 0 f180"/>
              <a:gd name="f189" fmla="+- 0 0 f181"/>
              <a:gd name="f190" fmla="+- 0 0 f182"/>
              <a:gd name="f191" fmla="*/ f142 f185 1"/>
              <a:gd name="f192" fmla="*/ f143 f185 1"/>
              <a:gd name="f193" fmla="*/ f144 f186 1"/>
              <a:gd name="f194" fmla="*/ f145 f186 1"/>
              <a:gd name="f195" fmla="*/ f187 f4 1"/>
              <a:gd name="f196" fmla="*/ f188 f4 1"/>
              <a:gd name="f197" fmla="*/ f189 f4 1"/>
              <a:gd name="f198" fmla="*/ f190 f4 1"/>
              <a:gd name="f199" fmla="+- 10800 0 f191"/>
              <a:gd name="f200" fmla="+- 10800 0 f192"/>
              <a:gd name="f201" fmla="+- 10800 0 f193"/>
              <a:gd name="f202" fmla="+- 10800 0 f194"/>
              <a:gd name="f203" fmla="*/ f195 1 f10"/>
              <a:gd name="f204" fmla="*/ f196 1 f10"/>
              <a:gd name="f205" fmla="*/ f197 1 f10"/>
              <a:gd name="f206" fmla="*/ f198 1 f10"/>
              <a:gd name="f207" fmla="*/ f199 f18 1"/>
              <a:gd name="f208" fmla="*/ f200 f19 1"/>
              <a:gd name="f209" fmla="*/ f201 f18 1"/>
              <a:gd name="f210" fmla="*/ f202 f19 1"/>
              <a:gd name="f211" fmla="+- f203 0 f5"/>
              <a:gd name="f212" fmla="+- f204 0 f5"/>
              <a:gd name="f213" fmla="+- f205 0 f5"/>
              <a:gd name="f214" fmla="+- f206 0 f5"/>
              <a:gd name="f215" fmla="cos 1 f211"/>
              <a:gd name="f216" fmla="sin 1 f211"/>
              <a:gd name="f217" fmla="+- f212 0 f211"/>
              <a:gd name="f218" fmla="cos 1 f213"/>
              <a:gd name="f219" fmla="sin 1 f213"/>
              <a:gd name="f220" fmla="+- f214 0 f213"/>
              <a:gd name="f221" fmla="+- 0 0 f215"/>
              <a:gd name="f222" fmla="+- 0 0 f216"/>
              <a:gd name="f223" fmla="+- f217 0 f3"/>
              <a:gd name="f224" fmla="+- 0 0 f218"/>
              <a:gd name="f225" fmla="+- 0 0 f219"/>
              <a:gd name="f226" fmla="+- f220 f3 0"/>
              <a:gd name="f227" fmla="*/ f50 f221 1"/>
              <a:gd name="f228" fmla="*/ f50 f222 1"/>
              <a:gd name="f229" fmla="?: f217 f223 f217"/>
              <a:gd name="f230" fmla="*/ f35 f224 1"/>
              <a:gd name="f231" fmla="*/ f35 f225 1"/>
              <a:gd name="f232" fmla="?: f220 f220 f226"/>
              <a:gd name="f233" fmla="*/ f227 f227 1"/>
              <a:gd name="f234" fmla="*/ f228 f228 1"/>
              <a:gd name="f235" fmla="*/ f230 f230 1"/>
              <a:gd name="f236" fmla="*/ f231 f231 1"/>
              <a:gd name="f237" fmla="+- f233 f234 0"/>
              <a:gd name="f238" fmla="+- f235 f236 0"/>
              <a:gd name="f239" fmla="sqrt f237"/>
              <a:gd name="f240" fmla="sqrt f238"/>
              <a:gd name="f241" fmla="*/ f54 1 f239"/>
              <a:gd name="f242" fmla="*/ f40 1 f240"/>
              <a:gd name="f243" fmla="*/ f221 f241 1"/>
              <a:gd name="f244" fmla="*/ f222 f241 1"/>
              <a:gd name="f245" fmla="*/ f224 f242 1"/>
              <a:gd name="f246" fmla="*/ f225 f242 1"/>
              <a:gd name="f247" fmla="+- f53 0 f243"/>
              <a:gd name="f248" fmla="+- f53 0 f244"/>
              <a:gd name="f249" fmla="+- f39 0 f245"/>
              <a:gd name="f250" fmla="+- f39 0 f246"/>
            </a:gdLst>
            <a:ahLst>
              <a:ahPolar gdRefAng="f0" minAng="f9" maxAng="f14">
                <a:pos x="f207" y="f208"/>
              </a:ahPolar>
              <a:ahPolar gdRefR="f2" minR="f9" maxR="f13" gdRefAng="f1" minAng="f9" maxAng="f14">
                <a:pos x="f209" y="f210"/>
              </a:ahPolar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31" t="f34" r="f32" b="f33"/>
            <a:pathLst>
              <a:path w="21600" h="21600">
                <a:moveTo>
                  <a:pt x="f247" y="f248"/>
                </a:moveTo>
                <a:arcTo wR="f50" hR="f50" stAng="f211" swAng="f229"/>
                <a:lnTo>
                  <a:pt x="f249" y="f250"/>
                </a:lnTo>
                <a:arcTo wR="f35" hR="f35" stAng="f213" swAng="f232"/>
                <a:lnTo>
                  <a:pt x="f119" y="f118"/>
                </a:lnTo>
                <a:lnTo>
                  <a:pt x="f184" y="f183"/>
                </a:lnTo>
                <a:lnTo>
                  <a:pt x="f121" y="f120"/>
                </a:lnTo>
                <a:close/>
              </a:path>
            </a:pathLst>
          </a:custGeom>
          <a:solidFill>
            <a:srgbClr val="729FCF"/>
          </a:solidFill>
          <a:ln w="0">
            <a:solidFill>
              <a:srgbClr val="3465A4"/>
            </a:solidFill>
            <a:prstDash val="solid"/>
          </a:ln>
        </p:spPr>
        <p:txBody>
          <a:bodyPr vert="horz" wrap="square" lIns="108847" tIns="54423" rIns="108847" bIns="54423" anchor="ctr" anchorCtr="0" compatLnSpc="0">
            <a:noAutofit/>
          </a:bodyPr>
          <a:lstStyle/>
          <a:p>
            <a:pPr hangingPunct="0"/>
            <a:endParaRPr lang="en-US" sz="2177">
              <a:latin typeface="Liberation Sans" pitchFamily="18"/>
              <a:ea typeface="Microsoft YaHei" pitchFamily="2"/>
              <a:cs typeface="Lucida Sans" pitchFamily="2"/>
            </a:endParaRPr>
          </a:p>
        </p:txBody>
      </p:sp>
      <p:sp>
        <p:nvSpPr>
          <p:cNvPr id="27" name="Forme libre : forme 26">
            <a:extLst>
              <a:ext uri="{FF2B5EF4-FFF2-40B4-BE49-F238E27FC236}">
                <a16:creationId xmlns:a16="http://schemas.microsoft.com/office/drawing/2014/main" id="{2680DAD2-C02B-4EC1-AE60-CAB8B923B225}"/>
              </a:ext>
            </a:extLst>
          </p:cNvPr>
          <p:cNvSpPr/>
          <p:nvPr/>
        </p:nvSpPr>
        <p:spPr>
          <a:xfrm rot="9973800">
            <a:off x="4337979" y="3190446"/>
            <a:ext cx="834634" cy="491551"/>
          </a:xfrm>
          <a:custGeom>
            <a:avLst>
              <a:gd name="f0" fmla="val 16320000"/>
              <a:gd name="f1" fmla="val 5400000"/>
              <a:gd name="f2" fmla="val 5500"/>
            </a:avLst>
            <a:gdLst>
              <a:gd name="f3" fmla="val 21600000"/>
              <a:gd name="f4" fmla="val 10800000"/>
              <a:gd name="f5" fmla="val 5400000"/>
              <a:gd name="f6" fmla="val 180"/>
              <a:gd name="f7" fmla="val w"/>
              <a:gd name="f8" fmla="val h"/>
              <a:gd name="f9" fmla="val 0"/>
              <a:gd name="f10" fmla="*/ 5419351 1 1725033"/>
              <a:gd name="f11" fmla="sqrt 2"/>
              <a:gd name="f12" fmla="*/ 10800 10800 1"/>
              <a:gd name="f13" fmla="val 10800"/>
              <a:gd name="f14" fmla="val 21599999"/>
              <a:gd name="f15" fmla="min 0 21600"/>
              <a:gd name="f16" fmla="max 0 21600"/>
              <a:gd name="f17" fmla="*/ f10 1 2"/>
              <a:gd name="f18" fmla="*/ f7 1 21600"/>
              <a:gd name="f19" fmla="*/ f8 1 21600"/>
              <a:gd name="f20" fmla="*/ f10 1 180"/>
              <a:gd name="f21" fmla="*/ f11 1 2"/>
              <a:gd name="f22" fmla="pin 0 f0 21599999"/>
              <a:gd name="f23" fmla="pin 0 f2 10800"/>
              <a:gd name="f24" fmla="pin 0 f1 21599999"/>
              <a:gd name="f25" fmla="+- f16 0 f15"/>
              <a:gd name="f26" fmla="+- 10800 f23 0"/>
              <a:gd name="f27" fmla="+- f23 0 2700"/>
              <a:gd name="f28" fmla="+- 0 0 f22"/>
              <a:gd name="f29" fmla="+- 0 0 f24"/>
              <a:gd name="f30" fmla="*/ f23 f23 1"/>
              <a:gd name="f31" fmla="*/ 0 f18 1"/>
              <a:gd name="f32" fmla="*/ 21600 f18 1"/>
              <a:gd name="f33" fmla="*/ 21600 f19 1"/>
              <a:gd name="f34" fmla="*/ 0 f19 1"/>
              <a:gd name="f35" fmla="*/ f25 1 2"/>
              <a:gd name="f36" fmla="+- 21600 0 f26"/>
              <a:gd name="f37" fmla="+- f28 f5 0"/>
              <a:gd name="f38" fmla="+- f29 f5 0"/>
              <a:gd name="f39" fmla="+- f15 f35 0"/>
              <a:gd name="f40" fmla="*/ f35 f35 1"/>
              <a:gd name="f41" fmla="*/ f37 f6 1"/>
              <a:gd name="f42" fmla="*/ f38 f6 1"/>
              <a:gd name="f43" fmla="min f26 f36"/>
              <a:gd name="f44" fmla="max f26 f36"/>
              <a:gd name="f45" fmla="*/ f41 1 f4"/>
              <a:gd name="f46" fmla="*/ f42 1 f4"/>
              <a:gd name="f47" fmla="+- f44 0 f43"/>
              <a:gd name="f48" fmla="+- 0 0 f45"/>
              <a:gd name="f49" fmla="+- 0 0 f46"/>
              <a:gd name="f50" fmla="*/ f47 1 2"/>
              <a:gd name="f51" fmla="val f48"/>
              <a:gd name="f52" fmla="val f49"/>
              <a:gd name="f53" fmla="+- f43 f50 0"/>
              <a:gd name="f54" fmla="*/ f50 f50 1"/>
              <a:gd name="f55" fmla="*/ f51 f20 1"/>
              <a:gd name="f56" fmla="*/ f52 f20 1"/>
              <a:gd name="f57" fmla="+- f52 45 0"/>
              <a:gd name="f58" fmla="*/ f51 f10 1"/>
              <a:gd name="f59" fmla="*/ f52 f10 1"/>
              <a:gd name="f60" fmla="+- 0 0 f55"/>
              <a:gd name="f61" fmla="+- 0 0 f56"/>
              <a:gd name="f62" fmla="*/ f57 f10 1"/>
              <a:gd name="f63" fmla="*/ f58 1 f6"/>
              <a:gd name="f64" fmla="*/ f59 1 f6"/>
              <a:gd name="f65" fmla="*/ f60 f4 1"/>
              <a:gd name="f66" fmla="*/ f61 f4 1"/>
              <a:gd name="f67" fmla="*/ f62 1 180"/>
              <a:gd name="f68" fmla="+- 0 0 f63"/>
              <a:gd name="f69" fmla="+- 0 0 f64"/>
              <a:gd name="f70" fmla="*/ f65 1 f10"/>
              <a:gd name="f71" fmla="*/ f66 1 f10"/>
              <a:gd name="f72" fmla="+- 0 0 f67"/>
              <a:gd name="f73" fmla="+- f68 f10 0"/>
              <a:gd name="f74" fmla="+- f69 f10 0"/>
              <a:gd name="f75" fmla="+- f70 0 f5"/>
              <a:gd name="f76" fmla="+- f71 0 f5"/>
              <a:gd name="f77" fmla="*/ f72 f4 1"/>
              <a:gd name="f78" fmla="+- f73 f17 0"/>
              <a:gd name="f79" fmla="+- f74 f17 0"/>
              <a:gd name="f80" fmla="cos 1 f75"/>
              <a:gd name="f81" fmla="sin 1 f75"/>
              <a:gd name="f82" fmla="cos 1 f76"/>
              <a:gd name="f83" fmla="sin 1 f76"/>
              <a:gd name="f84" fmla="*/ f77 1 f10"/>
              <a:gd name="f85" fmla="+- 0 0 f78"/>
              <a:gd name="f86" fmla="+- 0 0 f79"/>
              <a:gd name="f87" fmla="+- 0 0 f80"/>
              <a:gd name="f88" fmla="+- 0 0 f81"/>
              <a:gd name="f89" fmla="+- 0 0 f82"/>
              <a:gd name="f90" fmla="+- 0 0 f83"/>
              <a:gd name="f91" fmla="+- f84 0 f5"/>
              <a:gd name="f92" fmla="*/ f85 f4 1"/>
              <a:gd name="f93" fmla="*/ f86 f4 1"/>
              <a:gd name="f94" fmla="*/ 10800 f87 1"/>
              <a:gd name="f95" fmla="*/ 10800 f88 1"/>
              <a:gd name="f96" fmla="*/ 10800 f89 1"/>
              <a:gd name="f97" fmla="*/ 10800 f90 1"/>
              <a:gd name="f98" fmla="*/ f26 f87 1"/>
              <a:gd name="f99" fmla="*/ f26 f88 1"/>
              <a:gd name="f100" fmla="*/ f26 f89 1"/>
              <a:gd name="f101" fmla="*/ f26 f90 1"/>
              <a:gd name="f102" fmla="*/ 13500 f89 1"/>
              <a:gd name="f103" fmla="*/ 13500 f90 1"/>
              <a:gd name="f104" fmla="*/ f27 f89 1"/>
              <a:gd name="f105" fmla="*/ f27 f90 1"/>
              <a:gd name="f106" fmla="cos 1 f91"/>
              <a:gd name="f107" fmla="sin 1 f91"/>
              <a:gd name="f108" fmla="*/ f92 1 f10"/>
              <a:gd name="f109" fmla="*/ f93 1 f10"/>
              <a:gd name="f110" fmla="+- f94 10800 0"/>
              <a:gd name="f111" fmla="+- f95 10800 0"/>
              <a:gd name="f112" fmla="+- f96 10800 0"/>
              <a:gd name="f113" fmla="+- f97 10800 0"/>
              <a:gd name="f114" fmla="+- f98 10800 0"/>
              <a:gd name="f115" fmla="+- f99 10800 0"/>
              <a:gd name="f116" fmla="+- f100 10800 0"/>
              <a:gd name="f117" fmla="+- f101 10800 0"/>
              <a:gd name="f118" fmla="+- f102 10800 0"/>
              <a:gd name="f119" fmla="+- f103 10800 0"/>
              <a:gd name="f120" fmla="+- f104 10800 0"/>
              <a:gd name="f121" fmla="+- f105 10800 0"/>
              <a:gd name="f122" fmla="+- 0 0 f106"/>
              <a:gd name="f123" fmla="+- 0 0 f107"/>
              <a:gd name="f124" fmla="+- f108 0 f5"/>
              <a:gd name="f125" fmla="+- f109 0 f5"/>
              <a:gd name="f126" fmla="+- f121 0 f119"/>
              <a:gd name="f127" fmla="+- f120 0 f118"/>
              <a:gd name="f128" fmla="cos 1 f124"/>
              <a:gd name="f129" fmla="sin 1 f124"/>
              <a:gd name="f130" fmla="cos 1 f125"/>
              <a:gd name="f131" fmla="sin 1 f125"/>
              <a:gd name="f132" fmla="+- f117 0 f53"/>
              <a:gd name="f133" fmla="+- f116 0 f53"/>
              <a:gd name="f134" fmla="+- f115 0 f53"/>
              <a:gd name="f135" fmla="+- f114 0 f53"/>
              <a:gd name="f136" fmla="+- f111 0 f39"/>
              <a:gd name="f137" fmla="+- f110 0 f39"/>
              <a:gd name="f138" fmla="+- f113 0 f39"/>
              <a:gd name="f139" fmla="+- f112 0 f39"/>
              <a:gd name="f140" fmla="*/ f126 f126 1"/>
              <a:gd name="f141" fmla="*/ f127 f127 1"/>
              <a:gd name="f142" fmla="+- 0 0 f128"/>
              <a:gd name="f143" fmla="+- 0 0 f129"/>
              <a:gd name="f144" fmla="+- 0 0 f130"/>
              <a:gd name="f145" fmla="+- 0 0 f131"/>
              <a:gd name="f146" fmla="at2 f132 f133"/>
              <a:gd name="f147" fmla="at2 f134 f135"/>
              <a:gd name="f148" fmla="at2 f136 f137"/>
              <a:gd name="f149" fmla="at2 f138 f139"/>
              <a:gd name="f150" fmla="+- f140 f141 0"/>
              <a:gd name="f151" fmla="*/ 10800 f142 1"/>
              <a:gd name="f152" fmla="*/ 10800 f143 1"/>
              <a:gd name="f153" fmla="*/ f23 f144 1"/>
              <a:gd name="f154" fmla="*/ f23 f145 1"/>
              <a:gd name="f155" fmla="+- f146 f5 0"/>
              <a:gd name="f156" fmla="+- f147 f5 0"/>
              <a:gd name="f157" fmla="+- f148 f5 0"/>
              <a:gd name="f158" fmla="+- f149 f5 0"/>
              <a:gd name="f159" fmla="sqrt f150"/>
              <a:gd name="f160" fmla="*/ f151 f151 1"/>
              <a:gd name="f161" fmla="*/ f152 f152 1"/>
              <a:gd name="f162" fmla="*/ f153 f153 1"/>
              <a:gd name="f163" fmla="*/ f154 f154 1"/>
              <a:gd name="f164" fmla="*/ f155 f10 1"/>
              <a:gd name="f165" fmla="*/ f156 f10 1"/>
              <a:gd name="f166" fmla="*/ f157 f10 1"/>
              <a:gd name="f167" fmla="*/ f158 f10 1"/>
              <a:gd name="f168" fmla="*/ f21 f159 1"/>
              <a:gd name="f169" fmla="+- f160 f161 0"/>
              <a:gd name="f170" fmla="+- f162 f163 0"/>
              <a:gd name="f171" fmla="*/ f164 1 f4"/>
              <a:gd name="f172" fmla="*/ f165 1 f4"/>
              <a:gd name="f173" fmla="*/ f166 1 f4"/>
              <a:gd name="f174" fmla="*/ f167 1 f4"/>
              <a:gd name="f175" fmla="*/ f168 f122 1"/>
              <a:gd name="f176" fmla="*/ f168 f123 1"/>
              <a:gd name="f177" fmla="sqrt f169"/>
              <a:gd name="f178" fmla="sqrt f170"/>
              <a:gd name="f179" fmla="+- 0 0 f171"/>
              <a:gd name="f180" fmla="+- 0 0 f172"/>
              <a:gd name="f181" fmla="+- 0 0 f173"/>
              <a:gd name="f182" fmla="+- 0 0 f174"/>
              <a:gd name="f183" fmla="+- f120 f175 0"/>
              <a:gd name="f184" fmla="+- f121 f176 0"/>
              <a:gd name="f185" fmla="*/ f12 1 f177"/>
              <a:gd name="f186" fmla="*/ f30 1 f178"/>
              <a:gd name="f187" fmla="+- 0 0 f179"/>
              <a:gd name="f188" fmla="+- 0 0 f180"/>
              <a:gd name="f189" fmla="+- 0 0 f181"/>
              <a:gd name="f190" fmla="+- 0 0 f182"/>
              <a:gd name="f191" fmla="*/ f142 f185 1"/>
              <a:gd name="f192" fmla="*/ f143 f185 1"/>
              <a:gd name="f193" fmla="*/ f144 f186 1"/>
              <a:gd name="f194" fmla="*/ f145 f186 1"/>
              <a:gd name="f195" fmla="*/ f187 f4 1"/>
              <a:gd name="f196" fmla="*/ f188 f4 1"/>
              <a:gd name="f197" fmla="*/ f189 f4 1"/>
              <a:gd name="f198" fmla="*/ f190 f4 1"/>
              <a:gd name="f199" fmla="+- 10800 0 f191"/>
              <a:gd name="f200" fmla="+- 10800 0 f192"/>
              <a:gd name="f201" fmla="+- 10800 0 f193"/>
              <a:gd name="f202" fmla="+- 10800 0 f194"/>
              <a:gd name="f203" fmla="*/ f195 1 f10"/>
              <a:gd name="f204" fmla="*/ f196 1 f10"/>
              <a:gd name="f205" fmla="*/ f197 1 f10"/>
              <a:gd name="f206" fmla="*/ f198 1 f10"/>
              <a:gd name="f207" fmla="*/ f199 f18 1"/>
              <a:gd name="f208" fmla="*/ f200 f19 1"/>
              <a:gd name="f209" fmla="*/ f201 f18 1"/>
              <a:gd name="f210" fmla="*/ f202 f19 1"/>
              <a:gd name="f211" fmla="+- f203 0 f5"/>
              <a:gd name="f212" fmla="+- f204 0 f5"/>
              <a:gd name="f213" fmla="+- f205 0 f5"/>
              <a:gd name="f214" fmla="+- f206 0 f5"/>
              <a:gd name="f215" fmla="cos 1 f211"/>
              <a:gd name="f216" fmla="sin 1 f211"/>
              <a:gd name="f217" fmla="+- f212 0 f211"/>
              <a:gd name="f218" fmla="cos 1 f213"/>
              <a:gd name="f219" fmla="sin 1 f213"/>
              <a:gd name="f220" fmla="+- f214 0 f213"/>
              <a:gd name="f221" fmla="+- 0 0 f215"/>
              <a:gd name="f222" fmla="+- 0 0 f216"/>
              <a:gd name="f223" fmla="+- f217 0 f3"/>
              <a:gd name="f224" fmla="+- 0 0 f218"/>
              <a:gd name="f225" fmla="+- 0 0 f219"/>
              <a:gd name="f226" fmla="+- f220 f3 0"/>
              <a:gd name="f227" fmla="*/ f50 f221 1"/>
              <a:gd name="f228" fmla="*/ f50 f222 1"/>
              <a:gd name="f229" fmla="?: f217 f223 f217"/>
              <a:gd name="f230" fmla="*/ f35 f224 1"/>
              <a:gd name="f231" fmla="*/ f35 f225 1"/>
              <a:gd name="f232" fmla="?: f220 f220 f226"/>
              <a:gd name="f233" fmla="*/ f227 f227 1"/>
              <a:gd name="f234" fmla="*/ f228 f228 1"/>
              <a:gd name="f235" fmla="*/ f230 f230 1"/>
              <a:gd name="f236" fmla="*/ f231 f231 1"/>
              <a:gd name="f237" fmla="+- f233 f234 0"/>
              <a:gd name="f238" fmla="+- f235 f236 0"/>
              <a:gd name="f239" fmla="sqrt f237"/>
              <a:gd name="f240" fmla="sqrt f238"/>
              <a:gd name="f241" fmla="*/ f54 1 f239"/>
              <a:gd name="f242" fmla="*/ f40 1 f240"/>
              <a:gd name="f243" fmla="*/ f221 f241 1"/>
              <a:gd name="f244" fmla="*/ f222 f241 1"/>
              <a:gd name="f245" fmla="*/ f224 f242 1"/>
              <a:gd name="f246" fmla="*/ f225 f242 1"/>
              <a:gd name="f247" fmla="+- f53 0 f243"/>
              <a:gd name="f248" fmla="+- f53 0 f244"/>
              <a:gd name="f249" fmla="+- f39 0 f245"/>
              <a:gd name="f250" fmla="+- f39 0 f246"/>
            </a:gdLst>
            <a:ahLst>
              <a:ahPolar gdRefAng="f0" minAng="f9" maxAng="f14">
                <a:pos x="f207" y="f208"/>
              </a:ahPolar>
              <a:ahPolar gdRefR="f2" minR="f9" maxR="f13" gdRefAng="f1" minAng="f9" maxAng="f14">
                <a:pos x="f209" y="f210"/>
              </a:ahPolar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31" t="f34" r="f32" b="f33"/>
            <a:pathLst>
              <a:path w="21600" h="21600">
                <a:moveTo>
                  <a:pt x="f247" y="f248"/>
                </a:moveTo>
                <a:arcTo wR="f50" hR="f50" stAng="f211" swAng="f229"/>
                <a:lnTo>
                  <a:pt x="f249" y="f250"/>
                </a:lnTo>
                <a:arcTo wR="f35" hR="f35" stAng="f213" swAng="f232"/>
                <a:lnTo>
                  <a:pt x="f119" y="f118"/>
                </a:lnTo>
                <a:lnTo>
                  <a:pt x="f184" y="f183"/>
                </a:lnTo>
                <a:lnTo>
                  <a:pt x="f121" y="f120"/>
                </a:lnTo>
                <a:close/>
              </a:path>
            </a:pathLst>
          </a:custGeom>
          <a:solidFill>
            <a:srgbClr val="729FCF"/>
          </a:solidFill>
          <a:ln w="0">
            <a:solidFill>
              <a:srgbClr val="3465A4"/>
            </a:solidFill>
            <a:prstDash val="solid"/>
          </a:ln>
        </p:spPr>
        <p:txBody>
          <a:bodyPr vert="horz" wrap="square" lIns="108847" tIns="54423" rIns="108847" bIns="54423" anchor="ctr" anchorCtr="0" compatLnSpc="0">
            <a:noAutofit/>
          </a:bodyPr>
          <a:lstStyle/>
          <a:p>
            <a:pPr hangingPunct="0"/>
            <a:endParaRPr lang="en-US" sz="2177">
              <a:latin typeface="Liberation Sans" pitchFamily="18"/>
              <a:ea typeface="Microsoft YaHei" pitchFamily="2"/>
              <a:cs typeface="Lucida Sans" pitchFamily="2"/>
            </a:endParaRPr>
          </a:p>
        </p:txBody>
      </p:sp>
      <p:sp>
        <p:nvSpPr>
          <p:cNvPr id="28" name="ZoneTexte 27">
            <a:extLst>
              <a:ext uri="{FF2B5EF4-FFF2-40B4-BE49-F238E27FC236}">
                <a16:creationId xmlns:a16="http://schemas.microsoft.com/office/drawing/2014/main" id="{45D7AEC5-1296-4604-BAFA-00E7558BB97C}"/>
              </a:ext>
            </a:extLst>
          </p:cNvPr>
          <p:cNvSpPr txBox="1"/>
          <p:nvPr/>
        </p:nvSpPr>
        <p:spPr>
          <a:xfrm>
            <a:off x="3648245" y="3738865"/>
            <a:ext cx="1814422" cy="752008"/>
          </a:xfrm>
          <a:prstGeom prst="rect">
            <a:avLst/>
          </a:prstGeom>
          <a:noFill/>
          <a:ln>
            <a:noFill/>
          </a:ln>
        </p:spPr>
        <p:txBody>
          <a:bodyPr vert="horz" wrap="square" lIns="108847" tIns="54423" rIns="108847" bIns="54423" anchorCtr="0" compatLnSpc="0">
            <a:spAutoFit/>
          </a:bodyPr>
          <a:lstStyle/>
          <a:p>
            <a:pPr hangingPunct="0"/>
            <a:r>
              <a:rPr lang="en-US" sz="2177" b="1" dirty="0">
                <a:latin typeface="Liberation Sans" pitchFamily="18"/>
                <a:ea typeface="Microsoft YaHei" pitchFamily="2"/>
                <a:cs typeface="Lucida Sans" pitchFamily="2"/>
              </a:rPr>
              <a:t>(2)</a:t>
            </a:r>
            <a:r>
              <a:rPr lang="en-US" sz="2177" dirty="0">
                <a:latin typeface="Liberation Sans" pitchFamily="18"/>
                <a:ea typeface="Microsoft YaHei" pitchFamily="2"/>
                <a:cs typeface="Lucida Sans" pitchFamily="2"/>
              </a:rPr>
              <a:t> request</a:t>
            </a:r>
          </a:p>
          <a:p>
            <a:pPr hangingPunct="0"/>
            <a:r>
              <a:rPr lang="en-US" sz="2177" dirty="0">
                <a:latin typeface="Liberation Sans" pitchFamily="18"/>
                <a:ea typeface="Microsoft YaHei" pitchFamily="2"/>
                <a:cs typeface="Lucida Sans" pitchFamily="2"/>
              </a:rPr>
              <a:t>resources</a:t>
            </a:r>
          </a:p>
        </p:txBody>
      </p:sp>
      <p:sp>
        <p:nvSpPr>
          <p:cNvPr id="29" name="Forme libre : forme 28">
            <a:extLst>
              <a:ext uri="{FF2B5EF4-FFF2-40B4-BE49-F238E27FC236}">
                <a16:creationId xmlns:a16="http://schemas.microsoft.com/office/drawing/2014/main" id="{9839DDC8-609F-4E2A-AF81-C5E90350DB1D}"/>
              </a:ext>
            </a:extLst>
          </p:cNvPr>
          <p:cNvSpPr/>
          <p:nvPr/>
        </p:nvSpPr>
        <p:spPr>
          <a:xfrm rot="17683063">
            <a:off x="134160" y="4264429"/>
            <a:ext cx="1260113" cy="732450"/>
          </a:xfrm>
          <a:custGeom>
            <a:avLst>
              <a:gd name="f0" fmla="val 16320000"/>
              <a:gd name="f1" fmla="val 5400000"/>
              <a:gd name="f2" fmla="val 5500"/>
            </a:avLst>
            <a:gdLst>
              <a:gd name="f3" fmla="val 21600000"/>
              <a:gd name="f4" fmla="val 10800000"/>
              <a:gd name="f5" fmla="val 5400000"/>
              <a:gd name="f6" fmla="val 180"/>
              <a:gd name="f7" fmla="val w"/>
              <a:gd name="f8" fmla="val h"/>
              <a:gd name="f9" fmla="val 0"/>
              <a:gd name="f10" fmla="*/ 5419351 1 1725033"/>
              <a:gd name="f11" fmla="sqrt 2"/>
              <a:gd name="f12" fmla="*/ 10800 10800 1"/>
              <a:gd name="f13" fmla="val 10800"/>
              <a:gd name="f14" fmla="val 21599999"/>
              <a:gd name="f15" fmla="min 0 21600"/>
              <a:gd name="f16" fmla="max 0 21600"/>
              <a:gd name="f17" fmla="*/ f10 1 2"/>
              <a:gd name="f18" fmla="*/ f7 1 21600"/>
              <a:gd name="f19" fmla="*/ f8 1 21600"/>
              <a:gd name="f20" fmla="*/ f10 1 180"/>
              <a:gd name="f21" fmla="*/ f11 1 2"/>
              <a:gd name="f22" fmla="pin 0 f0 21599999"/>
              <a:gd name="f23" fmla="pin 0 f2 10800"/>
              <a:gd name="f24" fmla="pin 0 f1 21599999"/>
              <a:gd name="f25" fmla="+- f16 0 f15"/>
              <a:gd name="f26" fmla="+- 10800 f23 0"/>
              <a:gd name="f27" fmla="+- f23 0 2700"/>
              <a:gd name="f28" fmla="+- 0 0 f22"/>
              <a:gd name="f29" fmla="+- 0 0 f24"/>
              <a:gd name="f30" fmla="*/ f23 f23 1"/>
              <a:gd name="f31" fmla="*/ 0 f18 1"/>
              <a:gd name="f32" fmla="*/ 21600 f18 1"/>
              <a:gd name="f33" fmla="*/ 21600 f19 1"/>
              <a:gd name="f34" fmla="*/ 0 f19 1"/>
              <a:gd name="f35" fmla="*/ f25 1 2"/>
              <a:gd name="f36" fmla="+- 21600 0 f26"/>
              <a:gd name="f37" fmla="+- f28 f5 0"/>
              <a:gd name="f38" fmla="+- f29 f5 0"/>
              <a:gd name="f39" fmla="+- f15 f35 0"/>
              <a:gd name="f40" fmla="*/ f35 f35 1"/>
              <a:gd name="f41" fmla="*/ f37 f6 1"/>
              <a:gd name="f42" fmla="*/ f38 f6 1"/>
              <a:gd name="f43" fmla="min f26 f36"/>
              <a:gd name="f44" fmla="max f26 f36"/>
              <a:gd name="f45" fmla="*/ f41 1 f4"/>
              <a:gd name="f46" fmla="*/ f42 1 f4"/>
              <a:gd name="f47" fmla="+- f44 0 f43"/>
              <a:gd name="f48" fmla="+- 0 0 f45"/>
              <a:gd name="f49" fmla="+- 0 0 f46"/>
              <a:gd name="f50" fmla="*/ f47 1 2"/>
              <a:gd name="f51" fmla="val f48"/>
              <a:gd name="f52" fmla="val f49"/>
              <a:gd name="f53" fmla="+- f43 f50 0"/>
              <a:gd name="f54" fmla="*/ f50 f50 1"/>
              <a:gd name="f55" fmla="*/ f51 f20 1"/>
              <a:gd name="f56" fmla="*/ f52 f20 1"/>
              <a:gd name="f57" fmla="+- f52 45 0"/>
              <a:gd name="f58" fmla="*/ f51 f10 1"/>
              <a:gd name="f59" fmla="*/ f52 f10 1"/>
              <a:gd name="f60" fmla="+- 0 0 f55"/>
              <a:gd name="f61" fmla="+- 0 0 f56"/>
              <a:gd name="f62" fmla="*/ f57 f10 1"/>
              <a:gd name="f63" fmla="*/ f58 1 f6"/>
              <a:gd name="f64" fmla="*/ f59 1 f6"/>
              <a:gd name="f65" fmla="*/ f60 f4 1"/>
              <a:gd name="f66" fmla="*/ f61 f4 1"/>
              <a:gd name="f67" fmla="*/ f62 1 180"/>
              <a:gd name="f68" fmla="+- 0 0 f63"/>
              <a:gd name="f69" fmla="+- 0 0 f64"/>
              <a:gd name="f70" fmla="*/ f65 1 f10"/>
              <a:gd name="f71" fmla="*/ f66 1 f10"/>
              <a:gd name="f72" fmla="+- 0 0 f67"/>
              <a:gd name="f73" fmla="+- f68 f10 0"/>
              <a:gd name="f74" fmla="+- f69 f10 0"/>
              <a:gd name="f75" fmla="+- f70 0 f5"/>
              <a:gd name="f76" fmla="+- f71 0 f5"/>
              <a:gd name="f77" fmla="*/ f72 f4 1"/>
              <a:gd name="f78" fmla="+- f73 f17 0"/>
              <a:gd name="f79" fmla="+- f74 f17 0"/>
              <a:gd name="f80" fmla="cos 1 f75"/>
              <a:gd name="f81" fmla="sin 1 f75"/>
              <a:gd name="f82" fmla="cos 1 f76"/>
              <a:gd name="f83" fmla="sin 1 f76"/>
              <a:gd name="f84" fmla="*/ f77 1 f10"/>
              <a:gd name="f85" fmla="+- 0 0 f78"/>
              <a:gd name="f86" fmla="+- 0 0 f79"/>
              <a:gd name="f87" fmla="+- 0 0 f80"/>
              <a:gd name="f88" fmla="+- 0 0 f81"/>
              <a:gd name="f89" fmla="+- 0 0 f82"/>
              <a:gd name="f90" fmla="+- 0 0 f83"/>
              <a:gd name="f91" fmla="+- f84 0 f5"/>
              <a:gd name="f92" fmla="*/ f85 f4 1"/>
              <a:gd name="f93" fmla="*/ f86 f4 1"/>
              <a:gd name="f94" fmla="*/ 10800 f87 1"/>
              <a:gd name="f95" fmla="*/ 10800 f88 1"/>
              <a:gd name="f96" fmla="*/ 10800 f89 1"/>
              <a:gd name="f97" fmla="*/ 10800 f90 1"/>
              <a:gd name="f98" fmla="*/ f26 f87 1"/>
              <a:gd name="f99" fmla="*/ f26 f88 1"/>
              <a:gd name="f100" fmla="*/ f26 f89 1"/>
              <a:gd name="f101" fmla="*/ f26 f90 1"/>
              <a:gd name="f102" fmla="*/ 13500 f89 1"/>
              <a:gd name="f103" fmla="*/ 13500 f90 1"/>
              <a:gd name="f104" fmla="*/ f27 f89 1"/>
              <a:gd name="f105" fmla="*/ f27 f90 1"/>
              <a:gd name="f106" fmla="cos 1 f91"/>
              <a:gd name="f107" fmla="sin 1 f91"/>
              <a:gd name="f108" fmla="*/ f92 1 f10"/>
              <a:gd name="f109" fmla="*/ f93 1 f10"/>
              <a:gd name="f110" fmla="+- f94 10800 0"/>
              <a:gd name="f111" fmla="+- f95 10800 0"/>
              <a:gd name="f112" fmla="+- f96 10800 0"/>
              <a:gd name="f113" fmla="+- f97 10800 0"/>
              <a:gd name="f114" fmla="+- f98 10800 0"/>
              <a:gd name="f115" fmla="+- f99 10800 0"/>
              <a:gd name="f116" fmla="+- f100 10800 0"/>
              <a:gd name="f117" fmla="+- f101 10800 0"/>
              <a:gd name="f118" fmla="+- f102 10800 0"/>
              <a:gd name="f119" fmla="+- f103 10800 0"/>
              <a:gd name="f120" fmla="+- f104 10800 0"/>
              <a:gd name="f121" fmla="+- f105 10800 0"/>
              <a:gd name="f122" fmla="+- 0 0 f106"/>
              <a:gd name="f123" fmla="+- 0 0 f107"/>
              <a:gd name="f124" fmla="+- f108 0 f5"/>
              <a:gd name="f125" fmla="+- f109 0 f5"/>
              <a:gd name="f126" fmla="+- f121 0 f119"/>
              <a:gd name="f127" fmla="+- f120 0 f118"/>
              <a:gd name="f128" fmla="cos 1 f124"/>
              <a:gd name="f129" fmla="sin 1 f124"/>
              <a:gd name="f130" fmla="cos 1 f125"/>
              <a:gd name="f131" fmla="sin 1 f125"/>
              <a:gd name="f132" fmla="+- f117 0 f53"/>
              <a:gd name="f133" fmla="+- f116 0 f53"/>
              <a:gd name="f134" fmla="+- f115 0 f53"/>
              <a:gd name="f135" fmla="+- f114 0 f53"/>
              <a:gd name="f136" fmla="+- f111 0 f39"/>
              <a:gd name="f137" fmla="+- f110 0 f39"/>
              <a:gd name="f138" fmla="+- f113 0 f39"/>
              <a:gd name="f139" fmla="+- f112 0 f39"/>
              <a:gd name="f140" fmla="*/ f126 f126 1"/>
              <a:gd name="f141" fmla="*/ f127 f127 1"/>
              <a:gd name="f142" fmla="+- 0 0 f128"/>
              <a:gd name="f143" fmla="+- 0 0 f129"/>
              <a:gd name="f144" fmla="+- 0 0 f130"/>
              <a:gd name="f145" fmla="+- 0 0 f131"/>
              <a:gd name="f146" fmla="at2 f132 f133"/>
              <a:gd name="f147" fmla="at2 f134 f135"/>
              <a:gd name="f148" fmla="at2 f136 f137"/>
              <a:gd name="f149" fmla="at2 f138 f139"/>
              <a:gd name="f150" fmla="+- f140 f141 0"/>
              <a:gd name="f151" fmla="*/ 10800 f142 1"/>
              <a:gd name="f152" fmla="*/ 10800 f143 1"/>
              <a:gd name="f153" fmla="*/ f23 f144 1"/>
              <a:gd name="f154" fmla="*/ f23 f145 1"/>
              <a:gd name="f155" fmla="+- f146 f5 0"/>
              <a:gd name="f156" fmla="+- f147 f5 0"/>
              <a:gd name="f157" fmla="+- f148 f5 0"/>
              <a:gd name="f158" fmla="+- f149 f5 0"/>
              <a:gd name="f159" fmla="sqrt f150"/>
              <a:gd name="f160" fmla="*/ f151 f151 1"/>
              <a:gd name="f161" fmla="*/ f152 f152 1"/>
              <a:gd name="f162" fmla="*/ f153 f153 1"/>
              <a:gd name="f163" fmla="*/ f154 f154 1"/>
              <a:gd name="f164" fmla="*/ f155 f10 1"/>
              <a:gd name="f165" fmla="*/ f156 f10 1"/>
              <a:gd name="f166" fmla="*/ f157 f10 1"/>
              <a:gd name="f167" fmla="*/ f158 f10 1"/>
              <a:gd name="f168" fmla="*/ f21 f159 1"/>
              <a:gd name="f169" fmla="+- f160 f161 0"/>
              <a:gd name="f170" fmla="+- f162 f163 0"/>
              <a:gd name="f171" fmla="*/ f164 1 f4"/>
              <a:gd name="f172" fmla="*/ f165 1 f4"/>
              <a:gd name="f173" fmla="*/ f166 1 f4"/>
              <a:gd name="f174" fmla="*/ f167 1 f4"/>
              <a:gd name="f175" fmla="*/ f168 f122 1"/>
              <a:gd name="f176" fmla="*/ f168 f123 1"/>
              <a:gd name="f177" fmla="sqrt f169"/>
              <a:gd name="f178" fmla="sqrt f170"/>
              <a:gd name="f179" fmla="+- 0 0 f171"/>
              <a:gd name="f180" fmla="+- 0 0 f172"/>
              <a:gd name="f181" fmla="+- 0 0 f173"/>
              <a:gd name="f182" fmla="+- 0 0 f174"/>
              <a:gd name="f183" fmla="+- f120 f175 0"/>
              <a:gd name="f184" fmla="+- f121 f176 0"/>
              <a:gd name="f185" fmla="*/ f12 1 f177"/>
              <a:gd name="f186" fmla="*/ f30 1 f178"/>
              <a:gd name="f187" fmla="+- 0 0 f179"/>
              <a:gd name="f188" fmla="+- 0 0 f180"/>
              <a:gd name="f189" fmla="+- 0 0 f181"/>
              <a:gd name="f190" fmla="+- 0 0 f182"/>
              <a:gd name="f191" fmla="*/ f142 f185 1"/>
              <a:gd name="f192" fmla="*/ f143 f185 1"/>
              <a:gd name="f193" fmla="*/ f144 f186 1"/>
              <a:gd name="f194" fmla="*/ f145 f186 1"/>
              <a:gd name="f195" fmla="*/ f187 f4 1"/>
              <a:gd name="f196" fmla="*/ f188 f4 1"/>
              <a:gd name="f197" fmla="*/ f189 f4 1"/>
              <a:gd name="f198" fmla="*/ f190 f4 1"/>
              <a:gd name="f199" fmla="+- 10800 0 f191"/>
              <a:gd name="f200" fmla="+- 10800 0 f192"/>
              <a:gd name="f201" fmla="+- 10800 0 f193"/>
              <a:gd name="f202" fmla="+- 10800 0 f194"/>
              <a:gd name="f203" fmla="*/ f195 1 f10"/>
              <a:gd name="f204" fmla="*/ f196 1 f10"/>
              <a:gd name="f205" fmla="*/ f197 1 f10"/>
              <a:gd name="f206" fmla="*/ f198 1 f10"/>
              <a:gd name="f207" fmla="*/ f199 f18 1"/>
              <a:gd name="f208" fmla="*/ f200 f19 1"/>
              <a:gd name="f209" fmla="*/ f201 f18 1"/>
              <a:gd name="f210" fmla="*/ f202 f19 1"/>
              <a:gd name="f211" fmla="+- f203 0 f5"/>
              <a:gd name="f212" fmla="+- f204 0 f5"/>
              <a:gd name="f213" fmla="+- f205 0 f5"/>
              <a:gd name="f214" fmla="+- f206 0 f5"/>
              <a:gd name="f215" fmla="cos 1 f211"/>
              <a:gd name="f216" fmla="sin 1 f211"/>
              <a:gd name="f217" fmla="+- f212 0 f211"/>
              <a:gd name="f218" fmla="cos 1 f213"/>
              <a:gd name="f219" fmla="sin 1 f213"/>
              <a:gd name="f220" fmla="+- f214 0 f213"/>
              <a:gd name="f221" fmla="+- 0 0 f215"/>
              <a:gd name="f222" fmla="+- 0 0 f216"/>
              <a:gd name="f223" fmla="+- f217 0 f3"/>
              <a:gd name="f224" fmla="+- 0 0 f218"/>
              <a:gd name="f225" fmla="+- 0 0 f219"/>
              <a:gd name="f226" fmla="+- f220 f3 0"/>
              <a:gd name="f227" fmla="*/ f50 f221 1"/>
              <a:gd name="f228" fmla="*/ f50 f222 1"/>
              <a:gd name="f229" fmla="?: f217 f223 f217"/>
              <a:gd name="f230" fmla="*/ f35 f224 1"/>
              <a:gd name="f231" fmla="*/ f35 f225 1"/>
              <a:gd name="f232" fmla="?: f220 f220 f226"/>
              <a:gd name="f233" fmla="*/ f227 f227 1"/>
              <a:gd name="f234" fmla="*/ f228 f228 1"/>
              <a:gd name="f235" fmla="*/ f230 f230 1"/>
              <a:gd name="f236" fmla="*/ f231 f231 1"/>
              <a:gd name="f237" fmla="+- f233 f234 0"/>
              <a:gd name="f238" fmla="+- f235 f236 0"/>
              <a:gd name="f239" fmla="sqrt f237"/>
              <a:gd name="f240" fmla="sqrt f238"/>
              <a:gd name="f241" fmla="*/ f54 1 f239"/>
              <a:gd name="f242" fmla="*/ f40 1 f240"/>
              <a:gd name="f243" fmla="*/ f221 f241 1"/>
              <a:gd name="f244" fmla="*/ f222 f241 1"/>
              <a:gd name="f245" fmla="*/ f224 f242 1"/>
              <a:gd name="f246" fmla="*/ f225 f242 1"/>
              <a:gd name="f247" fmla="+- f53 0 f243"/>
              <a:gd name="f248" fmla="+- f53 0 f244"/>
              <a:gd name="f249" fmla="+- f39 0 f245"/>
              <a:gd name="f250" fmla="+- f39 0 f246"/>
            </a:gdLst>
            <a:ahLst>
              <a:ahPolar gdRefAng="f0" minAng="f9" maxAng="f14">
                <a:pos x="f207" y="f208"/>
              </a:ahPolar>
              <a:ahPolar gdRefR="f2" minR="f9" maxR="f13" gdRefAng="f1" minAng="f9" maxAng="f14">
                <a:pos x="f209" y="f210"/>
              </a:ahPolar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31" t="f34" r="f32" b="f33"/>
            <a:pathLst>
              <a:path w="21600" h="21600">
                <a:moveTo>
                  <a:pt x="f247" y="f248"/>
                </a:moveTo>
                <a:arcTo wR="f50" hR="f50" stAng="f211" swAng="f229"/>
                <a:lnTo>
                  <a:pt x="f249" y="f250"/>
                </a:lnTo>
                <a:arcTo wR="f35" hR="f35" stAng="f213" swAng="f232"/>
                <a:lnTo>
                  <a:pt x="f119" y="f118"/>
                </a:lnTo>
                <a:lnTo>
                  <a:pt x="f184" y="f183"/>
                </a:lnTo>
                <a:lnTo>
                  <a:pt x="f121" y="f120"/>
                </a:lnTo>
                <a:close/>
              </a:path>
            </a:pathLst>
          </a:custGeom>
          <a:solidFill>
            <a:srgbClr val="729FCF"/>
          </a:solidFill>
          <a:ln w="0">
            <a:solidFill>
              <a:srgbClr val="3465A4"/>
            </a:solidFill>
            <a:prstDash val="solid"/>
          </a:ln>
        </p:spPr>
        <p:txBody>
          <a:bodyPr vert="horz" wrap="square" lIns="108847" tIns="54423" rIns="108847" bIns="54423" anchor="ctr" anchorCtr="0" compatLnSpc="0">
            <a:noAutofit/>
          </a:bodyPr>
          <a:lstStyle/>
          <a:p>
            <a:pPr hangingPunct="0"/>
            <a:endParaRPr lang="en-US" sz="2177">
              <a:latin typeface="Liberation Sans" pitchFamily="18"/>
              <a:ea typeface="Microsoft YaHei" pitchFamily="2"/>
              <a:cs typeface="Lucida Sans" pitchFamily="2"/>
            </a:endParaRPr>
          </a:p>
        </p:txBody>
      </p:sp>
      <p:sp>
        <p:nvSpPr>
          <p:cNvPr id="30" name="ZoneTexte 29">
            <a:extLst>
              <a:ext uri="{FF2B5EF4-FFF2-40B4-BE49-F238E27FC236}">
                <a16:creationId xmlns:a16="http://schemas.microsoft.com/office/drawing/2014/main" id="{6598935D-E956-454F-AE31-66195CCF7818}"/>
              </a:ext>
            </a:extLst>
          </p:cNvPr>
          <p:cNvSpPr txBox="1"/>
          <p:nvPr/>
        </p:nvSpPr>
        <p:spPr>
          <a:xfrm>
            <a:off x="643469" y="4762106"/>
            <a:ext cx="3079061" cy="430959"/>
          </a:xfrm>
          <a:prstGeom prst="rect">
            <a:avLst/>
          </a:prstGeom>
          <a:noFill/>
          <a:ln>
            <a:noFill/>
          </a:ln>
        </p:spPr>
        <p:txBody>
          <a:bodyPr vert="horz" wrap="square" lIns="108847" tIns="54423" rIns="108847" bIns="54423" anchorCtr="0" compatLnSpc="0">
            <a:spAutoFit/>
          </a:bodyPr>
          <a:lstStyle/>
          <a:p>
            <a:pPr hangingPunct="0"/>
            <a:r>
              <a:rPr lang="en-US" sz="2177" b="1" dirty="0">
                <a:latin typeface="Liberation Sans" pitchFamily="18"/>
                <a:ea typeface="Microsoft YaHei" pitchFamily="2"/>
                <a:cs typeface="Lucida Sans" pitchFamily="2"/>
              </a:rPr>
              <a:t>(1)</a:t>
            </a:r>
            <a:r>
              <a:rPr lang="en-US" sz="2177" dirty="0">
                <a:latin typeface="Liberation Sans" pitchFamily="18"/>
                <a:ea typeface="Microsoft YaHei" pitchFamily="2"/>
                <a:cs typeface="Lucida Sans" pitchFamily="2"/>
              </a:rPr>
              <a:t> </a:t>
            </a:r>
            <a:r>
              <a:rPr lang="en-US" sz="2177" dirty="0" err="1">
                <a:latin typeface="Liberation Sans" pitchFamily="18"/>
                <a:ea typeface="Microsoft YaHei" pitchFamily="2"/>
                <a:cs typeface="Lucida Sans" pitchFamily="2"/>
              </a:rPr>
              <a:t>kubectl</a:t>
            </a:r>
            <a:r>
              <a:rPr lang="en-US" sz="2177" dirty="0">
                <a:latin typeface="Liberation Sans" pitchFamily="18"/>
                <a:ea typeface="Microsoft YaHei" pitchFamily="2"/>
                <a:cs typeface="Lucida Sans" pitchFamily="2"/>
              </a:rPr>
              <a:t> apply</a:t>
            </a:r>
          </a:p>
        </p:txBody>
      </p:sp>
      <p:sp>
        <p:nvSpPr>
          <p:cNvPr id="31" name="ZoneTexte 30">
            <a:extLst>
              <a:ext uri="{FF2B5EF4-FFF2-40B4-BE49-F238E27FC236}">
                <a16:creationId xmlns:a16="http://schemas.microsoft.com/office/drawing/2014/main" id="{410F64BE-8665-4ED8-B50B-A0A734BA9962}"/>
              </a:ext>
            </a:extLst>
          </p:cNvPr>
          <p:cNvSpPr txBox="1"/>
          <p:nvPr/>
        </p:nvSpPr>
        <p:spPr>
          <a:xfrm>
            <a:off x="8901180" y="2739224"/>
            <a:ext cx="1725316" cy="752008"/>
          </a:xfrm>
          <a:prstGeom prst="rect">
            <a:avLst/>
          </a:prstGeom>
          <a:noFill/>
          <a:ln>
            <a:noFill/>
          </a:ln>
        </p:spPr>
        <p:txBody>
          <a:bodyPr vert="horz" wrap="square" lIns="108847" tIns="54423" rIns="108847" bIns="54423" anchorCtr="0" compatLnSpc="0">
            <a:spAutoFit/>
          </a:bodyPr>
          <a:lstStyle/>
          <a:p>
            <a:pPr hangingPunct="0"/>
            <a:r>
              <a:rPr lang="en-US" sz="2177" b="1" dirty="0">
                <a:latin typeface="Liberation Sans" pitchFamily="18"/>
                <a:ea typeface="Microsoft YaHei" pitchFamily="2"/>
                <a:cs typeface="Lucida Sans" pitchFamily="2"/>
              </a:rPr>
              <a:t>(3,4..)</a:t>
            </a:r>
          </a:p>
          <a:p>
            <a:pPr hangingPunct="0"/>
            <a:r>
              <a:rPr lang="en-US" sz="2177" dirty="0">
                <a:latin typeface="Liberation Sans" pitchFamily="18"/>
                <a:ea typeface="Microsoft YaHei" pitchFamily="2"/>
                <a:cs typeface="Lucida Sans" pitchFamily="2"/>
              </a:rPr>
              <a:t> launch</a:t>
            </a:r>
          </a:p>
        </p:txBody>
      </p:sp>
      <p:sp>
        <p:nvSpPr>
          <p:cNvPr id="32" name="Forme libre : forme 31">
            <a:extLst>
              <a:ext uri="{FF2B5EF4-FFF2-40B4-BE49-F238E27FC236}">
                <a16:creationId xmlns:a16="http://schemas.microsoft.com/office/drawing/2014/main" id="{1A23F569-EB6C-4EAF-8DA6-D5821AA44B56}"/>
              </a:ext>
            </a:extLst>
          </p:cNvPr>
          <p:cNvSpPr/>
          <p:nvPr/>
        </p:nvSpPr>
        <p:spPr>
          <a:xfrm>
            <a:off x="476456" y="5402917"/>
            <a:ext cx="1789437" cy="552941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solidFill>
            <a:srgbClr val="469F98"/>
          </a:solidFill>
          <a:ln w="0">
            <a:solidFill>
              <a:srgbClr val="3465A4"/>
            </a:solidFill>
            <a:prstDash val="solid"/>
          </a:ln>
        </p:spPr>
        <p:txBody>
          <a:bodyPr vert="horz" wrap="square" lIns="108847" tIns="54423" rIns="108847" bIns="54423" anchor="ctr" anchorCtr="0" compatLnSpc="0">
            <a:noAutofit/>
          </a:bodyPr>
          <a:lstStyle/>
          <a:p>
            <a:pPr algn="ctr" hangingPunct="0">
              <a:defRPr sz="1800"/>
            </a:pPr>
            <a:r>
              <a:rPr lang="en-US" sz="2177">
                <a:latin typeface="Liberation Sans" pitchFamily="18"/>
                <a:ea typeface="Microsoft YaHei" pitchFamily="2"/>
                <a:cs typeface="Lucida Sans" pitchFamily="2"/>
              </a:rPr>
              <a:t>kube Client</a:t>
            </a:r>
          </a:p>
        </p:txBody>
      </p:sp>
      <p:sp>
        <p:nvSpPr>
          <p:cNvPr id="33" name="Forme libre : forme 32">
            <a:extLst>
              <a:ext uri="{FF2B5EF4-FFF2-40B4-BE49-F238E27FC236}">
                <a16:creationId xmlns:a16="http://schemas.microsoft.com/office/drawing/2014/main" id="{6A87047C-53D8-43DB-91DF-E94EED658098}"/>
              </a:ext>
            </a:extLst>
          </p:cNvPr>
          <p:cNvSpPr/>
          <p:nvPr/>
        </p:nvSpPr>
        <p:spPr>
          <a:xfrm rot="739800">
            <a:off x="4523958" y="2801771"/>
            <a:ext cx="834634" cy="491551"/>
          </a:xfrm>
          <a:custGeom>
            <a:avLst>
              <a:gd name="f0" fmla="val 16320000"/>
              <a:gd name="f1" fmla="val 5400000"/>
              <a:gd name="f2" fmla="val 5500"/>
            </a:avLst>
            <a:gdLst>
              <a:gd name="f3" fmla="val 21600000"/>
              <a:gd name="f4" fmla="val 10800000"/>
              <a:gd name="f5" fmla="val 5400000"/>
              <a:gd name="f6" fmla="val 180"/>
              <a:gd name="f7" fmla="val w"/>
              <a:gd name="f8" fmla="val h"/>
              <a:gd name="f9" fmla="val 0"/>
              <a:gd name="f10" fmla="*/ 5419351 1 1725033"/>
              <a:gd name="f11" fmla="sqrt 2"/>
              <a:gd name="f12" fmla="*/ 10800 10800 1"/>
              <a:gd name="f13" fmla="val 10800"/>
              <a:gd name="f14" fmla="val 21599999"/>
              <a:gd name="f15" fmla="min 0 21600"/>
              <a:gd name="f16" fmla="max 0 21600"/>
              <a:gd name="f17" fmla="*/ f10 1 2"/>
              <a:gd name="f18" fmla="*/ f7 1 21600"/>
              <a:gd name="f19" fmla="*/ f8 1 21600"/>
              <a:gd name="f20" fmla="*/ f10 1 180"/>
              <a:gd name="f21" fmla="*/ f11 1 2"/>
              <a:gd name="f22" fmla="pin 0 f0 21599999"/>
              <a:gd name="f23" fmla="pin 0 f2 10800"/>
              <a:gd name="f24" fmla="pin 0 f1 21599999"/>
              <a:gd name="f25" fmla="+- f16 0 f15"/>
              <a:gd name="f26" fmla="+- 10800 f23 0"/>
              <a:gd name="f27" fmla="+- f23 0 2700"/>
              <a:gd name="f28" fmla="+- 0 0 f22"/>
              <a:gd name="f29" fmla="+- 0 0 f24"/>
              <a:gd name="f30" fmla="*/ f23 f23 1"/>
              <a:gd name="f31" fmla="*/ 0 f18 1"/>
              <a:gd name="f32" fmla="*/ 21600 f18 1"/>
              <a:gd name="f33" fmla="*/ 21600 f19 1"/>
              <a:gd name="f34" fmla="*/ 0 f19 1"/>
              <a:gd name="f35" fmla="*/ f25 1 2"/>
              <a:gd name="f36" fmla="+- 21600 0 f26"/>
              <a:gd name="f37" fmla="+- f28 f5 0"/>
              <a:gd name="f38" fmla="+- f29 f5 0"/>
              <a:gd name="f39" fmla="+- f15 f35 0"/>
              <a:gd name="f40" fmla="*/ f35 f35 1"/>
              <a:gd name="f41" fmla="*/ f37 f6 1"/>
              <a:gd name="f42" fmla="*/ f38 f6 1"/>
              <a:gd name="f43" fmla="min f26 f36"/>
              <a:gd name="f44" fmla="max f26 f36"/>
              <a:gd name="f45" fmla="*/ f41 1 f4"/>
              <a:gd name="f46" fmla="*/ f42 1 f4"/>
              <a:gd name="f47" fmla="+- f44 0 f43"/>
              <a:gd name="f48" fmla="+- 0 0 f45"/>
              <a:gd name="f49" fmla="+- 0 0 f46"/>
              <a:gd name="f50" fmla="*/ f47 1 2"/>
              <a:gd name="f51" fmla="val f48"/>
              <a:gd name="f52" fmla="val f49"/>
              <a:gd name="f53" fmla="+- f43 f50 0"/>
              <a:gd name="f54" fmla="*/ f50 f50 1"/>
              <a:gd name="f55" fmla="*/ f51 f20 1"/>
              <a:gd name="f56" fmla="*/ f52 f20 1"/>
              <a:gd name="f57" fmla="+- f52 45 0"/>
              <a:gd name="f58" fmla="*/ f51 f10 1"/>
              <a:gd name="f59" fmla="*/ f52 f10 1"/>
              <a:gd name="f60" fmla="+- 0 0 f55"/>
              <a:gd name="f61" fmla="+- 0 0 f56"/>
              <a:gd name="f62" fmla="*/ f57 f10 1"/>
              <a:gd name="f63" fmla="*/ f58 1 f6"/>
              <a:gd name="f64" fmla="*/ f59 1 f6"/>
              <a:gd name="f65" fmla="*/ f60 f4 1"/>
              <a:gd name="f66" fmla="*/ f61 f4 1"/>
              <a:gd name="f67" fmla="*/ f62 1 180"/>
              <a:gd name="f68" fmla="+- 0 0 f63"/>
              <a:gd name="f69" fmla="+- 0 0 f64"/>
              <a:gd name="f70" fmla="*/ f65 1 f10"/>
              <a:gd name="f71" fmla="*/ f66 1 f10"/>
              <a:gd name="f72" fmla="+- 0 0 f67"/>
              <a:gd name="f73" fmla="+- f68 f10 0"/>
              <a:gd name="f74" fmla="+- f69 f10 0"/>
              <a:gd name="f75" fmla="+- f70 0 f5"/>
              <a:gd name="f76" fmla="+- f71 0 f5"/>
              <a:gd name="f77" fmla="*/ f72 f4 1"/>
              <a:gd name="f78" fmla="+- f73 f17 0"/>
              <a:gd name="f79" fmla="+- f74 f17 0"/>
              <a:gd name="f80" fmla="cos 1 f75"/>
              <a:gd name="f81" fmla="sin 1 f75"/>
              <a:gd name="f82" fmla="cos 1 f76"/>
              <a:gd name="f83" fmla="sin 1 f76"/>
              <a:gd name="f84" fmla="*/ f77 1 f10"/>
              <a:gd name="f85" fmla="+- 0 0 f78"/>
              <a:gd name="f86" fmla="+- 0 0 f79"/>
              <a:gd name="f87" fmla="+- 0 0 f80"/>
              <a:gd name="f88" fmla="+- 0 0 f81"/>
              <a:gd name="f89" fmla="+- 0 0 f82"/>
              <a:gd name="f90" fmla="+- 0 0 f83"/>
              <a:gd name="f91" fmla="+- f84 0 f5"/>
              <a:gd name="f92" fmla="*/ f85 f4 1"/>
              <a:gd name="f93" fmla="*/ f86 f4 1"/>
              <a:gd name="f94" fmla="*/ 10800 f87 1"/>
              <a:gd name="f95" fmla="*/ 10800 f88 1"/>
              <a:gd name="f96" fmla="*/ 10800 f89 1"/>
              <a:gd name="f97" fmla="*/ 10800 f90 1"/>
              <a:gd name="f98" fmla="*/ f26 f87 1"/>
              <a:gd name="f99" fmla="*/ f26 f88 1"/>
              <a:gd name="f100" fmla="*/ f26 f89 1"/>
              <a:gd name="f101" fmla="*/ f26 f90 1"/>
              <a:gd name="f102" fmla="*/ 13500 f89 1"/>
              <a:gd name="f103" fmla="*/ 13500 f90 1"/>
              <a:gd name="f104" fmla="*/ f27 f89 1"/>
              <a:gd name="f105" fmla="*/ f27 f90 1"/>
              <a:gd name="f106" fmla="cos 1 f91"/>
              <a:gd name="f107" fmla="sin 1 f91"/>
              <a:gd name="f108" fmla="*/ f92 1 f10"/>
              <a:gd name="f109" fmla="*/ f93 1 f10"/>
              <a:gd name="f110" fmla="+- f94 10800 0"/>
              <a:gd name="f111" fmla="+- f95 10800 0"/>
              <a:gd name="f112" fmla="+- f96 10800 0"/>
              <a:gd name="f113" fmla="+- f97 10800 0"/>
              <a:gd name="f114" fmla="+- f98 10800 0"/>
              <a:gd name="f115" fmla="+- f99 10800 0"/>
              <a:gd name="f116" fmla="+- f100 10800 0"/>
              <a:gd name="f117" fmla="+- f101 10800 0"/>
              <a:gd name="f118" fmla="+- f102 10800 0"/>
              <a:gd name="f119" fmla="+- f103 10800 0"/>
              <a:gd name="f120" fmla="+- f104 10800 0"/>
              <a:gd name="f121" fmla="+- f105 10800 0"/>
              <a:gd name="f122" fmla="+- 0 0 f106"/>
              <a:gd name="f123" fmla="+- 0 0 f107"/>
              <a:gd name="f124" fmla="+- f108 0 f5"/>
              <a:gd name="f125" fmla="+- f109 0 f5"/>
              <a:gd name="f126" fmla="+- f121 0 f119"/>
              <a:gd name="f127" fmla="+- f120 0 f118"/>
              <a:gd name="f128" fmla="cos 1 f124"/>
              <a:gd name="f129" fmla="sin 1 f124"/>
              <a:gd name="f130" fmla="cos 1 f125"/>
              <a:gd name="f131" fmla="sin 1 f125"/>
              <a:gd name="f132" fmla="+- f117 0 f53"/>
              <a:gd name="f133" fmla="+- f116 0 f53"/>
              <a:gd name="f134" fmla="+- f115 0 f53"/>
              <a:gd name="f135" fmla="+- f114 0 f53"/>
              <a:gd name="f136" fmla="+- f111 0 f39"/>
              <a:gd name="f137" fmla="+- f110 0 f39"/>
              <a:gd name="f138" fmla="+- f113 0 f39"/>
              <a:gd name="f139" fmla="+- f112 0 f39"/>
              <a:gd name="f140" fmla="*/ f126 f126 1"/>
              <a:gd name="f141" fmla="*/ f127 f127 1"/>
              <a:gd name="f142" fmla="+- 0 0 f128"/>
              <a:gd name="f143" fmla="+- 0 0 f129"/>
              <a:gd name="f144" fmla="+- 0 0 f130"/>
              <a:gd name="f145" fmla="+- 0 0 f131"/>
              <a:gd name="f146" fmla="at2 f132 f133"/>
              <a:gd name="f147" fmla="at2 f134 f135"/>
              <a:gd name="f148" fmla="at2 f136 f137"/>
              <a:gd name="f149" fmla="at2 f138 f139"/>
              <a:gd name="f150" fmla="+- f140 f141 0"/>
              <a:gd name="f151" fmla="*/ 10800 f142 1"/>
              <a:gd name="f152" fmla="*/ 10800 f143 1"/>
              <a:gd name="f153" fmla="*/ f23 f144 1"/>
              <a:gd name="f154" fmla="*/ f23 f145 1"/>
              <a:gd name="f155" fmla="+- f146 f5 0"/>
              <a:gd name="f156" fmla="+- f147 f5 0"/>
              <a:gd name="f157" fmla="+- f148 f5 0"/>
              <a:gd name="f158" fmla="+- f149 f5 0"/>
              <a:gd name="f159" fmla="sqrt f150"/>
              <a:gd name="f160" fmla="*/ f151 f151 1"/>
              <a:gd name="f161" fmla="*/ f152 f152 1"/>
              <a:gd name="f162" fmla="*/ f153 f153 1"/>
              <a:gd name="f163" fmla="*/ f154 f154 1"/>
              <a:gd name="f164" fmla="*/ f155 f10 1"/>
              <a:gd name="f165" fmla="*/ f156 f10 1"/>
              <a:gd name="f166" fmla="*/ f157 f10 1"/>
              <a:gd name="f167" fmla="*/ f158 f10 1"/>
              <a:gd name="f168" fmla="*/ f21 f159 1"/>
              <a:gd name="f169" fmla="+- f160 f161 0"/>
              <a:gd name="f170" fmla="+- f162 f163 0"/>
              <a:gd name="f171" fmla="*/ f164 1 f4"/>
              <a:gd name="f172" fmla="*/ f165 1 f4"/>
              <a:gd name="f173" fmla="*/ f166 1 f4"/>
              <a:gd name="f174" fmla="*/ f167 1 f4"/>
              <a:gd name="f175" fmla="*/ f168 f122 1"/>
              <a:gd name="f176" fmla="*/ f168 f123 1"/>
              <a:gd name="f177" fmla="sqrt f169"/>
              <a:gd name="f178" fmla="sqrt f170"/>
              <a:gd name="f179" fmla="+- 0 0 f171"/>
              <a:gd name="f180" fmla="+- 0 0 f172"/>
              <a:gd name="f181" fmla="+- 0 0 f173"/>
              <a:gd name="f182" fmla="+- 0 0 f174"/>
              <a:gd name="f183" fmla="+- f120 f175 0"/>
              <a:gd name="f184" fmla="+- f121 f176 0"/>
              <a:gd name="f185" fmla="*/ f12 1 f177"/>
              <a:gd name="f186" fmla="*/ f30 1 f178"/>
              <a:gd name="f187" fmla="+- 0 0 f179"/>
              <a:gd name="f188" fmla="+- 0 0 f180"/>
              <a:gd name="f189" fmla="+- 0 0 f181"/>
              <a:gd name="f190" fmla="+- 0 0 f182"/>
              <a:gd name="f191" fmla="*/ f142 f185 1"/>
              <a:gd name="f192" fmla="*/ f143 f185 1"/>
              <a:gd name="f193" fmla="*/ f144 f186 1"/>
              <a:gd name="f194" fmla="*/ f145 f186 1"/>
              <a:gd name="f195" fmla="*/ f187 f4 1"/>
              <a:gd name="f196" fmla="*/ f188 f4 1"/>
              <a:gd name="f197" fmla="*/ f189 f4 1"/>
              <a:gd name="f198" fmla="*/ f190 f4 1"/>
              <a:gd name="f199" fmla="+- 10800 0 f191"/>
              <a:gd name="f200" fmla="+- 10800 0 f192"/>
              <a:gd name="f201" fmla="+- 10800 0 f193"/>
              <a:gd name="f202" fmla="+- 10800 0 f194"/>
              <a:gd name="f203" fmla="*/ f195 1 f10"/>
              <a:gd name="f204" fmla="*/ f196 1 f10"/>
              <a:gd name="f205" fmla="*/ f197 1 f10"/>
              <a:gd name="f206" fmla="*/ f198 1 f10"/>
              <a:gd name="f207" fmla="*/ f199 f18 1"/>
              <a:gd name="f208" fmla="*/ f200 f19 1"/>
              <a:gd name="f209" fmla="*/ f201 f18 1"/>
              <a:gd name="f210" fmla="*/ f202 f19 1"/>
              <a:gd name="f211" fmla="+- f203 0 f5"/>
              <a:gd name="f212" fmla="+- f204 0 f5"/>
              <a:gd name="f213" fmla="+- f205 0 f5"/>
              <a:gd name="f214" fmla="+- f206 0 f5"/>
              <a:gd name="f215" fmla="cos 1 f211"/>
              <a:gd name="f216" fmla="sin 1 f211"/>
              <a:gd name="f217" fmla="+- f212 0 f211"/>
              <a:gd name="f218" fmla="cos 1 f213"/>
              <a:gd name="f219" fmla="sin 1 f213"/>
              <a:gd name="f220" fmla="+- f214 0 f213"/>
              <a:gd name="f221" fmla="+- 0 0 f215"/>
              <a:gd name="f222" fmla="+- 0 0 f216"/>
              <a:gd name="f223" fmla="+- f217 0 f3"/>
              <a:gd name="f224" fmla="+- 0 0 f218"/>
              <a:gd name="f225" fmla="+- 0 0 f219"/>
              <a:gd name="f226" fmla="+- f220 f3 0"/>
              <a:gd name="f227" fmla="*/ f50 f221 1"/>
              <a:gd name="f228" fmla="*/ f50 f222 1"/>
              <a:gd name="f229" fmla="?: f217 f223 f217"/>
              <a:gd name="f230" fmla="*/ f35 f224 1"/>
              <a:gd name="f231" fmla="*/ f35 f225 1"/>
              <a:gd name="f232" fmla="?: f220 f220 f226"/>
              <a:gd name="f233" fmla="*/ f227 f227 1"/>
              <a:gd name="f234" fmla="*/ f228 f228 1"/>
              <a:gd name="f235" fmla="*/ f230 f230 1"/>
              <a:gd name="f236" fmla="*/ f231 f231 1"/>
              <a:gd name="f237" fmla="+- f233 f234 0"/>
              <a:gd name="f238" fmla="+- f235 f236 0"/>
              <a:gd name="f239" fmla="sqrt f237"/>
              <a:gd name="f240" fmla="sqrt f238"/>
              <a:gd name="f241" fmla="*/ f54 1 f239"/>
              <a:gd name="f242" fmla="*/ f40 1 f240"/>
              <a:gd name="f243" fmla="*/ f221 f241 1"/>
              <a:gd name="f244" fmla="*/ f222 f241 1"/>
              <a:gd name="f245" fmla="*/ f224 f242 1"/>
              <a:gd name="f246" fmla="*/ f225 f242 1"/>
              <a:gd name="f247" fmla="+- f53 0 f243"/>
              <a:gd name="f248" fmla="+- f53 0 f244"/>
              <a:gd name="f249" fmla="+- f39 0 f245"/>
              <a:gd name="f250" fmla="+- f39 0 f246"/>
            </a:gdLst>
            <a:ahLst>
              <a:ahPolar gdRefAng="f0" minAng="f9" maxAng="f14">
                <a:pos x="f207" y="f208"/>
              </a:ahPolar>
              <a:ahPolar gdRefR="f2" minR="f9" maxR="f13" gdRefAng="f1" minAng="f9" maxAng="f14">
                <a:pos x="f209" y="f210"/>
              </a:ahPolar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31" t="f34" r="f32" b="f33"/>
            <a:pathLst>
              <a:path w="21600" h="21600">
                <a:moveTo>
                  <a:pt x="f247" y="f248"/>
                </a:moveTo>
                <a:arcTo wR="f50" hR="f50" stAng="f211" swAng="f229"/>
                <a:lnTo>
                  <a:pt x="f249" y="f250"/>
                </a:lnTo>
                <a:arcTo wR="f35" hR="f35" stAng="f213" swAng="f232"/>
                <a:lnTo>
                  <a:pt x="f119" y="f118"/>
                </a:lnTo>
                <a:lnTo>
                  <a:pt x="f184" y="f183"/>
                </a:lnTo>
                <a:lnTo>
                  <a:pt x="f121" y="f120"/>
                </a:lnTo>
                <a:close/>
              </a:path>
            </a:pathLst>
          </a:custGeom>
          <a:solidFill>
            <a:srgbClr val="729FCF"/>
          </a:solidFill>
          <a:ln w="0">
            <a:solidFill>
              <a:srgbClr val="3465A4"/>
            </a:solidFill>
            <a:prstDash val="solid"/>
          </a:ln>
        </p:spPr>
        <p:txBody>
          <a:bodyPr vert="horz" wrap="square" lIns="108847" tIns="54423" rIns="108847" bIns="54423" anchor="ctr" anchorCtr="0" compatLnSpc="0">
            <a:noAutofit/>
          </a:bodyPr>
          <a:lstStyle/>
          <a:p>
            <a:pPr hangingPunct="0"/>
            <a:endParaRPr lang="en-US" sz="2177">
              <a:latin typeface="Liberation Sans" pitchFamily="18"/>
              <a:ea typeface="Microsoft YaHei" pitchFamily="2"/>
              <a:cs typeface="Lucida Sans" pitchFamily="2"/>
            </a:endParaRPr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0AEF5ACF-99EE-33C9-F90F-ACE1C82302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031" y="91390"/>
            <a:ext cx="1711476" cy="16579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2A1A445-2D10-47A7-B179-AFBE04D3532C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609754" y="-31348"/>
            <a:ext cx="10971300" cy="1144631"/>
          </a:xfrm>
        </p:spPr>
        <p:txBody>
          <a:bodyPr vert="horz"/>
          <a:lstStyle/>
          <a:p>
            <a:pPr lvl="0"/>
            <a:r>
              <a:rPr lang="en-US" dirty="0"/>
              <a:t>Architecture Comparison Yarn &lt;-&gt; Kubernetes</a:t>
            </a:r>
          </a:p>
        </p:txBody>
      </p:sp>
      <p:sp>
        <p:nvSpPr>
          <p:cNvPr id="3" name="Forme libre : forme 2">
            <a:extLst>
              <a:ext uri="{FF2B5EF4-FFF2-40B4-BE49-F238E27FC236}">
                <a16:creationId xmlns:a16="http://schemas.microsoft.com/office/drawing/2014/main" id="{01717BDE-084C-4ADB-8326-FC0F912DF6B4}"/>
              </a:ext>
            </a:extLst>
          </p:cNvPr>
          <p:cNvSpPr/>
          <p:nvPr/>
        </p:nvSpPr>
        <p:spPr>
          <a:xfrm>
            <a:off x="2964774" y="1219687"/>
            <a:ext cx="1512966" cy="552941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solidFill>
            <a:srgbClr val="729FCF"/>
          </a:solidFill>
          <a:ln w="0">
            <a:solidFill>
              <a:srgbClr val="3465A4"/>
            </a:solidFill>
            <a:prstDash val="solid"/>
          </a:ln>
        </p:spPr>
        <p:txBody>
          <a:bodyPr vert="horz" wrap="square" lIns="108847" tIns="54423" rIns="108847" bIns="54423" anchor="ctr" anchorCtr="0" compatLnSpc="0">
            <a:noAutofit/>
          </a:bodyPr>
          <a:lstStyle/>
          <a:p>
            <a:pPr algn="ctr" hangingPunct="0">
              <a:defRPr sz="1800"/>
            </a:pPr>
            <a:r>
              <a:rPr lang="en-US" sz="2177">
                <a:latin typeface="Liberation Sans" pitchFamily="18"/>
                <a:ea typeface="Microsoft YaHei" pitchFamily="2"/>
                <a:cs typeface="Lucida Sans" pitchFamily="2"/>
              </a:rPr>
              <a:t>ResourceManager</a:t>
            </a:r>
          </a:p>
        </p:txBody>
      </p:sp>
      <p:sp>
        <p:nvSpPr>
          <p:cNvPr id="4" name="Forme libre : forme 3">
            <a:extLst>
              <a:ext uri="{FF2B5EF4-FFF2-40B4-BE49-F238E27FC236}">
                <a16:creationId xmlns:a16="http://schemas.microsoft.com/office/drawing/2014/main" id="{3E1565BF-3693-4AC0-AFF8-C75F7F8DEDFE}"/>
              </a:ext>
            </a:extLst>
          </p:cNvPr>
          <p:cNvSpPr/>
          <p:nvPr/>
        </p:nvSpPr>
        <p:spPr>
          <a:xfrm>
            <a:off x="2542448" y="1278464"/>
            <a:ext cx="217693" cy="217693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*/ 5419351 1 1725033"/>
              <a:gd name="f6" fmla="*/ 10800 10800 1"/>
              <a:gd name="f7" fmla="+- 0 0 0"/>
              <a:gd name="f8" fmla="+- 0 0 360"/>
              <a:gd name="f9" fmla="val 10800"/>
              <a:gd name="f10" fmla="*/ f3 1 21600"/>
              <a:gd name="f11" fmla="*/ f4 1 21600"/>
              <a:gd name="f12" fmla="*/ 0 f5 1"/>
              <a:gd name="f13" fmla="*/ f7 f0 1"/>
              <a:gd name="f14" fmla="*/ f8 f0 1"/>
              <a:gd name="f15" fmla="*/ 3163 f10 1"/>
              <a:gd name="f16" fmla="*/ 18437 f10 1"/>
              <a:gd name="f17" fmla="*/ 18437 f11 1"/>
              <a:gd name="f18" fmla="*/ 3163 f11 1"/>
              <a:gd name="f19" fmla="*/ f12 1 f2"/>
              <a:gd name="f20" fmla="*/ f13 1 f2"/>
              <a:gd name="f21" fmla="*/ f14 1 f2"/>
              <a:gd name="f22" fmla="*/ 10800 f10 1"/>
              <a:gd name="f23" fmla="*/ 0 f11 1"/>
              <a:gd name="f24" fmla="*/ 0 f10 1"/>
              <a:gd name="f25" fmla="*/ 10800 f11 1"/>
              <a:gd name="f26" fmla="*/ 21600 f11 1"/>
              <a:gd name="f27" fmla="*/ 21600 f10 1"/>
              <a:gd name="f28" fmla="+- 0 0 f19"/>
              <a:gd name="f29" fmla="+- f20 0 f1"/>
              <a:gd name="f30" fmla="+- f21 0 f1"/>
              <a:gd name="f31" fmla="*/ f28 f0 1"/>
              <a:gd name="f32" fmla="+- f30 0 f29"/>
              <a:gd name="f33" fmla="*/ f31 1 f5"/>
              <a:gd name="f34" fmla="+- f33 0 f1"/>
              <a:gd name="f35" fmla="cos 1 f34"/>
              <a:gd name="f36" fmla="sin 1 f34"/>
              <a:gd name="f37" fmla="+- 0 0 f35"/>
              <a:gd name="f38" fmla="+- 0 0 f36"/>
              <a:gd name="f39" fmla="*/ 10800 f37 1"/>
              <a:gd name="f40" fmla="*/ 10800 f38 1"/>
              <a:gd name="f41" fmla="*/ f39 f39 1"/>
              <a:gd name="f42" fmla="*/ f40 f40 1"/>
              <a:gd name="f43" fmla="+- f41 f42 0"/>
              <a:gd name="f44" fmla="sqrt f43"/>
              <a:gd name="f45" fmla="*/ f6 1 f44"/>
              <a:gd name="f46" fmla="*/ f37 f45 1"/>
              <a:gd name="f47" fmla="*/ f38 f45 1"/>
              <a:gd name="f48" fmla="+- 10800 0 f46"/>
              <a:gd name="f49" fmla="+- 10800 0 f47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22" y="f23"/>
              </a:cxn>
              <a:cxn ang="f29">
                <a:pos x="f15" y="f18"/>
              </a:cxn>
              <a:cxn ang="f29">
                <a:pos x="f24" y="f25"/>
              </a:cxn>
              <a:cxn ang="f29">
                <a:pos x="f15" y="f17"/>
              </a:cxn>
              <a:cxn ang="f29">
                <a:pos x="f22" y="f26"/>
              </a:cxn>
              <a:cxn ang="f29">
                <a:pos x="f16" y="f17"/>
              </a:cxn>
              <a:cxn ang="f29">
                <a:pos x="f27" y="f25"/>
              </a:cxn>
              <a:cxn ang="f29">
                <a:pos x="f16" y="f18"/>
              </a:cxn>
            </a:cxnLst>
            <a:rect l="f15" t="f18" r="f16" b="f17"/>
            <a:pathLst>
              <a:path w="21600" h="21600">
                <a:moveTo>
                  <a:pt x="f48" y="f49"/>
                </a:moveTo>
                <a:arcTo wR="f9" hR="f9" stAng="f29" swAng="f32"/>
                <a:close/>
              </a:path>
            </a:pathLst>
          </a:custGeom>
          <a:solidFill>
            <a:srgbClr val="729FCF"/>
          </a:solidFill>
          <a:ln w="0">
            <a:solidFill>
              <a:srgbClr val="3465A4"/>
            </a:solidFill>
            <a:prstDash val="solid"/>
          </a:ln>
        </p:spPr>
        <p:txBody>
          <a:bodyPr vert="horz" wrap="square" lIns="108847" tIns="54423" rIns="108847" bIns="54423" anchor="ctr" anchorCtr="0" compatLnSpc="0">
            <a:noAutofit/>
          </a:bodyPr>
          <a:lstStyle/>
          <a:p>
            <a:pPr hangingPunct="0"/>
            <a:endParaRPr lang="en-US" sz="2177">
              <a:latin typeface="Liberation Sans" pitchFamily="18"/>
              <a:ea typeface="Microsoft YaHei" pitchFamily="2"/>
              <a:cs typeface="Lucida Sans" pitchFamily="2"/>
            </a:endParaRPr>
          </a:p>
        </p:txBody>
      </p:sp>
      <p:sp>
        <p:nvSpPr>
          <p:cNvPr id="5" name="Connecteur droit 4">
            <a:extLst>
              <a:ext uri="{FF2B5EF4-FFF2-40B4-BE49-F238E27FC236}">
                <a16:creationId xmlns:a16="http://schemas.microsoft.com/office/drawing/2014/main" id="{01519DF2-2859-4EC3-B9E9-C64B98E6D570}"/>
              </a:ext>
            </a:extLst>
          </p:cNvPr>
          <p:cNvSpPr/>
          <p:nvPr/>
        </p:nvSpPr>
        <p:spPr>
          <a:xfrm>
            <a:off x="2760141" y="1387311"/>
            <a:ext cx="217693" cy="0"/>
          </a:xfrm>
          <a:prstGeom prst="line">
            <a:avLst/>
          </a:prstGeom>
          <a:noFill/>
          <a:ln w="0">
            <a:solidFill>
              <a:srgbClr val="3465A4"/>
            </a:solidFill>
            <a:prstDash val="solid"/>
          </a:ln>
        </p:spPr>
        <p:txBody>
          <a:bodyPr vert="horz" wrap="square" lIns="108847" tIns="54423" rIns="108847" bIns="54423" anchor="ctr" anchorCtr="0" compatLnSpc="0"/>
          <a:lstStyle/>
          <a:p>
            <a:pPr hangingPunct="0"/>
            <a:endParaRPr lang="en-US" sz="2177">
              <a:latin typeface="Liberation Sans" pitchFamily="18"/>
              <a:ea typeface="Microsoft YaHei" pitchFamily="2"/>
              <a:cs typeface="Lucida Sans" pitchFamily="2"/>
            </a:endParaRPr>
          </a:p>
        </p:txBody>
      </p:sp>
      <p:sp>
        <p:nvSpPr>
          <p:cNvPr id="6" name="Forme libre : forme 5">
            <a:extLst>
              <a:ext uri="{FF2B5EF4-FFF2-40B4-BE49-F238E27FC236}">
                <a16:creationId xmlns:a16="http://schemas.microsoft.com/office/drawing/2014/main" id="{8D31182E-E317-4192-A212-AFB1A5752ACA}"/>
              </a:ext>
            </a:extLst>
          </p:cNvPr>
          <p:cNvSpPr/>
          <p:nvPr/>
        </p:nvSpPr>
        <p:spPr>
          <a:xfrm>
            <a:off x="2542448" y="1540131"/>
            <a:ext cx="217693" cy="217693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*/ 5419351 1 1725033"/>
              <a:gd name="f6" fmla="*/ 10800 10800 1"/>
              <a:gd name="f7" fmla="+- 0 0 0"/>
              <a:gd name="f8" fmla="+- 0 0 360"/>
              <a:gd name="f9" fmla="val 10800"/>
              <a:gd name="f10" fmla="*/ f3 1 21600"/>
              <a:gd name="f11" fmla="*/ f4 1 21600"/>
              <a:gd name="f12" fmla="*/ 0 f5 1"/>
              <a:gd name="f13" fmla="*/ f7 f0 1"/>
              <a:gd name="f14" fmla="*/ f8 f0 1"/>
              <a:gd name="f15" fmla="*/ 3163 f10 1"/>
              <a:gd name="f16" fmla="*/ 18437 f10 1"/>
              <a:gd name="f17" fmla="*/ 18437 f11 1"/>
              <a:gd name="f18" fmla="*/ 3163 f11 1"/>
              <a:gd name="f19" fmla="*/ f12 1 f2"/>
              <a:gd name="f20" fmla="*/ f13 1 f2"/>
              <a:gd name="f21" fmla="*/ f14 1 f2"/>
              <a:gd name="f22" fmla="*/ 10800 f10 1"/>
              <a:gd name="f23" fmla="*/ 0 f11 1"/>
              <a:gd name="f24" fmla="*/ 0 f10 1"/>
              <a:gd name="f25" fmla="*/ 10800 f11 1"/>
              <a:gd name="f26" fmla="*/ 21600 f11 1"/>
              <a:gd name="f27" fmla="*/ 21600 f10 1"/>
              <a:gd name="f28" fmla="+- 0 0 f19"/>
              <a:gd name="f29" fmla="+- f20 0 f1"/>
              <a:gd name="f30" fmla="+- f21 0 f1"/>
              <a:gd name="f31" fmla="*/ f28 f0 1"/>
              <a:gd name="f32" fmla="+- f30 0 f29"/>
              <a:gd name="f33" fmla="*/ f31 1 f5"/>
              <a:gd name="f34" fmla="+- f33 0 f1"/>
              <a:gd name="f35" fmla="cos 1 f34"/>
              <a:gd name="f36" fmla="sin 1 f34"/>
              <a:gd name="f37" fmla="+- 0 0 f35"/>
              <a:gd name="f38" fmla="+- 0 0 f36"/>
              <a:gd name="f39" fmla="*/ 10800 f37 1"/>
              <a:gd name="f40" fmla="*/ 10800 f38 1"/>
              <a:gd name="f41" fmla="*/ f39 f39 1"/>
              <a:gd name="f42" fmla="*/ f40 f40 1"/>
              <a:gd name="f43" fmla="+- f41 f42 0"/>
              <a:gd name="f44" fmla="sqrt f43"/>
              <a:gd name="f45" fmla="*/ f6 1 f44"/>
              <a:gd name="f46" fmla="*/ f37 f45 1"/>
              <a:gd name="f47" fmla="*/ f38 f45 1"/>
              <a:gd name="f48" fmla="+- 10800 0 f46"/>
              <a:gd name="f49" fmla="+- 10800 0 f47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22" y="f23"/>
              </a:cxn>
              <a:cxn ang="f29">
                <a:pos x="f15" y="f18"/>
              </a:cxn>
              <a:cxn ang="f29">
                <a:pos x="f24" y="f25"/>
              </a:cxn>
              <a:cxn ang="f29">
                <a:pos x="f15" y="f17"/>
              </a:cxn>
              <a:cxn ang="f29">
                <a:pos x="f22" y="f26"/>
              </a:cxn>
              <a:cxn ang="f29">
                <a:pos x="f16" y="f17"/>
              </a:cxn>
              <a:cxn ang="f29">
                <a:pos x="f27" y="f25"/>
              </a:cxn>
              <a:cxn ang="f29">
                <a:pos x="f16" y="f18"/>
              </a:cxn>
            </a:cxnLst>
            <a:rect l="f15" t="f18" r="f16" b="f17"/>
            <a:pathLst>
              <a:path w="21600" h="21600">
                <a:moveTo>
                  <a:pt x="f48" y="f49"/>
                </a:moveTo>
                <a:arcTo wR="f9" hR="f9" stAng="f29" swAng="f32"/>
                <a:close/>
              </a:path>
            </a:pathLst>
          </a:custGeom>
          <a:solidFill>
            <a:srgbClr val="729FCF"/>
          </a:solidFill>
          <a:ln w="0">
            <a:solidFill>
              <a:srgbClr val="3465A4"/>
            </a:solidFill>
            <a:prstDash val="solid"/>
          </a:ln>
        </p:spPr>
        <p:txBody>
          <a:bodyPr vert="horz" wrap="square" lIns="108847" tIns="54423" rIns="108847" bIns="54423" anchor="ctr" anchorCtr="0" compatLnSpc="0">
            <a:noAutofit/>
          </a:bodyPr>
          <a:lstStyle/>
          <a:p>
            <a:pPr hangingPunct="0"/>
            <a:endParaRPr lang="en-US" sz="2177">
              <a:latin typeface="Liberation Sans" pitchFamily="18"/>
              <a:ea typeface="Microsoft YaHei" pitchFamily="2"/>
              <a:cs typeface="Lucida Sans" pitchFamily="2"/>
            </a:endParaRPr>
          </a:p>
        </p:txBody>
      </p:sp>
      <p:sp>
        <p:nvSpPr>
          <p:cNvPr id="7" name="Connecteur droit 6">
            <a:extLst>
              <a:ext uri="{FF2B5EF4-FFF2-40B4-BE49-F238E27FC236}">
                <a16:creationId xmlns:a16="http://schemas.microsoft.com/office/drawing/2014/main" id="{D70F7E56-0201-4482-B8FA-E05E43308D73}"/>
              </a:ext>
            </a:extLst>
          </p:cNvPr>
          <p:cNvSpPr/>
          <p:nvPr/>
        </p:nvSpPr>
        <p:spPr>
          <a:xfrm>
            <a:off x="2760141" y="1648978"/>
            <a:ext cx="217693" cy="0"/>
          </a:xfrm>
          <a:prstGeom prst="line">
            <a:avLst/>
          </a:prstGeom>
          <a:noFill/>
          <a:ln w="0">
            <a:solidFill>
              <a:srgbClr val="3465A4"/>
            </a:solidFill>
            <a:prstDash val="solid"/>
          </a:ln>
        </p:spPr>
        <p:txBody>
          <a:bodyPr vert="horz" wrap="square" lIns="108847" tIns="54423" rIns="108847" bIns="54423" anchor="ctr" anchorCtr="0" compatLnSpc="0"/>
          <a:lstStyle/>
          <a:p>
            <a:pPr hangingPunct="0"/>
            <a:endParaRPr lang="en-US" sz="2177">
              <a:latin typeface="Liberation Sans" pitchFamily="18"/>
              <a:ea typeface="Microsoft YaHei" pitchFamily="2"/>
              <a:cs typeface="Lucida Sans" pitchFamily="2"/>
            </a:endParaRPr>
          </a:p>
        </p:txBody>
      </p:sp>
      <p:sp>
        <p:nvSpPr>
          <p:cNvPr id="8" name="Forme libre : forme 7">
            <a:extLst>
              <a:ext uri="{FF2B5EF4-FFF2-40B4-BE49-F238E27FC236}">
                <a16:creationId xmlns:a16="http://schemas.microsoft.com/office/drawing/2014/main" id="{6D31CF4F-9465-4301-A776-A17CB9D2C508}"/>
              </a:ext>
            </a:extLst>
          </p:cNvPr>
          <p:cNvSpPr/>
          <p:nvPr/>
        </p:nvSpPr>
        <p:spPr>
          <a:xfrm>
            <a:off x="5658073" y="1393841"/>
            <a:ext cx="829410" cy="276470"/>
          </a:xfrm>
          <a:custGeom>
            <a:avLst>
              <a:gd name="f0" fmla="val 4300"/>
              <a:gd name="f1" fmla="val 5400"/>
            </a:avLst>
            <a:gdLst>
              <a:gd name="f2" fmla="val w"/>
              <a:gd name="f3" fmla="val h"/>
              <a:gd name="f4" fmla="val 0"/>
              <a:gd name="f5" fmla="val 21600"/>
              <a:gd name="f6" fmla="val 10800"/>
              <a:gd name="f7" fmla="*/ f2 1 21600"/>
              <a:gd name="f8" fmla="*/ f3 1 21600"/>
              <a:gd name="f9" fmla="pin 0 f0 10800"/>
              <a:gd name="f10" fmla="pin 0 f1 10800"/>
              <a:gd name="f11" fmla="val f9"/>
              <a:gd name="f12" fmla="val f10"/>
              <a:gd name="f13" fmla="+- 21600 0 f9"/>
              <a:gd name="f14" fmla="+- 21600 0 f10"/>
              <a:gd name="f15" fmla="+- 10800 0 f10"/>
              <a:gd name="f16" fmla="*/ f9 f7 1"/>
              <a:gd name="f17" fmla="*/ f10 f8 1"/>
              <a:gd name="f18" fmla="*/ f9 f15 1"/>
              <a:gd name="f19" fmla="*/ f14 f8 1"/>
              <a:gd name="f20" fmla="*/ f12 f8 1"/>
              <a:gd name="f21" fmla="*/ f18 1 10800"/>
              <a:gd name="f22" fmla="+- 21600 0 f21"/>
              <a:gd name="f23" fmla="*/ f21 f7 1"/>
              <a:gd name="f24" fmla="*/ f22 f7 1"/>
            </a:gdLst>
            <a:ahLst>
              <a:ahXY gdRefX="f0" minX="f4" maxX="f6" gdRefY="f1" minY="f4" maxY="f6">
                <a:pos x="f16" y="f1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23" t="f20" r="f24" b="f19"/>
            <a:pathLst>
              <a:path w="21600" h="21600">
                <a:moveTo>
                  <a:pt x="f4" y="f6"/>
                </a:moveTo>
                <a:lnTo>
                  <a:pt x="f11" y="f4"/>
                </a:lnTo>
                <a:lnTo>
                  <a:pt x="f11" y="f12"/>
                </a:lnTo>
                <a:lnTo>
                  <a:pt x="f13" y="f12"/>
                </a:lnTo>
                <a:lnTo>
                  <a:pt x="f13" y="f4"/>
                </a:lnTo>
                <a:lnTo>
                  <a:pt x="f5" y="f6"/>
                </a:lnTo>
                <a:lnTo>
                  <a:pt x="f13" y="f5"/>
                </a:lnTo>
                <a:lnTo>
                  <a:pt x="f13" y="f14"/>
                </a:lnTo>
                <a:lnTo>
                  <a:pt x="f11" y="f14"/>
                </a:lnTo>
                <a:lnTo>
                  <a:pt x="f11" y="f5"/>
                </a:lnTo>
                <a:close/>
              </a:path>
            </a:pathLst>
          </a:custGeom>
          <a:solidFill>
            <a:srgbClr val="729FCF"/>
          </a:solidFill>
          <a:ln w="0">
            <a:solidFill>
              <a:srgbClr val="3465A4"/>
            </a:solidFill>
            <a:prstDash val="solid"/>
          </a:ln>
        </p:spPr>
        <p:txBody>
          <a:bodyPr vert="horz" wrap="square" lIns="108847" tIns="54423" rIns="108847" bIns="54423" anchor="ctr" anchorCtr="0" compatLnSpc="0">
            <a:noAutofit/>
          </a:bodyPr>
          <a:lstStyle/>
          <a:p>
            <a:pPr hangingPunct="0"/>
            <a:endParaRPr lang="en-US" sz="2177">
              <a:latin typeface="Liberation Sans" pitchFamily="18"/>
              <a:ea typeface="Microsoft YaHei" pitchFamily="2"/>
              <a:cs typeface="Lucida Sans" pitchFamily="2"/>
            </a:endParaRPr>
          </a:p>
        </p:txBody>
      </p:sp>
      <p:sp>
        <p:nvSpPr>
          <p:cNvPr id="9" name="Forme libre : forme 8">
            <a:extLst>
              <a:ext uri="{FF2B5EF4-FFF2-40B4-BE49-F238E27FC236}">
                <a16:creationId xmlns:a16="http://schemas.microsoft.com/office/drawing/2014/main" id="{4521BFE6-5F58-4B5C-999B-4993E0C1105F}"/>
              </a:ext>
            </a:extLst>
          </p:cNvPr>
          <p:cNvSpPr/>
          <p:nvPr/>
        </p:nvSpPr>
        <p:spPr>
          <a:xfrm>
            <a:off x="7517404" y="1219687"/>
            <a:ext cx="1512966" cy="552941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solidFill>
            <a:srgbClr val="729FCF"/>
          </a:solidFill>
          <a:ln w="0">
            <a:solidFill>
              <a:srgbClr val="3465A4"/>
            </a:solidFill>
            <a:prstDash val="solid"/>
          </a:ln>
        </p:spPr>
        <p:txBody>
          <a:bodyPr vert="horz" wrap="square" lIns="108847" tIns="54423" rIns="108847" bIns="54423" anchor="ctr" anchorCtr="0" compatLnSpc="0">
            <a:noAutofit/>
          </a:bodyPr>
          <a:lstStyle/>
          <a:p>
            <a:pPr algn="ctr" hangingPunct="0">
              <a:defRPr sz="1800"/>
            </a:pPr>
            <a:r>
              <a:rPr lang="en-US" sz="2177">
                <a:latin typeface="Liberation Sans" pitchFamily="18"/>
                <a:ea typeface="Microsoft YaHei" pitchFamily="2"/>
                <a:cs typeface="Lucida Sans" pitchFamily="2"/>
              </a:rPr>
              <a:t>API  Server</a:t>
            </a:r>
          </a:p>
        </p:txBody>
      </p:sp>
      <p:sp>
        <p:nvSpPr>
          <p:cNvPr id="10" name="Forme libre : forme 9">
            <a:extLst>
              <a:ext uri="{FF2B5EF4-FFF2-40B4-BE49-F238E27FC236}">
                <a16:creationId xmlns:a16="http://schemas.microsoft.com/office/drawing/2014/main" id="{E93A7A40-36D5-44E3-A313-E65FD1D84FD0}"/>
              </a:ext>
            </a:extLst>
          </p:cNvPr>
          <p:cNvSpPr/>
          <p:nvPr/>
        </p:nvSpPr>
        <p:spPr>
          <a:xfrm>
            <a:off x="7095077" y="1409080"/>
            <a:ext cx="217693" cy="217693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*/ 5419351 1 1725033"/>
              <a:gd name="f6" fmla="*/ 10800 10800 1"/>
              <a:gd name="f7" fmla="+- 0 0 0"/>
              <a:gd name="f8" fmla="+- 0 0 360"/>
              <a:gd name="f9" fmla="val 10800"/>
              <a:gd name="f10" fmla="*/ f3 1 21600"/>
              <a:gd name="f11" fmla="*/ f4 1 21600"/>
              <a:gd name="f12" fmla="*/ 0 f5 1"/>
              <a:gd name="f13" fmla="*/ f7 f0 1"/>
              <a:gd name="f14" fmla="*/ f8 f0 1"/>
              <a:gd name="f15" fmla="*/ 3163 f10 1"/>
              <a:gd name="f16" fmla="*/ 18437 f10 1"/>
              <a:gd name="f17" fmla="*/ 18437 f11 1"/>
              <a:gd name="f18" fmla="*/ 3163 f11 1"/>
              <a:gd name="f19" fmla="*/ f12 1 f2"/>
              <a:gd name="f20" fmla="*/ f13 1 f2"/>
              <a:gd name="f21" fmla="*/ f14 1 f2"/>
              <a:gd name="f22" fmla="*/ 10800 f10 1"/>
              <a:gd name="f23" fmla="*/ 0 f11 1"/>
              <a:gd name="f24" fmla="*/ 0 f10 1"/>
              <a:gd name="f25" fmla="*/ 10800 f11 1"/>
              <a:gd name="f26" fmla="*/ 21600 f11 1"/>
              <a:gd name="f27" fmla="*/ 21600 f10 1"/>
              <a:gd name="f28" fmla="+- 0 0 f19"/>
              <a:gd name="f29" fmla="+- f20 0 f1"/>
              <a:gd name="f30" fmla="+- f21 0 f1"/>
              <a:gd name="f31" fmla="*/ f28 f0 1"/>
              <a:gd name="f32" fmla="+- f30 0 f29"/>
              <a:gd name="f33" fmla="*/ f31 1 f5"/>
              <a:gd name="f34" fmla="+- f33 0 f1"/>
              <a:gd name="f35" fmla="cos 1 f34"/>
              <a:gd name="f36" fmla="sin 1 f34"/>
              <a:gd name="f37" fmla="+- 0 0 f35"/>
              <a:gd name="f38" fmla="+- 0 0 f36"/>
              <a:gd name="f39" fmla="*/ 10800 f37 1"/>
              <a:gd name="f40" fmla="*/ 10800 f38 1"/>
              <a:gd name="f41" fmla="*/ f39 f39 1"/>
              <a:gd name="f42" fmla="*/ f40 f40 1"/>
              <a:gd name="f43" fmla="+- f41 f42 0"/>
              <a:gd name="f44" fmla="sqrt f43"/>
              <a:gd name="f45" fmla="*/ f6 1 f44"/>
              <a:gd name="f46" fmla="*/ f37 f45 1"/>
              <a:gd name="f47" fmla="*/ f38 f45 1"/>
              <a:gd name="f48" fmla="+- 10800 0 f46"/>
              <a:gd name="f49" fmla="+- 10800 0 f47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22" y="f23"/>
              </a:cxn>
              <a:cxn ang="f29">
                <a:pos x="f15" y="f18"/>
              </a:cxn>
              <a:cxn ang="f29">
                <a:pos x="f24" y="f25"/>
              </a:cxn>
              <a:cxn ang="f29">
                <a:pos x="f15" y="f17"/>
              </a:cxn>
              <a:cxn ang="f29">
                <a:pos x="f22" y="f26"/>
              </a:cxn>
              <a:cxn ang="f29">
                <a:pos x="f16" y="f17"/>
              </a:cxn>
              <a:cxn ang="f29">
                <a:pos x="f27" y="f25"/>
              </a:cxn>
              <a:cxn ang="f29">
                <a:pos x="f16" y="f18"/>
              </a:cxn>
            </a:cxnLst>
            <a:rect l="f15" t="f18" r="f16" b="f17"/>
            <a:pathLst>
              <a:path w="21600" h="21600">
                <a:moveTo>
                  <a:pt x="f48" y="f49"/>
                </a:moveTo>
                <a:arcTo wR="f9" hR="f9" stAng="f29" swAng="f32"/>
                <a:close/>
              </a:path>
            </a:pathLst>
          </a:custGeom>
          <a:solidFill>
            <a:srgbClr val="729FCF"/>
          </a:solidFill>
          <a:ln w="0">
            <a:solidFill>
              <a:srgbClr val="3465A4"/>
            </a:solidFill>
            <a:prstDash val="solid"/>
          </a:ln>
        </p:spPr>
        <p:txBody>
          <a:bodyPr vert="horz" wrap="square" lIns="108847" tIns="54423" rIns="108847" bIns="54423" anchor="ctr" anchorCtr="0" compatLnSpc="0">
            <a:noAutofit/>
          </a:bodyPr>
          <a:lstStyle/>
          <a:p>
            <a:pPr hangingPunct="0"/>
            <a:endParaRPr lang="en-US" sz="2177">
              <a:latin typeface="Liberation Sans" pitchFamily="18"/>
              <a:ea typeface="Microsoft YaHei" pitchFamily="2"/>
              <a:cs typeface="Lucida Sans" pitchFamily="2"/>
            </a:endParaRPr>
          </a:p>
        </p:txBody>
      </p:sp>
      <p:sp>
        <p:nvSpPr>
          <p:cNvPr id="11" name="Connecteur droit 10">
            <a:extLst>
              <a:ext uri="{FF2B5EF4-FFF2-40B4-BE49-F238E27FC236}">
                <a16:creationId xmlns:a16="http://schemas.microsoft.com/office/drawing/2014/main" id="{C7887A36-DFAE-4167-ABB0-D80E9E6DCD84}"/>
              </a:ext>
            </a:extLst>
          </p:cNvPr>
          <p:cNvSpPr/>
          <p:nvPr/>
        </p:nvSpPr>
        <p:spPr>
          <a:xfrm>
            <a:off x="7312770" y="1517927"/>
            <a:ext cx="217693" cy="0"/>
          </a:xfrm>
          <a:prstGeom prst="line">
            <a:avLst/>
          </a:prstGeom>
          <a:noFill/>
          <a:ln w="0">
            <a:solidFill>
              <a:srgbClr val="3465A4"/>
            </a:solidFill>
            <a:prstDash val="solid"/>
          </a:ln>
        </p:spPr>
        <p:txBody>
          <a:bodyPr vert="horz" wrap="square" lIns="108847" tIns="54423" rIns="108847" bIns="54423" anchor="ctr" anchorCtr="0" compatLnSpc="0"/>
          <a:lstStyle/>
          <a:p>
            <a:pPr hangingPunct="0"/>
            <a:endParaRPr lang="en-US" sz="2177">
              <a:latin typeface="Liberation Sans" pitchFamily="18"/>
              <a:ea typeface="Microsoft YaHei" pitchFamily="2"/>
              <a:cs typeface="Lucida Sans" pitchFamily="2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1F0653C9-EADC-4DF0-9D43-D0E421114472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-4846" y="1047781"/>
            <a:ext cx="2538144" cy="1610234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0B2E174A-8BC3-4E2C-BA99-84F89FA4052A}"/>
              </a:ext>
            </a:extLst>
          </p:cNvPr>
          <p:cNvPicPr>
            <a:picLocks noChangeAspect="1"/>
          </p:cNvPicPr>
          <p:nvPr/>
        </p:nvPicPr>
        <p:blipFill>
          <a:blip r:embed="rId4">
            <a:lum/>
            <a:alphaModFix/>
          </a:blip>
          <a:srcRect/>
          <a:stretch>
            <a:fillRect/>
          </a:stretch>
        </p:blipFill>
        <p:spPr>
          <a:xfrm>
            <a:off x="10210269" y="1073770"/>
            <a:ext cx="1427820" cy="1385234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Forme libre : forme 13">
            <a:extLst>
              <a:ext uri="{FF2B5EF4-FFF2-40B4-BE49-F238E27FC236}">
                <a16:creationId xmlns:a16="http://schemas.microsoft.com/office/drawing/2014/main" id="{61473075-6CC4-4C0F-95D3-71A372544BEC}"/>
              </a:ext>
            </a:extLst>
          </p:cNvPr>
          <p:cNvSpPr/>
          <p:nvPr/>
        </p:nvSpPr>
        <p:spPr>
          <a:xfrm>
            <a:off x="2662615" y="2978648"/>
            <a:ext cx="2065908" cy="27647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solidFill>
            <a:srgbClr val="729FCF"/>
          </a:solidFill>
          <a:ln w="0">
            <a:solidFill>
              <a:srgbClr val="3465A4"/>
            </a:solidFill>
            <a:prstDash val="solid"/>
          </a:ln>
        </p:spPr>
        <p:txBody>
          <a:bodyPr vert="horz" wrap="square" lIns="108847" tIns="54423" rIns="108847" bIns="54423" anchor="ctr" anchorCtr="0" compatLnSpc="0">
            <a:noAutofit/>
          </a:bodyPr>
          <a:lstStyle/>
          <a:p>
            <a:pPr algn="ctr" hangingPunct="0">
              <a:defRPr sz="1800"/>
            </a:pPr>
            <a:r>
              <a:rPr lang="en-US" sz="2177">
                <a:latin typeface="Liberation Sans" pitchFamily="18"/>
                <a:ea typeface="Microsoft YaHei" pitchFamily="2"/>
                <a:cs typeface="Lucida Sans" pitchFamily="2"/>
              </a:rPr>
              <a:t>NodeManager</a:t>
            </a:r>
          </a:p>
        </p:txBody>
      </p:sp>
      <p:sp>
        <p:nvSpPr>
          <p:cNvPr id="15" name="Forme libre : forme 14">
            <a:extLst>
              <a:ext uri="{FF2B5EF4-FFF2-40B4-BE49-F238E27FC236}">
                <a16:creationId xmlns:a16="http://schemas.microsoft.com/office/drawing/2014/main" id="{0CE9F5AA-BDD8-44AA-A87A-B37A990767FF}"/>
              </a:ext>
            </a:extLst>
          </p:cNvPr>
          <p:cNvSpPr/>
          <p:nvPr/>
        </p:nvSpPr>
        <p:spPr>
          <a:xfrm>
            <a:off x="5658073" y="2961233"/>
            <a:ext cx="829410" cy="276470"/>
          </a:xfrm>
          <a:custGeom>
            <a:avLst>
              <a:gd name="f0" fmla="val 4300"/>
              <a:gd name="f1" fmla="val 5400"/>
            </a:avLst>
            <a:gdLst>
              <a:gd name="f2" fmla="val w"/>
              <a:gd name="f3" fmla="val h"/>
              <a:gd name="f4" fmla="val 0"/>
              <a:gd name="f5" fmla="val 21600"/>
              <a:gd name="f6" fmla="val 10800"/>
              <a:gd name="f7" fmla="*/ f2 1 21600"/>
              <a:gd name="f8" fmla="*/ f3 1 21600"/>
              <a:gd name="f9" fmla="pin 0 f0 10800"/>
              <a:gd name="f10" fmla="pin 0 f1 10800"/>
              <a:gd name="f11" fmla="val f9"/>
              <a:gd name="f12" fmla="val f10"/>
              <a:gd name="f13" fmla="+- 21600 0 f9"/>
              <a:gd name="f14" fmla="+- 21600 0 f10"/>
              <a:gd name="f15" fmla="+- 10800 0 f10"/>
              <a:gd name="f16" fmla="*/ f9 f7 1"/>
              <a:gd name="f17" fmla="*/ f10 f8 1"/>
              <a:gd name="f18" fmla="*/ f9 f15 1"/>
              <a:gd name="f19" fmla="*/ f14 f8 1"/>
              <a:gd name="f20" fmla="*/ f12 f8 1"/>
              <a:gd name="f21" fmla="*/ f18 1 10800"/>
              <a:gd name="f22" fmla="+- 21600 0 f21"/>
              <a:gd name="f23" fmla="*/ f21 f7 1"/>
              <a:gd name="f24" fmla="*/ f22 f7 1"/>
            </a:gdLst>
            <a:ahLst>
              <a:ahXY gdRefX="f0" minX="f4" maxX="f6" gdRefY="f1" minY="f4" maxY="f6">
                <a:pos x="f16" y="f1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23" t="f20" r="f24" b="f19"/>
            <a:pathLst>
              <a:path w="21600" h="21600">
                <a:moveTo>
                  <a:pt x="f4" y="f6"/>
                </a:moveTo>
                <a:lnTo>
                  <a:pt x="f11" y="f4"/>
                </a:lnTo>
                <a:lnTo>
                  <a:pt x="f11" y="f12"/>
                </a:lnTo>
                <a:lnTo>
                  <a:pt x="f13" y="f12"/>
                </a:lnTo>
                <a:lnTo>
                  <a:pt x="f13" y="f4"/>
                </a:lnTo>
                <a:lnTo>
                  <a:pt x="f5" y="f6"/>
                </a:lnTo>
                <a:lnTo>
                  <a:pt x="f13" y="f5"/>
                </a:lnTo>
                <a:lnTo>
                  <a:pt x="f13" y="f14"/>
                </a:lnTo>
                <a:lnTo>
                  <a:pt x="f11" y="f14"/>
                </a:lnTo>
                <a:lnTo>
                  <a:pt x="f11" y="f5"/>
                </a:lnTo>
                <a:close/>
              </a:path>
            </a:pathLst>
          </a:custGeom>
          <a:solidFill>
            <a:srgbClr val="729FCF"/>
          </a:solidFill>
          <a:ln w="0">
            <a:solidFill>
              <a:srgbClr val="3465A4"/>
            </a:solidFill>
            <a:prstDash val="solid"/>
          </a:ln>
        </p:spPr>
        <p:txBody>
          <a:bodyPr vert="horz" wrap="square" lIns="108847" tIns="54423" rIns="108847" bIns="54423" anchor="ctr" anchorCtr="0" compatLnSpc="0">
            <a:noAutofit/>
          </a:bodyPr>
          <a:lstStyle/>
          <a:p>
            <a:pPr hangingPunct="0"/>
            <a:endParaRPr lang="en-US" sz="2177">
              <a:latin typeface="Liberation Sans" pitchFamily="18"/>
              <a:ea typeface="Microsoft YaHei" pitchFamily="2"/>
              <a:cs typeface="Lucida Sans" pitchFamily="2"/>
            </a:endParaRPr>
          </a:p>
        </p:txBody>
      </p:sp>
      <p:sp>
        <p:nvSpPr>
          <p:cNvPr id="16" name="Forme libre : forme 15">
            <a:extLst>
              <a:ext uri="{FF2B5EF4-FFF2-40B4-BE49-F238E27FC236}">
                <a16:creationId xmlns:a16="http://schemas.microsoft.com/office/drawing/2014/main" id="{090EDB86-A61F-4B29-A043-56A0C32EC3BE}"/>
              </a:ext>
            </a:extLst>
          </p:cNvPr>
          <p:cNvSpPr/>
          <p:nvPr/>
        </p:nvSpPr>
        <p:spPr>
          <a:xfrm>
            <a:off x="7476041" y="2986050"/>
            <a:ext cx="2065908" cy="27647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solidFill>
            <a:srgbClr val="729FCF"/>
          </a:solidFill>
          <a:ln w="0">
            <a:solidFill>
              <a:srgbClr val="3465A4"/>
            </a:solidFill>
            <a:prstDash val="solid"/>
          </a:ln>
        </p:spPr>
        <p:txBody>
          <a:bodyPr vert="horz" wrap="square" lIns="108847" tIns="54423" rIns="108847" bIns="54423" anchor="ctr" anchorCtr="0" compatLnSpc="0">
            <a:noAutofit/>
          </a:bodyPr>
          <a:lstStyle/>
          <a:p>
            <a:pPr algn="ctr" hangingPunct="0">
              <a:defRPr sz="1800"/>
            </a:pPr>
            <a:r>
              <a:rPr lang="en-US" sz="2177">
                <a:latin typeface="Liberation Sans" pitchFamily="18"/>
                <a:ea typeface="Microsoft YaHei" pitchFamily="2"/>
                <a:cs typeface="Lucida Sans" pitchFamily="2"/>
              </a:rPr>
              <a:t>Kubelet</a:t>
            </a:r>
          </a:p>
        </p:txBody>
      </p:sp>
      <p:sp>
        <p:nvSpPr>
          <p:cNvPr id="17" name="Forme libre : forme 16">
            <a:extLst>
              <a:ext uri="{FF2B5EF4-FFF2-40B4-BE49-F238E27FC236}">
                <a16:creationId xmlns:a16="http://schemas.microsoft.com/office/drawing/2014/main" id="{075D05DF-C3FB-4654-B162-DCCE36BC2ED9}"/>
              </a:ext>
            </a:extLst>
          </p:cNvPr>
          <p:cNvSpPr/>
          <p:nvPr/>
        </p:nvSpPr>
        <p:spPr>
          <a:xfrm>
            <a:off x="2662615" y="3618666"/>
            <a:ext cx="2211763" cy="552941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solidFill>
            <a:srgbClr val="729FCF"/>
          </a:solidFill>
          <a:ln w="0">
            <a:solidFill>
              <a:srgbClr val="3465A4"/>
            </a:solidFill>
            <a:prstDash val="solid"/>
          </a:ln>
        </p:spPr>
        <p:txBody>
          <a:bodyPr vert="horz" wrap="square" lIns="108847" tIns="54423" rIns="108847" bIns="54423" anchor="ctr" anchorCtr="0" compatLnSpc="0">
            <a:noAutofit/>
          </a:bodyPr>
          <a:lstStyle/>
          <a:p>
            <a:pPr algn="ctr" hangingPunct="0">
              <a:defRPr sz="1800"/>
            </a:pPr>
            <a:r>
              <a:rPr lang="en-US" sz="2177">
                <a:latin typeface="Liberation Sans" pitchFamily="18"/>
                <a:ea typeface="Microsoft YaHei" pitchFamily="2"/>
                <a:cs typeface="Lucida Sans" pitchFamily="2"/>
              </a:rPr>
              <a:t>Container</a:t>
            </a:r>
          </a:p>
          <a:p>
            <a:pPr algn="ctr" hangingPunct="0">
              <a:defRPr sz="1800"/>
            </a:pPr>
            <a:r>
              <a:rPr lang="en-US" sz="2177">
                <a:latin typeface="Liberation Sans" pitchFamily="18"/>
                <a:ea typeface="Microsoft YaHei" pitchFamily="2"/>
                <a:cs typeface="Lucida Sans" pitchFamily="2"/>
              </a:rPr>
              <a:t>(Jvm, Docker)</a:t>
            </a:r>
          </a:p>
        </p:txBody>
      </p:sp>
      <p:sp>
        <p:nvSpPr>
          <p:cNvPr id="18" name="Forme libre : forme 17">
            <a:extLst>
              <a:ext uri="{FF2B5EF4-FFF2-40B4-BE49-F238E27FC236}">
                <a16:creationId xmlns:a16="http://schemas.microsoft.com/office/drawing/2014/main" id="{DFE70B90-095B-4757-BFFE-19968ABBB768}"/>
              </a:ext>
            </a:extLst>
          </p:cNvPr>
          <p:cNvSpPr/>
          <p:nvPr/>
        </p:nvSpPr>
        <p:spPr>
          <a:xfrm>
            <a:off x="5658073" y="3832005"/>
            <a:ext cx="829410" cy="276470"/>
          </a:xfrm>
          <a:custGeom>
            <a:avLst>
              <a:gd name="f0" fmla="val 4300"/>
              <a:gd name="f1" fmla="val 5400"/>
            </a:avLst>
            <a:gdLst>
              <a:gd name="f2" fmla="val w"/>
              <a:gd name="f3" fmla="val h"/>
              <a:gd name="f4" fmla="val 0"/>
              <a:gd name="f5" fmla="val 21600"/>
              <a:gd name="f6" fmla="val 10800"/>
              <a:gd name="f7" fmla="*/ f2 1 21600"/>
              <a:gd name="f8" fmla="*/ f3 1 21600"/>
              <a:gd name="f9" fmla="pin 0 f0 10800"/>
              <a:gd name="f10" fmla="pin 0 f1 10800"/>
              <a:gd name="f11" fmla="val f9"/>
              <a:gd name="f12" fmla="val f10"/>
              <a:gd name="f13" fmla="+- 21600 0 f9"/>
              <a:gd name="f14" fmla="+- 21600 0 f10"/>
              <a:gd name="f15" fmla="+- 10800 0 f10"/>
              <a:gd name="f16" fmla="*/ f9 f7 1"/>
              <a:gd name="f17" fmla="*/ f10 f8 1"/>
              <a:gd name="f18" fmla="*/ f9 f15 1"/>
              <a:gd name="f19" fmla="*/ f14 f8 1"/>
              <a:gd name="f20" fmla="*/ f12 f8 1"/>
              <a:gd name="f21" fmla="*/ f18 1 10800"/>
              <a:gd name="f22" fmla="+- 21600 0 f21"/>
              <a:gd name="f23" fmla="*/ f21 f7 1"/>
              <a:gd name="f24" fmla="*/ f22 f7 1"/>
            </a:gdLst>
            <a:ahLst>
              <a:ahXY gdRefX="f0" minX="f4" maxX="f6" gdRefY="f1" minY="f4" maxY="f6">
                <a:pos x="f16" y="f1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23" t="f20" r="f24" b="f19"/>
            <a:pathLst>
              <a:path w="21600" h="21600">
                <a:moveTo>
                  <a:pt x="f4" y="f6"/>
                </a:moveTo>
                <a:lnTo>
                  <a:pt x="f11" y="f4"/>
                </a:lnTo>
                <a:lnTo>
                  <a:pt x="f11" y="f12"/>
                </a:lnTo>
                <a:lnTo>
                  <a:pt x="f13" y="f12"/>
                </a:lnTo>
                <a:lnTo>
                  <a:pt x="f13" y="f4"/>
                </a:lnTo>
                <a:lnTo>
                  <a:pt x="f5" y="f6"/>
                </a:lnTo>
                <a:lnTo>
                  <a:pt x="f13" y="f5"/>
                </a:lnTo>
                <a:lnTo>
                  <a:pt x="f13" y="f14"/>
                </a:lnTo>
                <a:lnTo>
                  <a:pt x="f11" y="f14"/>
                </a:lnTo>
                <a:lnTo>
                  <a:pt x="f11" y="f5"/>
                </a:lnTo>
                <a:close/>
              </a:path>
            </a:pathLst>
          </a:custGeom>
          <a:solidFill>
            <a:srgbClr val="729FCF"/>
          </a:solidFill>
          <a:ln w="0">
            <a:solidFill>
              <a:srgbClr val="3465A4"/>
            </a:solidFill>
            <a:prstDash val="solid"/>
          </a:ln>
        </p:spPr>
        <p:txBody>
          <a:bodyPr vert="horz" wrap="square" lIns="108847" tIns="54423" rIns="108847" bIns="54423" anchor="ctr" anchorCtr="0" compatLnSpc="0">
            <a:noAutofit/>
          </a:bodyPr>
          <a:lstStyle/>
          <a:p>
            <a:pPr hangingPunct="0"/>
            <a:endParaRPr lang="en-US" sz="2177">
              <a:latin typeface="Liberation Sans" pitchFamily="18"/>
              <a:ea typeface="Microsoft YaHei" pitchFamily="2"/>
              <a:cs typeface="Lucida Sans" pitchFamily="2"/>
            </a:endParaRPr>
          </a:p>
        </p:txBody>
      </p:sp>
      <p:sp>
        <p:nvSpPr>
          <p:cNvPr id="19" name="Forme libre : forme 18">
            <a:extLst>
              <a:ext uri="{FF2B5EF4-FFF2-40B4-BE49-F238E27FC236}">
                <a16:creationId xmlns:a16="http://schemas.microsoft.com/office/drawing/2014/main" id="{AA95E2C3-CAB9-4651-825D-714CB0D70E9B}"/>
              </a:ext>
            </a:extLst>
          </p:cNvPr>
          <p:cNvSpPr/>
          <p:nvPr/>
        </p:nvSpPr>
        <p:spPr>
          <a:xfrm>
            <a:off x="7489102" y="3618666"/>
            <a:ext cx="2211763" cy="552941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solidFill>
            <a:srgbClr val="729FCF"/>
          </a:solidFill>
          <a:ln w="0">
            <a:solidFill>
              <a:srgbClr val="3465A4"/>
            </a:solidFill>
            <a:prstDash val="solid"/>
          </a:ln>
        </p:spPr>
        <p:txBody>
          <a:bodyPr vert="horz" wrap="square" lIns="108847" tIns="54423" rIns="108847" bIns="54423" anchor="ctr" anchorCtr="0" compatLnSpc="0">
            <a:noAutofit/>
          </a:bodyPr>
          <a:lstStyle/>
          <a:p>
            <a:pPr algn="ctr" hangingPunct="0">
              <a:defRPr sz="1800"/>
            </a:pPr>
            <a:r>
              <a:rPr lang="en-US" sz="2177">
                <a:latin typeface="Liberation Sans" pitchFamily="18"/>
                <a:ea typeface="Microsoft YaHei" pitchFamily="2"/>
                <a:cs typeface="Lucida Sans" pitchFamily="2"/>
              </a:rPr>
              <a:t>Container (Docker,..)</a:t>
            </a:r>
          </a:p>
        </p:txBody>
      </p:sp>
      <p:sp>
        <p:nvSpPr>
          <p:cNvPr id="20" name="Forme libre : forme 19">
            <a:extLst>
              <a:ext uri="{FF2B5EF4-FFF2-40B4-BE49-F238E27FC236}">
                <a16:creationId xmlns:a16="http://schemas.microsoft.com/office/drawing/2014/main" id="{D0ED5AD4-0F47-4842-8541-E8F2357E5844}"/>
              </a:ext>
            </a:extLst>
          </p:cNvPr>
          <p:cNvSpPr/>
          <p:nvPr/>
        </p:nvSpPr>
        <p:spPr>
          <a:xfrm>
            <a:off x="2662615" y="4463315"/>
            <a:ext cx="2211763" cy="552941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solidFill>
            <a:srgbClr val="729FCF"/>
          </a:solidFill>
          <a:ln w="0">
            <a:solidFill>
              <a:srgbClr val="3465A4"/>
            </a:solidFill>
            <a:prstDash val="solid"/>
          </a:ln>
        </p:spPr>
        <p:txBody>
          <a:bodyPr vert="horz" wrap="square" lIns="108847" tIns="54423" rIns="108847" bIns="54423" anchor="ctr" anchorCtr="0" compatLnSpc="0">
            <a:noAutofit/>
          </a:bodyPr>
          <a:lstStyle/>
          <a:p>
            <a:pPr algn="ctr" hangingPunct="0">
              <a:defRPr sz="1800"/>
            </a:pPr>
            <a:r>
              <a:rPr lang="en-US" sz="1935">
                <a:latin typeface="Liberation Sans" pitchFamily="18"/>
                <a:ea typeface="Microsoft YaHei" pitchFamily="2"/>
                <a:cs typeface="Lucida Sans" pitchFamily="2"/>
              </a:rPr>
              <a:t>App Master</a:t>
            </a:r>
          </a:p>
          <a:p>
            <a:pPr algn="ctr" hangingPunct="0">
              <a:defRPr sz="1800"/>
            </a:pPr>
            <a:r>
              <a:rPr lang="en-US" sz="1935">
                <a:latin typeface="Liberation Sans" pitchFamily="18"/>
                <a:ea typeface="Microsoft YaHei" pitchFamily="2"/>
                <a:cs typeface="Lucida Sans" pitchFamily="2"/>
              </a:rPr>
              <a:t>( 1 per App)</a:t>
            </a:r>
          </a:p>
        </p:txBody>
      </p:sp>
      <p:sp>
        <p:nvSpPr>
          <p:cNvPr id="21" name="Forme libre : forme 20">
            <a:extLst>
              <a:ext uri="{FF2B5EF4-FFF2-40B4-BE49-F238E27FC236}">
                <a16:creationId xmlns:a16="http://schemas.microsoft.com/office/drawing/2014/main" id="{D5AD572B-E54D-4A2E-A9CB-7E8F03C73505}"/>
              </a:ext>
            </a:extLst>
          </p:cNvPr>
          <p:cNvSpPr/>
          <p:nvPr/>
        </p:nvSpPr>
        <p:spPr>
          <a:xfrm>
            <a:off x="5660250" y="4593931"/>
            <a:ext cx="829410" cy="276470"/>
          </a:xfrm>
          <a:custGeom>
            <a:avLst>
              <a:gd name="f0" fmla="val 4300"/>
              <a:gd name="f1" fmla="val 5400"/>
            </a:avLst>
            <a:gdLst>
              <a:gd name="f2" fmla="val w"/>
              <a:gd name="f3" fmla="val h"/>
              <a:gd name="f4" fmla="val 0"/>
              <a:gd name="f5" fmla="val 21600"/>
              <a:gd name="f6" fmla="val 10800"/>
              <a:gd name="f7" fmla="*/ f2 1 21600"/>
              <a:gd name="f8" fmla="*/ f3 1 21600"/>
              <a:gd name="f9" fmla="pin 0 f0 10800"/>
              <a:gd name="f10" fmla="pin 0 f1 10800"/>
              <a:gd name="f11" fmla="val f9"/>
              <a:gd name="f12" fmla="val f10"/>
              <a:gd name="f13" fmla="+- 21600 0 f9"/>
              <a:gd name="f14" fmla="+- 21600 0 f10"/>
              <a:gd name="f15" fmla="+- 10800 0 f10"/>
              <a:gd name="f16" fmla="*/ f9 f7 1"/>
              <a:gd name="f17" fmla="*/ f10 f8 1"/>
              <a:gd name="f18" fmla="*/ f9 f15 1"/>
              <a:gd name="f19" fmla="*/ f14 f8 1"/>
              <a:gd name="f20" fmla="*/ f12 f8 1"/>
              <a:gd name="f21" fmla="*/ f18 1 10800"/>
              <a:gd name="f22" fmla="+- 21600 0 f21"/>
              <a:gd name="f23" fmla="*/ f21 f7 1"/>
              <a:gd name="f24" fmla="*/ f22 f7 1"/>
            </a:gdLst>
            <a:ahLst>
              <a:ahXY gdRefX="f0" minX="f4" maxX="f6" gdRefY="f1" minY="f4" maxY="f6">
                <a:pos x="f16" y="f1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23" t="f20" r="f24" b="f19"/>
            <a:pathLst>
              <a:path w="21600" h="21600">
                <a:moveTo>
                  <a:pt x="f4" y="f6"/>
                </a:moveTo>
                <a:lnTo>
                  <a:pt x="f11" y="f4"/>
                </a:lnTo>
                <a:lnTo>
                  <a:pt x="f11" y="f12"/>
                </a:lnTo>
                <a:lnTo>
                  <a:pt x="f13" y="f12"/>
                </a:lnTo>
                <a:lnTo>
                  <a:pt x="f13" y="f4"/>
                </a:lnTo>
                <a:lnTo>
                  <a:pt x="f5" y="f6"/>
                </a:lnTo>
                <a:lnTo>
                  <a:pt x="f13" y="f5"/>
                </a:lnTo>
                <a:lnTo>
                  <a:pt x="f13" y="f14"/>
                </a:lnTo>
                <a:lnTo>
                  <a:pt x="f11" y="f14"/>
                </a:lnTo>
                <a:lnTo>
                  <a:pt x="f11" y="f5"/>
                </a:lnTo>
                <a:close/>
              </a:path>
            </a:pathLst>
          </a:custGeom>
          <a:solidFill>
            <a:srgbClr val="729FCF"/>
          </a:solidFill>
          <a:ln w="0">
            <a:solidFill>
              <a:srgbClr val="3465A4"/>
            </a:solidFill>
            <a:prstDash val="solid"/>
          </a:ln>
        </p:spPr>
        <p:txBody>
          <a:bodyPr vert="horz" wrap="square" lIns="108847" tIns="54423" rIns="108847" bIns="54423" anchor="ctr" anchorCtr="0" compatLnSpc="0">
            <a:noAutofit/>
          </a:bodyPr>
          <a:lstStyle/>
          <a:p>
            <a:pPr hangingPunct="0"/>
            <a:endParaRPr lang="en-US" sz="2177">
              <a:latin typeface="Liberation Sans" pitchFamily="18"/>
              <a:ea typeface="Microsoft YaHei" pitchFamily="2"/>
              <a:cs typeface="Lucida Sans" pitchFamily="2"/>
            </a:endParaRPr>
          </a:p>
        </p:txBody>
      </p:sp>
      <p:sp>
        <p:nvSpPr>
          <p:cNvPr id="22" name="Forme libre : forme 21">
            <a:extLst>
              <a:ext uri="{FF2B5EF4-FFF2-40B4-BE49-F238E27FC236}">
                <a16:creationId xmlns:a16="http://schemas.microsoft.com/office/drawing/2014/main" id="{9B30BDBF-ED79-44FB-9102-E55B9E141E6F}"/>
              </a:ext>
            </a:extLst>
          </p:cNvPr>
          <p:cNvSpPr/>
          <p:nvPr/>
        </p:nvSpPr>
        <p:spPr>
          <a:xfrm>
            <a:off x="7489102" y="4463315"/>
            <a:ext cx="2211763" cy="552941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solidFill>
            <a:srgbClr val="729FCF"/>
          </a:solidFill>
          <a:ln w="0">
            <a:solidFill>
              <a:srgbClr val="3465A4"/>
            </a:solidFill>
            <a:prstDash val="solid"/>
          </a:ln>
        </p:spPr>
        <p:txBody>
          <a:bodyPr vert="horz" wrap="square" lIns="108847" tIns="54423" rIns="108847" bIns="54423" anchor="ctr" anchorCtr="0" compatLnSpc="0">
            <a:noAutofit/>
          </a:bodyPr>
          <a:lstStyle/>
          <a:p>
            <a:pPr algn="ctr" hangingPunct="0">
              <a:defRPr sz="1800"/>
            </a:pPr>
            <a:r>
              <a:rPr lang="en-US" sz="1935">
                <a:latin typeface="Liberation Sans" pitchFamily="18"/>
                <a:ea typeface="Microsoft YaHei" pitchFamily="2"/>
                <a:cs typeface="Lucida Sans" pitchFamily="2"/>
              </a:rPr>
              <a:t>K8s Operator</a:t>
            </a:r>
            <a:br>
              <a:rPr lang="en-US" sz="1935">
                <a:latin typeface="Liberation Sans" pitchFamily="18"/>
                <a:ea typeface="Microsoft YaHei" pitchFamily="2"/>
                <a:cs typeface="Lucida Sans" pitchFamily="2"/>
              </a:rPr>
            </a:br>
            <a:r>
              <a:rPr lang="en-US" sz="1935">
                <a:latin typeface="Liberation Sans" pitchFamily="18"/>
                <a:ea typeface="Microsoft YaHei" pitchFamily="2"/>
                <a:cs typeface="Lucida Sans" pitchFamily="2"/>
              </a:rPr>
              <a:t>(1 per Type)</a:t>
            </a:r>
          </a:p>
        </p:txBody>
      </p:sp>
      <p:sp>
        <p:nvSpPr>
          <p:cNvPr id="23" name="Forme libre : forme 22">
            <a:extLst>
              <a:ext uri="{FF2B5EF4-FFF2-40B4-BE49-F238E27FC236}">
                <a16:creationId xmlns:a16="http://schemas.microsoft.com/office/drawing/2014/main" id="{CA3D99B3-2037-4282-B084-677C3CD9DD2B}"/>
              </a:ext>
            </a:extLst>
          </p:cNvPr>
          <p:cNvSpPr/>
          <p:nvPr/>
        </p:nvSpPr>
        <p:spPr>
          <a:xfrm>
            <a:off x="4275721" y="2208014"/>
            <a:ext cx="552941" cy="552941"/>
          </a:xfrm>
          <a:custGeom>
            <a:avLst>
              <a:gd name="f0" fmla="val 5400"/>
            </a:avLst>
            <a:gdLst>
              <a:gd name="f1" fmla="val 10800000"/>
              <a:gd name="f2" fmla="val 5400000"/>
              <a:gd name="f3" fmla="val 180"/>
              <a:gd name="f4" fmla="val w"/>
              <a:gd name="f5" fmla="val h"/>
              <a:gd name="f6" fmla="val 0"/>
              <a:gd name="f7" fmla="val 88"/>
              <a:gd name="f8" fmla="val 21600"/>
              <a:gd name="f9" fmla="val 44"/>
              <a:gd name="f10" fmla="val -2147483647"/>
              <a:gd name="f11" fmla="val 2147483647"/>
              <a:gd name="f12" fmla="val 10800"/>
              <a:gd name="f13" fmla="val 20"/>
              <a:gd name="f14" fmla="val 68"/>
              <a:gd name="f15" fmla="+- 0 0 0"/>
              <a:gd name="f16" fmla="*/ f4 1 88"/>
              <a:gd name="f17" fmla="*/ f5 1 21600"/>
              <a:gd name="f18" fmla="pin 0 f0 10800"/>
              <a:gd name="f19" fmla="*/ f15 f1 1"/>
              <a:gd name="f20" fmla="*/ f18 2 1"/>
              <a:gd name="f21" fmla="*/ f9 f16 1"/>
              <a:gd name="f22" fmla="*/ f18 f17 1"/>
              <a:gd name="f23" fmla="*/ 0 f16 1"/>
              <a:gd name="f24" fmla="*/ 88 f16 1"/>
              <a:gd name="f25" fmla="*/ 44 f16 1"/>
              <a:gd name="f26" fmla="*/ f19 1 f3"/>
              <a:gd name="f27" fmla="*/ 0 f17 1"/>
              <a:gd name="f28" fmla="*/ 10800 f17 1"/>
              <a:gd name="f29" fmla="*/ 21600 f17 1"/>
              <a:gd name="f30" fmla="*/ f20 1 4"/>
              <a:gd name="f31" fmla="*/ f20 1 2"/>
              <a:gd name="f32" fmla="+- f26 0 f2"/>
              <a:gd name="f33" fmla="*/ f30 6 1"/>
              <a:gd name="f34" fmla="+- 21600 0 f30"/>
              <a:gd name="f35" fmla="*/ f31 f17 1"/>
              <a:gd name="f36" fmla="*/ f33 1 11"/>
              <a:gd name="f37" fmla="*/ f34 f17 1"/>
              <a:gd name="f38" fmla="+- f30 0 f36"/>
              <a:gd name="f39" fmla="+- f34 f36 0"/>
              <a:gd name="f40" fmla="+- f30 f36 0"/>
            </a:gdLst>
            <a:ahLst>
              <a:ahXY gdRefY="f0" minY="f6" maxY="f12">
                <a:pos x="f21" y="f22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32">
                <a:pos x="f25" y="f35"/>
              </a:cxn>
              <a:cxn ang="f32">
                <a:pos x="f25" y="f27"/>
              </a:cxn>
              <a:cxn ang="f32">
                <a:pos x="f23" y="f28"/>
              </a:cxn>
              <a:cxn ang="f32">
                <a:pos x="f25" y="f29"/>
              </a:cxn>
              <a:cxn ang="f32">
                <a:pos x="f24" y="f28"/>
              </a:cxn>
            </a:cxnLst>
            <a:rect l="f23" t="f35" r="f24" b="f37"/>
            <a:pathLst>
              <a:path w="88" h="21600">
                <a:moveTo>
                  <a:pt x="f9" y="f6"/>
                </a:moveTo>
                <a:cubicBezTo>
                  <a:pt x="f13" y="f6"/>
                  <a:pt x="f6" y="f38"/>
                  <a:pt x="f6" y="f30"/>
                </a:cubicBezTo>
                <a:lnTo>
                  <a:pt x="f6" y="f34"/>
                </a:lnTo>
                <a:cubicBezTo>
                  <a:pt x="f6" y="f39"/>
                  <a:pt x="f13" y="f8"/>
                  <a:pt x="f9" y="f8"/>
                </a:cubicBezTo>
                <a:cubicBezTo>
                  <a:pt x="f14" y="f8"/>
                  <a:pt x="f7" y="f39"/>
                  <a:pt x="f7" y="f34"/>
                </a:cubicBezTo>
                <a:lnTo>
                  <a:pt x="f7" y="f30"/>
                </a:lnTo>
                <a:cubicBezTo>
                  <a:pt x="f7" y="f38"/>
                  <a:pt x="f14" y="f6"/>
                  <a:pt x="f9" y="f6"/>
                </a:cubicBezTo>
                <a:close/>
              </a:path>
              <a:path w="88" h="21600">
                <a:moveTo>
                  <a:pt x="f9" y="f6"/>
                </a:moveTo>
                <a:cubicBezTo>
                  <a:pt x="f13" y="f6"/>
                  <a:pt x="f6" y="f38"/>
                  <a:pt x="f6" y="f30"/>
                </a:cubicBezTo>
                <a:cubicBezTo>
                  <a:pt x="f6" y="f40"/>
                  <a:pt x="f13" y="f31"/>
                  <a:pt x="f9" y="f31"/>
                </a:cubicBezTo>
                <a:cubicBezTo>
                  <a:pt x="f14" y="f31"/>
                  <a:pt x="f7" y="f40"/>
                  <a:pt x="f7" y="f30"/>
                </a:cubicBezTo>
                <a:cubicBezTo>
                  <a:pt x="f7" y="f38"/>
                  <a:pt x="f14" y="f6"/>
                  <a:pt x="f9" y="f6"/>
                </a:cubicBezTo>
                <a:close/>
              </a:path>
            </a:pathLst>
          </a:custGeom>
          <a:solidFill>
            <a:srgbClr val="729FCF"/>
          </a:solidFill>
          <a:ln w="0">
            <a:solidFill>
              <a:srgbClr val="3465A4"/>
            </a:solidFill>
            <a:prstDash val="solid"/>
          </a:ln>
        </p:spPr>
        <p:txBody>
          <a:bodyPr vert="horz" wrap="square" lIns="108847" tIns="54423" rIns="108847" bIns="54423" anchor="ctr" anchorCtr="0" compatLnSpc="0">
            <a:noAutofit/>
          </a:bodyPr>
          <a:lstStyle/>
          <a:p>
            <a:pPr hangingPunct="0"/>
            <a:endParaRPr lang="en-US" sz="2177">
              <a:latin typeface="Liberation Sans" pitchFamily="18"/>
              <a:ea typeface="Microsoft YaHei" pitchFamily="2"/>
              <a:cs typeface="Lucida Sans" pitchFamily="2"/>
            </a:endParaRPr>
          </a:p>
        </p:txBody>
      </p:sp>
      <p:sp>
        <p:nvSpPr>
          <p:cNvPr id="24" name="ZoneTexte 23">
            <a:extLst>
              <a:ext uri="{FF2B5EF4-FFF2-40B4-BE49-F238E27FC236}">
                <a16:creationId xmlns:a16="http://schemas.microsoft.com/office/drawing/2014/main" id="{064A385F-899F-47E4-ADDA-651457B32118}"/>
              </a:ext>
            </a:extLst>
          </p:cNvPr>
          <p:cNvSpPr txBox="1"/>
          <p:nvPr/>
        </p:nvSpPr>
        <p:spPr>
          <a:xfrm>
            <a:off x="2370906" y="2120937"/>
            <a:ext cx="3287167" cy="752008"/>
          </a:xfrm>
          <a:prstGeom prst="rect">
            <a:avLst/>
          </a:prstGeom>
          <a:noFill/>
          <a:ln>
            <a:noFill/>
          </a:ln>
        </p:spPr>
        <p:txBody>
          <a:bodyPr vert="horz" wrap="square" lIns="108847" tIns="54423" rIns="108847" bIns="54423" anchorCtr="0" compatLnSpc="0">
            <a:spAutoFit/>
          </a:bodyPr>
          <a:lstStyle/>
          <a:p>
            <a:pPr hangingPunct="0"/>
            <a:r>
              <a:rPr lang="en-US" sz="2177" dirty="0">
                <a:latin typeface="Liberation Sans" pitchFamily="18"/>
                <a:ea typeface="Microsoft YaHei" pitchFamily="2"/>
                <a:cs typeface="Lucida Sans" pitchFamily="2"/>
              </a:rPr>
              <a:t>Relational DB</a:t>
            </a:r>
          </a:p>
          <a:p>
            <a:pPr hangingPunct="0"/>
            <a:r>
              <a:rPr lang="en-US" sz="2177" dirty="0" err="1">
                <a:latin typeface="Liberation Sans" pitchFamily="18"/>
                <a:ea typeface="Microsoft YaHei" pitchFamily="2"/>
                <a:cs typeface="Lucida Sans" pitchFamily="2"/>
              </a:rPr>
              <a:t>eg.</a:t>
            </a:r>
            <a:r>
              <a:rPr lang="en-US" sz="2177" dirty="0">
                <a:latin typeface="Liberation Sans" pitchFamily="18"/>
                <a:ea typeface="Microsoft YaHei" pitchFamily="2"/>
                <a:cs typeface="Lucida Sans" pitchFamily="2"/>
              </a:rPr>
              <a:t> </a:t>
            </a:r>
            <a:r>
              <a:rPr lang="en-US" sz="2177" dirty="0" err="1">
                <a:latin typeface="Liberation Sans" pitchFamily="18"/>
                <a:ea typeface="Microsoft YaHei" pitchFamily="2"/>
                <a:cs typeface="Lucida Sans" pitchFamily="2"/>
              </a:rPr>
              <a:t>postgresql</a:t>
            </a:r>
            <a:endParaRPr lang="en-US" sz="2177" dirty="0">
              <a:latin typeface="Liberation Sans" pitchFamily="18"/>
              <a:ea typeface="Microsoft YaHei" pitchFamily="2"/>
              <a:cs typeface="Lucida Sans" pitchFamily="2"/>
            </a:endParaRPr>
          </a:p>
        </p:txBody>
      </p:sp>
      <p:sp>
        <p:nvSpPr>
          <p:cNvPr id="25" name="Forme libre : forme 24">
            <a:extLst>
              <a:ext uri="{FF2B5EF4-FFF2-40B4-BE49-F238E27FC236}">
                <a16:creationId xmlns:a16="http://schemas.microsoft.com/office/drawing/2014/main" id="{293CCCC6-8A59-41B6-97DA-B4747A42708B}"/>
              </a:ext>
            </a:extLst>
          </p:cNvPr>
          <p:cNvSpPr/>
          <p:nvPr/>
        </p:nvSpPr>
        <p:spPr>
          <a:xfrm>
            <a:off x="5658073" y="2308153"/>
            <a:ext cx="829410" cy="276470"/>
          </a:xfrm>
          <a:custGeom>
            <a:avLst>
              <a:gd name="f0" fmla="val 4300"/>
              <a:gd name="f1" fmla="val 5400"/>
            </a:avLst>
            <a:gdLst>
              <a:gd name="f2" fmla="val w"/>
              <a:gd name="f3" fmla="val h"/>
              <a:gd name="f4" fmla="val 0"/>
              <a:gd name="f5" fmla="val 21600"/>
              <a:gd name="f6" fmla="val 10800"/>
              <a:gd name="f7" fmla="*/ f2 1 21600"/>
              <a:gd name="f8" fmla="*/ f3 1 21600"/>
              <a:gd name="f9" fmla="pin 0 f0 10800"/>
              <a:gd name="f10" fmla="pin 0 f1 10800"/>
              <a:gd name="f11" fmla="val f9"/>
              <a:gd name="f12" fmla="val f10"/>
              <a:gd name="f13" fmla="+- 21600 0 f9"/>
              <a:gd name="f14" fmla="+- 21600 0 f10"/>
              <a:gd name="f15" fmla="+- 10800 0 f10"/>
              <a:gd name="f16" fmla="*/ f9 f7 1"/>
              <a:gd name="f17" fmla="*/ f10 f8 1"/>
              <a:gd name="f18" fmla="*/ f9 f15 1"/>
              <a:gd name="f19" fmla="*/ f14 f8 1"/>
              <a:gd name="f20" fmla="*/ f12 f8 1"/>
              <a:gd name="f21" fmla="*/ f18 1 10800"/>
              <a:gd name="f22" fmla="+- 21600 0 f21"/>
              <a:gd name="f23" fmla="*/ f21 f7 1"/>
              <a:gd name="f24" fmla="*/ f22 f7 1"/>
            </a:gdLst>
            <a:ahLst>
              <a:ahXY gdRefX="f0" minX="f4" maxX="f6" gdRefY="f1" minY="f4" maxY="f6">
                <a:pos x="f16" y="f1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23" t="f20" r="f24" b="f19"/>
            <a:pathLst>
              <a:path w="21600" h="21600">
                <a:moveTo>
                  <a:pt x="f4" y="f6"/>
                </a:moveTo>
                <a:lnTo>
                  <a:pt x="f11" y="f4"/>
                </a:lnTo>
                <a:lnTo>
                  <a:pt x="f11" y="f12"/>
                </a:lnTo>
                <a:lnTo>
                  <a:pt x="f13" y="f12"/>
                </a:lnTo>
                <a:lnTo>
                  <a:pt x="f13" y="f4"/>
                </a:lnTo>
                <a:lnTo>
                  <a:pt x="f5" y="f6"/>
                </a:lnTo>
                <a:lnTo>
                  <a:pt x="f13" y="f5"/>
                </a:lnTo>
                <a:lnTo>
                  <a:pt x="f13" y="f14"/>
                </a:lnTo>
                <a:lnTo>
                  <a:pt x="f11" y="f14"/>
                </a:lnTo>
                <a:lnTo>
                  <a:pt x="f11" y="f5"/>
                </a:lnTo>
                <a:close/>
              </a:path>
            </a:pathLst>
          </a:custGeom>
          <a:solidFill>
            <a:srgbClr val="729FCF"/>
          </a:solidFill>
          <a:ln w="0">
            <a:solidFill>
              <a:srgbClr val="3465A4"/>
            </a:solidFill>
            <a:prstDash val="solid"/>
          </a:ln>
        </p:spPr>
        <p:txBody>
          <a:bodyPr vert="horz" wrap="square" lIns="108847" tIns="54423" rIns="108847" bIns="54423" anchor="ctr" anchorCtr="0" compatLnSpc="0">
            <a:noAutofit/>
          </a:bodyPr>
          <a:lstStyle/>
          <a:p>
            <a:pPr hangingPunct="0"/>
            <a:endParaRPr lang="en-US" sz="2177">
              <a:latin typeface="Liberation Sans" pitchFamily="18"/>
              <a:ea typeface="Microsoft YaHei" pitchFamily="2"/>
              <a:cs typeface="Lucida Sans" pitchFamily="2"/>
            </a:endParaRPr>
          </a:p>
        </p:txBody>
      </p:sp>
      <p:sp>
        <p:nvSpPr>
          <p:cNvPr id="26" name="Forme libre : forme 25">
            <a:extLst>
              <a:ext uri="{FF2B5EF4-FFF2-40B4-BE49-F238E27FC236}">
                <a16:creationId xmlns:a16="http://schemas.microsoft.com/office/drawing/2014/main" id="{2A76AC89-25FE-4A13-BDC3-57019E74D0A6}"/>
              </a:ext>
            </a:extLst>
          </p:cNvPr>
          <p:cNvSpPr/>
          <p:nvPr/>
        </p:nvSpPr>
        <p:spPr>
          <a:xfrm>
            <a:off x="8231436" y="2208014"/>
            <a:ext cx="552941" cy="552941"/>
          </a:xfrm>
          <a:custGeom>
            <a:avLst>
              <a:gd name="f0" fmla="val 5400"/>
            </a:avLst>
            <a:gdLst>
              <a:gd name="f1" fmla="val 10800000"/>
              <a:gd name="f2" fmla="val 5400000"/>
              <a:gd name="f3" fmla="val 180"/>
              <a:gd name="f4" fmla="val w"/>
              <a:gd name="f5" fmla="val h"/>
              <a:gd name="f6" fmla="val 0"/>
              <a:gd name="f7" fmla="val 88"/>
              <a:gd name="f8" fmla="val 21600"/>
              <a:gd name="f9" fmla="val 44"/>
              <a:gd name="f10" fmla="val -2147483647"/>
              <a:gd name="f11" fmla="val 2147483647"/>
              <a:gd name="f12" fmla="val 10800"/>
              <a:gd name="f13" fmla="val 20"/>
              <a:gd name="f14" fmla="val 68"/>
              <a:gd name="f15" fmla="+- 0 0 0"/>
              <a:gd name="f16" fmla="*/ f4 1 88"/>
              <a:gd name="f17" fmla="*/ f5 1 21600"/>
              <a:gd name="f18" fmla="pin 0 f0 10800"/>
              <a:gd name="f19" fmla="*/ f15 f1 1"/>
              <a:gd name="f20" fmla="*/ f18 2 1"/>
              <a:gd name="f21" fmla="*/ f9 f16 1"/>
              <a:gd name="f22" fmla="*/ f18 f17 1"/>
              <a:gd name="f23" fmla="*/ 0 f16 1"/>
              <a:gd name="f24" fmla="*/ 88 f16 1"/>
              <a:gd name="f25" fmla="*/ 44 f16 1"/>
              <a:gd name="f26" fmla="*/ f19 1 f3"/>
              <a:gd name="f27" fmla="*/ 0 f17 1"/>
              <a:gd name="f28" fmla="*/ 10800 f17 1"/>
              <a:gd name="f29" fmla="*/ 21600 f17 1"/>
              <a:gd name="f30" fmla="*/ f20 1 4"/>
              <a:gd name="f31" fmla="*/ f20 1 2"/>
              <a:gd name="f32" fmla="+- f26 0 f2"/>
              <a:gd name="f33" fmla="*/ f30 6 1"/>
              <a:gd name="f34" fmla="+- 21600 0 f30"/>
              <a:gd name="f35" fmla="*/ f31 f17 1"/>
              <a:gd name="f36" fmla="*/ f33 1 11"/>
              <a:gd name="f37" fmla="*/ f34 f17 1"/>
              <a:gd name="f38" fmla="+- f30 0 f36"/>
              <a:gd name="f39" fmla="+- f34 f36 0"/>
              <a:gd name="f40" fmla="+- f30 f36 0"/>
            </a:gdLst>
            <a:ahLst>
              <a:ahXY gdRefY="f0" minY="f6" maxY="f12">
                <a:pos x="f21" y="f22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32">
                <a:pos x="f25" y="f35"/>
              </a:cxn>
              <a:cxn ang="f32">
                <a:pos x="f25" y="f27"/>
              </a:cxn>
              <a:cxn ang="f32">
                <a:pos x="f23" y="f28"/>
              </a:cxn>
              <a:cxn ang="f32">
                <a:pos x="f25" y="f29"/>
              </a:cxn>
              <a:cxn ang="f32">
                <a:pos x="f24" y="f28"/>
              </a:cxn>
            </a:cxnLst>
            <a:rect l="f23" t="f35" r="f24" b="f37"/>
            <a:pathLst>
              <a:path w="88" h="21600">
                <a:moveTo>
                  <a:pt x="f9" y="f6"/>
                </a:moveTo>
                <a:cubicBezTo>
                  <a:pt x="f13" y="f6"/>
                  <a:pt x="f6" y="f38"/>
                  <a:pt x="f6" y="f30"/>
                </a:cubicBezTo>
                <a:lnTo>
                  <a:pt x="f6" y="f34"/>
                </a:lnTo>
                <a:cubicBezTo>
                  <a:pt x="f6" y="f39"/>
                  <a:pt x="f13" y="f8"/>
                  <a:pt x="f9" y="f8"/>
                </a:cubicBezTo>
                <a:cubicBezTo>
                  <a:pt x="f14" y="f8"/>
                  <a:pt x="f7" y="f39"/>
                  <a:pt x="f7" y="f34"/>
                </a:cubicBezTo>
                <a:lnTo>
                  <a:pt x="f7" y="f30"/>
                </a:lnTo>
                <a:cubicBezTo>
                  <a:pt x="f7" y="f38"/>
                  <a:pt x="f14" y="f6"/>
                  <a:pt x="f9" y="f6"/>
                </a:cubicBezTo>
                <a:close/>
              </a:path>
              <a:path w="88" h="21600">
                <a:moveTo>
                  <a:pt x="f9" y="f6"/>
                </a:moveTo>
                <a:cubicBezTo>
                  <a:pt x="f13" y="f6"/>
                  <a:pt x="f6" y="f38"/>
                  <a:pt x="f6" y="f30"/>
                </a:cubicBezTo>
                <a:cubicBezTo>
                  <a:pt x="f6" y="f40"/>
                  <a:pt x="f13" y="f31"/>
                  <a:pt x="f9" y="f31"/>
                </a:cubicBezTo>
                <a:cubicBezTo>
                  <a:pt x="f14" y="f31"/>
                  <a:pt x="f7" y="f40"/>
                  <a:pt x="f7" y="f30"/>
                </a:cubicBezTo>
                <a:cubicBezTo>
                  <a:pt x="f7" y="f38"/>
                  <a:pt x="f14" y="f6"/>
                  <a:pt x="f9" y="f6"/>
                </a:cubicBezTo>
                <a:close/>
              </a:path>
            </a:pathLst>
          </a:custGeom>
          <a:solidFill>
            <a:srgbClr val="729FCF"/>
          </a:solidFill>
          <a:ln w="0">
            <a:solidFill>
              <a:srgbClr val="3465A4"/>
            </a:solidFill>
            <a:prstDash val="solid"/>
          </a:ln>
        </p:spPr>
        <p:txBody>
          <a:bodyPr vert="horz" wrap="square" lIns="108847" tIns="54423" rIns="108847" bIns="54423" anchor="ctr" anchorCtr="0" compatLnSpc="0">
            <a:noAutofit/>
          </a:bodyPr>
          <a:lstStyle/>
          <a:p>
            <a:pPr hangingPunct="0"/>
            <a:endParaRPr lang="en-US" sz="2177">
              <a:latin typeface="Liberation Sans" pitchFamily="18"/>
              <a:ea typeface="Microsoft YaHei" pitchFamily="2"/>
              <a:cs typeface="Lucida Sans" pitchFamily="2"/>
            </a:endParaRPr>
          </a:p>
        </p:txBody>
      </p:sp>
      <p:sp>
        <p:nvSpPr>
          <p:cNvPr id="27" name="ZoneTexte 26">
            <a:extLst>
              <a:ext uri="{FF2B5EF4-FFF2-40B4-BE49-F238E27FC236}">
                <a16:creationId xmlns:a16="http://schemas.microsoft.com/office/drawing/2014/main" id="{70C5303B-457E-4850-9F4E-52030765F4CC}"/>
              </a:ext>
            </a:extLst>
          </p:cNvPr>
          <p:cNvSpPr txBox="1"/>
          <p:nvPr/>
        </p:nvSpPr>
        <p:spPr>
          <a:xfrm>
            <a:off x="7402896" y="2121372"/>
            <a:ext cx="771505" cy="430959"/>
          </a:xfrm>
          <a:prstGeom prst="rect">
            <a:avLst/>
          </a:prstGeom>
          <a:noFill/>
          <a:ln>
            <a:noFill/>
          </a:ln>
        </p:spPr>
        <p:txBody>
          <a:bodyPr vert="horz" wrap="square" lIns="108847" tIns="54423" rIns="108847" bIns="54423" anchorCtr="0" compatLnSpc="0">
            <a:spAutoFit/>
          </a:bodyPr>
          <a:lstStyle/>
          <a:p>
            <a:pPr hangingPunct="0"/>
            <a:r>
              <a:rPr lang="en-US" sz="2177">
                <a:latin typeface="Liberation Sans" pitchFamily="18"/>
                <a:ea typeface="Microsoft YaHei" pitchFamily="2"/>
                <a:cs typeface="Lucida Sans" pitchFamily="2"/>
              </a:rPr>
              <a:t>Etcd</a:t>
            </a:r>
          </a:p>
        </p:txBody>
      </p:sp>
      <p:sp>
        <p:nvSpPr>
          <p:cNvPr id="28" name="Forme libre : forme 27">
            <a:extLst>
              <a:ext uri="{FF2B5EF4-FFF2-40B4-BE49-F238E27FC236}">
                <a16:creationId xmlns:a16="http://schemas.microsoft.com/office/drawing/2014/main" id="{0D140734-1EF1-40E6-8ABE-86D1114D1629}"/>
              </a:ext>
            </a:extLst>
          </p:cNvPr>
          <p:cNvSpPr/>
          <p:nvPr/>
        </p:nvSpPr>
        <p:spPr>
          <a:xfrm rot="5458200">
            <a:off x="3677720" y="6038678"/>
            <a:ext cx="276470" cy="829410"/>
          </a:xfrm>
          <a:custGeom>
            <a:avLst>
              <a:gd name="f0" fmla="val 5400"/>
            </a:avLst>
            <a:gdLst>
              <a:gd name="f1" fmla="val 10800000"/>
              <a:gd name="f2" fmla="val 5400000"/>
              <a:gd name="f3" fmla="val 180"/>
              <a:gd name="f4" fmla="val w"/>
              <a:gd name="f5" fmla="val h"/>
              <a:gd name="f6" fmla="val 0"/>
              <a:gd name="f7" fmla="val 88"/>
              <a:gd name="f8" fmla="val 21600"/>
              <a:gd name="f9" fmla="val 44"/>
              <a:gd name="f10" fmla="val -2147483647"/>
              <a:gd name="f11" fmla="val 2147483647"/>
              <a:gd name="f12" fmla="val 10800"/>
              <a:gd name="f13" fmla="val 20"/>
              <a:gd name="f14" fmla="val 68"/>
              <a:gd name="f15" fmla="+- 0 0 0"/>
              <a:gd name="f16" fmla="*/ f4 1 88"/>
              <a:gd name="f17" fmla="*/ f5 1 21600"/>
              <a:gd name="f18" fmla="pin 0 f0 10800"/>
              <a:gd name="f19" fmla="*/ f15 f1 1"/>
              <a:gd name="f20" fmla="*/ f18 2 1"/>
              <a:gd name="f21" fmla="*/ f9 f16 1"/>
              <a:gd name="f22" fmla="*/ f18 f17 1"/>
              <a:gd name="f23" fmla="*/ 0 f16 1"/>
              <a:gd name="f24" fmla="*/ 88 f16 1"/>
              <a:gd name="f25" fmla="*/ 44 f16 1"/>
              <a:gd name="f26" fmla="*/ f19 1 f3"/>
              <a:gd name="f27" fmla="*/ 0 f17 1"/>
              <a:gd name="f28" fmla="*/ 10800 f17 1"/>
              <a:gd name="f29" fmla="*/ 21600 f17 1"/>
              <a:gd name="f30" fmla="*/ f20 1 4"/>
              <a:gd name="f31" fmla="*/ f20 1 2"/>
              <a:gd name="f32" fmla="+- f26 0 f2"/>
              <a:gd name="f33" fmla="*/ f30 6 1"/>
              <a:gd name="f34" fmla="+- 21600 0 f30"/>
              <a:gd name="f35" fmla="*/ f31 f17 1"/>
              <a:gd name="f36" fmla="*/ f33 1 11"/>
              <a:gd name="f37" fmla="*/ f34 f17 1"/>
              <a:gd name="f38" fmla="+- f30 0 f36"/>
              <a:gd name="f39" fmla="+- f34 f36 0"/>
              <a:gd name="f40" fmla="+- f30 f36 0"/>
            </a:gdLst>
            <a:ahLst>
              <a:ahXY gdRefY="f0" minY="f6" maxY="f12">
                <a:pos x="f21" y="f22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32">
                <a:pos x="f25" y="f35"/>
              </a:cxn>
              <a:cxn ang="f32">
                <a:pos x="f25" y="f27"/>
              </a:cxn>
              <a:cxn ang="f32">
                <a:pos x="f23" y="f28"/>
              </a:cxn>
              <a:cxn ang="f32">
                <a:pos x="f25" y="f29"/>
              </a:cxn>
              <a:cxn ang="f32">
                <a:pos x="f24" y="f28"/>
              </a:cxn>
            </a:cxnLst>
            <a:rect l="f23" t="f35" r="f24" b="f37"/>
            <a:pathLst>
              <a:path w="88" h="21600">
                <a:moveTo>
                  <a:pt x="f9" y="f6"/>
                </a:moveTo>
                <a:cubicBezTo>
                  <a:pt x="f13" y="f6"/>
                  <a:pt x="f6" y="f38"/>
                  <a:pt x="f6" y="f30"/>
                </a:cubicBezTo>
                <a:lnTo>
                  <a:pt x="f6" y="f34"/>
                </a:lnTo>
                <a:cubicBezTo>
                  <a:pt x="f6" y="f39"/>
                  <a:pt x="f13" y="f8"/>
                  <a:pt x="f9" y="f8"/>
                </a:cubicBezTo>
                <a:cubicBezTo>
                  <a:pt x="f14" y="f8"/>
                  <a:pt x="f7" y="f39"/>
                  <a:pt x="f7" y="f34"/>
                </a:cubicBezTo>
                <a:lnTo>
                  <a:pt x="f7" y="f30"/>
                </a:lnTo>
                <a:cubicBezTo>
                  <a:pt x="f7" y="f38"/>
                  <a:pt x="f14" y="f6"/>
                  <a:pt x="f9" y="f6"/>
                </a:cubicBezTo>
                <a:close/>
              </a:path>
              <a:path w="88" h="21600">
                <a:moveTo>
                  <a:pt x="f9" y="f6"/>
                </a:moveTo>
                <a:cubicBezTo>
                  <a:pt x="f13" y="f6"/>
                  <a:pt x="f6" y="f38"/>
                  <a:pt x="f6" y="f30"/>
                </a:cubicBezTo>
                <a:cubicBezTo>
                  <a:pt x="f6" y="f40"/>
                  <a:pt x="f13" y="f31"/>
                  <a:pt x="f9" y="f31"/>
                </a:cubicBezTo>
                <a:cubicBezTo>
                  <a:pt x="f14" y="f31"/>
                  <a:pt x="f7" y="f40"/>
                  <a:pt x="f7" y="f30"/>
                </a:cubicBezTo>
                <a:cubicBezTo>
                  <a:pt x="f7" y="f38"/>
                  <a:pt x="f14" y="f6"/>
                  <a:pt x="f9" y="f6"/>
                </a:cubicBezTo>
                <a:close/>
              </a:path>
            </a:pathLst>
          </a:custGeom>
          <a:solidFill>
            <a:srgbClr val="729FCF"/>
          </a:solidFill>
          <a:ln w="0">
            <a:solidFill>
              <a:srgbClr val="3465A4"/>
            </a:solidFill>
            <a:prstDash val="solid"/>
          </a:ln>
        </p:spPr>
        <p:txBody>
          <a:bodyPr vert="horz" wrap="square" lIns="108847" tIns="54423" rIns="108847" bIns="54423" anchor="ctr" anchorCtr="0" compatLnSpc="0">
            <a:noAutofit/>
          </a:bodyPr>
          <a:lstStyle/>
          <a:p>
            <a:pPr hangingPunct="0"/>
            <a:endParaRPr lang="en-US" sz="2177">
              <a:latin typeface="Liberation Sans" pitchFamily="18"/>
              <a:ea typeface="Microsoft YaHei" pitchFamily="2"/>
              <a:cs typeface="Lucida Sans" pitchFamily="2"/>
            </a:endParaRPr>
          </a:p>
        </p:txBody>
      </p:sp>
      <p:sp>
        <p:nvSpPr>
          <p:cNvPr id="29" name="ZoneTexte 28">
            <a:extLst>
              <a:ext uri="{FF2B5EF4-FFF2-40B4-BE49-F238E27FC236}">
                <a16:creationId xmlns:a16="http://schemas.microsoft.com/office/drawing/2014/main" id="{4E208D8A-C752-4560-BE3A-6A64A18146E5}"/>
              </a:ext>
            </a:extLst>
          </p:cNvPr>
          <p:cNvSpPr txBox="1"/>
          <p:nvPr/>
        </p:nvSpPr>
        <p:spPr>
          <a:xfrm>
            <a:off x="2578693" y="5877188"/>
            <a:ext cx="3252383" cy="430959"/>
          </a:xfrm>
          <a:prstGeom prst="rect">
            <a:avLst/>
          </a:prstGeom>
          <a:noFill/>
          <a:ln>
            <a:noFill/>
          </a:ln>
        </p:spPr>
        <p:txBody>
          <a:bodyPr vert="horz" wrap="square" lIns="108847" tIns="54423" rIns="108847" bIns="54423" anchorCtr="0" compatLnSpc="0">
            <a:spAutoFit/>
          </a:bodyPr>
          <a:lstStyle/>
          <a:p>
            <a:pPr hangingPunct="0"/>
            <a:r>
              <a:rPr lang="en-US" sz="2177" dirty="0">
                <a:latin typeface="Liberation Sans" pitchFamily="18"/>
                <a:ea typeface="Microsoft YaHei" pitchFamily="2"/>
                <a:cs typeface="Lucida Sans" pitchFamily="2"/>
              </a:rPr>
              <a:t>Yarn </a:t>
            </a:r>
            <a:r>
              <a:rPr lang="en-US" sz="2177" dirty="0" err="1">
                <a:latin typeface="Liberation Sans" pitchFamily="18"/>
                <a:ea typeface="Microsoft YaHei" pitchFamily="2"/>
                <a:cs typeface="Lucida Sans" pitchFamily="2"/>
              </a:rPr>
              <a:t>Fifo</a:t>
            </a:r>
            <a:r>
              <a:rPr lang="en-US" sz="2177" dirty="0">
                <a:latin typeface="Liberation Sans" pitchFamily="18"/>
                <a:ea typeface="Microsoft YaHei" pitchFamily="2"/>
                <a:cs typeface="Lucida Sans" pitchFamily="2"/>
              </a:rPr>
              <a:t> Queue</a:t>
            </a:r>
          </a:p>
        </p:txBody>
      </p:sp>
      <p:sp>
        <p:nvSpPr>
          <p:cNvPr id="30" name="Forme libre : forme 29">
            <a:extLst>
              <a:ext uri="{FF2B5EF4-FFF2-40B4-BE49-F238E27FC236}">
                <a16:creationId xmlns:a16="http://schemas.microsoft.com/office/drawing/2014/main" id="{50782754-2352-40E6-8537-7EF9E7FA3685}"/>
              </a:ext>
            </a:extLst>
          </p:cNvPr>
          <p:cNvSpPr/>
          <p:nvPr/>
        </p:nvSpPr>
        <p:spPr>
          <a:xfrm>
            <a:off x="5680699" y="6034118"/>
            <a:ext cx="829410" cy="276470"/>
          </a:xfrm>
          <a:custGeom>
            <a:avLst>
              <a:gd name="f0" fmla="val 4300"/>
              <a:gd name="f1" fmla="val 5400"/>
            </a:avLst>
            <a:gdLst>
              <a:gd name="f2" fmla="val w"/>
              <a:gd name="f3" fmla="val h"/>
              <a:gd name="f4" fmla="val 0"/>
              <a:gd name="f5" fmla="val 21600"/>
              <a:gd name="f6" fmla="val 10800"/>
              <a:gd name="f7" fmla="*/ f2 1 21600"/>
              <a:gd name="f8" fmla="*/ f3 1 21600"/>
              <a:gd name="f9" fmla="pin 0 f0 10800"/>
              <a:gd name="f10" fmla="pin 0 f1 10800"/>
              <a:gd name="f11" fmla="val f9"/>
              <a:gd name="f12" fmla="val f10"/>
              <a:gd name="f13" fmla="+- 21600 0 f9"/>
              <a:gd name="f14" fmla="+- 21600 0 f10"/>
              <a:gd name="f15" fmla="+- 10800 0 f10"/>
              <a:gd name="f16" fmla="*/ f9 f7 1"/>
              <a:gd name="f17" fmla="*/ f10 f8 1"/>
              <a:gd name="f18" fmla="*/ f9 f15 1"/>
              <a:gd name="f19" fmla="*/ f14 f8 1"/>
              <a:gd name="f20" fmla="*/ f12 f8 1"/>
              <a:gd name="f21" fmla="*/ f18 1 10800"/>
              <a:gd name="f22" fmla="+- 21600 0 f21"/>
              <a:gd name="f23" fmla="*/ f21 f7 1"/>
              <a:gd name="f24" fmla="*/ f22 f7 1"/>
            </a:gdLst>
            <a:ahLst>
              <a:ahXY gdRefX="f0" minX="f4" maxX="f6" gdRefY="f1" minY="f4" maxY="f6">
                <a:pos x="f16" y="f1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23" t="f20" r="f24" b="f19"/>
            <a:pathLst>
              <a:path w="21600" h="21600">
                <a:moveTo>
                  <a:pt x="f4" y="f6"/>
                </a:moveTo>
                <a:lnTo>
                  <a:pt x="f11" y="f4"/>
                </a:lnTo>
                <a:lnTo>
                  <a:pt x="f11" y="f12"/>
                </a:lnTo>
                <a:lnTo>
                  <a:pt x="f13" y="f12"/>
                </a:lnTo>
                <a:lnTo>
                  <a:pt x="f13" y="f4"/>
                </a:lnTo>
                <a:lnTo>
                  <a:pt x="f5" y="f6"/>
                </a:lnTo>
                <a:lnTo>
                  <a:pt x="f13" y="f5"/>
                </a:lnTo>
                <a:lnTo>
                  <a:pt x="f13" y="f14"/>
                </a:lnTo>
                <a:lnTo>
                  <a:pt x="f11" y="f14"/>
                </a:lnTo>
                <a:lnTo>
                  <a:pt x="f11" y="f5"/>
                </a:lnTo>
                <a:close/>
              </a:path>
            </a:pathLst>
          </a:custGeom>
          <a:solidFill>
            <a:srgbClr val="729FCF"/>
          </a:solidFill>
          <a:ln w="0">
            <a:solidFill>
              <a:srgbClr val="3465A4"/>
            </a:solidFill>
            <a:prstDash val="solid"/>
          </a:ln>
        </p:spPr>
        <p:txBody>
          <a:bodyPr vert="horz" wrap="square" lIns="108847" tIns="54423" rIns="108847" bIns="54423" anchor="ctr" anchorCtr="0" compatLnSpc="0">
            <a:noAutofit/>
          </a:bodyPr>
          <a:lstStyle/>
          <a:p>
            <a:pPr hangingPunct="0"/>
            <a:endParaRPr lang="en-US" sz="2177">
              <a:latin typeface="Liberation Sans" pitchFamily="18"/>
              <a:ea typeface="Microsoft YaHei" pitchFamily="2"/>
              <a:cs typeface="Lucida Sans" pitchFamily="2"/>
            </a:endParaRPr>
          </a:p>
        </p:txBody>
      </p:sp>
      <p:sp>
        <p:nvSpPr>
          <p:cNvPr id="31" name="Forme libre : forme 30">
            <a:extLst>
              <a:ext uri="{FF2B5EF4-FFF2-40B4-BE49-F238E27FC236}">
                <a16:creationId xmlns:a16="http://schemas.microsoft.com/office/drawing/2014/main" id="{B24309FB-1E98-404E-BBE8-242F4A41A6C6}"/>
              </a:ext>
            </a:extLst>
          </p:cNvPr>
          <p:cNvSpPr/>
          <p:nvPr/>
        </p:nvSpPr>
        <p:spPr>
          <a:xfrm rot="5458200">
            <a:off x="8291717" y="6038303"/>
            <a:ext cx="276470" cy="829410"/>
          </a:xfrm>
          <a:custGeom>
            <a:avLst>
              <a:gd name="f0" fmla="val 5400"/>
            </a:avLst>
            <a:gdLst>
              <a:gd name="f1" fmla="val 10800000"/>
              <a:gd name="f2" fmla="val 5400000"/>
              <a:gd name="f3" fmla="val 180"/>
              <a:gd name="f4" fmla="val w"/>
              <a:gd name="f5" fmla="val h"/>
              <a:gd name="f6" fmla="val 0"/>
              <a:gd name="f7" fmla="val 88"/>
              <a:gd name="f8" fmla="val 21600"/>
              <a:gd name="f9" fmla="val 44"/>
              <a:gd name="f10" fmla="val -2147483647"/>
              <a:gd name="f11" fmla="val 2147483647"/>
              <a:gd name="f12" fmla="val 10800"/>
              <a:gd name="f13" fmla="val 20"/>
              <a:gd name="f14" fmla="val 68"/>
              <a:gd name="f15" fmla="+- 0 0 0"/>
              <a:gd name="f16" fmla="*/ f4 1 88"/>
              <a:gd name="f17" fmla="*/ f5 1 21600"/>
              <a:gd name="f18" fmla="pin 0 f0 10800"/>
              <a:gd name="f19" fmla="*/ f15 f1 1"/>
              <a:gd name="f20" fmla="*/ f18 2 1"/>
              <a:gd name="f21" fmla="*/ f9 f16 1"/>
              <a:gd name="f22" fmla="*/ f18 f17 1"/>
              <a:gd name="f23" fmla="*/ 0 f16 1"/>
              <a:gd name="f24" fmla="*/ 88 f16 1"/>
              <a:gd name="f25" fmla="*/ 44 f16 1"/>
              <a:gd name="f26" fmla="*/ f19 1 f3"/>
              <a:gd name="f27" fmla="*/ 0 f17 1"/>
              <a:gd name="f28" fmla="*/ 10800 f17 1"/>
              <a:gd name="f29" fmla="*/ 21600 f17 1"/>
              <a:gd name="f30" fmla="*/ f20 1 4"/>
              <a:gd name="f31" fmla="*/ f20 1 2"/>
              <a:gd name="f32" fmla="+- f26 0 f2"/>
              <a:gd name="f33" fmla="*/ f30 6 1"/>
              <a:gd name="f34" fmla="+- 21600 0 f30"/>
              <a:gd name="f35" fmla="*/ f31 f17 1"/>
              <a:gd name="f36" fmla="*/ f33 1 11"/>
              <a:gd name="f37" fmla="*/ f34 f17 1"/>
              <a:gd name="f38" fmla="+- f30 0 f36"/>
              <a:gd name="f39" fmla="+- f34 f36 0"/>
              <a:gd name="f40" fmla="+- f30 f36 0"/>
            </a:gdLst>
            <a:ahLst>
              <a:ahXY gdRefY="f0" minY="f6" maxY="f12">
                <a:pos x="f21" y="f22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32">
                <a:pos x="f25" y="f35"/>
              </a:cxn>
              <a:cxn ang="f32">
                <a:pos x="f25" y="f27"/>
              </a:cxn>
              <a:cxn ang="f32">
                <a:pos x="f23" y="f28"/>
              </a:cxn>
              <a:cxn ang="f32">
                <a:pos x="f25" y="f29"/>
              </a:cxn>
              <a:cxn ang="f32">
                <a:pos x="f24" y="f28"/>
              </a:cxn>
            </a:cxnLst>
            <a:rect l="f23" t="f35" r="f24" b="f37"/>
            <a:pathLst>
              <a:path w="88" h="21600">
                <a:moveTo>
                  <a:pt x="f9" y="f6"/>
                </a:moveTo>
                <a:cubicBezTo>
                  <a:pt x="f13" y="f6"/>
                  <a:pt x="f6" y="f38"/>
                  <a:pt x="f6" y="f30"/>
                </a:cubicBezTo>
                <a:lnTo>
                  <a:pt x="f6" y="f34"/>
                </a:lnTo>
                <a:cubicBezTo>
                  <a:pt x="f6" y="f39"/>
                  <a:pt x="f13" y="f8"/>
                  <a:pt x="f9" y="f8"/>
                </a:cubicBezTo>
                <a:cubicBezTo>
                  <a:pt x="f14" y="f8"/>
                  <a:pt x="f7" y="f39"/>
                  <a:pt x="f7" y="f34"/>
                </a:cubicBezTo>
                <a:lnTo>
                  <a:pt x="f7" y="f30"/>
                </a:lnTo>
                <a:cubicBezTo>
                  <a:pt x="f7" y="f38"/>
                  <a:pt x="f14" y="f6"/>
                  <a:pt x="f9" y="f6"/>
                </a:cubicBezTo>
                <a:close/>
              </a:path>
              <a:path w="88" h="21600">
                <a:moveTo>
                  <a:pt x="f9" y="f6"/>
                </a:moveTo>
                <a:cubicBezTo>
                  <a:pt x="f13" y="f6"/>
                  <a:pt x="f6" y="f38"/>
                  <a:pt x="f6" y="f30"/>
                </a:cubicBezTo>
                <a:cubicBezTo>
                  <a:pt x="f6" y="f40"/>
                  <a:pt x="f13" y="f31"/>
                  <a:pt x="f9" y="f31"/>
                </a:cubicBezTo>
                <a:cubicBezTo>
                  <a:pt x="f14" y="f31"/>
                  <a:pt x="f7" y="f40"/>
                  <a:pt x="f7" y="f30"/>
                </a:cubicBezTo>
                <a:cubicBezTo>
                  <a:pt x="f7" y="f38"/>
                  <a:pt x="f14" y="f6"/>
                  <a:pt x="f9" y="f6"/>
                </a:cubicBezTo>
                <a:close/>
              </a:path>
            </a:pathLst>
          </a:custGeom>
          <a:solidFill>
            <a:srgbClr val="729FCF"/>
          </a:solidFill>
          <a:ln w="0">
            <a:solidFill>
              <a:srgbClr val="3465A4"/>
            </a:solidFill>
            <a:prstDash val="solid"/>
          </a:ln>
        </p:spPr>
        <p:txBody>
          <a:bodyPr vert="horz" wrap="square" lIns="108847" tIns="54423" rIns="108847" bIns="54423" anchor="ctr" anchorCtr="0" compatLnSpc="0">
            <a:noAutofit/>
          </a:bodyPr>
          <a:lstStyle/>
          <a:p>
            <a:pPr hangingPunct="0"/>
            <a:endParaRPr lang="en-US" sz="2177">
              <a:latin typeface="Liberation Sans" pitchFamily="18"/>
              <a:ea typeface="Microsoft YaHei" pitchFamily="2"/>
              <a:cs typeface="Lucida Sans" pitchFamily="2"/>
            </a:endParaRPr>
          </a:p>
        </p:txBody>
      </p:sp>
      <p:sp>
        <p:nvSpPr>
          <p:cNvPr id="32" name="ZoneTexte 31">
            <a:extLst>
              <a:ext uri="{FF2B5EF4-FFF2-40B4-BE49-F238E27FC236}">
                <a16:creationId xmlns:a16="http://schemas.microsoft.com/office/drawing/2014/main" id="{B40B14AE-E87C-4031-99F3-DF5BD35C5924}"/>
              </a:ext>
            </a:extLst>
          </p:cNvPr>
          <p:cNvSpPr txBox="1"/>
          <p:nvPr/>
        </p:nvSpPr>
        <p:spPr>
          <a:xfrm>
            <a:off x="7203923" y="5904480"/>
            <a:ext cx="4924064" cy="430959"/>
          </a:xfrm>
          <a:prstGeom prst="rect">
            <a:avLst/>
          </a:prstGeom>
          <a:noFill/>
          <a:ln>
            <a:noFill/>
          </a:ln>
        </p:spPr>
        <p:txBody>
          <a:bodyPr vert="horz" wrap="square" lIns="108847" tIns="54423" rIns="108847" bIns="54423" anchorCtr="0" compatLnSpc="0">
            <a:spAutoFit/>
          </a:bodyPr>
          <a:lstStyle/>
          <a:p>
            <a:pPr hangingPunct="0"/>
            <a:r>
              <a:rPr lang="en-US" sz="2177" dirty="0">
                <a:latin typeface="Liberation Sans" pitchFamily="18"/>
                <a:ea typeface="Microsoft YaHei" pitchFamily="2"/>
                <a:cs typeface="Lucida Sans" pitchFamily="2"/>
              </a:rPr>
              <a:t>Volcano / </a:t>
            </a:r>
            <a:r>
              <a:rPr lang="en-US" sz="2177" dirty="0" err="1">
                <a:latin typeface="Liberation Sans" pitchFamily="18"/>
                <a:ea typeface="Microsoft YaHei" pitchFamily="2"/>
                <a:cs typeface="Lucida Sans" pitchFamily="2"/>
              </a:rPr>
              <a:t>UniKorn</a:t>
            </a:r>
            <a:r>
              <a:rPr lang="en-US" sz="2177" dirty="0">
                <a:latin typeface="Liberation Sans" pitchFamily="18"/>
                <a:ea typeface="Microsoft YaHei" pitchFamily="2"/>
                <a:cs typeface="Lucida Sans" pitchFamily="2"/>
              </a:rPr>
              <a:t> (K8s extensions)</a:t>
            </a:r>
          </a:p>
        </p:txBody>
      </p:sp>
      <p:sp>
        <p:nvSpPr>
          <p:cNvPr id="33" name="ZoneTexte 32">
            <a:extLst>
              <a:ext uri="{FF2B5EF4-FFF2-40B4-BE49-F238E27FC236}">
                <a16:creationId xmlns:a16="http://schemas.microsoft.com/office/drawing/2014/main" id="{3325A238-6C52-403C-86B5-A2580DAAE592}"/>
              </a:ext>
            </a:extLst>
          </p:cNvPr>
          <p:cNvSpPr txBox="1"/>
          <p:nvPr/>
        </p:nvSpPr>
        <p:spPr>
          <a:xfrm>
            <a:off x="2558122" y="5205649"/>
            <a:ext cx="2950409" cy="430959"/>
          </a:xfrm>
          <a:prstGeom prst="rect">
            <a:avLst/>
          </a:prstGeom>
          <a:noFill/>
          <a:ln>
            <a:noFill/>
          </a:ln>
        </p:spPr>
        <p:txBody>
          <a:bodyPr vert="horz" wrap="square" lIns="108847" tIns="54423" rIns="108847" bIns="54423" anchorCtr="0" compatLnSpc="0">
            <a:spAutoFit/>
          </a:bodyPr>
          <a:lstStyle/>
          <a:p>
            <a:pPr hangingPunct="0"/>
            <a:r>
              <a:rPr lang="en-US" sz="2177" dirty="0">
                <a:latin typeface="Liberation Sans" pitchFamily="18"/>
                <a:ea typeface="Microsoft YaHei" pitchFamily="2"/>
                <a:cs typeface="Lucida Sans" pitchFamily="2"/>
              </a:rPr>
              <a:t>Yarn Quota</a:t>
            </a:r>
          </a:p>
        </p:txBody>
      </p:sp>
      <p:sp>
        <p:nvSpPr>
          <p:cNvPr id="34" name="ZoneTexte 33">
            <a:extLst>
              <a:ext uri="{FF2B5EF4-FFF2-40B4-BE49-F238E27FC236}">
                <a16:creationId xmlns:a16="http://schemas.microsoft.com/office/drawing/2014/main" id="{26D42B7C-DDCD-49E6-9E00-3EA446214E9C}"/>
              </a:ext>
            </a:extLst>
          </p:cNvPr>
          <p:cNvSpPr txBox="1"/>
          <p:nvPr/>
        </p:nvSpPr>
        <p:spPr>
          <a:xfrm>
            <a:off x="7203923" y="5318826"/>
            <a:ext cx="4781351" cy="430959"/>
          </a:xfrm>
          <a:prstGeom prst="rect">
            <a:avLst/>
          </a:prstGeom>
          <a:noFill/>
          <a:ln>
            <a:noFill/>
          </a:ln>
        </p:spPr>
        <p:txBody>
          <a:bodyPr vert="horz" wrap="square" lIns="108847" tIns="54423" rIns="108847" bIns="54423" anchorCtr="0" compatLnSpc="0">
            <a:spAutoFit/>
          </a:bodyPr>
          <a:lstStyle/>
          <a:p>
            <a:pPr hangingPunct="0"/>
            <a:r>
              <a:rPr lang="en-US" sz="2177" dirty="0">
                <a:latin typeface="Liberation Sans" pitchFamily="18"/>
                <a:ea typeface="Microsoft YaHei" pitchFamily="2"/>
                <a:cs typeface="Lucida Sans" pitchFamily="2"/>
              </a:rPr>
              <a:t>K8s Ns + Resource Request/Limit</a:t>
            </a:r>
          </a:p>
        </p:txBody>
      </p:sp>
      <p:sp>
        <p:nvSpPr>
          <p:cNvPr id="35" name="Forme libre : forme 34">
            <a:extLst>
              <a:ext uri="{FF2B5EF4-FFF2-40B4-BE49-F238E27FC236}">
                <a16:creationId xmlns:a16="http://schemas.microsoft.com/office/drawing/2014/main" id="{FFEB94F0-458C-4E63-B931-DA5478AF9D7D}"/>
              </a:ext>
            </a:extLst>
          </p:cNvPr>
          <p:cNvSpPr/>
          <p:nvPr/>
        </p:nvSpPr>
        <p:spPr>
          <a:xfrm>
            <a:off x="5660250" y="5321027"/>
            <a:ext cx="829410" cy="276470"/>
          </a:xfrm>
          <a:custGeom>
            <a:avLst>
              <a:gd name="f0" fmla="val 4300"/>
              <a:gd name="f1" fmla="val 5400"/>
            </a:avLst>
            <a:gdLst>
              <a:gd name="f2" fmla="val w"/>
              <a:gd name="f3" fmla="val h"/>
              <a:gd name="f4" fmla="val 0"/>
              <a:gd name="f5" fmla="val 21600"/>
              <a:gd name="f6" fmla="val 10800"/>
              <a:gd name="f7" fmla="*/ f2 1 21600"/>
              <a:gd name="f8" fmla="*/ f3 1 21600"/>
              <a:gd name="f9" fmla="pin 0 f0 10800"/>
              <a:gd name="f10" fmla="pin 0 f1 10800"/>
              <a:gd name="f11" fmla="val f9"/>
              <a:gd name="f12" fmla="val f10"/>
              <a:gd name="f13" fmla="+- 21600 0 f9"/>
              <a:gd name="f14" fmla="+- 21600 0 f10"/>
              <a:gd name="f15" fmla="+- 10800 0 f10"/>
              <a:gd name="f16" fmla="*/ f9 f7 1"/>
              <a:gd name="f17" fmla="*/ f10 f8 1"/>
              <a:gd name="f18" fmla="*/ f9 f15 1"/>
              <a:gd name="f19" fmla="*/ f14 f8 1"/>
              <a:gd name="f20" fmla="*/ f12 f8 1"/>
              <a:gd name="f21" fmla="*/ f18 1 10800"/>
              <a:gd name="f22" fmla="+- 21600 0 f21"/>
              <a:gd name="f23" fmla="*/ f21 f7 1"/>
              <a:gd name="f24" fmla="*/ f22 f7 1"/>
            </a:gdLst>
            <a:ahLst>
              <a:ahXY gdRefX="f0" minX="f4" maxX="f6" gdRefY="f1" minY="f4" maxY="f6">
                <a:pos x="f16" y="f1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23" t="f20" r="f24" b="f19"/>
            <a:pathLst>
              <a:path w="21600" h="21600">
                <a:moveTo>
                  <a:pt x="f4" y="f6"/>
                </a:moveTo>
                <a:lnTo>
                  <a:pt x="f11" y="f4"/>
                </a:lnTo>
                <a:lnTo>
                  <a:pt x="f11" y="f12"/>
                </a:lnTo>
                <a:lnTo>
                  <a:pt x="f13" y="f12"/>
                </a:lnTo>
                <a:lnTo>
                  <a:pt x="f13" y="f4"/>
                </a:lnTo>
                <a:lnTo>
                  <a:pt x="f5" y="f6"/>
                </a:lnTo>
                <a:lnTo>
                  <a:pt x="f13" y="f5"/>
                </a:lnTo>
                <a:lnTo>
                  <a:pt x="f13" y="f14"/>
                </a:lnTo>
                <a:lnTo>
                  <a:pt x="f11" y="f14"/>
                </a:lnTo>
                <a:lnTo>
                  <a:pt x="f11" y="f5"/>
                </a:lnTo>
                <a:close/>
              </a:path>
            </a:pathLst>
          </a:custGeom>
          <a:solidFill>
            <a:srgbClr val="729FCF"/>
          </a:solidFill>
          <a:ln w="0">
            <a:solidFill>
              <a:srgbClr val="3465A4"/>
            </a:solidFill>
            <a:prstDash val="solid"/>
          </a:ln>
        </p:spPr>
        <p:txBody>
          <a:bodyPr vert="horz" wrap="square" lIns="108847" tIns="54423" rIns="108847" bIns="54423" anchor="ctr" anchorCtr="0" compatLnSpc="0">
            <a:noAutofit/>
          </a:bodyPr>
          <a:lstStyle/>
          <a:p>
            <a:pPr hangingPunct="0"/>
            <a:endParaRPr lang="en-US" sz="2177">
              <a:latin typeface="Liberation Sans" pitchFamily="18"/>
              <a:ea typeface="Microsoft YaHei" pitchFamily="2"/>
              <a:cs typeface="Lucida Sans" pitchFamily="2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DB92346-6947-4251-AD73-9DB70BF4F6B1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4643609" y="5209397"/>
            <a:ext cx="2063731" cy="144766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itre 2">
            <a:extLst>
              <a:ext uri="{FF2B5EF4-FFF2-40B4-BE49-F238E27FC236}">
                <a16:creationId xmlns:a16="http://schemas.microsoft.com/office/drawing/2014/main" id="{DFDD0232-1FFD-4534-B800-8DD18CA1EF9D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609754" y="-161964"/>
            <a:ext cx="10971300" cy="1144631"/>
          </a:xfrm>
        </p:spPr>
        <p:txBody>
          <a:bodyPr vert="horz"/>
          <a:lstStyle/>
          <a:p>
            <a:pPr lvl="0"/>
            <a:r>
              <a:rPr lang="en-US" dirty="0" err="1"/>
              <a:t>Ooozie</a:t>
            </a:r>
            <a:r>
              <a:rPr lang="en-US" dirty="0"/>
              <a:t> → Yarn UI → Yarn … Nightmare, ex: Logs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8854C6C-0CD2-40AF-86EC-9FDC08951505}"/>
              </a:ext>
            </a:extLst>
          </p:cNvPr>
          <p:cNvPicPr>
            <a:picLocks noChangeAspect="1"/>
          </p:cNvPicPr>
          <p:nvPr/>
        </p:nvPicPr>
        <p:blipFill>
          <a:blip r:embed="rId4">
            <a:lum/>
            <a:alphaModFix/>
          </a:blip>
          <a:srcRect/>
          <a:stretch>
            <a:fillRect/>
          </a:stretch>
        </p:blipFill>
        <p:spPr>
          <a:xfrm>
            <a:off x="407300" y="1194265"/>
            <a:ext cx="4607258" cy="2589243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08589D5-1B69-4912-A76F-19A5D2E9D3A9}"/>
              </a:ext>
            </a:extLst>
          </p:cNvPr>
          <p:cNvPicPr>
            <a:picLocks noChangeAspect="1"/>
          </p:cNvPicPr>
          <p:nvPr/>
        </p:nvPicPr>
        <p:blipFill>
          <a:blip r:embed="rId5">
            <a:lum/>
            <a:alphaModFix/>
          </a:blip>
          <a:srcRect/>
          <a:stretch>
            <a:fillRect/>
          </a:stretch>
        </p:blipFill>
        <p:spPr>
          <a:xfrm>
            <a:off x="3724944" y="2401156"/>
            <a:ext cx="3041174" cy="2030641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Forme libre : forme 5">
            <a:extLst>
              <a:ext uri="{FF2B5EF4-FFF2-40B4-BE49-F238E27FC236}">
                <a16:creationId xmlns:a16="http://schemas.microsoft.com/office/drawing/2014/main" id="{A8B64BA9-496E-479B-927D-073472A777F4}"/>
              </a:ext>
            </a:extLst>
          </p:cNvPr>
          <p:cNvSpPr/>
          <p:nvPr/>
        </p:nvSpPr>
        <p:spPr>
          <a:xfrm>
            <a:off x="130830" y="1761138"/>
            <a:ext cx="1382352" cy="27647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*/ 5419351 1 1725033"/>
              <a:gd name="f6" fmla="*/ 10800 10800 1"/>
              <a:gd name="f7" fmla="+- 0 0 0"/>
              <a:gd name="f8" fmla="+- 0 0 360"/>
              <a:gd name="f9" fmla="val 10800"/>
              <a:gd name="f10" fmla="*/ f3 1 21600"/>
              <a:gd name="f11" fmla="*/ f4 1 21600"/>
              <a:gd name="f12" fmla="*/ 0 f5 1"/>
              <a:gd name="f13" fmla="*/ f7 f0 1"/>
              <a:gd name="f14" fmla="*/ f8 f0 1"/>
              <a:gd name="f15" fmla="*/ 3163 f10 1"/>
              <a:gd name="f16" fmla="*/ 18437 f10 1"/>
              <a:gd name="f17" fmla="*/ 18437 f11 1"/>
              <a:gd name="f18" fmla="*/ 3163 f11 1"/>
              <a:gd name="f19" fmla="*/ f12 1 f2"/>
              <a:gd name="f20" fmla="*/ f13 1 f2"/>
              <a:gd name="f21" fmla="*/ f14 1 f2"/>
              <a:gd name="f22" fmla="*/ 10800 f10 1"/>
              <a:gd name="f23" fmla="*/ 0 f11 1"/>
              <a:gd name="f24" fmla="*/ 0 f10 1"/>
              <a:gd name="f25" fmla="*/ 10800 f11 1"/>
              <a:gd name="f26" fmla="*/ 21600 f11 1"/>
              <a:gd name="f27" fmla="*/ 21600 f10 1"/>
              <a:gd name="f28" fmla="+- 0 0 f19"/>
              <a:gd name="f29" fmla="+- f20 0 f1"/>
              <a:gd name="f30" fmla="+- f21 0 f1"/>
              <a:gd name="f31" fmla="*/ f28 f0 1"/>
              <a:gd name="f32" fmla="+- f30 0 f29"/>
              <a:gd name="f33" fmla="*/ f31 1 f5"/>
              <a:gd name="f34" fmla="+- f33 0 f1"/>
              <a:gd name="f35" fmla="cos 1 f34"/>
              <a:gd name="f36" fmla="sin 1 f34"/>
              <a:gd name="f37" fmla="+- 0 0 f35"/>
              <a:gd name="f38" fmla="+- 0 0 f36"/>
              <a:gd name="f39" fmla="*/ 10800 f37 1"/>
              <a:gd name="f40" fmla="*/ 10800 f38 1"/>
              <a:gd name="f41" fmla="*/ f39 f39 1"/>
              <a:gd name="f42" fmla="*/ f40 f40 1"/>
              <a:gd name="f43" fmla="+- f41 f42 0"/>
              <a:gd name="f44" fmla="sqrt f43"/>
              <a:gd name="f45" fmla="*/ f6 1 f44"/>
              <a:gd name="f46" fmla="*/ f37 f45 1"/>
              <a:gd name="f47" fmla="*/ f38 f45 1"/>
              <a:gd name="f48" fmla="+- 10800 0 f46"/>
              <a:gd name="f49" fmla="+- 10800 0 f47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22" y="f23"/>
              </a:cxn>
              <a:cxn ang="f29">
                <a:pos x="f15" y="f18"/>
              </a:cxn>
              <a:cxn ang="f29">
                <a:pos x="f24" y="f25"/>
              </a:cxn>
              <a:cxn ang="f29">
                <a:pos x="f15" y="f17"/>
              </a:cxn>
              <a:cxn ang="f29">
                <a:pos x="f22" y="f26"/>
              </a:cxn>
              <a:cxn ang="f29">
                <a:pos x="f16" y="f17"/>
              </a:cxn>
              <a:cxn ang="f29">
                <a:pos x="f27" y="f25"/>
              </a:cxn>
              <a:cxn ang="f29">
                <a:pos x="f16" y="f18"/>
              </a:cxn>
            </a:cxnLst>
            <a:rect l="f15" t="f18" r="f16" b="f17"/>
            <a:pathLst>
              <a:path w="21600" h="21600">
                <a:moveTo>
                  <a:pt x="f48" y="f49"/>
                </a:moveTo>
                <a:arcTo wR="f9" hR="f9" stAng="f29" swAng="f32"/>
                <a:close/>
              </a:path>
            </a:pathLst>
          </a:custGeom>
          <a:noFill/>
          <a:ln w="18360">
            <a:solidFill>
              <a:srgbClr val="FF0A0A"/>
            </a:solidFill>
            <a:prstDash val="solid"/>
          </a:ln>
        </p:spPr>
        <p:txBody>
          <a:bodyPr vert="horz" wrap="square" lIns="119731" tIns="65308" rIns="119731" bIns="65308" anchor="ctr" anchorCtr="0" compatLnSpc="0">
            <a:noAutofit/>
          </a:bodyPr>
          <a:lstStyle/>
          <a:p>
            <a:pPr hangingPunct="0"/>
            <a:endParaRPr lang="en-US" sz="2177">
              <a:latin typeface="Liberation Sans" pitchFamily="18"/>
              <a:ea typeface="Microsoft YaHei" pitchFamily="2"/>
              <a:cs typeface="Lucida Sans" pitchFamily="2"/>
            </a:endParaRPr>
          </a:p>
        </p:txBody>
      </p:sp>
      <p:sp>
        <p:nvSpPr>
          <p:cNvPr id="7" name="Forme libre : forme 6">
            <a:extLst>
              <a:ext uri="{FF2B5EF4-FFF2-40B4-BE49-F238E27FC236}">
                <a16:creationId xmlns:a16="http://schemas.microsoft.com/office/drawing/2014/main" id="{8E42CC2C-9C50-4560-9FED-6A44758E5104}"/>
              </a:ext>
            </a:extLst>
          </p:cNvPr>
          <p:cNvSpPr/>
          <p:nvPr/>
        </p:nvSpPr>
        <p:spPr>
          <a:xfrm>
            <a:off x="1236711" y="3084712"/>
            <a:ext cx="1382352" cy="27647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*/ 5419351 1 1725033"/>
              <a:gd name="f6" fmla="*/ 10800 10800 1"/>
              <a:gd name="f7" fmla="+- 0 0 0"/>
              <a:gd name="f8" fmla="+- 0 0 360"/>
              <a:gd name="f9" fmla="val 10800"/>
              <a:gd name="f10" fmla="*/ f3 1 21600"/>
              <a:gd name="f11" fmla="*/ f4 1 21600"/>
              <a:gd name="f12" fmla="*/ 0 f5 1"/>
              <a:gd name="f13" fmla="*/ f7 f0 1"/>
              <a:gd name="f14" fmla="*/ f8 f0 1"/>
              <a:gd name="f15" fmla="*/ 3163 f10 1"/>
              <a:gd name="f16" fmla="*/ 18437 f10 1"/>
              <a:gd name="f17" fmla="*/ 18437 f11 1"/>
              <a:gd name="f18" fmla="*/ 3163 f11 1"/>
              <a:gd name="f19" fmla="*/ f12 1 f2"/>
              <a:gd name="f20" fmla="*/ f13 1 f2"/>
              <a:gd name="f21" fmla="*/ f14 1 f2"/>
              <a:gd name="f22" fmla="*/ 10800 f10 1"/>
              <a:gd name="f23" fmla="*/ 0 f11 1"/>
              <a:gd name="f24" fmla="*/ 0 f10 1"/>
              <a:gd name="f25" fmla="*/ 10800 f11 1"/>
              <a:gd name="f26" fmla="*/ 21600 f11 1"/>
              <a:gd name="f27" fmla="*/ 21600 f10 1"/>
              <a:gd name="f28" fmla="+- 0 0 f19"/>
              <a:gd name="f29" fmla="+- f20 0 f1"/>
              <a:gd name="f30" fmla="+- f21 0 f1"/>
              <a:gd name="f31" fmla="*/ f28 f0 1"/>
              <a:gd name="f32" fmla="+- f30 0 f29"/>
              <a:gd name="f33" fmla="*/ f31 1 f5"/>
              <a:gd name="f34" fmla="+- f33 0 f1"/>
              <a:gd name="f35" fmla="cos 1 f34"/>
              <a:gd name="f36" fmla="sin 1 f34"/>
              <a:gd name="f37" fmla="+- 0 0 f35"/>
              <a:gd name="f38" fmla="+- 0 0 f36"/>
              <a:gd name="f39" fmla="*/ 10800 f37 1"/>
              <a:gd name="f40" fmla="*/ 10800 f38 1"/>
              <a:gd name="f41" fmla="*/ f39 f39 1"/>
              <a:gd name="f42" fmla="*/ f40 f40 1"/>
              <a:gd name="f43" fmla="+- f41 f42 0"/>
              <a:gd name="f44" fmla="sqrt f43"/>
              <a:gd name="f45" fmla="*/ f6 1 f44"/>
              <a:gd name="f46" fmla="*/ f37 f45 1"/>
              <a:gd name="f47" fmla="*/ f38 f45 1"/>
              <a:gd name="f48" fmla="+- 10800 0 f46"/>
              <a:gd name="f49" fmla="+- 10800 0 f47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22" y="f23"/>
              </a:cxn>
              <a:cxn ang="f29">
                <a:pos x="f15" y="f18"/>
              </a:cxn>
              <a:cxn ang="f29">
                <a:pos x="f24" y="f25"/>
              </a:cxn>
              <a:cxn ang="f29">
                <a:pos x="f15" y="f17"/>
              </a:cxn>
              <a:cxn ang="f29">
                <a:pos x="f22" y="f26"/>
              </a:cxn>
              <a:cxn ang="f29">
                <a:pos x="f16" y="f17"/>
              </a:cxn>
              <a:cxn ang="f29">
                <a:pos x="f27" y="f25"/>
              </a:cxn>
              <a:cxn ang="f29">
                <a:pos x="f16" y="f18"/>
              </a:cxn>
            </a:cxnLst>
            <a:rect l="f15" t="f18" r="f16" b="f17"/>
            <a:pathLst>
              <a:path w="21600" h="21600">
                <a:moveTo>
                  <a:pt x="f48" y="f49"/>
                </a:moveTo>
                <a:arcTo wR="f9" hR="f9" stAng="f29" swAng="f32"/>
                <a:close/>
              </a:path>
            </a:pathLst>
          </a:custGeom>
          <a:noFill/>
          <a:ln w="18360">
            <a:solidFill>
              <a:srgbClr val="FF0A0A"/>
            </a:solidFill>
            <a:prstDash val="solid"/>
          </a:ln>
        </p:spPr>
        <p:txBody>
          <a:bodyPr vert="horz" wrap="square" lIns="119731" tIns="65308" rIns="119731" bIns="65308" anchor="ctr" anchorCtr="0" compatLnSpc="0">
            <a:noAutofit/>
          </a:bodyPr>
          <a:lstStyle/>
          <a:p>
            <a:pPr hangingPunct="0"/>
            <a:endParaRPr lang="en-US" sz="2177">
              <a:latin typeface="Liberation Sans" pitchFamily="18"/>
              <a:ea typeface="Microsoft YaHei" pitchFamily="2"/>
              <a:cs typeface="Lucida Sans" pitchFamily="2"/>
            </a:endParaRPr>
          </a:p>
        </p:txBody>
      </p:sp>
      <p:sp>
        <p:nvSpPr>
          <p:cNvPr id="8" name="Forme libre : forme 7">
            <a:extLst>
              <a:ext uri="{FF2B5EF4-FFF2-40B4-BE49-F238E27FC236}">
                <a16:creationId xmlns:a16="http://schemas.microsoft.com/office/drawing/2014/main" id="{D6EF24C6-F658-42BD-946E-BD4C3867D1EC}"/>
              </a:ext>
            </a:extLst>
          </p:cNvPr>
          <p:cNvSpPr/>
          <p:nvPr/>
        </p:nvSpPr>
        <p:spPr>
          <a:xfrm>
            <a:off x="3855560" y="2810419"/>
            <a:ext cx="1382352" cy="27647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*/ 5419351 1 1725033"/>
              <a:gd name="f6" fmla="*/ 10800 10800 1"/>
              <a:gd name="f7" fmla="+- 0 0 0"/>
              <a:gd name="f8" fmla="+- 0 0 360"/>
              <a:gd name="f9" fmla="val 10800"/>
              <a:gd name="f10" fmla="*/ f3 1 21600"/>
              <a:gd name="f11" fmla="*/ f4 1 21600"/>
              <a:gd name="f12" fmla="*/ 0 f5 1"/>
              <a:gd name="f13" fmla="*/ f7 f0 1"/>
              <a:gd name="f14" fmla="*/ f8 f0 1"/>
              <a:gd name="f15" fmla="*/ 3163 f10 1"/>
              <a:gd name="f16" fmla="*/ 18437 f10 1"/>
              <a:gd name="f17" fmla="*/ 18437 f11 1"/>
              <a:gd name="f18" fmla="*/ 3163 f11 1"/>
              <a:gd name="f19" fmla="*/ f12 1 f2"/>
              <a:gd name="f20" fmla="*/ f13 1 f2"/>
              <a:gd name="f21" fmla="*/ f14 1 f2"/>
              <a:gd name="f22" fmla="*/ 10800 f10 1"/>
              <a:gd name="f23" fmla="*/ 0 f11 1"/>
              <a:gd name="f24" fmla="*/ 0 f10 1"/>
              <a:gd name="f25" fmla="*/ 10800 f11 1"/>
              <a:gd name="f26" fmla="*/ 21600 f11 1"/>
              <a:gd name="f27" fmla="*/ 21600 f10 1"/>
              <a:gd name="f28" fmla="+- 0 0 f19"/>
              <a:gd name="f29" fmla="+- f20 0 f1"/>
              <a:gd name="f30" fmla="+- f21 0 f1"/>
              <a:gd name="f31" fmla="*/ f28 f0 1"/>
              <a:gd name="f32" fmla="+- f30 0 f29"/>
              <a:gd name="f33" fmla="*/ f31 1 f5"/>
              <a:gd name="f34" fmla="+- f33 0 f1"/>
              <a:gd name="f35" fmla="cos 1 f34"/>
              <a:gd name="f36" fmla="sin 1 f34"/>
              <a:gd name="f37" fmla="+- 0 0 f35"/>
              <a:gd name="f38" fmla="+- 0 0 f36"/>
              <a:gd name="f39" fmla="*/ 10800 f37 1"/>
              <a:gd name="f40" fmla="*/ 10800 f38 1"/>
              <a:gd name="f41" fmla="*/ f39 f39 1"/>
              <a:gd name="f42" fmla="*/ f40 f40 1"/>
              <a:gd name="f43" fmla="+- f41 f42 0"/>
              <a:gd name="f44" fmla="sqrt f43"/>
              <a:gd name="f45" fmla="*/ f6 1 f44"/>
              <a:gd name="f46" fmla="*/ f37 f45 1"/>
              <a:gd name="f47" fmla="*/ f38 f45 1"/>
              <a:gd name="f48" fmla="+- 10800 0 f46"/>
              <a:gd name="f49" fmla="+- 10800 0 f47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22" y="f23"/>
              </a:cxn>
              <a:cxn ang="f29">
                <a:pos x="f15" y="f18"/>
              </a:cxn>
              <a:cxn ang="f29">
                <a:pos x="f24" y="f25"/>
              </a:cxn>
              <a:cxn ang="f29">
                <a:pos x="f15" y="f17"/>
              </a:cxn>
              <a:cxn ang="f29">
                <a:pos x="f22" y="f26"/>
              </a:cxn>
              <a:cxn ang="f29">
                <a:pos x="f16" y="f17"/>
              </a:cxn>
              <a:cxn ang="f29">
                <a:pos x="f27" y="f25"/>
              </a:cxn>
              <a:cxn ang="f29">
                <a:pos x="f16" y="f18"/>
              </a:cxn>
            </a:cxnLst>
            <a:rect l="f15" t="f18" r="f16" b="f17"/>
            <a:pathLst>
              <a:path w="21600" h="21600">
                <a:moveTo>
                  <a:pt x="f48" y="f49"/>
                </a:moveTo>
                <a:arcTo wR="f9" hR="f9" stAng="f29" swAng="f32"/>
                <a:close/>
              </a:path>
            </a:pathLst>
          </a:custGeom>
          <a:noFill/>
          <a:ln w="18360">
            <a:solidFill>
              <a:srgbClr val="FF0A0A"/>
            </a:solidFill>
            <a:prstDash val="solid"/>
          </a:ln>
        </p:spPr>
        <p:txBody>
          <a:bodyPr vert="horz" wrap="square" lIns="119731" tIns="65308" rIns="119731" bIns="65308" anchor="ctr" anchorCtr="0" compatLnSpc="0">
            <a:noAutofit/>
          </a:bodyPr>
          <a:lstStyle/>
          <a:p>
            <a:pPr hangingPunct="0"/>
            <a:endParaRPr lang="en-US" sz="2177">
              <a:latin typeface="Liberation Sans" pitchFamily="18"/>
              <a:ea typeface="Microsoft YaHei" pitchFamily="2"/>
              <a:cs typeface="Lucida Sans" pitchFamily="2"/>
            </a:endParaRP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FB6461B0-0523-4960-9243-00CED44CF47E}"/>
              </a:ext>
            </a:extLst>
          </p:cNvPr>
          <p:cNvSpPr txBox="1"/>
          <p:nvPr/>
        </p:nvSpPr>
        <p:spPr>
          <a:xfrm>
            <a:off x="53332" y="769327"/>
            <a:ext cx="3318513" cy="359593"/>
          </a:xfrm>
          <a:prstGeom prst="rect">
            <a:avLst/>
          </a:prstGeom>
          <a:noFill/>
          <a:ln>
            <a:noFill/>
          </a:ln>
        </p:spPr>
        <p:txBody>
          <a:bodyPr vert="horz" wrap="square" lIns="108847" tIns="54423" rIns="108847" bIns="54423" anchorCtr="0" compatLnSpc="0">
            <a:spAutoFit/>
          </a:bodyPr>
          <a:lstStyle/>
          <a:p>
            <a:pPr hangingPunct="0"/>
            <a:r>
              <a:rPr lang="en-US" sz="1693" b="1">
                <a:latin typeface="Liberation Sans" pitchFamily="18"/>
                <a:ea typeface="Microsoft YaHei" pitchFamily="2"/>
                <a:cs typeface="Lucida Sans" pitchFamily="2"/>
              </a:rPr>
              <a:t>1/</a:t>
            </a:r>
            <a:r>
              <a:rPr lang="en-US" sz="1693">
                <a:latin typeface="Liberation Sans" pitchFamily="18"/>
                <a:ea typeface="Microsoft YaHei" pitchFamily="2"/>
                <a:cs typeface="Lucida Sans" pitchFamily="2"/>
              </a:rPr>
              <a:t> Find Oozie workflow Id</a:t>
            </a:r>
          </a:p>
        </p:txBody>
      </p:sp>
      <p:sp>
        <p:nvSpPr>
          <p:cNvPr id="10" name="Connecteur droit 9">
            <a:extLst>
              <a:ext uri="{FF2B5EF4-FFF2-40B4-BE49-F238E27FC236}">
                <a16:creationId xmlns:a16="http://schemas.microsoft.com/office/drawing/2014/main" id="{049C8CF3-DE88-43AD-9FD9-4B2ACE31B56C}"/>
              </a:ext>
            </a:extLst>
          </p:cNvPr>
          <p:cNvSpPr/>
          <p:nvPr/>
        </p:nvSpPr>
        <p:spPr>
          <a:xfrm>
            <a:off x="276684" y="1223435"/>
            <a:ext cx="276470" cy="552942"/>
          </a:xfrm>
          <a:prstGeom prst="line">
            <a:avLst/>
          </a:prstGeom>
          <a:noFill/>
          <a:ln w="18360">
            <a:solidFill>
              <a:srgbClr val="FF0A0A"/>
            </a:solidFill>
            <a:prstDash val="solid"/>
            <a:tailEnd type="arrow"/>
          </a:ln>
        </p:spPr>
        <p:txBody>
          <a:bodyPr vert="horz" wrap="square" lIns="119731" tIns="65308" rIns="119731" bIns="65308" anchor="ctr" anchorCtr="0" compatLnSpc="0"/>
          <a:lstStyle/>
          <a:p>
            <a:pPr hangingPunct="0"/>
            <a:endParaRPr lang="en-US" sz="2177">
              <a:latin typeface="Liberation Sans" pitchFamily="18"/>
              <a:ea typeface="Microsoft YaHei" pitchFamily="2"/>
              <a:cs typeface="Lucida Sans" pitchFamily="2"/>
            </a:endParaRPr>
          </a:p>
        </p:txBody>
      </p:sp>
      <p:sp>
        <p:nvSpPr>
          <p:cNvPr id="11" name="Connecteur droit 10">
            <a:extLst>
              <a:ext uri="{FF2B5EF4-FFF2-40B4-BE49-F238E27FC236}">
                <a16:creationId xmlns:a16="http://schemas.microsoft.com/office/drawing/2014/main" id="{8F6280FE-6028-455E-A7FA-485C88C5C9F8}"/>
              </a:ext>
            </a:extLst>
          </p:cNvPr>
          <p:cNvSpPr/>
          <p:nvPr/>
        </p:nvSpPr>
        <p:spPr>
          <a:xfrm>
            <a:off x="829624" y="2052847"/>
            <a:ext cx="552942" cy="1105881"/>
          </a:xfrm>
          <a:prstGeom prst="line">
            <a:avLst/>
          </a:prstGeom>
          <a:noFill/>
          <a:ln w="18360">
            <a:solidFill>
              <a:srgbClr val="FF0A0A"/>
            </a:solidFill>
            <a:prstDash val="solid"/>
            <a:tailEnd type="arrow"/>
          </a:ln>
        </p:spPr>
        <p:txBody>
          <a:bodyPr vert="horz" wrap="square" lIns="119731" tIns="65308" rIns="119731" bIns="65308" anchor="ctr" anchorCtr="0" compatLnSpc="0"/>
          <a:lstStyle/>
          <a:p>
            <a:pPr hangingPunct="0"/>
            <a:endParaRPr lang="en-US" sz="2177">
              <a:latin typeface="Liberation Sans" pitchFamily="18"/>
              <a:ea typeface="Microsoft YaHei" pitchFamily="2"/>
              <a:cs typeface="Lucida Sans" pitchFamily="2"/>
            </a:endParaRP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FE2A297F-53EB-4957-A9F7-352E5D83A92F}"/>
              </a:ext>
            </a:extLst>
          </p:cNvPr>
          <p:cNvSpPr txBox="1"/>
          <p:nvPr/>
        </p:nvSpPr>
        <p:spPr>
          <a:xfrm>
            <a:off x="829624" y="3783507"/>
            <a:ext cx="2011919" cy="359593"/>
          </a:xfrm>
          <a:prstGeom prst="rect">
            <a:avLst/>
          </a:prstGeom>
          <a:noFill/>
          <a:ln>
            <a:noFill/>
          </a:ln>
        </p:spPr>
        <p:txBody>
          <a:bodyPr vert="horz" wrap="square" lIns="108847" tIns="54423" rIns="108847" bIns="54423" anchorCtr="0" compatLnSpc="0">
            <a:spAutoFit/>
          </a:bodyPr>
          <a:lstStyle/>
          <a:p>
            <a:pPr hangingPunct="0"/>
            <a:r>
              <a:rPr lang="en-US" sz="1693" b="1">
                <a:latin typeface="Liberation Sans" pitchFamily="18"/>
                <a:ea typeface="Microsoft YaHei" pitchFamily="2"/>
                <a:cs typeface="Lucida Sans" pitchFamily="2"/>
              </a:rPr>
              <a:t>2/</a:t>
            </a:r>
            <a:r>
              <a:rPr lang="en-US" sz="1693">
                <a:latin typeface="Liberation Sans" pitchFamily="18"/>
                <a:ea typeface="Microsoft YaHei" pitchFamily="2"/>
                <a:cs typeface="Lucida Sans" pitchFamily="2"/>
              </a:rPr>
              <a:t> oozie-action</a:t>
            </a:r>
          </a:p>
        </p:txBody>
      </p:sp>
      <p:sp>
        <p:nvSpPr>
          <p:cNvPr id="13" name="Connecteur droit 12">
            <a:extLst>
              <a:ext uri="{FF2B5EF4-FFF2-40B4-BE49-F238E27FC236}">
                <a16:creationId xmlns:a16="http://schemas.microsoft.com/office/drawing/2014/main" id="{912CB205-6041-47EF-B229-111E0B832208}"/>
              </a:ext>
            </a:extLst>
          </p:cNvPr>
          <p:cNvSpPr/>
          <p:nvPr/>
        </p:nvSpPr>
        <p:spPr>
          <a:xfrm flipV="1">
            <a:off x="2619063" y="2925796"/>
            <a:ext cx="1251736" cy="276470"/>
          </a:xfrm>
          <a:prstGeom prst="line">
            <a:avLst/>
          </a:prstGeom>
          <a:noFill/>
          <a:ln w="18360">
            <a:solidFill>
              <a:srgbClr val="FF0A0A"/>
            </a:solidFill>
            <a:prstDash val="solid"/>
            <a:tailEnd type="arrow"/>
          </a:ln>
        </p:spPr>
        <p:txBody>
          <a:bodyPr vert="horz" wrap="square" lIns="119731" tIns="65308" rIns="119731" bIns="65308" anchor="ctr" anchorCtr="0" compatLnSpc="0"/>
          <a:lstStyle/>
          <a:p>
            <a:pPr hangingPunct="0"/>
            <a:endParaRPr lang="en-US" sz="2177">
              <a:latin typeface="Liberation Sans" pitchFamily="18"/>
              <a:ea typeface="Microsoft YaHei" pitchFamily="2"/>
              <a:cs typeface="Lucida Sans" pitchFamily="2"/>
            </a:endParaRPr>
          </a:p>
        </p:txBody>
      </p:sp>
      <p:sp>
        <p:nvSpPr>
          <p:cNvPr id="14" name="Connecteur droit 13">
            <a:extLst>
              <a:ext uri="{FF2B5EF4-FFF2-40B4-BE49-F238E27FC236}">
                <a16:creationId xmlns:a16="http://schemas.microsoft.com/office/drawing/2014/main" id="{4509C293-FFFA-4FC6-9283-6E3FD5B6446E}"/>
              </a:ext>
            </a:extLst>
          </p:cNvPr>
          <p:cNvSpPr/>
          <p:nvPr/>
        </p:nvSpPr>
        <p:spPr>
          <a:xfrm>
            <a:off x="5194373" y="3028112"/>
            <a:ext cx="975265" cy="960027"/>
          </a:xfrm>
          <a:prstGeom prst="line">
            <a:avLst/>
          </a:prstGeom>
          <a:noFill/>
          <a:ln w="18360">
            <a:solidFill>
              <a:srgbClr val="FF0A0A"/>
            </a:solidFill>
            <a:prstDash val="solid"/>
            <a:tailEnd type="arrow"/>
          </a:ln>
        </p:spPr>
        <p:txBody>
          <a:bodyPr vert="horz" wrap="square" lIns="119731" tIns="65308" rIns="119731" bIns="65308" anchor="ctr" anchorCtr="0" compatLnSpc="0"/>
          <a:lstStyle/>
          <a:p>
            <a:pPr hangingPunct="0"/>
            <a:endParaRPr lang="en-US" sz="2177">
              <a:latin typeface="Liberation Sans" pitchFamily="18"/>
              <a:ea typeface="Microsoft YaHei" pitchFamily="2"/>
              <a:cs typeface="Lucida Sans" pitchFamily="2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74EB84D7-DCA2-4250-972C-E81732E984A5}"/>
              </a:ext>
            </a:extLst>
          </p:cNvPr>
          <p:cNvPicPr>
            <a:picLocks noChangeAspect="1"/>
          </p:cNvPicPr>
          <p:nvPr/>
        </p:nvPicPr>
        <p:blipFill>
          <a:blip r:embed="rId6">
            <a:lum/>
            <a:alphaModFix/>
          </a:blip>
          <a:srcRect/>
          <a:stretch>
            <a:fillRect/>
          </a:stretch>
        </p:blipFill>
        <p:spPr>
          <a:xfrm>
            <a:off x="8017854" y="1703230"/>
            <a:ext cx="3317643" cy="1618766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Forme libre : forme 15">
            <a:extLst>
              <a:ext uri="{FF2B5EF4-FFF2-40B4-BE49-F238E27FC236}">
                <a16:creationId xmlns:a16="http://schemas.microsoft.com/office/drawing/2014/main" id="{A2F71445-9D22-4FEF-B1D7-3383FA6F4FF5}"/>
              </a:ext>
            </a:extLst>
          </p:cNvPr>
          <p:cNvSpPr/>
          <p:nvPr/>
        </p:nvSpPr>
        <p:spPr>
          <a:xfrm>
            <a:off x="3855560" y="2810419"/>
            <a:ext cx="1382352" cy="27647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*/ 5419351 1 1725033"/>
              <a:gd name="f6" fmla="*/ 10800 10800 1"/>
              <a:gd name="f7" fmla="+- 0 0 0"/>
              <a:gd name="f8" fmla="+- 0 0 360"/>
              <a:gd name="f9" fmla="val 10800"/>
              <a:gd name="f10" fmla="*/ f3 1 21600"/>
              <a:gd name="f11" fmla="*/ f4 1 21600"/>
              <a:gd name="f12" fmla="*/ 0 f5 1"/>
              <a:gd name="f13" fmla="*/ f7 f0 1"/>
              <a:gd name="f14" fmla="*/ f8 f0 1"/>
              <a:gd name="f15" fmla="*/ 3163 f10 1"/>
              <a:gd name="f16" fmla="*/ 18437 f10 1"/>
              <a:gd name="f17" fmla="*/ 18437 f11 1"/>
              <a:gd name="f18" fmla="*/ 3163 f11 1"/>
              <a:gd name="f19" fmla="*/ f12 1 f2"/>
              <a:gd name="f20" fmla="*/ f13 1 f2"/>
              <a:gd name="f21" fmla="*/ f14 1 f2"/>
              <a:gd name="f22" fmla="*/ 10800 f10 1"/>
              <a:gd name="f23" fmla="*/ 0 f11 1"/>
              <a:gd name="f24" fmla="*/ 0 f10 1"/>
              <a:gd name="f25" fmla="*/ 10800 f11 1"/>
              <a:gd name="f26" fmla="*/ 21600 f11 1"/>
              <a:gd name="f27" fmla="*/ 21600 f10 1"/>
              <a:gd name="f28" fmla="+- 0 0 f19"/>
              <a:gd name="f29" fmla="+- f20 0 f1"/>
              <a:gd name="f30" fmla="+- f21 0 f1"/>
              <a:gd name="f31" fmla="*/ f28 f0 1"/>
              <a:gd name="f32" fmla="+- f30 0 f29"/>
              <a:gd name="f33" fmla="*/ f31 1 f5"/>
              <a:gd name="f34" fmla="+- f33 0 f1"/>
              <a:gd name="f35" fmla="cos 1 f34"/>
              <a:gd name="f36" fmla="sin 1 f34"/>
              <a:gd name="f37" fmla="+- 0 0 f35"/>
              <a:gd name="f38" fmla="+- 0 0 f36"/>
              <a:gd name="f39" fmla="*/ 10800 f37 1"/>
              <a:gd name="f40" fmla="*/ 10800 f38 1"/>
              <a:gd name="f41" fmla="*/ f39 f39 1"/>
              <a:gd name="f42" fmla="*/ f40 f40 1"/>
              <a:gd name="f43" fmla="+- f41 f42 0"/>
              <a:gd name="f44" fmla="sqrt f43"/>
              <a:gd name="f45" fmla="*/ f6 1 f44"/>
              <a:gd name="f46" fmla="*/ f37 f45 1"/>
              <a:gd name="f47" fmla="*/ f38 f45 1"/>
              <a:gd name="f48" fmla="+- 10800 0 f46"/>
              <a:gd name="f49" fmla="+- 10800 0 f47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22" y="f23"/>
              </a:cxn>
              <a:cxn ang="f29">
                <a:pos x="f15" y="f18"/>
              </a:cxn>
              <a:cxn ang="f29">
                <a:pos x="f24" y="f25"/>
              </a:cxn>
              <a:cxn ang="f29">
                <a:pos x="f15" y="f17"/>
              </a:cxn>
              <a:cxn ang="f29">
                <a:pos x="f22" y="f26"/>
              </a:cxn>
              <a:cxn ang="f29">
                <a:pos x="f16" y="f17"/>
              </a:cxn>
              <a:cxn ang="f29">
                <a:pos x="f27" y="f25"/>
              </a:cxn>
              <a:cxn ang="f29">
                <a:pos x="f16" y="f18"/>
              </a:cxn>
            </a:cxnLst>
            <a:rect l="f15" t="f18" r="f16" b="f17"/>
            <a:pathLst>
              <a:path w="21600" h="21600">
                <a:moveTo>
                  <a:pt x="f48" y="f49"/>
                </a:moveTo>
                <a:arcTo wR="f9" hR="f9" stAng="f29" swAng="f32"/>
                <a:close/>
              </a:path>
            </a:pathLst>
          </a:custGeom>
          <a:noFill/>
          <a:ln w="18360">
            <a:solidFill>
              <a:srgbClr val="FF0A0A"/>
            </a:solidFill>
            <a:prstDash val="solid"/>
          </a:ln>
        </p:spPr>
        <p:txBody>
          <a:bodyPr vert="horz" wrap="square" lIns="119731" tIns="65308" rIns="119731" bIns="65308" anchor="ctr" anchorCtr="0" compatLnSpc="0">
            <a:noAutofit/>
          </a:bodyPr>
          <a:lstStyle/>
          <a:p>
            <a:pPr hangingPunct="0"/>
            <a:endParaRPr lang="en-US" sz="2177">
              <a:latin typeface="Liberation Sans" pitchFamily="18"/>
              <a:ea typeface="Microsoft YaHei" pitchFamily="2"/>
              <a:cs typeface="Lucida Sans" pitchFamily="2"/>
            </a:endParaRPr>
          </a:p>
        </p:txBody>
      </p:sp>
      <p:sp>
        <p:nvSpPr>
          <p:cNvPr id="17" name="Forme libre : forme 16">
            <a:extLst>
              <a:ext uri="{FF2B5EF4-FFF2-40B4-BE49-F238E27FC236}">
                <a16:creationId xmlns:a16="http://schemas.microsoft.com/office/drawing/2014/main" id="{3195E3F5-7910-40CE-AA87-3763F59B30C0}"/>
              </a:ext>
            </a:extLst>
          </p:cNvPr>
          <p:cNvSpPr/>
          <p:nvPr/>
        </p:nvSpPr>
        <p:spPr>
          <a:xfrm>
            <a:off x="8104931" y="3036384"/>
            <a:ext cx="1338813" cy="165882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*/ 5419351 1 1725033"/>
              <a:gd name="f6" fmla="*/ 10800 10800 1"/>
              <a:gd name="f7" fmla="+- 0 0 0"/>
              <a:gd name="f8" fmla="+- 0 0 360"/>
              <a:gd name="f9" fmla="val 10800"/>
              <a:gd name="f10" fmla="*/ f3 1 21600"/>
              <a:gd name="f11" fmla="*/ f4 1 21600"/>
              <a:gd name="f12" fmla="*/ 0 f5 1"/>
              <a:gd name="f13" fmla="*/ f7 f0 1"/>
              <a:gd name="f14" fmla="*/ f8 f0 1"/>
              <a:gd name="f15" fmla="*/ 3163 f10 1"/>
              <a:gd name="f16" fmla="*/ 18437 f10 1"/>
              <a:gd name="f17" fmla="*/ 18437 f11 1"/>
              <a:gd name="f18" fmla="*/ 3163 f11 1"/>
              <a:gd name="f19" fmla="*/ f12 1 f2"/>
              <a:gd name="f20" fmla="*/ f13 1 f2"/>
              <a:gd name="f21" fmla="*/ f14 1 f2"/>
              <a:gd name="f22" fmla="*/ 10800 f10 1"/>
              <a:gd name="f23" fmla="*/ 0 f11 1"/>
              <a:gd name="f24" fmla="*/ 0 f10 1"/>
              <a:gd name="f25" fmla="*/ 10800 f11 1"/>
              <a:gd name="f26" fmla="*/ 21600 f11 1"/>
              <a:gd name="f27" fmla="*/ 21600 f10 1"/>
              <a:gd name="f28" fmla="+- 0 0 f19"/>
              <a:gd name="f29" fmla="+- f20 0 f1"/>
              <a:gd name="f30" fmla="+- f21 0 f1"/>
              <a:gd name="f31" fmla="*/ f28 f0 1"/>
              <a:gd name="f32" fmla="+- f30 0 f29"/>
              <a:gd name="f33" fmla="*/ f31 1 f5"/>
              <a:gd name="f34" fmla="+- f33 0 f1"/>
              <a:gd name="f35" fmla="cos 1 f34"/>
              <a:gd name="f36" fmla="sin 1 f34"/>
              <a:gd name="f37" fmla="+- 0 0 f35"/>
              <a:gd name="f38" fmla="+- 0 0 f36"/>
              <a:gd name="f39" fmla="*/ 10800 f37 1"/>
              <a:gd name="f40" fmla="*/ 10800 f38 1"/>
              <a:gd name="f41" fmla="*/ f39 f39 1"/>
              <a:gd name="f42" fmla="*/ f40 f40 1"/>
              <a:gd name="f43" fmla="+- f41 f42 0"/>
              <a:gd name="f44" fmla="sqrt f43"/>
              <a:gd name="f45" fmla="*/ f6 1 f44"/>
              <a:gd name="f46" fmla="*/ f37 f45 1"/>
              <a:gd name="f47" fmla="*/ f38 f45 1"/>
              <a:gd name="f48" fmla="+- 10800 0 f46"/>
              <a:gd name="f49" fmla="+- 10800 0 f47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22" y="f23"/>
              </a:cxn>
              <a:cxn ang="f29">
                <a:pos x="f15" y="f18"/>
              </a:cxn>
              <a:cxn ang="f29">
                <a:pos x="f24" y="f25"/>
              </a:cxn>
              <a:cxn ang="f29">
                <a:pos x="f15" y="f17"/>
              </a:cxn>
              <a:cxn ang="f29">
                <a:pos x="f22" y="f26"/>
              </a:cxn>
              <a:cxn ang="f29">
                <a:pos x="f16" y="f17"/>
              </a:cxn>
              <a:cxn ang="f29">
                <a:pos x="f27" y="f25"/>
              </a:cxn>
              <a:cxn ang="f29">
                <a:pos x="f16" y="f18"/>
              </a:cxn>
            </a:cxnLst>
            <a:rect l="f15" t="f18" r="f16" b="f17"/>
            <a:pathLst>
              <a:path w="21600" h="21600">
                <a:moveTo>
                  <a:pt x="f48" y="f49"/>
                </a:moveTo>
                <a:arcTo wR="f9" hR="f9" stAng="f29" swAng="f32"/>
                <a:close/>
              </a:path>
            </a:pathLst>
          </a:custGeom>
          <a:noFill/>
          <a:ln w="18360">
            <a:solidFill>
              <a:srgbClr val="FF0A0A"/>
            </a:solidFill>
            <a:prstDash val="solid"/>
          </a:ln>
        </p:spPr>
        <p:txBody>
          <a:bodyPr vert="horz" wrap="square" lIns="119731" tIns="65308" rIns="119731" bIns="65308" anchor="ctr" anchorCtr="0" compatLnSpc="0">
            <a:noAutofit/>
          </a:bodyPr>
          <a:lstStyle/>
          <a:p>
            <a:pPr hangingPunct="0"/>
            <a:endParaRPr lang="en-US" sz="2177">
              <a:latin typeface="Liberation Sans" pitchFamily="18"/>
              <a:ea typeface="Microsoft YaHei" pitchFamily="2"/>
              <a:cs typeface="Lucida Sans" pitchFamily="2"/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DE0E6F3D-5B33-4193-A300-1B5C152DD6C1}"/>
              </a:ext>
            </a:extLst>
          </p:cNvPr>
          <p:cNvPicPr>
            <a:picLocks noChangeAspect="1"/>
          </p:cNvPicPr>
          <p:nvPr/>
        </p:nvPicPr>
        <p:blipFill>
          <a:blip r:embed="rId7">
            <a:lum/>
            <a:alphaModFix/>
          </a:blip>
          <a:srcRect/>
          <a:stretch>
            <a:fillRect/>
          </a:stretch>
        </p:blipFill>
        <p:spPr>
          <a:xfrm>
            <a:off x="214" y="4147055"/>
            <a:ext cx="3547527" cy="1455497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ZoneTexte 18">
            <a:extLst>
              <a:ext uri="{FF2B5EF4-FFF2-40B4-BE49-F238E27FC236}">
                <a16:creationId xmlns:a16="http://schemas.microsoft.com/office/drawing/2014/main" id="{12474138-F67B-4F26-BF1F-B0173E1B2C98}"/>
              </a:ext>
            </a:extLst>
          </p:cNvPr>
          <p:cNvSpPr txBox="1"/>
          <p:nvPr/>
        </p:nvSpPr>
        <p:spPr>
          <a:xfrm>
            <a:off x="9089340" y="1353617"/>
            <a:ext cx="2522627" cy="430766"/>
          </a:xfrm>
          <a:prstGeom prst="rect">
            <a:avLst/>
          </a:prstGeom>
          <a:noFill/>
          <a:ln>
            <a:noFill/>
          </a:ln>
        </p:spPr>
        <p:txBody>
          <a:bodyPr vert="horz" wrap="square" lIns="108847" tIns="54423" rIns="108847" bIns="54423" anchorCtr="0" compatLnSpc="0">
            <a:spAutoFit/>
          </a:bodyPr>
          <a:lstStyle/>
          <a:p>
            <a:pPr hangingPunct="0"/>
            <a:r>
              <a:rPr lang="en-US" sz="1088" b="1">
                <a:latin typeface="Liberation Sans" pitchFamily="18"/>
                <a:ea typeface="Microsoft YaHei" pitchFamily="2"/>
                <a:cs typeface="Lucida Sans" pitchFamily="2"/>
              </a:rPr>
              <a:t>5/</a:t>
            </a:r>
            <a:r>
              <a:rPr lang="en-US" sz="1088">
                <a:latin typeface="Liberation Sans" pitchFamily="18"/>
                <a:ea typeface="Microsoft YaHei" pitchFamily="2"/>
                <a:cs typeface="Lucida Sans" pitchFamily="2"/>
              </a:rPr>
              <a:t> Mapreduce  (SHELL)   </a:t>
            </a:r>
            <a:br>
              <a:rPr lang="en-US" sz="1088">
                <a:latin typeface="Liberation Sans" pitchFamily="18"/>
                <a:ea typeface="Microsoft YaHei" pitchFamily="2"/>
                <a:cs typeface="Lucida Sans" pitchFamily="2"/>
              </a:rPr>
            </a:br>
            <a:r>
              <a:rPr lang="en-US" sz="1088">
                <a:latin typeface="Liberation Sans" pitchFamily="18"/>
                <a:ea typeface="Microsoft YaHei" pitchFamily="2"/>
                <a:cs typeface="Lucida Sans" pitchFamily="2"/>
              </a:rPr>
              <a:t>    … call spark-submit --mode cluster</a:t>
            </a:r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8B641058-289C-40F1-B62A-249AB1D30670}"/>
              </a:ext>
            </a:extLst>
          </p:cNvPr>
          <p:cNvSpPr txBox="1"/>
          <p:nvPr/>
        </p:nvSpPr>
        <p:spPr>
          <a:xfrm>
            <a:off x="9089340" y="1164223"/>
            <a:ext cx="2098561" cy="270337"/>
          </a:xfrm>
          <a:prstGeom prst="rect">
            <a:avLst/>
          </a:prstGeom>
          <a:noFill/>
          <a:ln>
            <a:noFill/>
          </a:ln>
        </p:spPr>
        <p:txBody>
          <a:bodyPr vert="horz" wrap="square" lIns="108847" tIns="54423" rIns="108847" bIns="54423" anchorCtr="0" compatLnSpc="0">
            <a:spAutoFit/>
          </a:bodyPr>
          <a:lstStyle/>
          <a:p>
            <a:pPr hangingPunct="0"/>
            <a:r>
              <a:rPr lang="en-US" sz="1088" b="1">
                <a:latin typeface="Liberation Sans" pitchFamily="18"/>
                <a:ea typeface="Microsoft YaHei" pitchFamily="2"/>
                <a:cs typeface="Lucida Sans" pitchFamily="2"/>
              </a:rPr>
              <a:t>6/</a:t>
            </a:r>
            <a:r>
              <a:rPr lang="en-US" sz="1088">
                <a:latin typeface="Liberation Sans" pitchFamily="18"/>
                <a:ea typeface="Microsoft YaHei" pitchFamily="2"/>
                <a:cs typeface="Lucida Sans" pitchFamily="2"/>
              </a:rPr>
              <a:t> Yarn  (spark-submit client)   </a:t>
            </a:r>
          </a:p>
        </p:txBody>
      </p:sp>
      <p:sp>
        <p:nvSpPr>
          <p:cNvPr id="21" name="ZoneTexte 20">
            <a:extLst>
              <a:ext uri="{FF2B5EF4-FFF2-40B4-BE49-F238E27FC236}">
                <a16:creationId xmlns:a16="http://schemas.microsoft.com/office/drawing/2014/main" id="{77015FF9-4A69-44E8-BB6F-A89768B5AEAC}"/>
              </a:ext>
            </a:extLst>
          </p:cNvPr>
          <p:cNvSpPr txBox="1"/>
          <p:nvPr/>
        </p:nvSpPr>
        <p:spPr>
          <a:xfrm>
            <a:off x="9089339" y="946964"/>
            <a:ext cx="714469" cy="270337"/>
          </a:xfrm>
          <a:prstGeom prst="rect">
            <a:avLst/>
          </a:prstGeom>
          <a:noFill/>
          <a:ln>
            <a:noFill/>
          </a:ln>
        </p:spPr>
        <p:txBody>
          <a:bodyPr vert="horz" wrap="square" lIns="108847" tIns="54423" rIns="108847" bIns="54423" anchorCtr="0" compatLnSpc="0">
            <a:spAutoFit/>
          </a:bodyPr>
          <a:lstStyle/>
          <a:p>
            <a:pPr hangingPunct="0"/>
            <a:r>
              <a:rPr lang="en-US" sz="1088" b="1">
                <a:latin typeface="Liberation Sans" pitchFamily="18"/>
                <a:ea typeface="Microsoft YaHei" pitchFamily="2"/>
                <a:cs typeface="Lucida Sans" pitchFamily="2"/>
              </a:rPr>
              <a:t>7/</a:t>
            </a:r>
            <a:r>
              <a:rPr lang="en-US" sz="1088">
                <a:latin typeface="Liberation Sans" pitchFamily="18"/>
                <a:ea typeface="Microsoft YaHei" pitchFamily="2"/>
                <a:cs typeface="Lucida Sans" pitchFamily="2"/>
              </a:rPr>
              <a:t> spark</a:t>
            </a:r>
          </a:p>
        </p:txBody>
      </p:sp>
      <p:sp>
        <p:nvSpPr>
          <p:cNvPr id="22" name="ZoneTexte 21">
            <a:extLst>
              <a:ext uri="{FF2B5EF4-FFF2-40B4-BE49-F238E27FC236}">
                <a16:creationId xmlns:a16="http://schemas.microsoft.com/office/drawing/2014/main" id="{B9E7C373-83A6-421D-910B-3EE98EB87393}"/>
              </a:ext>
            </a:extLst>
          </p:cNvPr>
          <p:cNvSpPr txBox="1"/>
          <p:nvPr/>
        </p:nvSpPr>
        <p:spPr>
          <a:xfrm>
            <a:off x="3812021" y="1703230"/>
            <a:ext cx="4138783" cy="609276"/>
          </a:xfrm>
          <a:prstGeom prst="rect">
            <a:avLst/>
          </a:prstGeom>
          <a:noFill/>
          <a:ln>
            <a:noFill/>
          </a:ln>
        </p:spPr>
        <p:txBody>
          <a:bodyPr vert="horz" wrap="square" lIns="108847" tIns="54423" rIns="108847" bIns="54423" anchorCtr="0" compatLnSpc="0">
            <a:spAutoFit/>
          </a:bodyPr>
          <a:lstStyle/>
          <a:p>
            <a:pPr hangingPunct="0"/>
            <a:r>
              <a:rPr lang="en-US" sz="1693" b="1">
                <a:latin typeface="Liberation Sans" pitchFamily="18"/>
                <a:ea typeface="Microsoft YaHei" pitchFamily="2"/>
                <a:cs typeface="Lucida Sans" pitchFamily="2"/>
              </a:rPr>
              <a:t>3/</a:t>
            </a:r>
            <a:r>
              <a:rPr lang="en-US" sz="1693">
                <a:latin typeface="Liberation Sans" pitchFamily="18"/>
                <a:ea typeface="Microsoft YaHei" pitchFamily="2"/>
                <a:cs typeface="Lucida Sans" pitchFamily="2"/>
              </a:rPr>
              <a:t> Oozie shell action = “Mapper”</a:t>
            </a:r>
            <a:br>
              <a:rPr lang="en-US" sz="1693">
                <a:latin typeface="Liberation Sans" pitchFamily="18"/>
                <a:ea typeface="Microsoft YaHei" pitchFamily="2"/>
                <a:cs typeface="Lucida Sans" pitchFamily="2"/>
              </a:rPr>
            </a:br>
            <a:r>
              <a:rPr lang="en-US" sz="1693">
                <a:latin typeface="Liberation Sans" pitchFamily="18"/>
                <a:ea typeface="Microsoft YaHei" pitchFamily="2"/>
                <a:cs typeface="Lucida Sans" pitchFamily="2"/>
              </a:rPr>
              <a:t>   of Map-Reduce in Yarn</a:t>
            </a:r>
          </a:p>
        </p:txBody>
      </p:sp>
      <p:sp>
        <p:nvSpPr>
          <p:cNvPr id="23" name="Connecteur droit 22">
            <a:extLst>
              <a:ext uri="{FF2B5EF4-FFF2-40B4-BE49-F238E27FC236}">
                <a16:creationId xmlns:a16="http://schemas.microsoft.com/office/drawing/2014/main" id="{6AE3BC12-49BA-4871-924C-7C759FF40D91}"/>
              </a:ext>
            </a:extLst>
          </p:cNvPr>
          <p:cNvSpPr/>
          <p:nvPr/>
        </p:nvSpPr>
        <p:spPr>
          <a:xfrm flipV="1">
            <a:off x="6407795" y="3158729"/>
            <a:ext cx="1610059" cy="822008"/>
          </a:xfrm>
          <a:prstGeom prst="line">
            <a:avLst/>
          </a:prstGeom>
          <a:noFill/>
          <a:ln w="18360">
            <a:solidFill>
              <a:srgbClr val="FF0A0A"/>
            </a:solidFill>
            <a:prstDash val="solid"/>
            <a:tailEnd type="arrow"/>
          </a:ln>
        </p:spPr>
        <p:txBody>
          <a:bodyPr vert="horz" wrap="square" lIns="119731" tIns="65308" rIns="119731" bIns="65308" anchor="ctr" anchorCtr="0" compatLnSpc="0"/>
          <a:lstStyle/>
          <a:p>
            <a:pPr hangingPunct="0"/>
            <a:endParaRPr lang="en-US" sz="2177">
              <a:latin typeface="Liberation Sans" pitchFamily="18"/>
              <a:ea typeface="Microsoft YaHei" pitchFamily="2"/>
              <a:cs typeface="Lucida Sans" pitchFamily="2"/>
            </a:endParaRPr>
          </a:p>
        </p:txBody>
      </p:sp>
      <p:sp>
        <p:nvSpPr>
          <p:cNvPr id="24" name="Connecteur droit 23">
            <a:extLst>
              <a:ext uri="{FF2B5EF4-FFF2-40B4-BE49-F238E27FC236}">
                <a16:creationId xmlns:a16="http://schemas.microsoft.com/office/drawing/2014/main" id="{8DD2FEF4-E2B2-42DE-8DAB-5A85B996F8F1}"/>
              </a:ext>
            </a:extLst>
          </p:cNvPr>
          <p:cNvSpPr/>
          <p:nvPr/>
        </p:nvSpPr>
        <p:spPr>
          <a:xfrm flipV="1">
            <a:off x="8017853" y="2969335"/>
            <a:ext cx="0" cy="221176"/>
          </a:xfrm>
          <a:prstGeom prst="line">
            <a:avLst/>
          </a:prstGeom>
          <a:noFill/>
          <a:ln w="18360">
            <a:solidFill>
              <a:srgbClr val="FF0A0A"/>
            </a:solidFill>
            <a:prstDash val="solid"/>
            <a:tailEnd type="arrow"/>
          </a:ln>
        </p:spPr>
        <p:txBody>
          <a:bodyPr vert="horz" wrap="square" lIns="119731" tIns="65308" rIns="119731" bIns="65308" anchor="ctr" anchorCtr="0" compatLnSpc="0"/>
          <a:lstStyle/>
          <a:p>
            <a:pPr hangingPunct="0"/>
            <a:endParaRPr lang="en-US" sz="2177">
              <a:latin typeface="Liberation Sans" pitchFamily="18"/>
              <a:ea typeface="Microsoft YaHei" pitchFamily="2"/>
              <a:cs typeface="Lucida Sans" pitchFamily="2"/>
            </a:endParaRPr>
          </a:p>
        </p:txBody>
      </p:sp>
      <p:sp>
        <p:nvSpPr>
          <p:cNvPr id="25" name="Connecteur droit 24">
            <a:extLst>
              <a:ext uri="{FF2B5EF4-FFF2-40B4-BE49-F238E27FC236}">
                <a16:creationId xmlns:a16="http://schemas.microsoft.com/office/drawing/2014/main" id="{FEF306B0-F166-4A84-9376-9954032BA6DA}"/>
              </a:ext>
            </a:extLst>
          </p:cNvPr>
          <p:cNvSpPr/>
          <p:nvPr/>
        </p:nvSpPr>
        <p:spPr>
          <a:xfrm flipV="1">
            <a:off x="8017854" y="2882257"/>
            <a:ext cx="276470" cy="43540"/>
          </a:xfrm>
          <a:prstGeom prst="line">
            <a:avLst/>
          </a:prstGeom>
          <a:noFill/>
          <a:ln w="18360">
            <a:solidFill>
              <a:srgbClr val="FF0A0A"/>
            </a:solidFill>
            <a:prstDash val="solid"/>
            <a:tailEnd type="arrow"/>
          </a:ln>
        </p:spPr>
        <p:txBody>
          <a:bodyPr vert="horz" wrap="square" lIns="119731" tIns="65308" rIns="119731" bIns="65308" anchor="ctr" anchorCtr="0" compatLnSpc="0"/>
          <a:lstStyle/>
          <a:p>
            <a:pPr hangingPunct="0"/>
            <a:endParaRPr lang="en-US" sz="2177">
              <a:latin typeface="Liberation Sans" pitchFamily="18"/>
              <a:ea typeface="Microsoft YaHei" pitchFamily="2"/>
              <a:cs typeface="Lucida Sans" pitchFamily="2"/>
            </a:endParaRPr>
          </a:p>
        </p:txBody>
      </p:sp>
      <p:sp>
        <p:nvSpPr>
          <p:cNvPr id="26" name="Forme libre : forme 25">
            <a:extLst>
              <a:ext uri="{FF2B5EF4-FFF2-40B4-BE49-F238E27FC236}">
                <a16:creationId xmlns:a16="http://schemas.microsoft.com/office/drawing/2014/main" id="{FA425028-9FC7-4D6E-B927-D47474452D7E}"/>
              </a:ext>
            </a:extLst>
          </p:cNvPr>
          <p:cNvSpPr/>
          <p:nvPr/>
        </p:nvSpPr>
        <p:spPr>
          <a:xfrm>
            <a:off x="8235547" y="2905769"/>
            <a:ext cx="1338813" cy="165882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*/ 5419351 1 1725033"/>
              <a:gd name="f6" fmla="*/ 10800 10800 1"/>
              <a:gd name="f7" fmla="+- 0 0 0"/>
              <a:gd name="f8" fmla="+- 0 0 360"/>
              <a:gd name="f9" fmla="val 10800"/>
              <a:gd name="f10" fmla="*/ f3 1 21600"/>
              <a:gd name="f11" fmla="*/ f4 1 21600"/>
              <a:gd name="f12" fmla="*/ 0 f5 1"/>
              <a:gd name="f13" fmla="*/ f7 f0 1"/>
              <a:gd name="f14" fmla="*/ f8 f0 1"/>
              <a:gd name="f15" fmla="*/ 3163 f10 1"/>
              <a:gd name="f16" fmla="*/ 18437 f10 1"/>
              <a:gd name="f17" fmla="*/ 18437 f11 1"/>
              <a:gd name="f18" fmla="*/ 3163 f11 1"/>
              <a:gd name="f19" fmla="*/ f12 1 f2"/>
              <a:gd name="f20" fmla="*/ f13 1 f2"/>
              <a:gd name="f21" fmla="*/ f14 1 f2"/>
              <a:gd name="f22" fmla="*/ 10800 f10 1"/>
              <a:gd name="f23" fmla="*/ 0 f11 1"/>
              <a:gd name="f24" fmla="*/ 0 f10 1"/>
              <a:gd name="f25" fmla="*/ 10800 f11 1"/>
              <a:gd name="f26" fmla="*/ 21600 f11 1"/>
              <a:gd name="f27" fmla="*/ 21600 f10 1"/>
              <a:gd name="f28" fmla="+- 0 0 f19"/>
              <a:gd name="f29" fmla="+- f20 0 f1"/>
              <a:gd name="f30" fmla="+- f21 0 f1"/>
              <a:gd name="f31" fmla="*/ f28 f0 1"/>
              <a:gd name="f32" fmla="+- f30 0 f29"/>
              <a:gd name="f33" fmla="*/ f31 1 f5"/>
              <a:gd name="f34" fmla="+- f33 0 f1"/>
              <a:gd name="f35" fmla="cos 1 f34"/>
              <a:gd name="f36" fmla="sin 1 f34"/>
              <a:gd name="f37" fmla="+- 0 0 f35"/>
              <a:gd name="f38" fmla="+- 0 0 f36"/>
              <a:gd name="f39" fmla="*/ 10800 f37 1"/>
              <a:gd name="f40" fmla="*/ 10800 f38 1"/>
              <a:gd name="f41" fmla="*/ f39 f39 1"/>
              <a:gd name="f42" fmla="*/ f40 f40 1"/>
              <a:gd name="f43" fmla="+- f41 f42 0"/>
              <a:gd name="f44" fmla="sqrt f43"/>
              <a:gd name="f45" fmla="*/ f6 1 f44"/>
              <a:gd name="f46" fmla="*/ f37 f45 1"/>
              <a:gd name="f47" fmla="*/ f38 f45 1"/>
              <a:gd name="f48" fmla="+- 10800 0 f46"/>
              <a:gd name="f49" fmla="+- 10800 0 f47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22" y="f23"/>
              </a:cxn>
              <a:cxn ang="f29">
                <a:pos x="f15" y="f18"/>
              </a:cxn>
              <a:cxn ang="f29">
                <a:pos x="f24" y="f25"/>
              </a:cxn>
              <a:cxn ang="f29">
                <a:pos x="f15" y="f17"/>
              </a:cxn>
              <a:cxn ang="f29">
                <a:pos x="f22" y="f26"/>
              </a:cxn>
              <a:cxn ang="f29">
                <a:pos x="f16" y="f17"/>
              </a:cxn>
              <a:cxn ang="f29">
                <a:pos x="f27" y="f25"/>
              </a:cxn>
              <a:cxn ang="f29">
                <a:pos x="f16" y="f18"/>
              </a:cxn>
            </a:cxnLst>
            <a:rect l="f15" t="f18" r="f16" b="f17"/>
            <a:pathLst>
              <a:path w="21600" h="21600">
                <a:moveTo>
                  <a:pt x="f48" y="f49"/>
                </a:moveTo>
                <a:arcTo wR="f9" hR="f9" stAng="f29" swAng="f32"/>
                <a:close/>
              </a:path>
            </a:pathLst>
          </a:custGeom>
          <a:noFill/>
          <a:ln w="18360">
            <a:solidFill>
              <a:srgbClr val="FF0A0A"/>
            </a:solidFill>
            <a:prstDash val="solid"/>
          </a:ln>
        </p:spPr>
        <p:txBody>
          <a:bodyPr vert="horz" wrap="square" lIns="119731" tIns="65308" rIns="119731" bIns="65308" anchor="ctr" anchorCtr="0" compatLnSpc="0">
            <a:noAutofit/>
          </a:bodyPr>
          <a:lstStyle/>
          <a:p>
            <a:pPr hangingPunct="0"/>
            <a:endParaRPr lang="en-US" sz="2177">
              <a:latin typeface="Liberation Sans" pitchFamily="18"/>
              <a:ea typeface="Microsoft YaHei" pitchFamily="2"/>
              <a:cs typeface="Lucida Sans" pitchFamily="2"/>
            </a:endParaRPr>
          </a:p>
        </p:txBody>
      </p:sp>
      <p:sp>
        <p:nvSpPr>
          <p:cNvPr id="27" name="Forme libre : forme 26">
            <a:extLst>
              <a:ext uri="{FF2B5EF4-FFF2-40B4-BE49-F238E27FC236}">
                <a16:creationId xmlns:a16="http://schemas.microsoft.com/office/drawing/2014/main" id="{A3890914-21E7-46AF-A339-E0DC0056995E}"/>
              </a:ext>
            </a:extLst>
          </p:cNvPr>
          <p:cNvSpPr/>
          <p:nvPr/>
        </p:nvSpPr>
        <p:spPr>
          <a:xfrm>
            <a:off x="8322624" y="2775153"/>
            <a:ext cx="1338813" cy="165882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*/ 5419351 1 1725033"/>
              <a:gd name="f6" fmla="*/ 10800 10800 1"/>
              <a:gd name="f7" fmla="+- 0 0 0"/>
              <a:gd name="f8" fmla="+- 0 0 360"/>
              <a:gd name="f9" fmla="val 10800"/>
              <a:gd name="f10" fmla="*/ f3 1 21600"/>
              <a:gd name="f11" fmla="*/ f4 1 21600"/>
              <a:gd name="f12" fmla="*/ 0 f5 1"/>
              <a:gd name="f13" fmla="*/ f7 f0 1"/>
              <a:gd name="f14" fmla="*/ f8 f0 1"/>
              <a:gd name="f15" fmla="*/ 3163 f10 1"/>
              <a:gd name="f16" fmla="*/ 18437 f10 1"/>
              <a:gd name="f17" fmla="*/ 18437 f11 1"/>
              <a:gd name="f18" fmla="*/ 3163 f11 1"/>
              <a:gd name="f19" fmla="*/ f12 1 f2"/>
              <a:gd name="f20" fmla="*/ f13 1 f2"/>
              <a:gd name="f21" fmla="*/ f14 1 f2"/>
              <a:gd name="f22" fmla="*/ 10800 f10 1"/>
              <a:gd name="f23" fmla="*/ 0 f11 1"/>
              <a:gd name="f24" fmla="*/ 0 f10 1"/>
              <a:gd name="f25" fmla="*/ 10800 f11 1"/>
              <a:gd name="f26" fmla="*/ 21600 f11 1"/>
              <a:gd name="f27" fmla="*/ 21600 f10 1"/>
              <a:gd name="f28" fmla="+- 0 0 f19"/>
              <a:gd name="f29" fmla="+- f20 0 f1"/>
              <a:gd name="f30" fmla="+- f21 0 f1"/>
              <a:gd name="f31" fmla="*/ f28 f0 1"/>
              <a:gd name="f32" fmla="+- f30 0 f29"/>
              <a:gd name="f33" fmla="*/ f31 1 f5"/>
              <a:gd name="f34" fmla="+- f33 0 f1"/>
              <a:gd name="f35" fmla="cos 1 f34"/>
              <a:gd name="f36" fmla="sin 1 f34"/>
              <a:gd name="f37" fmla="+- 0 0 f35"/>
              <a:gd name="f38" fmla="+- 0 0 f36"/>
              <a:gd name="f39" fmla="*/ 10800 f37 1"/>
              <a:gd name="f40" fmla="*/ 10800 f38 1"/>
              <a:gd name="f41" fmla="*/ f39 f39 1"/>
              <a:gd name="f42" fmla="*/ f40 f40 1"/>
              <a:gd name="f43" fmla="+- f41 f42 0"/>
              <a:gd name="f44" fmla="sqrt f43"/>
              <a:gd name="f45" fmla="*/ f6 1 f44"/>
              <a:gd name="f46" fmla="*/ f37 f45 1"/>
              <a:gd name="f47" fmla="*/ f38 f45 1"/>
              <a:gd name="f48" fmla="+- 10800 0 f46"/>
              <a:gd name="f49" fmla="+- 10800 0 f47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22" y="f23"/>
              </a:cxn>
              <a:cxn ang="f29">
                <a:pos x="f15" y="f18"/>
              </a:cxn>
              <a:cxn ang="f29">
                <a:pos x="f24" y="f25"/>
              </a:cxn>
              <a:cxn ang="f29">
                <a:pos x="f15" y="f17"/>
              </a:cxn>
              <a:cxn ang="f29">
                <a:pos x="f22" y="f26"/>
              </a:cxn>
              <a:cxn ang="f29">
                <a:pos x="f16" y="f17"/>
              </a:cxn>
              <a:cxn ang="f29">
                <a:pos x="f27" y="f25"/>
              </a:cxn>
              <a:cxn ang="f29">
                <a:pos x="f16" y="f18"/>
              </a:cxn>
            </a:cxnLst>
            <a:rect l="f15" t="f18" r="f16" b="f17"/>
            <a:pathLst>
              <a:path w="21600" h="21600">
                <a:moveTo>
                  <a:pt x="f48" y="f49"/>
                </a:moveTo>
                <a:arcTo wR="f9" hR="f9" stAng="f29" swAng="f32"/>
                <a:close/>
              </a:path>
            </a:pathLst>
          </a:custGeom>
          <a:noFill/>
          <a:ln w="18360">
            <a:solidFill>
              <a:srgbClr val="FF0A0A"/>
            </a:solidFill>
            <a:prstDash val="solid"/>
          </a:ln>
        </p:spPr>
        <p:txBody>
          <a:bodyPr vert="horz" wrap="square" lIns="119731" tIns="65308" rIns="119731" bIns="65308" anchor="ctr" anchorCtr="0" compatLnSpc="0">
            <a:noAutofit/>
          </a:bodyPr>
          <a:lstStyle/>
          <a:p>
            <a:pPr hangingPunct="0"/>
            <a:endParaRPr lang="en-US" sz="2177">
              <a:latin typeface="Liberation Sans" pitchFamily="18"/>
              <a:ea typeface="Microsoft YaHei" pitchFamily="2"/>
              <a:cs typeface="Lucida Sans" pitchFamily="2"/>
            </a:endParaRPr>
          </a:p>
        </p:txBody>
      </p:sp>
      <p:sp>
        <p:nvSpPr>
          <p:cNvPr id="28" name="Forme libre : forme 27">
            <a:extLst>
              <a:ext uri="{FF2B5EF4-FFF2-40B4-BE49-F238E27FC236}">
                <a16:creationId xmlns:a16="http://schemas.microsoft.com/office/drawing/2014/main" id="{68D16666-DFF2-4025-8156-2D37C3BACC19}"/>
              </a:ext>
            </a:extLst>
          </p:cNvPr>
          <p:cNvSpPr/>
          <p:nvPr/>
        </p:nvSpPr>
        <p:spPr>
          <a:xfrm flipV="1">
            <a:off x="801325" y="4331659"/>
            <a:ext cx="1382352" cy="27647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*/ 5419351 1 1725033"/>
              <a:gd name="f6" fmla="*/ 10800 10800 1"/>
              <a:gd name="f7" fmla="+- 0 0 0"/>
              <a:gd name="f8" fmla="+- 0 0 360"/>
              <a:gd name="f9" fmla="val 10800"/>
              <a:gd name="f10" fmla="*/ f3 1 21600"/>
              <a:gd name="f11" fmla="*/ f4 1 21600"/>
              <a:gd name="f12" fmla="*/ 0 f5 1"/>
              <a:gd name="f13" fmla="*/ f7 f0 1"/>
              <a:gd name="f14" fmla="*/ f8 f0 1"/>
              <a:gd name="f15" fmla="*/ 3163 f10 1"/>
              <a:gd name="f16" fmla="*/ 18437 f10 1"/>
              <a:gd name="f17" fmla="*/ 18437 f11 1"/>
              <a:gd name="f18" fmla="*/ 3163 f11 1"/>
              <a:gd name="f19" fmla="*/ f12 1 f2"/>
              <a:gd name="f20" fmla="*/ f13 1 f2"/>
              <a:gd name="f21" fmla="*/ f14 1 f2"/>
              <a:gd name="f22" fmla="*/ 10800 f10 1"/>
              <a:gd name="f23" fmla="*/ 0 f11 1"/>
              <a:gd name="f24" fmla="*/ 0 f10 1"/>
              <a:gd name="f25" fmla="*/ 10800 f11 1"/>
              <a:gd name="f26" fmla="*/ 21600 f11 1"/>
              <a:gd name="f27" fmla="*/ 21600 f10 1"/>
              <a:gd name="f28" fmla="+- 0 0 f19"/>
              <a:gd name="f29" fmla="+- f20 0 f1"/>
              <a:gd name="f30" fmla="+- f21 0 f1"/>
              <a:gd name="f31" fmla="*/ f28 f0 1"/>
              <a:gd name="f32" fmla="+- f30 0 f29"/>
              <a:gd name="f33" fmla="*/ f31 1 f5"/>
              <a:gd name="f34" fmla="+- f33 0 f1"/>
              <a:gd name="f35" fmla="cos 1 f34"/>
              <a:gd name="f36" fmla="sin 1 f34"/>
              <a:gd name="f37" fmla="+- 0 0 f35"/>
              <a:gd name="f38" fmla="+- 0 0 f36"/>
              <a:gd name="f39" fmla="*/ 10800 f37 1"/>
              <a:gd name="f40" fmla="*/ 10800 f38 1"/>
              <a:gd name="f41" fmla="*/ f39 f39 1"/>
              <a:gd name="f42" fmla="*/ f40 f40 1"/>
              <a:gd name="f43" fmla="+- f41 f42 0"/>
              <a:gd name="f44" fmla="sqrt f43"/>
              <a:gd name="f45" fmla="*/ f6 1 f44"/>
              <a:gd name="f46" fmla="*/ f37 f45 1"/>
              <a:gd name="f47" fmla="*/ f38 f45 1"/>
              <a:gd name="f48" fmla="+- 10800 0 f46"/>
              <a:gd name="f49" fmla="+- 10800 0 f47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22" y="f23"/>
              </a:cxn>
              <a:cxn ang="f29">
                <a:pos x="f15" y="f18"/>
              </a:cxn>
              <a:cxn ang="f29">
                <a:pos x="f24" y="f25"/>
              </a:cxn>
              <a:cxn ang="f29">
                <a:pos x="f15" y="f17"/>
              </a:cxn>
              <a:cxn ang="f29">
                <a:pos x="f22" y="f26"/>
              </a:cxn>
              <a:cxn ang="f29">
                <a:pos x="f16" y="f17"/>
              </a:cxn>
              <a:cxn ang="f29">
                <a:pos x="f27" y="f25"/>
              </a:cxn>
              <a:cxn ang="f29">
                <a:pos x="f16" y="f18"/>
              </a:cxn>
            </a:cxnLst>
            <a:rect l="f15" t="f18" r="f16" b="f17"/>
            <a:pathLst>
              <a:path w="21600" h="21600">
                <a:moveTo>
                  <a:pt x="f48" y="f49"/>
                </a:moveTo>
                <a:arcTo wR="f9" hR="f9" stAng="f29" swAng="f32"/>
                <a:close/>
              </a:path>
            </a:pathLst>
          </a:custGeom>
          <a:noFill/>
          <a:ln w="18360">
            <a:solidFill>
              <a:srgbClr val="FF0A0A"/>
            </a:solidFill>
            <a:prstDash val="solid"/>
          </a:ln>
        </p:spPr>
        <p:txBody>
          <a:bodyPr vert="horz" wrap="square" lIns="119731" tIns="65308" rIns="119731" bIns="65308" anchor="ctr" anchorCtr="0" compatLnSpc="0">
            <a:noAutofit/>
          </a:bodyPr>
          <a:lstStyle/>
          <a:p>
            <a:pPr hangingPunct="0"/>
            <a:endParaRPr lang="en-US" sz="2177">
              <a:latin typeface="Liberation Sans" pitchFamily="18"/>
              <a:ea typeface="Microsoft YaHei" pitchFamily="2"/>
              <a:cs typeface="Lucida Sans" pitchFamily="2"/>
            </a:endParaRP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3D2D0E71-446E-4BAA-B7D7-D147E14CC241}"/>
              </a:ext>
            </a:extLst>
          </p:cNvPr>
          <p:cNvPicPr>
            <a:picLocks noChangeAspect="1"/>
          </p:cNvPicPr>
          <p:nvPr/>
        </p:nvPicPr>
        <p:blipFill>
          <a:blip r:embed="rId8">
            <a:lum/>
            <a:alphaModFix/>
          </a:blip>
          <a:srcRect/>
          <a:stretch>
            <a:fillRect/>
          </a:stretch>
        </p:blipFill>
        <p:spPr>
          <a:xfrm>
            <a:off x="7741382" y="3594114"/>
            <a:ext cx="3983785" cy="2567909"/>
          </a:xfrm>
          <a:prstGeom prst="rect">
            <a:avLst/>
          </a:prstGeom>
          <a:noFill/>
          <a:ln>
            <a:noFill/>
          </a:ln>
        </p:spPr>
      </p:pic>
      <p:sp>
        <p:nvSpPr>
          <p:cNvPr id="30" name="Connecteur droit 29">
            <a:extLst>
              <a:ext uri="{FF2B5EF4-FFF2-40B4-BE49-F238E27FC236}">
                <a16:creationId xmlns:a16="http://schemas.microsoft.com/office/drawing/2014/main" id="{13765C3D-1152-47DA-BD1E-51F3546401BF}"/>
              </a:ext>
            </a:extLst>
          </p:cNvPr>
          <p:cNvSpPr/>
          <p:nvPr/>
        </p:nvSpPr>
        <p:spPr>
          <a:xfrm flipH="1">
            <a:off x="9123734" y="2882257"/>
            <a:ext cx="537703" cy="2647150"/>
          </a:xfrm>
          <a:prstGeom prst="line">
            <a:avLst/>
          </a:prstGeom>
          <a:noFill/>
          <a:ln w="18360">
            <a:solidFill>
              <a:srgbClr val="FF0A0A"/>
            </a:solidFill>
            <a:prstDash val="solid"/>
            <a:tailEnd type="arrow"/>
          </a:ln>
        </p:spPr>
        <p:txBody>
          <a:bodyPr vert="horz" wrap="square" lIns="119731" tIns="65308" rIns="119731" bIns="65308" anchor="ctr" anchorCtr="0" compatLnSpc="0"/>
          <a:lstStyle/>
          <a:p>
            <a:pPr hangingPunct="0"/>
            <a:endParaRPr lang="en-US" sz="2177">
              <a:latin typeface="Liberation Sans" pitchFamily="18"/>
              <a:ea typeface="Microsoft YaHei" pitchFamily="2"/>
              <a:cs typeface="Lucida Sans" pitchFamily="2"/>
            </a:endParaRPr>
          </a:p>
        </p:txBody>
      </p:sp>
      <p:sp>
        <p:nvSpPr>
          <p:cNvPr id="31" name="Forme libre : forme 30">
            <a:extLst>
              <a:ext uri="{FF2B5EF4-FFF2-40B4-BE49-F238E27FC236}">
                <a16:creationId xmlns:a16="http://schemas.microsoft.com/office/drawing/2014/main" id="{FF79B0A1-1BB9-4E08-B90A-70468197F1DF}"/>
              </a:ext>
            </a:extLst>
          </p:cNvPr>
          <p:cNvSpPr/>
          <p:nvPr/>
        </p:nvSpPr>
        <p:spPr>
          <a:xfrm>
            <a:off x="8192008" y="5735780"/>
            <a:ext cx="1484667" cy="165882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*/ 5419351 1 1725033"/>
              <a:gd name="f6" fmla="*/ 10800 10800 1"/>
              <a:gd name="f7" fmla="+- 0 0 0"/>
              <a:gd name="f8" fmla="+- 0 0 360"/>
              <a:gd name="f9" fmla="val 10800"/>
              <a:gd name="f10" fmla="*/ f3 1 21600"/>
              <a:gd name="f11" fmla="*/ f4 1 21600"/>
              <a:gd name="f12" fmla="*/ 0 f5 1"/>
              <a:gd name="f13" fmla="*/ f7 f0 1"/>
              <a:gd name="f14" fmla="*/ f8 f0 1"/>
              <a:gd name="f15" fmla="*/ 3163 f10 1"/>
              <a:gd name="f16" fmla="*/ 18437 f10 1"/>
              <a:gd name="f17" fmla="*/ 18437 f11 1"/>
              <a:gd name="f18" fmla="*/ 3163 f11 1"/>
              <a:gd name="f19" fmla="*/ f12 1 f2"/>
              <a:gd name="f20" fmla="*/ f13 1 f2"/>
              <a:gd name="f21" fmla="*/ f14 1 f2"/>
              <a:gd name="f22" fmla="*/ 10800 f10 1"/>
              <a:gd name="f23" fmla="*/ 0 f11 1"/>
              <a:gd name="f24" fmla="*/ 0 f10 1"/>
              <a:gd name="f25" fmla="*/ 10800 f11 1"/>
              <a:gd name="f26" fmla="*/ 21600 f11 1"/>
              <a:gd name="f27" fmla="*/ 21600 f10 1"/>
              <a:gd name="f28" fmla="+- 0 0 f19"/>
              <a:gd name="f29" fmla="+- f20 0 f1"/>
              <a:gd name="f30" fmla="+- f21 0 f1"/>
              <a:gd name="f31" fmla="*/ f28 f0 1"/>
              <a:gd name="f32" fmla="+- f30 0 f29"/>
              <a:gd name="f33" fmla="*/ f31 1 f5"/>
              <a:gd name="f34" fmla="+- f33 0 f1"/>
              <a:gd name="f35" fmla="cos 1 f34"/>
              <a:gd name="f36" fmla="sin 1 f34"/>
              <a:gd name="f37" fmla="+- 0 0 f35"/>
              <a:gd name="f38" fmla="+- 0 0 f36"/>
              <a:gd name="f39" fmla="*/ 10800 f37 1"/>
              <a:gd name="f40" fmla="*/ 10800 f38 1"/>
              <a:gd name="f41" fmla="*/ f39 f39 1"/>
              <a:gd name="f42" fmla="*/ f40 f40 1"/>
              <a:gd name="f43" fmla="+- f41 f42 0"/>
              <a:gd name="f44" fmla="sqrt f43"/>
              <a:gd name="f45" fmla="*/ f6 1 f44"/>
              <a:gd name="f46" fmla="*/ f37 f45 1"/>
              <a:gd name="f47" fmla="*/ f38 f45 1"/>
              <a:gd name="f48" fmla="+- 10800 0 f46"/>
              <a:gd name="f49" fmla="+- 10800 0 f47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22" y="f23"/>
              </a:cxn>
              <a:cxn ang="f29">
                <a:pos x="f15" y="f18"/>
              </a:cxn>
              <a:cxn ang="f29">
                <a:pos x="f24" y="f25"/>
              </a:cxn>
              <a:cxn ang="f29">
                <a:pos x="f15" y="f17"/>
              </a:cxn>
              <a:cxn ang="f29">
                <a:pos x="f22" y="f26"/>
              </a:cxn>
              <a:cxn ang="f29">
                <a:pos x="f16" y="f17"/>
              </a:cxn>
              <a:cxn ang="f29">
                <a:pos x="f27" y="f25"/>
              </a:cxn>
              <a:cxn ang="f29">
                <a:pos x="f16" y="f18"/>
              </a:cxn>
            </a:cxnLst>
            <a:rect l="f15" t="f18" r="f16" b="f17"/>
            <a:pathLst>
              <a:path w="21600" h="21600">
                <a:moveTo>
                  <a:pt x="f48" y="f49"/>
                </a:moveTo>
                <a:arcTo wR="f9" hR="f9" stAng="f29" swAng="f32"/>
                <a:close/>
              </a:path>
            </a:pathLst>
          </a:custGeom>
          <a:noFill/>
          <a:ln w="18360">
            <a:solidFill>
              <a:srgbClr val="FF0A0A"/>
            </a:solidFill>
            <a:prstDash val="solid"/>
          </a:ln>
        </p:spPr>
        <p:txBody>
          <a:bodyPr vert="horz" wrap="square" lIns="119731" tIns="65308" rIns="119731" bIns="65308" anchor="ctr" anchorCtr="0" compatLnSpc="0">
            <a:noAutofit/>
          </a:bodyPr>
          <a:lstStyle/>
          <a:p>
            <a:pPr hangingPunct="0"/>
            <a:endParaRPr lang="en-US" sz="2177">
              <a:latin typeface="Liberation Sans" pitchFamily="18"/>
              <a:ea typeface="Microsoft YaHei" pitchFamily="2"/>
              <a:cs typeface="Lucida Sans" pitchFamily="2"/>
            </a:endParaRPr>
          </a:p>
        </p:txBody>
      </p:sp>
      <p:sp>
        <p:nvSpPr>
          <p:cNvPr id="32" name="ZoneTexte 31">
            <a:extLst>
              <a:ext uri="{FF2B5EF4-FFF2-40B4-BE49-F238E27FC236}">
                <a16:creationId xmlns:a16="http://schemas.microsoft.com/office/drawing/2014/main" id="{1BEA9857-9D32-4290-8B1F-E6436283219D}"/>
              </a:ext>
            </a:extLst>
          </p:cNvPr>
          <p:cNvSpPr txBox="1"/>
          <p:nvPr/>
        </p:nvSpPr>
        <p:spPr>
          <a:xfrm>
            <a:off x="8250786" y="6184663"/>
            <a:ext cx="3534465" cy="359593"/>
          </a:xfrm>
          <a:prstGeom prst="rect">
            <a:avLst/>
          </a:prstGeom>
          <a:noFill/>
          <a:ln>
            <a:noFill/>
          </a:ln>
        </p:spPr>
        <p:txBody>
          <a:bodyPr vert="horz" wrap="square" lIns="108847" tIns="54423" rIns="108847" bIns="54423" anchorCtr="0" compatLnSpc="0">
            <a:spAutoFit/>
          </a:bodyPr>
          <a:lstStyle/>
          <a:p>
            <a:pPr hangingPunct="0"/>
            <a:r>
              <a:rPr lang="en-US" sz="1693" b="1">
                <a:latin typeface="Liberation Sans" pitchFamily="18"/>
                <a:ea typeface="Microsoft YaHei" pitchFamily="2"/>
                <a:cs typeface="Lucida Sans" pitchFamily="2"/>
              </a:rPr>
              <a:t>8/</a:t>
            </a:r>
            <a:r>
              <a:rPr lang="en-US" sz="1693">
                <a:latin typeface="Liberation Sans" pitchFamily="18"/>
                <a:ea typeface="Microsoft YaHei" pitchFamily="2"/>
                <a:cs typeface="Lucida Sans" pitchFamily="2"/>
              </a:rPr>
              <a:t> appmaster application attempt 1</a:t>
            </a:r>
          </a:p>
        </p:txBody>
      </p:sp>
      <p:sp>
        <p:nvSpPr>
          <p:cNvPr id="33" name="Forme libre : forme 32">
            <a:extLst>
              <a:ext uri="{FF2B5EF4-FFF2-40B4-BE49-F238E27FC236}">
                <a16:creationId xmlns:a16="http://schemas.microsoft.com/office/drawing/2014/main" id="{F32FFFC9-DC50-494E-BE2C-57B88909CED6}"/>
              </a:ext>
            </a:extLst>
          </p:cNvPr>
          <p:cNvSpPr/>
          <p:nvPr/>
        </p:nvSpPr>
        <p:spPr>
          <a:xfrm>
            <a:off x="5014123" y="6127627"/>
            <a:ext cx="1484667" cy="165882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*/ 5419351 1 1725033"/>
              <a:gd name="f6" fmla="*/ 10800 10800 1"/>
              <a:gd name="f7" fmla="+- 0 0 0"/>
              <a:gd name="f8" fmla="+- 0 0 360"/>
              <a:gd name="f9" fmla="val 10800"/>
              <a:gd name="f10" fmla="*/ f3 1 21600"/>
              <a:gd name="f11" fmla="*/ f4 1 21600"/>
              <a:gd name="f12" fmla="*/ 0 f5 1"/>
              <a:gd name="f13" fmla="*/ f7 f0 1"/>
              <a:gd name="f14" fmla="*/ f8 f0 1"/>
              <a:gd name="f15" fmla="*/ 3163 f10 1"/>
              <a:gd name="f16" fmla="*/ 18437 f10 1"/>
              <a:gd name="f17" fmla="*/ 18437 f11 1"/>
              <a:gd name="f18" fmla="*/ 3163 f11 1"/>
              <a:gd name="f19" fmla="*/ f12 1 f2"/>
              <a:gd name="f20" fmla="*/ f13 1 f2"/>
              <a:gd name="f21" fmla="*/ f14 1 f2"/>
              <a:gd name="f22" fmla="*/ 10800 f10 1"/>
              <a:gd name="f23" fmla="*/ 0 f11 1"/>
              <a:gd name="f24" fmla="*/ 0 f10 1"/>
              <a:gd name="f25" fmla="*/ 10800 f11 1"/>
              <a:gd name="f26" fmla="*/ 21600 f11 1"/>
              <a:gd name="f27" fmla="*/ 21600 f10 1"/>
              <a:gd name="f28" fmla="+- 0 0 f19"/>
              <a:gd name="f29" fmla="+- f20 0 f1"/>
              <a:gd name="f30" fmla="+- f21 0 f1"/>
              <a:gd name="f31" fmla="*/ f28 f0 1"/>
              <a:gd name="f32" fmla="+- f30 0 f29"/>
              <a:gd name="f33" fmla="*/ f31 1 f5"/>
              <a:gd name="f34" fmla="+- f33 0 f1"/>
              <a:gd name="f35" fmla="cos 1 f34"/>
              <a:gd name="f36" fmla="sin 1 f34"/>
              <a:gd name="f37" fmla="+- 0 0 f35"/>
              <a:gd name="f38" fmla="+- 0 0 f36"/>
              <a:gd name="f39" fmla="*/ 10800 f37 1"/>
              <a:gd name="f40" fmla="*/ 10800 f38 1"/>
              <a:gd name="f41" fmla="*/ f39 f39 1"/>
              <a:gd name="f42" fmla="*/ f40 f40 1"/>
              <a:gd name="f43" fmla="+- f41 f42 0"/>
              <a:gd name="f44" fmla="sqrt f43"/>
              <a:gd name="f45" fmla="*/ f6 1 f44"/>
              <a:gd name="f46" fmla="*/ f37 f45 1"/>
              <a:gd name="f47" fmla="*/ f38 f45 1"/>
              <a:gd name="f48" fmla="+- 10800 0 f46"/>
              <a:gd name="f49" fmla="+- 10800 0 f47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22" y="f23"/>
              </a:cxn>
              <a:cxn ang="f29">
                <a:pos x="f15" y="f18"/>
              </a:cxn>
              <a:cxn ang="f29">
                <a:pos x="f24" y="f25"/>
              </a:cxn>
              <a:cxn ang="f29">
                <a:pos x="f15" y="f17"/>
              </a:cxn>
              <a:cxn ang="f29">
                <a:pos x="f22" y="f26"/>
              </a:cxn>
              <a:cxn ang="f29">
                <a:pos x="f16" y="f17"/>
              </a:cxn>
              <a:cxn ang="f29">
                <a:pos x="f27" y="f25"/>
              </a:cxn>
              <a:cxn ang="f29">
                <a:pos x="f16" y="f18"/>
              </a:cxn>
            </a:cxnLst>
            <a:rect l="f15" t="f18" r="f16" b="f17"/>
            <a:pathLst>
              <a:path w="21600" h="21600">
                <a:moveTo>
                  <a:pt x="f48" y="f49"/>
                </a:moveTo>
                <a:arcTo wR="f9" hR="f9" stAng="f29" swAng="f32"/>
                <a:close/>
              </a:path>
            </a:pathLst>
          </a:custGeom>
          <a:noFill/>
          <a:ln w="18360">
            <a:solidFill>
              <a:srgbClr val="FF0A0A"/>
            </a:solidFill>
            <a:prstDash val="solid"/>
          </a:ln>
        </p:spPr>
        <p:txBody>
          <a:bodyPr vert="horz" wrap="square" lIns="119731" tIns="65308" rIns="119731" bIns="65308" anchor="ctr" anchorCtr="0" compatLnSpc="0">
            <a:noAutofit/>
          </a:bodyPr>
          <a:lstStyle/>
          <a:p>
            <a:pPr hangingPunct="0"/>
            <a:endParaRPr lang="en-US" sz="2177">
              <a:latin typeface="Liberation Sans" pitchFamily="18"/>
              <a:ea typeface="Microsoft YaHei" pitchFamily="2"/>
              <a:cs typeface="Lucida Sans" pitchFamily="2"/>
            </a:endParaRPr>
          </a:p>
        </p:txBody>
      </p:sp>
      <p:sp>
        <p:nvSpPr>
          <p:cNvPr id="34" name="Connecteur droit 33">
            <a:extLst>
              <a:ext uri="{FF2B5EF4-FFF2-40B4-BE49-F238E27FC236}">
                <a16:creationId xmlns:a16="http://schemas.microsoft.com/office/drawing/2014/main" id="{67927DC6-2A2B-40DD-918D-728BB540AFB3}"/>
              </a:ext>
            </a:extLst>
          </p:cNvPr>
          <p:cNvSpPr/>
          <p:nvPr/>
        </p:nvSpPr>
        <p:spPr>
          <a:xfrm flipH="1">
            <a:off x="6635501" y="5892954"/>
            <a:ext cx="1382353" cy="276470"/>
          </a:xfrm>
          <a:prstGeom prst="line">
            <a:avLst/>
          </a:prstGeom>
          <a:noFill/>
          <a:ln w="18360">
            <a:solidFill>
              <a:srgbClr val="FF0A0A"/>
            </a:solidFill>
            <a:prstDash val="solid"/>
            <a:tailEnd type="arrow"/>
          </a:ln>
        </p:spPr>
        <p:txBody>
          <a:bodyPr vert="horz" wrap="square" lIns="119731" tIns="65308" rIns="119731" bIns="65308" anchor="ctr" anchorCtr="0" compatLnSpc="0"/>
          <a:lstStyle/>
          <a:p>
            <a:pPr hangingPunct="0"/>
            <a:endParaRPr lang="en-US" sz="2177">
              <a:latin typeface="Liberation Sans" pitchFamily="18"/>
              <a:ea typeface="Microsoft YaHei" pitchFamily="2"/>
              <a:cs typeface="Lucida Sans" pitchFamily="2"/>
            </a:endParaRPr>
          </a:p>
        </p:txBody>
      </p:sp>
      <p:sp>
        <p:nvSpPr>
          <p:cNvPr id="35" name="ZoneTexte 34">
            <a:extLst>
              <a:ext uri="{FF2B5EF4-FFF2-40B4-BE49-F238E27FC236}">
                <a16:creationId xmlns:a16="http://schemas.microsoft.com/office/drawing/2014/main" id="{80EB1546-4274-4812-AB54-D6E8BCAA0891}"/>
              </a:ext>
            </a:extLst>
          </p:cNvPr>
          <p:cNvSpPr txBox="1"/>
          <p:nvPr/>
        </p:nvSpPr>
        <p:spPr>
          <a:xfrm>
            <a:off x="6955511" y="982667"/>
            <a:ext cx="2271846" cy="609276"/>
          </a:xfrm>
          <a:prstGeom prst="rect">
            <a:avLst/>
          </a:prstGeom>
          <a:noFill/>
          <a:ln>
            <a:noFill/>
          </a:ln>
        </p:spPr>
        <p:txBody>
          <a:bodyPr vert="horz" wrap="square" lIns="108847" tIns="54423" rIns="108847" bIns="54423" anchorCtr="0" compatLnSpc="0">
            <a:spAutoFit/>
          </a:bodyPr>
          <a:lstStyle/>
          <a:p>
            <a:pPr hangingPunct="0"/>
            <a:r>
              <a:rPr lang="en-US" sz="1693">
                <a:latin typeface="Liberation Sans" pitchFamily="18"/>
                <a:ea typeface="Microsoft YaHei" pitchFamily="2"/>
                <a:cs typeface="Lucida Sans" pitchFamily="2"/>
              </a:rPr>
              <a:t>Example</a:t>
            </a:r>
          </a:p>
          <a:p>
            <a:pPr hangingPunct="0"/>
            <a:r>
              <a:rPr lang="en-US" sz="1693">
                <a:latin typeface="Liberation Sans" pitchFamily="18"/>
                <a:ea typeface="Microsoft YaHei" pitchFamily="2"/>
                <a:cs typeface="Lucida Sans" pitchFamily="2"/>
              </a:rPr>
              <a:t>Shell → spark-submit</a:t>
            </a:r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59DFF665-CDAB-4FFB-A6DD-AFF1F8F8F7A6}"/>
              </a:ext>
            </a:extLst>
          </p:cNvPr>
          <p:cNvPicPr>
            <a:picLocks noChangeAspect="1"/>
          </p:cNvPicPr>
          <p:nvPr/>
        </p:nvPicPr>
        <p:blipFill>
          <a:blip r:embed="rId9">
            <a:lum/>
            <a:alphaModFix/>
          </a:blip>
          <a:srcRect/>
          <a:stretch>
            <a:fillRect/>
          </a:stretch>
        </p:blipFill>
        <p:spPr>
          <a:xfrm>
            <a:off x="1511439" y="5553353"/>
            <a:ext cx="3188768" cy="1081935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Connecteur droit 36">
            <a:extLst>
              <a:ext uri="{FF2B5EF4-FFF2-40B4-BE49-F238E27FC236}">
                <a16:creationId xmlns:a16="http://schemas.microsoft.com/office/drawing/2014/main" id="{E3D2C57A-4E7F-439E-B3CE-454C49BE8CC9}"/>
              </a:ext>
            </a:extLst>
          </p:cNvPr>
          <p:cNvSpPr/>
          <p:nvPr/>
        </p:nvSpPr>
        <p:spPr>
          <a:xfrm flipH="1">
            <a:off x="3317857" y="6228202"/>
            <a:ext cx="1658823" cy="407085"/>
          </a:xfrm>
          <a:prstGeom prst="line">
            <a:avLst/>
          </a:prstGeom>
          <a:noFill/>
          <a:ln w="18360">
            <a:solidFill>
              <a:srgbClr val="FF0A0A"/>
            </a:solidFill>
            <a:prstDash val="solid"/>
            <a:tailEnd type="arrow"/>
          </a:ln>
        </p:spPr>
        <p:txBody>
          <a:bodyPr vert="horz" wrap="square" lIns="119731" tIns="65308" rIns="119731" bIns="65308" anchor="ctr" anchorCtr="0" compatLnSpc="0"/>
          <a:lstStyle/>
          <a:p>
            <a:pPr hangingPunct="0"/>
            <a:endParaRPr lang="en-US" sz="2177">
              <a:latin typeface="Liberation Sans" pitchFamily="18"/>
              <a:ea typeface="Microsoft YaHei" pitchFamily="2"/>
              <a:cs typeface="Lucida Sans" pitchFamily="2"/>
            </a:endParaRPr>
          </a:p>
        </p:txBody>
      </p:sp>
      <p:sp>
        <p:nvSpPr>
          <p:cNvPr id="38" name="Forme libre : forme 37">
            <a:extLst>
              <a:ext uri="{FF2B5EF4-FFF2-40B4-BE49-F238E27FC236}">
                <a16:creationId xmlns:a16="http://schemas.microsoft.com/office/drawing/2014/main" id="{0B3780FE-67AD-435C-9334-A2E32575B03F}"/>
              </a:ext>
            </a:extLst>
          </p:cNvPr>
          <p:cNvSpPr/>
          <p:nvPr/>
        </p:nvSpPr>
        <p:spPr>
          <a:xfrm flipV="1">
            <a:off x="1933329" y="6465052"/>
            <a:ext cx="1382352" cy="27647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*/ 5419351 1 1725033"/>
              <a:gd name="f6" fmla="*/ 10800 10800 1"/>
              <a:gd name="f7" fmla="+- 0 0 0"/>
              <a:gd name="f8" fmla="+- 0 0 360"/>
              <a:gd name="f9" fmla="val 10800"/>
              <a:gd name="f10" fmla="*/ f3 1 21600"/>
              <a:gd name="f11" fmla="*/ f4 1 21600"/>
              <a:gd name="f12" fmla="*/ 0 f5 1"/>
              <a:gd name="f13" fmla="*/ f7 f0 1"/>
              <a:gd name="f14" fmla="*/ f8 f0 1"/>
              <a:gd name="f15" fmla="*/ 3163 f10 1"/>
              <a:gd name="f16" fmla="*/ 18437 f10 1"/>
              <a:gd name="f17" fmla="*/ 18437 f11 1"/>
              <a:gd name="f18" fmla="*/ 3163 f11 1"/>
              <a:gd name="f19" fmla="*/ f12 1 f2"/>
              <a:gd name="f20" fmla="*/ f13 1 f2"/>
              <a:gd name="f21" fmla="*/ f14 1 f2"/>
              <a:gd name="f22" fmla="*/ 10800 f10 1"/>
              <a:gd name="f23" fmla="*/ 0 f11 1"/>
              <a:gd name="f24" fmla="*/ 0 f10 1"/>
              <a:gd name="f25" fmla="*/ 10800 f11 1"/>
              <a:gd name="f26" fmla="*/ 21600 f11 1"/>
              <a:gd name="f27" fmla="*/ 21600 f10 1"/>
              <a:gd name="f28" fmla="+- 0 0 f19"/>
              <a:gd name="f29" fmla="+- f20 0 f1"/>
              <a:gd name="f30" fmla="+- f21 0 f1"/>
              <a:gd name="f31" fmla="*/ f28 f0 1"/>
              <a:gd name="f32" fmla="+- f30 0 f29"/>
              <a:gd name="f33" fmla="*/ f31 1 f5"/>
              <a:gd name="f34" fmla="+- f33 0 f1"/>
              <a:gd name="f35" fmla="cos 1 f34"/>
              <a:gd name="f36" fmla="sin 1 f34"/>
              <a:gd name="f37" fmla="+- 0 0 f35"/>
              <a:gd name="f38" fmla="+- 0 0 f36"/>
              <a:gd name="f39" fmla="*/ 10800 f37 1"/>
              <a:gd name="f40" fmla="*/ 10800 f38 1"/>
              <a:gd name="f41" fmla="*/ f39 f39 1"/>
              <a:gd name="f42" fmla="*/ f40 f40 1"/>
              <a:gd name="f43" fmla="+- f41 f42 0"/>
              <a:gd name="f44" fmla="sqrt f43"/>
              <a:gd name="f45" fmla="*/ f6 1 f44"/>
              <a:gd name="f46" fmla="*/ f37 f45 1"/>
              <a:gd name="f47" fmla="*/ f38 f45 1"/>
              <a:gd name="f48" fmla="+- 10800 0 f46"/>
              <a:gd name="f49" fmla="+- 10800 0 f47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22" y="f23"/>
              </a:cxn>
              <a:cxn ang="f29">
                <a:pos x="f15" y="f18"/>
              </a:cxn>
              <a:cxn ang="f29">
                <a:pos x="f24" y="f25"/>
              </a:cxn>
              <a:cxn ang="f29">
                <a:pos x="f15" y="f17"/>
              </a:cxn>
              <a:cxn ang="f29">
                <a:pos x="f22" y="f26"/>
              </a:cxn>
              <a:cxn ang="f29">
                <a:pos x="f16" y="f17"/>
              </a:cxn>
              <a:cxn ang="f29">
                <a:pos x="f27" y="f25"/>
              </a:cxn>
              <a:cxn ang="f29">
                <a:pos x="f16" y="f18"/>
              </a:cxn>
            </a:cxnLst>
            <a:rect l="f15" t="f18" r="f16" b="f17"/>
            <a:pathLst>
              <a:path w="21600" h="21600">
                <a:moveTo>
                  <a:pt x="f48" y="f49"/>
                </a:moveTo>
                <a:arcTo wR="f9" hR="f9" stAng="f29" swAng="f32"/>
                <a:close/>
              </a:path>
            </a:pathLst>
          </a:custGeom>
          <a:noFill/>
          <a:ln w="18360">
            <a:solidFill>
              <a:srgbClr val="FF0A0A"/>
            </a:solidFill>
            <a:prstDash val="solid"/>
          </a:ln>
        </p:spPr>
        <p:txBody>
          <a:bodyPr vert="horz" wrap="square" lIns="119731" tIns="65308" rIns="119731" bIns="65308" anchor="ctr" anchorCtr="0" compatLnSpc="0">
            <a:noAutofit/>
          </a:bodyPr>
          <a:lstStyle/>
          <a:p>
            <a:pPr hangingPunct="0"/>
            <a:endParaRPr lang="en-US" sz="2177">
              <a:latin typeface="Liberation Sans" pitchFamily="18"/>
              <a:ea typeface="Microsoft YaHei" pitchFamily="2"/>
              <a:cs typeface="Lucida Sans" pitchFamily="2"/>
            </a:endParaRPr>
          </a:p>
        </p:txBody>
      </p:sp>
      <p:sp>
        <p:nvSpPr>
          <p:cNvPr id="39" name="Connecteur droit 38">
            <a:extLst>
              <a:ext uri="{FF2B5EF4-FFF2-40B4-BE49-F238E27FC236}">
                <a16:creationId xmlns:a16="http://schemas.microsoft.com/office/drawing/2014/main" id="{A4459FDA-2DD1-4463-ACA4-85999F686019}"/>
              </a:ext>
            </a:extLst>
          </p:cNvPr>
          <p:cNvSpPr/>
          <p:nvPr/>
        </p:nvSpPr>
        <p:spPr>
          <a:xfrm flipH="1" flipV="1">
            <a:off x="1659035" y="4699995"/>
            <a:ext cx="493294" cy="1761138"/>
          </a:xfrm>
          <a:prstGeom prst="line">
            <a:avLst/>
          </a:prstGeom>
          <a:noFill/>
          <a:ln w="18360">
            <a:solidFill>
              <a:srgbClr val="FF0A0A"/>
            </a:solidFill>
            <a:prstDash val="solid"/>
            <a:tailEnd type="arrow"/>
          </a:ln>
        </p:spPr>
        <p:txBody>
          <a:bodyPr vert="horz" wrap="square" lIns="119731" tIns="65308" rIns="119731" bIns="65308" anchor="ctr" anchorCtr="0" compatLnSpc="0"/>
          <a:lstStyle/>
          <a:p>
            <a:pPr hangingPunct="0"/>
            <a:endParaRPr lang="en-US" sz="2177">
              <a:latin typeface="Liberation Sans" pitchFamily="18"/>
              <a:ea typeface="Microsoft YaHei" pitchFamily="2"/>
              <a:cs typeface="Lucida Sans" pitchFamily="2"/>
            </a:endParaRPr>
          </a:p>
        </p:txBody>
      </p:sp>
      <p:sp>
        <p:nvSpPr>
          <p:cNvPr id="40" name="ZoneTexte 39">
            <a:extLst>
              <a:ext uri="{FF2B5EF4-FFF2-40B4-BE49-F238E27FC236}">
                <a16:creationId xmlns:a16="http://schemas.microsoft.com/office/drawing/2014/main" id="{2A849379-2079-40F9-90A7-FB2F027E3310}"/>
              </a:ext>
            </a:extLst>
          </p:cNvPr>
          <p:cNvSpPr txBox="1"/>
          <p:nvPr/>
        </p:nvSpPr>
        <p:spPr>
          <a:xfrm>
            <a:off x="3594328" y="4291603"/>
            <a:ext cx="3985962" cy="609276"/>
          </a:xfrm>
          <a:prstGeom prst="rect">
            <a:avLst/>
          </a:prstGeom>
          <a:noFill/>
          <a:ln>
            <a:noFill/>
          </a:ln>
        </p:spPr>
        <p:txBody>
          <a:bodyPr vert="horz" wrap="square" lIns="108847" tIns="54423" rIns="108847" bIns="54423" anchorCtr="0" compatLnSpc="0">
            <a:spAutoFit/>
          </a:bodyPr>
          <a:lstStyle/>
          <a:p>
            <a:pPr hangingPunct="0"/>
            <a:r>
              <a:rPr lang="en-US" sz="1693" b="1">
                <a:latin typeface="Liberation Sans" pitchFamily="18"/>
                <a:ea typeface="Microsoft YaHei" pitchFamily="2"/>
                <a:cs typeface="Lucida Sans" pitchFamily="2"/>
              </a:rPr>
              <a:t>4/</a:t>
            </a:r>
            <a:r>
              <a:rPr lang="en-US" sz="1693">
                <a:latin typeface="Liberation Sans" pitchFamily="18"/>
                <a:ea typeface="Microsoft YaHei" pitchFamily="2"/>
                <a:cs typeface="Lucida Sans" pitchFamily="2"/>
              </a:rPr>
              <a:t> Console URL =</a:t>
            </a:r>
            <a:br>
              <a:rPr lang="en-US" sz="1693">
                <a:latin typeface="Liberation Sans" pitchFamily="18"/>
                <a:ea typeface="Microsoft YaHei" pitchFamily="2"/>
                <a:cs typeface="Lucida Sans" pitchFamily="2"/>
              </a:rPr>
            </a:br>
            <a:r>
              <a:rPr lang="en-US" sz="1693">
                <a:latin typeface="Liberation Sans" pitchFamily="18"/>
                <a:ea typeface="Microsoft YaHei" pitchFamily="2"/>
                <a:cs typeface="Lucida Sans" pitchFamily="2"/>
              </a:rPr>
              <a:t>    url in Yarn (Proxy or History)</a:t>
            </a:r>
          </a:p>
        </p:txBody>
      </p:sp>
      <p:sp>
        <p:nvSpPr>
          <p:cNvPr id="41" name="ZoneTexte 40">
            <a:extLst>
              <a:ext uri="{FF2B5EF4-FFF2-40B4-BE49-F238E27FC236}">
                <a16:creationId xmlns:a16="http://schemas.microsoft.com/office/drawing/2014/main" id="{BBE02823-4A02-4BD5-B7B0-3508734BA665}"/>
              </a:ext>
            </a:extLst>
          </p:cNvPr>
          <p:cNvSpPr txBox="1"/>
          <p:nvPr/>
        </p:nvSpPr>
        <p:spPr>
          <a:xfrm>
            <a:off x="4423739" y="6506414"/>
            <a:ext cx="4255031" cy="359593"/>
          </a:xfrm>
          <a:prstGeom prst="rect">
            <a:avLst/>
          </a:prstGeom>
          <a:noFill/>
          <a:ln>
            <a:noFill/>
          </a:ln>
        </p:spPr>
        <p:txBody>
          <a:bodyPr vert="horz" wrap="square" lIns="108847" tIns="54423" rIns="108847" bIns="54423" anchorCtr="0" compatLnSpc="0">
            <a:spAutoFit/>
          </a:bodyPr>
          <a:lstStyle/>
          <a:p>
            <a:pPr hangingPunct="0"/>
            <a:r>
              <a:rPr lang="en-US" sz="1693" b="1">
                <a:latin typeface="Liberation Sans" pitchFamily="18"/>
                <a:ea typeface="Microsoft YaHei" pitchFamily="2"/>
                <a:cs typeface="Lucida Sans" pitchFamily="2"/>
              </a:rPr>
              <a:t>9/</a:t>
            </a:r>
            <a:r>
              <a:rPr lang="en-US" sz="1693">
                <a:latin typeface="Liberation Sans" pitchFamily="18"/>
                <a:ea typeface="Microsoft YaHei" pitchFamily="2"/>
                <a:cs typeface="Lucida Sans" pitchFamily="2"/>
              </a:rPr>
              <a:t> application  (example: Reduce for shell)</a:t>
            </a:r>
          </a:p>
        </p:txBody>
      </p:sp>
      <p:sp>
        <p:nvSpPr>
          <p:cNvPr id="42" name="ZoneTexte 41">
            <a:extLst>
              <a:ext uri="{FF2B5EF4-FFF2-40B4-BE49-F238E27FC236}">
                <a16:creationId xmlns:a16="http://schemas.microsoft.com/office/drawing/2014/main" id="{C19E1451-47E8-4568-AFC9-9FE28CC1AA81}"/>
              </a:ext>
            </a:extLst>
          </p:cNvPr>
          <p:cNvSpPr txBox="1"/>
          <p:nvPr/>
        </p:nvSpPr>
        <p:spPr>
          <a:xfrm>
            <a:off x="829624" y="6591750"/>
            <a:ext cx="2819562" cy="359593"/>
          </a:xfrm>
          <a:prstGeom prst="rect">
            <a:avLst/>
          </a:prstGeom>
          <a:noFill/>
          <a:ln>
            <a:noFill/>
          </a:ln>
        </p:spPr>
        <p:txBody>
          <a:bodyPr vert="horz" wrap="square" lIns="108847" tIns="54423" rIns="108847" bIns="54423" anchorCtr="0" compatLnSpc="0">
            <a:spAutoFit/>
          </a:bodyPr>
          <a:lstStyle/>
          <a:p>
            <a:pPr hangingPunct="0"/>
            <a:r>
              <a:rPr lang="en-US" sz="1693" b="1">
                <a:latin typeface="Liberation Sans" pitchFamily="18"/>
                <a:ea typeface="Microsoft YaHei" pitchFamily="2"/>
                <a:cs typeface="Lucida Sans" pitchFamily="2"/>
              </a:rPr>
              <a:t>10/</a:t>
            </a:r>
            <a:r>
              <a:rPr lang="en-US" sz="1693">
                <a:latin typeface="Liberation Sans" pitchFamily="18"/>
                <a:ea typeface="Microsoft YaHei" pitchFamily="2"/>
                <a:cs typeface="Lucida Sans" pitchFamily="2"/>
              </a:rPr>
              <a:t> log files page</a:t>
            </a:r>
          </a:p>
        </p:txBody>
      </p:sp>
      <p:sp>
        <p:nvSpPr>
          <p:cNvPr id="43" name="ZoneTexte 42">
            <a:extLst>
              <a:ext uri="{FF2B5EF4-FFF2-40B4-BE49-F238E27FC236}">
                <a16:creationId xmlns:a16="http://schemas.microsoft.com/office/drawing/2014/main" id="{AC24A1CF-9A20-44A0-A9D1-22DEFA7E7987}"/>
              </a:ext>
            </a:extLst>
          </p:cNvPr>
          <p:cNvSpPr txBox="1"/>
          <p:nvPr/>
        </p:nvSpPr>
        <p:spPr>
          <a:xfrm>
            <a:off x="214" y="5252937"/>
            <a:ext cx="2819562" cy="359593"/>
          </a:xfrm>
          <a:prstGeom prst="rect">
            <a:avLst/>
          </a:prstGeom>
          <a:noFill/>
          <a:ln>
            <a:noFill/>
          </a:ln>
        </p:spPr>
        <p:txBody>
          <a:bodyPr vert="horz" wrap="square" lIns="108847" tIns="54423" rIns="108847" bIns="54423" anchorCtr="0" compatLnSpc="0">
            <a:spAutoFit/>
          </a:bodyPr>
          <a:lstStyle/>
          <a:p>
            <a:pPr hangingPunct="0"/>
            <a:r>
              <a:rPr lang="en-US" sz="1693" b="1">
                <a:latin typeface="Liberation Sans" pitchFamily="18"/>
                <a:ea typeface="Microsoft YaHei" pitchFamily="2"/>
                <a:cs typeface="Lucida Sans" pitchFamily="2"/>
              </a:rPr>
              <a:t>11/</a:t>
            </a:r>
            <a:r>
              <a:rPr lang="en-US" sz="1693">
                <a:latin typeface="Liberation Sans" pitchFamily="18"/>
                <a:ea typeface="Microsoft YaHei" pitchFamily="2"/>
                <a:cs typeface="Lucida Sans" pitchFamily="2"/>
              </a:rPr>
              <a:t> stdout !!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9456B0-71A4-CF8C-E88D-0B1478AC2D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0001"/>
            <a:ext cx="10515600" cy="1325563"/>
          </a:xfrm>
        </p:spPr>
        <p:txBody>
          <a:bodyPr/>
          <a:lstStyle/>
          <a:p>
            <a:pPr algn="ctr"/>
            <a:r>
              <a:rPr lang="fr-FR" dirty="0" err="1"/>
              <a:t>Outline</a:t>
            </a:r>
            <a:endParaRPr lang="fr-F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D800C1-B011-5B30-76B4-9FA377D888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60914" y="1630439"/>
            <a:ext cx="9139161" cy="4862436"/>
          </a:xfrm>
        </p:spPr>
        <p:txBody>
          <a:bodyPr>
            <a:normAutofit fontScale="92500" lnSpcReduction="10000"/>
          </a:bodyPr>
          <a:lstStyle/>
          <a:p>
            <a:r>
              <a:rPr lang="fr-FR" dirty="0" err="1"/>
              <a:t>What</a:t>
            </a:r>
            <a:r>
              <a:rPr lang="fr-FR" dirty="0"/>
              <a:t> </a:t>
            </a:r>
            <a:r>
              <a:rPr lang="fr-FR" dirty="0" err="1"/>
              <a:t>is</a:t>
            </a:r>
            <a:r>
              <a:rPr lang="fr-FR" dirty="0"/>
              <a:t> </a:t>
            </a:r>
            <a:r>
              <a:rPr lang="fr-FR" dirty="0" err="1"/>
              <a:t>BigData</a:t>
            </a:r>
            <a:r>
              <a:rPr lang="fr-FR" dirty="0"/>
              <a:t> ?</a:t>
            </a:r>
          </a:p>
          <a:p>
            <a:pPr lvl="1"/>
            <a:r>
              <a:rPr lang="fr-FR" dirty="0" err="1"/>
              <a:t>Order</a:t>
            </a:r>
            <a:r>
              <a:rPr lang="fr-FR" dirty="0"/>
              <a:t> of Magnitudes for « Big »</a:t>
            </a:r>
          </a:p>
          <a:p>
            <a:pPr lvl="1"/>
            <a:r>
              <a:rPr lang="fr-FR" dirty="0"/>
              <a:t>Distributed System challenges</a:t>
            </a:r>
          </a:p>
          <a:p>
            <a:pPr lvl="1"/>
            <a:r>
              <a:rPr lang="fr-FR" dirty="0" err="1"/>
              <a:t>Scaling</a:t>
            </a:r>
            <a:r>
              <a:rPr lang="fr-FR" dirty="0"/>
              <a:t> Storage </a:t>
            </a:r>
            <a:r>
              <a:rPr lang="fr-FR" dirty="0" err="1"/>
              <a:t>Resources</a:t>
            </a:r>
            <a:r>
              <a:rPr lang="fr-FR" dirty="0"/>
              <a:t>: </a:t>
            </a:r>
            <a:r>
              <a:rPr lang="fr-FR" dirty="0" err="1"/>
              <a:t>Hdfs</a:t>
            </a:r>
            <a:endParaRPr lang="fr-FR" dirty="0"/>
          </a:p>
          <a:p>
            <a:pPr lvl="1"/>
            <a:r>
              <a:rPr lang="fr-FR" dirty="0" err="1"/>
              <a:t>Scaling</a:t>
            </a:r>
            <a:r>
              <a:rPr lang="fr-FR" dirty="0"/>
              <a:t> </a:t>
            </a:r>
            <a:r>
              <a:rPr lang="fr-FR" dirty="0" err="1"/>
              <a:t>Compute</a:t>
            </a:r>
            <a:r>
              <a:rPr lang="fr-FR" dirty="0"/>
              <a:t> </a:t>
            </a:r>
            <a:r>
              <a:rPr lang="fr-FR" dirty="0" err="1"/>
              <a:t>Resources</a:t>
            </a:r>
            <a:r>
              <a:rPr lang="fr-FR" dirty="0"/>
              <a:t>: </a:t>
            </a:r>
            <a:r>
              <a:rPr lang="fr-FR" dirty="0" err="1"/>
              <a:t>Yarn</a:t>
            </a:r>
            <a:r>
              <a:rPr lang="fr-FR" dirty="0"/>
              <a:t>, </a:t>
            </a:r>
            <a:r>
              <a:rPr lang="fr-FR" dirty="0" err="1"/>
              <a:t>Kubernetes</a:t>
            </a:r>
            <a:endParaRPr lang="fr-FR" dirty="0"/>
          </a:p>
          <a:p>
            <a:pPr lvl="1"/>
            <a:r>
              <a:rPr lang="fr-FR" sz="3500" b="1" dirty="0" err="1"/>
              <a:t>Using</a:t>
            </a:r>
            <a:r>
              <a:rPr lang="fr-FR" sz="3500" b="1" dirty="0"/>
              <a:t> Storage – </a:t>
            </a:r>
            <a:r>
              <a:rPr lang="fr-FR" sz="3500" b="1" dirty="0" err="1"/>
              <a:t>Compute</a:t>
            </a:r>
            <a:r>
              <a:rPr lang="fr-FR" sz="3500" b="1" dirty="0"/>
              <a:t> apis</a:t>
            </a:r>
          </a:p>
          <a:p>
            <a:pPr lvl="1"/>
            <a:r>
              <a:rPr lang="fr-FR" dirty="0"/>
              <a:t>Evolution of Hardware – Softwares – Hadoop </a:t>
            </a:r>
            <a:r>
              <a:rPr lang="fr-FR" dirty="0" err="1"/>
              <a:t>Ecosystem</a:t>
            </a:r>
            <a:r>
              <a:rPr lang="fr-FR" dirty="0"/>
              <a:t>, Spark</a:t>
            </a:r>
          </a:p>
          <a:p>
            <a:r>
              <a:rPr lang="fr-FR" dirty="0"/>
              <a:t>Description of a </a:t>
            </a:r>
            <a:r>
              <a:rPr lang="fr-FR" dirty="0" err="1"/>
              <a:t>Datalake</a:t>
            </a:r>
            <a:endParaRPr lang="fr-FR" dirty="0"/>
          </a:p>
          <a:p>
            <a:pPr lvl="1"/>
            <a:r>
              <a:rPr lang="fr-FR" dirty="0"/>
              <a:t>Content</a:t>
            </a:r>
          </a:p>
          <a:p>
            <a:pPr lvl="1"/>
            <a:r>
              <a:rPr lang="fr-FR" dirty="0"/>
              <a:t>Usages</a:t>
            </a:r>
          </a:p>
          <a:p>
            <a:r>
              <a:rPr lang="fr-FR" dirty="0"/>
              <a:t>Example of Data-</a:t>
            </a:r>
            <a:r>
              <a:rPr lang="fr-FR" dirty="0" err="1"/>
              <a:t>Processing</a:t>
            </a:r>
            <a:endParaRPr lang="fr-FR" dirty="0"/>
          </a:p>
          <a:p>
            <a:pPr lvl="1"/>
            <a:r>
              <a:rPr lang="fr-FR" dirty="0"/>
              <a:t>RAW to LAKE, Reports</a:t>
            </a:r>
          </a:p>
          <a:p>
            <a:r>
              <a:rPr lang="fr-FR" dirty="0"/>
              <a:t>Change Storage-</a:t>
            </a:r>
            <a:r>
              <a:rPr lang="fr-FR" dirty="0" err="1"/>
              <a:t>Compute</a:t>
            </a:r>
            <a:r>
              <a:rPr lang="fr-FR" dirty="0"/>
              <a:t>, Evolution to Cloud</a:t>
            </a:r>
          </a:p>
        </p:txBody>
      </p:sp>
      <p:sp>
        <p:nvSpPr>
          <p:cNvPr id="4" name="Arrow: Right 3">
            <a:extLst>
              <a:ext uri="{FF2B5EF4-FFF2-40B4-BE49-F238E27FC236}">
                <a16:creationId xmlns:a16="http://schemas.microsoft.com/office/drawing/2014/main" id="{DDD0192B-78FC-DA6C-C265-8EE665F30D7C}"/>
              </a:ext>
            </a:extLst>
          </p:cNvPr>
          <p:cNvSpPr/>
          <p:nvPr/>
        </p:nvSpPr>
        <p:spPr>
          <a:xfrm>
            <a:off x="2405521" y="3330321"/>
            <a:ext cx="710213" cy="39061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10643214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CB9675-FEE6-FC7F-E5B8-4838DA63D366}"/>
              </a:ext>
            </a:extLst>
          </p:cNvPr>
          <p:cNvSpPr txBox="1">
            <a:spLocks/>
          </p:cNvSpPr>
          <p:nvPr/>
        </p:nvSpPr>
        <p:spPr>
          <a:xfrm>
            <a:off x="43416" y="137862"/>
            <a:ext cx="12148584" cy="844486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sz="3600" dirty="0" err="1"/>
              <a:t>Recap</a:t>
            </a:r>
            <a:r>
              <a:rPr lang="fr-FR" sz="3600" dirty="0"/>
              <a:t> .. Objective for Distributed Data </a:t>
            </a:r>
            <a:r>
              <a:rPr lang="fr-FR" sz="3600" dirty="0" err="1"/>
              <a:t>Processing</a:t>
            </a:r>
            <a:r>
              <a:rPr lang="fr-FR" sz="3600" dirty="0"/>
              <a:t> Solution: </a:t>
            </a:r>
          </a:p>
          <a:p>
            <a:pPr algn="ctr"/>
            <a:r>
              <a:rPr lang="fr-FR" sz="3600" dirty="0"/>
              <a:t>Use </a:t>
            </a:r>
            <a:r>
              <a:rPr lang="fr-FR" sz="3600" dirty="0" err="1"/>
              <a:t>Compute</a:t>
            </a:r>
            <a:r>
              <a:rPr lang="fr-FR" sz="3600" dirty="0"/>
              <a:t>  + Storage APIs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AE2F773-D269-CB96-E098-62B17C47F3D8}"/>
              </a:ext>
            </a:extLst>
          </p:cNvPr>
          <p:cNvSpPr/>
          <p:nvPr/>
        </p:nvSpPr>
        <p:spPr>
          <a:xfrm>
            <a:off x="4916796" y="2485071"/>
            <a:ext cx="742392" cy="359435"/>
          </a:xfrm>
          <a:prstGeom prst="rect">
            <a:avLst/>
          </a:prstGeom>
          <a:solidFill>
            <a:schemeClr val="accent1">
              <a:alpha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Cylinder 8">
            <a:extLst>
              <a:ext uri="{FF2B5EF4-FFF2-40B4-BE49-F238E27FC236}">
                <a16:creationId xmlns:a16="http://schemas.microsoft.com/office/drawing/2014/main" id="{EABA9E5F-B62F-A237-35CD-E13D2214EF47}"/>
              </a:ext>
            </a:extLst>
          </p:cNvPr>
          <p:cNvSpPr/>
          <p:nvPr/>
        </p:nvSpPr>
        <p:spPr>
          <a:xfrm>
            <a:off x="5736345" y="2499476"/>
            <a:ext cx="184822" cy="228109"/>
          </a:xfrm>
          <a:prstGeom prst="can">
            <a:avLst/>
          </a:prstGeom>
          <a:solidFill>
            <a:schemeClr val="accent1">
              <a:alpha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Cylinder 9">
            <a:extLst>
              <a:ext uri="{FF2B5EF4-FFF2-40B4-BE49-F238E27FC236}">
                <a16:creationId xmlns:a16="http://schemas.microsoft.com/office/drawing/2014/main" id="{6D247417-005B-AA90-E21A-2A89D4DABA09}"/>
              </a:ext>
            </a:extLst>
          </p:cNvPr>
          <p:cNvSpPr/>
          <p:nvPr/>
        </p:nvSpPr>
        <p:spPr>
          <a:xfrm>
            <a:off x="5804725" y="2554699"/>
            <a:ext cx="184822" cy="228109"/>
          </a:xfrm>
          <a:prstGeom prst="can">
            <a:avLst/>
          </a:prstGeom>
          <a:solidFill>
            <a:schemeClr val="accent1">
              <a:alpha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Cylinder 10">
            <a:extLst>
              <a:ext uri="{FF2B5EF4-FFF2-40B4-BE49-F238E27FC236}">
                <a16:creationId xmlns:a16="http://schemas.microsoft.com/office/drawing/2014/main" id="{DDF2A02C-A607-4FFA-6869-8317C370F1DE}"/>
              </a:ext>
            </a:extLst>
          </p:cNvPr>
          <p:cNvSpPr/>
          <p:nvPr/>
        </p:nvSpPr>
        <p:spPr>
          <a:xfrm>
            <a:off x="5881882" y="2606982"/>
            <a:ext cx="184822" cy="228109"/>
          </a:xfrm>
          <a:prstGeom prst="can">
            <a:avLst/>
          </a:prstGeom>
          <a:solidFill>
            <a:schemeClr val="accent1">
              <a:alpha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" name="Cylinder 11">
            <a:extLst>
              <a:ext uri="{FF2B5EF4-FFF2-40B4-BE49-F238E27FC236}">
                <a16:creationId xmlns:a16="http://schemas.microsoft.com/office/drawing/2014/main" id="{87AFCBD1-1499-482C-1C94-9B1B526C0CA3}"/>
              </a:ext>
            </a:extLst>
          </p:cNvPr>
          <p:cNvSpPr/>
          <p:nvPr/>
        </p:nvSpPr>
        <p:spPr>
          <a:xfrm>
            <a:off x="5934708" y="2668753"/>
            <a:ext cx="184822" cy="228109"/>
          </a:xfrm>
          <a:prstGeom prst="can">
            <a:avLst/>
          </a:prstGeom>
          <a:solidFill>
            <a:schemeClr val="accent1">
              <a:alpha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09BE459-EDF1-FD62-9EF7-5C53E546777C}"/>
              </a:ext>
            </a:extLst>
          </p:cNvPr>
          <p:cNvSpPr/>
          <p:nvPr/>
        </p:nvSpPr>
        <p:spPr>
          <a:xfrm>
            <a:off x="5138118" y="2942860"/>
            <a:ext cx="742392" cy="359435"/>
          </a:xfrm>
          <a:prstGeom prst="rect">
            <a:avLst/>
          </a:prstGeom>
          <a:solidFill>
            <a:schemeClr val="accent1">
              <a:alpha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" name="Cylinder 13">
            <a:extLst>
              <a:ext uri="{FF2B5EF4-FFF2-40B4-BE49-F238E27FC236}">
                <a16:creationId xmlns:a16="http://schemas.microsoft.com/office/drawing/2014/main" id="{A89B3869-9900-3F58-10F4-B4E24F28BF9D}"/>
              </a:ext>
            </a:extLst>
          </p:cNvPr>
          <p:cNvSpPr/>
          <p:nvPr/>
        </p:nvSpPr>
        <p:spPr>
          <a:xfrm>
            <a:off x="5957667" y="2957265"/>
            <a:ext cx="184822" cy="228109"/>
          </a:xfrm>
          <a:prstGeom prst="can">
            <a:avLst/>
          </a:prstGeom>
          <a:solidFill>
            <a:schemeClr val="accent1">
              <a:alpha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5" name="Cylinder 14">
            <a:extLst>
              <a:ext uri="{FF2B5EF4-FFF2-40B4-BE49-F238E27FC236}">
                <a16:creationId xmlns:a16="http://schemas.microsoft.com/office/drawing/2014/main" id="{ABDBB9EB-B7C3-0161-B90E-2438EA3F4C9E}"/>
              </a:ext>
            </a:extLst>
          </p:cNvPr>
          <p:cNvSpPr/>
          <p:nvPr/>
        </p:nvSpPr>
        <p:spPr>
          <a:xfrm>
            <a:off x="6026047" y="3012488"/>
            <a:ext cx="184822" cy="228109"/>
          </a:xfrm>
          <a:prstGeom prst="can">
            <a:avLst/>
          </a:prstGeom>
          <a:solidFill>
            <a:schemeClr val="accent1">
              <a:alpha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6" name="Cylinder 15">
            <a:extLst>
              <a:ext uri="{FF2B5EF4-FFF2-40B4-BE49-F238E27FC236}">
                <a16:creationId xmlns:a16="http://schemas.microsoft.com/office/drawing/2014/main" id="{11A0FC3B-7067-C237-851F-FCD700684BD2}"/>
              </a:ext>
            </a:extLst>
          </p:cNvPr>
          <p:cNvSpPr/>
          <p:nvPr/>
        </p:nvSpPr>
        <p:spPr>
          <a:xfrm>
            <a:off x="6103204" y="3064771"/>
            <a:ext cx="184822" cy="228109"/>
          </a:xfrm>
          <a:prstGeom prst="can">
            <a:avLst/>
          </a:prstGeom>
          <a:solidFill>
            <a:schemeClr val="accent1">
              <a:alpha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7" name="Cylinder 16">
            <a:extLst>
              <a:ext uri="{FF2B5EF4-FFF2-40B4-BE49-F238E27FC236}">
                <a16:creationId xmlns:a16="http://schemas.microsoft.com/office/drawing/2014/main" id="{42D0A01A-4B10-9D5F-693F-409E025EE479}"/>
              </a:ext>
            </a:extLst>
          </p:cNvPr>
          <p:cNvSpPr/>
          <p:nvPr/>
        </p:nvSpPr>
        <p:spPr>
          <a:xfrm>
            <a:off x="6156030" y="3126542"/>
            <a:ext cx="184822" cy="228109"/>
          </a:xfrm>
          <a:prstGeom prst="can">
            <a:avLst/>
          </a:prstGeom>
          <a:solidFill>
            <a:schemeClr val="accent1">
              <a:alpha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837C5CB-77A7-3DC5-89B4-20B0E98CC13A}"/>
              </a:ext>
            </a:extLst>
          </p:cNvPr>
          <p:cNvSpPr/>
          <p:nvPr/>
        </p:nvSpPr>
        <p:spPr>
          <a:xfrm>
            <a:off x="5324312" y="3389539"/>
            <a:ext cx="742392" cy="359435"/>
          </a:xfrm>
          <a:prstGeom prst="rect">
            <a:avLst/>
          </a:prstGeom>
          <a:solidFill>
            <a:schemeClr val="accent1">
              <a:alpha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9" name="Cylinder 18">
            <a:extLst>
              <a:ext uri="{FF2B5EF4-FFF2-40B4-BE49-F238E27FC236}">
                <a16:creationId xmlns:a16="http://schemas.microsoft.com/office/drawing/2014/main" id="{C3DD0188-96D1-0322-E3CB-415F09E3EEC2}"/>
              </a:ext>
            </a:extLst>
          </p:cNvPr>
          <p:cNvSpPr/>
          <p:nvPr/>
        </p:nvSpPr>
        <p:spPr>
          <a:xfrm>
            <a:off x="6143861" y="3403944"/>
            <a:ext cx="184822" cy="228109"/>
          </a:xfrm>
          <a:prstGeom prst="can">
            <a:avLst/>
          </a:prstGeom>
          <a:solidFill>
            <a:schemeClr val="accent1">
              <a:alpha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0" name="Cylinder 19">
            <a:extLst>
              <a:ext uri="{FF2B5EF4-FFF2-40B4-BE49-F238E27FC236}">
                <a16:creationId xmlns:a16="http://schemas.microsoft.com/office/drawing/2014/main" id="{E36E1957-8A5B-9179-3A5E-ED1255BDA929}"/>
              </a:ext>
            </a:extLst>
          </p:cNvPr>
          <p:cNvSpPr/>
          <p:nvPr/>
        </p:nvSpPr>
        <p:spPr>
          <a:xfrm>
            <a:off x="6212241" y="3459167"/>
            <a:ext cx="184822" cy="228109"/>
          </a:xfrm>
          <a:prstGeom prst="can">
            <a:avLst/>
          </a:prstGeom>
          <a:solidFill>
            <a:schemeClr val="accent1">
              <a:alpha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1" name="Cylinder 20">
            <a:extLst>
              <a:ext uri="{FF2B5EF4-FFF2-40B4-BE49-F238E27FC236}">
                <a16:creationId xmlns:a16="http://schemas.microsoft.com/office/drawing/2014/main" id="{E88E88A9-6E6C-7F0F-C882-A57FD9F53EE5}"/>
              </a:ext>
            </a:extLst>
          </p:cNvPr>
          <p:cNvSpPr/>
          <p:nvPr/>
        </p:nvSpPr>
        <p:spPr>
          <a:xfrm>
            <a:off x="6289398" y="3511450"/>
            <a:ext cx="184822" cy="228109"/>
          </a:xfrm>
          <a:prstGeom prst="can">
            <a:avLst/>
          </a:prstGeom>
          <a:solidFill>
            <a:schemeClr val="accent1">
              <a:alpha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2" name="Cylinder 21">
            <a:extLst>
              <a:ext uri="{FF2B5EF4-FFF2-40B4-BE49-F238E27FC236}">
                <a16:creationId xmlns:a16="http://schemas.microsoft.com/office/drawing/2014/main" id="{61F89867-7202-84A4-3E9F-22119CC0C734}"/>
              </a:ext>
            </a:extLst>
          </p:cNvPr>
          <p:cNvSpPr/>
          <p:nvPr/>
        </p:nvSpPr>
        <p:spPr>
          <a:xfrm>
            <a:off x="6342224" y="3573221"/>
            <a:ext cx="184822" cy="228109"/>
          </a:xfrm>
          <a:prstGeom prst="can">
            <a:avLst/>
          </a:prstGeom>
          <a:solidFill>
            <a:schemeClr val="accent1">
              <a:alpha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0B229DC-8684-FC86-203E-EC50FC1BC31B}"/>
              </a:ext>
            </a:extLst>
          </p:cNvPr>
          <p:cNvSpPr/>
          <p:nvPr/>
        </p:nvSpPr>
        <p:spPr>
          <a:xfrm>
            <a:off x="5519990" y="3829658"/>
            <a:ext cx="742392" cy="359435"/>
          </a:xfrm>
          <a:prstGeom prst="rect">
            <a:avLst/>
          </a:prstGeom>
          <a:solidFill>
            <a:schemeClr val="accent1">
              <a:alpha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4" name="Cylinder 23">
            <a:extLst>
              <a:ext uri="{FF2B5EF4-FFF2-40B4-BE49-F238E27FC236}">
                <a16:creationId xmlns:a16="http://schemas.microsoft.com/office/drawing/2014/main" id="{31ED1B31-EB11-B865-0F35-43C967256265}"/>
              </a:ext>
            </a:extLst>
          </p:cNvPr>
          <p:cNvSpPr/>
          <p:nvPr/>
        </p:nvSpPr>
        <p:spPr>
          <a:xfrm>
            <a:off x="6339539" y="3844063"/>
            <a:ext cx="184822" cy="228109"/>
          </a:xfrm>
          <a:prstGeom prst="can">
            <a:avLst/>
          </a:prstGeom>
          <a:solidFill>
            <a:schemeClr val="accent1">
              <a:alpha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5" name="Cylinder 24">
            <a:extLst>
              <a:ext uri="{FF2B5EF4-FFF2-40B4-BE49-F238E27FC236}">
                <a16:creationId xmlns:a16="http://schemas.microsoft.com/office/drawing/2014/main" id="{EB31247C-2061-E54E-1836-D86652CDE915}"/>
              </a:ext>
            </a:extLst>
          </p:cNvPr>
          <p:cNvSpPr/>
          <p:nvPr/>
        </p:nvSpPr>
        <p:spPr>
          <a:xfrm>
            <a:off x="6407919" y="3899286"/>
            <a:ext cx="184822" cy="228109"/>
          </a:xfrm>
          <a:prstGeom prst="can">
            <a:avLst/>
          </a:prstGeom>
          <a:solidFill>
            <a:schemeClr val="accent1">
              <a:alpha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6" name="Cylinder 25">
            <a:extLst>
              <a:ext uri="{FF2B5EF4-FFF2-40B4-BE49-F238E27FC236}">
                <a16:creationId xmlns:a16="http://schemas.microsoft.com/office/drawing/2014/main" id="{26C20C3E-CF54-28BF-761F-0C74A15C9FA4}"/>
              </a:ext>
            </a:extLst>
          </p:cNvPr>
          <p:cNvSpPr/>
          <p:nvPr/>
        </p:nvSpPr>
        <p:spPr>
          <a:xfrm>
            <a:off x="6485076" y="3951569"/>
            <a:ext cx="184822" cy="228109"/>
          </a:xfrm>
          <a:prstGeom prst="can">
            <a:avLst/>
          </a:prstGeom>
          <a:solidFill>
            <a:schemeClr val="accent1">
              <a:alpha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7" name="Cylinder 26">
            <a:extLst>
              <a:ext uri="{FF2B5EF4-FFF2-40B4-BE49-F238E27FC236}">
                <a16:creationId xmlns:a16="http://schemas.microsoft.com/office/drawing/2014/main" id="{6FDDE917-DD20-1253-866E-81245261FABC}"/>
              </a:ext>
            </a:extLst>
          </p:cNvPr>
          <p:cNvSpPr/>
          <p:nvPr/>
        </p:nvSpPr>
        <p:spPr>
          <a:xfrm>
            <a:off x="6537902" y="4013340"/>
            <a:ext cx="184822" cy="228109"/>
          </a:xfrm>
          <a:prstGeom prst="can">
            <a:avLst/>
          </a:prstGeom>
          <a:solidFill>
            <a:schemeClr val="accent1">
              <a:alpha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5E845604-317A-4053-3E44-EEFBA1780B4A}"/>
              </a:ext>
            </a:extLst>
          </p:cNvPr>
          <p:cNvSpPr/>
          <p:nvPr/>
        </p:nvSpPr>
        <p:spPr>
          <a:xfrm>
            <a:off x="5724804" y="4258587"/>
            <a:ext cx="742392" cy="359435"/>
          </a:xfrm>
          <a:prstGeom prst="rect">
            <a:avLst/>
          </a:prstGeom>
          <a:solidFill>
            <a:schemeClr val="accent1">
              <a:alpha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9" name="Cylinder 28">
            <a:extLst>
              <a:ext uri="{FF2B5EF4-FFF2-40B4-BE49-F238E27FC236}">
                <a16:creationId xmlns:a16="http://schemas.microsoft.com/office/drawing/2014/main" id="{C976A763-C4B2-D1E5-7DD9-0ED6E0163060}"/>
              </a:ext>
            </a:extLst>
          </p:cNvPr>
          <p:cNvSpPr/>
          <p:nvPr/>
        </p:nvSpPr>
        <p:spPr>
          <a:xfrm>
            <a:off x="6544353" y="4272992"/>
            <a:ext cx="184822" cy="228109"/>
          </a:xfrm>
          <a:prstGeom prst="can">
            <a:avLst/>
          </a:prstGeom>
          <a:solidFill>
            <a:schemeClr val="accent1">
              <a:alpha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0" name="Cylinder 29">
            <a:extLst>
              <a:ext uri="{FF2B5EF4-FFF2-40B4-BE49-F238E27FC236}">
                <a16:creationId xmlns:a16="http://schemas.microsoft.com/office/drawing/2014/main" id="{72F63E13-F3D8-C3BB-B4F1-9CD995B88377}"/>
              </a:ext>
            </a:extLst>
          </p:cNvPr>
          <p:cNvSpPr/>
          <p:nvPr/>
        </p:nvSpPr>
        <p:spPr>
          <a:xfrm>
            <a:off x="6612733" y="4328215"/>
            <a:ext cx="184822" cy="228109"/>
          </a:xfrm>
          <a:prstGeom prst="can">
            <a:avLst/>
          </a:prstGeom>
          <a:solidFill>
            <a:schemeClr val="accent1">
              <a:alpha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1" name="Cylinder 30">
            <a:extLst>
              <a:ext uri="{FF2B5EF4-FFF2-40B4-BE49-F238E27FC236}">
                <a16:creationId xmlns:a16="http://schemas.microsoft.com/office/drawing/2014/main" id="{B933BC5D-5E21-AF3B-1FAA-73F0DB9DA378}"/>
              </a:ext>
            </a:extLst>
          </p:cNvPr>
          <p:cNvSpPr/>
          <p:nvPr/>
        </p:nvSpPr>
        <p:spPr>
          <a:xfrm>
            <a:off x="6689890" y="4380498"/>
            <a:ext cx="184822" cy="228109"/>
          </a:xfrm>
          <a:prstGeom prst="can">
            <a:avLst/>
          </a:prstGeom>
          <a:solidFill>
            <a:schemeClr val="accent1">
              <a:alpha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2" name="Cylinder 31">
            <a:extLst>
              <a:ext uri="{FF2B5EF4-FFF2-40B4-BE49-F238E27FC236}">
                <a16:creationId xmlns:a16="http://schemas.microsoft.com/office/drawing/2014/main" id="{CFC178AE-1D67-6EA1-3CC0-D524457824ED}"/>
              </a:ext>
            </a:extLst>
          </p:cNvPr>
          <p:cNvSpPr/>
          <p:nvPr/>
        </p:nvSpPr>
        <p:spPr>
          <a:xfrm>
            <a:off x="6742716" y="4442269"/>
            <a:ext cx="184822" cy="228109"/>
          </a:xfrm>
          <a:prstGeom prst="can">
            <a:avLst/>
          </a:prstGeom>
          <a:solidFill>
            <a:schemeClr val="accent1">
              <a:alpha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3" name="Cylinder 32">
            <a:extLst>
              <a:ext uri="{FF2B5EF4-FFF2-40B4-BE49-F238E27FC236}">
                <a16:creationId xmlns:a16="http://schemas.microsoft.com/office/drawing/2014/main" id="{43BEB651-D3B6-737F-878C-B48E16161331}"/>
              </a:ext>
            </a:extLst>
          </p:cNvPr>
          <p:cNvSpPr/>
          <p:nvPr/>
        </p:nvSpPr>
        <p:spPr>
          <a:xfrm>
            <a:off x="8413165" y="2635507"/>
            <a:ext cx="777315" cy="1449228"/>
          </a:xfrm>
          <a:prstGeom prst="can">
            <a:avLst/>
          </a:prstGeom>
          <a:pattFill prst="wdUpDiag">
            <a:fgClr>
              <a:schemeClr val="accent1"/>
            </a:fgClr>
            <a:bgClr>
              <a:schemeClr val="bg1"/>
            </a:bgClr>
          </a:patt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4" name="Arrow: Left-Right 33">
            <a:extLst>
              <a:ext uri="{FF2B5EF4-FFF2-40B4-BE49-F238E27FC236}">
                <a16:creationId xmlns:a16="http://schemas.microsoft.com/office/drawing/2014/main" id="{850A0D5A-6A13-19A0-6609-9586FDB4C5E0}"/>
              </a:ext>
            </a:extLst>
          </p:cNvPr>
          <p:cNvSpPr/>
          <p:nvPr/>
        </p:nvSpPr>
        <p:spPr>
          <a:xfrm>
            <a:off x="7010129" y="3068812"/>
            <a:ext cx="1016780" cy="614588"/>
          </a:xfrm>
          <a:prstGeom prst="left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5" name="Left Brace 34">
            <a:extLst>
              <a:ext uri="{FF2B5EF4-FFF2-40B4-BE49-F238E27FC236}">
                <a16:creationId xmlns:a16="http://schemas.microsoft.com/office/drawing/2014/main" id="{B59E4E99-9FC4-CDA3-9883-E95F056401AA}"/>
              </a:ext>
            </a:extLst>
          </p:cNvPr>
          <p:cNvSpPr/>
          <p:nvPr/>
        </p:nvSpPr>
        <p:spPr>
          <a:xfrm rot="16200000">
            <a:off x="8685461" y="4652961"/>
            <a:ext cx="343092" cy="1361922"/>
          </a:xfrm>
          <a:prstGeom prst="leftBrac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DD50073-5D3C-84A1-1B04-F53A6776A7AF}"/>
              </a:ext>
            </a:extLst>
          </p:cNvPr>
          <p:cNvSpPr txBox="1"/>
          <p:nvPr/>
        </p:nvSpPr>
        <p:spPr>
          <a:xfrm>
            <a:off x="7942757" y="5617564"/>
            <a:ext cx="4168705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/>
              <a:t>1 Virtual « </a:t>
            </a:r>
            <a:r>
              <a:rPr lang="fr-FR" sz="2400" b="1" dirty="0"/>
              <a:t>Storage</a:t>
            </a:r>
            <a:r>
              <a:rPr lang="fr-FR" sz="2400" dirty="0"/>
              <a:t> » Resource</a:t>
            </a:r>
          </a:p>
          <a:p>
            <a:r>
              <a:rPr lang="fr-FR" sz="2400" dirty="0"/>
              <a:t>= HDFS </a:t>
            </a:r>
            <a:br>
              <a:rPr lang="fr-FR" sz="2400" dirty="0"/>
            </a:br>
            <a:r>
              <a:rPr lang="fr-FR" sz="2400" dirty="0"/>
              <a:t> Hadoop Distributed File System</a:t>
            </a:r>
          </a:p>
        </p:txBody>
      </p:sp>
      <p:sp>
        <p:nvSpPr>
          <p:cNvPr id="37" name="Arrow: Right 36">
            <a:extLst>
              <a:ext uri="{FF2B5EF4-FFF2-40B4-BE49-F238E27FC236}">
                <a16:creationId xmlns:a16="http://schemas.microsoft.com/office/drawing/2014/main" id="{074DB965-60D5-D40D-4D1A-D02ACF4BDC72}"/>
              </a:ext>
            </a:extLst>
          </p:cNvPr>
          <p:cNvSpPr/>
          <p:nvPr/>
        </p:nvSpPr>
        <p:spPr>
          <a:xfrm>
            <a:off x="9483342" y="2953477"/>
            <a:ext cx="1024955" cy="34373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8" name="Arrow: Right 37">
            <a:extLst>
              <a:ext uri="{FF2B5EF4-FFF2-40B4-BE49-F238E27FC236}">
                <a16:creationId xmlns:a16="http://schemas.microsoft.com/office/drawing/2014/main" id="{D63CDAA8-D701-ACBA-C090-BCCF6C472903}"/>
              </a:ext>
            </a:extLst>
          </p:cNvPr>
          <p:cNvSpPr/>
          <p:nvPr/>
        </p:nvSpPr>
        <p:spPr>
          <a:xfrm rot="10800000">
            <a:off x="9461122" y="3332004"/>
            <a:ext cx="1024955" cy="34373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77739C56-CF58-1663-E511-7F3AFBC5B88A}"/>
              </a:ext>
            </a:extLst>
          </p:cNvPr>
          <p:cNvSpPr txBox="1"/>
          <p:nvPr/>
        </p:nvSpPr>
        <p:spPr>
          <a:xfrm>
            <a:off x="10585919" y="2906659"/>
            <a:ext cx="160608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IO </a:t>
            </a:r>
            <a:r>
              <a:rPr lang="fr-FR" dirty="0" err="1"/>
              <a:t>Read+Write</a:t>
            </a:r>
            <a:r>
              <a:rPr lang="fr-FR" dirty="0"/>
              <a:t> </a:t>
            </a:r>
          </a:p>
          <a:p>
            <a:r>
              <a:rPr lang="fr-FR" dirty="0"/>
              <a:t>API</a:t>
            </a:r>
          </a:p>
        </p:txBody>
      </p:sp>
      <p:sp>
        <p:nvSpPr>
          <p:cNvPr id="40" name="Arrow: Left-Right 39">
            <a:extLst>
              <a:ext uri="{FF2B5EF4-FFF2-40B4-BE49-F238E27FC236}">
                <a16:creationId xmlns:a16="http://schemas.microsoft.com/office/drawing/2014/main" id="{8F33ACF0-448B-1089-3CAE-9E9F95022432}"/>
              </a:ext>
            </a:extLst>
          </p:cNvPr>
          <p:cNvSpPr/>
          <p:nvPr/>
        </p:nvSpPr>
        <p:spPr>
          <a:xfrm>
            <a:off x="3586967" y="3109654"/>
            <a:ext cx="1016780" cy="614588"/>
          </a:xfrm>
          <a:prstGeom prst="left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E6208758-642F-DDD3-17F3-E80435605653}"/>
              </a:ext>
            </a:extLst>
          </p:cNvPr>
          <p:cNvSpPr/>
          <p:nvPr/>
        </p:nvSpPr>
        <p:spPr>
          <a:xfrm>
            <a:off x="2499673" y="2750219"/>
            <a:ext cx="890482" cy="1424131"/>
          </a:xfrm>
          <a:prstGeom prst="rect">
            <a:avLst/>
          </a:prstGeom>
          <a:pattFill prst="wdUpDiag">
            <a:fgClr>
              <a:schemeClr val="accent1"/>
            </a:fgClr>
            <a:bgClr>
              <a:schemeClr val="bg1"/>
            </a:bgClr>
          </a:patt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2" name="Left Brace 41">
            <a:extLst>
              <a:ext uri="{FF2B5EF4-FFF2-40B4-BE49-F238E27FC236}">
                <a16:creationId xmlns:a16="http://schemas.microsoft.com/office/drawing/2014/main" id="{37D37B58-80F5-2EA6-AE56-AA9AB1AD7030}"/>
              </a:ext>
            </a:extLst>
          </p:cNvPr>
          <p:cNvSpPr/>
          <p:nvPr/>
        </p:nvSpPr>
        <p:spPr>
          <a:xfrm rot="16200000">
            <a:off x="2862900" y="4695693"/>
            <a:ext cx="343092" cy="1361922"/>
          </a:xfrm>
          <a:prstGeom prst="leftBrac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E8602C7-0A70-5289-4006-E51DFF231468}"/>
              </a:ext>
            </a:extLst>
          </p:cNvPr>
          <p:cNvSpPr txBox="1"/>
          <p:nvPr/>
        </p:nvSpPr>
        <p:spPr>
          <a:xfrm>
            <a:off x="341462" y="5697785"/>
            <a:ext cx="511178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/>
              <a:t>1 Virtual « </a:t>
            </a:r>
            <a:r>
              <a:rPr lang="fr-FR" sz="2400" b="1" dirty="0" err="1"/>
              <a:t>Compute</a:t>
            </a:r>
            <a:r>
              <a:rPr lang="fr-FR" sz="2400" dirty="0"/>
              <a:t> » Resource</a:t>
            </a:r>
          </a:p>
          <a:p>
            <a:r>
              <a:rPr lang="fr-FR" sz="2400" dirty="0"/>
              <a:t>= </a:t>
            </a:r>
            <a:r>
              <a:rPr lang="fr-FR" sz="2400" dirty="0" err="1"/>
              <a:t>Yarn+Oozie</a:t>
            </a:r>
            <a:r>
              <a:rPr lang="fr-FR" sz="2400" dirty="0"/>
              <a:t> (or </a:t>
            </a:r>
            <a:r>
              <a:rPr lang="fr-FR" sz="2400" dirty="0" err="1"/>
              <a:t>Kubernetes</a:t>
            </a:r>
            <a:r>
              <a:rPr lang="fr-FR" sz="2400" dirty="0"/>
              <a:t>)</a:t>
            </a:r>
            <a:br>
              <a:rPr lang="fr-FR" sz="2400" dirty="0"/>
            </a:br>
            <a:r>
              <a:rPr lang="fr-FR" sz="2400" dirty="0"/>
              <a:t> Distributed Container(Process/</a:t>
            </a:r>
            <a:r>
              <a:rPr lang="fr-FR" sz="2400" dirty="0" err="1"/>
              <a:t>Pod</a:t>
            </a:r>
            <a:r>
              <a:rPr lang="fr-FR" sz="2400" dirty="0"/>
              <a:t>) API</a:t>
            </a:r>
          </a:p>
        </p:txBody>
      </p:sp>
      <p:sp>
        <p:nvSpPr>
          <p:cNvPr id="44" name="Arrow: Right 43">
            <a:extLst>
              <a:ext uri="{FF2B5EF4-FFF2-40B4-BE49-F238E27FC236}">
                <a16:creationId xmlns:a16="http://schemas.microsoft.com/office/drawing/2014/main" id="{AD545B72-1132-2502-83BB-A5B9E61BD759}"/>
              </a:ext>
            </a:extLst>
          </p:cNvPr>
          <p:cNvSpPr/>
          <p:nvPr/>
        </p:nvSpPr>
        <p:spPr>
          <a:xfrm>
            <a:off x="1246017" y="2972129"/>
            <a:ext cx="1024955" cy="34373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5" name="Arrow: Right 44">
            <a:extLst>
              <a:ext uri="{FF2B5EF4-FFF2-40B4-BE49-F238E27FC236}">
                <a16:creationId xmlns:a16="http://schemas.microsoft.com/office/drawing/2014/main" id="{D0358DFD-0663-8AB2-EAA7-ECF2D057714F}"/>
              </a:ext>
            </a:extLst>
          </p:cNvPr>
          <p:cNvSpPr/>
          <p:nvPr/>
        </p:nvSpPr>
        <p:spPr>
          <a:xfrm rot="10800000">
            <a:off x="1233603" y="3442490"/>
            <a:ext cx="1024955" cy="34373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68FCE4EA-7019-143C-955A-24C6EE606FE7}"/>
              </a:ext>
            </a:extLst>
          </p:cNvPr>
          <p:cNvSpPr txBox="1"/>
          <p:nvPr/>
        </p:nvSpPr>
        <p:spPr>
          <a:xfrm>
            <a:off x="43416" y="2697048"/>
            <a:ext cx="1351396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Job </a:t>
            </a:r>
          </a:p>
          <a:p>
            <a:r>
              <a:rPr lang="fr-FR" dirty="0"/>
              <a:t>Start/Stop/..</a:t>
            </a:r>
          </a:p>
          <a:p>
            <a:r>
              <a:rPr lang="fr-FR" dirty="0"/>
              <a:t>/</a:t>
            </a:r>
            <a:r>
              <a:rPr lang="fr-FR" dirty="0" err="1"/>
              <a:t>Connect</a:t>
            </a:r>
            <a:endParaRPr lang="fr-FR" dirty="0"/>
          </a:p>
          <a:p>
            <a:r>
              <a:rPr lang="fr-FR" dirty="0"/>
              <a:t>API</a:t>
            </a:r>
          </a:p>
        </p:txBody>
      </p:sp>
      <p:sp>
        <p:nvSpPr>
          <p:cNvPr id="47" name="Rectangle: Rounded Corners 46">
            <a:extLst>
              <a:ext uri="{FF2B5EF4-FFF2-40B4-BE49-F238E27FC236}">
                <a16:creationId xmlns:a16="http://schemas.microsoft.com/office/drawing/2014/main" id="{AFA9407D-E766-D200-E86A-4BDB812A4F38}"/>
              </a:ext>
            </a:extLst>
          </p:cNvPr>
          <p:cNvSpPr/>
          <p:nvPr/>
        </p:nvSpPr>
        <p:spPr>
          <a:xfrm>
            <a:off x="4664940" y="2419047"/>
            <a:ext cx="2345190" cy="2510295"/>
          </a:xfrm>
          <a:prstGeom prst="roundRect">
            <a:avLst/>
          </a:prstGeom>
          <a:solidFill>
            <a:schemeClr val="accent1">
              <a:alpha val="20000"/>
            </a:schemeClr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8" name="Left Brace 47">
            <a:extLst>
              <a:ext uri="{FF2B5EF4-FFF2-40B4-BE49-F238E27FC236}">
                <a16:creationId xmlns:a16="http://schemas.microsoft.com/office/drawing/2014/main" id="{E41B6F28-C8B4-6A61-5BCB-7DD4CC3011D7}"/>
              </a:ext>
            </a:extLst>
          </p:cNvPr>
          <p:cNvSpPr/>
          <p:nvPr/>
        </p:nvSpPr>
        <p:spPr>
          <a:xfrm rot="16200000">
            <a:off x="5663593" y="4107747"/>
            <a:ext cx="371329" cy="2583543"/>
          </a:xfrm>
          <a:prstGeom prst="leftBrac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67A85B86-C95F-B43C-6EA9-BC776014EF31}"/>
              </a:ext>
            </a:extLst>
          </p:cNvPr>
          <p:cNvSpPr txBox="1"/>
          <p:nvPr/>
        </p:nvSpPr>
        <p:spPr>
          <a:xfrm>
            <a:off x="5138118" y="5547404"/>
            <a:ext cx="221573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 err="1"/>
              <a:t>Hidden</a:t>
            </a:r>
            <a:r>
              <a:rPr lang="fr-FR" sz="2400" dirty="0"/>
              <a:t> </a:t>
            </a:r>
            <a:r>
              <a:rPr lang="fr-FR" sz="2400" dirty="0" err="1"/>
              <a:t>physical</a:t>
            </a:r>
            <a:r>
              <a:rPr lang="fr-FR" sz="2400" dirty="0"/>
              <a:t> </a:t>
            </a:r>
          </a:p>
          <a:p>
            <a:r>
              <a:rPr lang="fr-FR" sz="2400" dirty="0" err="1"/>
              <a:t>Resources</a:t>
            </a:r>
            <a:endParaRPr lang="fr-FR" sz="2400" dirty="0"/>
          </a:p>
        </p:txBody>
      </p:sp>
      <p:pic>
        <p:nvPicPr>
          <p:cNvPr id="50" name="Picture 49">
            <a:extLst>
              <a:ext uri="{FF2B5EF4-FFF2-40B4-BE49-F238E27FC236}">
                <a16:creationId xmlns:a16="http://schemas.microsoft.com/office/drawing/2014/main" id="{D9AE779F-32C6-9538-3E03-5ADA94A4768D}"/>
              </a:ext>
            </a:extLst>
          </p:cNvPr>
          <p:cNvPicPr>
            <a:picLocks noChangeAspect="1"/>
          </p:cNvPicPr>
          <p:nvPr/>
        </p:nvPicPr>
        <p:blipFill>
          <a:blip r:embed="rId2">
            <a:lum/>
            <a:alphaModFix/>
          </a:blip>
          <a:srcRect/>
          <a:stretch>
            <a:fillRect/>
          </a:stretch>
        </p:blipFill>
        <p:spPr>
          <a:xfrm>
            <a:off x="74649" y="3815924"/>
            <a:ext cx="1590964" cy="1009108"/>
          </a:xfrm>
          <a:prstGeom prst="rect">
            <a:avLst/>
          </a:prstGeom>
          <a:noFill/>
          <a:ln>
            <a:noFill/>
          </a:ln>
        </p:spPr>
      </p:pic>
      <p:pic>
        <p:nvPicPr>
          <p:cNvPr id="51" name="Picture 2">
            <a:extLst>
              <a:ext uri="{FF2B5EF4-FFF2-40B4-BE49-F238E27FC236}">
                <a16:creationId xmlns:a16="http://schemas.microsoft.com/office/drawing/2014/main" id="{0D4B2700-83AF-8301-DF40-E420B4CF67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446" y="4685947"/>
            <a:ext cx="781087" cy="7566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2" name="Arrow: Down 51">
            <a:extLst>
              <a:ext uri="{FF2B5EF4-FFF2-40B4-BE49-F238E27FC236}">
                <a16:creationId xmlns:a16="http://schemas.microsoft.com/office/drawing/2014/main" id="{B51A4C33-D828-30BA-3338-5684E0C0872F}"/>
              </a:ext>
            </a:extLst>
          </p:cNvPr>
          <p:cNvSpPr/>
          <p:nvPr/>
        </p:nvSpPr>
        <p:spPr>
          <a:xfrm rot="4143038">
            <a:off x="2549316" y="797659"/>
            <a:ext cx="481871" cy="2864605"/>
          </a:xfrm>
          <a:prstGeom prst="downArrow">
            <a:avLst/>
          </a:prstGeom>
          <a:pattFill prst="wdUpDiag">
            <a:fgClr>
              <a:schemeClr val="accent1"/>
            </a:fgClr>
            <a:bgClr>
              <a:schemeClr val="bg1"/>
            </a:bgClr>
          </a:patt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3" name="Arrow: Down 52">
            <a:extLst>
              <a:ext uri="{FF2B5EF4-FFF2-40B4-BE49-F238E27FC236}">
                <a16:creationId xmlns:a16="http://schemas.microsoft.com/office/drawing/2014/main" id="{8F8B7D8E-24D2-EC3C-7F88-9B775F9A7939}"/>
              </a:ext>
            </a:extLst>
          </p:cNvPr>
          <p:cNvSpPr/>
          <p:nvPr/>
        </p:nvSpPr>
        <p:spPr>
          <a:xfrm rot="17545810">
            <a:off x="8518278" y="765564"/>
            <a:ext cx="481871" cy="2864605"/>
          </a:xfrm>
          <a:prstGeom prst="downArrow">
            <a:avLst/>
          </a:prstGeom>
          <a:pattFill prst="wdUpDiag">
            <a:fgClr>
              <a:schemeClr val="accent1"/>
            </a:fgClr>
            <a:bgClr>
              <a:schemeClr val="bg1"/>
            </a:bgClr>
          </a:patt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E68E5DC5-86ED-5BBE-F076-DF2A83182981}"/>
              </a:ext>
            </a:extLst>
          </p:cNvPr>
          <p:cNvPicPr>
            <a:picLocks noChangeAspect="1"/>
          </p:cNvPicPr>
          <p:nvPr/>
        </p:nvPicPr>
        <p:blipFill>
          <a:blip r:embed="rId4">
            <a:lum/>
            <a:alphaModFix/>
          </a:blip>
          <a:srcRect/>
          <a:stretch>
            <a:fillRect/>
          </a:stretch>
        </p:blipFill>
        <p:spPr>
          <a:xfrm>
            <a:off x="1130576" y="4425888"/>
            <a:ext cx="1188719" cy="67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170" name="Picture 2" descr="A Beginners' Guide to Apache Hadoop's HDFS - Analytics Vidhya">
            <a:extLst>
              <a:ext uri="{FF2B5EF4-FFF2-40B4-BE49-F238E27FC236}">
                <a16:creationId xmlns:a16="http://schemas.microsoft.com/office/drawing/2014/main" id="{D17AEAC8-DA86-F887-DFC0-2B537769FD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91134" y="3593349"/>
            <a:ext cx="2457450" cy="1152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2FFFB84F-CE63-57D5-9763-81FC1AA89A04}"/>
              </a:ext>
            </a:extLst>
          </p:cNvPr>
          <p:cNvPicPr>
            <a:picLocks noChangeAspect="1"/>
          </p:cNvPicPr>
          <p:nvPr/>
        </p:nvPicPr>
        <p:blipFill>
          <a:blip r:embed="rId6">
            <a:lum/>
            <a:alphaModFix/>
          </a:blip>
          <a:srcRect/>
          <a:stretch>
            <a:fillRect/>
          </a:stretch>
        </p:blipFill>
        <p:spPr>
          <a:xfrm>
            <a:off x="10122700" y="4302469"/>
            <a:ext cx="1348069" cy="735265"/>
          </a:xfrm>
          <a:prstGeom prst="rect">
            <a:avLst/>
          </a:prstGeom>
          <a:noFill/>
          <a:ln>
            <a:noFill/>
          </a:ln>
        </p:spPr>
      </p:pic>
      <p:pic>
        <p:nvPicPr>
          <p:cNvPr id="56" name="Picture 55">
            <a:extLst>
              <a:ext uri="{FF2B5EF4-FFF2-40B4-BE49-F238E27FC236}">
                <a16:creationId xmlns:a16="http://schemas.microsoft.com/office/drawing/2014/main" id="{1CDFB56D-6AC0-8A6B-A6ED-C2FB196A35E0}"/>
              </a:ext>
            </a:extLst>
          </p:cNvPr>
          <p:cNvPicPr>
            <a:picLocks noChangeAspect="1"/>
          </p:cNvPicPr>
          <p:nvPr/>
        </p:nvPicPr>
        <p:blipFill>
          <a:blip r:embed="rId7">
            <a:lum/>
            <a:alphaModFix/>
          </a:blip>
          <a:srcRect/>
          <a:stretch>
            <a:fillRect/>
          </a:stretch>
        </p:blipFill>
        <p:spPr>
          <a:xfrm>
            <a:off x="10019573" y="4926281"/>
            <a:ext cx="737484" cy="552257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Rectangle: Rounded Corners 56">
            <a:extLst>
              <a:ext uri="{FF2B5EF4-FFF2-40B4-BE49-F238E27FC236}">
                <a16:creationId xmlns:a16="http://schemas.microsoft.com/office/drawing/2014/main" id="{3A37624B-A8C2-B8D1-5117-F2B3F3870ADC}"/>
              </a:ext>
            </a:extLst>
          </p:cNvPr>
          <p:cNvSpPr/>
          <p:nvPr/>
        </p:nvSpPr>
        <p:spPr>
          <a:xfrm>
            <a:off x="4681540" y="1379545"/>
            <a:ext cx="2345190" cy="793844"/>
          </a:xfrm>
          <a:prstGeom prst="roundRect">
            <a:avLst/>
          </a:prstGeom>
          <a:solidFill>
            <a:schemeClr val="accent1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58" name="Picture 2" descr="Gear Vector Art, Icons, and Graphics for Free Download">
            <a:extLst>
              <a:ext uri="{FF2B5EF4-FFF2-40B4-BE49-F238E27FC236}">
                <a16:creationId xmlns:a16="http://schemas.microsoft.com/office/drawing/2014/main" id="{4B153DFE-CBF1-8DF7-DBC9-A43F3B16DD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43586" y="1391977"/>
            <a:ext cx="767283" cy="7672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92099010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208D8E-4912-9588-C472-7B142EB4A093}"/>
              </a:ext>
            </a:extLst>
          </p:cNvPr>
          <p:cNvSpPr txBox="1">
            <a:spLocks/>
          </p:cNvSpPr>
          <p:nvPr/>
        </p:nvSpPr>
        <p:spPr>
          <a:xfrm>
            <a:off x="43416" y="137862"/>
            <a:ext cx="12148584" cy="1395814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sz="3600" dirty="0" err="1"/>
              <a:t>Recap</a:t>
            </a:r>
            <a:r>
              <a:rPr lang="fr-FR" sz="3600" dirty="0"/>
              <a:t> .. Objective for Distributed Data </a:t>
            </a:r>
            <a:r>
              <a:rPr lang="fr-FR" sz="3600" dirty="0" err="1"/>
              <a:t>Processing</a:t>
            </a:r>
            <a:r>
              <a:rPr lang="fr-FR" sz="3600" dirty="0"/>
              <a:t> Solution: </a:t>
            </a:r>
          </a:p>
          <a:p>
            <a:pPr algn="ctr"/>
            <a:r>
              <a:rPr lang="fr-FR" sz="3600" dirty="0"/>
              <a:t>Use </a:t>
            </a:r>
            <a:r>
              <a:rPr lang="fr-FR" sz="3600" dirty="0" err="1"/>
              <a:t>Compute</a:t>
            </a:r>
            <a:r>
              <a:rPr lang="fr-FR" sz="3600" dirty="0"/>
              <a:t>  + Storage APIs</a:t>
            </a:r>
          </a:p>
        </p:txBody>
      </p:sp>
      <p:sp>
        <p:nvSpPr>
          <p:cNvPr id="28" name="Cylinder 27">
            <a:extLst>
              <a:ext uri="{FF2B5EF4-FFF2-40B4-BE49-F238E27FC236}">
                <a16:creationId xmlns:a16="http://schemas.microsoft.com/office/drawing/2014/main" id="{6A0D0F07-63F6-C530-C798-75D8DC81E8CF}"/>
              </a:ext>
            </a:extLst>
          </p:cNvPr>
          <p:cNvSpPr/>
          <p:nvPr/>
        </p:nvSpPr>
        <p:spPr>
          <a:xfrm>
            <a:off x="11121947" y="1737278"/>
            <a:ext cx="777315" cy="1449228"/>
          </a:xfrm>
          <a:prstGeom prst="can">
            <a:avLst/>
          </a:prstGeom>
          <a:pattFill prst="wdUpDiag">
            <a:fgClr>
              <a:schemeClr val="accent1"/>
            </a:fgClr>
            <a:bgClr>
              <a:schemeClr val="bg1"/>
            </a:bgClr>
          </a:patt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0" name="Left Brace 29">
            <a:extLst>
              <a:ext uri="{FF2B5EF4-FFF2-40B4-BE49-F238E27FC236}">
                <a16:creationId xmlns:a16="http://schemas.microsoft.com/office/drawing/2014/main" id="{D4218CC3-3FE5-6F61-6D09-2C954A214D72}"/>
              </a:ext>
            </a:extLst>
          </p:cNvPr>
          <p:cNvSpPr/>
          <p:nvPr/>
        </p:nvSpPr>
        <p:spPr>
          <a:xfrm rot="16200000">
            <a:off x="10748313" y="5156766"/>
            <a:ext cx="343092" cy="1361922"/>
          </a:xfrm>
          <a:prstGeom prst="leftBrac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1" name="Arrow: Right 30">
            <a:extLst>
              <a:ext uri="{FF2B5EF4-FFF2-40B4-BE49-F238E27FC236}">
                <a16:creationId xmlns:a16="http://schemas.microsoft.com/office/drawing/2014/main" id="{14253C62-AD88-BAD6-5AC1-D07934520E78}"/>
              </a:ext>
            </a:extLst>
          </p:cNvPr>
          <p:cNvSpPr/>
          <p:nvPr/>
        </p:nvSpPr>
        <p:spPr>
          <a:xfrm>
            <a:off x="7273647" y="2136106"/>
            <a:ext cx="1024955" cy="34373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2" name="Arrow: Right 31">
            <a:extLst>
              <a:ext uri="{FF2B5EF4-FFF2-40B4-BE49-F238E27FC236}">
                <a16:creationId xmlns:a16="http://schemas.microsoft.com/office/drawing/2014/main" id="{6EC7C0B6-7AE0-EF8F-49E4-9E741707D85C}"/>
              </a:ext>
            </a:extLst>
          </p:cNvPr>
          <p:cNvSpPr/>
          <p:nvPr/>
        </p:nvSpPr>
        <p:spPr>
          <a:xfrm rot="10800000">
            <a:off x="7251427" y="2514633"/>
            <a:ext cx="1024955" cy="34373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1005AEE-D1C7-16F5-2ED1-E2CF8801F98B}"/>
              </a:ext>
            </a:extLst>
          </p:cNvPr>
          <p:cNvSpPr txBox="1"/>
          <p:nvPr/>
        </p:nvSpPr>
        <p:spPr>
          <a:xfrm>
            <a:off x="8376224" y="2089288"/>
            <a:ext cx="160608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IO </a:t>
            </a:r>
            <a:r>
              <a:rPr lang="fr-FR" dirty="0" err="1"/>
              <a:t>Read+Write</a:t>
            </a:r>
            <a:r>
              <a:rPr lang="fr-FR" dirty="0"/>
              <a:t> </a:t>
            </a:r>
          </a:p>
          <a:p>
            <a:r>
              <a:rPr lang="fr-FR" dirty="0"/>
              <a:t>API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DFFDD88E-6D26-26ED-DECE-AF6376DC5659}"/>
              </a:ext>
            </a:extLst>
          </p:cNvPr>
          <p:cNvSpPr/>
          <p:nvPr/>
        </p:nvSpPr>
        <p:spPr>
          <a:xfrm>
            <a:off x="168224" y="1762375"/>
            <a:ext cx="890482" cy="1424131"/>
          </a:xfrm>
          <a:prstGeom prst="rect">
            <a:avLst/>
          </a:prstGeom>
          <a:pattFill prst="wdUpDiag">
            <a:fgClr>
              <a:schemeClr val="accent1"/>
            </a:fgClr>
            <a:bgClr>
              <a:schemeClr val="bg1"/>
            </a:bgClr>
          </a:patt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6" name="Left Brace 35">
            <a:extLst>
              <a:ext uri="{FF2B5EF4-FFF2-40B4-BE49-F238E27FC236}">
                <a16:creationId xmlns:a16="http://schemas.microsoft.com/office/drawing/2014/main" id="{BC271443-454B-D3BE-7CF3-94E3A2B2C48C}"/>
              </a:ext>
            </a:extLst>
          </p:cNvPr>
          <p:cNvSpPr/>
          <p:nvPr/>
        </p:nvSpPr>
        <p:spPr>
          <a:xfrm rot="16200000">
            <a:off x="1099260" y="4778202"/>
            <a:ext cx="343092" cy="2402921"/>
          </a:xfrm>
          <a:prstGeom prst="leftBrac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7" name="Arrow: Right 36">
            <a:extLst>
              <a:ext uri="{FF2B5EF4-FFF2-40B4-BE49-F238E27FC236}">
                <a16:creationId xmlns:a16="http://schemas.microsoft.com/office/drawing/2014/main" id="{3C26FDAC-965E-C8A4-7C35-B86BC934C7C5}"/>
              </a:ext>
            </a:extLst>
          </p:cNvPr>
          <p:cNvSpPr/>
          <p:nvPr/>
        </p:nvSpPr>
        <p:spPr>
          <a:xfrm>
            <a:off x="3486375" y="2106420"/>
            <a:ext cx="1024955" cy="34373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8" name="Arrow: Right 37">
            <a:extLst>
              <a:ext uri="{FF2B5EF4-FFF2-40B4-BE49-F238E27FC236}">
                <a16:creationId xmlns:a16="http://schemas.microsoft.com/office/drawing/2014/main" id="{EF1901C8-E510-7D93-60C2-FFA1B03417F5}"/>
              </a:ext>
            </a:extLst>
          </p:cNvPr>
          <p:cNvSpPr/>
          <p:nvPr/>
        </p:nvSpPr>
        <p:spPr>
          <a:xfrm rot="10800000">
            <a:off x="3473961" y="2576781"/>
            <a:ext cx="1024955" cy="34373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EE3B8988-B0F0-4465-5D0E-EBA2F10228E4}"/>
              </a:ext>
            </a:extLst>
          </p:cNvPr>
          <p:cNvSpPr txBox="1"/>
          <p:nvPr/>
        </p:nvSpPr>
        <p:spPr>
          <a:xfrm>
            <a:off x="2283774" y="1831339"/>
            <a:ext cx="1351396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Job </a:t>
            </a:r>
          </a:p>
          <a:p>
            <a:r>
              <a:rPr lang="fr-FR" dirty="0"/>
              <a:t>Start/Stop/..</a:t>
            </a:r>
          </a:p>
          <a:p>
            <a:r>
              <a:rPr lang="fr-FR" dirty="0"/>
              <a:t>/</a:t>
            </a:r>
            <a:r>
              <a:rPr lang="fr-FR" dirty="0" err="1"/>
              <a:t>Connect</a:t>
            </a:r>
            <a:endParaRPr lang="fr-FR" dirty="0"/>
          </a:p>
          <a:p>
            <a:r>
              <a:rPr lang="fr-FR" dirty="0"/>
              <a:t>API</a:t>
            </a:r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A6DFB048-FBE1-F992-9D2E-767AE1851A2A}"/>
              </a:ext>
            </a:extLst>
          </p:cNvPr>
          <p:cNvPicPr>
            <a:picLocks noChangeAspect="1"/>
          </p:cNvPicPr>
          <p:nvPr/>
        </p:nvPicPr>
        <p:blipFill>
          <a:blip r:embed="rId2">
            <a:lum/>
            <a:alphaModFix/>
          </a:blip>
          <a:srcRect/>
          <a:stretch>
            <a:fillRect/>
          </a:stretch>
        </p:blipFill>
        <p:spPr>
          <a:xfrm>
            <a:off x="43416" y="4084735"/>
            <a:ext cx="1590964" cy="1009108"/>
          </a:xfrm>
          <a:prstGeom prst="rect">
            <a:avLst/>
          </a:prstGeom>
          <a:noFill/>
          <a:ln>
            <a:noFill/>
          </a:ln>
        </p:spPr>
      </p:pic>
      <p:pic>
        <p:nvPicPr>
          <p:cNvPr id="42" name="Picture 2">
            <a:extLst>
              <a:ext uri="{FF2B5EF4-FFF2-40B4-BE49-F238E27FC236}">
                <a16:creationId xmlns:a16="http://schemas.microsoft.com/office/drawing/2014/main" id="{246C1368-B88D-46DC-94C5-F1F62E48D2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213" y="4954758"/>
            <a:ext cx="781087" cy="7566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3" name="Arrow: Down 42">
            <a:extLst>
              <a:ext uri="{FF2B5EF4-FFF2-40B4-BE49-F238E27FC236}">
                <a16:creationId xmlns:a16="http://schemas.microsoft.com/office/drawing/2014/main" id="{77D45AC3-1048-B3FD-0B15-1953B617BC5C}"/>
              </a:ext>
            </a:extLst>
          </p:cNvPr>
          <p:cNvSpPr/>
          <p:nvPr/>
        </p:nvSpPr>
        <p:spPr>
          <a:xfrm rot="5400000">
            <a:off x="1411189" y="1904907"/>
            <a:ext cx="481871" cy="961346"/>
          </a:xfrm>
          <a:prstGeom prst="downArrow">
            <a:avLst/>
          </a:prstGeom>
          <a:pattFill prst="wdUpDiag">
            <a:fgClr>
              <a:schemeClr val="accent1"/>
            </a:fgClr>
            <a:bgClr>
              <a:schemeClr val="bg1"/>
            </a:bgClr>
          </a:patt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4" name="Arrow: Down 43">
            <a:extLst>
              <a:ext uri="{FF2B5EF4-FFF2-40B4-BE49-F238E27FC236}">
                <a16:creationId xmlns:a16="http://schemas.microsoft.com/office/drawing/2014/main" id="{B3B0A054-1AA5-DB2F-9610-CC98DA1C6416}"/>
              </a:ext>
            </a:extLst>
          </p:cNvPr>
          <p:cNvSpPr/>
          <p:nvPr/>
        </p:nvSpPr>
        <p:spPr>
          <a:xfrm rot="16200000">
            <a:off x="10212998" y="1868208"/>
            <a:ext cx="481871" cy="968207"/>
          </a:xfrm>
          <a:prstGeom prst="downArrow">
            <a:avLst/>
          </a:prstGeom>
          <a:pattFill prst="wdUpDiag">
            <a:fgClr>
              <a:schemeClr val="accent1"/>
            </a:fgClr>
            <a:bgClr>
              <a:schemeClr val="bg1"/>
            </a:bgClr>
          </a:patt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45" name="Picture 44">
            <a:extLst>
              <a:ext uri="{FF2B5EF4-FFF2-40B4-BE49-F238E27FC236}">
                <a16:creationId xmlns:a16="http://schemas.microsoft.com/office/drawing/2014/main" id="{FC2C9880-9139-50A4-F198-AA9154F9301A}"/>
              </a:ext>
            </a:extLst>
          </p:cNvPr>
          <p:cNvPicPr>
            <a:picLocks noChangeAspect="1"/>
          </p:cNvPicPr>
          <p:nvPr/>
        </p:nvPicPr>
        <p:blipFill>
          <a:blip r:embed="rId4">
            <a:lum/>
            <a:alphaModFix/>
          </a:blip>
          <a:srcRect/>
          <a:stretch>
            <a:fillRect/>
          </a:stretch>
        </p:blipFill>
        <p:spPr>
          <a:xfrm>
            <a:off x="1099343" y="4694699"/>
            <a:ext cx="1188719" cy="67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6" name="Picture 2" descr="A Beginners' Guide to Apache Hadoop's HDFS - Analytics Vidhya">
            <a:extLst>
              <a:ext uri="{FF2B5EF4-FFF2-40B4-BE49-F238E27FC236}">
                <a16:creationId xmlns:a16="http://schemas.microsoft.com/office/drawing/2014/main" id="{19F41F2B-3756-15E8-90D1-E547ADC5E5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91134" y="3593349"/>
            <a:ext cx="2457450" cy="1152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id="{51EE6992-B125-B2F1-63EA-9475846C7DC8}"/>
              </a:ext>
            </a:extLst>
          </p:cNvPr>
          <p:cNvPicPr>
            <a:picLocks noChangeAspect="1"/>
          </p:cNvPicPr>
          <p:nvPr/>
        </p:nvPicPr>
        <p:blipFill>
          <a:blip r:embed="rId6">
            <a:lum/>
            <a:alphaModFix/>
          </a:blip>
          <a:srcRect/>
          <a:stretch>
            <a:fillRect/>
          </a:stretch>
        </p:blipFill>
        <p:spPr>
          <a:xfrm>
            <a:off x="10122700" y="4302469"/>
            <a:ext cx="1348069" cy="735265"/>
          </a:xfrm>
          <a:prstGeom prst="rect">
            <a:avLst/>
          </a:prstGeom>
          <a:noFill/>
          <a:ln>
            <a:noFill/>
          </a:ln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id="{6DE2535F-49EC-94CE-C5D6-F17E9492AFE9}"/>
              </a:ext>
            </a:extLst>
          </p:cNvPr>
          <p:cNvPicPr>
            <a:picLocks noChangeAspect="1"/>
          </p:cNvPicPr>
          <p:nvPr/>
        </p:nvPicPr>
        <p:blipFill>
          <a:blip r:embed="rId7">
            <a:lum/>
            <a:alphaModFix/>
          </a:blip>
          <a:srcRect/>
          <a:stretch>
            <a:fillRect/>
          </a:stretch>
        </p:blipFill>
        <p:spPr>
          <a:xfrm>
            <a:off x="10019573" y="4926281"/>
            <a:ext cx="737484" cy="552257"/>
          </a:xfrm>
          <a:prstGeom prst="rect">
            <a:avLst/>
          </a:prstGeom>
          <a:noFill/>
          <a:ln>
            <a:noFill/>
          </a:ln>
        </p:spPr>
      </p:pic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A0195FFE-518A-AF02-75C3-DA6DE3A70E6D}"/>
              </a:ext>
            </a:extLst>
          </p:cNvPr>
          <p:cNvSpPr/>
          <p:nvPr/>
        </p:nvSpPr>
        <p:spPr>
          <a:xfrm>
            <a:off x="4794291" y="2085232"/>
            <a:ext cx="2345190" cy="793844"/>
          </a:xfrm>
          <a:prstGeom prst="roundRect">
            <a:avLst/>
          </a:prstGeom>
          <a:solidFill>
            <a:schemeClr val="accent1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50" name="Picture 2" descr="Gear Vector Art, Icons, and Graphics for Free Download">
            <a:extLst>
              <a:ext uri="{FF2B5EF4-FFF2-40B4-BE49-F238E27FC236}">
                <a16:creationId xmlns:a16="http://schemas.microsoft.com/office/drawing/2014/main" id="{4D2CD1EA-3CC3-4D7B-C526-6FF59C0946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56337" y="2097664"/>
            <a:ext cx="767283" cy="7672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1" name="TextBox 50">
            <a:extLst>
              <a:ext uri="{FF2B5EF4-FFF2-40B4-BE49-F238E27FC236}">
                <a16:creationId xmlns:a16="http://schemas.microsoft.com/office/drawing/2014/main" id="{66835EB0-0A48-E358-FF4C-F83A6AED4CCA}"/>
              </a:ext>
            </a:extLst>
          </p:cNvPr>
          <p:cNvSpPr txBox="1"/>
          <p:nvPr/>
        </p:nvSpPr>
        <p:spPr>
          <a:xfrm>
            <a:off x="133992" y="6196709"/>
            <a:ext cx="25956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 err="1"/>
              <a:t>Compute</a:t>
            </a:r>
            <a:r>
              <a:rPr lang="fr-FR" b="1" dirty="0"/>
              <a:t> </a:t>
            </a:r>
            <a:r>
              <a:rPr lang="fr-FR" dirty="0"/>
              <a:t>ONLY </a:t>
            </a:r>
            <a:r>
              <a:rPr lang="fr-FR" dirty="0" err="1"/>
              <a:t>Resources</a:t>
            </a:r>
            <a:endParaRPr lang="fr-FR" dirty="0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63F3C89E-0C79-0102-A4A2-46FE53FA1319}"/>
              </a:ext>
            </a:extLst>
          </p:cNvPr>
          <p:cNvSpPr txBox="1"/>
          <p:nvPr/>
        </p:nvSpPr>
        <p:spPr>
          <a:xfrm>
            <a:off x="9411040" y="6196917"/>
            <a:ext cx="24552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/>
              <a:t>Storage </a:t>
            </a:r>
            <a:r>
              <a:rPr lang="fr-FR" dirty="0"/>
              <a:t>ONLY </a:t>
            </a:r>
            <a:r>
              <a:rPr lang="fr-FR" dirty="0" err="1"/>
              <a:t>Resources</a:t>
            </a:r>
            <a:endParaRPr lang="fr-FR" dirty="0"/>
          </a:p>
        </p:txBody>
      </p:sp>
      <p:sp>
        <p:nvSpPr>
          <p:cNvPr id="53" name="Left Brace 52">
            <a:extLst>
              <a:ext uri="{FF2B5EF4-FFF2-40B4-BE49-F238E27FC236}">
                <a16:creationId xmlns:a16="http://schemas.microsoft.com/office/drawing/2014/main" id="{3406B8B6-58E1-2750-CB22-46AE60E65721}"/>
              </a:ext>
            </a:extLst>
          </p:cNvPr>
          <p:cNvSpPr/>
          <p:nvPr/>
        </p:nvSpPr>
        <p:spPr>
          <a:xfrm rot="16200000">
            <a:off x="3623539" y="3530389"/>
            <a:ext cx="343092" cy="1544162"/>
          </a:xfrm>
          <a:prstGeom prst="leftBrac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4" name="Left Brace 53">
            <a:extLst>
              <a:ext uri="{FF2B5EF4-FFF2-40B4-BE49-F238E27FC236}">
                <a16:creationId xmlns:a16="http://schemas.microsoft.com/office/drawing/2014/main" id="{7DAD468E-A400-ADDE-F054-F02847F8F2B3}"/>
              </a:ext>
            </a:extLst>
          </p:cNvPr>
          <p:cNvSpPr/>
          <p:nvPr/>
        </p:nvSpPr>
        <p:spPr>
          <a:xfrm rot="16200000">
            <a:off x="7851962" y="3530388"/>
            <a:ext cx="343092" cy="1544162"/>
          </a:xfrm>
          <a:prstGeom prst="leftBrac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E702F7CD-2929-F362-F8BE-D17E2289DE4F}"/>
              </a:ext>
            </a:extLst>
          </p:cNvPr>
          <p:cNvSpPr txBox="1"/>
          <p:nvPr/>
        </p:nvSpPr>
        <p:spPr>
          <a:xfrm>
            <a:off x="2788552" y="4510910"/>
            <a:ext cx="242059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/>
              <a:t>Use API</a:t>
            </a:r>
          </a:p>
          <a:p>
            <a:r>
              <a:rPr lang="fr-FR" dirty="0"/>
              <a:t>For </a:t>
            </a:r>
            <a:r>
              <a:rPr lang="fr-FR" b="1" dirty="0" err="1"/>
              <a:t>Compute</a:t>
            </a:r>
            <a:r>
              <a:rPr lang="fr-FR" b="1" dirty="0"/>
              <a:t> </a:t>
            </a:r>
            <a:r>
              <a:rPr lang="fr-FR" dirty="0" err="1"/>
              <a:t>Resources</a:t>
            </a:r>
            <a:endParaRPr lang="fr-FR" dirty="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06468D61-2A97-E706-B537-E9ECF5EC8F2C}"/>
              </a:ext>
            </a:extLst>
          </p:cNvPr>
          <p:cNvSpPr txBox="1"/>
          <p:nvPr/>
        </p:nvSpPr>
        <p:spPr>
          <a:xfrm>
            <a:off x="7098484" y="4447512"/>
            <a:ext cx="226741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/>
              <a:t>Use API</a:t>
            </a:r>
          </a:p>
          <a:p>
            <a:r>
              <a:rPr lang="fr-FR" dirty="0"/>
              <a:t>For </a:t>
            </a:r>
            <a:r>
              <a:rPr lang="fr-FR" b="1" dirty="0"/>
              <a:t>Storage </a:t>
            </a:r>
            <a:r>
              <a:rPr lang="fr-FR" dirty="0" err="1"/>
              <a:t>Resources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82939937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 descr="Volvo Trucks : Jean-Claude Van Damme fait le grand écart! -  Automotive-Marketing">
            <a:extLst>
              <a:ext uri="{FF2B5EF4-FFF2-40B4-BE49-F238E27FC236}">
                <a16:creationId xmlns:a16="http://schemas.microsoft.com/office/drawing/2014/main" id="{F71C5B94-5E74-F434-9370-ABF6115D31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01079" y="1645030"/>
            <a:ext cx="4222145" cy="27841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Arrow: Right 1">
            <a:extLst>
              <a:ext uri="{FF2B5EF4-FFF2-40B4-BE49-F238E27FC236}">
                <a16:creationId xmlns:a16="http://schemas.microsoft.com/office/drawing/2014/main" id="{2C208221-CE3C-0E8E-40A7-F6952221A8B6}"/>
              </a:ext>
            </a:extLst>
          </p:cNvPr>
          <p:cNvSpPr/>
          <p:nvPr/>
        </p:nvSpPr>
        <p:spPr>
          <a:xfrm>
            <a:off x="2206170" y="2636761"/>
            <a:ext cx="1030515" cy="64346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Arrow: Right 2">
            <a:extLst>
              <a:ext uri="{FF2B5EF4-FFF2-40B4-BE49-F238E27FC236}">
                <a16:creationId xmlns:a16="http://schemas.microsoft.com/office/drawing/2014/main" id="{A0F0D308-60BA-07FA-D217-DA0EECB4F08C}"/>
              </a:ext>
            </a:extLst>
          </p:cNvPr>
          <p:cNvSpPr/>
          <p:nvPr/>
        </p:nvSpPr>
        <p:spPr>
          <a:xfrm flipH="1">
            <a:off x="8379581" y="2636760"/>
            <a:ext cx="948266" cy="64346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8F7885B-C313-7F17-2E13-25C9CC0D39D0}"/>
              </a:ext>
            </a:extLst>
          </p:cNvPr>
          <p:cNvSpPr txBox="1"/>
          <p:nvPr/>
        </p:nvSpPr>
        <p:spPr>
          <a:xfrm>
            <a:off x="387048" y="2252284"/>
            <a:ext cx="1993879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b="1" dirty="0" err="1"/>
              <a:t>Compute</a:t>
            </a:r>
            <a:endParaRPr lang="fr-FR" sz="2400" dirty="0"/>
          </a:p>
          <a:p>
            <a:endParaRPr lang="fr-FR" sz="2400" dirty="0"/>
          </a:p>
          <a:p>
            <a:r>
              <a:rPr lang="fr-FR" sz="2400" dirty="0"/>
              <a:t>Cluster </a:t>
            </a:r>
          </a:p>
          <a:p>
            <a:r>
              <a:rPr lang="fr-FR" sz="2400" dirty="0"/>
              <a:t>&gt;= 200 servers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E5398D9-9F2F-5167-2768-DEE3A6F4D19A}"/>
              </a:ext>
            </a:extLst>
          </p:cNvPr>
          <p:cNvSpPr txBox="1"/>
          <p:nvPr/>
        </p:nvSpPr>
        <p:spPr>
          <a:xfrm>
            <a:off x="9684204" y="2252284"/>
            <a:ext cx="2080506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b="1" dirty="0"/>
              <a:t>Storage</a:t>
            </a:r>
            <a:endParaRPr lang="fr-FR" sz="2400" dirty="0"/>
          </a:p>
          <a:p>
            <a:endParaRPr lang="fr-FR" sz="2400" dirty="0"/>
          </a:p>
          <a:p>
            <a:r>
              <a:rPr lang="fr-FR" sz="2400" dirty="0"/>
              <a:t>&gt;= 3 </a:t>
            </a:r>
            <a:r>
              <a:rPr lang="fr-FR" sz="2400" dirty="0" err="1"/>
              <a:t>Peta</a:t>
            </a:r>
            <a:r>
              <a:rPr lang="fr-FR" sz="2400" dirty="0"/>
              <a:t> bytes</a:t>
            </a:r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246734CE-2D39-E066-23E3-B9A9A3241C11}"/>
              </a:ext>
            </a:extLst>
          </p:cNvPr>
          <p:cNvSpPr/>
          <p:nvPr/>
        </p:nvSpPr>
        <p:spPr>
          <a:xfrm rot="16200000">
            <a:off x="5717418" y="4447418"/>
            <a:ext cx="602344" cy="64346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89896BC-FB02-9D8A-8413-006AEE55E1CC}"/>
              </a:ext>
            </a:extLst>
          </p:cNvPr>
          <p:cNvSpPr txBox="1"/>
          <p:nvPr/>
        </p:nvSpPr>
        <p:spPr>
          <a:xfrm>
            <a:off x="4668745" y="5249332"/>
            <a:ext cx="278537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 err="1"/>
              <a:t>Your</a:t>
            </a:r>
            <a:r>
              <a:rPr lang="fr-FR" sz="2400" dirty="0"/>
              <a:t> Data </a:t>
            </a:r>
            <a:r>
              <a:rPr lang="fr-FR" sz="2400" dirty="0" err="1"/>
              <a:t>Processing</a:t>
            </a:r>
            <a:endParaRPr lang="fr-FR" sz="24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A1F6B06-FFA0-5C84-0ABF-22B80617BB6C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387048" y="4565770"/>
            <a:ext cx="1590964" cy="1009108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2">
            <a:extLst>
              <a:ext uri="{FF2B5EF4-FFF2-40B4-BE49-F238E27FC236}">
                <a16:creationId xmlns:a16="http://schemas.microsoft.com/office/drawing/2014/main" id="{264C2B9D-30AC-D118-2C8E-452EBADDE3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7845" y="5435793"/>
            <a:ext cx="781087" cy="7566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402E876-DBF8-863F-DD1C-617C4615D8AB}"/>
              </a:ext>
            </a:extLst>
          </p:cNvPr>
          <p:cNvPicPr>
            <a:picLocks noChangeAspect="1"/>
          </p:cNvPicPr>
          <p:nvPr/>
        </p:nvPicPr>
        <p:blipFill>
          <a:blip r:embed="rId5">
            <a:lum/>
            <a:alphaModFix/>
          </a:blip>
          <a:srcRect/>
          <a:stretch>
            <a:fillRect/>
          </a:stretch>
        </p:blipFill>
        <p:spPr>
          <a:xfrm>
            <a:off x="1442975" y="5175734"/>
            <a:ext cx="1188719" cy="67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Picture 2" descr="A Beginners' Guide to Apache Hadoop's HDFS - Analytics Vidhya">
            <a:extLst>
              <a:ext uri="{FF2B5EF4-FFF2-40B4-BE49-F238E27FC236}">
                <a16:creationId xmlns:a16="http://schemas.microsoft.com/office/drawing/2014/main" id="{7587BF23-2B31-E44C-7291-8E553A5187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47591" y="4372282"/>
            <a:ext cx="2457450" cy="1152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6342159-4C56-B101-A58B-191108A58403}"/>
              </a:ext>
            </a:extLst>
          </p:cNvPr>
          <p:cNvPicPr>
            <a:picLocks noChangeAspect="1"/>
          </p:cNvPicPr>
          <p:nvPr/>
        </p:nvPicPr>
        <p:blipFill>
          <a:blip r:embed="rId7">
            <a:lum/>
            <a:alphaModFix/>
          </a:blip>
          <a:srcRect/>
          <a:stretch>
            <a:fillRect/>
          </a:stretch>
        </p:blipFill>
        <p:spPr>
          <a:xfrm>
            <a:off x="10079157" y="5081402"/>
            <a:ext cx="1348069" cy="73526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274D1AAE-D525-0472-C1E2-FB8301A1EB3F}"/>
              </a:ext>
            </a:extLst>
          </p:cNvPr>
          <p:cNvPicPr>
            <a:picLocks noChangeAspect="1"/>
          </p:cNvPicPr>
          <p:nvPr/>
        </p:nvPicPr>
        <p:blipFill>
          <a:blip r:embed="rId8">
            <a:lum/>
            <a:alphaModFix/>
          </a:blip>
          <a:srcRect/>
          <a:stretch>
            <a:fillRect/>
          </a:stretch>
        </p:blipFill>
        <p:spPr>
          <a:xfrm>
            <a:off x="9976030" y="5705214"/>
            <a:ext cx="737484" cy="552257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Picture 2" descr="Gear Vector Art, Icons, and Graphics for Free Download">
            <a:extLst>
              <a:ext uri="{FF2B5EF4-FFF2-40B4-BE49-F238E27FC236}">
                <a16:creationId xmlns:a16="http://schemas.microsoft.com/office/drawing/2014/main" id="{FBDDA154-D9AF-BBEB-38DC-AC84110A43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56001" y="5763848"/>
            <a:ext cx="767283" cy="7672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Title 1">
            <a:extLst>
              <a:ext uri="{FF2B5EF4-FFF2-40B4-BE49-F238E27FC236}">
                <a16:creationId xmlns:a16="http://schemas.microsoft.com/office/drawing/2014/main" id="{6E49E70B-4E9F-BF62-01B8-EE936EA90A97}"/>
              </a:ext>
            </a:extLst>
          </p:cNvPr>
          <p:cNvSpPr txBox="1">
            <a:spLocks/>
          </p:cNvSpPr>
          <p:nvPr/>
        </p:nvSpPr>
        <p:spPr>
          <a:xfrm>
            <a:off x="43416" y="137862"/>
            <a:ext cx="12148584" cy="1395814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sz="3600" dirty="0"/>
              <a:t>Data </a:t>
            </a:r>
            <a:r>
              <a:rPr lang="fr-FR" sz="3600" dirty="0" err="1"/>
              <a:t>Processing</a:t>
            </a:r>
            <a:r>
              <a:rPr lang="fr-FR" sz="3600" dirty="0"/>
              <a:t> = </a:t>
            </a:r>
            <a:r>
              <a:rPr lang="fr-FR" sz="3600" dirty="0" err="1"/>
              <a:t>using</a:t>
            </a:r>
            <a:r>
              <a:rPr lang="fr-FR" sz="3600" dirty="0"/>
              <a:t> </a:t>
            </a:r>
            <a:r>
              <a:rPr lang="fr-FR" sz="3600" dirty="0" err="1"/>
              <a:t>Compute</a:t>
            </a:r>
            <a:r>
              <a:rPr lang="fr-FR" sz="3600" dirty="0"/>
              <a:t>  + Storage APIs</a:t>
            </a:r>
          </a:p>
        </p:txBody>
      </p:sp>
    </p:spTree>
    <p:extLst>
      <p:ext uri="{BB962C8B-B14F-4D97-AF65-F5344CB8AC3E}">
        <p14:creationId xmlns:p14="http://schemas.microsoft.com/office/powerpoint/2010/main" val="2351468913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4" name="Picture 4" descr="Jean-Claude Van Damme fait le grand écart entre 2 camions en mouvement -  Paperblog | Marketing viral, Marketing de contenu, Faire le grand écart">
            <a:extLst>
              <a:ext uri="{FF2B5EF4-FFF2-40B4-BE49-F238E27FC236}">
                <a16:creationId xmlns:a16="http://schemas.microsoft.com/office/drawing/2014/main" id="{B20D3F2F-0542-4331-7ADF-76EE1FC62F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30537" y="1662718"/>
            <a:ext cx="7564967" cy="39716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E592555-D95B-EBF3-E04B-0AAECD8FD4BC}"/>
              </a:ext>
            </a:extLst>
          </p:cNvPr>
          <p:cNvSpPr txBox="1"/>
          <p:nvPr/>
        </p:nvSpPr>
        <p:spPr>
          <a:xfrm>
            <a:off x="2931885" y="686190"/>
            <a:ext cx="742254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 dirty="0">
                <a:hlinkClick r:id="rId3"/>
              </a:rPr>
              <a:t>https://www.youtube.com/watch?v=YVAVugfnW6Y</a:t>
            </a:r>
            <a:r>
              <a:rPr lang="fr-FR" sz="24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005869953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4EF914-E139-3ADA-D038-FED651C70891}"/>
              </a:ext>
            </a:extLst>
          </p:cNvPr>
          <p:cNvSpPr txBox="1">
            <a:spLocks/>
          </p:cNvSpPr>
          <p:nvPr/>
        </p:nvSpPr>
        <p:spPr>
          <a:xfrm>
            <a:off x="43416" y="137862"/>
            <a:ext cx="12148584" cy="1395814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sz="5400" dirty="0"/>
              <a:t>Spoiler </a:t>
            </a:r>
            <a:r>
              <a:rPr lang="fr-FR" sz="5400" dirty="0" err="1"/>
              <a:t>Alert</a:t>
            </a:r>
            <a:r>
              <a:rPr lang="fr-FR" sz="5400" dirty="0"/>
              <a:t> … Data </a:t>
            </a:r>
            <a:r>
              <a:rPr lang="fr-FR" sz="5400" dirty="0" err="1"/>
              <a:t>Processing</a:t>
            </a:r>
            <a:r>
              <a:rPr lang="fr-FR" sz="5400" dirty="0"/>
              <a:t> in Spark</a:t>
            </a:r>
          </a:p>
        </p:txBody>
      </p:sp>
      <p:pic>
        <p:nvPicPr>
          <p:cNvPr id="3" name="Picture 2" descr="Gear Vector Art, Icons, and Graphics for Free Download">
            <a:extLst>
              <a:ext uri="{FF2B5EF4-FFF2-40B4-BE49-F238E27FC236}">
                <a16:creationId xmlns:a16="http://schemas.microsoft.com/office/drawing/2014/main" id="{C6295E6D-8C40-0F87-C8BD-FCFDC3968C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78781" y="2631822"/>
            <a:ext cx="1668947" cy="16689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Equals 3">
            <a:extLst>
              <a:ext uri="{FF2B5EF4-FFF2-40B4-BE49-F238E27FC236}">
                <a16:creationId xmlns:a16="http://schemas.microsoft.com/office/drawing/2014/main" id="{14444DB7-91E6-B7A4-DF78-B567AC398E92}"/>
              </a:ext>
            </a:extLst>
          </p:cNvPr>
          <p:cNvSpPr/>
          <p:nvPr/>
        </p:nvSpPr>
        <p:spPr>
          <a:xfrm>
            <a:off x="3788228" y="3062514"/>
            <a:ext cx="1253067" cy="870857"/>
          </a:xfrm>
          <a:prstGeom prst="mathEqual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sp>
        <p:nvSpPr>
          <p:cNvPr id="5" name="Plus Sign 4">
            <a:extLst>
              <a:ext uri="{FF2B5EF4-FFF2-40B4-BE49-F238E27FC236}">
                <a16:creationId xmlns:a16="http://schemas.microsoft.com/office/drawing/2014/main" id="{46E8586B-94A2-1BE8-B767-F975A05A8F3D}"/>
              </a:ext>
            </a:extLst>
          </p:cNvPr>
          <p:cNvSpPr/>
          <p:nvPr/>
        </p:nvSpPr>
        <p:spPr>
          <a:xfrm>
            <a:off x="8589610" y="2992361"/>
            <a:ext cx="909562" cy="1011162"/>
          </a:xfrm>
          <a:prstGeom prst="mathPlu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6" name="Picture 8" descr="Apache Spark — Wikipédia">
            <a:extLst>
              <a:ext uri="{FF2B5EF4-FFF2-40B4-BE49-F238E27FC236}">
                <a16:creationId xmlns:a16="http://schemas.microsoft.com/office/drawing/2014/main" id="{02419DDB-11AF-8402-44E8-28E92EC43F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12620" y="2454783"/>
            <a:ext cx="3205665" cy="16642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BB90FD0-2968-18A5-7E3B-BA80EBFD5CB1}"/>
              </a:ext>
            </a:extLst>
          </p:cNvPr>
          <p:cNvSpPr txBox="1"/>
          <p:nvPr/>
        </p:nvSpPr>
        <p:spPr>
          <a:xfrm>
            <a:off x="9782740" y="1330860"/>
            <a:ext cx="184262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dirty="0" err="1"/>
              <a:t>Your</a:t>
            </a:r>
            <a:r>
              <a:rPr lang="fr-FR" sz="2800" dirty="0"/>
              <a:t> Code: </a:t>
            </a:r>
          </a:p>
        </p:txBody>
      </p:sp>
      <p:pic>
        <p:nvPicPr>
          <p:cNvPr id="8" name="Picture 24" descr="Java (langage) — Wikipédia">
            <a:extLst>
              <a:ext uri="{FF2B5EF4-FFF2-40B4-BE49-F238E27FC236}">
                <a16:creationId xmlns:a16="http://schemas.microsoft.com/office/drawing/2014/main" id="{A87623FE-49BF-101F-1967-3AE24B03E9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77421" y="1854080"/>
            <a:ext cx="853257" cy="15881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266" name="Picture 2" descr="SQL file symbol icon">
            <a:extLst>
              <a:ext uri="{FF2B5EF4-FFF2-40B4-BE49-F238E27FC236}">
                <a16:creationId xmlns:a16="http://schemas.microsoft.com/office/drawing/2014/main" id="{53E6219D-AA6C-6C02-BB8B-A870AB2AD8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13219" y="3576564"/>
            <a:ext cx="1239406" cy="12394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26" descr="Scala (langage) — Wikipédia">
            <a:extLst>
              <a:ext uri="{FF2B5EF4-FFF2-40B4-BE49-F238E27FC236}">
                <a16:creationId xmlns:a16="http://schemas.microsoft.com/office/drawing/2014/main" id="{AB5DF619-6BB6-69D0-9492-55432315ED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13219" y="5225772"/>
            <a:ext cx="1192847" cy="4893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30" descr="Python-Logo-PNG-Image - Indigo.amsterdam">
            <a:extLst>
              <a:ext uri="{FF2B5EF4-FFF2-40B4-BE49-F238E27FC236}">
                <a16:creationId xmlns:a16="http://schemas.microsoft.com/office/drawing/2014/main" id="{E20F4F2F-DF0F-CF3F-EDB3-718B396451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92378" y="5715145"/>
            <a:ext cx="1398098" cy="6990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8101956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14" name="Picture 42" descr="William Ardila, Author at Nub8 » Page 3 of 10">
            <a:extLst>
              <a:ext uri="{FF2B5EF4-FFF2-40B4-BE49-F238E27FC236}">
                <a16:creationId xmlns:a16="http://schemas.microsoft.com/office/drawing/2014/main" id="{24C069AE-274B-40A6-8143-9AD3A8CAC8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88426" y="3479425"/>
            <a:ext cx="2198294" cy="10991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C7D6ADA-481D-4B0B-BB2D-84591DE3AC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7416" y="109239"/>
            <a:ext cx="10515600" cy="2150380"/>
          </a:xfrm>
        </p:spPr>
        <p:txBody>
          <a:bodyPr>
            <a:normAutofit fontScale="90000"/>
          </a:bodyPr>
          <a:lstStyle/>
          <a:p>
            <a:pPr algn="ctr"/>
            <a:r>
              <a:rPr lang="fr-FR" dirty="0"/>
              <a:t>Spark </a:t>
            </a:r>
            <a:r>
              <a:rPr lang="fr-FR" dirty="0" err="1"/>
              <a:t>Core</a:t>
            </a:r>
            <a:br>
              <a:rPr lang="fr-FR" dirty="0"/>
            </a:br>
            <a:r>
              <a:rPr lang="fr-FR" sz="4400" dirty="0" err="1"/>
              <a:t>Unified</a:t>
            </a:r>
            <a:r>
              <a:rPr lang="fr-FR" sz="4400" dirty="0"/>
              <a:t> Engine… </a:t>
            </a:r>
            <a:r>
              <a:rPr lang="fr-FR" sz="4400" dirty="0" err="1"/>
              <a:t>using</a:t>
            </a:r>
            <a:r>
              <a:rPr lang="fr-FR" sz="4400" dirty="0"/>
              <a:t> </a:t>
            </a:r>
            <a:r>
              <a:rPr lang="fr-FR" sz="4400" dirty="0" err="1"/>
              <a:t>Compute</a:t>
            </a:r>
            <a:r>
              <a:rPr lang="fr-FR" sz="4400" dirty="0"/>
              <a:t>  + Storage APIs</a:t>
            </a:r>
            <a:br>
              <a:rPr lang="fr-FR" sz="4400" dirty="0"/>
            </a:br>
            <a:br>
              <a:rPr lang="fr-FR" dirty="0"/>
            </a:br>
            <a:endParaRPr lang="fr-FR" dirty="0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8A11EE00-BD17-486B-84F1-F4066B389DB6}"/>
              </a:ext>
            </a:extLst>
          </p:cNvPr>
          <p:cNvSpPr/>
          <p:nvPr/>
        </p:nvSpPr>
        <p:spPr>
          <a:xfrm>
            <a:off x="4066735" y="3468172"/>
            <a:ext cx="4536440" cy="109914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pic>
        <p:nvPicPr>
          <p:cNvPr id="28" name="Picture 8" descr="Apache Spark — Wikipédia">
            <a:extLst>
              <a:ext uri="{FF2B5EF4-FFF2-40B4-BE49-F238E27FC236}">
                <a16:creationId xmlns:a16="http://schemas.microsoft.com/office/drawing/2014/main" id="{325463C3-864E-4B24-A47A-6841F9BDDD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23935" y="3563714"/>
            <a:ext cx="1731327" cy="8988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92E59BBC-D52E-4509-8664-13081CB07B97}"/>
              </a:ext>
            </a:extLst>
          </p:cNvPr>
          <p:cNvSpPr txBox="1"/>
          <p:nvPr/>
        </p:nvSpPr>
        <p:spPr>
          <a:xfrm>
            <a:off x="6804044" y="3747575"/>
            <a:ext cx="136236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4800" b="1" dirty="0" err="1"/>
              <a:t>Core</a:t>
            </a:r>
            <a:endParaRPr lang="fr-FR" sz="4800" b="1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DCD2F43-729C-467A-AB60-7F402385B607}"/>
              </a:ext>
            </a:extLst>
          </p:cNvPr>
          <p:cNvSpPr txBox="1"/>
          <p:nvPr/>
        </p:nvSpPr>
        <p:spPr>
          <a:xfrm>
            <a:off x="1699281" y="3408737"/>
            <a:ext cx="237744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/>
              <a:t>DataSource</a:t>
            </a:r>
            <a:r>
              <a:rPr lang="fr-FR" dirty="0"/>
              <a:t> </a:t>
            </a:r>
            <a:r>
              <a:rPr lang="fr-FR" dirty="0" err="1"/>
              <a:t>Connectors</a:t>
            </a:r>
            <a:endParaRPr lang="fr-FR" dirty="0"/>
          </a:p>
          <a:p>
            <a:r>
              <a:rPr lang="fr-FR" dirty="0"/>
              <a:t>(Hadoop API)</a:t>
            </a:r>
          </a:p>
        </p:txBody>
      </p:sp>
      <p:sp>
        <p:nvSpPr>
          <p:cNvPr id="17" name="Arrow: Up-Down 16">
            <a:extLst>
              <a:ext uri="{FF2B5EF4-FFF2-40B4-BE49-F238E27FC236}">
                <a16:creationId xmlns:a16="http://schemas.microsoft.com/office/drawing/2014/main" id="{464D4A2D-3DE2-4E7C-8704-15A131902399}"/>
              </a:ext>
            </a:extLst>
          </p:cNvPr>
          <p:cNvSpPr/>
          <p:nvPr/>
        </p:nvSpPr>
        <p:spPr>
          <a:xfrm rot="5400000">
            <a:off x="2571213" y="3736099"/>
            <a:ext cx="357742" cy="861502"/>
          </a:xfrm>
          <a:prstGeom prst="up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F91CE0B-02CA-420A-AB9B-2C62ECC3D764}"/>
              </a:ext>
            </a:extLst>
          </p:cNvPr>
          <p:cNvSpPr txBox="1"/>
          <p:nvPr/>
        </p:nvSpPr>
        <p:spPr>
          <a:xfrm>
            <a:off x="8757841" y="3560821"/>
            <a:ext cx="17357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Cluster Manager</a:t>
            </a:r>
          </a:p>
        </p:txBody>
      </p:sp>
      <p:sp>
        <p:nvSpPr>
          <p:cNvPr id="35" name="Arrow: Up-Down 34">
            <a:extLst>
              <a:ext uri="{FF2B5EF4-FFF2-40B4-BE49-F238E27FC236}">
                <a16:creationId xmlns:a16="http://schemas.microsoft.com/office/drawing/2014/main" id="{8586462E-E6EC-4DF4-A713-3DDF696893CF}"/>
              </a:ext>
            </a:extLst>
          </p:cNvPr>
          <p:cNvSpPr/>
          <p:nvPr/>
        </p:nvSpPr>
        <p:spPr>
          <a:xfrm rot="5400000">
            <a:off x="9448991" y="3736099"/>
            <a:ext cx="357742" cy="861502"/>
          </a:xfrm>
          <a:prstGeom prst="up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3110" name="Picture 38" descr="Présentation Hadoop Distributed File System – Blog technique Groupe SII">
            <a:extLst>
              <a:ext uri="{FF2B5EF4-FFF2-40B4-BE49-F238E27FC236}">
                <a16:creationId xmlns:a16="http://schemas.microsoft.com/office/drawing/2014/main" id="{9F7017BC-137A-4FCD-8921-E6B5B74FD7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3309" y="2945067"/>
            <a:ext cx="1393418" cy="6575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12" name="Picture 40" descr="Upload/Download your Azure Storage files by using Azure Data Lake Storage  Plugin with Workload Automation - WORKLOAD AUTOMATION COMMUNITY">
            <a:extLst>
              <a:ext uri="{FF2B5EF4-FFF2-40B4-BE49-F238E27FC236}">
                <a16:creationId xmlns:a16="http://schemas.microsoft.com/office/drawing/2014/main" id="{0B969055-5D95-4028-A24A-382729740E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722" y="4116883"/>
            <a:ext cx="1447594" cy="8364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0" name="Picture 2">
            <a:extLst>
              <a:ext uri="{FF2B5EF4-FFF2-40B4-BE49-F238E27FC236}">
                <a16:creationId xmlns:a16="http://schemas.microsoft.com/office/drawing/2014/main" id="{A5CFE9A7-290C-4F7A-9224-0482F98638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37151" y="4393211"/>
            <a:ext cx="896605" cy="8752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16" name="Picture 44" descr="How to Run an Application on Spark Standalone Cluster | by Chuan Xu | Medium">
            <a:extLst>
              <a:ext uri="{FF2B5EF4-FFF2-40B4-BE49-F238E27FC236}">
                <a16:creationId xmlns:a16="http://schemas.microsoft.com/office/drawing/2014/main" id="{520B4716-BD3D-4BD0-8364-B874A91B34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94931" y="2789528"/>
            <a:ext cx="1676749" cy="9431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18" name="Picture 46">
            <a:extLst>
              <a:ext uri="{FF2B5EF4-FFF2-40B4-BE49-F238E27FC236}">
                <a16:creationId xmlns:a16="http://schemas.microsoft.com/office/drawing/2014/main" id="{6A2E18B7-D45F-4F5A-8B3D-A62E9BD9EB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140" y="4924591"/>
            <a:ext cx="698767" cy="571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20" name="Picture 48" descr="Apache Iceberg">
            <a:extLst>
              <a:ext uri="{FF2B5EF4-FFF2-40B4-BE49-F238E27FC236}">
                <a16:creationId xmlns:a16="http://schemas.microsoft.com/office/drawing/2014/main" id="{709A7303-EE0C-4A11-9528-76B24460E9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2076" y="4967187"/>
            <a:ext cx="1447594" cy="3944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08" name="Picture 36" descr="Amazon S3 101. S3 is a Simple Storage Service that is… | by Vedha Sankar |  featurepreneur | Medium">
            <a:extLst>
              <a:ext uri="{FF2B5EF4-FFF2-40B4-BE49-F238E27FC236}">
                <a16:creationId xmlns:a16="http://schemas.microsoft.com/office/drawing/2014/main" id="{EE95ED07-F5BA-4E14-8407-5AC42A2591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5783" y="3570061"/>
            <a:ext cx="903472" cy="6767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 descr="Gear Vector Art, Icons, and Graphics for Free Download">
            <a:extLst>
              <a:ext uri="{FF2B5EF4-FFF2-40B4-BE49-F238E27FC236}">
                <a16:creationId xmlns:a16="http://schemas.microsoft.com/office/drawing/2014/main" id="{BB19F12F-D72A-7D3B-3A0D-A1EC9AE227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62171" y="2070952"/>
            <a:ext cx="1257518" cy="12575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9144896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1B718F9-8F9D-4163-A27A-CE50177F66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fr-FR" dirty="0"/>
              <a:t>Post-Spark Area ?  </a:t>
            </a:r>
            <a:br>
              <a:rPr lang="fr-FR" dirty="0"/>
            </a:br>
            <a:r>
              <a:rPr lang="fr-FR" dirty="0"/>
              <a:t>&gt;= 2026 and </a:t>
            </a:r>
            <a:r>
              <a:rPr lang="fr-FR" dirty="0" err="1"/>
              <a:t>beyound</a:t>
            </a:r>
            <a:r>
              <a:rPr lang="fr-FR" dirty="0"/>
              <a:t> ? 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6D639257-31D0-4E75-AC5F-48F2D0648D1C}"/>
              </a:ext>
            </a:extLst>
          </p:cNvPr>
          <p:cNvSpPr txBox="1"/>
          <p:nvPr/>
        </p:nvSpPr>
        <p:spPr>
          <a:xfrm>
            <a:off x="10089967" y="2779416"/>
            <a:ext cx="1959896" cy="37856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fr-FR" sz="2400" b="1" dirty="0"/>
              <a:t>Spark</a:t>
            </a:r>
          </a:p>
          <a:p>
            <a:pPr algn="ctr"/>
            <a:r>
              <a:rPr lang="fr-FR" sz="2400" b="1" dirty="0" err="1"/>
              <a:t>Databricks</a:t>
            </a:r>
            <a:endParaRPr lang="fr-FR" sz="2400" b="1" dirty="0"/>
          </a:p>
          <a:p>
            <a:pPr algn="ctr"/>
            <a:r>
              <a:rPr lang="fr-FR" sz="2400" b="1" dirty="0" err="1"/>
              <a:t>DuckDB</a:t>
            </a:r>
            <a:endParaRPr lang="fr-FR" sz="2400" b="1" dirty="0"/>
          </a:p>
          <a:p>
            <a:pPr algn="ctr"/>
            <a:r>
              <a:rPr lang="fr-FR" sz="2400" b="1" dirty="0" err="1"/>
              <a:t>ClickHouse</a:t>
            </a:r>
            <a:endParaRPr lang="fr-FR" sz="2400" b="1" dirty="0"/>
          </a:p>
          <a:p>
            <a:pPr algn="ctr"/>
            <a:r>
              <a:rPr lang="fr-FR" sz="2400" b="1" dirty="0" err="1"/>
              <a:t>Velox</a:t>
            </a:r>
            <a:r>
              <a:rPr lang="fr-FR" sz="2400" b="1" dirty="0"/>
              <a:t>, Photon</a:t>
            </a:r>
          </a:p>
          <a:p>
            <a:pPr algn="ctr"/>
            <a:r>
              <a:rPr lang="fr-FR" sz="2400" b="1" dirty="0"/>
              <a:t>Arrow</a:t>
            </a:r>
          </a:p>
          <a:p>
            <a:pPr algn="ctr"/>
            <a:r>
              <a:rPr lang="fr-FR" sz="2400" b="1" dirty="0" err="1"/>
              <a:t>DataFusion</a:t>
            </a:r>
            <a:endParaRPr lang="fr-FR" sz="2400" b="1" dirty="0"/>
          </a:p>
          <a:p>
            <a:pPr algn="ctr"/>
            <a:r>
              <a:rPr lang="fr-FR" sz="2400" b="1" dirty="0"/>
              <a:t>Presto</a:t>
            </a:r>
          </a:p>
          <a:p>
            <a:pPr algn="ctr"/>
            <a:r>
              <a:rPr lang="fr-FR" sz="2400" b="1" dirty="0"/>
              <a:t>Trino</a:t>
            </a:r>
            <a:br>
              <a:rPr lang="fr-FR" sz="2400" b="1" dirty="0"/>
            </a:br>
            <a:r>
              <a:rPr lang="fr-FR" sz="2400" b="1" dirty="0"/>
              <a:t>…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52C0684E-41D4-405F-AE47-7C6EFFC5F6A7}"/>
              </a:ext>
            </a:extLst>
          </p:cNvPr>
          <p:cNvSpPr txBox="1"/>
          <p:nvPr/>
        </p:nvSpPr>
        <p:spPr>
          <a:xfrm>
            <a:off x="5628332" y="4126748"/>
            <a:ext cx="14191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fr-FR" b="1" dirty="0"/>
              <a:t>« One Lake »</a:t>
            </a:r>
          </a:p>
        </p:txBody>
      </p:sp>
      <p:pic>
        <p:nvPicPr>
          <p:cNvPr id="3074" name="Picture 2" descr="BigQuery Logo and symbol, meaning ...">
            <a:extLst>
              <a:ext uri="{FF2B5EF4-FFF2-40B4-BE49-F238E27FC236}">
                <a16:creationId xmlns:a16="http://schemas.microsoft.com/office/drawing/2014/main" id="{48A5C435-CFA7-43C5-86E4-B821690C3B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53" y="2675720"/>
            <a:ext cx="2660855" cy="14900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ZoneTexte 8">
            <a:extLst>
              <a:ext uri="{FF2B5EF4-FFF2-40B4-BE49-F238E27FC236}">
                <a16:creationId xmlns:a16="http://schemas.microsoft.com/office/drawing/2014/main" id="{8D65DF55-2AE8-4236-B47B-8AC638540071}"/>
              </a:ext>
            </a:extLst>
          </p:cNvPr>
          <p:cNvSpPr txBox="1"/>
          <p:nvPr/>
        </p:nvSpPr>
        <p:spPr>
          <a:xfrm>
            <a:off x="4966019" y="6308209"/>
            <a:ext cx="20206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fr-FR" b="1" dirty="0"/>
              <a:t>« </a:t>
            </a:r>
            <a:r>
              <a:rPr lang="fr-FR" b="1" dirty="0" err="1"/>
              <a:t>DataLakeHouse</a:t>
            </a:r>
            <a:r>
              <a:rPr lang="fr-FR" b="1" dirty="0"/>
              <a:t> »</a:t>
            </a:r>
          </a:p>
        </p:txBody>
      </p:sp>
      <p:pic>
        <p:nvPicPr>
          <p:cNvPr id="3076" name="Picture 4" descr="Snowflake Logo, symbol, meaning ...">
            <a:extLst>
              <a:ext uri="{FF2B5EF4-FFF2-40B4-BE49-F238E27FC236}">
                <a16:creationId xmlns:a16="http://schemas.microsoft.com/office/drawing/2014/main" id="{D94B870C-A366-4C30-9A9D-6621F5A7B0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11274" y="2906077"/>
            <a:ext cx="2103070" cy="11777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 descr="Dataverse to Microsoft Fabric Lakehouse ...">
            <a:extLst>
              <a:ext uri="{FF2B5EF4-FFF2-40B4-BE49-F238E27FC236}">
                <a16:creationId xmlns:a16="http://schemas.microsoft.com/office/drawing/2014/main" id="{889C326C-62FD-4DB6-9D7E-34A979D3F8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08369" y="2926880"/>
            <a:ext cx="2059035" cy="11569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ZoneTexte 7">
            <a:extLst>
              <a:ext uri="{FF2B5EF4-FFF2-40B4-BE49-F238E27FC236}">
                <a16:creationId xmlns:a16="http://schemas.microsoft.com/office/drawing/2014/main" id="{589C348B-4A0F-4B93-ACCE-4A457CB097FC}"/>
              </a:ext>
            </a:extLst>
          </p:cNvPr>
          <p:cNvSpPr txBox="1"/>
          <p:nvPr/>
        </p:nvSpPr>
        <p:spPr>
          <a:xfrm>
            <a:off x="10387092" y="2070196"/>
            <a:ext cx="161313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/>
              <a:t>Other</a:t>
            </a:r>
            <a:r>
              <a:rPr lang="fr-FR" dirty="0"/>
              <a:t> « Pure » </a:t>
            </a:r>
          </a:p>
          <a:p>
            <a:r>
              <a:rPr lang="fr-FR" dirty="0" err="1"/>
              <a:t>Query</a:t>
            </a:r>
            <a:r>
              <a:rPr lang="fr-FR" dirty="0"/>
              <a:t> Engines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E13EBCD9-1C5E-4CD6-BC37-5BCF605D6D78}"/>
              </a:ext>
            </a:extLst>
          </p:cNvPr>
          <p:cNvSpPr txBox="1"/>
          <p:nvPr/>
        </p:nvSpPr>
        <p:spPr>
          <a:xfrm>
            <a:off x="592744" y="2208696"/>
            <a:ext cx="39712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(</a:t>
            </a:r>
            <a:r>
              <a:rPr lang="fr-FR" dirty="0" err="1"/>
              <a:t>Hidden</a:t>
            </a:r>
            <a:r>
              <a:rPr lang="fr-FR" dirty="0"/>
              <a:t> Opaque Storage) </a:t>
            </a:r>
            <a:r>
              <a:rPr lang="fr-FR" dirty="0" err="1"/>
              <a:t>Query</a:t>
            </a:r>
            <a:r>
              <a:rPr lang="fr-FR" dirty="0"/>
              <a:t> Engines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7ED30580-BD30-46AA-95A9-9A24B93771DD}"/>
              </a:ext>
            </a:extLst>
          </p:cNvPr>
          <p:cNvSpPr txBox="1"/>
          <p:nvPr/>
        </p:nvSpPr>
        <p:spPr>
          <a:xfrm>
            <a:off x="5149945" y="2144451"/>
            <a:ext cx="269304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/>
              <a:t>Hybrid</a:t>
            </a:r>
            <a:r>
              <a:rPr lang="fr-FR" dirty="0"/>
              <a:t> </a:t>
            </a:r>
            <a:r>
              <a:rPr lang="fr-FR" dirty="0" err="1"/>
              <a:t>LakeHouse</a:t>
            </a:r>
            <a:r>
              <a:rPr lang="fr-FR" dirty="0"/>
              <a:t> Storage </a:t>
            </a:r>
          </a:p>
          <a:p>
            <a:r>
              <a:rPr lang="fr-FR" dirty="0"/>
              <a:t>+ </a:t>
            </a:r>
            <a:r>
              <a:rPr lang="fr-FR" dirty="0" err="1"/>
              <a:t>Query</a:t>
            </a:r>
            <a:r>
              <a:rPr lang="fr-FR" dirty="0"/>
              <a:t> Engines</a:t>
            </a:r>
          </a:p>
        </p:txBody>
      </p:sp>
      <p:pic>
        <p:nvPicPr>
          <p:cNvPr id="3080" name="Picture 8" descr="Apache Iceberg - Apache Iceberg™">
            <a:extLst>
              <a:ext uri="{FF2B5EF4-FFF2-40B4-BE49-F238E27FC236}">
                <a16:creationId xmlns:a16="http://schemas.microsoft.com/office/drawing/2014/main" id="{31EDE6DA-1C03-4BF7-A559-72BB0E58CE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45595" y="5150832"/>
            <a:ext cx="4105275" cy="1114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ZoneTexte 17">
            <a:extLst>
              <a:ext uri="{FF2B5EF4-FFF2-40B4-BE49-F238E27FC236}">
                <a16:creationId xmlns:a16="http://schemas.microsoft.com/office/drawing/2014/main" id="{C4FD723F-54C1-42C7-ADE6-31DC70829FDC}"/>
              </a:ext>
            </a:extLst>
          </p:cNvPr>
          <p:cNvSpPr txBox="1"/>
          <p:nvPr/>
        </p:nvSpPr>
        <p:spPr>
          <a:xfrm>
            <a:off x="8189309" y="2795115"/>
            <a:ext cx="1454885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fr-FR" sz="2400" b="1" dirty="0"/>
              <a:t>Doris</a:t>
            </a:r>
          </a:p>
          <a:p>
            <a:pPr algn="ctr"/>
            <a:r>
              <a:rPr lang="fr-FR" sz="2400" b="1" dirty="0"/>
              <a:t>Pinot</a:t>
            </a:r>
          </a:p>
          <a:p>
            <a:pPr algn="ctr"/>
            <a:r>
              <a:rPr lang="fr-FR" sz="2400" b="1" dirty="0" err="1"/>
              <a:t>Aerospike</a:t>
            </a:r>
            <a:endParaRPr lang="fr-FR" sz="2400" b="1" dirty="0"/>
          </a:p>
          <a:p>
            <a:pPr algn="ctr"/>
            <a:r>
              <a:rPr lang="fr-FR" sz="2400" b="1" dirty="0"/>
              <a:t>…</a:t>
            </a:r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6AC55293-D561-4616-8129-8040D69B126D}"/>
              </a:ext>
            </a:extLst>
          </p:cNvPr>
          <p:cNvSpPr txBox="1"/>
          <p:nvPr/>
        </p:nvSpPr>
        <p:spPr>
          <a:xfrm>
            <a:off x="8376426" y="2118066"/>
            <a:ext cx="170707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Storage</a:t>
            </a:r>
          </a:p>
          <a:p>
            <a:r>
              <a:rPr lang="fr-FR" dirty="0"/>
              <a:t>+ </a:t>
            </a:r>
            <a:r>
              <a:rPr lang="fr-FR" dirty="0" err="1"/>
              <a:t>Query</a:t>
            </a:r>
            <a:r>
              <a:rPr lang="fr-FR" dirty="0"/>
              <a:t> Engines</a:t>
            </a:r>
          </a:p>
        </p:txBody>
      </p:sp>
    </p:spTree>
    <p:extLst>
      <p:ext uri="{BB962C8B-B14F-4D97-AF65-F5344CB8AC3E}">
        <p14:creationId xmlns:p14="http://schemas.microsoft.com/office/powerpoint/2010/main" val="3748761284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9456B0-71A4-CF8C-E88D-0B1478AC2D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0001"/>
            <a:ext cx="10515600" cy="1325563"/>
          </a:xfrm>
        </p:spPr>
        <p:txBody>
          <a:bodyPr/>
          <a:lstStyle/>
          <a:p>
            <a:pPr algn="ctr"/>
            <a:r>
              <a:rPr lang="fr-FR" dirty="0" err="1"/>
              <a:t>Outline</a:t>
            </a:r>
            <a:endParaRPr lang="fr-F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D800C1-B011-5B30-76B4-9FA377D888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60914" y="1630439"/>
            <a:ext cx="9139161" cy="4862436"/>
          </a:xfrm>
        </p:spPr>
        <p:txBody>
          <a:bodyPr>
            <a:normAutofit fontScale="92500" lnSpcReduction="10000"/>
          </a:bodyPr>
          <a:lstStyle/>
          <a:p>
            <a:r>
              <a:rPr lang="fr-FR" dirty="0" err="1"/>
              <a:t>What</a:t>
            </a:r>
            <a:r>
              <a:rPr lang="fr-FR" dirty="0"/>
              <a:t> </a:t>
            </a:r>
            <a:r>
              <a:rPr lang="fr-FR" dirty="0" err="1"/>
              <a:t>is</a:t>
            </a:r>
            <a:r>
              <a:rPr lang="fr-FR" dirty="0"/>
              <a:t> </a:t>
            </a:r>
            <a:r>
              <a:rPr lang="fr-FR" dirty="0" err="1"/>
              <a:t>BigData</a:t>
            </a:r>
            <a:r>
              <a:rPr lang="fr-FR" dirty="0"/>
              <a:t> ?</a:t>
            </a:r>
          </a:p>
          <a:p>
            <a:pPr lvl="1"/>
            <a:r>
              <a:rPr lang="fr-FR" dirty="0" err="1"/>
              <a:t>Order</a:t>
            </a:r>
            <a:r>
              <a:rPr lang="fr-FR" dirty="0"/>
              <a:t> of Magnitudes for « Big »</a:t>
            </a:r>
          </a:p>
          <a:p>
            <a:pPr lvl="1"/>
            <a:r>
              <a:rPr lang="fr-FR" dirty="0"/>
              <a:t>Distributed System challenges</a:t>
            </a:r>
          </a:p>
          <a:p>
            <a:pPr lvl="1"/>
            <a:r>
              <a:rPr lang="fr-FR" dirty="0" err="1"/>
              <a:t>Scaling</a:t>
            </a:r>
            <a:r>
              <a:rPr lang="fr-FR" dirty="0"/>
              <a:t> Storage </a:t>
            </a:r>
            <a:r>
              <a:rPr lang="fr-FR" dirty="0" err="1"/>
              <a:t>Resources</a:t>
            </a:r>
            <a:r>
              <a:rPr lang="fr-FR" dirty="0"/>
              <a:t>: </a:t>
            </a:r>
            <a:r>
              <a:rPr lang="fr-FR" dirty="0" err="1"/>
              <a:t>Hdfs</a:t>
            </a:r>
            <a:endParaRPr lang="fr-FR" dirty="0"/>
          </a:p>
          <a:p>
            <a:pPr lvl="1"/>
            <a:r>
              <a:rPr lang="fr-FR" dirty="0" err="1"/>
              <a:t>Scaling</a:t>
            </a:r>
            <a:r>
              <a:rPr lang="fr-FR" dirty="0"/>
              <a:t> </a:t>
            </a:r>
            <a:r>
              <a:rPr lang="fr-FR" dirty="0" err="1"/>
              <a:t>Compute</a:t>
            </a:r>
            <a:r>
              <a:rPr lang="fr-FR" dirty="0"/>
              <a:t> </a:t>
            </a:r>
            <a:r>
              <a:rPr lang="fr-FR" dirty="0" err="1"/>
              <a:t>Resources</a:t>
            </a:r>
            <a:r>
              <a:rPr lang="fr-FR" dirty="0"/>
              <a:t>: </a:t>
            </a:r>
            <a:r>
              <a:rPr lang="fr-FR" dirty="0" err="1"/>
              <a:t>Yarn</a:t>
            </a:r>
            <a:r>
              <a:rPr lang="fr-FR" dirty="0"/>
              <a:t>, </a:t>
            </a:r>
            <a:r>
              <a:rPr lang="fr-FR" dirty="0" err="1"/>
              <a:t>Kubernetes</a:t>
            </a:r>
            <a:endParaRPr lang="fr-FR" dirty="0"/>
          </a:p>
          <a:p>
            <a:pPr lvl="1"/>
            <a:r>
              <a:rPr lang="fr-FR" dirty="0" err="1"/>
              <a:t>Using</a:t>
            </a:r>
            <a:r>
              <a:rPr lang="fr-FR" dirty="0"/>
              <a:t> Storage – </a:t>
            </a:r>
            <a:r>
              <a:rPr lang="fr-FR" dirty="0" err="1"/>
              <a:t>Compute</a:t>
            </a:r>
            <a:r>
              <a:rPr lang="fr-FR" dirty="0"/>
              <a:t> apis</a:t>
            </a:r>
          </a:p>
          <a:p>
            <a:pPr lvl="1"/>
            <a:r>
              <a:rPr lang="fr-FR" sz="2800" b="1" dirty="0"/>
              <a:t>Evolution of Softwares – Hadoop </a:t>
            </a:r>
            <a:r>
              <a:rPr lang="fr-FR" sz="2800" b="1" dirty="0" err="1"/>
              <a:t>Ecosystem</a:t>
            </a:r>
            <a:r>
              <a:rPr lang="fr-FR" sz="2800" b="1" dirty="0"/>
              <a:t>, Spark</a:t>
            </a:r>
          </a:p>
          <a:p>
            <a:r>
              <a:rPr lang="fr-FR" dirty="0"/>
              <a:t>Description of a </a:t>
            </a:r>
            <a:r>
              <a:rPr lang="fr-FR" dirty="0" err="1"/>
              <a:t>Datalake</a:t>
            </a:r>
            <a:endParaRPr lang="fr-FR" dirty="0"/>
          </a:p>
          <a:p>
            <a:pPr lvl="1"/>
            <a:r>
              <a:rPr lang="fr-FR" dirty="0"/>
              <a:t>Content</a:t>
            </a:r>
          </a:p>
          <a:p>
            <a:pPr lvl="1"/>
            <a:r>
              <a:rPr lang="fr-FR" dirty="0"/>
              <a:t>Usages</a:t>
            </a:r>
          </a:p>
          <a:p>
            <a:r>
              <a:rPr lang="fr-FR" dirty="0"/>
              <a:t>Example of Data-</a:t>
            </a:r>
            <a:r>
              <a:rPr lang="fr-FR" dirty="0" err="1"/>
              <a:t>Processing</a:t>
            </a:r>
            <a:endParaRPr lang="fr-FR" dirty="0"/>
          </a:p>
          <a:p>
            <a:pPr lvl="1"/>
            <a:r>
              <a:rPr lang="fr-FR" dirty="0"/>
              <a:t>RAW to LAKE, Reports</a:t>
            </a:r>
          </a:p>
          <a:p>
            <a:r>
              <a:rPr lang="fr-FR" dirty="0"/>
              <a:t>Change Storage-</a:t>
            </a:r>
            <a:r>
              <a:rPr lang="fr-FR" dirty="0" err="1"/>
              <a:t>Compute</a:t>
            </a:r>
            <a:r>
              <a:rPr lang="fr-FR" dirty="0"/>
              <a:t>, Evolution to Cloud</a:t>
            </a:r>
          </a:p>
        </p:txBody>
      </p:sp>
      <p:sp>
        <p:nvSpPr>
          <p:cNvPr id="4" name="Arrow: Right 3">
            <a:extLst>
              <a:ext uri="{FF2B5EF4-FFF2-40B4-BE49-F238E27FC236}">
                <a16:creationId xmlns:a16="http://schemas.microsoft.com/office/drawing/2014/main" id="{DDD0192B-78FC-DA6C-C265-8EE665F30D7C}"/>
              </a:ext>
            </a:extLst>
          </p:cNvPr>
          <p:cNvSpPr/>
          <p:nvPr/>
        </p:nvSpPr>
        <p:spPr>
          <a:xfrm>
            <a:off x="2250701" y="3671040"/>
            <a:ext cx="710213" cy="39061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423059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639FE9-C1A2-E019-6BD7-18C235E9FD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7190" y="2167343"/>
            <a:ext cx="10515600" cy="2090997"/>
          </a:xfrm>
        </p:spPr>
        <p:txBody>
          <a:bodyPr>
            <a:normAutofit/>
          </a:bodyPr>
          <a:lstStyle/>
          <a:p>
            <a:pPr algn="ctr"/>
            <a:r>
              <a:rPr lang="fr-FR" dirty="0"/>
              <a:t>How Softwares </a:t>
            </a:r>
            <a:r>
              <a:rPr lang="fr-FR" dirty="0" err="1"/>
              <a:t>evolve</a:t>
            </a:r>
            <a:r>
              <a:rPr lang="fr-FR" dirty="0"/>
              <a:t> to </a:t>
            </a:r>
            <a:r>
              <a:rPr lang="fr-FR" dirty="0" err="1"/>
              <a:t>handle</a:t>
            </a:r>
            <a:r>
              <a:rPr lang="fr-FR" dirty="0"/>
              <a:t> </a:t>
            </a:r>
            <a:r>
              <a:rPr lang="fr-FR" dirty="0" err="1"/>
              <a:t>BigData</a:t>
            </a:r>
            <a:r>
              <a:rPr lang="fr-FR" dirty="0"/>
              <a:t> ?</a:t>
            </a:r>
            <a:br>
              <a:rPr lang="fr-FR" dirty="0"/>
            </a:br>
            <a:br>
              <a:rPr lang="fr-FR" dirty="0"/>
            </a:br>
            <a:r>
              <a:rPr lang="fr-FR" dirty="0" err="1"/>
              <a:t>Which</a:t>
            </a:r>
            <a:r>
              <a:rPr lang="fr-FR" dirty="0"/>
              <a:t> </a:t>
            </a:r>
            <a:r>
              <a:rPr lang="fr-FR" dirty="0" err="1"/>
              <a:t>ones</a:t>
            </a:r>
            <a:r>
              <a:rPr lang="fr-FR" dirty="0"/>
              <a:t> to use </a:t>
            </a:r>
            <a:r>
              <a:rPr lang="fr-FR" dirty="0" err="1"/>
              <a:t>today</a:t>
            </a:r>
            <a:r>
              <a:rPr lang="fr-FR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3118348749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68E67F-BB4E-47F8-A959-07907A5D2D14}"/>
              </a:ext>
            </a:extLst>
          </p:cNvPr>
          <p:cNvSpPr txBox="1">
            <a:spLocks/>
          </p:cNvSpPr>
          <p:nvPr/>
        </p:nvSpPr>
        <p:spPr>
          <a:xfrm>
            <a:off x="215" y="-305897"/>
            <a:ext cx="12222464" cy="142341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="ctr"/>
          <a:lstStyle>
            <a:lvl1pPr algn="ctr" rtl="0" hangingPunct="0">
              <a:tabLst/>
              <a:defRPr lang="fr-FR" sz="4400" b="0" i="0" u="none" strike="noStrike" kern="1200" cap="none">
                <a:ln>
                  <a:noFill/>
                </a:ln>
                <a:highlight>
                  <a:scrgbClr r="0" g="0" b="0">
                    <a:alpha val="0"/>
                  </a:scrgbClr>
                </a:highlight>
                <a:latin typeface="Liberation Sans" pitchFamily="18"/>
                <a:ea typeface="Microsoft YaHei" pitchFamily="2"/>
              </a:defRPr>
            </a:lvl1pPr>
          </a:lstStyle>
          <a:p>
            <a:r>
              <a:rPr lang="fr-FR" sz="5321" dirty="0">
                <a:solidFill>
                  <a:sysClr val="windowText" lastClr="000000"/>
                </a:solidFill>
              </a:rPr>
              <a:t>Hadoop </a:t>
            </a:r>
            <a:r>
              <a:rPr lang="fr-FR" sz="5321" dirty="0" err="1">
                <a:solidFill>
                  <a:sysClr val="windowText" lastClr="000000"/>
                </a:solidFill>
              </a:rPr>
              <a:t>Ecosystem</a:t>
            </a:r>
            <a:r>
              <a:rPr lang="fr-FR" sz="5321" dirty="0">
                <a:solidFill>
                  <a:sysClr val="windowText" lastClr="000000"/>
                </a:solidFill>
              </a:rPr>
              <a:t> « Explosion »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29436F1-93C1-4620-88FF-6C7CDA7B1F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6282" y="884343"/>
            <a:ext cx="10988239" cy="57342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2432956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989721-285D-40B3-9058-00C32087A2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/>
              <a:t>Spark (</a:t>
            </a:r>
            <a:r>
              <a:rPr lang="fr-FR" dirty="0" err="1"/>
              <a:t>Recent</a:t>
            </a:r>
            <a:r>
              <a:rPr lang="fr-FR" dirty="0"/>
              <a:t>) </a:t>
            </a:r>
            <a:r>
              <a:rPr lang="fr-FR" dirty="0" err="1"/>
              <a:t>History</a:t>
            </a:r>
            <a:r>
              <a:rPr lang="fr-FR" dirty="0"/>
              <a:t> &amp; </a:t>
            </a:r>
            <a:r>
              <a:rPr lang="fr-FR" dirty="0" err="1"/>
              <a:t>Ancestors</a:t>
            </a:r>
            <a:endParaRPr lang="fr-FR" dirty="0"/>
          </a:p>
        </p:txBody>
      </p:sp>
      <p:sp>
        <p:nvSpPr>
          <p:cNvPr id="4" name="Arrow: Right 3">
            <a:extLst>
              <a:ext uri="{FF2B5EF4-FFF2-40B4-BE49-F238E27FC236}">
                <a16:creationId xmlns:a16="http://schemas.microsoft.com/office/drawing/2014/main" id="{9AD73F8F-B96E-4C3A-8B71-E9ACDA380287}"/>
              </a:ext>
            </a:extLst>
          </p:cNvPr>
          <p:cNvSpPr/>
          <p:nvPr/>
        </p:nvSpPr>
        <p:spPr>
          <a:xfrm>
            <a:off x="889855" y="1762016"/>
            <a:ext cx="5582911" cy="364940"/>
          </a:xfrm>
          <a:prstGeom prst="rightArrow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2CF9C89-0903-4862-A464-6FEFE0FA75AF}"/>
              </a:ext>
            </a:extLst>
          </p:cNvPr>
          <p:cNvSpPr txBox="1"/>
          <p:nvPr/>
        </p:nvSpPr>
        <p:spPr>
          <a:xfrm>
            <a:off x="621461" y="2126955"/>
            <a:ext cx="105830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/>
              <a:t>2002</a:t>
            </a:r>
            <a:r>
              <a:rPr lang="fr-FR" dirty="0"/>
              <a:t>  </a:t>
            </a:r>
            <a:br>
              <a:rPr lang="fr-FR" dirty="0"/>
            </a:br>
            <a:r>
              <a:rPr lang="fr-FR" dirty="0"/>
              <a:t>@Google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2E5DCE6-D6E7-457D-ADEE-4FF973A598F8}"/>
              </a:ext>
            </a:extLst>
          </p:cNvPr>
          <p:cNvSpPr txBox="1"/>
          <p:nvPr/>
        </p:nvSpPr>
        <p:spPr>
          <a:xfrm>
            <a:off x="1751533" y="2169864"/>
            <a:ext cx="169937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/>
              <a:t>2004</a:t>
            </a:r>
            <a:r>
              <a:rPr lang="fr-FR" dirty="0"/>
              <a:t>  Google </a:t>
            </a:r>
          </a:p>
          <a:p>
            <a:r>
              <a:rPr lang="fr-FR" dirty="0"/>
              <a:t>Paper </a:t>
            </a:r>
            <a:r>
              <a:rPr lang="fr-FR" dirty="0" err="1"/>
              <a:t>published</a:t>
            </a:r>
            <a:endParaRPr lang="fr-FR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8409E70-1DE4-4215-B974-1D51ED036A2E}"/>
              </a:ext>
            </a:extLst>
          </p:cNvPr>
          <p:cNvSpPr txBox="1"/>
          <p:nvPr/>
        </p:nvSpPr>
        <p:spPr>
          <a:xfrm>
            <a:off x="5877251" y="2153885"/>
            <a:ext cx="292996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/>
              <a:t>2014</a:t>
            </a:r>
            <a:r>
              <a:rPr lang="fr-FR" dirty="0"/>
              <a:t> Google</a:t>
            </a:r>
          </a:p>
          <a:p>
            <a:r>
              <a:rPr lang="fr-FR" dirty="0"/>
              <a:t>No more </a:t>
            </a:r>
            <a:r>
              <a:rPr lang="fr-FR" dirty="0" err="1"/>
              <a:t>used</a:t>
            </a:r>
            <a:r>
              <a:rPr lang="fr-FR" dirty="0"/>
              <a:t> of MapReduce</a:t>
            </a:r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3D6D9F58-C2EB-4F61-BC7E-2D130BFFC257}"/>
              </a:ext>
            </a:extLst>
          </p:cNvPr>
          <p:cNvSpPr/>
          <p:nvPr/>
        </p:nvSpPr>
        <p:spPr>
          <a:xfrm>
            <a:off x="2820341" y="3427615"/>
            <a:ext cx="5511323" cy="364940"/>
          </a:xfrm>
          <a:prstGeom prst="rightArrow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0667BAD-4AC1-44CC-A71E-83004C2B8857}"/>
              </a:ext>
            </a:extLst>
          </p:cNvPr>
          <p:cNvSpPr txBox="1"/>
          <p:nvPr/>
        </p:nvSpPr>
        <p:spPr>
          <a:xfrm>
            <a:off x="2411776" y="3750780"/>
            <a:ext cx="25356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/>
              <a:t>2006</a:t>
            </a:r>
            <a:r>
              <a:rPr lang="fr-FR" dirty="0"/>
              <a:t>  @Yahoo</a:t>
            </a:r>
          </a:p>
          <a:p>
            <a:r>
              <a:rPr lang="fr-FR" dirty="0"/>
              <a:t>Hadoop  </a:t>
            </a:r>
            <a:r>
              <a:rPr lang="fr-FR" dirty="0" err="1"/>
              <a:t>implementation</a:t>
            </a:r>
            <a:endParaRPr lang="fr-FR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2CDD4AC-7942-4C7B-A8D3-2DF3266077D0}"/>
              </a:ext>
            </a:extLst>
          </p:cNvPr>
          <p:cNvSpPr txBox="1"/>
          <p:nvPr/>
        </p:nvSpPr>
        <p:spPr>
          <a:xfrm>
            <a:off x="8320325" y="3218315"/>
            <a:ext cx="3525965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/>
              <a:t>2021</a:t>
            </a:r>
            <a:r>
              <a:rPr lang="fr-FR" dirty="0"/>
              <a:t> MapReduce bashing </a:t>
            </a:r>
          </a:p>
          <a:p>
            <a:r>
              <a:rPr lang="fr-FR" dirty="0"/>
              <a:t>… HDFS &amp; Hadoop </a:t>
            </a:r>
            <a:r>
              <a:rPr lang="fr-FR" dirty="0" err="1"/>
              <a:t>also</a:t>
            </a:r>
            <a:endParaRPr lang="fr-FR" dirty="0"/>
          </a:p>
          <a:p>
            <a:r>
              <a:rPr lang="fr-FR" dirty="0" err="1"/>
              <a:t>HortonWork</a:t>
            </a:r>
            <a:r>
              <a:rPr lang="fr-FR" dirty="0"/>
              <a:t> </a:t>
            </a:r>
            <a:r>
              <a:rPr lang="fr-FR" dirty="0" err="1"/>
              <a:t>bought</a:t>
            </a:r>
            <a:r>
              <a:rPr lang="fr-FR" dirty="0"/>
              <a:t> by Cloudera</a:t>
            </a:r>
            <a:br>
              <a:rPr lang="fr-FR" dirty="0"/>
            </a:br>
            <a:r>
              <a:rPr lang="fr-FR" dirty="0" err="1"/>
              <a:t>HDInsight</a:t>
            </a:r>
            <a:r>
              <a:rPr lang="fr-FR" dirty="0"/>
              <a:t> @Azure…very </a:t>
            </a:r>
            <a:r>
              <a:rPr lang="fr-FR" dirty="0" err="1"/>
              <a:t>bad</a:t>
            </a:r>
            <a:r>
              <a:rPr lang="fr-FR" dirty="0"/>
              <a:t> </a:t>
            </a:r>
            <a:r>
              <a:rPr lang="fr-FR" dirty="0" err="1"/>
              <a:t>choice</a:t>
            </a:r>
            <a:endParaRPr lang="fr-FR" dirty="0"/>
          </a:p>
          <a:p>
            <a:r>
              <a:rPr lang="fr-FR" dirty="0"/>
              <a:t>      .. To </a:t>
            </a:r>
            <a:r>
              <a:rPr lang="fr-FR" dirty="0" err="1"/>
              <a:t>be</a:t>
            </a:r>
            <a:r>
              <a:rPr lang="fr-FR" dirty="0"/>
              <a:t> </a:t>
            </a:r>
            <a:r>
              <a:rPr lang="fr-FR" dirty="0" err="1"/>
              <a:t>abandonned</a:t>
            </a:r>
            <a:endParaRPr lang="fr-FR" dirty="0"/>
          </a:p>
          <a:p>
            <a:endParaRPr lang="fr-FR" dirty="0"/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287B9C61-9D58-4430-B436-7331490D2E6A}"/>
              </a:ext>
            </a:extLst>
          </p:cNvPr>
          <p:cNvSpPr/>
          <p:nvPr/>
        </p:nvSpPr>
        <p:spPr>
          <a:xfrm>
            <a:off x="4787899" y="5457787"/>
            <a:ext cx="5071533" cy="364940"/>
          </a:xfrm>
          <a:prstGeom prst="rightArrow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B5FDAA9-DEF0-4A4F-9EF9-D268CF5E929D}"/>
              </a:ext>
            </a:extLst>
          </p:cNvPr>
          <p:cNvSpPr txBox="1"/>
          <p:nvPr/>
        </p:nvSpPr>
        <p:spPr>
          <a:xfrm>
            <a:off x="4430613" y="5751320"/>
            <a:ext cx="18309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/>
              <a:t>2010</a:t>
            </a:r>
            <a:r>
              <a:rPr lang="fr-FR" dirty="0"/>
              <a:t> Spark </a:t>
            </a:r>
            <a:r>
              <a:rPr lang="fr-FR" dirty="0" err="1"/>
              <a:t>paper</a:t>
            </a:r>
            <a:endParaRPr lang="fr-FR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7C06F17-EC4A-437B-A339-EAA580BA47FB}"/>
              </a:ext>
            </a:extLst>
          </p:cNvPr>
          <p:cNvSpPr txBox="1"/>
          <p:nvPr/>
        </p:nvSpPr>
        <p:spPr>
          <a:xfrm>
            <a:off x="5056153" y="3746388"/>
            <a:ext cx="1583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/>
              <a:t>2012</a:t>
            </a:r>
            <a:r>
              <a:rPr lang="fr-FR" dirty="0"/>
              <a:t>  </a:t>
            </a:r>
            <a:r>
              <a:rPr lang="fr-FR" dirty="0" err="1"/>
              <a:t>Yarn</a:t>
            </a:r>
            <a:r>
              <a:rPr lang="fr-FR" dirty="0"/>
              <a:t> (v2)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6FD3B78-D620-4C9E-871B-1A688874EE76}"/>
              </a:ext>
            </a:extLst>
          </p:cNvPr>
          <p:cNvSpPr txBox="1"/>
          <p:nvPr/>
        </p:nvSpPr>
        <p:spPr>
          <a:xfrm>
            <a:off x="3439875" y="4354377"/>
            <a:ext cx="26803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/>
              <a:t>2008</a:t>
            </a:r>
            <a:r>
              <a:rPr lang="fr-FR" dirty="0"/>
              <a:t> Apache Open-Source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930AB88-D909-4751-9CC6-766B14F90487}"/>
              </a:ext>
            </a:extLst>
          </p:cNvPr>
          <p:cNvSpPr txBox="1"/>
          <p:nvPr/>
        </p:nvSpPr>
        <p:spPr>
          <a:xfrm>
            <a:off x="1425179" y="1516429"/>
            <a:ext cx="15838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/>
              <a:t>MapReduce @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2AF8FC5-A53C-44E0-89AD-917DA1CD41D0}"/>
              </a:ext>
            </a:extLst>
          </p:cNvPr>
          <p:cNvSpPr txBox="1"/>
          <p:nvPr/>
        </p:nvSpPr>
        <p:spPr>
          <a:xfrm>
            <a:off x="6344081" y="5758005"/>
            <a:ext cx="23382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/>
              <a:t>2013</a:t>
            </a:r>
            <a:r>
              <a:rPr lang="fr-FR" dirty="0"/>
              <a:t> Apache top-</a:t>
            </a:r>
            <a:r>
              <a:rPr lang="fr-FR" dirty="0" err="1"/>
              <a:t>level</a:t>
            </a:r>
            <a:r>
              <a:rPr lang="fr-FR" dirty="0"/>
              <a:t> 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0168A00-0A20-464C-A502-F008DA5C1810}"/>
              </a:ext>
            </a:extLst>
          </p:cNvPr>
          <p:cNvSpPr txBox="1"/>
          <p:nvPr/>
        </p:nvSpPr>
        <p:spPr>
          <a:xfrm>
            <a:off x="8712484" y="6247247"/>
            <a:ext cx="141096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/>
              <a:t>2020</a:t>
            </a:r>
          </a:p>
          <a:p>
            <a:r>
              <a:rPr lang="fr-FR" b="1" dirty="0"/>
              <a:t>Spark on K8s</a:t>
            </a:r>
            <a:endParaRPr lang="fr-FR" dirty="0"/>
          </a:p>
        </p:txBody>
      </p:sp>
      <p:sp>
        <p:nvSpPr>
          <p:cNvPr id="19" name="Arrow: Right 18">
            <a:extLst>
              <a:ext uri="{FF2B5EF4-FFF2-40B4-BE49-F238E27FC236}">
                <a16:creationId xmlns:a16="http://schemas.microsoft.com/office/drawing/2014/main" id="{940EC993-201A-41CE-ABF4-EEA1474162E8}"/>
              </a:ext>
            </a:extLst>
          </p:cNvPr>
          <p:cNvSpPr/>
          <p:nvPr/>
        </p:nvSpPr>
        <p:spPr>
          <a:xfrm>
            <a:off x="10103240" y="5176396"/>
            <a:ext cx="831460" cy="983104"/>
          </a:xfrm>
          <a:prstGeom prst="rightArrow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A267D0C-17E5-4429-8A57-5181168167C8}"/>
              </a:ext>
            </a:extLst>
          </p:cNvPr>
          <p:cNvSpPr txBox="1"/>
          <p:nvPr/>
        </p:nvSpPr>
        <p:spPr>
          <a:xfrm>
            <a:off x="10218794" y="5317067"/>
            <a:ext cx="77940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000" b="1" dirty="0"/>
              <a:t>??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A1649FD-DB62-4AEA-95F0-529E4064BBAD}"/>
              </a:ext>
            </a:extLst>
          </p:cNvPr>
          <p:cNvSpPr txBox="1"/>
          <p:nvPr/>
        </p:nvSpPr>
        <p:spPr>
          <a:xfrm>
            <a:off x="7057469" y="6261783"/>
            <a:ext cx="127419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/>
              <a:t>2015 </a:t>
            </a:r>
          </a:p>
          <a:p>
            <a:r>
              <a:rPr lang="fr-FR" dirty="0" err="1"/>
              <a:t>Kubernetes</a:t>
            </a:r>
            <a:endParaRPr lang="fr-FR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CCF7E4A8-C541-4CE2-ADBB-61D03984DE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50880" y="6414519"/>
            <a:ext cx="380112" cy="3710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The Obsolescence Of Hadoop Seen As Investment Opportunity">
            <a:extLst>
              <a:ext uri="{FF2B5EF4-FFF2-40B4-BE49-F238E27FC236}">
                <a16:creationId xmlns:a16="http://schemas.microsoft.com/office/drawing/2014/main" id="{930E53C3-C2B3-4E4B-ABF9-681D1FC52D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56529" y="3053235"/>
            <a:ext cx="2738967" cy="709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Apache Spark — Wikipédia">
            <a:extLst>
              <a:ext uri="{FF2B5EF4-FFF2-40B4-BE49-F238E27FC236}">
                <a16:creationId xmlns:a16="http://schemas.microsoft.com/office/drawing/2014/main" id="{5F1C8055-9A63-4348-8A45-26DD28D15A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8492" y="4791935"/>
            <a:ext cx="1731327" cy="8988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Googlebot — Wikipédia">
            <a:extLst>
              <a:ext uri="{FF2B5EF4-FFF2-40B4-BE49-F238E27FC236}">
                <a16:creationId xmlns:a16="http://schemas.microsoft.com/office/drawing/2014/main" id="{5D8D4190-7159-4945-A026-8936E3B0CB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02217" y="1435418"/>
            <a:ext cx="1378549" cy="4664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The reign and modern challenges of the Message Passing Interface (MPI): A  discussion with Dr. Torsten Hoefler. - XRDSXRDS">
            <a:extLst>
              <a:ext uri="{FF2B5EF4-FFF2-40B4-BE49-F238E27FC236}">
                <a16:creationId xmlns:a16="http://schemas.microsoft.com/office/drawing/2014/main" id="{8EF65E9A-7CFE-4FA8-9E84-00574AC328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567" y="4740128"/>
            <a:ext cx="1418579" cy="4946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7121265F-EFA5-4F5A-B0D0-194B67D19D0E}"/>
              </a:ext>
            </a:extLst>
          </p:cNvPr>
          <p:cNvSpPr txBox="1"/>
          <p:nvPr/>
        </p:nvSpPr>
        <p:spPr>
          <a:xfrm>
            <a:off x="-51988" y="5160150"/>
            <a:ext cx="31615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/>
              <a:t>1995 </a:t>
            </a:r>
            <a:r>
              <a:rPr lang="fr-FR" dirty="0"/>
              <a:t>Message Passing Interface</a:t>
            </a:r>
          </a:p>
        </p:txBody>
      </p:sp>
    </p:spTree>
    <p:extLst>
      <p:ext uri="{BB962C8B-B14F-4D97-AF65-F5344CB8AC3E}">
        <p14:creationId xmlns:p14="http://schemas.microsoft.com/office/powerpoint/2010/main" val="4290668705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84" name="Picture 4" descr="Looking At Apache Kafka for Azure HDInsight | API Streaming | API Friends">
            <a:extLst>
              <a:ext uri="{FF2B5EF4-FFF2-40B4-BE49-F238E27FC236}">
                <a16:creationId xmlns:a16="http://schemas.microsoft.com/office/drawing/2014/main" id="{FD0AC926-CCDF-A9AD-AF2D-D69C14DDE5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13893" y="3058629"/>
            <a:ext cx="1480971" cy="10388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2C96D66-7B26-8974-F3D2-0A69BBD1890A}"/>
              </a:ext>
            </a:extLst>
          </p:cNvPr>
          <p:cNvSpPr txBox="1">
            <a:spLocks/>
          </p:cNvSpPr>
          <p:nvPr/>
        </p:nvSpPr>
        <p:spPr>
          <a:xfrm>
            <a:off x="215" y="39735"/>
            <a:ext cx="12222464" cy="1077777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="ctr"/>
          <a:lstStyle>
            <a:lvl1pPr algn="ctr" rtl="0" hangingPunct="0">
              <a:tabLst/>
              <a:defRPr lang="fr-FR" sz="4400" b="0" i="0" u="none" strike="noStrike" kern="1200" cap="none">
                <a:ln>
                  <a:noFill/>
                </a:ln>
                <a:highlight>
                  <a:scrgbClr r="0" g="0" b="0">
                    <a:alpha val="0"/>
                  </a:scrgbClr>
                </a:highlight>
                <a:latin typeface="Liberation Sans" pitchFamily="18"/>
                <a:ea typeface="Microsoft YaHei" pitchFamily="2"/>
              </a:defRPr>
            </a:lvl1pPr>
          </a:lstStyle>
          <a:p>
            <a:r>
              <a:rPr lang="fr-FR" sz="5321" dirty="0" err="1">
                <a:solidFill>
                  <a:sysClr val="windowText" lastClr="000000"/>
                </a:solidFill>
              </a:rPr>
              <a:t>Datalake</a:t>
            </a:r>
            <a:r>
              <a:rPr lang="fr-FR" sz="5321" dirty="0">
                <a:solidFill>
                  <a:sysClr val="windowText" lastClr="000000"/>
                </a:solidFill>
              </a:rPr>
              <a:t> </a:t>
            </a:r>
            <a:r>
              <a:rPr lang="fr-FR" sz="5321" dirty="0" err="1">
                <a:solidFill>
                  <a:sysClr val="windowText" lastClr="000000"/>
                </a:solidFill>
              </a:rPr>
              <a:t>History</a:t>
            </a:r>
            <a:r>
              <a:rPr lang="fr-FR" sz="5321" dirty="0">
                <a:solidFill>
                  <a:sysClr val="windowText" lastClr="000000"/>
                </a:solidFill>
              </a:rPr>
              <a:t> At SG (1/3)</a:t>
            </a:r>
          </a:p>
        </p:txBody>
      </p:sp>
      <p:sp>
        <p:nvSpPr>
          <p:cNvPr id="3" name="Arrow: Right 2">
            <a:extLst>
              <a:ext uri="{FF2B5EF4-FFF2-40B4-BE49-F238E27FC236}">
                <a16:creationId xmlns:a16="http://schemas.microsoft.com/office/drawing/2014/main" id="{9775956A-29FE-B2B0-D6E1-1B4B83089A0D}"/>
              </a:ext>
            </a:extLst>
          </p:cNvPr>
          <p:cNvSpPr/>
          <p:nvPr/>
        </p:nvSpPr>
        <p:spPr>
          <a:xfrm>
            <a:off x="462743" y="2307896"/>
            <a:ext cx="7403542" cy="364940"/>
          </a:xfrm>
          <a:prstGeom prst="rightArrow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" name="Arrow: Right 3">
            <a:extLst>
              <a:ext uri="{FF2B5EF4-FFF2-40B4-BE49-F238E27FC236}">
                <a16:creationId xmlns:a16="http://schemas.microsoft.com/office/drawing/2014/main" id="{6D11A339-426E-74BA-5E7A-AF26B88FCD0B}"/>
              </a:ext>
            </a:extLst>
          </p:cNvPr>
          <p:cNvSpPr/>
          <p:nvPr/>
        </p:nvSpPr>
        <p:spPr>
          <a:xfrm>
            <a:off x="6942746" y="3987362"/>
            <a:ext cx="2579478" cy="364940"/>
          </a:xfrm>
          <a:prstGeom prst="rightArrow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30839B0-782C-D90F-425A-CF7FE0E6E32D}"/>
              </a:ext>
            </a:extLst>
          </p:cNvPr>
          <p:cNvSpPr txBox="1"/>
          <p:nvPr/>
        </p:nvSpPr>
        <p:spPr>
          <a:xfrm>
            <a:off x="242739" y="1552553"/>
            <a:ext cx="147309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~12 </a:t>
            </a:r>
            <a:r>
              <a:rPr lang="fr-FR" dirty="0" err="1"/>
              <a:t>years</a:t>
            </a:r>
            <a:r>
              <a:rPr lang="fr-FR" dirty="0"/>
              <a:t> </a:t>
            </a:r>
            <a:r>
              <a:rPr lang="fr-FR" dirty="0" err="1"/>
              <a:t>ago</a:t>
            </a:r>
            <a:endParaRPr lang="fr-FR" dirty="0"/>
          </a:p>
          <a:p>
            <a:r>
              <a:rPr lang="fr-FR" dirty="0"/>
              <a:t>2014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BC18543-E045-F91E-F849-09B85775FDE5}"/>
              </a:ext>
            </a:extLst>
          </p:cNvPr>
          <p:cNvSpPr txBox="1"/>
          <p:nvPr/>
        </p:nvSpPr>
        <p:spPr>
          <a:xfrm>
            <a:off x="178944" y="2672836"/>
            <a:ext cx="171636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Init </a:t>
            </a:r>
            <a:r>
              <a:rPr lang="fr-FR" dirty="0" err="1"/>
              <a:t>BigData</a:t>
            </a:r>
            <a:br>
              <a:rPr lang="fr-FR" dirty="0"/>
            </a:br>
            <a:r>
              <a:rPr lang="fr-FR" dirty="0"/>
              <a:t> cluster at SGCIB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EBFE935-9B84-A755-10CC-ED1461C29D87}"/>
              </a:ext>
            </a:extLst>
          </p:cNvPr>
          <p:cNvSpPr txBox="1"/>
          <p:nvPr/>
        </p:nvSpPr>
        <p:spPr>
          <a:xfrm>
            <a:off x="2040887" y="2652460"/>
            <a:ext cx="262789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2 major PROD </a:t>
            </a:r>
            <a:r>
              <a:rPr lang="fr-FR" dirty="0" err="1"/>
              <a:t>projects</a:t>
            </a:r>
            <a:r>
              <a:rPr lang="fr-FR" dirty="0"/>
              <a:t>:</a:t>
            </a:r>
          </a:p>
          <a:p>
            <a:r>
              <a:rPr lang="fr-FR" dirty="0"/>
              <a:t>- </a:t>
            </a:r>
            <a:r>
              <a:rPr lang="fr-FR" dirty="0" err="1"/>
              <a:t>MiFid</a:t>
            </a:r>
            <a:r>
              <a:rPr lang="fr-FR" dirty="0"/>
              <a:t> reports (all </a:t>
            </a:r>
            <a:r>
              <a:rPr lang="fr-FR" dirty="0" err="1"/>
              <a:t>trades</a:t>
            </a:r>
            <a:r>
              <a:rPr lang="fr-FR" dirty="0"/>
              <a:t>)</a:t>
            </a:r>
          </a:p>
          <a:p>
            <a:pPr marL="285750" indent="-285750">
              <a:buFontTx/>
              <a:buChar char="-"/>
            </a:pPr>
            <a:r>
              <a:rPr lang="fr-FR" dirty="0"/>
              <a:t>Var Risk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5193B7F-139B-EB3F-7E6D-DDA210EA2D3D}"/>
              </a:ext>
            </a:extLst>
          </p:cNvPr>
          <p:cNvSpPr txBox="1"/>
          <p:nvPr/>
        </p:nvSpPr>
        <p:spPr>
          <a:xfrm>
            <a:off x="4735491" y="2652460"/>
            <a:ext cx="15114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&gt; 150 </a:t>
            </a:r>
            <a:r>
              <a:rPr lang="fr-FR" dirty="0" err="1"/>
              <a:t>projects</a:t>
            </a:r>
            <a:endParaRPr lang="fr-FR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B0E5137-AE3F-36BA-6AE8-62CC98240710}"/>
              </a:ext>
            </a:extLst>
          </p:cNvPr>
          <p:cNvSpPr txBox="1"/>
          <p:nvPr/>
        </p:nvSpPr>
        <p:spPr>
          <a:xfrm>
            <a:off x="5590950" y="1254991"/>
            <a:ext cx="284206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~6 </a:t>
            </a:r>
            <a:r>
              <a:rPr lang="fr-FR" dirty="0" err="1"/>
              <a:t>years</a:t>
            </a:r>
            <a:r>
              <a:rPr lang="fr-FR" dirty="0"/>
              <a:t> </a:t>
            </a:r>
            <a:r>
              <a:rPr lang="fr-FR" dirty="0" err="1"/>
              <a:t>ago</a:t>
            </a:r>
            <a:r>
              <a:rPr lang="fr-FR" dirty="0"/>
              <a:t> (2020)</a:t>
            </a:r>
          </a:p>
          <a:p>
            <a:r>
              <a:rPr lang="fr-FR" dirty="0" err="1"/>
              <a:t>Decision</a:t>
            </a:r>
            <a:r>
              <a:rPr lang="fr-FR" dirty="0"/>
              <a:t> to </a:t>
            </a:r>
            <a:r>
              <a:rPr lang="fr-FR" dirty="0" err="1"/>
              <a:t>migrate</a:t>
            </a:r>
            <a:r>
              <a:rPr lang="fr-FR" dirty="0"/>
              <a:t> to Azure</a:t>
            </a:r>
          </a:p>
          <a:p>
            <a:r>
              <a:rPr lang="fr-FR" dirty="0"/>
              <a:t> + </a:t>
            </a:r>
            <a:r>
              <a:rPr lang="fr-FR" dirty="0" err="1"/>
              <a:t>Dismantle</a:t>
            </a:r>
            <a:r>
              <a:rPr lang="fr-FR" dirty="0"/>
              <a:t> On-Prem</a:t>
            </a:r>
          </a:p>
        </p:txBody>
      </p:sp>
      <p:pic>
        <p:nvPicPr>
          <p:cNvPr id="20482" name="Picture 2" descr="Hortonworks - Wikipedia">
            <a:extLst>
              <a:ext uri="{FF2B5EF4-FFF2-40B4-BE49-F238E27FC236}">
                <a16:creationId xmlns:a16="http://schemas.microsoft.com/office/drawing/2014/main" id="{D291FC5E-8642-C7C5-102E-6FEB192ADC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69992" y="1378799"/>
            <a:ext cx="1596434" cy="5617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Arrow: Right 10">
            <a:extLst>
              <a:ext uri="{FF2B5EF4-FFF2-40B4-BE49-F238E27FC236}">
                <a16:creationId xmlns:a16="http://schemas.microsoft.com/office/drawing/2014/main" id="{6BB2A3AC-9115-E277-2638-01DD60DCF059}"/>
              </a:ext>
            </a:extLst>
          </p:cNvPr>
          <p:cNvSpPr/>
          <p:nvPr/>
        </p:nvSpPr>
        <p:spPr>
          <a:xfrm>
            <a:off x="8068304" y="2287520"/>
            <a:ext cx="729412" cy="364940"/>
          </a:xfrm>
          <a:prstGeom prst="rightArrow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" name="Multiplication Sign 11">
            <a:extLst>
              <a:ext uri="{FF2B5EF4-FFF2-40B4-BE49-F238E27FC236}">
                <a16:creationId xmlns:a16="http://schemas.microsoft.com/office/drawing/2014/main" id="{2F851967-BE27-5083-0C80-DEC59B61F6B6}"/>
              </a:ext>
            </a:extLst>
          </p:cNvPr>
          <p:cNvSpPr/>
          <p:nvPr/>
        </p:nvSpPr>
        <p:spPr>
          <a:xfrm>
            <a:off x="9869094" y="2028121"/>
            <a:ext cx="580557" cy="867164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C2A6583-BB12-9204-F0D6-AC3E078A9A02}"/>
              </a:ext>
            </a:extLst>
          </p:cNvPr>
          <p:cNvSpPr txBox="1"/>
          <p:nvPr/>
        </p:nvSpPr>
        <p:spPr>
          <a:xfrm>
            <a:off x="9483514" y="1438975"/>
            <a:ext cx="220278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/>
              <a:t>Dec</a:t>
            </a:r>
            <a:r>
              <a:rPr lang="fr-FR" dirty="0"/>
              <a:t> 2022</a:t>
            </a:r>
          </a:p>
          <a:p>
            <a:r>
              <a:rPr lang="fr-FR" dirty="0"/>
              <a:t>On-Prem Cluster  OFF</a:t>
            </a:r>
          </a:p>
        </p:txBody>
      </p:sp>
      <p:sp>
        <p:nvSpPr>
          <p:cNvPr id="14" name="Arrow: Right 13">
            <a:extLst>
              <a:ext uri="{FF2B5EF4-FFF2-40B4-BE49-F238E27FC236}">
                <a16:creationId xmlns:a16="http://schemas.microsoft.com/office/drawing/2014/main" id="{55C86892-A32D-1920-30B6-D3680F80182E}"/>
              </a:ext>
            </a:extLst>
          </p:cNvPr>
          <p:cNvSpPr/>
          <p:nvPr/>
        </p:nvSpPr>
        <p:spPr>
          <a:xfrm>
            <a:off x="5847592" y="3987362"/>
            <a:ext cx="1095153" cy="364940"/>
          </a:xfrm>
          <a:prstGeom prst="rightArrow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A0199CA-8A54-9B12-897C-69A6618F83B1}"/>
              </a:ext>
            </a:extLst>
          </p:cNvPr>
          <p:cNvSpPr txBox="1"/>
          <p:nvPr/>
        </p:nvSpPr>
        <p:spPr>
          <a:xfrm>
            <a:off x="4591928" y="4301778"/>
            <a:ext cx="647042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~ 5 </a:t>
            </a:r>
            <a:r>
              <a:rPr lang="fr-FR" dirty="0" err="1"/>
              <a:t>year</a:t>
            </a:r>
            <a:r>
              <a:rPr lang="fr-FR" dirty="0"/>
              <a:t> </a:t>
            </a:r>
            <a:r>
              <a:rPr lang="fr-FR" dirty="0" err="1"/>
              <a:t>ago</a:t>
            </a:r>
            <a:r>
              <a:rPr lang="fr-FR" dirty="0"/>
              <a:t> (2021)</a:t>
            </a:r>
          </a:p>
          <a:p>
            <a:r>
              <a:rPr lang="fr-FR" dirty="0" err="1"/>
              <a:t>projects</a:t>
            </a:r>
            <a:r>
              <a:rPr lang="fr-FR" dirty="0"/>
              <a:t> </a:t>
            </a:r>
            <a:r>
              <a:rPr lang="fr-FR" dirty="0" err="1"/>
              <a:t>migrate</a:t>
            </a:r>
            <a:r>
              <a:rPr lang="fr-FR" dirty="0"/>
              <a:t> to Azure « </a:t>
            </a:r>
            <a:r>
              <a:rPr lang="fr-FR" dirty="0" err="1"/>
              <a:t>left</a:t>
            </a:r>
            <a:r>
              <a:rPr lang="fr-FR" dirty="0"/>
              <a:t>-and-shift » on Hadoop HD-Insight</a:t>
            </a:r>
          </a:p>
        </p:txBody>
      </p:sp>
      <p:pic>
        <p:nvPicPr>
          <p:cNvPr id="20488" name="Picture 8" descr="Problème sur Azure, est-ce en maintenance? | Downdetector">
            <a:extLst>
              <a:ext uri="{FF2B5EF4-FFF2-40B4-BE49-F238E27FC236}">
                <a16:creationId xmlns:a16="http://schemas.microsoft.com/office/drawing/2014/main" id="{CD280D2B-11B8-176D-E55D-0585AEA2F5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86355" y="3267754"/>
            <a:ext cx="2161898" cy="6206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8" descr="Apache Spark — Wikipédia">
            <a:extLst>
              <a:ext uri="{FF2B5EF4-FFF2-40B4-BE49-F238E27FC236}">
                <a16:creationId xmlns:a16="http://schemas.microsoft.com/office/drawing/2014/main" id="{E8528613-4651-E945-4537-6A890B65E9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40770" y="1954619"/>
            <a:ext cx="870394" cy="4518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8" descr="Apache Spark — Wikipédia">
            <a:extLst>
              <a:ext uri="{FF2B5EF4-FFF2-40B4-BE49-F238E27FC236}">
                <a16:creationId xmlns:a16="http://schemas.microsoft.com/office/drawing/2014/main" id="{A59F602B-55CB-2324-E820-24DFD99540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6715" y="3481783"/>
            <a:ext cx="863650" cy="4483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ZoneTexte 22">
            <a:extLst>
              <a:ext uri="{FF2B5EF4-FFF2-40B4-BE49-F238E27FC236}">
                <a16:creationId xmlns:a16="http://schemas.microsoft.com/office/drawing/2014/main" id="{9476AF2A-83A2-4BD0-8C0A-1EF4B1055922}"/>
              </a:ext>
            </a:extLst>
          </p:cNvPr>
          <p:cNvSpPr txBox="1"/>
          <p:nvPr/>
        </p:nvSpPr>
        <p:spPr>
          <a:xfrm>
            <a:off x="1064830" y="5683438"/>
            <a:ext cx="1015778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/>
              <a:t>Achievement</a:t>
            </a:r>
            <a:r>
              <a:rPr lang="fr-FR" dirty="0"/>
              <a:t> 1/4 :  data </a:t>
            </a:r>
            <a:r>
              <a:rPr lang="fr-FR" dirty="0" err="1"/>
              <a:t>replication</a:t>
            </a:r>
            <a:r>
              <a:rPr lang="fr-FR" dirty="0"/>
              <a:t> in real-time </a:t>
            </a:r>
            <a:r>
              <a:rPr lang="fr-FR" dirty="0" err="1"/>
              <a:t>during</a:t>
            </a:r>
            <a:r>
              <a:rPr lang="fr-FR" dirty="0"/>
              <a:t> migration </a:t>
            </a:r>
            <a:r>
              <a:rPr lang="fr-FR" dirty="0" err="1"/>
              <a:t>period</a:t>
            </a:r>
            <a:r>
              <a:rPr lang="fr-FR" dirty="0"/>
              <a:t>,</a:t>
            </a:r>
            <a:br>
              <a:rPr lang="fr-FR" dirty="0"/>
            </a:br>
            <a:r>
              <a:rPr lang="fr-FR" dirty="0"/>
              <a:t>                                  data </a:t>
            </a:r>
            <a:r>
              <a:rPr lang="fr-FR" dirty="0" err="1"/>
              <a:t>elasticity</a:t>
            </a:r>
            <a:r>
              <a:rPr lang="fr-FR" dirty="0"/>
              <a:t> </a:t>
            </a:r>
            <a:r>
              <a:rPr lang="fr-FR" dirty="0" err="1"/>
              <a:t>from</a:t>
            </a:r>
            <a:r>
              <a:rPr lang="fr-FR" dirty="0"/>
              <a:t> ~1 </a:t>
            </a:r>
            <a:r>
              <a:rPr lang="fr-FR" dirty="0" err="1"/>
              <a:t>Peta</a:t>
            </a:r>
            <a:r>
              <a:rPr lang="fr-FR" dirty="0"/>
              <a:t> (« System Full » On-Prem)  to  ~7 </a:t>
            </a:r>
            <a:r>
              <a:rPr lang="fr-FR" dirty="0" err="1"/>
              <a:t>Peta</a:t>
            </a:r>
            <a:r>
              <a:rPr lang="fr-FR" dirty="0"/>
              <a:t>  (</a:t>
            </a:r>
            <a:r>
              <a:rPr lang="fr-FR" dirty="0" err="1"/>
              <a:t>unlimited</a:t>
            </a:r>
            <a:r>
              <a:rPr lang="fr-FR" dirty="0"/>
              <a:t> on Azure)</a:t>
            </a:r>
          </a:p>
        </p:txBody>
      </p:sp>
      <p:sp>
        <p:nvSpPr>
          <p:cNvPr id="29" name="ZoneTexte 28">
            <a:extLst>
              <a:ext uri="{FF2B5EF4-FFF2-40B4-BE49-F238E27FC236}">
                <a16:creationId xmlns:a16="http://schemas.microsoft.com/office/drawing/2014/main" id="{8F586971-C6DA-4816-9173-7B8A8412B08E}"/>
              </a:ext>
            </a:extLst>
          </p:cNvPr>
          <p:cNvSpPr txBox="1"/>
          <p:nvPr/>
        </p:nvSpPr>
        <p:spPr>
          <a:xfrm>
            <a:off x="1064830" y="6270968"/>
            <a:ext cx="54078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/>
              <a:t>Achievement</a:t>
            </a:r>
            <a:r>
              <a:rPr lang="fr-FR" dirty="0"/>
              <a:t> 2/4 :  100% migration </a:t>
            </a:r>
            <a:r>
              <a:rPr lang="fr-FR" dirty="0" err="1"/>
              <a:t>OnPrem</a:t>
            </a:r>
            <a:r>
              <a:rPr lang="fr-FR" dirty="0"/>
              <a:t> -to-&gt; Azure</a:t>
            </a:r>
          </a:p>
        </p:txBody>
      </p:sp>
    </p:spTree>
    <p:extLst>
      <p:ext uri="{BB962C8B-B14F-4D97-AF65-F5344CB8AC3E}">
        <p14:creationId xmlns:p14="http://schemas.microsoft.com/office/powerpoint/2010/main" val="1591436463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2" descr="Kubernetes, c'est quoi ?">
            <a:extLst>
              <a:ext uri="{FF2B5EF4-FFF2-40B4-BE49-F238E27FC236}">
                <a16:creationId xmlns:a16="http://schemas.microsoft.com/office/drawing/2014/main" id="{E34CC05A-722A-21E3-A727-4552FD1AA5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19907" y="3367792"/>
            <a:ext cx="1275571" cy="11308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484" name="Picture 4" descr="Looking At Apache Kafka for Azure HDInsight | API Streaming | API Friends">
            <a:extLst>
              <a:ext uri="{FF2B5EF4-FFF2-40B4-BE49-F238E27FC236}">
                <a16:creationId xmlns:a16="http://schemas.microsoft.com/office/drawing/2014/main" id="{FD0AC926-CCDF-A9AD-AF2D-D69C14DDE5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15461" y="1146973"/>
            <a:ext cx="1480971" cy="10388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2C96D66-7B26-8974-F3D2-0A69BBD1890A}"/>
              </a:ext>
            </a:extLst>
          </p:cNvPr>
          <p:cNvSpPr txBox="1">
            <a:spLocks/>
          </p:cNvSpPr>
          <p:nvPr/>
        </p:nvSpPr>
        <p:spPr>
          <a:xfrm>
            <a:off x="215" y="39735"/>
            <a:ext cx="12222464" cy="1077777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="ctr"/>
          <a:lstStyle>
            <a:lvl1pPr algn="ctr" rtl="0" hangingPunct="0">
              <a:tabLst/>
              <a:defRPr lang="fr-FR" sz="4400" b="0" i="0" u="none" strike="noStrike" kern="1200" cap="none">
                <a:ln>
                  <a:noFill/>
                </a:ln>
                <a:highlight>
                  <a:scrgbClr r="0" g="0" b="0">
                    <a:alpha val="0"/>
                  </a:scrgbClr>
                </a:highlight>
                <a:latin typeface="Liberation Sans" pitchFamily="18"/>
                <a:ea typeface="Microsoft YaHei" pitchFamily="2"/>
              </a:defRPr>
            </a:lvl1pPr>
          </a:lstStyle>
          <a:p>
            <a:r>
              <a:rPr lang="fr-FR" sz="5321" dirty="0" err="1">
                <a:solidFill>
                  <a:sysClr val="windowText" lastClr="000000"/>
                </a:solidFill>
              </a:rPr>
              <a:t>Datalake</a:t>
            </a:r>
            <a:r>
              <a:rPr lang="fr-FR" sz="5321" dirty="0">
                <a:solidFill>
                  <a:sysClr val="windowText" lastClr="000000"/>
                </a:solidFill>
              </a:rPr>
              <a:t> </a:t>
            </a:r>
            <a:r>
              <a:rPr lang="fr-FR" sz="5321" dirty="0" err="1">
                <a:solidFill>
                  <a:sysClr val="windowText" lastClr="000000"/>
                </a:solidFill>
              </a:rPr>
              <a:t>History</a:t>
            </a:r>
            <a:r>
              <a:rPr lang="fr-FR" sz="5321" dirty="0">
                <a:solidFill>
                  <a:sysClr val="windowText" lastClr="000000"/>
                </a:solidFill>
              </a:rPr>
              <a:t> At SG (2/3)</a:t>
            </a:r>
          </a:p>
        </p:txBody>
      </p:sp>
      <p:sp>
        <p:nvSpPr>
          <p:cNvPr id="4" name="Arrow: Right 3">
            <a:extLst>
              <a:ext uri="{FF2B5EF4-FFF2-40B4-BE49-F238E27FC236}">
                <a16:creationId xmlns:a16="http://schemas.microsoft.com/office/drawing/2014/main" id="{6D11A339-426E-74BA-5E7A-AF26B88FCD0B}"/>
              </a:ext>
            </a:extLst>
          </p:cNvPr>
          <p:cNvSpPr/>
          <p:nvPr/>
        </p:nvSpPr>
        <p:spPr>
          <a:xfrm>
            <a:off x="2644314" y="2075706"/>
            <a:ext cx="3922648" cy="364940"/>
          </a:xfrm>
          <a:prstGeom prst="rightArrow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" name="Arrow: Right 13">
            <a:extLst>
              <a:ext uri="{FF2B5EF4-FFF2-40B4-BE49-F238E27FC236}">
                <a16:creationId xmlns:a16="http://schemas.microsoft.com/office/drawing/2014/main" id="{55C86892-A32D-1920-30B6-D3680F80182E}"/>
              </a:ext>
            </a:extLst>
          </p:cNvPr>
          <p:cNvSpPr/>
          <p:nvPr/>
        </p:nvSpPr>
        <p:spPr>
          <a:xfrm>
            <a:off x="1549160" y="2075706"/>
            <a:ext cx="1095153" cy="364940"/>
          </a:xfrm>
          <a:prstGeom prst="rightArrow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A0199CA-8A54-9B12-897C-69A6618F83B1}"/>
              </a:ext>
            </a:extLst>
          </p:cNvPr>
          <p:cNvSpPr txBox="1"/>
          <p:nvPr/>
        </p:nvSpPr>
        <p:spPr>
          <a:xfrm>
            <a:off x="293496" y="2390122"/>
            <a:ext cx="647042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~ 5 </a:t>
            </a:r>
            <a:r>
              <a:rPr lang="fr-FR" dirty="0" err="1"/>
              <a:t>year</a:t>
            </a:r>
            <a:r>
              <a:rPr lang="fr-FR" dirty="0"/>
              <a:t> </a:t>
            </a:r>
            <a:r>
              <a:rPr lang="fr-FR" dirty="0" err="1"/>
              <a:t>ago</a:t>
            </a:r>
            <a:r>
              <a:rPr lang="fr-FR" dirty="0"/>
              <a:t> (2021)</a:t>
            </a:r>
          </a:p>
          <a:p>
            <a:r>
              <a:rPr lang="fr-FR" dirty="0" err="1"/>
              <a:t>projects</a:t>
            </a:r>
            <a:r>
              <a:rPr lang="fr-FR" dirty="0"/>
              <a:t> </a:t>
            </a:r>
            <a:r>
              <a:rPr lang="fr-FR" dirty="0" err="1"/>
              <a:t>migrate</a:t>
            </a:r>
            <a:r>
              <a:rPr lang="fr-FR" dirty="0"/>
              <a:t> to Azure « </a:t>
            </a:r>
            <a:r>
              <a:rPr lang="fr-FR" dirty="0" err="1"/>
              <a:t>left</a:t>
            </a:r>
            <a:r>
              <a:rPr lang="fr-FR" dirty="0"/>
              <a:t>-and-shift » on Hadoop HD-Insight</a:t>
            </a:r>
          </a:p>
        </p:txBody>
      </p:sp>
      <p:pic>
        <p:nvPicPr>
          <p:cNvPr id="20488" name="Picture 8" descr="Problème sur Azure, est-ce en maintenance? | Downdetector">
            <a:extLst>
              <a:ext uri="{FF2B5EF4-FFF2-40B4-BE49-F238E27FC236}">
                <a16:creationId xmlns:a16="http://schemas.microsoft.com/office/drawing/2014/main" id="{CD280D2B-11B8-176D-E55D-0585AEA2F5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7923" y="1356098"/>
            <a:ext cx="2161898" cy="6206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8" descr="Apache Spark — Wikipédia">
            <a:extLst>
              <a:ext uri="{FF2B5EF4-FFF2-40B4-BE49-F238E27FC236}">
                <a16:creationId xmlns:a16="http://schemas.microsoft.com/office/drawing/2014/main" id="{A59F602B-55CB-2324-E820-24DFD99540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78283" y="1570127"/>
            <a:ext cx="863650" cy="4483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" name="Picture 8" descr="Apache Spark — Wikipédia">
            <a:extLst>
              <a:ext uri="{FF2B5EF4-FFF2-40B4-BE49-F238E27FC236}">
                <a16:creationId xmlns:a16="http://schemas.microsoft.com/office/drawing/2014/main" id="{0F64C389-BD9A-D9A6-F3A0-00789BE9AA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33427" y="3774411"/>
            <a:ext cx="863650" cy="4483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" name="Arrow: Right 3">
            <a:extLst>
              <a:ext uri="{FF2B5EF4-FFF2-40B4-BE49-F238E27FC236}">
                <a16:creationId xmlns:a16="http://schemas.microsoft.com/office/drawing/2014/main" id="{B9F0DFC1-9611-435C-A4A5-5690A80F7424}"/>
              </a:ext>
            </a:extLst>
          </p:cNvPr>
          <p:cNvSpPr/>
          <p:nvPr/>
        </p:nvSpPr>
        <p:spPr>
          <a:xfrm>
            <a:off x="4866248" y="3562186"/>
            <a:ext cx="3563855" cy="364940"/>
          </a:xfrm>
          <a:prstGeom prst="rightArrow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7" name="Multiplication Sign 11">
            <a:extLst>
              <a:ext uri="{FF2B5EF4-FFF2-40B4-BE49-F238E27FC236}">
                <a16:creationId xmlns:a16="http://schemas.microsoft.com/office/drawing/2014/main" id="{6C96127C-6428-4690-A84F-6334FC427A9A}"/>
              </a:ext>
            </a:extLst>
          </p:cNvPr>
          <p:cNvSpPr/>
          <p:nvPr/>
        </p:nvSpPr>
        <p:spPr>
          <a:xfrm>
            <a:off x="7385174" y="1811471"/>
            <a:ext cx="580557" cy="867164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8" name="TextBox 12">
            <a:extLst>
              <a:ext uri="{FF2B5EF4-FFF2-40B4-BE49-F238E27FC236}">
                <a16:creationId xmlns:a16="http://schemas.microsoft.com/office/drawing/2014/main" id="{A0DDA0EC-7A7B-4D16-827B-0DEE89128A1B}"/>
              </a:ext>
            </a:extLst>
          </p:cNvPr>
          <p:cNvSpPr txBox="1"/>
          <p:nvPr/>
        </p:nvSpPr>
        <p:spPr>
          <a:xfrm>
            <a:off x="6882101" y="1190770"/>
            <a:ext cx="216726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June 2026</a:t>
            </a:r>
          </a:p>
          <a:p>
            <a:r>
              <a:rPr lang="fr-FR" dirty="0"/>
              <a:t>HDI-</a:t>
            </a:r>
            <a:r>
              <a:rPr lang="fr-FR" dirty="0" err="1"/>
              <a:t>Decommisioning</a:t>
            </a:r>
            <a:endParaRPr lang="fr-FR" dirty="0"/>
          </a:p>
        </p:txBody>
      </p:sp>
      <p:pic>
        <p:nvPicPr>
          <p:cNvPr id="4098" name="Picture 2" descr="Tarification - Azure Synapse Analytics | Microsoft Azure">
            <a:extLst>
              <a:ext uri="{FF2B5EF4-FFF2-40B4-BE49-F238E27FC236}">
                <a16:creationId xmlns:a16="http://schemas.microsoft.com/office/drawing/2014/main" id="{B2EF3426-42C4-496E-BB40-5A9934CC79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33428" y="4646858"/>
            <a:ext cx="1625316" cy="8532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" name="Picture 8" descr="Apache Spark — Wikipédia">
            <a:extLst>
              <a:ext uri="{FF2B5EF4-FFF2-40B4-BE49-F238E27FC236}">
                <a16:creationId xmlns:a16="http://schemas.microsoft.com/office/drawing/2014/main" id="{F1541E07-75D0-40C6-A956-1E00CB92BE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35523" y="5132834"/>
            <a:ext cx="863650" cy="4483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ZoneTexte 20">
            <a:extLst>
              <a:ext uri="{FF2B5EF4-FFF2-40B4-BE49-F238E27FC236}">
                <a16:creationId xmlns:a16="http://schemas.microsoft.com/office/drawing/2014/main" id="{D50935B7-43C8-40B4-9A96-1D2DACFA79AC}"/>
              </a:ext>
            </a:extLst>
          </p:cNvPr>
          <p:cNvSpPr txBox="1"/>
          <p:nvPr/>
        </p:nvSpPr>
        <p:spPr>
          <a:xfrm>
            <a:off x="4091630" y="5437077"/>
            <a:ext cx="15406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Azure Synapse</a:t>
            </a:r>
          </a:p>
        </p:txBody>
      </p:sp>
      <p:sp>
        <p:nvSpPr>
          <p:cNvPr id="32" name="Arrow: Right 3">
            <a:extLst>
              <a:ext uri="{FF2B5EF4-FFF2-40B4-BE49-F238E27FC236}">
                <a16:creationId xmlns:a16="http://schemas.microsoft.com/office/drawing/2014/main" id="{5C67F746-83D3-4509-8366-7DCA606663C0}"/>
              </a:ext>
            </a:extLst>
          </p:cNvPr>
          <p:cNvSpPr/>
          <p:nvPr/>
        </p:nvSpPr>
        <p:spPr>
          <a:xfrm>
            <a:off x="6058744" y="4725230"/>
            <a:ext cx="2371359" cy="364940"/>
          </a:xfrm>
          <a:prstGeom prst="rightArrow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24" name="Connecteur droit avec flèche 23">
            <a:extLst>
              <a:ext uri="{FF2B5EF4-FFF2-40B4-BE49-F238E27FC236}">
                <a16:creationId xmlns:a16="http://schemas.microsoft.com/office/drawing/2014/main" id="{429B388A-20B4-42BC-9E17-B0332616A349}"/>
              </a:ext>
            </a:extLst>
          </p:cNvPr>
          <p:cNvCxnSpPr/>
          <p:nvPr/>
        </p:nvCxnSpPr>
        <p:spPr>
          <a:xfrm>
            <a:off x="4947893" y="1391109"/>
            <a:ext cx="1233489" cy="627396"/>
          </a:xfrm>
          <a:prstGeom prst="straightConnector1">
            <a:avLst/>
          </a:prstGeom>
          <a:ln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necteur droit avec flèche 34">
            <a:extLst>
              <a:ext uri="{FF2B5EF4-FFF2-40B4-BE49-F238E27FC236}">
                <a16:creationId xmlns:a16="http://schemas.microsoft.com/office/drawing/2014/main" id="{B854A5CC-4D4E-4086-BA13-6A4B62142D01}"/>
              </a:ext>
            </a:extLst>
          </p:cNvPr>
          <p:cNvCxnSpPr>
            <a:cxnSpLocks/>
          </p:cNvCxnSpPr>
          <p:nvPr/>
        </p:nvCxnSpPr>
        <p:spPr>
          <a:xfrm flipV="1">
            <a:off x="4891321" y="3079106"/>
            <a:ext cx="1325963" cy="459777"/>
          </a:xfrm>
          <a:prstGeom prst="straightConnector1">
            <a:avLst/>
          </a:prstGeom>
          <a:ln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onnecteur droit avec flèche 37">
            <a:extLst>
              <a:ext uri="{FF2B5EF4-FFF2-40B4-BE49-F238E27FC236}">
                <a16:creationId xmlns:a16="http://schemas.microsoft.com/office/drawing/2014/main" id="{59640193-E9F1-4310-88B8-25828AE43174}"/>
              </a:ext>
            </a:extLst>
          </p:cNvPr>
          <p:cNvCxnSpPr>
            <a:cxnSpLocks/>
          </p:cNvCxnSpPr>
          <p:nvPr/>
        </p:nvCxnSpPr>
        <p:spPr>
          <a:xfrm flipV="1">
            <a:off x="5736191" y="4644167"/>
            <a:ext cx="481093" cy="188356"/>
          </a:xfrm>
          <a:prstGeom prst="straightConnector1">
            <a:avLst/>
          </a:prstGeom>
          <a:ln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ZoneTexte 32">
            <a:extLst>
              <a:ext uri="{FF2B5EF4-FFF2-40B4-BE49-F238E27FC236}">
                <a16:creationId xmlns:a16="http://schemas.microsoft.com/office/drawing/2014/main" id="{B6D33C23-5BFD-4E78-A48D-1E8BB102473E}"/>
              </a:ext>
            </a:extLst>
          </p:cNvPr>
          <p:cNvSpPr txBox="1"/>
          <p:nvPr/>
        </p:nvSpPr>
        <p:spPr>
          <a:xfrm>
            <a:off x="6181382" y="1796348"/>
            <a:ext cx="4667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0%</a:t>
            </a:r>
          </a:p>
        </p:txBody>
      </p:sp>
      <p:sp>
        <p:nvSpPr>
          <p:cNvPr id="41" name="ZoneTexte 40">
            <a:extLst>
              <a:ext uri="{FF2B5EF4-FFF2-40B4-BE49-F238E27FC236}">
                <a16:creationId xmlns:a16="http://schemas.microsoft.com/office/drawing/2014/main" id="{CA7AB05A-4513-46C3-B0C2-D1B29D10CD70}"/>
              </a:ext>
            </a:extLst>
          </p:cNvPr>
          <p:cNvSpPr txBox="1"/>
          <p:nvPr/>
        </p:nvSpPr>
        <p:spPr>
          <a:xfrm>
            <a:off x="6297128" y="3094271"/>
            <a:ext cx="5838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95%</a:t>
            </a:r>
          </a:p>
        </p:txBody>
      </p:sp>
      <p:sp>
        <p:nvSpPr>
          <p:cNvPr id="42" name="ZoneTexte 41">
            <a:extLst>
              <a:ext uri="{FF2B5EF4-FFF2-40B4-BE49-F238E27FC236}">
                <a16:creationId xmlns:a16="http://schemas.microsoft.com/office/drawing/2014/main" id="{C173B553-66C8-4195-A225-41F3B6C32CE9}"/>
              </a:ext>
            </a:extLst>
          </p:cNvPr>
          <p:cNvSpPr txBox="1"/>
          <p:nvPr/>
        </p:nvSpPr>
        <p:spPr>
          <a:xfrm>
            <a:off x="6247930" y="4401827"/>
            <a:ext cx="4667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5%</a:t>
            </a:r>
          </a:p>
        </p:txBody>
      </p:sp>
      <p:sp>
        <p:nvSpPr>
          <p:cNvPr id="43" name="ZoneTexte 42">
            <a:extLst>
              <a:ext uri="{FF2B5EF4-FFF2-40B4-BE49-F238E27FC236}">
                <a16:creationId xmlns:a16="http://schemas.microsoft.com/office/drawing/2014/main" id="{B1FFA1BD-FF32-40BC-A588-69C66004DF20}"/>
              </a:ext>
            </a:extLst>
          </p:cNvPr>
          <p:cNvSpPr txBox="1"/>
          <p:nvPr/>
        </p:nvSpPr>
        <p:spPr>
          <a:xfrm>
            <a:off x="4553006" y="1113684"/>
            <a:ext cx="7008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100%</a:t>
            </a:r>
          </a:p>
        </p:txBody>
      </p:sp>
      <p:sp>
        <p:nvSpPr>
          <p:cNvPr id="44" name="ZoneTexte 43">
            <a:extLst>
              <a:ext uri="{FF2B5EF4-FFF2-40B4-BE49-F238E27FC236}">
                <a16:creationId xmlns:a16="http://schemas.microsoft.com/office/drawing/2014/main" id="{00663D3A-3984-4252-B42F-3B83C5B271BB}"/>
              </a:ext>
            </a:extLst>
          </p:cNvPr>
          <p:cNvSpPr txBox="1"/>
          <p:nvPr/>
        </p:nvSpPr>
        <p:spPr>
          <a:xfrm>
            <a:off x="773491" y="6031607"/>
            <a:ext cx="96602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/>
              <a:t>Achievement</a:t>
            </a:r>
            <a:r>
              <a:rPr lang="fr-FR" dirty="0"/>
              <a:t> 3/4 :  HDI (</a:t>
            </a:r>
            <a:r>
              <a:rPr lang="fr-FR" dirty="0" err="1"/>
              <a:t>huge</a:t>
            </a:r>
            <a:r>
              <a:rPr lang="fr-FR" dirty="0"/>
              <a:t> </a:t>
            </a:r>
            <a:r>
              <a:rPr lang="fr-FR" dirty="0" err="1"/>
              <a:t>costs</a:t>
            </a:r>
            <a:r>
              <a:rPr lang="fr-FR" dirty="0"/>
              <a:t>) </a:t>
            </a:r>
            <a:r>
              <a:rPr lang="fr-FR" dirty="0" err="1"/>
              <a:t>decommissoned</a:t>
            </a:r>
            <a:r>
              <a:rPr lang="fr-FR" dirty="0"/>
              <a:t>,  </a:t>
            </a:r>
            <a:r>
              <a:rPr lang="fr-FR" dirty="0" err="1"/>
              <a:t>replaced</a:t>
            </a:r>
            <a:r>
              <a:rPr lang="fr-FR" dirty="0"/>
              <a:t> by (95%) </a:t>
            </a:r>
            <a:r>
              <a:rPr lang="fr-FR" dirty="0" err="1"/>
              <a:t>kubernetes</a:t>
            </a:r>
            <a:r>
              <a:rPr lang="fr-FR" dirty="0"/>
              <a:t>  (+ 5% Synapse) </a:t>
            </a:r>
          </a:p>
        </p:txBody>
      </p:sp>
      <p:sp>
        <p:nvSpPr>
          <p:cNvPr id="45" name="ZoneTexte 44">
            <a:extLst>
              <a:ext uri="{FF2B5EF4-FFF2-40B4-BE49-F238E27FC236}">
                <a16:creationId xmlns:a16="http://schemas.microsoft.com/office/drawing/2014/main" id="{32638C45-972E-4850-A390-A19DC0B3B746}"/>
              </a:ext>
            </a:extLst>
          </p:cNvPr>
          <p:cNvSpPr txBox="1"/>
          <p:nvPr/>
        </p:nvSpPr>
        <p:spPr>
          <a:xfrm>
            <a:off x="773490" y="6397111"/>
            <a:ext cx="100634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=&gt;  </a:t>
            </a:r>
            <a:r>
              <a:rPr lang="fr-FR" dirty="0" err="1"/>
              <a:t>Huge</a:t>
            </a:r>
            <a:r>
              <a:rPr lang="fr-FR" dirty="0"/>
              <a:t> </a:t>
            </a:r>
            <a:r>
              <a:rPr lang="fr-FR" dirty="0" err="1"/>
              <a:t>costs</a:t>
            </a:r>
            <a:r>
              <a:rPr lang="fr-FR" dirty="0"/>
              <a:t> </a:t>
            </a:r>
            <a:r>
              <a:rPr lang="fr-FR" dirty="0" err="1"/>
              <a:t>reductions</a:t>
            </a:r>
            <a:r>
              <a:rPr lang="fr-FR" dirty="0"/>
              <a:t>, </a:t>
            </a:r>
            <a:r>
              <a:rPr lang="fr-FR" dirty="0" err="1"/>
              <a:t>using</a:t>
            </a:r>
            <a:r>
              <a:rPr lang="fr-FR" dirty="0"/>
              <a:t> « Spot VM </a:t>
            </a:r>
            <a:r>
              <a:rPr lang="fr-FR" dirty="0" err="1"/>
              <a:t>price</a:t>
            </a:r>
            <a:r>
              <a:rPr lang="fr-FR" dirty="0"/>
              <a:t> = 1/10 of on-</a:t>
            </a:r>
            <a:r>
              <a:rPr lang="fr-FR" dirty="0" err="1"/>
              <a:t>demand</a:t>
            </a:r>
            <a:r>
              <a:rPr lang="fr-FR" dirty="0"/>
              <a:t> VM  +  Auto-</a:t>
            </a:r>
            <a:r>
              <a:rPr lang="fr-FR" dirty="0" err="1"/>
              <a:t>Scaling</a:t>
            </a:r>
            <a:r>
              <a:rPr lang="fr-FR" dirty="0"/>
              <a:t> </a:t>
            </a:r>
            <a:r>
              <a:rPr lang="fr-FR" dirty="0" err="1"/>
              <a:t>works</a:t>
            </a:r>
            <a:r>
              <a:rPr lang="fr-FR" dirty="0"/>
              <a:t> </a:t>
            </a:r>
            <a:r>
              <a:rPr lang="fr-FR" dirty="0" err="1"/>
              <a:t>great</a:t>
            </a:r>
            <a:r>
              <a:rPr lang="fr-FR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4280775293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6" descr="Cloudera | Experts en plateforme de données d'entreprise">
            <a:extLst>
              <a:ext uri="{FF2B5EF4-FFF2-40B4-BE49-F238E27FC236}">
                <a16:creationId xmlns:a16="http://schemas.microsoft.com/office/drawing/2014/main" id="{781A48DA-2B41-470F-B7D6-3ACC5BFABF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6684" y="5274412"/>
            <a:ext cx="2013139" cy="10486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Arrow: Right 4">
            <a:extLst>
              <a:ext uri="{FF2B5EF4-FFF2-40B4-BE49-F238E27FC236}">
                <a16:creationId xmlns:a16="http://schemas.microsoft.com/office/drawing/2014/main" id="{6B921F68-5F82-48A9-864C-FCA30CCC5B19}"/>
              </a:ext>
            </a:extLst>
          </p:cNvPr>
          <p:cNvSpPr/>
          <p:nvPr/>
        </p:nvSpPr>
        <p:spPr>
          <a:xfrm>
            <a:off x="2490040" y="5787257"/>
            <a:ext cx="3096870" cy="364940"/>
          </a:xfrm>
          <a:prstGeom prst="rightArrow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" name="TextBox 15">
            <a:extLst>
              <a:ext uri="{FF2B5EF4-FFF2-40B4-BE49-F238E27FC236}">
                <a16:creationId xmlns:a16="http://schemas.microsoft.com/office/drawing/2014/main" id="{244D07EC-9968-4BDA-9A14-B02ECDE032A2}"/>
              </a:ext>
            </a:extLst>
          </p:cNvPr>
          <p:cNvSpPr txBox="1"/>
          <p:nvPr/>
        </p:nvSpPr>
        <p:spPr>
          <a:xfrm>
            <a:off x="412461" y="5235371"/>
            <a:ext cx="60121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/>
              <a:t>Decision</a:t>
            </a:r>
            <a:r>
              <a:rPr lang="fr-FR" dirty="0"/>
              <a:t> to </a:t>
            </a:r>
            <a:r>
              <a:rPr lang="fr-FR" dirty="0" err="1"/>
              <a:t>also</a:t>
            </a:r>
            <a:r>
              <a:rPr lang="fr-FR" dirty="0"/>
              <a:t> </a:t>
            </a:r>
            <a:r>
              <a:rPr lang="fr-FR" dirty="0" err="1"/>
              <a:t>decommission</a:t>
            </a:r>
            <a:r>
              <a:rPr lang="fr-FR" dirty="0"/>
              <a:t> </a:t>
            </a:r>
            <a:r>
              <a:rPr lang="fr-FR" dirty="0" err="1"/>
              <a:t>other</a:t>
            </a:r>
            <a:r>
              <a:rPr lang="fr-FR" dirty="0"/>
              <a:t> (Hadoop) </a:t>
            </a:r>
            <a:r>
              <a:rPr lang="fr-FR" dirty="0" err="1"/>
              <a:t>Datalakes</a:t>
            </a:r>
            <a:r>
              <a:rPr lang="fr-FR" dirty="0"/>
              <a:t> at SG</a:t>
            </a:r>
          </a:p>
        </p:txBody>
      </p:sp>
      <p:pic>
        <p:nvPicPr>
          <p:cNvPr id="5" name="Picture 8" descr="Apache Spark — Wikipédia">
            <a:extLst>
              <a:ext uri="{FF2B5EF4-FFF2-40B4-BE49-F238E27FC236}">
                <a16:creationId xmlns:a16="http://schemas.microsoft.com/office/drawing/2014/main" id="{5CC90CEC-5FE4-408E-A852-038B579CC6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9591" y="5922289"/>
            <a:ext cx="771943" cy="4007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A2C4DB95-CB42-4BD3-A53A-F188A137CA21}"/>
              </a:ext>
            </a:extLst>
          </p:cNvPr>
          <p:cNvSpPr txBox="1">
            <a:spLocks/>
          </p:cNvSpPr>
          <p:nvPr/>
        </p:nvSpPr>
        <p:spPr>
          <a:xfrm>
            <a:off x="215" y="39735"/>
            <a:ext cx="12222464" cy="1077777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="ctr"/>
          <a:lstStyle>
            <a:lvl1pPr algn="ctr" rtl="0" hangingPunct="0">
              <a:tabLst/>
              <a:defRPr lang="fr-FR" sz="4400" b="0" i="0" u="none" strike="noStrike" kern="1200" cap="none">
                <a:ln>
                  <a:noFill/>
                </a:ln>
                <a:highlight>
                  <a:scrgbClr r="0" g="0" b="0">
                    <a:alpha val="0"/>
                  </a:scrgbClr>
                </a:highlight>
                <a:latin typeface="Liberation Sans" pitchFamily="18"/>
                <a:ea typeface="Microsoft YaHei" pitchFamily="2"/>
              </a:defRPr>
            </a:lvl1pPr>
          </a:lstStyle>
          <a:p>
            <a:r>
              <a:rPr lang="fr-FR" sz="5321" dirty="0" err="1">
                <a:solidFill>
                  <a:sysClr val="windowText" lastClr="000000"/>
                </a:solidFill>
              </a:rPr>
              <a:t>Datalake</a:t>
            </a:r>
            <a:r>
              <a:rPr lang="fr-FR" sz="5321" dirty="0">
                <a:solidFill>
                  <a:sysClr val="windowText" lastClr="000000"/>
                </a:solidFill>
              </a:rPr>
              <a:t> &amp; Move-To-Cloud At SG</a:t>
            </a:r>
          </a:p>
        </p:txBody>
      </p:sp>
      <p:cxnSp>
        <p:nvCxnSpPr>
          <p:cNvPr id="7" name="Connecteur droit avec flèche 6">
            <a:extLst>
              <a:ext uri="{FF2B5EF4-FFF2-40B4-BE49-F238E27FC236}">
                <a16:creationId xmlns:a16="http://schemas.microsoft.com/office/drawing/2014/main" id="{BF2A2F8C-2785-446D-A264-2F9368288A15}"/>
              </a:ext>
            </a:extLst>
          </p:cNvPr>
          <p:cNvCxnSpPr>
            <a:cxnSpLocks/>
          </p:cNvCxnSpPr>
          <p:nvPr/>
        </p:nvCxnSpPr>
        <p:spPr>
          <a:xfrm>
            <a:off x="7154460" y="1883379"/>
            <a:ext cx="1233489" cy="627396"/>
          </a:xfrm>
          <a:prstGeom prst="straightConnector1">
            <a:avLst/>
          </a:prstGeom>
          <a:ln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ZoneTexte 7">
            <a:extLst>
              <a:ext uri="{FF2B5EF4-FFF2-40B4-BE49-F238E27FC236}">
                <a16:creationId xmlns:a16="http://schemas.microsoft.com/office/drawing/2014/main" id="{4519C164-9CCD-4F21-9DCC-105D881E680D}"/>
              </a:ext>
            </a:extLst>
          </p:cNvPr>
          <p:cNvSpPr txBox="1"/>
          <p:nvPr/>
        </p:nvSpPr>
        <p:spPr>
          <a:xfrm>
            <a:off x="8387949" y="2409502"/>
            <a:ext cx="5838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80%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A5ECED3E-BDA3-4CAF-B0FF-38C716EF7EA9}"/>
              </a:ext>
            </a:extLst>
          </p:cNvPr>
          <p:cNvSpPr txBox="1"/>
          <p:nvPr/>
        </p:nvSpPr>
        <p:spPr>
          <a:xfrm>
            <a:off x="6759573" y="1605954"/>
            <a:ext cx="7008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100%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BB67647D-CC28-46D0-9D9C-C4F41E4ABE76}"/>
              </a:ext>
            </a:extLst>
          </p:cNvPr>
          <p:cNvSpPr txBox="1"/>
          <p:nvPr/>
        </p:nvSpPr>
        <p:spPr>
          <a:xfrm>
            <a:off x="452768" y="1745915"/>
            <a:ext cx="546649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General </a:t>
            </a:r>
            <a:r>
              <a:rPr lang="fr-FR" dirty="0" err="1"/>
              <a:t>expertize</a:t>
            </a:r>
            <a:r>
              <a:rPr lang="fr-FR" dirty="0"/>
              <a:t> on Azure + </a:t>
            </a:r>
            <a:r>
              <a:rPr lang="fr-FR" dirty="0" err="1"/>
              <a:t>Kubernetes</a:t>
            </a:r>
            <a:endParaRPr lang="fr-FR" dirty="0"/>
          </a:p>
          <a:p>
            <a:endParaRPr lang="fr-FR" dirty="0"/>
          </a:p>
          <a:p>
            <a:r>
              <a:rPr lang="fr-FR" dirty="0"/>
              <a:t>Global « Move-To-Cloud » program for all « On-Prem » IT</a:t>
            </a:r>
          </a:p>
        </p:txBody>
      </p:sp>
      <p:cxnSp>
        <p:nvCxnSpPr>
          <p:cNvPr id="12" name="Connecteur droit avec flèche 11">
            <a:extLst>
              <a:ext uri="{FF2B5EF4-FFF2-40B4-BE49-F238E27FC236}">
                <a16:creationId xmlns:a16="http://schemas.microsoft.com/office/drawing/2014/main" id="{2CD93839-3469-4005-ADCC-F4D960153156}"/>
              </a:ext>
            </a:extLst>
          </p:cNvPr>
          <p:cNvCxnSpPr/>
          <p:nvPr/>
        </p:nvCxnSpPr>
        <p:spPr>
          <a:xfrm>
            <a:off x="8971763" y="2749491"/>
            <a:ext cx="1233489" cy="627396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arrow" w="lg" len="lg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3" name="ZoneTexte 12">
            <a:extLst>
              <a:ext uri="{FF2B5EF4-FFF2-40B4-BE49-F238E27FC236}">
                <a16:creationId xmlns:a16="http://schemas.microsoft.com/office/drawing/2014/main" id="{C781EB36-0719-4A49-984A-3552FBB3CA2A}"/>
              </a:ext>
            </a:extLst>
          </p:cNvPr>
          <p:cNvSpPr txBox="1"/>
          <p:nvPr/>
        </p:nvSpPr>
        <p:spPr>
          <a:xfrm>
            <a:off x="10341516" y="3105834"/>
            <a:ext cx="155523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Ambition 40% </a:t>
            </a:r>
          </a:p>
          <a:p>
            <a:r>
              <a:rPr lang="fr-FR" dirty="0"/>
              <a:t>in 2 </a:t>
            </a:r>
            <a:r>
              <a:rPr lang="fr-FR" dirty="0" err="1"/>
              <a:t>years</a:t>
            </a:r>
            <a:endParaRPr lang="fr-FR" dirty="0"/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62EDEB51-E1E6-4408-96F2-EE7D7C9F170D}"/>
              </a:ext>
            </a:extLst>
          </p:cNvPr>
          <p:cNvSpPr txBox="1"/>
          <p:nvPr/>
        </p:nvSpPr>
        <p:spPr>
          <a:xfrm>
            <a:off x="6044193" y="1975286"/>
            <a:ext cx="10071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On Prem</a:t>
            </a: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A7222460-CB2C-4224-AAFC-71E21255819A}"/>
              </a:ext>
            </a:extLst>
          </p:cNvPr>
          <p:cNvSpPr txBox="1"/>
          <p:nvPr/>
        </p:nvSpPr>
        <p:spPr>
          <a:xfrm>
            <a:off x="6096000" y="3743476"/>
            <a:ext cx="7223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Azure</a:t>
            </a:r>
          </a:p>
        </p:txBody>
      </p:sp>
      <p:cxnSp>
        <p:nvCxnSpPr>
          <p:cNvPr id="17" name="Connecteur droit avec flèche 16">
            <a:extLst>
              <a:ext uri="{FF2B5EF4-FFF2-40B4-BE49-F238E27FC236}">
                <a16:creationId xmlns:a16="http://schemas.microsoft.com/office/drawing/2014/main" id="{07A56727-A2BD-43EF-8051-8C2D9D227D88}"/>
              </a:ext>
            </a:extLst>
          </p:cNvPr>
          <p:cNvCxnSpPr>
            <a:cxnSpLocks/>
          </p:cNvCxnSpPr>
          <p:nvPr/>
        </p:nvCxnSpPr>
        <p:spPr>
          <a:xfrm flipV="1">
            <a:off x="7215770" y="3429000"/>
            <a:ext cx="1172179" cy="575281"/>
          </a:xfrm>
          <a:prstGeom prst="straightConnector1">
            <a:avLst/>
          </a:prstGeom>
          <a:ln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ZoneTexte 17">
            <a:extLst>
              <a:ext uri="{FF2B5EF4-FFF2-40B4-BE49-F238E27FC236}">
                <a16:creationId xmlns:a16="http://schemas.microsoft.com/office/drawing/2014/main" id="{1608D9E0-D6E9-41B4-9E51-E9DB754F673F}"/>
              </a:ext>
            </a:extLst>
          </p:cNvPr>
          <p:cNvSpPr txBox="1"/>
          <p:nvPr/>
        </p:nvSpPr>
        <p:spPr>
          <a:xfrm>
            <a:off x="8387949" y="3244333"/>
            <a:ext cx="5838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20%</a:t>
            </a:r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436C0374-BFE1-4CF7-AEF6-A91217054E6D}"/>
              </a:ext>
            </a:extLst>
          </p:cNvPr>
          <p:cNvSpPr txBox="1"/>
          <p:nvPr/>
        </p:nvSpPr>
        <p:spPr>
          <a:xfrm>
            <a:off x="6820883" y="3726856"/>
            <a:ext cx="4667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0%</a:t>
            </a:r>
          </a:p>
        </p:txBody>
      </p:sp>
      <p:sp>
        <p:nvSpPr>
          <p:cNvPr id="21" name="ZoneTexte 20">
            <a:extLst>
              <a:ext uri="{FF2B5EF4-FFF2-40B4-BE49-F238E27FC236}">
                <a16:creationId xmlns:a16="http://schemas.microsoft.com/office/drawing/2014/main" id="{99B9393F-7FD5-4D6A-A35C-D071D497ABBE}"/>
              </a:ext>
            </a:extLst>
          </p:cNvPr>
          <p:cNvSpPr txBox="1"/>
          <p:nvPr/>
        </p:nvSpPr>
        <p:spPr>
          <a:xfrm>
            <a:off x="5030454" y="4123413"/>
            <a:ext cx="27407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In 2020: </a:t>
            </a:r>
            <a:r>
              <a:rPr lang="fr-FR" dirty="0" err="1"/>
              <a:t>only</a:t>
            </a:r>
            <a:r>
              <a:rPr lang="fr-FR" dirty="0"/>
              <a:t> </a:t>
            </a:r>
            <a:r>
              <a:rPr lang="fr-FR" dirty="0" err="1"/>
              <a:t>datalake</a:t>
            </a:r>
            <a:r>
              <a:rPr lang="fr-FR" dirty="0"/>
              <a:t> apps</a:t>
            </a:r>
          </a:p>
        </p:txBody>
      </p:sp>
      <p:sp>
        <p:nvSpPr>
          <p:cNvPr id="22" name="ZoneTexte 21">
            <a:extLst>
              <a:ext uri="{FF2B5EF4-FFF2-40B4-BE49-F238E27FC236}">
                <a16:creationId xmlns:a16="http://schemas.microsoft.com/office/drawing/2014/main" id="{0768C8FD-D41D-44CA-9309-89D2686C2A74}"/>
              </a:ext>
            </a:extLst>
          </p:cNvPr>
          <p:cNvSpPr txBox="1"/>
          <p:nvPr/>
        </p:nvSpPr>
        <p:spPr>
          <a:xfrm>
            <a:off x="8109475" y="4126688"/>
            <a:ext cx="11407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/>
              <a:t>Now</a:t>
            </a:r>
            <a:r>
              <a:rPr lang="fr-FR" dirty="0"/>
              <a:t> 2026</a:t>
            </a:r>
          </a:p>
        </p:txBody>
      </p:sp>
      <p:pic>
        <p:nvPicPr>
          <p:cNvPr id="23" name="Picture 8" descr="Apache Spark — Wikipédia">
            <a:extLst>
              <a:ext uri="{FF2B5EF4-FFF2-40B4-BE49-F238E27FC236}">
                <a16:creationId xmlns:a16="http://schemas.microsoft.com/office/drawing/2014/main" id="{114D3C4C-3B0D-4706-9E04-48AF1A6D55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3561" y="3632598"/>
            <a:ext cx="2075977" cy="10777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5" name="ZoneTexte 24">
            <a:extLst>
              <a:ext uri="{FF2B5EF4-FFF2-40B4-BE49-F238E27FC236}">
                <a16:creationId xmlns:a16="http://schemas.microsoft.com/office/drawing/2014/main" id="{4A000627-4FE1-46ED-AE06-1D39FDFD3011}"/>
              </a:ext>
            </a:extLst>
          </p:cNvPr>
          <p:cNvSpPr txBox="1"/>
          <p:nvPr/>
        </p:nvSpPr>
        <p:spPr>
          <a:xfrm>
            <a:off x="425053" y="3057991"/>
            <a:ext cx="610897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 err="1"/>
              <a:t>Huge</a:t>
            </a:r>
            <a:r>
              <a:rPr lang="fr-FR" dirty="0"/>
              <a:t> </a:t>
            </a:r>
            <a:r>
              <a:rPr lang="fr-FR" dirty="0" err="1"/>
              <a:t>expertize</a:t>
            </a:r>
            <a:r>
              <a:rPr lang="fr-FR" dirty="0"/>
              <a:t> on Spark, </a:t>
            </a:r>
            <a:r>
              <a:rPr lang="fr-FR" dirty="0" err="1"/>
              <a:t>huge</a:t>
            </a:r>
            <a:r>
              <a:rPr lang="fr-FR" dirty="0"/>
              <a:t> monitoring / </a:t>
            </a:r>
            <a:r>
              <a:rPr lang="fr-FR" dirty="0" err="1"/>
              <a:t>Costs</a:t>
            </a:r>
            <a:r>
              <a:rPr lang="fr-FR" dirty="0"/>
              <a:t> </a:t>
            </a:r>
            <a:r>
              <a:rPr lang="fr-FR" dirty="0" err="1"/>
              <a:t>analysis</a:t>
            </a:r>
            <a:endParaRPr lang="fr-FR" dirty="0"/>
          </a:p>
          <a:p>
            <a:r>
              <a:rPr lang="fr-FR" dirty="0"/>
              <a:t>( </a:t>
            </a:r>
            <a:r>
              <a:rPr lang="fr-FR" dirty="0" err="1"/>
              <a:t>competing</a:t>
            </a:r>
            <a:r>
              <a:rPr lang="fr-FR" dirty="0"/>
              <a:t> </a:t>
            </a:r>
            <a:r>
              <a:rPr lang="fr-FR" dirty="0" err="1"/>
              <a:t>better</a:t>
            </a:r>
            <a:r>
              <a:rPr lang="fr-FR" dirty="0"/>
              <a:t> </a:t>
            </a:r>
            <a:r>
              <a:rPr lang="fr-FR" dirty="0" err="1"/>
              <a:t>than</a:t>
            </a:r>
            <a:r>
              <a:rPr lang="fr-FR" dirty="0"/>
              <a:t> Synapse / </a:t>
            </a:r>
            <a:r>
              <a:rPr lang="fr-FR" dirty="0" err="1"/>
              <a:t>Databricks</a:t>
            </a:r>
            <a:r>
              <a:rPr lang="fr-FR" dirty="0"/>
              <a:t>)</a:t>
            </a:r>
          </a:p>
        </p:txBody>
      </p:sp>
      <p:sp>
        <p:nvSpPr>
          <p:cNvPr id="26" name="Multiplication Sign 11">
            <a:extLst>
              <a:ext uri="{FF2B5EF4-FFF2-40B4-BE49-F238E27FC236}">
                <a16:creationId xmlns:a16="http://schemas.microsoft.com/office/drawing/2014/main" id="{6929F150-BFB4-4FC7-BDDE-7133982973F1}"/>
              </a:ext>
            </a:extLst>
          </p:cNvPr>
          <p:cNvSpPr/>
          <p:nvPr/>
        </p:nvSpPr>
        <p:spPr>
          <a:xfrm>
            <a:off x="10341516" y="5455892"/>
            <a:ext cx="580557" cy="867164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7" name="ZoneTexte 26">
            <a:extLst>
              <a:ext uri="{FF2B5EF4-FFF2-40B4-BE49-F238E27FC236}">
                <a16:creationId xmlns:a16="http://schemas.microsoft.com/office/drawing/2014/main" id="{75DACC11-68BC-43F4-8E15-BF39D9BB9F7D}"/>
              </a:ext>
            </a:extLst>
          </p:cNvPr>
          <p:cNvSpPr txBox="1"/>
          <p:nvPr/>
        </p:nvSpPr>
        <p:spPr>
          <a:xfrm>
            <a:off x="10407199" y="5096872"/>
            <a:ext cx="161101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/>
              <a:t>Decommission</a:t>
            </a:r>
            <a:r>
              <a:rPr lang="fr-FR" dirty="0"/>
              <a:t> </a:t>
            </a:r>
          </a:p>
          <a:p>
            <a:r>
              <a:rPr lang="fr-FR" dirty="0"/>
              <a:t>in 2 </a:t>
            </a:r>
            <a:r>
              <a:rPr lang="fr-FR" dirty="0" err="1"/>
              <a:t>years</a:t>
            </a:r>
            <a:endParaRPr lang="fr-FR" dirty="0"/>
          </a:p>
        </p:txBody>
      </p:sp>
      <p:pic>
        <p:nvPicPr>
          <p:cNvPr id="28" name="Picture 2" descr="SQL in Databricks | Dev Genius">
            <a:extLst>
              <a:ext uri="{FF2B5EF4-FFF2-40B4-BE49-F238E27FC236}">
                <a16:creationId xmlns:a16="http://schemas.microsoft.com/office/drawing/2014/main" id="{B6AFDC5F-C6A1-489E-83EA-0C3212740B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38914" y="6152196"/>
            <a:ext cx="1210753" cy="6349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" name="Picture 8" descr="Apache Spark — Wikipédia">
            <a:extLst>
              <a:ext uri="{FF2B5EF4-FFF2-40B4-BE49-F238E27FC236}">
                <a16:creationId xmlns:a16="http://schemas.microsoft.com/office/drawing/2014/main" id="{C76A41F8-4D74-4FDC-9667-0BDD15522E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49130" y="6343578"/>
            <a:ext cx="845689" cy="4390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ZoneTexte 29">
            <a:extLst>
              <a:ext uri="{FF2B5EF4-FFF2-40B4-BE49-F238E27FC236}">
                <a16:creationId xmlns:a16="http://schemas.microsoft.com/office/drawing/2014/main" id="{C4EE4225-40CA-4EE0-A120-C86B21D3CF91}"/>
              </a:ext>
            </a:extLst>
          </p:cNvPr>
          <p:cNvSpPr txBox="1"/>
          <p:nvPr/>
        </p:nvSpPr>
        <p:spPr>
          <a:xfrm>
            <a:off x="4834646" y="6448933"/>
            <a:ext cx="36749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Few </a:t>
            </a:r>
            <a:r>
              <a:rPr lang="fr-FR" dirty="0" err="1"/>
              <a:t>remain</a:t>
            </a:r>
            <a:r>
              <a:rPr lang="fr-FR" dirty="0"/>
              <a:t>, but </a:t>
            </a:r>
            <a:r>
              <a:rPr lang="fr-FR" dirty="0" err="1"/>
              <a:t>prefer</a:t>
            </a:r>
            <a:r>
              <a:rPr lang="fr-FR" dirty="0"/>
              <a:t> in </a:t>
            </a:r>
            <a:r>
              <a:rPr lang="fr-FR" dirty="0" err="1"/>
              <a:t>kubernetes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069088381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E5A99A-7AFA-91D2-EAE4-53B05BED0D42}"/>
              </a:ext>
            </a:extLst>
          </p:cNvPr>
          <p:cNvSpPr txBox="1">
            <a:spLocks/>
          </p:cNvSpPr>
          <p:nvPr/>
        </p:nvSpPr>
        <p:spPr>
          <a:xfrm>
            <a:off x="215" y="39735"/>
            <a:ext cx="12222464" cy="172527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="ctr"/>
          <a:lstStyle>
            <a:lvl1pPr algn="ctr" rtl="0" hangingPunct="0">
              <a:tabLst/>
              <a:defRPr lang="fr-FR" sz="4400" b="0" i="0" u="none" strike="noStrike" kern="1200" cap="none">
                <a:ln>
                  <a:noFill/>
                </a:ln>
                <a:highlight>
                  <a:scrgbClr r="0" g="0" b="0">
                    <a:alpha val="0"/>
                  </a:scrgbClr>
                </a:highlight>
                <a:latin typeface="Liberation Sans" pitchFamily="18"/>
                <a:ea typeface="Microsoft YaHei" pitchFamily="2"/>
              </a:defRPr>
            </a:lvl1pPr>
          </a:lstStyle>
          <a:p>
            <a:r>
              <a:rPr lang="fr-FR" sz="5321" dirty="0">
                <a:solidFill>
                  <a:sysClr val="windowText" lastClr="000000"/>
                </a:solidFill>
              </a:rPr>
              <a:t>Point in </a:t>
            </a:r>
            <a:r>
              <a:rPr lang="fr-FR" sz="5321" dirty="0" err="1">
                <a:solidFill>
                  <a:sysClr val="windowText" lastClr="000000"/>
                </a:solidFill>
              </a:rPr>
              <a:t>common</a:t>
            </a:r>
            <a:endParaRPr lang="fr-FR" sz="5321" dirty="0">
              <a:solidFill>
                <a:sysClr val="windowText" lastClr="000000"/>
              </a:solidFill>
            </a:endParaRPr>
          </a:p>
          <a:p>
            <a:r>
              <a:rPr lang="fr-FR" sz="5321" dirty="0" err="1">
                <a:solidFill>
                  <a:sysClr val="windowText" lastClr="000000"/>
                </a:solidFill>
              </a:rPr>
              <a:t>Despite</a:t>
            </a:r>
            <a:r>
              <a:rPr lang="fr-FR" sz="5321" dirty="0">
                <a:solidFill>
                  <a:sysClr val="windowText" lastClr="000000"/>
                </a:solidFill>
              </a:rPr>
              <a:t> all changes</a:t>
            </a:r>
          </a:p>
        </p:txBody>
      </p:sp>
      <p:pic>
        <p:nvPicPr>
          <p:cNvPr id="3" name="Picture 8" descr="Apache Spark — Wikipédia">
            <a:extLst>
              <a:ext uri="{FF2B5EF4-FFF2-40B4-BE49-F238E27FC236}">
                <a16:creationId xmlns:a16="http://schemas.microsoft.com/office/drawing/2014/main" id="{CA9634A3-1117-B18A-148D-6A92C6C416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36713" y="3045106"/>
            <a:ext cx="2075977" cy="10777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2" descr="Kubernetes, c'est quoi ?">
            <a:extLst>
              <a:ext uri="{FF2B5EF4-FFF2-40B4-BE49-F238E27FC236}">
                <a16:creationId xmlns:a16="http://schemas.microsoft.com/office/drawing/2014/main" id="{BC2BD793-B1D8-4698-A90F-1F7EAAAC77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19907" y="3367792"/>
            <a:ext cx="1275571" cy="11308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Looking At Apache Kafka for Azure HDInsight | API Streaming | API Friends">
            <a:extLst>
              <a:ext uri="{FF2B5EF4-FFF2-40B4-BE49-F238E27FC236}">
                <a16:creationId xmlns:a16="http://schemas.microsoft.com/office/drawing/2014/main" id="{C847B74C-1AE9-4840-9F2E-05ACF29345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3435" y="2006216"/>
            <a:ext cx="1480971" cy="10388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8" descr="Apache Spark — Wikipédia">
            <a:extLst>
              <a:ext uri="{FF2B5EF4-FFF2-40B4-BE49-F238E27FC236}">
                <a16:creationId xmlns:a16="http://schemas.microsoft.com/office/drawing/2014/main" id="{A6DC8F44-DE21-47DC-B77F-8E03A3890C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56257" y="2429370"/>
            <a:ext cx="863650" cy="4483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8" descr="Apache Spark — Wikipédia">
            <a:extLst>
              <a:ext uri="{FF2B5EF4-FFF2-40B4-BE49-F238E27FC236}">
                <a16:creationId xmlns:a16="http://schemas.microsoft.com/office/drawing/2014/main" id="{543BEBC0-639E-44AB-99A4-2643FFD1D3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33427" y="3774411"/>
            <a:ext cx="863650" cy="4483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2" descr="Tarification - Azure Synapse Analytics | Microsoft Azure">
            <a:extLst>
              <a:ext uri="{FF2B5EF4-FFF2-40B4-BE49-F238E27FC236}">
                <a16:creationId xmlns:a16="http://schemas.microsoft.com/office/drawing/2014/main" id="{6B7E076E-A9B9-45CE-BF71-9238C08A75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33428" y="4646858"/>
            <a:ext cx="1625316" cy="8532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 descr="Apache Spark — Wikipédia">
            <a:extLst>
              <a:ext uri="{FF2B5EF4-FFF2-40B4-BE49-F238E27FC236}">
                <a16:creationId xmlns:a16="http://schemas.microsoft.com/office/drawing/2014/main" id="{3AF9D99D-204C-424F-AE71-725A5F4EEC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35523" y="5132834"/>
            <a:ext cx="863650" cy="4483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ZoneTexte 9">
            <a:extLst>
              <a:ext uri="{FF2B5EF4-FFF2-40B4-BE49-F238E27FC236}">
                <a16:creationId xmlns:a16="http://schemas.microsoft.com/office/drawing/2014/main" id="{D884B38F-A1B6-45D8-8244-5AB0029A4B71}"/>
              </a:ext>
            </a:extLst>
          </p:cNvPr>
          <p:cNvSpPr txBox="1"/>
          <p:nvPr/>
        </p:nvSpPr>
        <p:spPr>
          <a:xfrm>
            <a:off x="4091630" y="5437077"/>
            <a:ext cx="15406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Azure Synapse</a:t>
            </a:r>
          </a:p>
        </p:txBody>
      </p:sp>
      <p:pic>
        <p:nvPicPr>
          <p:cNvPr id="11" name="Picture 6" descr="Cloudera | Experts en plateforme de données d'entreprise">
            <a:extLst>
              <a:ext uri="{FF2B5EF4-FFF2-40B4-BE49-F238E27FC236}">
                <a16:creationId xmlns:a16="http://schemas.microsoft.com/office/drawing/2014/main" id="{8699DDCB-9CDC-4E2A-A5A4-C2B98AA982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6991" y="5440204"/>
            <a:ext cx="2013139" cy="10486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8" descr="Apache Spark — Wikipédia">
            <a:extLst>
              <a:ext uri="{FF2B5EF4-FFF2-40B4-BE49-F238E27FC236}">
                <a16:creationId xmlns:a16="http://schemas.microsoft.com/office/drawing/2014/main" id="{6BB43EE1-7C7A-4F6A-A91F-1F259B5D8F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19898" y="6088081"/>
            <a:ext cx="771943" cy="4007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2" name="Picture 2" descr="SQL in Databricks | Dev Genius">
            <a:extLst>
              <a:ext uri="{FF2B5EF4-FFF2-40B4-BE49-F238E27FC236}">
                <a16:creationId xmlns:a16="http://schemas.microsoft.com/office/drawing/2014/main" id="{FC6A1CA5-1F02-47E5-AC8D-921DFED419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81010" y="6011694"/>
            <a:ext cx="1377219" cy="722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8" descr="Apache Spark — Wikipédia">
            <a:extLst>
              <a:ext uri="{FF2B5EF4-FFF2-40B4-BE49-F238E27FC236}">
                <a16:creationId xmlns:a16="http://schemas.microsoft.com/office/drawing/2014/main" id="{FB777008-061D-4679-A2D2-E14DD4D35D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57692" y="6290368"/>
            <a:ext cx="845689" cy="4390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00651337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>
            <a:extLst>
              <a:ext uri="{FF2B5EF4-FFF2-40B4-BE49-F238E27FC236}">
                <a16:creationId xmlns:a16="http://schemas.microsoft.com/office/drawing/2014/main" id="{186028F1-C12A-4502-B2A5-7927E8E33C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45248" y="3673215"/>
            <a:ext cx="3774948" cy="11324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4388394-C720-403E-B44B-EF885EACFD52}"/>
              </a:ext>
            </a:extLst>
          </p:cNvPr>
          <p:cNvSpPr txBox="1"/>
          <p:nvPr/>
        </p:nvSpPr>
        <p:spPr>
          <a:xfrm>
            <a:off x="4801865" y="5994953"/>
            <a:ext cx="1063112" cy="61337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386" b="1" dirty="0"/>
              <a:t>2006</a:t>
            </a:r>
            <a:endParaRPr lang="fr-FR" sz="2903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36CBA26-D2DF-4D7E-A3DA-892E36704D05}"/>
              </a:ext>
            </a:extLst>
          </p:cNvPr>
          <p:cNvSpPr txBox="1"/>
          <p:nvPr/>
        </p:nvSpPr>
        <p:spPr>
          <a:xfrm>
            <a:off x="2899517" y="1114138"/>
            <a:ext cx="8479565" cy="269753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386" dirty="0" err="1"/>
              <a:t>Commodity</a:t>
            </a:r>
            <a:r>
              <a:rPr lang="fr-FR" sz="3386" dirty="0"/>
              <a:t> Hardwares (datacenters): </a:t>
            </a:r>
          </a:p>
          <a:p>
            <a:r>
              <a:rPr lang="fr-FR" sz="3386" dirty="0" err="1"/>
              <a:t>Only</a:t>
            </a:r>
            <a:r>
              <a:rPr lang="fr-FR" sz="3386" dirty="0"/>
              <a:t> HDD + RAM</a:t>
            </a:r>
          </a:p>
          <a:p>
            <a:r>
              <a:rPr lang="fr-FR" sz="3386" b="1" dirty="0"/>
              <a:t>Data </a:t>
            </a:r>
            <a:r>
              <a:rPr lang="fr-FR" sz="3386" b="1" dirty="0" err="1"/>
              <a:t>Locality</a:t>
            </a:r>
            <a:r>
              <a:rPr lang="fr-FR" sz="3386" b="1" dirty="0"/>
              <a:t> </a:t>
            </a:r>
            <a:r>
              <a:rPr lang="fr-FR" sz="3386" dirty="0"/>
              <a:t>:  </a:t>
            </a:r>
            <a:r>
              <a:rPr lang="fr-FR" sz="3386" dirty="0" err="1"/>
              <a:t>co</a:t>
            </a:r>
            <a:r>
              <a:rPr lang="fr-FR" sz="3386" dirty="0"/>
              <a:t>-host   Storage </a:t>
            </a:r>
            <a:r>
              <a:rPr lang="fr-FR" sz="3386" dirty="0" err="1"/>
              <a:t>near</a:t>
            </a:r>
            <a:r>
              <a:rPr lang="fr-FR" sz="3386" dirty="0"/>
              <a:t> </a:t>
            </a:r>
            <a:r>
              <a:rPr lang="fr-FR" sz="3386" dirty="0" err="1"/>
              <a:t>Compute</a:t>
            </a:r>
            <a:endParaRPr lang="fr-FR" sz="3386" dirty="0"/>
          </a:p>
          <a:p>
            <a:r>
              <a:rPr lang="fr-FR" sz="3386" dirty="0"/>
              <a:t>use RAM to cache</a:t>
            </a:r>
          </a:p>
          <a:p>
            <a:r>
              <a:rPr lang="fr-FR" sz="3386" dirty="0" err="1"/>
              <a:t>avoid</a:t>
            </a:r>
            <a:r>
              <a:rPr lang="fr-FR" sz="3386" dirty="0"/>
              <a:t> network</a:t>
            </a:r>
          </a:p>
        </p:txBody>
      </p:sp>
      <p:sp>
        <p:nvSpPr>
          <p:cNvPr id="6" name="Arrow: Down 5">
            <a:extLst>
              <a:ext uri="{FF2B5EF4-FFF2-40B4-BE49-F238E27FC236}">
                <a16:creationId xmlns:a16="http://schemas.microsoft.com/office/drawing/2014/main" id="{7BD6EA5D-9507-49B5-86FD-D81EBBCABD64}"/>
              </a:ext>
            </a:extLst>
          </p:cNvPr>
          <p:cNvSpPr/>
          <p:nvPr/>
        </p:nvSpPr>
        <p:spPr>
          <a:xfrm flipV="1">
            <a:off x="9716928" y="5208635"/>
            <a:ext cx="589571" cy="786317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177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53AC81E-28B3-42BC-B538-562166A7C832}"/>
              </a:ext>
            </a:extLst>
          </p:cNvPr>
          <p:cNvSpPr txBox="1"/>
          <p:nvPr/>
        </p:nvSpPr>
        <p:spPr>
          <a:xfrm>
            <a:off x="9523941" y="6032174"/>
            <a:ext cx="941283" cy="5390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903" b="1" dirty="0"/>
              <a:t>2020</a:t>
            </a:r>
          </a:p>
        </p:txBody>
      </p:sp>
      <p:sp>
        <p:nvSpPr>
          <p:cNvPr id="8" name="Arrow: Down 7">
            <a:extLst>
              <a:ext uri="{FF2B5EF4-FFF2-40B4-BE49-F238E27FC236}">
                <a16:creationId xmlns:a16="http://schemas.microsoft.com/office/drawing/2014/main" id="{B838CB1A-1E73-4C1F-90C2-F120F72115AB}"/>
              </a:ext>
            </a:extLst>
          </p:cNvPr>
          <p:cNvSpPr/>
          <p:nvPr/>
        </p:nvSpPr>
        <p:spPr>
          <a:xfrm flipV="1">
            <a:off x="5111612" y="5208635"/>
            <a:ext cx="589571" cy="786317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177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C152643A-EAFA-46A4-A7A2-A25F5705675B}"/>
              </a:ext>
            </a:extLst>
          </p:cNvPr>
          <p:cNvSpPr txBox="1">
            <a:spLocks/>
          </p:cNvSpPr>
          <p:nvPr/>
        </p:nvSpPr>
        <p:spPr>
          <a:xfrm>
            <a:off x="215" y="-305897"/>
            <a:ext cx="12222464" cy="142341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="ctr"/>
          <a:lstStyle>
            <a:lvl1pPr algn="ctr" rtl="0" hangingPunct="0">
              <a:tabLst/>
              <a:defRPr lang="fr-FR" sz="4400" b="0" i="0" u="none" strike="noStrike" kern="1200" cap="none">
                <a:ln>
                  <a:noFill/>
                </a:ln>
                <a:highlight>
                  <a:scrgbClr r="0" g="0" b="0">
                    <a:alpha val="0"/>
                  </a:scrgbClr>
                </a:highlight>
                <a:latin typeface="Liberation Sans" pitchFamily="18"/>
                <a:ea typeface="Microsoft YaHei" pitchFamily="2"/>
              </a:defRPr>
            </a:lvl1pPr>
          </a:lstStyle>
          <a:p>
            <a:r>
              <a:rPr lang="fr-FR" sz="5321" dirty="0">
                <a:solidFill>
                  <a:sysClr val="windowText" lastClr="000000"/>
                </a:solidFill>
              </a:rPr>
              <a:t>MapReduce @Yahoo = Hadoop .. 2006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FADEE5A-AFA7-4F33-BDF4-98F06432A73F}"/>
              </a:ext>
            </a:extLst>
          </p:cNvPr>
          <p:cNvSpPr txBox="1"/>
          <p:nvPr/>
        </p:nvSpPr>
        <p:spPr>
          <a:xfrm>
            <a:off x="8702910" y="4482793"/>
            <a:ext cx="2579039" cy="5390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903" dirty="0" err="1"/>
              <a:t>Think</a:t>
            </a:r>
            <a:r>
              <a:rPr lang="fr-FR" sz="2903" dirty="0"/>
              <a:t> </a:t>
            </a:r>
            <a:r>
              <a:rPr lang="fr-FR" sz="2903" dirty="0" err="1"/>
              <a:t>different</a:t>
            </a:r>
            <a:r>
              <a:rPr lang="fr-FR" sz="2903" dirty="0"/>
              <a:t>?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7664A3D-D8F1-4632-8096-96CB7497207C}"/>
              </a:ext>
            </a:extLst>
          </p:cNvPr>
          <p:cNvSpPr txBox="1"/>
          <p:nvPr/>
        </p:nvSpPr>
        <p:spPr>
          <a:xfrm>
            <a:off x="171523" y="1902961"/>
            <a:ext cx="2057038" cy="18792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903" dirty="0" err="1"/>
              <a:t>Constraint</a:t>
            </a:r>
            <a:endParaRPr lang="fr-FR" sz="2903" dirty="0"/>
          </a:p>
          <a:p>
            <a:r>
              <a:rPr lang="fr-FR" sz="2903" dirty="0"/>
              <a:t>       =&gt;</a:t>
            </a:r>
          </a:p>
          <a:p>
            <a:r>
              <a:rPr lang="fr-FR" sz="2903" dirty="0"/>
              <a:t>Architecture</a:t>
            </a:r>
          </a:p>
          <a:p>
            <a:r>
              <a:rPr lang="fr-FR" sz="2903" dirty="0" err="1"/>
              <a:t>Choice</a:t>
            </a:r>
            <a:endParaRPr lang="fr-FR" sz="2903" dirty="0"/>
          </a:p>
        </p:txBody>
      </p:sp>
    </p:spTree>
    <p:extLst>
      <p:ext uri="{BB962C8B-B14F-4D97-AF65-F5344CB8AC3E}">
        <p14:creationId xmlns:p14="http://schemas.microsoft.com/office/powerpoint/2010/main" val="389521073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>
            <a:extLst>
              <a:ext uri="{FF2B5EF4-FFF2-40B4-BE49-F238E27FC236}">
                <a16:creationId xmlns:a16="http://schemas.microsoft.com/office/drawing/2014/main" id="{186028F1-C12A-4502-B2A5-7927E8E33C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45248" y="3673215"/>
            <a:ext cx="3774948" cy="11324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4388394-C720-403E-B44B-EF885EACFD52}"/>
              </a:ext>
            </a:extLst>
          </p:cNvPr>
          <p:cNvSpPr txBox="1"/>
          <p:nvPr/>
        </p:nvSpPr>
        <p:spPr>
          <a:xfrm>
            <a:off x="4801865" y="5994953"/>
            <a:ext cx="1063112" cy="61337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386" b="1" dirty="0"/>
              <a:t>2006</a:t>
            </a:r>
            <a:endParaRPr lang="fr-FR" sz="2903" b="1" dirty="0"/>
          </a:p>
        </p:txBody>
      </p:sp>
      <p:sp>
        <p:nvSpPr>
          <p:cNvPr id="6" name="Arrow: Down 5">
            <a:extLst>
              <a:ext uri="{FF2B5EF4-FFF2-40B4-BE49-F238E27FC236}">
                <a16:creationId xmlns:a16="http://schemas.microsoft.com/office/drawing/2014/main" id="{7BD6EA5D-9507-49B5-86FD-D81EBBCABD64}"/>
              </a:ext>
            </a:extLst>
          </p:cNvPr>
          <p:cNvSpPr/>
          <p:nvPr/>
        </p:nvSpPr>
        <p:spPr>
          <a:xfrm flipV="1">
            <a:off x="9716928" y="5208635"/>
            <a:ext cx="589571" cy="786317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177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53AC81E-28B3-42BC-B538-562166A7C832}"/>
              </a:ext>
            </a:extLst>
          </p:cNvPr>
          <p:cNvSpPr txBox="1"/>
          <p:nvPr/>
        </p:nvSpPr>
        <p:spPr>
          <a:xfrm>
            <a:off x="9523941" y="6032174"/>
            <a:ext cx="941283" cy="5390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903" b="1" dirty="0"/>
              <a:t>2022</a:t>
            </a:r>
          </a:p>
        </p:txBody>
      </p:sp>
      <p:sp>
        <p:nvSpPr>
          <p:cNvPr id="8" name="Arrow: Down 7">
            <a:extLst>
              <a:ext uri="{FF2B5EF4-FFF2-40B4-BE49-F238E27FC236}">
                <a16:creationId xmlns:a16="http://schemas.microsoft.com/office/drawing/2014/main" id="{B838CB1A-1E73-4C1F-90C2-F120F72115AB}"/>
              </a:ext>
            </a:extLst>
          </p:cNvPr>
          <p:cNvSpPr/>
          <p:nvPr/>
        </p:nvSpPr>
        <p:spPr>
          <a:xfrm flipV="1">
            <a:off x="5111612" y="5208635"/>
            <a:ext cx="589571" cy="786317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177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C152643A-EAFA-46A4-A7A2-A25F5705675B}"/>
              </a:ext>
            </a:extLst>
          </p:cNvPr>
          <p:cNvSpPr txBox="1">
            <a:spLocks/>
          </p:cNvSpPr>
          <p:nvPr/>
        </p:nvSpPr>
        <p:spPr>
          <a:xfrm>
            <a:off x="215" y="39735"/>
            <a:ext cx="12222464" cy="1077777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="ctr"/>
          <a:lstStyle>
            <a:lvl1pPr algn="ctr" rtl="0" hangingPunct="0">
              <a:tabLst/>
              <a:defRPr lang="fr-FR" sz="4400" b="0" i="0" u="none" strike="noStrike" kern="1200" cap="none">
                <a:ln>
                  <a:noFill/>
                </a:ln>
                <a:highlight>
                  <a:scrgbClr r="0" g="0" b="0">
                    <a:alpha val="0"/>
                  </a:scrgbClr>
                </a:highlight>
                <a:latin typeface="Liberation Sans" pitchFamily="18"/>
                <a:ea typeface="Microsoft YaHei" pitchFamily="2"/>
              </a:defRPr>
            </a:lvl1pPr>
          </a:lstStyle>
          <a:p>
            <a:r>
              <a:rPr lang="fr-FR" sz="5321" dirty="0">
                <a:solidFill>
                  <a:sysClr val="windowText" lastClr="000000"/>
                </a:solidFill>
              </a:rPr>
              <a:t>MapReduce -&gt; Spark + </a:t>
            </a:r>
            <a:r>
              <a:rPr lang="fr-FR" sz="5321" dirty="0" err="1">
                <a:solidFill>
                  <a:sysClr val="windowText" lastClr="000000"/>
                </a:solidFill>
              </a:rPr>
              <a:t>other</a:t>
            </a:r>
            <a:r>
              <a:rPr lang="fr-FR" sz="5321" dirty="0">
                <a:solidFill>
                  <a:sysClr val="windowText" lastClr="000000"/>
                </a:solidFill>
              </a:rPr>
              <a:t> changes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FADEE5A-AFA7-4F33-BDF4-98F06432A73F}"/>
              </a:ext>
            </a:extLst>
          </p:cNvPr>
          <p:cNvSpPr txBox="1"/>
          <p:nvPr/>
        </p:nvSpPr>
        <p:spPr>
          <a:xfrm>
            <a:off x="8702910" y="4482793"/>
            <a:ext cx="2579039" cy="5390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903" dirty="0" err="1"/>
              <a:t>Think</a:t>
            </a:r>
            <a:r>
              <a:rPr lang="fr-FR" sz="2903" dirty="0"/>
              <a:t> </a:t>
            </a:r>
            <a:r>
              <a:rPr lang="fr-FR" sz="2903" dirty="0" err="1"/>
              <a:t>different</a:t>
            </a:r>
            <a:r>
              <a:rPr lang="fr-FR" sz="2903" dirty="0"/>
              <a:t>?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7664A3D-D8F1-4632-8096-96CB7497207C}"/>
              </a:ext>
            </a:extLst>
          </p:cNvPr>
          <p:cNvSpPr txBox="1"/>
          <p:nvPr/>
        </p:nvSpPr>
        <p:spPr>
          <a:xfrm>
            <a:off x="171523" y="1902961"/>
            <a:ext cx="2057038" cy="18792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903" dirty="0" err="1"/>
              <a:t>Constraint</a:t>
            </a:r>
            <a:endParaRPr lang="fr-FR" sz="2903" dirty="0"/>
          </a:p>
          <a:p>
            <a:r>
              <a:rPr lang="fr-FR" sz="2903" dirty="0"/>
              <a:t>       =&gt;</a:t>
            </a:r>
          </a:p>
          <a:p>
            <a:r>
              <a:rPr lang="fr-FR" sz="2903" dirty="0"/>
              <a:t>Architecture</a:t>
            </a:r>
          </a:p>
          <a:p>
            <a:r>
              <a:rPr lang="fr-FR" sz="2903" dirty="0" err="1"/>
              <a:t>Choice</a:t>
            </a:r>
            <a:endParaRPr lang="fr-FR" sz="2903" dirty="0"/>
          </a:p>
        </p:txBody>
      </p:sp>
      <p:pic>
        <p:nvPicPr>
          <p:cNvPr id="3" name="Picture 8" descr="Apache Spark — Wikipédia">
            <a:extLst>
              <a:ext uri="{FF2B5EF4-FFF2-40B4-BE49-F238E27FC236}">
                <a16:creationId xmlns:a16="http://schemas.microsoft.com/office/drawing/2014/main" id="{39D696C6-2B75-D337-FFFD-1595BA1A3D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6049" y="1228989"/>
            <a:ext cx="1731327" cy="8988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E9F39CF-AB2D-64B7-E839-E37B3D973A78}"/>
              </a:ext>
            </a:extLst>
          </p:cNvPr>
          <p:cNvSpPr txBox="1"/>
          <p:nvPr/>
        </p:nvSpPr>
        <p:spPr>
          <a:xfrm>
            <a:off x="6038103" y="1117512"/>
            <a:ext cx="3087640" cy="18158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dirty="0" err="1"/>
              <a:t>Faster</a:t>
            </a:r>
            <a:r>
              <a:rPr lang="fr-FR" sz="2800" dirty="0"/>
              <a:t> Disk (SSD)</a:t>
            </a:r>
          </a:p>
          <a:p>
            <a:r>
              <a:rPr lang="fr-FR" sz="2800" dirty="0" err="1"/>
              <a:t>Faster</a:t>
            </a:r>
            <a:r>
              <a:rPr lang="fr-FR" sz="2800" dirty="0"/>
              <a:t> Network</a:t>
            </a:r>
          </a:p>
          <a:p>
            <a:r>
              <a:rPr lang="fr-FR" sz="2800" dirty="0" err="1"/>
              <a:t>Compute</a:t>
            </a:r>
            <a:r>
              <a:rPr lang="fr-FR" sz="2800" dirty="0"/>
              <a:t> != Storage</a:t>
            </a:r>
          </a:p>
          <a:p>
            <a:r>
              <a:rPr lang="fr-FR" sz="2800" dirty="0"/>
              <a:t>Cloud</a:t>
            </a:r>
          </a:p>
        </p:txBody>
      </p:sp>
      <p:pic>
        <p:nvPicPr>
          <p:cNvPr id="19458" name="Picture 2" descr="Kubernetes, c'est quoi ?">
            <a:extLst>
              <a:ext uri="{FF2B5EF4-FFF2-40B4-BE49-F238E27FC236}">
                <a16:creationId xmlns:a16="http://schemas.microsoft.com/office/drawing/2014/main" id="{659A93B1-9874-A515-440D-2F491B35C2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23569" y="2284873"/>
            <a:ext cx="1275571" cy="11308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460" name="Picture 4" descr="AWS | ImpiCode">
            <a:extLst>
              <a:ext uri="{FF2B5EF4-FFF2-40B4-BE49-F238E27FC236}">
                <a16:creationId xmlns:a16="http://schemas.microsoft.com/office/drawing/2014/main" id="{F8258578-8FF2-F217-41FE-54955389E4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24214" y="3666536"/>
            <a:ext cx="1047052" cy="6362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462" name="Picture 6" descr="Le service de Cloud Microsoft Azure - Onexti">
            <a:extLst>
              <a:ext uri="{FF2B5EF4-FFF2-40B4-BE49-F238E27FC236}">
                <a16:creationId xmlns:a16="http://schemas.microsoft.com/office/drawing/2014/main" id="{A255BC34-0FA0-2951-CC95-1F4E95D5CB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73878" y="3590750"/>
            <a:ext cx="1160448" cy="7273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10" name="Object 9">
            <a:extLst>
              <a:ext uri="{FF2B5EF4-FFF2-40B4-BE49-F238E27FC236}">
                <a16:creationId xmlns:a16="http://schemas.microsoft.com/office/drawing/2014/main" id="{CBA5C548-A7E1-F09D-9283-315217169FE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12680522"/>
              </p:ext>
            </p:extLst>
          </p:nvPr>
        </p:nvGraphicFramePr>
        <p:xfrm>
          <a:off x="10863592" y="3673215"/>
          <a:ext cx="836713" cy="79129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5" name="Bitmap Image" r:id="rId8" imgW="556200" imgH="525960" progId="PBrush">
                  <p:embed/>
                </p:oleObj>
              </mc:Choice>
              <mc:Fallback>
                <p:oleObj name="Bitmap Image" r:id="rId8" imgW="556200" imgH="525960" progId="PBrush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0863592" y="3673215"/>
                        <a:ext cx="836713" cy="79129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483045605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CCE8A5-83F9-4D87-912F-02ECCFB829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3100" y="-282218"/>
            <a:ext cx="10515600" cy="1325563"/>
          </a:xfrm>
        </p:spPr>
        <p:txBody>
          <a:bodyPr/>
          <a:lstStyle/>
          <a:p>
            <a:pPr algn="ctr"/>
            <a:r>
              <a:rPr lang="fr-FR" dirty="0"/>
              <a:t>Simple =&gt; </a:t>
            </a:r>
            <a:r>
              <a:rPr lang="fr-FR" dirty="0" err="1"/>
              <a:t>Many</a:t>
            </a:r>
            <a:r>
              <a:rPr lang="fr-FR" dirty="0"/>
              <a:t> </a:t>
            </a:r>
            <a:r>
              <a:rPr lang="fr-FR" dirty="0" err="1"/>
              <a:t>Specific</a:t>
            </a:r>
            <a:r>
              <a:rPr lang="fr-FR" dirty="0"/>
              <a:t> </a:t>
            </a:r>
            <a:r>
              <a:rPr lang="fr-FR" dirty="0" err="1"/>
              <a:t>Systems</a:t>
            </a:r>
            <a:r>
              <a:rPr lang="fr-FR" dirty="0"/>
              <a:t> =&gt; </a:t>
            </a:r>
            <a:r>
              <a:rPr lang="fr-FR" dirty="0" err="1"/>
              <a:t>Unified</a:t>
            </a:r>
            <a:endParaRPr lang="fr-FR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0DAF190-80A4-427C-95F9-68527B03B4E1}"/>
              </a:ext>
            </a:extLst>
          </p:cNvPr>
          <p:cNvSpPr txBox="1"/>
          <p:nvPr/>
        </p:nvSpPr>
        <p:spPr>
          <a:xfrm>
            <a:off x="297313" y="5793990"/>
            <a:ext cx="265342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/>
              <a:t>« </a:t>
            </a:r>
            <a:r>
              <a:rPr lang="fr-FR" sz="2000" b="1" dirty="0"/>
              <a:t>Simple</a:t>
            </a:r>
            <a:r>
              <a:rPr lang="fr-FR" sz="2000" dirty="0"/>
              <a:t> » </a:t>
            </a:r>
            <a:r>
              <a:rPr lang="fr-FR" sz="2000" dirty="0" err="1"/>
              <a:t>ecosystem</a:t>
            </a:r>
            <a:endParaRPr lang="fr-FR" sz="2000" dirty="0"/>
          </a:p>
          <a:p>
            <a:r>
              <a:rPr lang="fr-FR" sz="2000" dirty="0"/>
              <a:t>( </a:t>
            </a:r>
            <a:r>
              <a:rPr lang="fr-FR" sz="2000" dirty="0" err="1"/>
              <a:t>verbose</a:t>
            </a:r>
            <a:r>
              <a:rPr lang="fr-FR" sz="2000" dirty="0"/>
              <a:t> </a:t>
            </a:r>
            <a:r>
              <a:rPr lang="fr-FR" sz="2000" dirty="0" err="1"/>
              <a:t>inneficient</a:t>
            </a:r>
            <a:r>
              <a:rPr lang="fr-FR" sz="2000" dirty="0"/>
              <a:t> &amp; </a:t>
            </a:r>
            <a:r>
              <a:rPr lang="fr-FR" sz="2000" dirty="0" err="1"/>
              <a:t>complex</a:t>
            </a:r>
            <a:r>
              <a:rPr lang="fr-FR" sz="2000" dirty="0"/>
              <a:t> java code)</a:t>
            </a:r>
          </a:p>
        </p:txBody>
      </p:sp>
      <p:pic>
        <p:nvPicPr>
          <p:cNvPr id="2050" name="Picture 2" descr="Le paradigme MapReduce | Le Data Scientist">
            <a:extLst>
              <a:ext uri="{FF2B5EF4-FFF2-40B4-BE49-F238E27FC236}">
                <a16:creationId xmlns:a16="http://schemas.microsoft.com/office/drawing/2014/main" id="{A82D5666-E08C-4211-8FD9-0B52A7CD05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7999" y="2450326"/>
            <a:ext cx="2327805" cy="7961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Arrow: Right 4">
            <a:extLst>
              <a:ext uri="{FF2B5EF4-FFF2-40B4-BE49-F238E27FC236}">
                <a16:creationId xmlns:a16="http://schemas.microsoft.com/office/drawing/2014/main" id="{8676D9ED-0A6F-4BE9-AB8F-50C8FB6A785C}"/>
              </a:ext>
            </a:extLst>
          </p:cNvPr>
          <p:cNvSpPr/>
          <p:nvPr/>
        </p:nvSpPr>
        <p:spPr>
          <a:xfrm rot="19367819">
            <a:off x="3666066" y="1940698"/>
            <a:ext cx="702734" cy="29633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2052" name="Picture 4" descr="Apache Hive — Wikipédia">
            <a:extLst>
              <a:ext uri="{FF2B5EF4-FFF2-40B4-BE49-F238E27FC236}">
                <a16:creationId xmlns:a16="http://schemas.microsoft.com/office/drawing/2014/main" id="{C1A34FAB-47AB-4ACB-A287-AE71A82E01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52035" y="854626"/>
            <a:ext cx="734368" cy="6609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 descr="Big Data Services">
            <a:extLst>
              <a:ext uri="{FF2B5EF4-FFF2-40B4-BE49-F238E27FC236}">
                <a16:creationId xmlns:a16="http://schemas.microsoft.com/office/drawing/2014/main" id="{2D4EB75A-EEE8-4746-9CD8-5BA4355BFB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19219" y="1530884"/>
            <a:ext cx="1083733" cy="812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Arrow: Right 9">
            <a:extLst>
              <a:ext uri="{FF2B5EF4-FFF2-40B4-BE49-F238E27FC236}">
                <a16:creationId xmlns:a16="http://schemas.microsoft.com/office/drawing/2014/main" id="{6DF8088E-D773-44E6-B618-EE2D4710F660}"/>
              </a:ext>
            </a:extLst>
          </p:cNvPr>
          <p:cNvSpPr/>
          <p:nvPr/>
        </p:nvSpPr>
        <p:spPr>
          <a:xfrm rot="20130776">
            <a:off x="3654340" y="2419780"/>
            <a:ext cx="702734" cy="29633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2058" name="Picture 10" descr="Mahout: explorez vos données (en plus de les stocker) – Blog Zenika">
            <a:extLst>
              <a:ext uri="{FF2B5EF4-FFF2-40B4-BE49-F238E27FC236}">
                <a16:creationId xmlns:a16="http://schemas.microsoft.com/office/drawing/2014/main" id="{BC60BDFF-EBDE-4ADE-B6E2-CBF6A4633A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56386" y="1592995"/>
            <a:ext cx="1510304" cy="5894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Arrow: Right 11">
            <a:extLst>
              <a:ext uri="{FF2B5EF4-FFF2-40B4-BE49-F238E27FC236}">
                <a16:creationId xmlns:a16="http://schemas.microsoft.com/office/drawing/2014/main" id="{D24A99E7-2214-4DA1-9BA7-F1823657F05E}"/>
              </a:ext>
            </a:extLst>
          </p:cNvPr>
          <p:cNvSpPr/>
          <p:nvPr/>
        </p:nvSpPr>
        <p:spPr>
          <a:xfrm rot="363563">
            <a:off x="3727563" y="2822632"/>
            <a:ext cx="702734" cy="29633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2060" name="Picture 12" descr="Apache Storm — Wikipédia">
            <a:extLst>
              <a:ext uri="{FF2B5EF4-FFF2-40B4-BE49-F238E27FC236}">
                <a16:creationId xmlns:a16="http://schemas.microsoft.com/office/drawing/2014/main" id="{F184CC7E-7CF5-49AB-A177-0EA24CA2BC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29660" y="2408538"/>
            <a:ext cx="1706033" cy="5686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Arrow: Right 13">
            <a:extLst>
              <a:ext uri="{FF2B5EF4-FFF2-40B4-BE49-F238E27FC236}">
                <a16:creationId xmlns:a16="http://schemas.microsoft.com/office/drawing/2014/main" id="{BD7DFAA5-DA0F-4299-8709-D8048A515CC8}"/>
              </a:ext>
            </a:extLst>
          </p:cNvPr>
          <p:cNvSpPr/>
          <p:nvPr/>
        </p:nvSpPr>
        <p:spPr>
          <a:xfrm rot="2456694">
            <a:off x="3699019" y="3294281"/>
            <a:ext cx="702734" cy="29633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2064" name="Picture 16" descr="Index of /docs/3.1.2-incubating/images">
            <a:extLst>
              <a:ext uri="{FF2B5EF4-FFF2-40B4-BE49-F238E27FC236}">
                <a16:creationId xmlns:a16="http://schemas.microsoft.com/office/drawing/2014/main" id="{5EB77B2B-2076-4045-AEF6-0915637EF3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37418" y="4139902"/>
            <a:ext cx="1862813" cy="5326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Arrow: Right 16">
            <a:extLst>
              <a:ext uri="{FF2B5EF4-FFF2-40B4-BE49-F238E27FC236}">
                <a16:creationId xmlns:a16="http://schemas.microsoft.com/office/drawing/2014/main" id="{ABE7D301-7702-405C-9DA2-D9D2C6885662}"/>
              </a:ext>
            </a:extLst>
          </p:cNvPr>
          <p:cNvSpPr/>
          <p:nvPr/>
        </p:nvSpPr>
        <p:spPr>
          <a:xfrm rot="3518807">
            <a:off x="3654339" y="3853480"/>
            <a:ext cx="702734" cy="29633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2066" name="Picture 18" descr="Apache Tez – Welcome to Apache TEZ®">
            <a:extLst>
              <a:ext uri="{FF2B5EF4-FFF2-40B4-BE49-F238E27FC236}">
                <a16:creationId xmlns:a16="http://schemas.microsoft.com/office/drawing/2014/main" id="{5E50F5CD-87A7-498E-A0C5-D1FCFCC906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17228" y="4018044"/>
            <a:ext cx="1439333" cy="7376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Arrow: Right 18">
            <a:extLst>
              <a:ext uri="{FF2B5EF4-FFF2-40B4-BE49-F238E27FC236}">
                <a16:creationId xmlns:a16="http://schemas.microsoft.com/office/drawing/2014/main" id="{E2C540CF-3594-4351-800D-1ABE564F9C91}"/>
              </a:ext>
            </a:extLst>
          </p:cNvPr>
          <p:cNvSpPr/>
          <p:nvPr/>
        </p:nvSpPr>
        <p:spPr>
          <a:xfrm rot="4121961">
            <a:off x="3649871" y="4433026"/>
            <a:ext cx="702734" cy="29633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2068" name="Picture 20" descr="Distributed Database - Apache Ignite">
            <a:extLst>
              <a:ext uri="{FF2B5EF4-FFF2-40B4-BE49-F238E27FC236}">
                <a16:creationId xmlns:a16="http://schemas.microsoft.com/office/drawing/2014/main" id="{2F10FF13-8E34-4CA0-BDA3-69C620C07D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70077" y="4709178"/>
            <a:ext cx="1510305" cy="6372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Arrow: Right 20">
            <a:extLst>
              <a:ext uri="{FF2B5EF4-FFF2-40B4-BE49-F238E27FC236}">
                <a16:creationId xmlns:a16="http://schemas.microsoft.com/office/drawing/2014/main" id="{C39B3890-4F01-47D3-9C26-A566E62E989C}"/>
              </a:ext>
            </a:extLst>
          </p:cNvPr>
          <p:cNvSpPr/>
          <p:nvPr/>
        </p:nvSpPr>
        <p:spPr>
          <a:xfrm rot="17773493">
            <a:off x="3633170" y="1435462"/>
            <a:ext cx="702734" cy="29633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2072" name="Picture 24" descr="Advisory: Apache Flink Remote Code Execution Vulnerability - NSFOCUS, Inc.,  a global network and cyber security leader, protects enterprises and  carriers from advanced cyber attacks.">
            <a:extLst>
              <a:ext uri="{FF2B5EF4-FFF2-40B4-BE49-F238E27FC236}">
                <a16:creationId xmlns:a16="http://schemas.microsoft.com/office/drawing/2014/main" id="{3FB2DBEE-04C2-458E-A346-E3F50511C8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0909" y="3067282"/>
            <a:ext cx="1570567" cy="9568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74" name="Picture 26" descr="Presto ODBC Driver | Presto JDBC Driver with SQL Connector | Simba -  Magnitude">
            <a:extLst>
              <a:ext uri="{FF2B5EF4-FFF2-40B4-BE49-F238E27FC236}">
                <a16:creationId xmlns:a16="http://schemas.microsoft.com/office/drawing/2014/main" id="{58298143-2793-466F-A94C-F59CAFFF42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81789" y="915270"/>
            <a:ext cx="1248833" cy="6556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76" name="Picture 28" descr="VirajeTech | World&amp;#39;s Best E-Learning Platform">
            <a:extLst>
              <a:ext uri="{FF2B5EF4-FFF2-40B4-BE49-F238E27FC236}">
                <a16:creationId xmlns:a16="http://schemas.microsoft.com/office/drawing/2014/main" id="{E6BFCD12-2393-4FD4-B744-4674D1A1EE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35560" y="2369495"/>
            <a:ext cx="1068259" cy="9568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78" name="Picture 30" descr="Apache NiFi">
            <a:extLst>
              <a:ext uri="{FF2B5EF4-FFF2-40B4-BE49-F238E27FC236}">
                <a16:creationId xmlns:a16="http://schemas.microsoft.com/office/drawing/2014/main" id="{E10BA113-04C1-425E-9501-6458DE15F8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61476" y="3492153"/>
            <a:ext cx="1341611" cy="5590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80" name="Picture 32" descr="Apache Drill — Wikipédia">
            <a:extLst>
              <a:ext uri="{FF2B5EF4-FFF2-40B4-BE49-F238E27FC236}">
                <a16:creationId xmlns:a16="http://schemas.microsoft.com/office/drawing/2014/main" id="{F8E3E96B-A4F1-47C1-B31A-C9F87BCA97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95859" y="4722587"/>
            <a:ext cx="1507067" cy="7447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1" name="Arrow: Right 30">
            <a:extLst>
              <a:ext uri="{FF2B5EF4-FFF2-40B4-BE49-F238E27FC236}">
                <a16:creationId xmlns:a16="http://schemas.microsoft.com/office/drawing/2014/main" id="{F8665BAB-F172-4181-9DFD-6B6F0E41A356}"/>
              </a:ext>
            </a:extLst>
          </p:cNvPr>
          <p:cNvSpPr/>
          <p:nvPr/>
        </p:nvSpPr>
        <p:spPr>
          <a:xfrm rot="3236082">
            <a:off x="8801128" y="2330320"/>
            <a:ext cx="702734" cy="29633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2" name="Arrow: Right 31">
            <a:extLst>
              <a:ext uri="{FF2B5EF4-FFF2-40B4-BE49-F238E27FC236}">
                <a16:creationId xmlns:a16="http://schemas.microsoft.com/office/drawing/2014/main" id="{B2217F24-A3E7-4BE1-BA94-D7AF967E93BF}"/>
              </a:ext>
            </a:extLst>
          </p:cNvPr>
          <p:cNvSpPr/>
          <p:nvPr/>
        </p:nvSpPr>
        <p:spPr>
          <a:xfrm>
            <a:off x="8827129" y="2966252"/>
            <a:ext cx="702734" cy="29633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3" name="Arrow: Right 32">
            <a:extLst>
              <a:ext uri="{FF2B5EF4-FFF2-40B4-BE49-F238E27FC236}">
                <a16:creationId xmlns:a16="http://schemas.microsoft.com/office/drawing/2014/main" id="{08210506-3F30-4861-A644-F945B8262A18}"/>
              </a:ext>
            </a:extLst>
          </p:cNvPr>
          <p:cNvSpPr/>
          <p:nvPr/>
        </p:nvSpPr>
        <p:spPr>
          <a:xfrm rot="18786171">
            <a:off x="8784982" y="3633949"/>
            <a:ext cx="702734" cy="29633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C563613-83EB-4424-9ED8-5442F542ABC3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577318" y="5994607"/>
            <a:ext cx="3248554" cy="635016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9290AB99-FE8D-44E6-92CD-88EEA8E9202B}"/>
              </a:ext>
            </a:extLst>
          </p:cNvPr>
          <p:cNvSpPr txBox="1"/>
          <p:nvPr/>
        </p:nvSpPr>
        <p:spPr>
          <a:xfrm>
            <a:off x="3394982" y="5700856"/>
            <a:ext cx="377538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/>
              <a:t>« </a:t>
            </a:r>
            <a:r>
              <a:rPr lang="fr-FR" sz="2400" b="1" dirty="0"/>
              <a:t>Bazard</a:t>
            </a:r>
            <a:r>
              <a:rPr lang="fr-FR" sz="2400" dirty="0"/>
              <a:t> » </a:t>
            </a:r>
            <a:r>
              <a:rPr lang="fr-FR" sz="2400" dirty="0" err="1"/>
              <a:t>ecosystem</a:t>
            </a:r>
            <a:endParaRPr lang="fr-FR" sz="2400" dirty="0"/>
          </a:p>
          <a:p>
            <a:r>
              <a:rPr lang="fr-FR" sz="2400" dirty="0"/>
              <a:t>(</a:t>
            </a:r>
            <a:r>
              <a:rPr lang="fr-FR" sz="2400" b="1" dirty="0" err="1"/>
              <a:t>Too</a:t>
            </a:r>
            <a:r>
              <a:rPr lang="fr-FR" sz="2400" b="1" dirty="0"/>
              <a:t> MANY TOO</a:t>
            </a:r>
            <a:br>
              <a:rPr lang="fr-FR" sz="2400" b="1" dirty="0"/>
            </a:br>
            <a:r>
              <a:rPr lang="fr-FR" sz="2400" dirty="0" err="1"/>
              <a:t>redundant</a:t>
            </a:r>
            <a:r>
              <a:rPr lang="fr-FR" sz="2400" dirty="0"/>
              <a:t>,  complexes)</a:t>
            </a:r>
          </a:p>
        </p:txBody>
      </p:sp>
      <p:pic>
        <p:nvPicPr>
          <p:cNvPr id="2084" name="Picture 36" descr="Partners - KEEP IN PACT">
            <a:extLst>
              <a:ext uri="{FF2B5EF4-FFF2-40B4-BE49-F238E27FC236}">
                <a16:creationId xmlns:a16="http://schemas.microsoft.com/office/drawing/2014/main" id="{6186D7C4-7458-4626-A34F-457DED065D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87302" y="1353395"/>
            <a:ext cx="2164615" cy="19091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46609702-2FEE-4FB2-84C3-1A5CFF6DB7A2}"/>
              </a:ext>
            </a:extLst>
          </p:cNvPr>
          <p:cNvSpPr txBox="1"/>
          <p:nvPr/>
        </p:nvSpPr>
        <p:spPr>
          <a:xfrm>
            <a:off x="9281283" y="5535062"/>
            <a:ext cx="2886752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“</a:t>
            </a:r>
            <a:r>
              <a:rPr lang="en-US" sz="2400" b="1" dirty="0"/>
              <a:t>Unified” ecosystem</a:t>
            </a:r>
          </a:p>
          <a:p>
            <a:r>
              <a:rPr lang="en-US" sz="2400" b="1" dirty="0"/>
              <a:t>Simple </a:t>
            </a:r>
          </a:p>
          <a:p>
            <a:r>
              <a:rPr lang="en-US" sz="2400" b="1" dirty="0"/>
              <a:t>+ extensible modules</a:t>
            </a:r>
            <a:endParaRPr lang="fr-FR" dirty="0"/>
          </a:p>
        </p:txBody>
      </p:sp>
      <p:pic>
        <p:nvPicPr>
          <p:cNvPr id="39" name="Picture 8" descr="Apache Spark — Wikipédia">
            <a:extLst>
              <a:ext uri="{FF2B5EF4-FFF2-40B4-BE49-F238E27FC236}">
                <a16:creationId xmlns:a16="http://schemas.microsoft.com/office/drawing/2014/main" id="{C639043C-9292-4E46-9608-AA5EB9D027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24431" y="2966252"/>
            <a:ext cx="1731327" cy="8988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58665282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2D1EB5-122B-424F-BFAA-A565BF2DA119}"/>
              </a:ext>
            </a:extLst>
          </p:cNvPr>
          <p:cNvSpPr txBox="1">
            <a:spLocks/>
          </p:cNvSpPr>
          <p:nvPr/>
        </p:nvSpPr>
        <p:spPr>
          <a:xfrm>
            <a:off x="-115325" y="762847"/>
            <a:ext cx="12222464" cy="142341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="ctr"/>
          <a:lstStyle>
            <a:lvl1pPr algn="ctr" rtl="0" hangingPunct="0">
              <a:tabLst/>
              <a:defRPr lang="fr-FR" sz="4400" b="0" i="0" u="none" strike="noStrike" kern="1200" cap="none">
                <a:ln>
                  <a:noFill/>
                </a:ln>
                <a:highlight>
                  <a:scrgbClr r="0" g="0" b="0">
                    <a:alpha val="0"/>
                  </a:scrgbClr>
                </a:highlight>
                <a:latin typeface="Liberation Sans" pitchFamily="18"/>
                <a:ea typeface="Microsoft YaHei" pitchFamily="2"/>
              </a:defRPr>
            </a:lvl1pPr>
          </a:lstStyle>
          <a:p>
            <a:r>
              <a:rPr lang="fr-FR" sz="5321" dirty="0">
                <a:solidFill>
                  <a:sysClr val="windowText" lastClr="000000"/>
                </a:solidFill>
              </a:rPr>
              <a:t>At The end, </a:t>
            </a:r>
            <a:r>
              <a:rPr lang="fr-FR" sz="5321" dirty="0" err="1">
                <a:solidFill>
                  <a:sysClr val="windowText" lastClr="000000"/>
                </a:solidFill>
              </a:rPr>
              <a:t>Only</a:t>
            </a:r>
            <a:r>
              <a:rPr lang="fr-FR" sz="5321" dirty="0">
                <a:solidFill>
                  <a:sysClr val="windowText" lastClr="000000"/>
                </a:solidFill>
              </a:rPr>
              <a:t> 1 </a:t>
            </a:r>
            <a:r>
              <a:rPr lang="fr-FR" sz="5321" dirty="0" err="1">
                <a:solidFill>
                  <a:sysClr val="windowText" lastClr="000000"/>
                </a:solidFill>
              </a:rPr>
              <a:t>will</a:t>
            </a:r>
            <a:r>
              <a:rPr lang="fr-FR" sz="5321" dirty="0">
                <a:solidFill>
                  <a:sysClr val="windowText" lastClr="000000"/>
                </a:solidFill>
              </a:rPr>
              <a:t> </a:t>
            </a:r>
            <a:r>
              <a:rPr lang="fr-FR" sz="5321" dirty="0" err="1">
                <a:solidFill>
                  <a:sysClr val="windowText" lastClr="000000"/>
                </a:solidFill>
              </a:rPr>
              <a:t>remain</a:t>
            </a:r>
            <a:endParaRPr lang="fr-FR" sz="5321" dirty="0">
              <a:solidFill>
                <a:sysClr val="windowText" lastClr="000000"/>
              </a:solidFill>
            </a:endParaRPr>
          </a:p>
          <a:p>
            <a:r>
              <a:rPr lang="fr-FR" sz="5321" dirty="0">
                <a:solidFill>
                  <a:sysClr val="windowText" lastClr="000000"/>
                </a:solidFill>
              </a:rPr>
              <a:t>( French TV Game: Koh-Lanta)</a:t>
            </a:r>
          </a:p>
        </p:txBody>
      </p:sp>
      <p:pic>
        <p:nvPicPr>
          <p:cNvPr id="14340" name="Picture 4" descr="Unsettled - par Orange Nebula - Jeux financés - cwowd">
            <a:extLst>
              <a:ext uri="{FF2B5EF4-FFF2-40B4-BE49-F238E27FC236}">
                <a16:creationId xmlns:a16="http://schemas.microsoft.com/office/drawing/2014/main" id="{E42AF5A4-0E37-4049-89A0-32D48B98F0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14432" y="2665669"/>
            <a:ext cx="6363136" cy="35591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47159727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2" name="Picture 2" descr="Apache Spark — Wikipédia">
            <a:extLst>
              <a:ext uri="{FF2B5EF4-FFF2-40B4-BE49-F238E27FC236}">
                <a16:creationId xmlns:a16="http://schemas.microsoft.com/office/drawing/2014/main" id="{5777E5E8-08E6-4834-90B5-51B4FB068A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0521" y="779108"/>
            <a:ext cx="9814753" cy="50959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51954986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1F9E80-3621-4765-A927-9F775185D2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Spark = « </a:t>
            </a:r>
            <a:r>
              <a:rPr lang="fr-FR" b="1" dirty="0" err="1"/>
              <a:t>Unified</a:t>
            </a:r>
            <a:r>
              <a:rPr lang="fr-FR" dirty="0"/>
              <a:t> </a:t>
            </a:r>
            <a:r>
              <a:rPr lang="fr-FR" b="1" dirty="0"/>
              <a:t>Engine</a:t>
            </a:r>
            <a:r>
              <a:rPr lang="fr-FR" dirty="0"/>
              <a:t> »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13DFE92-FA4C-437A-9887-E44CC154CA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5647" y="1690688"/>
            <a:ext cx="9740705" cy="44689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8570547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B53AFA-65B0-4B6F-9901-9CB4D4AFBB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Multi </a:t>
            </a:r>
            <a:r>
              <a:rPr lang="fr-FR" dirty="0" err="1"/>
              <a:t>Purposes</a:t>
            </a:r>
            <a:r>
              <a:rPr lang="fr-FR" dirty="0"/>
              <a:t> – Multi Langages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27B4C94-0BB2-4825-AB7A-CEE858EF1A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3695" y="1547592"/>
            <a:ext cx="8698361" cy="52571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4700786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14" name="Picture 42" descr="William Ardila, Author at Nub8 » Page 3 of 10">
            <a:extLst>
              <a:ext uri="{FF2B5EF4-FFF2-40B4-BE49-F238E27FC236}">
                <a16:creationId xmlns:a16="http://schemas.microsoft.com/office/drawing/2014/main" id="{24C069AE-274B-40A6-8143-9AD3A8CAC8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93706" y="3861635"/>
            <a:ext cx="2198294" cy="10991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4122EF4-40AE-45C7-8C2D-52DF2CD82E4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28063" y="806791"/>
            <a:ext cx="791712" cy="79171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C7D6ADA-481D-4B0B-BB2D-84591DE3AC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2254" y="-187704"/>
            <a:ext cx="10515600" cy="1325563"/>
          </a:xfrm>
        </p:spPr>
        <p:txBody>
          <a:bodyPr/>
          <a:lstStyle/>
          <a:p>
            <a:pPr algn="ctr"/>
            <a:r>
              <a:rPr lang="fr-FR" dirty="0"/>
              <a:t>Spark-</a:t>
            </a:r>
            <a:r>
              <a:rPr lang="fr-FR" dirty="0" err="1"/>
              <a:t>Core</a:t>
            </a:r>
            <a:r>
              <a:rPr lang="fr-FR" dirty="0"/>
              <a:t> + …</a:t>
            </a:r>
          </a:p>
        </p:txBody>
      </p:sp>
      <p:pic>
        <p:nvPicPr>
          <p:cNvPr id="3076" name="Picture 4" descr="Upcoming Meetups - airisData">
            <a:extLst>
              <a:ext uri="{FF2B5EF4-FFF2-40B4-BE49-F238E27FC236}">
                <a16:creationId xmlns:a16="http://schemas.microsoft.com/office/drawing/2014/main" id="{8038F541-3855-4F2C-82B7-18636A64BC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94928" y="1546686"/>
            <a:ext cx="1994595" cy="13566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0" name="Picture 8">
            <a:extLst>
              <a:ext uri="{FF2B5EF4-FFF2-40B4-BE49-F238E27FC236}">
                <a16:creationId xmlns:a16="http://schemas.microsoft.com/office/drawing/2014/main" id="{79CF49D0-10D1-4C63-847B-A6C9A460D6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1076" y="1546686"/>
            <a:ext cx="2482088" cy="1422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2" name="Picture 10" descr="My First Foray into Spark MLlib. As a data science team that&amp;#39;s always… | by  Dan Piltzer | Red Ventures Data Science &amp;amp; Engineering | Medium">
            <a:extLst>
              <a:ext uri="{FF2B5EF4-FFF2-40B4-BE49-F238E27FC236}">
                <a16:creationId xmlns:a16="http://schemas.microsoft.com/office/drawing/2014/main" id="{D30B6836-4094-425B-B6DA-09C38DC47E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28265" y="1695311"/>
            <a:ext cx="2665230" cy="9519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4" name="Picture 12" descr="Big Data Processing Using Apache Spark - Part 6: Graph Data Analytics with Spark  GraphX">
            <a:extLst>
              <a:ext uri="{FF2B5EF4-FFF2-40B4-BE49-F238E27FC236}">
                <a16:creationId xmlns:a16="http://schemas.microsoft.com/office/drawing/2014/main" id="{E1E41B2A-66CA-4CCB-A048-C5F1E60207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55712" y="1531425"/>
            <a:ext cx="1849623" cy="13255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9BBAF62-9445-44E8-B3A4-B28F4AD78309}"/>
              </a:ext>
            </a:extLst>
          </p:cNvPr>
          <p:cNvSpPr txBox="1"/>
          <p:nvPr/>
        </p:nvSpPr>
        <p:spPr>
          <a:xfrm>
            <a:off x="619680" y="872292"/>
            <a:ext cx="118032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/>
              <a:t>Structured</a:t>
            </a:r>
            <a:br>
              <a:rPr lang="fr-FR" dirty="0"/>
            </a:br>
            <a:r>
              <a:rPr lang="fr-FR" dirty="0"/>
              <a:t> Data</a:t>
            </a:r>
          </a:p>
        </p:txBody>
      </p:sp>
      <p:sp>
        <p:nvSpPr>
          <p:cNvPr id="7" name="Cylinder 6">
            <a:extLst>
              <a:ext uri="{FF2B5EF4-FFF2-40B4-BE49-F238E27FC236}">
                <a16:creationId xmlns:a16="http://schemas.microsoft.com/office/drawing/2014/main" id="{72400475-C7E2-4868-A667-1501FA268F18}"/>
              </a:ext>
            </a:extLst>
          </p:cNvPr>
          <p:cNvSpPr/>
          <p:nvPr/>
        </p:nvSpPr>
        <p:spPr>
          <a:xfrm>
            <a:off x="1800003" y="979224"/>
            <a:ext cx="901700" cy="611100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3086" name="Picture 14" descr="Streamlio Claims Pulsar Performance Advantages Over Kafka">
            <a:extLst>
              <a:ext uri="{FF2B5EF4-FFF2-40B4-BE49-F238E27FC236}">
                <a16:creationId xmlns:a16="http://schemas.microsoft.com/office/drawing/2014/main" id="{B3B7FAC9-7FA7-4161-AABD-701C22C8C0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91744" y="649749"/>
            <a:ext cx="1431056" cy="9519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Cylinder 7">
            <a:extLst>
              <a:ext uri="{FF2B5EF4-FFF2-40B4-BE49-F238E27FC236}">
                <a16:creationId xmlns:a16="http://schemas.microsoft.com/office/drawing/2014/main" id="{A40C39E5-B229-4F58-8435-9B5A88B5087F}"/>
              </a:ext>
            </a:extLst>
          </p:cNvPr>
          <p:cNvSpPr/>
          <p:nvPr/>
        </p:nvSpPr>
        <p:spPr>
          <a:xfrm rot="16200000">
            <a:off x="4899374" y="910516"/>
            <a:ext cx="259006" cy="845977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3088" name="Picture 16" descr="Apache Kafka : Flux de données temps réel | OVHcloud">
            <a:extLst>
              <a:ext uri="{FF2B5EF4-FFF2-40B4-BE49-F238E27FC236}">
                <a16:creationId xmlns:a16="http://schemas.microsoft.com/office/drawing/2014/main" id="{90AF0E31-AC61-42AF-8B72-C6B70A950A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89512" y="1215863"/>
            <a:ext cx="718608" cy="2779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823C8FE7-DCA9-463C-80A6-5704FF4A987B}"/>
              </a:ext>
            </a:extLst>
          </p:cNvPr>
          <p:cNvSpPr/>
          <p:nvPr/>
        </p:nvSpPr>
        <p:spPr>
          <a:xfrm>
            <a:off x="809962" y="1640553"/>
            <a:ext cx="2595033" cy="1172427"/>
          </a:xfrm>
          <a:prstGeom prst="roundRect">
            <a:avLst/>
          </a:prstGeom>
          <a:noFill/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70701C34-B397-4611-B900-DF63A8DF5B4B}"/>
              </a:ext>
            </a:extLst>
          </p:cNvPr>
          <p:cNvSpPr/>
          <p:nvPr/>
        </p:nvSpPr>
        <p:spPr>
          <a:xfrm>
            <a:off x="3551468" y="1635335"/>
            <a:ext cx="2595033" cy="1172427"/>
          </a:xfrm>
          <a:prstGeom prst="roundRect">
            <a:avLst/>
          </a:prstGeom>
          <a:noFill/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D5AD1C0D-F29D-4456-9909-7911FCAF91C3}"/>
              </a:ext>
            </a:extLst>
          </p:cNvPr>
          <p:cNvSpPr/>
          <p:nvPr/>
        </p:nvSpPr>
        <p:spPr>
          <a:xfrm>
            <a:off x="6286574" y="1623253"/>
            <a:ext cx="2595033" cy="1172427"/>
          </a:xfrm>
          <a:prstGeom prst="roundRect">
            <a:avLst/>
          </a:prstGeom>
          <a:noFill/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556550BF-F31B-4C72-B8F6-7550B0F0E95B}"/>
              </a:ext>
            </a:extLst>
          </p:cNvPr>
          <p:cNvSpPr/>
          <p:nvPr/>
        </p:nvSpPr>
        <p:spPr>
          <a:xfrm>
            <a:off x="9031816" y="1590324"/>
            <a:ext cx="2595033" cy="1172427"/>
          </a:xfrm>
          <a:prstGeom prst="roundRect">
            <a:avLst/>
          </a:prstGeom>
          <a:noFill/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pic>
        <p:nvPicPr>
          <p:cNvPr id="3094" name="Picture 22" descr="The Quantum Graph Recurrent Neural Network — PennyLane">
            <a:extLst>
              <a:ext uri="{FF2B5EF4-FFF2-40B4-BE49-F238E27FC236}">
                <a16:creationId xmlns:a16="http://schemas.microsoft.com/office/drawing/2014/main" id="{E0388403-A81F-4872-B855-22FF1BB48A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78999" y="817930"/>
            <a:ext cx="889451" cy="6695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8A11EE00-BD17-486B-84F1-F4066B389DB6}"/>
              </a:ext>
            </a:extLst>
          </p:cNvPr>
          <p:cNvSpPr/>
          <p:nvPr/>
        </p:nvSpPr>
        <p:spPr>
          <a:xfrm>
            <a:off x="4018354" y="3850382"/>
            <a:ext cx="4536440" cy="109914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pic>
        <p:nvPicPr>
          <p:cNvPr id="28" name="Picture 8" descr="Apache Spark — Wikipédia">
            <a:extLst>
              <a:ext uri="{FF2B5EF4-FFF2-40B4-BE49-F238E27FC236}">
                <a16:creationId xmlns:a16="http://schemas.microsoft.com/office/drawing/2014/main" id="{325463C3-864E-4B24-A47A-6841F9BDDD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75554" y="3945924"/>
            <a:ext cx="1731327" cy="8988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92E59BBC-D52E-4509-8664-13081CB07B97}"/>
              </a:ext>
            </a:extLst>
          </p:cNvPr>
          <p:cNvSpPr txBox="1"/>
          <p:nvPr/>
        </p:nvSpPr>
        <p:spPr>
          <a:xfrm>
            <a:off x="6755663" y="4129785"/>
            <a:ext cx="136236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4800" b="1" dirty="0" err="1"/>
              <a:t>Core</a:t>
            </a:r>
            <a:endParaRPr lang="fr-FR" sz="4800" b="1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DCD2F43-729C-467A-AB60-7F402385B607}"/>
              </a:ext>
            </a:extLst>
          </p:cNvPr>
          <p:cNvSpPr txBox="1"/>
          <p:nvPr/>
        </p:nvSpPr>
        <p:spPr>
          <a:xfrm>
            <a:off x="1650900" y="3790947"/>
            <a:ext cx="237744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/>
              <a:t>DataSource</a:t>
            </a:r>
            <a:r>
              <a:rPr lang="fr-FR" dirty="0"/>
              <a:t> </a:t>
            </a:r>
            <a:r>
              <a:rPr lang="fr-FR" dirty="0" err="1"/>
              <a:t>Connectors</a:t>
            </a:r>
            <a:endParaRPr lang="fr-FR" dirty="0"/>
          </a:p>
          <a:p>
            <a:r>
              <a:rPr lang="fr-FR" dirty="0"/>
              <a:t>(Hadoop API)</a:t>
            </a:r>
          </a:p>
        </p:txBody>
      </p:sp>
      <p:sp>
        <p:nvSpPr>
          <p:cNvPr id="17" name="Arrow: Up-Down 16">
            <a:extLst>
              <a:ext uri="{FF2B5EF4-FFF2-40B4-BE49-F238E27FC236}">
                <a16:creationId xmlns:a16="http://schemas.microsoft.com/office/drawing/2014/main" id="{464D4A2D-3DE2-4E7C-8704-15A131902399}"/>
              </a:ext>
            </a:extLst>
          </p:cNvPr>
          <p:cNvSpPr/>
          <p:nvPr/>
        </p:nvSpPr>
        <p:spPr>
          <a:xfrm rot="5400000">
            <a:off x="2522832" y="4118309"/>
            <a:ext cx="357742" cy="861502"/>
          </a:xfrm>
          <a:prstGeom prst="up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F91CE0B-02CA-420A-AB9B-2C62ECC3D764}"/>
              </a:ext>
            </a:extLst>
          </p:cNvPr>
          <p:cNvSpPr txBox="1"/>
          <p:nvPr/>
        </p:nvSpPr>
        <p:spPr>
          <a:xfrm>
            <a:off x="8709460" y="3943031"/>
            <a:ext cx="17357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Cluster Manager</a:t>
            </a:r>
          </a:p>
        </p:txBody>
      </p:sp>
      <p:sp>
        <p:nvSpPr>
          <p:cNvPr id="35" name="Arrow: Up-Down 34">
            <a:extLst>
              <a:ext uri="{FF2B5EF4-FFF2-40B4-BE49-F238E27FC236}">
                <a16:creationId xmlns:a16="http://schemas.microsoft.com/office/drawing/2014/main" id="{8586462E-E6EC-4DF4-A713-3DDF696893CF}"/>
              </a:ext>
            </a:extLst>
          </p:cNvPr>
          <p:cNvSpPr/>
          <p:nvPr/>
        </p:nvSpPr>
        <p:spPr>
          <a:xfrm rot="5400000">
            <a:off x="9400610" y="4118309"/>
            <a:ext cx="357742" cy="861502"/>
          </a:xfrm>
          <a:prstGeom prst="up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7E89965-653B-47EC-8240-6C3653476935}"/>
              </a:ext>
            </a:extLst>
          </p:cNvPr>
          <p:cNvSpPr txBox="1"/>
          <p:nvPr/>
        </p:nvSpPr>
        <p:spPr>
          <a:xfrm>
            <a:off x="6250010" y="5261663"/>
            <a:ext cx="18455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Langages Support</a:t>
            </a:r>
          </a:p>
        </p:txBody>
      </p:sp>
      <p:sp>
        <p:nvSpPr>
          <p:cNvPr id="37" name="Arrow: Up-Down 36">
            <a:extLst>
              <a:ext uri="{FF2B5EF4-FFF2-40B4-BE49-F238E27FC236}">
                <a16:creationId xmlns:a16="http://schemas.microsoft.com/office/drawing/2014/main" id="{E4448577-6664-4DED-B148-2AB00E82F242}"/>
              </a:ext>
            </a:extLst>
          </p:cNvPr>
          <p:cNvSpPr/>
          <p:nvPr/>
        </p:nvSpPr>
        <p:spPr>
          <a:xfrm rot="10800000">
            <a:off x="5928832" y="5190670"/>
            <a:ext cx="357742" cy="590182"/>
          </a:xfrm>
          <a:prstGeom prst="up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82F1402-EF55-4C5F-B22D-CCEA4B714938}"/>
              </a:ext>
            </a:extLst>
          </p:cNvPr>
          <p:cNvSpPr txBox="1"/>
          <p:nvPr/>
        </p:nvSpPr>
        <p:spPr>
          <a:xfrm>
            <a:off x="6474534" y="3060431"/>
            <a:ext cx="10054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Modules</a:t>
            </a:r>
          </a:p>
        </p:txBody>
      </p:sp>
      <p:sp>
        <p:nvSpPr>
          <p:cNvPr id="39" name="Arrow: Up-Down 38">
            <a:extLst>
              <a:ext uri="{FF2B5EF4-FFF2-40B4-BE49-F238E27FC236}">
                <a16:creationId xmlns:a16="http://schemas.microsoft.com/office/drawing/2014/main" id="{5BA1CBA0-420E-42A5-880A-003F896961BF}"/>
              </a:ext>
            </a:extLst>
          </p:cNvPr>
          <p:cNvSpPr/>
          <p:nvPr/>
        </p:nvSpPr>
        <p:spPr>
          <a:xfrm rot="10800000">
            <a:off x="5965396" y="2979059"/>
            <a:ext cx="357742" cy="590182"/>
          </a:xfrm>
          <a:prstGeom prst="up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3096" name="Picture 24" descr="Java (langage) — Wikipédia">
            <a:extLst>
              <a:ext uri="{FF2B5EF4-FFF2-40B4-BE49-F238E27FC236}">
                <a16:creationId xmlns:a16="http://schemas.microsoft.com/office/drawing/2014/main" id="{6224F849-AD5D-4E0A-BF6A-3AF46D29A9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61705" y="5554641"/>
            <a:ext cx="637540" cy="11866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98" name="Picture 26" descr="Scala (langage) — Wikipédia">
            <a:extLst>
              <a:ext uri="{FF2B5EF4-FFF2-40B4-BE49-F238E27FC236}">
                <a16:creationId xmlns:a16="http://schemas.microsoft.com/office/drawing/2014/main" id="{A1CBC9D1-B4C1-4828-848A-75BE6CE70D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67553" y="6066414"/>
            <a:ext cx="1719743" cy="7055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02" name="Picture 30" descr="Python-Logo-PNG-Image - Indigo.amsterdam">
            <a:extLst>
              <a:ext uri="{FF2B5EF4-FFF2-40B4-BE49-F238E27FC236}">
                <a16:creationId xmlns:a16="http://schemas.microsoft.com/office/drawing/2014/main" id="{6539C180-53C1-4DEF-B701-2C3D64A448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65951" y="5799353"/>
            <a:ext cx="2015656" cy="10078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06" name="Picture 34">
            <a:extLst>
              <a:ext uri="{FF2B5EF4-FFF2-40B4-BE49-F238E27FC236}">
                <a16:creationId xmlns:a16="http://schemas.microsoft.com/office/drawing/2014/main" id="{9BC7296E-525F-4EFA-B7E5-BA5F758FEA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26061" y="5989133"/>
            <a:ext cx="911091" cy="7061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10" name="Picture 38" descr="Présentation Hadoop Distributed File System – Blog technique Groupe SII">
            <a:extLst>
              <a:ext uri="{FF2B5EF4-FFF2-40B4-BE49-F238E27FC236}">
                <a16:creationId xmlns:a16="http://schemas.microsoft.com/office/drawing/2014/main" id="{9F7017BC-137A-4FCD-8921-E6B5B74FD7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4928" y="3327277"/>
            <a:ext cx="1393418" cy="6575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12" name="Picture 40" descr="Upload/Download your Azure Storage files by using Azure Data Lake Storage  Plugin with Workload Automation - WORKLOAD AUTOMATION COMMUNITY">
            <a:extLst>
              <a:ext uri="{FF2B5EF4-FFF2-40B4-BE49-F238E27FC236}">
                <a16:creationId xmlns:a16="http://schemas.microsoft.com/office/drawing/2014/main" id="{0B969055-5D95-4028-A24A-382729740E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5341" y="4499093"/>
            <a:ext cx="1447594" cy="8364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0" name="Picture 2">
            <a:extLst>
              <a:ext uri="{FF2B5EF4-FFF2-40B4-BE49-F238E27FC236}">
                <a16:creationId xmlns:a16="http://schemas.microsoft.com/office/drawing/2014/main" id="{A5CFE9A7-290C-4F7A-9224-0482F98638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88770" y="4775421"/>
            <a:ext cx="896605" cy="8752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16" name="Picture 44" descr="How to Run an Application on Spark Standalone Cluster | by Chuan Xu | Medium">
            <a:extLst>
              <a:ext uri="{FF2B5EF4-FFF2-40B4-BE49-F238E27FC236}">
                <a16:creationId xmlns:a16="http://schemas.microsoft.com/office/drawing/2014/main" id="{520B4716-BD3D-4BD0-8364-B874A91B34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46550" y="3171738"/>
            <a:ext cx="1676749" cy="9431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18" name="Picture 46">
            <a:extLst>
              <a:ext uri="{FF2B5EF4-FFF2-40B4-BE49-F238E27FC236}">
                <a16:creationId xmlns:a16="http://schemas.microsoft.com/office/drawing/2014/main" id="{6A2E18B7-D45F-4F5A-8B3D-A62E9BD9EB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759" y="5306801"/>
            <a:ext cx="698767" cy="571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20" name="Picture 48" descr="Apache Iceberg">
            <a:extLst>
              <a:ext uri="{FF2B5EF4-FFF2-40B4-BE49-F238E27FC236}">
                <a16:creationId xmlns:a16="http://schemas.microsoft.com/office/drawing/2014/main" id="{709A7303-EE0C-4A11-9528-76B24460E9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3695" y="5349397"/>
            <a:ext cx="1447594" cy="3944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08" name="Picture 36" descr="Amazon S3 101. S3 is a Simple Storage Service that is… | by Vedha Sankar |  featurepreneur | Medium">
            <a:extLst>
              <a:ext uri="{FF2B5EF4-FFF2-40B4-BE49-F238E27FC236}">
                <a16:creationId xmlns:a16="http://schemas.microsoft.com/office/drawing/2014/main" id="{EE95ED07-F5BA-4E14-8407-5AC42A2591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7402" y="3952271"/>
            <a:ext cx="903472" cy="6767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79634682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6E13334-10A7-EBB6-8504-915983182BDE}"/>
              </a:ext>
            </a:extLst>
          </p:cNvPr>
          <p:cNvSpPr txBox="1"/>
          <p:nvPr/>
        </p:nvSpPr>
        <p:spPr>
          <a:xfrm>
            <a:off x="3037938" y="1296609"/>
            <a:ext cx="7001340" cy="25545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dirty="0" err="1"/>
              <a:t>BigData</a:t>
            </a:r>
            <a:r>
              <a:rPr lang="fr-FR" sz="2000" dirty="0"/>
              <a:t>  =  VVV  … </a:t>
            </a:r>
          </a:p>
          <a:p>
            <a:r>
              <a:rPr lang="fr-FR" sz="2000" dirty="0"/>
              <a:t>Distributed Architectures (</a:t>
            </a:r>
            <a:r>
              <a:rPr lang="fr-FR" sz="2000" dirty="0" err="1"/>
              <a:t>Horyzontal</a:t>
            </a:r>
            <a:r>
              <a:rPr lang="fr-FR" sz="2000" dirty="0"/>
              <a:t> </a:t>
            </a:r>
            <a:r>
              <a:rPr lang="fr-FR" sz="2000" dirty="0" err="1"/>
              <a:t>Scalling</a:t>
            </a:r>
            <a:r>
              <a:rPr lang="fr-FR" sz="2000" dirty="0"/>
              <a:t>)  =&gt; Challenges </a:t>
            </a:r>
          </a:p>
          <a:p>
            <a:r>
              <a:rPr lang="fr-FR" sz="2000" dirty="0" err="1"/>
              <a:t>Compute</a:t>
            </a:r>
            <a:r>
              <a:rPr lang="fr-FR" sz="2000" dirty="0"/>
              <a:t> vs Storage </a:t>
            </a:r>
            <a:r>
              <a:rPr lang="fr-FR" sz="2000" dirty="0" err="1"/>
              <a:t>Resources</a:t>
            </a:r>
            <a:endParaRPr lang="fr-FR" sz="2000" dirty="0"/>
          </a:p>
          <a:p>
            <a:r>
              <a:rPr lang="fr-FR" sz="2000" dirty="0" err="1"/>
              <a:t>Compute</a:t>
            </a:r>
            <a:r>
              <a:rPr lang="fr-FR" sz="2000" dirty="0"/>
              <a:t> Api =&gt; </a:t>
            </a:r>
            <a:r>
              <a:rPr lang="fr-FR" sz="2000" dirty="0" err="1"/>
              <a:t>Yarn</a:t>
            </a:r>
            <a:r>
              <a:rPr lang="fr-FR" sz="2000" dirty="0"/>
              <a:t>, </a:t>
            </a:r>
            <a:r>
              <a:rPr lang="fr-FR" sz="2000" dirty="0" err="1"/>
              <a:t>Kubernetes</a:t>
            </a:r>
            <a:r>
              <a:rPr lang="fr-FR" sz="2000" dirty="0"/>
              <a:t>    /    Storage Api =&gt; </a:t>
            </a:r>
            <a:r>
              <a:rPr lang="fr-FR" sz="2000" dirty="0" err="1"/>
              <a:t>Hdfs</a:t>
            </a:r>
            <a:r>
              <a:rPr lang="fr-FR" sz="2000" dirty="0"/>
              <a:t>, Cloud</a:t>
            </a:r>
          </a:p>
          <a:p>
            <a:r>
              <a:rPr lang="fr-FR" sz="2000" dirty="0"/>
              <a:t>Hardware </a:t>
            </a:r>
            <a:r>
              <a:rPr lang="fr-FR" sz="2000" dirty="0" err="1"/>
              <a:t>evolves</a:t>
            </a:r>
            <a:r>
              <a:rPr lang="fr-FR" sz="2000" dirty="0"/>
              <a:t>, Hadoop </a:t>
            </a:r>
            <a:r>
              <a:rPr lang="fr-FR" sz="2000" dirty="0" err="1"/>
              <a:t>Hdfs</a:t>
            </a:r>
            <a:r>
              <a:rPr lang="fr-FR" sz="2000" dirty="0"/>
              <a:t>/</a:t>
            </a:r>
            <a:r>
              <a:rPr lang="fr-FR" sz="2000" dirty="0" err="1"/>
              <a:t>Yarn</a:t>
            </a:r>
            <a:r>
              <a:rPr lang="fr-FR" sz="2000" dirty="0"/>
              <a:t> </a:t>
            </a:r>
            <a:r>
              <a:rPr lang="fr-FR" sz="2000" dirty="0" err="1"/>
              <a:t>is</a:t>
            </a:r>
            <a:r>
              <a:rPr lang="fr-FR" sz="2000" dirty="0"/>
              <a:t> </a:t>
            </a:r>
            <a:r>
              <a:rPr lang="fr-FR" sz="2000" dirty="0" err="1"/>
              <a:t>deprecated</a:t>
            </a:r>
            <a:endParaRPr lang="fr-FR" sz="2000" dirty="0"/>
          </a:p>
          <a:p>
            <a:endParaRPr lang="fr-FR" sz="2000" dirty="0"/>
          </a:p>
          <a:p>
            <a:r>
              <a:rPr lang="fr-FR" sz="2000" dirty="0"/>
              <a:t>Spark = </a:t>
            </a:r>
            <a:r>
              <a:rPr lang="fr-FR" sz="2000" dirty="0" err="1"/>
              <a:t>Unified</a:t>
            </a:r>
            <a:r>
              <a:rPr lang="fr-FR" sz="2000" dirty="0"/>
              <a:t> Engine, </a:t>
            </a:r>
            <a:r>
              <a:rPr lang="fr-FR" sz="2000" dirty="0" err="1"/>
              <a:t>using</a:t>
            </a:r>
            <a:r>
              <a:rPr lang="fr-FR" sz="2000" dirty="0"/>
              <a:t> </a:t>
            </a:r>
            <a:r>
              <a:rPr lang="fr-FR" sz="2000" dirty="0" err="1"/>
              <a:t>both</a:t>
            </a:r>
            <a:r>
              <a:rPr lang="fr-FR" sz="2000" dirty="0"/>
              <a:t> </a:t>
            </a:r>
            <a:r>
              <a:rPr lang="fr-FR" sz="2000" dirty="0" err="1"/>
              <a:t>Compute</a:t>
            </a:r>
            <a:r>
              <a:rPr lang="fr-FR" sz="2000" dirty="0"/>
              <a:t> Api and Storage Api</a:t>
            </a:r>
          </a:p>
          <a:p>
            <a:endParaRPr lang="fr-FR" sz="2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35CDF60-078D-DBBB-A718-BEDF13357FD1}"/>
              </a:ext>
            </a:extLst>
          </p:cNvPr>
          <p:cNvSpPr txBox="1"/>
          <p:nvPr/>
        </p:nvSpPr>
        <p:spPr>
          <a:xfrm>
            <a:off x="7470019" y="5186437"/>
            <a:ext cx="283558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4000" dirty="0"/>
              <a:t>Coffee Break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D4EBADC-1E21-7965-E589-D1DD494B23A4}"/>
              </a:ext>
            </a:extLst>
          </p:cNvPr>
          <p:cNvSpPr txBox="1"/>
          <p:nvPr/>
        </p:nvSpPr>
        <p:spPr>
          <a:xfrm>
            <a:off x="341086" y="1958424"/>
            <a:ext cx="235218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4000" dirty="0" err="1"/>
              <a:t>Take</a:t>
            </a:r>
            <a:r>
              <a:rPr lang="fr-FR" sz="4000" dirty="0"/>
              <a:t> </a:t>
            </a:r>
            <a:r>
              <a:rPr lang="fr-FR" sz="4000" dirty="0" err="1"/>
              <a:t>Away</a:t>
            </a:r>
            <a:endParaRPr lang="fr-FR" sz="4000" dirty="0"/>
          </a:p>
        </p:txBody>
      </p:sp>
    </p:spTree>
    <p:extLst>
      <p:ext uri="{BB962C8B-B14F-4D97-AF65-F5344CB8AC3E}">
        <p14:creationId xmlns:p14="http://schemas.microsoft.com/office/powerpoint/2010/main" val="3040528325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9456B0-71A4-CF8C-E88D-0B1478AC2D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0001"/>
            <a:ext cx="10515600" cy="1325563"/>
          </a:xfrm>
        </p:spPr>
        <p:txBody>
          <a:bodyPr/>
          <a:lstStyle/>
          <a:p>
            <a:pPr algn="ctr"/>
            <a:r>
              <a:rPr lang="fr-FR" dirty="0" err="1"/>
              <a:t>Outline</a:t>
            </a:r>
            <a:endParaRPr lang="fr-F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D800C1-B011-5B30-76B4-9FA377D888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60915" y="1630439"/>
            <a:ext cx="8282818" cy="4862436"/>
          </a:xfrm>
        </p:spPr>
        <p:txBody>
          <a:bodyPr>
            <a:normAutofit fontScale="92500" lnSpcReduction="10000"/>
          </a:bodyPr>
          <a:lstStyle/>
          <a:p>
            <a:r>
              <a:rPr lang="fr-FR" dirty="0" err="1"/>
              <a:t>What</a:t>
            </a:r>
            <a:r>
              <a:rPr lang="fr-FR" dirty="0"/>
              <a:t> </a:t>
            </a:r>
            <a:r>
              <a:rPr lang="fr-FR" dirty="0" err="1"/>
              <a:t>is</a:t>
            </a:r>
            <a:r>
              <a:rPr lang="fr-FR" dirty="0"/>
              <a:t> </a:t>
            </a:r>
            <a:r>
              <a:rPr lang="fr-FR" dirty="0" err="1"/>
              <a:t>BigData</a:t>
            </a:r>
            <a:r>
              <a:rPr lang="fr-FR" dirty="0"/>
              <a:t> ?</a:t>
            </a:r>
          </a:p>
          <a:p>
            <a:pPr lvl="1"/>
            <a:r>
              <a:rPr lang="fr-FR" dirty="0" err="1"/>
              <a:t>Order</a:t>
            </a:r>
            <a:r>
              <a:rPr lang="fr-FR" dirty="0"/>
              <a:t> of Magnitudes for « Big »</a:t>
            </a:r>
          </a:p>
          <a:p>
            <a:pPr lvl="1"/>
            <a:r>
              <a:rPr lang="fr-FR" dirty="0"/>
              <a:t>Distributed System challenges</a:t>
            </a:r>
          </a:p>
          <a:p>
            <a:pPr lvl="1"/>
            <a:r>
              <a:rPr lang="fr-FR" dirty="0" err="1"/>
              <a:t>Scaling</a:t>
            </a:r>
            <a:r>
              <a:rPr lang="fr-FR" dirty="0"/>
              <a:t> Storage </a:t>
            </a:r>
            <a:r>
              <a:rPr lang="fr-FR" dirty="0" err="1"/>
              <a:t>Resources</a:t>
            </a:r>
            <a:r>
              <a:rPr lang="fr-FR" dirty="0"/>
              <a:t>: </a:t>
            </a:r>
            <a:r>
              <a:rPr lang="fr-FR" dirty="0" err="1"/>
              <a:t>Hdfs</a:t>
            </a:r>
            <a:endParaRPr lang="fr-FR" dirty="0"/>
          </a:p>
          <a:p>
            <a:pPr lvl="1"/>
            <a:r>
              <a:rPr lang="fr-FR" dirty="0" err="1"/>
              <a:t>Scaling</a:t>
            </a:r>
            <a:r>
              <a:rPr lang="fr-FR" dirty="0"/>
              <a:t> </a:t>
            </a:r>
            <a:r>
              <a:rPr lang="fr-FR" dirty="0" err="1"/>
              <a:t>Compute</a:t>
            </a:r>
            <a:r>
              <a:rPr lang="fr-FR" dirty="0"/>
              <a:t> </a:t>
            </a:r>
            <a:r>
              <a:rPr lang="fr-FR" dirty="0" err="1"/>
              <a:t>Resources</a:t>
            </a:r>
            <a:r>
              <a:rPr lang="fr-FR" dirty="0"/>
              <a:t>: </a:t>
            </a:r>
            <a:r>
              <a:rPr lang="fr-FR" dirty="0" err="1"/>
              <a:t>Yarn</a:t>
            </a:r>
            <a:r>
              <a:rPr lang="fr-FR" dirty="0"/>
              <a:t>, </a:t>
            </a:r>
            <a:r>
              <a:rPr lang="fr-FR" dirty="0" err="1"/>
              <a:t>Kubernetes</a:t>
            </a:r>
            <a:endParaRPr lang="fr-FR" dirty="0"/>
          </a:p>
          <a:p>
            <a:pPr lvl="1"/>
            <a:r>
              <a:rPr lang="fr-FR" dirty="0" err="1"/>
              <a:t>Using</a:t>
            </a:r>
            <a:r>
              <a:rPr lang="fr-FR" dirty="0"/>
              <a:t> Storage – </a:t>
            </a:r>
            <a:r>
              <a:rPr lang="fr-FR" dirty="0" err="1"/>
              <a:t>Compute</a:t>
            </a:r>
            <a:r>
              <a:rPr lang="fr-FR" dirty="0"/>
              <a:t> apis</a:t>
            </a:r>
          </a:p>
          <a:p>
            <a:pPr lvl="1"/>
            <a:r>
              <a:rPr lang="fr-FR" dirty="0"/>
              <a:t>Evolution of Hardware – Softwares – Hadoop </a:t>
            </a:r>
            <a:r>
              <a:rPr lang="fr-FR" dirty="0" err="1"/>
              <a:t>Ecosystem</a:t>
            </a:r>
            <a:r>
              <a:rPr lang="fr-FR" dirty="0"/>
              <a:t>, Spark</a:t>
            </a:r>
          </a:p>
          <a:p>
            <a:r>
              <a:rPr lang="fr-FR" dirty="0"/>
              <a:t>Description of a </a:t>
            </a:r>
            <a:r>
              <a:rPr lang="fr-FR" dirty="0" err="1"/>
              <a:t>Datalake</a:t>
            </a:r>
            <a:endParaRPr lang="fr-FR" dirty="0"/>
          </a:p>
          <a:p>
            <a:pPr lvl="1"/>
            <a:r>
              <a:rPr lang="fr-FR" sz="3500" b="1" dirty="0"/>
              <a:t>Content</a:t>
            </a:r>
          </a:p>
          <a:p>
            <a:pPr lvl="1"/>
            <a:r>
              <a:rPr lang="fr-FR" dirty="0"/>
              <a:t>usages</a:t>
            </a:r>
          </a:p>
          <a:p>
            <a:r>
              <a:rPr lang="fr-FR" dirty="0"/>
              <a:t>Example of Data-</a:t>
            </a:r>
            <a:r>
              <a:rPr lang="fr-FR" dirty="0" err="1"/>
              <a:t>Processing</a:t>
            </a:r>
            <a:endParaRPr lang="fr-FR" dirty="0"/>
          </a:p>
          <a:p>
            <a:pPr lvl="1"/>
            <a:r>
              <a:rPr lang="fr-FR" dirty="0"/>
              <a:t>RAW to LAKE, Reports</a:t>
            </a:r>
          </a:p>
          <a:p>
            <a:r>
              <a:rPr lang="fr-FR" dirty="0"/>
              <a:t>Change Storage-</a:t>
            </a:r>
            <a:r>
              <a:rPr lang="fr-FR" dirty="0" err="1"/>
              <a:t>Compute</a:t>
            </a:r>
            <a:r>
              <a:rPr lang="fr-FR" dirty="0"/>
              <a:t>, Evolution to Cloud</a:t>
            </a:r>
          </a:p>
        </p:txBody>
      </p:sp>
      <p:sp>
        <p:nvSpPr>
          <p:cNvPr id="4" name="Arrow: Right 3">
            <a:extLst>
              <a:ext uri="{FF2B5EF4-FFF2-40B4-BE49-F238E27FC236}">
                <a16:creationId xmlns:a16="http://schemas.microsoft.com/office/drawing/2014/main" id="{DDD0192B-78FC-DA6C-C265-8EE665F30D7C}"/>
              </a:ext>
            </a:extLst>
          </p:cNvPr>
          <p:cNvSpPr/>
          <p:nvPr/>
        </p:nvSpPr>
        <p:spPr>
          <a:xfrm>
            <a:off x="2463579" y="4438247"/>
            <a:ext cx="710213" cy="39061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73719757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DD03FA-CD5B-240C-B4BB-CA1E739593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/>
              <a:t>Not </a:t>
            </a:r>
            <a:r>
              <a:rPr lang="fr-FR" dirty="0" err="1"/>
              <a:t>Only</a:t>
            </a:r>
            <a:r>
              <a:rPr lang="fr-FR" dirty="0"/>
              <a:t> Machines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23751B8-27B3-6537-E44B-E5BA98D172F6}"/>
              </a:ext>
            </a:extLst>
          </p:cNvPr>
          <p:cNvSpPr txBox="1"/>
          <p:nvPr/>
        </p:nvSpPr>
        <p:spPr>
          <a:xfrm>
            <a:off x="3457854" y="1993782"/>
            <a:ext cx="613687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/>
              <a:t>~ 200  </a:t>
            </a:r>
            <a:r>
              <a:rPr lang="fr-FR" sz="2400" dirty="0" err="1"/>
              <a:t>different</a:t>
            </a:r>
            <a:r>
              <a:rPr lang="fr-FR" sz="2400" dirty="0"/>
              <a:t> Teams / 10 </a:t>
            </a:r>
            <a:r>
              <a:rPr lang="fr-FR" sz="2400" dirty="0" err="1"/>
              <a:t>departments</a:t>
            </a:r>
            <a:endParaRPr lang="fr-FR" sz="2400" dirty="0"/>
          </a:p>
          <a:p>
            <a:r>
              <a:rPr lang="fr-FR" sz="2400" dirty="0"/>
              <a:t>… for 1000 </a:t>
            </a:r>
            <a:r>
              <a:rPr lang="fr-FR" sz="2400" dirty="0" err="1"/>
              <a:t>developpers</a:t>
            </a:r>
            <a:r>
              <a:rPr lang="fr-FR" sz="2400" dirty="0"/>
              <a:t> / data </a:t>
            </a:r>
            <a:r>
              <a:rPr lang="fr-FR" sz="2400" dirty="0" err="1"/>
              <a:t>engineers</a:t>
            </a:r>
            <a:r>
              <a:rPr lang="fr-FR" sz="2400" dirty="0"/>
              <a:t> / </a:t>
            </a:r>
            <a:r>
              <a:rPr lang="fr-FR" sz="2400" dirty="0" err="1"/>
              <a:t>users</a:t>
            </a:r>
            <a:endParaRPr lang="fr-FR" sz="24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7446D41-FADC-F37E-88C1-82C6B6E585EE}"/>
              </a:ext>
            </a:extLst>
          </p:cNvPr>
          <p:cNvSpPr txBox="1"/>
          <p:nvPr/>
        </p:nvSpPr>
        <p:spPr>
          <a:xfrm>
            <a:off x="3457854" y="3958871"/>
            <a:ext cx="4615687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/>
              <a:t>On ~6000 tables,  </a:t>
            </a:r>
          </a:p>
          <a:p>
            <a:r>
              <a:rPr lang="fr-FR" sz="2400" dirty="0" err="1"/>
              <a:t>described</a:t>
            </a:r>
            <a:r>
              <a:rPr lang="fr-FR" sz="2400" dirty="0"/>
              <a:t> in  1500 </a:t>
            </a:r>
            <a:r>
              <a:rPr lang="fr-FR" sz="2400" dirty="0" err="1"/>
              <a:t>DataSets</a:t>
            </a:r>
            <a:endParaRPr lang="fr-FR" sz="2400" dirty="0"/>
          </a:p>
          <a:p>
            <a:endParaRPr lang="fr-FR" sz="2400" dirty="0"/>
          </a:p>
          <a:p>
            <a:r>
              <a:rPr lang="fr-FR" sz="2400" dirty="0"/>
              <a:t>Lot of Financial / </a:t>
            </a:r>
            <a:r>
              <a:rPr lang="fr-FR" sz="2400" dirty="0" err="1"/>
              <a:t>Functional</a:t>
            </a:r>
            <a:r>
              <a:rPr lang="fr-FR" sz="2400" dirty="0"/>
              <a:t> aspects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3509940-2DFD-BF49-E488-2928FE7CC5F2}"/>
              </a:ext>
            </a:extLst>
          </p:cNvPr>
          <p:cNvSpPr txBox="1"/>
          <p:nvPr/>
        </p:nvSpPr>
        <p:spPr>
          <a:xfrm>
            <a:off x="3457854" y="3127873"/>
            <a:ext cx="843083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/>
              <a:t>In Paris.. But not </a:t>
            </a:r>
            <a:r>
              <a:rPr lang="fr-FR" sz="2400" dirty="0" err="1"/>
              <a:t>Only</a:t>
            </a:r>
            <a:r>
              <a:rPr lang="fr-FR" sz="2400" dirty="0"/>
              <a:t> (Bangalore, </a:t>
            </a:r>
            <a:r>
              <a:rPr lang="fr-FR" sz="2400" dirty="0" err="1"/>
              <a:t>Montreal</a:t>
            </a:r>
            <a:r>
              <a:rPr lang="fr-FR" sz="2400" dirty="0"/>
              <a:t>, London, New-York, ..)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5BDD7F1-B012-5B50-A327-88BC8F935B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198" y="1827464"/>
            <a:ext cx="2841792" cy="39158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4338693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88560F-B477-8E63-EB18-ED08379427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 err="1"/>
              <a:t>Feeding</a:t>
            </a:r>
            <a:r>
              <a:rPr lang="fr-FR" dirty="0"/>
              <a:t> Data Inputs to </a:t>
            </a:r>
            <a:r>
              <a:rPr lang="fr-FR" dirty="0" err="1"/>
              <a:t>Datalake</a:t>
            </a:r>
            <a:r>
              <a:rPr lang="fr-FR" dirty="0"/>
              <a:t>:</a:t>
            </a:r>
            <a:br>
              <a:rPr lang="fr-FR" dirty="0"/>
            </a:br>
            <a:r>
              <a:rPr lang="fr-FR" dirty="0" err="1"/>
              <a:t>aggregating</a:t>
            </a:r>
            <a:r>
              <a:rPr lang="fr-FR" dirty="0"/>
              <a:t> &gt;= 150 </a:t>
            </a:r>
            <a:r>
              <a:rPr lang="fr-FR" dirty="0" err="1"/>
              <a:t>Systems</a:t>
            </a:r>
            <a:endParaRPr lang="fr-FR" dirty="0"/>
          </a:p>
        </p:txBody>
      </p:sp>
      <p:sp>
        <p:nvSpPr>
          <p:cNvPr id="4" name="Cylinder 3">
            <a:extLst>
              <a:ext uri="{FF2B5EF4-FFF2-40B4-BE49-F238E27FC236}">
                <a16:creationId xmlns:a16="http://schemas.microsoft.com/office/drawing/2014/main" id="{FA2988C9-7299-6E19-3508-A50DCEA6DA65}"/>
              </a:ext>
            </a:extLst>
          </p:cNvPr>
          <p:cNvSpPr/>
          <p:nvPr/>
        </p:nvSpPr>
        <p:spPr>
          <a:xfrm>
            <a:off x="5271976" y="3068936"/>
            <a:ext cx="3728486" cy="2332660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Cylinder 4">
            <a:extLst>
              <a:ext uri="{FF2B5EF4-FFF2-40B4-BE49-F238E27FC236}">
                <a16:creationId xmlns:a16="http://schemas.microsoft.com/office/drawing/2014/main" id="{27540E31-19DC-468A-9006-E8766CF99C67}"/>
              </a:ext>
            </a:extLst>
          </p:cNvPr>
          <p:cNvSpPr/>
          <p:nvPr/>
        </p:nvSpPr>
        <p:spPr>
          <a:xfrm>
            <a:off x="1704235" y="3138472"/>
            <a:ext cx="1956392" cy="969497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Cylinder 5">
            <a:extLst>
              <a:ext uri="{FF2B5EF4-FFF2-40B4-BE49-F238E27FC236}">
                <a16:creationId xmlns:a16="http://schemas.microsoft.com/office/drawing/2014/main" id="{F1C21396-26E9-2AC3-6989-8132CC2ECCA2}"/>
              </a:ext>
            </a:extLst>
          </p:cNvPr>
          <p:cNvSpPr/>
          <p:nvPr/>
        </p:nvSpPr>
        <p:spPr>
          <a:xfrm>
            <a:off x="2161953" y="4271869"/>
            <a:ext cx="923261" cy="725044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Cylinder 6">
            <a:extLst>
              <a:ext uri="{FF2B5EF4-FFF2-40B4-BE49-F238E27FC236}">
                <a16:creationId xmlns:a16="http://schemas.microsoft.com/office/drawing/2014/main" id="{A20DF8EA-3353-7620-976D-67FE0A280B77}"/>
              </a:ext>
            </a:extLst>
          </p:cNvPr>
          <p:cNvSpPr/>
          <p:nvPr/>
        </p:nvSpPr>
        <p:spPr>
          <a:xfrm>
            <a:off x="2121194" y="2496385"/>
            <a:ext cx="964020" cy="501759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A097041-0BAD-5C1D-FF55-12E601F2043C}"/>
              </a:ext>
            </a:extLst>
          </p:cNvPr>
          <p:cNvSpPr txBox="1"/>
          <p:nvPr/>
        </p:nvSpPr>
        <p:spPr>
          <a:xfrm>
            <a:off x="273417" y="2344131"/>
            <a:ext cx="16936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System1:</a:t>
            </a:r>
          </a:p>
          <a:p>
            <a:r>
              <a:rPr lang="fr-FR" dirty="0" err="1"/>
              <a:t>Referential</a:t>
            </a:r>
            <a:r>
              <a:rPr lang="fr-FR" dirty="0"/>
              <a:t> Data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CA7FDD9-889A-0E4D-C190-9836233E2D97}"/>
              </a:ext>
            </a:extLst>
          </p:cNvPr>
          <p:cNvSpPr txBox="1"/>
          <p:nvPr/>
        </p:nvSpPr>
        <p:spPr>
          <a:xfrm>
            <a:off x="273416" y="3244393"/>
            <a:ext cx="134524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System2:</a:t>
            </a:r>
          </a:p>
          <a:p>
            <a:r>
              <a:rPr lang="fr-FR" dirty="0" err="1"/>
              <a:t>Equity</a:t>
            </a:r>
            <a:r>
              <a:rPr lang="fr-FR" dirty="0"/>
              <a:t> Trade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640921D-F1CB-6CA2-6188-F650398013FF}"/>
              </a:ext>
            </a:extLst>
          </p:cNvPr>
          <p:cNvSpPr txBox="1"/>
          <p:nvPr/>
        </p:nvSpPr>
        <p:spPr>
          <a:xfrm>
            <a:off x="322875" y="4038734"/>
            <a:ext cx="182312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System3:</a:t>
            </a:r>
          </a:p>
          <a:p>
            <a:r>
              <a:rPr lang="fr-FR" dirty="0" err="1"/>
              <a:t>FixeIncome</a:t>
            </a:r>
            <a:r>
              <a:rPr lang="fr-FR" dirty="0"/>
              <a:t> Trade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114950C-0C24-9CAE-ED14-0C5CB45C4C68}"/>
              </a:ext>
            </a:extLst>
          </p:cNvPr>
          <p:cNvSpPr txBox="1"/>
          <p:nvPr/>
        </p:nvSpPr>
        <p:spPr>
          <a:xfrm>
            <a:off x="322875" y="4904227"/>
            <a:ext cx="132638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System4:</a:t>
            </a:r>
          </a:p>
          <a:p>
            <a:r>
              <a:rPr lang="fr-FR" dirty="0" err="1"/>
              <a:t>Credit</a:t>
            </a:r>
            <a:r>
              <a:rPr lang="fr-FR" dirty="0"/>
              <a:t> Trade</a:t>
            </a:r>
          </a:p>
        </p:txBody>
      </p:sp>
      <p:sp>
        <p:nvSpPr>
          <p:cNvPr id="14" name="Cylinder 13">
            <a:extLst>
              <a:ext uri="{FF2B5EF4-FFF2-40B4-BE49-F238E27FC236}">
                <a16:creationId xmlns:a16="http://schemas.microsoft.com/office/drawing/2014/main" id="{9E725043-71B5-437C-EF77-4A090B2AC02A}"/>
              </a:ext>
            </a:extLst>
          </p:cNvPr>
          <p:cNvSpPr/>
          <p:nvPr/>
        </p:nvSpPr>
        <p:spPr>
          <a:xfrm>
            <a:off x="2305050" y="5114665"/>
            <a:ext cx="637066" cy="573861"/>
          </a:xfrm>
          <a:prstGeom prst="can">
            <a:avLst>
              <a:gd name="adj" fmla="val 28706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80CE5AA-18E5-1775-51D6-696158ACE52D}"/>
              </a:ext>
            </a:extLst>
          </p:cNvPr>
          <p:cNvSpPr txBox="1"/>
          <p:nvPr/>
        </p:nvSpPr>
        <p:spPr>
          <a:xfrm>
            <a:off x="358106" y="5685598"/>
            <a:ext cx="129638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System N:</a:t>
            </a:r>
          </a:p>
          <a:p>
            <a:r>
              <a:rPr lang="fr-FR" dirty="0" err="1"/>
              <a:t>MarketData</a:t>
            </a:r>
            <a:endParaRPr lang="fr-FR" dirty="0"/>
          </a:p>
        </p:txBody>
      </p:sp>
      <p:sp>
        <p:nvSpPr>
          <p:cNvPr id="16" name="Cylinder 15">
            <a:extLst>
              <a:ext uri="{FF2B5EF4-FFF2-40B4-BE49-F238E27FC236}">
                <a16:creationId xmlns:a16="http://schemas.microsoft.com/office/drawing/2014/main" id="{3FFD7BBB-BD35-A49A-C8D1-846A9C1D5FFE}"/>
              </a:ext>
            </a:extLst>
          </p:cNvPr>
          <p:cNvSpPr/>
          <p:nvPr/>
        </p:nvSpPr>
        <p:spPr>
          <a:xfrm>
            <a:off x="1947639" y="5806278"/>
            <a:ext cx="1469584" cy="826859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7" name="Arrow: Right 16">
            <a:extLst>
              <a:ext uri="{FF2B5EF4-FFF2-40B4-BE49-F238E27FC236}">
                <a16:creationId xmlns:a16="http://schemas.microsoft.com/office/drawing/2014/main" id="{1DBC1724-6222-FD90-B23F-33F7E7884E6F}"/>
              </a:ext>
            </a:extLst>
          </p:cNvPr>
          <p:cNvSpPr/>
          <p:nvPr/>
        </p:nvSpPr>
        <p:spPr>
          <a:xfrm rot="1642593">
            <a:off x="3839883" y="2730584"/>
            <a:ext cx="1111102" cy="37972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8" name="Arrow: Right 17">
            <a:extLst>
              <a:ext uri="{FF2B5EF4-FFF2-40B4-BE49-F238E27FC236}">
                <a16:creationId xmlns:a16="http://schemas.microsoft.com/office/drawing/2014/main" id="{AFD9D444-1C5C-5236-C808-86769D6C9392}"/>
              </a:ext>
            </a:extLst>
          </p:cNvPr>
          <p:cNvSpPr/>
          <p:nvPr/>
        </p:nvSpPr>
        <p:spPr>
          <a:xfrm rot="999574">
            <a:off x="3891430" y="3576354"/>
            <a:ext cx="1111102" cy="37972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9" name="Arrow: Right 18">
            <a:extLst>
              <a:ext uri="{FF2B5EF4-FFF2-40B4-BE49-F238E27FC236}">
                <a16:creationId xmlns:a16="http://schemas.microsoft.com/office/drawing/2014/main" id="{EBD2A3B9-F318-7BA4-A6E1-0CB7E8EBB076}"/>
              </a:ext>
            </a:extLst>
          </p:cNvPr>
          <p:cNvSpPr/>
          <p:nvPr/>
        </p:nvSpPr>
        <p:spPr>
          <a:xfrm rot="21160926">
            <a:off x="3834456" y="4324956"/>
            <a:ext cx="1111102" cy="37972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0" name="Arrow: Right 19">
            <a:extLst>
              <a:ext uri="{FF2B5EF4-FFF2-40B4-BE49-F238E27FC236}">
                <a16:creationId xmlns:a16="http://schemas.microsoft.com/office/drawing/2014/main" id="{D751FAF9-E016-971D-CF03-2520E4C95D9B}"/>
              </a:ext>
            </a:extLst>
          </p:cNvPr>
          <p:cNvSpPr/>
          <p:nvPr/>
        </p:nvSpPr>
        <p:spPr>
          <a:xfrm rot="20262508">
            <a:off x="3923264" y="4981033"/>
            <a:ext cx="1111102" cy="37972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1" name="Arrow: Right 20">
            <a:extLst>
              <a:ext uri="{FF2B5EF4-FFF2-40B4-BE49-F238E27FC236}">
                <a16:creationId xmlns:a16="http://schemas.microsoft.com/office/drawing/2014/main" id="{CDAC6A06-1CDF-608D-DDA4-C556EAAB13EF}"/>
              </a:ext>
            </a:extLst>
          </p:cNvPr>
          <p:cNvSpPr/>
          <p:nvPr/>
        </p:nvSpPr>
        <p:spPr>
          <a:xfrm rot="5400000">
            <a:off x="5698552" y="5747416"/>
            <a:ext cx="794896" cy="45682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2" name="Arrow: Right 21">
            <a:extLst>
              <a:ext uri="{FF2B5EF4-FFF2-40B4-BE49-F238E27FC236}">
                <a16:creationId xmlns:a16="http://schemas.microsoft.com/office/drawing/2014/main" id="{6F7CBA08-5662-1942-C29C-171D7EDA9FA4}"/>
              </a:ext>
            </a:extLst>
          </p:cNvPr>
          <p:cNvSpPr/>
          <p:nvPr/>
        </p:nvSpPr>
        <p:spPr>
          <a:xfrm rot="16200000">
            <a:off x="7699258" y="5747416"/>
            <a:ext cx="794896" cy="45682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F8AC3B0-94C4-A0E8-1334-FAFDBABA066C}"/>
              </a:ext>
            </a:extLst>
          </p:cNvPr>
          <p:cNvSpPr txBox="1"/>
          <p:nvPr/>
        </p:nvSpPr>
        <p:spPr>
          <a:xfrm>
            <a:off x="6342695" y="5913001"/>
            <a:ext cx="162736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 err="1"/>
              <a:t>Computing</a:t>
            </a:r>
            <a:r>
              <a:rPr lang="fr-FR" sz="2400" dirty="0"/>
              <a:t> </a:t>
            </a:r>
            <a:br>
              <a:rPr lang="fr-FR" sz="2400" dirty="0"/>
            </a:br>
            <a:r>
              <a:rPr lang="fr-FR" sz="2400" dirty="0"/>
              <a:t>Var/Risk</a:t>
            </a:r>
          </a:p>
        </p:txBody>
      </p:sp>
    </p:spTree>
    <p:extLst>
      <p:ext uri="{BB962C8B-B14F-4D97-AF65-F5344CB8AC3E}">
        <p14:creationId xmlns:p14="http://schemas.microsoft.com/office/powerpoint/2010/main" val="3627590790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BBE64B-1B85-1D02-BD60-43957C4896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 err="1"/>
              <a:t>Feeding</a:t>
            </a:r>
            <a:r>
              <a:rPr lang="fr-FR" dirty="0"/>
              <a:t> Data / Streaming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090157D-BC4B-BD27-70B1-973CD952F48F}"/>
              </a:ext>
            </a:extLst>
          </p:cNvPr>
          <p:cNvSpPr txBox="1"/>
          <p:nvPr/>
        </p:nvSpPr>
        <p:spPr>
          <a:xfrm>
            <a:off x="2608887" y="2131204"/>
            <a:ext cx="7099379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dirty="0" err="1"/>
              <a:t>BigData</a:t>
            </a:r>
            <a:r>
              <a:rPr lang="fr-FR" sz="2800" dirty="0"/>
              <a:t> at SG </a:t>
            </a:r>
            <a:r>
              <a:rPr lang="fr-FR" sz="2800" dirty="0" err="1"/>
              <a:t>is</a:t>
            </a:r>
            <a:r>
              <a:rPr lang="fr-FR" sz="2800" dirty="0"/>
              <a:t> </a:t>
            </a:r>
            <a:r>
              <a:rPr lang="fr-FR" sz="2800" dirty="0" err="1"/>
              <a:t>mostly</a:t>
            </a:r>
            <a:r>
              <a:rPr lang="fr-FR" sz="2800" dirty="0"/>
              <a:t> « </a:t>
            </a:r>
            <a:r>
              <a:rPr lang="fr-FR" sz="2800" dirty="0" err="1"/>
              <a:t>uploading</a:t>
            </a:r>
            <a:r>
              <a:rPr lang="fr-FR" sz="2800" dirty="0"/>
              <a:t> </a:t>
            </a:r>
            <a:r>
              <a:rPr lang="fr-FR" sz="2800" dirty="0" err="1"/>
              <a:t>daily</a:t>
            </a:r>
            <a:r>
              <a:rPr lang="fr-FR" sz="2800" dirty="0"/>
              <a:t> files » </a:t>
            </a:r>
          </a:p>
          <a:p>
            <a:r>
              <a:rPr lang="fr-FR" sz="2800" dirty="0"/>
              <a:t>   </a:t>
            </a:r>
            <a:r>
              <a:rPr lang="fr-FR" sz="2800" dirty="0" err="1"/>
              <a:t>then</a:t>
            </a:r>
            <a:r>
              <a:rPr lang="fr-FR" sz="2800" dirty="0"/>
              <a:t> </a:t>
            </a:r>
            <a:r>
              <a:rPr lang="fr-FR" sz="2800" dirty="0" err="1"/>
              <a:t>launching</a:t>
            </a:r>
            <a:r>
              <a:rPr lang="fr-FR" sz="2800" dirty="0"/>
              <a:t> « </a:t>
            </a:r>
            <a:r>
              <a:rPr lang="fr-FR" sz="2800" dirty="0" err="1"/>
              <a:t>daily</a:t>
            </a:r>
            <a:r>
              <a:rPr lang="fr-FR" sz="2800" dirty="0"/>
              <a:t> </a:t>
            </a:r>
            <a:r>
              <a:rPr lang="fr-FR" sz="2800" dirty="0" err="1"/>
              <a:t>batches</a:t>
            </a:r>
            <a:r>
              <a:rPr lang="fr-FR" sz="2800" dirty="0"/>
              <a:t> »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656FDB4-62DC-FB0B-0FAA-EFBD70055CD3}"/>
              </a:ext>
            </a:extLst>
          </p:cNvPr>
          <p:cNvSpPr txBox="1"/>
          <p:nvPr/>
        </p:nvSpPr>
        <p:spPr>
          <a:xfrm>
            <a:off x="2650316" y="3429000"/>
            <a:ext cx="7361567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dirty="0" err="1"/>
              <a:t>Many</a:t>
            </a:r>
            <a:r>
              <a:rPr lang="fr-FR" sz="2800" dirty="0"/>
              <a:t> Trade extractions are Real-Time Streaming</a:t>
            </a:r>
          </a:p>
          <a:p>
            <a:r>
              <a:rPr lang="fr-FR" sz="2800" dirty="0"/>
              <a:t>… but </a:t>
            </a:r>
            <a:r>
              <a:rPr lang="fr-FR" sz="2800" dirty="0" err="1"/>
              <a:t>aggregated</a:t>
            </a:r>
            <a:r>
              <a:rPr lang="fr-FR" sz="2800" dirty="0"/>
              <a:t> in Files per </a:t>
            </a:r>
            <a:r>
              <a:rPr lang="fr-FR" sz="2800" dirty="0" err="1"/>
              <a:t>Hours</a:t>
            </a:r>
            <a:r>
              <a:rPr lang="fr-FR" sz="2800" dirty="0"/>
              <a:t> / per Day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B394539-A581-58E5-46E3-446A1F0A5A21}"/>
              </a:ext>
            </a:extLst>
          </p:cNvPr>
          <p:cNvSpPr txBox="1"/>
          <p:nvPr/>
        </p:nvSpPr>
        <p:spPr>
          <a:xfrm>
            <a:off x="2688985" y="4823623"/>
            <a:ext cx="8409290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dirty="0"/>
              <a:t>Var </a:t>
            </a:r>
            <a:r>
              <a:rPr lang="fr-FR" sz="2800" dirty="0" err="1"/>
              <a:t>Computing</a:t>
            </a:r>
            <a:r>
              <a:rPr lang="fr-FR" sz="2800" dirty="0"/>
              <a:t> </a:t>
            </a:r>
            <a:r>
              <a:rPr lang="fr-FR" sz="2800" dirty="0" err="1"/>
              <a:t>during</a:t>
            </a:r>
            <a:r>
              <a:rPr lang="fr-FR" sz="2800" dirty="0"/>
              <a:t> night …  </a:t>
            </a:r>
            <a:r>
              <a:rPr lang="fr-FR" sz="2800" dirty="0" err="1"/>
              <a:t>Huge</a:t>
            </a:r>
            <a:r>
              <a:rPr lang="fr-FR" sz="2800" dirty="0"/>
              <a:t> streaming of </a:t>
            </a:r>
            <a:r>
              <a:rPr lang="fr-FR" sz="2800" dirty="0" err="1"/>
              <a:t>events</a:t>
            </a:r>
            <a:endParaRPr lang="fr-FR" sz="2800" dirty="0"/>
          </a:p>
          <a:p>
            <a:r>
              <a:rPr lang="fr-FR" sz="2800" dirty="0"/>
              <a:t>  </a:t>
            </a:r>
            <a:r>
              <a:rPr lang="fr-FR" sz="2800" dirty="0" err="1"/>
              <a:t>from</a:t>
            </a:r>
            <a:r>
              <a:rPr lang="fr-FR" sz="2800" dirty="0"/>
              <a:t> </a:t>
            </a:r>
            <a:r>
              <a:rPr lang="fr-FR" sz="2800" dirty="0" err="1"/>
              <a:t>dedicated</a:t>
            </a:r>
            <a:r>
              <a:rPr lang="fr-FR" sz="2800" dirty="0"/>
              <a:t> </a:t>
            </a:r>
            <a:r>
              <a:rPr lang="fr-FR" sz="2800" dirty="0" err="1"/>
              <a:t>pricing</a:t>
            </a:r>
            <a:r>
              <a:rPr lang="fr-FR" sz="2800" dirty="0"/>
              <a:t> cluster (</a:t>
            </a:r>
            <a:r>
              <a:rPr lang="fr-FR" sz="2800" dirty="0" err="1"/>
              <a:t>GPUs</a:t>
            </a:r>
            <a:r>
              <a:rPr lang="fr-FR" sz="28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530425425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31A168-7677-6794-A9B9-5955B5DCFF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 err="1"/>
              <a:t>Feeding</a:t>
            </a:r>
            <a:r>
              <a:rPr lang="fr-FR" dirty="0"/>
              <a:t> Types &amp; </a:t>
            </a:r>
            <a:r>
              <a:rPr lang="fr-FR" dirty="0" err="1"/>
              <a:t>Volumetry</a:t>
            </a:r>
            <a:endParaRPr lang="fr-FR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C7A4B33-6CD3-97E8-6E34-53D59B78220B}"/>
              </a:ext>
            </a:extLst>
          </p:cNvPr>
          <p:cNvSpPr txBox="1"/>
          <p:nvPr/>
        </p:nvSpPr>
        <p:spPr>
          <a:xfrm>
            <a:off x="1881963" y="2652823"/>
            <a:ext cx="459536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 dirty="0"/>
              <a:t>Daily </a:t>
            </a:r>
            <a:r>
              <a:rPr lang="fr-FR" sz="3200" dirty="0" err="1"/>
              <a:t>batches</a:t>
            </a:r>
            <a:r>
              <a:rPr lang="fr-FR" sz="3200" dirty="0"/>
              <a:t>: </a:t>
            </a:r>
            <a:r>
              <a:rPr lang="fr-FR" sz="3200" dirty="0" err="1"/>
              <a:t>upload</a:t>
            </a:r>
            <a:r>
              <a:rPr lang="fr-FR" sz="3200" dirty="0"/>
              <a:t> Files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6FFDF76-E2B9-E46E-1778-15EC41AEEA51}"/>
              </a:ext>
            </a:extLst>
          </p:cNvPr>
          <p:cNvSpPr txBox="1"/>
          <p:nvPr/>
        </p:nvSpPr>
        <p:spPr>
          <a:xfrm>
            <a:off x="1881963" y="3620403"/>
            <a:ext cx="579915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 dirty="0"/>
              <a:t>Streaming </a:t>
            </a:r>
            <a:r>
              <a:rPr lang="fr-FR" sz="3200" dirty="0" err="1"/>
              <a:t>then</a:t>
            </a:r>
            <a:r>
              <a:rPr lang="fr-FR" sz="3200" dirty="0"/>
              <a:t> </a:t>
            </a:r>
            <a:r>
              <a:rPr lang="fr-FR" sz="3200" dirty="0" err="1"/>
              <a:t>converted</a:t>
            </a:r>
            <a:r>
              <a:rPr lang="fr-FR" sz="3200" dirty="0"/>
              <a:t> to Files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2C599D5-3972-7933-1087-F284404D2F80}"/>
              </a:ext>
            </a:extLst>
          </p:cNvPr>
          <p:cNvSpPr txBox="1"/>
          <p:nvPr/>
        </p:nvSpPr>
        <p:spPr>
          <a:xfrm>
            <a:off x="1881963" y="4479869"/>
            <a:ext cx="602620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 dirty="0"/>
              <a:t>Streaming to Key-Values </a:t>
            </a:r>
            <a:r>
              <a:rPr lang="fr-FR" sz="3200" dirty="0" err="1"/>
              <a:t>Databases</a:t>
            </a:r>
            <a:endParaRPr lang="fr-FR" sz="3200" dirty="0"/>
          </a:p>
        </p:txBody>
      </p:sp>
      <p:sp>
        <p:nvSpPr>
          <p:cNvPr id="7" name="Right Brace 6">
            <a:extLst>
              <a:ext uri="{FF2B5EF4-FFF2-40B4-BE49-F238E27FC236}">
                <a16:creationId xmlns:a16="http://schemas.microsoft.com/office/drawing/2014/main" id="{B98A8E33-1295-6A16-B4DC-CAD3DDAEB88E}"/>
              </a:ext>
            </a:extLst>
          </p:cNvPr>
          <p:cNvSpPr/>
          <p:nvPr/>
        </p:nvSpPr>
        <p:spPr>
          <a:xfrm>
            <a:off x="7995684" y="2700670"/>
            <a:ext cx="499730" cy="1504508"/>
          </a:xfrm>
          <a:prstGeom prst="rightBrac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F1D4E32-B3AF-03A0-AD4F-B286160120C0}"/>
              </a:ext>
            </a:extLst>
          </p:cNvPr>
          <p:cNvSpPr txBox="1"/>
          <p:nvPr/>
        </p:nvSpPr>
        <p:spPr>
          <a:xfrm>
            <a:off x="8623004" y="3167390"/>
            <a:ext cx="2721322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b="1" dirty="0" err="1"/>
              <a:t>Teras</a:t>
            </a:r>
            <a:r>
              <a:rPr lang="fr-FR" sz="2800" b="1" dirty="0"/>
              <a:t>/</a:t>
            </a:r>
            <a:r>
              <a:rPr lang="fr-FR" sz="2800" b="1" dirty="0" err="1"/>
              <a:t>day</a:t>
            </a:r>
            <a:endParaRPr lang="fr-FR" sz="2800" b="1" dirty="0"/>
          </a:p>
          <a:p>
            <a:r>
              <a:rPr lang="fr-FR" sz="2800" b="1" dirty="0"/>
              <a:t>( millions of files)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0791AC0-5245-ADFB-19EF-F2B23983A0F4}"/>
              </a:ext>
            </a:extLst>
          </p:cNvPr>
          <p:cNvSpPr txBox="1"/>
          <p:nvPr/>
        </p:nvSpPr>
        <p:spPr>
          <a:xfrm>
            <a:off x="8623003" y="4568014"/>
            <a:ext cx="301992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b="1" dirty="0"/>
              <a:t>Billions </a:t>
            </a:r>
            <a:r>
              <a:rPr lang="fr-FR" sz="2800" b="1" dirty="0" err="1"/>
              <a:t>events</a:t>
            </a:r>
            <a:r>
              <a:rPr lang="fr-FR" sz="2800" b="1" dirty="0"/>
              <a:t>/</a:t>
            </a:r>
            <a:r>
              <a:rPr lang="fr-FR" sz="2800" b="1" dirty="0" err="1"/>
              <a:t>day</a:t>
            </a:r>
            <a:endParaRPr lang="fr-FR" sz="2800" b="1" dirty="0"/>
          </a:p>
        </p:txBody>
      </p:sp>
      <p:sp>
        <p:nvSpPr>
          <p:cNvPr id="10" name="Right Brace 9">
            <a:extLst>
              <a:ext uri="{FF2B5EF4-FFF2-40B4-BE49-F238E27FC236}">
                <a16:creationId xmlns:a16="http://schemas.microsoft.com/office/drawing/2014/main" id="{296B845E-F2A1-0389-7304-2B28D28CC30B}"/>
              </a:ext>
            </a:extLst>
          </p:cNvPr>
          <p:cNvSpPr/>
          <p:nvPr/>
        </p:nvSpPr>
        <p:spPr>
          <a:xfrm>
            <a:off x="7995684" y="4568014"/>
            <a:ext cx="499730" cy="647146"/>
          </a:xfrm>
          <a:prstGeom prst="rightBrac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07E5721-E521-FABA-B4CA-0EDAA9BB929A}"/>
              </a:ext>
            </a:extLst>
          </p:cNvPr>
          <p:cNvSpPr txBox="1"/>
          <p:nvPr/>
        </p:nvSpPr>
        <p:spPr>
          <a:xfrm>
            <a:off x="8426302" y="5332228"/>
            <a:ext cx="3695948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dirty="0" err="1"/>
              <a:t>Peeks</a:t>
            </a:r>
            <a:r>
              <a:rPr lang="fr-FR" sz="2000" dirty="0"/>
              <a:t> to 4000 </a:t>
            </a:r>
            <a:r>
              <a:rPr lang="fr-FR" sz="2000" dirty="0" err="1"/>
              <a:t>events</a:t>
            </a:r>
            <a:r>
              <a:rPr lang="fr-FR" sz="2000" dirty="0"/>
              <a:t>/seconds</a:t>
            </a:r>
          </a:p>
          <a:p>
            <a:r>
              <a:rPr lang="fr-FR" sz="2000" dirty="0"/>
              <a:t>on </a:t>
            </a:r>
            <a:r>
              <a:rPr lang="fr-FR" sz="2000" dirty="0" err="1"/>
              <a:t>each</a:t>
            </a:r>
            <a:r>
              <a:rPr lang="fr-FR" sz="2000" dirty="0"/>
              <a:t> 100 x servers</a:t>
            </a:r>
          </a:p>
          <a:p>
            <a:r>
              <a:rPr lang="fr-FR" sz="2000" dirty="0" err="1"/>
              <a:t>During</a:t>
            </a:r>
            <a:r>
              <a:rPr lang="fr-FR" sz="2000" dirty="0"/>
              <a:t> 4hours </a:t>
            </a:r>
            <a:r>
              <a:rPr lang="fr-FR" sz="2000" dirty="0" err="1"/>
              <a:t>nightly</a:t>
            </a:r>
            <a:r>
              <a:rPr lang="fr-FR" sz="2000" dirty="0"/>
              <a:t> Var </a:t>
            </a:r>
            <a:r>
              <a:rPr lang="fr-FR" sz="2000" dirty="0" err="1"/>
              <a:t>batches</a:t>
            </a:r>
            <a:endParaRPr lang="fr-FR" sz="2000" dirty="0"/>
          </a:p>
        </p:txBody>
      </p:sp>
    </p:spTree>
    <p:extLst>
      <p:ext uri="{BB962C8B-B14F-4D97-AF65-F5344CB8AC3E}">
        <p14:creationId xmlns:p14="http://schemas.microsoft.com/office/powerpoint/2010/main" val="2691629317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4F6F76-41E8-8874-5D14-998581DD50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/>
              <a:t>Content of a </a:t>
            </a:r>
            <a:r>
              <a:rPr lang="fr-FR" dirty="0" err="1"/>
              <a:t>Datalake</a:t>
            </a:r>
            <a:endParaRPr lang="fr-FR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AA4178F-6764-19F5-8BAB-215647DFD79E}"/>
              </a:ext>
            </a:extLst>
          </p:cNvPr>
          <p:cNvSpPr txBox="1"/>
          <p:nvPr/>
        </p:nvSpPr>
        <p:spPr>
          <a:xfrm>
            <a:off x="7299315" y="2547832"/>
            <a:ext cx="4305859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/>
              <a:t>Key-Value </a:t>
            </a:r>
            <a:r>
              <a:rPr lang="fr-FR" sz="2400" dirty="0" err="1"/>
              <a:t>database</a:t>
            </a:r>
            <a:endParaRPr lang="fr-FR" sz="2400" dirty="0"/>
          </a:p>
          <a:p>
            <a:endParaRPr lang="fr-FR" sz="2400" dirty="0"/>
          </a:p>
          <a:p>
            <a:r>
              <a:rPr lang="fr-FR" sz="2400" dirty="0"/>
              <a:t>FAST </a:t>
            </a:r>
            <a:r>
              <a:rPr lang="fr-FR" sz="2400" dirty="0" err="1"/>
              <a:t>get</a:t>
            </a:r>
            <a:r>
              <a:rPr lang="fr-FR" sz="2400" dirty="0"/>
              <a:t>/put </a:t>
            </a:r>
            <a:r>
              <a:rPr lang="fr-FR" sz="2400" dirty="0" err="1"/>
              <a:t>access</a:t>
            </a:r>
            <a:r>
              <a:rPr lang="fr-FR" sz="2400" dirty="0"/>
              <a:t> by single key</a:t>
            </a:r>
          </a:p>
        </p:txBody>
      </p:sp>
      <p:pic>
        <p:nvPicPr>
          <p:cNvPr id="23554" name="Picture 2" descr="What is HDFS in Hadoop? Learn HDFS | Intellipaat">
            <a:extLst>
              <a:ext uri="{FF2B5EF4-FFF2-40B4-BE49-F238E27FC236}">
                <a16:creationId xmlns:a16="http://schemas.microsoft.com/office/drawing/2014/main" id="{B4932D1A-A5B5-E908-EBC5-766724EDF5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7079" y="1268516"/>
            <a:ext cx="3048000" cy="1438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8020FD8-C91C-1060-8CA0-5323C69EF98B}"/>
              </a:ext>
            </a:extLst>
          </p:cNvPr>
          <p:cNvSpPr txBox="1"/>
          <p:nvPr/>
        </p:nvSpPr>
        <p:spPr>
          <a:xfrm>
            <a:off x="3059624" y="2248114"/>
            <a:ext cx="2753639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 err="1"/>
              <a:t>FileSystem</a:t>
            </a:r>
            <a:endParaRPr lang="fr-FR" sz="2400" dirty="0"/>
          </a:p>
          <a:p>
            <a:r>
              <a:rPr lang="fr-FR" sz="2400" dirty="0"/>
              <a:t>  = Directories + Files</a:t>
            </a:r>
          </a:p>
          <a:p>
            <a:endParaRPr lang="fr-FR" sz="2400" dirty="0"/>
          </a:p>
          <a:p>
            <a:r>
              <a:rPr lang="fr-FR" sz="2400" dirty="0"/>
              <a:t>For </a:t>
            </a:r>
            <a:r>
              <a:rPr lang="fr-FR" sz="2400" dirty="0" err="1"/>
              <a:t>batches</a:t>
            </a:r>
            <a:endParaRPr lang="fr-FR" sz="2400" dirty="0"/>
          </a:p>
        </p:txBody>
      </p:sp>
      <p:pic>
        <p:nvPicPr>
          <p:cNvPr id="23556" name="Picture 4" descr="Apache Hive — Wikipédia">
            <a:extLst>
              <a:ext uri="{FF2B5EF4-FFF2-40B4-BE49-F238E27FC236}">
                <a16:creationId xmlns:a16="http://schemas.microsoft.com/office/drawing/2014/main" id="{439A914B-EDE0-EE4F-BC01-B2323F8A4B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43980" y="3871609"/>
            <a:ext cx="1690466" cy="1519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ylinder 5">
            <a:extLst>
              <a:ext uri="{FF2B5EF4-FFF2-40B4-BE49-F238E27FC236}">
                <a16:creationId xmlns:a16="http://schemas.microsoft.com/office/drawing/2014/main" id="{7CECD6C6-D983-0835-7823-9473E514B3B3}"/>
              </a:ext>
            </a:extLst>
          </p:cNvPr>
          <p:cNvSpPr/>
          <p:nvPr/>
        </p:nvSpPr>
        <p:spPr>
          <a:xfrm>
            <a:off x="838200" y="3871609"/>
            <a:ext cx="2174356" cy="992786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Cylinder 6">
            <a:extLst>
              <a:ext uri="{FF2B5EF4-FFF2-40B4-BE49-F238E27FC236}">
                <a16:creationId xmlns:a16="http://schemas.microsoft.com/office/drawing/2014/main" id="{57F15DB6-ED43-2515-F7A1-8721457DD3E2}"/>
              </a:ext>
            </a:extLst>
          </p:cNvPr>
          <p:cNvSpPr/>
          <p:nvPr/>
        </p:nvSpPr>
        <p:spPr>
          <a:xfrm>
            <a:off x="9230832" y="3980809"/>
            <a:ext cx="2174356" cy="992786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Cylinder 7">
            <a:extLst>
              <a:ext uri="{FF2B5EF4-FFF2-40B4-BE49-F238E27FC236}">
                <a16:creationId xmlns:a16="http://schemas.microsoft.com/office/drawing/2014/main" id="{F38885BF-321C-8D72-D6EE-D2AACC181A07}"/>
              </a:ext>
            </a:extLst>
          </p:cNvPr>
          <p:cNvSpPr/>
          <p:nvPr/>
        </p:nvSpPr>
        <p:spPr>
          <a:xfrm>
            <a:off x="5758472" y="5465317"/>
            <a:ext cx="1061482" cy="562329"/>
          </a:xfrm>
          <a:prstGeom prst="can">
            <a:avLst/>
          </a:prstGeom>
          <a:pattFill prst="wdUpDiag">
            <a:fgClr>
              <a:schemeClr val="accent1"/>
            </a:fgClr>
            <a:bgClr>
              <a:schemeClr val="bg1"/>
            </a:bgClr>
          </a:patt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23558" name="Picture 6" descr="Apache HBase – Apache HBase™ Home">
            <a:extLst>
              <a:ext uri="{FF2B5EF4-FFF2-40B4-BE49-F238E27FC236}">
                <a16:creationId xmlns:a16="http://schemas.microsoft.com/office/drawing/2014/main" id="{981BCBAE-D8E8-6CF7-5FAC-EA9D2670F9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60823" y="1629898"/>
            <a:ext cx="2844098" cy="7222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21945C6-645B-BCA6-001A-7D2279BA5D73}"/>
              </a:ext>
            </a:extLst>
          </p:cNvPr>
          <p:cNvSpPr txBox="1"/>
          <p:nvPr/>
        </p:nvSpPr>
        <p:spPr>
          <a:xfrm>
            <a:off x="7230203" y="5841847"/>
            <a:ext cx="502451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 err="1"/>
              <a:t>Hive</a:t>
            </a:r>
            <a:r>
              <a:rPr lang="fr-FR" sz="2400" dirty="0"/>
              <a:t> </a:t>
            </a:r>
            <a:r>
              <a:rPr lang="fr-FR" sz="2400" dirty="0" err="1"/>
              <a:t>Metastore</a:t>
            </a:r>
            <a:r>
              <a:rPr lang="fr-FR" sz="2400" dirty="0"/>
              <a:t> = SQL </a:t>
            </a:r>
            <a:r>
              <a:rPr lang="fr-FR" sz="2400" dirty="0" err="1"/>
              <a:t>View</a:t>
            </a:r>
            <a:r>
              <a:rPr lang="fr-FR" sz="2400" dirty="0"/>
              <a:t> </a:t>
            </a:r>
          </a:p>
          <a:p>
            <a:r>
              <a:rPr lang="fr-FR" sz="2400" dirty="0"/>
              <a:t>« Table » abstraction for  HDFS / </a:t>
            </a:r>
            <a:r>
              <a:rPr lang="fr-FR" sz="2400" dirty="0" err="1"/>
              <a:t>Hbase</a:t>
            </a:r>
            <a:endParaRPr lang="fr-FR" sz="2400" dirty="0"/>
          </a:p>
        </p:txBody>
      </p:sp>
      <p:sp>
        <p:nvSpPr>
          <p:cNvPr id="10" name="Arrow: Left-Right 9">
            <a:extLst>
              <a:ext uri="{FF2B5EF4-FFF2-40B4-BE49-F238E27FC236}">
                <a16:creationId xmlns:a16="http://schemas.microsoft.com/office/drawing/2014/main" id="{BBFB6290-DF43-B949-83D5-A3851CD11368}"/>
              </a:ext>
            </a:extLst>
          </p:cNvPr>
          <p:cNvSpPr/>
          <p:nvPr/>
        </p:nvSpPr>
        <p:spPr>
          <a:xfrm rot="2123063">
            <a:off x="4500752" y="5111348"/>
            <a:ext cx="1127052" cy="340242"/>
          </a:xfrm>
          <a:prstGeom prst="left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Arrow: Left-Right 10">
            <a:extLst>
              <a:ext uri="{FF2B5EF4-FFF2-40B4-BE49-F238E27FC236}">
                <a16:creationId xmlns:a16="http://schemas.microsoft.com/office/drawing/2014/main" id="{7EA3E1CF-8634-1083-67C4-DFEBF320A7E8}"/>
              </a:ext>
            </a:extLst>
          </p:cNvPr>
          <p:cNvSpPr/>
          <p:nvPr/>
        </p:nvSpPr>
        <p:spPr>
          <a:xfrm rot="19474257">
            <a:off x="6909210" y="5151655"/>
            <a:ext cx="1127052" cy="340242"/>
          </a:xfrm>
          <a:prstGeom prst="left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15778683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4ABF17-758F-F4EA-2E29-183E600046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89665"/>
            <a:ext cx="10515600" cy="1898681"/>
          </a:xfrm>
        </p:spPr>
        <p:txBody>
          <a:bodyPr>
            <a:normAutofit/>
          </a:bodyPr>
          <a:lstStyle/>
          <a:p>
            <a:pPr algn="ctr"/>
            <a:r>
              <a:rPr lang="fr-FR" dirty="0"/>
              <a:t>Storage = Files and Directories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9DABF21-F6E4-FCDE-CCC2-4805C2DE628E}"/>
              </a:ext>
            </a:extLst>
          </p:cNvPr>
          <p:cNvSpPr txBox="1"/>
          <p:nvPr/>
        </p:nvSpPr>
        <p:spPr>
          <a:xfrm>
            <a:off x="3369075" y="2493293"/>
            <a:ext cx="8282867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600" dirty="0"/>
              <a:t>How </a:t>
            </a:r>
            <a:r>
              <a:rPr lang="fr-FR" sz="3600" dirty="0" err="1"/>
              <a:t>would</a:t>
            </a:r>
            <a:r>
              <a:rPr lang="fr-FR" sz="3600" dirty="0"/>
              <a:t> </a:t>
            </a:r>
            <a:r>
              <a:rPr lang="fr-FR" sz="3600" dirty="0" err="1"/>
              <a:t>you</a:t>
            </a:r>
            <a:r>
              <a:rPr lang="fr-FR" sz="3600" dirty="0"/>
              <a:t> </a:t>
            </a:r>
            <a:r>
              <a:rPr lang="fr-FR" sz="3600" dirty="0" err="1"/>
              <a:t>organize</a:t>
            </a:r>
            <a:r>
              <a:rPr lang="fr-FR" sz="3600" dirty="0"/>
              <a:t>  </a:t>
            </a:r>
            <a:endParaRPr lang="fr-FR" sz="3600" b="1" dirty="0"/>
          </a:p>
          <a:p>
            <a:r>
              <a:rPr lang="fr-FR" sz="3600" b="1" dirty="0"/>
              <a:t>    1  Billions Files</a:t>
            </a:r>
          </a:p>
          <a:p>
            <a:r>
              <a:rPr lang="fr-FR" sz="3600" dirty="0"/>
              <a:t>in </a:t>
            </a:r>
            <a:r>
              <a:rPr lang="fr-FR" sz="3600" b="1" dirty="0"/>
              <a:t>50 Millions Directories </a:t>
            </a:r>
            <a:r>
              <a:rPr lang="fr-FR" sz="3600" dirty="0"/>
              <a:t>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F60168B-B35B-8002-3BB1-031C9443FD48}"/>
              </a:ext>
            </a:extLst>
          </p:cNvPr>
          <p:cNvSpPr txBox="1"/>
          <p:nvPr/>
        </p:nvSpPr>
        <p:spPr>
          <a:xfrm>
            <a:off x="3435659" y="4842769"/>
            <a:ext cx="564334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How do </a:t>
            </a:r>
            <a:r>
              <a:rPr lang="fr-FR" dirty="0" err="1"/>
              <a:t>you</a:t>
            </a:r>
            <a:r>
              <a:rPr lang="fr-FR" dirty="0"/>
              <a:t> </a:t>
            </a:r>
            <a:r>
              <a:rPr lang="fr-FR" dirty="0" err="1"/>
              <a:t>ensure</a:t>
            </a:r>
            <a:r>
              <a:rPr lang="fr-FR" dirty="0"/>
              <a:t> data respect directories </a:t>
            </a:r>
            <a:r>
              <a:rPr lang="fr-FR" dirty="0" err="1"/>
              <a:t>organization</a:t>
            </a:r>
            <a:r>
              <a:rPr lang="fr-FR" dirty="0"/>
              <a:t> ?</a:t>
            </a:r>
          </a:p>
          <a:p>
            <a:endParaRPr lang="fr-FR" dirty="0"/>
          </a:p>
          <a:p>
            <a:r>
              <a:rPr lang="fr-FR" dirty="0"/>
              <a:t>Try Scanning Directories ?</a:t>
            </a:r>
          </a:p>
        </p:txBody>
      </p:sp>
    </p:spTree>
    <p:extLst>
      <p:ext uri="{BB962C8B-B14F-4D97-AF65-F5344CB8AC3E}">
        <p14:creationId xmlns:p14="http://schemas.microsoft.com/office/powerpoint/2010/main" val="1668504056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345EB6-9F3C-5B66-A085-0A3BC7034A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868"/>
            <a:ext cx="10515600" cy="1325563"/>
          </a:xfrm>
        </p:spPr>
        <p:txBody>
          <a:bodyPr/>
          <a:lstStyle/>
          <a:p>
            <a:pPr algn="ctr"/>
            <a:r>
              <a:rPr lang="fr-FR" dirty="0"/>
              <a:t>A Very « Simple » </a:t>
            </a:r>
            <a:r>
              <a:rPr lang="fr-FR" dirty="0" err="1"/>
              <a:t>Specific</a:t>
            </a:r>
            <a:r>
              <a:rPr lang="fr-FR" dirty="0"/>
              <a:t> </a:t>
            </a:r>
            <a:r>
              <a:rPr lang="fr-FR" dirty="0" err="1"/>
              <a:t>Sub</a:t>
            </a:r>
            <a:r>
              <a:rPr lang="fr-FR" dirty="0"/>
              <a:t>-System</a:t>
            </a:r>
          </a:p>
        </p:txBody>
      </p:sp>
      <p:sp>
        <p:nvSpPr>
          <p:cNvPr id="4" name="Arrow: Right 3">
            <a:extLst>
              <a:ext uri="{FF2B5EF4-FFF2-40B4-BE49-F238E27FC236}">
                <a16:creationId xmlns:a16="http://schemas.microsoft.com/office/drawing/2014/main" id="{31771097-AE8D-D878-8C8B-E20CCAA4903E}"/>
              </a:ext>
            </a:extLst>
          </p:cNvPr>
          <p:cNvSpPr/>
          <p:nvPr/>
        </p:nvSpPr>
        <p:spPr>
          <a:xfrm rot="999574">
            <a:off x="4024337" y="2204756"/>
            <a:ext cx="1111102" cy="37972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Cylinder 4">
            <a:extLst>
              <a:ext uri="{FF2B5EF4-FFF2-40B4-BE49-F238E27FC236}">
                <a16:creationId xmlns:a16="http://schemas.microsoft.com/office/drawing/2014/main" id="{31DE76B6-C190-86F4-4052-FC0FFFC01083}"/>
              </a:ext>
            </a:extLst>
          </p:cNvPr>
          <p:cNvSpPr/>
          <p:nvPr/>
        </p:nvSpPr>
        <p:spPr>
          <a:xfrm>
            <a:off x="5330455" y="1529148"/>
            <a:ext cx="3728486" cy="2332660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4942722-6399-A30F-59E6-9EDDABB359F3}"/>
              </a:ext>
            </a:extLst>
          </p:cNvPr>
          <p:cNvSpPr txBox="1"/>
          <p:nvPr/>
        </p:nvSpPr>
        <p:spPr>
          <a:xfrm>
            <a:off x="186070" y="1932952"/>
            <a:ext cx="410657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« </a:t>
            </a:r>
            <a:r>
              <a:rPr lang="fr-FR" dirty="0" err="1"/>
              <a:t>Tick</a:t>
            </a:r>
            <a:r>
              <a:rPr lang="fr-FR" dirty="0"/>
              <a:t> » per seconds</a:t>
            </a:r>
          </a:p>
          <a:p>
            <a:r>
              <a:rPr lang="fr-FR" dirty="0" err="1"/>
              <a:t>From</a:t>
            </a:r>
            <a:r>
              <a:rPr lang="fr-FR" dirty="0"/>
              <a:t> </a:t>
            </a:r>
            <a:r>
              <a:rPr lang="fr-FR" dirty="0" err="1"/>
              <a:t>Market</a:t>
            </a:r>
            <a:r>
              <a:rPr lang="fr-FR" dirty="0"/>
              <a:t> Exchange Places</a:t>
            </a:r>
          </a:p>
          <a:p>
            <a:r>
              <a:rPr lang="fr-FR" dirty="0"/>
              <a:t> (Bourse Paris, London Stock Exchange, …)</a:t>
            </a:r>
          </a:p>
        </p:txBody>
      </p:sp>
      <p:pic>
        <p:nvPicPr>
          <p:cNvPr id="30722" name="Picture 2">
            <a:extLst>
              <a:ext uri="{FF2B5EF4-FFF2-40B4-BE49-F238E27FC236}">
                <a16:creationId xmlns:a16="http://schemas.microsoft.com/office/drawing/2014/main" id="{E9FDFDA3-8329-C618-AC1B-1112A0CE6F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0933" y="2908005"/>
            <a:ext cx="3372293" cy="23656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5BB3410-7CAC-6CA4-50F3-A68AC689F1A3}"/>
              </a:ext>
            </a:extLst>
          </p:cNvPr>
          <p:cNvSpPr txBox="1"/>
          <p:nvPr/>
        </p:nvSpPr>
        <p:spPr>
          <a:xfrm>
            <a:off x="6979098" y="5906706"/>
            <a:ext cx="5212902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dirty="0"/>
              <a:t>Volume, Velocity … but not </a:t>
            </a:r>
            <a:r>
              <a:rPr lang="fr-FR" sz="2800" dirty="0" err="1"/>
              <a:t>Variety</a:t>
            </a:r>
            <a:endParaRPr lang="fr-FR" sz="2800" dirty="0"/>
          </a:p>
          <a:p>
            <a:r>
              <a:rPr lang="fr-FR" sz="2800" dirty="0"/>
              <a:t>( NO </a:t>
            </a:r>
            <a:r>
              <a:rPr lang="fr-FR" sz="2800" dirty="0" err="1"/>
              <a:t>spark</a:t>
            </a:r>
            <a:r>
              <a:rPr lang="fr-FR" sz="2800" dirty="0"/>
              <a:t>, No Hadoop )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98EE148-64CC-A58D-6689-8F878D303D3B}"/>
              </a:ext>
            </a:extLst>
          </p:cNvPr>
          <p:cNvSpPr txBox="1"/>
          <p:nvPr/>
        </p:nvSpPr>
        <p:spPr>
          <a:xfrm>
            <a:off x="4900405" y="3809061"/>
            <a:ext cx="6596742" cy="18158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dirty="0"/>
              <a:t>1 </a:t>
            </a:r>
            <a:r>
              <a:rPr lang="fr-FR" sz="2800" dirty="0" err="1"/>
              <a:t>binary</a:t>
            </a:r>
            <a:r>
              <a:rPr lang="fr-FR" sz="2800" dirty="0"/>
              <a:t> file per Day/Place/Instrument</a:t>
            </a:r>
          </a:p>
          <a:p>
            <a:r>
              <a:rPr lang="fr-FR" sz="2800" dirty="0"/>
              <a:t>… 2M files per </a:t>
            </a:r>
            <a:r>
              <a:rPr lang="fr-FR" sz="2800" dirty="0" err="1"/>
              <a:t>day</a:t>
            </a:r>
            <a:endParaRPr lang="fr-FR" sz="2800" dirty="0"/>
          </a:p>
          <a:p>
            <a:r>
              <a:rPr lang="fr-FR" sz="2800" dirty="0"/>
              <a:t>… 40 Giga per </a:t>
            </a:r>
            <a:r>
              <a:rPr lang="fr-FR" sz="2800" dirty="0" err="1"/>
              <a:t>day</a:t>
            </a:r>
            <a:endParaRPr lang="fr-FR" sz="2800" dirty="0"/>
          </a:p>
          <a:p>
            <a:r>
              <a:rPr lang="fr-FR" sz="2800" dirty="0"/>
              <a:t>… </a:t>
            </a:r>
            <a:r>
              <a:rPr lang="fr-FR" sz="2800" dirty="0" err="1"/>
              <a:t>since</a:t>
            </a:r>
            <a:r>
              <a:rPr lang="fr-FR" sz="2800" dirty="0"/>
              <a:t> 22 </a:t>
            </a:r>
            <a:r>
              <a:rPr lang="fr-FR" sz="2800" dirty="0" err="1"/>
              <a:t>years</a:t>
            </a:r>
            <a:r>
              <a:rPr lang="fr-FR" sz="2800" dirty="0"/>
              <a:t>  …    25 Billions Files / </a:t>
            </a:r>
            <a:r>
              <a:rPr lang="fr-FR" sz="2800" dirty="0" err="1"/>
              <a:t>Petas</a:t>
            </a:r>
            <a:endParaRPr lang="fr-FR" sz="2800" dirty="0"/>
          </a:p>
        </p:txBody>
      </p:sp>
    </p:spTree>
    <p:extLst>
      <p:ext uri="{BB962C8B-B14F-4D97-AF65-F5344CB8AC3E}">
        <p14:creationId xmlns:p14="http://schemas.microsoft.com/office/powerpoint/2010/main" val="969906860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8FC7E1-EF43-5B88-B0DD-830326DDA3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/>
              <a:t>Hadoop </a:t>
            </a:r>
            <a:r>
              <a:rPr lang="fr-FR" dirty="0" err="1"/>
              <a:t>hates</a:t>
            </a:r>
            <a:r>
              <a:rPr lang="fr-FR" dirty="0"/>
              <a:t> </a:t>
            </a:r>
            <a:r>
              <a:rPr lang="fr-FR" dirty="0" err="1"/>
              <a:t>too</a:t>
            </a:r>
            <a:r>
              <a:rPr lang="fr-FR" dirty="0"/>
              <a:t> </a:t>
            </a:r>
            <a:r>
              <a:rPr lang="fr-FR" dirty="0" err="1"/>
              <a:t>many</a:t>
            </a:r>
            <a:r>
              <a:rPr lang="fr-FR" dirty="0"/>
              <a:t> Small Files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3DB2E70-E966-F97F-F2FF-3AA4F9752D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8503" y="2343566"/>
            <a:ext cx="8352244" cy="32006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3313991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19B535-E80B-0125-3F36-76BE0B39D8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/>
              <a:t>BIG Files ?  More </a:t>
            </a:r>
            <a:r>
              <a:rPr lang="fr-FR" dirty="0" err="1"/>
              <a:t>than</a:t>
            </a:r>
            <a:r>
              <a:rPr lang="fr-FR" dirty="0"/>
              <a:t> Giga ?</a:t>
            </a:r>
            <a:br>
              <a:rPr lang="fr-FR" dirty="0"/>
            </a:br>
            <a:r>
              <a:rPr lang="fr-FR" dirty="0"/>
              <a:t>YES … BUT PARQUET </a:t>
            </a:r>
            <a:r>
              <a:rPr lang="fr-FR" dirty="0" err="1"/>
              <a:t>Partitioned</a:t>
            </a:r>
            <a:endParaRPr lang="fr-FR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39F6BF7-EB25-F5CE-3BEC-0F10C3BC8C13}"/>
              </a:ext>
            </a:extLst>
          </p:cNvPr>
          <p:cNvSpPr txBox="1"/>
          <p:nvPr/>
        </p:nvSpPr>
        <p:spPr>
          <a:xfrm>
            <a:off x="1186208" y="3603994"/>
            <a:ext cx="11188704" cy="30469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 dirty="0" err="1"/>
              <a:t>Doing</a:t>
            </a:r>
            <a:r>
              <a:rPr lang="fr-FR" sz="3200" dirty="0"/>
              <a:t> </a:t>
            </a:r>
            <a:r>
              <a:rPr lang="fr-FR" sz="3200" dirty="0" err="1"/>
              <a:t>BigData</a:t>
            </a:r>
            <a:r>
              <a:rPr lang="fr-FR" sz="3200" dirty="0"/>
              <a:t>  =  </a:t>
            </a:r>
            <a:r>
              <a:rPr lang="fr-FR" sz="3200" dirty="0" err="1"/>
              <a:t>using</a:t>
            </a:r>
            <a:r>
              <a:rPr lang="fr-FR" sz="3200" dirty="0"/>
              <a:t> </a:t>
            </a:r>
            <a:r>
              <a:rPr lang="fr-FR" sz="3200" dirty="0" err="1"/>
              <a:t>PARQUETFiles</a:t>
            </a:r>
            <a:r>
              <a:rPr lang="fr-FR" sz="3200" dirty="0"/>
              <a:t> (</a:t>
            </a:r>
            <a:r>
              <a:rPr lang="fr-FR" sz="3200" dirty="0" err="1"/>
              <a:t>correctly</a:t>
            </a:r>
            <a:r>
              <a:rPr lang="fr-FR" sz="3200" dirty="0"/>
              <a:t> </a:t>
            </a:r>
            <a:r>
              <a:rPr lang="fr-FR" sz="3200" dirty="0" err="1"/>
              <a:t>with</a:t>
            </a:r>
            <a:r>
              <a:rPr lang="fr-FR" sz="3200" dirty="0"/>
              <a:t>                      )</a:t>
            </a:r>
          </a:p>
          <a:p>
            <a:endParaRPr lang="fr-FR" sz="3200" dirty="0"/>
          </a:p>
          <a:p>
            <a:endParaRPr lang="fr-FR" sz="3200" dirty="0"/>
          </a:p>
          <a:p>
            <a:endParaRPr lang="fr-FR" sz="3200" dirty="0"/>
          </a:p>
          <a:p>
            <a:r>
              <a:rPr lang="fr-FR" sz="3200" dirty="0"/>
              <a:t>                                                                                  End Of Story.</a:t>
            </a:r>
          </a:p>
          <a:p>
            <a:endParaRPr lang="fr-FR" sz="3200" dirty="0"/>
          </a:p>
        </p:txBody>
      </p:sp>
      <p:pic>
        <p:nvPicPr>
          <p:cNvPr id="3074" name="Picture 2" descr="Understanding the Parquet file format">
            <a:extLst>
              <a:ext uri="{FF2B5EF4-FFF2-40B4-BE49-F238E27FC236}">
                <a16:creationId xmlns:a16="http://schemas.microsoft.com/office/drawing/2014/main" id="{4C0BFD27-A7C0-F4B5-8BCC-DD433E98E4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80000" y="3268764"/>
            <a:ext cx="1664305" cy="10948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 descr="Apache Spark — Wikipédia">
            <a:extLst>
              <a:ext uri="{FF2B5EF4-FFF2-40B4-BE49-F238E27FC236}">
                <a16:creationId xmlns:a16="http://schemas.microsoft.com/office/drawing/2014/main" id="{6EA30EE7-2368-909F-9A8C-214C03BE51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13409" y="3178628"/>
            <a:ext cx="1984765" cy="10305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47631882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9456B0-71A4-CF8C-E88D-0B1478AC2D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0001"/>
            <a:ext cx="10515600" cy="1325563"/>
          </a:xfrm>
        </p:spPr>
        <p:txBody>
          <a:bodyPr/>
          <a:lstStyle/>
          <a:p>
            <a:pPr algn="ctr"/>
            <a:r>
              <a:rPr lang="fr-FR" dirty="0" err="1"/>
              <a:t>Outline</a:t>
            </a:r>
            <a:endParaRPr lang="fr-F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D800C1-B011-5B30-76B4-9FA377D888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60914" y="1630439"/>
            <a:ext cx="8340875" cy="4862436"/>
          </a:xfrm>
        </p:spPr>
        <p:txBody>
          <a:bodyPr>
            <a:normAutofit fontScale="92500" lnSpcReduction="10000"/>
          </a:bodyPr>
          <a:lstStyle/>
          <a:p>
            <a:r>
              <a:rPr lang="fr-FR" dirty="0" err="1"/>
              <a:t>What</a:t>
            </a:r>
            <a:r>
              <a:rPr lang="fr-FR" dirty="0"/>
              <a:t> </a:t>
            </a:r>
            <a:r>
              <a:rPr lang="fr-FR" dirty="0" err="1"/>
              <a:t>is</a:t>
            </a:r>
            <a:r>
              <a:rPr lang="fr-FR" dirty="0"/>
              <a:t> </a:t>
            </a:r>
            <a:r>
              <a:rPr lang="fr-FR" dirty="0" err="1"/>
              <a:t>BigData</a:t>
            </a:r>
            <a:r>
              <a:rPr lang="fr-FR" dirty="0"/>
              <a:t> ?</a:t>
            </a:r>
          </a:p>
          <a:p>
            <a:pPr lvl="1"/>
            <a:r>
              <a:rPr lang="fr-FR" dirty="0" err="1"/>
              <a:t>Order</a:t>
            </a:r>
            <a:r>
              <a:rPr lang="fr-FR" dirty="0"/>
              <a:t> of Magnitudes for « Big »</a:t>
            </a:r>
          </a:p>
          <a:p>
            <a:pPr lvl="1"/>
            <a:r>
              <a:rPr lang="fr-FR" dirty="0"/>
              <a:t>Distributed System challenges</a:t>
            </a:r>
          </a:p>
          <a:p>
            <a:pPr lvl="1"/>
            <a:r>
              <a:rPr lang="fr-FR" dirty="0" err="1"/>
              <a:t>Scaling</a:t>
            </a:r>
            <a:r>
              <a:rPr lang="fr-FR" dirty="0"/>
              <a:t> Storage </a:t>
            </a:r>
            <a:r>
              <a:rPr lang="fr-FR" dirty="0" err="1"/>
              <a:t>Resources</a:t>
            </a:r>
            <a:r>
              <a:rPr lang="fr-FR" dirty="0"/>
              <a:t>: </a:t>
            </a:r>
            <a:r>
              <a:rPr lang="fr-FR" dirty="0" err="1"/>
              <a:t>Hdfs</a:t>
            </a:r>
            <a:endParaRPr lang="fr-FR" dirty="0"/>
          </a:p>
          <a:p>
            <a:pPr lvl="1"/>
            <a:r>
              <a:rPr lang="fr-FR" dirty="0" err="1"/>
              <a:t>Scaling</a:t>
            </a:r>
            <a:r>
              <a:rPr lang="fr-FR" dirty="0"/>
              <a:t> </a:t>
            </a:r>
            <a:r>
              <a:rPr lang="fr-FR" dirty="0" err="1"/>
              <a:t>Compute</a:t>
            </a:r>
            <a:r>
              <a:rPr lang="fr-FR" dirty="0"/>
              <a:t> </a:t>
            </a:r>
            <a:r>
              <a:rPr lang="fr-FR" dirty="0" err="1"/>
              <a:t>Resources</a:t>
            </a:r>
            <a:r>
              <a:rPr lang="fr-FR" dirty="0"/>
              <a:t>: </a:t>
            </a:r>
            <a:r>
              <a:rPr lang="fr-FR" dirty="0" err="1"/>
              <a:t>Yarn</a:t>
            </a:r>
            <a:r>
              <a:rPr lang="fr-FR" dirty="0"/>
              <a:t>, </a:t>
            </a:r>
            <a:r>
              <a:rPr lang="fr-FR" dirty="0" err="1"/>
              <a:t>Kubernetes</a:t>
            </a:r>
            <a:endParaRPr lang="fr-FR" dirty="0"/>
          </a:p>
          <a:p>
            <a:pPr lvl="1"/>
            <a:r>
              <a:rPr lang="fr-FR" dirty="0" err="1"/>
              <a:t>Using</a:t>
            </a:r>
            <a:r>
              <a:rPr lang="fr-FR" dirty="0"/>
              <a:t> Storage – </a:t>
            </a:r>
            <a:r>
              <a:rPr lang="fr-FR" dirty="0" err="1"/>
              <a:t>Compute</a:t>
            </a:r>
            <a:r>
              <a:rPr lang="fr-FR" dirty="0"/>
              <a:t> apis</a:t>
            </a:r>
          </a:p>
          <a:p>
            <a:pPr lvl="1"/>
            <a:r>
              <a:rPr lang="fr-FR" dirty="0"/>
              <a:t>Evolution of Hardware – Softwares – Hadoop </a:t>
            </a:r>
            <a:r>
              <a:rPr lang="fr-FR" dirty="0" err="1"/>
              <a:t>Ecosystem</a:t>
            </a:r>
            <a:r>
              <a:rPr lang="fr-FR" dirty="0"/>
              <a:t>, Spark</a:t>
            </a:r>
          </a:p>
          <a:p>
            <a:r>
              <a:rPr lang="fr-FR" dirty="0"/>
              <a:t>Description of a </a:t>
            </a:r>
            <a:r>
              <a:rPr lang="fr-FR" dirty="0" err="1"/>
              <a:t>Datalake</a:t>
            </a:r>
            <a:endParaRPr lang="fr-FR" dirty="0"/>
          </a:p>
          <a:p>
            <a:pPr lvl="1"/>
            <a:r>
              <a:rPr lang="fr-FR" dirty="0"/>
              <a:t>Content</a:t>
            </a:r>
          </a:p>
          <a:p>
            <a:pPr lvl="1"/>
            <a:r>
              <a:rPr lang="fr-FR" sz="3500" b="1" dirty="0"/>
              <a:t>Usages</a:t>
            </a:r>
            <a:endParaRPr lang="fr-FR" b="1" dirty="0"/>
          </a:p>
          <a:p>
            <a:r>
              <a:rPr lang="fr-FR" dirty="0"/>
              <a:t>Example of Data-</a:t>
            </a:r>
            <a:r>
              <a:rPr lang="fr-FR" dirty="0" err="1"/>
              <a:t>Processing</a:t>
            </a:r>
            <a:endParaRPr lang="fr-FR" dirty="0"/>
          </a:p>
          <a:p>
            <a:pPr lvl="1"/>
            <a:r>
              <a:rPr lang="fr-FR" dirty="0"/>
              <a:t>RAW to LAKE, Reports</a:t>
            </a:r>
          </a:p>
          <a:p>
            <a:r>
              <a:rPr lang="fr-FR" dirty="0"/>
              <a:t>Evolution to Cloud</a:t>
            </a:r>
          </a:p>
        </p:txBody>
      </p:sp>
      <p:sp>
        <p:nvSpPr>
          <p:cNvPr id="4" name="Arrow: Right 3">
            <a:extLst>
              <a:ext uri="{FF2B5EF4-FFF2-40B4-BE49-F238E27FC236}">
                <a16:creationId xmlns:a16="http://schemas.microsoft.com/office/drawing/2014/main" id="{DDD0192B-78FC-DA6C-C265-8EE665F30D7C}"/>
              </a:ext>
            </a:extLst>
          </p:cNvPr>
          <p:cNvSpPr/>
          <p:nvPr/>
        </p:nvSpPr>
        <p:spPr>
          <a:xfrm>
            <a:off x="2303923" y="4786590"/>
            <a:ext cx="710213" cy="39061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24813872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4ABF17-758F-F4EA-2E29-183E600046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89665"/>
            <a:ext cx="10515600" cy="1898681"/>
          </a:xfrm>
        </p:spPr>
        <p:txBody>
          <a:bodyPr>
            <a:normAutofit fontScale="90000"/>
          </a:bodyPr>
          <a:lstStyle/>
          <a:p>
            <a:pPr algn="ctr"/>
            <a:r>
              <a:rPr lang="fr-FR" dirty="0" err="1"/>
              <a:t>Governance</a:t>
            </a:r>
            <a:r>
              <a:rPr lang="fr-FR" dirty="0"/>
              <a:t> </a:t>
            </a:r>
            <a:br>
              <a:rPr lang="fr-FR" dirty="0"/>
            </a:br>
            <a:r>
              <a:rPr lang="fr-FR" dirty="0"/>
              <a:t>Data Directories </a:t>
            </a:r>
            <a:r>
              <a:rPr lang="fr-FR" dirty="0" err="1"/>
              <a:t>Organization</a:t>
            </a:r>
            <a:br>
              <a:rPr lang="fr-FR" dirty="0"/>
            </a:br>
            <a:r>
              <a:rPr lang="fr-FR" dirty="0"/>
              <a:t>Read-Write Permissions, Quota,  RDPG …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9DABF21-F6E4-FCDE-CCC2-4805C2DE628E}"/>
              </a:ext>
            </a:extLst>
          </p:cNvPr>
          <p:cNvSpPr txBox="1"/>
          <p:nvPr/>
        </p:nvSpPr>
        <p:spPr>
          <a:xfrm>
            <a:off x="2285999" y="2332775"/>
            <a:ext cx="828286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/>
              <a:t>How </a:t>
            </a:r>
            <a:r>
              <a:rPr lang="fr-FR" sz="2800" dirty="0" err="1"/>
              <a:t>would</a:t>
            </a:r>
            <a:r>
              <a:rPr lang="fr-FR" sz="2800" dirty="0"/>
              <a:t> </a:t>
            </a:r>
            <a:r>
              <a:rPr lang="fr-FR" sz="2800" dirty="0" err="1"/>
              <a:t>you</a:t>
            </a:r>
            <a:r>
              <a:rPr lang="fr-FR" sz="2800" dirty="0"/>
              <a:t> </a:t>
            </a:r>
            <a:r>
              <a:rPr lang="fr-FR" sz="2800" dirty="0" err="1"/>
              <a:t>organize</a:t>
            </a:r>
            <a:r>
              <a:rPr lang="fr-FR" sz="2800" dirty="0"/>
              <a:t> Read-Write Permissions on 6000 tables x 1000 jobs ?</a:t>
            </a:r>
            <a:endParaRPr lang="fr-FR" sz="28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F60168B-B35B-8002-3BB1-031C9443FD48}"/>
              </a:ext>
            </a:extLst>
          </p:cNvPr>
          <p:cNvSpPr txBox="1"/>
          <p:nvPr/>
        </p:nvSpPr>
        <p:spPr>
          <a:xfrm>
            <a:off x="3333988" y="3429000"/>
            <a:ext cx="4365490" cy="30469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/>
              <a:t>/ &lt;root HDFS&gt;</a:t>
            </a:r>
          </a:p>
          <a:p>
            <a:r>
              <a:rPr lang="fr-FR" sz="2400" dirty="0"/>
              <a:t>  /</a:t>
            </a:r>
            <a:r>
              <a:rPr lang="fr-FR" sz="2400" dirty="0" err="1"/>
              <a:t>env</a:t>
            </a:r>
            <a:endParaRPr lang="fr-FR" sz="2400" dirty="0"/>
          </a:p>
          <a:p>
            <a:r>
              <a:rPr lang="fr-FR" sz="2400" dirty="0"/>
              <a:t>     / {</a:t>
            </a:r>
            <a:r>
              <a:rPr lang="fr-FR" sz="2400" dirty="0" err="1"/>
              <a:t>raw|lake</a:t>
            </a:r>
            <a:r>
              <a:rPr lang="fr-FR" sz="2400" dirty="0"/>
              <a:t>}</a:t>
            </a:r>
          </a:p>
          <a:p>
            <a:r>
              <a:rPr lang="fr-FR" sz="2400" dirty="0"/>
              <a:t>         /</a:t>
            </a:r>
            <a:r>
              <a:rPr lang="fr-FR" sz="2400" dirty="0" err="1"/>
              <a:t>dir</a:t>
            </a:r>
            <a:r>
              <a:rPr lang="fr-FR" sz="2400" dirty="0"/>
              <a:t>  =by Team</a:t>
            </a:r>
          </a:p>
          <a:p>
            <a:r>
              <a:rPr lang="fr-FR" sz="2400" dirty="0"/>
              <a:t>              /</a:t>
            </a:r>
            <a:r>
              <a:rPr lang="fr-FR" sz="2400" dirty="0" err="1"/>
              <a:t>subDir</a:t>
            </a:r>
            <a:r>
              <a:rPr lang="fr-FR" sz="2400" dirty="0"/>
              <a:t>   =by </a:t>
            </a:r>
            <a:r>
              <a:rPr lang="fr-FR" sz="2400" dirty="0" err="1"/>
              <a:t>domain</a:t>
            </a:r>
            <a:br>
              <a:rPr lang="fr-FR" sz="2400" dirty="0"/>
            </a:br>
            <a:r>
              <a:rPr lang="fr-FR" sz="2400" dirty="0"/>
              <a:t>                   /</a:t>
            </a:r>
            <a:r>
              <a:rPr lang="fr-FR" sz="2400" dirty="0" err="1"/>
              <a:t>sub-subDir</a:t>
            </a:r>
            <a:r>
              <a:rPr lang="fr-FR" sz="2400" dirty="0"/>
              <a:t>=</a:t>
            </a:r>
            <a:r>
              <a:rPr lang="fr-FR" sz="2400" dirty="0" err="1"/>
              <a:t>Hive</a:t>
            </a:r>
            <a:r>
              <a:rPr lang="fr-FR" sz="2400" dirty="0"/>
              <a:t> table</a:t>
            </a:r>
          </a:p>
          <a:p>
            <a:r>
              <a:rPr lang="fr-FR" sz="2400" dirty="0"/>
              <a:t>                            /</a:t>
            </a:r>
            <a:r>
              <a:rPr lang="fr-FR" sz="2400" dirty="0" err="1"/>
              <a:t>hive</a:t>
            </a:r>
            <a:r>
              <a:rPr lang="fr-FR" sz="2400" dirty="0"/>
              <a:t> partitions</a:t>
            </a:r>
            <a:br>
              <a:rPr lang="fr-FR" sz="2400" dirty="0"/>
            </a:br>
            <a:r>
              <a:rPr lang="fr-FR" sz="2400" dirty="0"/>
              <a:t>                                      /*.parquet</a:t>
            </a:r>
          </a:p>
        </p:txBody>
      </p:sp>
      <p:sp>
        <p:nvSpPr>
          <p:cNvPr id="6" name="Arrow: Left 5">
            <a:extLst>
              <a:ext uri="{FF2B5EF4-FFF2-40B4-BE49-F238E27FC236}">
                <a16:creationId xmlns:a16="http://schemas.microsoft.com/office/drawing/2014/main" id="{B9C28F81-1477-4070-D4D7-F8515F182728}"/>
              </a:ext>
            </a:extLst>
          </p:cNvPr>
          <p:cNvSpPr/>
          <p:nvPr/>
        </p:nvSpPr>
        <p:spPr>
          <a:xfrm>
            <a:off x="7568214" y="4949301"/>
            <a:ext cx="569871" cy="372862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b="1" dirty="0"/>
          </a:p>
        </p:txBody>
      </p:sp>
      <p:sp>
        <p:nvSpPr>
          <p:cNvPr id="7" name="Arrow: Left 6">
            <a:extLst>
              <a:ext uri="{FF2B5EF4-FFF2-40B4-BE49-F238E27FC236}">
                <a16:creationId xmlns:a16="http://schemas.microsoft.com/office/drawing/2014/main" id="{9367EDDE-B42E-9079-7E7D-013098659503}"/>
              </a:ext>
            </a:extLst>
          </p:cNvPr>
          <p:cNvSpPr/>
          <p:nvPr/>
        </p:nvSpPr>
        <p:spPr>
          <a:xfrm flipH="1">
            <a:off x="2867942" y="4682261"/>
            <a:ext cx="631795" cy="372862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B402BE6-69F1-0840-C347-5B7AAB394B2A}"/>
              </a:ext>
            </a:extLst>
          </p:cNvPr>
          <p:cNvSpPr txBox="1"/>
          <p:nvPr/>
        </p:nvSpPr>
        <p:spPr>
          <a:xfrm>
            <a:off x="182938" y="4349136"/>
            <a:ext cx="2731004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Project </a:t>
            </a:r>
            <a:r>
              <a:rPr lang="fr-FR" dirty="0" err="1"/>
              <a:t>ask</a:t>
            </a:r>
            <a:r>
              <a:rPr lang="fr-FR" dirty="0"/>
              <a:t> </a:t>
            </a:r>
            <a:r>
              <a:rPr lang="fr-FR" dirty="0" err="1"/>
              <a:t>access</a:t>
            </a:r>
            <a:endParaRPr lang="fr-FR" dirty="0"/>
          </a:p>
          <a:p>
            <a:r>
              <a:rPr lang="fr-FR" dirty="0"/>
              <a:t>AND </a:t>
            </a:r>
            <a:r>
              <a:rPr lang="fr-FR" dirty="0" err="1"/>
              <a:t>describe</a:t>
            </a:r>
            <a:r>
              <a:rPr lang="fr-FR" dirty="0"/>
              <a:t> « </a:t>
            </a:r>
            <a:r>
              <a:rPr lang="fr-FR" dirty="0" err="1"/>
              <a:t>Datasets</a:t>
            </a:r>
            <a:r>
              <a:rPr lang="fr-FR" dirty="0"/>
              <a:t> »</a:t>
            </a:r>
            <a:br>
              <a:rPr lang="fr-FR" dirty="0"/>
            </a:br>
            <a:r>
              <a:rPr lang="fr-FR" dirty="0"/>
              <a:t>( data </a:t>
            </a:r>
            <a:r>
              <a:rPr lang="fr-FR" dirty="0" err="1"/>
              <a:t>owner</a:t>
            </a:r>
            <a:r>
              <a:rPr lang="fr-FR" dirty="0"/>
              <a:t>)</a:t>
            </a:r>
          </a:p>
          <a:p>
            <a:r>
              <a:rPr lang="fr-FR" dirty="0"/>
              <a:t>=&gt; Validation by </a:t>
            </a:r>
            <a:r>
              <a:rPr lang="fr-FR" dirty="0" err="1"/>
              <a:t>DataOffice</a:t>
            </a:r>
            <a:endParaRPr lang="fr-FR" dirty="0"/>
          </a:p>
          <a:p>
            <a:r>
              <a:rPr lang="fr-FR" dirty="0"/>
              <a:t>=&gt; </a:t>
            </a:r>
            <a:r>
              <a:rPr lang="fr-FR" dirty="0" err="1"/>
              <a:t>Create</a:t>
            </a:r>
            <a:r>
              <a:rPr lang="fr-FR" dirty="0"/>
              <a:t> </a:t>
            </a:r>
            <a:r>
              <a:rPr lang="fr-FR" dirty="0" err="1"/>
              <a:t>domain</a:t>
            </a:r>
            <a:r>
              <a:rPr lang="fr-FR" dirty="0"/>
              <a:t> </a:t>
            </a:r>
            <a:r>
              <a:rPr lang="fr-FR" dirty="0" err="1"/>
              <a:t>sub-dirs</a:t>
            </a:r>
            <a:r>
              <a:rPr lang="fr-FR" dirty="0"/>
              <a:t> </a:t>
            </a:r>
            <a:br>
              <a:rPr lang="fr-FR" dirty="0"/>
            </a:br>
            <a:r>
              <a:rPr lang="fr-FR" dirty="0"/>
              <a:t>     + </a:t>
            </a:r>
            <a:r>
              <a:rPr lang="fr-FR" dirty="0" err="1"/>
              <a:t>granted</a:t>
            </a:r>
            <a:r>
              <a:rPr lang="fr-FR" dirty="0"/>
              <a:t> </a:t>
            </a:r>
            <a:r>
              <a:rPr lang="fr-FR" dirty="0" err="1"/>
              <a:t>recursive</a:t>
            </a:r>
            <a:r>
              <a:rPr lang="fr-FR" dirty="0"/>
              <a:t> </a:t>
            </a:r>
            <a:br>
              <a:rPr lang="fr-FR" dirty="0"/>
            </a:br>
            <a:r>
              <a:rPr lang="fr-FR" dirty="0"/>
              <a:t>            WRITE permission</a:t>
            </a:r>
          </a:p>
        </p:txBody>
      </p:sp>
      <p:sp>
        <p:nvSpPr>
          <p:cNvPr id="9" name="Arrow: Left 8">
            <a:extLst>
              <a:ext uri="{FF2B5EF4-FFF2-40B4-BE49-F238E27FC236}">
                <a16:creationId xmlns:a16="http://schemas.microsoft.com/office/drawing/2014/main" id="{0B9DD0EE-0D84-1794-FF67-85D9687B0C45}"/>
              </a:ext>
            </a:extLst>
          </p:cNvPr>
          <p:cNvSpPr/>
          <p:nvPr/>
        </p:nvSpPr>
        <p:spPr>
          <a:xfrm flipH="1">
            <a:off x="3107257" y="4966497"/>
            <a:ext cx="631795" cy="372862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220FB26-F1F2-B2DB-0C16-7BAABEDE91D9}"/>
              </a:ext>
            </a:extLst>
          </p:cNvPr>
          <p:cNvSpPr txBox="1"/>
          <p:nvPr/>
        </p:nvSpPr>
        <p:spPr>
          <a:xfrm>
            <a:off x="8705320" y="4552764"/>
            <a:ext cx="3372077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Project </a:t>
            </a:r>
            <a:r>
              <a:rPr lang="fr-FR" dirty="0" err="1"/>
              <a:t>ask</a:t>
            </a:r>
            <a:r>
              <a:rPr lang="fr-FR" dirty="0"/>
              <a:t> for a « Usage » Job</a:t>
            </a:r>
          </a:p>
          <a:p>
            <a:r>
              <a:rPr lang="fr-FR" dirty="0" err="1"/>
              <a:t>Explain</a:t>
            </a:r>
            <a:r>
              <a:rPr lang="fr-FR" dirty="0"/>
              <a:t> Inputs/Output</a:t>
            </a:r>
            <a:br>
              <a:rPr lang="fr-FR" dirty="0"/>
            </a:br>
            <a:r>
              <a:rPr lang="fr-FR" dirty="0"/>
              <a:t>=&gt; Validation by </a:t>
            </a:r>
            <a:r>
              <a:rPr lang="fr-FR" dirty="0" err="1"/>
              <a:t>DataOffice</a:t>
            </a:r>
            <a:endParaRPr lang="fr-FR" dirty="0"/>
          </a:p>
          <a:p>
            <a:r>
              <a:rPr lang="fr-FR" dirty="0"/>
              <a:t>=&gt; Grant </a:t>
            </a:r>
            <a:r>
              <a:rPr lang="fr-FR" dirty="0" err="1"/>
              <a:t>recursive</a:t>
            </a:r>
            <a:r>
              <a:rPr lang="fr-FR" dirty="0"/>
              <a:t> </a:t>
            </a:r>
            <a:br>
              <a:rPr lang="fr-FR" dirty="0"/>
            </a:br>
            <a:r>
              <a:rPr lang="fr-FR" dirty="0"/>
              <a:t>            READ permission for inputs</a:t>
            </a:r>
          </a:p>
        </p:txBody>
      </p:sp>
    </p:spTree>
    <p:extLst>
      <p:ext uri="{BB962C8B-B14F-4D97-AF65-F5344CB8AC3E}">
        <p14:creationId xmlns:p14="http://schemas.microsoft.com/office/powerpoint/2010/main" val="3153064050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DE2B9A-EED2-8481-DAA6-60C822A3AF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1942" y="365125"/>
            <a:ext cx="11918272" cy="1548013"/>
          </a:xfrm>
        </p:spPr>
        <p:txBody>
          <a:bodyPr>
            <a:normAutofit fontScale="90000"/>
          </a:bodyPr>
          <a:lstStyle/>
          <a:p>
            <a:pPr algn="ctr"/>
            <a:r>
              <a:rPr lang="fr-FR" dirty="0"/>
              <a:t>LAKE = Parquet</a:t>
            </a:r>
            <a:br>
              <a:rPr lang="fr-FR" dirty="0"/>
            </a:br>
            <a:r>
              <a:rPr lang="fr-FR" dirty="0" err="1"/>
              <a:t>Starting</a:t>
            </a:r>
            <a:r>
              <a:rPr lang="fr-FR" dirty="0"/>
              <a:t> </a:t>
            </a:r>
            <a:r>
              <a:rPr lang="fr-FR" dirty="0" err="1"/>
              <a:t>from</a:t>
            </a:r>
            <a:r>
              <a:rPr lang="fr-FR" dirty="0"/>
              <a:t> RAW: </a:t>
            </a:r>
            <a:r>
              <a:rPr lang="fr-FR" dirty="0" err="1"/>
              <a:t>Postgresql</a:t>
            </a:r>
            <a:r>
              <a:rPr lang="fr-FR" dirty="0"/>
              <a:t> or {</a:t>
            </a:r>
            <a:r>
              <a:rPr lang="fr-FR" dirty="0" err="1"/>
              <a:t>CSV|Json|Avro</a:t>
            </a:r>
            <a:r>
              <a:rPr lang="fr-FR" dirty="0"/>
              <a:t>..}</a:t>
            </a:r>
            <a:br>
              <a:rPr lang="fr-FR" dirty="0"/>
            </a:br>
            <a:r>
              <a:rPr lang="fr-FR" dirty="0"/>
              <a:t>STAGING </a:t>
            </a:r>
            <a:r>
              <a:rPr lang="fr-FR" dirty="0" err="1"/>
              <a:t>Dirs</a:t>
            </a:r>
            <a:endParaRPr lang="fr-FR" dirty="0"/>
          </a:p>
        </p:txBody>
      </p:sp>
      <p:sp>
        <p:nvSpPr>
          <p:cNvPr id="4" name="Cylinder 3">
            <a:extLst>
              <a:ext uri="{FF2B5EF4-FFF2-40B4-BE49-F238E27FC236}">
                <a16:creationId xmlns:a16="http://schemas.microsoft.com/office/drawing/2014/main" id="{6668B92E-48DF-6022-D9E9-3037A2382322}"/>
              </a:ext>
            </a:extLst>
          </p:cNvPr>
          <p:cNvSpPr/>
          <p:nvPr/>
        </p:nvSpPr>
        <p:spPr>
          <a:xfrm>
            <a:off x="3721963" y="3187083"/>
            <a:ext cx="1114148" cy="1007615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Cylinder 4">
            <a:extLst>
              <a:ext uri="{FF2B5EF4-FFF2-40B4-BE49-F238E27FC236}">
                <a16:creationId xmlns:a16="http://schemas.microsoft.com/office/drawing/2014/main" id="{0E339B2A-1D37-6F91-0D4F-AB23D7C94D85}"/>
              </a:ext>
            </a:extLst>
          </p:cNvPr>
          <p:cNvSpPr/>
          <p:nvPr/>
        </p:nvSpPr>
        <p:spPr>
          <a:xfrm>
            <a:off x="7665128" y="3187083"/>
            <a:ext cx="1114148" cy="1007615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Cylinder 5">
            <a:extLst>
              <a:ext uri="{FF2B5EF4-FFF2-40B4-BE49-F238E27FC236}">
                <a16:creationId xmlns:a16="http://schemas.microsoft.com/office/drawing/2014/main" id="{80AFAB7A-E754-2C05-73FD-B7024B8F1611}"/>
              </a:ext>
            </a:extLst>
          </p:cNvPr>
          <p:cNvSpPr/>
          <p:nvPr/>
        </p:nvSpPr>
        <p:spPr>
          <a:xfrm>
            <a:off x="5722398" y="5035118"/>
            <a:ext cx="1114148" cy="1007615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558E289D-0C02-1C72-3E1E-70999C435FE8}"/>
              </a:ext>
            </a:extLst>
          </p:cNvPr>
          <p:cNvSpPr/>
          <p:nvPr/>
        </p:nvSpPr>
        <p:spPr>
          <a:xfrm>
            <a:off x="2201662" y="3511117"/>
            <a:ext cx="949910" cy="29296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4FE450E-9536-09DD-FB38-2EACA551F4B5}"/>
              </a:ext>
            </a:extLst>
          </p:cNvPr>
          <p:cNvSpPr txBox="1"/>
          <p:nvPr/>
        </p:nvSpPr>
        <p:spPr>
          <a:xfrm>
            <a:off x="3026352" y="2642128"/>
            <a:ext cx="29054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b="1" dirty="0" err="1"/>
              <a:t>private</a:t>
            </a:r>
            <a:r>
              <a:rPr lang="fr-FR" sz="2800" b="1" dirty="0"/>
              <a:t> RAW</a:t>
            </a:r>
            <a:r>
              <a:rPr lang="fr-FR" sz="2800" dirty="0"/>
              <a:t> Layer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D885FC0-F5C6-E53D-6508-25545F329AAE}"/>
              </a:ext>
            </a:extLst>
          </p:cNvPr>
          <p:cNvSpPr txBox="1"/>
          <p:nvPr/>
        </p:nvSpPr>
        <p:spPr>
          <a:xfrm>
            <a:off x="5430174" y="4591797"/>
            <a:ext cx="277358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b="1" dirty="0" err="1"/>
              <a:t>private</a:t>
            </a:r>
            <a:r>
              <a:rPr lang="fr-FR" sz="2800" b="1" dirty="0"/>
              <a:t> APP</a:t>
            </a:r>
            <a:r>
              <a:rPr lang="fr-FR" sz="2800" dirty="0"/>
              <a:t> Layer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DDB8348-B922-2E72-8489-D9C1802502A0}"/>
              </a:ext>
            </a:extLst>
          </p:cNvPr>
          <p:cNvSpPr txBox="1"/>
          <p:nvPr/>
        </p:nvSpPr>
        <p:spPr>
          <a:xfrm>
            <a:off x="7401208" y="2685140"/>
            <a:ext cx="313932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b="1" dirty="0" err="1"/>
              <a:t>sharable</a:t>
            </a:r>
            <a:r>
              <a:rPr lang="fr-FR" sz="2800" b="1" dirty="0"/>
              <a:t> LAKE</a:t>
            </a:r>
            <a:r>
              <a:rPr lang="fr-FR" sz="2800" dirty="0"/>
              <a:t> Layer</a:t>
            </a:r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D7AD63ED-A678-A149-6B1C-C39342372B4A}"/>
              </a:ext>
            </a:extLst>
          </p:cNvPr>
          <p:cNvSpPr/>
          <p:nvPr/>
        </p:nvSpPr>
        <p:spPr>
          <a:xfrm>
            <a:off x="5931763" y="3571042"/>
            <a:ext cx="949910" cy="29296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66ABD7D-74D5-7171-A050-3D338E6BE297}"/>
              </a:ext>
            </a:extLst>
          </p:cNvPr>
          <p:cNvSpPr txBox="1"/>
          <p:nvPr/>
        </p:nvSpPr>
        <p:spPr>
          <a:xfrm>
            <a:off x="5245085" y="3282349"/>
            <a:ext cx="23232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/>
              <a:t>Transform</a:t>
            </a:r>
            <a:r>
              <a:rPr lang="fr-FR" dirty="0"/>
              <a:t> RAW 2 LAKE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7832424-DF1B-AD02-D605-F51B2F5B626C}"/>
              </a:ext>
            </a:extLst>
          </p:cNvPr>
          <p:cNvSpPr txBox="1"/>
          <p:nvPr/>
        </p:nvSpPr>
        <p:spPr>
          <a:xfrm>
            <a:off x="1351639" y="3172287"/>
            <a:ext cx="1329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/>
              <a:t>Upload</a:t>
            </a:r>
            <a:r>
              <a:rPr lang="fr-FR" dirty="0"/>
              <a:t> data</a:t>
            </a:r>
          </a:p>
        </p:txBody>
      </p:sp>
      <p:sp>
        <p:nvSpPr>
          <p:cNvPr id="16" name="Arrow: Left-Right 15">
            <a:extLst>
              <a:ext uri="{FF2B5EF4-FFF2-40B4-BE49-F238E27FC236}">
                <a16:creationId xmlns:a16="http://schemas.microsoft.com/office/drawing/2014/main" id="{78293FF9-3C6B-D9CB-3316-679075A358AD}"/>
              </a:ext>
            </a:extLst>
          </p:cNvPr>
          <p:cNvSpPr/>
          <p:nvPr/>
        </p:nvSpPr>
        <p:spPr>
          <a:xfrm rot="16200000">
            <a:off x="6020094" y="4145424"/>
            <a:ext cx="591829" cy="289096"/>
          </a:xfrm>
          <a:prstGeom prst="left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9" name="Arrow: Curved Down 18">
            <a:extLst>
              <a:ext uri="{FF2B5EF4-FFF2-40B4-BE49-F238E27FC236}">
                <a16:creationId xmlns:a16="http://schemas.microsoft.com/office/drawing/2014/main" id="{2E580B9A-3575-B3CE-99E8-13ED226A4DDF}"/>
              </a:ext>
            </a:extLst>
          </p:cNvPr>
          <p:cNvSpPr/>
          <p:nvPr/>
        </p:nvSpPr>
        <p:spPr>
          <a:xfrm flipH="1">
            <a:off x="6635591" y="2284981"/>
            <a:ext cx="932759" cy="527310"/>
          </a:xfrm>
          <a:prstGeom prst="curved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F86C6A6-8639-F503-018C-496F4A15DF79}"/>
              </a:ext>
            </a:extLst>
          </p:cNvPr>
          <p:cNvSpPr txBox="1"/>
          <p:nvPr/>
        </p:nvSpPr>
        <p:spPr>
          <a:xfrm>
            <a:off x="1526959" y="3994057"/>
            <a:ext cx="2280945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/>
              <a:t>Postgresql</a:t>
            </a:r>
            <a:r>
              <a:rPr lang="fr-FR" dirty="0"/>
              <a:t> </a:t>
            </a:r>
            <a:r>
              <a:rPr lang="fr-FR" dirty="0" err="1"/>
              <a:t>Extract</a:t>
            </a:r>
            <a:endParaRPr lang="fr-FR" dirty="0"/>
          </a:p>
          <a:p>
            <a:r>
              <a:rPr lang="fr-FR" dirty="0"/>
              <a:t>FTP/</a:t>
            </a:r>
            <a:r>
              <a:rPr lang="fr-FR" dirty="0" err="1"/>
              <a:t>Hdfs</a:t>
            </a:r>
            <a:r>
              <a:rPr lang="fr-FR" dirty="0"/>
              <a:t> Files </a:t>
            </a:r>
            <a:r>
              <a:rPr lang="fr-FR" dirty="0" err="1"/>
              <a:t>upload</a:t>
            </a:r>
            <a:endParaRPr lang="fr-FR" dirty="0"/>
          </a:p>
          <a:p>
            <a:r>
              <a:rPr lang="fr-FR" dirty="0"/>
              <a:t>In </a:t>
            </a:r>
            <a:r>
              <a:rPr lang="fr-FR" dirty="0" err="1"/>
              <a:t>CSV,Text,Json,Xml</a:t>
            </a:r>
            <a:r>
              <a:rPr lang="fr-FR" dirty="0"/>
              <a:t>,…</a:t>
            </a:r>
          </a:p>
          <a:p>
            <a:endParaRPr lang="fr-FR" dirty="0"/>
          </a:p>
          <a:p>
            <a:r>
              <a:rPr lang="fr-FR" dirty="0"/>
              <a:t>Streaming </a:t>
            </a:r>
            <a:r>
              <a:rPr lang="fr-FR" dirty="0" err="1"/>
              <a:t>flushed</a:t>
            </a:r>
            <a:endParaRPr lang="fr-FR" dirty="0"/>
          </a:p>
          <a:p>
            <a:r>
              <a:rPr lang="fr-FR" dirty="0"/>
              <a:t>as </a:t>
            </a:r>
            <a:r>
              <a:rPr lang="fr-FR" dirty="0" err="1"/>
              <a:t>Avro</a:t>
            </a:r>
            <a:r>
              <a:rPr lang="fr-FR" dirty="0"/>
              <a:t> Files (</a:t>
            </a:r>
            <a:r>
              <a:rPr lang="fr-FR" dirty="0" err="1"/>
              <a:t>Flume</a:t>
            </a:r>
            <a:r>
              <a:rPr lang="fr-FR" dirty="0"/>
              <a:t>)</a:t>
            </a:r>
          </a:p>
        </p:txBody>
      </p:sp>
      <p:sp>
        <p:nvSpPr>
          <p:cNvPr id="22" name="Arrow: Right 21">
            <a:extLst>
              <a:ext uri="{FF2B5EF4-FFF2-40B4-BE49-F238E27FC236}">
                <a16:creationId xmlns:a16="http://schemas.microsoft.com/office/drawing/2014/main" id="{2818A243-8DF9-09F0-86C8-116254A6E567}"/>
              </a:ext>
            </a:extLst>
          </p:cNvPr>
          <p:cNvSpPr/>
          <p:nvPr/>
        </p:nvSpPr>
        <p:spPr>
          <a:xfrm rot="18545166">
            <a:off x="3392669" y="4888637"/>
            <a:ext cx="949910" cy="29296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2C2D728-BDDE-5F0B-9542-7129D33982D5}"/>
              </a:ext>
            </a:extLst>
          </p:cNvPr>
          <p:cNvSpPr txBox="1"/>
          <p:nvPr/>
        </p:nvSpPr>
        <p:spPr>
          <a:xfrm>
            <a:off x="9001325" y="3638544"/>
            <a:ext cx="15726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/>
              <a:t>PARQUET Files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065AF45-B257-0AC0-FA90-325CFD61E919}"/>
              </a:ext>
            </a:extLst>
          </p:cNvPr>
          <p:cNvSpPr txBox="1"/>
          <p:nvPr/>
        </p:nvSpPr>
        <p:spPr>
          <a:xfrm>
            <a:off x="6992012" y="5842809"/>
            <a:ext cx="276678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/>
              <a:t>Any</a:t>
            </a:r>
            <a:r>
              <a:rPr lang="fr-FR" dirty="0"/>
              <a:t> File format</a:t>
            </a:r>
          </a:p>
          <a:p>
            <a:r>
              <a:rPr lang="fr-FR" dirty="0"/>
              <a:t>Example for export to OLAP</a:t>
            </a:r>
          </a:p>
        </p:txBody>
      </p:sp>
    </p:spTree>
    <p:extLst>
      <p:ext uri="{BB962C8B-B14F-4D97-AF65-F5344CB8AC3E}">
        <p14:creationId xmlns:p14="http://schemas.microsoft.com/office/powerpoint/2010/main" val="1920297668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F892D671-ECD3-3008-A2DE-A74B9C143246}"/>
              </a:ext>
            </a:extLst>
          </p:cNvPr>
          <p:cNvSpPr/>
          <p:nvPr/>
        </p:nvSpPr>
        <p:spPr>
          <a:xfrm>
            <a:off x="2039538" y="1585266"/>
            <a:ext cx="2228296" cy="639192"/>
          </a:xfrm>
          <a:prstGeom prst="rect">
            <a:avLst/>
          </a:prstGeom>
          <a:noFill/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0C78D62-19AA-05AD-AEE7-27D89A7C72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300"/>
            <a:ext cx="10515600" cy="852438"/>
          </a:xfrm>
        </p:spPr>
        <p:txBody>
          <a:bodyPr/>
          <a:lstStyle/>
          <a:p>
            <a:pPr algn="ctr"/>
            <a:r>
              <a:rPr lang="fr-FR" dirty="0" err="1"/>
              <a:t>Feeding</a:t>
            </a:r>
            <a:r>
              <a:rPr lang="fr-FR" dirty="0"/>
              <a:t> – </a:t>
            </a:r>
            <a:r>
              <a:rPr lang="fr-FR" dirty="0" err="1"/>
              <a:t>Transforming</a:t>
            </a:r>
            <a:r>
              <a:rPr lang="fr-FR" dirty="0"/>
              <a:t> – </a:t>
            </a:r>
            <a:r>
              <a:rPr lang="fr-FR" dirty="0" err="1"/>
              <a:t>Consuming</a:t>
            </a:r>
            <a:r>
              <a:rPr lang="fr-FR" dirty="0"/>
              <a:t> Data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C11071E-F2B9-C5E7-D170-A7F12A435696}"/>
              </a:ext>
            </a:extLst>
          </p:cNvPr>
          <p:cNvSpPr txBox="1"/>
          <p:nvPr/>
        </p:nvSpPr>
        <p:spPr>
          <a:xfrm>
            <a:off x="5572015" y="2391387"/>
            <a:ext cx="6366871" cy="34778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dirty="0" err="1"/>
              <a:t>Every</a:t>
            </a:r>
            <a:r>
              <a:rPr lang="fr-FR" sz="2000" dirty="0"/>
              <a:t> </a:t>
            </a:r>
            <a:r>
              <a:rPr lang="fr-FR" sz="2000" dirty="0" err="1"/>
              <a:t>project</a:t>
            </a:r>
            <a:r>
              <a:rPr lang="fr-FR" sz="2000" dirty="0"/>
              <a:t> </a:t>
            </a:r>
            <a:r>
              <a:rPr lang="fr-FR" sz="2000" dirty="0" err="1"/>
              <a:t>is</a:t>
            </a:r>
            <a:r>
              <a:rPr lang="fr-FR" sz="2000" dirty="0"/>
              <a:t> </a:t>
            </a:r>
            <a:r>
              <a:rPr lang="fr-FR" sz="2000" dirty="0" err="1"/>
              <a:t>granted</a:t>
            </a:r>
            <a:r>
              <a:rPr lang="fr-FR" sz="2000" dirty="0"/>
              <a:t> </a:t>
            </a:r>
            <a:br>
              <a:rPr lang="fr-FR" sz="2000" dirty="0"/>
            </a:br>
            <a:r>
              <a:rPr lang="fr-FR" sz="2000" dirty="0"/>
              <a:t>3 Read-Write </a:t>
            </a:r>
            <a:r>
              <a:rPr lang="fr-FR" sz="2000" dirty="0" err="1"/>
              <a:t>Databases</a:t>
            </a:r>
            <a:r>
              <a:rPr lang="fr-FR" sz="2000" dirty="0"/>
              <a:t>: RAW, APP, LAKE</a:t>
            </a:r>
          </a:p>
          <a:p>
            <a:endParaRPr lang="fr-FR" sz="2000" dirty="0"/>
          </a:p>
          <a:p>
            <a:r>
              <a:rPr lang="fr-FR" sz="2000" dirty="0"/>
              <a:t>LAKE are </a:t>
            </a:r>
            <a:r>
              <a:rPr lang="fr-FR" sz="2000" dirty="0" err="1"/>
              <a:t>sharable</a:t>
            </a:r>
            <a:r>
              <a:rPr lang="fr-FR" sz="2000" dirty="0"/>
              <a:t>  </a:t>
            </a:r>
            <a:br>
              <a:rPr lang="fr-FR" sz="2000" dirty="0"/>
            </a:br>
            <a:r>
              <a:rPr lang="fr-FR" sz="2000" dirty="0"/>
              <a:t>   …  </a:t>
            </a:r>
            <a:r>
              <a:rPr lang="fr-FR" sz="2000" dirty="0" err="1"/>
              <a:t>designed</a:t>
            </a:r>
            <a:r>
              <a:rPr lang="fr-FR" sz="2000" dirty="0"/>
              <a:t> to </a:t>
            </a:r>
            <a:r>
              <a:rPr lang="fr-FR" sz="2000" dirty="0" err="1"/>
              <a:t>be</a:t>
            </a:r>
            <a:r>
              <a:rPr lang="fr-FR" sz="2000" dirty="0"/>
              <a:t> </a:t>
            </a:r>
            <a:r>
              <a:rPr lang="fr-FR" sz="2000" dirty="0" err="1"/>
              <a:t>efficiently</a:t>
            </a:r>
            <a:r>
              <a:rPr lang="fr-FR" sz="2000" dirty="0"/>
              <a:t> RE-</a:t>
            </a:r>
            <a:r>
              <a:rPr lang="fr-FR" sz="2000" dirty="0" err="1"/>
              <a:t>read</a:t>
            </a:r>
            <a:r>
              <a:rPr lang="fr-FR" sz="2000" dirty="0"/>
              <a:t> </a:t>
            </a:r>
            <a:r>
              <a:rPr lang="fr-FR" sz="2000" dirty="0" err="1"/>
              <a:t>after</a:t>
            </a:r>
            <a:r>
              <a:rPr lang="fr-FR" sz="2000" dirty="0"/>
              <a:t> (for </a:t>
            </a:r>
            <a:r>
              <a:rPr lang="fr-FR" sz="2000" dirty="0" err="1"/>
              <a:t>analytical</a:t>
            </a:r>
            <a:r>
              <a:rPr lang="fr-FR" sz="2000" dirty="0"/>
              <a:t>)</a:t>
            </a:r>
          </a:p>
          <a:p>
            <a:endParaRPr lang="fr-FR" sz="2000" dirty="0"/>
          </a:p>
          <a:p>
            <a:r>
              <a:rPr lang="fr-FR" sz="2000" dirty="0" err="1"/>
              <a:t>Every</a:t>
            </a:r>
            <a:r>
              <a:rPr lang="fr-FR" sz="2000" dirty="0"/>
              <a:t> </a:t>
            </a:r>
            <a:r>
              <a:rPr lang="fr-FR" sz="2000" dirty="0" err="1"/>
              <a:t>project</a:t>
            </a:r>
            <a:r>
              <a:rPr lang="fr-FR" sz="2000" dirty="0"/>
              <a:t> can </a:t>
            </a:r>
            <a:r>
              <a:rPr lang="fr-FR" sz="2000" dirty="0" err="1"/>
              <a:t>request</a:t>
            </a:r>
            <a:r>
              <a:rPr lang="fr-FR" sz="2000" dirty="0"/>
              <a:t> Read </a:t>
            </a:r>
            <a:r>
              <a:rPr lang="fr-FR" sz="2000" dirty="0" err="1"/>
              <a:t>access</a:t>
            </a:r>
            <a:r>
              <a:rPr lang="fr-FR" sz="2000" dirty="0"/>
              <a:t> on </a:t>
            </a:r>
            <a:r>
              <a:rPr lang="fr-FR" sz="2000" dirty="0" err="1"/>
              <a:t>others</a:t>
            </a:r>
            <a:r>
              <a:rPr lang="fr-FR" sz="2000" dirty="0"/>
              <a:t> LAKE</a:t>
            </a:r>
          </a:p>
          <a:p>
            <a:r>
              <a:rPr lang="fr-FR" sz="2000" dirty="0"/>
              <a:t>(  </a:t>
            </a:r>
            <a:r>
              <a:rPr lang="fr-FR" sz="2000" dirty="0" err="1"/>
              <a:t>after</a:t>
            </a:r>
            <a:r>
              <a:rPr lang="fr-FR" sz="2000" dirty="0"/>
              <a:t> validation by Data-Office )</a:t>
            </a:r>
          </a:p>
          <a:p>
            <a:endParaRPr lang="fr-FR" sz="2000" dirty="0"/>
          </a:p>
          <a:p>
            <a:r>
              <a:rPr lang="fr-FR" sz="2000" dirty="0"/>
              <a:t>A </a:t>
            </a:r>
            <a:r>
              <a:rPr lang="fr-FR" sz="2000" dirty="0" err="1"/>
              <a:t>Dataset</a:t>
            </a:r>
            <a:r>
              <a:rPr lang="fr-FR" sz="2000" dirty="0"/>
              <a:t> </a:t>
            </a:r>
            <a:r>
              <a:rPr lang="fr-FR" sz="2000" dirty="0" err="1"/>
              <a:t>is</a:t>
            </a:r>
            <a:r>
              <a:rPr lang="fr-FR" sz="2000" dirty="0"/>
              <a:t> </a:t>
            </a:r>
            <a:r>
              <a:rPr lang="fr-FR" sz="2000" dirty="0" err="1"/>
              <a:t>writable</a:t>
            </a:r>
            <a:r>
              <a:rPr lang="fr-FR" sz="2000" dirty="0"/>
              <a:t> by </a:t>
            </a:r>
            <a:r>
              <a:rPr lang="fr-FR" sz="2000" dirty="0" err="1"/>
              <a:t>only</a:t>
            </a:r>
            <a:r>
              <a:rPr lang="fr-FR" sz="2000" dirty="0"/>
              <a:t> 1 Project (the </a:t>
            </a:r>
            <a:r>
              <a:rPr lang="fr-FR" sz="2000" dirty="0" err="1"/>
              <a:t>owner</a:t>
            </a:r>
            <a:r>
              <a:rPr lang="fr-FR" sz="2000" dirty="0"/>
              <a:t> )</a:t>
            </a:r>
          </a:p>
          <a:p>
            <a:endParaRPr lang="fr-FR" sz="2000" dirty="0"/>
          </a:p>
        </p:txBody>
      </p:sp>
      <p:sp>
        <p:nvSpPr>
          <p:cNvPr id="5" name="Cylinder 4">
            <a:extLst>
              <a:ext uri="{FF2B5EF4-FFF2-40B4-BE49-F238E27FC236}">
                <a16:creationId xmlns:a16="http://schemas.microsoft.com/office/drawing/2014/main" id="{EF05C390-FA49-3FFB-BD6B-E374BF31463F}"/>
              </a:ext>
            </a:extLst>
          </p:cNvPr>
          <p:cNvSpPr/>
          <p:nvPr/>
        </p:nvSpPr>
        <p:spPr>
          <a:xfrm>
            <a:off x="2268139" y="1718430"/>
            <a:ext cx="397275" cy="350669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Cylinder 9">
            <a:extLst>
              <a:ext uri="{FF2B5EF4-FFF2-40B4-BE49-F238E27FC236}">
                <a16:creationId xmlns:a16="http://schemas.microsoft.com/office/drawing/2014/main" id="{843BEC8A-E50C-61A8-2F1B-67BDBB22C131}"/>
              </a:ext>
            </a:extLst>
          </p:cNvPr>
          <p:cNvSpPr/>
          <p:nvPr/>
        </p:nvSpPr>
        <p:spPr>
          <a:xfrm>
            <a:off x="2904372" y="1718430"/>
            <a:ext cx="397275" cy="350669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Cylinder 10">
            <a:extLst>
              <a:ext uri="{FF2B5EF4-FFF2-40B4-BE49-F238E27FC236}">
                <a16:creationId xmlns:a16="http://schemas.microsoft.com/office/drawing/2014/main" id="{9C23C5BE-76E9-713C-82AB-3B6AFA5DBDD2}"/>
              </a:ext>
            </a:extLst>
          </p:cNvPr>
          <p:cNvSpPr/>
          <p:nvPr/>
        </p:nvSpPr>
        <p:spPr>
          <a:xfrm>
            <a:off x="3611263" y="1727761"/>
            <a:ext cx="397275" cy="350669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5F51290-0C9D-2594-3249-14439A0CAEB4}"/>
              </a:ext>
            </a:extLst>
          </p:cNvPr>
          <p:cNvSpPr txBox="1"/>
          <p:nvPr/>
        </p:nvSpPr>
        <p:spPr>
          <a:xfrm>
            <a:off x="134430" y="1578127"/>
            <a:ext cx="148290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Project 1</a:t>
            </a:r>
          </a:p>
          <a:p>
            <a:r>
              <a:rPr lang="fr-FR" dirty="0"/>
              <a:t>( Feeder </a:t>
            </a:r>
            <a:r>
              <a:rPr lang="fr-FR" dirty="0" err="1"/>
              <a:t>only</a:t>
            </a:r>
            <a:r>
              <a:rPr lang="fr-FR" dirty="0"/>
              <a:t>)</a:t>
            </a:r>
          </a:p>
        </p:txBody>
      </p:sp>
      <p:sp>
        <p:nvSpPr>
          <p:cNvPr id="14" name="Arrow: Right 13">
            <a:extLst>
              <a:ext uri="{FF2B5EF4-FFF2-40B4-BE49-F238E27FC236}">
                <a16:creationId xmlns:a16="http://schemas.microsoft.com/office/drawing/2014/main" id="{FC8A46BB-3F47-DB32-7E6A-C2F3041C9DAB}"/>
              </a:ext>
            </a:extLst>
          </p:cNvPr>
          <p:cNvSpPr/>
          <p:nvPr/>
        </p:nvSpPr>
        <p:spPr>
          <a:xfrm>
            <a:off x="2766391" y="1800114"/>
            <a:ext cx="774214" cy="240131"/>
          </a:xfrm>
          <a:prstGeom prst="rightArrow">
            <a:avLst>
              <a:gd name="adj1" fmla="val 29852"/>
              <a:gd name="adj2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9E514E0-B979-B66C-94D4-1BB880725FF1}"/>
              </a:ext>
            </a:extLst>
          </p:cNvPr>
          <p:cNvSpPr/>
          <p:nvPr/>
        </p:nvSpPr>
        <p:spPr>
          <a:xfrm>
            <a:off x="2039538" y="2603685"/>
            <a:ext cx="2228296" cy="639192"/>
          </a:xfrm>
          <a:prstGeom prst="rect">
            <a:avLst/>
          </a:prstGeom>
          <a:noFill/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6" name="Cylinder 15">
            <a:extLst>
              <a:ext uri="{FF2B5EF4-FFF2-40B4-BE49-F238E27FC236}">
                <a16:creationId xmlns:a16="http://schemas.microsoft.com/office/drawing/2014/main" id="{D900270B-112C-D8E3-95EC-35CED7B457C2}"/>
              </a:ext>
            </a:extLst>
          </p:cNvPr>
          <p:cNvSpPr/>
          <p:nvPr/>
        </p:nvSpPr>
        <p:spPr>
          <a:xfrm>
            <a:off x="2268139" y="2736849"/>
            <a:ext cx="397275" cy="350669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7" name="Cylinder 16">
            <a:extLst>
              <a:ext uri="{FF2B5EF4-FFF2-40B4-BE49-F238E27FC236}">
                <a16:creationId xmlns:a16="http://schemas.microsoft.com/office/drawing/2014/main" id="{C8F3D51A-A42D-9914-7E0E-1EA43AAFC7B7}"/>
              </a:ext>
            </a:extLst>
          </p:cNvPr>
          <p:cNvSpPr/>
          <p:nvPr/>
        </p:nvSpPr>
        <p:spPr>
          <a:xfrm>
            <a:off x="2904372" y="2736849"/>
            <a:ext cx="397275" cy="350669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8" name="Cylinder 17">
            <a:extLst>
              <a:ext uri="{FF2B5EF4-FFF2-40B4-BE49-F238E27FC236}">
                <a16:creationId xmlns:a16="http://schemas.microsoft.com/office/drawing/2014/main" id="{3DE37B85-E1D9-9B32-71CF-0BCCD517CDB2}"/>
              </a:ext>
            </a:extLst>
          </p:cNvPr>
          <p:cNvSpPr/>
          <p:nvPr/>
        </p:nvSpPr>
        <p:spPr>
          <a:xfrm>
            <a:off x="3611263" y="2746180"/>
            <a:ext cx="397275" cy="350669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EB705D8-7121-96C8-A1BC-8AA94B78B757}"/>
              </a:ext>
            </a:extLst>
          </p:cNvPr>
          <p:cNvSpPr txBox="1"/>
          <p:nvPr/>
        </p:nvSpPr>
        <p:spPr>
          <a:xfrm>
            <a:off x="134430" y="2596546"/>
            <a:ext cx="164160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Project 2</a:t>
            </a:r>
          </a:p>
          <a:p>
            <a:r>
              <a:rPr lang="fr-FR" dirty="0"/>
              <a:t>( </a:t>
            </a:r>
            <a:r>
              <a:rPr lang="fr-FR" dirty="0" err="1"/>
              <a:t>Feed</a:t>
            </a:r>
            <a:r>
              <a:rPr lang="fr-FR" dirty="0"/>
              <a:t> + </a:t>
            </a:r>
            <a:r>
              <a:rPr lang="fr-FR" dirty="0" err="1"/>
              <a:t>Enrich</a:t>
            </a:r>
            <a:r>
              <a:rPr lang="fr-FR" dirty="0"/>
              <a:t>)</a:t>
            </a:r>
          </a:p>
        </p:txBody>
      </p:sp>
      <p:sp>
        <p:nvSpPr>
          <p:cNvPr id="20" name="Arrow: Right 19">
            <a:extLst>
              <a:ext uri="{FF2B5EF4-FFF2-40B4-BE49-F238E27FC236}">
                <a16:creationId xmlns:a16="http://schemas.microsoft.com/office/drawing/2014/main" id="{932A21B6-FE86-7523-C613-245D9154DCBA}"/>
              </a:ext>
            </a:extLst>
          </p:cNvPr>
          <p:cNvSpPr/>
          <p:nvPr/>
        </p:nvSpPr>
        <p:spPr>
          <a:xfrm>
            <a:off x="2766391" y="2818533"/>
            <a:ext cx="774214" cy="240131"/>
          </a:xfrm>
          <a:prstGeom prst="rightArrow">
            <a:avLst>
              <a:gd name="adj1" fmla="val 29852"/>
              <a:gd name="adj2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890D9B4-E836-5467-45DE-64B710C42457}"/>
              </a:ext>
            </a:extLst>
          </p:cNvPr>
          <p:cNvSpPr/>
          <p:nvPr/>
        </p:nvSpPr>
        <p:spPr>
          <a:xfrm>
            <a:off x="2039538" y="3622104"/>
            <a:ext cx="2228296" cy="639192"/>
          </a:xfrm>
          <a:prstGeom prst="rect">
            <a:avLst/>
          </a:prstGeom>
          <a:noFill/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2" name="Cylinder 21">
            <a:extLst>
              <a:ext uri="{FF2B5EF4-FFF2-40B4-BE49-F238E27FC236}">
                <a16:creationId xmlns:a16="http://schemas.microsoft.com/office/drawing/2014/main" id="{C54B6DFA-DB6E-60CD-38C4-89F10D5D17E7}"/>
              </a:ext>
            </a:extLst>
          </p:cNvPr>
          <p:cNvSpPr/>
          <p:nvPr/>
        </p:nvSpPr>
        <p:spPr>
          <a:xfrm>
            <a:off x="2268139" y="3755268"/>
            <a:ext cx="397275" cy="350669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3" name="Cylinder 22">
            <a:extLst>
              <a:ext uri="{FF2B5EF4-FFF2-40B4-BE49-F238E27FC236}">
                <a16:creationId xmlns:a16="http://schemas.microsoft.com/office/drawing/2014/main" id="{68A769E1-7636-4960-D5AD-2A39CBE15F20}"/>
              </a:ext>
            </a:extLst>
          </p:cNvPr>
          <p:cNvSpPr/>
          <p:nvPr/>
        </p:nvSpPr>
        <p:spPr>
          <a:xfrm>
            <a:off x="2904372" y="3755268"/>
            <a:ext cx="397275" cy="350669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4" name="Cylinder 23">
            <a:extLst>
              <a:ext uri="{FF2B5EF4-FFF2-40B4-BE49-F238E27FC236}">
                <a16:creationId xmlns:a16="http://schemas.microsoft.com/office/drawing/2014/main" id="{741F04F0-377E-3059-5B6B-8DD73D6EF894}"/>
              </a:ext>
            </a:extLst>
          </p:cNvPr>
          <p:cNvSpPr/>
          <p:nvPr/>
        </p:nvSpPr>
        <p:spPr>
          <a:xfrm>
            <a:off x="3611263" y="3764599"/>
            <a:ext cx="397275" cy="350669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2CE2117-D233-6289-B6A9-5FE8C1D4AAE3}"/>
              </a:ext>
            </a:extLst>
          </p:cNvPr>
          <p:cNvSpPr txBox="1"/>
          <p:nvPr/>
        </p:nvSpPr>
        <p:spPr>
          <a:xfrm>
            <a:off x="134430" y="3614965"/>
            <a:ext cx="10161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Project 3</a:t>
            </a:r>
          </a:p>
        </p:txBody>
      </p:sp>
      <p:sp>
        <p:nvSpPr>
          <p:cNvPr id="26" name="Arrow: Right 25">
            <a:extLst>
              <a:ext uri="{FF2B5EF4-FFF2-40B4-BE49-F238E27FC236}">
                <a16:creationId xmlns:a16="http://schemas.microsoft.com/office/drawing/2014/main" id="{7C83A7BF-2BFA-9C13-C602-7480E0423EF6}"/>
              </a:ext>
            </a:extLst>
          </p:cNvPr>
          <p:cNvSpPr/>
          <p:nvPr/>
        </p:nvSpPr>
        <p:spPr>
          <a:xfrm>
            <a:off x="2766391" y="3836952"/>
            <a:ext cx="774214" cy="240131"/>
          </a:xfrm>
          <a:prstGeom prst="rightArrow">
            <a:avLst>
              <a:gd name="adj1" fmla="val 29852"/>
              <a:gd name="adj2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08F4A9CF-E67C-A96A-8566-198FF94AFDD1}"/>
              </a:ext>
            </a:extLst>
          </p:cNvPr>
          <p:cNvSpPr/>
          <p:nvPr/>
        </p:nvSpPr>
        <p:spPr>
          <a:xfrm>
            <a:off x="2039538" y="4575889"/>
            <a:ext cx="2228296" cy="639192"/>
          </a:xfrm>
          <a:prstGeom prst="rect">
            <a:avLst/>
          </a:prstGeom>
          <a:noFill/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0" name="Cylinder 29">
            <a:extLst>
              <a:ext uri="{FF2B5EF4-FFF2-40B4-BE49-F238E27FC236}">
                <a16:creationId xmlns:a16="http://schemas.microsoft.com/office/drawing/2014/main" id="{D935F2A6-BDC4-E7F8-70AF-6A87237ED998}"/>
              </a:ext>
            </a:extLst>
          </p:cNvPr>
          <p:cNvSpPr/>
          <p:nvPr/>
        </p:nvSpPr>
        <p:spPr>
          <a:xfrm>
            <a:off x="3611263" y="4718384"/>
            <a:ext cx="397275" cy="350669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F223410-0D9D-4F14-0977-23532CE68447}"/>
              </a:ext>
            </a:extLst>
          </p:cNvPr>
          <p:cNvSpPr txBox="1"/>
          <p:nvPr/>
        </p:nvSpPr>
        <p:spPr>
          <a:xfrm>
            <a:off x="111496" y="4363977"/>
            <a:ext cx="125348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Project 4</a:t>
            </a:r>
          </a:p>
          <a:p>
            <a:r>
              <a:rPr lang="fr-FR" dirty="0"/>
              <a:t>( </a:t>
            </a:r>
            <a:r>
              <a:rPr lang="fr-FR" dirty="0" err="1"/>
              <a:t>Transform</a:t>
            </a:r>
            <a:br>
              <a:rPr lang="fr-FR" dirty="0"/>
            </a:br>
            <a:r>
              <a:rPr lang="fr-FR" dirty="0"/>
              <a:t>   </a:t>
            </a:r>
            <a:r>
              <a:rPr lang="fr-FR" dirty="0" err="1"/>
              <a:t>only</a:t>
            </a:r>
            <a:r>
              <a:rPr lang="fr-FR" dirty="0"/>
              <a:t>)</a:t>
            </a:r>
          </a:p>
        </p:txBody>
      </p:sp>
      <p:sp>
        <p:nvSpPr>
          <p:cNvPr id="32" name="Arrow: Right 31">
            <a:extLst>
              <a:ext uri="{FF2B5EF4-FFF2-40B4-BE49-F238E27FC236}">
                <a16:creationId xmlns:a16="http://schemas.microsoft.com/office/drawing/2014/main" id="{8673E203-A73A-9A08-6A3F-C13DE4A2BA8C}"/>
              </a:ext>
            </a:extLst>
          </p:cNvPr>
          <p:cNvSpPr/>
          <p:nvPr/>
        </p:nvSpPr>
        <p:spPr>
          <a:xfrm rot="5400000" flipV="1">
            <a:off x="3464722" y="4326262"/>
            <a:ext cx="532041" cy="238959"/>
          </a:xfrm>
          <a:prstGeom prst="rightArrow">
            <a:avLst>
              <a:gd name="adj1" fmla="val 29852"/>
              <a:gd name="adj2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3" name="Arrow: Right 32">
            <a:extLst>
              <a:ext uri="{FF2B5EF4-FFF2-40B4-BE49-F238E27FC236}">
                <a16:creationId xmlns:a16="http://schemas.microsoft.com/office/drawing/2014/main" id="{C1435F6B-A7BE-6C61-5FB5-AFA62C02509E}"/>
              </a:ext>
            </a:extLst>
          </p:cNvPr>
          <p:cNvSpPr/>
          <p:nvPr/>
        </p:nvSpPr>
        <p:spPr>
          <a:xfrm rot="5400000" flipV="1">
            <a:off x="3369844" y="3884962"/>
            <a:ext cx="1479040" cy="276265"/>
          </a:xfrm>
          <a:prstGeom prst="rightArrow">
            <a:avLst>
              <a:gd name="adj1" fmla="val 29852"/>
              <a:gd name="adj2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4" name="Arrow: Right 33">
            <a:extLst>
              <a:ext uri="{FF2B5EF4-FFF2-40B4-BE49-F238E27FC236}">
                <a16:creationId xmlns:a16="http://schemas.microsoft.com/office/drawing/2014/main" id="{D55BDF64-4534-0BEB-0F3F-416486E62F35}"/>
              </a:ext>
            </a:extLst>
          </p:cNvPr>
          <p:cNvSpPr/>
          <p:nvPr/>
        </p:nvSpPr>
        <p:spPr>
          <a:xfrm rot="5400000" flipV="1">
            <a:off x="3543879" y="2319983"/>
            <a:ext cx="532041" cy="238959"/>
          </a:xfrm>
          <a:prstGeom prst="rightArrow">
            <a:avLst>
              <a:gd name="adj1" fmla="val 29852"/>
              <a:gd name="adj2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EDF24C56-4438-698C-6DE7-42379F191BF8}"/>
              </a:ext>
            </a:extLst>
          </p:cNvPr>
          <p:cNvSpPr/>
          <p:nvPr/>
        </p:nvSpPr>
        <p:spPr>
          <a:xfrm>
            <a:off x="2039538" y="5529674"/>
            <a:ext cx="2228296" cy="639192"/>
          </a:xfrm>
          <a:prstGeom prst="rect">
            <a:avLst/>
          </a:prstGeom>
          <a:noFill/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862B98F0-6D40-18B6-88F5-C32A47C2CD67}"/>
              </a:ext>
            </a:extLst>
          </p:cNvPr>
          <p:cNvSpPr txBox="1"/>
          <p:nvPr/>
        </p:nvSpPr>
        <p:spPr>
          <a:xfrm>
            <a:off x="134430" y="5522535"/>
            <a:ext cx="183704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Project 5</a:t>
            </a:r>
          </a:p>
          <a:p>
            <a:r>
              <a:rPr lang="fr-FR" dirty="0"/>
              <a:t>( consume </a:t>
            </a:r>
          </a:p>
          <a:p>
            <a:r>
              <a:rPr lang="fr-FR" dirty="0" err="1"/>
              <a:t>Only</a:t>
            </a:r>
            <a:r>
              <a:rPr lang="fr-FR" dirty="0"/>
              <a:t>, for reports )</a:t>
            </a:r>
          </a:p>
        </p:txBody>
      </p:sp>
      <p:sp>
        <p:nvSpPr>
          <p:cNvPr id="38" name="Arrow: Right 37">
            <a:extLst>
              <a:ext uri="{FF2B5EF4-FFF2-40B4-BE49-F238E27FC236}">
                <a16:creationId xmlns:a16="http://schemas.microsoft.com/office/drawing/2014/main" id="{1A73C1AC-214A-EC47-3F11-E235B694E41E}"/>
              </a:ext>
            </a:extLst>
          </p:cNvPr>
          <p:cNvSpPr/>
          <p:nvPr/>
        </p:nvSpPr>
        <p:spPr>
          <a:xfrm flipV="1">
            <a:off x="4109364" y="5728023"/>
            <a:ext cx="532041" cy="238959"/>
          </a:xfrm>
          <a:prstGeom prst="rightArrow">
            <a:avLst>
              <a:gd name="adj1" fmla="val 29852"/>
              <a:gd name="adj2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9" name="Arrow: Right 38">
            <a:extLst>
              <a:ext uri="{FF2B5EF4-FFF2-40B4-BE49-F238E27FC236}">
                <a16:creationId xmlns:a16="http://schemas.microsoft.com/office/drawing/2014/main" id="{AF53D731-2D70-453A-DEC3-604A914C6E8A}"/>
              </a:ext>
            </a:extLst>
          </p:cNvPr>
          <p:cNvSpPr/>
          <p:nvPr/>
        </p:nvSpPr>
        <p:spPr>
          <a:xfrm rot="5400000" flipV="1">
            <a:off x="3836748" y="5289406"/>
            <a:ext cx="532041" cy="238959"/>
          </a:xfrm>
          <a:prstGeom prst="rightArrow">
            <a:avLst>
              <a:gd name="adj1" fmla="val 29852"/>
              <a:gd name="adj2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97707521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DD03FA-CD5B-240C-B4BB-CA1E739593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/>
              <a:t>Big </a:t>
            </a:r>
            <a:r>
              <a:rPr lang="fr-FR" dirty="0" err="1"/>
              <a:t>Processing</a:t>
            </a:r>
            <a:endParaRPr lang="fr-FR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3CD266B-7CFB-BD99-B988-85CD4A677BC4}"/>
              </a:ext>
            </a:extLst>
          </p:cNvPr>
          <p:cNvSpPr txBox="1"/>
          <p:nvPr/>
        </p:nvSpPr>
        <p:spPr>
          <a:xfrm>
            <a:off x="2818661" y="2541492"/>
            <a:ext cx="709829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/>
              <a:t>&gt;=  1000  </a:t>
            </a:r>
            <a:r>
              <a:rPr lang="fr-FR" sz="2400" dirty="0" err="1"/>
              <a:t>periodic</a:t>
            </a:r>
            <a:r>
              <a:rPr lang="fr-FR" sz="2400" dirty="0"/>
              <a:t> jobs     running  </a:t>
            </a:r>
            <a:r>
              <a:rPr lang="fr-FR" sz="2400" dirty="0" err="1"/>
              <a:t>daily</a:t>
            </a:r>
            <a:r>
              <a:rPr lang="fr-FR" sz="2400" dirty="0"/>
              <a:t> / or </a:t>
            </a:r>
            <a:r>
              <a:rPr lang="fr-FR" sz="2400" dirty="0" err="1"/>
              <a:t>every</a:t>
            </a:r>
            <a:r>
              <a:rPr lang="fr-FR" sz="2400" dirty="0"/>
              <a:t> </a:t>
            </a:r>
            <a:r>
              <a:rPr lang="fr-FR" sz="2400" dirty="0" err="1"/>
              <a:t>hours</a:t>
            </a:r>
            <a:endParaRPr lang="fr-FR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23751B8-27B3-6537-E44B-E5BA98D172F6}"/>
              </a:ext>
            </a:extLst>
          </p:cNvPr>
          <p:cNvSpPr txBox="1"/>
          <p:nvPr/>
        </p:nvSpPr>
        <p:spPr>
          <a:xfrm>
            <a:off x="2818661" y="3497321"/>
            <a:ext cx="44455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 err="1"/>
              <a:t>Some</a:t>
            </a:r>
            <a:r>
              <a:rPr lang="fr-FR" sz="2400" dirty="0"/>
              <a:t> </a:t>
            </a:r>
            <a:r>
              <a:rPr lang="fr-FR" sz="2400" dirty="0" err="1"/>
              <a:t>processing</a:t>
            </a:r>
            <a:r>
              <a:rPr lang="fr-FR" sz="2400" dirty="0"/>
              <a:t> </a:t>
            </a:r>
            <a:r>
              <a:rPr lang="fr-FR" sz="2400" dirty="0" err="1"/>
              <a:t>take</a:t>
            </a:r>
            <a:r>
              <a:rPr lang="fr-FR" sz="2400" dirty="0"/>
              <a:t> &gt;= 15 </a:t>
            </a:r>
            <a:r>
              <a:rPr lang="fr-FR" sz="2400" dirty="0" err="1"/>
              <a:t>Hours</a:t>
            </a:r>
            <a:endParaRPr lang="fr-FR" sz="24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7446D41-FADC-F37E-88C1-82C6B6E585EE}"/>
              </a:ext>
            </a:extLst>
          </p:cNvPr>
          <p:cNvSpPr txBox="1"/>
          <p:nvPr/>
        </p:nvSpPr>
        <p:spPr>
          <a:xfrm>
            <a:off x="2818661" y="4387476"/>
            <a:ext cx="849091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 err="1"/>
              <a:t>Some</a:t>
            </a:r>
            <a:r>
              <a:rPr lang="fr-FR" sz="2400" dirty="0"/>
              <a:t> </a:t>
            </a:r>
            <a:r>
              <a:rPr lang="fr-FR" sz="2400" dirty="0" err="1"/>
              <a:t>processing</a:t>
            </a:r>
            <a:r>
              <a:rPr lang="fr-FR" sz="2400" dirty="0"/>
              <a:t> are </a:t>
            </a:r>
            <a:r>
              <a:rPr lang="fr-FR" sz="2400" dirty="0" err="1"/>
              <a:t>distributed</a:t>
            </a:r>
            <a:r>
              <a:rPr lang="fr-FR" sz="2400" dirty="0"/>
              <a:t> on more </a:t>
            </a:r>
            <a:r>
              <a:rPr lang="fr-FR" sz="2400" dirty="0" err="1"/>
              <a:t>than</a:t>
            </a:r>
            <a:r>
              <a:rPr lang="fr-FR" sz="2400" dirty="0"/>
              <a:t> 200 </a:t>
            </a:r>
            <a:r>
              <a:rPr lang="fr-FR" sz="2400" dirty="0" err="1"/>
              <a:t>yarn</a:t>
            </a:r>
            <a:r>
              <a:rPr lang="fr-FR" sz="2400" dirty="0"/>
              <a:t> containers</a:t>
            </a:r>
          </a:p>
          <a:p>
            <a:endParaRPr lang="fr-FR" sz="2400" dirty="0"/>
          </a:p>
          <a:p>
            <a:r>
              <a:rPr lang="fr-FR" sz="2400" dirty="0" err="1"/>
              <a:t>Some</a:t>
            </a:r>
            <a:r>
              <a:rPr lang="fr-FR" sz="2400" dirty="0"/>
              <a:t> </a:t>
            </a:r>
            <a:r>
              <a:rPr lang="fr-FR" sz="2400" dirty="0" err="1"/>
              <a:t>take</a:t>
            </a:r>
            <a:r>
              <a:rPr lang="fr-FR" sz="2400" dirty="0"/>
              <a:t> more </a:t>
            </a:r>
            <a:r>
              <a:rPr lang="fr-FR" sz="2400" dirty="0" err="1"/>
              <a:t>than</a:t>
            </a:r>
            <a:r>
              <a:rPr lang="fr-FR" sz="2400" dirty="0"/>
              <a:t> 1000 Go of RAM</a:t>
            </a:r>
          </a:p>
        </p:txBody>
      </p:sp>
    </p:spTree>
    <p:extLst>
      <p:ext uri="{BB962C8B-B14F-4D97-AF65-F5344CB8AC3E}">
        <p14:creationId xmlns:p14="http://schemas.microsoft.com/office/powerpoint/2010/main" val="1979435297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B9C0D7-1253-461F-8F01-61062AAD78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/>
              <a:t>Few Interactive </a:t>
            </a:r>
            <a:r>
              <a:rPr lang="fr-FR" dirty="0" err="1"/>
              <a:t>Queries</a:t>
            </a:r>
            <a:r>
              <a:rPr lang="fr-FR" dirty="0"/>
              <a:t> </a:t>
            </a:r>
            <a:r>
              <a:rPr lang="fr-FR" dirty="0" err="1"/>
              <a:t>Processing</a:t>
            </a:r>
            <a:br>
              <a:rPr lang="fr-FR" dirty="0"/>
            </a:br>
            <a:r>
              <a:rPr lang="fr-FR" dirty="0" err="1"/>
              <a:t>screenshot</a:t>
            </a:r>
            <a:r>
              <a:rPr lang="fr-FR" dirty="0"/>
              <a:t> Zeppelin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7204A0D-F28A-9392-9520-19BDE546816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40878" y="1778208"/>
            <a:ext cx="7799769" cy="4254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668623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A7493B-5D50-3028-329D-6FBF7962E2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/>
              <a:t>Orchestration / </a:t>
            </a:r>
            <a:r>
              <a:rPr lang="fr-FR" dirty="0" err="1"/>
              <a:t>DataLineage</a:t>
            </a:r>
            <a:br>
              <a:rPr lang="fr-FR" dirty="0"/>
            </a:br>
            <a:r>
              <a:rPr lang="fr-FR" dirty="0"/>
              <a:t>Data and Workflows are </a:t>
            </a:r>
            <a:r>
              <a:rPr lang="fr-FR" dirty="0" err="1"/>
              <a:t>linked</a:t>
            </a:r>
            <a:endParaRPr lang="fr-FR" dirty="0"/>
          </a:p>
        </p:txBody>
      </p:sp>
      <p:sp>
        <p:nvSpPr>
          <p:cNvPr id="4" name="Cylinder 3">
            <a:extLst>
              <a:ext uri="{FF2B5EF4-FFF2-40B4-BE49-F238E27FC236}">
                <a16:creationId xmlns:a16="http://schemas.microsoft.com/office/drawing/2014/main" id="{AA2EBE98-6905-0B97-9C9F-DBC3D4E1C078}"/>
              </a:ext>
            </a:extLst>
          </p:cNvPr>
          <p:cNvSpPr/>
          <p:nvPr/>
        </p:nvSpPr>
        <p:spPr>
          <a:xfrm>
            <a:off x="3272330" y="2447701"/>
            <a:ext cx="632638" cy="723014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Cylinder 4">
            <a:extLst>
              <a:ext uri="{FF2B5EF4-FFF2-40B4-BE49-F238E27FC236}">
                <a16:creationId xmlns:a16="http://schemas.microsoft.com/office/drawing/2014/main" id="{EC536D6E-EC8B-F6A2-3D99-010DA90793D2}"/>
              </a:ext>
            </a:extLst>
          </p:cNvPr>
          <p:cNvSpPr/>
          <p:nvPr/>
        </p:nvSpPr>
        <p:spPr>
          <a:xfrm>
            <a:off x="6428428" y="3067493"/>
            <a:ext cx="632638" cy="723014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2290" name="Picture 2" descr="Gear Vector Art, Icons, and Graphics for Free Download">
            <a:extLst>
              <a:ext uri="{FF2B5EF4-FFF2-40B4-BE49-F238E27FC236}">
                <a16:creationId xmlns:a16="http://schemas.microsoft.com/office/drawing/2014/main" id="{34DFA420-A456-05A0-52B4-B5048A1BE6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98707" y="2991553"/>
            <a:ext cx="1013637" cy="10136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Arrow: Right 6">
            <a:extLst>
              <a:ext uri="{FF2B5EF4-FFF2-40B4-BE49-F238E27FC236}">
                <a16:creationId xmlns:a16="http://schemas.microsoft.com/office/drawing/2014/main" id="{F6D36089-3A96-076C-9604-C10E57B3E12E}"/>
              </a:ext>
            </a:extLst>
          </p:cNvPr>
          <p:cNvSpPr/>
          <p:nvPr/>
        </p:nvSpPr>
        <p:spPr>
          <a:xfrm rot="2534423">
            <a:off x="4049314" y="3025087"/>
            <a:ext cx="505047" cy="23679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1E31314E-8AAA-0B4B-418B-B5608203A186}"/>
              </a:ext>
            </a:extLst>
          </p:cNvPr>
          <p:cNvSpPr/>
          <p:nvPr/>
        </p:nvSpPr>
        <p:spPr>
          <a:xfrm rot="19263922">
            <a:off x="3996636" y="3886793"/>
            <a:ext cx="505047" cy="23679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Cylinder 8">
            <a:extLst>
              <a:ext uri="{FF2B5EF4-FFF2-40B4-BE49-F238E27FC236}">
                <a16:creationId xmlns:a16="http://schemas.microsoft.com/office/drawing/2014/main" id="{FC8FE993-8B30-7441-04C4-3884C2DB8CE6}"/>
              </a:ext>
            </a:extLst>
          </p:cNvPr>
          <p:cNvSpPr/>
          <p:nvPr/>
        </p:nvSpPr>
        <p:spPr>
          <a:xfrm>
            <a:off x="3272330" y="3899711"/>
            <a:ext cx="632638" cy="723014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0" name="Picture 2" descr="Gear Vector Art, Icons, and Graphics for Free Download">
            <a:extLst>
              <a:ext uri="{FF2B5EF4-FFF2-40B4-BE49-F238E27FC236}">
                <a16:creationId xmlns:a16="http://schemas.microsoft.com/office/drawing/2014/main" id="{0EF6B317-E6CF-EE3D-3B2A-9E954C4B33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56823" y="3899711"/>
            <a:ext cx="1013637" cy="10136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Arrow: Right 10">
            <a:extLst>
              <a:ext uri="{FF2B5EF4-FFF2-40B4-BE49-F238E27FC236}">
                <a16:creationId xmlns:a16="http://schemas.microsoft.com/office/drawing/2014/main" id="{06B4989A-627C-11FA-0989-21EEE95C89A2}"/>
              </a:ext>
            </a:extLst>
          </p:cNvPr>
          <p:cNvSpPr/>
          <p:nvPr/>
        </p:nvSpPr>
        <p:spPr>
          <a:xfrm rot="2534423">
            <a:off x="7412986" y="3826072"/>
            <a:ext cx="505047" cy="23679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" name="Cylinder 11">
            <a:extLst>
              <a:ext uri="{FF2B5EF4-FFF2-40B4-BE49-F238E27FC236}">
                <a16:creationId xmlns:a16="http://schemas.microsoft.com/office/drawing/2014/main" id="{74BDBE32-33E7-3C8F-F59C-4A4EDD472490}"/>
              </a:ext>
            </a:extLst>
          </p:cNvPr>
          <p:cNvSpPr/>
          <p:nvPr/>
        </p:nvSpPr>
        <p:spPr>
          <a:xfrm>
            <a:off x="9864199" y="4054215"/>
            <a:ext cx="632638" cy="723014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E2FF1EE7-D781-90D0-31A4-948F0DA6C8EC}"/>
              </a:ext>
            </a:extLst>
          </p:cNvPr>
          <p:cNvSpPr/>
          <p:nvPr/>
        </p:nvSpPr>
        <p:spPr>
          <a:xfrm rot="19263922">
            <a:off x="7408695" y="5139665"/>
            <a:ext cx="505047" cy="23679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" name="Arrow: Right 13">
            <a:extLst>
              <a:ext uri="{FF2B5EF4-FFF2-40B4-BE49-F238E27FC236}">
                <a16:creationId xmlns:a16="http://schemas.microsoft.com/office/drawing/2014/main" id="{D6B7DEB8-0D78-F4D1-DB16-BC9292252707}"/>
              </a:ext>
            </a:extLst>
          </p:cNvPr>
          <p:cNvSpPr/>
          <p:nvPr/>
        </p:nvSpPr>
        <p:spPr>
          <a:xfrm>
            <a:off x="5838003" y="3379974"/>
            <a:ext cx="505047" cy="23679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5" name="Arrow: Right 14">
            <a:extLst>
              <a:ext uri="{FF2B5EF4-FFF2-40B4-BE49-F238E27FC236}">
                <a16:creationId xmlns:a16="http://schemas.microsoft.com/office/drawing/2014/main" id="{20B11A03-1135-0B87-7E23-D1F7572A2C6C}"/>
              </a:ext>
            </a:extLst>
          </p:cNvPr>
          <p:cNvSpPr/>
          <p:nvPr/>
        </p:nvSpPr>
        <p:spPr>
          <a:xfrm>
            <a:off x="9195231" y="4297325"/>
            <a:ext cx="505047" cy="23679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6" name="Picture 2" descr="Gear Vector Art, Icons, and Graphics for Free Download">
            <a:extLst>
              <a:ext uri="{FF2B5EF4-FFF2-40B4-BE49-F238E27FC236}">
                <a16:creationId xmlns:a16="http://schemas.microsoft.com/office/drawing/2014/main" id="{07559839-67EE-8018-01D9-9E2C963D17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09156" y="2288381"/>
            <a:ext cx="1013637" cy="10136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Arrow: Right 16">
            <a:extLst>
              <a:ext uri="{FF2B5EF4-FFF2-40B4-BE49-F238E27FC236}">
                <a16:creationId xmlns:a16="http://schemas.microsoft.com/office/drawing/2014/main" id="{43E1A7AA-0C5F-B752-5696-E1A9A8214A0F}"/>
              </a:ext>
            </a:extLst>
          </p:cNvPr>
          <p:cNvSpPr/>
          <p:nvPr/>
        </p:nvSpPr>
        <p:spPr>
          <a:xfrm>
            <a:off x="2448452" y="2676802"/>
            <a:ext cx="505047" cy="23679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8" name="Picture 2" descr="Gear Vector Art, Icons, and Graphics for Free Download">
            <a:extLst>
              <a:ext uri="{FF2B5EF4-FFF2-40B4-BE49-F238E27FC236}">
                <a16:creationId xmlns:a16="http://schemas.microsoft.com/office/drawing/2014/main" id="{8E19A5BC-A637-251A-1D47-F99C10D347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0195" y="3790507"/>
            <a:ext cx="1013637" cy="10136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Arrow: Right 18">
            <a:extLst>
              <a:ext uri="{FF2B5EF4-FFF2-40B4-BE49-F238E27FC236}">
                <a16:creationId xmlns:a16="http://schemas.microsoft.com/office/drawing/2014/main" id="{9271E8F4-81E8-B9E6-293C-AC7379F75091}"/>
              </a:ext>
            </a:extLst>
          </p:cNvPr>
          <p:cNvSpPr/>
          <p:nvPr/>
        </p:nvSpPr>
        <p:spPr>
          <a:xfrm>
            <a:off x="2469491" y="4178928"/>
            <a:ext cx="505047" cy="23679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20" name="Picture 2" descr="Gear Vector Art, Icons, and Graphics for Free Download">
            <a:extLst>
              <a:ext uri="{FF2B5EF4-FFF2-40B4-BE49-F238E27FC236}">
                <a16:creationId xmlns:a16="http://schemas.microsoft.com/office/drawing/2014/main" id="{51A6D8CC-297D-369A-57F1-7878CC8ECD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90931" y="3908903"/>
            <a:ext cx="1013637" cy="10136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Arrow: Right 20">
            <a:extLst>
              <a:ext uri="{FF2B5EF4-FFF2-40B4-BE49-F238E27FC236}">
                <a16:creationId xmlns:a16="http://schemas.microsoft.com/office/drawing/2014/main" id="{857AD1AE-36C6-D807-591A-0C350934AE53}"/>
              </a:ext>
            </a:extLst>
          </p:cNvPr>
          <p:cNvSpPr/>
          <p:nvPr/>
        </p:nvSpPr>
        <p:spPr>
          <a:xfrm>
            <a:off x="10585884" y="4301974"/>
            <a:ext cx="505047" cy="23679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2" name="Cylinder 21">
            <a:extLst>
              <a:ext uri="{FF2B5EF4-FFF2-40B4-BE49-F238E27FC236}">
                <a16:creationId xmlns:a16="http://schemas.microsoft.com/office/drawing/2014/main" id="{7A0FE8FE-8421-5E77-E196-2661FA32AA3D}"/>
              </a:ext>
            </a:extLst>
          </p:cNvPr>
          <p:cNvSpPr/>
          <p:nvPr/>
        </p:nvSpPr>
        <p:spPr>
          <a:xfrm>
            <a:off x="6485135" y="5254444"/>
            <a:ext cx="632638" cy="723014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83282391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B0B018-89B7-97B5-4D4C-E0CDC4AC87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/>
              <a:t>Read-Write Permissions </a:t>
            </a:r>
            <a:r>
              <a:rPr lang="fr-FR" dirty="0" err="1"/>
              <a:t>from</a:t>
            </a:r>
            <a:r>
              <a:rPr lang="fr-FR" dirty="0"/>
              <a:t> </a:t>
            </a:r>
            <a:r>
              <a:rPr lang="fr-FR" dirty="0" err="1"/>
              <a:t>DataOffice</a:t>
            </a:r>
            <a:endParaRPr lang="fr-FR" dirty="0"/>
          </a:p>
        </p:txBody>
      </p:sp>
      <p:sp>
        <p:nvSpPr>
          <p:cNvPr id="4" name="Cylinder 3">
            <a:extLst>
              <a:ext uri="{FF2B5EF4-FFF2-40B4-BE49-F238E27FC236}">
                <a16:creationId xmlns:a16="http://schemas.microsoft.com/office/drawing/2014/main" id="{CF502C67-157E-DE91-C90B-A12E95F364B4}"/>
              </a:ext>
            </a:extLst>
          </p:cNvPr>
          <p:cNvSpPr/>
          <p:nvPr/>
        </p:nvSpPr>
        <p:spPr>
          <a:xfrm>
            <a:off x="3223921" y="2378066"/>
            <a:ext cx="357012" cy="511458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5" name="Picture 2" descr="Gear Vector Art, Icons, and Graphics for Free Download">
            <a:extLst>
              <a:ext uri="{FF2B5EF4-FFF2-40B4-BE49-F238E27FC236}">
                <a16:creationId xmlns:a16="http://schemas.microsoft.com/office/drawing/2014/main" id="{A0D0C5C7-AE99-C57E-AC05-B1976AA985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4715" y="2301364"/>
            <a:ext cx="818028" cy="8180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Arrow: Right 5">
            <a:extLst>
              <a:ext uri="{FF2B5EF4-FFF2-40B4-BE49-F238E27FC236}">
                <a16:creationId xmlns:a16="http://schemas.microsoft.com/office/drawing/2014/main" id="{9CC7CD52-2501-CABA-1ECE-40C8B2F8EA0C}"/>
              </a:ext>
            </a:extLst>
          </p:cNvPr>
          <p:cNvSpPr/>
          <p:nvPr/>
        </p:nvSpPr>
        <p:spPr>
          <a:xfrm>
            <a:off x="2552495" y="2506393"/>
            <a:ext cx="334817" cy="21017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13E596E-F1F9-1279-7CB1-11EAFA891404}"/>
              </a:ext>
            </a:extLst>
          </p:cNvPr>
          <p:cNvSpPr txBox="1"/>
          <p:nvPr/>
        </p:nvSpPr>
        <p:spPr>
          <a:xfrm>
            <a:off x="4327864" y="2242229"/>
            <a:ext cx="5983305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/>
              <a:t>Dataset</a:t>
            </a:r>
            <a:r>
              <a:rPr lang="fr-FR" dirty="0"/>
              <a:t> « </a:t>
            </a:r>
            <a:r>
              <a:rPr lang="fr-FR" dirty="0" err="1"/>
              <a:t>Feeding</a:t>
            </a:r>
            <a:r>
              <a:rPr lang="fr-FR" dirty="0"/>
              <a:t> » </a:t>
            </a:r>
            <a:r>
              <a:rPr lang="fr-FR" dirty="0" err="1"/>
              <a:t>declaration</a:t>
            </a:r>
            <a:r>
              <a:rPr lang="fr-FR" dirty="0"/>
              <a:t>: </a:t>
            </a:r>
          </a:p>
          <a:p>
            <a:r>
              <a:rPr lang="fr-FR" dirty="0"/>
              <a:t>   </a:t>
            </a:r>
          </a:p>
          <a:p>
            <a:r>
              <a:rPr lang="fr-FR" dirty="0"/>
              <a:t>   = exclusive Write Permission :   Project -&gt; </a:t>
            </a:r>
            <a:r>
              <a:rPr lang="fr-FR" dirty="0" err="1"/>
              <a:t>canWrite</a:t>
            </a:r>
            <a:r>
              <a:rPr lang="fr-FR" dirty="0"/>
              <a:t> -&gt; DB</a:t>
            </a:r>
          </a:p>
          <a:p>
            <a:endParaRPr lang="fr-FR" dirty="0"/>
          </a:p>
          <a:p>
            <a:r>
              <a:rPr lang="fr-FR" dirty="0"/>
              <a:t>For validation by </a:t>
            </a:r>
            <a:r>
              <a:rPr lang="fr-FR" dirty="0" err="1"/>
              <a:t>DataOffice</a:t>
            </a:r>
            <a:r>
              <a:rPr lang="fr-FR" dirty="0"/>
              <a:t>, </a:t>
            </a:r>
            <a:r>
              <a:rPr lang="fr-FR" dirty="0" err="1"/>
              <a:t>DataSet</a:t>
            </a:r>
            <a:r>
              <a:rPr lang="fr-FR" dirty="0"/>
              <a:t> must </a:t>
            </a:r>
            <a:r>
              <a:rPr lang="fr-FR" dirty="0" err="1"/>
              <a:t>be</a:t>
            </a:r>
            <a:r>
              <a:rPr lang="fr-FR" dirty="0"/>
              <a:t> </a:t>
            </a:r>
            <a:r>
              <a:rPr lang="fr-FR" dirty="0" err="1"/>
              <a:t>described</a:t>
            </a:r>
            <a:r>
              <a:rPr lang="fr-FR" dirty="0"/>
              <a:t> :</a:t>
            </a:r>
          </a:p>
          <a:p>
            <a:r>
              <a:rPr lang="fr-FR" dirty="0"/>
              <a:t>       </a:t>
            </a:r>
            <a:r>
              <a:rPr lang="fr-FR" dirty="0" err="1"/>
              <a:t>confidentiality</a:t>
            </a:r>
            <a:r>
              <a:rPr lang="fr-FR" dirty="0"/>
              <a:t>, source, business </a:t>
            </a:r>
            <a:r>
              <a:rPr lang="fr-FR" dirty="0" err="1"/>
              <a:t>owner</a:t>
            </a:r>
            <a:r>
              <a:rPr lang="fr-FR" dirty="0"/>
              <a:t>, </a:t>
            </a:r>
            <a:r>
              <a:rPr lang="fr-FR" dirty="0" err="1"/>
              <a:t>quality</a:t>
            </a:r>
            <a:r>
              <a:rPr lang="fr-FR" dirty="0"/>
              <a:t>, RDPG </a:t>
            </a:r>
            <a:r>
              <a:rPr lang="fr-FR" dirty="0" err="1"/>
              <a:t>legal</a:t>
            </a:r>
            <a:endParaRPr lang="fr-FR" dirty="0"/>
          </a:p>
        </p:txBody>
      </p:sp>
      <p:sp>
        <p:nvSpPr>
          <p:cNvPr id="8" name="Cylinder 7">
            <a:extLst>
              <a:ext uri="{FF2B5EF4-FFF2-40B4-BE49-F238E27FC236}">
                <a16:creationId xmlns:a16="http://schemas.microsoft.com/office/drawing/2014/main" id="{CA6AB4EA-3225-C163-B70D-A47EAA75E6FC}"/>
              </a:ext>
            </a:extLst>
          </p:cNvPr>
          <p:cNvSpPr/>
          <p:nvPr/>
        </p:nvSpPr>
        <p:spPr>
          <a:xfrm>
            <a:off x="1886032" y="5171513"/>
            <a:ext cx="357012" cy="511458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ED1D92D8-BCDA-53D3-B84E-C22A66F281B2}"/>
              </a:ext>
            </a:extLst>
          </p:cNvPr>
          <p:cNvSpPr/>
          <p:nvPr/>
        </p:nvSpPr>
        <p:spPr>
          <a:xfrm>
            <a:off x="2552495" y="5299837"/>
            <a:ext cx="357012" cy="21017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0" name="Picture 2" descr="Gear Vector Art, Icons, and Graphics for Free Download">
            <a:extLst>
              <a:ext uri="{FF2B5EF4-FFF2-40B4-BE49-F238E27FC236}">
                <a16:creationId xmlns:a16="http://schemas.microsoft.com/office/drawing/2014/main" id="{CB9E9357-7108-C8E3-1094-4E78AADE39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84377" y="5094809"/>
            <a:ext cx="818028" cy="8180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214D8068-05F5-0B5B-A5B8-605AABB0E200}"/>
              </a:ext>
            </a:extLst>
          </p:cNvPr>
          <p:cNvSpPr txBox="1"/>
          <p:nvPr/>
        </p:nvSpPr>
        <p:spPr>
          <a:xfrm>
            <a:off x="4363374" y="4661569"/>
            <a:ext cx="5600572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Consumer </a:t>
            </a:r>
            <a:r>
              <a:rPr lang="fr-FR" dirty="0" err="1"/>
              <a:t>declaration</a:t>
            </a:r>
            <a:r>
              <a:rPr lang="fr-FR" dirty="0"/>
              <a:t>: </a:t>
            </a:r>
          </a:p>
          <a:p>
            <a:endParaRPr lang="fr-FR" dirty="0"/>
          </a:p>
          <a:p>
            <a:r>
              <a:rPr lang="fr-FR" dirty="0"/>
              <a:t>   = </a:t>
            </a:r>
            <a:r>
              <a:rPr lang="fr-FR" dirty="0" err="1"/>
              <a:t>authorization</a:t>
            </a:r>
            <a:r>
              <a:rPr lang="fr-FR" dirty="0"/>
              <a:t> to </a:t>
            </a:r>
            <a:r>
              <a:rPr lang="fr-FR" dirty="0" err="1"/>
              <a:t>read</a:t>
            </a:r>
            <a:r>
              <a:rPr lang="fr-FR" dirty="0"/>
              <a:t> :  Project -&gt; </a:t>
            </a:r>
            <a:r>
              <a:rPr lang="fr-FR" dirty="0" err="1"/>
              <a:t>canRead</a:t>
            </a:r>
            <a:r>
              <a:rPr lang="fr-FR" dirty="0"/>
              <a:t> -&gt; DB </a:t>
            </a:r>
          </a:p>
          <a:p>
            <a:r>
              <a:rPr lang="fr-FR" dirty="0"/>
              <a:t> … for a </a:t>
            </a:r>
            <a:r>
              <a:rPr lang="fr-FR" dirty="0" err="1"/>
              <a:t>specific</a:t>
            </a:r>
            <a:r>
              <a:rPr lang="fr-FR" dirty="0"/>
              <a:t> Usage</a:t>
            </a:r>
          </a:p>
          <a:p>
            <a:endParaRPr lang="fr-FR" dirty="0"/>
          </a:p>
          <a:p>
            <a:r>
              <a:rPr lang="fr-FR" dirty="0"/>
              <a:t>For validation by </a:t>
            </a:r>
            <a:r>
              <a:rPr lang="fr-FR" dirty="0" err="1"/>
              <a:t>DataOffice</a:t>
            </a:r>
            <a:r>
              <a:rPr lang="fr-FR" dirty="0"/>
              <a:t>, use-case must </a:t>
            </a:r>
            <a:r>
              <a:rPr lang="fr-FR" dirty="0" err="1"/>
              <a:t>be</a:t>
            </a:r>
            <a:r>
              <a:rPr lang="fr-FR" dirty="0"/>
              <a:t> </a:t>
            </a:r>
            <a:r>
              <a:rPr lang="fr-FR" dirty="0" err="1"/>
              <a:t>described</a:t>
            </a:r>
            <a:r>
              <a:rPr lang="fr-FR" dirty="0"/>
              <a:t>, </a:t>
            </a:r>
          </a:p>
          <a:p>
            <a:r>
              <a:rPr lang="fr-FR" dirty="0"/>
              <a:t>  usage must </a:t>
            </a:r>
            <a:r>
              <a:rPr lang="fr-FR" dirty="0" err="1"/>
              <a:t>be</a:t>
            </a:r>
            <a:r>
              <a:rPr lang="fr-FR" dirty="0"/>
              <a:t> « </a:t>
            </a:r>
            <a:r>
              <a:rPr lang="fr-FR" dirty="0" err="1"/>
              <a:t>legitimate</a:t>
            </a:r>
            <a:r>
              <a:rPr lang="fr-FR" dirty="0"/>
              <a:t> » ,  RDI </a:t>
            </a:r>
            <a:r>
              <a:rPr lang="fr-FR" dirty="0" err="1"/>
              <a:t>legal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542794631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A7493B-5D50-3028-329D-6FBF7962E2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 err="1"/>
              <a:t>DataLineage</a:t>
            </a:r>
            <a:br>
              <a:rPr lang="fr-FR" dirty="0"/>
            </a:br>
            <a:r>
              <a:rPr lang="fr-FR" dirty="0"/>
              <a:t>Data </a:t>
            </a:r>
            <a:r>
              <a:rPr lang="fr-FR" dirty="0" err="1"/>
              <a:t>depends</a:t>
            </a:r>
            <a:r>
              <a:rPr lang="fr-FR" dirty="0"/>
              <a:t> on </a:t>
            </a:r>
            <a:r>
              <a:rPr lang="fr-FR" dirty="0" err="1"/>
              <a:t>other</a:t>
            </a:r>
            <a:r>
              <a:rPr lang="fr-FR" dirty="0"/>
              <a:t> Sources Data</a:t>
            </a:r>
          </a:p>
        </p:txBody>
      </p:sp>
      <p:sp>
        <p:nvSpPr>
          <p:cNvPr id="4" name="Cylinder 3">
            <a:extLst>
              <a:ext uri="{FF2B5EF4-FFF2-40B4-BE49-F238E27FC236}">
                <a16:creationId xmlns:a16="http://schemas.microsoft.com/office/drawing/2014/main" id="{AA2EBE98-6905-0B97-9C9F-DBC3D4E1C078}"/>
              </a:ext>
            </a:extLst>
          </p:cNvPr>
          <p:cNvSpPr/>
          <p:nvPr/>
        </p:nvSpPr>
        <p:spPr>
          <a:xfrm>
            <a:off x="3272330" y="2447701"/>
            <a:ext cx="632638" cy="723014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Cylinder 4">
            <a:extLst>
              <a:ext uri="{FF2B5EF4-FFF2-40B4-BE49-F238E27FC236}">
                <a16:creationId xmlns:a16="http://schemas.microsoft.com/office/drawing/2014/main" id="{EC536D6E-EC8B-F6A2-3D99-010DA90793D2}"/>
              </a:ext>
            </a:extLst>
          </p:cNvPr>
          <p:cNvSpPr/>
          <p:nvPr/>
        </p:nvSpPr>
        <p:spPr>
          <a:xfrm>
            <a:off x="6428428" y="3067493"/>
            <a:ext cx="632638" cy="723014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F6D36089-3A96-076C-9604-C10E57B3E12E}"/>
              </a:ext>
            </a:extLst>
          </p:cNvPr>
          <p:cNvSpPr/>
          <p:nvPr/>
        </p:nvSpPr>
        <p:spPr>
          <a:xfrm rot="2534423">
            <a:off x="4049314" y="3025087"/>
            <a:ext cx="505047" cy="23679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1E31314E-8AAA-0B4B-418B-B5608203A186}"/>
              </a:ext>
            </a:extLst>
          </p:cNvPr>
          <p:cNvSpPr/>
          <p:nvPr/>
        </p:nvSpPr>
        <p:spPr>
          <a:xfrm rot="19263922">
            <a:off x="3996636" y="3886793"/>
            <a:ext cx="505047" cy="23679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Cylinder 8">
            <a:extLst>
              <a:ext uri="{FF2B5EF4-FFF2-40B4-BE49-F238E27FC236}">
                <a16:creationId xmlns:a16="http://schemas.microsoft.com/office/drawing/2014/main" id="{FC8FE993-8B30-7441-04C4-3884C2DB8CE6}"/>
              </a:ext>
            </a:extLst>
          </p:cNvPr>
          <p:cNvSpPr/>
          <p:nvPr/>
        </p:nvSpPr>
        <p:spPr>
          <a:xfrm>
            <a:off x="3272330" y="3899711"/>
            <a:ext cx="632638" cy="723014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06B4989A-627C-11FA-0989-21EEE95C89A2}"/>
              </a:ext>
            </a:extLst>
          </p:cNvPr>
          <p:cNvSpPr/>
          <p:nvPr/>
        </p:nvSpPr>
        <p:spPr>
          <a:xfrm rot="2534423">
            <a:off x="7412986" y="3826072"/>
            <a:ext cx="505047" cy="23679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" name="Cylinder 11">
            <a:extLst>
              <a:ext uri="{FF2B5EF4-FFF2-40B4-BE49-F238E27FC236}">
                <a16:creationId xmlns:a16="http://schemas.microsoft.com/office/drawing/2014/main" id="{74BDBE32-33E7-3C8F-F59C-4A4EDD472490}"/>
              </a:ext>
            </a:extLst>
          </p:cNvPr>
          <p:cNvSpPr/>
          <p:nvPr/>
        </p:nvSpPr>
        <p:spPr>
          <a:xfrm>
            <a:off x="9864199" y="4054215"/>
            <a:ext cx="632638" cy="723014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E2FF1EE7-D781-90D0-31A4-948F0DA6C8EC}"/>
              </a:ext>
            </a:extLst>
          </p:cNvPr>
          <p:cNvSpPr/>
          <p:nvPr/>
        </p:nvSpPr>
        <p:spPr>
          <a:xfrm rot="19263922">
            <a:off x="7408695" y="5139665"/>
            <a:ext cx="505047" cy="23679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" name="Arrow: Right 13">
            <a:extLst>
              <a:ext uri="{FF2B5EF4-FFF2-40B4-BE49-F238E27FC236}">
                <a16:creationId xmlns:a16="http://schemas.microsoft.com/office/drawing/2014/main" id="{D6B7DEB8-0D78-F4D1-DB16-BC9292252707}"/>
              </a:ext>
            </a:extLst>
          </p:cNvPr>
          <p:cNvSpPr/>
          <p:nvPr/>
        </p:nvSpPr>
        <p:spPr>
          <a:xfrm>
            <a:off x="5838003" y="3379974"/>
            <a:ext cx="505047" cy="23679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5" name="Arrow: Right 14">
            <a:extLst>
              <a:ext uri="{FF2B5EF4-FFF2-40B4-BE49-F238E27FC236}">
                <a16:creationId xmlns:a16="http://schemas.microsoft.com/office/drawing/2014/main" id="{20B11A03-1135-0B87-7E23-D1F7572A2C6C}"/>
              </a:ext>
            </a:extLst>
          </p:cNvPr>
          <p:cNvSpPr/>
          <p:nvPr/>
        </p:nvSpPr>
        <p:spPr>
          <a:xfrm>
            <a:off x="9195231" y="4297325"/>
            <a:ext cx="505047" cy="23679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7" name="Arrow: Right 16">
            <a:extLst>
              <a:ext uri="{FF2B5EF4-FFF2-40B4-BE49-F238E27FC236}">
                <a16:creationId xmlns:a16="http://schemas.microsoft.com/office/drawing/2014/main" id="{43E1A7AA-0C5F-B752-5696-E1A9A8214A0F}"/>
              </a:ext>
            </a:extLst>
          </p:cNvPr>
          <p:cNvSpPr/>
          <p:nvPr/>
        </p:nvSpPr>
        <p:spPr>
          <a:xfrm>
            <a:off x="2448452" y="2676802"/>
            <a:ext cx="505047" cy="23679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9" name="Arrow: Right 18">
            <a:extLst>
              <a:ext uri="{FF2B5EF4-FFF2-40B4-BE49-F238E27FC236}">
                <a16:creationId xmlns:a16="http://schemas.microsoft.com/office/drawing/2014/main" id="{9271E8F4-81E8-B9E6-293C-AC7379F75091}"/>
              </a:ext>
            </a:extLst>
          </p:cNvPr>
          <p:cNvSpPr/>
          <p:nvPr/>
        </p:nvSpPr>
        <p:spPr>
          <a:xfrm>
            <a:off x="2469491" y="4178928"/>
            <a:ext cx="505047" cy="23679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1" name="Arrow: Right 20">
            <a:extLst>
              <a:ext uri="{FF2B5EF4-FFF2-40B4-BE49-F238E27FC236}">
                <a16:creationId xmlns:a16="http://schemas.microsoft.com/office/drawing/2014/main" id="{857AD1AE-36C6-D807-591A-0C350934AE53}"/>
              </a:ext>
            </a:extLst>
          </p:cNvPr>
          <p:cNvSpPr/>
          <p:nvPr/>
        </p:nvSpPr>
        <p:spPr>
          <a:xfrm>
            <a:off x="10585884" y="4301974"/>
            <a:ext cx="505047" cy="23679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2" name="Cylinder 21">
            <a:extLst>
              <a:ext uri="{FF2B5EF4-FFF2-40B4-BE49-F238E27FC236}">
                <a16:creationId xmlns:a16="http://schemas.microsoft.com/office/drawing/2014/main" id="{7A0FE8FE-8421-5E77-E196-2661FA32AA3D}"/>
              </a:ext>
            </a:extLst>
          </p:cNvPr>
          <p:cNvSpPr/>
          <p:nvPr/>
        </p:nvSpPr>
        <p:spPr>
          <a:xfrm>
            <a:off x="6485135" y="5254444"/>
            <a:ext cx="632638" cy="723014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76519869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784ECB-DF7A-BF79-5864-DC794B46DE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950" y="365125"/>
            <a:ext cx="12152049" cy="1325563"/>
          </a:xfrm>
        </p:spPr>
        <p:txBody>
          <a:bodyPr>
            <a:normAutofit/>
          </a:bodyPr>
          <a:lstStyle/>
          <a:p>
            <a:pPr algn="ctr"/>
            <a:r>
              <a:rPr lang="fr-FR" dirty="0" err="1"/>
              <a:t>Screenshots</a:t>
            </a:r>
            <a:r>
              <a:rPr lang="fr-FR" dirty="0"/>
              <a:t> (</a:t>
            </a:r>
            <a:r>
              <a:rPr lang="fr-FR" dirty="0" err="1"/>
              <a:t>Fuzzy</a:t>
            </a:r>
            <a:r>
              <a:rPr lang="fr-FR" dirty="0"/>
              <a:t>.. On </a:t>
            </a:r>
            <a:r>
              <a:rPr lang="fr-FR" dirty="0" err="1"/>
              <a:t>purpose</a:t>
            </a:r>
            <a:r>
              <a:rPr lang="fr-FR" dirty="0"/>
              <a:t>)</a:t>
            </a:r>
            <a:br>
              <a:rPr lang="fr-FR" dirty="0"/>
            </a:br>
            <a:r>
              <a:rPr lang="fr-FR" dirty="0"/>
              <a:t>Read/Write </a:t>
            </a:r>
            <a:r>
              <a:rPr lang="fr-FR" dirty="0" err="1"/>
              <a:t>Dependencies</a:t>
            </a:r>
            <a:r>
              <a:rPr lang="fr-FR" dirty="0"/>
              <a:t> </a:t>
            </a:r>
            <a:r>
              <a:rPr lang="fr-FR" dirty="0" err="1"/>
              <a:t>Hive</a:t>
            </a:r>
            <a:r>
              <a:rPr lang="fr-FR" dirty="0"/>
              <a:t> </a:t>
            </a:r>
            <a:r>
              <a:rPr lang="fr-FR" dirty="0" err="1"/>
              <a:t>Database</a:t>
            </a:r>
            <a:r>
              <a:rPr lang="fr-FR" dirty="0"/>
              <a:t> / Job…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4FFC2D8-D91D-B6C1-50AE-3E0A75D797D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05338" y="2696264"/>
            <a:ext cx="9175917" cy="265897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ABFBD12-2673-B5A4-E589-7D0F5F4F06D2}"/>
              </a:ext>
            </a:extLst>
          </p:cNvPr>
          <p:cNvSpPr txBox="1"/>
          <p:nvPr/>
        </p:nvSpPr>
        <p:spPr>
          <a:xfrm>
            <a:off x="729252" y="2155993"/>
            <a:ext cx="442095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dirty="0" err="1"/>
              <a:t>Zooming</a:t>
            </a:r>
            <a:r>
              <a:rPr lang="fr-FR" sz="2000" dirty="0"/>
              <a:t> on 4 out of  250 </a:t>
            </a:r>
            <a:r>
              <a:rPr lang="fr-FR" sz="2000" dirty="0" err="1"/>
              <a:t>Hive</a:t>
            </a:r>
            <a:r>
              <a:rPr lang="fr-FR" sz="2000" dirty="0"/>
              <a:t> </a:t>
            </a:r>
            <a:r>
              <a:rPr lang="fr-FR" sz="2000" dirty="0" err="1"/>
              <a:t>databases</a:t>
            </a:r>
            <a:endParaRPr lang="fr-FR" sz="2000" dirty="0"/>
          </a:p>
        </p:txBody>
      </p:sp>
    </p:spTree>
    <p:extLst>
      <p:ext uri="{BB962C8B-B14F-4D97-AF65-F5344CB8AC3E}">
        <p14:creationId xmlns:p14="http://schemas.microsoft.com/office/powerpoint/2010/main" val="1248978868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A7493B-5D50-3028-329D-6FBF7962E2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/>
              <a:t>Orchestration</a:t>
            </a:r>
            <a:br>
              <a:rPr lang="fr-FR" dirty="0"/>
            </a:br>
            <a:r>
              <a:rPr lang="fr-FR" dirty="0"/>
              <a:t>Start process2 </a:t>
            </a:r>
            <a:r>
              <a:rPr lang="fr-FR" dirty="0" err="1"/>
              <a:t>after</a:t>
            </a:r>
            <a:r>
              <a:rPr lang="fr-FR" dirty="0"/>
              <a:t> process1 </a:t>
            </a:r>
            <a:r>
              <a:rPr lang="fr-FR" dirty="0" err="1"/>
              <a:t>finished</a:t>
            </a:r>
            <a:endParaRPr lang="fr-FR" dirty="0"/>
          </a:p>
        </p:txBody>
      </p:sp>
      <p:pic>
        <p:nvPicPr>
          <p:cNvPr id="12290" name="Picture 2" descr="Gear Vector Art, Icons, and Graphics for Free Download">
            <a:extLst>
              <a:ext uri="{FF2B5EF4-FFF2-40B4-BE49-F238E27FC236}">
                <a16:creationId xmlns:a16="http://schemas.microsoft.com/office/drawing/2014/main" id="{34DFA420-A456-05A0-52B4-B5048A1BE6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98707" y="2991553"/>
            <a:ext cx="1013637" cy="10136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Arrow: Right 6">
            <a:extLst>
              <a:ext uri="{FF2B5EF4-FFF2-40B4-BE49-F238E27FC236}">
                <a16:creationId xmlns:a16="http://schemas.microsoft.com/office/drawing/2014/main" id="{F6D36089-3A96-076C-9604-C10E57B3E12E}"/>
              </a:ext>
            </a:extLst>
          </p:cNvPr>
          <p:cNvSpPr/>
          <p:nvPr/>
        </p:nvSpPr>
        <p:spPr>
          <a:xfrm rot="2534423">
            <a:off x="4049314" y="3025087"/>
            <a:ext cx="505047" cy="23679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1E31314E-8AAA-0B4B-418B-B5608203A186}"/>
              </a:ext>
            </a:extLst>
          </p:cNvPr>
          <p:cNvSpPr/>
          <p:nvPr/>
        </p:nvSpPr>
        <p:spPr>
          <a:xfrm rot="19263922">
            <a:off x="3996636" y="3886793"/>
            <a:ext cx="505047" cy="23679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0" name="Picture 2" descr="Gear Vector Art, Icons, and Graphics for Free Download">
            <a:extLst>
              <a:ext uri="{FF2B5EF4-FFF2-40B4-BE49-F238E27FC236}">
                <a16:creationId xmlns:a16="http://schemas.microsoft.com/office/drawing/2014/main" id="{0EF6B317-E6CF-EE3D-3B2A-9E954C4B33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56823" y="3899711"/>
            <a:ext cx="1013637" cy="10136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Arrow: Right 10">
            <a:extLst>
              <a:ext uri="{FF2B5EF4-FFF2-40B4-BE49-F238E27FC236}">
                <a16:creationId xmlns:a16="http://schemas.microsoft.com/office/drawing/2014/main" id="{06B4989A-627C-11FA-0989-21EEE95C89A2}"/>
              </a:ext>
            </a:extLst>
          </p:cNvPr>
          <p:cNvSpPr/>
          <p:nvPr/>
        </p:nvSpPr>
        <p:spPr>
          <a:xfrm rot="2534423">
            <a:off x="7412986" y="3826072"/>
            <a:ext cx="505047" cy="23679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E2FF1EE7-D781-90D0-31A4-948F0DA6C8EC}"/>
              </a:ext>
            </a:extLst>
          </p:cNvPr>
          <p:cNvSpPr/>
          <p:nvPr/>
        </p:nvSpPr>
        <p:spPr>
          <a:xfrm rot="19263922">
            <a:off x="7408695" y="5139665"/>
            <a:ext cx="505047" cy="23679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" name="Arrow: Right 13">
            <a:extLst>
              <a:ext uri="{FF2B5EF4-FFF2-40B4-BE49-F238E27FC236}">
                <a16:creationId xmlns:a16="http://schemas.microsoft.com/office/drawing/2014/main" id="{D6B7DEB8-0D78-F4D1-DB16-BC9292252707}"/>
              </a:ext>
            </a:extLst>
          </p:cNvPr>
          <p:cNvSpPr/>
          <p:nvPr/>
        </p:nvSpPr>
        <p:spPr>
          <a:xfrm>
            <a:off x="5838003" y="3379974"/>
            <a:ext cx="505047" cy="23679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5" name="Arrow: Right 14">
            <a:extLst>
              <a:ext uri="{FF2B5EF4-FFF2-40B4-BE49-F238E27FC236}">
                <a16:creationId xmlns:a16="http://schemas.microsoft.com/office/drawing/2014/main" id="{20B11A03-1135-0B87-7E23-D1F7572A2C6C}"/>
              </a:ext>
            </a:extLst>
          </p:cNvPr>
          <p:cNvSpPr/>
          <p:nvPr/>
        </p:nvSpPr>
        <p:spPr>
          <a:xfrm>
            <a:off x="9195231" y="4297325"/>
            <a:ext cx="505047" cy="23679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6" name="Picture 2" descr="Gear Vector Art, Icons, and Graphics for Free Download">
            <a:extLst>
              <a:ext uri="{FF2B5EF4-FFF2-40B4-BE49-F238E27FC236}">
                <a16:creationId xmlns:a16="http://schemas.microsoft.com/office/drawing/2014/main" id="{07559839-67EE-8018-01D9-9E2C963D17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09156" y="2288381"/>
            <a:ext cx="1013637" cy="10136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Arrow: Right 16">
            <a:extLst>
              <a:ext uri="{FF2B5EF4-FFF2-40B4-BE49-F238E27FC236}">
                <a16:creationId xmlns:a16="http://schemas.microsoft.com/office/drawing/2014/main" id="{43E1A7AA-0C5F-B752-5696-E1A9A8214A0F}"/>
              </a:ext>
            </a:extLst>
          </p:cNvPr>
          <p:cNvSpPr/>
          <p:nvPr/>
        </p:nvSpPr>
        <p:spPr>
          <a:xfrm>
            <a:off x="2448452" y="2676802"/>
            <a:ext cx="505047" cy="23679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8" name="Picture 2" descr="Gear Vector Art, Icons, and Graphics for Free Download">
            <a:extLst>
              <a:ext uri="{FF2B5EF4-FFF2-40B4-BE49-F238E27FC236}">
                <a16:creationId xmlns:a16="http://schemas.microsoft.com/office/drawing/2014/main" id="{8E19A5BC-A637-251A-1D47-F99C10D347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0195" y="3790507"/>
            <a:ext cx="1013637" cy="10136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Arrow: Right 18">
            <a:extLst>
              <a:ext uri="{FF2B5EF4-FFF2-40B4-BE49-F238E27FC236}">
                <a16:creationId xmlns:a16="http://schemas.microsoft.com/office/drawing/2014/main" id="{9271E8F4-81E8-B9E6-293C-AC7379F75091}"/>
              </a:ext>
            </a:extLst>
          </p:cNvPr>
          <p:cNvSpPr/>
          <p:nvPr/>
        </p:nvSpPr>
        <p:spPr>
          <a:xfrm>
            <a:off x="2469491" y="4178928"/>
            <a:ext cx="505047" cy="23679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20" name="Picture 2" descr="Gear Vector Art, Icons, and Graphics for Free Download">
            <a:extLst>
              <a:ext uri="{FF2B5EF4-FFF2-40B4-BE49-F238E27FC236}">
                <a16:creationId xmlns:a16="http://schemas.microsoft.com/office/drawing/2014/main" id="{51A6D8CC-297D-369A-57F1-7878CC8ECD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90931" y="3908903"/>
            <a:ext cx="1013637" cy="10136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Arrow: Right 20">
            <a:extLst>
              <a:ext uri="{FF2B5EF4-FFF2-40B4-BE49-F238E27FC236}">
                <a16:creationId xmlns:a16="http://schemas.microsoft.com/office/drawing/2014/main" id="{857AD1AE-36C6-D807-591A-0C350934AE53}"/>
              </a:ext>
            </a:extLst>
          </p:cNvPr>
          <p:cNvSpPr/>
          <p:nvPr/>
        </p:nvSpPr>
        <p:spPr>
          <a:xfrm>
            <a:off x="10585884" y="4301974"/>
            <a:ext cx="505047" cy="23679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87C814C-CD03-384D-32B4-FD33D2F9DA01}"/>
              </a:ext>
            </a:extLst>
          </p:cNvPr>
          <p:cNvSpPr txBox="1"/>
          <p:nvPr/>
        </p:nvSpPr>
        <p:spPr>
          <a:xfrm>
            <a:off x="4525740" y="4300534"/>
            <a:ext cx="168834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Start condition=</a:t>
            </a:r>
            <a:br>
              <a:rPr lang="fr-FR" dirty="0"/>
            </a:br>
            <a:r>
              <a:rPr lang="fr-FR" dirty="0" err="1"/>
              <a:t>Wait</a:t>
            </a:r>
            <a:r>
              <a:rPr lang="fr-FR" dirty="0"/>
              <a:t> for data…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B3277C7-C50C-2043-FBB0-C32FFBE1ECDB}"/>
              </a:ext>
            </a:extLst>
          </p:cNvPr>
          <p:cNvSpPr txBox="1"/>
          <p:nvPr/>
        </p:nvSpPr>
        <p:spPr>
          <a:xfrm>
            <a:off x="8011931" y="5346069"/>
            <a:ext cx="208198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Start condition=</a:t>
            </a:r>
            <a:br>
              <a:rPr lang="fr-FR" dirty="0"/>
            </a:br>
            <a:r>
              <a:rPr lang="fr-FR" dirty="0"/>
              <a:t>CRON 10 * * * * * * 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46DE460-B498-61DF-9F3B-3A94E2DB1229}"/>
              </a:ext>
            </a:extLst>
          </p:cNvPr>
          <p:cNvSpPr txBox="1"/>
          <p:nvPr/>
        </p:nvSpPr>
        <p:spPr>
          <a:xfrm>
            <a:off x="556736" y="1786226"/>
            <a:ext cx="196496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Start condition=</a:t>
            </a:r>
            <a:br>
              <a:rPr lang="fr-FR" dirty="0"/>
            </a:br>
            <a:r>
              <a:rPr lang="fr-FR" dirty="0"/>
              <a:t>CRON 1 * * * * * * </a:t>
            </a:r>
          </a:p>
        </p:txBody>
      </p:sp>
    </p:spTree>
    <p:extLst>
      <p:ext uri="{BB962C8B-B14F-4D97-AF65-F5344CB8AC3E}">
        <p14:creationId xmlns:p14="http://schemas.microsoft.com/office/powerpoint/2010/main" val="3945099953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6" descr="Apache Spark — Wikipédia">
            <a:extLst>
              <a:ext uri="{FF2B5EF4-FFF2-40B4-BE49-F238E27FC236}">
                <a16:creationId xmlns:a16="http://schemas.microsoft.com/office/drawing/2014/main" id="{CFD3CADD-3F4E-1902-B01F-ED3F15F49C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60129" y="4830618"/>
            <a:ext cx="762680" cy="3960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73E4285-7503-2678-E9B5-86B34A34A2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fr-FR" dirty="0"/>
              <a:t>Prod Screenshot (</a:t>
            </a:r>
            <a:r>
              <a:rPr lang="fr-FR" dirty="0" err="1"/>
              <a:t>Fuzzy</a:t>
            </a:r>
            <a:r>
              <a:rPr lang="fr-FR" dirty="0"/>
              <a:t>.. on </a:t>
            </a:r>
            <a:r>
              <a:rPr lang="fr-FR" dirty="0" err="1"/>
              <a:t>purpose</a:t>
            </a:r>
            <a:r>
              <a:rPr lang="fr-FR" dirty="0"/>
              <a:t>)</a:t>
            </a:r>
            <a:br>
              <a:rPr lang="fr-FR" dirty="0"/>
            </a:br>
            <a:r>
              <a:rPr lang="fr-FR" dirty="0"/>
              <a:t>Running </a:t>
            </a:r>
            <a:r>
              <a:rPr lang="fr-FR" dirty="0" err="1"/>
              <a:t>Yarn</a:t>
            </a:r>
            <a:r>
              <a:rPr lang="fr-FR" dirty="0"/>
              <a:t> Applications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6B19690-3234-2D04-1C20-C376852A406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6501" y="1842117"/>
            <a:ext cx="6526209" cy="36874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9C5A70B-1020-C20D-030C-770B6E6D7E00}"/>
              </a:ext>
            </a:extLst>
          </p:cNvPr>
          <p:cNvSpPr txBox="1"/>
          <p:nvPr/>
        </p:nvSpPr>
        <p:spPr>
          <a:xfrm>
            <a:off x="6146692" y="5708553"/>
            <a:ext cx="5956631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dirty="0"/>
              <a:t>MAPREDUCE ?</a:t>
            </a:r>
          </a:p>
          <a:p>
            <a:r>
              <a:rPr lang="fr-FR" sz="2000" dirty="0"/>
              <a:t>    … </a:t>
            </a:r>
            <a:r>
              <a:rPr lang="fr-FR" sz="2000" dirty="0" err="1"/>
              <a:t>only</a:t>
            </a:r>
            <a:r>
              <a:rPr lang="fr-FR" sz="2000" dirty="0"/>
              <a:t> </a:t>
            </a:r>
            <a:r>
              <a:rPr lang="fr-FR" sz="2000" dirty="0" err="1"/>
              <a:t>internally</a:t>
            </a:r>
            <a:r>
              <a:rPr lang="fr-FR" sz="2000" dirty="0"/>
              <a:t> to launch </a:t>
            </a:r>
            <a:r>
              <a:rPr lang="fr-FR" sz="2000" dirty="0" err="1"/>
              <a:t>shell</a:t>
            </a:r>
            <a:r>
              <a:rPr lang="fr-FR" sz="2000" dirty="0"/>
              <a:t> </a:t>
            </a:r>
            <a:r>
              <a:rPr lang="fr-FR" sz="2000" dirty="0" err="1"/>
              <a:t>commands</a:t>
            </a:r>
            <a:r>
              <a:rPr lang="fr-FR" sz="2000" dirty="0"/>
              <a:t>.. To </a:t>
            </a:r>
            <a:r>
              <a:rPr lang="fr-FR" sz="2000" dirty="0" err="1"/>
              <a:t>spark</a:t>
            </a:r>
            <a:endParaRPr lang="fr-FR" sz="2000" dirty="0"/>
          </a:p>
          <a:p>
            <a:r>
              <a:rPr lang="fr-FR" sz="2000" dirty="0"/>
              <a:t>ALL </a:t>
            </a:r>
            <a:r>
              <a:rPr lang="fr-FR" sz="2000" dirty="0" err="1"/>
              <a:t>others</a:t>
            </a:r>
            <a:r>
              <a:rPr lang="fr-FR" sz="2000" dirty="0"/>
              <a:t> = SPARK</a:t>
            </a:r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284D2299-09A2-6F7D-B511-625265FDC4C8}"/>
              </a:ext>
            </a:extLst>
          </p:cNvPr>
          <p:cNvSpPr/>
          <p:nvPr/>
        </p:nvSpPr>
        <p:spPr>
          <a:xfrm rot="16045659">
            <a:off x="7032458" y="5403086"/>
            <a:ext cx="345319" cy="26633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8" name="Picture 16" descr="Apache Spark — Wikipédia">
            <a:extLst>
              <a:ext uri="{FF2B5EF4-FFF2-40B4-BE49-F238E27FC236}">
                <a16:creationId xmlns:a16="http://schemas.microsoft.com/office/drawing/2014/main" id="{B0250D14-1C6D-893C-4DFE-8A7BA9BDCE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60129" y="3256312"/>
            <a:ext cx="762680" cy="3960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16" descr="Apache Spark — Wikipédia">
            <a:extLst>
              <a:ext uri="{FF2B5EF4-FFF2-40B4-BE49-F238E27FC236}">
                <a16:creationId xmlns:a16="http://schemas.microsoft.com/office/drawing/2014/main" id="{56A847B0-B031-1E0E-0CF2-19CE1EAA79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44759" y="3951945"/>
            <a:ext cx="762680" cy="3960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16" descr="Apache Spark — Wikipédia">
            <a:extLst>
              <a:ext uri="{FF2B5EF4-FFF2-40B4-BE49-F238E27FC236}">
                <a16:creationId xmlns:a16="http://schemas.microsoft.com/office/drawing/2014/main" id="{647B0B2C-D012-E2D0-0A17-114D484E3A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60129" y="4370737"/>
            <a:ext cx="762680" cy="3960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GitHub - odb/official-bash-logo: Everything you need to start using the  official GNU Bash logo">
            <a:extLst>
              <a:ext uri="{FF2B5EF4-FFF2-40B4-BE49-F238E27FC236}">
                <a16:creationId xmlns:a16="http://schemas.microsoft.com/office/drawing/2014/main" id="{692D8FD4-ABB7-32BC-7071-05EC38BBEA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22809" y="5111941"/>
            <a:ext cx="752660" cy="3175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2" descr="Le paradigme MapReduce | Le Data Scientist">
            <a:extLst>
              <a:ext uri="{FF2B5EF4-FFF2-40B4-BE49-F238E27FC236}">
                <a16:creationId xmlns:a16="http://schemas.microsoft.com/office/drawing/2014/main" id="{288509F7-2E99-34D9-F407-57044DAF66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31666" y="5287092"/>
            <a:ext cx="936722" cy="3203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Arrow: Right 11">
            <a:extLst>
              <a:ext uri="{FF2B5EF4-FFF2-40B4-BE49-F238E27FC236}">
                <a16:creationId xmlns:a16="http://schemas.microsoft.com/office/drawing/2014/main" id="{BCB0A5AC-59DA-6525-154E-7EAB5BD2983F}"/>
              </a:ext>
            </a:extLst>
          </p:cNvPr>
          <p:cNvSpPr/>
          <p:nvPr/>
        </p:nvSpPr>
        <p:spPr>
          <a:xfrm rot="12022221">
            <a:off x="10951973" y="5376488"/>
            <a:ext cx="288962" cy="26633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" name="Arrow: Right 13">
            <a:extLst>
              <a:ext uri="{FF2B5EF4-FFF2-40B4-BE49-F238E27FC236}">
                <a16:creationId xmlns:a16="http://schemas.microsoft.com/office/drawing/2014/main" id="{36BE1237-90A4-3D1D-1757-2C4B6CBA3BA7}"/>
              </a:ext>
            </a:extLst>
          </p:cNvPr>
          <p:cNvSpPr/>
          <p:nvPr/>
        </p:nvSpPr>
        <p:spPr>
          <a:xfrm rot="12022221">
            <a:off x="10094157" y="5177676"/>
            <a:ext cx="288962" cy="26633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5" name="Picture 2" descr="GitHub - odb/official-bash-logo: Everything you need to start using the  official GNU Bash logo">
            <a:extLst>
              <a:ext uri="{FF2B5EF4-FFF2-40B4-BE49-F238E27FC236}">
                <a16:creationId xmlns:a16="http://schemas.microsoft.com/office/drawing/2014/main" id="{2D975AA4-B935-B030-C4E9-0A06619E48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82987" y="3575701"/>
            <a:ext cx="752660" cy="3175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2" descr="Le paradigme MapReduce | Le Data Scientist">
            <a:extLst>
              <a:ext uri="{FF2B5EF4-FFF2-40B4-BE49-F238E27FC236}">
                <a16:creationId xmlns:a16="http://schemas.microsoft.com/office/drawing/2014/main" id="{9C209E08-3E58-F513-552F-57322674C3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91844" y="3750852"/>
            <a:ext cx="936722" cy="3203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Arrow: Right 16">
            <a:extLst>
              <a:ext uri="{FF2B5EF4-FFF2-40B4-BE49-F238E27FC236}">
                <a16:creationId xmlns:a16="http://schemas.microsoft.com/office/drawing/2014/main" id="{CC66528E-E5C4-BF92-1C37-AC3A80E68CE9}"/>
              </a:ext>
            </a:extLst>
          </p:cNvPr>
          <p:cNvSpPr/>
          <p:nvPr/>
        </p:nvSpPr>
        <p:spPr>
          <a:xfrm rot="12022221">
            <a:off x="11012151" y="3840248"/>
            <a:ext cx="288962" cy="26633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8" name="Arrow: Right 17">
            <a:extLst>
              <a:ext uri="{FF2B5EF4-FFF2-40B4-BE49-F238E27FC236}">
                <a16:creationId xmlns:a16="http://schemas.microsoft.com/office/drawing/2014/main" id="{F8D49EE2-322B-8754-54AC-76CB1FDA2BE0}"/>
              </a:ext>
            </a:extLst>
          </p:cNvPr>
          <p:cNvSpPr/>
          <p:nvPr/>
        </p:nvSpPr>
        <p:spPr>
          <a:xfrm rot="12022221">
            <a:off x="10154335" y="3641436"/>
            <a:ext cx="288962" cy="26633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77680101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0C43FA-6523-4D52-E31D-31B703043D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/>
              <a:t>Prod Screenshot : </a:t>
            </a:r>
            <a:r>
              <a:rPr lang="fr-FR" dirty="0" err="1"/>
              <a:t>Yarn</a:t>
            </a:r>
            <a:r>
              <a:rPr lang="fr-FR" dirty="0"/>
              <a:t> Queues </a:t>
            </a:r>
            <a:br>
              <a:rPr lang="fr-FR" dirty="0"/>
            </a:br>
            <a:r>
              <a:rPr lang="fr-FR" dirty="0"/>
              <a:t>(</a:t>
            </a:r>
            <a:r>
              <a:rPr lang="fr-FR" dirty="0" err="1"/>
              <a:t>Scheduler</a:t>
            </a:r>
            <a:r>
              <a:rPr lang="fr-FR" dirty="0"/>
              <a:t>, </a:t>
            </a:r>
            <a:r>
              <a:rPr lang="fr-FR" dirty="0" err="1"/>
              <a:t>CPU+Mem</a:t>
            </a:r>
            <a:r>
              <a:rPr lang="fr-FR" dirty="0"/>
              <a:t> usages)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A935C7A-3FF2-679F-560C-62B521C0EE2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3314" y="1988598"/>
            <a:ext cx="6785371" cy="379127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C3EBE4C-0A1D-7748-628A-37885A683E8D}"/>
              </a:ext>
            </a:extLst>
          </p:cNvPr>
          <p:cNvSpPr txBox="1"/>
          <p:nvPr/>
        </p:nvSpPr>
        <p:spPr>
          <a:xfrm>
            <a:off x="9560139" y="3716124"/>
            <a:ext cx="266383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800" dirty="0"/>
              <a:t>You </a:t>
            </a:r>
            <a:r>
              <a:rPr lang="fr-FR" sz="1800" dirty="0" err="1"/>
              <a:t>see</a:t>
            </a:r>
            <a:r>
              <a:rPr lang="fr-FR" sz="1800" dirty="0"/>
              <a:t> </a:t>
            </a:r>
            <a:r>
              <a:rPr lang="fr-FR" sz="1800" dirty="0" err="1"/>
              <a:t>scrollbar</a:t>
            </a:r>
            <a:r>
              <a:rPr lang="fr-FR" sz="1800" dirty="0"/>
              <a:t>?... </a:t>
            </a:r>
            <a:endParaRPr lang="fr-FR" dirty="0"/>
          </a:p>
          <a:p>
            <a:r>
              <a:rPr lang="fr-FR" sz="1800" dirty="0" err="1"/>
              <a:t>Hundreds</a:t>
            </a:r>
            <a:r>
              <a:rPr lang="fr-FR" sz="1800" dirty="0"/>
              <a:t> or </a:t>
            </a:r>
            <a:r>
              <a:rPr lang="fr-FR" sz="1800" dirty="0" err="1"/>
              <a:t>Yarn</a:t>
            </a:r>
            <a:r>
              <a:rPr lang="fr-FR" sz="1800" dirty="0"/>
              <a:t> Queues</a:t>
            </a:r>
          </a:p>
          <a:p>
            <a:r>
              <a:rPr lang="fr-FR" dirty="0"/>
              <a:t>  + </a:t>
            </a:r>
            <a:r>
              <a:rPr lang="fr-FR" dirty="0" err="1"/>
              <a:t>dozen</a:t>
            </a:r>
            <a:r>
              <a:rPr lang="fr-FR" dirty="0"/>
              <a:t> of </a:t>
            </a:r>
            <a:r>
              <a:rPr lang="fr-FR" dirty="0" err="1"/>
              <a:t>sub</a:t>
            </a:r>
            <a:r>
              <a:rPr lang="fr-FR" dirty="0"/>
              <a:t>-queues</a:t>
            </a:r>
            <a:endParaRPr lang="fr-FR" sz="1800" dirty="0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2D916383-EE6A-5C0F-CEA3-3CC5C5089006}"/>
              </a:ext>
            </a:extLst>
          </p:cNvPr>
          <p:cNvSpPr/>
          <p:nvPr/>
        </p:nvSpPr>
        <p:spPr>
          <a:xfrm rot="13828831">
            <a:off x="9463551" y="3295835"/>
            <a:ext cx="507521" cy="26633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61153341"/>
      </p:ext>
    </p:ext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4F3E4A-2420-0EA4-0597-41A19EAE27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/>
              <a:t>Screenshot</a:t>
            </a:r>
            <a:br>
              <a:rPr lang="fr-FR" dirty="0"/>
            </a:br>
            <a:r>
              <a:rPr lang="fr-FR" dirty="0" err="1"/>
              <a:t>Oozie</a:t>
            </a:r>
            <a:r>
              <a:rPr lang="fr-FR" dirty="0"/>
              <a:t> (</a:t>
            </a:r>
            <a:r>
              <a:rPr lang="fr-FR" dirty="0" err="1"/>
              <a:t>Coordinators</a:t>
            </a:r>
            <a:r>
              <a:rPr lang="fr-FR" dirty="0"/>
              <a:t> / Workflows)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5A26FF5-6DF8-28FF-9DEF-E28E30E8370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17700" y="1859872"/>
            <a:ext cx="6356599" cy="328029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2017F1D-0908-5716-F1A6-8740D16DD946}"/>
              </a:ext>
            </a:extLst>
          </p:cNvPr>
          <p:cNvSpPr txBox="1"/>
          <p:nvPr/>
        </p:nvSpPr>
        <p:spPr>
          <a:xfrm>
            <a:off x="3586343" y="5502755"/>
            <a:ext cx="266383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800" dirty="0"/>
              <a:t>You </a:t>
            </a:r>
            <a:r>
              <a:rPr lang="fr-FR" sz="1800" dirty="0" err="1"/>
              <a:t>see</a:t>
            </a:r>
            <a:r>
              <a:rPr lang="fr-FR" sz="1800" dirty="0"/>
              <a:t> pagination?... </a:t>
            </a:r>
            <a:endParaRPr lang="fr-FR" dirty="0"/>
          </a:p>
          <a:p>
            <a:r>
              <a:rPr lang="fr-FR" sz="1800" dirty="0" err="1"/>
              <a:t>Thousands</a:t>
            </a:r>
            <a:r>
              <a:rPr lang="fr-FR" sz="1800" dirty="0"/>
              <a:t> of CRON jobs</a:t>
            </a:r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EE664669-2F8A-8711-1515-5AC29BF50719}"/>
              </a:ext>
            </a:extLst>
          </p:cNvPr>
          <p:cNvSpPr/>
          <p:nvPr/>
        </p:nvSpPr>
        <p:spPr>
          <a:xfrm rot="13828831">
            <a:off x="3772966" y="5089098"/>
            <a:ext cx="507521" cy="26633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1654B11-FABE-8C39-5BAB-F627CFC82DB8}"/>
              </a:ext>
            </a:extLst>
          </p:cNvPr>
          <p:cNvSpPr txBox="1"/>
          <p:nvPr/>
        </p:nvSpPr>
        <p:spPr>
          <a:xfrm>
            <a:off x="6752712" y="5593011"/>
            <a:ext cx="480601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000" dirty="0" err="1"/>
              <a:t>Oozie</a:t>
            </a:r>
            <a:r>
              <a:rPr lang="fr-FR" sz="2000" dirty="0"/>
              <a:t> display </a:t>
            </a:r>
            <a:r>
              <a:rPr lang="fr-FR" sz="2000" dirty="0" err="1"/>
              <a:t>only</a:t>
            </a:r>
            <a:r>
              <a:rPr lang="fr-FR" sz="2000" dirty="0"/>
              <a:t> last 50 000 workflows</a:t>
            </a:r>
          </a:p>
          <a:p>
            <a:r>
              <a:rPr lang="fr-FR" sz="2000" dirty="0"/>
              <a:t>… </a:t>
            </a:r>
            <a:r>
              <a:rPr lang="fr-FR" sz="2000" dirty="0" err="1"/>
              <a:t>so</a:t>
            </a:r>
            <a:r>
              <a:rPr lang="fr-FR" sz="2000" dirty="0"/>
              <a:t> </a:t>
            </a:r>
            <a:r>
              <a:rPr lang="fr-FR" sz="2000" dirty="0" err="1"/>
              <a:t>only</a:t>
            </a:r>
            <a:r>
              <a:rPr lang="fr-FR" sz="2000" dirty="0"/>
              <a:t> 2 </a:t>
            </a:r>
            <a:r>
              <a:rPr lang="fr-FR" sz="2000" dirty="0" err="1"/>
              <a:t>days</a:t>
            </a:r>
            <a:r>
              <a:rPr lang="fr-FR" sz="2000" dirty="0"/>
              <a:t> of </a:t>
            </a:r>
            <a:r>
              <a:rPr lang="fr-FR" sz="2000" dirty="0" err="1"/>
              <a:t>history</a:t>
            </a:r>
            <a:endParaRPr lang="fr-FR" sz="2000" dirty="0"/>
          </a:p>
        </p:txBody>
      </p:sp>
    </p:spTree>
    <p:extLst>
      <p:ext uri="{BB962C8B-B14F-4D97-AF65-F5344CB8AC3E}">
        <p14:creationId xmlns:p14="http://schemas.microsoft.com/office/powerpoint/2010/main" val="3193011331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D34141-917B-6EBF-E8DE-B3D18894C7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/>
              <a:t>Orchestration « By CRON: 10 * *  * * * »</a:t>
            </a:r>
            <a:br>
              <a:rPr lang="fr-FR" dirty="0"/>
            </a:br>
            <a:r>
              <a:rPr lang="fr-FR" dirty="0"/>
              <a:t>Example of Possible </a:t>
            </a:r>
            <a:r>
              <a:rPr lang="fr-FR" dirty="0" err="1"/>
              <a:t>Failures</a:t>
            </a:r>
            <a:endParaRPr lang="fr-FR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05A6E4C-20B1-B4CB-35D1-263B7DCC2C19}"/>
              </a:ext>
            </a:extLst>
          </p:cNvPr>
          <p:cNvSpPr txBox="1"/>
          <p:nvPr/>
        </p:nvSpPr>
        <p:spPr>
          <a:xfrm>
            <a:off x="2783958" y="1855743"/>
            <a:ext cx="85698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batch1 </a:t>
            </a:r>
            <a:r>
              <a:rPr lang="fr-FR" dirty="0" err="1"/>
              <a:t>started</a:t>
            </a:r>
            <a:r>
              <a:rPr lang="fr-FR" dirty="0"/>
              <a:t> at 1 *** … but </a:t>
            </a:r>
            <a:r>
              <a:rPr lang="fr-FR" dirty="0" err="1"/>
              <a:t>takes</a:t>
            </a:r>
            <a:r>
              <a:rPr lang="fr-FR" dirty="0"/>
              <a:t> </a:t>
            </a:r>
            <a:r>
              <a:rPr lang="fr-FR" dirty="0" err="1"/>
              <a:t>today</a:t>
            </a:r>
            <a:r>
              <a:rPr lang="fr-FR" dirty="0"/>
              <a:t> (</a:t>
            </a:r>
            <a:r>
              <a:rPr lang="fr-FR" dirty="0" err="1"/>
              <a:t>anormally</a:t>
            </a:r>
            <a:r>
              <a:rPr lang="fr-FR" dirty="0"/>
              <a:t>) 15h </a:t>
            </a:r>
            <a:r>
              <a:rPr lang="fr-FR" dirty="0" err="1"/>
              <a:t>instead</a:t>
            </a:r>
            <a:r>
              <a:rPr lang="fr-FR" dirty="0"/>
              <a:t> of 10h</a:t>
            </a:r>
          </a:p>
          <a:p>
            <a:endParaRPr lang="fr-FR" dirty="0"/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A1FDEC54-BB68-45F7-426C-E6D4EBD57B6A}"/>
              </a:ext>
            </a:extLst>
          </p:cNvPr>
          <p:cNvSpPr/>
          <p:nvPr/>
        </p:nvSpPr>
        <p:spPr>
          <a:xfrm>
            <a:off x="1603744" y="3261537"/>
            <a:ext cx="3747977" cy="33492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4CB8E6B5-0A6E-1497-7C79-98FD7B7A3AC7}"/>
              </a:ext>
            </a:extLst>
          </p:cNvPr>
          <p:cNvSpPr/>
          <p:nvPr/>
        </p:nvSpPr>
        <p:spPr>
          <a:xfrm>
            <a:off x="1603744" y="2579026"/>
            <a:ext cx="2243471" cy="33492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FE7428E-7ABD-8FF4-65A0-57470B9F2A52}"/>
              </a:ext>
            </a:extLst>
          </p:cNvPr>
          <p:cNvSpPr txBox="1"/>
          <p:nvPr/>
        </p:nvSpPr>
        <p:spPr>
          <a:xfrm>
            <a:off x="2321076" y="2373506"/>
            <a:ext cx="10427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/>
              <a:t>expected</a:t>
            </a:r>
            <a:endParaRPr lang="fr-FR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ED01FF2-4EBC-8861-54C3-550865A5B950}"/>
              </a:ext>
            </a:extLst>
          </p:cNvPr>
          <p:cNvSpPr txBox="1"/>
          <p:nvPr/>
        </p:nvSpPr>
        <p:spPr>
          <a:xfrm>
            <a:off x="2648912" y="3029188"/>
            <a:ext cx="7553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/>
              <a:t>actual</a:t>
            </a:r>
            <a:endParaRPr lang="fr-FR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D885B39-9828-BB51-3D9E-1F4B0471D432}"/>
              </a:ext>
            </a:extLst>
          </p:cNvPr>
          <p:cNvSpPr txBox="1"/>
          <p:nvPr/>
        </p:nvSpPr>
        <p:spPr>
          <a:xfrm>
            <a:off x="2783958" y="3992017"/>
            <a:ext cx="85698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batch2 </a:t>
            </a:r>
            <a:r>
              <a:rPr lang="fr-FR" dirty="0" err="1"/>
              <a:t>started</a:t>
            </a:r>
            <a:r>
              <a:rPr lang="fr-FR" dirty="0"/>
              <a:t> at 12 ***    …. data not </a:t>
            </a:r>
            <a:r>
              <a:rPr lang="fr-FR" dirty="0" err="1"/>
              <a:t>yet</a:t>
            </a:r>
            <a:r>
              <a:rPr lang="fr-FR" dirty="0"/>
              <a:t> </a:t>
            </a:r>
            <a:r>
              <a:rPr lang="fr-FR" dirty="0" err="1"/>
              <a:t>present</a:t>
            </a:r>
            <a:br>
              <a:rPr lang="fr-FR" dirty="0"/>
            </a:br>
            <a:endParaRPr lang="fr-FR" dirty="0"/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1F4E2914-8EA8-7175-71CA-22F5E40B9636}"/>
              </a:ext>
            </a:extLst>
          </p:cNvPr>
          <p:cNvSpPr/>
          <p:nvPr/>
        </p:nvSpPr>
        <p:spPr>
          <a:xfrm>
            <a:off x="4270744" y="4621634"/>
            <a:ext cx="193159" cy="33492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3314" name="Picture 2" descr="Null sign - Wikipedia">
            <a:extLst>
              <a:ext uri="{FF2B5EF4-FFF2-40B4-BE49-F238E27FC236}">
                <a16:creationId xmlns:a16="http://schemas.microsoft.com/office/drawing/2014/main" id="{07EBB26B-E9CF-82B5-BCBD-C4A8549BF2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27212" y="4481996"/>
            <a:ext cx="548795" cy="5487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E3AB7D46-38E5-5C7B-4645-97C849C78B7B}"/>
              </a:ext>
            </a:extLst>
          </p:cNvPr>
          <p:cNvSpPr txBox="1"/>
          <p:nvPr/>
        </p:nvSpPr>
        <p:spPr>
          <a:xfrm>
            <a:off x="5296786" y="4494895"/>
            <a:ext cx="371332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=&gt; NO « </a:t>
            </a:r>
            <a:r>
              <a:rPr lang="fr-FR" dirty="0" err="1"/>
              <a:t>today</a:t>
            </a:r>
            <a:r>
              <a:rPr lang="fr-FR" dirty="0"/>
              <a:t> » data (</a:t>
            </a:r>
            <a:r>
              <a:rPr lang="fr-FR" dirty="0" err="1"/>
              <a:t>only</a:t>
            </a:r>
            <a:r>
              <a:rPr lang="fr-FR" dirty="0"/>
              <a:t> </a:t>
            </a:r>
            <a:r>
              <a:rPr lang="fr-FR" dirty="0" err="1"/>
              <a:t>yesterday</a:t>
            </a:r>
            <a:r>
              <a:rPr lang="fr-FR" dirty="0"/>
              <a:t>)</a:t>
            </a:r>
          </a:p>
          <a:p>
            <a:r>
              <a:rPr lang="fr-FR" dirty="0" err="1"/>
              <a:t>Finished</a:t>
            </a:r>
            <a:r>
              <a:rPr lang="fr-FR" dirty="0"/>
              <a:t> FAST, </a:t>
            </a:r>
            <a:r>
              <a:rPr lang="fr-FR" dirty="0" err="1"/>
              <a:t>with</a:t>
            </a:r>
            <a:r>
              <a:rPr lang="fr-FR" dirty="0"/>
              <a:t> NO data</a:t>
            </a:r>
          </a:p>
          <a:p>
            <a:endParaRPr lang="fr-FR" dirty="0"/>
          </a:p>
        </p:txBody>
      </p:sp>
      <p:sp>
        <p:nvSpPr>
          <p:cNvPr id="14" name="Arrow: Right 13">
            <a:extLst>
              <a:ext uri="{FF2B5EF4-FFF2-40B4-BE49-F238E27FC236}">
                <a16:creationId xmlns:a16="http://schemas.microsoft.com/office/drawing/2014/main" id="{96B3752B-5372-04D0-F6FD-45066071F25D}"/>
              </a:ext>
            </a:extLst>
          </p:cNvPr>
          <p:cNvSpPr/>
          <p:nvPr/>
        </p:nvSpPr>
        <p:spPr>
          <a:xfrm>
            <a:off x="4270744" y="5960828"/>
            <a:ext cx="193159" cy="33492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56274EF-A430-0061-4FAD-61E93C967D68}"/>
              </a:ext>
            </a:extLst>
          </p:cNvPr>
          <p:cNvSpPr txBox="1"/>
          <p:nvPr/>
        </p:nvSpPr>
        <p:spPr>
          <a:xfrm>
            <a:off x="2842436" y="5388728"/>
            <a:ext cx="85698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batch2 </a:t>
            </a:r>
            <a:r>
              <a:rPr lang="fr-FR" dirty="0" err="1"/>
              <a:t>started</a:t>
            </a:r>
            <a:r>
              <a:rPr lang="fr-FR" dirty="0"/>
              <a:t>, </a:t>
            </a:r>
            <a:r>
              <a:rPr lang="fr-FR" dirty="0" err="1"/>
              <a:t>during</a:t>
            </a:r>
            <a:r>
              <a:rPr lang="fr-FR" dirty="0"/>
              <a:t> </a:t>
            </a:r>
            <a:r>
              <a:rPr lang="fr-FR" dirty="0" err="1"/>
              <a:t>critical</a:t>
            </a:r>
            <a:r>
              <a:rPr lang="fr-FR" dirty="0"/>
              <a:t> section of batch1 … table </a:t>
            </a:r>
            <a:r>
              <a:rPr lang="fr-FR" dirty="0" err="1"/>
              <a:t>dropped</a:t>
            </a:r>
            <a:r>
              <a:rPr lang="fr-FR" dirty="0"/>
              <a:t>/</a:t>
            </a:r>
            <a:r>
              <a:rPr lang="fr-FR" dirty="0" err="1"/>
              <a:t>recreated</a:t>
            </a:r>
            <a:r>
              <a:rPr lang="fr-FR" dirty="0"/>
              <a:t> </a:t>
            </a:r>
            <a:r>
              <a:rPr lang="fr-FR" dirty="0" err="1"/>
              <a:t>after</a:t>
            </a:r>
            <a:br>
              <a:rPr lang="fr-FR" dirty="0"/>
            </a:br>
            <a:endParaRPr lang="fr-FR" dirty="0"/>
          </a:p>
        </p:txBody>
      </p:sp>
      <p:pic>
        <p:nvPicPr>
          <p:cNvPr id="13316" name="Picture 4" descr="Fix “Instruction at Referenced Memory Could Not Be Read” Errors">
            <a:extLst>
              <a:ext uri="{FF2B5EF4-FFF2-40B4-BE49-F238E27FC236}">
                <a16:creationId xmlns:a16="http://schemas.microsoft.com/office/drawing/2014/main" id="{4060684D-D647-4F3C-0B57-B1AB3EF45D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36805" y="5819853"/>
            <a:ext cx="1850398" cy="9518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35248167"/>
      </p:ext>
    </p:extLst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9456B0-71A4-CF8C-E88D-0B1478AC2D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0001"/>
            <a:ext cx="10515600" cy="1325563"/>
          </a:xfrm>
        </p:spPr>
        <p:txBody>
          <a:bodyPr/>
          <a:lstStyle/>
          <a:p>
            <a:pPr algn="ctr"/>
            <a:r>
              <a:rPr lang="fr-FR" dirty="0" err="1"/>
              <a:t>Outline</a:t>
            </a:r>
            <a:endParaRPr lang="fr-F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D800C1-B011-5B30-76B4-9FA377D888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60915" y="1630439"/>
            <a:ext cx="8452152" cy="4862436"/>
          </a:xfrm>
        </p:spPr>
        <p:txBody>
          <a:bodyPr>
            <a:normAutofit fontScale="92500" lnSpcReduction="10000"/>
          </a:bodyPr>
          <a:lstStyle/>
          <a:p>
            <a:r>
              <a:rPr lang="fr-FR" dirty="0" err="1"/>
              <a:t>What</a:t>
            </a:r>
            <a:r>
              <a:rPr lang="fr-FR" dirty="0"/>
              <a:t> </a:t>
            </a:r>
            <a:r>
              <a:rPr lang="fr-FR" dirty="0" err="1"/>
              <a:t>is</a:t>
            </a:r>
            <a:r>
              <a:rPr lang="fr-FR" dirty="0"/>
              <a:t> </a:t>
            </a:r>
            <a:r>
              <a:rPr lang="fr-FR" dirty="0" err="1"/>
              <a:t>BigData</a:t>
            </a:r>
            <a:r>
              <a:rPr lang="fr-FR" dirty="0"/>
              <a:t> ?</a:t>
            </a:r>
          </a:p>
          <a:p>
            <a:pPr lvl="1"/>
            <a:r>
              <a:rPr lang="fr-FR" dirty="0" err="1"/>
              <a:t>Order</a:t>
            </a:r>
            <a:r>
              <a:rPr lang="fr-FR" dirty="0"/>
              <a:t> of Magnitudes for « Big »</a:t>
            </a:r>
          </a:p>
          <a:p>
            <a:pPr lvl="1"/>
            <a:r>
              <a:rPr lang="fr-FR" dirty="0"/>
              <a:t>Distributed System challenges</a:t>
            </a:r>
          </a:p>
          <a:p>
            <a:pPr lvl="1"/>
            <a:r>
              <a:rPr lang="fr-FR" dirty="0" err="1"/>
              <a:t>Scaling</a:t>
            </a:r>
            <a:r>
              <a:rPr lang="fr-FR" dirty="0"/>
              <a:t> Storage </a:t>
            </a:r>
            <a:r>
              <a:rPr lang="fr-FR" dirty="0" err="1"/>
              <a:t>Resources</a:t>
            </a:r>
            <a:r>
              <a:rPr lang="fr-FR" dirty="0"/>
              <a:t>: </a:t>
            </a:r>
            <a:r>
              <a:rPr lang="fr-FR" dirty="0" err="1"/>
              <a:t>Hdfs</a:t>
            </a:r>
            <a:endParaRPr lang="fr-FR" dirty="0"/>
          </a:p>
          <a:p>
            <a:pPr lvl="1"/>
            <a:r>
              <a:rPr lang="fr-FR" dirty="0" err="1"/>
              <a:t>Scaling</a:t>
            </a:r>
            <a:r>
              <a:rPr lang="fr-FR" dirty="0"/>
              <a:t> </a:t>
            </a:r>
            <a:r>
              <a:rPr lang="fr-FR" dirty="0" err="1"/>
              <a:t>Compute</a:t>
            </a:r>
            <a:r>
              <a:rPr lang="fr-FR" dirty="0"/>
              <a:t> </a:t>
            </a:r>
            <a:r>
              <a:rPr lang="fr-FR" dirty="0" err="1"/>
              <a:t>Resources</a:t>
            </a:r>
            <a:r>
              <a:rPr lang="fr-FR" dirty="0"/>
              <a:t>: </a:t>
            </a:r>
            <a:r>
              <a:rPr lang="fr-FR" dirty="0" err="1"/>
              <a:t>Yarn</a:t>
            </a:r>
            <a:r>
              <a:rPr lang="fr-FR" dirty="0"/>
              <a:t>, </a:t>
            </a:r>
            <a:r>
              <a:rPr lang="fr-FR" dirty="0" err="1"/>
              <a:t>Kubernetes</a:t>
            </a:r>
            <a:endParaRPr lang="fr-FR" dirty="0"/>
          </a:p>
          <a:p>
            <a:pPr lvl="1"/>
            <a:r>
              <a:rPr lang="fr-FR" dirty="0" err="1"/>
              <a:t>Using</a:t>
            </a:r>
            <a:r>
              <a:rPr lang="fr-FR" dirty="0"/>
              <a:t> Storage – </a:t>
            </a:r>
            <a:r>
              <a:rPr lang="fr-FR" dirty="0" err="1"/>
              <a:t>Compute</a:t>
            </a:r>
            <a:r>
              <a:rPr lang="fr-FR" dirty="0"/>
              <a:t> apis</a:t>
            </a:r>
          </a:p>
          <a:p>
            <a:pPr lvl="1"/>
            <a:r>
              <a:rPr lang="fr-FR" dirty="0"/>
              <a:t>Evolution of Hardware – Softwares – Hadoop </a:t>
            </a:r>
            <a:r>
              <a:rPr lang="fr-FR" dirty="0" err="1"/>
              <a:t>Ecosystem</a:t>
            </a:r>
            <a:r>
              <a:rPr lang="fr-FR" dirty="0"/>
              <a:t>, Spark</a:t>
            </a:r>
          </a:p>
          <a:p>
            <a:r>
              <a:rPr lang="fr-FR" dirty="0"/>
              <a:t>Description of a </a:t>
            </a:r>
            <a:r>
              <a:rPr lang="fr-FR" dirty="0" err="1"/>
              <a:t>Datalake</a:t>
            </a:r>
            <a:endParaRPr lang="fr-FR" dirty="0"/>
          </a:p>
          <a:p>
            <a:pPr lvl="1"/>
            <a:r>
              <a:rPr lang="fr-FR" dirty="0"/>
              <a:t>Content</a:t>
            </a:r>
          </a:p>
          <a:p>
            <a:pPr lvl="1"/>
            <a:r>
              <a:rPr lang="fr-FR" dirty="0"/>
              <a:t>Usage</a:t>
            </a:r>
          </a:p>
          <a:p>
            <a:r>
              <a:rPr lang="fr-FR" dirty="0"/>
              <a:t>Example of Data-</a:t>
            </a:r>
            <a:r>
              <a:rPr lang="fr-FR" dirty="0" err="1"/>
              <a:t>Processing</a:t>
            </a:r>
            <a:endParaRPr lang="fr-FR" dirty="0"/>
          </a:p>
          <a:p>
            <a:pPr lvl="1"/>
            <a:r>
              <a:rPr lang="fr-FR" sz="3500" b="1" dirty="0"/>
              <a:t>RAW to LAKE, Reports</a:t>
            </a:r>
          </a:p>
          <a:p>
            <a:r>
              <a:rPr lang="fr-FR" dirty="0"/>
              <a:t>Evolution to Cloud</a:t>
            </a:r>
          </a:p>
        </p:txBody>
      </p:sp>
      <p:sp>
        <p:nvSpPr>
          <p:cNvPr id="4" name="Arrow: Right 3">
            <a:extLst>
              <a:ext uri="{FF2B5EF4-FFF2-40B4-BE49-F238E27FC236}">
                <a16:creationId xmlns:a16="http://schemas.microsoft.com/office/drawing/2014/main" id="{DDD0192B-78FC-DA6C-C265-8EE665F30D7C}"/>
              </a:ext>
            </a:extLst>
          </p:cNvPr>
          <p:cNvSpPr/>
          <p:nvPr/>
        </p:nvSpPr>
        <p:spPr>
          <a:xfrm>
            <a:off x="2149102" y="5492951"/>
            <a:ext cx="710213" cy="39061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97059135"/>
      </p:ext>
    </p:extLst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72EF77-78CE-4925-9C34-E645C5ED34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 err="1"/>
              <a:t>Typical</a:t>
            </a:r>
            <a:r>
              <a:rPr lang="fr-FR" dirty="0"/>
              <a:t> Example of </a:t>
            </a:r>
            <a:r>
              <a:rPr lang="fr-FR" dirty="0" err="1"/>
              <a:t>adding</a:t>
            </a:r>
            <a:r>
              <a:rPr lang="fr-FR" dirty="0"/>
              <a:t> 1 </a:t>
            </a:r>
            <a:r>
              <a:rPr lang="fr-FR" dirty="0" err="1"/>
              <a:t>daily</a:t>
            </a:r>
            <a:r>
              <a:rPr lang="fr-FR" dirty="0"/>
              <a:t> partition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6B92D7E-24E9-661D-11EC-2FF93EF2A9AA}"/>
              </a:ext>
            </a:extLst>
          </p:cNvPr>
          <p:cNvSpPr txBox="1"/>
          <p:nvPr/>
        </p:nvSpPr>
        <p:spPr>
          <a:xfrm>
            <a:off x="1408815" y="2551815"/>
            <a:ext cx="9983823" cy="2677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$ </a:t>
            </a:r>
            <a:r>
              <a:rPr lang="fr-FR" sz="2400" dirty="0" err="1">
                <a:latin typeface="Arial" panose="020B0604020202020204" pitchFamily="34" charset="0"/>
                <a:cs typeface="Arial" panose="020B0604020202020204" pitchFamily="34" charset="0"/>
              </a:rPr>
              <a:t>hdfs</a:t>
            </a:r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2400" dirty="0" err="1">
                <a:latin typeface="Arial" panose="020B0604020202020204" pitchFamily="34" charset="0"/>
                <a:cs typeface="Arial" panose="020B0604020202020204" pitchFamily="34" charset="0"/>
              </a:rPr>
              <a:t>dfs</a:t>
            </a:r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 –</a:t>
            </a:r>
            <a:r>
              <a:rPr lang="fr-FR" sz="2400" dirty="0" err="1">
                <a:latin typeface="Arial" panose="020B0604020202020204" pitchFamily="34" charset="0"/>
                <a:cs typeface="Arial" panose="020B0604020202020204" pitchFamily="34" charset="0"/>
              </a:rPr>
              <a:t>mkdir</a:t>
            </a:r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 hdfs://raw/team/domain/table/date=2022-10-12</a:t>
            </a:r>
          </a:p>
          <a:p>
            <a:endParaRPr lang="fr-FR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$ </a:t>
            </a:r>
            <a:r>
              <a:rPr lang="fr-FR" sz="2400" dirty="0" err="1">
                <a:latin typeface="Arial" panose="020B0604020202020204" pitchFamily="34" charset="0"/>
                <a:cs typeface="Arial" panose="020B0604020202020204" pitchFamily="34" charset="0"/>
              </a:rPr>
              <a:t>hdfs</a:t>
            </a:r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2400" dirty="0" err="1">
                <a:latin typeface="Arial" panose="020B0604020202020204" pitchFamily="34" charset="0"/>
                <a:cs typeface="Arial" panose="020B0604020202020204" pitchFamily="34" charset="0"/>
              </a:rPr>
              <a:t>dfs</a:t>
            </a:r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 –put </a:t>
            </a:r>
            <a:r>
              <a:rPr lang="fr-FR" sz="2400" dirty="0" err="1">
                <a:latin typeface="Arial" panose="020B0604020202020204" pitchFamily="34" charset="0"/>
                <a:cs typeface="Arial" panose="020B0604020202020204" pitchFamily="34" charset="0"/>
              </a:rPr>
              <a:t>localFile</a:t>
            </a:r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 hdfs://raw/team/domain/table/date=2022-10-12/</a:t>
            </a:r>
          </a:p>
          <a:p>
            <a:endParaRPr lang="fr-FR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$ </a:t>
            </a:r>
            <a:r>
              <a:rPr lang="fr-FR" sz="2400" dirty="0" err="1">
                <a:latin typeface="Arial" panose="020B0604020202020204" pitchFamily="34" charset="0"/>
                <a:cs typeface="Arial" panose="020B0604020202020204" pitchFamily="34" charset="0"/>
              </a:rPr>
              <a:t>spark-sql</a:t>
            </a:r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 –master local[1] \</a:t>
            </a:r>
          </a:p>
          <a:p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           –e « ALTER TABLE </a:t>
            </a:r>
            <a:r>
              <a:rPr lang="fr-FR" sz="2400" dirty="0" err="1">
                <a:latin typeface="Arial" panose="020B0604020202020204" pitchFamily="34" charset="0"/>
                <a:cs typeface="Arial" panose="020B0604020202020204" pitchFamily="34" charset="0"/>
              </a:rPr>
              <a:t>raw_lake_domain.table</a:t>
            </a:r>
            <a:b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                   ADD PARTITION ( date=‘2022-10-12’ ) »</a:t>
            </a:r>
          </a:p>
        </p:txBody>
      </p:sp>
    </p:spTree>
    <p:extLst>
      <p:ext uri="{BB962C8B-B14F-4D97-AF65-F5344CB8AC3E}">
        <p14:creationId xmlns:p14="http://schemas.microsoft.com/office/powerpoint/2010/main" val="2386752004"/>
      </p:ext>
    </p:extLst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9F2864-CFC9-91DE-293F-6AAA83FB1D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 err="1"/>
              <a:t>Typical</a:t>
            </a:r>
            <a:r>
              <a:rPr lang="fr-FR" dirty="0"/>
              <a:t> RAW to LAKE </a:t>
            </a:r>
            <a:r>
              <a:rPr lang="fr-FR" dirty="0" err="1"/>
              <a:t>processing</a:t>
            </a:r>
            <a:r>
              <a:rPr lang="fr-FR" dirty="0"/>
              <a:t> </a:t>
            </a:r>
            <a:r>
              <a:rPr lang="fr-FR" dirty="0" err="1"/>
              <a:t>with</a:t>
            </a:r>
            <a:r>
              <a:rPr lang="fr-FR" dirty="0"/>
              <a:t> Spark</a:t>
            </a:r>
            <a:br>
              <a:rPr lang="fr-FR" dirty="0"/>
            </a:br>
            <a:r>
              <a:rPr lang="fr-FR" dirty="0"/>
              <a:t>as Java code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48C131D-F217-15A0-FE66-8679E71CD350}"/>
              </a:ext>
            </a:extLst>
          </p:cNvPr>
          <p:cNvSpPr txBox="1"/>
          <p:nvPr/>
        </p:nvSpPr>
        <p:spPr>
          <a:xfrm>
            <a:off x="2567763" y="1759689"/>
            <a:ext cx="8356775" cy="489364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 err="1">
                <a:latin typeface="Arial" panose="020B0604020202020204" pitchFamily="34" charset="0"/>
                <a:cs typeface="Arial" panose="020B0604020202020204" pitchFamily="34" charset="0"/>
              </a:rPr>
              <a:t>spark.read</a:t>
            </a:r>
            <a:b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    .format(« csv »)</a:t>
            </a:r>
            <a:b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    .option(«</a:t>
            </a:r>
            <a:r>
              <a:rPr lang="fr-FR" sz="2400" dirty="0" err="1">
                <a:latin typeface="Arial" panose="020B0604020202020204" pitchFamily="34" charset="0"/>
                <a:cs typeface="Arial" panose="020B0604020202020204" pitchFamily="34" charset="0"/>
              </a:rPr>
              <a:t>schema</a:t>
            </a:r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 », « col1 type1, … </a:t>
            </a:r>
            <a:r>
              <a:rPr lang="fr-FR" sz="2400" dirty="0" err="1">
                <a:latin typeface="Arial" panose="020B0604020202020204" pitchFamily="34" charset="0"/>
                <a:cs typeface="Arial" panose="020B0604020202020204" pitchFamily="34" charset="0"/>
              </a:rPr>
              <a:t>colN</a:t>
            </a:r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2400" dirty="0" err="1">
                <a:latin typeface="Arial" panose="020B0604020202020204" pitchFamily="34" charset="0"/>
                <a:cs typeface="Arial" panose="020B0604020202020204" pitchFamily="34" charset="0"/>
              </a:rPr>
              <a:t>typeN</a:t>
            </a:r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 »)</a:t>
            </a:r>
            <a:b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    .</a:t>
            </a:r>
            <a:r>
              <a:rPr lang="fr-FR" sz="2400" dirty="0" err="1">
                <a:latin typeface="Arial" panose="020B0604020202020204" pitchFamily="34" charset="0"/>
                <a:cs typeface="Arial" panose="020B0604020202020204" pitchFamily="34" charset="0"/>
              </a:rPr>
              <a:t>load</a:t>
            </a:r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(« hdfs://raw/team/domain/table/date=2022-10-12 »)</a:t>
            </a:r>
            <a:b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   .</a:t>
            </a:r>
            <a:r>
              <a:rPr lang="fr-FR" sz="2400" dirty="0" err="1">
                <a:latin typeface="Arial" panose="020B0604020202020204" pitchFamily="34" charset="0"/>
                <a:cs typeface="Arial" panose="020B0604020202020204" pitchFamily="34" charset="0"/>
              </a:rPr>
              <a:t>map</a:t>
            </a:r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fr-FR" sz="2400" dirty="0" err="1">
                <a:latin typeface="Arial" panose="020B0604020202020204" pitchFamily="34" charset="0"/>
                <a:cs typeface="Arial" panose="020B0604020202020204" pitchFamily="34" charset="0"/>
              </a:rPr>
              <a:t>row</a:t>
            </a:r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 -&gt;  </a:t>
            </a:r>
            <a:r>
              <a:rPr lang="fr-FR" sz="2400" dirty="0" err="1">
                <a:latin typeface="Arial" panose="020B0604020202020204" pitchFamily="34" charset="0"/>
                <a:cs typeface="Arial" panose="020B0604020202020204" pitchFamily="34" charset="0"/>
              </a:rPr>
              <a:t>transformData</a:t>
            </a:r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fr-FR" sz="2400" dirty="0" err="1">
                <a:latin typeface="Arial" panose="020B0604020202020204" pitchFamily="34" charset="0"/>
                <a:cs typeface="Arial" panose="020B0604020202020204" pitchFamily="34" charset="0"/>
              </a:rPr>
              <a:t>row</a:t>
            </a:r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) )</a:t>
            </a:r>
            <a:b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   .</a:t>
            </a:r>
            <a:r>
              <a:rPr lang="fr-FR" sz="2400" dirty="0" err="1">
                <a:latin typeface="Arial" panose="020B0604020202020204" pitchFamily="34" charset="0"/>
                <a:cs typeface="Arial" panose="020B0604020202020204" pitchFamily="34" charset="0"/>
              </a:rPr>
              <a:t>repartition</a:t>
            </a:r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(3, « col1 »)</a:t>
            </a:r>
            <a:b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   .</a:t>
            </a:r>
            <a:r>
              <a:rPr lang="fr-FR" sz="2400" dirty="0" err="1">
                <a:latin typeface="Arial" panose="020B0604020202020204" pitchFamily="34" charset="0"/>
                <a:cs typeface="Arial" panose="020B0604020202020204" pitchFamily="34" charset="0"/>
              </a:rPr>
              <a:t>sortWithinPartition</a:t>
            </a:r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(« col1, col2, col3 »)</a:t>
            </a:r>
          </a:p>
          <a:p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   .</a:t>
            </a:r>
            <a:r>
              <a:rPr lang="fr-FR" sz="2400" dirty="0" err="1">
                <a:latin typeface="Arial" panose="020B0604020202020204" pitchFamily="34" charset="0"/>
                <a:cs typeface="Arial" panose="020B0604020202020204" pitchFamily="34" charset="0"/>
              </a:rPr>
              <a:t>write</a:t>
            </a:r>
            <a:b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   .format(« parquet »)</a:t>
            </a:r>
            <a:b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   .</a:t>
            </a:r>
            <a:r>
              <a:rPr lang="fr-FR" sz="2400" dirty="0" err="1">
                <a:latin typeface="Arial" panose="020B0604020202020204" pitchFamily="34" charset="0"/>
                <a:cs typeface="Arial" panose="020B0604020202020204" pitchFamily="34" charset="0"/>
              </a:rPr>
              <a:t>save</a:t>
            </a:r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(« hdfs://lake/team/domain/table/date=2022-10-22 »)</a:t>
            </a:r>
          </a:p>
          <a:p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   ;</a:t>
            </a:r>
          </a:p>
        </p:txBody>
      </p:sp>
      <p:sp>
        <p:nvSpPr>
          <p:cNvPr id="5" name="Left Brace 4">
            <a:extLst>
              <a:ext uri="{FF2B5EF4-FFF2-40B4-BE49-F238E27FC236}">
                <a16:creationId xmlns:a16="http://schemas.microsoft.com/office/drawing/2014/main" id="{15BBC395-63DF-DA05-5245-AB3AD13FB9CA}"/>
              </a:ext>
            </a:extLst>
          </p:cNvPr>
          <p:cNvSpPr/>
          <p:nvPr/>
        </p:nvSpPr>
        <p:spPr>
          <a:xfrm>
            <a:off x="1730439" y="1871330"/>
            <a:ext cx="372140" cy="1325563"/>
          </a:xfrm>
          <a:prstGeom prst="leftBrac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Left Brace 5">
            <a:extLst>
              <a:ext uri="{FF2B5EF4-FFF2-40B4-BE49-F238E27FC236}">
                <a16:creationId xmlns:a16="http://schemas.microsoft.com/office/drawing/2014/main" id="{097E6007-CA6F-B2C4-8CE7-A6A50D2A2DDB}"/>
              </a:ext>
            </a:extLst>
          </p:cNvPr>
          <p:cNvSpPr/>
          <p:nvPr/>
        </p:nvSpPr>
        <p:spPr>
          <a:xfrm>
            <a:off x="1730439" y="3556518"/>
            <a:ext cx="372140" cy="467906"/>
          </a:xfrm>
          <a:prstGeom prst="leftBrac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Left Brace 6">
            <a:extLst>
              <a:ext uri="{FF2B5EF4-FFF2-40B4-BE49-F238E27FC236}">
                <a16:creationId xmlns:a16="http://schemas.microsoft.com/office/drawing/2014/main" id="{F6C644E5-D787-BD73-0DB1-80CF90B20237}"/>
              </a:ext>
            </a:extLst>
          </p:cNvPr>
          <p:cNvSpPr/>
          <p:nvPr/>
        </p:nvSpPr>
        <p:spPr>
          <a:xfrm>
            <a:off x="1730439" y="4384049"/>
            <a:ext cx="372140" cy="2007780"/>
          </a:xfrm>
          <a:prstGeom prst="leftBrac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6F5E7D0-4590-DE5E-2878-1E0FB3704935}"/>
              </a:ext>
            </a:extLst>
          </p:cNvPr>
          <p:cNvSpPr txBox="1"/>
          <p:nvPr/>
        </p:nvSpPr>
        <p:spPr>
          <a:xfrm>
            <a:off x="311492" y="2376027"/>
            <a:ext cx="66749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b="1" dirty="0" err="1"/>
              <a:t>read</a:t>
            </a:r>
            <a:endParaRPr lang="fr-FR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083E115-40B7-B6E0-5904-3E90C18A6130}"/>
              </a:ext>
            </a:extLst>
          </p:cNvPr>
          <p:cNvSpPr txBox="1"/>
          <p:nvPr/>
        </p:nvSpPr>
        <p:spPr>
          <a:xfrm>
            <a:off x="389465" y="3583100"/>
            <a:ext cx="123899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b="1" dirty="0" err="1"/>
              <a:t>transform</a:t>
            </a:r>
            <a:endParaRPr lang="fr-FR" b="1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41ABFC9-DA9D-7083-068C-923603ED2AA3}"/>
              </a:ext>
            </a:extLst>
          </p:cNvPr>
          <p:cNvSpPr txBox="1"/>
          <p:nvPr/>
        </p:nvSpPr>
        <p:spPr>
          <a:xfrm>
            <a:off x="389465" y="5214466"/>
            <a:ext cx="74417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b="1" dirty="0" err="1"/>
              <a:t>write</a:t>
            </a:r>
            <a:endParaRPr lang="fr-FR" b="1" dirty="0"/>
          </a:p>
        </p:txBody>
      </p:sp>
    </p:spTree>
    <p:extLst>
      <p:ext uri="{BB962C8B-B14F-4D97-AF65-F5344CB8AC3E}">
        <p14:creationId xmlns:p14="http://schemas.microsoft.com/office/powerpoint/2010/main" val="4141862504"/>
      </p:ext>
    </p:extLst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9F2864-CFC9-91DE-293F-6AAA83FB1D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 err="1"/>
              <a:t>Typical</a:t>
            </a:r>
            <a:r>
              <a:rPr lang="fr-FR" dirty="0"/>
              <a:t> RAW to LAKE </a:t>
            </a:r>
            <a:r>
              <a:rPr lang="fr-FR" dirty="0" err="1"/>
              <a:t>processing</a:t>
            </a:r>
            <a:r>
              <a:rPr lang="fr-FR" dirty="0"/>
              <a:t> </a:t>
            </a:r>
            <a:r>
              <a:rPr lang="fr-FR" dirty="0" err="1"/>
              <a:t>with</a:t>
            </a:r>
            <a:r>
              <a:rPr lang="fr-FR" dirty="0"/>
              <a:t> Spark</a:t>
            </a:r>
            <a:br>
              <a:rPr lang="fr-FR" dirty="0"/>
            </a:br>
            <a:r>
              <a:rPr lang="fr-FR" dirty="0"/>
              <a:t>as SQL code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48C131D-F217-15A0-FE66-8679E71CD350}"/>
              </a:ext>
            </a:extLst>
          </p:cNvPr>
          <p:cNvSpPr txBox="1"/>
          <p:nvPr/>
        </p:nvSpPr>
        <p:spPr>
          <a:xfrm>
            <a:off x="2567763" y="1759689"/>
            <a:ext cx="8201989" cy="489364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INSERT OVERWRITE </a:t>
            </a:r>
          </a:p>
          <a:p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       </a:t>
            </a:r>
            <a:r>
              <a:rPr lang="fr-FR" sz="2400" dirty="0" err="1">
                <a:latin typeface="Arial" panose="020B0604020202020204" pitchFamily="34" charset="0"/>
                <a:cs typeface="Arial" panose="020B0604020202020204" pitchFamily="34" charset="0"/>
              </a:rPr>
              <a:t>lake_team_domain.table</a:t>
            </a:r>
            <a:b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SELECT /* +REPARTITION(col1, 3) */</a:t>
            </a:r>
          </a:p>
          <a:p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    col1, col2, </a:t>
            </a:r>
          </a:p>
          <a:p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    udf_func1(col3, col4)  as col3,</a:t>
            </a:r>
          </a:p>
          <a:p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    udf_func2(col4, col5)  as col4,    </a:t>
            </a:r>
          </a:p>
          <a:p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    ..</a:t>
            </a:r>
          </a:p>
          <a:p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FROM </a:t>
            </a:r>
          </a:p>
          <a:p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       </a:t>
            </a:r>
            <a:r>
              <a:rPr lang="fr-FR" sz="2400" dirty="0" err="1">
                <a:latin typeface="Arial" panose="020B0604020202020204" pitchFamily="34" charset="0"/>
                <a:cs typeface="Arial" panose="020B0604020202020204" pitchFamily="34" charset="0"/>
              </a:rPr>
              <a:t>raw_team_domain.table</a:t>
            </a:r>
            <a:endParaRPr lang="fr-FR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JOIN</a:t>
            </a:r>
          </a:p>
          <a:p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       </a:t>
            </a:r>
            <a:r>
              <a:rPr lang="fr-FR" sz="2400" dirty="0" err="1">
                <a:latin typeface="Arial" panose="020B0604020202020204" pitchFamily="34" charset="0"/>
                <a:cs typeface="Arial" panose="020B0604020202020204" pitchFamily="34" charset="0"/>
              </a:rPr>
              <a:t>lake_anotherTeam_domain.anotherTable</a:t>
            </a:r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 x ON x.ID=id</a:t>
            </a:r>
          </a:p>
          <a:p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WHERE date=‘2022-10-22’ AND ..</a:t>
            </a:r>
          </a:p>
          <a:p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SORT BY col1, col2, col3     -- idem </a:t>
            </a:r>
            <a:r>
              <a:rPr lang="fr-FR" sz="2400" dirty="0" err="1">
                <a:latin typeface="Arial" panose="020B0604020202020204" pitchFamily="34" charset="0"/>
                <a:cs typeface="Arial" panose="020B0604020202020204" pitchFamily="34" charset="0"/>
              </a:rPr>
              <a:t>sortWithinPartition</a:t>
            </a:r>
            <a:endParaRPr lang="fr-FR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Left Brace 4">
            <a:extLst>
              <a:ext uri="{FF2B5EF4-FFF2-40B4-BE49-F238E27FC236}">
                <a16:creationId xmlns:a16="http://schemas.microsoft.com/office/drawing/2014/main" id="{15BBC395-63DF-DA05-5245-AB3AD13FB9CA}"/>
              </a:ext>
            </a:extLst>
          </p:cNvPr>
          <p:cNvSpPr/>
          <p:nvPr/>
        </p:nvSpPr>
        <p:spPr>
          <a:xfrm>
            <a:off x="1730439" y="1871330"/>
            <a:ext cx="372140" cy="632637"/>
          </a:xfrm>
          <a:prstGeom prst="leftBrac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Left Brace 5">
            <a:extLst>
              <a:ext uri="{FF2B5EF4-FFF2-40B4-BE49-F238E27FC236}">
                <a16:creationId xmlns:a16="http://schemas.microsoft.com/office/drawing/2014/main" id="{097E6007-CA6F-B2C4-8CE7-A6A50D2A2DDB}"/>
              </a:ext>
            </a:extLst>
          </p:cNvPr>
          <p:cNvSpPr/>
          <p:nvPr/>
        </p:nvSpPr>
        <p:spPr>
          <a:xfrm>
            <a:off x="1730439" y="3391787"/>
            <a:ext cx="363204" cy="632637"/>
          </a:xfrm>
          <a:prstGeom prst="leftBrac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Left Brace 6">
            <a:extLst>
              <a:ext uri="{FF2B5EF4-FFF2-40B4-BE49-F238E27FC236}">
                <a16:creationId xmlns:a16="http://schemas.microsoft.com/office/drawing/2014/main" id="{F6C644E5-D787-BD73-0DB1-80CF90B20237}"/>
              </a:ext>
            </a:extLst>
          </p:cNvPr>
          <p:cNvSpPr/>
          <p:nvPr/>
        </p:nvSpPr>
        <p:spPr>
          <a:xfrm>
            <a:off x="1730439" y="4384049"/>
            <a:ext cx="372140" cy="560091"/>
          </a:xfrm>
          <a:prstGeom prst="leftBrac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6F5E7D0-4590-DE5E-2878-1E0FB3704935}"/>
              </a:ext>
            </a:extLst>
          </p:cNvPr>
          <p:cNvSpPr txBox="1"/>
          <p:nvPr/>
        </p:nvSpPr>
        <p:spPr>
          <a:xfrm>
            <a:off x="496612" y="4497222"/>
            <a:ext cx="66749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b="1" dirty="0" err="1"/>
              <a:t>read</a:t>
            </a:r>
            <a:endParaRPr lang="fr-FR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083E115-40B7-B6E0-5904-3E90C18A6130}"/>
              </a:ext>
            </a:extLst>
          </p:cNvPr>
          <p:cNvSpPr txBox="1"/>
          <p:nvPr/>
        </p:nvSpPr>
        <p:spPr>
          <a:xfrm>
            <a:off x="341472" y="3466142"/>
            <a:ext cx="123899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b="1" dirty="0" err="1"/>
              <a:t>transform</a:t>
            </a:r>
            <a:endParaRPr lang="fr-FR" b="1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41ABFC9-DA9D-7083-068C-923603ED2AA3}"/>
              </a:ext>
            </a:extLst>
          </p:cNvPr>
          <p:cNvSpPr txBox="1"/>
          <p:nvPr/>
        </p:nvSpPr>
        <p:spPr>
          <a:xfrm>
            <a:off x="466111" y="1833302"/>
            <a:ext cx="74417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b="1" dirty="0" err="1"/>
              <a:t>write</a:t>
            </a:r>
            <a:endParaRPr lang="fr-FR" b="1" dirty="0"/>
          </a:p>
        </p:txBody>
      </p:sp>
      <p:sp>
        <p:nvSpPr>
          <p:cNvPr id="3" name="Left Brace 2">
            <a:extLst>
              <a:ext uri="{FF2B5EF4-FFF2-40B4-BE49-F238E27FC236}">
                <a16:creationId xmlns:a16="http://schemas.microsoft.com/office/drawing/2014/main" id="{AF4EBED8-262C-AE84-3F20-302239579201}"/>
              </a:ext>
            </a:extLst>
          </p:cNvPr>
          <p:cNvSpPr/>
          <p:nvPr/>
        </p:nvSpPr>
        <p:spPr>
          <a:xfrm>
            <a:off x="1730439" y="5172950"/>
            <a:ext cx="363204" cy="588653"/>
          </a:xfrm>
          <a:prstGeom prst="leftBrac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D9F93AC-6F33-EFF2-B40E-54A9001BBFE7}"/>
              </a:ext>
            </a:extLst>
          </p:cNvPr>
          <p:cNvSpPr txBox="1"/>
          <p:nvPr/>
        </p:nvSpPr>
        <p:spPr>
          <a:xfrm>
            <a:off x="341472" y="5247304"/>
            <a:ext cx="123899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b="1" dirty="0" err="1"/>
              <a:t>transform</a:t>
            </a:r>
            <a:endParaRPr lang="fr-FR" b="1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4D59473-46F9-4015-D4B4-7CE29A728A57}"/>
              </a:ext>
            </a:extLst>
          </p:cNvPr>
          <p:cNvSpPr txBox="1"/>
          <p:nvPr/>
        </p:nvSpPr>
        <p:spPr>
          <a:xfrm>
            <a:off x="497739" y="6167084"/>
            <a:ext cx="74417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b="1" dirty="0" err="1"/>
              <a:t>write</a:t>
            </a:r>
            <a:endParaRPr lang="fr-FR" b="1" dirty="0"/>
          </a:p>
        </p:txBody>
      </p:sp>
      <p:sp>
        <p:nvSpPr>
          <p:cNvPr id="13" name="Left Brace 12">
            <a:extLst>
              <a:ext uri="{FF2B5EF4-FFF2-40B4-BE49-F238E27FC236}">
                <a16:creationId xmlns:a16="http://schemas.microsoft.com/office/drawing/2014/main" id="{0B3E61D2-E86B-B5BA-7E49-208888CB9B37}"/>
              </a:ext>
            </a:extLst>
          </p:cNvPr>
          <p:cNvSpPr/>
          <p:nvPr/>
        </p:nvSpPr>
        <p:spPr>
          <a:xfrm>
            <a:off x="1748311" y="6212531"/>
            <a:ext cx="354268" cy="400110"/>
          </a:xfrm>
          <a:prstGeom prst="leftBrac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667CF06-B952-5F61-F95A-CA8A59CAA3B8}"/>
              </a:ext>
            </a:extLst>
          </p:cNvPr>
          <p:cNvSpPr txBox="1"/>
          <p:nvPr/>
        </p:nvSpPr>
        <p:spPr>
          <a:xfrm>
            <a:off x="504455" y="5766974"/>
            <a:ext cx="66749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b="1" dirty="0" err="1"/>
              <a:t>read</a:t>
            </a:r>
            <a:endParaRPr lang="fr-FR" b="1" dirty="0"/>
          </a:p>
        </p:txBody>
      </p:sp>
      <p:sp>
        <p:nvSpPr>
          <p:cNvPr id="15" name="Left Brace 14">
            <a:extLst>
              <a:ext uri="{FF2B5EF4-FFF2-40B4-BE49-F238E27FC236}">
                <a16:creationId xmlns:a16="http://schemas.microsoft.com/office/drawing/2014/main" id="{7B20451E-1484-D247-6609-B1DBE6453E61}"/>
              </a:ext>
            </a:extLst>
          </p:cNvPr>
          <p:cNvSpPr/>
          <p:nvPr/>
        </p:nvSpPr>
        <p:spPr>
          <a:xfrm>
            <a:off x="1730439" y="5807049"/>
            <a:ext cx="372140" cy="360036"/>
          </a:xfrm>
          <a:prstGeom prst="leftBrac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54298414"/>
      </p:ext>
    </p:extLst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A1C7DA-D9DB-65B6-ADE0-70684E987F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/>
              <a:t>Example of LAKE </a:t>
            </a:r>
            <a:r>
              <a:rPr lang="fr-FR" dirty="0" err="1"/>
              <a:t>Aggregation</a:t>
            </a:r>
            <a:endParaRPr lang="fr-FR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29FB36E-486A-46AB-67A9-93C734464B43}"/>
              </a:ext>
            </a:extLst>
          </p:cNvPr>
          <p:cNvSpPr txBox="1"/>
          <p:nvPr/>
        </p:nvSpPr>
        <p:spPr>
          <a:xfrm>
            <a:off x="2567763" y="1759689"/>
            <a:ext cx="7732438" cy="45243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INSERT OVERWRITE </a:t>
            </a:r>
          </a:p>
          <a:p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       </a:t>
            </a:r>
            <a:r>
              <a:rPr lang="fr-FR" sz="2400" dirty="0" err="1">
                <a:latin typeface="Arial" panose="020B0604020202020204" pitchFamily="34" charset="0"/>
                <a:cs typeface="Arial" panose="020B0604020202020204" pitchFamily="34" charset="0"/>
              </a:rPr>
              <a:t>lake_team_domain.table</a:t>
            </a:r>
            <a:b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SELECT * FROM (</a:t>
            </a:r>
          </a:p>
          <a:p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     SELECT * FROM table1 WHERE ..</a:t>
            </a:r>
          </a:p>
          <a:p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   UNION</a:t>
            </a:r>
          </a:p>
          <a:p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     SELECT * FROM table2 WHERE ..</a:t>
            </a:r>
          </a:p>
          <a:p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   UNION</a:t>
            </a:r>
          </a:p>
          <a:p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     SELECT * FROM table3 WHERE ..</a:t>
            </a:r>
          </a:p>
          <a:p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   UNION</a:t>
            </a:r>
          </a:p>
          <a:p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     SELECT * FROM table4 WHERE ..</a:t>
            </a:r>
          </a:p>
          <a:p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SORT BY col1, col2, col3     -- idem </a:t>
            </a:r>
            <a:r>
              <a:rPr lang="fr-FR" sz="2400" dirty="0" err="1">
                <a:latin typeface="Arial" panose="020B0604020202020204" pitchFamily="34" charset="0"/>
                <a:cs typeface="Arial" panose="020B0604020202020204" pitchFamily="34" charset="0"/>
              </a:rPr>
              <a:t>sortWithinPartition</a:t>
            </a:r>
            <a:endParaRPr lang="fr-FR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44019072"/>
      </p:ext>
    </p:extLst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A1C7DA-D9DB-65B6-ADE0-70684E987F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/>
              <a:t>Example of « </a:t>
            </a:r>
            <a:r>
              <a:rPr lang="fr-FR" dirty="0" err="1"/>
              <a:t>latest</a:t>
            </a:r>
            <a:r>
              <a:rPr lang="fr-FR" dirty="0"/>
              <a:t> value » </a:t>
            </a:r>
            <a:r>
              <a:rPr lang="fr-FR" dirty="0" err="1"/>
              <a:t>cristalisation</a:t>
            </a:r>
            <a:br>
              <a:rPr lang="fr-FR" dirty="0"/>
            </a:br>
            <a:r>
              <a:rPr lang="fr-FR" dirty="0" err="1"/>
              <a:t>analytical</a:t>
            </a:r>
            <a:r>
              <a:rPr lang="fr-FR" dirty="0"/>
              <a:t> </a:t>
            </a:r>
            <a:r>
              <a:rPr lang="fr-FR" dirty="0" err="1"/>
              <a:t>query</a:t>
            </a:r>
            <a:r>
              <a:rPr lang="fr-FR" dirty="0"/>
              <a:t> « over(partition by) »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29FB36E-486A-46AB-67A9-93C734464B43}"/>
              </a:ext>
            </a:extLst>
          </p:cNvPr>
          <p:cNvSpPr txBox="1"/>
          <p:nvPr/>
        </p:nvSpPr>
        <p:spPr>
          <a:xfrm>
            <a:off x="629343" y="2248785"/>
            <a:ext cx="11245066" cy="41549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INSERT OVERWRITE </a:t>
            </a:r>
          </a:p>
          <a:p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       </a:t>
            </a:r>
            <a:r>
              <a:rPr lang="fr-FR" sz="2400" dirty="0" err="1">
                <a:latin typeface="Arial" panose="020B0604020202020204" pitchFamily="34" charset="0"/>
                <a:cs typeface="Arial" panose="020B0604020202020204" pitchFamily="34" charset="0"/>
              </a:rPr>
              <a:t>lake_team_domain.table</a:t>
            </a:r>
            <a:b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SELECT </a:t>
            </a:r>
          </a:p>
          <a:p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   col1,col2,…. </a:t>
            </a:r>
            <a:r>
              <a:rPr lang="fr-FR" sz="2400" dirty="0" err="1">
                <a:latin typeface="Arial" panose="020B0604020202020204" pitchFamily="34" charset="0"/>
                <a:cs typeface="Arial" panose="020B0604020202020204" pitchFamily="34" charset="0"/>
              </a:rPr>
              <a:t>colN</a:t>
            </a:r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    -- idem * EXCEPT </a:t>
            </a:r>
            <a:r>
              <a:rPr lang="fr-FR" sz="2400" dirty="0" err="1">
                <a:latin typeface="Arial" panose="020B0604020202020204" pitchFamily="34" charset="0"/>
                <a:cs typeface="Arial" panose="020B0604020202020204" pitchFamily="34" charset="0"/>
              </a:rPr>
              <a:t>rank</a:t>
            </a:r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   (</a:t>
            </a:r>
            <a:r>
              <a:rPr lang="fr-FR" sz="2400" dirty="0" err="1">
                <a:latin typeface="Arial" panose="020B0604020202020204" pitchFamily="34" charset="0"/>
                <a:cs typeface="Arial" panose="020B0604020202020204" pitchFamily="34" charset="0"/>
              </a:rPr>
              <a:t>cf</a:t>
            </a:r>
            <a:r>
              <a:rPr lang="fr-FR" sz="2400">
                <a:latin typeface="Arial" panose="020B0604020202020204" pitchFamily="34" charset="0"/>
                <a:cs typeface="Arial" panose="020B0604020202020204" pitchFamily="34" charset="0"/>
              </a:rPr>
              <a:t> issue SPARK-33164)</a:t>
            </a:r>
            <a:endParaRPr lang="fr-FR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FROM (</a:t>
            </a:r>
          </a:p>
          <a:p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   SELECT *,</a:t>
            </a:r>
          </a:p>
          <a:p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      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RANK() OVER (PARTITION BY id ORDER BY </a:t>
            </a:r>
            <a:r>
              <a:rPr lang="en-US"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update_time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 DESC) as rank</a:t>
            </a:r>
            <a:endParaRPr lang="fr-FR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   FROM </a:t>
            </a:r>
            <a:r>
              <a:rPr lang="fr-FR" sz="2400" dirty="0" err="1">
                <a:latin typeface="Arial" panose="020B0604020202020204" pitchFamily="34" charset="0"/>
                <a:cs typeface="Arial" panose="020B0604020202020204" pitchFamily="34" charset="0"/>
              </a:rPr>
              <a:t>lake_team_domain.event_table</a:t>
            </a:r>
            <a:endParaRPr lang="fr-FR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r>
              <a:rPr lang="fr-FR" sz="2400" b="1" dirty="0">
                <a:latin typeface="Arial" panose="020B0604020202020204" pitchFamily="34" charset="0"/>
                <a:cs typeface="Arial" panose="020B0604020202020204" pitchFamily="34" charset="0"/>
              </a:rPr>
              <a:t>WHERE </a:t>
            </a:r>
            <a:r>
              <a:rPr lang="fr-FR"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rank</a:t>
            </a:r>
            <a:r>
              <a:rPr lang="fr-FR" sz="2400" b="1" dirty="0">
                <a:latin typeface="Arial" panose="020B0604020202020204" pitchFamily="34" charset="0"/>
                <a:cs typeface="Arial" panose="020B0604020202020204" pitchFamily="34" charset="0"/>
              </a:rPr>
              <a:t>=1</a:t>
            </a:r>
          </a:p>
          <a:p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SORT BY col1, col2, col3     -- idem </a:t>
            </a:r>
            <a:r>
              <a:rPr lang="fr-FR" sz="2400" dirty="0" err="1">
                <a:latin typeface="Arial" panose="020B0604020202020204" pitchFamily="34" charset="0"/>
                <a:cs typeface="Arial" panose="020B0604020202020204" pitchFamily="34" charset="0"/>
              </a:rPr>
              <a:t>sortWithinPartition</a:t>
            </a:r>
            <a:endParaRPr lang="fr-FR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58959137"/>
      </p:ext>
    </p:extLst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712250-A358-41E5-F183-E42BF453F0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0012"/>
            <a:ext cx="10515600" cy="1325563"/>
          </a:xfrm>
        </p:spPr>
        <p:txBody>
          <a:bodyPr/>
          <a:lstStyle/>
          <a:p>
            <a:pPr algn="ctr"/>
            <a:r>
              <a:rPr lang="fr-FR" dirty="0"/>
              <a:t>Example of a « Small » Data </a:t>
            </a:r>
            <a:r>
              <a:rPr lang="fr-FR" dirty="0" err="1"/>
              <a:t>Processing</a:t>
            </a:r>
            <a:br>
              <a:rPr lang="fr-FR" dirty="0"/>
            </a:br>
            <a:r>
              <a:rPr lang="fr-FR" dirty="0" err="1"/>
              <a:t>resource</a:t>
            </a:r>
            <a:r>
              <a:rPr lang="fr-FR" dirty="0"/>
              <a:t> </a:t>
            </a:r>
            <a:r>
              <a:rPr lang="fr-FR" dirty="0" err="1"/>
              <a:t>needed</a:t>
            </a:r>
            <a:r>
              <a:rPr lang="fr-FR" dirty="0"/>
              <a:t> = RAM</a:t>
            </a:r>
          </a:p>
        </p:txBody>
      </p:sp>
      <p:sp>
        <p:nvSpPr>
          <p:cNvPr id="4" name="Cylinder 3">
            <a:extLst>
              <a:ext uri="{FF2B5EF4-FFF2-40B4-BE49-F238E27FC236}">
                <a16:creationId xmlns:a16="http://schemas.microsoft.com/office/drawing/2014/main" id="{70245DFA-8E9C-A481-D372-A4F9C8117468}"/>
              </a:ext>
            </a:extLst>
          </p:cNvPr>
          <p:cNvSpPr/>
          <p:nvPr/>
        </p:nvSpPr>
        <p:spPr>
          <a:xfrm>
            <a:off x="4431437" y="3593470"/>
            <a:ext cx="741286" cy="621437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Cylinder 4">
            <a:extLst>
              <a:ext uri="{FF2B5EF4-FFF2-40B4-BE49-F238E27FC236}">
                <a16:creationId xmlns:a16="http://schemas.microsoft.com/office/drawing/2014/main" id="{93DAA275-1D4E-9E52-4B4F-9FFAEF007874}"/>
              </a:ext>
            </a:extLst>
          </p:cNvPr>
          <p:cNvSpPr/>
          <p:nvPr/>
        </p:nvSpPr>
        <p:spPr>
          <a:xfrm>
            <a:off x="4431437" y="4353990"/>
            <a:ext cx="741286" cy="621437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Cylinder 5">
            <a:extLst>
              <a:ext uri="{FF2B5EF4-FFF2-40B4-BE49-F238E27FC236}">
                <a16:creationId xmlns:a16="http://schemas.microsoft.com/office/drawing/2014/main" id="{40140E2E-39D7-609F-F5CF-F26722A99167}"/>
              </a:ext>
            </a:extLst>
          </p:cNvPr>
          <p:cNvSpPr/>
          <p:nvPr/>
        </p:nvSpPr>
        <p:spPr>
          <a:xfrm>
            <a:off x="4431437" y="5074560"/>
            <a:ext cx="741286" cy="621437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Cylinder 6">
            <a:extLst>
              <a:ext uri="{FF2B5EF4-FFF2-40B4-BE49-F238E27FC236}">
                <a16:creationId xmlns:a16="http://schemas.microsoft.com/office/drawing/2014/main" id="{77C5272E-D11F-CF7B-1D25-FBC03F5A35C7}"/>
              </a:ext>
            </a:extLst>
          </p:cNvPr>
          <p:cNvSpPr/>
          <p:nvPr/>
        </p:nvSpPr>
        <p:spPr>
          <a:xfrm>
            <a:off x="986902" y="2326666"/>
            <a:ext cx="1294660" cy="937102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3A9A5EB-4559-4715-8487-6CF36C6B31EA}"/>
              </a:ext>
            </a:extLst>
          </p:cNvPr>
          <p:cNvSpPr txBox="1"/>
          <p:nvPr/>
        </p:nvSpPr>
        <p:spPr>
          <a:xfrm>
            <a:off x="356772" y="3420381"/>
            <a:ext cx="393934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/>
              <a:t>Extract</a:t>
            </a:r>
            <a:r>
              <a:rPr lang="fr-FR" dirty="0"/>
              <a:t> all the </a:t>
            </a:r>
            <a:r>
              <a:rPr lang="fr-FR" dirty="0" err="1"/>
              <a:t>Trades</a:t>
            </a:r>
            <a:r>
              <a:rPr lang="fr-FR" dirty="0"/>
              <a:t> on </a:t>
            </a:r>
            <a:r>
              <a:rPr lang="fr-FR" dirty="0" err="1"/>
              <a:t>perimeter</a:t>
            </a:r>
            <a:r>
              <a:rPr lang="fr-FR" dirty="0"/>
              <a:t> « X »</a:t>
            </a:r>
          </a:p>
          <a:p>
            <a:r>
              <a:rPr lang="fr-FR" dirty="0" err="1"/>
              <a:t>Since</a:t>
            </a:r>
            <a:r>
              <a:rPr lang="fr-FR" dirty="0"/>
              <a:t> &lt;= 3 </a:t>
            </a:r>
            <a:r>
              <a:rPr lang="fr-FR" dirty="0" err="1"/>
              <a:t>Years</a:t>
            </a:r>
            <a:endParaRPr lang="fr-FR" dirty="0"/>
          </a:p>
        </p:txBody>
      </p:sp>
      <p:sp>
        <p:nvSpPr>
          <p:cNvPr id="9" name="Arrow: Down 8">
            <a:extLst>
              <a:ext uri="{FF2B5EF4-FFF2-40B4-BE49-F238E27FC236}">
                <a16:creationId xmlns:a16="http://schemas.microsoft.com/office/drawing/2014/main" id="{6D4400CA-8507-2FB7-A29B-07A4C7A9147B}"/>
              </a:ext>
            </a:extLst>
          </p:cNvPr>
          <p:cNvSpPr/>
          <p:nvPr/>
        </p:nvSpPr>
        <p:spPr>
          <a:xfrm rot="16200000">
            <a:off x="3076416" y="2411879"/>
            <a:ext cx="492491" cy="759896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C7AE3A7-932B-2CF9-7A74-FDD6E3E938AA}"/>
              </a:ext>
            </a:extLst>
          </p:cNvPr>
          <p:cNvSpPr txBox="1"/>
          <p:nvPr/>
        </p:nvSpPr>
        <p:spPr>
          <a:xfrm>
            <a:off x="3967025" y="2533076"/>
            <a:ext cx="182812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/>
              <a:t>Enrich</a:t>
            </a:r>
            <a:r>
              <a:rPr lang="fr-FR" dirty="0"/>
              <a:t> « JOIN »</a:t>
            </a:r>
          </a:p>
          <a:p>
            <a:r>
              <a:rPr lang="fr-FR" dirty="0" err="1"/>
              <a:t>With</a:t>
            </a:r>
            <a:r>
              <a:rPr lang="fr-FR" dirty="0"/>
              <a:t> </a:t>
            </a:r>
            <a:r>
              <a:rPr lang="fr-FR" dirty="0" err="1"/>
              <a:t>other</a:t>
            </a:r>
            <a:r>
              <a:rPr lang="fr-FR" dirty="0"/>
              <a:t> tables</a:t>
            </a:r>
          </a:p>
        </p:txBody>
      </p:sp>
      <p:sp>
        <p:nvSpPr>
          <p:cNvPr id="11" name="Arrow: Down 10">
            <a:extLst>
              <a:ext uri="{FF2B5EF4-FFF2-40B4-BE49-F238E27FC236}">
                <a16:creationId xmlns:a16="http://schemas.microsoft.com/office/drawing/2014/main" id="{E60EBA3B-A631-EC8A-E966-B3142CF67C3B}"/>
              </a:ext>
            </a:extLst>
          </p:cNvPr>
          <p:cNvSpPr/>
          <p:nvPr/>
        </p:nvSpPr>
        <p:spPr>
          <a:xfrm rot="16200000">
            <a:off x="6244072" y="2450943"/>
            <a:ext cx="492491" cy="717611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2342661-C707-4B6C-DE31-4AEC0BF9876C}"/>
              </a:ext>
            </a:extLst>
          </p:cNvPr>
          <p:cNvSpPr txBox="1"/>
          <p:nvPr/>
        </p:nvSpPr>
        <p:spPr>
          <a:xfrm>
            <a:off x="6976303" y="2393141"/>
            <a:ext cx="1839158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Basic </a:t>
            </a:r>
            <a:r>
              <a:rPr lang="fr-FR" dirty="0" err="1"/>
              <a:t>Compute</a:t>
            </a:r>
            <a:endParaRPr lang="fr-FR" dirty="0"/>
          </a:p>
          <a:p>
            <a:r>
              <a:rPr lang="fr-FR" dirty="0"/>
              <a:t>SQL </a:t>
            </a:r>
          </a:p>
          <a:p>
            <a:r>
              <a:rPr lang="fr-FR" dirty="0"/>
              <a:t>Select  .. </a:t>
            </a:r>
            <a:r>
              <a:rPr lang="fr-FR" dirty="0" err="1"/>
              <a:t>where</a:t>
            </a:r>
            <a:r>
              <a:rPr lang="fr-FR" dirty="0"/>
              <a:t>  ..</a:t>
            </a:r>
          </a:p>
          <a:p>
            <a:endParaRPr lang="fr-FR" dirty="0"/>
          </a:p>
        </p:txBody>
      </p:sp>
      <p:sp>
        <p:nvSpPr>
          <p:cNvPr id="13" name="Arrow: Down 12">
            <a:extLst>
              <a:ext uri="{FF2B5EF4-FFF2-40B4-BE49-F238E27FC236}">
                <a16:creationId xmlns:a16="http://schemas.microsoft.com/office/drawing/2014/main" id="{30E8DE94-B74D-F1B7-6941-1623C24C10FD}"/>
              </a:ext>
            </a:extLst>
          </p:cNvPr>
          <p:cNvSpPr/>
          <p:nvPr/>
        </p:nvSpPr>
        <p:spPr>
          <a:xfrm rot="16200000">
            <a:off x="8941087" y="2453242"/>
            <a:ext cx="492491" cy="68394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8520DEA-BB55-5FB9-3511-2EAA42F782D5}"/>
              </a:ext>
            </a:extLst>
          </p:cNvPr>
          <p:cNvSpPr txBox="1"/>
          <p:nvPr/>
        </p:nvSpPr>
        <p:spPr>
          <a:xfrm>
            <a:off x="9818501" y="2367680"/>
            <a:ext cx="229951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Save </a:t>
            </a:r>
            <a:r>
              <a:rPr lang="fr-FR" dirty="0" err="1"/>
              <a:t>Result</a:t>
            </a:r>
            <a:endParaRPr lang="fr-FR" dirty="0"/>
          </a:p>
          <a:p>
            <a:r>
              <a:rPr lang="fr-FR" dirty="0"/>
              <a:t>Export to OLAP Cube</a:t>
            </a:r>
          </a:p>
        </p:txBody>
      </p:sp>
      <p:pic>
        <p:nvPicPr>
          <p:cNvPr id="9218" name="Picture 2" descr="GitHub - feonit/olap-cube-js: olap cube javascript">
            <a:extLst>
              <a:ext uri="{FF2B5EF4-FFF2-40B4-BE49-F238E27FC236}">
                <a16:creationId xmlns:a16="http://schemas.microsoft.com/office/drawing/2014/main" id="{E116544E-EF8A-F403-5223-85BBDCF177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42954" y="3038073"/>
            <a:ext cx="1375394" cy="14316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401F4B4A-9AF3-06EA-3D8B-0BF42D3BFCE4}"/>
              </a:ext>
            </a:extLst>
          </p:cNvPr>
          <p:cNvSpPr txBox="1"/>
          <p:nvPr/>
        </p:nvSpPr>
        <p:spPr>
          <a:xfrm>
            <a:off x="6498455" y="4975427"/>
            <a:ext cx="495151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 err="1"/>
              <a:t>Processing</a:t>
            </a:r>
            <a:r>
              <a:rPr lang="fr-FR" sz="2000" dirty="0"/>
              <a:t> on Azure </a:t>
            </a:r>
          </a:p>
          <a:p>
            <a:r>
              <a:rPr lang="fr-FR" sz="2000" dirty="0" err="1"/>
              <a:t>using</a:t>
            </a:r>
            <a:r>
              <a:rPr lang="fr-FR" sz="2000" dirty="0"/>
              <a:t> cluster 10 x D14   (100 000 euros/</a:t>
            </a:r>
            <a:r>
              <a:rPr lang="fr-FR" sz="2000" dirty="0" err="1"/>
              <a:t>year</a:t>
            </a:r>
            <a:r>
              <a:rPr lang="fr-FR" sz="2000" dirty="0"/>
              <a:t>)</a:t>
            </a:r>
          </a:p>
          <a:p>
            <a:r>
              <a:rPr lang="fr-FR" sz="2000" dirty="0"/>
              <a:t>ONLY 600 Giga of RAM data … </a:t>
            </a:r>
          </a:p>
          <a:p>
            <a:r>
              <a:rPr lang="fr-FR" sz="2000" dirty="0"/>
              <a:t>NOT </a:t>
            </a:r>
            <a:r>
              <a:rPr lang="fr-FR" sz="2000" dirty="0" err="1"/>
              <a:t>Enough</a:t>
            </a:r>
            <a:r>
              <a:rPr lang="fr-FR" sz="2000" dirty="0"/>
              <a:t> =&gt; </a:t>
            </a:r>
            <a:r>
              <a:rPr lang="fr-FR" sz="2000" dirty="0" err="1"/>
              <a:t>Swapping</a:t>
            </a:r>
            <a:r>
              <a:rPr lang="fr-FR" sz="2000" dirty="0"/>
              <a:t> =&gt; </a:t>
            </a:r>
            <a:r>
              <a:rPr lang="fr-FR" sz="2000" dirty="0" err="1"/>
              <a:t>take</a:t>
            </a:r>
            <a:r>
              <a:rPr lang="fr-FR" sz="2000" dirty="0"/>
              <a:t> 4 </a:t>
            </a:r>
            <a:r>
              <a:rPr lang="fr-FR" sz="2000" dirty="0" err="1"/>
              <a:t>Hours</a:t>
            </a:r>
            <a:endParaRPr lang="fr-FR" sz="2000" dirty="0"/>
          </a:p>
        </p:txBody>
      </p:sp>
    </p:spTree>
    <p:extLst>
      <p:ext uri="{BB962C8B-B14F-4D97-AF65-F5344CB8AC3E}">
        <p14:creationId xmlns:p14="http://schemas.microsoft.com/office/powerpoint/2010/main" val="3894224124"/>
      </p:ext>
    </p:extLst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Flowchart: Document 24">
            <a:extLst>
              <a:ext uri="{FF2B5EF4-FFF2-40B4-BE49-F238E27FC236}">
                <a16:creationId xmlns:a16="http://schemas.microsoft.com/office/drawing/2014/main" id="{DF4B59D4-2003-8116-B1CB-9261D8133243}"/>
              </a:ext>
            </a:extLst>
          </p:cNvPr>
          <p:cNvSpPr/>
          <p:nvPr/>
        </p:nvSpPr>
        <p:spPr>
          <a:xfrm>
            <a:off x="661386" y="1977045"/>
            <a:ext cx="2081814" cy="1629052"/>
          </a:xfrm>
          <a:prstGeom prst="flowChartDocumen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344934F-2E30-86C5-B36E-0DCEC84000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4186" y="365125"/>
            <a:ext cx="11873884" cy="1325563"/>
          </a:xfrm>
        </p:spPr>
        <p:txBody>
          <a:bodyPr/>
          <a:lstStyle/>
          <a:p>
            <a:pPr algn="ctr"/>
            <a:r>
              <a:rPr lang="fr-FR" dirty="0"/>
              <a:t>Example of a Slow « Un-</a:t>
            </a:r>
            <a:r>
              <a:rPr lang="fr-FR" dirty="0" err="1"/>
              <a:t>parallelized</a:t>
            </a:r>
            <a:r>
              <a:rPr lang="fr-FR" dirty="0"/>
              <a:t> » </a:t>
            </a:r>
            <a:r>
              <a:rPr lang="fr-FR" dirty="0" err="1"/>
              <a:t>Processing</a:t>
            </a:r>
            <a:br>
              <a:rPr lang="fr-FR" dirty="0"/>
            </a:br>
            <a:r>
              <a:rPr lang="fr-FR" dirty="0" err="1"/>
              <a:t>resource</a:t>
            </a:r>
            <a:r>
              <a:rPr lang="fr-FR" dirty="0"/>
              <a:t> </a:t>
            </a:r>
            <a:r>
              <a:rPr lang="fr-FR" dirty="0" err="1"/>
              <a:t>needed</a:t>
            </a:r>
            <a:r>
              <a:rPr lang="fr-FR" dirty="0"/>
              <a:t> = CPU x Time x ..</a:t>
            </a:r>
          </a:p>
        </p:txBody>
      </p:sp>
      <p:sp>
        <p:nvSpPr>
          <p:cNvPr id="4" name="Cylinder 3">
            <a:extLst>
              <a:ext uri="{FF2B5EF4-FFF2-40B4-BE49-F238E27FC236}">
                <a16:creationId xmlns:a16="http://schemas.microsoft.com/office/drawing/2014/main" id="{F32F1CFC-86E3-D6FB-CE1C-808C36078BEC}"/>
              </a:ext>
            </a:extLst>
          </p:cNvPr>
          <p:cNvSpPr/>
          <p:nvPr/>
        </p:nvSpPr>
        <p:spPr>
          <a:xfrm>
            <a:off x="7470182" y="4129894"/>
            <a:ext cx="1294660" cy="296685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Arrow: Down 4">
            <a:extLst>
              <a:ext uri="{FF2B5EF4-FFF2-40B4-BE49-F238E27FC236}">
                <a16:creationId xmlns:a16="http://schemas.microsoft.com/office/drawing/2014/main" id="{220C54B8-1D07-7E88-F3D5-79316C1B6D46}"/>
              </a:ext>
            </a:extLst>
          </p:cNvPr>
          <p:cNvSpPr/>
          <p:nvPr/>
        </p:nvSpPr>
        <p:spPr>
          <a:xfrm rot="16200000">
            <a:off x="3076416" y="2411879"/>
            <a:ext cx="492491" cy="759896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Cylinder 6">
            <a:extLst>
              <a:ext uri="{FF2B5EF4-FFF2-40B4-BE49-F238E27FC236}">
                <a16:creationId xmlns:a16="http://schemas.microsoft.com/office/drawing/2014/main" id="{5CE78199-718F-AD0D-FFB5-D1FCF0CFAC38}"/>
              </a:ext>
            </a:extLst>
          </p:cNvPr>
          <p:cNvSpPr/>
          <p:nvPr/>
        </p:nvSpPr>
        <p:spPr>
          <a:xfrm>
            <a:off x="10176534" y="4374137"/>
            <a:ext cx="1294660" cy="1536886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1DEB1FB-D09C-11F8-289B-3405DA17B4CA}"/>
              </a:ext>
            </a:extLst>
          </p:cNvPr>
          <p:cNvSpPr txBox="1"/>
          <p:nvPr/>
        </p:nvSpPr>
        <p:spPr>
          <a:xfrm>
            <a:off x="532660" y="3606097"/>
            <a:ext cx="4320029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/>
              <a:t>Appending</a:t>
            </a:r>
            <a:r>
              <a:rPr lang="fr-FR" dirty="0"/>
              <a:t> </a:t>
            </a:r>
            <a:r>
              <a:rPr lang="fr-FR" dirty="0" err="1"/>
              <a:t>every</a:t>
            </a:r>
            <a:r>
              <a:rPr lang="fr-FR" dirty="0"/>
              <a:t> </a:t>
            </a:r>
            <a:r>
              <a:rPr lang="fr-FR" dirty="0" err="1"/>
              <a:t>day</a:t>
            </a:r>
            <a:endParaRPr lang="fr-FR" dirty="0"/>
          </a:p>
          <a:p>
            <a:r>
              <a:rPr lang="fr-FR" dirty="0"/>
              <a:t>~1 </a:t>
            </a:r>
            <a:r>
              <a:rPr lang="fr-FR" dirty="0" err="1"/>
              <a:t>Avro</a:t>
            </a:r>
            <a:r>
              <a:rPr lang="fr-FR" dirty="0"/>
              <a:t> file, </a:t>
            </a:r>
            <a:r>
              <a:rPr lang="fr-FR" dirty="0" err="1"/>
              <a:t>containing</a:t>
            </a:r>
            <a:r>
              <a:rPr lang="fr-FR" dirty="0"/>
              <a:t> </a:t>
            </a:r>
          </a:p>
          <a:p>
            <a:r>
              <a:rPr lang="fr-FR" dirty="0"/>
              <a:t>~50 Millions of  &lt;XML&gt;..&lt;/XML&gt;</a:t>
            </a:r>
          </a:p>
          <a:p>
            <a:r>
              <a:rPr lang="fr-FR" dirty="0"/>
              <a:t>~70 </a:t>
            </a:r>
            <a:r>
              <a:rPr lang="fr-FR" dirty="0" err="1"/>
              <a:t>Mega</a:t>
            </a:r>
            <a:r>
              <a:rPr lang="fr-FR" dirty="0"/>
              <a:t> bytes</a:t>
            </a:r>
          </a:p>
          <a:p>
            <a:endParaRPr lang="fr-FR" dirty="0"/>
          </a:p>
          <a:p>
            <a:r>
              <a:rPr lang="fr-FR" dirty="0"/>
              <a:t>(updates on </a:t>
            </a:r>
            <a:r>
              <a:rPr lang="fr-FR" dirty="0" err="1"/>
              <a:t>EquityOption</a:t>
            </a:r>
            <a:r>
              <a:rPr lang="fr-FR" dirty="0"/>
              <a:t> </a:t>
            </a:r>
            <a:r>
              <a:rPr lang="fr-FR" dirty="0" err="1"/>
              <a:t>trade</a:t>
            </a:r>
            <a:r>
              <a:rPr lang="fr-FR" dirty="0"/>
              <a:t> description)</a:t>
            </a:r>
          </a:p>
        </p:txBody>
      </p:sp>
      <p:sp>
        <p:nvSpPr>
          <p:cNvPr id="9" name="Arrow: Down 8">
            <a:extLst>
              <a:ext uri="{FF2B5EF4-FFF2-40B4-BE49-F238E27FC236}">
                <a16:creationId xmlns:a16="http://schemas.microsoft.com/office/drawing/2014/main" id="{DCC2D412-DD48-72E6-FE5E-C3DF5EF41FF5}"/>
              </a:ext>
            </a:extLst>
          </p:cNvPr>
          <p:cNvSpPr/>
          <p:nvPr/>
        </p:nvSpPr>
        <p:spPr>
          <a:xfrm rot="16200000">
            <a:off x="9301427" y="4684795"/>
            <a:ext cx="492491" cy="759896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Arrow: Curved Left 9">
            <a:extLst>
              <a:ext uri="{FF2B5EF4-FFF2-40B4-BE49-F238E27FC236}">
                <a16:creationId xmlns:a16="http://schemas.microsoft.com/office/drawing/2014/main" id="{FFA3ED6A-7535-0A5D-1CB9-0603AA50E365}"/>
              </a:ext>
            </a:extLst>
          </p:cNvPr>
          <p:cNvSpPr/>
          <p:nvPr/>
        </p:nvSpPr>
        <p:spPr>
          <a:xfrm>
            <a:off x="6019060" y="2849732"/>
            <a:ext cx="310719" cy="492492"/>
          </a:xfrm>
          <a:prstGeom prst="curved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75AF4CC-8DED-ECC1-3904-C6AE5698CF82}"/>
              </a:ext>
            </a:extLst>
          </p:cNvPr>
          <p:cNvSpPr/>
          <p:nvPr/>
        </p:nvSpPr>
        <p:spPr>
          <a:xfrm>
            <a:off x="4452151" y="3554229"/>
            <a:ext cx="1398233" cy="26722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518E5B9-50E1-9FBC-CD77-25FC16AE66CE}"/>
              </a:ext>
            </a:extLst>
          </p:cNvPr>
          <p:cNvSpPr/>
          <p:nvPr/>
        </p:nvSpPr>
        <p:spPr>
          <a:xfrm>
            <a:off x="4604552" y="3706629"/>
            <a:ext cx="335872" cy="26722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AA5706A-BE89-2CDB-CB71-150FAE7A2377}"/>
              </a:ext>
            </a:extLst>
          </p:cNvPr>
          <p:cNvSpPr/>
          <p:nvPr/>
        </p:nvSpPr>
        <p:spPr>
          <a:xfrm>
            <a:off x="5036892" y="3706629"/>
            <a:ext cx="335872" cy="26722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5738009-D649-FD27-678C-5FDB64737C90}"/>
              </a:ext>
            </a:extLst>
          </p:cNvPr>
          <p:cNvSpPr/>
          <p:nvPr/>
        </p:nvSpPr>
        <p:spPr>
          <a:xfrm>
            <a:off x="5453251" y="3706629"/>
            <a:ext cx="335872" cy="26722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E1B71B2-EF96-EDC9-08D1-2C6A99AC61A3}"/>
              </a:ext>
            </a:extLst>
          </p:cNvPr>
          <p:cNvSpPr/>
          <p:nvPr/>
        </p:nvSpPr>
        <p:spPr>
          <a:xfrm>
            <a:off x="5605651" y="3859029"/>
            <a:ext cx="98252" cy="26722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0DCF732-EDFD-1602-A381-B17A92E078FB}"/>
              </a:ext>
            </a:extLst>
          </p:cNvPr>
          <p:cNvSpPr txBox="1"/>
          <p:nvPr/>
        </p:nvSpPr>
        <p:spPr>
          <a:xfrm>
            <a:off x="4767295" y="2305431"/>
            <a:ext cx="8306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&lt;XML&gt;</a:t>
            </a:r>
          </a:p>
        </p:txBody>
      </p:sp>
      <p:sp>
        <p:nvSpPr>
          <p:cNvPr id="18" name="Rectangle: Folded Corner 17">
            <a:extLst>
              <a:ext uri="{FF2B5EF4-FFF2-40B4-BE49-F238E27FC236}">
                <a16:creationId xmlns:a16="http://schemas.microsoft.com/office/drawing/2014/main" id="{66FB8113-FB38-12DC-2F69-77139716209C}"/>
              </a:ext>
            </a:extLst>
          </p:cNvPr>
          <p:cNvSpPr/>
          <p:nvPr/>
        </p:nvSpPr>
        <p:spPr>
          <a:xfrm>
            <a:off x="4842464" y="2640035"/>
            <a:ext cx="626181" cy="492492"/>
          </a:xfrm>
          <a:prstGeom prst="foldedCorne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9" name="Rectangle: Folded Corner 18">
            <a:extLst>
              <a:ext uri="{FF2B5EF4-FFF2-40B4-BE49-F238E27FC236}">
                <a16:creationId xmlns:a16="http://schemas.microsoft.com/office/drawing/2014/main" id="{E9D5514B-2639-8036-4EC7-9918377BA90C}"/>
              </a:ext>
            </a:extLst>
          </p:cNvPr>
          <p:cNvSpPr/>
          <p:nvPr/>
        </p:nvSpPr>
        <p:spPr>
          <a:xfrm>
            <a:off x="856498" y="2029827"/>
            <a:ext cx="626181" cy="492492"/>
          </a:xfrm>
          <a:prstGeom prst="foldedCorne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0" name="Rectangle: Folded Corner 19">
            <a:extLst>
              <a:ext uri="{FF2B5EF4-FFF2-40B4-BE49-F238E27FC236}">
                <a16:creationId xmlns:a16="http://schemas.microsoft.com/office/drawing/2014/main" id="{E2B7D922-1E4B-7A20-804B-DFA92796520B}"/>
              </a:ext>
            </a:extLst>
          </p:cNvPr>
          <p:cNvSpPr/>
          <p:nvPr/>
        </p:nvSpPr>
        <p:spPr>
          <a:xfrm>
            <a:off x="1008898" y="2182227"/>
            <a:ext cx="626181" cy="492492"/>
          </a:xfrm>
          <a:prstGeom prst="foldedCorne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1" name="Rectangle: Folded Corner 20">
            <a:extLst>
              <a:ext uri="{FF2B5EF4-FFF2-40B4-BE49-F238E27FC236}">
                <a16:creationId xmlns:a16="http://schemas.microsoft.com/office/drawing/2014/main" id="{B377C882-6CF7-1F9A-1A11-2E40ABC06671}"/>
              </a:ext>
            </a:extLst>
          </p:cNvPr>
          <p:cNvSpPr/>
          <p:nvPr/>
        </p:nvSpPr>
        <p:spPr>
          <a:xfrm>
            <a:off x="1161298" y="2334627"/>
            <a:ext cx="626181" cy="492492"/>
          </a:xfrm>
          <a:prstGeom prst="foldedCorne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2" name="Rectangle: Folded Corner 21">
            <a:extLst>
              <a:ext uri="{FF2B5EF4-FFF2-40B4-BE49-F238E27FC236}">
                <a16:creationId xmlns:a16="http://schemas.microsoft.com/office/drawing/2014/main" id="{F09E7943-F54C-D84D-5284-E390B0FE5095}"/>
              </a:ext>
            </a:extLst>
          </p:cNvPr>
          <p:cNvSpPr/>
          <p:nvPr/>
        </p:nvSpPr>
        <p:spPr>
          <a:xfrm>
            <a:off x="1313698" y="2487027"/>
            <a:ext cx="626181" cy="492492"/>
          </a:xfrm>
          <a:prstGeom prst="foldedCorne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3" name="Rectangle: Folded Corner 22">
            <a:extLst>
              <a:ext uri="{FF2B5EF4-FFF2-40B4-BE49-F238E27FC236}">
                <a16:creationId xmlns:a16="http://schemas.microsoft.com/office/drawing/2014/main" id="{3119DA17-1EEB-B616-FE50-FF4ACF698F3F}"/>
              </a:ext>
            </a:extLst>
          </p:cNvPr>
          <p:cNvSpPr/>
          <p:nvPr/>
        </p:nvSpPr>
        <p:spPr>
          <a:xfrm>
            <a:off x="1466098" y="2639427"/>
            <a:ext cx="626181" cy="492492"/>
          </a:xfrm>
          <a:prstGeom prst="foldedCorne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4" name="Rectangle: Folded Corner 23">
            <a:extLst>
              <a:ext uri="{FF2B5EF4-FFF2-40B4-BE49-F238E27FC236}">
                <a16:creationId xmlns:a16="http://schemas.microsoft.com/office/drawing/2014/main" id="{D944CC79-1FB8-5263-2124-613B989A7BAE}"/>
              </a:ext>
            </a:extLst>
          </p:cNvPr>
          <p:cNvSpPr/>
          <p:nvPr/>
        </p:nvSpPr>
        <p:spPr>
          <a:xfrm>
            <a:off x="1618498" y="2791827"/>
            <a:ext cx="626181" cy="492492"/>
          </a:xfrm>
          <a:prstGeom prst="foldedCorne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726D63B-A4E8-42A2-FF44-81C1B09A35E5}"/>
              </a:ext>
            </a:extLst>
          </p:cNvPr>
          <p:cNvSpPr txBox="1"/>
          <p:nvPr/>
        </p:nvSpPr>
        <p:spPr>
          <a:xfrm>
            <a:off x="5431057" y="1943496"/>
            <a:ext cx="3453638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For </a:t>
            </a:r>
            <a:r>
              <a:rPr lang="fr-FR" dirty="0" err="1"/>
              <a:t>each</a:t>
            </a:r>
            <a:r>
              <a:rPr lang="fr-FR" dirty="0"/>
              <a:t> XML, </a:t>
            </a:r>
            <a:r>
              <a:rPr lang="fr-FR" dirty="0" err="1"/>
              <a:t>extract</a:t>
            </a:r>
            <a:endParaRPr lang="fr-FR" dirty="0"/>
          </a:p>
          <a:p>
            <a:r>
              <a:rPr lang="fr-FR" dirty="0"/>
              <a:t>   </a:t>
            </a:r>
            <a:r>
              <a:rPr lang="fr-FR" dirty="0" err="1"/>
              <a:t>xpath</a:t>
            </a:r>
            <a:r>
              <a:rPr lang="fr-FR" dirty="0"/>
              <a:t>(« a/b/c/d/e ») as column1,</a:t>
            </a:r>
          </a:p>
          <a:p>
            <a:r>
              <a:rPr lang="fr-FR" dirty="0"/>
              <a:t>   </a:t>
            </a:r>
            <a:r>
              <a:rPr lang="fr-FR" dirty="0" err="1"/>
              <a:t>xpath</a:t>
            </a:r>
            <a:r>
              <a:rPr lang="fr-FR" dirty="0"/>
              <a:t>(« a/b/f/g/h ») as column2,</a:t>
            </a:r>
          </a:p>
          <a:p>
            <a:r>
              <a:rPr lang="fr-FR" dirty="0"/>
              <a:t>                             ….  as column150,</a:t>
            </a:r>
          </a:p>
        </p:txBody>
      </p:sp>
      <p:sp>
        <p:nvSpPr>
          <p:cNvPr id="27" name="Arrow: Down 26">
            <a:extLst>
              <a:ext uri="{FF2B5EF4-FFF2-40B4-BE49-F238E27FC236}">
                <a16:creationId xmlns:a16="http://schemas.microsoft.com/office/drawing/2014/main" id="{BF4D7F81-11C3-EFDA-6AFC-85929E2A58D8}"/>
              </a:ext>
            </a:extLst>
          </p:cNvPr>
          <p:cNvSpPr/>
          <p:nvPr/>
        </p:nvSpPr>
        <p:spPr>
          <a:xfrm rot="16200000">
            <a:off x="6571597" y="4046631"/>
            <a:ext cx="492491" cy="759896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8" name="Cylinder 27">
            <a:extLst>
              <a:ext uri="{FF2B5EF4-FFF2-40B4-BE49-F238E27FC236}">
                <a16:creationId xmlns:a16="http://schemas.microsoft.com/office/drawing/2014/main" id="{B5EF4F3D-D4BD-091C-EFE0-FCC2E0C1A5C6}"/>
              </a:ext>
            </a:extLst>
          </p:cNvPr>
          <p:cNvSpPr/>
          <p:nvPr/>
        </p:nvSpPr>
        <p:spPr>
          <a:xfrm>
            <a:off x="7470182" y="4436517"/>
            <a:ext cx="1294660" cy="296685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9" name="Cylinder 28">
            <a:extLst>
              <a:ext uri="{FF2B5EF4-FFF2-40B4-BE49-F238E27FC236}">
                <a16:creationId xmlns:a16="http://schemas.microsoft.com/office/drawing/2014/main" id="{5B659358-6CDD-1447-FACC-745176FCEE8A}"/>
              </a:ext>
            </a:extLst>
          </p:cNvPr>
          <p:cNvSpPr/>
          <p:nvPr/>
        </p:nvSpPr>
        <p:spPr>
          <a:xfrm>
            <a:off x="7470182" y="4768058"/>
            <a:ext cx="1294660" cy="296685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0" name="Cylinder 29">
            <a:extLst>
              <a:ext uri="{FF2B5EF4-FFF2-40B4-BE49-F238E27FC236}">
                <a16:creationId xmlns:a16="http://schemas.microsoft.com/office/drawing/2014/main" id="{E6F9198C-13D8-1864-E51B-C860298AC2D0}"/>
              </a:ext>
            </a:extLst>
          </p:cNvPr>
          <p:cNvSpPr/>
          <p:nvPr/>
        </p:nvSpPr>
        <p:spPr>
          <a:xfrm>
            <a:off x="7470182" y="5099599"/>
            <a:ext cx="1294660" cy="296685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1" name="Cylinder 30">
            <a:extLst>
              <a:ext uri="{FF2B5EF4-FFF2-40B4-BE49-F238E27FC236}">
                <a16:creationId xmlns:a16="http://schemas.microsoft.com/office/drawing/2014/main" id="{361EA522-3F4F-9992-FFED-27689CAB4EBE}"/>
              </a:ext>
            </a:extLst>
          </p:cNvPr>
          <p:cNvSpPr/>
          <p:nvPr/>
        </p:nvSpPr>
        <p:spPr>
          <a:xfrm>
            <a:off x="7470183" y="5431140"/>
            <a:ext cx="1294660" cy="296685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2" name="Cylinder 31">
            <a:extLst>
              <a:ext uri="{FF2B5EF4-FFF2-40B4-BE49-F238E27FC236}">
                <a16:creationId xmlns:a16="http://schemas.microsoft.com/office/drawing/2014/main" id="{F7C2698E-3952-F1AC-587C-85C11FDB4389}"/>
              </a:ext>
            </a:extLst>
          </p:cNvPr>
          <p:cNvSpPr/>
          <p:nvPr/>
        </p:nvSpPr>
        <p:spPr>
          <a:xfrm>
            <a:off x="7470183" y="5762681"/>
            <a:ext cx="1294660" cy="296685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C66EEA2-A414-99B5-DC19-FC85AA375763}"/>
              </a:ext>
            </a:extLst>
          </p:cNvPr>
          <p:cNvSpPr txBox="1"/>
          <p:nvPr/>
        </p:nvSpPr>
        <p:spPr>
          <a:xfrm>
            <a:off x="7313267" y="3364676"/>
            <a:ext cx="188917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Append to </a:t>
            </a:r>
            <a:r>
              <a:rPr lang="fr-FR" dirty="0" err="1"/>
              <a:t>History</a:t>
            </a:r>
            <a:endParaRPr lang="fr-FR" dirty="0"/>
          </a:p>
          <a:p>
            <a:r>
              <a:rPr lang="fr-FR" dirty="0"/>
              <a:t>(Audit Events)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D430FC7-3D03-3CA5-A4F2-59C8C441FCC1}"/>
              </a:ext>
            </a:extLst>
          </p:cNvPr>
          <p:cNvSpPr txBox="1"/>
          <p:nvPr/>
        </p:nvSpPr>
        <p:spPr>
          <a:xfrm>
            <a:off x="9652854" y="3860754"/>
            <a:ext cx="24252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/>
              <a:t>Synthesised</a:t>
            </a:r>
            <a:r>
              <a:rPr lang="fr-FR" dirty="0"/>
              <a:t> </a:t>
            </a:r>
            <a:r>
              <a:rPr lang="fr-FR" dirty="0" err="1"/>
              <a:t>Latest</a:t>
            </a:r>
            <a:r>
              <a:rPr lang="fr-FR" dirty="0"/>
              <a:t> </a:t>
            </a:r>
            <a:r>
              <a:rPr lang="fr-FR" dirty="0" err="1"/>
              <a:t>View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37954302"/>
      </p:ext>
    </p:extLst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40911D-B94B-D5C6-DF19-D4F5707B35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/>
              <a:t>A Slow </a:t>
            </a:r>
            <a:r>
              <a:rPr lang="fr-FR" dirty="0" err="1"/>
              <a:t>Processing</a:t>
            </a:r>
            <a:r>
              <a:rPr lang="fr-FR" dirty="0"/>
              <a:t> 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E3BBA9B-BD1D-C356-00BE-E235EE32D547}"/>
              </a:ext>
            </a:extLst>
          </p:cNvPr>
          <p:cNvSpPr txBox="1"/>
          <p:nvPr/>
        </p:nvSpPr>
        <p:spPr>
          <a:xfrm>
            <a:off x="572611" y="1976592"/>
            <a:ext cx="433674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err="1"/>
              <a:t>Legacy</a:t>
            </a:r>
            <a:r>
              <a:rPr lang="fr-FR" dirty="0"/>
              <a:t> « On-Prem »</a:t>
            </a:r>
          </a:p>
          <a:p>
            <a:endParaRPr lang="fr-FR" dirty="0"/>
          </a:p>
          <a:p>
            <a:r>
              <a:rPr lang="fr-FR" dirty="0"/>
              <a:t>Daily Batch </a:t>
            </a:r>
            <a:r>
              <a:rPr lang="fr-FR" dirty="0" err="1"/>
              <a:t>takes</a:t>
            </a:r>
            <a:r>
              <a:rPr lang="fr-FR" dirty="0"/>
              <a:t> &gt;= 15 </a:t>
            </a:r>
            <a:r>
              <a:rPr lang="fr-FR" dirty="0" err="1"/>
              <a:t>Hours</a:t>
            </a:r>
            <a:endParaRPr lang="fr-FR" dirty="0"/>
          </a:p>
          <a:p>
            <a:r>
              <a:rPr lang="fr-FR" dirty="0"/>
              <a:t>But </a:t>
            </a:r>
            <a:r>
              <a:rPr lang="fr-FR" dirty="0" err="1"/>
              <a:t>is</a:t>
            </a:r>
            <a:r>
              <a:rPr lang="fr-FR" dirty="0"/>
              <a:t> </a:t>
            </a:r>
            <a:r>
              <a:rPr lang="fr-FR" dirty="0" err="1"/>
              <a:t>mostly</a:t>
            </a:r>
            <a:r>
              <a:rPr lang="fr-FR" dirty="0"/>
              <a:t> SINGLE-THREADED !!!</a:t>
            </a:r>
          </a:p>
          <a:p>
            <a:endParaRPr lang="fr-FR" dirty="0"/>
          </a:p>
          <a:p>
            <a:r>
              <a:rPr lang="fr-FR" dirty="0" err="1"/>
              <a:t>Some</a:t>
            </a:r>
            <a:r>
              <a:rPr lang="fr-FR" dirty="0"/>
              <a:t> </a:t>
            </a:r>
            <a:r>
              <a:rPr lang="fr-FR" dirty="0" err="1"/>
              <a:t>Parallelized</a:t>
            </a:r>
            <a:r>
              <a:rPr lang="fr-FR" dirty="0"/>
              <a:t> </a:t>
            </a:r>
            <a:r>
              <a:rPr lang="fr-FR" dirty="0" err="1"/>
              <a:t>intermediate</a:t>
            </a:r>
            <a:r>
              <a:rPr lang="fr-FR" dirty="0"/>
              <a:t> parts </a:t>
            </a:r>
            <a:r>
              <a:rPr lang="fr-FR" dirty="0" err="1"/>
              <a:t>take</a:t>
            </a:r>
            <a:r>
              <a:rPr lang="fr-FR" dirty="0"/>
              <a:t> </a:t>
            </a:r>
          </a:p>
          <a:p>
            <a:r>
              <a:rPr lang="fr-FR" dirty="0"/>
              <a:t>    &gt;= 200 </a:t>
            </a:r>
            <a:r>
              <a:rPr lang="fr-FR" dirty="0" err="1"/>
              <a:t>yarn</a:t>
            </a:r>
            <a:r>
              <a:rPr lang="fr-FR" dirty="0"/>
              <a:t> containers … 10% of Cluster</a:t>
            </a:r>
          </a:p>
          <a:p>
            <a:r>
              <a:rPr lang="fr-FR" dirty="0"/>
              <a:t>    … </a:t>
            </a:r>
            <a:r>
              <a:rPr lang="fr-FR" dirty="0" err="1"/>
              <a:t>Result</a:t>
            </a:r>
            <a:r>
              <a:rPr lang="fr-FR" dirty="0"/>
              <a:t> = ULTRA FAST !!  </a:t>
            </a:r>
          </a:p>
          <a:p>
            <a:endParaRPr lang="fr-FR" dirty="0"/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6D081DEA-C117-BBA5-2839-9E1F2973DA2E}"/>
              </a:ext>
            </a:extLst>
          </p:cNvPr>
          <p:cNvSpPr/>
          <p:nvPr/>
        </p:nvSpPr>
        <p:spPr>
          <a:xfrm>
            <a:off x="4964838" y="2831977"/>
            <a:ext cx="767918" cy="67914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E0B2AA9-E0A3-FC66-4C08-F19C745B192B}"/>
              </a:ext>
            </a:extLst>
          </p:cNvPr>
          <p:cNvSpPr txBox="1"/>
          <p:nvPr/>
        </p:nvSpPr>
        <p:spPr>
          <a:xfrm>
            <a:off x="5976151" y="2488344"/>
            <a:ext cx="5341590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/>
              <a:t>Backported</a:t>
            </a:r>
            <a:r>
              <a:rPr lang="fr-FR" dirty="0"/>
              <a:t> code « as-</a:t>
            </a:r>
            <a:r>
              <a:rPr lang="fr-FR" dirty="0" err="1"/>
              <a:t>is</a:t>
            </a:r>
            <a:r>
              <a:rPr lang="fr-FR" dirty="0"/>
              <a:t> » to Azure </a:t>
            </a:r>
            <a:r>
              <a:rPr lang="fr-FR" dirty="0" err="1"/>
              <a:t>HDInsight</a:t>
            </a:r>
            <a:endParaRPr lang="fr-FR" dirty="0"/>
          </a:p>
          <a:p>
            <a:r>
              <a:rPr lang="fr-FR" dirty="0" err="1"/>
              <a:t>Used</a:t>
            </a:r>
            <a:r>
              <a:rPr lang="fr-FR" dirty="0"/>
              <a:t> Cluster of  10 x D14 cluster (40 000 euros/</a:t>
            </a:r>
            <a:r>
              <a:rPr lang="fr-FR" dirty="0" err="1"/>
              <a:t>month</a:t>
            </a:r>
            <a:r>
              <a:rPr lang="fr-FR" dirty="0"/>
              <a:t>)</a:t>
            </a:r>
          </a:p>
          <a:p>
            <a:endParaRPr lang="fr-FR" dirty="0"/>
          </a:p>
          <a:p>
            <a:r>
              <a:rPr lang="fr-FR" dirty="0"/>
              <a:t>Run NEVER </a:t>
            </a:r>
            <a:r>
              <a:rPr lang="fr-FR" dirty="0" err="1"/>
              <a:t>Finished</a:t>
            </a:r>
            <a:r>
              <a:rPr lang="fr-FR" dirty="0"/>
              <a:t> </a:t>
            </a:r>
          </a:p>
          <a:p>
            <a:r>
              <a:rPr lang="fr-FR" dirty="0"/>
              <a:t> … </a:t>
            </a:r>
            <a:r>
              <a:rPr lang="fr-FR" dirty="0" err="1"/>
              <a:t>stopped</a:t>
            </a:r>
            <a:r>
              <a:rPr lang="fr-FR" dirty="0"/>
              <a:t> in « </a:t>
            </a:r>
            <a:r>
              <a:rPr lang="fr-FR" dirty="0" err="1"/>
              <a:t>echo</a:t>
            </a:r>
            <a:r>
              <a:rPr lang="fr-FR" dirty="0"/>
              <a:t> count </a:t>
            </a:r>
            <a:r>
              <a:rPr lang="fr-FR" dirty="0" err="1"/>
              <a:t>lines</a:t>
            </a:r>
            <a:r>
              <a:rPr lang="fr-FR" dirty="0"/>
              <a:t> </a:t>
            </a:r>
            <a:r>
              <a:rPr lang="fr-FR" dirty="0" err="1"/>
              <a:t>before</a:t>
            </a:r>
            <a:r>
              <a:rPr lang="fr-FR" dirty="0"/>
              <a:t> insert $(… ) »</a:t>
            </a:r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1E39472B-87C6-F6AF-6CEC-4ACF0BE983E2}"/>
              </a:ext>
            </a:extLst>
          </p:cNvPr>
          <p:cNvSpPr/>
          <p:nvPr/>
        </p:nvSpPr>
        <p:spPr>
          <a:xfrm>
            <a:off x="6559859" y="4648940"/>
            <a:ext cx="767918" cy="67914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71A7F7B-E9CB-1A71-0BC2-24A582C41BCE}"/>
              </a:ext>
            </a:extLst>
          </p:cNvPr>
          <p:cNvSpPr txBox="1"/>
          <p:nvPr/>
        </p:nvSpPr>
        <p:spPr>
          <a:xfrm>
            <a:off x="7519036" y="4411839"/>
            <a:ext cx="4144276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/>
              <a:t>Fully</a:t>
            </a:r>
            <a:r>
              <a:rPr lang="fr-FR" dirty="0"/>
              <a:t> re-</a:t>
            </a:r>
            <a:r>
              <a:rPr lang="fr-FR" dirty="0" err="1"/>
              <a:t>implemented</a:t>
            </a:r>
            <a:r>
              <a:rPr lang="fr-FR" dirty="0"/>
              <a:t> in Spark + Java</a:t>
            </a:r>
          </a:p>
          <a:p>
            <a:r>
              <a:rPr lang="fr-FR" dirty="0"/>
              <a:t>                  </a:t>
            </a:r>
            <a:r>
              <a:rPr lang="fr-FR" dirty="0" err="1"/>
              <a:t>instead</a:t>
            </a:r>
            <a:r>
              <a:rPr lang="fr-FR" dirty="0"/>
              <a:t> of </a:t>
            </a:r>
            <a:r>
              <a:rPr lang="fr-FR" dirty="0" err="1"/>
              <a:t>Hive</a:t>
            </a:r>
            <a:r>
              <a:rPr lang="fr-FR" dirty="0"/>
              <a:t> SQL + UDF </a:t>
            </a:r>
            <a:r>
              <a:rPr lang="fr-FR" dirty="0" err="1"/>
              <a:t>xpath</a:t>
            </a:r>
            <a:endParaRPr lang="fr-FR" dirty="0"/>
          </a:p>
          <a:p>
            <a:r>
              <a:rPr lang="fr-FR" dirty="0"/>
              <a:t>+ </a:t>
            </a:r>
            <a:r>
              <a:rPr lang="fr-FR" dirty="0" err="1"/>
              <a:t>Optimized</a:t>
            </a:r>
            <a:r>
              <a:rPr lang="fr-FR" dirty="0"/>
              <a:t> …</a:t>
            </a:r>
          </a:p>
          <a:p>
            <a:endParaRPr lang="fr-FR" dirty="0"/>
          </a:p>
          <a:p>
            <a:r>
              <a:rPr lang="fr-FR" dirty="0" err="1"/>
              <a:t>Now</a:t>
            </a:r>
            <a:r>
              <a:rPr lang="fr-FR" dirty="0"/>
              <a:t> run in 40 minutes on 2 x D13 cluster</a:t>
            </a:r>
          </a:p>
        </p:txBody>
      </p:sp>
    </p:spTree>
    <p:extLst>
      <p:ext uri="{BB962C8B-B14F-4D97-AF65-F5344CB8AC3E}">
        <p14:creationId xmlns:p14="http://schemas.microsoft.com/office/powerpoint/2010/main" val="2875743549"/>
      </p:ext>
    </p:extLst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9CD32AA-060C-6FB0-873B-BA051B0C83EA}"/>
              </a:ext>
            </a:extLst>
          </p:cNvPr>
          <p:cNvSpPr txBox="1"/>
          <p:nvPr/>
        </p:nvSpPr>
        <p:spPr>
          <a:xfrm>
            <a:off x="8674705" y="5950857"/>
            <a:ext cx="283558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4000" dirty="0"/>
              <a:t>Coffee Break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30319B6-49FB-3978-A411-BD01F5DB796B}"/>
              </a:ext>
            </a:extLst>
          </p:cNvPr>
          <p:cNvSpPr txBox="1"/>
          <p:nvPr/>
        </p:nvSpPr>
        <p:spPr>
          <a:xfrm>
            <a:off x="4871963" y="3036386"/>
            <a:ext cx="2802883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fr-FR" sz="2400" dirty="0"/>
              <a:t>Interactive </a:t>
            </a:r>
            <a:r>
              <a:rPr lang="fr-FR" sz="2400" dirty="0" err="1"/>
              <a:t>queries</a:t>
            </a:r>
            <a:endParaRPr lang="fr-FR" sz="2400" dirty="0"/>
          </a:p>
          <a:p>
            <a:pPr marL="285750" indent="-285750">
              <a:buFontTx/>
              <a:buChar char="-"/>
            </a:pPr>
            <a:r>
              <a:rPr lang="fr-FR" sz="2400" dirty="0"/>
              <a:t>Batch mode</a:t>
            </a:r>
          </a:p>
          <a:p>
            <a:pPr marL="285750" indent="-285750">
              <a:buFontTx/>
              <a:buChar char="-"/>
            </a:pPr>
            <a:r>
              <a:rPr lang="fr-FR" sz="2400" dirty="0"/>
              <a:t>Streaming mode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9823E20-9B5C-7E6A-3A5E-0A69D137797A}"/>
              </a:ext>
            </a:extLst>
          </p:cNvPr>
          <p:cNvSpPr txBox="1"/>
          <p:nvPr/>
        </p:nvSpPr>
        <p:spPr>
          <a:xfrm>
            <a:off x="2680305" y="1836057"/>
            <a:ext cx="104648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/>
              <a:t>At SG, </a:t>
            </a:r>
            <a:r>
              <a:rPr lang="fr-FR" sz="2400" dirty="0" err="1"/>
              <a:t>most</a:t>
            </a:r>
            <a:r>
              <a:rPr lang="fr-FR" sz="2400" dirty="0"/>
              <a:t> workflows are </a:t>
            </a:r>
            <a:r>
              <a:rPr lang="fr-FR" sz="2400" dirty="0" err="1"/>
              <a:t>uploading</a:t>
            </a:r>
            <a:r>
              <a:rPr lang="fr-FR" sz="2400" dirty="0"/>
              <a:t> </a:t>
            </a:r>
            <a:r>
              <a:rPr lang="fr-FR" sz="2400" dirty="0" err="1"/>
              <a:t>daily</a:t>
            </a:r>
            <a:r>
              <a:rPr lang="fr-FR" sz="2400" dirty="0"/>
              <a:t> files + </a:t>
            </a:r>
            <a:r>
              <a:rPr lang="fr-FR" sz="2400" dirty="0" err="1"/>
              <a:t>processing</a:t>
            </a:r>
            <a:r>
              <a:rPr lang="fr-FR" sz="2400" dirty="0"/>
              <a:t> by </a:t>
            </a:r>
            <a:r>
              <a:rPr lang="fr-FR" sz="2400" dirty="0" err="1"/>
              <a:t>daily</a:t>
            </a:r>
            <a:r>
              <a:rPr lang="fr-FR" sz="2400" dirty="0"/>
              <a:t> </a:t>
            </a:r>
            <a:r>
              <a:rPr lang="fr-FR" sz="2400" dirty="0" err="1"/>
              <a:t>batches</a:t>
            </a:r>
            <a:endParaRPr lang="fr-FR" sz="2400" dirty="0"/>
          </a:p>
          <a:p>
            <a:r>
              <a:rPr lang="fr-FR" sz="2400" dirty="0" err="1"/>
              <a:t>Except</a:t>
            </a:r>
            <a:r>
              <a:rPr lang="fr-FR" sz="2400" dirty="0"/>
              <a:t> 1 </a:t>
            </a:r>
            <a:r>
              <a:rPr lang="fr-FR" sz="2400" dirty="0" err="1"/>
              <a:t>Huge</a:t>
            </a:r>
            <a:r>
              <a:rPr lang="fr-FR" sz="2400" dirty="0"/>
              <a:t> </a:t>
            </a:r>
            <a:r>
              <a:rPr lang="fr-FR" sz="2400" dirty="0" err="1"/>
              <a:t>stream</a:t>
            </a:r>
            <a:r>
              <a:rPr lang="fr-FR" sz="2400" dirty="0"/>
              <a:t> </a:t>
            </a:r>
            <a:r>
              <a:rPr lang="fr-FR" sz="2400" dirty="0" err="1"/>
              <a:t>feeding</a:t>
            </a:r>
            <a:endParaRPr lang="fr-FR" sz="2400" dirty="0"/>
          </a:p>
          <a:p>
            <a:r>
              <a:rPr lang="fr-FR" sz="2400" dirty="0" err="1"/>
              <a:t>Almost</a:t>
            </a:r>
            <a:r>
              <a:rPr lang="fr-FR" sz="2400" dirty="0"/>
              <a:t> all use Spark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CD82E58-71AA-59F9-A10E-4160CBE4EA11}"/>
              </a:ext>
            </a:extLst>
          </p:cNvPr>
          <p:cNvSpPr txBox="1"/>
          <p:nvPr/>
        </p:nvSpPr>
        <p:spPr>
          <a:xfrm>
            <a:off x="2680305" y="3380150"/>
            <a:ext cx="211949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/>
              <a:t>Spark Supports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B4A8B30-F39C-A8CC-89D8-40E10333142E}"/>
              </a:ext>
            </a:extLst>
          </p:cNvPr>
          <p:cNvSpPr txBox="1"/>
          <p:nvPr/>
        </p:nvSpPr>
        <p:spPr>
          <a:xfrm>
            <a:off x="280610" y="2107435"/>
            <a:ext cx="192091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 dirty="0" err="1"/>
              <a:t>Take</a:t>
            </a:r>
            <a:r>
              <a:rPr lang="fr-FR" sz="3200" dirty="0"/>
              <a:t> </a:t>
            </a:r>
            <a:r>
              <a:rPr lang="fr-FR" sz="3200" dirty="0" err="1"/>
              <a:t>Away</a:t>
            </a:r>
            <a:endParaRPr lang="fr-FR" sz="3200" dirty="0"/>
          </a:p>
        </p:txBody>
      </p:sp>
    </p:spTree>
    <p:extLst>
      <p:ext uri="{BB962C8B-B14F-4D97-AF65-F5344CB8AC3E}">
        <p14:creationId xmlns:p14="http://schemas.microsoft.com/office/powerpoint/2010/main" val="871998395"/>
      </p:ext>
    </p:extLst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9456B0-71A4-CF8C-E88D-0B1478AC2D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0001"/>
            <a:ext cx="10515600" cy="1325563"/>
          </a:xfrm>
        </p:spPr>
        <p:txBody>
          <a:bodyPr/>
          <a:lstStyle/>
          <a:p>
            <a:pPr algn="ctr"/>
            <a:r>
              <a:rPr lang="fr-FR" dirty="0" err="1"/>
              <a:t>Outline</a:t>
            </a:r>
            <a:endParaRPr lang="fr-F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D800C1-B011-5B30-76B4-9FA377D888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60915" y="1630439"/>
            <a:ext cx="8355390" cy="4862436"/>
          </a:xfrm>
        </p:spPr>
        <p:txBody>
          <a:bodyPr>
            <a:normAutofit fontScale="92500"/>
          </a:bodyPr>
          <a:lstStyle/>
          <a:p>
            <a:r>
              <a:rPr lang="fr-FR" dirty="0" err="1"/>
              <a:t>What</a:t>
            </a:r>
            <a:r>
              <a:rPr lang="fr-FR" dirty="0"/>
              <a:t> </a:t>
            </a:r>
            <a:r>
              <a:rPr lang="fr-FR" dirty="0" err="1"/>
              <a:t>is</a:t>
            </a:r>
            <a:r>
              <a:rPr lang="fr-FR" dirty="0"/>
              <a:t> </a:t>
            </a:r>
            <a:r>
              <a:rPr lang="fr-FR" dirty="0" err="1"/>
              <a:t>BigData</a:t>
            </a:r>
            <a:r>
              <a:rPr lang="fr-FR" dirty="0"/>
              <a:t> ?</a:t>
            </a:r>
          </a:p>
          <a:p>
            <a:pPr lvl="1"/>
            <a:r>
              <a:rPr lang="fr-FR" dirty="0" err="1"/>
              <a:t>Order</a:t>
            </a:r>
            <a:r>
              <a:rPr lang="fr-FR" dirty="0"/>
              <a:t> of Magnitudes for « Big »</a:t>
            </a:r>
          </a:p>
          <a:p>
            <a:pPr lvl="1"/>
            <a:r>
              <a:rPr lang="fr-FR" dirty="0"/>
              <a:t>Distributed System challenges</a:t>
            </a:r>
          </a:p>
          <a:p>
            <a:pPr lvl="1"/>
            <a:r>
              <a:rPr lang="fr-FR" dirty="0" err="1"/>
              <a:t>Scaling</a:t>
            </a:r>
            <a:r>
              <a:rPr lang="fr-FR" dirty="0"/>
              <a:t> Storage </a:t>
            </a:r>
            <a:r>
              <a:rPr lang="fr-FR" dirty="0" err="1"/>
              <a:t>Resources</a:t>
            </a:r>
            <a:r>
              <a:rPr lang="fr-FR" dirty="0"/>
              <a:t>: </a:t>
            </a:r>
            <a:r>
              <a:rPr lang="fr-FR" dirty="0" err="1"/>
              <a:t>Hdfs</a:t>
            </a:r>
            <a:endParaRPr lang="fr-FR" dirty="0"/>
          </a:p>
          <a:p>
            <a:pPr lvl="1"/>
            <a:r>
              <a:rPr lang="fr-FR" dirty="0" err="1"/>
              <a:t>Scaling</a:t>
            </a:r>
            <a:r>
              <a:rPr lang="fr-FR" dirty="0"/>
              <a:t> </a:t>
            </a:r>
            <a:r>
              <a:rPr lang="fr-FR" dirty="0" err="1"/>
              <a:t>Compute</a:t>
            </a:r>
            <a:r>
              <a:rPr lang="fr-FR" dirty="0"/>
              <a:t> </a:t>
            </a:r>
            <a:r>
              <a:rPr lang="fr-FR" dirty="0" err="1"/>
              <a:t>Resources</a:t>
            </a:r>
            <a:r>
              <a:rPr lang="fr-FR" dirty="0"/>
              <a:t>: </a:t>
            </a:r>
            <a:r>
              <a:rPr lang="fr-FR" dirty="0" err="1"/>
              <a:t>Yarn</a:t>
            </a:r>
            <a:r>
              <a:rPr lang="fr-FR" dirty="0"/>
              <a:t>, </a:t>
            </a:r>
            <a:r>
              <a:rPr lang="fr-FR" dirty="0" err="1"/>
              <a:t>Kubernetes</a:t>
            </a:r>
            <a:endParaRPr lang="fr-FR" dirty="0"/>
          </a:p>
          <a:p>
            <a:pPr lvl="1"/>
            <a:r>
              <a:rPr lang="fr-FR" dirty="0" err="1"/>
              <a:t>Using</a:t>
            </a:r>
            <a:r>
              <a:rPr lang="fr-FR" dirty="0"/>
              <a:t> Storage – </a:t>
            </a:r>
            <a:r>
              <a:rPr lang="fr-FR" dirty="0" err="1"/>
              <a:t>Compute</a:t>
            </a:r>
            <a:r>
              <a:rPr lang="fr-FR" dirty="0"/>
              <a:t> apis</a:t>
            </a:r>
          </a:p>
          <a:p>
            <a:pPr lvl="1"/>
            <a:r>
              <a:rPr lang="fr-FR" dirty="0"/>
              <a:t>Evolution of Hardware – Softwares – Hadoop </a:t>
            </a:r>
            <a:r>
              <a:rPr lang="fr-FR" dirty="0" err="1"/>
              <a:t>Ecosystem</a:t>
            </a:r>
            <a:r>
              <a:rPr lang="fr-FR" dirty="0"/>
              <a:t>, Spark</a:t>
            </a:r>
          </a:p>
          <a:p>
            <a:r>
              <a:rPr lang="fr-FR" dirty="0"/>
              <a:t>Description of a </a:t>
            </a:r>
            <a:r>
              <a:rPr lang="fr-FR" dirty="0" err="1"/>
              <a:t>Datalake</a:t>
            </a:r>
            <a:endParaRPr lang="fr-FR" dirty="0"/>
          </a:p>
          <a:p>
            <a:pPr lvl="1"/>
            <a:r>
              <a:rPr lang="fr-FR" dirty="0"/>
              <a:t>Content</a:t>
            </a:r>
          </a:p>
          <a:p>
            <a:pPr lvl="1"/>
            <a:r>
              <a:rPr lang="fr-FR" dirty="0"/>
              <a:t>Usages</a:t>
            </a:r>
          </a:p>
          <a:p>
            <a:r>
              <a:rPr lang="fr-FR" dirty="0"/>
              <a:t>Example of Data-</a:t>
            </a:r>
            <a:r>
              <a:rPr lang="fr-FR" dirty="0" err="1"/>
              <a:t>Processing</a:t>
            </a:r>
            <a:endParaRPr lang="fr-FR" dirty="0"/>
          </a:p>
          <a:p>
            <a:pPr lvl="1"/>
            <a:r>
              <a:rPr lang="fr-FR" dirty="0"/>
              <a:t>RAW to LAKE, Reports</a:t>
            </a:r>
            <a:endParaRPr lang="fr-FR" sz="3500" b="1" dirty="0"/>
          </a:p>
        </p:txBody>
      </p:sp>
    </p:spTree>
    <p:extLst>
      <p:ext uri="{BB962C8B-B14F-4D97-AF65-F5344CB8AC3E}">
        <p14:creationId xmlns:p14="http://schemas.microsoft.com/office/powerpoint/2010/main" val="3812505395"/>
      </p:ext>
    </p:extLst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D5B9FA-97F1-25CF-DB37-1F3C6901E3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59170"/>
            <a:ext cx="10515600" cy="3452273"/>
          </a:xfrm>
        </p:spPr>
        <p:txBody>
          <a:bodyPr>
            <a:normAutofit fontScale="90000"/>
          </a:bodyPr>
          <a:lstStyle/>
          <a:p>
            <a:pPr algn="ctr"/>
            <a:r>
              <a:rPr lang="fr-FR" dirty="0"/>
              <a:t>… More </a:t>
            </a:r>
            <a:r>
              <a:rPr lang="fr-FR" dirty="0" err="1"/>
              <a:t>Detailed</a:t>
            </a:r>
            <a:r>
              <a:rPr lang="fr-FR" dirty="0"/>
              <a:t> on</a:t>
            </a:r>
            <a:br>
              <a:rPr lang="fr-FR" dirty="0"/>
            </a:br>
            <a:br>
              <a:rPr lang="fr-FR" dirty="0"/>
            </a:br>
            <a:r>
              <a:rPr lang="fr-FR" dirty="0"/>
              <a:t>« </a:t>
            </a:r>
            <a:r>
              <a:rPr lang="fr-FR" dirty="0" err="1"/>
              <a:t>From</a:t>
            </a:r>
            <a:r>
              <a:rPr lang="fr-FR" dirty="0"/>
              <a:t> </a:t>
            </a:r>
            <a:r>
              <a:rPr lang="fr-FR" dirty="0" err="1"/>
              <a:t>OnPrem</a:t>
            </a:r>
            <a:r>
              <a:rPr lang="fr-FR" dirty="0"/>
              <a:t> to Azure Cloud »</a:t>
            </a:r>
            <a:br>
              <a:rPr lang="fr-FR" dirty="0"/>
            </a:br>
            <a:br>
              <a:rPr lang="fr-FR" dirty="0"/>
            </a:br>
            <a:br>
              <a:rPr lang="fr-FR" dirty="0"/>
            </a:br>
            <a:r>
              <a:rPr lang="fr-FR" dirty="0" err="1"/>
              <a:t>see</a:t>
            </a:r>
            <a:r>
              <a:rPr lang="fr-FR" dirty="0"/>
              <a:t> Document « -cloud.pdf »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CB0BCBD-D206-5EC2-B849-7C73C2760BD7}"/>
              </a:ext>
            </a:extLst>
          </p:cNvPr>
          <p:cNvSpPr/>
          <p:nvPr/>
        </p:nvSpPr>
        <p:spPr>
          <a:xfrm rot="20289398">
            <a:off x="62548" y="163093"/>
            <a:ext cx="2143536" cy="120032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600" b="1" cap="none" spc="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Appendix:</a:t>
            </a:r>
          </a:p>
          <a:p>
            <a:pPr algn="ctr"/>
            <a:r>
              <a:rPr lang="en-US" sz="3600" b="1" cap="none" spc="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 Cloud</a:t>
            </a:r>
          </a:p>
        </p:txBody>
      </p:sp>
    </p:spTree>
    <p:extLst>
      <p:ext uri="{BB962C8B-B14F-4D97-AF65-F5344CB8AC3E}">
        <p14:creationId xmlns:p14="http://schemas.microsoft.com/office/powerpoint/2010/main" val="1849710552"/>
      </p:ext>
    </p:extLst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9B7F01-2DF7-7B5B-7A90-A4F0D1E0DD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7724"/>
            <a:ext cx="10515600" cy="864432"/>
          </a:xfrm>
        </p:spPr>
        <p:txBody>
          <a:bodyPr>
            <a:normAutofit fontScale="90000"/>
          </a:bodyPr>
          <a:lstStyle/>
          <a:p>
            <a:pPr algn="ctr"/>
            <a:r>
              <a:rPr lang="fr-FR" dirty="0"/>
              <a:t>Fundamental </a:t>
            </a:r>
            <a:r>
              <a:rPr lang="fr-FR" dirty="0" err="1"/>
              <a:t>Resources</a:t>
            </a:r>
            <a:br>
              <a:rPr lang="fr-FR" dirty="0"/>
            </a:br>
            <a:r>
              <a:rPr lang="fr-FR" dirty="0" err="1"/>
              <a:t>TradeOffs</a:t>
            </a:r>
            <a:endParaRPr lang="fr-FR" dirty="0"/>
          </a:p>
        </p:txBody>
      </p:sp>
      <p:pic>
        <p:nvPicPr>
          <p:cNvPr id="4098" name="Picture 2" descr="What is a Storage Device?">
            <a:extLst>
              <a:ext uri="{FF2B5EF4-FFF2-40B4-BE49-F238E27FC236}">
                <a16:creationId xmlns:a16="http://schemas.microsoft.com/office/drawing/2014/main" id="{74968ECC-D188-E493-FE7C-B738780A58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3275" y="4237038"/>
            <a:ext cx="1218090" cy="15875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ECFEA18-4875-A631-2721-FCDC63AFC219}"/>
              </a:ext>
            </a:extLst>
          </p:cNvPr>
          <p:cNvSpPr txBox="1"/>
          <p:nvPr/>
        </p:nvSpPr>
        <p:spPr>
          <a:xfrm>
            <a:off x="921004" y="3621098"/>
            <a:ext cx="2125223" cy="6531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Cold Storage </a:t>
            </a:r>
          </a:p>
          <a:p>
            <a:r>
              <a:rPr lang="fr-FR" dirty="0"/>
              <a:t>(SLOW)</a:t>
            </a:r>
          </a:p>
        </p:txBody>
      </p:sp>
      <p:pic>
        <p:nvPicPr>
          <p:cNvPr id="4100" name="Picture 4" descr="Ultra 3D Sata iii SSD Right">
            <a:extLst>
              <a:ext uri="{FF2B5EF4-FFF2-40B4-BE49-F238E27FC236}">
                <a16:creationId xmlns:a16="http://schemas.microsoft.com/office/drawing/2014/main" id="{53E17837-9274-445D-D025-B53A554820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40176" y="3805720"/>
            <a:ext cx="2035983" cy="20359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87D27EB-EA72-FD0F-6780-6F7E02FE7285}"/>
              </a:ext>
            </a:extLst>
          </p:cNvPr>
          <p:cNvSpPr txBox="1"/>
          <p:nvPr/>
        </p:nvSpPr>
        <p:spPr>
          <a:xfrm>
            <a:off x="2619333" y="3759597"/>
            <a:ext cx="24473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  Storage (~Small)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B57F3E6-EAC4-54EC-2292-EDD4A3F32F42}"/>
              </a:ext>
            </a:extLst>
          </p:cNvPr>
          <p:cNvSpPr txBox="1"/>
          <p:nvPr/>
        </p:nvSpPr>
        <p:spPr>
          <a:xfrm>
            <a:off x="7667765" y="4018427"/>
            <a:ext cx="26236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  RAM (FAST .. </a:t>
            </a:r>
            <a:r>
              <a:rPr lang="fr-FR" dirty="0" err="1"/>
              <a:t>Expensive</a:t>
            </a:r>
            <a:r>
              <a:rPr lang="fr-FR" dirty="0"/>
              <a:t>)</a:t>
            </a:r>
          </a:p>
        </p:txBody>
      </p:sp>
      <p:pic>
        <p:nvPicPr>
          <p:cNvPr id="4104" name="Picture 8" descr="Intel Rocket Lake">
            <a:extLst>
              <a:ext uri="{FF2B5EF4-FFF2-40B4-BE49-F238E27FC236}">
                <a16:creationId xmlns:a16="http://schemas.microsoft.com/office/drawing/2014/main" id="{F2EB8883-02FC-F587-7563-FF0D40CFA1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01613" y="2262784"/>
            <a:ext cx="1843446" cy="1230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736CE0E-E01E-FFB1-638D-2929D1B610E6}"/>
              </a:ext>
            </a:extLst>
          </p:cNvPr>
          <p:cNvSpPr txBox="1"/>
          <p:nvPr/>
        </p:nvSpPr>
        <p:spPr>
          <a:xfrm>
            <a:off x="5477331" y="1678892"/>
            <a:ext cx="19094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  CPU (HOT, Watts)</a:t>
            </a:r>
          </a:p>
        </p:txBody>
      </p:sp>
      <p:sp>
        <p:nvSpPr>
          <p:cNvPr id="8" name="Arrow: Left-Right 7">
            <a:extLst>
              <a:ext uri="{FF2B5EF4-FFF2-40B4-BE49-F238E27FC236}">
                <a16:creationId xmlns:a16="http://schemas.microsoft.com/office/drawing/2014/main" id="{08085121-C2E2-26E8-9607-F1188C0D2300}"/>
              </a:ext>
            </a:extLst>
          </p:cNvPr>
          <p:cNvSpPr/>
          <p:nvPr/>
        </p:nvSpPr>
        <p:spPr>
          <a:xfrm>
            <a:off x="5589542" y="5255788"/>
            <a:ext cx="1331650" cy="257452"/>
          </a:xfrm>
          <a:prstGeom prst="left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Arrow: Left-Right 8">
            <a:extLst>
              <a:ext uri="{FF2B5EF4-FFF2-40B4-BE49-F238E27FC236}">
                <a16:creationId xmlns:a16="http://schemas.microsoft.com/office/drawing/2014/main" id="{2A31CF3B-A7DF-CBE1-DC7C-1FF0917CB6C5}"/>
              </a:ext>
            </a:extLst>
          </p:cNvPr>
          <p:cNvSpPr/>
          <p:nvPr/>
        </p:nvSpPr>
        <p:spPr>
          <a:xfrm rot="3113989">
            <a:off x="6397975" y="4138702"/>
            <a:ext cx="1331650" cy="257452"/>
          </a:xfrm>
          <a:prstGeom prst="left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Arrow: Left-Right 9">
            <a:extLst>
              <a:ext uri="{FF2B5EF4-FFF2-40B4-BE49-F238E27FC236}">
                <a16:creationId xmlns:a16="http://schemas.microsoft.com/office/drawing/2014/main" id="{201A597A-3E47-E6C9-7925-DCFA6077C226}"/>
              </a:ext>
            </a:extLst>
          </p:cNvPr>
          <p:cNvSpPr/>
          <p:nvPr/>
        </p:nvSpPr>
        <p:spPr>
          <a:xfrm rot="18610250">
            <a:off x="4865387" y="4108312"/>
            <a:ext cx="1331650" cy="257452"/>
          </a:xfrm>
          <a:prstGeom prst="left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Multiplication Sign 10">
            <a:extLst>
              <a:ext uri="{FF2B5EF4-FFF2-40B4-BE49-F238E27FC236}">
                <a16:creationId xmlns:a16="http://schemas.microsoft.com/office/drawing/2014/main" id="{1DC7092C-D16B-B915-6A09-7293457603A4}"/>
              </a:ext>
            </a:extLst>
          </p:cNvPr>
          <p:cNvSpPr/>
          <p:nvPr/>
        </p:nvSpPr>
        <p:spPr>
          <a:xfrm>
            <a:off x="4060421" y="1551652"/>
            <a:ext cx="838940" cy="985572"/>
          </a:xfrm>
          <a:prstGeom prst="mathMultiply">
            <a:avLst>
              <a:gd name="adj1" fmla="val 1188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363EED5-A791-386B-DB08-75AB5BAC2005}"/>
              </a:ext>
            </a:extLst>
          </p:cNvPr>
          <p:cNvSpPr txBox="1"/>
          <p:nvPr/>
        </p:nvSpPr>
        <p:spPr>
          <a:xfrm>
            <a:off x="3558168" y="1299137"/>
            <a:ext cx="18434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err="1"/>
              <a:t>Horyzontal</a:t>
            </a:r>
            <a:r>
              <a:rPr lang="fr-FR" dirty="0"/>
              <a:t> </a:t>
            </a:r>
            <a:r>
              <a:rPr lang="fr-FR" dirty="0" err="1"/>
              <a:t>Scale</a:t>
            </a:r>
            <a:endParaRPr lang="fr-FR" dirty="0"/>
          </a:p>
        </p:txBody>
      </p:sp>
      <p:pic>
        <p:nvPicPr>
          <p:cNvPr id="4106" name="Picture 10" descr="The changing data center: Impact of networking costs - DCD">
            <a:extLst>
              <a:ext uri="{FF2B5EF4-FFF2-40B4-BE49-F238E27FC236}">
                <a16:creationId xmlns:a16="http://schemas.microsoft.com/office/drawing/2014/main" id="{036B6D07-0FD2-E603-45CB-5D7C2C64B1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9428" y="1146901"/>
            <a:ext cx="1961260" cy="13091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2D98027F-5F3E-503D-880D-C74FEFA16855}"/>
              </a:ext>
            </a:extLst>
          </p:cNvPr>
          <p:cNvSpPr txBox="1"/>
          <p:nvPr/>
        </p:nvSpPr>
        <p:spPr>
          <a:xfrm>
            <a:off x="797210" y="734072"/>
            <a:ext cx="30204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  Network (</a:t>
            </a:r>
            <a:r>
              <a:rPr lang="fr-FR" dirty="0" err="1"/>
              <a:t>Bandwith</a:t>
            </a:r>
            <a:r>
              <a:rPr lang="fr-FR" dirty="0"/>
              <a:t>, </a:t>
            </a:r>
            <a:r>
              <a:rPr lang="fr-FR" dirty="0" err="1"/>
              <a:t>Latency</a:t>
            </a:r>
            <a:r>
              <a:rPr lang="fr-FR" dirty="0"/>
              <a:t>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A8E9DCF-09E2-E312-8F1E-3676475776FC}"/>
              </a:ext>
            </a:extLst>
          </p:cNvPr>
          <p:cNvSpPr txBox="1"/>
          <p:nvPr/>
        </p:nvSpPr>
        <p:spPr>
          <a:xfrm>
            <a:off x="9040083" y="1050757"/>
            <a:ext cx="289374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600" b="0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€€€€€€</a:t>
            </a:r>
            <a:r>
              <a:rPr lang="fr-FR" sz="3600" dirty="0"/>
              <a:t>$$$$$</a:t>
            </a:r>
          </a:p>
        </p:txBody>
      </p:sp>
      <p:pic>
        <p:nvPicPr>
          <p:cNvPr id="4108" name="Picture 12" descr="Head and brain gears in progress. Stock Vector Image by ©VLADGRIN #123654060">
            <a:extLst>
              <a:ext uri="{FF2B5EF4-FFF2-40B4-BE49-F238E27FC236}">
                <a16:creationId xmlns:a16="http://schemas.microsoft.com/office/drawing/2014/main" id="{CE5E7333-430C-3D4B-3441-25F94793A1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82324" y="1719106"/>
            <a:ext cx="487887" cy="6582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12" descr="Head and brain gears in progress. Stock Vector Image by ©VLADGRIN #123654060">
            <a:extLst>
              <a:ext uri="{FF2B5EF4-FFF2-40B4-BE49-F238E27FC236}">
                <a16:creationId xmlns:a16="http://schemas.microsoft.com/office/drawing/2014/main" id="{67CB53B9-8F8A-C623-8107-9934546710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43011" y="1734902"/>
            <a:ext cx="487887" cy="6582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12" descr="Head and brain gears in progress. Stock Vector Image by ©VLADGRIN #123654060">
            <a:extLst>
              <a:ext uri="{FF2B5EF4-FFF2-40B4-BE49-F238E27FC236}">
                <a16:creationId xmlns:a16="http://schemas.microsoft.com/office/drawing/2014/main" id="{2C97BD93-310C-BD82-2A1E-CD66CB5BCC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39944" y="1719106"/>
            <a:ext cx="487887" cy="6582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840B34A4-0AF0-6066-78CD-A4EBE3A1E435}"/>
              </a:ext>
            </a:extLst>
          </p:cNvPr>
          <p:cNvSpPr txBox="1"/>
          <p:nvPr/>
        </p:nvSpPr>
        <p:spPr>
          <a:xfrm>
            <a:off x="9031087" y="677684"/>
            <a:ext cx="35244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err="1"/>
              <a:t>Development</a:t>
            </a:r>
            <a:r>
              <a:rPr lang="fr-FR" dirty="0"/>
              <a:t> </a:t>
            </a:r>
            <a:r>
              <a:rPr lang="fr-FR" dirty="0" err="1"/>
              <a:t>price</a:t>
            </a:r>
            <a:r>
              <a:rPr lang="fr-FR" dirty="0"/>
              <a:t> / Run </a:t>
            </a:r>
            <a:r>
              <a:rPr lang="fr-FR" dirty="0" err="1"/>
              <a:t>cost</a:t>
            </a:r>
            <a:endParaRPr lang="fr-FR" dirty="0"/>
          </a:p>
        </p:txBody>
      </p:sp>
      <p:graphicFrame>
        <p:nvGraphicFramePr>
          <p:cNvPr id="18" name="Object 17">
            <a:extLst>
              <a:ext uri="{FF2B5EF4-FFF2-40B4-BE49-F238E27FC236}">
                <a16:creationId xmlns:a16="http://schemas.microsoft.com/office/drawing/2014/main" id="{CF38AEA9-1B00-F1FF-68B9-386970D09CC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41600510"/>
              </p:ext>
            </p:extLst>
          </p:nvPr>
        </p:nvGraphicFramePr>
        <p:xfrm>
          <a:off x="7607576" y="4596047"/>
          <a:ext cx="2074747" cy="115019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9" name="Bitmap Image" r:id="rId8" imgW="1196280" imgH="663120" progId="PBrush">
                  <p:embed/>
                </p:oleObj>
              </mc:Choice>
              <mc:Fallback>
                <p:oleObj name="Bitmap Image" r:id="rId8" imgW="1196280" imgH="663120" progId="PBrush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7607576" y="4596047"/>
                        <a:ext cx="2074747" cy="115019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Plus Sign 18">
            <a:extLst>
              <a:ext uri="{FF2B5EF4-FFF2-40B4-BE49-F238E27FC236}">
                <a16:creationId xmlns:a16="http://schemas.microsoft.com/office/drawing/2014/main" id="{85735CB6-6BF5-612A-8C99-C6938D8A59AF}"/>
              </a:ext>
            </a:extLst>
          </p:cNvPr>
          <p:cNvSpPr/>
          <p:nvPr/>
        </p:nvSpPr>
        <p:spPr>
          <a:xfrm>
            <a:off x="1100751" y="6225211"/>
            <a:ext cx="511014" cy="517067"/>
          </a:xfrm>
          <a:prstGeom prst="mathPlus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0" name="Plus Sign 19">
            <a:extLst>
              <a:ext uri="{FF2B5EF4-FFF2-40B4-BE49-F238E27FC236}">
                <a16:creationId xmlns:a16="http://schemas.microsoft.com/office/drawing/2014/main" id="{95F8C967-673C-AB36-2048-994F7A84D874}"/>
              </a:ext>
            </a:extLst>
          </p:cNvPr>
          <p:cNvSpPr/>
          <p:nvPr/>
        </p:nvSpPr>
        <p:spPr>
          <a:xfrm>
            <a:off x="1661058" y="6225211"/>
            <a:ext cx="511014" cy="517067"/>
          </a:xfrm>
          <a:prstGeom prst="mathPlus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1" name="Plus Sign 20">
            <a:extLst>
              <a:ext uri="{FF2B5EF4-FFF2-40B4-BE49-F238E27FC236}">
                <a16:creationId xmlns:a16="http://schemas.microsoft.com/office/drawing/2014/main" id="{8831D524-BF39-5A46-8375-7AD75DDA718C}"/>
              </a:ext>
            </a:extLst>
          </p:cNvPr>
          <p:cNvSpPr/>
          <p:nvPr/>
        </p:nvSpPr>
        <p:spPr>
          <a:xfrm>
            <a:off x="2221365" y="6220057"/>
            <a:ext cx="511014" cy="517067"/>
          </a:xfrm>
          <a:prstGeom prst="mathPlus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2" name="Plus Sign 21">
            <a:extLst>
              <a:ext uri="{FF2B5EF4-FFF2-40B4-BE49-F238E27FC236}">
                <a16:creationId xmlns:a16="http://schemas.microsoft.com/office/drawing/2014/main" id="{915B914B-F9C5-9046-37F6-E87943CFDC13}"/>
              </a:ext>
            </a:extLst>
          </p:cNvPr>
          <p:cNvSpPr/>
          <p:nvPr/>
        </p:nvSpPr>
        <p:spPr>
          <a:xfrm>
            <a:off x="2743011" y="6220057"/>
            <a:ext cx="511014" cy="517067"/>
          </a:xfrm>
          <a:prstGeom prst="mathPlus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3" name="Plus Sign 22">
            <a:extLst>
              <a:ext uri="{FF2B5EF4-FFF2-40B4-BE49-F238E27FC236}">
                <a16:creationId xmlns:a16="http://schemas.microsoft.com/office/drawing/2014/main" id="{974D0A28-EBA1-351B-1418-AE53129041DC}"/>
              </a:ext>
            </a:extLst>
          </p:cNvPr>
          <p:cNvSpPr/>
          <p:nvPr/>
        </p:nvSpPr>
        <p:spPr>
          <a:xfrm>
            <a:off x="3274783" y="6220057"/>
            <a:ext cx="511014" cy="517067"/>
          </a:xfrm>
          <a:prstGeom prst="mathPlus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FF77A75-6B38-A324-9FBC-8625589AC963}"/>
              </a:ext>
            </a:extLst>
          </p:cNvPr>
          <p:cNvSpPr/>
          <p:nvPr/>
        </p:nvSpPr>
        <p:spPr>
          <a:xfrm>
            <a:off x="7792241" y="6360928"/>
            <a:ext cx="435661" cy="154172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B999CCA-CC3C-A753-5BB0-EB8F166B81AA}"/>
              </a:ext>
            </a:extLst>
          </p:cNvPr>
          <p:cNvSpPr/>
          <p:nvPr/>
        </p:nvSpPr>
        <p:spPr>
          <a:xfrm>
            <a:off x="8348678" y="6360928"/>
            <a:ext cx="435661" cy="154172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5131DE5F-6DBB-3D33-FCE1-41779DE40B4D}"/>
              </a:ext>
            </a:extLst>
          </p:cNvPr>
          <p:cNvSpPr/>
          <p:nvPr/>
        </p:nvSpPr>
        <p:spPr>
          <a:xfrm>
            <a:off x="8905115" y="6360928"/>
            <a:ext cx="435661" cy="154172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31F00BBE-44B6-3DBA-07B3-0B6655815FF3}"/>
              </a:ext>
            </a:extLst>
          </p:cNvPr>
          <p:cNvSpPr/>
          <p:nvPr/>
        </p:nvSpPr>
        <p:spPr>
          <a:xfrm>
            <a:off x="9464493" y="6360928"/>
            <a:ext cx="435661" cy="154172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EC5B6F4-A27C-5F42-BAB3-EA4B3E6C7BAD}"/>
              </a:ext>
            </a:extLst>
          </p:cNvPr>
          <p:cNvSpPr/>
          <p:nvPr/>
        </p:nvSpPr>
        <p:spPr>
          <a:xfrm>
            <a:off x="10025180" y="6360928"/>
            <a:ext cx="435661" cy="154172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9" name="Plus Sign 28">
            <a:extLst>
              <a:ext uri="{FF2B5EF4-FFF2-40B4-BE49-F238E27FC236}">
                <a16:creationId xmlns:a16="http://schemas.microsoft.com/office/drawing/2014/main" id="{B1BE9047-D1AA-20F4-AB67-E83E14DF47E6}"/>
              </a:ext>
            </a:extLst>
          </p:cNvPr>
          <p:cNvSpPr/>
          <p:nvPr/>
        </p:nvSpPr>
        <p:spPr>
          <a:xfrm>
            <a:off x="3843019" y="6220056"/>
            <a:ext cx="511014" cy="517067"/>
          </a:xfrm>
          <a:prstGeom prst="mathPlus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0DC59D32-999F-A1FB-5CAC-A6B6E7D1E016}"/>
              </a:ext>
            </a:extLst>
          </p:cNvPr>
          <p:cNvSpPr/>
          <p:nvPr/>
        </p:nvSpPr>
        <p:spPr>
          <a:xfrm>
            <a:off x="10585867" y="6360928"/>
            <a:ext cx="435661" cy="154172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00FB67E-8924-F2C7-6860-555F985DEBDC}"/>
              </a:ext>
            </a:extLst>
          </p:cNvPr>
          <p:cNvSpPr/>
          <p:nvPr/>
        </p:nvSpPr>
        <p:spPr>
          <a:xfrm rot="20289398">
            <a:off x="62548" y="163093"/>
            <a:ext cx="2143536" cy="120032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600" b="1" cap="none" spc="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Appendix:</a:t>
            </a:r>
          </a:p>
          <a:p>
            <a:pPr algn="ctr"/>
            <a:r>
              <a:rPr lang="en-US" sz="3600" b="1" cap="none" spc="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 Cloud</a:t>
            </a:r>
          </a:p>
        </p:txBody>
      </p:sp>
    </p:spTree>
    <p:extLst>
      <p:ext uri="{BB962C8B-B14F-4D97-AF65-F5344CB8AC3E}">
        <p14:creationId xmlns:p14="http://schemas.microsoft.com/office/powerpoint/2010/main" val="2076257022"/>
      </p:ext>
    </p:extLst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9CADFC-B2AE-719F-2122-1612781E64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9887"/>
            <a:ext cx="10515600" cy="806727"/>
          </a:xfrm>
        </p:spPr>
        <p:txBody>
          <a:bodyPr>
            <a:normAutofit fontScale="90000"/>
          </a:bodyPr>
          <a:lstStyle/>
          <a:p>
            <a:pPr algn="ctr"/>
            <a:r>
              <a:rPr lang="fr-FR" dirty="0"/>
              <a:t>Performance Changes -&gt; Architecture Changes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FE64FB1-5E57-EA78-4FEE-7F82B28522CF}"/>
              </a:ext>
            </a:extLst>
          </p:cNvPr>
          <p:cNvSpPr txBox="1"/>
          <p:nvPr/>
        </p:nvSpPr>
        <p:spPr>
          <a:xfrm>
            <a:off x="430567" y="2053363"/>
            <a:ext cx="4736297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 err="1"/>
              <a:t>Historically</a:t>
            </a:r>
            <a:r>
              <a:rPr lang="fr-FR" b="1" dirty="0"/>
              <a:t>:</a:t>
            </a:r>
          </a:p>
          <a:p>
            <a:r>
              <a:rPr lang="fr-FR" dirty="0"/>
              <a:t>SLOW </a:t>
            </a:r>
            <a:r>
              <a:rPr lang="fr-FR" dirty="0" err="1"/>
              <a:t>Disks</a:t>
            </a:r>
            <a:endParaRPr lang="fr-FR" dirty="0"/>
          </a:p>
          <a:p>
            <a:r>
              <a:rPr lang="fr-FR" dirty="0"/>
              <a:t>Disk </a:t>
            </a:r>
            <a:r>
              <a:rPr lang="fr-FR" dirty="0" err="1"/>
              <a:t>Collocated</a:t>
            </a:r>
            <a:r>
              <a:rPr lang="fr-FR" dirty="0"/>
              <a:t> </a:t>
            </a:r>
            <a:r>
              <a:rPr lang="fr-FR" dirty="0" err="1"/>
              <a:t>with</a:t>
            </a:r>
            <a:r>
              <a:rPr lang="fr-FR" dirty="0"/>
              <a:t> RAM+CPU</a:t>
            </a:r>
          </a:p>
          <a:p>
            <a:endParaRPr lang="fr-FR" dirty="0"/>
          </a:p>
          <a:p>
            <a:r>
              <a:rPr lang="fr-FR" dirty="0"/>
              <a:t>MapReduce « </a:t>
            </a:r>
            <a:r>
              <a:rPr lang="fr-FR" dirty="0" err="1"/>
              <a:t>send</a:t>
            </a:r>
            <a:r>
              <a:rPr lang="fr-FR" dirty="0"/>
              <a:t> program » </a:t>
            </a:r>
            <a:r>
              <a:rPr lang="fr-FR" dirty="0" err="1"/>
              <a:t>collocated</a:t>
            </a:r>
            <a:r>
              <a:rPr lang="fr-FR" dirty="0"/>
              <a:t> to data</a:t>
            </a:r>
          </a:p>
        </p:txBody>
      </p:sp>
      <p:sp>
        <p:nvSpPr>
          <p:cNvPr id="4" name="Arrow: Right 3">
            <a:extLst>
              <a:ext uri="{FF2B5EF4-FFF2-40B4-BE49-F238E27FC236}">
                <a16:creationId xmlns:a16="http://schemas.microsoft.com/office/drawing/2014/main" id="{D94E547E-EAC6-873F-C82A-4B04F057791E}"/>
              </a:ext>
            </a:extLst>
          </p:cNvPr>
          <p:cNvSpPr/>
          <p:nvPr/>
        </p:nvSpPr>
        <p:spPr>
          <a:xfrm>
            <a:off x="4940423" y="2578963"/>
            <a:ext cx="701336" cy="42612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2829F52-B68D-6CEE-EBA6-2B51B69790A4}"/>
              </a:ext>
            </a:extLst>
          </p:cNvPr>
          <p:cNvSpPr txBox="1"/>
          <p:nvPr/>
        </p:nvSpPr>
        <p:spPr>
          <a:xfrm>
            <a:off x="6245089" y="1783438"/>
            <a:ext cx="47362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err="1"/>
              <a:t>Higher</a:t>
            </a:r>
            <a:r>
              <a:rPr lang="fr-FR" dirty="0"/>
              <a:t> Density for </a:t>
            </a:r>
            <a:r>
              <a:rPr lang="fr-FR" dirty="0" err="1"/>
              <a:t>Huge</a:t>
            </a:r>
            <a:r>
              <a:rPr lang="fr-FR" dirty="0"/>
              <a:t> Storage, </a:t>
            </a:r>
            <a:r>
              <a:rPr lang="fr-FR" dirty="0" err="1"/>
              <a:t>lower</a:t>
            </a:r>
            <a:r>
              <a:rPr lang="fr-FR" dirty="0"/>
              <a:t> </a:t>
            </a:r>
            <a:r>
              <a:rPr lang="fr-FR" dirty="0" err="1"/>
              <a:t>prices</a:t>
            </a:r>
            <a:endParaRPr lang="fr-FR" dirty="0"/>
          </a:p>
        </p:txBody>
      </p:sp>
      <p:pic>
        <p:nvPicPr>
          <p:cNvPr id="6" name="Picture 2" descr="Amazon S3 Online Storage">
            <a:extLst>
              <a:ext uri="{FF2B5EF4-FFF2-40B4-BE49-F238E27FC236}">
                <a16:creationId xmlns:a16="http://schemas.microsoft.com/office/drawing/2014/main" id="{354A410D-71D9-C567-B690-6CE5A07DC8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94869" y="5281889"/>
            <a:ext cx="1117859" cy="8373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 descr="Azure - Understanding Azure Storage - Simple BI Insights">
            <a:extLst>
              <a:ext uri="{FF2B5EF4-FFF2-40B4-BE49-F238E27FC236}">
                <a16:creationId xmlns:a16="http://schemas.microsoft.com/office/drawing/2014/main" id="{68D8D6AE-E10E-5E86-2C0D-BE75DB0B3D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95290" y="5355277"/>
            <a:ext cx="1416753" cy="8109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2">
            <a:extLst>
              <a:ext uri="{FF2B5EF4-FFF2-40B4-BE49-F238E27FC236}">
                <a16:creationId xmlns:a16="http://schemas.microsoft.com/office/drawing/2014/main" id="{D20CB7C9-7BEF-F504-FF1A-A23D58C4D4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94226" y="2211680"/>
            <a:ext cx="2014933" cy="17580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4" descr="Dakota Server Storage &amp;amp; Microcloud Solutions | Intel Xeon Scalable  Processors">
            <a:extLst>
              <a:ext uri="{FF2B5EF4-FFF2-40B4-BE49-F238E27FC236}">
                <a16:creationId xmlns:a16="http://schemas.microsoft.com/office/drawing/2014/main" id="{436FA059-14F9-16CF-6BF8-8409CD1B64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77879" y="2476272"/>
            <a:ext cx="3052490" cy="11219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C96A35CB-4B34-7D95-12C2-D3922CF52221}"/>
              </a:ext>
            </a:extLst>
          </p:cNvPr>
          <p:cNvSpPr txBox="1"/>
          <p:nvPr/>
        </p:nvSpPr>
        <p:spPr>
          <a:xfrm>
            <a:off x="6036839" y="3739220"/>
            <a:ext cx="2736318" cy="4273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177" dirty="0"/>
              <a:t>48 * </a:t>
            </a:r>
            <a:r>
              <a:rPr lang="fr-FR" sz="2177" dirty="0" err="1"/>
              <a:t>disks</a:t>
            </a:r>
            <a:r>
              <a:rPr lang="fr-FR" sz="2177" dirty="0"/>
              <a:t>  in 2U </a:t>
            </a:r>
            <a:r>
              <a:rPr lang="fr-FR" sz="2177" dirty="0" err="1"/>
              <a:t>blade</a:t>
            </a:r>
            <a:endParaRPr lang="fr-FR" sz="2177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BA76D94-C811-BFD5-8532-5F5EF448A121}"/>
              </a:ext>
            </a:extLst>
          </p:cNvPr>
          <p:cNvSpPr txBox="1"/>
          <p:nvPr/>
        </p:nvSpPr>
        <p:spPr>
          <a:xfrm>
            <a:off x="9030369" y="3710870"/>
            <a:ext cx="38628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177" dirty="0"/>
              <a:t>1 </a:t>
            </a:r>
            <a:r>
              <a:rPr lang="fr-FR" sz="2177" dirty="0" err="1"/>
              <a:t>Peta</a:t>
            </a:r>
            <a:r>
              <a:rPr lang="fr-FR" sz="2177" dirty="0"/>
              <a:t> SSD … 200 000 </a:t>
            </a:r>
            <a:r>
              <a:rPr lang="fr-FR" sz="2400" b="0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€</a:t>
            </a:r>
            <a:endParaRPr lang="fr-FR" sz="2177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6EB78E4-1025-84EE-6A26-17D8AF84DCF1}"/>
              </a:ext>
            </a:extLst>
          </p:cNvPr>
          <p:cNvSpPr txBox="1"/>
          <p:nvPr/>
        </p:nvSpPr>
        <p:spPr>
          <a:xfrm>
            <a:off x="6245089" y="4684884"/>
            <a:ext cx="4878580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dirty="0"/>
              <a:t>Cloud Provider : AWS, Azure, Google</a:t>
            </a:r>
            <a:br>
              <a:rPr lang="fr-FR" sz="2000" dirty="0"/>
            </a:br>
            <a:r>
              <a:rPr lang="fr-FR" sz="2000" dirty="0" err="1"/>
              <a:t>offer</a:t>
            </a:r>
            <a:r>
              <a:rPr lang="fr-FR" sz="2000" dirty="0"/>
              <a:t> Storage solutions  (S3, Azure Storage, ..)</a:t>
            </a:r>
          </a:p>
          <a:p>
            <a:endParaRPr lang="fr-FR" sz="20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67493AF-B742-C5E1-E170-408A7F551DA3}"/>
              </a:ext>
            </a:extLst>
          </p:cNvPr>
          <p:cNvSpPr txBox="1"/>
          <p:nvPr/>
        </p:nvSpPr>
        <p:spPr>
          <a:xfrm>
            <a:off x="466077" y="3804081"/>
            <a:ext cx="418673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 err="1"/>
              <a:t>Now</a:t>
            </a:r>
            <a:r>
              <a:rPr lang="fr-FR" b="1" dirty="0"/>
              <a:t>:</a:t>
            </a:r>
          </a:p>
          <a:p>
            <a:r>
              <a:rPr lang="fr-FR" dirty="0"/>
              <a:t>FAST(ER) SSD </a:t>
            </a:r>
            <a:r>
              <a:rPr lang="fr-FR" dirty="0" err="1"/>
              <a:t>Disks</a:t>
            </a:r>
            <a:r>
              <a:rPr lang="fr-FR" dirty="0"/>
              <a:t> + Networks</a:t>
            </a:r>
          </a:p>
          <a:p>
            <a:endParaRPr lang="fr-FR" dirty="0"/>
          </a:p>
          <a:p>
            <a:r>
              <a:rPr lang="fr-FR" dirty="0"/>
              <a:t>Can « </a:t>
            </a:r>
            <a:r>
              <a:rPr lang="fr-FR" dirty="0" err="1"/>
              <a:t>send</a:t>
            </a:r>
            <a:r>
              <a:rPr lang="fr-FR" dirty="0"/>
              <a:t>» data to </a:t>
            </a:r>
            <a:r>
              <a:rPr lang="fr-FR" dirty="0" err="1"/>
              <a:t>distributed</a:t>
            </a:r>
            <a:r>
              <a:rPr lang="fr-FR" dirty="0"/>
              <a:t> programs</a:t>
            </a:r>
          </a:p>
          <a:p>
            <a:endParaRPr lang="fr-FR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DBE6C38-6C97-2AF5-09E7-9E2049983089}"/>
              </a:ext>
            </a:extLst>
          </p:cNvPr>
          <p:cNvSpPr txBox="1"/>
          <p:nvPr/>
        </p:nvSpPr>
        <p:spPr>
          <a:xfrm>
            <a:off x="6311938" y="5709743"/>
            <a:ext cx="2262414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dirty="0"/>
              <a:t>+ </a:t>
            </a:r>
            <a:r>
              <a:rPr lang="fr-FR" sz="2000" dirty="0" err="1"/>
              <a:t>Managed</a:t>
            </a:r>
            <a:r>
              <a:rPr lang="fr-FR" sz="2000" dirty="0"/>
              <a:t> Services</a:t>
            </a:r>
          </a:p>
          <a:p>
            <a:r>
              <a:rPr lang="fr-FR" sz="2000" dirty="0"/>
              <a:t>+ </a:t>
            </a:r>
            <a:r>
              <a:rPr lang="fr-FR" sz="2000" dirty="0" err="1"/>
              <a:t>Serverless</a:t>
            </a:r>
            <a:endParaRPr lang="fr-FR" sz="2000" dirty="0"/>
          </a:p>
          <a:p>
            <a:r>
              <a:rPr lang="fr-FR" sz="2000" dirty="0"/>
              <a:t>+ </a:t>
            </a:r>
            <a:r>
              <a:rPr lang="fr-FR" sz="2000" dirty="0" err="1"/>
              <a:t>Kubernetes</a:t>
            </a:r>
            <a:endParaRPr lang="fr-FR" sz="20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07A7BC2-5450-EE3E-8D8A-596A1FE14720}"/>
              </a:ext>
            </a:extLst>
          </p:cNvPr>
          <p:cNvSpPr txBox="1"/>
          <p:nvPr/>
        </p:nvSpPr>
        <p:spPr>
          <a:xfrm>
            <a:off x="5795069" y="1195338"/>
            <a:ext cx="59561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/>
              <a:t>Storage  and </a:t>
            </a:r>
            <a:r>
              <a:rPr lang="fr-FR" sz="2400" b="1" dirty="0" err="1"/>
              <a:t>Compute</a:t>
            </a:r>
            <a:r>
              <a:rPr lang="fr-FR" sz="2400" b="1" dirty="0"/>
              <a:t>  can </a:t>
            </a:r>
            <a:r>
              <a:rPr lang="fr-FR" sz="2400" b="1" dirty="0" err="1"/>
              <a:t>be</a:t>
            </a:r>
            <a:r>
              <a:rPr lang="fr-FR" sz="2400" b="1" dirty="0"/>
              <a:t> SPLIT … OK !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61296C6-A451-F111-DFA3-09A9AF2E14EC}"/>
              </a:ext>
            </a:extLst>
          </p:cNvPr>
          <p:cNvSpPr/>
          <p:nvPr/>
        </p:nvSpPr>
        <p:spPr>
          <a:xfrm rot="20289398">
            <a:off x="62548" y="163093"/>
            <a:ext cx="2143536" cy="120032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600" b="1" cap="none" spc="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Appendix:</a:t>
            </a:r>
          </a:p>
          <a:p>
            <a:pPr algn="ctr"/>
            <a:r>
              <a:rPr lang="en-US" sz="3600" b="1" cap="none" spc="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 Cloud</a:t>
            </a:r>
          </a:p>
        </p:txBody>
      </p:sp>
    </p:spTree>
    <p:extLst>
      <p:ext uri="{BB962C8B-B14F-4D97-AF65-F5344CB8AC3E}">
        <p14:creationId xmlns:p14="http://schemas.microsoft.com/office/powerpoint/2010/main" val="3941082807"/>
      </p:ext>
    </p:extLst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9CADFC-B2AE-719F-2122-1612781E64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405196"/>
          </a:xfrm>
        </p:spPr>
        <p:txBody>
          <a:bodyPr>
            <a:normAutofit/>
          </a:bodyPr>
          <a:lstStyle/>
          <a:p>
            <a:pPr algn="ctr"/>
            <a:r>
              <a:rPr lang="fr-FR" dirty="0"/>
              <a:t>Migration to Cloud </a:t>
            </a:r>
            <a:br>
              <a:rPr lang="fr-FR" dirty="0"/>
            </a:br>
            <a:r>
              <a:rPr lang="fr-FR" dirty="0"/>
              <a:t>Azure - AWS - Google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11FCD45-E529-DACE-86CA-61862CDBCFF1}"/>
              </a:ext>
            </a:extLst>
          </p:cNvPr>
          <p:cNvSpPr txBox="1"/>
          <p:nvPr/>
        </p:nvSpPr>
        <p:spPr>
          <a:xfrm>
            <a:off x="3152552" y="6299791"/>
            <a:ext cx="629287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 err="1"/>
              <a:t>Since</a:t>
            </a:r>
            <a:r>
              <a:rPr lang="fr-FR" sz="2400" dirty="0"/>
              <a:t> 2020  SGCIB </a:t>
            </a:r>
            <a:r>
              <a:rPr lang="fr-FR" sz="2400" dirty="0" err="1"/>
              <a:t>is</a:t>
            </a:r>
            <a:r>
              <a:rPr lang="fr-FR" sz="2400" dirty="0"/>
              <a:t> </a:t>
            </a:r>
            <a:r>
              <a:rPr lang="fr-FR" sz="2400" dirty="0" err="1"/>
              <a:t>moving</a:t>
            </a:r>
            <a:r>
              <a:rPr lang="fr-FR" sz="2400" dirty="0"/>
              <a:t> </a:t>
            </a:r>
            <a:r>
              <a:rPr lang="fr-FR" sz="2400" dirty="0" err="1"/>
              <a:t>its</a:t>
            </a:r>
            <a:r>
              <a:rPr lang="fr-FR" sz="2400" dirty="0"/>
              <a:t> </a:t>
            </a:r>
            <a:r>
              <a:rPr lang="fr-FR" sz="2400" dirty="0" err="1"/>
              <a:t>Datalake</a:t>
            </a:r>
            <a:r>
              <a:rPr lang="fr-FR" sz="2400" dirty="0"/>
              <a:t> to Azure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895A31B-45AA-3D7F-9DE8-965564D04355}"/>
              </a:ext>
            </a:extLst>
          </p:cNvPr>
          <p:cNvSpPr txBox="1"/>
          <p:nvPr/>
        </p:nvSpPr>
        <p:spPr>
          <a:xfrm>
            <a:off x="1940440" y="1869697"/>
            <a:ext cx="10219657" cy="45243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/>
              <a:t>Goals:</a:t>
            </a:r>
          </a:p>
          <a:p>
            <a:pPr marL="342900" indent="-342900">
              <a:buFontTx/>
              <a:buChar char="-"/>
            </a:pPr>
            <a:r>
              <a:rPr lang="fr-FR" sz="2400" dirty="0" err="1"/>
              <a:t>Elasticity</a:t>
            </a:r>
            <a:r>
              <a:rPr lang="fr-FR" sz="2400" dirty="0"/>
              <a:t> of Storage   </a:t>
            </a:r>
            <a:br>
              <a:rPr lang="fr-FR" sz="2400" dirty="0"/>
            </a:br>
            <a:r>
              <a:rPr lang="fr-FR" sz="2400" dirty="0"/>
              <a:t>(No more </a:t>
            </a:r>
            <a:r>
              <a:rPr lang="fr-FR" sz="2400" dirty="0" err="1"/>
              <a:t>fear</a:t>
            </a:r>
            <a:r>
              <a:rPr lang="fr-FR" sz="2400" dirty="0"/>
              <a:t> of HDFS </a:t>
            </a:r>
            <a:r>
              <a:rPr lang="fr-FR" sz="2400" dirty="0" err="1"/>
              <a:t>FileSystem</a:t>
            </a:r>
            <a:r>
              <a:rPr lang="fr-FR" sz="2400" dirty="0"/>
              <a:t> Full)</a:t>
            </a:r>
          </a:p>
          <a:p>
            <a:pPr marL="342900" indent="-342900">
              <a:buFontTx/>
              <a:buChar char="-"/>
            </a:pPr>
            <a:r>
              <a:rPr lang="fr-FR" sz="2400" dirty="0" err="1"/>
              <a:t>Elasticity</a:t>
            </a:r>
            <a:r>
              <a:rPr lang="fr-FR" sz="2400" dirty="0"/>
              <a:t> of </a:t>
            </a:r>
            <a:r>
              <a:rPr lang="fr-FR" sz="2400" dirty="0" err="1"/>
              <a:t>Compute</a:t>
            </a:r>
            <a:r>
              <a:rPr lang="fr-FR" sz="2400" dirty="0"/>
              <a:t>  </a:t>
            </a:r>
            <a:br>
              <a:rPr lang="fr-FR" sz="2400" dirty="0"/>
            </a:br>
            <a:r>
              <a:rPr lang="fr-FR" sz="2400" dirty="0"/>
              <a:t>(</a:t>
            </a:r>
            <a:r>
              <a:rPr lang="fr-FR" sz="2400" dirty="0" err="1"/>
              <a:t>adapt</a:t>
            </a:r>
            <a:r>
              <a:rPr lang="fr-FR" sz="2400" dirty="0"/>
              <a:t> CPU to </a:t>
            </a:r>
            <a:r>
              <a:rPr lang="fr-FR" sz="2400" dirty="0" err="1"/>
              <a:t>workload</a:t>
            </a:r>
            <a:r>
              <a:rPr lang="fr-FR" sz="2400" dirty="0"/>
              <a:t>… </a:t>
            </a:r>
            <a:r>
              <a:rPr lang="fr-FR" sz="2400" dirty="0" err="1"/>
              <a:t>Pay</a:t>
            </a:r>
            <a:r>
              <a:rPr lang="fr-FR" sz="2400" dirty="0"/>
              <a:t> </a:t>
            </a:r>
            <a:r>
              <a:rPr lang="fr-FR" sz="2400" dirty="0" err="1"/>
              <a:t>only</a:t>
            </a:r>
            <a:r>
              <a:rPr lang="fr-FR" sz="2400" dirty="0"/>
              <a:t> </a:t>
            </a:r>
            <a:r>
              <a:rPr lang="fr-FR" sz="2400" dirty="0" err="1"/>
              <a:t>what</a:t>
            </a:r>
            <a:r>
              <a:rPr lang="fr-FR" sz="2400" dirty="0"/>
              <a:t> </a:t>
            </a:r>
            <a:r>
              <a:rPr lang="fr-FR" sz="2400" dirty="0" err="1"/>
              <a:t>you</a:t>
            </a:r>
            <a:r>
              <a:rPr lang="fr-FR" sz="2400" dirty="0"/>
              <a:t> use)</a:t>
            </a:r>
            <a:br>
              <a:rPr lang="fr-FR" sz="2400" dirty="0"/>
            </a:br>
            <a:endParaRPr lang="fr-FR" sz="2400" dirty="0"/>
          </a:p>
          <a:p>
            <a:pPr marL="342900" indent="-342900">
              <a:buFontTx/>
              <a:buChar char="-"/>
            </a:pPr>
            <a:r>
              <a:rPr lang="fr-FR" sz="2400" dirty="0"/>
              <a:t>Clear </a:t>
            </a:r>
            <a:r>
              <a:rPr lang="fr-FR" sz="2400" dirty="0" err="1"/>
              <a:t>visibility</a:t>
            </a:r>
            <a:r>
              <a:rPr lang="fr-FR" sz="2400" dirty="0"/>
              <a:t> of </a:t>
            </a:r>
            <a:r>
              <a:rPr lang="fr-FR" sz="2400" dirty="0" err="1"/>
              <a:t>cost</a:t>
            </a:r>
            <a:r>
              <a:rPr lang="fr-FR" sz="2400" dirty="0"/>
              <a:t> per </a:t>
            </a:r>
            <a:r>
              <a:rPr lang="fr-FR" sz="2400" dirty="0" err="1"/>
              <a:t>Projects</a:t>
            </a:r>
            <a:r>
              <a:rPr lang="fr-FR" sz="2400" dirty="0"/>
              <a:t> / </a:t>
            </a:r>
            <a:r>
              <a:rPr lang="fr-FR" sz="2400" dirty="0" err="1"/>
              <a:t>internal</a:t>
            </a:r>
            <a:r>
              <a:rPr lang="fr-FR" sz="2400" dirty="0"/>
              <a:t> refacturation</a:t>
            </a:r>
          </a:p>
          <a:p>
            <a:pPr marL="342900" indent="-342900">
              <a:buFontTx/>
              <a:buChar char="-"/>
            </a:pPr>
            <a:r>
              <a:rPr lang="fr-FR" sz="2400" dirty="0"/>
              <a:t>By-Pass </a:t>
            </a:r>
            <a:r>
              <a:rPr lang="fr-FR" sz="2400" dirty="0" err="1"/>
              <a:t>internal</a:t>
            </a:r>
            <a:r>
              <a:rPr lang="fr-FR" sz="2400" dirty="0"/>
              <a:t> IT </a:t>
            </a:r>
            <a:r>
              <a:rPr lang="fr-FR" sz="2400" dirty="0" err="1"/>
              <a:t>department</a:t>
            </a:r>
            <a:br>
              <a:rPr lang="fr-FR" sz="2400" dirty="0"/>
            </a:br>
            <a:endParaRPr lang="fr-FR" sz="2400" dirty="0"/>
          </a:p>
          <a:p>
            <a:pPr marL="342900" indent="-342900">
              <a:buFontTx/>
              <a:buChar char="-"/>
            </a:pPr>
            <a:r>
              <a:rPr lang="fr-FR" sz="2400" dirty="0" err="1"/>
              <a:t>Easier</a:t>
            </a:r>
            <a:r>
              <a:rPr lang="fr-FR" sz="2400" dirty="0"/>
              <a:t> (?) Self-Service API for </a:t>
            </a:r>
            <a:r>
              <a:rPr lang="fr-FR" sz="2400" dirty="0" err="1"/>
              <a:t>Provisionning</a:t>
            </a:r>
            <a:endParaRPr lang="fr-FR" sz="2400" dirty="0"/>
          </a:p>
          <a:p>
            <a:pPr marL="342900" indent="-342900">
              <a:buFontTx/>
              <a:buChar char="-"/>
            </a:pPr>
            <a:r>
              <a:rPr lang="fr-FR" sz="2400" dirty="0"/>
              <a:t>No More Multi-tenant (no </a:t>
            </a:r>
            <a:r>
              <a:rPr lang="fr-FR" sz="2400" dirty="0" err="1"/>
              <a:t>risk</a:t>
            </a:r>
            <a:r>
              <a:rPr lang="fr-FR" sz="2400" dirty="0"/>
              <a:t> of 1 </a:t>
            </a:r>
            <a:r>
              <a:rPr lang="fr-FR" sz="2400" dirty="0" err="1"/>
              <a:t>project</a:t>
            </a:r>
            <a:r>
              <a:rPr lang="fr-FR" sz="2400" dirty="0"/>
              <a:t> </a:t>
            </a:r>
            <a:r>
              <a:rPr lang="fr-FR" sz="2400" dirty="0" err="1"/>
              <a:t>crashing</a:t>
            </a:r>
            <a:r>
              <a:rPr lang="fr-FR" sz="2400" dirty="0"/>
              <a:t>/</a:t>
            </a:r>
            <a:r>
              <a:rPr lang="fr-FR" sz="2400" dirty="0" err="1"/>
              <a:t>consuming</a:t>
            </a:r>
            <a:r>
              <a:rPr lang="fr-FR" sz="2400" dirty="0"/>
              <a:t> </a:t>
            </a:r>
            <a:r>
              <a:rPr lang="fr-FR" sz="2400" dirty="0" err="1"/>
              <a:t>whole</a:t>
            </a:r>
            <a:r>
              <a:rPr lang="fr-FR" sz="2400" dirty="0"/>
              <a:t> cluster)</a:t>
            </a:r>
          </a:p>
          <a:p>
            <a:endParaRPr lang="fr-FR" sz="24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BC03E76-5B92-313B-9859-17A6EB8C67B0}"/>
              </a:ext>
            </a:extLst>
          </p:cNvPr>
          <p:cNvSpPr/>
          <p:nvPr/>
        </p:nvSpPr>
        <p:spPr>
          <a:xfrm rot="20289398">
            <a:off x="62548" y="163093"/>
            <a:ext cx="2143536" cy="120032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600" b="1" cap="none" spc="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Appendix:</a:t>
            </a:r>
          </a:p>
          <a:p>
            <a:pPr algn="ctr"/>
            <a:r>
              <a:rPr lang="en-US" sz="3600" b="1" cap="none" spc="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 Cloud</a:t>
            </a:r>
          </a:p>
        </p:txBody>
      </p:sp>
    </p:spTree>
    <p:extLst>
      <p:ext uri="{BB962C8B-B14F-4D97-AF65-F5344CB8AC3E}">
        <p14:creationId xmlns:p14="http://schemas.microsoft.com/office/powerpoint/2010/main" val="4221779246"/>
      </p:ext>
    </p:extLst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B7F25987-A792-0A90-4092-D2921CA2E472}"/>
              </a:ext>
            </a:extLst>
          </p:cNvPr>
          <p:cNvSpPr/>
          <p:nvPr/>
        </p:nvSpPr>
        <p:spPr>
          <a:xfrm>
            <a:off x="6202024" y="3555024"/>
            <a:ext cx="1802123" cy="694088"/>
          </a:xfrm>
          <a:prstGeom prst="rect">
            <a:avLst/>
          </a:prstGeom>
          <a:solidFill>
            <a:schemeClr val="bg1"/>
          </a:solidFill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ED20F537-F50F-6A67-0BC0-D09551A84C39}"/>
              </a:ext>
            </a:extLst>
          </p:cNvPr>
          <p:cNvSpPr txBox="1"/>
          <p:nvPr/>
        </p:nvSpPr>
        <p:spPr>
          <a:xfrm>
            <a:off x="6160374" y="3534426"/>
            <a:ext cx="16044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VM, AKS, HDI ..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59CADFC-B2AE-719F-2122-1612781E64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99943"/>
          </a:xfrm>
        </p:spPr>
        <p:txBody>
          <a:bodyPr/>
          <a:lstStyle/>
          <a:p>
            <a:pPr algn="ctr"/>
            <a:r>
              <a:rPr lang="fr-FR" dirty="0"/>
              <a:t>Architecture of </a:t>
            </a:r>
            <a:r>
              <a:rPr lang="fr-FR" dirty="0" err="1"/>
              <a:t>Datalake</a:t>
            </a:r>
            <a:r>
              <a:rPr lang="fr-FR" dirty="0"/>
              <a:t> on </a:t>
            </a:r>
            <a:r>
              <a:rPr lang="fr-FR" dirty="0" err="1"/>
              <a:t>Clouds</a:t>
            </a:r>
            <a:endParaRPr lang="fr-FR" dirty="0"/>
          </a:p>
        </p:txBody>
      </p:sp>
      <p:sp>
        <p:nvSpPr>
          <p:cNvPr id="3" name="Cloud 2">
            <a:extLst>
              <a:ext uri="{FF2B5EF4-FFF2-40B4-BE49-F238E27FC236}">
                <a16:creationId xmlns:a16="http://schemas.microsoft.com/office/drawing/2014/main" id="{A41A2F8D-BA8D-28A5-F11A-8FCA13AFB7F5}"/>
              </a:ext>
            </a:extLst>
          </p:cNvPr>
          <p:cNvSpPr/>
          <p:nvPr/>
        </p:nvSpPr>
        <p:spPr>
          <a:xfrm>
            <a:off x="3599121" y="1265068"/>
            <a:ext cx="8415669" cy="5156997"/>
          </a:xfrm>
          <a:prstGeom prst="cloud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9F5B24C-A12A-4023-CC1E-C067A605F975}"/>
              </a:ext>
            </a:extLst>
          </p:cNvPr>
          <p:cNvSpPr/>
          <p:nvPr/>
        </p:nvSpPr>
        <p:spPr>
          <a:xfrm>
            <a:off x="4694275" y="2817628"/>
            <a:ext cx="4183912" cy="2589028"/>
          </a:xfrm>
          <a:prstGeom prst="rect">
            <a:avLst/>
          </a:prstGeom>
          <a:noFill/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BFA35E5-B3A8-11AF-5191-2475DB21AD11}"/>
              </a:ext>
            </a:extLst>
          </p:cNvPr>
          <p:cNvSpPr/>
          <p:nvPr/>
        </p:nvSpPr>
        <p:spPr>
          <a:xfrm>
            <a:off x="4775916" y="2875738"/>
            <a:ext cx="4029044" cy="2456489"/>
          </a:xfrm>
          <a:prstGeom prst="rect">
            <a:avLst/>
          </a:prstGeom>
          <a:noFill/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C4FCA44-8881-B28D-F186-27864E5870CB}"/>
              </a:ext>
            </a:extLst>
          </p:cNvPr>
          <p:cNvSpPr txBox="1"/>
          <p:nvPr/>
        </p:nvSpPr>
        <p:spPr>
          <a:xfrm>
            <a:off x="4775915" y="2448296"/>
            <a:ext cx="41190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Firewall - Restrictions – </a:t>
            </a:r>
            <a:r>
              <a:rPr lang="fr-FR" dirty="0" err="1"/>
              <a:t>BluePrint</a:t>
            </a:r>
            <a:r>
              <a:rPr lang="fr-FR" dirty="0"/>
              <a:t> Rules - ..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D1D6BCE-6E01-525D-729C-A548A3C74484}"/>
              </a:ext>
            </a:extLst>
          </p:cNvPr>
          <p:cNvSpPr/>
          <p:nvPr/>
        </p:nvSpPr>
        <p:spPr>
          <a:xfrm>
            <a:off x="9276336" y="2806996"/>
            <a:ext cx="1394009" cy="2392326"/>
          </a:xfrm>
          <a:prstGeom prst="rect">
            <a:avLst/>
          </a:prstGeom>
          <a:noFill/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9531EE9-5A1F-8A8D-0CBF-C944035D093D}"/>
              </a:ext>
            </a:extLst>
          </p:cNvPr>
          <p:cNvSpPr/>
          <p:nvPr/>
        </p:nvSpPr>
        <p:spPr>
          <a:xfrm>
            <a:off x="9380263" y="2959396"/>
            <a:ext cx="1194389" cy="2133600"/>
          </a:xfrm>
          <a:prstGeom prst="rect">
            <a:avLst/>
          </a:prstGeom>
          <a:noFill/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Cylinder 8">
            <a:extLst>
              <a:ext uri="{FF2B5EF4-FFF2-40B4-BE49-F238E27FC236}">
                <a16:creationId xmlns:a16="http://schemas.microsoft.com/office/drawing/2014/main" id="{18A339E4-52F4-C889-21E0-D1D7B0151D60}"/>
              </a:ext>
            </a:extLst>
          </p:cNvPr>
          <p:cNvSpPr/>
          <p:nvPr/>
        </p:nvSpPr>
        <p:spPr>
          <a:xfrm>
            <a:off x="9696893" y="3136605"/>
            <a:ext cx="558209" cy="701748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Cylinder 9">
            <a:extLst>
              <a:ext uri="{FF2B5EF4-FFF2-40B4-BE49-F238E27FC236}">
                <a16:creationId xmlns:a16="http://schemas.microsoft.com/office/drawing/2014/main" id="{AAE25806-FF0B-6FA4-4BE3-D728916641D5}"/>
              </a:ext>
            </a:extLst>
          </p:cNvPr>
          <p:cNvSpPr/>
          <p:nvPr/>
        </p:nvSpPr>
        <p:spPr>
          <a:xfrm>
            <a:off x="9696893" y="4188948"/>
            <a:ext cx="558209" cy="701748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023CA77-C064-393D-11DD-F22F643C2CEF}"/>
              </a:ext>
            </a:extLst>
          </p:cNvPr>
          <p:cNvSpPr txBox="1"/>
          <p:nvPr/>
        </p:nvSpPr>
        <p:spPr>
          <a:xfrm>
            <a:off x="9320882" y="2875739"/>
            <a:ext cx="22225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RAW Storage </a:t>
            </a:r>
            <a:r>
              <a:rPr lang="fr-FR" dirty="0" err="1"/>
              <a:t>Account</a:t>
            </a:r>
            <a:endParaRPr lang="fr-FR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8264364-6368-81D7-97DD-7670AD03B619}"/>
              </a:ext>
            </a:extLst>
          </p:cNvPr>
          <p:cNvSpPr txBox="1"/>
          <p:nvPr/>
        </p:nvSpPr>
        <p:spPr>
          <a:xfrm>
            <a:off x="9380263" y="3859479"/>
            <a:ext cx="22315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LAKE Storage </a:t>
            </a:r>
            <a:r>
              <a:rPr lang="fr-FR" dirty="0" err="1"/>
              <a:t>Account</a:t>
            </a:r>
            <a:endParaRPr lang="fr-FR" dirty="0"/>
          </a:p>
        </p:txBody>
      </p:sp>
      <p:sp>
        <p:nvSpPr>
          <p:cNvPr id="13" name="Cylinder 12">
            <a:extLst>
              <a:ext uri="{FF2B5EF4-FFF2-40B4-BE49-F238E27FC236}">
                <a16:creationId xmlns:a16="http://schemas.microsoft.com/office/drawing/2014/main" id="{1751E5B6-F101-1121-1519-97B8042A7215}"/>
              </a:ext>
            </a:extLst>
          </p:cNvPr>
          <p:cNvSpPr/>
          <p:nvPr/>
        </p:nvSpPr>
        <p:spPr>
          <a:xfrm rot="16200000">
            <a:off x="3319517" y="2516528"/>
            <a:ext cx="186069" cy="3011483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C2462A2-1311-A074-5D39-497F4D0C6D0F}"/>
              </a:ext>
            </a:extLst>
          </p:cNvPr>
          <p:cNvSpPr/>
          <p:nvPr/>
        </p:nvSpPr>
        <p:spPr>
          <a:xfrm>
            <a:off x="228597" y="2870607"/>
            <a:ext cx="1936868" cy="2286368"/>
          </a:xfrm>
          <a:prstGeom prst="rect">
            <a:avLst/>
          </a:prstGeom>
          <a:noFill/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C316C27-2FD1-8DA2-D20C-83919E46C8E9}"/>
              </a:ext>
            </a:extLst>
          </p:cNvPr>
          <p:cNvSpPr txBox="1"/>
          <p:nvPr/>
        </p:nvSpPr>
        <p:spPr>
          <a:xfrm>
            <a:off x="295765" y="2448296"/>
            <a:ext cx="25615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Intranet LAN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2E9EB31-1449-9ECD-D675-2CF199330614}"/>
              </a:ext>
            </a:extLst>
          </p:cNvPr>
          <p:cNvSpPr txBox="1"/>
          <p:nvPr/>
        </p:nvSpPr>
        <p:spPr>
          <a:xfrm>
            <a:off x="2208604" y="3631524"/>
            <a:ext cx="24457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/>
              <a:t>Dedicated</a:t>
            </a:r>
            <a:r>
              <a:rPr lang="fr-FR" dirty="0"/>
              <a:t> </a:t>
            </a:r>
            <a:r>
              <a:rPr lang="fr-FR" dirty="0" err="1"/>
              <a:t>ExpressRoute</a:t>
            </a:r>
            <a:endParaRPr lang="fr-FR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7A4C104-2BAD-1EEE-AD15-E3EE87777030}"/>
              </a:ext>
            </a:extLst>
          </p:cNvPr>
          <p:cNvSpPr/>
          <p:nvPr/>
        </p:nvSpPr>
        <p:spPr>
          <a:xfrm>
            <a:off x="4838800" y="3797582"/>
            <a:ext cx="622540" cy="626068"/>
          </a:xfrm>
          <a:prstGeom prst="rect">
            <a:avLst/>
          </a:prstGeom>
          <a:noFill/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83D81DC-96B7-2B9B-4061-5A35493FE597}"/>
              </a:ext>
            </a:extLst>
          </p:cNvPr>
          <p:cNvSpPr txBox="1"/>
          <p:nvPr/>
        </p:nvSpPr>
        <p:spPr>
          <a:xfrm>
            <a:off x="4861917" y="2949280"/>
            <a:ext cx="146636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HUB Network</a:t>
            </a:r>
          </a:p>
          <a:p>
            <a:r>
              <a:rPr lang="fr-FR" dirty="0"/>
              <a:t> / </a:t>
            </a:r>
            <a:r>
              <a:rPr lang="fr-FR" dirty="0" err="1"/>
              <a:t>Socks</a:t>
            </a:r>
            <a:r>
              <a:rPr lang="fr-FR" dirty="0"/>
              <a:t> Proxy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BDA964DA-4008-AA59-6F58-7F4B66B72EC1}"/>
              </a:ext>
            </a:extLst>
          </p:cNvPr>
          <p:cNvCxnSpPr/>
          <p:nvPr/>
        </p:nvCxnSpPr>
        <p:spPr>
          <a:xfrm flipV="1">
            <a:off x="5449899" y="3850131"/>
            <a:ext cx="190024" cy="5582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D563AD40-A62A-53A5-0E08-5DCA79C04A35}"/>
              </a:ext>
            </a:extLst>
          </p:cNvPr>
          <p:cNvCxnSpPr>
            <a:cxnSpLocks/>
          </p:cNvCxnSpPr>
          <p:nvPr/>
        </p:nvCxnSpPr>
        <p:spPr>
          <a:xfrm>
            <a:off x="5439265" y="3994298"/>
            <a:ext cx="19043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29E4B759-2781-6586-0E70-7EFD7CD0088A}"/>
              </a:ext>
            </a:extLst>
          </p:cNvPr>
          <p:cNvCxnSpPr>
            <a:cxnSpLocks/>
          </p:cNvCxnSpPr>
          <p:nvPr/>
        </p:nvCxnSpPr>
        <p:spPr>
          <a:xfrm>
            <a:off x="5442811" y="4088221"/>
            <a:ext cx="191796" cy="9683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95E3F2E3-D6AB-919F-07CF-78863C344948}"/>
              </a:ext>
            </a:extLst>
          </p:cNvPr>
          <p:cNvSpPr txBox="1"/>
          <p:nvPr/>
        </p:nvSpPr>
        <p:spPr>
          <a:xfrm>
            <a:off x="4804141" y="2114775"/>
            <a:ext cx="1411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Azure </a:t>
            </a:r>
            <a:r>
              <a:rPr lang="fr-FR" b="1" dirty="0"/>
              <a:t>Tenant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5288946-8BE2-517B-002C-C9B0B1A41E84}"/>
              </a:ext>
            </a:extLst>
          </p:cNvPr>
          <p:cNvSpPr txBox="1"/>
          <p:nvPr/>
        </p:nvSpPr>
        <p:spPr>
          <a:xfrm>
            <a:off x="6442281" y="2908693"/>
            <a:ext cx="196098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Azure </a:t>
            </a:r>
            <a:r>
              <a:rPr lang="fr-FR" b="1" dirty="0" err="1"/>
              <a:t>Subscription</a:t>
            </a:r>
            <a:endParaRPr lang="fr-FR" b="1" dirty="0"/>
          </a:p>
          <a:p>
            <a:r>
              <a:rPr lang="fr-FR" b="1" dirty="0"/>
              <a:t> (per </a:t>
            </a:r>
            <a:r>
              <a:rPr lang="fr-FR" b="1" dirty="0" err="1"/>
              <a:t>project</a:t>
            </a:r>
            <a:r>
              <a:rPr lang="fr-FR" b="1" dirty="0"/>
              <a:t>)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3091E96B-9C7B-BC4B-7E21-A0594C1FA22A}"/>
              </a:ext>
            </a:extLst>
          </p:cNvPr>
          <p:cNvSpPr/>
          <p:nvPr/>
        </p:nvSpPr>
        <p:spPr>
          <a:xfrm>
            <a:off x="6394012" y="3877772"/>
            <a:ext cx="1802123" cy="694088"/>
          </a:xfrm>
          <a:prstGeom prst="rect">
            <a:avLst/>
          </a:prstGeom>
          <a:solidFill>
            <a:schemeClr val="bg1"/>
          </a:solidFill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0EE36107-FCCF-5591-45F8-5D4DCCA8C12B}"/>
              </a:ext>
            </a:extLst>
          </p:cNvPr>
          <p:cNvSpPr txBox="1"/>
          <p:nvPr/>
        </p:nvSpPr>
        <p:spPr>
          <a:xfrm>
            <a:off x="6352362" y="3857174"/>
            <a:ext cx="16044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VM, AKS, HDI ..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4478AFF1-CAA3-EE70-7558-B8D21D07672E}"/>
              </a:ext>
            </a:extLst>
          </p:cNvPr>
          <p:cNvSpPr/>
          <p:nvPr/>
        </p:nvSpPr>
        <p:spPr>
          <a:xfrm>
            <a:off x="6651944" y="4201355"/>
            <a:ext cx="1802123" cy="694088"/>
          </a:xfrm>
          <a:prstGeom prst="rect">
            <a:avLst/>
          </a:prstGeom>
          <a:solidFill>
            <a:schemeClr val="bg1"/>
          </a:solidFill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76FDABC-0D0D-D09D-796D-4C69E0971C69}"/>
              </a:ext>
            </a:extLst>
          </p:cNvPr>
          <p:cNvSpPr txBox="1"/>
          <p:nvPr/>
        </p:nvSpPr>
        <p:spPr>
          <a:xfrm>
            <a:off x="6610294" y="4180757"/>
            <a:ext cx="16044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VM, AKS, HDI ..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DE8928E8-F90B-3C60-E23A-5D2ABB42F59E}"/>
              </a:ext>
            </a:extLst>
          </p:cNvPr>
          <p:cNvSpPr/>
          <p:nvPr/>
        </p:nvSpPr>
        <p:spPr>
          <a:xfrm>
            <a:off x="6862056" y="4544675"/>
            <a:ext cx="1802123" cy="694088"/>
          </a:xfrm>
          <a:prstGeom prst="rect">
            <a:avLst/>
          </a:prstGeom>
          <a:solidFill>
            <a:schemeClr val="bg1"/>
          </a:solidFill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EB71935-C280-AB37-0C4D-386799938E31}"/>
              </a:ext>
            </a:extLst>
          </p:cNvPr>
          <p:cNvSpPr txBox="1"/>
          <p:nvPr/>
        </p:nvSpPr>
        <p:spPr>
          <a:xfrm>
            <a:off x="6820406" y="4524077"/>
            <a:ext cx="16044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VM, AKS, HDI ..</a:t>
            </a:r>
          </a:p>
        </p:txBody>
      </p: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79E5FFC1-587C-85A0-D83B-696B7A617FDD}"/>
              </a:ext>
            </a:extLst>
          </p:cNvPr>
          <p:cNvCxnSpPr>
            <a:cxnSpLocks/>
            <a:endCxn id="9" idx="2"/>
          </p:cNvCxnSpPr>
          <p:nvPr/>
        </p:nvCxnSpPr>
        <p:spPr>
          <a:xfrm flipV="1">
            <a:off x="8004147" y="3487479"/>
            <a:ext cx="1692746" cy="2300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8576AE16-C06B-871A-10B9-9CE7FB6B559C}"/>
              </a:ext>
            </a:extLst>
          </p:cNvPr>
          <p:cNvCxnSpPr>
            <a:cxnSpLocks/>
            <a:endCxn id="10" idx="2"/>
          </p:cNvCxnSpPr>
          <p:nvPr/>
        </p:nvCxnSpPr>
        <p:spPr>
          <a:xfrm>
            <a:off x="8004147" y="3784308"/>
            <a:ext cx="1692746" cy="75551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TextBox 50">
            <a:extLst>
              <a:ext uri="{FF2B5EF4-FFF2-40B4-BE49-F238E27FC236}">
                <a16:creationId xmlns:a16="http://schemas.microsoft.com/office/drawing/2014/main" id="{0A79AB0C-41E0-2449-70C1-F62E6CE086BA}"/>
              </a:ext>
            </a:extLst>
          </p:cNvPr>
          <p:cNvSpPr txBox="1"/>
          <p:nvPr/>
        </p:nvSpPr>
        <p:spPr>
          <a:xfrm>
            <a:off x="7237054" y="1621995"/>
            <a:ext cx="25615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Azure Cloud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A981D23-F366-7051-4B27-4FBAA5BC00D8}"/>
              </a:ext>
            </a:extLst>
          </p:cNvPr>
          <p:cNvSpPr/>
          <p:nvPr/>
        </p:nvSpPr>
        <p:spPr>
          <a:xfrm rot="20289398">
            <a:off x="62548" y="163093"/>
            <a:ext cx="2143536" cy="120032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600" b="1" cap="none" spc="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Appendix:</a:t>
            </a:r>
          </a:p>
          <a:p>
            <a:pPr algn="ctr"/>
            <a:r>
              <a:rPr lang="en-US" sz="3600" b="1" cap="none" spc="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 Cloud</a:t>
            </a:r>
          </a:p>
        </p:txBody>
      </p:sp>
    </p:spTree>
    <p:extLst>
      <p:ext uri="{BB962C8B-B14F-4D97-AF65-F5344CB8AC3E}">
        <p14:creationId xmlns:p14="http://schemas.microsoft.com/office/powerpoint/2010/main" val="2761971054"/>
      </p:ext>
    </p:extLst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9CADFC-B2AE-719F-2122-1612781E64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8288"/>
            <a:ext cx="10515600" cy="1059638"/>
          </a:xfrm>
        </p:spPr>
        <p:txBody>
          <a:bodyPr>
            <a:normAutofit fontScale="90000"/>
          </a:bodyPr>
          <a:lstStyle/>
          <a:p>
            <a:pPr algn="ctr"/>
            <a:r>
              <a:rPr lang="fr-FR" dirty="0" err="1"/>
              <a:t>BigData</a:t>
            </a:r>
            <a:r>
              <a:rPr lang="fr-FR" dirty="0"/>
              <a:t> Engineering </a:t>
            </a:r>
            <a:br>
              <a:rPr lang="fr-FR" dirty="0"/>
            </a:br>
            <a:r>
              <a:rPr lang="fr-FR" dirty="0" err="1"/>
              <a:t>from</a:t>
            </a:r>
            <a:r>
              <a:rPr lang="fr-FR" dirty="0"/>
              <a:t> </a:t>
            </a:r>
            <a:r>
              <a:rPr lang="fr-FR" dirty="0" err="1"/>
              <a:t>OnPrem</a:t>
            </a:r>
            <a:r>
              <a:rPr lang="fr-FR" dirty="0"/>
              <a:t> to Azure</a:t>
            </a:r>
          </a:p>
        </p:txBody>
      </p:sp>
      <p:pic>
        <p:nvPicPr>
          <p:cNvPr id="16386" name="Picture 2" descr="On Premise vs Cloud | EBC Group">
            <a:extLst>
              <a:ext uri="{FF2B5EF4-FFF2-40B4-BE49-F238E27FC236}">
                <a16:creationId xmlns:a16="http://schemas.microsoft.com/office/drawing/2014/main" id="{46580DB5-AEF1-40F7-5850-BA35AF785B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43566" y="1097926"/>
            <a:ext cx="3504868" cy="10596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8C9EBBB-0BEA-7EB6-BC9F-F1042538DD96}"/>
              </a:ext>
            </a:extLst>
          </p:cNvPr>
          <p:cNvSpPr txBox="1"/>
          <p:nvPr/>
        </p:nvSpPr>
        <p:spPr>
          <a:xfrm>
            <a:off x="350875" y="2528362"/>
            <a:ext cx="5015860" cy="42473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/>
              <a:t>Development</a:t>
            </a:r>
            <a:r>
              <a:rPr lang="fr-FR" dirty="0"/>
              <a:t> of custom </a:t>
            </a:r>
            <a:r>
              <a:rPr lang="fr-FR" dirty="0" err="1"/>
              <a:t>Yarn</a:t>
            </a:r>
            <a:r>
              <a:rPr lang="fr-FR" dirty="0"/>
              <a:t>/</a:t>
            </a:r>
            <a:r>
              <a:rPr lang="fr-FR" dirty="0" err="1"/>
              <a:t>Oozie</a:t>
            </a:r>
            <a:r>
              <a:rPr lang="fr-FR" dirty="0"/>
              <a:t>/Ranger </a:t>
            </a:r>
            <a:r>
              <a:rPr lang="fr-FR" dirty="0" err="1"/>
              <a:t>tools</a:t>
            </a:r>
            <a:endParaRPr lang="fr-FR" dirty="0"/>
          </a:p>
          <a:p>
            <a:endParaRPr lang="fr-FR" dirty="0"/>
          </a:p>
          <a:p>
            <a:endParaRPr lang="fr-FR" dirty="0"/>
          </a:p>
          <a:p>
            <a:r>
              <a:rPr lang="fr-FR" dirty="0"/>
              <a:t>1 </a:t>
            </a:r>
            <a:r>
              <a:rPr lang="fr-FR" dirty="0" err="1"/>
              <a:t>Huge</a:t>
            </a:r>
            <a:r>
              <a:rPr lang="fr-FR" dirty="0"/>
              <a:t> cluster,  </a:t>
            </a:r>
            <a:r>
              <a:rPr lang="fr-FR" dirty="0" err="1"/>
              <a:t>used</a:t>
            </a:r>
            <a:r>
              <a:rPr lang="fr-FR" dirty="0"/>
              <a:t> as Multi-tenant (</a:t>
            </a:r>
            <a:r>
              <a:rPr lang="fr-FR" dirty="0" err="1"/>
              <a:t>several</a:t>
            </a:r>
            <a:r>
              <a:rPr lang="fr-FR" dirty="0"/>
              <a:t> </a:t>
            </a:r>
            <a:r>
              <a:rPr lang="fr-FR" dirty="0" err="1"/>
              <a:t>users</a:t>
            </a:r>
            <a:r>
              <a:rPr lang="fr-FR" dirty="0"/>
              <a:t>)</a:t>
            </a:r>
          </a:p>
          <a:p>
            <a:endParaRPr lang="fr-FR" dirty="0"/>
          </a:p>
          <a:p>
            <a:r>
              <a:rPr lang="fr-FR" dirty="0" err="1"/>
              <a:t>Used</a:t>
            </a:r>
            <a:r>
              <a:rPr lang="fr-FR" dirty="0"/>
              <a:t> at 100%</a:t>
            </a:r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r>
              <a:rPr lang="fr-FR" dirty="0" err="1"/>
              <a:t>Almost</a:t>
            </a:r>
            <a:r>
              <a:rPr lang="fr-FR" dirty="0"/>
              <a:t> Disk-Full</a:t>
            </a:r>
          </a:p>
          <a:p>
            <a:r>
              <a:rPr lang="fr-FR" dirty="0" err="1"/>
              <a:t>Many</a:t>
            </a:r>
            <a:r>
              <a:rPr lang="fr-FR" dirty="0"/>
              <a:t> report on </a:t>
            </a:r>
            <a:r>
              <a:rPr lang="fr-FR" dirty="0" err="1"/>
              <a:t>disk</a:t>
            </a:r>
            <a:r>
              <a:rPr lang="fr-FR" dirty="0"/>
              <a:t> usage / data purges</a:t>
            </a:r>
          </a:p>
          <a:p>
            <a:endParaRPr lang="fr-FR" dirty="0"/>
          </a:p>
          <a:p>
            <a:r>
              <a:rPr lang="fr-FR" dirty="0"/>
              <a:t>Clear </a:t>
            </a:r>
            <a:r>
              <a:rPr lang="fr-FR" dirty="0" err="1"/>
              <a:t>view</a:t>
            </a:r>
            <a:r>
              <a:rPr lang="fr-FR" dirty="0"/>
              <a:t> of all Running </a:t>
            </a:r>
            <a:r>
              <a:rPr lang="fr-FR" dirty="0" err="1"/>
              <a:t>workloads</a:t>
            </a:r>
            <a:endParaRPr lang="fr-FR" dirty="0"/>
          </a:p>
          <a:p>
            <a:r>
              <a:rPr lang="fr-FR" dirty="0"/>
              <a:t>(1 </a:t>
            </a:r>
            <a:r>
              <a:rPr lang="fr-FR" dirty="0" err="1"/>
              <a:t>Ambari</a:t>
            </a:r>
            <a:r>
              <a:rPr lang="fr-FR" dirty="0"/>
              <a:t> screen)</a:t>
            </a:r>
          </a:p>
        </p:txBody>
      </p:sp>
      <p:sp>
        <p:nvSpPr>
          <p:cNvPr id="4" name="Arrow: Right 3">
            <a:extLst>
              <a:ext uri="{FF2B5EF4-FFF2-40B4-BE49-F238E27FC236}">
                <a16:creationId xmlns:a16="http://schemas.microsoft.com/office/drawing/2014/main" id="{3F3390DE-CE41-FE85-9249-B6A52F0DC67C}"/>
              </a:ext>
            </a:extLst>
          </p:cNvPr>
          <p:cNvSpPr/>
          <p:nvPr/>
        </p:nvSpPr>
        <p:spPr>
          <a:xfrm>
            <a:off x="5459819" y="4513521"/>
            <a:ext cx="707065" cy="64925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C8AE71D-24A2-16BE-D606-E01638DA775C}"/>
              </a:ext>
            </a:extLst>
          </p:cNvPr>
          <p:cNvSpPr txBox="1"/>
          <p:nvPr/>
        </p:nvSpPr>
        <p:spPr>
          <a:xfrm>
            <a:off x="6457622" y="2440217"/>
            <a:ext cx="5464125" cy="42473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Lot of Network &amp; Security</a:t>
            </a:r>
          </a:p>
          <a:p>
            <a:r>
              <a:rPr lang="fr-FR" dirty="0" err="1"/>
              <a:t>Development</a:t>
            </a:r>
            <a:r>
              <a:rPr lang="fr-FR" dirty="0"/>
              <a:t> of </a:t>
            </a:r>
            <a:r>
              <a:rPr lang="fr-FR" dirty="0" err="1"/>
              <a:t>Provisionning</a:t>
            </a:r>
            <a:r>
              <a:rPr lang="fr-FR" dirty="0"/>
              <a:t> « </a:t>
            </a:r>
            <a:r>
              <a:rPr lang="fr-FR" dirty="0" err="1"/>
              <a:t>sudo</a:t>
            </a:r>
            <a:r>
              <a:rPr lang="fr-FR" dirty="0"/>
              <a:t> » </a:t>
            </a:r>
            <a:r>
              <a:rPr lang="fr-FR" dirty="0" err="1"/>
              <a:t>tools</a:t>
            </a:r>
            <a:endParaRPr lang="fr-FR" dirty="0"/>
          </a:p>
          <a:p>
            <a:endParaRPr lang="fr-FR" dirty="0"/>
          </a:p>
          <a:p>
            <a:r>
              <a:rPr lang="fr-FR" dirty="0"/>
              <a:t>NO more multi-tenant system… but LOT of </a:t>
            </a:r>
            <a:r>
              <a:rPr lang="fr-FR" dirty="0" err="1"/>
              <a:t>small</a:t>
            </a:r>
            <a:r>
              <a:rPr lang="fr-FR" dirty="0"/>
              <a:t> clusters</a:t>
            </a:r>
          </a:p>
          <a:p>
            <a:endParaRPr lang="fr-FR" dirty="0"/>
          </a:p>
          <a:p>
            <a:r>
              <a:rPr lang="fr-FR" dirty="0" err="1"/>
              <a:t>Hundred</a:t>
            </a:r>
            <a:r>
              <a:rPr lang="fr-FR" dirty="0"/>
              <a:t> of clusters, </a:t>
            </a:r>
            <a:r>
              <a:rPr lang="fr-FR" dirty="0" err="1"/>
              <a:t>each</a:t>
            </a:r>
            <a:r>
              <a:rPr lang="fr-FR" dirty="0"/>
              <a:t> </a:t>
            </a:r>
            <a:r>
              <a:rPr lang="fr-FR" dirty="0" err="1"/>
              <a:t>used</a:t>
            </a:r>
            <a:r>
              <a:rPr lang="fr-FR" dirty="0"/>
              <a:t> at 5% !!!</a:t>
            </a:r>
          </a:p>
          <a:p>
            <a:r>
              <a:rPr lang="fr-FR" dirty="0"/>
              <a:t>COST </a:t>
            </a:r>
            <a:r>
              <a:rPr lang="fr-FR" dirty="0" err="1"/>
              <a:t>COST</a:t>
            </a:r>
            <a:r>
              <a:rPr lang="fr-FR" dirty="0"/>
              <a:t> </a:t>
            </a:r>
            <a:r>
              <a:rPr lang="fr-FR" dirty="0" err="1"/>
              <a:t>COST</a:t>
            </a:r>
            <a:endParaRPr lang="fr-FR" dirty="0"/>
          </a:p>
          <a:p>
            <a:r>
              <a:rPr lang="fr-FR" dirty="0" err="1"/>
              <a:t>Necessity</a:t>
            </a:r>
            <a:r>
              <a:rPr lang="fr-FR" dirty="0"/>
              <a:t> to </a:t>
            </a:r>
            <a:r>
              <a:rPr lang="fr-FR" dirty="0" err="1"/>
              <a:t>Optimize</a:t>
            </a:r>
            <a:r>
              <a:rPr lang="fr-FR" dirty="0"/>
              <a:t> Performance</a:t>
            </a:r>
          </a:p>
          <a:p>
            <a:r>
              <a:rPr lang="fr-FR" dirty="0"/>
              <a:t> ( </a:t>
            </a:r>
            <a:r>
              <a:rPr lang="fr-FR" dirty="0" err="1"/>
              <a:t>batches</a:t>
            </a:r>
            <a:r>
              <a:rPr lang="fr-FR" dirty="0"/>
              <a:t> </a:t>
            </a:r>
            <a:r>
              <a:rPr lang="fr-FR" dirty="0" err="1"/>
              <a:t>too</a:t>
            </a:r>
            <a:r>
              <a:rPr lang="fr-FR" dirty="0"/>
              <a:t> long… 100x </a:t>
            </a:r>
            <a:r>
              <a:rPr lang="fr-FR" dirty="0" err="1"/>
              <a:t>slower</a:t>
            </a:r>
            <a:r>
              <a:rPr lang="fr-FR" dirty="0"/>
              <a:t>  /   </a:t>
            </a:r>
            <a:r>
              <a:rPr lang="fr-FR" dirty="0" err="1"/>
              <a:t>too</a:t>
            </a:r>
            <a:r>
              <a:rPr lang="fr-FR" dirty="0"/>
              <a:t> </a:t>
            </a:r>
            <a:r>
              <a:rPr lang="fr-FR" dirty="0" err="1"/>
              <a:t>expensive</a:t>
            </a:r>
            <a:r>
              <a:rPr lang="fr-FR" dirty="0"/>
              <a:t>)</a:t>
            </a:r>
          </a:p>
          <a:p>
            <a:endParaRPr lang="fr-FR" dirty="0"/>
          </a:p>
          <a:p>
            <a:r>
              <a:rPr lang="fr-FR" dirty="0"/>
              <a:t>No more Disk </a:t>
            </a:r>
            <a:r>
              <a:rPr lang="fr-FR" dirty="0" err="1"/>
              <a:t>worry</a:t>
            </a:r>
            <a:endParaRPr lang="fr-FR" dirty="0"/>
          </a:p>
          <a:p>
            <a:r>
              <a:rPr lang="fr-FR" dirty="0"/>
              <a:t>… data </a:t>
            </a:r>
            <a:r>
              <a:rPr lang="fr-FR" dirty="0" err="1"/>
              <a:t>is</a:t>
            </a:r>
            <a:r>
              <a:rPr lang="fr-FR" dirty="0"/>
              <a:t> </a:t>
            </a:r>
            <a:r>
              <a:rPr lang="fr-FR" dirty="0" err="1"/>
              <a:t>growing</a:t>
            </a:r>
            <a:r>
              <a:rPr lang="fr-FR" dirty="0"/>
              <a:t> (no more purges?)</a:t>
            </a:r>
          </a:p>
          <a:p>
            <a:endParaRPr lang="fr-FR" dirty="0"/>
          </a:p>
          <a:p>
            <a:r>
              <a:rPr lang="fr-FR" dirty="0"/>
              <a:t>NO admin central </a:t>
            </a:r>
            <a:r>
              <a:rPr lang="fr-FR" dirty="0" err="1"/>
              <a:t>view</a:t>
            </a:r>
            <a:r>
              <a:rPr lang="fr-FR" dirty="0"/>
              <a:t> </a:t>
            </a:r>
          </a:p>
          <a:p>
            <a:r>
              <a:rPr lang="fr-FR" dirty="0"/>
              <a:t>NO Orchestration of </a:t>
            </a:r>
            <a:r>
              <a:rPr lang="fr-FR" dirty="0" err="1"/>
              <a:t>workloads</a:t>
            </a:r>
            <a:endParaRPr lang="fr-FR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0E600DB-CAAD-A3C7-9296-5148984FA617}"/>
              </a:ext>
            </a:extLst>
          </p:cNvPr>
          <p:cNvSpPr/>
          <p:nvPr/>
        </p:nvSpPr>
        <p:spPr>
          <a:xfrm rot="20289398">
            <a:off x="62548" y="163093"/>
            <a:ext cx="2143536" cy="120032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600" b="1" cap="none" spc="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Appendix:</a:t>
            </a:r>
          </a:p>
          <a:p>
            <a:pPr algn="ctr"/>
            <a:r>
              <a:rPr lang="en-US" sz="3600" b="1" cap="none" spc="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 Cloud</a:t>
            </a:r>
          </a:p>
        </p:txBody>
      </p:sp>
    </p:spTree>
    <p:extLst>
      <p:ext uri="{BB962C8B-B14F-4D97-AF65-F5344CB8AC3E}">
        <p14:creationId xmlns:p14="http://schemas.microsoft.com/office/powerpoint/2010/main" val="3289722532"/>
      </p:ext>
    </p:extLst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9CADFC-B2AE-719F-2122-1612781E64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99943"/>
          </a:xfrm>
        </p:spPr>
        <p:txBody>
          <a:bodyPr/>
          <a:lstStyle/>
          <a:p>
            <a:pPr algn="ctr"/>
            <a:r>
              <a:rPr lang="fr-FR" dirty="0" err="1"/>
              <a:t>What</a:t>
            </a:r>
            <a:r>
              <a:rPr lang="fr-FR" dirty="0"/>
              <a:t> About Spark in Azure Migration?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A79BC7B-435B-23D8-9D35-0652D459F1D9}"/>
              </a:ext>
            </a:extLst>
          </p:cNvPr>
          <p:cNvSpPr txBox="1"/>
          <p:nvPr/>
        </p:nvSpPr>
        <p:spPr>
          <a:xfrm>
            <a:off x="450555" y="1391641"/>
            <a:ext cx="609511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/>
              <a:t>COST </a:t>
            </a:r>
            <a:r>
              <a:rPr lang="fr-FR" dirty="0" err="1"/>
              <a:t>COST</a:t>
            </a:r>
            <a:r>
              <a:rPr lang="fr-FR" dirty="0"/>
              <a:t> </a:t>
            </a:r>
            <a:r>
              <a:rPr lang="fr-FR" dirty="0" err="1"/>
              <a:t>COST</a:t>
            </a:r>
            <a:endParaRPr lang="fr-FR" dirty="0"/>
          </a:p>
          <a:p>
            <a:r>
              <a:rPr lang="fr-FR" b="1" dirty="0" err="1"/>
              <a:t>Necessity</a:t>
            </a:r>
            <a:r>
              <a:rPr lang="fr-FR" b="1" dirty="0"/>
              <a:t> to </a:t>
            </a:r>
            <a:r>
              <a:rPr lang="fr-FR" b="1" dirty="0" err="1"/>
              <a:t>Optimize</a:t>
            </a:r>
            <a:r>
              <a:rPr lang="fr-FR" b="1" dirty="0"/>
              <a:t> Performance</a:t>
            </a:r>
          </a:p>
          <a:p>
            <a:r>
              <a:rPr lang="fr-FR" dirty="0"/>
              <a:t> ( </a:t>
            </a:r>
            <a:r>
              <a:rPr lang="fr-FR" dirty="0" err="1"/>
              <a:t>batches</a:t>
            </a:r>
            <a:r>
              <a:rPr lang="fr-FR" dirty="0"/>
              <a:t> </a:t>
            </a:r>
            <a:r>
              <a:rPr lang="fr-FR" dirty="0" err="1"/>
              <a:t>too</a:t>
            </a:r>
            <a:r>
              <a:rPr lang="fr-FR" dirty="0"/>
              <a:t> long… 100x </a:t>
            </a:r>
            <a:r>
              <a:rPr lang="fr-FR" dirty="0" err="1"/>
              <a:t>slower</a:t>
            </a:r>
            <a:r>
              <a:rPr lang="fr-FR" dirty="0"/>
              <a:t>  /   </a:t>
            </a:r>
            <a:r>
              <a:rPr lang="fr-FR" dirty="0" err="1"/>
              <a:t>too</a:t>
            </a:r>
            <a:r>
              <a:rPr lang="fr-FR" dirty="0"/>
              <a:t> </a:t>
            </a:r>
            <a:r>
              <a:rPr lang="fr-FR" dirty="0" err="1"/>
              <a:t>expensive</a:t>
            </a:r>
            <a:r>
              <a:rPr lang="fr-FR" dirty="0"/>
              <a:t>)</a:t>
            </a:r>
          </a:p>
        </p:txBody>
      </p:sp>
      <p:pic>
        <p:nvPicPr>
          <p:cNvPr id="21506" name="Picture 2" descr="Apache Hive — Wikipédia">
            <a:extLst>
              <a:ext uri="{FF2B5EF4-FFF2-40B4-BE49-F238E27FC236}">
                <a16:creationId xmlns:a16="http://schemas.microsoft.com/office/drawing/2014/main" id="{ABF1A6F2-1196-CC7B-3C5E-BE24C0B2A4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96604" y="2832924"/>
            <a:ext cx="868626" cy="7806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DA83AFC-60BB-573C-D933-42C5E8940934}"/>
              </a:ext>
            </a:extLst>
          </p:cNvPr>
          <p:cNvSpPr txBox="1"/>
          <p:nvPr/>
        </p:nvSpPr>
        <p:spPr>
          <a:xfrm>
            <a:off x="510364" y="2464986"/>
            <a:ext cx="244534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=&gt; </a:t>
            </a:r>
            <a:r>
              <a:rPr lang="fr-FR" dirty="0" err="1"/>
              <a:t>Many</a:t>
            </a:r>
            <a:r>
              <a:rPr lang="fr-FR" dirty="0"/>
              <a:t> </a:t>
            </a:r>
            <a:r>
              <a:rPr lang="fr-FR" dirty="0" err="1"/>
              <a:t>projects</a:t>
            </a:r>
            <a:r>
              <a:rPr lang="fr-FR" dirty="0"/>
              <a:t> have </a:t>
            </a:r>
          </a:p>
          <a:p>
            <a:r>
              <a:rPr lang="fr-FR" dirty="0"/>
              <a:t>     </a:t>
            </a:r>
            <a:r>
              <a:rPr lang="fr-FR" dirty="0" err="1"/>
              <a:t>migrated</a:t>
            </a:r>
            <a:r>
              <a:rPr lang="fr-FR" dirty="0"/>
              <a:t> + </a:t>
            </a:r>
            <a:r>
              <a:rPr lang="fr-FR" dirty="0" err="1"/>
              <a:t>optimized</a:t>
            </a:r>
            <a:endParaRPr lang="fr-FR" dirty="0"/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EB76EC58-CC93-5C9E-CE33-A9A0B7D54BBD}"/>
              </a:ext>
            </a:extLst>
          </p:cNvPr>
          <p:cNvSpPr/>
          <p:nvPr/>
        </p:nvSpPr>
        <p:spPr>
          <a:xfrm>
            <a:off x="5228656" y="3177883"/>
            <a:ext cx="707001" cy="33608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7" name="Picture 2" descr="Apache Spark — Wikipédia">
            <a:extLst>
              <a:ext uri="{FF2B5EF4-FFF2-40B4-BE49-F238E27FC236}">
                <a16:creationId xmlns:a16="http://schemas.microsoft.com/office/drawing/2014/main" id="{CA690C6D-6BA7-0747-2B94-F6EE5D1520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93884" y="2865008"/>
            <a:ext cx="1273049" cy="6609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508" name="Picture 4" descr="SQL file symbol - Free interface icons">
            <a:extLst>
              <a:ext uri="{FF2B5EF4-FFF2-40B4-BE49-F238E27FC236}">
                <a16:creationId xmlns:a16="http://schemas.microsoft.com/office/drawing/2014/main" id="{C8DA1790-19D6-46C0-F4C4-C8A3F3C7D1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35801" y="4007669"/>
            <a:ext cx="707001" cy="707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Arrow: Right 7">
            <a:extLst>
              <a:ext uri="{FF2B5EF4-FFF2-40B4-BE49-F238E27FC236}">
                <a16:creationId xmlns:a16="http://schemas.microsoft.com/office/drawing/2014/main" id="{BD882303-0BB6-E9EF-80FE-1EE7B8A3B483}"/>
              </a:ext>
            </a:extLst>
          </p:cNvPr>
          <p:cNvSpPr/>
          <p:nvPr/>
        </p:nvSpPr>
        <p:spPr>
          <a:xfrm>
            <a:off x="5228656" y="4193126"/>
            <a:ext cx="707001" cy="33608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4DC147E-F10D-D7E9-CD09-EE651C9F855F}"/>
              </a:ext>
            </a:extLst>
          </p:cNvPr>
          <p:cNvSpPr txBox="1"/>
          <p:nvPr/>
        </p:nvSpPr>
        <p:spPr>
          <a:xfrm>
            <a:off x="4342802" y="4176504"/>
            <a:ext cx="986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+ UDF</a:t>
            </a:r>
          </a:p>
        </p:txBody>
      </p:sp>
      <p:pic>
        <p:nvPicPr>
          <p:cNvPr id="21510" name="Picture 6" descr="Java (programming language) - Wikipedia">
            <a:extLst>
              <a:ext uri="{FF2B5EF4-FFF2-40B4-BE49-F238E27FC236}">
                <a16:creationId xmlns:a16="http://schemas.microsoft.com/office/drawing/2014/main" id="{BECCB3B8-8B18-79E2-C53E-8AA785469D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43828" y="3767414"/>
            <a:ext cx="512356" cy="9382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2" descr="Apache Spark — Wikipédia">
            <a:extLst>
              <a:ext uri="{FF2B5EF4-FFF2-40B4-BE49-F238E27FC236}">
                <a16:creationId xmlns:a16="http://schemas.microsoft.com/office/drawing/2014/main" id="{F61F26BA-0671-1D8F-E90C-D60D3E6001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70790" y="4617719"/>
            <a:ext cx="2209959" cy="11474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Arrow: Right 10">
            <a:extLst>
              <a:ext uri="{FF2B5EF4-FFF2-40B4-BE49-F238E27FC236}">
                <a16:creationId xmlns:a16="http://schemas.microsoft.com/office/drawing/2014/main" id="{CD79D567-8034-2FC2-2003-251E22953B57}"/>
              </a:ext>
            </a:extLst>
          </p:cNvPr>
          <p:cNvSpPr/>
          <p:nvPr/>
        </p:nvSpPr>
        <p:spPr>
          <a:xfrm>
            <a:off x="5228655" y="5260788"/>
            <a:ext cx="707001" cy="33608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2" name="Picture 2" descr="Apache Spark — Wikipédia">
            <a:extLst>
              <a:ext uri="{FF2B5EF4-FFF2-40B4-BE49-F238E27FC236}">
                <a16:creationId xmlns:a16="http://schemas.microsoft.com/office/drawing/2014/main" id="{067E84FE-DD1C-3CFF-0040-3344CFE059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83161" y="5303795"/>
            <a:ext cx="384582" cy="1996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F12D2C25-DB19-5890-E512-E14A96E3EE69}"/>
              </a:ext>
            </a:extLst>
          </p:cNvPr>
          <p:cNvSpPr txBox="1"/>
          <p:nvPr/>
        </p:nvSpPr>
        <p:spPr>
          <a:xfrm>
            <a:off x="7224822" y="5105666"/>
            <a:ext cx="320760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/>
              <a:t>Optimized</a:t>
            </a:r>
            <a:r>
              <a:rPr lang="fr-FR" dirty="0"/>
              <a:t> Spark</a:t>
            </a:r>
            <a:br>
              <a:rPr lang="fr-FR" dirty="0"/>
            </a:br>
            <a:r>
              <a:rPr lang="fr-FR" dirty="0" err="1"/>
              <a:t>Reduced</a:t>
            </a:r>
            <a:r>
              <a:rPr lang="fr-FR" dirty="0"/>
              <a:t> memory + Cluster sizes</a:t>
            </a:r>
          </a:p>
        </p:txBody>
      </p:sp>
      <p:sp>
        <p:nvSpPr>
          <p:cNvPr id="14" name="Arrow: Right 13">
            <a:extLst>
              <a:ext uri="{FF2B5EF4-FFF2-40B4-BE49-F238E27FC236}">
                <a16:creationId xmlns:a16="http://schemas.microsoft.com/office/drawing/2014/main" id="{435B3B6E-D6C8-0BE3-55BB-14BC6BF9BEE8}"/>
              </a:ext>
            </a:extLst>
          </p:cNvPr>
          <p:cNvSpPr/>
          <p:nvPr/>
        </p:nvSpPr>
        <p:spPr>
          <a:xfrm>
            <a:off x="5228655" y="6235783"/>
            <a:ext cx="707001" cy="33608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21512" name="Picture 8" descr="What is Apache HBase? | AWS">
            <a:extLst>
              <a:ext uri="{FF2B5EF4-FFF2-40B4-BE49-F238E27FC236}">
                <a16:creationId xmlns:a16="http://schemas.microsoft.com/office/drawing/2014/main" id="{1DE0E5DB-A28F-591E-D80D-575A8B22DF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34312" y="6037084"/>
            <a:ext cx="1001840" cy="7275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514" name="Picture 10" descr="Spark Reading and Writing to Parquet Storage Format - YouTube">
            <a:extLst>
              <a:ext uri="{FF2B5EF4-FFF2-40B4-BE49-F238E27FC236}">
                <a16:creationId xmlns:a16="http://schemas.microsoft.com/office/drawing/2014/main" id="{ACC93837-E41E-61A4-120B-39FD9FFBB2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58786" y="5835733"/>
            <a:ext cx="1428750" cy="800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2" descr="Apache Spark — Wikipédia">
            <a:extLst>
              <a:ext uri="{FF2B5EF4-FFF2-40B4-BE49-F238E27FC236}">
                <a16:creationId xmlns:a16="http://schemas.microsoft.com/office/drawing/2014/main" id="{B5A9DE62-4074-8764-AB6D-B7ED9AA41D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93884" y="3821792"/>
            <a:ext cx="1336575" cy="6939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F4ADA21A-355B-F75A-1F6E-776AE061DDED}"/>
              </a:ext>
            </a:extLst>
          </p:cNvPr>
          <p:cNvSpPr txBox="1"/>
          <p:nvPr/>
        </p:nvSpPr>
        <p:spPr>
          <a:xfrm>
            <a:off x="7858020" y="4159883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+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6AD15A9-110F-DE5B-20D0-5EAE251F499A}"/>
              </a:ext>
            </a:extLst>
          </p:cNvPr>
          <p:cNvSpPr/>
          <p:nvPr/>
        </p:nvSpPr>
        <p:spPr>
          <a:xfrm rot="20289398">
            <a:off x="62548" y="163093"/>
            <a:ext cx="2143536" cy="120032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600" b="1" cap="none" spc="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Appendix:</a:t>
            </a:r>
          </a:p>
          <a:p>
            <a:pPr algn="ctr"/>
            <a:r>
              <a:rPr lang="en-US" sz="3600" b="1" cap="none" spc="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 Cloud</a:t>
            </a:r>
          </a:p>
        </p:txBody>
      </p:sp>
    </p:spTree>
    <p:extLst>
      <p:ext uri="{BB962C8B-B14F-4D97-AF65-F5344CB8AC3E}">
        <p14:creationId xmlns:p14="http://schemas.microsoft.com/office/powerpoint/2010/main" val="3694816275"/>
      </p:ext>
    </p:extLst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6CE55E-D949-8F88-7CE0-2B8BB6D5C1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 err="1"/>
              <a:t>Managed</a:t>
            </a:r>
            <a:r>
              <a:rPr lang="fr-FR" dirty="0"/>
              <a:t> Spark ?</a:t>
            </a:r>
            <a:br>
              <a:rPr lang="fr-FR" dirty="0"/>
            </a:br>
            <a:r>
              <a:rPr lang="fr-FR" dirty="0"/>
              <a:t>Goals: </a:t>
            </a:r>
            <a:r>
              <a:rPr lang="fr-FR" dirty="0" err="1"/>
              <a:t>Autoscaling</a:t>
            </a:r>
            <a:r>
              <a:rPr lang="fr-FR" dirty="0"/>
              <a:t> / « </a:t>
            </a:r>
            <a:r>
              <a:rPr lang="fr-FR" dirty="0" err="1"/>
              <a:t>serverless</a:t>
            </a:r>
            <a:r>
              <a:rPr lang="fr-FR" dirty="0"/>
              <a:t> »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EE190A7-F208-ACD5-0ECF-263AD1FFCF88}"/>
              </a:ext>
            </a:extLst>
          </p:cNvPr>
          <p:cNvSpPr txBox="1"/>
          <p:nvPr/>
        </p:nvSpPr>
        <p:spPr>
          <a:xfrm>
            <a:off x="2849526" y="2908005"/>
            <a:ext cx="21058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/>
              <a:t>Managed</a:t>
            </a:r>
            <a:r>
              <a:rPr lang="fr-FR" dirty="0"/>
              <a:t> by Azure : </a:t>
            </a:r>
          </a:p>
        </p:txBody>
      </p:sp>
      <p:pic>
        <p:nvPicPr>
          <p:cNvPr id="28674" name="Picture 2" descr="Why we're (still) excited for Azure Synapse Analytics - Neal Analytics">
            <a:extLst>
              <a:ext uri="{FF2B5EF4-FFF2-40B4-BE49-F238E27FC236}">
                <a16:creationId xmlns:a16="http://schemas.microsoft.com/office/drawing/2014/main" id="{3775D1E3-0D3C-F893-EDBB-94CA4C71A2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5359" y="2292571"/>
            <a:ext cx="2857500" cy="1600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083F070-B618-805E-3104-865D4F18CEB4}"/>
              </a:ext>
            </a:extLst>
          </p:cNvPr>
          <p:cNvSpPr txBox="1"/>
          <p:nvPr/>
        </p:nvSpPr>
        <p:spPr>
          <a:xfrm>
            <a:off x="2913321" y="4508205"/>
            <a:ext cx="25142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/>
              <a:t>Managed</a:t>
            </a:r>
            <a:r>
              <a:rPr lang="fr-FR" dirty="0"/>
              <a:t> via </a:t>
            </a:r>
            <a:r>
              <a:rPr lang="fr-FR" dirty="0" err="1"/>
              <a:t>Kubernetes</a:t>
            </a:r>
            <a:endParaRPr lang="fr-FR" dirty="0"/>
          </a:p>
        </p:txBody>
      </p:sp>
      <p:pic>
        <p:nvPicPr>
          <p:cNvPr id="6" name="Picture 2" descr="Apache Spark — Wikipédia">
            <a:extLst>
              <a:ext uri="{FF2B5EF4-FFF2-40B4-BE49-F238E27FC236}">
                <a16:creationId xmlns:a16="http://schemas.microsoft.com/office/drawing/2014/main" id="{1DF8633C-BD3A-AF93-093A-925D5C34FF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14440" y="2490167"/>
            <a:ext cx="1273049" cy="6609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2" descr="Apache Spark — Wikipédia">
            <a:extLst>
              <a:ext uri="{FF2B5EF4-FFF2-40B4-BE49-F238E27FC236}">
                <a16:creationId xmlns:a16="http://schemas.microsoft.com/office/drawing/2014/main" id="{3C6476B5-8203-BC6D-1E0E-274BD02505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79855" y="4120020"/>
            <a:ext cx="1273049" cy="6609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321FF75-F447-6D06-4504-1B528B2C4C50}"/>
              </a:ext>
            </a:extLst>
          </p:cNvPr>
          <p:cNvSpPr txBox="1"/>
          <p:nvPr/>
        </p:nvSpPr>
        <p:spPr>
          <a:xfrm>
            <a:off x="3407735" y="5308305"/>
            <a:ext cx="11442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/>
              <a:t>databricks</a:t>
            </a:r>
            <a:endParaRPr lang="fr-FR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07BE962-9E4A-9B25-5243-10F9CF190493}"/>
              </a:ext>
            </a:extLst>
          </p:cNvPr>
          <p:cNvSpPr txBox="1"/>
          <p:nvPr/>
        </p:nvSpPr>
        <p:spPr>
          <a:xfrm>
            <a:off x="3407735" y="5870059"/>
            <a:ext cx="165898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AWS : EMR</a:t>
            </a:r>
          </a:p>
          <a:p>
            <a:endParaRPr lang="fr-FR" dirty="0"/>
          </a:p>
          <a:p>
            <a:r>
              <a:rPr lang="fr-FR" dirty="0"/>
              <a:t>GCP :  </a:t>
            </a:r>
            <a:r>
              <a:rPr lang="fr-FR" dirty="0" err="1"/>
              <a:t>BigQuery</a:t>
            </a:r>
            <a:endParaRPr lang="fr-FR" dirty="0"/>
          </a:p>
        </p:txBody>
      </p:sp>
      <p:pic>
        <p:nvPicPr>
          <p:cNvPr id="10" name="Picture 2" descr="Kubernetes, c'est quoi ?">
            <a:extLst>
              <a:ext uri="{FF2B5EF4-FFF2-40B4-BE49-F238E27FC236}">
                <a16:creationId xmlns:a16="http://schemas.microsoft.com/office/drawing/2014/main" id="{3107B018-F471-0D0C-75C4-9A78EC87B9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04284" y="4005298"/>
            <a:ext cx="1275571" cy="11308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CB5E61E-1CE2-7B20-2C3D-6991D572916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27535" y="4176596"/>
            <a:ext cx="3779848" cy="807790"/>
          </a:xfrm>
          <a:prstGeom prst="rect">
            <a:avLst/>
          </a:prstGeom>
        </p:spPr>
      </p:pic>
      <p:pic>
        <p:nvPicPr>
          <p:cNvPr id="28676" name="Picture 4" descr="Databricks - Wikipedia">
            <a:extLst>
              <a:ext uri="{FF2B5EF4-FFF2-40B4-BE49-F238E27FC236}">
                <a16:creationId xmlns:a16="http://schemas.microsoft.com/office/drawing/2014/main" id="{F704DA88-F7ED-749E-48B2-0618581363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05430" y="5136161"/>
            <a:ext cx="1725718" cy="9073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Equals 12">
            <a:extLst>
              <a:ext uri="{FF2B5EF4-FFF2-40B4-BE49-F238E27FC236}">
                <a16:creationId xmlns:a16="http://schemas.microsoft.com/office/drawing/2014/main" id="{1FF6907D-8CCD-A5B2-89A4-794B71CEE7EF}"/>
              </a:ext>
            </a:extLst>
          </p:cNvPr>
          <p:cNvSpPr/>
          <p:nvPr/>
        </p:nvSpPr>
        <p:spPr>
          <a:xfrm>
            <a:off x="7442460" y="2782303"/>
            <a:ext cx="473149" cy="306149"/>
          </a:xfrm>
          <a:prstGeom prst="mathEqua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sp>
        <p:nvSpPr>
          <p:cNvPr id="14" name="Equals 13">
            <a:extLst>
              <a:ext uri="{FF2B5EF4-FFF2-40B4-BE49-F238E27FC236}">
                <a16:creationId xmlns:a16="http://schemas.microsoft.com/office/drawing/2014/main" id="{11C10C40-D21D-7034-1524-2AD3A9EB187E}"/>
              </a:ext>
            </a:extLst>
          </p:cNvPr>
          <p:cNvSpPr/>
          <p:nvPr/>
        </p:nvSpPr>
        <p:spPr>
          <a:xfrm>
            <a:off x="9214340" y="4355130"/>
            <a:ext cx="473149" cy="306149"/>
          </a:xfrm>
          <a:prstGeom prst="mathEqua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sp>
        <p:nvSpPr>
          <p:cNvPr id="15" name="Equals 14">
            <a:extLst>
              <a:ext uri="{FF2B5EF4-FFF2-40B4-BE49-F238E27FC236}">
                <a16:creationId xmlns:a16="http://schemas.microsoft.com/office/drawing/2014/main" id="{F6D43E4A-366A-D204-9A5F-22067BC3113E}"/>
              </a:ext>
            </a:extLst>
          </p:cNvPr>
          <p:cNvSpPr/>
          <p:nvPr/>
        </p:nvSpPr>
        <p:spPr>
          <a:xfrm>
            <a:off x="7442459" y="5308305"/>
            <a:ext cx="473149" cy="306149"/>
          </a:xfrm>
          <a:prstGeom prst="mathEqua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pic>
        <p:nvPicPr>
          <p:cNvPr id="16" name="Picture 2" descr="Apache Spark — Wikipédia">
            <a:extLst>
              <a:ext uri="{FF2B5EF4-FFF2-40B4-BE49-F238E27FC236}">
                <a16:creationId xmlns:a16="http://schemas.microsoft.com/office/drawing/2014/main" id="{9CB60D45-FD4F-991E-6F63-527268C081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14439" y="5089494"/>
            <a:ext cx="1273049" cy="6609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2B5469B6-D21D-2FE2-E889-FD5C37281FDB}"/>
              </a:ext>
            </a:extLst>
          </p:cNvPr>
          <p:cNvSpPr/>
          <p:nvPr/>
        </p:nvSpPr>
        <p:spPr>
          <a:xfrm rot="20289398">
            <a:off x="62548" y="163093"/>
            <a:ext cx="2143536" cy="120032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600" b="1" cap="none" spc="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Appendix:</a:t>
            </a:r>
          </a:p>
          <a:p>
            <a:pPr algn="ctr"/>
            <a:r>
              <a:rPr lang="en-US" sz="3600" b="1" cap="none" spc="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 Cloud</a:t>
            </a:r>
          </a:p>
        </p:txBody>
      </p:sp>
    </p:spTree>
    <p:extLst>
      <p:ext uri="{BB962C8B-B14F-4D97-AF65-F5344CB8AC3E}">
        <p14:creationId xmlns:p14="http://schemas.microsoft.com/office/powerpoint/2010/main" val="431583067"/>
      </p:ext>
    </p:extLst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9CADFC-B2AE-719F-2122-1612781E64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9473" y="3019548"/>
            <a:ext cx="10515600" cy="899943"/>
          </a:xfrm>
        </p:spPr>
        <p:txBody>
          <a:bodyPr/>
          <a:lstStyle/>
          <a:p>
            <a:pPr algn="ctr"/>
            <a:r>
              <a:rPr lang="fr-FR" dirty="0"/>
              <a:t>Questions?</a:t>
            </a:r>
          </a:p>
        </p:txBody>
      </p:sp>
    </p:spTree>
    <p:extLst>
      <p:ext uri="{BB962C8B-B14F-4D97-AF65-F5344CB8AC3E}">
        <p14:creationId xmlns:p14="http://schemas.microsoft.com/office/powerpoint/2010/main" val="1900380695"/>
      </p:ext>
    </p:extLst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6BE988-34CE-8A87-EEEB-51F96E35AF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 err="1"/>
              <a:t>Take</a:t>
            </a:r>
            <a:r>
              <a:rPr lang="fr-FR" dirty="0"/>
              <a:t> </a:t>
            </a:r>
            <a:r>
              <a:rPr lang="fr-FR" dirty="0" err="1"/>
              <a:t>Away</a:t>
            </a:r>
            <a:endParaRPr lang="fr-FR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7B1E009-30EA-4533-9A08-D119049C66E5}"/>
              </a:ext>
            </a:extLst>
          </p:cNvPr>
          <p:cNvSpPr txBox="1"/>
          <p:nvPr/>
        </p:nvSpPr>
        <p:spPr>
          <a:xfrm>
            <a:off x="3870477" y="1732037"/>
            <a:ext cx="5867119" cy="480131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/>
              <a:t>What</a:t>
            </a:r>
            <a:r>
              <a:rPr lang="fr-FR" dirty="0"/>
              <a:t> </a:t>
            </a:r>
            <a:r>
              <a:rPr lang="fr-FR" dirty="0" err="1"/>
              <a:t>is</a:t>
            </a:r>
            <a:r>
              <a:rPr lang="fr-FR" dirty="0"/>
              <a:t> </a:t>
            </a:r>
            <a:r>
              <a:rPr lang="fr-FR" dirty="0" err="1"/>
              <a:t>BigData</a:t>
            </a:r>
            <a:r>
              <a:rPr lang="fr-FR" dirty="0"/>
              <a:t> ?    </a:t>
            </a:r>
            <a:r>
              <a:rPr lang="fr-FR" dirty="0" err="1"/>
              <a:t>Horyzontal</a:t>
            </a:r>
            <a:r>
              <a:rPr lang="fr-FR" dirty="0"/>
              <a:t> </a:t>
            </a:r>
            <a:r>
              <a:rPr lang="fr-FR" dirty="0" err="1"/>
              <a:t>Scaling</a:t>
            </a:r>
            <a:endParaRPr lang="fr-FR" dirty="0"/>
          </a:p>
          <a:p>
            <a:r>
              <a:rPr lang="fr-FR" dirty="0"/>
              <a:t>           </a:t>
            </a:r>
            <a:r>
              <a:rPr lang="fr-FR" dirty="0" err="1"/>
              <a:t>compute</a:t>
            </a:r>
            <a:r>
              <a:rPr lang="fr-FR" dirty="0"/>
              <a:t>: cluster </a:t>
            </a:r>
            <a:r>
              <a:rPr lang="fr-FR" dirty="0" err="1"/>
              <a:t>with</a:t>
            </a:r>
            <a:r>
              <a:rPr lang="fr-FR" dirty="0"/>
              <a:t> </a:t>
            </a:r>
            <a:r>
              <a:rPr lang="fr-FR" dirty="0" err="1"/>
              <a:t>Tera</a:t>
            </a:r>
            <a:r>
              <a:rPr lang="fr-FR" dirty="0"/>
              <a:t> of RAM </a:t>
            </a:r>
            <a:r>
              <a:rPr lang="fr-FR" dirty="0" err="1"/>
              <a:t>used</a:t>
            </a:r>
            <a:r>
              <a:rPr lang="fr-FR" dirty="0"/>
              <a:t> by Spark apps</a:t>
            </a:r>
          </a:p>
          <a:p>
            <a:r>
              <a:rPr lang="fr-FR" dirty="0"/>
              <a:t>           </a:t>
            </a:r>
            <a:r>
              <a:rPr lang="fr-FR" dirty="0" err="1"/>
              <a:t>storage</a:t>
            </a:r>
            <a:r>
              <a:rPr lang="fr-FR" dirty="0"/>
              <a:t>: </a:t>
            </a:r>
            <a:r>
              <a:rPr lang="fr-FR" dirty="0" err="1"/>
              <a:t>Petas</a:t>
            </a:r>
            <a:r>
              <a:rPr lang="fr-FR" dirty="0"/>
              <a:t> of Files, in parquet</a:t>
            </a:r>
          </a:p>
          <a:p>
            <a:endParaRPr lang="fr-FR" dirty="0"/>
          </a:p>
          <a:p>
            <a:r>
              <a:rPr lang="fr-FR" dirty="0" err="1"/>
              <a:t>What</a:t>
            </a:r>
            <a:r>
              <a:rPr lang="fr-FR" dirty="0"/>
              <a:t> </a:t>
            </a:r>
            <a:r>
              <a:rPr lang="fr-FR" dirty="0" err="1"/>
              <a:t>is</a:t>
            </a:r>
            <a:r>
              <a:rPr lang="fr-FR" dirty="0"/>
              <a:t> Spark ?</a:t>
            </a:r>
          </a:p>
          <a:p>
            <a:r>
              <a:rPr lang="fr-FR" dirty="0"/>
              <a:t>            Simple </a:t>
            </a:r>
            <a:r>
              <a:rPr lang="fr-FR" dirty="0" err="1"/>
              <a:t>unified</a:t>
            </a:r>
            <a:r>
              <a:rPr lang="fr-FR" dirty="0"/>
              <a:t> </a:t>
            </a:r>
            <a:r>
              <a:rPr lang="fr-FR" dirty="0" err="1"/>
              <a:t>Sql</a:t>
            </a:r>
            <a:r>
              <a:rPr lang="fr-FR" dirty="0"/>
              <a:t>/Java engine </a:t>
            </a:r>
          </a:p>
          <a:p>
            <a:r>
              <a:rPr lang="fr-FR" dirty="0"/>
              <a:t>            for </a:t>
            </a:r>
            <a:r>
              <a:rPr lang="fr-FR" dirty="0" err="1"/>
              <a:t>distributed</a:t>
            </a:r>
            <a:r>
              <a:rPr lang="fr-FR" dirty="0"/>
              <a:t> </a:t>
            </a:r>
            <a:r>
              <a:rPr lang="fr-FR" dirty="0" err="1"/>
              <a:t>compute</a:t>
            </a:r>
            <a:r>
              <a:rPr lang="fr-FR" dirty="0"/>
              <a:t> (</a:t>
            </a:r>
            <a:r>
              <a:rPr lang="fr-FR" dirty="0" err="1"/>
              <a:t>Yarn</a:t>
            </a:r>
            <a:r>
              <a:rPr lang="fr-FR" dirty="0"/>
              <a:t>/</a:t>
            </a:r>
            <a:r>
              <a:rPr lang="fr-FR" dirty="0" err="1"/>
              <a:t>Kubernetes</a:t>
            </a:r>
            <a:r>
              <a:rPr lang="fr-FR" dirty="0"/>
              <a:t>) </a:t>
            </a:r>
          </a:p>
          <a:p>
            <a:r>
              <a:rPr lang="fr-FR" dirty="0"/>
              <a:t>                  </a:t>
            </a:r>
            <a:r>
              <a:rPr lang="fr-FR" dirty="0" err="1"/>
              <a:t>distributed</a:t>
            </a:r>
            <a:r>
              <a:rPr lang="fr-FR" dirty="0"/>
              <a:t> </a:t>
            </a:r>
            <a:r>
              <a:rPr lang="fr-FR" dirty="0" err="1"/>
              <a:t>storage</a:t>
            </a:r>
            <a:r>
              <a:rPr lang="fr-FR" dirty="0"/>
              <a:t> (HDFS/cloud)</a:t>
            </a:r>
          </a:p>
          <a:p>
            <a:endParaRPr lang="fr-FR" dirty="0"/>
          </a:p>
          <a:p>
            <a:r>
              <a:rPr lang="fr-FR" dirty="0" err="1"/>
              <a:t>What</a:t>
            </a:r>
            <a:r>
              <a:rPr lang="fr-FR" dirty="0"/>
              <a:t> </a:t>
            </a:r>
            <a:r>
              <a:rPr lang="fr-FR" dirty="0" err="1"/>
              <a:t>is</a:t>
            </a:r>
            <a:r>
              <a:rPr lang="fr-FR" dirty="0"/>
              <a:t> </a:t>
            </a:r>
            <a:r>
              <a:rPr lang="fr-FR" dirty="0" err="1"/>
              <a:t>Processing</a:t>
            </a:r>
            <a:r>
              <a:rPr lang="fr-FR" dirty="0"/>
              <a:t> ?</a:t>
            </a:r>
          </a:p>
          <a:p>
            <a:r>
              <a:rPr lang="fr-FR" dirty="0"/>
              <a:t>            </a:t>
            </a:r>
            <a:r>
              <a:rPr lang="fr-FR" dirty="0" err="1"/>
              <a:t>mostly</a:t>
            </a:r>
            <a:r>
              <a:rPr lang="fr-FR" dirty="0"/>
              <a:t> </a:t>
            </a:r>
            <a:r>
              <a:rPr lang="fr-FR" dirty="0" err="1"/>
              <a:t>spark</a:t>
            </a:r>
            <a:r>
              <a:rPr lang="fr-FR" dirty="0"/>
              <a:t> </a:t>
            </a:r>
            <a:r>
              <a:rPr lang="fr-FR" dirty="0" err="1"/>
              <a:t>batches</a:t>
            </a:r>
            <a:endParaRPr lang="fr-FR" dirty="0"/>
          </a:p>
          <a:p>
            <a:r>
              <a:rPr lang="fr-FR" dirty="0"/>
              <a:t>            </a:t>
            </a:r>
            <a:r>
              <a:rPr lang="fr-FR" dirty="0" err="1"/>
              <a:t>Feeding</a:t>
            </a:r>
            <a:r>
              <a:rPr lang="fr-FR" dirty="0"/>
              <a:t> RAW</a:t>
            </a:r>
          </a:p>
          <a:p>
            <a:r>
              <a:rPr lang="fr-FR" dirty="0"/>
              <a:t>            </a:t>
            </a:r>
            <a:r>
              <a:rPr lang="fr-FR" dirty="0" err="1"/>
              <a:t>Transforming</a:t>
            </a:r>
            <a:r>
              <a:rPr lang="fr-FR" dirty="0"/>
              <a:t> RAW to LAKE</a:t>
            </a:r>
          </a:p>
          <a:p>
            <a:r>
              <a:rPr lang="fr-FR" dirty="0"/>
              <a:t>            </a:t>
            </a:r>
            <a:r>
              <a:rPr lang="fr-FR" dirty="0" err="1"/>
              <a:t>Consuming</a:t>
            </a:r>
            <a:r>
              <a:rPr lang="fr-FR" dirty="0"/>
              <a:t> SQL </a:t>
            </a:r>
            <a:r>
              <a:rPr lang="fr-FR" dirty="0" err="1"/>
              <a:t>analytics</a:t>
            </a:r>
            <a:endParaRPr lang="fr-FR" dirty="0"/>
          </a:p>
          <a:p>
            <a:endParaRPr lang="fr-FR" dirty="0"/>
          </a:p>
          <a:p>
            <a:r>
              <a:rPr lang="fr-FR" dirty="0"/>
              <a:t>Hadoop </a:t>
            </a:r>
            <a:r>
              <a:rPr lang="fr-FR" dirty="0" err="1"/>
              <a:t>ecosystem</a:t>
            </a:r>
            <a:r>
              <a:rPr lang="fr-FR" dirty="0"/>
              <a:t> </a:t>
            </a:r>
            <a:r>
              <a:rPr lang="fr-FR" dirty="0" err="1"/>
              <a:t>is</a:t>
            </a:r>
            <a:r>
              <a:rPr lang="fr-FR" dirty="0"/>
              <a:t> </a:t>
            </a:r>
            <a:r>
              <a:rPr lang="fr-FR" dirty="0" err="1"/>
              <a:t>complex</a:t>
            </a:r>
            <a:r>
              <a:rPr lang="fr-FR" dirty="0"/>
              <a:t>, Spark </a:t>
            </a:r>
            <a:r>
              <a:rPr lang="fr-FR" dirty="0" err="1"/>
              <a:t>brings</a:t>
            </a:r>
            <a:r>
              <a:rPr lang="fr-FR" dirty="0"/>
              <a:t> </a:t>
            </a:r>
            <a:r>
              <a:rPr lang="fr-FR" dirty="0" err="1"/>
              <a:t>simplicity</a:t>
            </a:r>
            <a:endParaRPr lang="fr-FR" dirty="0"/>
          </a:p>
          <a:p>
            <a:r>
              <a:rPr lang="fr-FR" dirty="0" err="1"/>
              <a:t>Ecosystem</a:t>
            </a:r>
            <a:r>
              <a:rPr lang="fr-FR" dirty="0"/>
              <a:t> </a:t>
            </a:r>
            <a:r>
              <a:rPr lang="fr-FR" dirty="0" err="1"/>
              <a:t>is</a:t>
            </a:r>
            <a:r>
              <a:rPr lang="fr-FR" dirty="0"/>
              <a:t> </a:t>
            </a:r>
            <a:r>
              <a:rPr lang="fr-FR" dirty="0" err="1"/>
              <a:t>evolving</a:t>
            </a:r>
            <a:r>
              <a:rPr lang="fr-FR" dirty="0"/>
              <a:t> (Cloud, </a:t>
            </a:r>
            <a:r>
              <a:rPr lang="fr-FR" dirty="0" err="1"/>
              <a:t>Kubernetes</a:t>
            </a:r>
            <a:r>
              <a:rPr lang="fr-FR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8641811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3883</TotalTime>
  <Words>6776</Words>
  <Application>Microsoft Office PowerPoint</Application>
  <PresentationFormat>Grand écran</PresentationFormat>
  <Paragraphs>1290</Paragraphs>
  <Slides>130</Slides>
  <Notes>9</Notes>
  <HiddenSlides>2</HiddenSlides>
  <MMClips>0</MMClips>
  <ScaleCrop>false</ScaleCrop>
  <HeadingPairs>
    <vt:vector size="8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Serveurs OLE incorporés</vt:lpstr>
      </vt:variant>
      <vt:variant>
        <vt:i4>1</vt:i4>
      </vt:variant>
      <vt:variant>
        <vt:lpstr>Titres des diapositives</vt:lpstr>
      </vt:variant>
      <vt:variant>
        <vt:i4>130</vt:i4>
      </vt:variant>
    </vt:vector>
  </HeadingPairs>
  <TitlesOfParts>
    <vt:vector size="137" baseType="lpstr">
      <vt:lpstr>Arial</vt:lpstr>
      <vt:lpstr>Arial</vt:lpstr>
      <vt:lpstr>Calibri</vt:lpstr>
      <vt:lpstr>Calibri Light</vt:lpstr>
      <vt:lpstr>Liberation Sans</vt:lpstr>
      <vt:lpstr>Office Theme</vt:lpstr>
      <vt:lpstr>Bitmap Image</vt:lpstr>
      <vt:lpstr>Introduction to Big Datalake Storage  &lt;-&gt; Big Cluster Compute   Sample Usages in Companies</vt:lpstr>
      <vt:lpstr>Objectives</vt:lpstr>
      <vt:lpstr>Outline</vt:lpstr>
      <vt:lpstr>About Me</vt:lpstr>
      <vt:lpstr>DISCLAIMER  I do not know everything. I am biaised with what I know. My opinions do not represent any company</vt:lpstr>
      <vt:lpstr>About You …  Quick Survey ?</vt:lpstr>
      <vt:lpstr>Outline</vt:lpstr>
      <vt:lpstr>How Big ? =&gt; Then Which Tool</vt:lpstr>
      <vt:lpstr>Compute Resources Vertical Scaling</vt:lpstr>
      <vt:lpstr>BigData definition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BigData At Scale Google Datacenter</vt:lpstr>
      <vt:lpstr>Not Only Gafas</vt:lpstr>
      <vt:lpstr>BigData In Banks ?</vt:lpstr>
      <vt:lpstr>BigData at SG (Investment Bank)</vt:lpstr>
      <vt:lpstr>Typical Datacenter Hardware = N Racks x  10 blades (1U / 2U)</vt:lpstr>
      <vt:lpstr>1U Server for Datalake</vt:lpstr>
      <vt:lpstr>Old Assumptions</vt:lpstr>
      <vt:lpstr>Old Assumption:  use « DataNode » as «Code Executors »</vt:lpstr>
      <vt:lpstr>Hardware Evolutions…  =&gt; Software Adaptations</vt:lpstr>
      <vt:lpstr>Today … SSD NVME, PCiExpress, Fiber channel, …</vt:lpstr>
      <vt:lpstr>Old Assumption:  use « DataNode » as «Code Executors »</vt:lpstr>
      <vt:lpstr>Compute &lt;-&gt; Storage</vt:lpstr>
      <vt:lpstr>Trend.. Splitting Compute and Storage Resources Virtualizing (VMs,Kubernetes,Cloud) for Elasticity &amp; Costs</vt:lpstr>
      <vt:lpstr>Présentation PowerPoint</vt:lpstr>
      <vt:lpstr>On-Premise « Small »  Datalake ? </vt:lpstr>
      <vt:lpstr>Hadoop Cluster Architecture</vt:lpstr>
      <vt:lpstr>Outline</vt:lpstr>
      <vt:lpstr>Handling 1 Server + 1 Disk  … OK with SSH,Bash,Java...  How to handle 300 Servers ? 1 Billions Files ? In 50 Millions Directories ?  … At Scale  (performance, and way of working in IT teams)</vt:lpstr>
      <vt:lpstr>Challenge #1: Unify « Virtual » Storage Resources</vt:lpstr>
      <vt:lpstr>Mind Shift  .. Datalake FileSystem Abstractions</vt:lpstr>
      <vt:lpstr>Challenges of Distributed System</vt:lpstr>
      <vt:lpstr>Sh*ts Happens (Hardware Failures, Software, Electric Power, Network, Data Corruption ..)</vt:lpstr>
      <vt:lpstr>Big Data = Handle « Normal » (recurrent) Failures !</vt:lpstr>
      <vt:lpstr>Outline</vt:lpstr>
      <vt:lpstr>How to Handle Disk Crash:     Obviously Replication Copies,  But in XA &amp; Real-Time</vt:lpstr>
      <vt:lpstr>The Devil hides in the Details …</vt:lpstr>
      <vt:lpstr>CAP Theorem .. Choose 2 out of 3</vt:lpstr>
      <vt:lpstr>Présentation PowerPoint</vt:lpstr>
      <vt:lpstr>Hadoop Legacy Replication Factor: Rack Aware</vt:lpstr>
      <vt:lpstr>Présentation PowerPoint</vt:lpstr>
      <vt:lpstr>Présentation PowerPoint</vt:lpstr>
      <vt:lpstr>Example on Azure Storage…  LRS, ZRS, GRS, GZRS 1 Region = 3 AZ (Availability Zone) .. 3 Datacenters</vt:lpstr>
      <vt:lpstr>Présentation PowerPoint</vt:lpstr>
      <vt:lpstr>Outline</vt:lpstr>
      <vt:lpstr>Reminder …  Hadoop Cluster Architecture</vt:lpstr>
      <vt:lpstr>2 Distributed Challenges :  1=Storage  + 1=Compute</vt:lpstr>
      <vt:lpstr>Mind Shift: SSH -&gt; Job Compute Resource</vt:lpstr>
      <vt:lpstr>Pet vs Cattle</vt:lpstr>
      <vt:lpstr>Launching =&gt; Scheduling on Allocated Resource</vt:lpstr>
      <vt:lpstr>Yarn Queue</vt:lpstr>
      <vt:lpstr>Hadoop Yarn Architecture</vt:lpstr>
      <vt:lpstr>Kubernetes Architecture</vt:lpstr>
      <vt:lpstr>Architecture Comparison Yarn &lt;-&gt; Kubernetes</vt:lpstr>
      <vt:lpstr>Ooozie → Yarn UI → Yarn … Nightmare, ex: Logs</vt:lpstr>
      <vt:lpstr>Outline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Spark Core Unified Engine… using Compute  + Storage APIs  </vt:lpstr>
      <vt:lpstr>Post-Spark Area ?   &gt;= 2026 and beyound ? </vt:lpstr>
      <vt:lpstr>Outline</vt:lpstr>
      <vt:lpstr>How Softwares evolve to handle BigData ?  Which ones to use today?</vt:lpstr>
      <vt:lpstr>Présentation PowerPoint</vt:lpstr>
      <vt:lpstr>Spark (Recent) History &amp; Ancestors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Simple =&gt; Many Specific Systems =&gt; Unified</vt:lpstr>
      <vt:lpstr>Présentation PowerPoint</vt:lpstr>
      <vt:lpstr>Présentation PowerPoint</vt:lpstr>
      <vt:lpstr>Spark = « Unified Engine » </vt:lpstr>
      <vt:lpstr>Multi Purposes – Multi Langages</vt:lpstr>
      <vt:lpstr>Spark-Core + …</vt:lpstr>
      <vt:lpstr>Présentation PowerPoint</vt:lpstr>
      <vt:lpstr>Outline</vt:lpstr>
      <vt:lpstr>Not Only Machines</vt:lpstr>
      <vt:lpstr>Feeding Data Inputs to Datalake: aggregating &gt;= 150 Systems</vt:lpstr>
      <vt:lpstr>Feeding Data / Streaming</vt:lpstr>
      <vt:lpstr>Feeding Types &amp; Volumetry</vt:lpstr>
      <vt:lpstr>Content of a Datalake</vt:lpstr>
      <vt:lpstr>Storage = Files and Directories</vt:lpstr>
      <vt:lpstr>A Very « Simple » Specific Sub-System</vt:lpstr>
      <vt:lpstr>Hadoop hates too many Small Files</vt:lpstr>
      <vt:lpstr>BIG Files ?  More than Giga ? YES … BUT PARQUET Partitioned</vt:lpstr>
      <vt:lpstr>Outline</vt:lpstr>
      <vt:lpstr>Governance  Data Directories Organization Read-Write Permissions, Quota,  RDPG …</vt:lpstr>
      <vt:lpstr>LAKE = Parquet Starting from RAW: Postgresql or {CSV|Json|Avro..} STAGING Dirs</vt:lpstr>
      <vt:lpstr>Feeding – Transforming – Consuming Data</vt:lpstr>
      <vt:lpstr>Big Processing</vt:lpstr>
      <vt:lpstr>Few Interactive Queries Processing screenshot Zeppelin</vt:lpstr>
      <vt:lpstr>Orchestration / DataLineage Data and Workflows are linked</vt:lpstr>
      <vt:lpstr>Read-Write Permissions from DataOffice</vt:lpstr>
      <vt:lpstr>DataLineage Data depends on other Sources Data</vt:lpstr>
      <vt:lpstr>Screenshots (Fuzzy.. On purpose) Read/Write Dependencies Hive Database / Job… </vt:lpstr>
      <vt:lpstr>Orchestration Start process2 after process1 finished</vt:lpstr>
      <vt:lpstr>Prod Screenshot (Fuzzy.. on purpose) Running Yarn Applications</vt:lpstr>
      <vt:lpstr>Prod Screenshot : Yarn Queues  (Scheduler, CPU+Mem usages)</vt:lpstr>
      <vt:lpstr>Screenshot Oozie (Coordinators / Workflows)</vt:lpstr>
      <vt:lpstr>Orchestration « By CRON: 10 * *  * * * » Example of Possible Failures</vt:lpstr>
      <vt:lpstr>Outline</vt:lpstr>
      <vt:lpstr>Typical Example of adding 1 daily partition</vt:lpstr>
      <vt:lpstr>Typical RAW to LAKE processing with Spark as Java code</vt:lpstr>
      <vt:lpstr>Typical RAW to LAKE processing with Spark as SQL code</vt:lpstr>
      <vt:lpstr>Example of LAKE Aggregation</vt:lpstr>
      <vt:lpstr>Example of « latest value » cristalisation analytical query « over(partition by) »</vt:lpstr>
      <vt:lpstr>Example of a « Small » Data Processing resource needed = RAM</vt:lpstr>
      <vt:lpstr>Example of a Slow « Un-parallelized » Processing resource needed = CPU x Time x ..</vt:lpstr>
      <vt:lpstr>A Slow Processing ?</vt:lpstr>
      <vt:lpstr>Présentation PowerPoint</vt:lpstr>
      <vt:lpstr>Outline</vt:lpstr>
      <vt:lpstr>… More Detailed on  « From OnPrem to Azure Cloud »   see Document « -cloud.pdf »</vt:lpstr>
      <vt:lpstr>Fundamental Resources TradeOffs</vt:lpstr>
      <vt:lpstr>Performance Changes -&gt; Architecture Changes</vt:lpstr>
      <vt:lpstr>Migration to Cloud  Azure - AWS - Google</vt:lpstr>
      <vt:lpstr>Architecture of Datalake on Clouds</vt:lpstr>
      <vt:lpstr>BigData Engineering  from OnPrem to Azure</vt:lpstr>
      <vt:lpstr>What About Spark in Azure Migration?</vt:lpstr>
      <vt:lpstr>Managed Spark ? Goals: Autoscaling / « serverless »</vt:lpstr>
      <vt:lpstr>Questions?</vt:lpstr>
      <vt:lpstr>Take Away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arnaud.nauwynck@gmail.com</dc:creator>
  <cp:lastModifiedBy>arnaud</cp:lastModifiedBy>
  <cp:revision>85</cp:revision>
  <dcterms:created xsi:type="dcterms:W3CDTF">2022-10-11T08:01:11Z</dcterms:created>
  <dcterms:modified xsi:type="dcterms:W3CDTF">2026-09-23T21:21:16Z</dcterms:modified>
</cp:coreProperties>
</file>