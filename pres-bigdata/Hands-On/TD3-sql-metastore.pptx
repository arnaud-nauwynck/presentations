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84" r:id="rId3"/>
    <p:sldId id="339" r:id="rId4"/>
    <p:sldId id="257" r:id="rId5"/>
    <p:sldId id="387" r:id="rId6"/>
    <p:sldId id="482" r:id="rId7"/>
    <p:sldId id="484" r:id="rId8"/>
    <p:sldId id="477" r:id="rId9"/>
    <p:sldId id="478" r:id="rId10"/>
    <p:sldId id="479" r:id="rId11"/>
    <p:sldId id="483" r:id="rId12"/>
    <p:sldId id="487" r:id="rId13"/>
    <p:sldId id="481" r:id="rId14"/>
    <p:sldId id="394" r:id="rId15"/>
    <p:sldId id="480" r:id="rId16"/>
    <p:sldId id="395" r:id="rId17"/>
    <p:sldId id="396" r:id="rId18"/>
    <p:sldId id="386" r:id="rId19"/>
    <p:sldId id="485" r:id="rId20"/>
    <p:sldId id="397" r:id="rId21"/>
    <p:sldId id="398" r:id="rId22"/>
    <p:sldId id="412" r:id="rId23"/>
    <p:sldId id="413" r:id="rId24"/>
    <p:sldId id="414" r:id="rId25"/>
    <p:sldId id="416" r:id="rId26"/>
    <p:sldId id="418" r:id="rId27"/>
    <p:sldId id="417" r:id="rId28"/>
    <p:sldId id="446" r:id="rId29"/>
    <p:sldId id="400" r:id="rId30"/>
    <p:sldId id="401" r:id="rId31"/>
    <p:sldId id="403" r:id="rId32"/>
    <p:sldId id="406" r:id="rId33"/>
    <p:sldId id="407" r:id="rId34"/>
    <p:sldId id="421" r:id="rId35"/>
    <p:sldId id="471" r:id="rId36"/>
    <p:sldId id="402" r:id="rId37"/>
    <p:sldId id="410" r:id="rId38"/>
    <p:sldId id="409" r:id="rId39"/>
    <p:sldId id="424" r:id="rId40"/>
    <p:sldId id="450" r:id="rId41"/>
    <p:sldId id="425" r:id="rId42"/>
    <p:sldId id="452" r:id="rId43"/>
    <p:sldId id="451" r:id="rId44"/>
    <p:sldId id="411" r:id="rId45"/>
    <p:sldId id="419" r:id="rId46"/>
    <p:sldId id="415" r:id="rId47"/>
    <p:sldId id="420" r:id="rId48"/>
    <p:sldId id="464" r:id="rId49"/>
    <p:sldId id="466" r:id="rId50"/>
    <p:sldId id="467" r:id="rId51"/>
    <p:sldId id="427" r:id="rId52"/>
    <p:sldId id="447" r:id="rId53"/>
    <p:sldId id="428" r:id="rId54"/>
    <p:sldId id="429" r:id="rId55"/>
    <p:sldId id="472" r:id="rId56"/>
    <p:sldId id="473" r:id="rId57"/>
    <p:sldId id="430" r:id="rId58"/>
    <p:sldId id="474" r:id="rId59"/>
    <p:sldId id="431" r:id="rId60"/>
    <p:sldId id="432" r:id="rId61"/>
    <p:sldId id="455" r:id="rId62"/>
    <p:sldId id="476" r:id="rId63"/>
    <p:sldId id="434" r:id="rId64"/>
    <p:sldId id="433" r:id="rId65"/>
    <p:sldId id="457" r:id="rId66"/>
    <p:sldId id="454" r:id="rId67"/>
    <p:sldId id="453" r:id="rId68"/>
    <p:sldId id="436" r:id="rId69"/>
    <p:sldId id="437" r:id="rId70"/>
    <p:sldId id="435" r:id="rId71"/>
    <p:sldId id="456" r:id="rId72"/>
    <p:sldId id="438" r:id="rId73"/>
    <p:sldId id="442" r:id="rId74"/>
    <p:sldId id="443" r:id="rId75"/>
    <p:sldId id="458" r:id="rId76"/>
    <p:sldId id="459" r:id="rId77"/>
    <p:sldId id="462" r:id="rId78"/>
    <p:sldId id="465" r:id="rId79"/>
    <p:sldId id="460" r:id="rId80"/>
    <p:sldId id="463" r:id="rId81"/>
    <p:sldId id="468" r:id="rId82"/>
    <p:sldId id="488" r:id="rId83"/>
    <p:sldId id="489" r:id="rId84"/>
    <p:sldId id="490" r:id="rId85"/>
    <p:sldId id="491" r:id="rId86"/>
    <p:sldId id="492" r:id="rId87"/>
    <p:sldId id="337" r:id="rId88"/>
    <p:sldId id="449" r:id="rId89"/>
    <p:sldId id="385" r:id="rId90"/>
    <p:sldId id="328" r:id="rId91"/>
    <p:sldId id="340" r:id="rId9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1" autoAdjust="0"/>
    <p:restoredTop sz="94660"/>
  </p:normalViewPr>
  <p:slideViewPr>
    <p:cSldViewPr snapToGrid="0">
      <p:cViewPr varScale="1">
        <p:scale>
          <a:sx n="80" d="100"/>
          <a:sy n="80" d="100"/>
        </p:scale>
        <p:origin x="115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1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5D6BC-3559-73E1-9D07-239C6D1A76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6CC76A-D8DD-BEE8-9A9F-CAF592ABC1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4BE15E-E5E6-1403-B28B-8FDF76756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2F511-3FFC-4A05-819B-00FCF2A06483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818A06-C71E-2EB5-9974-68B7BF369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E9E92-979C-DB86-0BF5-512E1FE97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2388F-746D-47E3-AA8A-4E6FD3AEDE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2280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5D1D5-49D0-7648-B067-9C6E435DF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FB856D-95D8-120E-BD80-D75453E77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CB916-5933-983A-CBDE-5170C2237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2F511-3FFC-4A05-819B-00FCF2A06483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D51CD4-ACFD-FC0F-4AAE-08F829D34B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A1727A-3733-69D4-F5E6-386418F50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2388F-746D-47E3-AA8A-4E6FD3AEDE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99759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FD34D-BE80-25D7-4425-447974D259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B0C450-C88F-3782-DDB1-42DC2B1C4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07A22-6720-F56E-29D4-42949E89D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2F511-3FFC-4A05-819B-00FCF2A06483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4FE49-84EC-DA86-DCCA-BF7C1DCCFD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65B12-C18E-88CF-19CF-774D15DDA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2388F-746D-47E3-AA8A-4E6FD3AEDE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51251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1CFE6-4B40-084D-9B5A-77897CF1A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F56948-9113-E7DA-4059-32B1D23DB8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9920DB-EDF3-A56E-E1EE-4569884856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DAE31E-0448-EBCD-4106-854790DE9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2F511-3FFC-4A05-819B-00FCF2A06483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771255-C5D0-6BCA-D3C9-32F44F4FA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8D7495-AD37-1637-3641-CFA6CE6BE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2388F-746D-47E3-AA8A-4E6FD3AEDE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4274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FEADA-D7C2-A717-8EB6-D758BC347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868E3C-E013-E931-319D-436C9D134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65329C-69E1-4C43-45B2-2C10341F49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09C4DF-9DB8-8684-28EF-BAA51165CA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264683-05E1-94B5-6EFD-69438F2177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B036E1-4BB4-9677-F0E3-324CB86D4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2F511-3FFC-4A05-819B-00FCF2A06483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6143FD-7620-3036-39E3-A25FE9322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14CC48-8AEF-059D-1FE2-1435D72C2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2388F-746D-47E3-AA8A-4E6FD3AEDE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4024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22B3D-1573-4BCB-8B8C-75751F2E0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03A594-0C4D-50F6-EB42-E8187D112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2F511-3FFC-4A05-819B-00FCF2A06483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D6DAC-C329-CAD1-AEF3-3B2482C1E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C802C9-FA5B-70F7-2B38-38C4E844C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2388F-746D-47E3-AA8A-4E6FD3AEDE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1623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554356-E1AE-DAB1-62F3-DC68A1F8B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2F511-3FFC-4A05-819B-00FCF2A06483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64EA9E-9EEF-F485-0B63-005AF80CB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39EAFF-DB3A-3DAA-3727-A69FA94AB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2388F-746D-47E3-AA8A-4E6FD3AEDE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49273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3F802-0214-009F-31E8-D730FCAF4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0A090-705A-CAB7-8379-232C0598B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4813AC-AD6B-85FB-B770-425D3DD0FF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C2391-445A-88DB-2FF4-E83735029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2F511-3FFC-4A05-819B-00FCF2A06483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2BE636-4F55-27D2-08C0-E72DE8083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B2241A-7E4A-D6D5-9972-57A191D5F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2388F-746D-47E3-AA8A-4E6FD3AEDE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36491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ECFDE-D6F4-FBE7-2E9D-30613C905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91C9FE-1F3B-3E1E-B3B2-74EB88885B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4D9E0B-5CC0-2876-52AA-C775868657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8C34AF-45CB-4EA4-E9EA-9B340FF3F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2F511-3FFC-4A05-819B-00FCF2A06483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CCFA44-8DA0-CC99-A380-488DF64DF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35F7AF-9552-25CA-DBE6-BAC3B2282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2388F-746D-47E3-AA8A-4E6FD3AEDE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29207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8A9AB-0485-1538-D760-47F8D9E10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69CB1-92B1-023B-F503-E9A737D652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4E878A-6BD8-3602-3319-F372CDF92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2F511-3FFC-4A05-819B-00FCF2A06483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AE2D08-9B92-6080-19C8-F587DFAB4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673BC-C835-8F85-41EE-343BB3E08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2388F-746D-47E3-AA8A-4E6FD3AEDE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8876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D7DCED-3575-B210-A2B7-92663D8250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5110DB-0929-A8E5-2128-6535ADBF8D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B1A795-1541-E1D1-16F2-DBC3F2561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2F511-3FFC-4A05-819B-00FCF2A06483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6DACE9-378D-EB70-0379-49D529108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D254D2-55B1-47F5-E5DC-FB713AD1C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2388F-746D-47E3-AA8A-4E6FD3AEDE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2976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F1F07F-80EE-2ED1-D0C5-E172B99CEB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FD5275-CB64-DA8D-1999-482EC9D92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FCBCE-B18F-CCD0-FAB2-DBA9C024F6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82F511-3FFC-4A05-819B-00FCF2A06483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783193-C1AD-7A16-CC19-DF1ADE08D6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C00875-F340-0211-6AF5-695AF1D3A5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C2388F-746D-47E3-AA8A-4E6FD3AEDE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56101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pache/spark/blob/master/sql/catalyst/src/main/scala/org/apache/spark/sql/internal/StaticSQLConf.scala#L53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localhost:4040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1.wmf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spark.apache.org/docs/latest/sql-getting-started.html#global-temporary-view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downloads.apache.org/hive/hive-standalone-metastore-3.0.0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hyperlink" Target="https://downloads.apache.org/hive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search.maven.org/search?q=g:org.postgresql%20a:postgresql" TargetMode="Externa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file:///\\n" TargetMode="Externa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delta.io/latest/quick-start.html" TargetMode="Externa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hyperlink" Target="https://iceberg.apache.org/docs/latest/spark-getting-started/" TargetMode="Externa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F56AF-DF1E-EE03-BB70-F2407CECE2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339" y="1122362"/>
            <a:ext cx="12015786" cy="3987801"/>
          </a:xfrm>
        </p:spPr>
        <p:txBody>
          <a:bodyPr>
            <a:normAutofit/>
          </a:bodyPr>
          <a:lstStyle/>
          <a:p>
            <a:r>
              <a:rPr lang="fr-FR" dirty="0" err="1"/>
              <a:t>BigData</a:t>
            </a:r>
            <a:r>
              <a:rPr lang="fr-FR" dirty="0"/>
              <a:t> Spark – </a:t>
            </a:r>
            <a:r>
              <a:rPr lang="fr-FR" dirty="0" err="1"/>
              <a:t>HandsOn</a:t>
            </a:r>
            <a:r>
              <a:rPr lang="fr-FR" dirty="0"/>
              <a:t> 3</a:t>
            </a:r>
            <a:br>
              <a:rPr lang="fr-FR" dirty="0"/>
            </a:br>
            <a:br>
              <a:rPr lang="fr-FR" dirty="0"/>
            </a:br>
            <a:r>
              <a:rPr lang="fr-FR" sz="4400" dirty="0"/>
              <a:t>SQL, </a:t>
            </a:r>
            <a:r>
              <a:rPr lang="fr-FR" sz="4400" dirty="0" err="1"/>
              <a:t>Temporary</a:t>
            </a:r>
            <a:r>
              <a:rPr lang="fr-FR" sz="4400" dirty="0"/>
              <a:t> </a:t>
            </a:r>
            <a:r>
              <a:rPr lang="fr-FR" sz="4400" dirty="0" err="1"/>
              <a:t>View</a:t>
            </a:r>
            <a:br>
              <a:rPr lang="fr-FR" sz="4400" dirty="0"/>
            </a:br>
            <a:r>
              <a:rPr lang="fr-FR" sz="4400" dirty="0" err="1"/>
              <a:t>Hive</a:t>
            </a:r>
            <a:r>
              <a:rPr lang="fr-FR" sz="4400" dirty="0"/>
              <a:t> </a:t>
            </a:r>
            <a:r>
              <a:rPr lang="fr-FR" sz="4400" dirty="0" err="1"/>
              <a:t>MetaStore</a:t>
            </a:r>
            <a:r>
              <a:rPr lang="fr-FR" sz="4400" dirty="0"/>
              <a:t>, </a:t>
            </a:r>
            <a:r>
              <a:rPr lang="fr-FR" sz="4400" dirty="0" err="1"/>
              <a:t>ExternalCatalog</a:t>
            </a:r>
            <a:r>
              <a:rPr lang="fr-FR" sz="4400" dirty="0"/>
              <a:t>, Table</a:t>
            </a:r>
            <a:br>
              <a:rPr lang="fr-FR" sz="4400" dirty="0"/>
            </a:br>
            <a:r>
              <a:rPr lang="fr-FR" sz="4400" dirty="0"/>
              <a:t>Partitions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03A243-3EAC-4F69-DD6F-16693A3F47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9300" y="6050964"/>
            <a:ext cx="9144000" cy="632535"/>
          </a:xfrm>
        </p:spPr>
        <p:txBody>
          <a:bodyPr>
            <a:normAutofit fontScale="70000" lnSpcReduction="20000"/>
          </a:bodyPr>
          <a:lstStyle/>
          <a:p>
            <a:r>
              <a:rPr lang="fr-FR" dirty="0"/>
              <a:t>arnaud.nauwynck@gmail.com</a:t>
            </a:r>
          </a:p>
          <a:p>
            <a:r>
              <a:rPr lang="fr-FR" dirty="0" err="1"/>
              <a:t>Esilv</a:t>
            </a:r>
            <a:r>
              <a:rPr lang="fr-FR" dirty="0"/>
              <a:t> 2025</a:t>
            </a:r>
          </a:p>
        </p:txBody>
      </p:sp>
    </p:spTree>
    <p:extLst>
      <p:ext uri="{BB962C8B-B14F-4D97-AF65-F5344CB8AC3E}">
        <p14:creationId xmlns:p14="http://schemas.microsoft.com/office/powerpoint/2010/main" val="3214580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/>
          <a:lstStyle/>
          <a:p>
            <a:pPr algn="ctr"/>
            <a:r>
              <a:rPr lang="fr-FR" dirty="0"/>
              <a:t>Objectives of Hands-On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845574-F8C6-508F-AF8A-A8CDA7DAD631}"/>
              </a:ext>
            </a:extLst>
          </p:cNvPr>
          <p:cNvSpPr txBox="1"/>
          <p:nvPr/>
        </p:nvSpPr>
        <p:spPr>
          <a:xfrm>
            <a:off x="3629918" y="1536174"/>
            <a:ext cx="6176756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1/ </a:t>
            </a:r>
            <a:r>
              <a:rPr lang="fr-FR" sz="2400" dirty="0" err="1"/>
              <a:t>CreateTempView</a:t>
            </a:r>
            <a:r>
              <a:rPr lang="fr-FR" sz="2400" dirty="0"/>
              <a:t>,  use </a:t>
            </a:r>
            <a:r>
              <a:rPr lang="fr-FR" sz="2400" dirty="0" err="1"/>
              <a:t>Dataset</a:t>
            </a:r>
            <a:r>
              <a:rPr lang="fr-FR" sz="2400" dirty="0"/>
              <a:t> </a:t>
            </a:r>
            <a:r>
              <a:rPr lang="fr-FR" sz="2400" dirty="0" err="1"/>
              <a:t>from</a:t>
            </a:r>
            <a:r>
              <a:rPr lang="fr-FR" sz="2400" dirty="0"/>
              <a:t> SQL </a:t>
            </a:r>
          </a:p>
          <a:p>
            <a:endParaRPr lang="fr-FR" sz="2400" dirty="0"/>
          </a:p>
          <a:p>
            <a:r>
              <a:rPr lang="fr-FR" sz="2400" dirty="0"/>
              <a:t>2/ Configure </a:t>
            </a:r>
            <a:r>
              <a:rPr lang="fr-FR" sz="2400" dirty="0" err="1"/>
              <a:t>HiveMetastore</a:t>
            </a:r>
            <a:r>
              <a:rPr lang="fr-FR" sz="2400" dirty="0"/>
              <a:t> DB</a:t>
            </a:r>
          </a:p>
          <a:p>
            <a:endParaRPr lang="fr-FR" sz="2400" dirty="0"/>
          </a:p>
          <a:p>
            <a:r>
              <a:rPr lang="fr-FR" sz="2400" dirty="0"/>
              <a:t>3/ </a:t>
            </a:r>
            <a:r>
              <a:rPr lang="fr-FR" sz="2400" dirty="0" err="1"/>
              <a:t>connect</a:t>
            </a:r>
            <a:r>
              <a:rPr lang="fr-FR" sz="2400" dirty="0"/>
              <a:t> Spark </a:t>
            </a:r>
            <a:r>
              <a:rPr lang="fr-FR" sz="2400" dirty="0" err="1"/>
              <a:t>External</a:t>
            </a:r>
            <a:r>
              <a:rPr lang="fr-FR" sz="2400" dirty="0"/>
              <a:t> </a:t>
            </a:r>
            <a:r>
              <a:rPr lang="fr-FR" sz="2400" dirty="0" err="1"/>
              <a:t>Catalog</a:t>
            </a:r>
            <a:r>
              <a:rPr lang="fr-FR" sz="2400" dirty="0"/>
              <a:t>  to </a:t>
            </a:r>
            <a:r>
              <a:rPr lang="fr-FR" sz="2400" dirty="0" err="1"/>
              <a:t>MetaStore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4/ </a:t>
            </a:r>
            <a:r>
              <a:rPr lang="fr-FR" sz="2400" dirty="0" err="1"/>
              <a:t>Create</a:t>
            </a:r>
            <a:r>
              <a:rPr lang="fr-FR" sz="2400" dirty="0"/>
              <a:t> Table</a:t>
            </a:r>
          </a:p>
          <a:p>
            <a:endParaRPr lang="fr-FR" sz="2400" dirty="0"/>
          </a:p>
          <a:p>
            <a:r>
              <a:rPr lang="fr-FR" sz="2400" dirty="0"/>
              <a:t>5/ (Directory) </a:t>
            </a:r>
            <a:r>
              <a:rPr lang="fr-FR" sz="2400" dirty="0" err="1"/>
              <a:t>Partitioned</a:t>
            </a:r>
            <a:r>
              <a:rPr lang="fr-FR" sz="2400" dirty="0"/>
              <a:t> Table</a:t>
            </a:r>
          </a:p>
        </p:txBody>
      </p:sp>
      <p:pic>
        <p:nvPicPr>
          <p:cNvPr id="4" name="Picture 2" descr="Image result for checkmark icon">
            <a:extLst>
              <a:ext uri="{FF2B5EF4-FFF2-40B4-BE49-F238E27FC236}">
                <a16:creationId xmlns:a16="http://schemas.microsoft.com/office/drawing/2014/main" id="{39CE4EBB-32FF-3BD5-341F-A7DD9AD65E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00" y="799113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8B81D7D-4D8F-E5AB-413C-4AA441BEF10A}"/>
              </a:ext>
            </a:extLst>
          </p:cNvPr>
          <p:cNvSpPr txBox="1"/>
          <p:nvPr/>
        </p:nvSpPr>
        <p:spPr>
          <a:xfrm>
            <a:off x="1061261" y="783505"/>
            <a:ext cx="239431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Reminders</a:t>
            </a:r>
            <a:r>
              <a:rPr lang="fr-FR" dirty="0"/>
              <a:t>:</a:t>
            </a:r>
          </a:p>
          <a:p>
            <a:r>
              <a:rPr lang="fr-FR" dirty="0"/>
              <a:t>Local Install, </a:t>
            </a:r>
            <a:r>
              <a:rPr lang="fr-FR" dirty="0" err="1"/>
              <a:t>spark-shell</a:t>
            </a:r>
            <a:br>
              <a:rPr lang="fr-FR" dirty="0"/>
            </a:br>
            <a:r>
              <a:rPr lang="fr-FR" dirty="0"/>
              <a:t>Spark File IO</a:t>
            </a:r>
          </a:p>
        </p:txBody>
      </p:sp>
    </p:spTree>
    <p:extLst>
      <p:ext uri="{BB962C8B-B14F-4D97-AF65-F5344CB8AC3E}">
        <p14:creationId xmlns:p14="http://schemas.microsoft.com/office/powerpoint/2010/main" val="35445405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D2308-620A-EB6A-38FF-9002E61BC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892" y="9230"/>
            <a:ext cx="10515600" cy="705504"/>
          </a:xfrm>
        </p:spPr>
        <p:txBody>
          <a:bodyPr/>
          <a:lstStyle/>
          <a:p>
            <a:pPr algn="ctr"/>
            <a:r>
              <a:rPr lang="fr-FR" dirty="0" err="1"/>
              <a:t>Reminder</a:t>
            </a:r>
            <a:r>
              <a:rPr lang="fr-FR" dirty="0"/>
              <a:t> Hands-On 1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33EE9F3-AE0C-D232-26F0-F3DC56CC4ACC}"/>
              </a:ext>
            </a:extLst>
          </p:cNvPr>
          <p:cNvCxnSpPr>
            <a:cxnSpLocks/>
          </p:cNvCxnSpPr>
          <p:nvPr/>
        </p:nvCxnSpPr>
        <p:spPr>
          <a:xfrm flipV="1">
            <a:off x="7787694" y="1826437"/>
            <a:ext cx="98313" cy="82675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ADAB2A3-D9E2-457A-52E7-A0FFD6C1FF9C}"/>
              </a:ext>
            </a:extLst>
          </p:cNvPr>
          <p:cNvCxnSpPr>
            <a:cxnSpLocks/>
          </p:cNvCxnSpPr>
          <p:nvPr/>
        </p:nvCxnSpPr>
        <p:spPr>
          <a:xfrm flipV="1">
            <a:off x="8014189" y="2288102"/>
            <a:ext cx="682136" cy="39612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90BFBB7-F52F-ACBE-86FE-36D031E24D0F}"/>
              </a:ext>
            </a:extLst>
          </p:cNvPr>
          <p:cNvCxnSpPr>
            <a:cxnSpLocks/>
          </p:cNvCxnSpPr>
          <p:nvPr/>
        </p:nvCxnSpPr>
        <p:spPr>
          <a:xfrm>
            <a:off x="8291772" y="2808093"/>
            <a:ext cx="846686" cy="19557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6A5CBD2-9056-9532-3E60-D2663FE8AD20}"/>
              </a:ext>
            </a:extLst>
          </p:cNvPr>
          <p:cNvSpPr txBox="1"/>
          <p:nvPr/>
        </p:nvSpPr>
        <p:spPr>
          <a:xfrm>
            <a:off x="7289810" y="1326264"/>
            <a:ext cx="15750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Pre-</a:t>
            </a:r>
            <a:r>
              <a:rPr lang="fr-FR" sz="2000" dirty="0" err="1"/>
              <a:t>Requisite</a:t>
            </a:r>
            <a:endParaRPr lang="fr-FR" sz="2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ACEF10-8760-C83D-5E84-F7D3EAEBEA9B}"/>
              </a:ext>
            </a:extLst>
          </p:cNvPr>
          <p:cNvSpPr txBox="1"/>
          <p:nvPr/>
        </p:nvSpPr>
        <p:spPr>
          <a:xfrm>
            <a:off x="8606667" y="1872920"/>
            <a:ext cx="23086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Spark.tar.gz</a:t>
            </a:r>
            <a:br>
              <a:rPr lang="fr-FR" sz="2000" dirty="0"/>
            </a:br>
            <a:r>
              <a:rPr lang="fr-FR" sz="2000" dirty="0"/>
              <a:t>  </a:t>
            </a:r>
            <a:r>
              <a:rPr lang="fr-FR" sz="2000" dirty="0" err="1"/>
              <a:t>embedded</a:t>
            </a:r>
            <a:r>
              <a:rPr lang="fr-FR" sz="2000" dirty="0"/>
              <a:t> Hadoop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B0C714C-6AF4-01EE-17E3-FBF538675D72}"/>
              </a:ext>
            </a:extLst>
          </p:cNvPr>
          <p:cNvSpPr txBox="1"/>
          <p:nvPr/>
        </p:nvSpPr>
        <p:spPr>
          <a:xfrm>
            <a:off x="9138458" y="2808093"/>
            <a:ext cx="173996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User-</a:t>
            </a:r>
            <a:r>
              <a:rPr lang="fr-FR" sz="2000" dirty="0" err="1"/>
              <a:t>defined</a:t>
            </a:r>
            <a:r>
              <a:rPr lang="fr-FR" sz="2000" dirty="0"/>
              <a:t> </a:t>
            </a:r>
          </a:p>
          <a:p>
            <a:r>
              <a:rPr lang="fr-FR" sz="2000" dirty="0"/>
              <a:t>  Hadoop.tar.gz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526FB0A-3D4B-2602-BB2B-8F80795CB45A}"/>
              </a:ext>
            </a:extLst>
          </p:cNvPr>
          <p:cNvCxnSpPr>
            <a:cxnSpLocks/>
          </p:cNvCxnSpPr>
          <p:nvPr/>
        </p:nvCxnSpPr>
        <p:spPr>
          <a:xfrm>
            <a:off x="10376808" y="3496634"/>
            <a:ext cx="593467" cy="16837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2B62231E-3268-90A1-2081-8AA79C4CC653}"/>
              </a:ext>
            </a:extLst>
          </p:cNvPr>
          <p:cNvSpPr txBox="1"/>
          <p:nvPr/>
        </p:nvSpPr>
        <p:spPr>
          <a:xfrm>
            <a:off x="10546609" y="3628368"/>
            <a:ext cx="1694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Windows </a:t>
            </a:r>
            <a:r>
              <a:rPr lang="fr-FR" dirty="0" err="1"/>
              <a:t>error</a:t>
            </a:r>
            <a:r>
              <a:rPr lang="fr-FR" dirty="0"/>
              <a:t>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2F2542-2F39-264E-4B13-731C9865546E}"/>
              </a:ext>
            </a:extLst>
          </p:cNvPr>
          <p:cNvSpPr txBox="1"/>
          <p:nvPr/>
        </p:nvSpPr>
        <p:spPr>
          <a:xfrm>
            <a:off x="5068257" y="3574890"/>
            <a:ext cx="16161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/>
              <a:t>Spark-Shell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FA2F40-7A90-19E9-E2C7-6A4E7F81EF83}"/>
              </a:ext>
            </a:extLst>
          </p:cNvPr>
          <p:cNvSpPr txBox="1"/>
          <p:nvPr/>
        </p:nvSpPr>
        <p:spPr>
          <a:xfrm>
            <a:off x="6773758" y="2684230"/>
            <a:ext cx="1621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Installation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613519-2F67-94A2-6BD5-55F140ACD45B}"/>
              </a:ext>
            </a:extLst>
          </p:cNvPr>
          <p:cNvCxnSpPr/>
          <p:nvPr/>
        </p:nvCxnSpPr>
        <p:spPr>
          <a:xfrm flipV="1">
            <a:off x="6472404" y="3145895"/>
            <a:ext cx="602707" cy="482473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C35939-5AA9-4947-EC47-FA50FD25D2D4}"/>
              </a:ext>
            </a:extLst>
          </p:cNvPr>
          <p:cNvCxnSpPr>
            <a:cxnSpLocks/>
          </p:cNvCxnSpPr>
          <p:nvPr/>
        </p:nvCxnSpPr>
        <p:spPr>
          <a:xfrm flipV="1">
            <a:off x="7787694" y="1826437"/>
            <a:ext cx="98313" cy="82675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911F1C0-FFA3-3B96-F7D1-08362CA82F4B}"/>
              </a:ext>
            </a:extLst>
          </p:cNvPr>
          <p:cNvCxnSpPr>
            <a:cxnSpLocks/>
          </p:cNvCxnSpPr>
          <p:nvPr/>
        </p:nvCxnSpPr>
        <p:spPr>
          <a:xfrm flipV="1">
            <a:off x="8014189" y="2288102"/>
            <a:ext cx="682136" cy="39612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8ECCB1C-87B0-89CE-6DB1-3C5181AA884B}"/>
              </a:ext>
            </a:extLst>
          </p:cNvPr>
          <p:cNvCxnSpPr>
            <a:cxnSpLocks/>
          </p:cNvCxnSpPr>
          <p:nvPr/>
        </p:nvCxnSpPr>
        <p:spPr>
          <a:xfrm>
            <a:off x="8291772" y="2808093"/>
            <a:ext cx="846686" cy="19557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D982F43-7591-1EC9-10CB-4426C1E3CE6A}"/>
              </a:ext>
            </a:extLst>
          </p:cNvPr>
          <p:cNvCxnSpPr>
            <a:cxnSpLocks/>
          </p:cNvCxnSpPr>
          <p:nvPr/>
        </p:nvCxnSpPr>
        <p:spPr>
          <a:xfrm>
            <a:off x="6289964" y="4057363"/>
            <a:ext cx="394441" cy="78064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91CAD3E-6D64-7583-6E12-0573E1974D1A}"/>
              </a:ext>
            </a:extLst>
          </p:cNvPr>
          <p:cNvSpPr txBox="1"/>
          <p:nvPr/>
        </p:nvSpPr>
        <p:spPr>
          <a:xfrm>
            <a:off x="6342795" y="4782588"/>
            <a:ext cx="7323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Repl</a:t>
            </a:r>
            <a:endParaRPr lang="fr-FR" sz="240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96304AF-E92D-5150-A0DF-4F0F4A778C45}"/>
              </a:ext>
            </a:extLst>
          </p:cNvPr>
          <p:cNvCxnSpPr>
            <a:cxnSpLocks/>
          </p:cNvCxnSpPr>
          <p:nvPr/>
        </p:nvCxnSpPr>
        <p:spPr>
          <a:xfrm flipH="1">
            <a:off x="5228697" y="4036555"/>
            <a:ext cx="391708" cy="74603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66B7982-1349-0639-8A56-6B6F333064AA}"/>
              </a:ext>
            </a:extLst>
          </p:cNvPr>
          <p:cNvSpPr txBox="1"/>
          <p:nvPr/>
        </p:nvSpPr>
        <p:spPr>
          <a:xfrm>
            <a:off x="4638501" y="4782589"/>
            <a:ext cx="12801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Scala&gt;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B0657E3-ABAB-93D5-2613-1AB926A02048}"/>
              </a:ext>
            </a:extLst>
          </p:cNvPr>
          <p:cNvCxnSpPr>
            <a:cxnSpLocks/>
          </p:cNvCxnSpPr>
          <p:nvPr/>
        </p:nvCxnSpPr>
        <p:spPr>
          <a:xfrm>
            <a:off x="6804321" y="3829361"/>
            <a:ext cx="732552" cy="5306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D7C21DE-23D7-72AB-55AA-DE248386BAD0}"/>
              </a:ext>
            </a:extLst>
          </p:cNvPr>
          <p:cNvSpPr txBox="1"/>
          <p:nvPr/>
        </p:nvSpPr>
        <p:spPr>
          <a:xfrm>
            <a:off x="7697765" y="3667223"/>
            <a:ext cx="15156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Interactive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91D5413-0917-AC1A-F48E-2F3EF6E60985}"/>
              </a:ext>
            </a:extLst>
          </p:cNvPr>
          <p:cNvCxnSpPr>
            <a:cxnSpLocks/>
          </p:cNvCxnSpPr>
          <p:nvPr/>
        </p:nvCxnSpPr>
        <p:spPr>
          <a:xfrm flipH="1" flipV="1">
            <a:off x="4638501" y="2967286"/>
            <a:ext cx="590196" cy="56630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53F5C4C0-8429-C888-2D52-CF3BECACFCEA}"/>
              </a:ext>
            </a:extLst>
          </p:cNvPr>
          <p:cNvSpPr txBox="1"/>
          <p:nvPr/>
        </p:nvSpPr>
        <p:spPr>
          <a:xfrm>
            <a:off x="3462973" y="2667895"/>
            <a:ext cx="18156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 err="1"/>
              <a:t>DataSet</a:t>
            </a:r>
            <a:endParaRPr lang="fr-FR" sz="2400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51B956F-E86A-D219-E93A-EA3EA87CFFB0}"/>
              </a:ext>
            </a:extLst>
          </p:cNvPr>
          <p:cNvCxnSpPr>
            <a:cxnSpLocks/>
          </p:cNvCxnSpPr>
          <p:nvPr/>
        </p:nvCxnSpPr>
        <p:spPr>
          <a:xfrm flipH="1">
            <a:off x="4123113" y="3843802"/>
            <a:ext cx="825228" cy="28508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6498DDAB-C263-D62B-8031-9BA396AB99C0}"/>
              </a:ext>
            </a:extLst>
          </p:cNvPr>
          <p:cNvSpPr txBox="1"/>
          <p:nvPr/>
        </p:nvSpPr>
        <p:spPr>
          <a:xfrm>
            <a:off x="2461957" y="3829361"/>
            <a:ext cx="21765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 err="1"/>
              <a:t>Functionnal</a:t>
            </a:r>
            <a:r>
              <a:rPr lang="fr-FR" sz="2400" dirty="0"/>
              <a:t> </a:t>
            </a:r>
          </a:p>
          <a:p>
            <a:r>
              <a:rPr lang="fr-FR" sz="2400" dirty="0"/>
              <a:t>Code Style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C7FB39A-6F16-EB31-2DF2-3CAF06D6C7D6}"/>
              </a:ext>
            </a:extLst>
          </p:cNvPr>
          <p:cNvCxnSpPr>
            <a:cxnSpLocks/>
          </p:cNvCxnSpPr>
          <p:nvPr/>
        </p:nvCxnSpPr>
        <p:spPr>
          <a:xfrm>
            <a:off x="8805672" y="4289730"/>
            <a:ext cx="460248" cy="41527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381A2A6-AB2F-C7C4-2CD5-A2AD3121E55D}"/>
              </a:ext>
            </a:extLst>
          </p:cNvPr>
          <p:cNvCxnSpPr>
            <a:cxnSpLocks/>
          </p:cNvCxnSpPr>
          <p:nvPr/>
        </p:nvCxnSpPr>
        <p:spPr>
          <a:xfrm>
            <a:off x="8995030" y="4088242"/>
            <a:ext cx="583308" cy="11353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AB182A6-C080-F2F3-49E5-1BB9CBB024F6}"/>
              </a:ext>
            </a:extLst>
          </p:cNvPr>
          <p:cNvCxnSpPr>
            <a:cxnSpLocks/>
          </p:cNvCxnSpPr>
          <p:nvPr/>
        </p:nvCxnSpPr>
        <p:spPr>
          <a:xfrm>
            <a:off x="7161021" y="5130584"/>
            <a:ext cx="846686" cy="19557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A2C5F38-76B4-F4AC-B795-58A687F28471}"/>
              </a:ext>
            </a:extLst>
          </p:cNvPr>
          <p:cNvCxnSpPr>
            <a:cxnSpLocks/>
          </p:cNvCxnSpPr>
          <p:nvPr/>
        </p:nvCxnSpPr>
        <p:spPr>
          <a:xfrm>
            <a:off x="7048585" y="5217990"/>
            <a:ext cx="569823" cy="46028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5A07CAF-2F65-259E-7395-2B6B1CCB03CD}"/>
              </a:ext>
            </a:extLst>
          </p:cNvPr>
          <p:cNvCxnSpPr>
            <a:cxnSpLocks/>
          </p:cNvCxnSpPr>
          <p:nvPr/>
        </p:nvCxnSpPr>
        <p:spPr>
          <a:xfrm flipH="1">
            <a:off x="4477789" y="5244253"/>
            <a:ext cx="470552" cy="62059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64BFA9-32B4-75B6-9260-F815546FB0CA}"/>
              </a:ext>
            </a:extLst>
          </p:cNvPr>
          <p:cNvCxnSpPr>
            <a:cxnSpLocks/>
          </p:cNvCxnSpPr>
          <p:nvPr/>
        </p:nvCxnSpPr>
        <p:spPr>
          <a:xfrm>
            <a:off x="5139777" y="5228370"/>
            <a:ext cx="177840" cy="69934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C0D3F6C-561B-71BB-9519-D6039B1B001F}"/>
              </a:ext>
            </a:extLst>
          </p:cNvPr>
          <p:cNvCxnSpPr>
            <a:cxnSpLocks/>
          </p:cNvCxnSpPr>
          <p:nvPr/>
        </p:nvCxnSpPr>
        <p:spPr>
          <a:xfrm>
            <a:off x="3550229" y="1938428"/>
            <a:ext cx="177840" cy="69934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D6E21B5-6510-BCB8-F630-5E2AE5B25F29}"/>
              </a:ext>
            </a:extLst>
          </p:cNvPr>
          <p:cNvCxnSpPr>
            <a:cxnSpLocks/>
          </p:cNvCxnSpPr>
          <p:nvPr/>
        </p:nvCxnSpPr>
        <p:spPr>
          <a:xfrm>
            <a:off x="2841094" y="2222565"/>
            <a:ext cx="621879" cy="43062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F5F49F2-BE3A-DFB3-D640-3EBA1FF0E027}"/>
              </a:ext>
            </a:extLst>
          </p:cNvPr>
          <p:cNvCxnSpPr>
            <a:cxnSpLocks/>
          </p:cNvCxnSpPr>
          <p:nvPr/>
        </p:nvCxnSpPr>
        <p:spPr>
          <a:xfrm>
            <a:off x="1792398" y="3609877"/>
            <a:ext cx="621879" cy="43062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A218175-D48E-D649-4517-4482FFF9273A}"/>
              </a:ext>
            </a:extLst>
          </p:cNvPr>
          <p:cNvCxnSpPr>
            <a:cxnSpLocks/>
            <a:endCxn id="29" idx="1"/>
          </p:cNvCxnSpPr>
          <p:nvPr/>
        </p:nvCxnSpPr>
        <p:spPr>
          <a:xfrm flipV="1">
            <a:off x="1631506" y="4244860"/>
            <a:ext cx="830451" cy="32159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E5333A69-F38A-4ADE-3219-C8EBC29A9541}"/>
              </a:ext>
            </a:extLst>
          </p:cNvPr>
          <p:cNvSpPr txBox="1"/>
          <p:nvPr/>
        </p:nvSpPr>
        <p:spPr>
          <a:xfrm>
            <a:off x="9578338" y="4069613"/>
            <a:ext cx="851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History</a:t>
            </a:r>
            <a:endParaRPr lang="fr-FR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B3B6275-07B7-09AC-0025-C1C20C9A2EC5}"/>
              </a:ext>
            </a:extLst>
          </p:cNvPr>
          <p:cNvSpPr txBox="1"/>
          <p:nvPr/>
        </p:nvSpPr>
        <p:spPr>
          <a:xfrm>
            <a:off x="9265920" y="4699885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:help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AD6BE79-4ACE-0B90-FCFB-27EB4B2B99C4}"/>
              </a:ext>
            </a:extLst>
          </p:cNvPr>
          <p:cNvCxnSpPr>
            <a:cxnSpLocks/>
          </p:cNvCxnSpPr>
          <p:nvPr/>
        </p:nvCxnSpPr>
        <p:spPr>
          <a:xfrm>
            <a:off x="8652085" y="4302648"/>
            <a:ext cx="223129" cy="65173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821C2E6-DFBE-F088-7C89-81C94BA667CF}"/>
              </a:ext>
            </a:extLst>
          </p:cNvPr>
          <p:cNvSpPr txBox="1"/>
          <p:nvPr/>
        </p:nvSpPr>
        <p:spPr>
          <a:xfrm>
            <a:off x="8778561" y="4943479"/>
            <a:ext cx="2488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TAB </a:t>
            </a:r>
            <a:r>
              <a:rPr lang="fr-FR" dirty="0" err="1"/>
              <a:t>TAB</a:t>
            </a:r>
            <a:r>
              <a:rPr lang="fr-FR" dirty="0"/>
              <a:t> </a:t>
            </a:r>
            <a:r>
              <a:rPr lang="fr-FR" dirty="0" err="1"/>
              <a:t>autocompletion</a:t>
            </a:r>
            <a:endParaRPr lang="fr-FR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51FDB85-1B5A-3EE8-D86F-1149AB2E4FAE}"/>
              </a:ext>
            </a:extLst>
          </p:cNvPr>
          <p:cNvSpPr txBox="1"/>
          <p:nvPr/>
        </p:nvSpPr>
        <p:spPr>
          <a:xfrm>
            <a:off x="7705799" y="5321259"/>
            <a:ext cx="23169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Line </a:t>
            </a:r>
            <a:r>
              <a:rPr lang="fr-FR" dirty="0" err="1"/>
              <a:t>compiled</a:t>
            </a:r>
            <a:r>
              <a:rPr lang="fr-FR" dirty="0"/>
              <a:t> to scala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3DDCC22-82A8-4FDF-74B3-176ED4191C84}"/>
              </a:ext>
            </a:extLst>
          </p:cNvPr>
          <p:cNvSpPr txBox="1"/>
          <p:nvPr/>
        </p:nvSpPr>
        <p:spPr>
          <a:xfrm>
            <a:off x="7519506" y="5665965"/>
            <a:ext cx="1641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Eval on &lt;enter&gt;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1D10B9-710C-EDCD-4D11-C24CEE171938}"/>
              </a:ext>
            </a:extLst>
          </p:cNvPr>
          <p:cNvSpPr txBox="1"/>
          <p:nvPr/>
        </p:nvSpPr>
        <p:spPr>
          <a:xfrm>
            <a:off x="7111346" y="6030400"/>
            <a:ext cx="3203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Numbered</a:t>
            </a:r>
            <a:r>
              <a:rPr lang="fr-FR" dirty="0"/>
              <a:t> </a:t>
            </a:r>
            <a:r>
              <a:rPr lang="fr-FR" dirty="0" err="1"/>
              <a:t>result</a:t>
            </a:r>
            <a:r>
              <a:rPr lang="fr-FR" dirty="0"/>
              <a:t> « res0,res1,.. »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9B575F2B-ECFA-454E-C802-C112D929913C}"/>
              </a:ext>
            </a:extLst>
          </p:cNvPr>
          <p:cNvCxnSpPr>
            <a:cxnSpLocks/>
          </p:cNvCxnSpPr>
          <p:nvPr/>
        </p:nvCxnSpPr>
        <p:spPr>
          <a:xfrm>
            <a:off x="6954982" y="5223554"/>
            <a:ext cx="400367" cy="704163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EB6CEB13-A9F3-91F3-4310-5990ADF64658}"/>
              </a:ext>
            </a:extLst>
          </p:cNvPr>
          <p:cNvSpPr txBox="1"/>
          <p:nvPr/>
        </p:nvSpPr>
        <p:spPr>
          <a:xfrm>
            <a:off x="4992741" y="5890385"/>
            <a:ext cx="6945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Seq()</a:t>
            </a:r>
          </a:p>
          <a:p>
            <a:r>
              <a:rPr lang="fr-FR" dirty="0"/>
              <a:t>Tuple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DDBF288-3504-A236-A26A-8179F9E3503E}"/>
              </a:ext>
            </a:extLst>
          </p:cNvPr>
          <p:cNvSpPr txBox="1"/>
          <p:nvPr/>
        </p:nvSpPr>
        <p:spPr>
          <a:xfrm>
            <a:off x="4064464" y="5837519"/>
            <a:ext cx="803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val i = </a:t>
            </a:r>
          </a:p>
          <a:p>
            <a:r>
              <a:rPr lang="fr-FR" dirty="0"/>
              <a:t>var i = 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E578F8D-76F5-4C20-E3C1-F9084C686690}"/>
              </a:ext>
            </a:extLst>
          </p:cNvPr>
          <p:cNvSpPr txBox="1"/>
          <p:nvPr/>
        </p:nvSpPr>
        <p:spPr>
          <a:xfrm>
            <a:off x="5743477" y="5846918"/>
            <a:ext cx="9140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On JVM</a:t>
            </a:r>
          </a:p>
          <a:p>
            <a:r>
              <a:rPr lang="fr-FR" dirty="0"/>
              <a:t>~Java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71238D50-2677-3EF0-79A9-23DFCF71EE87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5278581" y="5244254"/>
            <a:ext cx="521890" cy="59326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FE34065-50D4-D426-9939-FE693B01D9C0}"/>
              </a:ext>
            </a:extLst>
          </p:cNvPr>
          <p:cNvSpPr txBox="1"/>
          <p:nvPr/>
        </p:nvSpPr>
        <p:spPr>
          <a:xfrm>
            <a:off x="972351" y="4516423"/>
            <a:ext cx="8867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Seq </a:t>
            </a:r>
          </a:p>
          <a:p>
            <a:r>
              <a:rPr lang="fr-FR" dirty="0"/>
              <a:t>.</a:t>
            </a:r>
            <a:r>
              <a:rPr lang="fr-FR" dirty="0" err="1"/>
              <a:t>map</a:t>
            </a:r>
            <a:endParaRPr lang="fr-FR" dirty="0"/>
          </a:p>
          <a:p>
            <a:r>
              <a:rPr lang="fr-FR" dirty="0"/>
              <a:t>lambda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F011CFE-3617-D8DE-E85B-5251CB84D0D9}"/>
              </a:ext>
            </a:extLst>
          </p:cNvPr>
          <p:cNvSpPr txBox="1"/>
          <p:nvPr/>
        </p:nvSpPr>
        <p:spPr>
          <a:xfrm>
            <a:off x="539556" y="3348927"/>
            <a:ext cx="1207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Immutable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03D8531-BC46-D328-54BB-2F1D9F6D537C}"/>
              </a:ext>
            </a:extLst>
          </p:cNvPr>
          <p:cNvSpPr txBox="1"/>
          <p:nvPr/>
        </p:nvSpPr>
        <p:spPr>
          <a:xfrm>
            <a:off x="43907" y="3740676"/>
            <a:ext cx="13269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avoid</a:t>
            </a:r>
            <a:r>
              <a:rPr lang="fr-FR" dirty="0"/>
              <a:t> </a:t>
            </a:r>
          </a:p>
          <a:p>
            <a:r>
              <a:rPr lang="fr-FR" dirty="0"/>
              <a:t>for () {} </a:t>
            </a:r>
            <a:r>
              <a:rPr lang="fr-FR" dirty="0" err="1"/>
              <a:t>loop</a:t>
            </a:r>
            <a:endParaRPr lang="fr-FR" dirty="0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F6280928-3BA6-B603-8A70-EBB89DFED732}"/>
              </a:ext>
            </a:extLst>
          </p:cNvPr>
          <p:cNvCxnSpPr>
            <a:cxnSpLocks/>
          </p:cNvCxnSpPr>
          <p:nvPr/>
        </p:nvCxnSpPr>
        <p:spPr>
          <a:xfrm>
            <a:off x="1191913" y="4057363"/>
            <a:ext cx="1125946" cy="58081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A59FB4B3-3B7E-5E9F-A38F-69B846B89DAC}"/>
              </a:ext>
            </a:extLst>
          </p:cNvPr>
          <p:cNvSpPr txBox="1"/>
          <p:nvPr/>
        </p:nvSpPr>
        <p:spPr>
          <a:xfrm>
            <a:off x="4209448" y="1342475"/>
            <a:ext cx="2591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DataFrame</a:t>
            </a:r>
            <a:r>
              <a:rPr lang="fr-FR" dirty="0"/>
              <a:t>=</a:t>
            </a:r>
            <a:r>
              <a:rPr lang="fr-FR" dirty="0" err="1"/>
              <a:t>Dataset</a:t>
            </a:r>
            <a:r>
              <a:rPr lang="fr-FR" dirty="0"/>
              <a:t>[Row]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E099FBD-AFA3-0A8B-3E3F-8B0B7B7ABFEB}"/>
              </a:ext>
            </a:extLst>
          </p:cNvPr>
          <p:cNvSpPr txBox="1"/>
          <p:nvPr/>
        </p:nvSpPr>
        <p:spPr>
          <a:xfrm>
            <a:off x="675837" y="1643549"/>
            <a:ext cx="2963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Val </a:t>
            </a:r>
            <a:r>
              <a:rPr lang="fr-FR" dirty="0" err="1"/>
              <a:t>ds</a:t>
            </a:r>
            <a:r>
              <a:rPr lang="fr-FR" dirty="0"/>
              <a:t> = </a:t>
            </a:r>
            <a:r>
              <a:rPr lang="fr-FR" dirty="0" err="1"/>
              <a:t>spark.createDataset</a:t>
            </a:r>
            <a:r>
              <a:rPr lang="fr-FR" dirty="0"/>
              <a:t>()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27F65A7-3D7C-F19A-7802-5263E495CCF5}"/>
              </a:ext>
            </a:extLst>
          </p:cNvPr>
          <p:cNvSpPr txBox="1"/>
          <p:nvPr/>
        </p:nvSpPr>
        <p:spPr>
          <a:xfrm>
            <a:off x="761395" y="2093149"/>
            <a:ext cx="1831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ds.show</a:t>
            </a:r>
            <a:r>
              <a:rPr lang="fr-FR" dirty="0"/>
              <a:t>(10, </a:t>
            </a:r>
            <a:r>
              <a:rPr lang="fr-FR" dirty="0" err="1"/>
              <a:t>true</a:t>
            </a:r>
            <a:r>
              <a:rPr lang="fr-FR" dirty="0"/>
              <a:t>)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BED1B3F-C25F-03C8-170D-B1538FD40FC7}"/>
              </a:ext>
            </a:extLst>
          </p:cNvPr>
          <p:cNvCxnSpPr>
            <a:cxnSpLocks/>
          </p:cNvCxnSpPr>
          <p:nvPr/>
        </p:nvCxnSpPr>
        <p:spPr>
          <a:xfrm>
            <a:off x="2531818" y="2452581"/>
            <a:ext cx="760322" cy="260101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0DA0ECCD-7914-49A0-7155-EAB9DA3021C5}"/>
              </a:ext>
            </a:extLst>
          </p:cNvPr>
          <p:cNvCxnSpPr>
            <a:cxnSpLocks/>
          </p:cNvCxnSpPr>
          <p:nvPr/>
        </p:nvCxnSpPr>
        <p:spPr>
          <a:xfrm>
            <a:off x="3884618" y="1643549"/>
            <a:ext cx="70806" cy="99422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04BC0580-CA6A-ADC2-864D-125AFA66319C}"/>
              </a:ext>
            </a:extLst>
          </p:cNvPr>
          <p:cNvCxnSpPr>
            <a:cxnSpLocks/>
          </p:cNvCxnSpPr>
          <p:nvPr/>
        </p:nvCxnSpPr>
        <p:spPr>
          <a:xfrm flipH="1">
            <a:off x="4083606" y="1725419"/>
            <a:ext cx="752941" cy="91314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2C39174-2852-C23D-9E11-91AC0EEC2627}"/>
              </a:ext>
            </a:extLst>
          </p:cNvPr>
          <p:cNvSpPr txBox="1"/>
          <p:nvPr/>
        </p:nvSpPr>
        <p:spPr>
          <a:xfrm>
            <a:off x="2619473" y="1131376"/>
            <a:ext cx="1687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Transform</a:t>
            </a:r>
            <a:r>
              <a:rPr lang="fr-FR" dirty="0"/>
              <a:t>, </a:t>
            </a:r>
            <a:r>
              <a:rPr lang="fr-FR" dirty="0" err="1"/>
              <a:t>filter</a:t>
            </a:r>
            <a:endParaRPr lang="fr-FR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6B6C158-4CD2-86EA-5356-74EDE82EA6C2}"/>
              </a:ext>
            </a:extLst>
          </p:cNvPr>
          <p:cNvSpPr txBox="1"/>
          <p:nvPr/>
        </p:nvSpPr>
        <p:spPr>
          <a:xfrm>
            <a:off x="9473470" y="4398250"/>
            <a:ext cx="1200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Up / Down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04EFE5FE-E98F-21F7-1BF9-D51B54AE2AF3}"/>
              </a:ext>
            </a:extLst>
          </p:cNvPr>
          <p:cNvCxnSpPr>
            <a:cxnSpLocks/>
          </p:cNvCxnSpPr>
          <p:nvPr/>
        </p:nvCxnSpPr>
        <p:spPr>
          <a:xfrm>
            <a:off x="8980082" y="4188986"/>
            <a:ext cx="354119" cy="22322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A14D8BB4-D195-CDAD-7915-90FBC68F0AF7}"/>
              </a:ext>
            </a:extLst>
          </p:cNvPr>
          <p:cNvCxnSpPr>
            <a:cxnSpLocks/>
          </p:cNvCxnSpPr>
          <p:nvPr/>
        </p:nvCxnSpPr>
        <p:spPr>
          <a:xfrm flipV="1">
            <a:off x="9380739" y="1564422"/>
            <a:ext cx="544336" cy="33051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8A751954-A359-1C90-445E-AD45EA4216B6}"/>
              </a:ext>
            </a:extLst>
          </p:cNvPr>
          <p:cNvSpPr txBox="1"/>
          <p:nvPr/>
        </p:nvSpPr>
        <p:spPr>
          <a:xfrm>
            <a:off x="9660775" y="1196538"/>
            <a:ext cx="1162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Setenv.bat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A24C11B-DED8-5FFE-FAA8-873A6B26B68C}"/>
              </a:ext>
            </a:extLst>
          </p:cNvPr>
          <p:cNvSpPr txBox="1"/>
          <p:nvPr/>
        </p:nvSpPr>
        <p:spPr>
          <a:xfrm>
            <a:off x="9572527" y="274472"/>
            <a:ext cx="18415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Set JAVA_HOME</a:t>
            </a:r>
          </a:p>
          <a:p>
            <a:r>
              <a:rPr lang="fr-FR" dirty="0"/>
              <a:t>Set SPARK_HOME</a:t>
            </a:r>
            <a:br>
              <a:rPr lang="fr-FR" dirty="0"/>
            </a:br>
            <a:r>
              <a:rPr lang="fr-FR" dirty="0"/>
              <a:t>set PATH</a:t>
            </a: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FB6DDA20-45CC-6034-13C8-C697BF259C24}"/>
              </a:ext>
            </a:extLst>
          </p:cNvPr>
          <p:cNvCxnSpPr>
            <a:cxnSpLocks/>
          </p:cNvCxnSpPr>
          <p:nvPr/>
        </p:nvCxnSpPr>
        <p:spPr>
          <a:xfrm flipV="1">
            <a:off x="10073506" y="1060980"/>
            <a:ext cx="168646" cy="24250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DFB5E999-FBF4-BC80-1310-26019D9D56F6}"/>
              </a:ext>
            </a:extLst>
          </p:cNvPr>
          <p:cNvCxnSpPr>
            <a:cxnSpLocks/>
          </p:cNvCxnSpPr>
          <p:nvPr/>
        </p:nvCxnSpPr>
        <p:spPr>
          <a:xfrm>
            <a:off x="7659512" y="1024864"/>
            <a:ext cx="211360" cy="317611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7A242DF0-3205-21D1-00A8-960E59774542}"/>
              </a:ext>
            </a:extLst>
          </p:cNvPr>
          <p:cNvCxnSpPr>
            <a:cxnSpLocks/>
            <a:endCxn id="16" idx="0"/>
          </p:cNvCxnSpPr>
          <p:nvPr/>
        </p:nvCxnSpPr>
        <p:spPr>
          <a:xfrm flipH="1">
            <a:off x="8077334" y="1016759"/>
            <a:ext cx="163240" cy="30950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AC35FD98-360B-FC27-F9A0-E28A41F70C84}"/>
              </a:ext>
            </a:extLst>
          </p:cNvPr>
          <p:cNvSpPr txBox="1"/>
          <p:nvPr/>
        </p:nvSpPr>
        <p:spPr>
          <a:xfrm>
            <a:off x="7293121" y="699541"/>
            <a:ext cx="7210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JVM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BB1C120-FD25-5A63-EA17-7A3D45A06F2C}"/>
              </a:ext>
            </a:extLst>
          </p:cNvPr>
          <p:cNvSpPr txBox="1"/>
          <p:nvPr/>
        </p:nvSpPr>
        <p:spPr>
          <a:xfrm>
            <a:off x="7862024" y="685712"/>
            <a:ext cx="1114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WinUtils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03894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2A244-6A79-197A-C2B1-37D3C77D7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19040"/>
          </a:xfrm>
        </p:spPr>
        <p:txBody>
          <a:bodyPr/>
          <a:lstStyle/>
          <a:p>
            <a:pPr algn="ctr"/>
            <a:r>
              <a:rPr lang="fr-FR" dirty="0" err="1"/>
              <a:t>Reminder</a:t>
            </a:r>
            <a:r>
              <a:rPr lang="fr-FR" dirty="0"/>
              <a:t> Hands-On 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095980-C830-CA01-CE94-427B1E175E2F}"/>
              </a:ext>
            </a:extLst>
          </p:cNvPr>
          <p:cNvSpPr txBox="1"/>
          <p:nvPr/>
        </p:nvSpPr>
        <p:spPr>
          <a:xfrm>
            <a:off x="4710545" y="3369426"/>
            <a:ext cx="22044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/>
              <a:t>Spark File I/O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F1AA49-0539-66AA-A844-93AFBCE008F2}"/>
              </a:ext>
            </a:extLst>
          </p:cNvPr>
          <p:cNvCxnSpPr>
            <a:cxnSpLocks/>
          </p:cNvCxnSpPr>
          <p:nvPr/>
        </p:nvCxnSpPr>
        <p:spPr>
          <a:xfrm flipV="1">
            <a:off x="6874632" y="3007662"/>
            <a:ext cx="747259" cy="28571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A002D4-AAFF-D71F-5531-CE20AED7DDF5}"/>
              </a:ext>
            </a:extLst>
          </p:cNvPr>
          <p:cNvSpPr txBox="1"/>
          <p:nvPr/>
        </p:nvSpPr>
        <p:spPr>
          <a:xfrm>
            <a:off x="7735941" y="2634565"/>
            <a:ext cx="5695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csv</a:t>
            </a:r>
            <a:endParaRPr lang="fr-FR" sz="28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309750B-5038-01F5-D1C3-4FC9AF58FE6E}"/>
              </a:ext>
            </a:extLst>
          </p:cNvPr>
          <p:cNvCxnSpPr>
            <a:cxnSpLocks/>
          </p:cNvCxnSpPr>
          <p:nvPr/>
        </p:nvCxnSpPr>
        <p:spPr>
          <a:xfrm>
            <a:off x="6903314" y="3838053"/>
            <a:ext cx="526473" cy="56110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3241D84-F976-33B2-7E45-84E34839DEA7}"/>
              </a:ext>
            </a:extLst>
          </p:cNvPr>
          <p:cNvSpPr txBox="1"/>
          <p:nvPr/>
        </p:nvSpPr>
        <p:spPr>
          <a:xfrm>
            <a:off x="3834985" y="4549247"/>
            <a:ext cx="11641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Schema</a:t>
            </a:r>
            <a:endParaRPr lang="fr-FR" sz="24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C4CB013-D3C4-1B3D-7532-005EC94F7AC8}"/>
              </a:ext>
            </a:extLst>
          </p:cNvPr>
          <p:cNvCxnSpPr>
            <a:cxnSpLocks/>
          </p:cNvCxnSpPr>
          <p:nvPr/>
        </p:nvCxnSpPr>
        <p:spPr>
          <a:xfrm>
            <a:off x="6209990" y="3924083"/>
            <a:ext cx="248881" cy="81798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D7DA465-AB87-D377-9F0C-ECB627BCEDA3}"/>
              </a:ext>
            </a:extLst>
          </p:cNvPr>
          <p:cNvCxnSpPr>
            <a:cxnSpLocks/>
          </p:cNvCxnSpPr>
          <p:nvPr/>
        </p:nvCxnSpPr>
        <p:spPr>
          <a:xfrm>
            <a:off x="7082444" y="3493808"/>
            <a:ext cx="554468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71BB0-6148-DF61-D5C6-036A2B3B79E5}"/>
              </a:ext>
            </a:extLst>
          </p:cNvPr>
          <p:cNvSpPr txBox="1"/>
          <p:nvPr/>
        </p:nvSpPr>
        <p:spPr>
          <a:xfrm>
            <a:off x="7813619" y="3262975"/>
            <a:ext cx="7024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json</a:t>
            </a:r>
            <a:endParaRPr lang="fr-FR" sz="28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E4370EF-BBDD-96C4-1230-EDB58CF1571C}"/>
              </a:ext>
            </a:extLst>
          </p:cNvPr>
          <p:cNvCxnSpPr>
            <a:cxnSpLocks/>
          </p:cNvCxnSpPr>
          <p:nvPr/>
        </p:nvCxnSpPr>
        <p:spPr>
          <a:xfrm>
            <a:off x="7126778" y="3718251"/>
            <a:ext cx="529403" cy="23552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5F8B61C-5B05-85FD-04EC-BF9DE82FC137}"/>
              </a:ext>
            </a:extLst>
          </p:cNvPr>
          <p:cNvSpPr txBox="1"/>
          <p:nvPr/>
        </p:nvSpPr>
        <p:spPr>
          <a:xfrm>
            <a:off x="7764247" y="3661813"/>
            <a:ext cx="11849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ND-</a:t>
            </a:r>
            <a:r>
              <a:rPr lang="fr-FR" sz="2400" dirty="0" err="1"/>
              <a:t>json</a:t>
            </a:r>
            <a:endParaRPr lang="fr-FR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69FDD4-68BB-DEE3-D2FB-50E9D34AB278}"/>
              </a:ext>
            </a:extLst>
          </p:cNvPr>
          <p:cNvSpPr txBox="1"/>
          <p:nvPr/>
        </p:nvSpPr>
        <p:spPr>
          <a:xfrm>
            <a:off x="7495166" y="4280400"/>
            <a:ext cx="6696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text</a:t>
            </a:r>
            <a:endParaRPr lang="fr-FR" sz="2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92B2CC-C11D-1D3C-7296-56A844F34F38}"/>
              </a:ext>
            </a:extLst>
          </p:cNvPr>
          <p:cNvSpPr txBox="1"/>
          <p:nvPr/>
        </p:nvSpPr>
        <p:spPr>
          <a:xfrm>
            <a:off x="6166684" y="4687352"/>
            <a:ext cx="8723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xml ?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179F2D3-7667-C254-9528-A6268FEC9218}"/>
              </a:ext>
            </a:extLst>
          </p:cNvPr>
          <p:cNvCxnSpPr>
            <a:cxnSpLocks/>
          </p:cNvCxnSpPr>
          <p:nvPr/>
        </p:nvCxnSpPr>
        <p:spPr>
          <a:xfrm flipH="1">
            <a:off x="4649585" y="3851243"/>
            <a:ext cx="648393" cy="698004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B0E57B2-5AE4-DB51-A256-7EFDEC422DF1}"/>
              </a:ext>
            </a:extLst>
          </p:cNvPr>
          <p:cNvCxnSpPr>
            <a:cxnSpLocks/>
          </p:cNvCxnSpPr>
          <p:nvPr/>
        </p:nvCxnSpPr>
        <p:spPr>
          <a:xfrm flipH="1">
            <a:off x="3774576" y="3892645"/>
            <a:ext cx="830078" cy="34262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64957E6-5B42-2F55-039E-C9473C1E8EA5}"/>
              </a:ext>
            </a:extLst>
          </p:cNvPr>
          <p:cNvSpPr txBox="1"/>
          <p:nvPr/>
        </p:nvSpPr>
        <p:spPr>
          <a:xfrm>
            <a:off x="1715550" y="4123478"/>
            <a:ext cx="20424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PostProcessing</a:t>
            </a:r>
            <a:endParaRPr lang="fr-FR" sz="240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FD8C697-198B-4887-EBC3-252B5E5638A1}"/>
              </a:ext>
            </a:extLst>
          </p:cNvPr>
          <p:cNvCxnSpPr>
            <a:cxnSpLocks/>
            <a:endCxn id="24" idx="3"/>
          </p:cNvCxnSpPr>
          <p:nvPr/>
        </p:nvCxnSpPr>
        <p:spPr>
          <a:xfrm flipH="1">
            <a:off x="3193375" y="3469702"/>
            <a:ext cx="1223660" cy="6155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2E99781-3A2A-60AF-DC33-62288C46EFE0}"/>
              </a:ext>
            </a:extLst>
          </p:cNvPr>
          <p:cNvSpPr txBox="1"/>
          <p:nvPr/>
        </p:nvSpPr>
        <p:spPr>
          <a:xfrm>
            <a:off x="3612082" y="1951362"/>
            <a:ext cx="11758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parquet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C7FED86-525D-FDF9-7579-B462FEBDB07D}"/>
              </a:ext>
            </a:extLst>
          </p:cNvPr>
          <p:cNvCxnSpPr>
            <a:cxnSpLocks/>
          </p:cNvCxnSpPr>
          <p:nvPr/>
        </p:nvCxnSpPr>
        <p:spPr>
          <a:xfrm flipH="1" flipV="1">
            <a:off x="4332924" y="2372375"/>
            <a:ext cx="398862" cy="72804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DAD2149-7EA3-1736-4F88-3F1FD7B6A415}"/>
              </a:ext>
            </a:extLst>
          </p:cNvPr>
          <p:cNvSpPr txBox="1"/>
          <p:nvPr/>
        </p:nvSpPr>
        <p:spPr>
          <a:xfrm>
            <a:off x="4604654" y="1651390"/>
            <a:ext cx="13917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partitions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3168E69-0DE9-1708-88B7-D9A5E4136BFF}"/>
              </a:ext>
            </a:extLst>
          </p:cNvPr>
          <p:cNvCxnSpPr>
            <a:cxnSpLocks/>
          </p:cNvCxnSpPr>
          <p:nvPr/>
        </p:nvCxnSpPr>
        <p:spPr>
          <a:xfrm>
            <a:off x="5258798" y="2073120"/>
            <a:ext cx="170580" cy="996334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0995491-7A5B-A3B2-C956-76F3140B1392}"/>
              </a:ext>
            </a:extLst>
          </p:cNvPr>
          <p:cNvSpPr txBox="1"/>
          <p:nvPr/>
        </p:nvSpPr>
        <p:spPr>
          <a:xfrm>
            <a:off x="1820883" y="3115759"/>
            <a:ext cx="13724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Combine </a:t>
            </a:r>
            <a:br>
              <a:rPr lang="fr-FR" sz="2400" dirty="0"/>
            </a:br>
            <a:r>
              <a:rPr lang="fr-FR" sz="2400" dirty="0"/>
              <a:t>Read </a:t>
            </a:r>
            <a:r>
              <a:rPr lang="fr-FR" sz="2400" dirty="0" err="1"/>
              <a:t>dir</a:t>
            </a:r>
            <a:endParaRPr lang="fr-FR" sz="2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879CC9-90AF-A021-537E-AE17F95A32C4}"/>
              </a:ext>
            </a:extLst>
          </p:cNvPr>
          <p:cNvSpPr txBox="1"/>
          <p:nvPr/>
        </p:nvSpPr>
        <p:spPr>
          <a:xfrm>
            <a:off x="2312768" y="2260360"/>
            <a:ext cx="126028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UUID Files</a:t>
            </a:r>
            <a:br>
              <a:rPr lang="fr-FR" sz="2000" dirty="0"/>
            </a:br>
            <a:r>
              <a:rPr lang="fr-FR" sz="2000" dirty="0"/>
              <a:t>Write </a:t>
            </a:r>
            <a:r>
              <a:rPr lang="fr-FR" sz="2000" dirty="0" err="1"/>
              <a:t>Dir</a:t>
            </a:r>
            <a:endParaRPr lang="fr-FR" sz="20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F2A3FD7-18C8-067D-4409-DDCECD0F8349}"/>
              </a:ext>
            </a:extLst>
          </p:cNvPr>
          <p:cNvCxnSpPr>
            <a:cxnSpLocks/>
          </p:cNvCxnSpPr>
          <p:nvPr/>
        </p:nvCxnSpPr>
        <p:spPr>
          <a:xfrm flipH="1" flipV="1">
            <a:off x="3491968" y="2724982"/>
            <a:ext cx="925067" cy="582474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EA50AA6-EB77-5F8A-2C3A-9E31AB36DFDC}"/>
              </a:ext>
            </a:extLst>
          </p:cNvPr>
          <p:cNvCxnSpPr>
            <a:cxnSpLocks/>
          </p:cNvCxnSpPr>
          <p:nvPr/>
        </p:nvCxnSpPr>
        <p:spPr>
          <a:xfrm flipH="1">
            <a:off x="6024456" y="2073120"/>
            <a:ext cx="434415" cy="105625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6E98947-8484-41E4-E873-51DE3E42CAD3}"/>
              </a:ext>
            </a:extLst>
          </p:cNvPr>
          <p:cNvSpPr txBox="1"/>
          <p:nvPr/>
        </p:nvSpPr>
        <p:spPr>
          <a:xfrm>
            <a:off x="5894215" y="1613746"/>
            <a:ext cx="17730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compression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E8DFAE7-0ECE-E452-756A-0987B3C4F761}"/>
              </a:ext>
            </a:extLst>
          </p:cNvPr>
          <p:cNvSpPr txBox="1"/>
          <p:nvPr/>
        </p:nvSpPr>
        <p:spPr>
          <a:xfrm>
            <a:off x="6914995" y="1934894"/>
            <a:ext cx="16433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dictionaries</a:t>
            </a:r>
            <a:endParaRPr lang="fr-FR" sz="24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21734E9-FC5D-08ED-4C90-B652E2DB9165}"/>
              </a:ext>
            </a:extLst>
          </p:cNvPr>
          <p:cNvCxnSpPr>
            <a:cxnSpLocks/>
          </p:cNvCxnSpPr>
          <p:nvPr/>
        </p:nvCxnSpPr>
        <p:spPr>
          <a:xfrm flipH="1">
            <a:off x="6572921" y="2413027"/>
            <a:ext cx="729888" cy="62599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52469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/>
          <a:lstStyle/>
          <a:p>
            <a:pPr algn="ctr"/>
            <a:r>
              <a:rPr lang="fr-FR" dirty="0"/>
              <a:t>Objectives of Hands-On 3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25F4BA30-1BA3-C887-C1BE-71D95A135F0E}"/>
              </a:ext>
            </a:extLst>
          </p:cNvPr>
          <p:cNvSpPr/>
          <p:nvPr/>
        </p:nvSpPr>
        <p:spPr>
          <a:xfrm>
            <a:off x="2051307" y="1536174"/>
            <a:ext cx="1407621" cy="4765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F6B7D5-F2CA-EEEC-5307-43CC4C168EC7}"/>
              </a:ext>
            </a:extLst>
          </p:cNvPr>
          <p:cNvSpPr txBox="1"/>
          <p:nvPr/>
        </p:nvSpPr>
        <p:spPr>
          <a:xfrm>
            <a:off x="3629918" y="1536174"/>
            <a:ext cx="6176756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1/ </a:t>
            </a:r>
            <a:r>
              <a:rPr lang="fr-FR" sz="2400" dirty="0" err="1"/>
              <a:t>CreateTempView</a:t>
            </a:r>
            <a:r>
              <a:rPr lang="fr-FR" sz="2400" dirty="0"/>
              <a:t>,  use </a:t>
            </a:r>
            <a:r>
              <a:rPr lang="fr-FR" sz="2400" dirty="0" err="1"/>
              <a:t>Dataset</a:t>
            </a:r>
            <a:r>
              <a:rPr lang="fr-FR" sz="2400" dirty="0"/>
              <a:t> </a:t>
            </a:r>
            <a:r>
              <a:rPr lang="fr-FR" sz="2400" dirty="0" err="1"/>
              <a:t>from</a:t>
            </a:r>
            <a:r>
              <a:rPr lang="fr-FR" sz="2400" dirty="0"/>
              <a:t> SQL </a:t>
            </a:r>
          </a:p>
          <a:p>
            <a:endParaRPr lang="fr-FR" sz="2400" dirty="0"/>
          </a:p>
          <a:p>
            <a:r>
              <a:rPr lang="fr-FR" sz="2400" dirty="0"/>
              <a:t>2/ Configure </a:t>
            </a:r>
            <a:r>
              <a:rPr lang="fr-FR" sz="2400" dirty="0" err="1"/>
              <a:t>HiveMetastore</a:t>
            </a:r>
            <a:r>
              <a:rPr lang="fr-FR" sz="2400" dirty="0"/>
              <a:t> DB</a:t>
            </a:r>
          </a:p>
          <a:p>
            <a:endParaRPr lang="fr-FR" sz="2400" dirty="0"/>
          </a:p>
          <a:p>
            <a:r>
              <a:rPr lang="fr-FR" sz="2400" dirty="0"/>
              <a:t>3/ </a:t>
            </a:r>
            <a:r>
              <a:rPr lang="fr-FR" sz="2400" dirty="0" err="1"/>
              <a:t>connect</a:t>
            </a:r>
            <a:r>
              <a:rPr lang="fr-FR" sz="2400" dirty="0"/>
              <a:t> Spark </a:t>
            </a:r>
            <a:r>
              <a:rPr lang="fr-FR" sz="2400" dirty="0" err="1"/>
              <a:t>External</a:t>
            </a:r>
            <a:r>
              <a:rPr lang="fr-FR" sz="2400" dirty="0"/>
              <a:t> </a:t>
            </a:r>
            <a:r>
              <a:rPr lang="fr-FR" sz="2400" dirty="0" err="1"/>
              <a:t>Catalog</a:t>
            </a:r>
            <a:r>
              <a:rPr lang="fr-FR" sz="2400" dirty="0"/>
              <a:t>  to </a:t>
            </a:r>
            <a:r>
              <a:rPr lang="fr-FR" sz="2400" dirty="0" err="1"/>
              <a:t>MetaStore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4/ </a:t>
            </a:r>
            <a:r>
              <a:rPr lang="fr-FR" sz="2400" dirty="0" err="1"/>
              <a:t>Create</a:t>
            </a:r>
            <a:r>
              <a:rPr lang="fr-FR" sz="2400" dirty="0"/>
              <a:t> Table</a:t>
            </a:r>
          </a:p>
          <a:p>
            <a:endParaRPr lang="fr-FR" sz="2400" dirty="0"/>
          </a:p>
          <a:p>
            <a:r>
              <a:rPr lang="fr-FR" sz="2400" dirty="0"/>
              <a:t>5/ (Directory) </a:t>
            </a:r>
            <a:r>
              <a:rPr lang="fr-FR" sz="2400" dirty="0" err="1"/>
              <a:t>Partitioned</a:t>
            </a:r>
            <a:r>
              <a:rPr lang="fr-FR" sz="2400" dirty="0"/>
              <a:t> Table</a:t>
            </a:r>
          </a:p>
        </p:txBody>
      </p:sp>
    </p:spTree>
    <p:extLst>
      <p:ext uri="{BB962C8B-B14F-4D97-AF65-F5344CB8AC3E}">
        <p14:creationId xmlns:p14="http://schemas.microsoft.com/office/powerpoint/2010/main" val="294229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7ECDD7-FCD6-4AC8-83A4-6E4A5A23E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005840"/>
          </a:xfrm>
        </p:spPr>
        <p:txBody>
          <a:bodyPr/>
          <a:lstStyle/>
          <a:p>
            <a:r>
              <a:rPr lang="fr-FR" dirty="0"/>
              <a:t>PRE-REQUISITES : </a:t>
            </a:r>
            <a:r>
              <a:rPr lang="fr-FR" dirty="0" err="1"/>
              <a:t>Redo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previous</a:t>
            </a:r>
            <a:r>
              <a:rPr lang="fr-FR" dirty="0"/>
              <a:t> TD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ADD2A95-EAF8-45A3-A3C4-6979FC102157}"/>
              </a:ext>
            </a:extLst>
          </p:cNvPr>
          <p:cNvSpPr txBox="1"/>
          <p:nvPr/>
        </p:nvSpPr>
        <p:spPr>
          <a:xfrm>
            <a:off x="1503680" y="1452880"/>
            <a:ext cx="1019048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val </a:t>
            </a:r>
            <a:r>
              <a:rPr lang="fr-FR" dirty="0" err="1"/>
              <a:t>df</a:t>
            </a:r>
            <a:r>
              <a:rPr lang="fr-FR" dirty="0"/>
              <a:t> = </a:t>
            </a:r>
            <a:r>
              <a:rPr lang="fr-FR" dirty="0" err="1"/>
              <a:t>spark.read.option</a:t>
            </a:r>
            <a:r>
              <a:rPr lang="fr-FR" dirty="0"/>
              <a:t>("header", "</a:t>
            </a:r>
            <a:r>
              <a:rPr lang="fr-FR" dirty="0" err="1"/>
              <a:t>true</a:t>
            </a:r>
            <a:r>
              <a:rPr lang="fr-FR" dirty="0"/>
              <a:t>").option("</a:t>
            </a:r>
            <a:r>
              <a:rPr lang="fr-FR" dirty="0" err="1"/>
              <a:t>delimiter</a:t>
            </a:r>
            <a:r>
              <a:rPr lang="fr-FR" dirty="0"/>
              <a:t>", ";").</a:t>
            </a:r>
          </a:p>
          <a:p>
            <a:r>
              <a:rPr lang="fr-FR" dirty="0"/>
              <a:t>	option("</a:t>
            </a:r>
            <a:r>
              <a:rPr lang="fr-FR" dirty="0" err="1"/>
              <a:t>dateFormat</a:t>
            </a:r>
            <a:r>
              <a:rPr lang="fr-FR" dirty="0"/>
              <a:t>", "</a:t>
            </a:r>
            <a:r>
              <a:rPr lang="fr-FR" dirty="0" err="1"/>
              <a:t>yyyy</a:t>
            </a:r>
            <a:r>
              <a:rPr lang="fr-FR" dirty="0"/>
              <a:t>/MM/dd").</a:t>
            </a:r>
          </a:p>
          <a:p>
            <a:r>
              <a:rPr lang="fr-FR" dirty="0"/>
              <a:t>	</a:t>
            </a:r>
            <a:r>
              <a:rPr lang="fr-FR" dirty="0" err="1"/>
              <a:t>schema</a:t>
            </a:r>
            <a:r>
              <a:rPr lang="fr-FR" dirty="0"/>
              <a:t>("""</a:t>
            </a:r>
          </a:p>
          <a:p>
            <a:r>
              <a:rPr lang="fr-FR" dirty="0"/>
              <a:t>  </a:t>
            </a:r>
            <a:r>
              <a:rPr lang="fr-FR" dirty="0" err="1"/>
              <a:t>uid_adresse</a:t>
            </a:r>
            <a:r>
              <a:rPr lang="fr-FR" dirty="0"/>
              <a:t> STRING,  </a:t>
            </a:r>
            <a:r>
              <a:rPr lang="fr-FR" dirty="0" err="1"/>
              <a:t>cle_interop</a:t>
            </a:r>
            <a:r>
              <a:rPr lang="fr-FR" dirty="0"/>
              <a:t> STRING,</a:t>
            </a:r>
          </a:p>
          <a:p>
            <a:r>
              <a:rPr lang="fr-FR" dirty="0"/>
              <a:t>  </a:t>
            </a:r>
            <a:r>
              <a:rPr lang="fr-FR" dirty="0" err="1"/>
              <a:t>commune_insee</a:t>
            </a:r>
            <a:r>
              <a:rPr lang="fr-FR" dirty="0"/>
              <a:t> STRING,  </a:t>
            </a:r>
            <a:r>
              <a:rPr lang="fr-FR" dirty="0" err="1"/>
              <a:t>commune_nom</a:t>
            </a:r>
            <a:r>
              <a:rPr lang="fr-FR" dirty="0"/>
              <a:t> STRING,</a:t>
            </a:r>
          </a:p>
          <a:p>
            <a:r>
              <a:rPr lang="fr-FR" dirty="0"/>
              <a:t>  </a:t>
            </a:r>
            <a:r>
              <a:rPr lang="fr-FR" dirty="0" err="1"/>
              <a:t>commune_deleguee_insee</a:t>
            </a:r>
            <a:r>
              <a:rPr lang="fr-FR" dirty="0"/>
              <a:t> INT,  </a:t>
            </a:r>
            <a:r>
              <a:rPr lang="fr-FR" dirty="0" err="1"/>
              <a:t>commune_deleguee_nom</a:t>
            </a:r>
            <a:r>
              <a:rPr lang="fr-FR" dirty="0"/>
              <a:t> STRING,</a:t>
            </a:r>
          </a:p>
          <a:p>
            <a:r>
              <a:rPr lang="fr-FR" dirty="0"/>
              <a:t>  </a:t>
            </a:r>
            <a:r>
              <a:rPr lang="fr-FR" dirty="0" err="1"/>
              <a:t>voie_nom</a:t>
            </a:r>
            <a:r>
              <a:rPr lang="fr-FR" dirty="0"/>
              <a:t> STRING,  </a:t>
            </a:r>
            <a:r>
              <a:rPr lang="fr-FR" dirty="0" err="1"/>
              <a:t>lieudit_complement_nom</a:t>
            </a:r>
            <a:r>
              <a:rPr lang="fr-FR" dirty="0"/>
              <a:t> STRING,  </a:t>
            </a:r>
            <a:r>
              <a:rPr lang="fr-FR" dirty="0" err="1"/>
              <a:t>numero</a:t>
            </a:r>
            <a:r>
              <a:rPr lang="fr-FR" dirty="0"/>
              <a:t> INT,  suffixe STRING,</a:t>
            </a:r>
          </a:p>
          <a:p>
            <a:r>
              <a:rPr lang="fr-FR" dirty="0"/>
              <a:t>  position STRING,  x STRING,  y DOUBLE,  long DOUBLE,  </a:t>
            </a:r>
            <a:r>
              <a:rPr lang="fr-FR" dirty="0" err="1"/>
              <a:t>lat</a:t>
            </a:r>
            <a:r>
              <a:rPr lang="fr-FR" dirty="0"/>
              <a:t> DOUBLE,  </a:t>
            </a:r>
            <a:r>
              <a:rPr lang="fr-FR" dirty="0" err="1"/>
              <a:t>cad_parcelles</a:t>
            </a:r>
            <a:r>
              <a:rPr lang="fr-FR" dirty="0"/>
              <a:t> STRING, </a:t>
            </a:r>
          </a:p>
          <a:p>
            <a:r>
              <a:rPr lang="fr-FR" dirty="0"/>
              <a:t>  source STRING,  </a:t>
            </a:r>
            <a:r>
              <a:rPr lang="fr-FR" dirty="0" err="1"/>
              <a:t>date_der_maj</a:t>
            </a:r>
            <a:r>
              <a:rPr lang="fr-FR" dirty="0"/>
              <a:t> TIMESTAMP,  </a:t>
            </a:r>
            <a:r>
              <a:rPr lang="fr-FR" dirty="0" err="1"/>
              <a:t>certification_commune</a:t>
            </a:r>
            <a:r>
              <a:rPr lang="fr-FR" dirty="0"/>
              <a:t> INT</a:t>
            </a:r>
          </a:p>
          <a:p>
            <a:r>
              <a:rPr lang="fr-FR" dirty="0"/>
              <a:t>""").</a:t>
            </a:r>
          </a:p>
          <a:p>
            <a:r>
              <a:rPr lang="fr-FR" dirty="0"/>
              <a:t>csv("C:/data/OpenData-gouv.fr/bal-csv-all").</a:t>
            </a:r>
            <a:br>
              <a:rPr lang="fr-FR" dirty="0"/>
            </a:br>
            <a:r>
              <a:rPr lang="fr-FR" dirty="0"/>
              <a:t>drop("x", "y", "</a:t>
            </a:r>
            <a:r>
              <a:rPr lang="fr-FR" dirty="0" err="1"/>
              <a:t>date_der_maj</a:t>
            </a:r>
            <a:r>
              <a:rPr lang="fr-FR" dirty="0"/>
              <a:t>") // </a:t>
            </a:r>
            <a:r>
              <a:rPr lang="fr-FR" dirty="0">
                <a:sym typeface="Wingdings" panose="05000000000000000000" pitchFamily="2" charset="2"/>
              </a:rPr>
              <a:t>  drop big &amp; </a:t>
            </a:r>
            <a:r>
              <a:rPr lang="fr-FR" dirty="0" err="1">
                <a:sym typeface="Wingdings" panose="05000000000000000000" pitchFamily="2" charset="2"/>
              </a:rPr>
              <a:t>redundant</a:t>
            </a:r>
            <a:r>
              <a:rPr lang="fr-FR" dirty="0">
                <a:sym typeface="Wingdings" panose="05000000000000000000" pitchFamily="2" charset="2"/>
              </a:rPr>
              <a:t> </a:t>
            </a:r>
            <a:r>
              <a:rPr lang="fr-FR" dirty="0" err="1">
                <a:sym typeface="Wingdings" panose="05000000000000000000" pitchFamily="2" charset="2"/>
              </a:rPr>
              <a:t>columns</a:t>
            </a:r>
            <a:r>
              <a:rPr lang="fr-FR" dirty="0">
                <a:sym typeface="Wingdings" panose="05000000000000000000" pitchFamily="2" charset="2"/>
              </a:rPr>
              <a:t> </a:t>
            </a:r>
            <a:r>
              <a:rPr lang="fr-FR" dirty="0" err="1">
                <a:sym typeface="Wingdings" panose="05000000000000000000" pitchFamily="2" charset="2"/>
              </a:rPr>
              <a:t>x,y</a:t>
            </a:r>
            <a:r>
              <a:rPr lang="fr-FR" dirty="0">
                <a:sym typeface="Wingdings" panose="05000000000000000000" pitchFamily="2" charset="2"/>
              </a:rPr>
              <a:t> (</a:t>
            </a:r>
            <a:r>
              <a:rPr lang="fr-FR" dirty="0" err="1">
                <a:sym typeface="Wingdings" panose="05000000000000000000" pitchFamily="2" charset="2"/>
              </a:rPr>
              <a:t>cf</a:t>
            </a:r>
            <a:r>
              <a:rPr lang="fr-FR" dirty="0">
                <a:sym typeface="Wingdings" panose="05000000000000000000" pitchFamily="2" charset="2"/>
              </a:rPr>
              <a:t> </a:t>
            </a:r>
            <a:r>
              <a:rPr lang="fr-FR" dirty="0" err="1">
                <a:sym typeface="Wingdings" panose="05000000000000000000" pitchFamily="2" charset="2"/>
              </a:rPr>
              <a:t>longitude,latitude</a:t>
            </a:r>
            <a:r>
              <a:rPr lang="fr-FR" dirty="0">
                <a:sym typeface="Wingdings" panose="05000000000000000000" pitchFamily="2" charset="2"/>
              </a:rPr>
              <a:t>),  </a:t>
            </a:r>
            <a:r>
              <a:rPr lang="fr-FR" dirty="0" err="1">
                <a:sym typeface="Wingdings" panose="05000000000000000000" pitchFamily="2" charset="2"/>
              </a:rPr>
              <a:t>invalid</a:t>
            </a:r>
            <a:r>
              <a:rPr lang="fr-FR" dirty="0">
                <a:sym typeface="Wingdings" panose="05000000000000000000" pitchFamily="2" charset="2"/>
              </a:rPr>
              <a:t> dates</a:t>
            </a:r>
            <a:endParaRPr lang="fr-FR" dirty="0"/>
          </a:p>
          <a:p>
            <a:pPr rtl="0"/>
            <a:endParaRPr lang="fr-FR" dirty="0"/>
          </a:p>
          <a:p>
            <a:pPr rtl="0"/>
            <a:br>
              <a:rPr lang="fr-FR" dirty="0"/>
            </a:br>
            <a:r>
              <a:rPr lang="fr-FR" dirty="0" err="1">
                <a:effectLst/>
              </a:rPr>
              <a:t>df.repartition</a:t>
            </a:r>
            <a:r>
              <a:rPr lang="fr-FR" dirty="0">
                <a:effectLst/>
              </a:rPr>
              <a:t>(3).</a:t>
            </a:r>
            <a:br>
              <a:rPr lang="fr-FR" dirty="0">
                <a:effectLst/>
              </a:rPr>
            </a:br>
            <a:r>
              <a:rPr lang="fr-FR" dirty="0">
                <a:effectLst/>
              </a:rPr>
              <a:t>  </a:t>
            </a:r>
            <a:r>
              <a:rPr lang="fr-FR" dirty="0" err="1">
                <a:effectLst/>
              </a:rPr>
              <a:t>sortWithinPartitions</a:t>
            </a:r>
            <a:r>
              <a:rPr lang="fr-FR" dirty="0">
                <a:effectLst/>
              </a:rPr>
              <a:t>("</a:t>
            </a:r>
            <a:r>
              <a:rPr lang="fr-FR" dirty="0" err="1">
                <a:effectLst/>
              </a:rPr>
              <a:t>commune_insee</a:t>
            </a:r>
            <a:r>
              <a:rPr lang="fr-FR" dirty="0">
                <a:effectLst/>
              </a:rPr>
              <a:t>", "</a:t>
            </a:r>
            <a:r>
              <a:rPr lang="fr-FR" dirty="0" err="1">
                <a:effectLst/>
              </a:rPr>
              <a:t>voie_nom</a:t>
            </a:r>
            <a:r>
              <a:rPr lang="fr-FR" dirty="0">
                <a:effectLst/>
              </a:rPr>
              <a:t>", "</a:t>
            </a:r>
            <a:r>
              <a:rPr lang="fr-FR" dirty="0" err="1">
                <a:effectLst/>
              </a:rPr>
              <a:t>numero</a:t>
            </a:r>
            <a:r>
              <a:rPr lang="fr-FR" dirty="0">
                <a:effectLst/>
              </a:rPr>
              <a:t>",  "'suffixe", "position").</a:t>
            </a:r>
          </a:p>
          <a:p>
            <a:pPr rtl="0"/>
            <a:r>
              <a:rPr lang="fr-FR" dirty="0"/>
              <a:t>  </a:t>
            </a:r>
            <a:r>
              <a:rPr lang="fr-FR" dirty="0" err="1">
                <a:effectLst/>
              </a:rPr>
              <a:t>write.format</a:t>
            </a:r>
            <a:r>
              <a:rPr lang="fr-FR" dirty="0">
                <a:effectLst/>
              </a:rPr>
              <a:t>("parquet").</a:t>
            </a:r>
            <a:r>
              <a:rPr lang="fr-FR" dirty="0" err="1">
                <a:effectLst/>
              </a:rPr>
              <a:t>save</a:t>
            </a:r>
            <a:r>
              <a:rPr lang="fr-FR" dirty="0">
                <a:effectLst/>
              </a:rPr>
              <a:t>("c:/data/</a:t>
            </a:r>
            <a:r>
              <a:rPr lang="fr-FR" dirty="0"/>
              <a:t>OpenData-gouv.fr/</a:t>
            </a:r>
            <a:r>
              <a:rPr lang="fr-FR" dirty="0">
                <a:effectLst/>
              </a:rPr>
              <a:t>bal-parquet")</a:t>
            </a:r>
            <a:br>
              <a:rPr lang="fr-FR" dirty="0">
                <a:effectLst/>
              </a:rPr>
            </a:b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003981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CE0EE5-C75D-43D7-992E-319B975DE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REMINDER..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EDC8F38-28A4-41AE-A0B0-1986C77BDEBF}"/>
              </a:ext>
            </a:extLst>
          </p:cNvPr>
          <p:cNvSpPr txBox="1"/>
          <p:nvPr/>
        </p:nvSpPr>
        <p:spPr>
          <a:xfrm>
            <a:off x="693655" y="2108200"/>
            <a:ext cx="10804689" cy="34470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Columns</a:t>
            </a:r>
            <a:r>
              <a:rPr lang="fr-FR" sz="2000" dirty="0"/>
              <a:t> « x », « y »   are big &amp; </a:t>
            </a:r>
            <a:r>
              <a:rPr lang="fr-FR" sz="2000" dirty="0" err="1"/>
              <a:t>redundant</a:t>
            </a:r>
            <a:r>
              <a:rPr lang="fr-FR" sz="2000" dirty="0"/>
              <a:t> </a:t>
            </a:r>
            <a:r>
              <a:rPr lang="fr-FR" sz="2000" dirty="0" err="1"/>
              <a:t>with</a:t>
            </a:r>
            <a:r>
              <a:rPr lang="fr-FR" sz="2000" dirty="0"/>
              <a:t> « longitude », « latitude »    (french </a:t>
            </a:r>
            <a:r>
              <a:rPr lang="fr-FR" sz="2000" dirty="0" err="1"/>
              <a:t>coordinate</a:t>
            </a:r>
            <a:r>
              <a:rPr lang="fr-FR" sz="2000" dirty="0"/>
              <a:t> system)</a:t>
            </a:r>
          </a:p>
          <a:p>
            <a:endParaRPr lang="fr-FR" sz="2000" dirty="0"/>
          </a:p>
          <a:p>
            <a:r>
              <a:rPr lang="fr-FR" sz="2000" dirty="0" err="1"/>
              <a:t>Columns</a:t>
            </a:r>
            <a:r>
              <a:rPr lang="fr-FR" sz="2000" dirty="0"/>
              <a:t> « </a:t>
            </a:r>
            <a:r>
              <a:rPr lang="fr-FR" sz="2000" dirty="0" err="1"/>
              <a:t>date_der_maj</a:t>
            </a:r>
            <a:r>
              <a:rPr lang="fr-FR" sz="2000" dirty="0"/>
              <a:t> »  </a:t>
            </a:r>
            <a:r>
              <a:rPr lang="fr-FR" sz="2000" dirty="0" err="1"/>
              <a:t>contained</a:t>
            </a:r>
            <a:r>
              <a:rPr lang="fr-FR" sz="2000" dirty="0"/>
              <a:t> </a:t>
            </a:r>
            <a:r>
              <a:rPr lang="fr-FR" sz="2000" dirty="0" err="1"/>
              <a:t>some</a:t>
            </a:r>
            <a:r>
              <a:rPr lang="fr-FR" sz="2000" dirty="0"/>
              <a:t> </a:t>
            </a:r>
            <a:r>
              <a:rPr lang="fr-FR" sz="2000" dirty="0" err="1"/>
              <a:t>invalid</a:t>
            </a:r>
            <a:r>
              <a:rPr lang="fr-FR" sz="2000" dirty="0"/>
              <a:t> dates … </a:t>
            </a:r>
            <a:r>
              <a:rPr lang="fr-FR" sz="2000" dirty="0" err="1"/>
              <a:t>some</a:t>
            </a:r>
            <a:r>
              <a:rPr lang="fr-FR" sz="2000" dirty="0"/>
              <a:t> </a:t>
            </a:r>
            <a:r>
              <a:rPr lang="fr-FR" sz="2000" dirty="0" err="1"/>
              <a:t>with</a:t>
            </a:r>
            <a:r>
              <a:rPr lang="fr-FR" sz="2000" dirty="0"/>
              <a:t> 1111-01-01</a:t>
            </a:r>
            <a:br>
              <a:rPr lang="fr-FR" sz="2000" dirty="0"/>
            </a:br>
            <a:r>
              <a:rPr lang="fr-FR" sz="2000" dirty="0"/>
              <a:t>   (</a:t>
            </a:r>
            <a:r>
              <a:rPr lang="fr-FR" sz="2000" dirty="0" err="1"/>
              <a:t>before</a:t>
            </a:r>
            <a:r>
              <a:rPr lang="fr-FR" sz="2000" dirty="0"/>
              <a:t> </a:t>
            </a:r>
            <a:r>
              <a:rPr lang="fr-FR" sz="2000" dirty="0" err="1"/>
              <a:t>year</a:t>
            </a:r>
            <a:r>
              <a:rPr lang="fr-FR" sz="2000" dirty="0"/>
              <a:t> 1534, </a:t>
            </a:r>
            <a:r>
              <a:rPr lang="fr-FR" sz="2000" dirty="0" err="1"/>
              <a:t>so</a:t>
            </a:r>
            <a:r>
              <a:rPr lang="fr-FR" sz="2000" dirty="0"/>
              <a:t> </a:t>
            </a:r>
            <a:r>
              <a:rPr lang="fr-FR" sz="2000" dirty="0" err="1"/>
              <a:t>invalid</a:t>
            </a:r>
            <a:r>
              <a:rPr lang="fr-FR" sz="2000" dirty="0"/>
              <a:t> in </a:t>
            </a:r>
            <a:r>
              <a:rPr lang="fr-FR" sz="2000" dirty="0" err="1"/>
              <a:t>GregorianCalendar</a:t>
            </a:r>
            <a:r>
              <a:rPr lang="fr-FR" sz="2000" dirty="0"/>
              <a:t> system)</a:t>
            </a:r>
          </a:p>
          <a:p>
            <a:endParaRPr lang="fr-FR" sz="2000" dirty="0"/>
          </a:p>
          <a:p>
            <a:r>
              <a:rPr lang="fr-FR" sz="2000" dirty="0" err="1"/>
              <a:t>Therefore</a:t>
            </a:r>
            <a:r>
              <a:rPr lang="fr-FR" sz="2000" dirty="0"/>
              <a:t>,  </a:t>
            </a:r>
            <a:r>
              <a:rPr lang="fr-FR" sz="2000" dirty="0" err="1"/>
              <a:t>using</a:t>
            </a:r>
            <a:r>
              <a:rPr lang="fr-FR" sz="2000" dirty="0"/>
              <a:t> « . drop("x", "y", "</a:t>
            </a:r>
            <a:r>
              <a:rPr lang="fr-FR" sz="2000" dirty="0" err="1"/>
              <a:t>date_der_maj</a:t>
            </a:r>
            <a:r>
              <a:rPr lang="fr-FR" sz="2000" dirty="0"/>
              <a:t>") »</a:t>
            </a:r>
          </a:p>
          <a:p>
            <a:endParaRPr lang="fr-FR" sz="2000" dirty="0"/>
          </a:p>
          <a:p>
            <a:endParaRPr lang="fr-FR" sz="2000" dirty="0"/>
          </a:p>
          <a:p>
            <a:r>
              <a:rPr lang="fr-FR" sz="2000" dirty="0" err="1"/>
              <a:t>Saving</a:t>
            </a:r>
            <a:r>
              <a:rPr lang="fr-FR" sz="2000" dirty="0"/>
              <a:t> </a:t>
            </a:r>
            <a:r>
              <a:rPr lang="fr-FR" sz="2000" dirty="0" err="1"/>
              <a:t>with</a:t>
            </a:r>
            <a:r>
              <a:rPr lang="fr-FR" sz="2000" dirty="0"/>
              <a:t> </a:t>
            </a:r>
            <a:r>
              <a:rPr lang="fr-FR" sz="2000" dirty="0" err="1"/>
              <a:t>both</a:t>
            </a:r>
            <a:r>
              <a:rPr lang="fr-FR" sz="2000" dirty="0"/>
              <a:t> « .</a:t>
            </a:r>
            <a:r>
              <a:rPr lang="fr-FR" sz="2000" dirty="0" err="1"/>
              <a:t>repartition</a:t>
            </a:r>
            <a:r>
              <a:rPr lang="fr-FR" sz="2000" dirty="0"/>
              <a:t>() » and « .</a:t>
            </a:r>
            <a:r>
              <a:rPr lang="fr-FR" sz="2000" dirty="0" err="1"/>
              <a:t>sortWithinPartitions</a:t>
            </a:r>
            <a:r>
              <a:rPr lang="fr-FR" sz="2000" dirty="0"/>
              <a:t>() » </a:t>
            </a:r>
            <a:r>
              <a:rPr lang="fr-FR" sz="2000" dirty="0" err="1"/>
              <a:t>produces</a:t>
            </a:r>
            <a:r>
              <a:rPr lang="fr-FR" sz="2000" dirty="0"/>
              <a:t> </a:t>
            </a:r>
            <a:r>
              <a:rPr lang="fr-FR" sz="2000" dirty="0" err="1"/>
              <a:t>better</a:t>
            </a:r>
            <a:r>
              <a:rPr lang="fr-FR" sz="2000" dirty="0"/>
              <a:t> </a:t>
            </a:r>
            <a:r>
              <a:rPr lang="fr-FR" sz="2000" dirty="0" err="1"/>
              <a:t>quality</a:t>
            </a:r>
            <a:r>
              <a:rPr lang="fr-FR" sz="2000" dirty="0"/>
              <a:t> parquet files</a:t>
            </a:r>
          </a:p>
          <a:p>
            <a:r>
              <a:rPr lang="fr-FR" sz="2000" dirty="0"/>
              <a:t>  (</a:t>
            </a:r>
            <a:r>
              <a:rPr lang="fr-FR" sz="2000" dirty="0" err="1"/>
              <a:t>same</a:t>
            </a:r>
            <a:r>
              <a:rPr lang="fr-FR" sz="2000" dirty="0"/>
              <a:t> data, but </a:t>
            </a:r>
            <a:r>
              <a:rPr lang="fr-FR" sz="2000" dirty="0" err="1"/>
              <a:t>better</a:t>
            </a:r>
            <a:r>
              <a:rPr lang="fr-FR" sz="2000" dirty="0"/>
              <a:t> </a:t>
            </a:r>
            <a:r>
              <a:rPr lang="fr-FR" sz="2000" dirty="0" err="1"/>
              <a:t>organized</a:t>
            </a:r>
            <a:r>
              <a:rPr lang="fr-FR" sz="2000" dirty="0"/>
              <a:t>, </a:t>
            </a:r>
            <a:r>
              <a:rPr lang="fr-FR" sz="2000" dirty="0" err="1"/>
              <a:t>so</a:t>
            </a:r>
            <a:r>
              <a:rPr lang="fr-FR" sz="2000" dirty="0"/>
              <a:t> </a:t>
            </a:r>
            <a:r>
              <a:rPr lang="fr-FR" sz="2000" dirty="0" err="1"/>
              <a:t>better</a:t>
            </a:r>
            <a:r>
              <a:rPr lang="fr-FR" sz="2000" dirty="0"/>
              <a:t> </a:t>
            </a:r>
            <a:r>
              <a:rPr lang="fr-FR" sz="2000" dirty="0" err="1"/>
              <a:t>compressed</a:t>
            </a:r>
            <a:r>
              <a:rPr lang="fr-FR" sz="2000" dirty="0"/>
              <a:t> and </a:t>
            </a:r>
            <a:r>
              <a:rPr lang="fr-FR" sz="2000" dirty="0" err="1"/>
              <a:t>with</a:t>
            </a:r>
            <a:r>
              <a:rPr lang="fr-FR" sz="2000" dirty="0"/>
              <a:t> </a:t>
            </a:r>
            <a:r>
              <a:rPr lang="fr-FR" sz="2000" dirty="0" err="1"/>
              <a:t>better</a:t>
            </a:r>
            <a:r>
              <a:rPr lang="fr-FR" sz="2000" dirty="0"/>
              <a:t> blocks </a:t>
            </a:r>
            <a:r>
              <a:rPr lang="fr-FR" sz="2000" dirty="0" err="1"/>
              <a:t>statistics</a:t>
            </a:r>
            <a:r>
              <a:rPr lang="fr-FR" sz="2000" dirty="0"/>
              <a:t>)</a:t>
            </a:r>
          </a:p>
          <a:p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10277528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2BF49-BA8C-A58F-208B-6BBB2CA50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591"/>
            <a:ext cx="10515600" cy="1892490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ERROR on </a:t>
            </a:r>
            <a:r>
              <a:rPr lang="fr-FR" dirty="0" err="1"/>
              <a:t>column</a:t>
            </a:r>
            <a:r>
              <a:rPr lang="fr-FR" dirty="0"/>
              <a:t> "</a:t>
            </a:r>
            <a:r>
              <a:rPr lang="fr-FR" dirty="0" err="1"/>
              <a:t>date_der_maj</a:t>
            </a:r>
            <a:r>
              <a:rPr lang="fr-FR" dirty="0"/>
              <a:t>"</a:t>
            </a:r>
            <a:br>
              <a:rPr lang="fr-FR" dirty="0"/>
            </a:br>
            <a:r>
              <a:rPr lang="fr-FR" dirty="0"/>
              <a:t>("date dernière mise à jour", </a:t>
            </a:r>
            <a:br>
              <a:rPr lang="fr-FR" dirty="0"/>
            </a:br>
            <a:r>
              <a:rPr lang="fr-FR" dirty="0"/>
              <a:t>in </a:t>
            </a:r>
            <a:r>
              <a:rPr lang="fr-FR" dirty="0" err="1"/>
              <a:t>english</a:t>
            </a:r>
            <a:r>
              <a:rPr lang="fr-FR" dirty="0"/>
              <a:t>: last update date)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4E27E4-B744-8137-D24D-FA8EE68BF7EC}"/>
              </a:ext>
            </a:extLst>
          </p:cNvPr>
          <p:cNvSpPr txBox="1"/>
          <p:nvPr/>
        </p:nvSpPr>
        <p:spPr>
          <a:xfrm>
            <a:off x="166611" y="2238632"/>
            <a:ext cx="13267093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Caused</a:t>
            </a:r>
            <a:r>
              <a:rPr lang="fr-FR" dirty="0"/>
              <a:t> by: </a:t>
            </a:r>
            <a:r>
              <a:rPr lang="fr-FR" dirty="0" err="1"/>
              <a:t>org.apache.spark.SparkUpgradeException</a:t>
            </a:r>
            <a:r>
              <a:rPr lang="fr-FR" dirty="0"/>
              <a:t>: [INCONSISTENT_BEHAVIOR_CROSS_VERSION.WRITE_ANCIENT_DATETIME] </a:t>
            </a:r>
          </a:p>
          <a:p>
            <a:r>
              <a:rPr lang="fr-FR" dirty="0"/>
              <a:t>You </a:t>
            </a:r>
            <a:r>
              <a:rPr lang="fr-FR" dirty="0" err="1"/>
              <a:t>may</a:t>
            </a:r>
            <a:r>
              <a:rPr lang="fr-FR" dirty="0"/>
              <a:t> </a:t>
            </a:r>
            <a:r>
              <a:rPr lang="fr-FR" dirty="0" err="1"/>
              <a:t>get</a:t>
            </a:r>
            <a:r>
              <a:rPr lang="fr-FR" dirty="0"/>
              <a:t> a </a:t>
            </a:r>
            <a:r>
              <a:rPr lang="fr-FR" dirty="0" err="1"/>
              <a:t>different</a:t>
            </a:r>
            <a:r>
              <a:rPr lang="fr-FR" dirty="0"/>
              <a:t> </a:t>
            </a:r>
            <a:r>
              <a:rPr lang="fr-FR" dirty="0" err="1"/>
              <a:t>result</a:t>
            </a:r>
            <a:r>
              <a:rPr lang="fr-FR" dirty="0"/>
              <a:t> due to the </a:t>
            </a:r>
            <a:r>
              <a:rPr lang="fr-FR" dirty="0" err="1"/>
              <a:t>upgrading</a:t>
            </a:r>
            <a:r>
              <a:rPr lang="fr-FR" dirty="0"/>
              <a:t> to Spark &gt;= 3.0:</a:t>
            </a:r>
          </a:p>
          <a:p>
            <a:r>
              <a:rPr lang="fr-FR" dirty="0" err="1"/>
              <a:t>writing</a:t>
            </a:r>
            <a:r>
              <a:rPr lang="fr-FR" dirty="0"/>
              <a:t> dates </a:t>
            </a:r>
            <a:r>
              <a:rPr lang="fr-FR" dirty="0" err="1"/>
              <a:t>before</a:t>
            </a:r>
            <a:r>
              <a:rPr lang="fr-FR" dirty="0"/>
              <a:t> 1582-10-15 or timestamps </a:t>
            </a:r>
            <a:r>
              <a:rPr lang="fr-FR" dirty="0" err="1"/>
              <a:t>before</a:t>
            </a:r>
            <a:r>
              <a:rPr lang="fr-FR" dirty="0"/>
              <a:t> 1900-01-01T00:00:00Z</a:t>
            </a:r>
          </a:p>
          <a:p>
            <a:r>
              <a:rPr lang="fr-FR" dirty="0" err="1"/>
              <a:t>into</a:t>
            </a:r>
            <a:r>
              <a:rPr lang="fr-FR" dirty="0"/>
              <a:t> Parquet files can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dangerous</a:t>
            </a:r>
            <a:r>
              <a:rPr lang="fr-FR" dirty="0"/>
              <a:t>, as the files </a:t>
            </a:r>
            <a:r>
              <a:rPr lang="fr-FR" dirty="0" err="1"/>
              <a:t>may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read</a:t>
            </a:r>
            <a:r>
              <a:rPr lang="fr-FR" dirty="0"/>
              <a:t> by Spark 2.x</a:t>
            </a:r>
          </a:p>
          <a:p>
            <a:r>
              <a:rPr lang="fr-FR" dirty="0"/>
              <a:t>or </a:t>
            </a:r>
            <a:r>
              <a:rPr lang="fr-FR" dirty="0" err="1"/>
              <a:t>legacy</a:t>
            </a:r>
            <a:r>
              <a:rPr lang="fr-FR" dirty="0"/>
              <a:t> versions of </a:t>
            </a:r>
            <a:r>
              <a:rPr lang="fr-FR" dirty="0" err="1"/>
              <a:t>Hive</a:t>
            </a:r>
            <a:r>
              <a:rPr lang="fr-FR" dirty="0"/>
              <a:t> </a:t>
            </a:r>
            <a:r>
              <a:rPr lang="fr-FR" dirty="0" err="1"/>
              <a:t>later</a:t>
            </a:r>
            <a:r>
              <a:rPr lang="fr-FR" dirty="0"/>
              <a:t>, </a:t>
            </a:r>
            <a:r>
              <a:rPr lang="fr-FR" dirty="0" err="1"/>
              <a:t>which</a:t>
            </a:r>
            <a:r>
              <a:rPr lang="fr-FR" dirty="0"/>
              <a:t> uses a </a:t>
            </a:r>
            <a:r>
              <a:rPr lang="fr-FR" dirty="0" err="1"/>
              <a:t>legacy</a:t>
            </a:r>
            <a:r>
              <a:rPr lang="fr-FR" dirty="0"/>
              <a:t> </a:t>
            </a:r>
            <a:r>
              <a:rPr lang="fr-FR" dirty="0" err="1"/>
              <a:t>hybrid</a:t>
            </a:r>
            <a:r>
              <a:rPr lang="fr-FR" dirty="0"/>
              <a:t> </a:t>
            </a:r>
            <a:r>
              <a:rPr lang="fr-FR" dirty="0" err="1"/>
              <a:t>calendar</a:t>
            </a:r>
            <a:r>
              <a:rPr lang="fr-FR" dirty="0"/>
              <a:t> </a:t>
            </a:r>
            <a:r>
              <a:rPr lang="fr-FR" dirty="0" err="1"/>
              <a:t>that</a:t>
            </a:r>
            <a:endParaRPr lang="fr-FR" dirty="0"/>
          </a:p>
          <a:p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different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Spark 3.0+'s </a:t>
            </a:r>
            <a:r>
              <a:rPr lang="fr-FR" dirty="0" err="1"/>
              <a:t>Proleptic</a:t>
            </a:r>
            <a:r>
              <a:rPr lang="fr-FR" dirty="0"/>
              <a:t> </a:t>
            </a:r>
            <a:r>
              <a:rPr lang="fr-FR" dirty="0" err="1"/>
              <a:t>Gregorian</a:t>
            </a:r>
            <a:r>
              <a:rPr lang="fr-FR" dirty="0"/>
              <a:t> </a:t>
            </a:r>
            <a:r>
              <a:rPr lang="fr-FR" dirty="0" err="1"/>
              <a:t>calendar</a:t>
            </a:r>
            <a:r>
              <a:rPr lang="fr-FR" dirty="0"/>
              <a:t>. </a:t>
            </a:r>
            <a:r>
              <a:rPr lang="fr-FR" dirty="0" err="1"/>
              <a:t>See</a:t>
            </a:r>
            <a:r>
              <a:rPr lang="fr-FR" dirty="0"/>
              <a:t> more</a:t>
            </a:r>
          </a:p>
          <a:p>
            <a:r>
              <a:rPr lang="fr-FR" dirty="0" err="1"/>
              <a:t>details</a:t>
            </a:r>
            <a:r>
              <a:rPr lang="fr-FR" dirty="0"/>
              <a:t> in SPARK-31404. You can set "</a:t>
            </a:r>
            <a:r>
              <a:rPr lang="fr-FR" dirty="0" err="1"/>
              <a:t>spark.sql.parquet.datetimeRebaseModeInWrite</a:t>
            </a:r>
            <a:r>
              <a:rPr lang="fr-FR" dirty="0"/>
              <a:t>" to "LEGACY" to rebase the</a:t>
            </a:r>
          </a:p>
          <a:p>
            <a:r>
              <a:rPr lang="fr-FR" dirty="0" err="1"/>
              <a:t>datetime</a:t>
            </a:r>
            <a:r>
              <a:rPr lang="fr-FR" dirty="0"/>
              <a:t> values w.r.t. the </a:t>
            </a:r>
            <a:r>
              <a:rPr lang="fr-FR" dirty="0" err="1"/>
              <a:t>calendar</a:t>
            </a:r>
            <a:r>
              <a:rPr lang="fr-FR" dirty="0"/>
              <a:t> </a:t>
            </a:r>
            <a:r>
              <a:rPr lang="fr-FR" dirty="0" err="1"/>
              <a:t>difference</a:t>
            </a:r>
            <a:r>
              <a:rPr lang="fr-FR" dirty="0"/>
              <a:t> </a:t>
            </a:r>
            <a:r>
              <a:rPr lang="fr-FR" dirty="0" err="1"/>
              <a:t>during</a:t>
            </a:r>
            <a:r>
              <a:rPr lang="fr-FR" dirty="0"/>
              <a:t> </a:t>
            </a:r>
            <a:r>
              <a:rPr lang="fr-FR" dirty="0" err="1"/>
              <a:t>writing</a:t>
            </a:r>
            <a:r>
              <a:rPr lang="fr-FR" dirty="0"/>
              <a:t>, to </a:t>
            </a:r>
            <a:r>
              <a:rPr lang="fr-FR" dirty="0" err="1"/>
              <a:t>get</a:t>
            </a:r>
            <a:r>
              <a:rPr lang="fr-FR" dirty="0"/>
              <a:t> maximum</a:t>
            </a:r>
          </a:p>
          <a:p>
            <a:r>
              <a:rPr lang="fr-FR" dirty="0" err="1"/>
              <a:t>interoperability</a:t>
            </a:r>
            <a:r>
              <a:rPr lang="fr-FR" dirty="0"/>
              <a:t>. Or set the config to "CORRECTED" to </a:t>
            </a:r>
            <a:r>
              <a:rPr lang="fr-FR" dirty="0" err="1"/>
              <a:t>write</a:t>
            </a:r>
            <a:r>
              <a:rPr lang="fr-FR" dirty="0"/>
              <a:t> the </a:t>
            </a:r>
            <a:r>
              <a:rPr lang="fr-FR" dirty="0" err="1"/>
              <a:t>datetime</a:t>
            </a:r>
            <a:endParaRPr lang="fr-FR" dirty="0"/>
          </a:p>
          <a:p>
            <a:r>
              <a:rPr lang="fr-FR" dirty="0"/>
              <a:t>values as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, if </a:t>
            </a:r>
            <a:r>
              <a:rPr lang="fr-FR" dirty="0" err="1"/>
              <a:t>you</a:t>
            </a:r>
            <a:r>
              <a:rPr lang="fr-FR" dirty="0"/>
              <a:t> are sure </a:t>
            </a:r>
            <a:r>
              <a:rPr lang="fr-FR" dirty="0" err="1"/>
              <a:t>that</a:t>
            </a:r>
            <a:r>
              <a:rPr lang="fr-FR" dirty="0"/>
              <a:t> the </a:t>
            </a:r>
            <a:r>
              <a:rPr lang="fr-FR" dirty="0" err="1"/>
              <a:t>written</a:t>
            </a:r>
            <a:r>
              <a:rPr lang="fr-FR" dirty="0"/>
              <a:t> files </a:t>
            </a:r>
            <a:r>
              <a:rPr lang="fr-FR" dirty="0" err="1"/>
              <a:t>will</a:t>
            </a:r>
            <a:r>
              <a:rPr lang="fr-FR" dirty="0"/>
              <a:t> </a:t>
            </a:r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read</a:t>
            </a:r>
            <a:r>
              <a:rPr lang="fr-FR" dirty="0"/>
              <a:t> by</a:t>
            </a:r>
          </a:p>
          <a:p>
            <a:r>
              <a:rPr lang="fr-FR" dirty="0"/>
              <a:t>Spark 3.0+ or </a:t>
            </a:r>
            <a:r>
              <a:rPr lang="fr-FR" dirty="0" err="1"/>
              <a:t>other</a:t>
            </a:r>
            <a:r>
              <a:rPr lang="fr-FR" dirty="0"/>
              <a:t> </a:t>
            </a:r>
            <a:r>
              <a:rPr lang="fr-FR" dirty="0" err="1"/>
              <a:t>systems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use </a:t>
            </a:r>
            <a:r>
              <a:rPr lang="fr-FR" dirty="0" err="1"/>
              <a:t>Proleptic</a:t>
            </a:r>
            <a:r>
              <a:rPr lang="fr-FR" dirty="0"/>
              <a:t> </a:t>
            </a:r>
            <a:r>
              <a:rPr lang="fr-FR" dirty="0" err="1"/>
              <a:t>Gregorian</a:t>
            </a:r>
            <a:r>
              <a:rPr lang="fr-FR" dirty="0"/>
              <a:t> </a:t>
            </a:r>
            <a:r>
              <a:rPr lang="fr-FR" dirty="0" err="1"/>
              <a:t>calendar</a:t>
            </a:r>
            <a:r>
              <a:rPr lang="fr-FR" dirty="0"/>
              <a:t>.</a:t>
            </a:r>
          </a:p>
          <a:p>
            <a:r>
              <a:rPr lang="fr-FR" dirty="0"/>
              <a:t>        at org.apache.spark.sql.errors.QueryExecutionErrors$.sparkUpgradeInWritingDatesError(QueryExecutionErrors.scala:759)</a:t>
            </a:r>
          </a:p>
          <a:p>
            <a:r>
              <a:rPr lang="fr-FR" dirty="0"/>
              <a:t>        at org.apache.spark.sql.execution.datasources.DataSourceUtils$.newRebaseExceptionInWrite(DataSourceUtils.scala:187)</a:t>
            </a:r>
          </a:p>
          <a:p>
            <a:r>
              <a:rPr lang="fr-FR" dirty="0"/>
              <a:t>        at </a:t>
            </a:r>
            <a:r>
              <a:rPr lang="fr-FR" dirty="0" err="1"/>
              <a:t>org.apache.spark.sql.execution.datasources.DataSourceUtils</a:t>
            </a:r>
            <a:r>
              <a:rPr lang="fr-FR" dirty="0"/>
              <a:t>$.$anonfun$createDateRebaseFuncInWrite$1(DataSourceUtils.scala:207</a:t>
            </a:r>
          </a:p>
        </p:txBody>
      </p:sp>
    </p:spTree>
    <p:extLst>
      <p:ext uri="{BB962C8B-B14F-4D97-AF65-F5344CB8AC3E}">
        <p14:creationId xmlns:p14="http://schemas.microsoft.com/office/powerpoint/2010/main" val="33664484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738C7-8F94-6EEB-3467-1F6B354CE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Gregorian</a:t>
            </a:r>
            <a:r>
              <a:rPr lang="fr-FR" dirty="0"/>
              <a:t> </a:t>
            </a:r>
            <a:r>
              <a:rPr lang="fr-FR" dirty="0" err="1"/>
              <a:t>Calendar</a:t>
            </a:r>
            <a:r>
              <a:rPr lang="fr-FR" dirty="0"/>
              <a:t> Dates : </a:t>
            </a:r>
            <a:r>
              <a:rPr lang="fr-FR" dirty="0" err="1"/>
              <a:t>after</a:t>
            </a:r>
            <a:r>
              <a:rPr lang="fr-FR" dirty="0"/>
              <a:t> 1582-10-15</a:t>
            </a:r>
            <a:br>
              <a:rPr lang="fr-FR" dirty="0"/>
            </a:br>
            <a:r>
              <a:rPr lang="fr-FR" dirty="0" err="1"/>
              <a:t>so</a:t>
            </a:r>
            <a:r>
              <a:rPr lang="fr-FR" dirty="0"/>
              <a:t> check </a:t>
            </a:r>
            <a:r>
              <a:rPr lang="fr-FR" dirty="0" err="1"/>
              <a:t>invalid</a:t>
            </a:r>
            <a:r>
              <a:rPr lang="fr-FR" dirty="0"/>
              <a:t> dates </a:t>
            </a:r>
            <a:r>
              <a:rPr lang="fr-FR" dirty="0" err="1"/>
              <a:t>before</a:t>
            </a:r>
            <a:endParaRPr lang="fr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37D5C3-A522-CA5D-70F7-729E81067CAF}"/>
              </a:ext>
            </a:extLst>
          </p:cNvPr>
          <p:cNvSpPr txBox="1"/>
          <p:nvPr/>
        </p:nvSpPr>
        <p:spPr>
          <a:xfrm>
            <a:off x="2460010" y="1873367"/>
            <a:ext cx="889379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 err="1"/>
              <a:t>ds.select</a:t>
            </a:r>
            <a:r>
              <a:rPr lang="fr-FR" b="1" dirty="0"/>
              <a:t>("</a:t>
            </a:r>
            <a:r>
              <a:rPr lang="fr-FR" b="1" dirty="0" err="1"/>
              <a:t>date_der_maj</a:t>
            </a:r>
            <a:r>
              <a:rPr lang="fr-FR" b="1" dirty="0"/>
              <a:t>").distinct().</a:t>
            </a:r>
            <a:r>
              <a:rPr lang="fr-FR" b="1" dirty="0" err="1"/>
              <a:t>orderBy</a:t>
            </a:r>
            <a:r>
              <a:rPr lang="fr-FR" b="1" dirty="0"/>
              <a:t>($"date_der_maj".</a:t>
            </a:r>
            <a:r>
              <a:rPr lang="fr-FR" b="1" dirty="0" err="1"/>
              <a:t>asc</a:t>
            </a:r>
            <a:r>
              <a:rPr lang="fr-FR" b="1" dirty="0"/>
              <a:t>).show(10)</a:t>
            </a:r>
          </a:p>
          <a:p>
            <a:endParaRPr lang="fr-FR" dirty="0"/>
          </a:p>
          <a:p>
            <a:r>
              <a:rPr lang="fr-FR" dirty="0"/>
              <a:t>+-----------------+</a:t>
            </a:r>
          </a:p>
          <a:p>
            <a:r>
              <a:rPr lang="fr-FR" dirty="0"/>
              <a:t>|</a:t>
            </a:r>
            <a:r>
              <a:rPr lang="fr-FR" dirty="0" err="1"/>
              <a:t>date_der_maj</a:t>
            </a:r>
            <a:r>
              <a:rPr lang="fr-FR" dirty="0"/>
              <a:t>|</a:t>
            </a:r>
          </a:p>
          <a:p>
            <a:r>
              <a:rPr lang="fr-FR" dirty="0"/>
              <a:t>+-----------------+</a:t>
            </a:r>
          </a:p>
          <a:p>
            <a:r>
              <a:rPr lang="fr-FR" dirty="0"/>
              <a:t>|             NULL|</a:t>
            </a:r>
          </a:p>
          <a:p>
            <a:r>
              <a:rPr lang="fr-FR" dirty="0"/>
              <a:t>|  </a:t>
            </a:r>
            <a:r>
              <a:rPr lang="fr-FR" b="1" dirty="0">
                <a:solidFill>
                  <a:srgbClr val="FF0000"/>
                </a:solidFill>
              </a:rPr>
              <a:t>0023-04-12</a:t>
            </a:r>
            <a:r>
              <a:rPr lang="fr-FR" dirty="0"/>
              <a:t>|</a:t>
            </a:r>
          </a:p>
          <a:p>
            <a:r>
              <a:rPr lang="fr-FR" dirty="0"/>
              <a:t>|  </a:t>
            </a:r>
            <a:r>
              <a:rPr lang="fr-FR" b="1" dirty="0">
                <a:solidFill>
                  <a:srgbClr val="FF0000"/>
                </a:solidFill>
              </a:rPr>
              <a:t>1111-11-01</a:t>
            </a:r>
            <a:r>
              <a:rPr lang="fr-FR" dirty="0"/>
              <a:t>|</a:t>
            </a:r>
          </a:p>
          <a:p>
            <a:r>
              <a:rPr lang="fr-FR" dirty="0"/>
              <a:t>|  1900-01-01|</a:t>
            </a:r>
          </a:p>
          <a:p>
            <a:r>
              <a:rPr lang="fr-FR" dirty="0"/>
              <a:t>|  1901-01-01|</a:t>
            </a:r>
          </a:p>
          <a:p>
            <a:r>
              <a:rPr lang="fr-FR" dirty="0"/>
              <a:t>|  1904-09-30|</a:t>
            </a:r>
          </a:p>
          <a:p>
            <a:r>
              <a:rPr lang="fr-FR" dirty="0"/>
              <a:t>|  1930-02-21|</a:t>
            </a:r>
          </a:p>
          <a:p>
            <a:r>
              <a:rPr lang="fr-FR" dirty="0"/>
              <a:t>|  1935-04-17|</a:t>
            </a:r>
          </a:p>
          <a:p>
            <a:r>
              <a:rPr lang="fr-FR" dirty="0"/>
              <a:t>|  1936-11-27|</a:t>
            </a:r>
          </a:p>
          <a:p>
            <a:r>
              <a:rPr lang="fr-FR" dirty="0"/>
              <a:t>|  1944-10-13|</a:t>
            </a:r>
          </a:p>
          <a:p>
            <a:r>
              <a:rPr lang="fr-FR" dirty="0"/>
              <a:t>+----------------+</a:t>
            </a:r>
          </a:p>
          <a:p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showing</a:t>
            </a:r>
            <a:r>
              <a:rPr lang="fr-FR" dirty="0"/>
              <a:t> top 10 </a:t>
            </a:r>
            <a:r>
              <a:rPr lang="fr-FR" dirty="0" err="1"/>
              <a:t>rows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721017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4AEE-A1AE-C60F-AB29-64E7114FF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Alternative to Fix </a:t>
            </a:r>
            <a:r>
              <a:rPr lang="fr-FR" dirty="0" err="1"/>
              <a:t>invalid</a:t>
            </a:r>
            <a:r>
              <a:rPr lang="fr-FR" dirty="0"/>
              <a:t> dates, </a:t>
            </a:r>
            <a:br>
              <a:rPr lang="fr-FR" dirty="0"/>
            </a:br>
            <a:r>
              <a:rPr lang="fr-FR" dirty="0"/>
              <a:t>replace by min date  (or NULL)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B7F505-EA0F-31EE-D6B8-9D3277914081}"/>
              </a:ext>
            </a:extLst>
          </p:cNvPr>
          <p:cNvSpPr txBox="1"/>
          <p:nvPr/>
        </p:nvSpPr>
        <p:spPr>
          <a:xfrm>
            <a:off x="1746913" y="2519867"/>
            <a:ext cx="991737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val </a:t>
            </a:r>
            <a:r>
              <a:rPr lang="fr-FR" dirty="0" err="1"/>
              <a:t>min_date</a:t>
            </a:r>
            <a:r>
              <a:rPr lang="fr-FR" dirty="0"/>
              <a:t> = </a:t>
            </a:r>
            <a:r>
              <a:rPr lang="fr-FR" dirty="0" err="1"/>
              <a:t>to_date</a:t>
            </a:r>
            <a:r>
              <a:rPr lang="fr-FR" dirty="0"/>
              <a:t>(lit("1901-01-01"));</a:t>
            </a:r>
          </a:p>
          <a:p>
            <a:r>
              <a:rPr lang="fr-FR" dirty="0"/>
              <a:t>val </a:t>
            </a:r>
            <a:r>
              <a:rPr lang="fr-FR" dirty="0" err="1"/>
              <a:t>ds_fixdate</a:t>
            </a:r>
            <a:r>
              <a:rPr lang="fr-FR" dirty="0"/>
              <a:t> = </a:t>
            </a:r>
            <a:r>
              <a:rPr lang="fr-FR" dirty="0" err="1"/>
              <a:t>ds.withColumn</a:t>
            </a:r>
            <a:r>
              <a:rPr lang="fr-FR" dirty="0"/>
              <a:t>("date_der_maj2", </a:t>
            </a:r>
            <a:r>
              <a:rPr lang="fr-FR" dirty="0" err="1"/>
              <a:t>greatest</a:t>
            </a:r>
            <a:r>
              <a:rPr lang="fr-FR" dirty="0"/>
              <a:t>(col("</a:t>
            </a:r>
            <a:r>
              <a:rPr lang="fr-FR" dirty="0" err="1"/>
              <a:t>date_der_maj</a:t>
            </a:r>
            <a:r>
              <a:rPr lang="fr-FR" dirty="0"/>
              <a:t>"), </a:t>
            </a:r>
            <a:r>
              <a:rPr lang="fr-FR" dirty="0" err="1"/>
              <a:t>min_date</a:t>
            </a:r>
            <a:r>
              <a:rPr lang="fr-FR" dirty="0"/>
              <a:t>));</a:t>
            </a:r>
          </a:p>
          <a:p>
            <a:endParaRPr lang="fr-FR" dirty="0"/>
          </a:p>
          <a:p>
            <a:r>
              <a:rPr lang="fr-FR" dirty="0" err="1"/>
              <a:t>ds_fixdate.select</a:t>
            </a:r>
            <a:r>
              <a:rPr lang="fr-FR" dirty="0"/>
              <a:t>("date_der_maj2").distinct().</a:t>
            </a:r>
            <a:r>
              <a:rPr lang="fr-FR" dirty="0" err="1"/>
              <a:t>orderBy</a:t>
            </a:r>
            <a:r>
              <a:rPr lang="fr-FR" dirty="0"/>
              <a:t>($"date_der_maj2".asc).show(10)</a:t>
            </a:r>
          </a:p>
          <a:p>
            <a:endParaRPr lang="fr-FR" dirty="0"/>
          </a:p>
          <a:p>
            <a:r>
              <a:rPr lang="fr-FR" dirty="0"/>
              <a:t>val </a:t>
            </a:r>
            <a:r>
              <a:rPr lang="fr-FR" dirty="0" err="1"/>
              <a:t>ds</a:t>
            </a:r>
            <a:r>
              <a:rPr lang="fr-FR" dirty="0"/>
              <a:t> = </a:t>
            </a:r>
            <a:r>
              <a:rPr lang="fr-FR" dirty="0" err="1"/>
              <a:t>ds_fixdate.drop</a:t>
            </a:r>
            <a:r>
              <a:rPr lang="fr-FR" dirty="0"/>
              <a:t>("</a:t>
            </a:r>
            <a:r>
              <a:rPr lang="fr-FR" dirty="0" err="1"/>
              <a:t>date_der_maj</a:t>
            </a:r>
            <a:r>
              <a:rPr lang="fr-FR" dirty="0"/>
              <a:t>").</a:t>
            </a:r>
            <a:r>
              <a:rPr lang="fr-FR" dirty="0" err="1"/>
              <a:t>withColumnRenamed</a:t>
            </a:r>
            <a:r>
              <a:rPr lang="fr-FR" dirty="0"/>
              <a:t>("date_der_maj2", "</a:t>
            </a:r>
            <a:r>
              <a:rPr lang="fr-FR" dirty="0" err="1"/>
              <a:t>date_der_maj</a:t>
            </a:r>
            <a:r>
              <a:rPr lang="fr-FR" dirty="0"/>
              <a:t>")</a:t>
            </a:r>
          </a:p>
        </p:txBody>
      </p:sp>
    </p:spTree>
    <p:extLst>
      <p:ext uri="{BB962C8B-B14F-4D97-AF65-F5344CB8AC3E}">
        <p14:creationId xmlns:p14="http://schemas.microsoft.com/office/powerpoint/2010/main" val="14214206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11D2E9-6128-47E9-BD8C-7CA1101B5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76199"/>
            <a:ext cx="10515600" cy="1127760"/>
          </a:xfrm>
        </p:spPr>
        <p:txBody>
          <a:bodyPr>
            <a:normAutofit/>
          </a:bodyPr>
          <a:lstStyle/>
          <a:p>
            <a:r>
              <a:rPr lang="fr-FR" dirty="0"/>
              <a:t>Parquet Files … ~3 x 640 Mo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C505B2D-468C-4A62-91F6-650C12A41CD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64" t="60747"/>
          <a:stretch/>
        </p:blipFill>
        <p:spPr>
          <a:xfrm>
            <a:off x="1508362" y="5495052"/>
            <a:ext cx="9049534" cy="904577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E3DA8C0E-1949-4090-AE57-4D1EC7981F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4103" y="749760"/>
            <a:ext cx="8923793" cy="4027519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3CBBC5D8-5B6F-4007-9989-371ACC24090B}"/>
              </a:ext>
            </a:extLst>
          </p:cNvPr>
          <p:cNvSpPr txBox="1"/>
          <p:nvPr/>
        </p:nvSpPr>
        <p:spPr>
          <a:xfrm>
            <a:off x="1163320" y="5080000"/>
            <a:ext cx="9729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If </a:t>
            </a:r>
            <a:r>
              <a:rPr lang="fr-FR" dirty="0" err="1"/>
              <a:t>keeping</a:t>
            </a:r>
            <a:r>
              <a:rPr lang="fr-FR" dirty="0"/>
              <a:t> </a:t>
            </a:r>
            <a:r>
              <a:rPr lang="fr-FR" dirty="0" err="1"/>
              <a:t>columns</a:t>
            </a:r>
            <a:r>
              <a:rPr lang="fr-FR" dirty="0"/>
              <a:t> x, y, </a:t>
            </a:r>
            <a:r>
              <a:rPr lang="fr-FR" dirty="0" err="1"/>
              <a:t>date_der_maj</a:t>
            </a:r>
            <a:r>
              <a:rPr lang="fr-FR" dirty="0"/>
              <a:t> =&gt;  ~3 x 750 Mo  (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+ ~3 x 110M for the 3 </a:t>
            </a:r>
            <a:r>
              <a:rPr lang="fr-FR" dirty="0" err="1"/>
              <a:t>useless</a:t>
            </a:r>
            <a:r>
              <a:rPr lang="fr-FR" dirty="0"/>
              <a:t> </a:t>
            </a:r>
            <a:r>
              <a:rPr lang="fr-FR" dirty="0" err="1"/>
              <a:t>columns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884755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/>
          <a:lstStyle/>
          <a:p>
            <a:pPr algn="ctr"/>
            <a:r>
              <a:rPr lang="fr-FR" dirty="0"/>
              <a:t>Objectives of Hands-On 3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25F4BA30-1BA3-C887-C1BE-71D95A135F0E}"/>
              </a:ext>
            </a:extLst>
          </p:cNvPr>
          <p:cNvSpPr/>
          <p:nvPr/>
        </p:nvSpPr>
        <p:spPr>
          <a:xfrm>
            <a:off x="2051307" y="1536174"/>
            <a:ext cx="1407621" cy="4765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F6B7D5-F2CA-EEEC-5307-43CC4C168EC7}"/>
              </a:ext>
            </a:extLst>
          </p:cNvPr>
          <p:cNvSpPr txBox="1"/>
          <p:nvPr/>
        </p:nvSpPr>
        <p:spPr>
          <a:xfrm>
            <a:off x="3645158" y="1536174"/>
            <a:ext cx="6529031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0/ Check </a:t>
            </a:r>
            <a:r>
              <a:rPr lang="fr-FR" sz="2400" dirty="0" err="1"/>
              <a:t>spark</a:t>
            </a:r>
            <a:r>
              <a:rPr lang="fr-FR" sz="2400" dirty="0"/>
              <a:t> </a:t>
            </a:r>
            <a:r>
              <a:rPr lang="fr-FR" sz="2400" dirty="0" err="1"/>
              <a:t>backward</a:t>
            </a:r>
            <a:r>
              <a:rPr lang="fr-FR" sz="2400" dirty="0"/>
              <a:t> compatibility (</a:t>
            </a:r>
            <a:r>
              <a:rPr lang="fr-FR" sz="2400" dirty="0" err="1"/>
              <a:t>spark</a:t>
            </a:r>
            <a:r>
              <a:rPr lang="fr-FR" sz="2400" dirty="0"/>
              <a:t> &lt;=3) </a:t>
            </a:r>
          </a:p>
          <a:p>
            <a:endParaRPr lang="fr-FR" sz="2400" dirty="0"/>
          </a:p>
          <a:p>
            <a:r>
              <a:rPr lang="fr-FR" sz="2400" dirty="0"/>
              <a:t>1/ </a:t>
            </a:r>
            <a:r>
              <a:rPr lang="fr-FR" sz="2400" dirty="0" err="1"/>
              <a:t>CreateTempView</a:t>
            </a:r>
            <a:r>
              <a:rPr lang="fr-FR" sz="2400" dirty="0"/>
              <a:t>,  use </a:t>
            </a:r>
            <a:r>
              <a:rPr lang="fr-FR" sz="2400" dirty="0" err="1"/>
              <a:t>Dataset</a:t>
            </a:r>
            <a:r>
              <a:rPr lang="fr-FR" sz="2400" dirty="0"/>
              <a:t> </a:t>
            </a:r>
            <a:r>
              <a:rPr lang="fr-FR" sz="2400" dirty="0" err="1"/>
              <a:t>from</a:t>
            </a:r>
            <a:r>
              <a:rPr lang="fr-FR" sz="2400" dirty="0"/>
              <a:t> SQL </a:t>
            </a:r>
          </a:p>
          <a:p>
            <a:endParaRPr lang="fr-FR" sz="2400" dirty="0"/>
          </a:p>
          <a:p>
            <a:r>
              <a:rPr lang="fr-FR" sz="2400" dirty="0"/>
              <a:t>2/ Configure </a:t>
            </a:r>
            <a:r>
              <a:rPr lang="fr-FR" sz="2400" dirty="0" err="1"/>
              <a:t>HiveMetastore</a:t>
            </a:r>
            <a:r>
              <a:rPr lang="fr-FR" sz="2400" dirty="0"/>
              <a:t> DB</a:t>
            </a:r>
          </a:p>
          <a:p>
            <a:endParaRPr lang="fr-FR" sz="2400" dirty="0"/>
          </a:p>
          <a:p>
            <a:r>
              <a:rPr lang="fr-FR" sz="2400" dirty="0"/>
              <a:t>3/ </a:t>
            </a:r>
            <a:r>
              <a:rPr lang="fr-FR" sz="2400" dirty="0" err="1"/>
              <a:t>connect</a:t>
            </a:r>
            <a:r>
              <a:rPr lang="fr-FR" sz="2400" dirty="0"/>
              <a:t> Spark </a:t>
            </a:r>
            <a:r>
              <a:rPr lang="fr-FR" sz="2400" dirty="0" err="1"/>
              <a:t>External</a:t>
            </a:r>
            <a:r>
              <a:rPr lang="fr-FR" sz="2400" dirty="0"/>
              <a:t> </a:t>
            </a:r>
            <a:r>
              <a:rPr lang="fr-FR" sz="2400" dirty="0" err="1"/>
              <a:t>Catalog</a:t>
            </a:r>
            <a:r>
              <a:rPr lang="fr-FR" sz="2400" dirty="0"/>
              <a:t>  to </a:t>
            </a:r>
            <a:r>
              <a:rPr lang="fr-FR" sz="2400" dirty="0" err="1"/>
              <a:t>MetaStore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4/ </a:t>
            </a:r>
            <a:r>
              <a:rPr lang="fr-FR" sz="2400" dirty="0" err="1"/>
              <a:t>Create</a:t>
            </a:r>
            <a:r>
              <a:rPr lang="fr-FR" sz="2400" dirty="0"/>
              <a:t> Table</a:t>
            </a:r>
          </a:p>
          <a:p>
            <a:endParaRPr lang="fr-FR" sz="2400" dirty="0"/>
          </a:p>
          <a:p>
            <a:r>
              <a:rPr lang="fr-FR" sz="2400" dirty="0"/>
              <a:t>5/ (Directory) </a:t>
            </a:r>
            <a:r>
              <a:rPr lang="fr-FR" sz="2400" dirty="0" err="1"/>
              <a:t>Partitioned</a:t>
            </a:r>
            <a:r>
              <a:rPr lang="fr-FR" sz="2400" dirty="0"/>
              <a:t> Table</a:t>
            </a:r>
          </a:p>
        </p:txBody>
      </p:sp>
    </p:spTree>
    <p:extLst>
      <p:ext uri="{BB962C8B-B14F-4D97-AF65-F5344CB8AC3E}">
        <p14:creationId xmlns:p14="http://schemas.microsoft.com/office/powerpoint/2010/main" val="32149049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065395-B409-4DA2-9611-C8DFA2671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Spark Changes  version &lt;= 3 …  </a:t>
            </a:r>
            <a:r>
              <a:rPr lang="fr-FR" dirty="0" err="1"/>
              <a:t>then</a:t>
            </a:r>
            <a:r>
              <a:rPr lang="fr-FR" dirty="0"/>
              <a:t> &gt;= 4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47BA9D0-1EC5-42A0-AB8E-7D00F8D5900C}"/>
              </a:ext>
            </a:extLst>
          </p:cNvPr>
          <p:cNvSpPr txBox="1"/>
          <p:nvPr/>
        </p:nvSpPr>
        <p:spPr>
          <a:xfrm>
            <a:off x="1854200" y="2433320"/>
            <a:ext cx="899668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Before</a:t>
            </a:r>
            <a:r>
              <a:rPr lang="fr-FR" dirty="0"/>
              <a:t> version &lt;= 3,  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needed</a:t>
            </a:r>
            <a:r>
              <a:rPr lang="fr-FR" dirty="0"/>
              <a:t> to </a:t>
            </a:r>
            <a:r>
              <a:rPr lang="fr-FR" dirty="0" err="1"/>
              <a:t>explicitly</a:t>
            </a:r>
            <a:r>
              <a:rPr lang="fr-FR" dirty="0"/>
              <a:t> configure </a:t>
            </a:r>
            <a:r>
              <a:rPr lang="fr-FR" dirty="0" err="1"/>
              <a:t>spark</a:t>
            </a:r>
            <a:r>
              <a:rPr lang="fr-FR" dirty="0"/>
              <a:t> for </a:t>
            </a:r>
            <a:r>
              <a:rPr lang="fr-FR" dirty="0" err="1"/>
              <a:t>Hive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Since</a:t>
            </a:r>
            <a:r>
              <a:rPr lang="fr-FR" dirty="0"/>
              <a:t> &gt;=4,   </a:t>
            </a:r>
            <a:r>
              <a:rPr lang="fr-FR" dirty="0" err="1"/>
              <a:t>spark</a:t>
            </a:r>
            <a:r>
              <a:rPr lang="fr-FR" dirty="0"/>
              <a:t> </a:t>
            </a:r>
            <a:r>
              <a:rPr lang="fr-FR" dirty="0" err="1"/>
              <a:t>comes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HiveMetastore</a:t>
            </a:r>
            <a:r>
              <a:rPr lang="fr-FR" dirty="0"/>
              <a:t> </a:t>
            </a:r>
            <a:r>
              <a:rPr lang="fr-FR" dirty="0" err="1"/>
              <a:t>pre-configured</a:t>
            </a:r>
            <a:r>
              <a:rPr lang="fr-FR" dirty="0"/>
              <a:t> </a:t>
            </a:r>
          </a:p>
          <a:p>
            <a:r>
              <a:rPr lang="fr-FR" dirty="0"/>
              <a:t>(</a:t>
            </a:r>
            <a:r>
              <a:rPr lang="fr-FR" dirty="0" err="1"/>
              <a:t>using</a:t>
            </a:r>
            <a:r>
              <a:rPr lang="fr-FR" dirty="0"/>
              <a:t> Derby </a:t>
            </a:r>
            <a:r>
              <a:rPr lang="fr-FR" dirty="0" err="1"/>
              <a:t>embedded</a:t>
            </a:r>
            <a:r>
              <a:rPr lang="fr-FR" dirty="0"/>
              <a:t> </a:t>
            </a:r>
            <a:r>
              <a:rPr lang="fr-FR" dirty="0" err="1"/>
              <a:t>database</a:t>
            </a:r>
            <a:r>
              <a:rPr lang="fr-FR" dirty="0"/>
              <a:t>)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Conclusion:  It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easier</a:t>
            </a:r>
            <a:r>
              <a:rPr lang="fr-FR" dirty="0"/>
              <a:t> to use for </a:t>
            </a:r>
            <a:r>
              <a:rPr lang="fr-FR" dirty="0" err="1"/>
              <a:t>beginners</a:t>
            </a:r>
            <a:r>
              <a:rPr lang="fr-FR" dirty="0"/>
              <a:t>, </a:t>
            </a:r>
            <a:r>
              <a:rPr lang="fr-FR" dirty="0" err="1"/>
              <a:t>without</a:t>
            </a:r>
            <a:r>
              <a:rPr lang="fr-FR" dirty="0"/>
              <a:t> re-</a:t>
            </a:r>
            <a:r>
              <a:rPr lang="fr-FR" dirty="0" err="1"/>
              <a:t>configuring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92814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C5E69-85B4-69B4-8611-2F7125584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4356"/>
            <a:ext cx="10515600" cy="1774394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1: check </a:t>
            </a:r>
            <a:r>
              <a:rPr lang="fr-FR" dirty="0" err="1"/>
              <a:t>spark</a:t>
            </a:r>
            <a:r>
              <a:rPr lang="fr-FR" dirty="0"/>
              <a:t> conf</a:t>
            </a:r>
            <a:br>
              <a:rPr lang="fr-FR" dirty="0"/>
            </a:br>
            <a:r>
              <a:rPr lang="fr-FR" b="0" i="0" dirty="0" err="1">
                <a:solidFill>
                  <a:srgbClr val="212529"/>
                </a:solidFill>
                <a:effectLst/>
                <a:latin typeface="-apple-system"/>
              </a:rPr>
              <a:t>spark.sql.catalogImplementation</a:t>
            </a:r>
            <a:r>
              <a:rPr lang="fr-FR" dirty="0">
                <a:solidFill>
                  <a:srgbClr val="212529"/>
                </a:solidFill>
                <a:latin typeface="-apple-system"/>
              </a:rPr>
              <a:t>=</a:t>
            </a:r>
            <a:br>
              <a:rPr lang="fr-FR" dirty="0">
                <a:solidFill>
                  <a:srgbClr val="212529"/>
                </a:solidFill>
                <a:latin typeface="-apple-system"/>
              </a:rPr>
            </a:br>
            <a:r>
              <a:rPr lang="fr-FR" dirty="0">
                <a:solidFill>
                  <a:srgbClr val="212529"/>
                </a:solidFill>
                <a:latin typeface="-apple-system"/>
              </a:rPr>
              <a:t>« </a:t>
            </a:r>
            <a:r>
              <a:rPr lang="fr-FR" b="0" i="0" dirty="0" err="1">
                <a:solidFill>
                  <a:srgbClr val="212529"/>
                </a:solidFill>
                <a:effectLst/>
                <a:latin typeface="-apple-system"/>
              </a:rPr>
              <a:t>hive</a:t>
            </a:r>
            <a:r>
              <a:rPr lang="fr-FR" b="0" i="0" dirty="0">
                <a:solidFill>
                  <a:srgbClr val="212529"/>
                </a:solidFill>
                <a:effectLst/>
                <a:latin typeface="-apple-system"/>
              </a:rPr>
              <a:t> »  or  « in-memory » ?</a:t>
            </a:r>
            <a:endParaRPr lang="fr-F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BD3890-43E3-04D4-8F9F-FAB7BDA148B0}"/>
              </a:ext>
            </a:extLst>
          </p:cNvPr>
          <p:cNvSpPr txBox="1"/>
          <p:nvPr/>
        </p:nvSpPr>
        <p:spPr>
          <a:xfrm>
            <a:off x="448887" y="2340092"/>
            <a:ext cx="1129422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/>
              <a:t>a/ </a:t>
            </a:r>
            <a:r>
              <a:rPr lang="fr-FR" sz="2400" dirty="0" err="1"/>
              <a:t>execute</a:t>
            </a:r>
            <a:r>
              <a:rPr lang="fr-FR" sz="2400" dirty="0"/>
              <a:t> line</a:t>
            </a:r>
          </a:p>
          <a:p>
            <a:r>
              <a:rPr lang="fr-FR" sz="2400" dirty="0"/>
              <a:t>scala&gt; </a:t>
            </a:r>
            <a:r>
              <a:rPr lang="fr-FR" sz="2400" b="1" dirty="0" err="1"/>
              <a:t>spark.sharedState.sparkContext.getConf.get</a:t>
            </a:r>
            <a:r>
              <a:rPr lang="fr-FR" sz="2400" b="1" dirty="0"/>
              <a:t>("</a:t>
            </a:r>
            <a:r>
              <a:rPr lang="fr-FR" sz="2400" b="1" dirty="0" err="1"/>
              <a:t>spark.sql.catalogImplementation</a:t>
            </a:r>
            <a:r>
              <a:rPr lang="fr-FR" sz="2400" b="1" dirty="0"/>
              <a:t>")</a:t>
            </a:r>
          </a:p>
          <a:p>
            <a:r>
              <a:rPr lang="fr-FR" sz="2400" dirty="0"/>
              <a:t>Res1: String = in-memory</a:t>
            </a:r>
          </a:p>
          <a:p>
            <a:endParaRPr lang="fr-FR" sz="2400" dirty="0"/>
          </a:p>
          <a:p>
            <a:r>
              <a:rPr lang="fr-FR" sz="2400" dirty="0"/>
              <a:t>b/ </a:t>
            </a:r>
            <a:r>
              <a:rPr lang="fr-FR" sz="2400" dirty="0" err="1"/>
              <a:t>expecting</a:t>
            </a:r>
            <a:r>
              <a:rPr lang="fr-FR" sz="2400" dirty="0"/>
              <a:t> for </a:t>
            </a:r>
            <a:r>
              <a:rPr lang="fr-FR" sz="2400" dirty="0" err="1"/>
              <a:t>now</a:t>
            </a:r>
            <a:r>
              <a:rPr lang="fr-FR" sz="2400" dirty="0"/>
              <a:t> to have «</a:t>
            </a:r>
            <a:r>
              <a:rPr lang="fr-FR" sz="2400" b="1" dirty="0">
                <a:solidFill>
                  <a:srgbClr val="00B050"/>
                </a:solidFill>
              </a:rPr>
              <a:t>in-memory</a:t>
            </a:r>
            <a:r>
              <a:rPr lang="fr-FR" sz="2400" dirty="0"/>
              <a:t>»  .. not « </a:t>
            </a:r>
            <a:r>
              <a:rPr lang="fr-FR" sz="2400" b="1" dirty="0" err="1">
                <a:solidFill>
                  <a:srgbClr val="FF0000"/>
                </a:solidFill>
              </a:rPr>
              <a:t>hive</a:t>
            </a:r>
            <a:r>
              <a:rPr lang="fr-FR" sz="2400" dirty="0"/>
              <a:t> »   </a:t>
            </a:r>
            <a:br>
              <a:rPr lang="fr-FR" sz="2400" dirty="0"/>
            </a:br>
            <a:r>
              <a:rPr lang="fr-FR" sz="2400" dirty="0"/>
              <a:t>      ( … to </a:t>
            </a:r>
            <a:r>
              <a:rPr lang="fr-FR" sz="2400" dirty="0" err="1"/>
              <a:t>work</a:t>
            </a:r>
            <a:r>
              <a:rPr lang="fr-FR" sz="2400" dirty="0"/>
              <a:t> </a:t>
            </a:r>
            <a:r>
              <a:rPr lang="fr-FR" sz="2400" dirty="0" err="1"/>
              <a:t>similarly</a:t>
            </a:r>
            <a:r>
              <a:rPr lang="fr-FR" sz="2400" dirty="0"/>
              <a:t> </a:t>
            </a:r>
            <a:r>
              <a:rPr lang="fr-FR" sz="2400" dirty="0" err="1"/>
              <a:t>even</a:t>
            </a:r>
            <a:r>
              <a:rPr lang="fr-FR" sz="2400" dirty="0"/>
              <a:t> on </a:t>
            </a:r>
            <a:r>
              <a:rPr lang="fr-FR" sz="2400" dirty="0" err="1"/>
              <a:t>old</a:t>
            </a:r>
            <a:r>
              <a:rPr lang="fr-FR" sz="2400" dirty="0"/>
              <a:t> </a:t>
            </a:r>
            <a:r>
              <a:rPr lang="fr-FR" sz="2400" dirty="0" err="1"/>
              <a:t>spark</a:t>
            </a:r>
            <a:r>
              <a:rPr lang="fr-FR" sz="2400" dirty="0"/>
              <a:t> version &lt;=3)</a:t>
            </a:r>
          </a:p>
          <a:p>
            <a:endParaRPr lang="fr-FR" sz="2400" dirty="0"/>
          </a:p>
          <a:p>
            <a:r>
              <a:rPr lang="fr-FR" sz="2400" dirty="0"/>
              <a:t>c/ If not correct, </a:t>
            </a:r>
            <a:r>
              <a:rPr lang="fr-FR" sz="2400" dirty="0" err="1"/>
              <a:t>relaunch</a:t>
            </a:r>
            <a:r>
              <a:rPr lang="fr-FR" sz="2400" dirty="0"/>
              <a:t> </a:t>
            </a:r>
            <a:r>
              <a:rPr lang="fr-FR" sz="2400" dirty="0" err="1"/>
              <a:t>spark-shell</a:t>
            </a:r>
            <a:r>
              <a:rPr lang="fr-FR" sz="2400" dirty="0"/>
              <a:t> </a:t>
            </a:r>
            <a:r>
              <a:rPr lang="fr-FR" sz="2400" dirty="0" err="1"/>
              <a:t>using</a:t>
            </a:r>
            <a:br>
              <a:rPr lang="fr-FR" sz="2400" dirty="0"/>
            </a:br>
            <a:r>
              <a:rPr lang="fr-FR" sz="2400" b="1" dirty="0" err="1"/>
              <a:t>spark-shell</a:t>
            </a:r>
            <a:r>
              <a:rPr lang="fr-FR" sz="2400" b="1" dirty="0"/>
              <a:t> --driver-memory 5g  --conf </a:t>
            </a:r>
            <a:r>
              <a:rPr lang="fr-FR" sz="2400" b="1" dirty="0" err="1"/>
              <a:t>spark.sql.catalogImplementation</a:t>
            </a:r>
            <a:r>
              <a:rPr lang="fr-FR" sz="2400" b="1" dirty="0"/>
              <a:t>=in-memory</a:t>
            </a:r>
          </a:p>
        </p:txBody>
      </p:sp>
    </p:spTree>
    <p:extLst>
      <p:ext uri="{BB962C8B-B14F-4D97-AF65-F5344CB8AC3E}">
        <p14:creationId xmlns:p14="http://schemas.microsoft.com/office/powerpoint/2010/main" val="26154780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E1FD34-2C81-402B-BCFD-D0CDDD813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772160"/>
          </a:xfrm>
        </p:spPr>
        <p:txBody>
          <a:bodyPr>
            <a:normAutofit/>
          </a:bodyPr>
          <a:lstStyle/>
          <a:p>
            <a:r>
              <a:rPr lang="fr-FR" dirty="0"/>
              <a:t>Check Source Code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73137DD-8720-4A9F-9CAC-C481BF6075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21" y="2600960"/>
            <a:ext cx="10654279" cy="3854597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65A9C0F7-3CA0-4179-8BD0-32184E119DFC}"/>
              </a:ext>
            </a:extLst>
          </p:cNvPr>
          <p:cNvSpPr txBox="1"/>
          <p:nvPr/>
        </p:nvSpPr>
        <p:spPr>
          <a:xfrm>
            <a:off x="699521" y="1363395"/>
            <a:ext cx="100939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hlinkClick r:id="rId3"/>
              </a:rPr>
              <a:t>https://github.com/apache/spark/blob/master/sql/catalyst/src/main/scala/org/apache/spark/sql/internal/StaticSQLConf.scala#L53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709083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62CBB-6E50-9BF3-CC21-C2FE96788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73" y="0"/>
            <a:ext cx="10515600" cy="843379"/>
          </a:xfrm>
        </p:spPr>
        <p:txBody>
          <a:bodyPr/>
          <a:lstStyle/>
          <a:p>
            <a:pPr algn="ctr"/>
            <a:r>
              <a:rPr lang="fr-FR" dirty="0"/>
              <a:t>Checking </a:t>
            </a:r>
            <a:r>
              <a:rPr lang="fr-FR" dirty="0" err="1"/>
              <a:t>from</a:t>
            </a:r>
            <a:r>
              <a:rPr lang="fr-FR" dirty="0"/>
              <a:t> Spark-UI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6EF100-EC7B-59D1-54D5-1B9254A81A7D}"/>
              </a:ext>
            </a:extLst>
          </p:cNvPr>
          <p:cNvSpPr txBox="1"/>
          <p:nvPr/>
        </p:nvSpPr>
        <p:spPr>
          <a:xfrm>
            <a:off x="853905" y="1473317"/>
            <a:ext cx="6652462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a/ Open Spark-UI   </a:t>
            </a:r>
            <a:r>
              <a:rPr lang="fr-FR" sz="2000" dirty="0">
                <a:hlinkClick r:id="rId2"/>
              </a:rPr>
              <a:t>http://localhost:4040</a:t>
            </a:r>
            <a:r>
              <a:rPr lang="fr-FR" sz="2000" dirty="0"/>
              <a:t>   … more on </a:t>
            </a:r>
            <a:r>
              <a:rPr lang="fr-FR" sz="2000" dirty="0" err="1"/>
              <a:t>this</a:t>
            </a:r>
            <a:r>
              <a:rPr lang="fr-FR" sz="2000" dirty="0"/>
              <a:t> </a:t>
            </a:r>
            <a:r>
              <a:rPr lang="fr-FR" sz="2000" dirty="0" err="1"/>
              <a:t>later</a:t>
            </a:r>
            <a:endParaRPr lang="fr-FR" sz="2000" dirty="0"/>
          </a:p>
          <a:p>
            <a:endParaRPr lang="fr-FR" sz="2000" dirty="0"/>
          </a:p>
          <a:p>
            <a:r>
              <a:rPr lang="fr-FR" sz="2000" dirty="0"/>
              <a:t>b/ </a:t>
            </a:r>
            <a:r>
              <a:rPr lang="fr-FR" sz="2000" dirty="0" err="1"/>
              <a:t>browse</a:t>
            </a:r>
            <a:r>
              <a:rPr lang="fr-FR" sz="2000" dirty="0"/>
              <a:t> to  </a:t>
            </a:r>
            <a:r>
              <a:rPr lang="fr-FR" sz="2000" dirty="0" err="1"/>
              <a:t>Environment</a:t>
            </a:r>
            <a:r>
              <a:rPr lang="fr-FR" sz="2000" dirty="0"/>
              <a:t> &gt; Spark </a:t>
            </a:r>
            <a:r>
              <a:rPr lang="fr-FR" sz="2000" dirty="0" err="1"/>
              <a:t>Properties</a:t>
            </a:r>
            <a:r>
              <a:rPr lang="fr-FR" sz="2000" dirty="0"/>
              <a:t> &gt; </a:t>
            </a:r>
          </a:p>
          <a:p>
            <a:endParaRPr lang="fr-FR" sz="2000" dirty="0"/>
          </a:p>
          <a:p>
            <a:r>
              <a:rPr lang="fr-FR" sz="2000" dirty="0"/>
              <a:t>c/ check </a:t>
            </a:r>
            <a:r>
              <a:rPr lang="fr-FR" sz="2000" dirty="0" err="1"/>
              <a:t>spark.sql.catalogImplementation</a:t>
            </a:r>
            <a:endParaRPr lang="fr-FR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D8129C-C9C4-6FE2-7FCF-D334391C7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3534" y="3299232"/>
            <a:ext cx="6801439" cy="14860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3A805A-E7D4-E8D8-9062-EDAD3A7595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534" y="5297925"/>
            <a:ext cx="6591871" cy="38865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1FB9528-F5E9-9B9C-A2C7-691958EFADB4}"/>
              </a:ext>
            </a:extLst>
          </p:cNvPr>
          <p:cNvSpPr txBox="1"/>
          <p:nvPr/>
        </p:nvSpPr>
        <p:spPr>
          <a:xfrm>
            <a:off x="9904689" y="5792303"/>
            <a:ext cx="184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WRONG for </a:t>
            </a:r>
            <a:r>
              <a:rPr lang="fr-FR" dirty="0" err="1"/>
              <a:t>now</a:t>
            </a:r>
            <a:r>
              <a:rPr lang="fr-FR" dirty="0"/>
              <a:t>..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2F5B60-C1AF-4104-DB67-E56E6EFF6097}"/>
              </a:ext>
            </a:extLst>
          </p:cNvPr>
          <p:cNvSpPr/>
          <p:nvPr/>
        </p:nvSpPr>
        <p:spPr>
          <a:xfrm>
            <a:off x="10242041" y="5388369"/>
            <a:ext cx="532660" cy="298210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54273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C5097-50B6-914E-4ECD-0E981906A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Re-Checking Second Time 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DE7D0B-9227-E98D-D9FA-BC47AFF79AEF}"/>
              </a:ext>
            </a:extLst>
          </p:cNvPr>
          <p:cNvSpPr txBox="1"/>
          <p:nvPr/>
        </p:nvSpPr>
        <p:spPr>
          <a:xfrm>
            <a:off x="2588029" y="2154027"/>
            <a:ext cx="79913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 err="1"/>
              <a:t>println</a:t>
            </a:r>
            <a:r>
              <a:rPr lang="fr-FR" sz="2400" dirty="0"/>
              <a:t>(</a:t>
            </a:r>
            <a:r>
              <a:rPr lang="fr-FR" sz="2400" dirty="0" err="1"/>
              <a:t>spark.sharedState.externalCatalog.unwrapped</a:t>
            </a:r>
            <a:r>
              <a:rPr lang="fr-FR" sz="2400" dirty="0"/>
              <a:t>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38005BB-C391-4789-46EE-41D15AEDE1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320" y="2835261"/>
            <a:ext cx="10566155" cy="9790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6EB59DE-2AC0-A3D4-C728-F8CBB0E70E95}"/>
              </a:ext>
            </a:extLst>
          </p:cNvPr>
          <p:cNvSpPr txBox="1"/>
          <p:nvPr/>
        </p:nvSpPr>
        <p:spPr>
          <a:xfrm>
            <a:off x="838200" y="4541800"/>
            <a:ext cx="107995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 err="1"/>
              <a:t>Else</a:t>
            </a:r>
            <a:r>
              <a:rPr lang="fr-FR" sz="2400" dirty="0"/>
              <a:t>, </a:t>
            </a:r>
            <a:r>
              <a:rPr lang="fr-FR" sz="2400" dirty="0" err="1"/>
              <a:t>even</a:t>
            </a:r>
            <a:r>
              <a:rPr lang="fr-FR" sz="2400" dirty="0"/>
              <a:t> </a:t>
            </a:r>
            <a:r>
              <a:rPr lang="fr-FR" sz="2400" dirty="0" err="1"/>
              <a:t>this</a:t>
            </a:r>
            <a:r>
              <a:rPr lang="fr-FR" sz="2400" dirty="0"/>
              <a:t> </a:t>
            </a:r>
            <a:r>
              <a:rPr lang="fr-FR" sz="2400" dirty="0" err="1"/>
              <a:t>will</a:t>
            </a:r>
            <a:r>
              <a:rPr lang="fr-FR" sz="2400" dirty="0"/>
              <a:t> fail   in </a:t>
            </a:r>
            <a:r>
              <a:rPr lang="fr-FR" sz="2400" dirty="0" err="1"/>
              <a:t>spark</a:t>
            </a:r>
            <a:r>
              <a:rPr lang="fr-FR" sz="2400" dirty="0"/>
              <a:t> version &lt;= 3 …  but  OK in </a:t>
            </a:r>
            <a:r>
              <a:rPr lang="fr-FR" sz="2400" dirty="0" err="1"/>
              <a:t>spark</a:t>
            </a:r>
            <a:r>
              <a:rPr lang="fr-FR" sz="2400" dirty="0"/>
              <a:t> version &gt;= 4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E05C46F-D98C-3330-6072-1040EFB67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02" y="5147402"/>
            <a:ext cx="12103195" cy="879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4492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C5E69-85B4-69B4-8611-2F7125584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4356"/>
            <a:ext cx="10515600" cy="1361582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2: </a:t>
            </a:r>
            <a:r>
              <a:rPr lang="fr-FR" dirty="0" err="1"/>
              <a:t>reload</a:t>
            </a:r>
            <a:r>
              <a:rPr lang="fr-FR" dirty="0"/>
              <a:t> </a:t>
            </a:r>
            <a:r>
              <a:rPr lang="fr-FR" dirty="0" err="1"/>
              <a:t>address</a:t>
            </a:r>
            <a:r>
              <a:rPr lang="fr-FR" dirty="0"/>
              <a:t> </a:t>
            </a:r>
            <a:r>
              <a:rPr lang="fr-FR" dirty="0" err="1"/>
              <a:t>DataSet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 err="1"/>
              <a:t>ensure</a:t>
            </a:r>
            <a:r>
              <a:rPr lang="fr-FR" dirty="0"/>
              <a:t> no </a:t>
            </a:r>
            <a:r>
              <a:rPr lang="fr-FR" dirty="0" err="1"/>
              <a:t>OutOfMemoryError</a:t>
            </a:r>
            <a:endParaRPr lang="fr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EC31BF-885D-C3D2-24DC-3993C66C76B8}"/>
              </a:ext>
            </a:extLst>
          </p:cNvPr>
          <p:cNvSpPr txBox="1"/>
          <p:nvPr/>
        </p:nvSpPr>
        <p:spPr>
          <a:xfrm>
            <a:off x="935701" y="1867539"/>
            <a:ext cx="9476377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a/ </a:t>
            </a:r>
            <a:r>
              <a:rPr lang="fr-FR" sz="2000" dirty="0" err="1"/>
              <a:t>Load</a:t>
            </a:r>
            <a:r>
              <a:rPr lang="fr-FR" sz="2000" dirty="0"/>
              <a:t> the </a:t>
            </a:r>
            <a:r>
              <a:rPr lang="fr-FR" sz="2000" dirty="0" err="1"/>
              <a:t>Dataset</a:t>
            </a:r>
            <a:r>
              <a:rPr lang="fr-FR" sz="2000" dirty="0"/>
              <a:t> of </a:t>
            </a:r>
            <a:r>
              <a:rPr lang="fr-FR" sz="2000" dirty="0" err="1"/>
              <a:t>addresses</a:t>
            </a:r>
            <a:r>
              <a:rPr lang="fr-FR" sz="2000" dirty="0"/>
              <a:t> </a:t>
            </a:r>
            <a:r>
              <a:rPr lang="fr-FR" sz="2000" dirty="0" err="1"/>
              <a:t>from</a:t>
            </a:r>
            <a:r>
              <a:rPr lang="fr-FR" sz="2000" dirty="0"/>
              <a:t> </a:t>
            </a:r>
            <a:r>
              <a:rPr lang="fr-FR" sz="2000" dirty="0" err="1"/>
              <a:t>previous</a:t>
            </a:r>
            <a:r>
              <a:rPr lang="fr-FR" sz="2000" dirty="0"/>
              <a:t> hands-on.</a:t>
            </a:r>
          </a:p>
          <a:p>
            <a:r>
              <a:rPr lang="fr-FR" sz="2000" dirty="0"/>
              <a:t>   scala&gt; </a:t>
            </a:r>
            <a:r>
              <a:rPr lang="fr-FR" sz="2000" b="1" dirty="0"/>
              <a:t>val </a:t>
            </a:r>
            <a:r>
              <a:rPr lang="fr-FR" sz="2000" b="1" dirty="0" err="1"/>
              <a:t>allAddressDs</a:t>
            </a:r>
            <a:r>
              <a:rPr lang="fr-FR" sz="2000" b="1" dirty="0"/>
              <a:t> = </a:t>
            </a:r>
            <a:r>
              <a:rPr lang="fr-FR" sz="2000" b="1" dirty="0" err="1"/>
              <a:t>spark.read.parquet</a:t>
            </a:r>
            <a:r>
              <a:rPr lang="fr-FR" sz="2000" dirty="0"/>
              <a:t>("C:/data/OpenData-gouv.fr/bal-parquet")</a:t>
            </a:r>
          </a:p>
          <a:p>
            <a:endParaRPr lang="fr-FR" sz="2000" dirty="0"/>
          </a:p>
          <a:p>
            <a:r>
              <a:rPr lang="fr-FR" sz="2000" dirty="0"/>
              <a:t>b/ check the data… </a:t>
            </a:r>
            <a:r>
              <a:rPr lang="fr-FR" sz="2000" dirty="0" err="1"/>
              <a:t>using</a:t>
            </a:r>
            <a:r>
              <a:rPr lang="fr-FR" sz="2000" dirty="0"/>
              <a:t> « </a:t>
            </a:r>
            <a:r>
              <a:rPr lang="fr-FR" sz="2000" b="1" dirty="0"/>
              <a:t>.count </a:t>
            </a:r>
            <a:r>
              <a:rPr lang="fr-FR" sz="2000" dirty="0"/>
              <a:t>»  and « </a:t>
            </a:r>
            <a:r>
              <a:rPr lang="fr-FR" sz="2000" b="1" dirty="0"/>
              <a:t>.show</a:t>
            </a:r>
            <a:r>
              <a:rPr lang="fr-FR" sz="2000" dirty="0"/>
              <a:t>(2, false) »</a:t>
            </a:r>
          </a:p>
          <a:p>
            <a:endParaRPr lang="fr-FR" sz="2000" dirty="0"/>
          </a:p>
          <a:p>
            <a:r>
              <a:rPr lang="fr-FR" sz="2000" dirty="0"/>
              <a:t>You must have ~27 Millions </a:t>
            </a:r>
            <a:r>
              <a:rPr lang="fr-FR" sz="2000" dirty="0" err="1"/>
              <a:t>rows</a:t>
            </a:r>
            <a:endParaRPr lang="fr-FR" sz="20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6734141B-3A17-4B0C-B9B2-47A0DCEA53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56" y="4114308"/>
            <a:ext cx="11850127" cy="1200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0109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31FD19-39AA-4FE4-BB3F-3835D3C76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3520" y="40005"/>
            <a:ext cx="10515600" cy="1325563"/>
          </a:xfrm>
        </p:spPr>
        <p:txBody>
          <a:bodyPr/>
          <a:lstStyle/>
          <a:p>
            <a:r>
              <a:rPr lang="fr-FR" dirty="0" err="1"/>
              <a:t>OutOfMemoryError</a:t>
            </a:r>
            <a:r>
              <a:rPr lang="fr-FR" dirty="0"/>
              <a:t> ?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C03B2C8F-C29B-4531-8503-B1A3D28E6C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890" y="3576568"/>
            <a:ext cx="9944030" cy="224676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06031F27-D213-47D6-877E-217BA01CF925}"/>
              </a:ext>
            </a:extLst>
          </p:cNvPr>
          <p:cNvSpPr txBox="1"/>
          <p:nvPr/>
        </p:nvSpPr>
        <p:spPr>
          <a:xfrm>
            <a:off x="838200" y="2571095"/>
            <a:ext cx="80924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if </a:t>
            </a:r>
            <a:r>
              <a:rPr lang="fr-FR" sz="1800" dirty="0" err="1"/>
              <a:t>encountering</a:t>
            </a:r>
            <a:r>
              <a:rPr lang="fr-FR" sz="1800" dirty="0"/>
              <a:t> </a:t>
            </a:r>
            <a:r>
              <a:rPr lang="fr-FR" sz="1800" dirty="0" err="1"/>
              <a:t>OutOfMemory</a:t>
            </a:r>
            <a:r>
              <a:rPr lang="fr-FR" sz="1800" dirty="0"/>
              <a:t> </a:t>
            </a:r>
            <a:r>
              <a:rPr lang="fr-FR" sz="1800" dirty="0" err="1"/>
              <a:t>Error</a:t>
            </a:r>
            <a:r>
              <a:rPr lang="fr-FR" sz="1800" dirty="0"/>
              <a:t> .. </a:t>
            </a:r>
            <a:r>
              <a:rPr lang="fr-FR" sz="1800" dirty="0" err="1"/>
              <a:t>Then</a:t>
            </a:r>
            <a:r>
              <a:rPr lang="fr-FR" sz="1800" dirty="0"/>
              <a:t> </a:t>
            </a:r>
            <a:r>
              <a:rPr lang="fr-FR" sz="1800" dirty="0" err="1"/>
              <a:t>increase</a:t>
            </a:r>
            <a:r>
              <a:rPr lang="fr-FR" sz="1800" dirty="0"/>
              <a:t> memory (</a:t>
            </a:r>
            <a:r>
              <a:rPr lang="fr-FR" sz="1800" dirty="0" err="1"/>
              <a:t>cf</a:t>
            </a:r>
            <a:r>
              <a:rPr lang="fr-FR" sz="1800" dirty="0"/>
              <a:t> </a:t>
            </a:r>
            <a:r>
              <a:rPr lang="fr-FR" sz="1800" dirty="0" err="1"/>
              <a:t>next</a:t>
            </a:r>
            <a:r>
              <a:rPr lang="fr-FR" sz="1800" dirty="0"/>
              <a:t>):   </a:t>
            </a:r>
          </a:p>
          <a:p>
            <a:r>
              <a:rPr lang="fr-FR" sz="1800" dirty="0"/>
              <a:t>« </a:t>
            </a:r>
            <a:r>
              <a:rPr lang="fr-FR" sz="1800" dirty="0" err="1"/>
              <a:t>spark-shell</a:t>
            </a:r>
            <a:r>
              <a:rPr lang="fr-FR" sz="1800" dirty="0"/>
              <a:t>  --driver-memory 5g »</a:t>
            </a:r>
            <a:br>
              <a:rPr lang="fr-FR" sz="1800" dirty="0"/>
            </a:br>
            <a:endParaRPr lang="fr-FR" sz="18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6A8D88F-C416-4E7A-8462-9779873FF02A}"/>
              </a:ext>
            </a:extLst>
          </p:cNvPr>
          <p:cNvSpPr/>
          <p:nvPr/>
        </p:nvSpPr>
        <p:spPr>
          <a:xfrm rot="17255358">
            <a:off x="-311633" y="704733"/>
            <a:ext cx="215450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Details</a:t>
            </a:r>
          </a:p>
        </p:txBody>
      </p:sp>
    </p:spTree>
    <p:extLst>
      <p:ext uri="{BB962C8B-B14F-4D97-AF65-F5344CB8AC3E}">
        <p14:creationId xmlns:p14="http://schemas.microsoft.com/office/powerpoint/2010/main" val="30059373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75352-5687-164B-DAF7-50F01FF2F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9892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Ensure</a:t>
            </a:r>
            <a:r>
              <a:rPr lang="fr-FR" dirty="0"/>
              <a:t> Memory JVM Argument –Xmx3g</a:t>
            </a:r>
            <a:br>
              <a:rPr lang="fr-FR" dirty="0"/>
            </a:br>
            <a:r>
              <a:rPr lang="fr-FR" dirty="0" err="1"/>
              <a:t>add</a:t>
            </a:r>
            <a:r>
              <a:rPr lang="fr-FR" dirty="0"/>
              <a:t> arg    --driver-memory=3g</a:t>
            </a:r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30A28EBB-6CC8-FF69-0750-66EF253A277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06810135"/>
              </p:ext>
            </p:extLst>
          </p:nvPr>
        </p:nvGraphicFramePr>
        <p:xfrm>
          <a:off x="2219324" y="2976938"/>
          <a:ext cx="8258747" cy="231549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5" name="Bitmap Image" r:id="rId3" imgW="6534000" imgH="1832760" progId="PBrush">
                  <p:embed/>
                </p:oleObj>
              </mc:Choice>
              <mc:Fallback>
                <p:oleObj name="Bitmap Image" r:id="rId3" imgW="6534000" imgH="1832760" progId="PBrush">
                  <p:embed/>
                  <p:pic>
                    <p:nvPicPr>
                      <p:cNvPr id="4" name="Object 3">
                        <a:extLst>
                          <a:ext uri="{FF2B5EF4-FFF2-40B4-BE49-F238E27FC236}">
                            <a16:creationId xmlns:a16="http://schemas.microsoft.com/office/drawing/2014/main" id="{30A28EBB-6CC8-FF69-0750-66EF253A277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19324" y="2976938"/>
                        <a:ext cx="8258747" cy="231549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C385AE1-6760-D882-B417-9F196BE02906}"/>
              </a:ext>
            </a:extLst>
          </p:cNvPr>
          <p:cNvSpPr txBox="1"/>
          <p:nvPr/>
        </p:nvSpPr>
        <p:spPr>
          <a:xfrm>
            <a:off x="663551" y="1978429"/>
            <a:ext cx="108648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spark-shell --conf </a:t>
            </a:r>
            <a:r>
              <a:rPr lang="en-US" sz="2400" b="1" dirty="0" err="1"/>
              <a:t>spark.sql.catalogImplementation</a:t>
            </a:r>
            <a:r>
              <a:rPr lang="en-US" sz="2400" b="1" dirty="0"/>
              <a:t>=in-memory --driver-memory=3g</a:t>
            </a:r>
            <a:endParaRPr lang="fr-FR" sz="2400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D863A6-9503-675E-F41C-9CB693FFDFA7}"/>
              </a:ext>
            </a:extLst>
          </p:cNvPr>
          <p:cNvSpPr/>
          <p:nvPr/>
        </p:nvSpPr>
        <p:spPr>
          <a:xfrm>
            <a:off x="8739447" y="1978429"/>
            <a:ext cx="2789001" cy="509847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CB57CC-64AD-91C7-B8D8-FD258D1959EC}"/>
              </a:ext>
            </a:extLst>
          </p:cNvPr>
          <p:cNvSpPr/>
          <p:nvPr/>
        </p:nvSpPr>
        <p:spPr>
          <a:xfrm>
            <a:off x="6918960" y="3253047"/>
            <a:ext cx="623455" cy="260466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C04316-E524-1A17-974A-8B18BF121AF1}"/>
              </a:ext>
            </a:extLst>
          </p:cNvPr>
          <p:cNvSpPr/>
          <p:nvPr/>
        </p:nvSpPr>
        <p:spPr>
          <a:xfrm>
            <a:off x="7230688" y="4438997"/>
            <a:ext cx="2074026" cy="260466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35A933-2A1A-8481-27B7-0AFCEE6F59E4}"/>
              </a:ext>
            </a:extLst>
          </p:cNvPr>
          <p:cNvSpPr/>
          <p:nvPr/>
        </p:nvSpPr>
        <p:spPr>
          <a:xfrm rot="17255358">
            <a:off x="-311633" y="704733"/>
            <a:ext cx="215450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Details</a:t>
            </a:r>
          </a:p>
        </p:txBody>
      </p:sp>
    </p:spTree>
    <p:extLst>
      <p:ext uri="{BB962C8B-B14F-4D97-AF65-F5344CB8AC3E}">
        <p14:creationId xmlns:p14="http://schemas.microsoft.com/office/powerpoint/2010/main" val="41743189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61518-73F8-D04F-7E2B-7FD019086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726613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EBD7C9-20A9-E235-6D06-09D59914A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37230"/>
            <a:ext cx="12192000" cy="2983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5894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E8C43-9434-B376-417A-1A2DC875B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3:  </a:t>
            </a:r>
            <a:r>
              <a:rPr lang="fr-FR" dirty="0" err="1"/>
              <a:t>createTempView</a:t>
            </a:r>
            <a:r>
              <a:rPr lang="fr-FR" dirty="0"/>
              <a:t> … </a:t>
            </a:r>
            <a:r>
              <a:rPr lang="fr-FR" dirty="0" err="1"/>
              <a:t>then</a:t>
            </a:r>
            <a:r>
              <a:rPr lang="fr-FR" dirty="0"/>
              <a:t> SQL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B9C399-41D1-DD7C-5269-B2CAEA441460}"/>
              </a:ext>
            </a:extLst>
          </p:cNvPr>
          <p:cNvSpPr txBox="1"/>
          <p:nvPr/>
        </p:nvSpPr>
        <p:spPr>
          <a:xfrm>
            <a:off x="1235052" y="2741494"/>
            <a:ext cx="10189008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fr-FR" sz="1800" dirty="0" err="1"/>
              <a:t>allAddressDs.</a:t>
            </a:r>
            <a:r>
              <a:rPr lang="fr-FR" sz="1800" dirty="0" err="1">
                <a:latin typeface="Consolas" panose="020B0609020204030204" pitchFamily="49" charset="0"/>
              </a:rPr>
              <a:t>createTempView</a:t>
            </a:r>
            <a:r>
              <a:rPr lang="fr-FR" sz="1800" dirty="0">
                <a:latin typeface="Consolas" panose="020B0609020204030204" pitchFamily="49" charset="0"/>
              </a:rPr>
              <a:t>("</a:t>
            </a:r>
            <a:r>
              <a:rPr lang="fr-FR" sz="1800" dirty="0" err="1">
                <a:latin typeface="Consolas" panose="020B0609020204030204" pitchFamily="49" charset="0"/>
              </a:rPr>
              <a:t>tmp_address</a:t>
            </a:r>
            <a:r>
              <a:rPr lang="fr-FR" sz="1800" dirty="0">
                <a:latin typeface="Consolas" panose="020B0609020204030204" pitchFamily="49" charset="0"/>
              </a:rPr>
              <a:t>")</a:t>
            </a:r>
          </a:p>
          <a:p>
            <a:pPr algn="l"/>
            <a:endParaRPr lang="en-US" sz="1800" dirty="0">
              <a:latin typeface="Consolas" panose="020B0609020204030204" pitchFamily="49" charset="0"/>
            </a:endParaRPr>
          </a:p>
          <a:p>
            <a:pPr algn="l"/>
            <a:r>
              <a:rPr lang="en-US" sz="1800" dirty="0" err="1">
                <a:latin typeface="Consolas" panose="020B0609020204030204" pitchFamily="49" charset="0"/>
              </a:rPr>
              <a:t>spark.sql</a:t>
            </a:r>
            <a:r>
              <a:rPr lang="en-US" sz="1800" dirty="0">
                <a:latin typeface="Consolas" panose="020B0609020204030204" pitchFamily="49" charset="0"/>
              </a:rPr>
              <a:t>("SELECT count(*) FROM </a:t>
            </a:r>
            <a:r>
              <a:rPr lang="en-US" sz="1800" dirty="0" err="1">
                <a:latin typeface="Consolas" panose="020B0609020204030204" pitchFamily="49" charset="0"/>
              </a:rPr>
              <a:t>tmp_address</a:t>
            </a:r>
            <a:r>
              <a:rPr lang="en-US" sz="1800" dirty="0">
                <a:latin typeface="Consolas" panose="020B0609020204030204" pitchFamily="49" charset="0"/>
              </a:rPr>
              <a:t>").show()</a:t>
            </a:r>
          </a:p>
          <a:p>
            <a:pPr algn="l"/>
            <a:endParaRPr lang="en-US" dirty="0">
              <a:latin typeface="Consolas" panose="020B0609020204030204" pitchFamily="49" charset="0"/>
            </a:endParaRPr>
          </a:p>
          <a:p>
            <a:r>
              <a:rPr lang="en-US" sz="1800" dirty="0" err="1">
                <a:latin typeface="Consolas" panose="020B0609020204030204" pitchFamily="49" charset="0"/>
              </a:rPr>
              <a:t>spark.sql</a:t>
            </a:r>
            <a:r>
              <a:rPr lang="en-US" sz="1800" dirty="0">
                <a:latin typeface="Consolas" panose="020B0609020204030204" pitchFamily="49" charset="0"/>
              </a:rPr>
              <a:t>("SELECT * FROM </a:t>
            </a:r>
            <a:r>
              <a:rPr lang="en-US" sz="1800" dirty="0" err="1">
                <a:latin typeface="Consolas" panose="020B0609020204030204" pitchFamily="49" charset="0"/>
              </a:rPr>
              <a:t>tmp_address</a:t>
            </a:r>
            <a:r>
              <a:rPr lang="en-US" sz="1800" dirty="0">
                <a:latin typeface="Consolas" panose="020B0609020204030204" pitchFamily="49" charset="0"/>
              </a:rPr>
              <a:t>").show(2, false)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sz="1800" dirty="0" err="1">
                <a:latin typeface="Consolas" panose="020B0609020204030204" pitchFamily="49" charset="0"/>
              </a:rPr>
              <a:t>spark.sql</a:t>
            </a:r>
            <a:r>
              <a:rPr lang="en-US" sz="1800" dirty="0">
                <a:latin typeface="Consolas" panose="020B0609020204030204" pitchFamily="49" charset="0"/>
              </a:rPr>
              <a:t>("SELECT * FROM </a:t>
            </a:r>
            <a:r>
              <a:rPr lang="en-US" sz="1800" dirty="0" err="1">
                <a:latin typeface="Consolas" panose="020B0609020204030204" pitchFamily="49" charset="0"/>
              </a:rPr>
              <a:t>tmp_address</a:t>
            </a:r>
            <a:r>
              <a:rPr lang="en-US" sz="1800" dirty="0">
                <a:latin typeface="Consolas" panose="020B0609020204030204" pitchFamily="49" charset="0"/>
              </a:rPr>
              <a:t> WHERE </a:t>
            </a:r>
            <a:r>
              <a:rPr lang="en-US" sz="1800" dirty="0" err="1">
                <a:latin typeface="Consolas" panose="020B0609020204030204" pitchFamily="49" charset="0"/>
              </a:rPr>
              <a:t>commune_nom</a:t>
            </a:r>
            <a:r>
              <a:rPr lang="en-US" sz="1800" dirty="0">
                <a:latin typeface="Consolas" panose="020B0609020204030204" pitchFamily="49" charset="0"/>
              </a:rPr>
              <a:t>='Paris'").show(2, false)</a:t>
            </a:r>
          </a:p>
          <a:p>
            <a:endParaRPr lang="en-US" sz="1800" dirty="0">
              <a:latin typeface="Consolas" panose="020B0609020204030204" pitchFamily="49" charset="0"/>
            </a:endParaRPr>
          </a:p>
          <a:p>
            <a:pPr algn="l"/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EFA007-2206-2014-E395-F1F76A9259C5}"/>
              </a:ext>
            </a:extLst>
          </p:cNvPr>
          <p:cNvSpPr txBox="1"/>
          <p:nvPr/>
        </p:nvSpPr>
        <p:spPr>
          <a:xfrm>
            <a:off x="633413" y="2014538"/>
            <a:ext cx="18310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Execute</a:t>
            </a:r>
            <a:r>
              <a:rPr lang="fr-FR" dirty="0"/>
              <a:t> </a:t>
            </a:r>
            <a:r>
              <a:rPr lang="fr-FR" dirty="0" err="1"/>
              <a:t>following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373366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B1B3B-0CCA-6F5B-CC73-4D39CBCBA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3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FEE384D-0192-4A29-99A2-51EC5024E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" y="1736183"/>
            <a:ext cx="12192000" cy="5051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1083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C7C32-598F-CF28-0AC3-3633608D9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4: </a:t>
            </a:r>
            <a:r>
              <a:rPr lang="fr-FR" dirty="0" err="1"/>
              <a:t>list</a:t>
            </a:r>
            <a:r>
              <a:rPr lang="fr-FR" dirty="0"/>
              <a:t> Tables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2F4344-E855-B9A6-6D04-36B2D9696342}"/>
              </a:ext>
            </a:extLst>
          </p:cNvPr>
          <p:cNvSpPr txBox="1"/>
          <p:nvPr/>
        </p:nvSpPr>
        <p:spPr>
          <a:xfrm>
            <a:off x="3048000" y="3244334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latin typeface="Consolas" panose="020B0609020204030204" pitchFamily="49" charset="0"/>
              </a:rPr>
              <a:t>spark.sql</a:t>
            </a:r>
            <a:r>
              <a:rPr lang="en-US" sz="1800" dirty="0">
                <a:latin typeface="Consolas" panose="020B0609020204030204" pitchFamily="49" charset="0"/>
              </a:rPr>
              <a:t>("SHOW TABLES").show()</a:t>
            </a:r>
          </a:p>
          <a:p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 err="1">
                <a:latin typeface="Consolas" panose="020B0609020204030204" pitchFamily="49" charset="0"/>
              </a:rPr>
              <a:t>spark.catalog.listTables</a:t>
            </a:r>
            <a:r>
              <a:rPr lang="en-US" sz="1800" dirty="0">
                <a:latin typeface="Consolas" panose="020B0609020204030204" pitchFamily="49" charset="0"/>
              </a:rPr>
              <a:t>().show(false)</a:t>
            </a:r>
          </a:p>
        </p:txBody>
      </p:sp>
    </p:spTree>
    <p:extLst>
      <p:ext uri="{BB962C8B-B14F-4D97-AF65-F5344CB8AC3E}">
        <p14:creationId xmlns:p14="http://schemas.microsoft.com/office/powerpoint/2010/main" val="293170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7CF83-364E-F9DE-6224-C322383EF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4: List Tables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03EC855-6059-416B-8D28-91748BA4F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900" y="2286497"/>
            <a:ext cx="7258679" cy="3189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7196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A7C07-0C8A-68D1-6CF5-4BA00425B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5: </a:t>
            </a:r>
            <a:r>
              <a:rPr lang="fr-FR" dirty="0" err="1"/>
              <a:t>Describe</a:t>
            </a:r>
            <a:r>
              <a:rPr lang="fr-FR" dirty="0"/>
              <a:t> Table  / </a:t>
            </a:r>
            <a:r>
              <a:rPr lang="fr-FR" dirty="0" err="1"/>
              <a:t>printSchema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6D6449-21F5-6023-639D-7E08FEC634D2}"/>
              </a:ext>
            </a:extLst>
          </p:cNvPr>
          <p:cNvSpPr txBox="1"/>
          <p:nvPr/>
        </p:nvSpPr>
        <p:spPr>
          <a:xfrm>
            <a:off x="595313" y="2799685"/>
            <a:ext cx="1144064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 err="1"/>
              <a:t>Execute</a:t>
            </a:r>
            <a:endParaRPr lang="fr-FR" sz="2000" dirty="0"/>
          </a:p>
          <a:p>
            <a:endParaRPr lang="fr-FR" sz="2000" dirty="0"/>
          </a:p>
          <a:p>
            <a:r>
              <a:rPr lang="en-US" sz="2000" dirty="0" err="1"/>
              <a:t>spark.sql</a:t>
            </a:r>
            <a:r>
              <a:rPr lang="en-US" sz="2000" dirty="0"/>
              <a:t>("select * from </a:t>
            </a:r>
            <a:r>
              <a:rPr lang="en-US" sz="2000" dirty="0" err="1"/>
              <a:t>tmp_address</a:t>
            </a:r>
            <a:r>
              <a:rPr lang="en-US" sz="2000" dirty="0"/>
              <a:t>")</a:t>
            </a:r>
            <a:r>
              <a:rPr lang="en-US" sz="2000" b="1" dirty="0"/>
              <a:t>.</a:t>
            </a:r>
            <a:r>
              <a:rPr lang="en-US" sz="2000" b="1" dirty="0" err="1"/>
              <a:t>printSchema</a:t>
            </a:r>
            <a:r>
              <a:rPr lang="en-US" sz="2000" b="1" dirty="0"/>
              <a:t>()</a:t>
            </a:r>
          </a:p>
          <a:p>
            <a:endParaRPr lang="fr-FR" sz="2000" dirty="0"/>
          </a:p>
          <a:p>
            <a:r>
              <a:rPr lang="en-US" sz="2000" dirty="0" err="1"/>
              <a:t>spark.sql</a:t>
            </a:r>
            <a:r>
              <a:rPr lang="en-US" sz="2000" dirty="0"/>
              <a:t>("</a:t>
            </a:r>
            <a:r>
              <a:rPr lang="en-US" sz="2000" b="1" dirty="0"/>
              <a:t>describe table </a:t>
            </a:r>
            <a:r>
              <a:rPr lang="en-US" sz="2000" dirty="0" err="1"/>
              <a:t>tmp_address</a:t>
            </a:r>
            <a:r>
              <a:rPr lang="en-US" sz="2000" dirty="0"/>
              <a:t>").show(false)</a:t>
            </a:r>
            <a:endParaRPr lang="fr-FR" sz="2000" dirty="0"/>
          </a:p>
          <a:p>
            <a:endParaRPr lang="fr-FR" sz="2000" dirty="0"/>
          </a:p>
          <a:p>
            <a:r>
              <a:rPr lang="en-US" sz="2000" dirty="0" err="1"/>
              <a:t>spark.sql</a:t>
            </a:r>
            <a:r>
              <a:rPr lang="en-US" sz="2000" dirty="0"/>
              <a:t>("</a:t>
            </a:r>
            <a:r>
              <a:rPr lang="en-US" sz="2000" b="1" dirty="0"/>
              <a:t>show create table </a:t>
            </a:r>
            <a:r>
              <a:rPr lang="en-US" sz="2000" dirty="0" err="1"/>
              <a:t>tmp_address</a:t>
            </a:r>
            <a:r>
              <a:rPr lang="en-US" sz="2000" dirty="0"/>
              <a:t>").show(false)</a:t>
            </a:r>
            <a:r>
              <a:rPr lang="fr-FR" sz="2000" dirty="0"/>
              <a:t>    </a:t>
            </a:r>
          </a:p>
          <a:p>
            <a:r>
              <a:rPr lang="fr-FR" sz="2000" dirty="0"/>
              <a:t>          // …. WILL FAIL … no </a:t>
            </a:r>
            <a:r>
              <a:rPr lang="fr-FR" sz="2000" dirty="0" err="1"/>
              <a:t>Sql</a:t>
            </a:r>
            <a:r>
              <a:rPr lang="fr-FR" sz="2000" dirty="0"/>
              <a:t> DDL for </a:t>
            </a:r>
            <a:r>
              <a:rPr lang="fr-FR" sz="2000" dirty="0" err="1"/>
              <a:t>it</a:t>
            </a:r>
            <a:endParaRPr lang="fr-FR" sz="2000" dirty="0"/>
          </a:p>
          <a:p>
            <a:r>
              <a:rPr lang="fr-FR" sz="2000" dirty="0"/>
              <a:t>          // </a:t>
            </a:r>
            <a:r>
              <a:rPr lang="fr-FR" sz="2000" dirty="0" err="1"/>
              <a:t>error</a:t>
            </a:r>
            <a:r>
              <a:rPr lang="fr-FR" sz="2000" dirty="0"/>
              <a:t>: not a « table » (but </a:t>
            </a:r>
            <a:r>
              <a:rPr lang="fr-FR" sz="2000" dirty="0" err="1"/>
              <a:t>describe</a:t>
            </a:r>
            <a:r>
              <a:rPr lang="fr-FR" sz="2000" dirty="0"/>
              <a:t> ok!)</a:t>
            </a:r>
          </a:p>
        </p:txBody>
      </p:sp>
    </p:spTree>
    <p:extLst>
      <p:ext uri="{BB962C8B-B14F-4D97-AF65-F5344CB8AC3E}">
        <p14:creationId xmlns:p14="http://schemas.microsoft.com/office/powerpoint/2010/main" val="3162185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7594C-AECE-9753-B52A-CCF40E667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139" y="88901"/>
            <a:ext cx="11782424" cy="820738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5 : </a:t>
            </a:r>
            <a:r>
              <a:rPr lang="fr-FR" dirty="0" err="1"/>
              <a:t>describe</a:t>
            </a:r>
            <a:r>
              <a:rPr lang="fr-FR" dirty="0"/>
              <a:t> Table / table DS </a:t>
            </a:r>
            <a:r>
              <a:rPr lang="fr-FR" dirty="0" err="1"/>
              <a:t>schema</a:t>
            </a:r>
            <a:endParaRPr lang="fr-FR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90D50DF-D4F2-546D-E0F5-FB06B190D9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436" y="1324902"/>
            <a:ext cx="11057578" cy="57917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8C84F48-97F9-4830-AF1C-9A6F9F022B3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888"/>
          <a:stretch/>
        </p:blipFill>
        <p:spPr>
          <a:xfrm>
            <a:off x="67101" y="2434399"/>
            <a:ext cx="6162250" cy="371875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01B19260-DE48-40B3-B2F8-892953D29E8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60"/>
          <a:stretch/>
        </p:blipFill>
        <p:spPr>
          <a:xfrm>
            <a:off x="6369391" y="2115314"/>
            <a:ext cx="5822609" cy="4171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8271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3FC73-0B9F-5D73-9F58-892F6F4BB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6: stop + restart .. </a:t>
            </a:r>
            <a:r>
              <a:rPr lang="fr-FR" dirty="0" err="1"/>
              <a:t>temporary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EF453B-EFDF-A2A6-42E3-D12AC7F27B80}"/>
              </a:ext>
            </a:extLst>
          </p:cNvPr>
          <p:cNvSpPr txBox="1"/>
          <p:nvPr/>
        </p:nvSpPr>
        <p:spPr>
          <a:xfrm>
            <a:off x="4216893" y="2499065"/>
            <a:ext cx="5703741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a/ stop </a:t>
            </a:r>
            <a:r>
              <a:rPr lang="fr-FR" sz="2400" dirty="0" err="1"/>
              <a:t>spark-shell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b/ restart </a:t>
            </a:r>
            <a:r>
              <a:rPr lang="fr-FR" sz="2400" dirty="0" err="1"/>
              <a:t>spark-shell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c/ </a:t>
            </a:r>
            <a:r>
              <a:rPr lang="fr-FR" sz="2400" dirty="0" err="1"/>
              <a:t>list</a:t>
            </a:r>
            <a:r>
              <a:rPr lang="fr-FR" sz="2400" dirty="0"/>
              <a:t> tables …</a:t>
            </a:r>
            <a:br>
              <a:rPr lang="fr-FR" sz="2400" dirty="0"/>
            </a:br>
            <a:r>
              <a:rPr lang="fr-FR" sz="2400" dirty="0"/>
              <a:t>   Check </a:t>
            </a:r>
            <a:r>
              <a:rPr lang="fr-FR" sz="2400" dirty="0" err="1"/>
              <a:t>temporary</a:t>
            </a:r>
            <a:r>
              <a:rPr lang="fr-FR" sz="2400" dirty="0"/>
              <a:t> tables have </a:t>
            </a:r>
            <a:r>
              <a:rPr lang="fr-FR" sz="2400" dirty="0" err="1"/>
              <a:t>disapeared</a:t>
            </a:r>
            <a:r>
              <a:rPr lang="fr-FR" sz="2400" dirty="0"/>
              <a:t> ! 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18986674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C5E69-85B4-69B4-8611-2F7125584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4356"/>
            <a:ext cx="10515600" cy="1361582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Optional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7: </a:t>
            </a:r>
            <a:r>
              <a:rPr lang="fr-FR" dirty="0" err="1"/>
              <a:t>createGlobalTemporaryView</a:t>
            </a:r>
            <a:endParaRPr lang="fr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EC31BF-885D-C3D2-24DC-3993C66C76B8}"/>
              </a:ext>
            </a:extLst>
          </p:cNvPr>
          <p:cNvSpPr txBox="1"/>
          <p:nvPr/>
        </p:nvSpPr>
        <p:spPr>
          <a:xfrm>
            <a:off x="2328129" y="2150764"/>
            <a:ext cx="8684878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a/ </a:t>
            </a:r>
            <a:r>
              <a:rPr lang="fr-FR" sz="2400" dirty="0" err="1"/>
              <a:t>similar</a:t>
            </a:r>
            <a:r>
              <a:rPr lang="fr-FR" sz="2400" dirty="0"/>
              <a:t> to </a:t>
            </a:r>
            <a:r>
              <a:rPr lang="fr-FR" sz="2400" dirty="0" err="1"/>
              <a:t>Exercise</a:t>
            </a:r>
            <a:r>
              <a:rPr lang="fr-FR" sz="2400" dirty="0"/>
              <a:t> 3, </a:t>
            </a:r>
            <a:br>
              <a:rPr lang="fr-FR" sz="2400" dirty="0"/>
            </a:br>
            <a:r>
              <a:rPr lang="fr-FR" sz="2400" dirty="0"/>
              <a:t>   « </a:t>
            </a:r>
            <a:r>
              <a:rPr lang="fr-FR" sz="2400" b="1" dirty="0" err="1"/>
              <a:t>createGlobalTemporaryView</a:t>
            </a:r>
            <a:r>
              <a:rPr lang="fr-FR" sz="2400" b="1" dirty="0"/>
              <a:t> </a:t>
            </a:r>
            <a:r>
              <a:rPr lang="fr-FR" sz="2400" dirty="0"/>
              <a:t>» </a:t>
            </a:r>
            <a:r>
              <a:rPr lang="fr-FR" sz="2400" dirty="0" err="1"/>
              <a:t>from</a:t>
            </a:r>
            <a:r>
              <a:rPr lang="fr-FR" sz="2400" dirty="0"/>
              <a:t> </a:t>
            </a:r>
            <a:r>
              <a:rPr lang="fr-FR" sz="2400" dirty="0" err="1"/>
              <a:t>your</a:t>
            </a:r>
            <a:r>
              <a:rPr lang="fr-FR" sz="2400" dirty="0"/>
              <a:t> </a:t>
            </a:r>
            <a:r>
              <a:rPr lang="fr-FR" sz="2400" dirty="0" err="1"/>
              <a:t>dataset</a:t>
            </a:r>
            <a:br>
              <a:rPr lang="fr-FR" sz="2400" dirty="0"/>
            </a:br>
            <a:r>
              <a:rPr lang="fr-FR" sz="2400" dirty="0"/>
              <a:t>   </a:t>
            </a:r>
            <a:r>
              <a:rPr lang="fr-FR" sz="2400" dirty="0" err="1"/>
              <a:t>instead</a:t>
            </a:r>
            <a:r>
              <a:rPr lang="fr-FR" sz="2400" dirty="0"/>
              <a:t> of a « </a:t>
            </a:r>
            <a:r>
              <a:rPr lang="fr-FR" sz="2400" dirty="0" err="1"/>
              <a:t>createTempView</a:t>
            </a:r>
            <a:r>
              <a:rPr lang="fr-FR" sz="2400" dirty="0"/>
              <a:t> »</a:t>
            </a:r>
          </a:p>
          <a:p>
            <a:endParaRPr lang="fr-FR" sz="2400" dirty="0"/>
          </a:p>
          <a:p>
            <a:r>
              <a:rPr lang="fr-FR" sz="2400" dirty="0"/>
              <a:t>b/ </a:t>
            </a:r>
            <a:r>
              <a:rPr lang="fr-FR" sz="2400" dirty="0" err="1"/>
              <a:t>forget</a:t>
            </a:r>
            <a:r>
              <a:rPr lang="fr-FR" sz="2400" dirty="0"/>
              <a:t> about </a:t>
            </a:r>
            <a:r>
              <a:rPr lang="fr-FR" sz="2400" dirty="0" err="1"/>
              <a:t>finding</a:t>
            </a:r>
            <a:r>
              <a:rPr lang="fr-FR" sz="2400" dirty="0"/>
              <a:t> </a:t>
            </a:r>
            <a:r>
              <a:rPr lang="fr-FR" sz="2400" dirty="0" err="1"/>
              <a:t>it</a:t>
            </a:r>
            <a:r>
              <a:rPr lang="fr-FR" sz="2400" dirty="0"/>
              <a:t> </a:t>
            </a:r>
            <a:r>
              <a:rPr lang="fr-FR" sz="2400" dirty="0" err="1"/>
              <a:t>from</a:t>
            </a:r>
            <a:r>
              <a:rPr lang="fr-FR" sz="2400" dirty="0"/>
              <a:t> default </a:t>
            </a:r>
            <a:r>
              <a:rPr lang="fr-FR" sz="2400" dirty="0" err="1"/>
              <a:t>spark</a:t>
            </a:r>
            <a:r>
              <a:rPr lang="fr-FR" sz="2400" dirty="0"/>
              <a:t> </a:t>
            </a:r>
            <a:r>
              <a:rPr lang="fr-FR" sz="2400" dirty="0" err="1"/>
              <a:t>catalog</a:t>
            </a:r>
            <a:r>
              <a:rPr lang="fr-FR" sz="2400" dirty="0"/>
              <a:t>   ( … </a:t>
            </a:r>
            <a:r>
              <a:rPr lang="fr-FR" sz="2400" dirty="0" err="1"/>
              <a:t>confusing</a:t>
            </a:r>
            <a:r>
              <a:rPr lang="fr-FR" sz="2400" dirty="0"/>
              <a:t>  )</a:t>
            </a:r>
            <a:br>
              <a:rPr lang="fr-FR" sz="2400" dirty="0"/>
            </a:br>
            <a:r>
              <a:rPr lang="fr-FR" sz="2400" dirty="0"/>
              <a:t>   </a:t>
            </a:r>
            <a:r>
              <a:rPr lang="fr-FR" sz="2400" dirty="0" err="1"/>
              <a:t>list</a:t>
            </a:r>
            <a:r>
              <a:rPr lang="fr-FR" sz="2400" dirty="0"/>
              <a:t> </a:t>
            </a:r>
            <a:r>
              <a:rPr lang="fr-FR" sz="2400" dirty="0" err="1"/>
              <a:t>explicitly</a:t>
            </a:r>
            <a:r>
              <a:rPr lang="fr-FR" sz="2400" dirty="0"/>
              <a:t> </a:t>
            </a:r>
            <a:r>
              <a:rPr lang="fr-FR" sz="2400" dirty="0" err="1"/>
              <a:t>from</a:t>
            </a:r>
            <a:r>
              <a:rPr lang="fr-FR" sz="2400" dirty="0"/>
              <a:t>:</a:t>
            </a:r>
            <a:br>
              <a:rPr lang="fr-FR" sz="2400" dirty="0"/>
            </a:br>
            <a:r>
              <a:rPr lang="fr-FR" sz="2400" dirty="0"/>
              <a:t>   </a:t>
            </a:r>
            <a:r>
              <a:rPr lang="fr-FR" sz="2400" dirty="0" err="1"/>
              <a:t>spark.catalog.listTables</a:t>
            </a:r>
            <a:r>
              <a:rPr lang="fr-FR" sz="2400" dirty="0"/>
              <a:t>(</a:t>
            </a:r>
            <a:r>
              <a:rPr lang="fr-FR" sz="2400" b="1" dirty="0"/>
              <a:t>« </a:t>
            </a:r>
            <a:r>
              <a:rPr lang="fr-FR" sz="2400" b="1" dirty="0" err="1"/>
              <a:t>global_temp</a:t>
            </a:r>
            <a:r>
              <a:rPr lang="fr-FR" sz="2400" b="1" dirty="0"/>
              <a:t> »</a:t>
            </a:r>
            <a:r>
              <a:rPr lang="fr-FR" sz="2400" dirty="0"/>
              <a:t>).show(false)</a:t>
            </a:r>
          </a:p>
          <a:p>
            <a:endParaRPr lang="fr-FR" sz="2400" dirty="0"/>
          </a:p>
          <a:p>
            <a:r>
              <a:rPr lang="fr-FR" sz="2400" dirty="0"/>
              <a:t>c/ </a:t>
            </a:r>
            <a:r>
              <a:rPr lang="fr-FR" sz="2400" dirty="0" err="1"/>
              <a:t>execute</a:t>
            </a:r>
            <a:r>
              <a:rPr lang="fr-FR" sz="2400" dirty="0"/>
              <a:t> SQL </a:t>
            </a:r>
            <a:r>
              <a:rPr lang="fr-FR" sz="2400" dirty="0" err="1"/>
              <a:t>query</a:t>
            </a:r>
            <a:r>
              <a:rPr lang="fr-FR" sz="2400" dirty="0"/>
              <a:t> on « </a:t>
            </a:r>
            <a:r>
              <a:rPr lang="fr-FR" sz="2400" b="1" dirty="0" err="1"/>
              <a:t>global_temp.</a:t>
            </a:r>
            <a:r>
              <a:rPr lang="fr-FR" sz="2400" dirty="0" err="1"/>
              <a:t>address</a:t>
            </a:r>
            <a:r>
              <a:rPr lang="fr-FR" sz="2400" dirty="0"/>
              <a:t> »</a:t>
            </a:r>
          </a:p>
          <a:p>
            <a:r>
              <a:rPr lang="fr-FR" sz="2400" dirty="0"/>
              <a:t>  select count(*) </a:t>
            </a:r>
            <a:r>
              <a:rPr lang="fr-FR" sz="2400" dirty="0" err="1"/>
              <a:t>from</a:t>
            </a:r>
            <a:r>
              <a:rPr lang="fr-FR" sz="2400" dirty="0"/>
              <a:t> </a:t>
            </a:r>
            <a:r>
              <a:rPr lang="fr-FR" sz="2400" dirty="0" err="1"/>
              <a:t>global_temp.address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d/ </a:t>
            </a:r>
            <a:r>
              <a:rPr lang="fr-FR" sz="2400" dirty="0" err="1"/>
              <a:t>explain</a:t>
            </a:r>
            <a:r>
              <a:rPr lang="fr-FR" sz="2400" dirty="0"/>
              <a:t> </a:t>
            </a:r>
            <a:r>
              <a:rPr lang="fr-FR" sz="2400" dirty="0" err="1"/>
              <a:t>difference</a:t>
            </a:r>
            <a:r>
              <a:rPr lang="fr-FR" sz="2400" dirty="0"/>
              <a:t> </a:t>
            </a:r>
            <a:r>
              <a:rPr lang="fr-FR" sz="2400" dirty="0" err="1"/>
              <a:t>between</a:t>
            </a:r>
            <a:r>
              <a:rPr lang="fr-FR" sz="2400" dirty="0"/>
              <a:t> global temp and temp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66D29D-5C94-371E-E05F-F730388E3317}"/>
              </a:ext>
            </a:extLst>
          </p:cNvPr>
          <p:cNvSpPr txBox="1"/>
          <p:nvPr/>
        </p:nvSpPr>
        <p:spPr>
          <a:xfrm>
            <a:off x="781235" y="1700073"/>
            <a:ext cx="121091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hlinkClick r:id="rId2"/>
              </a:rPr>
              <a:t>https://spark.apache.org/docs/latest/sql-getting-started.html#global-temporary-view</a:t>
            </a:r>
            <a:endParaRPr lang="fr-FR" sz="2400" dirty="0"/>
          </a:p>
          <a:p>
            <a:endParaRPr lang="fr-FR" sz="1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35CD9E-1AE4-517F-E8CE-0C404FFCD172}"/>
              </a:ext>
            </a:extLst>
          </p:cNvPr>
          <p:cNvSpPr/>
          <p:nvPr/>
        </p:nvSpPr>
        <p:spPr>
          <a:xfrm rot="17255358">
            <a:off x="-324700" y="1193126"/>
            <a:ext cx="268746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9130419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B83EB-BDD0-950E-BEF7-A296730A0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2535" y="0"/>
            <a:ext cx="10515600" cy="1123025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7</a:t>
            </a:r>
            <a:br>
              <a:rPr lang="fr-FR" dirty="0"/>
            </a:br>
            <a:r>
              <a:rPr lang="fr-FR" dirty="0"/>
              <a:t>… </a:t>
            </a:r>
            <a:r>
              <a:rPr lang="fr-FR" dirty="0" err="1"/>
              <a:t>Confusing</a:t>
            </a:r>
            <a:r>
              <a:rPr lang="fr-FR" dirty="0"/>
              <a:t>: </a:t>
            </a:r>
            <a:r>
              <a:rPr lang="fr-FR" dirty="0" err="1"/>
              <a:t>Where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my</a:t>
            </a:r>
            <a:r>
              <a:rPr lang="fr-FR" dirty="0"/>
              <a:t> global temp table?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6D159F-DCA3-09A9-642A-16DBF1FC91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70" y="1993200"/>
            <a:ext cx="11607659" cy="3160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7318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B83EB-BDD0-950E-BEF7-A296730A0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2535" y="0"/>
            <a:ext cx="10515600" cy="1124989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7</a:t>
            </a:r>
            <a:br>
              <a:rPr lang="fr-FR" dirty="0"/>
            </a:br>
            <a:r>
              <a:rPr lang="fr-FR" dirty="0" err="1"/>
              <a:t>ask</a:t>
            </a:r>
            <a:r>
              <a:rPr lang="fr-FR" dirty="0"/>
              <a:t> </a:t>
            </a:r>
            <a:r>
              <a:rPr lang="fr-FR" dirty="0" err="1"/>
              <a:t>explicitly</a:t>
            </a:r>
            <a:r>
              <a:rPr lang="fr-FR" dirty="0"/>
              <a:t> in « </a:t>
            </a:r>
            <a:r>
              <a:rPr lang="fr-FR" dirty="0" err="1"/>
              <a:t>global_temp</a:t>
            </a:r>
            <a:r>
              <a:rPr lang="fr-FR" dirty="0"/>
              <a:t> »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BCFF77-44E1-B492-A39B-461794FDF7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746" y="2486605"/>
            <a:ext cx="8342507" cy="1884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3494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B83EB-BDD0-950E-BEF7-A296730A0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2535" y="0"/>
            <a:ext cx="10515600" cy="1601585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7</a:t>
            </a:r>
            <a:br>
              <a:rPr lang="fr-FR" dirty="0"/>
            </a:br>
            <a:r>
              <a:rPr lang="fr-FR" dirty="0"/>
              <a:t>… Even more </a:t>
            </a:r>
            <a:r>
              <a:rPr lang="fr-FR" dirty="0" err="1"/>
              <a:t>Confusing</a:t>
            </a:r>
            <a:r>
              <a:rPr lang="fr-FR" dirty="0"/>
              <a:t> 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spark.sharedState.externalCatalog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D4DAC2-86BE-2B06-F5FF-FEB5B9EB18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535" y="2258722"/>
            <a:ext cx="10783921" cy="2235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5824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C5E69-85B4-69B4-8611-2F7125584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4356"/>
            <a:ext cx="10515600" cy="709073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EC31BF-885D-C3D2-24DC-3993C66C76B8}"/>
              </a:ext>
            </a:extLst>
          </p:cNvPr>
          <p:cNvSpPr txBox="1"/>
          <p:nvPr/>
        </p:nvSpPr>
        <p:spPr>
          <a:xfrm>
            <a:off x="2201662" y="2698812"/>
            <a:ext cx="816499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Global </a:t>
            </a:r>
            <a:r>
              <a:rPr lang="fr-FR" sz="2400" dirty="0" err="1"/>
              <a:t>Temporary</a:t>
            </a:r>
            <a:r>
              <a:rPr lang="fr-FR" sz="2400" dirty="0"/>
              <a:t> Table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Multi-Threaded</a:t>
            </a:r>
            <a:r>
              <a:rPr lang="fr-FR" sz="2400" dirty="0"/>
              <a:t>, for all Spark Sessions</a:t>
            </a:r>
          </a:p>
          <a:p>
            <a:endParaRPr lang="fr-FR" sz="2400" dirty="0"/>
          </a:p>
          <a:p>
            <a:r>
              <a:rPr lang="fr-FR" sz="2400" dirty="0" err="1"/>
              <a:t>Temporary</a:t>
            </a:r>
            <a:r>
              <a:rPr lang="fr-FR" sz="2400" dirty="0"/>
              <a:t> Table </a:t>
            </a:r>
            <a:r>
              <a:rPr lang="fr-FR" sz="2400" dirty="0" err="1"/>
              <a:t>is</a:t>
            </a:r>
            <a:r>
              <a:rPr lang="fr-FR" sz="2400" dirty="0"/>
              <a:t> for the </a:t>
            </a:r>
            <a:r>
              <a:rPr lang="fr-FR" sz="2400" dirty="0" err="1"/>
              <a:t>current</a:t>
            </a:r>
            <a:r>
              <a:rPr lang="fr-FR" sz="2400" dirty="0"/>
              <a:t> Session </a:t>
            </a:r>
            <a:r>
              <a:rPr lang="fr-FR" sz="2400" dirty="0" err="1"/>
              <a:t>only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Both</a:t>
            </a:r>
            <a:r>
              <a:rPr lang="fr-FR" sz="2400" dirty="0"/>
              <a:t> are </a:t>
            </a:r>
            <a:r>
              <a:rPr lang="fr-FR" sz="2400" dirty="0" err="1"/>
              <a:t>temporary</a:t>
            </a:r>
            <a:r>
              <a:rPr lang="fr-FR" sz="2400" dirty="0"/>
              <a:t> : for the JVM – </a:t>
            </a:r>
            <a:r>
              <a:rPr lang="fr-FR" sz="2400" dirty="0" err="1"/>
              <a:t>SparkContext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22096559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/>
          <a:lstStyle/>
          <a:p>
            <a:pPr algn="ctr"/>
            <a:r>
              <a:rPr lang="fr-FR" dirty="0"/>
              <a:t>Objectives of Hands-On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25F4BA30-1BA3-C887-C1BE-71D95A135F0E}"/>
              </a:ext>
            </a:extLst>
          </p:cNvPr>
          <p:cNvSpPr/>
          <p:nvPr/>
        </p:nvSpPr>
        <p:spPr>
          <a:xfrm>
            <a:off x="2070357" y="2269599"/>
            <a:ext cx="1407621" cy="4765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F6B7D5-F2CA-EEEC-5307-43CC4C168EC7}"/>
              </a:ext>
            </a:extLst>
          </p:cNvPr>
          <p:cNvSpPr txBox="1"/>
          <p:nvPr/>
        </p:nvSpPr>
        <p:spPr>
          <a:xfrm>
            <a:off x="3629918" y="1536174"/>
            <a:ext cx="6176756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1/ </a:t>
            </a:r>
            <a:r>
              <a:rPr lang="fr-FR" sz="2400" dirty="0" err="1"/>
              <a:t>CreateTempView</a:t>
            </a:r>
            <a:r>
              <a:rPr lang="fr-FR" sz="2400" dirty="0"/>
              <a:t>,  use </a:t>
            </a:r>
            <a:r>
              <a:rPr lang="fr-FR" sz="2400" dirty="0" err="1"/>
              <a:t>Dataset</a:t>
            </a:r>
            <a:r>
              <a:rPr lang="fr-FR" sz="2400" dirty="0"/>
              <a:t> </a:t>
            </a:r>
            <a:r>
              <a:rPr lang="fr-FR" sz="2400" dirty="0" err="1"/>
              <a:t>from</a:t>
            </a:r>
            <a:r>
              <a:rPr lang="fr-FR" sz="2400" dirty="0"/>
              <a:t> SQL </a:t>
            </a:r>
          </a:p>
          <a:p>
            <a:endParaRPr lang="fr-FR" sz="2400" dirty="0"/>
          </a:p>
          <a:p>
            <a:r>
              <a:rPr lang="fr-FR" sz="2400" dirty="0"/>
              <a:t>2/ Configure </a:t>
            </a:r>
            <a:r>
              <a:rPr lang="fr-FR" sz="2400" dirty="0" err="1"/>
              <a:t>HiveMetastore</a:t>
            </a:r>
            <a:r>
              <a:rPr lang="fr-FR" sz="2400" dirty="0"/>
              <a:t> DB</a:t>
            </a:r>
          </a:p>
          <a:p>
            <a:endParaRPr lang="fr-FR" sz="2400" dirty="0"/>
          </a:p>
          <a:p>
            <a:r>
              <a:rPr lang="fr-FR" sz="2400" dirty="0"/>
              <a:t>3/ </a:t>
            </a:r>
            <a:r>
              <a:rPr lang="fr-FR" sz="2400" dirty="0" err="1"/>
              <a:t>connect</a:t>
            </a:r>
            <a:r>
              <a:rPr lang="fr-FR" sz="2400" dirty="0"/>
              <a:t> Spark </a:t>
            </a:r>
            <a:r>
              <a:rPr lang="fr-FR" sz="2400" dirty="0" err="1"/>
              <a:t>External</a:t>
            </a:r>
            <a:r>
              <a:rPr lang="fr-FR" sz="2400" dirty="0"/>
              <a:t> </a:t>
            </a:r>
            <a:r>
              <a:rPr lang="fr-FR" sz="2400" dirty="0" err="1"/>
              <a:t>Catalog</a:t>
            </a:r>
            <a:r>
              <a:rPr lang="fr-FR" sz="2400" dirty="0"/>
              <a:t>  to </a:t>
            </a:r>
            <a:r>
              <a:rPr lang="fr-FR" sz="2400" dirty="0" err="1"/>
              <a:t>MetaStore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4/ </a:t>
            </a:r>
            <a:r>
              <a:rPr lang="fr-FR" sz="2400" dirty="0" err="1"/>
              <a:t>Create</a:t>
            </a:r>
            <a:r>
              <a:rPr lang="fr-FR" sz="2400" dirty="0"/>
              <a:t> Table</a:t>
            </a:r>
          </a:p>
          <a:p>
            <a:endParaRPr lang="fr-FR" sz="2400" dirty="0"/>
          </a:p>
          <a:p>
            <a:r>
              <a:rPr lang="fr-FR" sz="2400" dirty="0"/>
              <a:t>5/ (Directory) </a:t>
            </a:r>
            <a:r>
              <a:rPr lang="fr-FR" sz="2400" dirty="0" err="1"/>
              <a:t>Partitioned</a:t>
            </a:r>
            <a:r>
              <a:rPr lang="fr-FR" sz="2400" dirty="0"/>
              <a:t> Table</a:t>
            </a:r>
          </a:p>
        </p:txBody>
      </p:sp>
      <p:pic>
        <p:nvPicPr>
          <p:cNvPr id="3" name="Picture 2" descr="Image result for checkmark icon">
            <a:extLst>
              <a:ext uri="{FF2B5EF4-FFF2-40B4-BE49-F238E27FC236}">
                <a16:creationId xmlns:a16="http://schemas.microsoft.com/office/drawing/2014/main" id="{740C27F2-B118-395F-1450-8DF1D8E696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6887" y="1446813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93852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F2B47-B0EB-E9DF-7FDB-7C96C6595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6872" y="328731"/>
            <a:ext cx="10354101" cy="1504618"/>
          </a:xfrm>
        </p:spPr>
        <p:txBody>
          <a:bodyPr>
            <a:normAutofit/>
          </a:bodyPr>
          <a:lstStyle/>
          <a:p>
            <a:r>
              <a:rPr lang="fr-FR" dirty="0"/>
              <a:t>Default </a:t>
            </a:r>
            <a:r>
              <a:rPr lang="fr-FR" dirty="0" err="1"/>
              <a:t>hive</a:t>
            </a:r>
            <a:r>
              <a:rPr lang="fr-FR" dirty="0"/>
              <a:t>… </a:t>
            </a:r>
            <a:r>
              <a:rPr lang="fr-FR" dirty="0" err="1"/>
              <a:t>using</a:t>
            </a:r>
            <a:r>
              <a:rPr lang="fr-FR" dirty="0"/>
              <a:t> Derby </a:t>
            </a:r>
            <a:r>
              <a:rPr lang="fr-FR" dirty="0" err="1"/>
              <a:t>metastore_db</a:t>
            </a:r>
            <a:br>
              <a:rPr lang="fr-FR" dirty="0"/>
            </a:br>
            <a:r>
              <a:rPr lang="fr-FR" dirty="0" err="1"/>
              <a:t>cf</a:t>
            </a:r>
            <a:r>
              <a:rPr lang="fr-FR" dirty="0"/>
              <a:t> </a:t>
            </a:r>
            <a:r>
              <a:rPr lang="fr-FR" dirty="0" err="1"/>
              <a:t>next</a:t>
            </a:r>
            <a:r>
              <a:rPr lang="fr-FR" dirty="0"/>
              <a:t> slides if </a:t>
            </a:r>
            <a:r>
              <a:rPr lang="fr-FR" dirty="0" err="1"/>
              <a:t>explicitly</a:t>
            </a:r>
            <a:r>
              <a:rPr lang="fr-FR" dirty="0"/>
              <a:t>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Postgresql</a:t>
            </a:r>
            <a:r>
              <a:rPr lang="fr-FR" dirty="0"/>
              <a:t> DB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1526C2-021A-1E9B-1161-35A44BC71130}"/>
              </a:ext>
            </a:extLst>
          </p:cNvPr>
          <p:cNvSpPr/>
          <p:nvPr/>
        </p:nvSpPr>
        <p:spPr>
          <a:xfrm rot="17255358">
            <a:off x="-718196" y="847353"/>
            <a:ext cx="268746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Optional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9A0CA6-0B7C-2B72-DC17-02C513E88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219" y="2678779"/>
            <a:ext cx="7325747" cy="323895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1FAB73-B949-2775-C700-4C4C489BE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6746" y="1801299"/>
            <a:ext cx="4071582" cy="8344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D40147-D891-33B3-2F80-42C18E8A9E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1337" y="3742863"/>
            <a:ext cx="2866885" cy="2739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5340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1028EB0-02E1-263F-369A-BC5B26D5D273}"/>
              </a:ext>
            </a:extLst>
          </p:cNvPr>
          <p:cNvSpPr txBox="1"/>
          <p:nvPr/>
        </p:nvSpPr>
        <p:spPr>
          <a:xfrm>
            <a:off x="3299303" y="1757539"/>
            <a:ext cx="980982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>
                <a:hlinkClick r:id="rId2"/>
              </a:rPr>
              <a:t>https://downloads.apache.org/hive/hive-standalone-metastore-3.0.0/</a:t>
            </a:r>
            <a:endParaRPr lang="fr-FR" sz="2400" dirty="0"/>
          </a:p>
          <a:p>
            <a:endParaRPr lang="fr-FR" sz="24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40C7E0A-489C-360C-A19A-19BA8C60B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5327"/>
            <a:ext cx="10515600" cy="1175757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Install </a:t>
            </a:r>
            <a:r>
              <a:rPr lang="fr-FR" dirty="0" err="1"/>
              <a:t>Hive</a:t>
            </a:r>
            <a:r>
              <a:rPr lang="fr-FR" dirty="0"/>
              <a:t> Standalone </a:t>
            </a:r>
            <a:r>
              <a:rPr lang="fr-FR" dirty="0" err="1"/>
              <a:t>Metastore</a:t>
            </a:r>
            <a:endParaRPr lang="fr-F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042ADA-926A-2140-C4B7-3E8CD25492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47" y="2929207"/>
            <a:ext cx="2723105" cy="269573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FCEA756-FCB5-76EC-E9B2-8EA012428652}"/>
              </a:ext>
            </a:extLst>
          </p:cNvPr>
          <p:cNvSpPr txBox="1"/>
          <p:nvPr/>
        </p:nvSpPr>
        <p:spPr>
          <a:xfrm>
            <a:off x="200926" y="2481532"/>
            <a:ext cx="36152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hlinkClick r:id="rId4"/>
              </a:rPr>
              <a:t>https://downloads.apache.org/hive/</a:t>
            </a:r>
            <a:endParaRPr lang="fr-FR" dirty="0"/>
          </a:p>
          <a:p>
            <a:endParaRPr lang="fr-FR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84F287A-BC5B-FC71-4B0D-BE6F2C304E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7806" y="2778627"/>
            <a:ext cx="6572820" cy="2846317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70B751D-3AF9-3AD3-F266-CF372B9DFD28}"/>
              </a:ext>
            </a:extLst>
          </p:cNvPr>
          <p:cNvSpPr/>
          <p:nvPr/>
        </p:nvSpPr>
        <p:spPr>
          <a:xfrm rot="17255358">
            <a:off x="-794256" y="795181"/>
            <a:ext cx="268746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41320670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5A2C0-D9D9-AE0E-64EF-BED467173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Example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Postgres</a:t>
            </a:r>
            <a:r>
              <a:rPr lang="fr-FR" dirty="0"/>
              <a:t> : </a:t>
            </a:r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Hive</a:t>
            </a:r>
            <a:r>
              <a:rPr lang="fr-FR" dirty="0"/>
              <a:t> </a:t>
            </a:r>
            <a:r>
              <a:rPr lang="fr-FR" dirty="0" err="1"/>
              <a:t>Schema</a:t>
            </a:r>
            <a:endParaRPr lang="fr-F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AE4CAD-780E-9650-6F42-9EA6A1FF4F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25" y="3315810"/>
            <a:ext cx="6694750" cy="334166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603B84-6801-6DF1-6F34-7594D1364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117" y="2361460"/>
            <a:ext cx="5658866" cy="439888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2663AE4-A875-C5E2-219B-0418A4EE5B99}"/>
              </a:ext>
            </a:extLst>
          </p:cNvPr>
          <p:cNvSpPr/>
          <p:nvPr/>
        </p:nvSpPr>
        <p:spPr>
          <a:xfrm>
            <a:off x="6733713" y="3116062"/>
            <a:ext cx="1020932" cy="19974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E30796-4621-A509-11A1-D186C623C28A}"/>
              </a:ext>
            </a:extLst>
          </p:cNvPr>
          <p:cNvSpPr/>
          <p:nvPr/>
        </p:nvSpPr>
        <p:spPr>
          <a:xfrm>
            <a:off x="7248525" y="2666848"/>
            <a:ext cx="346183" cy="19974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4AD319-3E58-015B-935E-E289EE375546}"/>
              </a:ext>
            </a:extLst>
          </p:cNvPr>
          <p:cNvSpPr/>
          <p:nvPr/>
        </p:nvSpPr>
        <p:spPr>
          <a:xfrm>
            <a:off x="8243887" y="3429000"/>
            <a:ext cx="3910095" cy="306705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36806DE-7C3C-FCC6-9C2F-55EC4C6FA4AB}"/>
              </a:ext>
            </a:extLst>
          </p:cNvPr>
          <p:cNvSpPr/>
          <p:nvPr/>
        </p:nvSpPr>
        <p:spPr>
          <a:xfrm>
            <a:off x="244324" y="4452939"/>
            <a:ext cx="6023126" cy="45720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CB44C05A-2E5C-D5C1-108B-0F19A6A01B5A}"/>
              </a:ext>
            </a:extLst>
          </p:cNvPr>
          <p:cNvSpPr/>
          <p:nvPr/>
        </p:nvSpPr>
        <p:spPr>
          <a:xfrm>
            <a:off x="6096000" y="4540581"/>
            <a:ext cx="2447925" cy="346182"/>
          </a:xfrm>
          <a:prstGeom prst="rightArrow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8020E6A-A518-A689-5E80-C2C2004359AF}"/>
              </a:ext>
            </a:extLst>
          </p:cNvPr>
          <p:cNvSpPr/>
          <p:nvPr/>
        </p:nvSpPr>
        <p:spPr>
          <a:xfrm>
            <a:off x="10067923" y="3017762"/>
            <a:ext cx="401345" cy="29388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5B30477E-F2E3-FD47-B955-BC5CF47C5992}"/>
              </a:ext>
            </a:extLst>
          </p:cNvPr>
          <p:cNvSpPr/>
          <p:nvPr/>
        </p:nvSpPr>
        <p:spPr>
          <a:xfrm rot="18226596">
            <a:off x="7217246" y="2925257"/>
            <a:ext cx="218349" cy="144521"/>
          </a:xfrm>
          <a:prstGeom prst="rightArrow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E819F610-4680-E746-AA0C-AD073D5007AE}"/>
              </a:ext>
            </a:extLst>
          </p:cNvPr>
          <p:cNvSpPr/>
          <p:nvPr/>
        </p:nvSpPr>
        <p:spPr>
          <a:xfrm rot="1148223">
            <a:off x="6233890" y="2991413"/>
            <a:ext cx="402468" cy="211764"/>
          </a:xfrm>
          <a:prstGeom prst="rightArrow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B2C3B9E2-EDA6-BBB5-5E4E-E82E34B4AF0C}"/>
              </a:ext>
            </a:extLst>
          </p:cNvPr>
          <p:cNvSpPr/>
          <p:nvPr/>
        </p:nvSpPr>
        <p:spPr>
          <a:xfrm rot="1926463">
            <a:off x="7588247" y="2970784"/>
            <a:ext cx="780772" cy="246172"/>
          </a:xfrm>
          <a:prstGeom prst="rightArrow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EB06DBF-83D2-B600-E212-577EDF0830B5}"/>
              </a:ext>
            </a:extLst>
          </p:cNvPr>
          <p:cNvSpPr/>
          <p:nvPr/>
        </p:nvSpPr>
        <p:spPr>
          <a:xfrm rot="19413788">
            <a:off x="9771460" y="3194324"/>
            <a:ext cx="275220" cy="162115"/>
          </a:xfrm>
          <a:prstGeom prst="rightArrow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E855041-5D84-53B0-CBEF-B97A36F4F33A}"/>
              </a:ext>
            </a:extLst>
          </p:cNvPr>
          <p:cNvSpPr txBox="1"/>
          <p:nvPr/>
        </p:nvSpPr>
        <p:spPr>
          <a:xfrm>
            <a:off x="1423441" y="1106861"/>
            <a:ext cx="807836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1/ Open </a:t>
            </a:r>
            <a:r>
              <a:rPr lang="fr-FR" sz="2000" dirty="0" err="1"/>
              <a:t>PgAdmin</a:t>
            </a:r>
            <a:endParaRPr lang="fr-FR" sz="2000" dirty="0"/>
          </a:p>
          <a:p>
            <a:r>
              <a:rPr lang="fr-FR" sz="2000" dirty="0"/>
              <a:t>2/ </a:t>
            </a:r>
            <a:r>
              <a:rPr lang="fr-FR" sz="2000" dirty="0" err="1"/>
              <a:t>Create</a:t>
            </a:r>
            <a:r>
              <a:rPr lang="fr-FR" sz="2000" dirty="0"/>
              <a:t> a « </a:t>
            </a:r>
            <a:r>
              <a:rPr lang="fr-FR" sz="2000" dirty="0" err="1"/>
              <a:t>Database</a:t>
            </a:r>
            <a:r>
              <a:rPr lang="fr-FR" sz="2000" dirty="0"/>
              <a:t> »</a:t>
            </a:r>
          </a:p>
          <a:p>
            <a:r>
              <a:rPr lang="fr-FR" sz="2000" dirty="0"/>
              <a:t>3/ </a:t>
            </a:r>
            <a:r>
              <a:rPr lang="fr-FR" sz="2000" dirty="0" err="1"/>
              <a:t>execute</a:t>
            </a:r>
            <a:r>
              <a:rPr lang="fr-FR" sz="2000" dirty="0"/>
              <a:t> SQL script « </a:t>
            </a:r>
            <a:r>
              <a:rPr lang="fr-FR" sz="2000" dirty="0" err="1"/>
              <a:t>hive-schema</a:t>
            </a:r>
            <a:r>
              <a:rPr lang="fr-FR" sz="2000" dirty="0"/>
              <a:t>-&lt;</a:t>
            </a:r>
            <a:r>
              <a:rPr lang="fr-FR" sz="2000" dirty="0" err="1"/>
              <a:t>dbType</a:t>
            </a:r>
            <a:r>
              <a:rPr lang="fr-FR" sz="2000" dirty="0"/>
              <a:t>&gt;.</a:t>
            </a:r>
            <a:r>
              <a:rPr lang="fr-FR" sz="2000" dirty="0" err="1"/>
              <a:t>sql</a:t>
            </a:r>
            <a:r>
              <a:rPr lang="fr-FR" sz="2000" dirty="0"/>
              <a:t> »</a:t>
            </a:r>
          </a:p>
          <a:p>
            <a:r>
              <a:rPr lang="fr-FR" sz="2000" dirty="0"/>
              <a:t>     </a:t>
            </a:r>
            <a:r>
              <a:rPr lang="fr-FR" sz="2000" dirty="0" err="1"/>
              <a:t>copied</a:t>
            </a:r>
            <a:r>
              <a:rPr lang="fr-FR" sz="2000" dirty="0"/>
              <a:t> </a:t>
            </a:r>
            <a:r>
              <a:rPr lang="fr-FR" sz="2000" dirty="0" err="1"/>
              <a:t>from</a:t>
            </a:r>
            <a:r>
              <a:rPr lang="fr-FR" sz="2000" dirty="0"/>
              <a:t> &lt;</a:t>
            </a:r>
            <a:r>
              <a:rPr lang="fr-FR" sz="2000" dirty="0" err="1"/>
              <a:t>downloadedHiveDir</a:t>
            </a:r>
            <a:r>
              <a:rPr lang="fr-FR" sz="2000" dirty="0"/>
              <a:t>&gt;/scripts/</a:t>
            </a:r>
            <a:r>
              <a:rPr lang="fr-FR" sz="2000" dirty="0" err="1"/>
              <a:t>metastore</a:t>
            </a:r>
            <a:r>
              <a:rPr lang="fr-FR" sz="2000" dirty="0"/>
              <a:t>/upgrade/&lt;</a:t>
            </a:r>
            <a:r>
              <a:rPr lang="fr-FR" sz="2000" dirty="0" err="1"/>
              <a:t>dbType</a:t>
            </a:r>
            <a:r>
              <a:rPr lang="fr-FR" sz="2000" dirty="0"/>
              <a:t>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BE2309-6D58-B861-FBEF-6247763CDE5D}"/>
              </a:ext>
            </a:extLst>
          </p:cNvPr>
          <p:cNvSpPr/>
          <p:nvPr/>
        </p:nvSpPr>
        <p:spPr>
          <a:xfrm rot="17255358">
            <a:off x="-818677" y="796597"/>
            <a:ext cx="268746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2230594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F3933-76FC-5E65-E5EF-E050BC58F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5327"/>
            <a:ext cx="10515600" cy="802289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Copy Jar .. Example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Postgresql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1071DC-2C02-6BBD-7693-E8A4F0F7AC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8916" y="5003296"/>
            <a:ext cx="6496613" cy="133361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E3028E-3B1A-530C-3DEA-789BD1A64D5C}"/>
              </a:ext>
            </a:extLst>
          </p:cNvPr>
          <p:cNvSpPr txBox="1"/>
          <p:nvPr/>
        </p:nvSpPr>
        <p:spPr>
          <a:xfrm>
            <a:off x="1012054" y="1386102"/>
            <a:ext cx="10276403" cy="166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Step</a:t>
            </a:r>
            <a:r>
              <a:rPr lang="fr-FR" dirty="0"/>
              <a:t> 1/  </a:t>
            </a:r>
            <a:r>
              <a:rPr lang="fr-FR" dirty="0" err="1"/>
              <a:t>find</a:t>
            </a:r>
            <a:r>
              <a:rPr lang="fr-FR" dirty="0"/>
              <a:t>    g:org.postgresql    a:postgresql   </a:t>
            </a:r>
          </a:p>
          <a:p>
            <a:r>
              <a:rPr lang="fr-FR" sz="2800" dirty="0">
                <a:hlinkClick r:id="rId3"/>
              </a:rPr>
              <a:t>https://search.maven.org/search?q=g:org.postgresql%20a:postgresql</a:t>
            </a:r>
            <a:endParaRPr lang="fr-FR" sz="2800" dirty="0"/>
          </a:p>
          <a:p>
            <a:br>
              <a:rPr lang="fr-FR" sz="2800" dirty="0"/>
            </a:br>
            <a:endParaRPr lang="fr-FR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B6BC21-2951-2C32-66DE-30CFC45ECA09}"/>
              </a:ext>
            </a:extLst>
          </p:cNvPr>
          <p:cNvSpPr txBox="1"/>
          <p:nvPr/>
        </p:nvSpPr>
        <p:spPr>
          <a:xfrm>
            <a:off x="1012054" y="4362406"/>
            <a:ext cx="3738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Step</a:t>
            </a:r>
            <a:r>
              <a:rPr lang="fr-FR" dirty="0"/>
              <a:t> 2/  copy jar to SPARK_HOME/jars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1EB9025-89D7-7FE9-99C2-BF8249B284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9285" y="2391748"/>
            <a:ext cx="8640595" cy="174783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3BEE856-2864-7B2C-63E0-888E086458FC}"/>
              </a:ext>
            </a:extLst>
          </p:cNvPr>
          <p:cNvSpPr/>
          <p:nvPr/>
        </p:nvSpPr>
        <p:spPr>
          <a:xfrm rot="17255358">
            <a:off x="-757186" y="796647"/>
            <a:ext cx="268746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22245763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C6C56-83D9-B55D-6691-F6DD60598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fr-FR" dirty="0"/>
              <a:t>Configure </a:t>
            </a:r>
            <a:r>
              <a:rPr lang="fr-FR" dirty="0" err="1"/>
              <a:t>hive</a:t>
            </a:r>
            <a:r>
              <a:rPr lang="fr-FR" dirty="0"/>
              <a:t> </a:t>
            </a:r>
            <a:r>
              <a:rPr lang="fr-FR" dirty="0" err="1"/>
              <a:t>metastore</a:t>
            </a:r>
            <a:br>
              <a:rPr lang="fr-FR" dirty="0"/>
            </a:br>
            <a:r>
              <a:rPr lang="fr-FR" dirty="0"/>
              <a:t>in HADOOP_CONF_DIR (or HADOOP_HOME)</a:t>
            </a:r>
            <a:br>
              <a:rPr lang="fr-FR" dirty="0"/>
            </a:br>
            <a:r>
              <a:rPr lang="fr-FR" dirty="0"/>
              <a:t>/conf/hive-site.xml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92DBD9-48FD-0EFA-1F53-5FAF06CCEB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1038" y="2462043"/>
            <a:ext cx="6389924" cy="388653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0EFE3CA-45B8-9076-0CED-B66A17B24573}"/>
              </a:ext>
            </a:extLst>
          </p:cNvPr>
          <p:cNvSpPr/>
          <p:nvPr/>
        </p:nvSpPr>
        <p:spPr>
          <a:xfrm rot="17255358">
            <a:off x="-757187" y="834779"/>
            <a:ext cx="268746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7866669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/>
          <a:lstStyle/>
          <a:p>
            <a:pPr algn="ctr"/>
            <a:r>
              <a:rPr lang="fr-FR" dirty="0"/>
              <a:t>Objectives of Hands-On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25F4BA30-1BA3-C887-C1BE-71D95A135F0E}"/>
              </a:ext>
            </a:extLst>
          </p:cNvPr>
          <p:cNvSpPr/>
          <p:nvPr/>
        </p:nvSpPr>
        <p:spPr>
          <a:xfrm>
            <a:off x="2113076" y="3006035"/>
            <a:ext cx="1407621" cy="4765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F6B7D5-F2CA-EEEC-5307-43CC4C168EC7}"/>
              </a:ext>
            </a:extLst>
          </p:cNvPr>
          <p:cNvSpPr txBox="1"/>
          <p:nvPr/>
        </p:nvSpPr>
        <p:spPr>
          <a:xfrm>
            <a:off x="3629918" y="1536174"/>
            <a:ext cx="6176756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1/ </a:t>
            </a:r>
            <a:r>
              <a:rPr lang="fr-FR" sz="2400" dirty="0" err="1"/>
              <a:t>CreateTempView</a:t>
            </a:r>
            <a:r>
              <a:rPr lang="fr-FR" sz="2400" dirty="0"/>
              <a:t>,  use </a:t>
            </a:r>
            <a:r>
              <a:rPr lang="fr-FR" sz="2400" dirty="0" err="1"/>
              <a:t>Dataset</a:t>
            </a:r>
            <a:r>
              <a:rPr lang="fr-FR" sz="2400" dirty="0"/>
              <a:t> </a:t>
            </a:r>
            <a:r>
              <a:rPr lang="fr-FR" sz="2400" dirty="0" err="1"/>
              <a:t>from</a:t>
            </a:r>
            <a:r>
              <a:rPr lang="fr-FR" sz="2400" dirty="0"/>
              <a:t> SQL </a:t>
            </a:r>
          </a:p>
          <a:p>
            <a:endParaRPr lang="fr-FR" sz="2400" dirty="0"/>
          </a:p>
          <a:p>
            <a:r>
              <a:rPr lang="fr-FR" sz="2400" dirty="0"/>
              <a:t>2/ Configure </a:t>
            </a:r>
            <a:r>
              <a:rPr lang="fr-FR" sz="2400" dirty="0" err="1"/>
              <a:t>HiveMetastore</a:t>
            </a:r>
            <a:r>
              <a:rPr lang="fr-FR" sz="2400" dirty="0"/>
              <a:t> DB</a:t>
            </a:r>
          </a:p>
          <a:p>
            <a:endParaRPr lang="fr-FR" sz="2400" dirty="0"/>
          </a:p>
          <a:p>
            <a:r>
              <a:rPr lang="fr-FR" sz="2400" dirty="0"/>
              <a:t>3/ </a:t>
            </a:r>
            <a:r>
              <a:rPr lang="fr-FR" sz="2400" dirty="0" err="1"/>
              <a:t>connect</a:t>
            </a:r>
            <a:r>
              <a:rPr lang="fr-FR" sz="2400" dirty="0"/>
              <a:t> Spark </a:t>
            </a:r>
            <a:r>
              <a:rPr lang="fr-FR" sz="2400" dirty="0" err="1"/>
              <a:t>External</a:t>
            </a:r>
            <a:r>
              <a:rPr lang="fr-FR" sz="2400" dirty="0"/>
              <a:t> </a:t>
            </a:r>
            <a:r>
              <a:rPr lang="fr-FR" sz="2400" dirty="0" err="1"/>
              <a:t>Catalog</a:t>
            </a:r>
            <a:r>
              <a:rPr lang="fr-FR" sz="2400" dirty="0"/>
              <a:t>  to </a:t>
            </a:r>
            <a:r>
              <a:rPr lang="fr-FR" sz="2400" dirty="0" err="1"/>
              <a:t>MetaStore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4/ </a:t>
            </a:r>
            <a:r>
              <a:rPr lang="fr-FR" sz="2400" dirty="0" err="1"/>
              <a:t>Create</a:t>
            </a:r>
            <a:r>
              <a:rPr lang="fr-FR" sz="2400" dirty="0"/>
              <a:t> </a:t>
            </a:r>
            <a:r>
              <a:rPr lang="fr-FR" sz="2400" dirty="0" err="1"/>
              <a:t>Database</a:t>
            </a:r>
            <a:r>
              <a:rPr lang="fr-FR" sz="2400" dirty="0"/>
              <a:t>, Table</a:t>
            </a:r>
          </a:p>
          <a:p>
            <a:endParaRPr lang="fr-FR" sz="2400" dirty="0"/>
          </a:p>
          <a:p>
            <a:r>
              <a:rPr lang="fr-FR" sz="2400" dirty="0"/>
              <a:t>5/ (Directory) </a:t>
            </a:r>
            <a:r>
              <a:rPr lang="fr-FR" sz="2400" dirty="0" err="1"/>
              <a:t>Partitioned</a:t>
            </a:r>
            <a:r>
              <a:rPr lang="fr-FR" sz="2400" dirty="0"/>
              <a:t> Table</a:t>
            </a:r>
          </a:p>
        </p:txBody>
      </p:sp>
      <p:pic>
        <p:nvPicPr>
          <p:cNvPr id="3" name="Picture 2" descr="Image result for checkmark icon">
            <a:extLst>
              <a:ext uri="{FF2B5EF4-FFF2-40B4-BE49-F238E27FC236}">
                <a16:creationId xmlns:a16="http://schemas.microsoft.com/office/drawing/2014/main" id="{740C27F2-B118-395F-1450-8DF1D8E696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6887" y="1446813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Image result for checkmark icon">
            <a:extLst>
              <a:ext uri="{FF2B5EF4-FFF2-40B4-BE49-F238E27FC236}">
                <a16:creationId xmlns:a16="http://schemas.microsoft.com/office/drawing/2014/main" id="{B48AA468-183B-5222-0860-356CC1FF0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6887" y="2183874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28004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D338F-021A-82EF-56A0-47BE3A2C4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Restart </a:t>
            </a:r>
            <a:r>
              <a:rPr lang="fr-FR" dirty="0" err="1"/>
              <a:t>spark-shell</a:t>
            </a:r>
            <a:r>
              <a:rPr lang="fr-FR" dirty="0"/>
              <a:t>  + Check </a:t>
            </a:r>
            <a:r>
              <a:rPr lang="fr-FR" dirty="0" err="1"/>
              <a:t>externalCatalog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A130F1-79D9-3CCD-8CFD-31DDE2CD7F43}"/>
              </a:ext>
            </a:extLst>
          </p:cNvPr>
          <p:cNvSpPr txBox="1"/>
          <p:nvPr/>
        </p:nvSpPr>
        <p:spPr>
          <a:xfrm>
            <a:off x="2398959" y="1906896"/>
            <a:ext cx="7872540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relaunch</a:t>
            </a:r>
            <a:r>
              <a:rPr lang="fr-FR" dirty="0"/>
              <a:t>  </a:t>
            </a:r>
            <a:r>
              <a:rPr lang="fr-FR" dirty="0" err="1"/>
              <a:t>spark-shell</a:t>
            </a:r>
            <a:endParaRPr lang="fr-FR" dirty="0"/>
          </a:p>
          <a:p>
            <a:r>
              <a:rPr lang="fr-FR" sz="1800" b="1" dirty="0" err="1"/>
              <a:t>spark-shell</a:t>
            </a:r>
            <a:r>
              <a:rPr lang="fr-FR" sz="1800" b="1" dirty="0"/>
              <a:t> </a:t>
            </a:r>
            <a:r>
              <a:rPr lang="fr-FR" b="1" dirty="0"/>
              <a:t>--</a:t>
            </a:r>
            <a:r>
              <a:rPr lang="fr-FR" sz="1800" b="1" dirty="0"/>
              <a:t>driver-memory 5g --conf </a:t>
            </a:r>
            <a:r>
              <a:rPr lang="fr-FR" sz="1800" b="1" dirty="0" err="1"/>
              <a:t>spark.sql.catalogImplementation</a:t>
            </a:r>
            <a:r>
              <a:rPr lang="fr-FR" sz="1800" b="1" dirty="0"/>
              <a:t>=</a:t>
            </a:r>
            <a:r>
              <a:rPr lang="fr-FR" sz="1800" b="1" dirty="0" err="1"/>
              <a:t>hive</a:t>
            </a:r>
            <a:endParaRPr lang="fr-FR" dirty="0"/>
          </a:p>
          <a:p>
            <a:endParaRPr lang="fr-FR" dirty="0"/>
          </a:p>
          <a:p>
            <a:br>
              <a:rPr lang="fr-FR" dirty="0"/>
            </a:br>
            <a:r>
              <a:rPr lang="fr-FR" dirty="0"/>
              <a:t>Check in </a:t>
            </a:r>
            <a:r>
              <a:rPr lang="fr-FR" dirty="0" err="1"/>
              <a:t>sparkContext</a:t>
            </a:r>
            <a:endParaRPr lang="fr-FR" dirty="0"/>
          </a:p>
          <a:p>
            <a:r>
              <a:rPr lang="fr-FR" sz="1800" b="1" dirty="0" err="1"/>
              <a:t>spark.sharedState.sparkContext.getConf.get</a:t>
            </a:r>
            <a:r>
              <a:rPr lang="fr-FR" sz="1800" b="1" dirty="0"/>
              <a:t>("</a:t>
            </a:r>
            <a:r>
              <a:rPr lang="fr-FR" sz="1800" b="1" dirty="0" err="1"/>
              <a:t>spark.sql.catalogImplementation</a:t>
            </a:r>
            <a:r>
              <a:rPr lang="fr-FR" sz="1800" b="1" dirty="0"/>
              <a:t>")</a:t>
            </a:r>
            <a:endParaRPr lang="fr-FR" b="1" dirty="0"/>
          </a:p>
          <a:p>
            <a:r>
              <a:rPr lang="fr-FR" b="1" dirty="0"/>
              <a:t>res1: String = </a:t>
            </a:r>
            <a:r>
              <a:rPr lang="fr-FR" sz="1800" b="1" dirty="0"/>
              <a:t>"</a:t>
            </a:r>
            <a:r>
              <a:rPr lang="fr-FR" b="1" dirty="0" err="1"/>
              <a:t>hive</a:t>
            </a:r>
            <a:r>
              <a:rPr lang="fr-FR" sz="1800" b="1" dirty="0"/>
              <a:t>"  </a:t>
            </a:r>
            <a:br>
              <a:rPr lang="fr-FR" sz="1800" b="1" dirty="0"/>
            </a:br>
            <a:br>
              <a:rPr lang="fr-FR" sz="1800" b="1" dirty="0"/>
            </a:br>
            <a:r>
              <a:rPr lang="fr-FR" sz="1800" b="1" dirty="0" err="1"/>
              <a:t>println</a:t>
            </a:r>
            <a:r>
              <a:rPr lang="fr-FR" sz="1800" b="1" dirty="0"/>
              <a:t>(</a:t>
            </a:r>
            <a:r>
              <a:rPr lang="fr-FR" sz="1800" b="1" dirty="0" err="1"/>
              <a:t>spark.sharedState.externalCatalog.unwrapped</a:t>
            </a:r>
            <a:r>
              <a:rPr lang="fr-FR" sz="1800" b="1" dirty="0"/>
              <a:t>)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Check in Spark UI</a:t>
            </a:r>
          </a:p>
        </p:txBody>
      </p:sp>
    </p:spTree>
    <p:extLst>
      <p:ext uri="{BB962C8B-B14F-4D97-AF65-F5344CB8AC3E}">
        <p14:creationId xmlns:p14="http://schemas.microsoft.com/office/powerpoint/2010/main" val="1528100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C9862-76B3-10B9-657F-E873B7B9E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4783" y="0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Optional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8: </a:t>
            </a:r>
            <a:r>
              <a:rPr lang="fr-FR" dirty="0" err="1"/>
              <a:t>View</a:t>
            </a:r>
            <a:r>
              <a:rPr lang="fr-FR" dirty="0"/>
              <a:t>/Change </a:t>
            </a:r>
            <a:br>
              <a:rPr lang="fr-FR" dirty="0"/>
            </a:br>
            <a:r>
              <a:rPr lang="fr-FR" dirty="0" err="1"/>
              <a:t>spark-defaults.conf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AAB62A-DB99-340E-7C41-5D3DFCA472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520" y="1358283"/>
            <a:ext cx="5886960" cy="2495766"/>
          </a:xfrm>
          <a:prstGeom prst="rect">
            <a:avLst/>
          </a:prstGeom>
        </p:spPr>
      </p:pic>
      <p:sp>
        <p:nvSpPr>
          <p:cNvPr id="6" name="Arrow: Curved Right 5">
            <a:extLst>
              <a:ext uri="{FF2B5EF4-FFF2-40B4-BE49-F238E27FC236}">
                <a16:creationId xmlns:a16="http://schemas.microsoft.com/office/drawing/2014/main" id="{681DAEC2-7A39-FA46-A3AF-4CCC94DCBE2C}"/>
              </a:ext>
            </a:extLst>
          </p:cNvPr>
          <p:cNvSpPr/>
          <p:nvPr/>
        </p:nvSpPr>
        <p:spPr>
          <a:xfrm>
            <a:off x="2587841" y="2998495"/>
            <a:ext cx="448322" cy="1284981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D0721C-B7A5-1EBE-F446-4C8ABC03D30A}"/>
              </a:ext>
            </a:extLst>
          </p:cNvPr>
          <p:cNvSpPr txBox="1"/>
          <p:nvPr/>
        </p:nvSpPr>
        <p:spPr>
          <a:xfrm>
            <a:off x="3293616" y="3959962"/>
            <a:ext cx="5701689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a/ Copy file, and </a:t>
            </a:r>
            <a:r>
              <a:rPr lang="fr-FR" dirty="0" err="1"/>
              <a:t>rename</a:t>
            </a:r>
            <a:r>
              <a:rPr lang="fr-FR" dirty="0"/>
              <a:t> </a:t>
            </a:r>
            <a:r>
              <a:rPr lang="fr-FR" dirty="0" err="1"/>
              <a:t>without</a:t>
            </a:r>
            <a:r>
              <a:rPr lang="fr-FR" dirty="0"/>
              <a:t> </a:t>
            </a:r>
            <a:r>
              <a:rPr lang="fr-FR" dirty="0" err="1"/>
              <a:t>suffix</a:t>
            </a:r>
            <a:r>
              <a:rPr lang="fr-FR" dirty="0"/>
              <a:t> « .</a:t>
            </a:r>
            <a:r>
              <a:rPr lang="fr-FR" dirty="0" err="1"/>
              <a:t>template</a:t>
            </a:r>
            <a:r>
              <a:rPr lang="fr-FR" dirty="0"/>
              <a:t> »</a:t>
            </a:r>
          </a:p>
          <a:p>
            <a:r>
              <a:rPr lang="fr-FR" dirty="0"/>
              <a:t>Edit to </a:t>
            </a:r>
            <a:r>
              <a:rPr lang="fr-FR" dirty="0" err="1"/>
              <a:t>add</a:t>
            </a:r>
            <a:r>
              <a:rPr lang="fr-FR" dirty="0"/>
              <a:t> line</a:t>
            </a:r>
          </a:p>
          <a:p>
            <a:br>
              <a:rPr lang="fr-FR" sz="1800" b="1" dirty="0"/>
            </a:br>
            <a:r>
              <a:rPr lang="fr-FR" sz="1800" b="1" dirty="0" err="1"/>
              <a:t>spark.sql.catalogImplementation</a:t>
            </a:r>
            <a:r>
              <a:rPr lang="fr-FR" sz="1800" b="1" dirty="0"/>
              <a:t>    </a:t>
            </a:r>
            <a:r>
              <a:rPr lang="fr-FR" sz="1800" b="1" dirty="0" err="1"/>
              <a:t>hive</a:t>
            </a:r>
            <a:endParaRPr lang="fr-FR" sz="1800" b="1" dirty="0"/>
          </a:p>
          <a:p>
            <a:endParaRPr lang="fr-FR" dirty="0"/>
          </a:p>
          <a:p>
            <a:r>
              <a:rPr lang="fr-FR" dirty="0"/>
              <a:t>Check conf can </a:t>
            </a:r>
            <a:r>
              <a:rPr lang="fr-FR" dirty="0" err="1"/>
              <a:t>still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overloadded</a:t>
            </a:r>
            <a:r>
              <a:rPr lang="fr-FR" dirty="0"/>
              <a:t> by « --conf key=value »</a:t>
            </a:r>
          </a:p>
          <a:p>
            <a:r>
              <a:rPr lang="fr-FR" dirty="0"/>
              <a:t>check conf at runtime:</a:t>
            </a:r>
            <a:br>
              <a:rPr lang="fr-FR" dirty="0"/>
            </a:br>
            <a:r>
              <a:rPr lang="fr-FR" dirty="0"/>
              <a:t>    </a:t>
            </a:r>
            <a:r>
              <a:rPr lang="fr-FR" sz="1800" dirty="0" err="1"/>
              <a:t>spark.sharedState.sparkContext.getConf.get</a:t>
            </a:r>
            <a:r>
              <a:rPr lang="fr-FR" sz="1800" dirty="0"/>
              <a:t>(« key »)</a:t>
            </a:r>
            <a:endParaRPr lang="fr-FR" dirty="0"/>
          </a:p>
          <a:p>
            <a:r>
              <a:rPr lang="fr-FR" dirty="0"/>
              <a:t>Or in Spark UI</a:t>
            </a:r>
          </a:p>
        </p:txBody>
      </p:sp>
    </p:spTree>
    <p:extLst>
      <p:ext uri="{BB962C8B-B14F-4D97-AF65-F5344CB8AC3E}">
        <p14:creationId xmlns:p14="http://schemas.microsoft.com/office/powerpoint/2010/main" val="26048997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/>
          <a:lstStyle/>
          <a:p>
            <a:pPr algn="ctr"/>
            <a:r>
              <a:rPr lang="fr-FR" dirty="0"/>
              <a:t>Objectives of Hands-On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25F4BA30-1BA3-C887-C1BE-71D95A135F0E}"/>
              </a:ext>
            </a:extLst>
          </p:cNvPr>
          <p:cNvSpPr/>
          <p:nvPr/>
        </p:nvSpPr>
        <p:spPr>
          <a:xfrm>
            <a:off x="2113076" y="3751759"/>
            <a:ext cx="1407621" cy="4765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F6B7D5-F2CA-EEEC-5307-43CC4C168EC7}"/>
              </a:ext>
            </a:extLst>
          </p:cNvPr>
          <p:cNvSpPr txBox="1"/>
          <p:nvPr/>
        </p:nvSpPr>
        <p:spPr>
          <a:xfrm>
            <a:off x="3629918" y="1536174"/>
            <a:ext cx="6176756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1/ </a:t>
            </a:r>
            <a:r>
              <a:rPr lang="fr-FR" sz="2400" dirty="0" err="1"/>
              <a:t>CreateTempView</a:t>
            </a:r>
            <a:r>
              <a:rPr lang="fr-FR" sz="2400" dirty="0"/>
              <a:t>,  use </a:t>
            </a:r>
            <a:r>
              <a:rPr lang="fr-FR" sz="2400" dirty="0" err="1"/>
              <a:t>Dataset</a:t>
            </a:r>
            <a:r>
              <a:rPr lang="fr-FR" sz="2400" dirty="0"/>
              <a:t> </a:t>
            </a:r>
            <a:r>
              <a:rPr lang="fr-FR" sz="2400" dirty="0" err="1"/>
              <a:t>from</a:t>
            </a:r>
            <a:r>
              <a:rPr lang="fr-FR" sz="2400" dirty="0"/>
              <a:t> SQL </a:t>
            </a:r>
          </a:p>
          <a:p>
            <a:endParaRPr lang="fr-FR" sz="2400" dirty="0"/>
          </a:p>
          <a:p>
            <a:r>
              <a:rPr lang="fr-FR" sz="2400" dirty="0"/>
              <a:t>2/ Configure </a:t>
            </a:r>
            <a:r>
              <a:rPr lang="fr-FR" sz="2400" dirty="0" err="1"/>
              <a:t>HiveMetastore</a:t>
            </a:r>
            <a:r>
              <a:rPr lang="fr-FR" sz="2400" dirty="0"/>
              <a:t> DB</a:t>
            </a:r>
          </a:p>
          <a:p>
            <a:endParaRPr lang="fr-FR" sz="2400" dirty="0"/>
          </a:p>
          <a:p>
            <a:r>
              <a:rPr lang="fr-FR" sz="2400" dirty="0"/>
              <a:t>3/ </a:t>
            </a:r>
            <a:r>
              <a:rPr lang="fr-FR" sz="2400" dirty="0" err="1"/>
              <a:t>connect</a:t>
            </a:r>
            <a:r>
              <a:rPr lang="fr-FR" sz="2400" dirty="0"/>
              <a:t> Spark </a:t>
            </a:r>
            <a:r>
              <a:rPr lang="fr-FR" sz="2400" dirty="0" err="1"/>
              <a:t>External</a:t>
            </a:r>
            <a:r>
              <a:rPr lang="fr-FR" sz="2400" dirty="0"/>
              <a:t> </a:t>
            </a:r>
            <a:r>
              <a:rPr lang="fr-FR" sz="2400" dirty="0" err="1"/>
              <a:t>Catalog</a:t>
            </a:r>
            <a:r>
              <a:rPr lang="fr-FR" sz="2400" dirty="0"/>
              <a:t>  to </a:t>
            </a:r>
            <a:r>
              <a:rPr lang="fr-FR" sz="2400" dirty="0" err="1"/>
              <a:t>MetaStore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4/ </a:t>
            </a:r>
            <a:r>
              <a:rPr lang="fr-FR" sz="2400" dirty="0" err="1"/>
              <a:t>Create</a:t>
            </a:r>
            <a:r>
              <a:rPr lang="fr-FR" sz="2400" dirty="0"/>
              <a:t> </a:t>
            </a:r>
            <a:r>
              <a:rPr lang="fr-FR" sz="2400" dirty="0" err="1"/>
              <a:t>Database</a:t>
            </a:r>
            <a:r>
              <a:rPr lang="fr-FR" sz="2400" dirty="0"/>
              <a:t>, Table</a:t>
            </a:r>
          </a:p>
          <a:p>
            <a:endParaRPr lang="fr-FR" sz="2400" dirty="0"/>
          </a:p>
          <a:p>
            <a:r>
              <a:rPr lang="fr-FR" sz="2400" dirty="0"/>
              <a:t>5/ (Directory) </a:t>
            </a:r>
            <a:r>
              <a:rPr lang="fr-FR" sz="2400" dirty="0" err="1"/>
              <a:t>Partitioned</a:t>
            </a:r>
            <a:r>
              <a:rPr lang="fr-FR" sz="2400" dirty="0"/>
              <a:t> Table</a:t>
            </a:r>
          </a:p>
        </p:txBody>
      </p:sp>
      <p:pic>
        <p:nvPicPr>
          <p:cNvPr id="3" name="Picture 2" descr="Image result for checkmark icon">
            <a:extLst>
              <a:ext uri="{FF2B5EF4-FFF2-40B4-BE49-F238E27FC236}">
                <a16:creationId xmlns:a16="http://schemas.microsoft.com/office/drawing/2014/main" id="{740C27F2-B118-395F-1450-8DF1D8E696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6887" y="1446813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Image result for checkmark icon">
            <a:extLst>
              <a:ext uri="{FF2B5EF4-FFF2-40B4-BE49-F238E27FC236}">
                <a16:creationId xmlns:a16="http://schemas.microsoft.com/office/drawing/2014/main" id="{B48AA468-183B-5222-0860-356CC1FF0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6887" y="2183874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Image result for checkmark icon">
            <a:extLst>
              <a:ext uri="{FF2B5EF4-FFF2-40B4-BE49-F238E27FC236}">
                <a16:creationId xmlns:a16="http://schemas.microsoft.com/office/drawing/2014/main" id="{D91DDD01-10E5-0FA0-61E2-4D3754EB43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6887" y="2938872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5318822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FA3F2-8D42-A9B4-9043-04CB8F7CC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List </a:t>
            </a:r>
            <a:r>
              <a:rPr lang="fr-FR" dirty="0" err="1"/>
              <a:t>Databases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0CF3211-8D0E-19C2-B6DA-30FB81199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0287" y="2767932"/>
            <a:ext cx="5696444" cy="118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6450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19A91-E161-8ED3-1364-E41A5F80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1325563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9: </a:t>
            </a:r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Database</a:t>
            </a:r>
            <a:r>
              <a:rPr lang="fr-FR" dirty="0"/>
              <a:t>, </a:t>
            </a:r>
            <a:r>
              <a:rPr lang="fr-FR" dirty="0" err="1"/>
              <a:t>Create</a:t>
            </a:r>
            <a:r>
              <a:rPr lang="fr-FR" dirty="0"/>
              <a:t> if not </a:t>
            </a:r>
            <a:r>
              <a:rPr lang="fr-FR" dirty="0" err="1"/>
              <a:t>exists</a:t>
            </a:r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49E4FF-D9AC-50A0-522C-5F5640DC941B}"/>
              </a:ext>
            </a:extLst>
          </p:cNvPr>
          <p:cNvSpPr txBox="1"/>
          <p:nvPr/>
        </p:nvSpPr>
        <p:spPr>
          <a:xfrm>
            <a:off x="1765917" y="2476406"/>
            <a:ext cx="92202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/>
              <a:t>Execute</a:t>
            </a:r>
            <a:r>
              <a:rPr lang="fr-FR" sz="2800" dirty="0"/>
              <a:t>:</a:t>
            </a:r>
          </a:p>
          <a:p>
            <a:endParaRPr lang="fr-FR" sz="2800" dirty="0"/>
          </a:p>
          <a:p>
            <a:r>
              <a:rPr lang="en-US" sz="2800" dirty="0" err="1"/>
              <a:t>spark.sql</a:t>
            </a:r>
            <a:r>
              <a:rPr lang="en-US" sz="2800" dirty="0"/>
              <a:t>("</a:t>
            </a:r>
            <a:r>
              <a:rPr lang="en-US" sz="2800" b="1" dirty="0"/>
              <a:t>CREATE DATABASE</a:t>
            </a:r>
            <a:r>
              <a:rPr lang="en-US" sz="2800" dirty="0"/>
              <a:t> db1").show(false)</a:t>
            </a:r>
          </a:p>
          <a:p>
            <a:endParaRPr lang="en-US" sz="2800" dirty="0"/>
          </a:p>
          <a:p>
            <a:r>
              <a:rPr lang="en-US" sz="2800" dirty="0" err="1"/>
              <a:t>spark.sql</a:t>
            </a:r>
            <a:r>
              <a:rPr lang="en-US" sz="2800" dirty="0"/>
              <a:t>("</a:t>
            </a:r>
            <a:r>
              <a:rPr lang="en-US" sz="2800" b="1" dirty="0"/>
              <a:t>CREATE DATABASE IF NOT EXISTS </a:t>
            </a:r>
            <a:r>
              <a:rPr lang="en-US" sz="2800" dirty="0"/>
              <a:t>db1").show(false)</a:t>
            </a:r>
          </a:p>
          <a:p>
            <a:endParaRPr lang="en-US" sz="2800" dirty="0"/>
          </a:p>
          <a:p>
            <a:r>
              <a:rPr lang="fr-FR" sz="2800" dirty="0" err="1"/>
              <a:t>Then</a:t>
            </a:r>
            <a:r>
              <a:rPr lang="fr-FR" sz="2800" dirty="0"/>
              <a:t>, </a:t>
            </a:r>
            <a:r>
              <a:rPr lang="fr-FR" sz="2800" dirty="0" err="1"/>
              <a:t>search</a:t>
            </a:r>
            <a:r>
              <a:rPr lang="fr-FR" sz="2800" dirty="0"/>
              <a:t> </a:t>
            </a:r>
            <a:r>
              <a:rPr lang="fr-FR" sz="2800" dirty="0" err="1"/>
              <a:t>created</a:t>
            </a:r>
            <a:r>
              <a:rPr lang="fr-FR" sz="2800" dirty="0"/>
              <a:t> </a:t>
            </a:r>
            <a:r>
              <a:rPr lang="fr-FR" sz="2800" dirty="0" err="1"/>
              <a:t>database</a:t>
            </a:r>
            <a:endParaRPr lang="fr-FR" sz="2800" dirty="0"/>
          </a:p>
          <a:p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13131618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19A91-E161-8ED3-1364-E41A5F807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9: </a:t>
            </a:r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Database</a:t>
            </a:r>
            <a:endParaRPr lang="fr-FR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C3D4564-D94B-19F8-0365-A417B4C97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8626" y="3014593"/>
            <a:ext cx="8371295" cy="1619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6046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03AB6-3CC4-3B7E-EEED-F35A9857E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9: Show </a:t>
            </a:r>
            <a:r>
              <a:rPr lang="fr-FR" dirty="0" err="1"/>
              <a:t>Databases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99F66F-8157-58EA-9B03-FE3546FE07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010" y="5919767"/>
            <a:ext cx="7569323" cy="7239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453271B-F289-1F51-E0FD-376079AED2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1010" y="1529661"/>
            <a:ext cx="6214397" cy="203269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3440DE-B8D4-79CB-9884-BFDE3853B7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1010" y="3800418"/>
            <a:ext cx="8720762" cy="1814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3080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4C9F5-C701-BC4C-BDEE-AAEB74EB8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64442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10 mn pause</a:t>
            </a:r>
          </a:p>
        </p:txBody>
      </p:sp>
    </p:spTree>
    <p:extLst>
      <p:ext uri="{BB962C8B-B14F-4D97-AF65-F5344CB8AC3E}">
        <p14:creationId xmlns:p14="http://schemas.microsoft.com/office/powerpoint/2010/main" val="216725099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59551-AE47-E0C4-8196-79DE74C6E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10: </a:t>
            </a:r>
            <a:r>
              <a:rPr lang="fr-FR" dirty="0" err="1"/>
              <a:t>saveAsTable</a:t>
            </a:r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1F5E6B-E95B-A198-C3A9-5F79194D8E1D}"/>
              </a:ext>
            </a:extLst>
          </p:cNvPr>
          <p:cNvSpPr txBox="1"/>
          <p:nvPr/>
        </p:nvSpPr>
        <p:spPr>
          <a:xfrm>
            <a:off x="2097051" y="2228802"/>
            <a:ext cx="833856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Try </a:t>
            </a:r>
            <a:r>
              <a:rPr lang="fr-FR" dirty="0" err="1"/>
              <a:t>some</a:t>
            </a:r>
            <a:r>
              <a:rPr lang="fr-FR" dirty="0"/>
              <a:t> variations:</a:t>
            </a:r>
          </a:p>
          <a:p>
            <a:endParaRPr lang="fr-FR" dirty="0"/>
          </a:p>
          <a:p>
            <a:r>
              <a:rPr lang="fr-FR" dirty="0"/>
              <a:t>// val </a:t>
            </a:r>
            <a:r>
              <a:rPr lang="fr-FR" dirty="0" err="1"/>
              <a:t>ds</a:t>
            </a:r>
            <a:r>
              <a:rPr lang="fr-FR" dirty="0"/>
              <a:t> = </a:t>
            </a:r>
            <a:r>
              <a:rPr lang="fr-FR" dirty="0" err="1"/>
              <a:t>spark.read.format</a:t>
            </a:r>
            <a:r>
              <a:rPr lang="fr-FR" dirty="0"/>
              <a:t>("parquet").</a:t>
            </a:r>
            <a:r>
              <a:rPr lang="fr-FR" dirty="0" err="1"/>
              <a:t>load</a:t>
            </a:r>
            <a:r>
              <a:rPr lang="fr-FR" dirty="0"/>
              <a:t>("C:/data/OpenData-gouv.fr/bal-parquet")</a:t>
            </a:r>
            <a:br>
              <a:rPr lang="fr-FR" dirty="0"/>
            </a:br>
            <a:endParaRPr lang="fr-FR" dirty="0"/>
          </a:p>
          <a:p>
            <a:r>
              <a:rPr lang="fr-FR" dirty="0" err="1"/>
              <a:t>ds.write.saveAsTable</a:t>
            </a:r>
            <a:r>
              <a:rPr lang="fr-FR" dirty="0"/>
              <a:t>("</a:t>
            </a:r>
            <a:r>
              <a:rPr lang="fr-FR" dirty="0" err="1"/>
              <a:t>addr</a:t>
            </a:r>
            <a:r>
              <a:rPr lang="fr-FR" dirty="0"/>
              <a:t>")</a:t>
            </a:r>
          </a:p>
          <a:p>
            <a:endParaRPr lang="fr-FR" dirty="0"/>
          </a:p>
          <a:p>
            <a:r>
              <a:rPr lang="fr-FR" dirty="0" err="1"/>
              <a:t>ds.write.saveAsTable</a:t>
            </a:r>
            <a:r>
              <a:rPr lang="fr-FR" dirty="0"/>
              <a:t>("db1.addr")</a:t>
            </a:r>
          </a:p>
          <a:p>
            <a:endParaRPr lang="fr-FR" dirty="0"/>
          </a:p>
          <a:p>
            <a:r>
              <a:rPr lang="fr-FR" dirty="0" err="1"/>
              <a:t>ds.write.format</a:t>
            </a:r>
            <a:r>
              <a:rPr lang="fr-FR" dirty="0"/>
              <a:t>("parquet").</a:t>
            </a:r>
            <a:r>
              <a:rPr lang="fr-FR" dirty="0" err="1"/>
              <a:t>saveAsTable</a:t>
            </a:r>
            <a:r>
              <a:rPr lang="fr-FR" dirty="0"/>
              <a:t>("db1.addr")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4753205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375CD-F7A0-E3CD-B73E-3D513B27D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10: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479815-EA02-09A4-E8F6-AC3ED4A6E5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887" y="3133699"/>
            <a:ext cx="8714225" cy="59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802083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58AD5-D97C-CD37-08D4-DC6C6E117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1763"/>
            <a:ext cx="10515600" cy="986823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10 : CTAS</a:t>
            </a:r>
            <a:br>
              <a:rPr lang="fr-FR" dirty="0"/>
            </a:br>
            <a:r>
              <a:rPr lang="fr-FR" dirty="0"/>
              <a:t>CREATE  TABLE &lt;</a:t>
            </a:r>
            <a:r>
              <a:rPr lang="fr-FR" dirty="0" err="1"/>
              <a:t>db</a:t>
            </a:r>
            <a:r>
              <a:rPr lang="fr-FR" dirty="0"/>
              <a:t>&gt;.&lt;table&gt;  AS SELECT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A28734B-151C-647B-A2E5-88379852F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76692"/>
            <a:ext cx="12192000" cy="9046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F0880E2-0273-D515-5CB3-6AEA2EF77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953924"/>
            <a:ext cx="12078747" cy="6363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97FB384-8D55-5840-244C-B24113DDACE9}"/>
              </a:ext>
            </a:extLst>
          </p:cNvPr>
          <p:cNvSpPr txBox="1"/>
          <p:nvPr/>
        </p:nvSpPr>
        <p:spPr>
          <a:xfrm>
            <a:off x="223838" y="2419350"/>
            <a:ext cx="5053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CREATE TABLE …   =&gt; STUPID default format  « </a:t>
            </a:r>
            <a:r>
              <a:rPr lang="fr-FR" dirty="0" err="1"/>
              <a:t>text</a:t>
            </a:r>
            <a:r>
              <a:rPr lang="fr-FR" dirty="0"/>
              <a:t> »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C11020-396C-49EA-1110-E1E0DE96F329}"/>
              </a:ext>
            </a:extLst>
          </p:cNvPr>
          <p:cNvSpPr txBox="1"/>
          <p:nvPr/>
        </p:nvSpPr>
        <p:spPr>
          <a:xfrm>
            <a:off x="161925" y="4452937"/>
            <a:ext cx="45013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CREATE TABLE … STORED AS PARQUET    =&gt; OK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7F9E2E-8BD8-61B7-76E5-D079BC1EF20C}"/>
              </a:ext>
            </a:extLst>
          </p:cNvPr>
          <p:cNvSpPr txBox="1"/>
          <p:nvPr/>
        </p:nvSpPr>
        <p:spPr>
          <a:xfrm>
            <a:off x="161925" y="5976937"/>
            <a:ext cx="80815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Anyway…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only</a:t>
            </a:r>
            <a:r>
              <a:rPr lang="fr-FR" dirty="0"/>
              <a:t> to do </a:t>
            </a:r>
            <a:r>
              <a:rPr lang="fr-FR" dirty="0" err="1"/>
              <a:t>next</a:t>
            </a:r>
            <a:r>
              <a:rPr lang="fr-FR" dirty="0"/>
              <a:t> « show </a:t>
            </a:r>
            <a:r>
              <a:rPr lang="fr-FR" dirty="0" err="1"/>
              <a:t>create</a:t>
            </a:r>
            <a:r>
              <a:rPr lang="fr-FR" dirty="0"/>
              <a:t> table » ..</a:t>
            </a:r>
          </a:p>
          <a:p>
            <a:r>
              <a:rPr lang="fr-FR" dirty="0"/>
              <a:t>CTAS =&gt; can NOT </a:t>
            </a:r>
            <a:r>
              <a:rPr lang="fr-FR" dirty="0" err="1"/>
              <a:t>create</a:t>
            </a:r>
            <a:r>
              <a:rPr lang="fr-FR" dirty="0"/>
              <a:t> EXTERNAL tables   /   can NOT </a:t>
            </a:r>
            <a:r>
              <a:rPr lang="fr-FR" dirty="0" err="1"/>
              <a:t>create</a:t>
            </a:r>
            <a:r>
              <a:rPr lang="fr-FR" dirty="0"/>
              <a:t> PARTITIONED tables !!!</a:t>
            </a:r>
          </a:p>
        </p:txBody>
      </p:sp>
    </p:spTree>
    <p:extLst>
      <p:ext uri="{BB962C8B-B14F-4D97-AF65-F5344CB8AC3E}">
        <p14:creationId xmlns:p14="http://schemas.microsoft.com/office/powerpoint/2010/main" val="406222317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88F67-527D-14F6-5BBF-8D33DF851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11 : SHOW CREATE 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18088C-703A-4118-A024-3E63F0F8CB48}"/>
              </a:ext>
            </a:extLst>
          </p:cNvPr>
          <p:cNvSpPr txBox="1"/>
          <p:nvPr/>
        </p:nvSpPr>
        <p:spPr>
          <a:xfrm>
            <a:off x="1367161" y="1873188"/>
            <a:ext cx="10201511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2400" dirty="0"/>
          </a:p>
          <a:p>
            <a:r>
              <a:rPr lang="fr-FR" sz="2400" dirty="0"/>
              <a:t>a/   </a:t>
            </a:r>
            <a:r>
              <a:rPr lang="fr-FR" sz="2400" dirty="0" err="1"/>
              <a:t>Execute</a:t>
            </a:r>
            <a:r>
              <a:rPr lang="fr-FR" sz="2400" dirty="0"/>
              <a:t> SQL </a:t>
            </a:r>
          </a:p>
          <a:p>
            <a:endParaRPr lang="en-US" sz="2400" dirty="0"/>
          </a:p>
          <a:p>
            <a:r>
              <a:rPr lang="en-US" sz="2400" dirty="0" err="1"/>
              <a:t>spark.sql</a:t>
            </a:r>
            <a:r>
              <a:rPr lang="en-US" sz="2400" dirty="0"/>
              <a:t>("SHOW TABLES in db1").show(false)</a:t>
            </a:r>
            <a:endParaRPr lang="fr-FR" sz="2400" dirty="0"/>
          </a:p>
          <a:p>
            <a:r>
              <a:rPr lang="en-US" sz="2400" dirty="0" err="1"/>
              <a:t>spark.sql</a:t>
            </a:r>
            <a:r>
              <a:rPr lang="en-US" sz="2400" dirty="0"/>
              <a:t>("DESCRIBE TABLE db1.addr").show(false)</a:t>
            </a:r>
            <a:br>
              <a:rPr lang="en-US" sz="2400" dirty="0"/>
            </a:br>
            <a:r>
              <a:rPr lang="en-US" sz="2400" dirty="0" err="1"/>
              <a:t>spark.sql</a:t>
            </a:r>
            <a:r>
              <a:rPr lang="en-US" sz="2400" dirty="0"/>
              <a:t>("SHOW CREATE TABLE db1.addr").show(false)</a:t>
            </a:r>
            <a:br>
              <a:rPr lang="en-US" sz="2400" dirty="0"/>
            </a:br>
            <a:endParaRPr lang="fr-FR" sz="2400" dirty="0"/>
          </a:p>
          <a:p>
            <a:r>
              <a:rPr lang="fr-FR" sz="2400" dirty="0"/>
              <a:t>b/ check </a:t>
            </a:r>
            <a:r>
              <a:rPr lang="fr-FR" sz="2400" dirty="0" err="1"/>
              <a:t>you</a:t>
            </a:r>
            <a:r>
              <a:rPr lang="fr-FR" sz="2400" dirty="0"/>
              <a:t> can RE-</a:t>
            </a:r>
            <a:r>
              <a:rPr lang="fr-FR" sz="2400" dirty="0" err="1"/>
              <a:t>Execute</a:t>
            </a:r>
            <a:r>
              <a:rPr lang="fr-FR" sz="2400" dirty="0"/>
              <a:t> the </a:t>
            </a:r>
            <a:r>
              <a:rPr lang="fr-FR" sz="2400" dirty="0" err="1"/>
              <a:t>result</a:t>
            </a:r>
            <a:r>
              <a:rPr lang="fr-FR" sz="2400" dirty="0"/>
              <a:t> SQL  DDL script  </a:t>
            </a:r>
            <a:br>
              <a:rPr lang="fr-FR" sz="2400" dirty="0"/>
            </a:br>
            <a:r>
              <a:rPr lang="fr-FR" sz="2400" dirty="0"/>
              <a:t>    (</a:t>
            </a:r>
            <a:r>
              <a:rPr lang="fr-FR" sz="2400" dirty="0" err="1"/>
              <a:t>ensure</a:t>
            </a:r>
            <a:r>
              <a:rPr lang="fr-FR" sz="2400" dirty="0"/>
              <a:t> </a:t>
            </a:r>
            <a:r>
              <a:rPr lang="fr-FR" sz="2400" dirty="0" err="1"/>
              <a:t>modify</a:t>
            </a:r>
            <a:r>
              <a:rPr lang="fr-FR" sz="2400" dirty="0"/>
              <a:t> table </a:t>
            </a:r>
            <a:r>
              <a:rPr lang="fr-FR" sz="2400" dirty="0" err="1"/>
              <a:t>name</a:t>
            </a:r>
            <a:r>
              <a:rPr lang="fr-FR" sz="2400" dirty="0"/>
              <a:t>)</a:t>
            </a:r>
          </a:p>
          <a:p>
            <a:endParaRPr lang="fr-FR" sz="2400" dirty="0"/>
          </a:p>
          <a:p>
            <a:r>
              <a:rPr lang="fr-FR" sz="2400" dirty="0"/>
              <a:t>c/ compare </a:t>
            </a:r>
            <a:r>
              <a:rPr lang="fr-FR" sz="2400" dirty="0" err="1"/>
              <a:t>difference</a:t>
            </a:r>
            <a:r>
              <a:rPr lang="fr-FR" sz="2400" dirty="0"/>
              <a:t> </a:t>
            </a:r>
            <a:r>
              <a:rPr lang="fr-FR" sz="2400" dirty="0" err="1"/>
              <a:t>with</a:t>
            </a:r>
            <a:r>
              <a:rPr lang="fr-FR" sz="2400" dirty="0"/>
              <a:t> « </a:t>
            </a:r>
            <a:r>
              <a:rPr lang="fr-FR" sz="2400" dirty="0" err="1"/>
              <a:t>dataset.printSchema</a:t>
            </a:r>
            <a:r>
              <a:rPr lang="fr-FR" sz="2400" dirty="0"/>
              <a:t> »   or  </a:t>
            </a:r>
            <a:r>
              <a:rPr lang="fr-FR" sz="2400" dirty="0" err="1"/>
              <a:t>Sql</a:t>
            </a:r>
            <a:r>
              <a:rPr lang="fr-FR" sz="2400" dirty="0"/>
              <a:t> « DESCRIBE TABLE »</a:t>
            </a:r>
          </a:p>
          <a:p>
            <a:r>
              <a:rPr lang="fr-FR" sz="2400" dirty="0"/>
              <a:t>   (ASCII table vs </a:t>
            </a:r>
            <a:r>
              <a:rPr lang="fr-FR" sz="2400" dirty="0" err="1"/>
              <a:t>Sql</a:t>
            </a:r>
            <a:r>
              <a:rPr lang="fr-FR" sz="2400" dirty="0"/>
              <a:t>)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211131268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58AD5-D97C-CD37-08D4-DC6C6E117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1763"/>
            <a:ext cx="10515600" cy="849313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11: SHOW CREATE TABLE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094D5C-D574-FDFD-79C5-D162A37D06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45700"/>
            <a:ext cx="12192000" cy="296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4677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58AD5-D97C-CD37-08D4-DC6C6E117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1763"/>
            <a:ext cx="10515600" cy="849313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11: SHOW CREATE TABLE ..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54E049-C30B-09B6-7907-A457385988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332" y="2124609"/>
            <a:ext cx="6763336" cy="43132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ED6E05F-5F57-B2BD-95F4-7EB3F0011417}"/>
              </a:ext>
            </a:extLst>
          </p:cNvPr>
          <p:cNvSpPr txBox="1"/>
          <p:nvPr/>
        </p:nvSpPr>
        <p:spPr>
          <a:xfrm>
            <a:off x="1220679" y="1137344"/>
            <a:ext cx="75657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Windows display </a:t>
            </a:r>
            <a:r>
              <a:rPr lang="fr-FR" sz="2400" dirty="0" err="1"/>
              <a:t>error</a:t>
            </a:r>
            <a:r>
              <a:rPr lang="fr-FR" sz="2400" dirty="0"/>
              <a:t> « \n » ??</a:t>
            </a:r>
          </a:p>
          <a:p>
            <a:r>
              <a:rPr lang="fr-FR" sz="2400" dirty="0" err="1"/>
              <a:t>Hint</a:t>
            </a:r>
            <a:r>
              <a:rPr lang="fr-FR" sz="2400" dirty="0"/>
              <a:t>… </a:t>
            </a:r>
            <a:r>
              <a:rPr lang="fr-FR" sz="2400" dirty="0" err="1"/>
              <a:t>instead</a:t>
            </a:r>
            <a:r>
              <a:rPr lang="fr-FR" sz="2400" dirty="0"/>
              <a:t> of « .show() »   use  « </a:t>
            </a:r>
            <a:r>
              <a:rPr lang="fr-FR" sz="2400" b="1" dirty="0"/>
              <a:t>.</a:t>
            </a:r>
            <a:r>
              <a:rPr lang="fr-FR" sz="2400" b="1" dirty="0" err="1"/>
              <a:t>foreach</a:t>
            </a:r>
            <a:r>
              <a:rPr lang="fr-FR" sz="2400" b="1" dirty="0"/>
              <a:t>( </a:t>
            </a:r>
            <a:r>
              <a:rPr lang="fr-FR" sz="2400" b="1" dirty="0" err="1"/>
              <a:t>println</a:t>
            </a:r>
            <a:r>
              <a:rPr lang="fr-FR" sz="2400" b="1" dirty="0"/>
              <a:t>(_) )</a:t>
            </a:r>
            <a:r>
              <a:rPr lang="fr-FR" sz="2400" dirty="0"/>
              <a:t> »</a:t>
            </a:r>
          </a:p>
        </p:txBody>
      </p:sp>
    </p:spTree>
    <p:extLst>
      <p:ext uri="{BB962C8B-B14F-4D97-AF65-F5344CB8AC3E}">
        <p14:creationId xmlns:p14="http://schemas.microsoft.com/office/powerpoint/2010/main" val="118354808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AD2C1-DA1E-7AB5-24F3-1E065C0BD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Hint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11:  </a:t>
            </a:r>
            <a:r>
              <a:rPr lang="fr-FR" dirty="0" err="1"/>
              <a:t>Replacing</a:t>
            </a:r>
            <a:r>
              <a:rPr lang="fr-FR" dirty="0"/>
              <a:t> </a:t>
            </a:r>
            <a:r>
              <a:rPr lang="fr-FR" dirty="0">
                <a:hlinkClick r:id="rId2" action="ppaction://hlinkfile"/>
              </a:rPr>
              <a:t>\\n</a:t>
            </a:r>
            <a:r>
              <a:rPr lang="fr-FR" dirty="0"/>
              <a:t> by \n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293C63-0AB6-4C78-0899-006C2E2A8D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9829" y="2137126"/>
            <a:ext cx="6354062" cy="3439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02444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3D92F-B60B-ECD1-27B1-873058F8D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2764" y="365125"/>
            <a:ext cx="10221036" cy="1325563"/>
          </a:xfrm>
        </p:spPr>
        <p:txBody>
          <a:bodyPr/>
          <a:lstStyle/>
          <a:p>
            <a:r>
              <a:rPr lang="fr-FR" dirty="0"/>
              <a:t>SHOW CREATE 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321CF8-65D0-6BEE-721A-13710184C130}"/>
              </a:ext>
            </a:extLst>
          </p:cNvPr>
          <p:cNvSpPr txBox="1"/>
          <p:nvPr/>
        </p:nvSpPr>
        <p:spPr>
          <a:xfrm>
            <a:off x="2925073" y="1856173"/>
            <a:ext cx="704351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CREATE TABLE spark_catalog.db1.addr ( </a:t>
            </a:r>
          </a:p>
          <a:p>
            <a:r>
              <a:rPr lang="fr-FR" dirty="0" err="1"/>
              <a:t>uid_adresse</a:t>
            </a:r>
            <a:r>
              <a:rPr lang="fr-FR" dirty="0"/>
              <a:t> STRING,  </a:t>
            </a:r>
          </a:p>
          <a:p>
            <a:r>
              <a:rPr lang="fr-FR" dirty="0" err="1"/>
              <a:t>cle_interop</a:t>
            </a:r>
            <a:r>
              <a:rPr lang="fr-FR" dirty="0"/>
              <a:t> STRING,  </a:t>
            </a:r>
            <a:r>
              <a:rPr lang="fr-FR" dirty="0" err="1"/>
              <a:t>commune_insee</a:t>
            </a:r>
            <a:r>
              <a:rPr lang="fr-FR" dirty="0"/>
              <a:t> STRING,  </a:t>
            </a:r>
          </a:p>
          <a:p>
            <a:r>
              <a:rPr lang="fr-FR" dirty="0" err="1"/>
              <a:t>commune_nom</a:t>
            </a:r>
            <a:r>
              <a:rPr lang="fr-FR" dirty="0"/>
              <a:t> STRING,  </a:t>
            </a:r>
          </a:p>
          <a:p>
            <a:r>
              <a:rPr lang="fr-FR" dirty="0" err="1"/>
              <a:t>commune_deleguee_insee</a:t>
            </a:r>
            <a:r>
              <a:rPr lang="fr-FR" dirty="0"/>
              <a:t> INT,  </a:t>
            </a:r>
          </a:p>
          <a:p>
            <a:r>
              <a:rPr lang="fr-FR" dirty="0" err="1"/>
              <a:t>commune_deleguee_nom</a:t>
            </a:r>
            <a:r>
              <a:rPr lang="fr-FR" dirty="0"/>
              <a:t> STRING,  </a:t>
            </a:r>
          </a:p>
          <a:p>
            <a:r>
              <a:rPr lang="fr-FR" dirty="0" err="1"/>
              <a:t>voie_nom</a:t>
            </a:r>
            <a:r>
              <a:rPr lang="fr-FR" dirty="0"/>
              <a:t> STRING,  </a:t>
            </a:r>
          </a:p>
          <a:p>
            <a:r>
              <a:rPr lang="fr-FR" dirty="0" err="1"/>
              <a:t>lieudit_complement_nom</a:t>
            </a:r>
            <a:r>
              <a:rPr lang="fr-FR" dirty="0"/>
              <a:t> STRING,  </a:t>
            </a:r>
          </a:p>
          <a:p>
            <a:r>
              <a:rPr lang="fr-FR" dirty="0" err="1"/>
              <a:t>numero</a:t>
            </a:r>
            <a:r>
              <a:rPr lang="fr-FR" dirty="0"/>
              <a:t> INT,  suffixe STRING,  position STRING,  x DOUBLE,  y DOUBLE,  </a:t>
            </a:r>
          </a:p>
          <a:p>
            <a:r>
              <a:rPr lang="fr-FR" dirty="0"/>
              <a:t>long DOUBLE,  </a:t>
            </a:r>
            <a:r>
              <a:rPr lang="fr-FR" dirty="0" err="1"/>
              <a:t>lat</a:t>
            </a:r>
            <a:r>
              <a:rPr lang="fr-FR" dirty="0"/>
              <a:t> DOUBLE,  </a:t>
            </a:r>
            <a:r>
              <a:rPr lang="fr-FR" dirty="0" err="1"/>
              <a:t>cad_parcelles</a:t>
            </a:r>
            <a:r>
              <a:rPr lang="fr-FR" dirty="0"/>
              <a:t> STRING,  source STRING,  </a:t>
            </a:r>
          </a:p>
          <a:p>
            <a:r>
              <a:rPr lang="fr-FR" dirty="0" err="1"/>
              <a:t>date_der_maj</a:t>
            </a:r>
            <a:r>
              <a:rPr lang="fr-FR" dirty="0"/>
              <a:t> STRING,  </a:t>
            </a:r>
            <a:r>
              <a:rPr lang="fr-FR" dirty="0" err="1"/>
              <a:t>certification_commune</a:t>
            </a:r>
            <a:r>
              <a:rPr lang="fr-FR" dirty="0"/>
              <a:t> INT</a:t>
            </a:r>
          </a:p>
          <a:p>
            <a:r>
              <a:rPr lang="fr-FR" dirty="0"/>
              <a:t>)</a:t>
            </a:r>
          </a:p>
          <a:p>
            <a:r>
              <a:rPr lang="fr-FR" b="1" dirty="0"/>
              <a:t>USING parquet</a:t>
            </a:r>
          </a:p>
        </p:txBody>
      </p:sp>
    </p:spTree>
    <p:extLst>
      <p:ext uri="{BB962C8B-B14F-4D97-AF65-F5344CB8AC3E}">
        <p14:creationId xmlns:p14="http://schemas.microsoft.com/office/powerpoint/2010/main" val="393805140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58AD5-D97C-CD37-08D4-DC6C6E117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1763"/>
            <a:ext cx="10515600" cy="1204326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12: </a:t>
            </a:r>
            <a:r>
              <a:rPr lang="fr-FR" dirty="0" err="1"/>
              <a:t>Create</a:t>
            </a:r>
            <a:r>
              <a:rPr lang="fr-FR" dirty="0"/>
              <a:t> « EXTERNAL » TABLE</a:t>
            </a:r>
            <a:br>
              <a:rPr lang="fr-FR" dirty="0"/>
            </a:br>
            <a:r>
              <a:rPr lang="fr-FR" dirty="0" err="1"/>
              <a:t>instead</a:t>
            </a:r>
            <a:r>
              <a:rPr lang="fr-FR" dirty="0"/>
              <a:t> of default «MANAGED » Table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B3362F-5EB2-7706-BFFA-1A2690B77A65}"/>
              </a:ext>
            </a:extLst>
          </p:cNvPr>
          <p:cNvSpPr txBox="1"/>
          <p:nvPr/>
        </p:nvSpPr>
        <p:spPr>
          <a:xfrm>
            <a:off x="2108327" y="1881707"/>
            <a:ext cx="9069342" cy="40934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a/  </a:t>
            </a:r>
            <a:r>
              <a:rPr lang="fr-FR" sz="2000" dirty="0" err="1"/>
              <a:t>Execute</a:t>
            </a:r>
            <a:r>
              <a:rPr lang="fr-FR" sz="2000" dirty="0"/>
              <a:t>  </a:t>
            </a:r>
            <a:r>
              <a:rPr lang="fr-FR" sz="2000" dirty="0" err="1"/>
              <a:t>Sql</a:t>
            </a:r>
            <a:r>
              <a:rPr lang="fr-FR" sz="2000" dirty="0"/>
              <a:t> « DROP TABLE  db1.address »</a:t>
            </a:r>
          </a:p>
          <a:p>
            <a:endParaRPr lang="fr-FR" sz="2000" dirty="0"/>
          </a:p>
          <a:p>
            <a:r>
              <a:rPr lang="fr-FR" sz="2000" dirty="0"/>
              <a:t>b/ </a:t>
            </a:r>
            <a:r>
              <a:rPr lang="fr-FR" sz="2000" dirty="0" err="1"/>
              <a:t>Verify</a:t>
            </a:r>
            <a:r>
              <a:rPr lang="fr-FR" sz="2000" dirty="0"/>
              <a:t> </a:t>
            </a:r>
            <a:r>
              <a:rPr lang="fr-FR" sz="2000" dirty="0" err="1"/>
              <a:t>that</a:t>
            </a:r>
            <a:r>
              <a:rPr lang="fr-FR" sz="2000" dirty="0"/>
              <a:t> </a:t>
            </a:r>
            <a:r>
              <a:rPr lang="fr-FR" sz="2000" dirty="0" err="1"/>
              <a:t>it</a:t>
            </a:r>
            <a:r>
              <a:rPr lang="fr-FR" sz="2000" dirty="0"/>
              <a:t> has </a:t>
            </a:r>
            <a:r>
              <a:rPr lang="fr-FR" sz="2000" dirty="0" err="1"/>
              <a:t>deleted</a:t>
            </a:r>
            <a:r>
              <a:rPr lang="fr-FR" sz="2000" dirty="0"/>
              <a:t> all Directories and Files ! </a:t>
            </a:r>
          </a:p>
          <a:p>
            <a:endParaRPr lang="fr-FR" sz="2000" dirty="0"/>
          </a:p>
          <a:p>
            <a:r>
              <a:rPr lang="fr-FR" sz="2000" dirty="0"/>
              <a:t>c/ </a:t>
            </a:r>
            <a:r>
              <a:rPr lang="fr-FR" sz="2000" dirty="0" err="1"/>
              <a:t>recreate</a:t>
            </a:r>
            <a:r>
              <a:rPr lang="fr-FR" sz="2000" dirty="0"/>
              <a:t> </a:t>
            </a:r>
            <a:r>
              <a:rPr lang="fr-FR" sz="2000" dirty="0" err="1"/>
              <a:t>your</a:t>
            </a:r>
            <a:r>
              <a:rPr lang="fr-FR" sz="2000" dirty="0"/>
              <a:t> table, but </a:t>
            </a:r>
            <a:r>
              <a:rPr lang="fr-FR" sz="2000" dirty="0" err="1"/>
              <a:t>using</a:t>
            </a:r>
            <a:r>
              <a:rPr lang="fr-FR" sz="2000" dirty="0"/>
              <a:t> « CREATE EXTERNAL TABLE .. LOCATION .. »</a:t>
            </a:r>
          </a:p>
          <a:p>
            <a:endParaRPr lang="fr-FR" sz="2000" dirty="0"/>
          </a:p>
          <a:p>
            <a:r>
              <a:rPr lang="fr-FR" sz="2000" dirty="0"/>
              <a:t>d/ </a:t>
            </a:r>
            <a:r>
              <a:rPr lang="fr-FR" sz="2000" dirty="0" err="1"/>
              <a:t>fill</a:t>
            </a:r>
            <a:r>
              <a:rPr lang="fr-FR" sz="2000" dirty="0"/>
              <a:t> </a:t>
            </a:r>
            <a:r>
              <a:rPr lang="fr-FR" sz="2000" dirty="0" err="1"/>
              <a:t>your</a:t>
            </a:r>
            <a:r>
              <a:rPr lang="fr-FR" sz="2000" dirty="0"/>
              <a:t> table </a:t>
            </a:r>
            <a:r>
              <a:rPr lang="fr-FR" sz="2000" dirty="0" err="1"/>
              <a:t>using</a:t>
            </a:r>
            <a:r>
              <a:rPr lang="fr-FR" sz="2000" dirty="0"/>
              <a:t> « INSERT OVERWRITE … SELECT .. »)</a:t>
            </a:r>
          </a:p>
          <a:p>
            <a:endParaRPr lang="fr-FR" sz="2000" dirty="0"/>
          </a:p>
          <a:p>
            <a:r>
              <a:rPr lang="fr-FR" sz="2000" dirty="0"/>
              <a:t>e/ </a:t>
            </a:r>
            <a:r>
              <a:rPr lang="fr-FR" sz="2000" dirty="0" err="1"/>
              <a:t>Execute</a:t>
            </a:r>
            <a:r>
              <a:rPr lang="fr-FR" sz="2000" dirty="0"/>
              <a:t> « DROP TABLE » on the </a:t>
            </a:r>
            <a:r>
              <a:rPr lang="fr-FR" sz="2000" dirty="0" err="1"/>
              <a:t>external</a:t>
            </a:r>
            <a:r>
              <a:rPr lang="fr-FR" sz="2000" dirty="0"/>
              <a:t> table</a:t>
            </a:r>
            <a:br>
              <a:rPr lang="fr-FR" sz="2000" dirty="0"/>
            </a:br>
            <a:r>
              <a:rPr lang="fr-FR" sz="2000" dirty="0"/>
              <a:t>   </a:t>
            </a:r>
            <a:r>
              <a:rPr lang="fr-FR" sz="2000" dirty="0" err="1"/>
              <a:t>Verify</a:t>
            </a:r>
            <a:r>
              <a:rPr lang="fr-FR" sz="2000" dirty="0"/>
              <a:t> </a:t>
            </a:r>
            <a:r>
              <a:rPr lang="fr-FR" sz="2000" dirty="0" err="1"/>
              <a:t>that</a:t>
            </a:r>
            <a:r>
              <a:rPr lang="fr-FR" sz="2000" dirty="0"/>
              <a:t> </a:t>
            </a:r>
            <a:r>
              <a:rPr lang="fr-FR" sz="2000" dirty="0" err="1"/>
              <a:t>Dir</a:t>
            </a:r>
            <a:r>
              <a:rPr lang="fr-FR" sz="2000" dirty="0"/>
              <a:t>/Files are NOT </a:t>
            </a:r>
            <a:r>
              <a:rPr lang="fr-FR" sz="2000" dirty="0" err="1"/>
              <a:t>affected</a:t>
            </a:r>
            <a:r>
              <a:rPr lang="fr-FR" sz="2000" dirty="0"/>
              <a:t> !</a:t>
            </a:r>
          </a:p>
          <a:p>
            <a:r>
              <a:rPr lang="fr-FR" sz="2000" dirty="0"/>
              <a:t> </a:t>
            </a:r>
          </a:p>
          <a:p>
            <a:r>
              <a:rPr lang="fr-FR" sz="2000" dirty="0"/>
              <a:t>f/ RE-</a:t>
            </a:r>
            <a:r>
              <a:rPr lang="fr-FR" sz="2000" dirty="0" err="1"/>
              <a:t>Create</a:t>
            </a:r>
            <a:r>
              <a:rPr lang="fr-FR" sz="2000" dirty="0"/>
              <a:t> EXTERNAL TABLE … </a:t>
            </a:r>
            <a:r>
              <a:rPr lang="fr-FR" sz="2000" dirty="0" err="1"/>
              <a:t>adding</a:t>
            </a:r>
            <a:r>
              <a:rPr lang="fr-FR" sz="2000" dirty="0"/>
              <a:t> « LOCATION ‘c:/data/</a:t>
            </a:r>
            <a:r>
              <a:rPr lang="fr-FR" sz="2000" dirty="0" err="1"/>
              <a:t>your-dir</a:t>
            </a:r>
            <a:r>
              <a:rPr lang="fr-FR" sz="2000" dirty="0"/>
              <a:t>’ » (</a:t>
            </a:r>
            <a:r>
              <a:rPr lang="fr-FR" sz="2000" dirty="0" err="1"/>
              <a:t>cf</a:t>
            </a:r>
            <a:r>
              <a:rPr lang="fr-FR" sz="2000" dirty="0"/>
              <a:t> </a:t>
            </a:r>
            <a:r>
              <a:rPr lang="fr-FR" sz="2000" dirty="0" err="1"/>
              <a:t>next</a:t>
            </a:r>
            <a:r>
              <a:rPr lang="fr-FR" sz="2000" dirty="0"/>
              <a:t> slide)</a:t>
            </a:r>
            <a:br>
              <a:rPr lang="fr-FR" sz="2000" dirty="0"/>
            </a:br>
            <a:r>
              <a:rPr lang="fr-FR" sz="2000" dirty="0"/>
              <a:t>  </a:t>
            </a:r>
            <a:r>
              <a:rPr lang="fr-FR" sz="2000" dirty="0" err="1"/>
              <a:t>Verify</a:t>
            </a:r>
            <a:r>
              <a:rPr lang="fr-FR" sz="2000" dirty="0"/>
              <a:t> </a:t>
            </a:r>
            <a:r>
              <a:rPr lang="fr-FR" sz="2000" dirty="0" err="1"/>
              <a:t>it</a:t>
            </a:r>
            <a:r>
              <a:rPr lang="fr-FR" sz="2000" dirty="0"/>
              <a:t> </a:t>
            </a:r>
            <a:r>
              <a:rPr lang="fr-FR" sz="2000" dirty="0" err="1"/>
              <a:t>still</a:t>
            </a:r>
            <a:r>
              <a:rPr lang="fr-FR" sz="2000" dirty="0"/>
              <a:t> has data « select count(*) </a:t>
            </a:r>
            <a:r>
              <a:rPr lang="fr-FR" sz="2000" dirty="0" err="1"/>
              <a:t>from</a:t>
            </a:r>
            <a:r>
              <a:rPr lang="fr-FR" sz="2000" dirty="0"/>
              <a:t> .. »</a:t>
            </a:r>
          </a:p>
        </p:txBody>
      </p:sp>
    </p:spTree>
    <p:extLst>
      <p:ext uri="{BB962C8B-B14F-4D97-AF65-F5344CB8AC3E}">
        <p14:creationId xmlns:p14="http://schemas.microsoft.com/office/powerpoint/2010/main" val="187440697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CA697-E00E-EDFD-67C6-3E0A4F653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203675" cy="1325563"/>
          </a:xfrm>
        </p:spPr>
        <p:txBody>
          <a:bodyPr>
            <a:normAutofit/>
          </a:bodyPr>
          <a:lstStyle/>
          <a:p>
            <a:r>
              <a:rPr lang="fr-FR" sz="4000" dirty="0"/>
              <a:t>CREATE EXTERNAL TABLE .. STORED AS .. LOCATION 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18BE17-B5F6-34F1-EC74-587E31A9765D}"/>
              </a:ext>
            </a:extLst>
          </p:cNvPr>
          <p:cNvSpPr txBox="1"/>
          <p:nvPr/>
        </p:nvSpPr>
        <p:spPr>
          <a:xfrm>
            <a:off x="901127" y="1755988"/>
            <a:ext cx="9016636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spark.sql</a:t>
            </a:r>
            <a:r>
              <a:rPr lang="en-US" b="1" dirty="0"/>
              <a:t>("""</a:t>
            </a:r>
          </a:p>
          <a:p>
            <a:r>
              <a:rPr lang="en-US" b="1" dirty="0"/>
              <a:t>CREATE EXTERNAL TABLE spark_catalog.db1.addr2 (  </a:t>
            </a:r>
          </a:p>
          <a:p>
            <a:r>
              <a:rPr lang="en-US" dirty="0" err="1"/>
              <a:t>uid_adresse</a:t>
            </a:r>
            <a:r>
              <a:rPr lang="en-US" dirty="0"/>
              <a:t> STRING,  </a:t>
            </a:r>
          </a:p>
          <a:p>
            <a:r>
              <a:rPr lang="en-US" dirty="0" err="1"/>
              <a:t>cle_interop</a:t>
            </a:r>
            <a:r>
              <a:rPr lang="en-US" dirty="0"/>
              <a:t> STRING,  </a:t>
            </a:r>
            <a:r>
              <a:rPr lang="en-US" dirty="0" err="1"/>
              <a:t>commune_insee</a:t>
            </a:r>
            <a:r>
              <a:rPr lang="en-US" dirty="0"/>
              <a:t> STRING,  </a:t>
            </a:r>
          </a:p>
          <a:p>
            <a:r>
              <a:rPr lang="en-US" dirty="0" err="1"/>
              <a:t>commune_nom</a:t>
            </a:r>
            <a:r>
              <a:rPr lang="en-US" dirty="0"/>
              <a:t> STRING,  </a:t>
            </a:r>
            <a:r>
              <a:rPr lang="en-US" dirty="0" err="1"/>
              <a:t>commune_deleguee_insee</a:t>
            </a:r>
            <a:r>
              <a:rPr lang="en-US" dirty="0"/>
              <a:t> INT,  </a:t>
            </a:r>
            <a:r>
              <a:rPr lang="en-US" dirty="0" err="1"/>
              <a:t>commune_deleguee_nom</a:t>
            </a:r>
            <a:r>
              <a:rPr lang="en-US" dirty="0"/>
              <a:t> STRING,  </a:t>
            </a:r>
          </a:p>
          <a:p>
            <a:r>
              <a:rPr lang="en-US" dirty="0" err="1"/>
              <a:t>voie_nom</a:t>
            </a:r>
            <a:r>
              <a:rPr lang="en-US" dirty="0"/>
              <a:t> STRING,  </a:t>
            </a:r>
            <a:r>
              <a:rPr lang="en-US" dirty="0" err="1"/>
              <a:t>lieudit_complement_nom</a:t>
            </a:r>
            <a:r>
              <a:rPr lang="en-US" dirty="0"/>
              <a:t> STRING,  </a:t>
            </a:r>
            <a:r>
              <a:rPr lang="en-US" dirty="0" err="1"/>
              <a:t>numero</a:t>
            </a:r>
            <a:r>
              <a:rPr lang="en-US" dirty="0"/>
              <a:t> INT,  </a:t>
            </a:r>
            <a:r>
              <a:rPr lang="en-US" dirty="0" err="1"/>
              <a:t>suffixe</a:t>
            </a:r>
            <a:r>
              <a:rPr lang="en-US" dirty="0"/>
              <a:t> STRING,  </a:t>
            </a:r>
          </a:p>
          <a:p>
            <a:r>
              <a:rPr lang="en-US" dirty="0"/>
              <a:t>position STRING,  x DOUBLE,  y DOUBLE,  long DOUBLE,  </a:t>
            </a:r>
            <a:r>
              <a:rPr lang="en-US" dirty="0" err="1"/>
              <a:t>lat</a:t>
            </a:r>
            <a:r>
              <a:rPr lang="en-US" dirty="0"/>
              <a:t> DOUBLE,  </a:t>
            </a:r>
            <a:r>
              <a:rPr lang="en-US" dirty="0" err="1"/>
              <a:t>cad_parcelles</a:t>
            </a:r>
            <a:r>
              <a:rPr lang="en-US" dirty="0"/>
              <a:t> STRING,  </a:t>
            </a:r>
          </a:p>
          <a:p>
            <a:r>
              <a:rPr lang="en-US" dirty="0"/>
              <a:t>source STRING,  </a:t>
            </a:r>
            <a:r>
              <a:rPr lang="en-US" dirty="0" err="1"/>
              <a:t>date_der_maj</a:t>
            </a:r>
            <a:r>
              <a:rPr lang="en-US" dirty="0"/>
              <a:t> STRING,  </a:t>
            </a:r>
            <a:r>
              <a:rPr lang="en-US" dirty="0" err="1"/>
              <a:t>certification_commune</a:t>
            </a:r>
            <a:r>
              <a:rPr lang="en-US" dirty="0"/>
              <a:t> INT</a:t>
            </a:r>
          </a:p>
          <a:p>
            <a:r>
              <a:rPr lang="en-US" b="1" dirty="0"/>
              <a:t>) </a:t>
            </a:r>
          </a:p>
          <a:p>
            <a:r>
              <a:rPr lang="en-US" b="1" dirty="0"/>
              <a:t>STORED AS parquet</a:t>
            </a:r>
          </a:p>
          <a:p>
            <a:r>
              <a:rPr lang="en-US" b="1" dirty="0"/>
              <a:t>LOCATION 'C:/data/OpenData-gouv.fr/bal-table-addr2'</a:t>
            </a:r>
          </a:p>
          <a:p>
            <a:r>
              <a:rPr lang="en-US" b="1" dirty="0"/>
              <a:t>""").show()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532271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58AD5-D97C-CD37-08D4-DC6C6E117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1763"/>
            <a:ext cx="10515600" cy="849313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12: </a:t>
            </a:r>
            <a:r>
              <a:rPr lang="fr-FR" dirty="0" err="1"/>
              <a:t>Create</a:t>
            </a:r>
            <a:r>
              <a:rPr lang="fr-FR" dirty="0"/>
              <a:t> EXTERNAL Table</a:t>
            </a:r>
            <a:br>
              <a:rPr lang="fr-FR" dirty="0"/>
            </a:br>
            <a:r>
              <a:rPr lang="fr-FR" dirty="0"/>
              <a:t>… WARN if directory not </a:t>
            </a:r>
            <a:r>
              <a:rPr lang="fr-FR" dirty="0" err="1"/>
              <a:t>already</a:t>
            </a:r>
            <a:r>
              <a:rPr lang="fr-FR" dirty="0"/>
              <a:t> </a:t>
            </a:r>
            <a:r>
              <a:rPr lang="fr-FR" dirty="0" err="1"/>
              <a:t>exists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8529BF-202B-C979-A459-DEDA113D8B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192" y="1728715"/>
            <a:ext cx="10047841" cy="165749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12F2FB8-DC6C-EEB7-B281-CB26D7E8140F}"/>
              </a:ext>
            </a:extLst>
          </p:cNvPr>
          <p:cNvSpPr txBox="1"/>
          <p:nvPr/>
        </p:nvSpPr>
        <p:spPr>
          <a:xfrm>
            <a:off x="1268312" y="3614183"/>
            <a:ext cx="17447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Works anyway …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49AD644-11A3-4429-AB44-FA8771DCE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0192" y="3908019"/>
            <a:ext cx="5513548" cy="10364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A948C9F-4104-67EA-07C1-72F35D321F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8312" y="5439681"/>
            <a:ext cx="4827688" cy="105546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D6BF114-98FD-57E6-E1C4-EBFD841C7049}"/>
              </a:ext>
            </a:extLst>
          </p:cNvPr>
          <p:cNvSpPr txBox="1"/>
          <p:nvPr/>
        </p:nvSpPr>
        <p:spPr>
          <a:xfrm>
            <a:off x="1343025" y="5023530"/>
            <a:ext cx="2228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but table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empty</a:t>
            </a:r>
            <a:r>
              <a:rPr lang="fr-FR" dirty="0"/>
              <a:t> </a:t>
            </a:r>
            <a:r>
              <a:rPr lang="fr-FR" dirty="0" err="1"/>
              <a:t>yet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4790393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58AD5-D97C-CD37-08D4-DC6C6E117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1763"/>
            <a:ext cx="10515600" cy="849313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12: </a:t>
            </a:r>
            <a:r>
              <a:rPr lang="fr-FR" dirty="0" err="1"/>
              <a:t>Create</a:t>
            </a:r>
            <a:r>
              <a:rPr lang="fr-FR" dirty="0"/>
              <a:t> EXTERNAL Table</a:t>
            </a:r>
            <a:br>
              <a:rPr lang="fr-FR" dirty="0"/>
            </a:br>
            <a:r>
              <a:rPr lang="fr-FR" dirty="0"/>
              <a:t>( directory </a:t>
            </a:r>
            <a:r>
              <a:rPr lang="fr-FR" dirty="0" err="1"/>
              <a:t>already</a:t>
            </a:r>
            <a:r>
              <a:rPr lang="fr-FR" dirty="0"/>
              <a:t> </a:t>
            </a:r>
            <a:r>
              <a:rPr lang="fr-FR" dirty="0" err="1"/>
              <a:t>existed</a:t>
            </a:r>
            <a:r>
              <a:rPr lang="fr-FR" dirty="0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F25441-314F-2084-38D5-557CFE50F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316" y="1215945"/>
            <a:ext cx="3181497" cy="55944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EE44033-3DDE-6656-7E55-C54F603661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8527" y="2500266"/>
            <a:ext cx="4903895" cy="1085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90298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11501-037E-2B7D-B148-A845C9E9A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13: INSERT INTO ..VALUES</a:t>
            </a:r>
            <a:br>
              <a:rPr lang="fr-FR" dirty="0"/>
            </a:br>
            <a:r>
              <a:rPr lang="fr-FR" dirty="0"/>
              <a:t>… </a:t>
            </a:r>
            <a:r>
              <a:rPr lang="fr-FR" dirty="0" err="1"/>
              <a:t>result</a:t>
            </a:r>
            <a:r>
              <a:rPr lang="fr-FR" dirty="0"/>
              <a:t> </a:t>
            </a:r>
            <a:r>
              <a:rPr lang="fr-FR" dirty="0" err="1"/>
              <a:t>created</a:t>
            </a:r>
            <a:r>
              <a:rPr lang="fr-FR" dirty="0"/>
              <a:t> File(s)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A0292C-966A-17C0-F518-F8DEC5A6B558}"/>
              </a:ext>
            </a:extLst>
          </p:cNvPr>
          <p:cNvSpPr txBox="1"/>
          <p:nvPr/>
        </p:nvSpPr>
        <p:spPr>
          <a:xfrm>
            <a:off x="1504189" y="1786151"/>
            <a:ext cx="7549054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a/ </a:t>
            </a:r>
            <a:r>
              <a:rPr lang="fr-FR" sz="2400" dirty="0" err="1"/>
              <a:t>Execute</a:t>
            </a:r>
            <a:r>
              <a:rPr lang="fr-FR" sz="2400" dirty="0"/>
              <a:t>  SQL</a:t>
            </a:r>
            <a:br>
              <a:rPr lang="fr-FR" sz="2400" dirty="0"/>
            </a:br>
            <a:endParaRPr lang="fr-FR" sz="2400" dirty="0"/>
          </a:p>
          <a:p>
            <a:r>
              <a:rPr lang="fr-FR" sz="2400" dirty="0" err="1"/>
              <a:t>spark.sql</a:t>
            </a:r>
            <a:r>
              <a:rPr lang="fr-FR" sz="2400" dirty="0"/>
              <a:t>("""</a:t>
            </a:r>
          </a:p>
          <a:p>
            <a:r>
              <a:rPr lang="fr-FR" sz="2400" dirty="0"/>
              <a:t>INSERT INTO db1.addr2 </a:t>
            </a:r>
            <a:br>
              <a:rPr lang="fr-FR" sz="2400" dirty="0"/>
            </a:br>
            <a:r>
              <a:rPr lang="fr-FR" sz="2400" dirty="0"/>
              <a:t>   (</a:t>
            </a:r>
            <a:r>
              <a:rPr lang="fr-FR" sz="2400" dirty="0" err="1"/>
              <a:t>commune_insee,commune_nom,numero,voie_nom</a:t>
            </a:r>
            <a:r>
              <a:rPr lang="fr-FR" sz="2400" dirty="0"/>
              <a:t>) </a:t>
            </a:r>
            <a:br>
              <a:rPr lang="fr-FR" sz="2400" dirty="0"/>
            </a:br>
            <a:r>
              <a:rPr lang="fr-FR" sz="2400" dirty="0"/>
              <a:t>    VALUES ('75000', 'PARIS', 1, 'rue de la paix')</a:t>
            </a:r>
          </a:p>
          <a:p>
            <a:r>
              <a:rPr lang="fr-FR" sz="2400" dirty="0"/>
              <a:t>""").show()</a:t>
            </a:r>
          </a:p>
          <a:p>
            <a:endParaRPr lang="fr-FR" sz="2400" dirty="0"/>
          </a:p>
          <a:p>
            <a:r>
              <a:rPr lang="fr-FR" sz="2400" dirty="0"/>
              <a:t>check </a:t>
            </a:r>
            <a:r>
              <a:rPr lang="fr-FR" sz="2400" dirty="0" err="1"/>
              <a:t>that</a:t>
            </a:r>
            <a:r>
              <a:rPr lang="fr-FR" sz="2400" dirty="0"/>
              <a:t> </a:t>
            </a:r>
            <a:r>
              <a:rPr lang="fr-FR" sz="2400" dirty="0" err="1"/>
              <a:t>it</a:t>
            </a:r>
            <a:r>
              <a:rPr lang="fr-FR" sz="2400" dirty="0"/>
              <a:t> has </a:t>
            </a:r>
            <a:r>
              <a:rPr lang="fr-FR" sz="2400" dirty="0" err="1"/>
              <a:t>created</a:t>
            </a:r>
            <a:r>
              <a:rPr lang="fr-FR" sz="2400" dirty="0"/>
              <a:t> 1 new File  (</a:t>
            </a:r>
            <a:r>
              <a:rPr lang="fr-FR" sz="2400" dirty="0" err="1"/>
              <a:t>containing</a:t>
            </a:r>
            <a:r>
              <a:rPr lang="fr-FR" sz="2400" dirty="0"/>
              <a:t> </a:t>
            </a:r>
            <a:r>
              <a:rPr lang="fr-FR" sz="2400" dirty="0" err="1"/>
              <a:t>only</a:t>
            </a:r>
            <a:r>
              <a:rPr lang="fr-FR" sz="2400" dirty="0"/>
              <a:t> 1 line)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b/ .. Repeat 10 times … “for(</a:t>
            </a:r>
            <a:r>
              <a:rPr lang="en-US" sz="2400" dirty="0" err="1"/>
              <a:t>i</a:t>
            </a:r>
            <a:r>
              <a:rPr lang="en-US" sz="2400" dirty="0"/>
              <a:t> &lt;- 0 to 10)”,   </a:t>
            </a:r>
            <a:br>
              <a:rPr lang="en-US" sz="2400" dirty="0"/>
            </a:br>
            <a:r>
              <a:rPr lang="en-US" sz="2400" dirty="0"/>
              <a:t>check it has created 10 additional files</a:t>
            </a:r>
          </a:p>
        </p:txBody>
      </p:sp>
    </p:spTree>
    <p:extLst>
      <p:ext uri="{BB962C8B-B14F-4D97-AF65-F5344CB8AC3E}">
        <p14:creationId xmlns:p14="http://schemas.microsoft.com/office/powerpoint/2010/main" val="66179573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11501-037E-2B7D-B148-A845C9E9A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13(</a:t>
            </a:r>
            <a:r>
              <a:rPr lang="fr-FR" dirty="0" err="1"/>
              <a:t>next</a:t>
            </a:r>
            <a:r>
              <a:rPr lang="fr-FR" dirty="0"/>
              <a:t>): INSERT INTO SELECT..</a:t>
            </a:r>
            <a:br>
              <a:rPr lang="fr-FR" dirty="0"/>
            </a:br>
            <a:r>
              <a:rPr lang="fr-FR" dirty="0"/>
              <a:t>… </a:t>
            </a:r>
            <a:r>
              <a:rPr lang="fr-FR" dirty="0" err="1"/>
              <a:t>result</a:t>
            </a:r>
            <a:r>
              <a:rPr lang="fr-FR" dirty="0"/>
              <a:t> </a:t>
            </a:r>
            <a:r>
              <a:rPr lang="fr-FR" dirty="0" err="1"/>
              <a:t>created</a:t>
            </a:r>
            <a:r>
              <a:rPr lang="fr-FR" dirty="0"/>
              <a:t> File(s)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A0292C-966A-17C0-F518-F8DEC5A6B558}"/>
              </a:ext>
            </a:extLst>
          </p:cNvPr>
          <p:cNvSpPr txBox="1"/>
          <p:nvPr/>
        </p:nvSpPr>
        <p:spPr>
          <a:xfrm>
            <a:off x="721718" y="1481351"/>
            <a:ext cx="9937913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c/ </a:t>
            </a:r>
            <a:r>
              <a:rPr lang="fr-FR" sz="2400" dirty="0" err="1"/>
              <a:t>Execute</a:t>
            </a:r>
            <a:r>
              <a:rPr lang="fr-FR" sz="2400" dirty="0"/>
              <a:t>  SQL</a:t>
            </a:r>
          </a:p>
          <a:p>
            <a:r>
              <a:rPr lang="fr-FR" sz="2400" dirty="0" err="1"/>
              <a:t>spark.sql</a:t>
            </a:r>
            <a:r>
              <a:rPr lang="fr-FR" sz="2400" dirty="0"/>
              <a:t>("""</a:t>
            </a:r>
          </a:p>
          <a:p>
            <a:r>
              <a:rPr lang="fr-FR" sz="2400" dirty="0"/>
              <a:t>INSERT INTO db1.addr2 </a:t>
            </a:r>
            <a:br>
              <a:rPr lang="fr-FR" sz="2400" dirty="0"/>
            </a:br>
            <a:r>
              <a:rPr lang="fr-FR" sz="2400" dirty="0"/>
              <a:t>    </a:t>
            </a:r>
            <a:r>
              <a:rPr lang="en-US" sz="2400" dirty="0"/>
              <a:t>SELECT * FROM db1.addr</a:t>
            </a:r>
            <a:br>
              <a:rPr lang="en-US" sz="2400" dirty="0"/>
            </a:br>
            <a:r>
              <a:rPr lang="fr-FR" sz="2400" dirty="0"/>
              <a:t>""").show()</a:t>
            </a:r>
          </a:p>
          <a:p>
            <a:endParaRPr lang="fr-FR" sz="2400" dirty="0"/>
          </a:p>
          <a:p>
            <a:r>
              <a:rPr lang="fr-FR" sz="2400" dirty="0"/>
              <a:t>Check how </a:t>
            </a:r>
            <a:r>
              <a:rPr lang="fr-FR" sz="2400" dirty="0" err="1"/>
              <a:t>many</a:t>
            </a:r>
            <a:r>
              <a:rPr lang="fr-FR" sz="2400" dirty="0"/>
              <a:t> files are </a:t>
            </a:r>
            <a:r>
              <a:rPr lang="fr-FR" sz="2400" dirty="0" err="1"/>
              <a:t>inserted</a:t>
            </a:r>
            <a:r>
              <a:rPr lang="fr-FR" sz="2400" dirty="0"/>
              <a:t>, </a:t>
            </a:r>
            <a:r>
              <a:rPr lang="fr-FR" sz="2400" dirty="0" err="1"/>
              <a:t>comparing</a:t>
            </a:r>
            <a:r>
              <a:rPr lang="fr-FR" sz="2400" dirty="0"/>
              <a:t> to </a:t>
            </a:r>
            <a:r>
              <a:rPr lang="en-US" sz="2400" dirty="0"/>
              <a:t>the parallelism of the SELECT</a:t>
            </a:r>
          </a:p>
          <a:p>
            <a:r>
              <a:rPr lang="fr-FR" sz="2400" dirty="0" err="1"/>
              <a:t>spark.sql</a:t>
            </a:r>
            <a:r>
              <a:rPr lang="fr-FR" sz="2400" dirty="0"/>
              <a:t>("SELECT * FROM db1.addr").</a:t>
            </a:r>
            <a:r>
              <a:rPr lang="fr-FR" sz="2400" dirty="0" err="1"/>
              <a:t>toJavaRDD.getNumPartitions</a:t>
            </a:r>
            <a:br>
              <a:rPr lang="fr-FR" sz="2400" dirty="0"/>
            </a:br>
            <a:endParaRPr lang="fr-FR" sz="2400" dirty="0"/>
          </a:p>
          <a:p>
            <a:r>
              <a:rPr lang="en-US" sz="2400" dirty="0"/>
              <a:t>d/ redo with</a:t>
            </a:r>
          </a:p>
          <a:p>
            <a:br>
              <a:rPr lang="en-US" sz="2400" dirty="0"/>
            </a:br>
            <a:r>
              <a:rPr lang="en-US" sz="2400" dirty="0" err="1"/>
              <a:t>spark.sql</a:t>
            </a:r>
            <a:r>
              <a:rPr lang="en-US" sz="2400" dirty="0"/>
              <a:t>("""</a:t>
            </a:r>
          </a:p>
          <a:p>
            <a:r>
              <a:rPr lang="en-US" sz="2400" dirty="0"/>
              <a:t>INSERT INTO db1.addr2 SELECT /*+REPARTITION(25)*/ * FROM db1.addr</a:t>
            </a:r>
          </a:p>
          <a:p>
            <a:r>
              <a:rPr lang="en-US" sz="2400" dirty="0"/>
              <a:t>""").show()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5180683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58AD5-D97C-CD37-08D4-DC6C6E117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1763"/>
            <a:ext cx="10515600" cy="849313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14: INSERT OVERWRITE</a:t>
            </a:r>
            <a:br>
              <a:rPr lang="fr-FR" dirty="0"/>
            </a:br>
            <a:r>
              <a:rPr lang="fr-FR" dirty="0"/>
              <a:t> ( </a:t>
            </a:r>
            <a:r>
              <a:rPr lang="fr-FR" dirty="0" err="1"/>
              <a:t>difference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INSERT INTO 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6DEBF-9D36-EB7B-4C91-D382984AF215}"/>
              </a:ext>
            </a:extLst>
          </p:cNvPr>
          <p:cNvSpPr txBox="1"/>
          <p:nvPr/>
        </p:nvSpPr>
        <p:spPr>
          <a:xfrm>
            <a:off x="1995488" y="1473092"/>
            <a:ext cx="8522269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2400" dirty="0"/>
          </a:p>
          <a:p>
            <a:r>
              <a:rPr lang="fr-FR" sz="2400" dirty="0"/>
              <a:t>a/ Question: if </a:t>
            </a:r>
            <a:r>
              <a:rPr lang="fr-FR" sz="2400" dirty="0" err="1"/>
              <a:t>you</a:t>
            </a:r>
            <a:r>
              <a:rPr lang="fr-FR" sz="2400" dirty="0"/>
              <a:t> </a:t>
            </a:r>
            <a:r>
              <a:rPr lang="fr-FR" sz="2400" dirty="0" err="1"/>
              <a:t>reapeat</a:t>
            </a:r>
            <a:r>
              <a:rPr lang="fr-FR" sz="2400" dirty="0"/>
              <a:t> </a:t>
            </a:r>
            <a:r>
              <a:rPr lang="fr-FR" sz="2400" dirty="0" err="1"/>
              <a:t>several</a:t>
            </a:r>
            <a:r>
              <a:rPr lang="fr-FR" sz="2400" dirty="0"/>
              <a:t> time the </a:t>
            </a:r>
            <a:r>
              <a:rPr lang="fr-FR" sz="2400" dirty="0" err="1"/>
              <a:t>same</a:t>
            </a:r>
            <a:r>
              <a:rPr lang="fr-FR" sz="2400" dirty="0"/>
              <a:t> « INSERT INTO »,</a:t>
            </a:r>
            <a:br>
              <a:rPr lang="fr-FR" sz="2400" dirty="0"/>
            </a:br>
            <a:r>
              <a:rPr lang="fr-FR" sz="2400" dirty="0"/>
              <a:t> do </a:t>
            </a:r>
            <a:r>
              <a:rPr lang="fr-FR" sz="2400" dirty="0" err="1"/>
              <a:t>you</a:t>
            </a:r>
            <a:r>
              <a:rPr lang="fr-FR" sz="2400" dirty="0"/>
              <a:t> have duplicate </a:t>
            </a:r>
            <a:r>
              <a:rPr lang="fr-FR" sz="2400" dirty="0" err="1"/>
              <a:t>rows</a:t>
            </a:r>
            <a:r>
              <a:rPr lang="fr-FR" sz="2400" dirty="0"/>
              <a:t> ?</a:t>
            </a:r>
            <a:br>
              <a:rPr lang="fr-FR" sz="2400" dirty="0"/>
            </a:br>
            <a:r>
              <a:rPr lang="fr-FR" sz="2400" dirty="0"/>
              <a:t> Can </a:t>
            </a:r>
            <a:r>
              <a:rPr lang="fr-FR" sz="2400" dirty="0" err="1"/>
              <a:t>you</a:t>
            </a:r>
            <a:r>
              <a:rPr lang="fr-FR" sz="2400" dirty="0"/>
              <a:t> have </a:t>
            </a:r>
            <a:r>
              <a:rPr lang="fr-FR" sz="2400" dirty="0" err="1"/>
              <a:t>unicity</a:t>
            </a:r>
            <a:r>
              <a:rPr lang="fr-FR" sz="2400" dirty="0"/>
              <a:t> </a:t>
            </a:r>
            <a:r>
              <a:rPr lang="fr-FR" sz="2400" dirty="0" err="1"/>
              <a:t>with</a:t>
            </a:r>
            <a:r>
              <a:rPr lang="fr-FR" sz="2400" dirty="0"/>
              <a:t> </a:t>
            </a:r>
            <a:r>
              <a:rPr lang="fr-FR" sz="2400" dirty="0" err="1"/>
              <a:t>Primary</a:t>
            </a:r>
            <a:r>
              <a:rPr lang="fr-FR" sz="2400" dirty="0"/>
              <a:t> Key </a:t>
            </a:r>
            <a:r>
              <a:rPr lang="fr-FR" sz="2400" dirty="0" err="1"/>
              <a:t>constraint</a:t>
            </a:r>
            <a:r>
              <a:rPr lang="fr-FR" sz="2400" dirty="0"/>
              <a:t> ?</a:t>
            </a:r>
            <a:endParaRPr lang="en-US" sz="2400" dirty="0"/>
          </a:p>
          <a:p>
            <a:r>
              <a:rPr lang="en-US" sz="2400" dirty="0"/>
              <a:t> can you do </a:t>
            </a:r>
            <a:r>
              <a:rPr lang="en-US" sz="2400" dirty="0" err="1"/>
              <a:t>sql</a:t>
            </a:r>
            <a:r>
              <a:rPr lang="en-US" sz="2400" dirty="0"/>
              <a:t> “UPDATE” ?</a:t>
            </a:r>
          </a:p>
          <a:p>
            <a:endParaRPr lang="en-US" sz="2400" dirty="0"/>
          </a:p>
          <a:p>
            <a:r>
              <a:rPr lang="en-US" sz="2400" dirty="0"/>
              <a:t>b/ </a:t>
            </a:r>
            <a:r>
              <a:rPr lang="fr-FR" sz="2400" dirty="0" err="1"/>
              <a:t>Execute</a:t>
            </a:r>
            <a:r>
              <a:rPr lang="fr-FR" sz="2400" dirty="0"/>
              <a:t>  SQL, </a:t>
            </a:r>
            <a:r>
              <a:rPr lang="fr-FR" sz="2400" dirty="0" err="1"/>
              <a:t>replacing</a:t>
            </a:r>
            <a:r>
              <a:rPr lang="fr-FR" sz="2400" dirty="0"/>
              <a:t> « INTO » by « OVERWRITE »</a:t>
            </a:r>
          </a:p>
          <a:p>
            <a:r>
              <a:rPr lang="en-US" sz="2400" dirty="0"/>
              <a:t>INSERT </a:t>
            </a:r>
            <a:r>
              <a:rPr lang="en-US" sz="2400" b="1" dirty="0"/>
              <a:t>OVERWRITE</a:t>
            </a:r>
            <a:r>
              <a:rPr lang="en-US" sz="2400" dirty="0"/>
              <a:t> db1.address SELECT * FROM </a:t>
            </a:r>
            <a:r>
              <a:rPr lang="en-US" sz="2400" dirty="0" err="1"/>
              <a:t>tmp_address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c/ </a:t>
            </a:r>
            <a:r>
              <a:rPr lang="fr-FR" sz="2400" dirty="0" err="1"/>
              <a:t>what</a:t>
            </a:r>
            <a:r>
              <a:rPr lang="fr-FR" sz="2400" dirty="0"/>
              <a:t> are the files </a:t>
            </a:r>
            <a:r>
              <a:rPr lang="fr-FR" sz="2400" dirty="0" err="1"/>
              <a:t>remaining</a:t>
            </a:r>
            <a:r>
              <a:rPr lang="fr-FR" sz="2400" dirty="0"/>
              <a:t>/</a:t>
            </a:r>
            <a:r>
              <a:rPr lang="fr-FR" sz="2400" dirty="0" err="1"/>
              <a:t>created</a:t>
            </a:r>
            <a:r>
              <a:rPr lang="fr-FR" sz="2400" dirty="0"/>
              <a:t> </a:t>
            </a:r>
            <a:r>
              <a:rPr lang="fr-FR" sz="2400" dirty="0" err="1"/>
              <a:t>after</a:t>
            </a:r>
            <a:r>
              <a:rPr lang="fr-FR" sz="2400" dirty="0"/>
              <a:t> ?</a:t>
            </a:r>
            <a:br>
              <a:rPr lang="fr-FR" sz="2400" dirty="0"/>
            </a:br>
            <a:br>
              <a:rPr lang="fr-FR" sz="2400" dirty="0"/>
            </a:br>
            <a:r>
              <a:rPr lang="fr-FR" sz="2400" dirty="0"/>
              <a:t>d/ if </a:t>
            </a:r>
            <a:r>
              <a:rPr lang="fr-FR" sz="2400" dirty="0" err="1"/>
              <a:t>you</a:t>
            </a:r>
            <a:r>
              <a:rPr lang="fr-FR" sz="2400" dirty="0"/>
              <a:t> </a:t>
            </a:r>
            <a:r>
              <a:rPr lang="fr-FR" sz="2400" dirty="0" err="1"/>
              <a:t>repeat</a:t>
            </a:r>
            <a:r>
              <a:rPr lang="fr-FR" sz="2400" dirty="0"/>
              <a:t> </a:t>
            </a:r>
            <a:r>
              <a:rPr lang="fr-FR" sz="2400" dirty="0" err="1"/>
              <a:t>several</a:t>
            </a:r>
            <a:r>
              <a:rPr lang="fr-FR" sz="2400" dirty="0"/>
              <a:t> times « INSERT OVERWRITE », </a:t>
            </a:r>
            <a:br>
              <a:rPr lang="fr-FR" sz="2400" dirty="0"/>
            </a:br>
            <a:r>
              <a:rPr lang="fr-FR" sz="2400" dirty="0"/>
              <a:t>  </a:t>
            </a:r>
            <a:r>
              <a:rPr lang="fr-FR" sz="2400" dirty="0" err="1"/>
              <a:t>what</a:t>
            </a:r>
            <a:r>
              <a:rPr lang="fr-FR" sz="2400" dirty="0"/>
              <a:t> </a:t>
            </a:r>
            <a:r>
              <a:rPr lang="fr-FR" sz="2400" dirty="0" err="1"/>
              <a:t>happens</a:t>
            </a:r>
            <a:r>
              <a:rPr lang="fr-FR" sz="2400" dirty="0"/>
              <a:t> ?</a:t>
            </a:r>
          </a:p>
        </p:txBody>
      </p:sp>
    </p:spTree>
    <p:extLst>
      <p:ext uri="{BB962C8B-B14F-4D97-AF65-F5344CB8AC3E}">
        <p14:creationId xmlns:p14="http://schemas.microsoft.com/office/powerpoint/2010/main" val="273549353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58AD5-D97C-CD37-08D4-DC6C6E117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1763"/>
            <a:ext cx="10515600" cy="849313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14: INSERT INTO .. SELECT ..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303703-3870-3968-9182-418B6BB0C4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964" y="2147828"/>
            <a:ext cx="8676122" cy="1371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58092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/>
          <a:lstStyle/>
          <a:p>
            <a:pPr algn="ctr"/>
            <a:r>
              <a:rPr lang="fr-FR" dirty="0"/>
              <a:t>Objectives of Hands-On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25F4BA30-1BA3-C887-C1BE-71D95A135F0E}"/>
              </a:ext>
            </a:extLst>
          </p:cNvPr>
          <p:cNvSpPr/>
          <p:nvPr/>
        </p:nvSpPr>
        <p:spPr>
          <a:xfrm>
            <a:off x="2046493" y="4475897"/>
            <a:ext cx="1407621" cy="4765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F6B7D5-F2CA-EEEC-5307-43CC4C168EC7}"/>
              </a:ext>
            </a:extLst>
          </p:cNvPr>
          <p:cNvSpPr txBox="1"/>
          <p:nvPr/>
        </p:nvSpPr>
        <p:spPr>
          <a:xfrm>
            <a:off x="3629918" y="1536174"/>
            <a:ext cx="6176756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1/ </a:t>
            </a:r>
            <a:r>
              <a:rPr lang="fr-FR" sz="2400" dirty="0" err="1"/>
              <a:t>CreateTempView</a:t>
            </a:r>
            <a:r>
              <a:rPr lang="fr-FR" sz="2400" dirty="0"/>
              <a:t>,  use </a:t>
            </a:r>
            <a:r>
              <a:rPr lang="fr-FR" sz="2400" dirty="0" err="1"/>
              <a:t>Dataset</a:t>
            </a:r>
            <a:r>
              <a:rPr lang="fr-FR" sz="2400" dirty="0"/>
              <a:t> </a:t>
            </a:r>
            <a:r>
              <a:rPr lang="fr-FR" sz="2400" dirty="0" err="1"/>
              <a:t>from</a:t>
            </a:r>
            <a:r>
              <a:rPr lang="fr-FR" sz="2400" dirty="0"/>
              <a:t> SQL </a:t>
            </a:r>
          </a:p>
          <a:p>
            <a:endParaRPr lang="fr-FR" sz="2400" dirty="0"/>
          </a:p>
          <a:p>
            <a:r>
              <a:rPr lang="fr-FR" sz="2400" dirty="0"/>
              <a:t>2/ Configure </a:t>
            </a:r>
            <a:r>
              <a:rPr lang="fr-FR" sz="2400" dirty="0" err="1"/>
              <a:t>HiveMetastore</a:t>
            </a:r>
            <a:r>
              <a:rPr lang="fr-FR" sz="2400" dirty="0"/>
              <a:t> DB</a:t>
            </a:r>
          </a:p>
          <a:p>
            <a:endParaRPr lang="fr-FR" sz="2400" dirty="0"/>
          </a:p>
          <a:p>
            <a:r>
              <a:rPr lang="fr-FR" sz="2400" dirty="0"/>
              <a:t>3/ </a:t>
            </a:r>
            <a:r>
              <a:rPr lang="fr-FR" sz="2400" dirty="0" err="1"/>
              <a:t>connect</a:t>
            </a:r>
            <a:r>
              <a:rPr lang="fr-FR" sz="2400" dirty="0"/>
              <a:t> Spark </a:t>
            </a:r>
            <a:r>
              <a:rPr lang="fr-FR" sz="2400" dirty="0" err="1"/>
              <a:t>External</a:t>
            </a:r>
            <a:r>
              <a:rPr lang="fr-FR" sz="2400" dirty="0"/>
              <a:t> </a:t>
            </a:r>
            <a:r>
              <a:rPr lang="fr-FR" sz="2400" dirty="0" err="1"/>
              <a:t>Catalog</a:t>
            </a:r>
            <a:r>
              <a:rPr lang="fr-FR" sz="2400" dirty="0"/>
              <a:t>  to </a:t>
            </a:r>
            <a:r>
              <a:rPr lang="fr-FR" sz="2400" dirty="0" err="1"/>
              <a:t>MetaStore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4/ </a:t>
            </a:r>
            <a:r>
              <a:rPr lang="fr-FR" sz="2400" dirty="0" err="1"/>
              <a:t>Create</a:t>
            </a:r>
            <a:r>
              <a:rPr lang="fr-FR" sz="2400" dirty="0"/>
              <a:t> </a:t>
            </a:r>
            <a:r>
              <a:rPr lang="fr-FR" sz="2400" dirty="0" err="1"/>
              <a:t>Database</a:t>
            </a:r>
            <a:r>
              <a:rPr lang="fr-FR" sz="2400" dirty="0"/>
              <a:t>, Table</a:t>
            </a:r>
          </a:p>
          <a:p>
            <a:endParaRPr lang="fr-FR" sz="2400" dirty="0"/>
          </a:p>
          <a:p>
            <a:r>
              <a:rPr lang="fr-FR" sz="2400" dirty="0"/>
              <a:t>5/ (Directory) </a:t>
            </a:r>
            <a:r>
              <a:rPr lang="fr-FR" sz="2400" dirty="0" err="1"/>
              <a:t>Partitioned</a:t>
            </a:r>
            <a:r>
              <a:rPr lang="fr-FR" sz="2400" dirty="0"/>
              <a:t> Table</a:t>
            </a:r>
          </a:p>
        </p:txBody>
      </p:sp>
      <p:pic>
        <p:nvPicPr>
          <p:cNvPr id="3" name="Picture 2" descr="Image result for checkmark icon">
            <a:extLst>
              <a:ext uri="{FF2B5EF4-FFF2-40B4-BE49-F238E27FC236}">
                <a16:creationId xmlns:a16="http://schemas.microsoft.com/office/drawing/2014/main" id="{740C27F2-B118-395F-1450-8DF1D8E696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6887" y="1446813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Image result for checkmark icon">
            <a:extLst>
              <a:ext uri="{FF2B5EF4-FFF2-40B4-BE49-F238E27FC236}">
                <a16:creationId xmlns:a16="http://schemas.microsoft.com/office/drawing/2014/main" id="{B48AA468-183B-5222-0860-356CC1FF0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6887" y="2183874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Image result for checkmark icon">
            <a:extLst>
              <a:ext uri="{FF2B5EF4-FFF2-40B4-BE49-F238E27FC236}">
                <a16:creationId xmlns:a16="http://schemas.microsoft.com/office/drawing/2014/main" id="{D91DDD01-10E5-0FA0-61E2-4D3754EB43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6887" y="2938872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Image result for checkmark icon">
            <a:extLst>
              <a:ext uri="{FF2B5EF4-FFF2-40B4-BE49-F238E27FC236}">
                <a16:creationId xmlns:a16="http://schemas.microsoft.com/office/drawing/2014/main" id="{01B9F082-0BEF-7461-B95D-C9A508DBEE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6887" y="3689950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997205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ACD74-1073-0D14-8003-2078D05D1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672300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15: </a:t>
            </a:r>
            <a:r>
              <a:rPr lang="fr-FR" dirty="0" err="1"/>
              <a:t>enrich</a:t>
            </a:r>
            <a:r>
              <a:rPr lang="fr-FR" dirty="0"/>
              <a:t> </a:t>
            </a:r>
            <a:r>
              <a:rPr lang="fr-FR" dirty="0" err="1"/>
              <a:t>Dataset</a:t>
            </a:r>
            <a:r>
              <a:rPr lang="fr-FR" dirty="0"/>
              <a:t> / table </a:t>
            </a:r>
            <a:r>
              <a:rPr lang="fr-FR" dirty="0" err="1"/>
              <a:t>address</a:t>
            </a:r>
            <a:br>
              <a:rPr lang="fr-FR" dirty="0"/>
            </a:br>
            <a:r>
              <a:rPr lang="fr-FR" dirty="0"/>
              <a:t>by </a:t>
            </a:r>
            <a:r>
              <a:rPr lang="fr-FR" dirty="0" err="1"/>
              <a:t>computing</a:t>
            </a:r>
            <a:r>
              <a:rPr lang="fr-FR" dirty="0"/>
              <a:t> </a:t>
            </a:r>
            <a:r>
              <a:rPr lang="fr-FR" dirty="0" err="1"/>
              <a:t>column</a:t>
            </a:r>
            <a:r>
              <a:rPr lang="fr-FR" dirty="0"/>
              <a:t> « </a:t>
            </a:r>
            <a:r>
              <a:rPr lang="fr-FR" dirty="0" err="1"/>
              <a:t>dept</a:t>
            </a:r>
            <a:r>
              <a:rPr lang="fr-FR" dirty="0"/>
              <a:t> »</a:t>
            </a:r>
            <a:br>
              <a:rPr lang="fr-FR" dirty="0"/>
            </a:b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column</a:t>
            </a:r>
            <a:r>
              <a:rPr lang="fr-FR" dirty="0"/>
              <a:t> « </a:t>
            </a:r>
            <a:r>
              <a:rPr lang="fr-FR" dirty="0" err="1"/>
              <a:t>commune_insee</a:t>
            </a:r>
            <a:r>
              <a:rPr lang="fr-FR" dirty="0"/>
              <a:t> »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434814-533D-1B21-5E8F-3556E2357B42}"/>
              </a:ext>
            </a:extLst>
          </p:cNvPr>
          <p:cNvSpPr txBox="1"/>
          <p:nvPr/>
        </p:nvSpPr>
        <p:spPr>
          <a:xfrm>
            <a:off x="1926454" y="2654423"/>
            <a:ext cx="8591711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want</a:t>
            </a:r>
            <a:r>
              <a:rPr lang="fr-FR" dirty="0"/>
              <a:t> to partition by </a:t>
            </a:r>
            <a:r>
              <a:rPr lang="fr-FR" dirty="0" err="1"/>
              <a:t>department</a:t>
            </a:r>
            <a:r>
              <a:rPr lang="fr-FR" dirty="0"/>
              <a:t>  : </a:t>
            </a:r>
            <a:r>
              <a:rPr lang="fr-FR" dirty="0" err="1"/>
              <a:t>only</a:t>
            </a:r>
            <a:r>
              <a:rPr lang="fr-FR" dirty="0"/>
              <a:t> 99 values … </a:t>
            </a:r>
            <a:r>
              <a:rPr lang="fr-FR" dirty="0" err="1"/>
              <a:t>instead</a:t>
            </a:r>
            <a:r>
              <a:rPr lang="fr-FR" dirty="0"/>
              <a:t> of by 50 000 </a:t>
            </a:r>
            <a:r>
              <a:rPr lang="fr-FR" dirty="0" err="1"/>
              <a:t>cities</a:t>
            </a:r>
            <a:endParaRPr lang="fr-FR" dirty="0"/>
          </a:p>
          <a:p>
            <a:endParaRPr lang="fr-FR" dirty="0"/>
          </a:p>
          <a:p>
            <a:r>
              <a:rPr lang="fr-FR" dirty="0"/>
              <a:t>Use </a:t>
            </a:r>
            <a:r>
              <a:rPr lang="fr-FR" dirty="0" err="1"/>
              <a:t>column</a:t>
            </a:r>
            <a:r>
              <a:rPr lang="fr-FR" dirty="0"/>
              <a:t> « </a:t>
            </a:r>
            <a:r>
              <a:rPr lang="fr-FR" dirty="0" err="1"/>
              <a:t>commune_insee</a:t>
            </a:r>
            <a:r>
              <a:rPr lang="fr-FR" dirty="0"/>
              <a:t> »: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a String of 5 chars,</a:t>
            </a:r>
          </a:p>
          <a:p>
            <a:r>
              <a:rPr lang="fr-FR" dirty="0"/>
              <a:t> </a:t>
            </a:r>
            <a:r>
              <a:rPr lang="fr-FR" dirty="0" err="1"/>
              <a:t>padding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« 0 » on </a:t>
            </a:r>
            <a:r>
              <a:rPr lang="fr-FR" dirty="0" err="1"/>
              <a:t>left</a:t>
            </a:r>
            <a:r>
              <a:rPr lang="fr-FR" dirty="0"/>
              <a:t>, </a:t>
            </a:r>
          </a:p>
          <a:p>
            <a:r>
              <a:rPr lang="fr-FR" dirty="0"/>
              <a:t>and ignore the 3 chars on right (city code </a:t>
            </a:r>
            <a:r>
              <a:rPr lang="fr-FR" dirty="0" err="1"/>
              <a:t>within</a:t>
            </a:r>
            <a:r>
              <a:rPr lang="fr-FR" dirty="0"/>
              <a:t> </a:t>
            </a:r>
            <a:r>
              <a:rPr lang="fr-FR" dirty="0" err="1"/>
              <a:t>department</a:t>
            </a:r>
            <a:r>
              <a:rPr lang="fr-FR" dirty="0"/>
              <a:t>)</a:t>
            </a:r>
          </a:p>
          <a:p>
            <a:endParaRPr lang="fr-FR" dirty="0"/>
          </a:p>
          <a:p>
            <a:r>
              <a:rPr lang="fr-FR" dirty="0" err="1"/>
              <a:t>Create</a:t>
            </a:r>
            <a:r>
              <a:rPr lang="fr-FR" dirty="0"/>
              <a:t> a </a:t>
            </a:r>
            <a:r>
              <a:rPr lang="fr-FR" dirty="0" err="1"/>
              <a:t>column</a:t>
            </a:r>
            <a:r>
              <a:rPr lang="fr-FR" dirty="0"/>
              <a:t> to </a:t>
            </a:r>
            <a:r>
              <a:rPr lang="fr-FR" dirty="0" err="1"/>
              <a:t>extract</a:t>
            </a:r>
            <a:r>
              <a:rPr lang="fr-FR" dirty="0"/>
              <a:t> the </a:t>
            </a:r>
            <a:r>
              <a:rPr lang="fr-FR" dirty="0" err="1"/>
              <a:t>numeric</a:t>
            </a:r>
            <a:r>
              <a:rPr lang="fr-FR" dirty="0"/>
              <a:t> value of </a:t>
            </a:r>
            <a:r>
              <a:rPr lang="fr-FR" dirty="0" err="1"/>
              <a:t>dept</a:t>
            </a:r>
            <a:endParaRPr lang="fr-FR" dirty="0"/>
          </a:p>
          <a:p>
            <a:r>
              <a:rPr lang="fr-FR" dirty="0" err="1"/>
              <a:t>Recreate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table (or </a:t>
            </a:r>
            <a:r>
              <a:rPr lang="fr-FR" dirty="0" err="1"/>
              <a:t>dataset</a:t>
            </a:r>
            <a:r>
              <a:rPr lang="fr-FR" dirty="0"/>
              <a:t>)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this</a:t>
            </a:r>
            <a:r>
              <a:rPr lang="fr-FR" dirty="0"/>
              <a:t> extra </a:t>
            </a:r>
            <a:r>
              <a:rPr lang="fr-FR" dirty="0" err="1"/>
              <a:t>column</a:t>
            </a:r>
            <a:endParaRPr lang="fr-FR" dirty="0"/>
          </a:p>
          <a:p>
            <a:endParaRPr lang="fr-FR" dirty="0"/>
          </a:p>
          <a:p>
            <a:r>
              <a:rPr lang="fr-FR" dirty="0"/>
              <a:t>HINT: use « .</a:t>
            </a:r>
            <a:r>
              <a:rPr lang="fr-FR" dirty="0" err="1"/>
              <a:t>withColumn</a:t>
            </a:r>
            <a:r>
              <a:rPr lang="fr-FR" dirty="0"/>
              <a:t>(« </a:t>
            </a:r>
            <a:r>
              <a:rPr lang="fr-FR" dirty="0" err="1"/>
              <a:t>dept</a:t>
            </a:r>
            <a:r>
              <a:rPr lang="fr-FR" dirty="0"/>
              <a:t> »,   </a:t>
            </a:r>
            <a:r>
              <a:rPr lang="fr-FR" dirty="0" err="1"/>
              <a:t>regexp_replace</a:t>
            </a:r>
            <a:r>
              <a:rPr lang="fr-FR" dirty="0"/>
              <a:t>( col(</a:t>
            </a:r>
            <a:r>
              <a:rPr lang="fr-FR" dirty="0" err="1"/>
              <a:t>srcCol</a:t>
            </a:r>
            <a:r>
              <a:rPr lang="fr-FR" dirty="0"/>
              <a:t>),  pattern, replacement) ) » </a:t>
            </a:r>
          </a:p>
          <a:p>
            <a:endParaRPr lang="fr-FR" dirty="0"/>
          </a:p>
          <a:p>
            <a:r>
              <a:rPr lang="fr-FR" dirty="0"/>
              <a:t>Example:</a:t>
            </a:r>
          </a:p>
          <a:p>
            <a:r>
              <a:rPr lang="fr-FR" dirty="0"/>
              <a:t> « 75100 »   =&gt;  « 75 »                  =&gt; 75</a:t>
            </a:r>
          </a:p>
          <a:p>
            <a:r>
              <a:rPr lang="fr-FR" dirty="0"/>
              <a:t>« 01200 »    =&gt;  « 01 »   =&gt; « 1 » =&gt; 1</a:t>
            </a:r>
          </a:p>
        </p:txBody>
      </p:sp>
    </p:spTree>
    <p:extLst>
      <p:ext uri="{BB962C8B-B14F-4D97-AF65-F5344CB8AC3E}">
        <p14:creationId xmlns:p14="http://schemas.microsoft.com/office/powerpoint/2010/main" val="4032394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23CEB-9821-9360-8DEA-5ABB99126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295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15: </a:t>
            </a:r>
            <a:r>
              <a:rPr lang="fr-FR" dirty="0" err="1"/>
              <a:t>computing</a:t>
            </a:r>
            <a:r>
              <a:rPr lang="fr-FR" dirty="0"/>
              <a:t> « </a:t>
            </a:r>
            <a:r>
              <a:rPr lang="fr-FR" dirty="0" err="1"/>
              <a:t>dept</a:t>
            </a:r>
            <a:r>
              <a:rPr lang="fr-FR" dirty="0"/>
              <a:t>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F349D8-679B-DE2B-E712-8D7B1B6EC0E8}"/>
              </a:ext>
            </a:extLst>
          </p:cNvPr>
          <p:cNvSpPr txBox="1"/>
          <p:nvPr/>
        </p:nvSpPr>
        <p:spPr>
          <a:xfrm>
            <a:off x="1229556" y="3147988"/>
            <a:ext cx="100623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fr-FR" sz="1800" dirty="0">
                <a:latin typeface="Consolas" panose="020B0609020204030204" pitchFamily="49" charset="0"/>
              </a:rPr>
              <a:t>val </a:t>
            </a:r>
            <a:r>
              <a:rPr lang="fr-FR" sz="1800" dirty="0" err="1">
                <a:latin typeface="Consolas" panose="020B0609020204030204" pitchFamily="49" charset="0"/>
              </a:rPr>
              <a:t>allAdressDept</a:t>
            </a:r>
            <a:r>
              <a:rPr lang="fr-FR" sz="1800" dirty="0">
                <a:latin typeface="Consolas" panose="020B0609020204030204" pitchFamily="49" charset="0"/>
              </a:rPr>
              <a:t> = </a:t>
            </a:r>
            <a:r>
              <a:rPr lang="fr-FR" sz="1800" dirty="0" err="1">
                <a:latin typeface="Consolas" panose="020B0609020204030204" pitchFamily="49" charset="0"/>
              </a:rPr>
              <a:t>allAdressDs.withColumn</a:t>
            </a:r>
            <a:r>
              <a:rPr lang="fr-FR" sz="1800" dirty="0">
                <a:latin typeface="Consolas" panose="020B0609020204030204" pitchFamily="49" charset="0"/>
              </a:rPr>
              <a:t>("</a:t>
            </a:r>
            <a:r>
              <a:rPr lang="fr-FR" sz="1800" dirty="0" err="1">
                <a:latin typeface="Consolas" panose="020B0609020204030204" pitchFamily="49" charset="0"/>
              </a:rPr>
              <a:t>dept</a:t>
            </a:r>
            <a:r>
              <a:rPr lang="fr-FR" sz="1800" dirty="0">
                <a:latin typeface="Consolas" panose="020B0609020204030204" pitchFamily="49" charset="0"/>
              </a:rPr>
              <a:t>", </a:t>
            </a:r>
            <a:br>
              <a:rPr lang="fr-FR" sz="1800" dirty="0">
                <a:latin typeface="Consolas" panose="020B0609020204030204" pitchFamily="49" charset="0"/>
              </a:rPr>
            </a:br>
            <a:r>
              <a:rPr lang="fr-FR" sz="1800" dirty="0">
                <a:latin typeface="Consolas" panose="020B0609020204030204" pitchFamily="49" charset="0"/>
              </a:rPr>
              <a:t>         </a:t>
            </a:r>
            <a:r>
              <a:rPr lang="fr-FR" sz="1800" dirty="0" err="1">
                <a:latin typeface="Consolas" panose="020B0609020204030204" pitchFamily="49" charset="0"/>
              </a:rPr>
              <a:t>regexp_replace</a:t>
            </a:r>
            <a:r>
              <a:rPr lang="fr-FR" sz="1800" dirty="0">
                <a:latin typeface="Consolas" panose="020B0609020204030204" pitchFamily="49" charset="0"/>
              </a:rPr>
              <a:t>(col("</a:t>
            </a:r>
            <a:r>
              <a:rPr lang="fr-FR" sz="1800" dirty="0" err="1">
                <a:latin typeface="Consolas" panose="020B0609020204030204" pitchFamily="49" charset="0"/>
              </a:rPr>
              <a:t>commune_insee</a:t>
            </a:r>
            <a:r>
              <a:rPr lang="fr-FR" sz="1800" dirty="0">
                <a:latin typeface="Consolas" panose="020B0609020204030204" pitchFamily="49" charset="0"/>
              </a:rPr>
              <a:t>"), "0*(.*)...", "$1").</a:t>
            </a:r>
            <a:r>
              <a:rPr lang="fr-FR" sz="1800" dirty="0" err="1">
                <a:latin typeface="Consolas" panose="020B0609020204030204" pitchFamily="49" charset="0"/>
              </a:rPr>
              <a:t>cast</a:t>
            </a:r>
            <a:r>
              <a:rPr lang="fr-FR" sz="1800" dirty="0">
                <a:latin typeface="Consolas" panose="020B0609020204030204" pitchFamily="49" charset="0"/>
              </a:rPr>
              <a:t>("</a:t>
            </a:r>
            <a:r>
              <a:rPr lang="fr-FR" sz="1800" dirty="0" err="1">
                <a:latin typeface="Consolas" panose="020B0609020204030204" pitchFamily="49" charset="0"/>
              </a:rPr>
              <a:t>int</a:t>
            </a:r>
            <a:r>
              <a:rPr lang="fr-FR" sz="1800" dirty="0">
                <a:latin typeface="Consolas" panose="020B0609020204030204" pitchFamily="49" charset="0"/>
              </a:rPr>
              <a:t>") )</a:t>
            </a:r>
          </a:p>
          <a:p>
            <a:endParaRPr lang="fr-FR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EC38AC48-21BA-B4BA-8B8F-3E101BC8C93E}"/>
              </a:ext>
            </a:extLst>
          </p:cNvPr>
          <p:cNvSpPr/>
          <p:nvPr/>
        </p:nvSpPr>
        <p:spPr>
          <a:xfrm rot="17797682">
            <a:off x="4651900" y="4052356"/>
            <a:ext cx="603681" cy="26189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A0D5FE-F8A5-6E86-4EEE-2E4AEC0D387B}"/>
              </a:ext>
            </a:extLst>
          </p:cNvPr>
          <p:cNvSpPr txBox="1"/>
          <p:nvPr/>
        </p:nvSpPr>
        <p:spPr>
          <a:xfrm>
            <a:off x="3791951" y="4495510"/>
            <a:ext cx="18188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this</a:t>
            </a:r>
            <a:r>
              <a:rPr lang="fr-FR" dirty="0"/>
              <a:t> </a:t>
            </a:r>
            <a:r>
              <a:rPr lang="fr-FR" dirty="0" err="1"/>
              <a:t>column</a:t>
            </a:r>
            <a:endParaRPr lang="fr-FR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2ACDF578-BBDB-2156-B9C8-CCE2FA63656B}"/>
              </a:ext>
            </a:extLst>
          </p:cNvPr>
          <p:cNvSpPr/>
          <p:nvPr/>
        </p:nvSpPr>
        <p:spPr>
          <a:xfrm rot="16200000">
            <a:off x="7173640" y="4052358"/>
            <a:ext cx="603681" cy="26189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A14985-B468-4827-7001-0AD57FED75F9}"/>
              </a:ext>
            </a:extLst>
          </p:cNvPr>
          <p:cNvSpPr txBox="1"/>
          <p:nvPr/>
        </p:nvSpPr>
        <p:spPr>
          <a:xfrm>
            <a:off x="5924209" y="4511818"/>
            <a:ext cx="293099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Capture </a:t>
            </a:r>
            <a:r>
              <a:rPr lang="fr-FR" dirty="0" err="1"/>
              <a:t>regexp</a:t>
            </a:r>
            <a:r>
              <a:rPr lang="fr-FR" dirty="0"/>
              <a:t> block « (.*) » </a:t>
            </a:r>
          </a:p>
          <a:p>
            <a:r>
              <a:rPr lang="fr-FR" dirty="0"/>
              <a:t>So ignore «</a:t>
            </a:r>
            <a:r>
              <a:rPr lang="fr-FR" sz="1800" dirty="0">
                <a:latin typeface="Consolas" panose="020B0609020204030204" pitchFamily="49" charset="0"/>
              </a:rPr>
              <a:t>0</a:t>
            </a:r>
            <a:r>
              <a:rPr lang="fr-FR" dirty="0"/>
              <a:t>» on </a:t>
            </a:r>
            <a:r>
              <a:rPr lang="fr-FR" dirty="0" err="1"/>
              <a:t>left</a:t>
            </a:r>
            <a:r>
              <a:rPr lang="fr-FR" dirty="0"/>
              <a:t>, </a:t>
            </a:r>
          </a:p>
          <a:p>
            <a:r>
              <a:rPr lang="fr-FR" dirty="0"/>
              <a:t>and 3 chars « … » on right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A3A3A10-0238-5EC2-2663-17074A82429E}"/>
              </a:ext>
            </a:extLst>
          </p:cNvPr>
          <p:cNvSpPr/>
          <p:nvPr/>
        </p:nvSpPr>
        <p:spPr>
          <a:xfrm rot="14111076">
            <a:off x="8861878" y="4031627"/>
            <a:ext cx="603681" cy="26189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99C78D-D363-2014-249E-78B57B04B408}"/>
              </a:ext>
            </a:extLst>
          </p:cNvPr>
          <p:cNvSpPr txBox="1"/>
          <p:nvPr/>
        </p:nvSpPr>
        <p:spPr>
          <a:xfrm>
            <a:off x="8997363" y="4511818"/>
            <a:ext cx="15765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Use « $1 » </a:t>
            </a:r>
            <a:br>
              <a:rPr lang="fr-FR" dirty="0"/>
            </a:br>
            <a:r>
              <a:rPr lang="fr-FR" dirty="0" err="1"/>
              <a:t>captured</a:t>
            </a:r>
            <a:r>
              <a:rPr lang="fr-FR" dirty="0"/>
              <a:t> block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575CF242-29B9-8502-D1EB-31790689243F}"/>
              </a:ext>
            </a:extLst>
          </p:cNvPr>
          <p:cNvSpPr/>
          <p:nvPr/>
        </p:nvSpPr>
        <p:spPr>
          <a:xfrm rot="5400000">
            <a:off x="9483783" y="3061535"/>
            <a:ext cx="603681" cy="26189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43B4D8-3F0C-9979-8910-1781BF31D98F}"/>
              </a:ext>
            </a:extLst>
          </p:cNvPr>
          <p:cNvSpPr txBox="1"/>
          <p:nvPr/>
        </p:nvSpPr>
        <p:spPr>
          <a:xfrm>
            <a:off x="8997363" y="2516819"/>
            <a:ext cx="1739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Cast String to Int</a:t>
            </a:r>
          </a:p>
        </p:txBody>
      </p:sp>
    </p:spTree>
    <p:extLst>
      <p:ext uri="{BB962C8B-B14F-4D97-AF65-F5344CB8AC3E}">
        <p14:creationId xmlns:p14="http://schemas.microsoft.com/office/powerpoint/2010/main" val="58097275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14626-1AB5-6D86-C533-EC739F003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529"/>
            <a:ext cx="10515600" cy="1046425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16 : </a:t>
            </a:r>
            <a:r>
              <a:rPr lang="fr-FR" dirty="0" err="1"/>
              <a:t>Create</a:t>
            </a:r>
            <a:r>
              <a:rPr lang="fr-FR" dirty="0"/>
              <a:t> PARTITIONED 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C89E14-C9B9-BCBB-C5A3-7766334B1288}"/>
              </a:ext>
            </a:extLst>
          </p:cNvPr>
          <p:cNvSpPr txBox="1"/>
          <p:nvPr/>
        </p:nvSpPr>
        <p:spPr>
          <a:xfrm>
            <a:off x="525967" y="1091954"/>
            <a:ext cx="13947216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a/ do « show </a:t>
            </a:r>
            <a:r>
              <a:rPr lang="fr-FR" sz="2400" dirty="0" err="1"/>
              <a:t>create</a:t>
            </a:r>
            <a:r>
              <a:rPr lang="fr-FR" sz="2400" dirty="0"/>
              <a:t> table »  on UN-</a:t>
            </a:r>
            <a:r>
              <a:rPr lang="fr-FR" sz="2400" dirty="0" err="1"/>
              <a:t>partitioned</a:t>
            </a:r>
            <a:r>
              <a:rPr lang="fr-FR" sz="2400" dirty="0"/>
              <a:t> table</a:t>
            </a:r>
          </a:p>
          <a:p>
            <a:endParaRPr lang="fr-FR" sz="2400" dirty="0"/>
          </a:p>
          <a:p>
            <a:r>
              <a:rPr lang="fr-FR" sz="2400" dirty="0"/>
              <a:t>b/ </a:t>
            </a:r>
            <a:r>
              <a:rPr lang="fr-FR" sz="2400" dirty="0" err="1"/>
              <a:t>edit</a:t>
            </a:r>
            <a:r>
              <a:rPr lang="fr-FR" sz="2400" dirty="0"/>
              <a:t> SQL + </a:t>
            </a:r>
            <a:r>
              <a:rPr lang="fr-FR" sz="2400" dirty="0" err="1"/>
              <a:t>execute</a:t>
            </a:r>
            <a:r>
              <a:rPr lang="fr-FR" sz="2400" dirty="0"/>
              <a:t> to change to a new table «  </a:t>
            </a:r>
            <a:r>
              <a:rPr lang="fr-FR" sz="2400" dirty="0" err="1"/>
              <a:t>address_by_dept</a:t>
            </a:r>
            <a:r>
              <a:rPr lang="fr-FR" sz="2400" dirty="0"/>
              <a:t> », </a:t>
            </a:r>
            <a:br>
              <a:rPr lang="fr-FR" sz="2400" dirty="0"/>
            </a:br>
            <a:r>
              <a:rPr lang="fr-FR" sz="2400" dirty="0"/>
              <a:t>    </a:t>
            </a:r>
            <a:r>
              <a:rPr lang="fr-FR" sz="2400" dirty="0" err="1"/>
              <a:t>partitioned</a:t>
            </a:r>
            <a:r>
              <a:rPr lang="fr-FR" sz="2400" dirty="0"/>
              <a:t> by </a:t>
            </a:r>
            <a:r>
              <a:rPr lang="fr-FR" sz="2400" dirty="0" err="1"/>
              <a:t>column</a:t>
            </a:r>
            <a:r>
              <a:rPr lang="fr-FR" sz="2400" dirty="0"/>
              <a:t> « </a:t>
            </a:r>
            <a:r>
              <a:rPr lang="fr-FR" sz="2400" dirty="0" err="1"/>
              <a:t>dept</a:t>
            </a:r>
            <a:r>
              <a:rPr lang="fr-FR" sz="2400" dirty="0"/>
              <a:t> Int »</a:t>
            </a:r>
          </a:p>
          <a:p>
            <a:endParaRPr lang="fr-FR" sz="2400" dirty="0"/>
          </a:p>
          <a:p>
            <a:r>
              <a:rPr lang="fr-FR" sz="2400" dirty="0"/>
              <a:t>//?? </a:t>
            </a:r>
            <a:r>
              <a:rPr lang="fr-FR" sz="2400" dirty="0" err="1"/>
              <a:t>allAdressDept.write.writePartitioned</a:t>
            </a:r>
            <a:r>
              <a:rPr lang="fr-FR" sz="2400" dirty="0"/>
              <a:t>("</a:t>
            </a:r>
            <a:r>
              <a:rPr lang="fr-FR" sz="2400" dirty="0" err="1"/>
              <a:t>dept</a:t>
            </a:r>
            <a:r>
              <a:rPr lang="fr-FR" sz="2400" dirty="0"/>
              <a:t>").format("parquet").</a:t>
            </a:r>
            <a:r>
              <a:rPr lang="fr-FR" sz="2400" dirty="0" err="1"/>
              <a:t>saveAsTable</a:t>
            </a:r>
            <a:r>
              <a:rPr lang="fr-FR" sz="2400" dirty="0"/>
              <a:t>("db1.tmp_addr_with_dept")</a:t>
            </a:r>
          </a:p>
          <a:p>
            <a:r>
              <a:rPr lang="fr-FR" sz="2400"/>
              <a:t>CREATE </a:t>
            </a:r>
            <a:r>
              <a:rPr lang="fr-FR" sz="2400" dirty="0"/>
              <a:t>EXTERNAL TABLE db1.address_by_dept (</a:t>
            </a:r>
            <a:br>
              <a:rPr lang="fr-FR" sz="2400" dirty="0"/>
            </a:br>
            <a:r>
              <a:rPr lang="fr-FR" sz="2400" dirty="0"/>
              <a:t>       … &lt;all </a:t>
            </a:r>
            <a:r>
              <a:rPr lang="fr-FR" sz="2400" dirty="0" err="1"/>
              <a:t>columns</a:t>
            </a:r>
            <a:r>
              <a:rPr lang="fr-FR" sz="2400" dirty="0"/>
              <a:t> </a:t>
            </a:r>
            <a:r>
              <a:rPr lang="fr-FR" sz="2400" b="1" dirty="0" err="1"/>
              <a:t>except</a:t>
            </a:r>
            <a:r>
              <a:rPr lang="fr-FR" sz="2400" b="1" dirty="0"/>
              <a:t> </a:t>
            </a:r>
            <a:r>
              <a:rPr lang="fr-FR" sz="2400" b="1" dirty="0" err="1"/>
              <a:t>dept</a:t>
            </a:r>
            <a:r>
              <a:rPr lang="fr-FR" sz="2400" b="1" dirty="0"/>
              <a:t> </a:t>
            </a:r>
            <a:r>
              <a:rPr lang="fr-FR" sz="2400" b="1" dirty="0" err="1"/>
              <a:t>column</a:t>
            </a:r>
            <a:r>
              <a:rPr lang="fr-FR" sz="2400" dirty="0"/>
              <a:t>&gt; … )  </a:t>
            </a:r>
            <a:br>
              <a:rPr lang="fr-FR" sz="2400" dirty="0"/>
            </a:br>
            <a:r>
              <a:rPr lang="fr-FR" sz="2400" dirty="0"/>
              <a:t>  </a:t>
            </a:r>
            <a:r>
              <a:rPr lang="fr-FR" sz="2400" b="1" dirty="0"/>
              <a:t>PARTITIONED BY ( </a:t>
            </a:r>
            <a:r>
              <a:rPr lang="fr-FR" sz="2400" b="1" dirty="0" err="1"/>
              <a:t>dept</a:t>
            </a:r>
            <a:r>
              <a:rPr lang="fr-FR" sz="2400" b="1" dirty="0"/>
              <a:t> Int)</a:t>
            </a:r>
          </a:p>
          <a:p>
            <a:r>
              <a:rPr lang="fr-FR" sz="2400" dirty="0"/>
              <a:t>  STORED AS PARQUET</a:t>
            </a:r>
          </a:p>
          <a:p>
            <a:r>
              <a:rPr lang="fr-FR" sz="2400" dirty="0"/>
              <a:t>  LOCATION ‘file:///c/data/db1/</a:t>
            </a:r>
            <a:r>
              <a:rPr lang="fr-FR" sz="2400" dirty="0" err="1"/>
              <a:t>address_by_dept</a:t>
            </a:r>
            <a:r>
              <a:rPr lang="fr-FR" sz="2400" dirty="0"/>
              <a:t>’</a:t>
            </a:r>
          </a:p>
          <a:p>
            <a:r>
              <a:rPr lang="fr-FR" sz="2400" dirty="0" err="1"/>
              <a:t>allAdressDept.write.format</a:t>
            </a:r>
            <a:r>
              <a:rPr lang="fr-FR" sz="2400" dirty="0"/>
              <a:t>("</a:t>
            </a:r>
            <a:r>
              <a:rPr lang="fr-FR" sz="2400" dirty="0" err="1"/>
              <a:t>hive</a:t>
            </a:r>
            <a:r>
              <a:rPr lang="fr-FR" sz="2400" dirty="0"/>
              <a:t>").</a:t>
            </a:r>
            <a:r>
              <a:rPr lang="fr-FR" sz="2400" dirty="0" err="1"/>
              <a:t>insertInto</a:t>
            </a:r>
            <a:r>
              <a:rPr lang="fr-FR" sz="2400" dirty="0"/>
              <a:t>("db1.tmp_addr_with_dept")</a:t>
            </a:r>
          </a:p>
          <a:p>
            <a:r>
              <a:rPr lang="fr-FR" sz="2400" dirty="0"/>
              <a:t>or..</a:t>
            </a:r>
          </a:p>
          <a:p>
            <a:r>
              <a:rPr lang="fr-FR" sz="2400" dirty="0"/>
              <a:t>INSERT OVERWRITE db1.address_by_dept  SELECT * FROM db1. </a:t>
            </a:r>
            <a:r>
              <a:rPr lang="fr-FR" sz="2400" dirty="0" err="1"/>
              <a:t>tmp_addr_with_dept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258759525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0EF67-5720-90C4-BE8E-AB264BE15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17: </a:t>
            </a:r>
            <a:r>
              <a:rPr lang="fr-FR" dirty="0" err="1"/>
              <a:t>Dirs</a:t>
            </a:r>
            <a:r>
              <a:rPr lang="fr-FR" dirty="0"/>
              <a:t> for </a:t>
            </a:r>
            <a:r>
              <a:rPr lang="fr-FR" dirty="0" err="1"/>
              <a:t>Partitioned</a:t>
            </a:r>
            <a:r>
              <a:rPr lang="fr-FR" dirty="0"/>
              <a:t> 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CFC5BE-36C3-1350-36F8-CD41C15091BA}"/>
              </a:ext>
            </a:extLst>
          </p:cNvPr>
          <p:cNvSpPr txBox="1"/>
          <p:nvPr/>
        </p:nvSpPr>
        <p:spPr>
          <a:xfrm>
            <a:off x="1426300" y="2390637"/>
            <a:ext cx="9384364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a/  explore directory / files for </a:t>
            </a:r>
            <a:r>
              <a:rPr lang="fr-FR" sz="2400" dirty="0" err="1"/>
              <a:t>partitioned</a:t>
            </a:r>
            <a:r>
              <a:rPr lang="fr-FR" sz="2400" dirty="0"/>
              <a:t> table</a:t>
            </a:r>
          </a:p>
          <a:p>
            <a:endParaRPr lang="fr-FR" sz="2400" dirty="0"/>
          </a:p>
          <a:p>
            <a:r>
              <a:rPr lang="fr-FR" sz="2400" dirty="0"/>
              <a:t>b/ check the </a:t>
            </a:r>
            <a:r>
              <a:rPr lang="fr-FR" sz="2400" dirty="0" err="1"/>
              <a:t>partitioned</a:t>
            </a:r>
            <a:r>
              <a:rPr lang="fr-FR" sz="2400" dirty="0"/>
              <a:t> </a:t>
            </a:r>
            <a:r>
              <a:rPr lang="fr-FR" sz="2400" dirty="0" err="1"/>
              <a:t>column</a:t>
            </a:r>
            <a:r>
              <a:rPr lang="fr-FR" sz="2400" dirty="0"/>
              <a:t> </a:t>
            </a:r>
            <a:r>
              <a:rPr lang="fr-FR" sz="2400" dirty="0" err="1"/>
              <a:t>does</a:t>
            </a:r>
            <a:r>
              <a:rPr lang="fr-FR" sz="2400" dirty="0"/>
              <a:t> not </a:t>
            </a:r>
            <a:r>
              <a:rPr lang="fr-FR" sz="2400" dirty="0" err="1"/>
              <a:t>exist</a:t>
            </a:r>
            <a:r>
              <a:rPr lang="fr-FR" sz="2400" dirty="0"/>
              <a:t> in the </a:t>
            </a:r>
            <a:r>
              <a:rPr lang="fr-FR" sz="2400" dirty="0" err="1"/>
              <a:t>sub</a:t>
            </a:r>
            <a:r>
              <a:rPr lang="fr-FR" sz="2400" dirty="0"/>
              <a:t>-files content,</a:t>
            </a:r>
            <a:br>
              <a:rPr lang="fr-FR" sz="2400" dirty="0"/>
            </a:br>
            <a:r>
              <a:rPr lang="fr-FR" sz="2400" dirty="0"/>
              <a:t>  </a:t>
            </a:r>
            <a:r>
              <a:rPr lang="fr-FR" sz="2400" dirty="0" err="1"/>
              <a:t>only</a:t>
            </a:r>
            <a:r>
              <a:rPr lang="fr-FR" sz="2400" dirty="0"/>
              <a:t> in directory </a:t>
            </a:r>
            <a:r>
              <a:rPr lang="fr-FR" sz="2400" dirty="0" err="1"/>
              <a:t>names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   HINT: </a:t>
            </a:r>
            <a:r>
              <a:rPr lang="fr-FR" sz="2400" dirty="0" err="1"/>
              <a:t>reload</a:t>
            </a:r>
            <a:r>
              <a:rPr lang="fr-FR" sz="2400" dirty="0"/>
              <a:t> an </a:t>
            </a:r>
            <a:r>
              <a:rPr lang="fr-FR" sz="2400" dirty="0" err="1"/>
              <a:t>individual</a:t>
            </a:r>
            <a:r>
              <a:rPr lang="fr-FR" sz="2400" dirty="0"/>
              <a:t> parquet file </a:t>
            </a:r>
            <a:r>
              <a:rPr lang="fr-FR" sz="2400" dirty="0" err="1"/>
              <a:t>using</a:t>
            </a:r>
            <a:r>
              <a:rPr lang="fr-FR" sz="2400" dirty="0"/>
              <a:t> « </a:t>
            </a:r>
            <a:r>
              <a:rPr lang="fr-FR" sz="2400" dirty="0" err="1"/>
              <a:t>spark.read.parquet</a:t>
            </a:r>
            <a:r>
              <a:rPr lang="fr-FR" sz="2400" dirty="0"/>
              <a:t>(« … »)</a:t>
            </a:r>
            <a:br>
              <a:rPr lang="fr-FR" sz="2400" dirty="0"/>
            </a:br>
            <a:endParaRPr lang="fr-FR" sz="2400" dirty="0"/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258383189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9AE9A-FA9C-903B-D9B7-EECB9062D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797"/>
            <a:ext cx="10515600" cy="1325563"/>
          </a:xfrm>
        </p:spPr>
        <p:txBody>
          <a:bodyPr/>
          <a:lstStyle/>
          <a:p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17 : </a:t>
            </a:r>
            <a:r>
              <a:rPr lang="fr-FR" dirty="0" err="1"/>
              <a:t>Dirs</a:t>
            </a:r>
            <a:r>
              <a:rPr lang="fr-FR" dirty="0"/>
              <a:t> for </a:t>
            </a:r>
            <a:r>
              <a:rPr lang="fr-FR" dirty="0" err="1"/>
              <a:t>Partitioned</a:t>
            </a:r>
            <a:r>
              <a:rPr lang="fr-FR" dirty="0"/>
              <a:t> Table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E2DB58-ACCA-F62D-A0BB-07F637738F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47621" y="1738968"/>
            <a:ext cx="2495766" cy="3200677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268807E-9FE3-BA15-C235-E71AF001E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6408" y="2685999"/>
            <a:ext cx="7620660" cy="116215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E7C2AE4-517B-596C-8615-84F1DE9C70A8}"/>
              </a:ext>
            </a:extLst>
          </p:cNvPr>
          <p:cNvSpPr/>
          <p:nvPr/>
        </p:nvSpPr>
        <p:spPr>
          <a:xfrm>
            <a:off x="1747621" y="2685999"/>
            <a:ext cx="1076542" cy="257226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838329-974E-1A88-278F-EC45D70736F1}"/>
              </a:ext>
            </a:extLst>
          </p:cNvPr>
          <p:cNvSpPr/>
          <p:nvPr/>
        </p:nvSpPr>
        <p:spPr>
          <a:xfrm>
            <a:off x="6624637" y="2647950"/>
            <a:ext cx="771525" cy="24765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783A8CBA-F2D5-5CEC-7BFF-6B2C50A6D6BB}"/>
              </a:ext>
            </a:extLst>
          </p:cNvPr>
          <p:cNvSpPr/>
          <p:nvPr/>
        </p:nvSpPr>
        <p:spPr>
          <a:xfrm rot="1587779">
            <a:off x="3072141" y="2897390"/>
            <a:ext cx="747712" cy="214313"/>
          </a:xfrm>
          <a:prstGeom prst="rightArrow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467600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4C9F5-C701-BC4C-BDEE-AAEB74EB8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64442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10 mn pause</a:t>
            </a:r>
          </a:p>
        </p:txBody>
      </p:sp>
    </p:spTree>
    <p:extLst>
      <p:ext uri="{BB962C8B-B14F-4D97-AF65-F5344CB8AC3E}">
        <p14:creationId xmlns:p14="http://schemas.microsoft.com/office/powerpoint/2010/main" val="59605658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0EF67-5720-90C4-BE8E-AB264BE15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18: </a:t>
            </a:r>
            <a:r>
              <a:rPr lang="fr-FR" dirty="0" err="1"/>
              <a:t>Query</a:t>
            </a:r>
            <a:r>
              <a:rPr lang="fr-FR" dirty="0"/>
              <a:t> a </a:t>
            </a:r>
            <a:r>
              <a:rPr lang="fr-FR" dirty="0" err="1"/>
              <a:t>Partitioned</a:t>
            </a:r>
            <a:r>
              <a:rPr lang="fr-FR" dirty="0"/>
              <a:t> Table</a:t>
            </a:r>
            <a:br>
              <a:rPr lang="fr-FR" dirty="0"/>
            </a:br>
            <a:r>
              <a:rPr lang="fr-FR" dirty="0"/>
              <a:t>…  </a:t>
            </a:r>
            <a:r>
              <a:rPr lang="fr-FR" dirty="0" err="1"/>
              <a:t>optim</a:t>
            </a:r>
            <a:r>
              <a:rPr lang="fr-FR" dirty="0"/>
              <a:t> « Partition </a:t>
            </a:r>
            <a:r>
              <a:rPr lang="fr-FR" dirty="0" err="1"/>
              <a:t>Pruning</a:t>
            </a:r>
            <a:r>
              <a:rPr lang="fr-FR" dirty="0"/>
              <a:t>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CFC5BE-36C3-1350-36F8-CD41C15091BA}"/>
              </a:ext>
            </a:extLst>
          </p:cNvPr>
          <p:cNvSpPr txBox="1"/>
          <p:nvPr/>
        </p:nvSpPr>
        <p:spPr>
          <a:xfrm>
            <a:off x="2686929" y="2412831"/>
            <a:ext cx="7782451" cy="347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a/  do a SQL </a:t>
            </a:r>
            <a:r>
              <a:rPr lang="fr-FR" sz="2000" dirty="0" err="1"/>
              <a:t>query</a:t>
            </a:r>
            <a:r>
              <a:rPr lang="fr-FR" sz="2000" dirty="0"/>
              <a:t> </a:t>
            </a:r>
            <a:r>
              <a:rPr lang="fr-FR" sz="2000" dirty="0" err="1"/>
              <a:t>using</a:t>
            </a:r>
            <a:r>
              <a:rPr lang="fr-FR" sz="2000" dirty="0"/>
              <a:t> a « WHERE  </a:t>
            </a:r>
            <a:r>
              <a:rPr lang="fr-FR" sz="2000" dirty="0" err="1"/>
              <a:t>dept</a:t>
            </a:r>
            <a:r>
              <a:rPr lang="fr-FR" sz="2000" dirty="0"/>
              <a:t>=92 »</a:t>
            </a:r>
          </a:p>
          <a:p>
            <a:endParaRPr lang="fr-FR" sz="2000" dirty="0"/>
          </a:p>
          <a:p>
            <a:r>
              <a:rPr lang="fr-FR" sz="2000" dirty="0"/>
              <a:t>b/  do a SQL </a:t>
            </a:r>
            <a:r>
              <a:rPr lang="fr-FR" sz="2000" dirty="0" err="1"/>
              <a:t>query</a:t>
            </a:r>
            <a:r>
              <a:rPr lang="fr-FR" sz="2000" dirty="0"/>
              <a:t> </a:t>
            </a:r>
            <a:r>
              <a:rPr lang="fr-FR" sz="2000" dirty="0" err="1"/>
              <a:t>using</a:t>
            </a:r>
            <a:r>
              <a:rPr lang="fr-FR" sz="2000" dirty="0"/>
              <a:t> a « WHERE  </a:t>
            </a:r>
            <a:r>
              <a:rPr lang="fr-FR" sz="2000" dirty="0" err="1"/>
              <a:t>dept</a:t>
            </a:r>
            <a:r>
              <a:rPr lang="fr-FR" sz="2000" dirty="0"/>
              <a:t> in (75, 78, 91, 92)  »</a:t>
            </a:r>
          </a:p>
          <a:p>
            <a:endParaRPr lang="fr-FR" sz="2000" dirty="0"/>
          </a:p>
          <a:p>
            <a:r>
              <a:rPr lang="fr-FR" sz="2000" dirty="0"/>
              <a:t>c/  do a SQL </a:t>
            </a:r>
            <a:r>
              <a:rPr lang="fr-FR" sz="2000" dirty="0" err="1"/>
              <a:t>query</a:t>
            </a:r>
            <a:r>
              <a:rPr lang="fr-FR" sz="2000" dirty="0"/>
              <a:t> </a:t>
            </a:r>
            <a:r>
              <a:rPr lang="fr-FR" sz="2000" dirty="0" err="1"/>
              <a:t>without</a:t>
            </a:r>
            <a:r>
              <a:rPr lang="fr-FR" sz="2000" dirty="0"/>
              <a:t> partition </a:t>
            </a:r>
            <a:r>
              <a:rPr lang="fr-FR" sz="2000" dirty="0" err="1"/>
              <a:t>column</a:t>
            </a:r>
            <a:r>
              <a:rPr lang="fr-FR" sz="2000" dirty="0"/>
              <a:t> condition</a:t>
            </a:r>
          </a:p>
          <a:p>
            <a:endParaRPr lang="fr-FR" sz="2000" dirty="0"/>
          </a:p>
          <a:p>
            <a:r>
              <a:rPr lang="fr-FR" sz="2000" dirty="0"/>
              <a:t>d/ Can </a:t>
            </a:r>
            <a:r>
              <a:rPr lang="fr-FR" sz="2000" dirty="0" err="1"/>
              <a:t>you</a:t>
            </a:r>
            <a:r>
              <a:rPr lang="fr-FR" sz="2000" dirty="0"/>
              <a:t> </a:t>
            </a:r>
            <a:r>
              <a:rPr lang="fr-FR" sz="2000" dirty="0" err="1"/>
              <a:t>measure</a:t>
            </a:r>
            <a:r>
              <a:rPr lang="fr-FR" sz="2000" dirty="0"/>
              <a:t> </a:t>
            </a:r>
            <a:r>
              <a:rPr lang="fr-FR" sz="2000" dirty="0" err="1"/>
              <a:t>that</a:t>
            </a:r>
            <a:r>
              <a:rPr lang="fr-FR" sz="2000" dirty="0"/>
              <a:t>   </a:t>
            </a:r>
            <a:br>
              <a:rPr lang="fr-FR" sz="2000" dirty="0"/>
            </a:br>
            <a:r>
              <a:rPr lang="fr-FR" sz="2000" dirty="0"/>
              <a:t>              </a:t>
            </a:r>
            <a:r>
              <a:rPr lang="fr-FR" sz="2000" dirty="0" err="1"/>
              <a:t>Query</a:t>
            </a:r>
            <a:r>
              <a:rPr lang="fr-FR" sz="2000" dirty="0"/>
              <a:t> a/ </a:t>
            </a:r>
            <a:r>
              <a:rPr lang="fr-FR" sz="2000" dirty="0" err="1"/>
              <a:t>is</a:t>
            </a:r>
            <a:r>
              <a:rPr lang="fr-FR" sz="2000" dirty="0"/>
              <a:t> ~4x </a:t>
            </a:r>
            <a:r>
              <a:rPr lang="fr-FR" sz="2000" dirty="0" err="1"/>
              <a:t>faster</a:t>
            </a:r>
            <a:r>
              <a:rPr lang="fr-FR" sz="2000" dirty="0"/>
              <a:t> </a:t>
            </a:r>
            <a:r>
              <a:rPr lang="fr-FR" sz="2000" dirty="0" err="1"/>
              <a:t>than</a:t>
            </a:r>
            <a:r>
              <a:rPr lang="fr-FR" sz="2000" dirty="0"/>
              <a:t> </a:t>
            </a:r>
            <a:r>
              <a:rPr lang="fr-FR" sz="2000" dirty="0" err="1"/>
              <a:t>Query</a:t>
            </a:r>
            <a:r>
              <a:rPr lang="fr-FR" sz="2000" dirty="0"/>
              <a:t> b/       (1 part &lt;&lt; 4 parts)     </a:t>
            </a:r>
          </a:p>
          <a:p>
            <a:r>
              <a:rPr lang="fr-FR" sz="2000" dirty="0"/>
              <a:t>              </a:t>
            </a:r>
            <a:r>
              <a:rPr lang="fr-FR" sz="2000" dirty="0" err="1"/>
              <a:t>Query</a:t>
            </a:r>
            <a:r>
              <a:rPr lang="fr-FR" sz="2000" dirty="0"/>
              <a:t> a/ </a:t>
            </a:r>
            <a:r>
              <a:rPr lang="fr-FR" sz="2000" dirty="0" err="1"/>
              <a:t>is</a:t>
            </a:r>
            <a:r>
              <a:rPr lang="fr-FR" sz="2000" dirty="0"/>
              <a:t> ~99x </a:t>
            </a:r>
            <a:r>
              <a:rPr lang="fr-FR" sz="2000" dirty="0" err="1"/>
              <a:t>faster</a:t>
            </a:r>
            <a:r>
              <a:rPr lang="fr-FR" sz="2000" dirty="0"/>
              <a:t> </a:t>
            </a:r>
            <a:r>
              <a:rPr lang="fr-FR" sz="2000" dirty="0" err="1"/>
              <a:t>than</a:t>
            </a:r>
            <a:r>
              <a:rPr lang="fr-FR" sz="2000" dirty="0"/>
              <a:t> </a:t>
            </a:r>
            <a:r>
              <a:rPr lang="fr-FR" sz="2000" dirty="0" err="1"/>
              <a:t>Query</a:t>
            </a:r>
            <a:r>
              <a:rPr lang="fr-FR" sz="2000" dirty="0"/>
              <a:t> c/      (1 part &lt;&lt; 99 parts)</a:t>
            </a:r>
          </a:p>
          <a:p>
            <a:endParaRPr lang="fr-FR" sz="2000" dirty="0"/>
          </a:p>
          <a:p>
            <a:r>
              <a:rPr lang="fr-FR" sz="2000" dirty="0"/>
              <a:t>e/ check </a:t>
            </a:r>
            <a:r>
              <a:rPr lang="fr-FR" sz="2000" dirty="0" err="1"/>
              <a:t>that</a:t>
            </a:r>
            <a:r>
              <a:rPr lang="fr-FR" sz="2000" dirty="0"/>
              <a:t> Spark prunes the </a:t>
            </a:r>
            <a:r>
              <a:rPr lang="fr-FR" sz="2000" dirty="0" err="1"/>
              <a:t>unnecessary</a:t>
            </a:r>
            <a:r>
              <a:rPr lang="fr-FR" sz="2000" dirty="0"/>
              <a:t> partitions </a:t>
            </a:r>
            <a:r>
              <a:rPr lang="fr-FR" sz="2000" dirty="0" err="1"/>
              <a:t>dirs</a:t>
            </a:r>
            <a:r>
              <a:rPr lang="fr-FR" sz="2000" dirty="0"/>
              <a:t> </a:t>
            </a:r>
            <a:r>
              <a:rPr lang="fr-FR" sz="2000" dirty="0" err="1"/>
              <a:t>from</a:t>
            </a:r>
            <a:r>
              <a:rPr lang="fr-FR" sz="2000" dirty="0"/>
              <a:t> scanning</a:t>
            </a:r>
          </a:p>
        </p:txBody>
      </p:sp>
    </p:spTree>
    <p:extLst>
      <p:ext uri="{BB962C8B-B14F-4D97-AF65-F5344CB8AC3E}">
        <p14:creationId xmlns:p14="http://schemas.microsoft.com/office/powerpoint/2010/main" val="194337354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16ECF-F75B-A002-5C18-9037E1420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687513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19: SQL </a:t>
            </a:r>
            <a:r>
              <a:rPr lang="fr-FR" dirty="0" err="1"/>
              <a:t>Explain</a:t>
            </a:r>
            <a:r>
              <a:rPr lang="fr-FR" dirty="0"/>
              <a:t> plan:</a:t>
            </a:r>
            <a:br>
              <a:rPr lang="fr-FR" dirty="0"/>
            </a:br>
            <a:r>
              <a:rPr lang="fr-FR" dirty="0"/>
              <a:t>SQL « EXPLAIN select … </a:t>
            </a:r>
            <a:r>
              <a:rPr lang="fr-FR" dirty="0" err="1"/>
              <a:t>from</a:t>
            </a:r>
            <a:r>
              <a:rPr lang="fr-FR" dirty="0"/>
              <a:t> .. </a:t>
            </a:r>
            <a:r>
              <a:rPr lang="fr-FR" dirty="0" err="1"/>
              <a:t>Where</a:t>
            </a:r>
            <a:r>
              <a:rPr lang="fr-FR" dirty="0"/>
              <a:t> ..»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DF7FC4-37F9-8CB4-0F26-D639977849F3}"/>
              </a:ext>
            </a:extLst>
          </p:cNvPr>
          <p:cNvSpPr txBox="1"/>
          <p:nvPr/>
        </p:nvSpPr>
        <p:spPr>
          <a:xfrm>
            <a:off x="1198164" y="2762867"/>
            <a:ext cx="10429522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a/ Execute SQL prefixed by “EXPLAIN”</a:t>
            </a:r>
          </a:p>
          <a:p>
            <a:endParaRPr lang="en-US" sz="2400" dirty="0"/>
          </a:p>
          <a:p>
            <a:r>
              <a:rPr lang="en-US" sz="2400" dirty="0" err="1"/>
              <a:t>spark.sql</a:t>
            </a:r>
            <a:r>
              <a:rPr lang="en-US" sz="2400" dirty="0"/>
              <a:t>(""" </a:t>
            </a:r>
          </a:p>
          <a:p>
            <a:r>
              <a:rPr lang="en-US" sz="2400" b="1" dirty="0"/>
              <a:t>EXPLAIN </a:t>
            </a:r>
            <a:r>
              <a:rPr lang="en-US" sz="2400" dirty="0"/>
              <a:t>select count(*) FROM db1.address_by_dept WHERE dept=92 </a:t>
            </a:r>
          </a:p>
          <a:p>
            <a:r>
              <a:rPr lang="en-US" sz="2400" dirty="0"/>
              <a:t>""").foreach(</a:t>
            </a:r>
            <a:r>
              <a:rPr lang="en-US" sz="2400" dirty="0" err="1"/>
              <a:t>println</a:t>
            </a:r>
            <a:r>
              <a:rPr lang="en-US" sz="2400" dirty="0"/>
              <a:t>(_))</a:t>
            </a:r>
          </a:p>
          <a:p>
            <a:endParaRPr lang="en-US" sz="2400" dirty="0"/>
          </a:p>
          <a:p>
            <a:r>
              <a:rPr lang="fr-FR" sz="2400" dirty="0"/>
              <a:t>b/ Check </a:t>
            </a:r>
            <a:r>
              <a:rPr lang="fr-FR" sz="2400" dirty="0" err="1"/>
              <a:t>that</a:t>
            </a:r>
            <a:r>
              <a:rPr lang="fr-FR" sz="2400" dirty="0"/>
              <a:t> Spark has </a:t>
            </a:r>
            <a:r>
              <a:rPr lang="fr-FR" sz="2400" dirty="0" err="1"/>
              <a:t>read</a:t>
            </a:r>
            <a:r>
              <a:rPr lang="fr-FR" sz="2400" dirty="0"/>
              <a:t> ONLY files </a:t>
            </a:r>
            <a:r>
              <a:rPr lang="fr-FR" sz="2400" dirty="0" err="1"/>
              <a:t>within</a:t>
            </a:r>
            <a:r>
              <a:rPr lang="fr-FR" sz="2400" dirty="0"/>
              <a:t> directory  « …/</a:t>
            </a:r>
            <a:r>
              <a:rPr lang="fr-FR" sz="2400" dirty="0" err="1"/>
              <a:t>dept</a:t>
            </a:r>
            <a:r>
              <a:rPr lang="fr-FR" sz="2400" dirty="0"/>
              <a:t>=92/*.parquet »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21280798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B49FA-D2E8-032C-1BC9-0EE322298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430"/>
            <a:ext cx="10515600" cy="792117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19: SQL </a:t>
            </a:r>
            <a:r>
              <a:rPr lang="fr-FR" dirty="0" err="1"/>
              <a:t>Explain</a:t>
            </a:r>
            <a:r>
              <a:rPr lang="fr-FR" dirty="0"/>
              <a:t> Plan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F88753C-728C-C088-F8F7-68101AD05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781" y="2097946"/>
            <a:ext cx="10358438" cy="253958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45FF61A-42CA-694A-A796-B264C1562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4737487"/>
            <a:ext cx="12192000" cy="185506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F9CEEF3-27B0-CE07-EC66-CE8FDBDD69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9081" y="941800"/>
            <a:ext cx="7068163" cy="1066892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7E791853-F63C-EA44-2459-786E4051FCCE}"/>
              </a:ext>
            </a:extLst>
          </p:cNvPr>
          <p:cNvSpPr/>
          <p:nvPr/>
        </p:nvSpPr>
        <p:spPr>
          <a:xfrm flipH="1">
            <a:off x="2795588" y="1658593"/>
            <a:ext cx="1752598" cy="194019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C65B4C-552D-E9A6-F956-DBF553C12AF9}"/>
              </a:ext>
            </a:extLst>
          </p:cNvPr>
          <p:cNvSpPr/>
          <p:nvPr/>
        </p:nvSpPr>
        <p:spPr>
          <a:xfrm flipH="1">
            <a:off x="9139237" y="4235106"/>
            <a:ext cx="2135981" cy="18925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99D384-BC43-12EB-FAE7-7AF7E0BCAD11}"/>
              </a:ext>
            </a:extLst>
          </p:cNvPr>
          <p:cNvSpPr/>
          <p:nvPr/>
        </p:nvSpPr>
        <p:spPr>
          <a:xfrm flipH="1">
            <a:off x="916783" y="4377379"/>
            <a:ext cx="1602580" cy="18925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EAF187-3D02-6D86-24C9-E0656159F473}"/>
              </a:ext>
            </a:extLst>
          </p:cNvPr>
          <p:cNvSpPr/>
          <p:nvPr/>
        </p:nvSpPr>
        <p:spPr>
          <a:xfrm flipH="1">
            <a:off x="2369345" y="6063302"/>
            <a:ext cx="4383880" cy="213672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983056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D4976-82E2-3CC7-FD30-9F20AF8A2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20: </a:t>
            </a:r>
            <a:r>
              <a:rPr lang="fr-FR" dirty="0" err="1"/>
              <a:t>Query</a:t>
            </a:r>
            <a:r>
              <a:rPr lang="fr-FR" dirty="0"/>
              <a:t> by condition, </a:t>
            </a:r>
            <a:br>
              <a:rPr lang="fr-FR" dirty="0"/>
            </a:br>
            <a:r>
              <a:rPr lang="fr-FR" dirty="0"/>
              <a:t>NOT by partition </a:t>
            </a:r>
            <a:r>
              <a:rPr lang="fr-FR" dirty="0" err="1"/>
              <a:t>column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FE32E9-0134-FCBE-1E64-E15F729AD5B3}"/>
              </a:ext>
            </a:extLst>
          </p:cNvPr>
          <p:cNvSpPr txBox="1"/>
          <p:nvPr/>
        </p:nvSpPr>
        <p:spPr>
          <a:xfrm>
            <a:off x="2873812" y="2758295"/>
            <a:ext cx="7638886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a/ Execute SQL with any condition but not on column “dept”</a:t>
            </a:r>
            <a:br>
              <a:rPr lang="en-US" sz="2400" dirty="0"/>
            </a:br>
            <a:r>
              <a:rPr lang="en-US" sz="2400" dirty="0"/>
              <a:t>SELECT .. WHERE … </a:t>
            </a:r>
            <a:r>
              <a:rPr lang="en-US" sz="2400" dirty="0" err="1"/>
              <a:t>somethingElse</a:t>
            </a:r>
            <a:r>
              <a:rPr lang="en-US" sz="2400" dirty="0"/>
              <a:t> …</a:t>
            </a:r>
          </a:p>
          <a:p>
            <a:endParaRPr lang="en-US" sz="2400" dirty="0"/>
          </a:p>
          <a:p>
            <a:r>
              <a:rPr lang="en-US" sz="2400" dirty="0"/>
              <a:t>b/ Execute SQL:</a:t>
            </a:r>
            <a:br>
              <a:rPr lang="en-US" sz="2400" dirty="0"/>
            </a:br>
            <a:r>
              <a:rPr lang="en-US" sz="2400" dirty="0"/>
              <a:t>EXPLAIN SELECT …</a:t>
            </a:r>
          </a:p>
          <a:p>
            <a:endParaRPr lang="en-US" sz="2400" dirty="0"/>
          </a:p>
          <a:p>
            <a:r>
              <a:rPr lang="fr-FR" sz="2400" dirty="0"/>
              <a:t>b/ Check </a:t>
            </a:r>
            <a:r>
              <a:rPr lang="fr-FR" sz="2400" dirty="0" err="1"/>
              <a:t>that</a:t>
            </a:r>
            <a:r>
              <a:rPr lang="fr-FR" sz="2400" dirty="0"/>
              <a:t> Spark has </a:t>
            </a:r>
            <a:r>
              <a:rPr lang="fr-FR" sz="2400" dirty="0" err="1"/>
              <a:t>read</a:t>
            </a:r>
            <a:r>
              <a:rPr lang="fr-FR" sz="2400" dirty="0"/>
              <a:t> ALL directories/files</a:t>
            </a:r>
            <a:br>
              <a:rPr lang="fr-FR" sz="2400" dirty="0"/>
            </a:br>
            <a:r>
              <a:rPr lang="fr-FR" sz="2400" dirty="0"/>
              <a:t>   … Check </a:t>
            </a:r>
            <a:r>
              <a:rPr lang="fr-FR" sz="2400" dirty="0" err="1"/>
              <a:t>that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slower</a:t>
            </a:r>
            <a:r>
              <a:rPr lang="fr-FR" sz="2400" dirty="0"/>
              <a:t> </a:t>
            </a:r>
            <a:r>
              <a:rPr lang="fr-FR" sz="2400" dirty="0" err="1"/>
              <a:t>than</a:t>
            </a:r>
            <a:r>
              <a:rPr lang="fr-FR" sz="2400" dirty="0"/>
              <a:t> the </a:t>
            </a:r>
            <a:r>
              <a:rPr lang="fr-FR" sz="2400" dirty="0" err="1"/>
              <a:t>unpartitioned</a:t>
            </a:r>
            <a:r>
              <a:rPr lang="fr-FR" sz="2400" dirty="0"/>
              <a:t> table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400297195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71025-FDCC-CDC9-ED34-49623F7F7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227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21: INSERT OVERWRITE… </a:t>
            </a:r>
            <a:r>
              <a:rPr lang="fr-FR" dirty="0" err="1"/>
              <a:t>partitioned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850EDC-7A05-E905-33A9-821ED72EBD4B}"/>
              </a:ext>
            </a:extLst>
          </p:cNvPr>
          <p:cNvSpPr txBox="1"/>
          <p:nvPr/>
        </p:nvSpPr>
        <p:spPr>
          <a:xfrm>
            <a:off x="1975819" y="1409176"/>
            <a:ext cx="9005479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a/ Execute SQL</a:t>
            </a:r>
            <a:br>
              <a:rPr lang="en-US" sz="2400" dirty="0"/>
            </a:br>
            <a:r>
              <a:rPr lang="en-US" sz="2400" dirty="0"/>
              <a:t>INSERT OVERWRITE </a:t>
            </a:r>
            <a:r>
              <a:rPr lang="en-US" sz="2400" dirty="0" err="1"/>
              <a:t>address_by_dept</a:t>
            </a:r>
            <a:br>
              <a:rPr lang="en-US" sz="2400" dirty="0"/>
            </a:br>
            <a:r>
              <a:rPr lang="en-US" sz="2400" dirty="0"/>
              <a:t>SELECT .. FROM .. WHERE … commune=‘Nanterre’</a:t>
            </a:r>
          </a:p>
          <a:p>
            <a:endParaRPr lang="en-US" sz="2400" dirty="0"/>
          </a:p>
          <a:p>
            <a:r>
              <a:rPr lang="en-US" sz="2400" dirty="0"/>
              <a:t>b/ check that ALL files from directory /dept=92/*</a:t>
            </a:r>
            <a:br>
              <a:rPr lang="en-US" sz="2400" dirty="0"/>
            </a:br>
            <a:r>
              <a:rPr lang="en-US" sz="2400" dirty="0"/>
              <a:t>   have been deleted… and rewritten with partial new results</a:t>
            </a:r>
          </a:p>
          <a:p>
            <a:endParaRPr lang="en-US" sz="2400" dirty="0"/>
          </a:p>
          <a:p>
            <a:r>
              <a:rPr lang="en-US" sz="2400" dirty="0"/>
              <a:t>c/ .. check that all cities != ‘Nanterre’ from dept=92 have been deleted </a:t>
            </a:r>
            <a:br>
              <a:rPr lang="en-US" sz="2400" dirty="0"/>
            </a:br>
            <a:r>
              <a:rPr lang="en-US" sz="2400" dirty="0"/>
              <a:t>   (not re-created).</a:t>
            </a:r>
          </a:p>
          <a:p>
            <a:r>
              <a:rPr lang="en-US" sz="2400" dirty="0"/>
              <a:t>   an “INSERT OVERWRITE” can INSERT+UPDATE+DELETE rows !</a:t>
            </a:r>
          </a:p>
          <a:p>
            <a:endParaRPr lang="en-US" sz="2400" dirty="0"/>
          </a:p>
          <a:p>
            <a:r>
              <a:rPr lang="en-US" sz="2400" dirty="0"/>
              <a:t>d/ check that ALL other directories dept != 92 are unmodified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3245750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71025-FDCC-CDC9-ED34-49623F7F7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227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22: SAME insert </a:t>
            </a:r>
            <a:r>
              <a:rPr lang="fr-FR" dirty="0" err="1"/>
              <a:t>overwrite</a:t>
            </a:r>
            <a:br>
              <a:rPr lang="fr-FR" dirty="0"/>
            </a:br>
            <a:r>
              <a:rPr lang="fr-FR" dirty="0"/>
              <a:t>… on 2 </a:t>
            </a:r>
            <a:r>
              <a:rPr lang="fr-FR" dirty="0" err="1"/>
              <a:t>differently</a:t>
            </a:r>
            <a:r>
              <a:rPr lang="fr-FR" dirty="0"/>
              <a:t> </a:t>
            </a:r>
            <a:r>
              <a:rPr lang="fr-FR" dirty="0" err="1"/>
              <a:t>partitioned</a:t>
            </a:r>
            <a:r>
              <a:rPr lang="fr-FR" dirty="0"/>
              <a:t> tables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850EDC-7A05-E905-33A9-821ED72EBD4B}"/>
              </a:ext>
            </a:extLst>
          </p:cNvPr>
          <p:cNvSpPr txBox="1"/>
          <p:nvPr/>
        </p:nvSpPr>
        <p:spPr>
          <a:xfrm>
            <a:off x="1526960" y="1691196"/>
            <a:ext cx="8656728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Execute twice the same SQL, on 2 different tables, containing the same data</a:t>
            </a:r>
          </a:p>
          <a:p>
            <a:r>
              <a:rPr lang="en-US" sz="2400" dirty="0"/>
              <a:t>a/ compare select count(*) on both tables</a:t>
            </a:r>
          </a:p>
          <a:p>
            <a:endParaRPr lang="en-US" sz="2400" dirty="0"/>
          </a:p>
          <a:p>
            <a:r>
              <a:rPr lang="en-US" sz="2400" dirty="0"/>
              <a:t>b/ execute SQL on first (partitioned) table: </a:t>
            </a:r>
            <a:br>
              <a:rPr lang="en-US" sz="2400" dirty="0"/>
            </a:br>
            <a:r>
              <a:rPr lang="en-US" sz="2400" dirty="0"/>
              <a:t>INSERT OVERWRITE </a:t>
            </a:r>
            <a:r>
              <a:rPr lang="en-US" sz="2400" dirty="0" err="1"/>
              <a:t>address_by_dept</a:t>
            </a:r>
            <a:br>
              <a:rPr lang="en-US" sz="2400" dirty="0"/>
            </a:br>
            <a:r>
              <a:rPr lang="en-US" sz="2400" dirty="0"/>
              <a:t>SELECT .. FROM .. WHERE … dept=92</a:t>
            </a:r>
          </a:p>
          <a:p>
            <a:endParaRPr lang="en-US" sz="2400" dirty="0"/>
          </a:p>
          <a:p>
            <a:r>
              <a:rPr lang="en-US" sz="2400" dirty="0"/>
              <a:t>c/ execute Same SQL on second (un-partitioned) table</a:t>
            </a:r>
          </a:p>
          <a:p>
            <a:r>
              <a:rPr lang="en-US" sz="2400" dirty="0"/>
              <a:t>INSERT OVERWRITE address</a:t>
            </a:r>
            <a:br>
              <a:rPr lang="en-US" sz="2400" dirty="0"/>
            </a:br>
            <a:r>
              <a:rPr lang="en-US" sz="2400" dirty="0"/>
              <a:t>SELECT .. FROM .. WHERE … dept=92</a:t>
            </a:r>
          </a:p>
          <a:p>
            <a:endParaRPr lang="en-US" sz="2400" dirty="0"/>
          </a:p>
          <a:p>
            <a:r>
              <a:rPr lang="en-US" sz="2400" dirty="0"/>
              <a:t>d/ compare counts, Explain</a:t>
            </a:r>
          </a:p>
        </p:txBody>
      </p:sp>
    </p:spTree>
    <p:extLst>
      <p:ext uri="{BB962C8B-B14F-4D97-AF65-F5344CB8AC3E}">
        <p14:creationId xmlns:p14="http://schemas.microsoft.com/office/powerpoint/2010/main" val="230533880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71025-FDCC-CDC9-ED34-49623F7F7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227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23: INSERT OVERWRITE… for </a:t>
            </a:r>
            <a:r>
              <a:rPr lang="fr-FR" dirty="0" err="1"/>
              <a:t>fully</a:t>
            </a:r>
            <a:r>
              <a:rPr lang="fr-FR" dirty="0"/>
              <a:t> « UPDATING » partition(s)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850EDC-7A05-E905-33A9-821ED72EBD4B}"/>
              </a:ext>
            </a:extLst>
          </p:cNvPr>
          <p:cNvSpPr txBox="1"/>
          <p:nvPr/>
        </p:nvSpPr>
        <p:spPr>
          <a:xfrm>
            <a:off x="1971381" y="1861937"/>
            <a:ext cx="8959760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a/ Execute SQL:</a:t>
            </a:r>
            <a:br>
              <a:rPr lang="en-US" sz="2400" dirty="0"/>
            </a:br>
            <a:r>
              <a:rPr lang="en-US" sz="2400" dirty="0"/>
              <a:t>INSERT OVERWRITE </a:t>
            </a:r>
            <a:r>
              <a:rPr lang="en-US" sz="2400" dirty="0" err="1"/>
              <a:t>address_by_dept</a:t>
            </a:r>
            <a:br>
              <a:rPr lang="en-US" sz="2400" dirty="0"/>
            </a:br>
            <a:r>
              <a:rPr lang="en-US" sz="2400" dirty="0"/>
              <a:t>SELECT * FROM address  WHERE … dept=92</a:t>
            </a:r>
          </a:p>
          <a:p>
            <a:endParaRPr lang="fr-FR" sz="2400" dirty="0"/>
          </a:p>
          <a:p>
            <a:r>
              <a:rPr lang="fr-FR" sz="2400" dirty="0"/>
              <a:t>b/ check </a:t>
            </a:r>
            <a:r>
              <a:rPr lang="fr-FR" sz="2400" dirty="0" err="1"/>
              <a:t>that</a:t>
            </a:r>
            <a:r>
              <a:rPr lang="fr-FR" sz="2400" dirty="0"/>
              <a:t> </a:t>
            </a:r>
            <a:r>
              <a:rPr lang="fr-FR" sz="2400" dirty="0" err="1"/>
              <a:t>counts</a:t>
            </a:r>
            <a:r>
              <a:rPr lang="fr-FR" sz="2400" dirty="0"/>
              <a:t> are </a:t>
            </a:r>
            <a:r>
              <a:rPr lang="fr-FR" sz="2400" dirty="0" err="1"/>
              <a:t>same</a:t>
            </a:r>
            <a:r>
              <a:rPr lang="fr-FR" sz="2400" dirty="0"/>
              <a:t>:</a:t>
            </a:r>
            <a:br>
              <a:rPr lang="fr-FR" sz="2400" dirty="0"/>
            </a:br>
            <a:r>
              <a:rPr lang="fr-FR" sz="2400" dirty="0"/>
              <a:t>   select count(*) </a:t>
            </a:r>
            <a:r>
              <a:rPr lang="fr-FR" sz="2400" dirty="0" err="1"/>
              <a:t>from</a:t>
            </a:r>
            <a:r>
              <a:rPr lang="fr-FR" sz="2400" dirty="0"/>
              <a:t> </a:t>
            </a:r>
            <a:r>
              <a:rPr lang="fr-FR" sz="2400" dirty="0" err="1"/>
              <a:t>address</a:t>
            </a:r>
            <a:r>
              <a:rPr lang="fr-FR" sz="2400" dirty="0"/>
              <a:t> </a:t>
            </a:r>
            <a:r>
              <a:rPr lang="fr-FR" sz="2400" dirty="0" err="1"/>
              <a:t>where</a:t>
            </a:r>
            <a:r>
              <a:rPr lang="fr-FR" sz="2400" dirty="0"/>
              <a:t> </a:t>
            </a:r>
            <a:r>
              <a:rPr lang="fr-FR" sz="2400" dirty="0" err="1"/>
              <a:t>dept</a:t>
            </a:r>
            <a:r>
              <a:rPr lang="fr-FR" sz="2400" dirty="0"/>
              <a:t>=92</a:t>
            </a:r>
          </a:p>
          <a:p>
            <a:r>
              <a:rPr lang="fr-FR" sz="2400" dirty="0"/>
              <a:t>   select count(*) </a:t>
            </a:r>
            <a:r>
              <a:rPr lang="fr-FR" sz="2400" dirty="0" err="1"/>
              <a:t>from</a:t>
            </a:r>
            <a:r>
              <a:rPr lang="fr-FR" sz="2400" dirty="0"/>
              <a:t> </a:t>
            </a:r>
            <a:r>
              <a:rPr lang="fr-FR" sz="2400" dirty="0" err="1"/>
              <a:t>address_by_dept</a:t>
            </a:r>
            <a:r>
              <a:rPr lang="fr-FR" sz="2400" dirty="0"/>
              <a:t> </a:t>
            </a:r>
            <a:r>
              <a:rPr lang="fr-FR" sz="2400" dirty="0" err="1"/>
              <a:t>where</a:t>
            </a:r>
            <a:r>
              <a:rPr lang="fr-FR" sz="2400" dirty="0"/>
              <a:t> </a:t>
            </a:r>
            <a:r>
              <a:rPr lang="fr-FR" sz="2400" dirty="0" err="1"/>
              <a:t>dept</a:t>
            </a:r>
            <a:r>
              <a:rPr lang="fr-FR" sz="2400" dirty="0"/>
              <a:t>=92</a:t>
            </a:r>
          </a:p>
          <a:p>
            <a:r>
              <a:rPr lang="fr-FR" sz="2400" dirty="0"/>
              <a:t> </a:t>
            </a:r>
          </a:p>
          <a:p>
            <a:r>
              <a:rPr lang="fr-FR" sz="2400" dirty="0"/>
              <a:t>c/ </a:t>
            </a:r>
            <a:r>
              <a:rPr lang="fr-FR" sz="2400" dirty="0" err="1"/>
              <a:t>Explain</a:t>
            </a:r>
            <a:r>
              <a:rPr lang="fr-FR" sz="2400" dirty="0"/>
              <a:t> </a:t>
            </a:r>
            <a:r>
              <a:rPr lang="fr-FR" sz="2400" dirty="0" err="1"/>
              <a:t>that</a:t>
            </a:r>
            <a:r>
              <a:rPr lang="fr-FR" sz="2400" dirty="0"/>
              <a:t> </a:t>
            </a:r>
            <a:r>
              <a:rPr lang="fr-FR" sz="2400" dirty="0" err="1"/>
              <a:t>you</a:t>
            </a:r>
            <a:r>
              <a:rPr lang="fr-FR" sz="2400" dirty="0"/>
              <a:t> can replay </a:t>
            </a:r>
            <a:r>
              <a:rPr lang="fr-FR" sz="2400" dirty="0" err="1"/>
              <a:t>safely</a:t>
            </a:r>
            <a:r>
              <a:rPr lang="fr-FR" sz="2400" dirty="0"/>
              <a:t> an « UPDATE » batch for </a:t>
            </a:r>
            <a:r>
              <a:rPr lang="fr-FR" sz="2400" dirty="0" err="1"/>
              <a:t>any</a:t>
            </a:r>
            <a:r>
              <a:rPr lang="fr-FR" sz="2400" dirty="0"/>
              <a:t> </a:t>
            </a:r>
            <a:r>
              <a:rPr lang="fr-FR" sz="2400" dirty="0" err="1"/>
              <a:t>dept</a:t>
            </a:r>
            <a:br>
              <a:rPr lang="fr-FR" sz="2400" dirty="0"/>
            </a:br>
            <a:r>
              <a:rPr lang="fr-FR" sz="2400" dirty="0"/>
              <a:t>   .. NO duplicate, NO </a:t>
            </a:r>
            <a:r>
              <a:rPr lang="fr-FR" sz="2400" dirty="0" err="1"/>
              <a:t>delete</a:t>
            </a:r>
            <a:br>
              <a:rPr lang="fr-FR" sz="2400" dirty="0"/>
            </a:br>
            <a:r>
              <a:rPr lang="fr-FR" sz="2400" dirty="0"/>
              <a:t>   Update </a:t>
            </a:r>
            <a:r>
              <a:rPr lang="fr-FR" sz="2400" dirty="0" err="1"/>
              <a:t>fully</a:t>
            </a:r>
            <a:r>
              <a:rPr lang="fr-FR" sz="2400" dirty="0"/>
              <a:t> the </a:t>
            </a:r>
            <a:r>
              <a:rPr lang="fr-FR" sz="2400" dirty="0" err="1"/>
              <a:t>expected</a:t>
            </a:r>
            <a:r>
              <a:rPr lang="fr-FR" sz="2400" dirty="0"/>
              <a:t> </a:t>
            </a:r>
            <a:r>
              <a:rPr lang="fr-FR" sz="2400" dirty="0" err="1"/>
              <a:t>result</a:t>
            </a:r>
            <a:r>
              <a:rPr lang="fr-FR" sz="2400" dirty="0"/>
              <a:t>  but no </a:t>
            </a:r>
            <a:r>
              <a:rPr lang="fr-FR" sz="2400" dirty="0" err="1"/>
              <a:t>side</a:t>
            </a:r>
            <a:r>
              <a:rPr lang="fr-FR" sz="2400" dirty="0"/>
              <a:t> </a:t>
            </a:r>
            <a:r>
              <a:rPr lang="fr-FR" sz="2400" dirty="0" err="1"/>
              <a:t>effect</a:t>
            </a:r>
            <a:r>
              <a:rPr lang="fr-FR" sz="2400" dirty="0"/>
              <a:t> </a:t>
            </a:r>
            <a:r>
              <a:rPr lang="fr-FR" sz="2400" dirty="0" err="1"/>
              <a:t>elsewhere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46230473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4DF3C-C2FA-7743-E5C5-36AE4EFA9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24: ACID Update / </a:t>
            </a:r>
            <a:r>
              <a:rPr lang="fr-FR" dirty="0" err="1"/>
              <a:t>Delete</a:t>
            </a:r>
            <a:r>
              <a:rPr lang="fr-FR" dirty="0"/>
              <a:t> in Spark 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970CC9-FB8F-5FAC-82A4-C3AAF5F7D54A}"/>
              </a:ext>
            </a:extLst>
          </p:cNvPr>
          <p:cNvSpPr txBox="1"/>
          <p:nvPr/>
        </p:nvSpPr>
        <p:spPr>
          <a:xfrm>
            <a:off x="2267767" y="1763001"/>
            <a:ext cx="9148530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Questions</a:t>
            </a:r>
          </a:p>
          <a:p>
            <a:endParaRPr lang="fr-FR" sz="2400" dirty="0"/>
          </a:p>
          <a:p>
            <a:r>
              <a:rPr lang="fr-FR" sz="2400" dirty="0"/>
              <a:t>a/  </a:t>
            </a:r>
            <a:r>
              <a:rPr lang="fr-FR" sz="2400" dirty="0" err="1"/>
              <a:t>Does</a:t>
            </a:r>
            <a:r>
              <a:rPr lang="fr-FR" sz="2400" dirty="0"/>
              <a:t> Spark support SQL Update or </a:t>
            </a:r>
            <a:r>
              <a:rPr lang="fr-FR" sz="2400" dirty="0" err="1"/>
              <a:t>Delete</a:t>
            </a:r>
            <a:r>
              <a:rPr lang="fr-FR" sz="2400" dirty="0"/>
              <a:t> per </a:t>
            </a:r>
            <a:r>
              <a:rPr lang="fr-FR" sz="2400" dirty="0" err="1"/>
              <a:t>rows</a:t>
            </a:r>
            <a:r>
              <a:rPr lang="fr-FR" sz="2400" dirty="0"/>
              <a:t>?</a:t>
            </a:r>
          </a:p>
          <a:p>
            <a:endParaRPr lang="fr-FR" sz="2400" dirty="0"/>
          </a:p>
          <a:p>
            <a:r>
              <a:rPr lang="fr-FR" sz="2400" dirty="0"/>
              <a:t>b/  Can </a:t>
            </a:r>
            <a:r>
              <a:rPr lang="fr-FR" sz="2400" dirty="0" err="1"/>
              <a:t>you</a:t>
            </a:r>
            <a:r>
              <a:rPr lang="fr-FR" sz="2400" dirty="0"/>
              <a:t> « insert </a:t>
            </a:r>
            <a:r>
              <a:rPr lang="fr-FR" sz="2400" dirty="0" err="1"/>
              <a:t>overwrite</a:t>
            </a:r>
            <a:r>
              <a:rPr lang="fr-FR" sz="2400" dirty="0"/>
              <a:t> » data in Spark ? </a:t>
            </a:r>
            <a:r>
              <a:rPr lang="fr-FR" sz="2400" dirty="0" err="1"/>
              <a:t>With</a:t>
            </a:r>
            <a:r>
              <a:rPr lang="fr-FR" sz="2400" dirty="0"/>
              <a:t> </a:t>
            </a:r>
            <a:r>
              <a:rPr lang="fr-FR" sz="2400" dirty="0" err="1"/>
              <a:t>which</a:t>
            </a:r>
            <a:r>
              <a:rPr lang="fr-FR" sz="2400" dirty="0"/>
              <a:t> </a:t>
            </a:r>
            <a:r>
              <a:rPr lang="fr-FR" sz="2400" dirty="0" err="1"/>
              <a:t>granularity</a:t>
            </a:r>
            <a:r>
              <a:rPr lang="fr-FR" sz="2400" dirty="0"/>
              <a:t> ?</a:t>
            </a:r>
          </a:p>
          <a:p>
            <a:endParaRPr lang="fr-FR" sz="2400" dirty="0"/>
          </a:p>
          <a:p>
            <a:r>
              <a:rPr lang="fr-FR" sz="2400" dirty="0"/>
              <a:t>c/ can </a:t>
            </a:r>
            <a:r>
              <a:rPr lang="fr-FR" sz="2400" dirty="0" err="1"/>
              <a:t>you</a:t>
            </a:r>
            <a:r>
              <a:rPr lang="fr-FR" sz="2400" dirty="0"/>
              <a:t> </a:t>
            </a:r>
            <a:r>
              <a:rPr lang="fr-FR" sz="2400" dirty="0" err="1"/>
              <a:t>emulate</a:t>
            </a:r>
            <a:r>
              <a:rPr lang="fr-FR" sz="2400" dirty="0"/>
              <a:t> applicative updates or </a:t>
            </a:r>
            <a:r>
              <a:rPr lang="fr-FR" sz="2400" dirty="0" err="1"/>
              <a:t>deletes</a:t>
            </a:r>
            <a:r>
              <a:rPr lang="fr-FR" sz="2400" dirty="0"/>
              <a:t> on </a:t>
            </a:r>
            <a:r>
              <a:rPr lang="fr-FR" sz="2400" dirty="0" err="1"/>
              <a:t>rows</a:t>
            </a:r>
            <a:r>
              <a:rPr lang="fr-FR" sz="2400" dirty="0"/>
              <a:t> </a:t>
            </a:r>
            <a:br>
              <a:rPr lang="fr-FR" sz="2400" dirty="0"/>
            </a:br>
            <a:r>
              <a:rPr lang="fr-FR" sz="2400" dirty="0"/>
              <a:t>   by append-</a:t>
            </a:r>
            <a:r>
              <a:rPr lang="fr-FR" sz="2400" dirty="0" err="1"/>
              <a:t>only</a:t>
            </a:r>
            <a:r>
              <a:rPr lang="fr-FR" sz="2400" dirty="0"/>
              <a:t> </a:t>
            </a:r>
            <a:r>
              <a:rPr lang="fr-FR" sz="2400" dirty="0" err="1"/>
              <a:t>events</a:t>
            </a:r>
            <a:r>
              <a:rPr lang="fr-FR" sz="2400" dirty="0"/>
              <a:t> ?</a:t>
            </a:r>
          </a:p>
          <a:p>
            <a:endParaRPr lang="fr-FR" sz="2400" dirty="0"/>
          </a:p>
          <a:p>
            <a:r>
              <a:rPr lang="fr-FR" sz="2400" dirty="0"/>
              <a:t>d/ Do </a:t>
            </a:r>
            <a:r>
              <a:rPr lang="fr-FR" sz="2400" dirty="0" err="1"/>
              <a:t>you</a:t>
            </a:r>
            <a:r>
              <a:rPr lang="fr-FR" sz="2400" dirty="0"/>
              <a:t> know « </a:t>
            </a:r>
            <a:r>
              <a:rPr lang="fr-FR" sz="2400" dirty="0" err="1"/>
              <a:t>DeltaLake</a:t>
            </a:r>
            <a:r>
              <a:rPr lang="fr-FR" sz="2400" dirty="0"/>
              <a:t> » or « Iceberg » ?  (google </a:t>
            </a:r>
            <a:r>
              <a:rPr lang="fr-FR" sz="2400" dirty="0" err="1"/>
              <a:t>it</a:t>
            </a:r>
            <a:r>
              <a:rPr lang="fr-FR" sz="24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4582403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4DF3C-C2FA-7743-E5C5-36AE4EFA9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7453" y="45529"/>
            <a:ext cx="11363416" cy="1325563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25: Question on Partition.. </a:t>
            </a:r>
            <a:r>
              <a:rPr lang="fr-FR" dirty="0" err="1"/>
              <a:t>What</a:t>
            </a:r>
            <a:r>
              <a:rPr lang="fr-FR" dirty="0"/>
              <a:t> for ?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970CC9-FB8F-5FAC-82A4-C3AAF5F7D54A}"/>
              </a:ext>
            </a:extLst>
          </p:cNvPr>
          <p:cNvSpPr txBox="1"/>
          <p:nvPr/>
        </p:nvSpPr>
        <p:spPr>
          <a:xfrm>
            <a:off x="2495230" y="1599228"/>
            <a:ext cx="8235652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Questions</a:t>
            </a:r>
          </a:p>
          <a:p>
            <a:endParaRPr lang="fr-FR" sz="2400" dirty="0"/>
          </a:p>
          <a:p>
            <a:r>
              <a:rPr lang="fr-FR" sz="2400" dirty="0"/>
              <a:t>a/  Are partitions </a:t>
            </a:r>
            <a:r>
              <a:rPr lang="fr-FR" sz="2400" dirty="0" err="1"/>
              <a:t>improving</a:t>
            </a:r>
            <a:r>
              <a:rPr lang="fr-FR" sz="2400" dirty="0"/>
              <a:t> performances ?</a:t>
            </a:r>
          </a:p>
          <a:p>
            <a:endParaRPr lang="fr-FR" sz="2400" dirty="0"/>
          </a:p>
          <a:p>
            <a:r>
              <a:rPr lang="fr-FR" sz="2400" dirty="0"/>
              <a:t>b/ 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it</a:t>
            </a:r>
            <a:r>
              <a:rPr lang="fr-FR" sz="2400" dirty="0"/>
              <a:t> </a:t>
            </a:r>
            <a:r>
              <a:rPr lang="fr-FR" sz="2400" dirty="0" err="1"/>
              <a:t>true</a:t>
            </a:r>
            <a:r>
              <a:rPr lang="fr-FR" sz="2400" dirty="0"/>
              <a:t> </a:t>
            </a:r>
            <a:r>
              <a:rPr lang="fr-FR" sz="2400" dirty="0" err="1"/>
              <a:t>that</a:t>
            </a:r>
            <a:r>
              <a:rPr lang="fr-FR" sz="2400" dirty="0"/>
              <a:t> </a:t>
            </a:r>
            <a:r>
              <a:rPr lang="fr-FR" sz="2400" dirty="0" err="1"/>
              <a:t>same</a:t>
            </a:r>
            <a:r>
              <a:rPr lang="fr-FR" sz="2400" dirty="0"/>
              <a:t> SQL INSERT OVERWRITE </a:t>
            </a:r>
          </a:p>
          <a:p>
            <a:r>
              <a:rPr lang="fr-FR" sz="2400" dirty="0"/>
              <a:t>can have </a:t>
            </a:r>
            <a:r>
              <a:rPr lang="fr-FR" sz="2400" dirty="0" err="1"/>
              <a:t>different</a:t>
            </a:r>
            <a:r>
              <a:rPr lang="fr-FR" sz="2400" dirty="0"/>
              <a:t> </a:t>
            </a:r>
            <a:r>
              <a:rPr lang="fr-FR" sz="2400" dirty="0" err="1"/>
              <a:t>results</a:t>
            </a:r>
            <a:r>
              <a:rPr lang="fr-FR" sz="2400" dirty="0"/>
              <a:t> on tables </a:t>
            </a:r>
            <a:r>
              <a:rPr lang="fr-FR" sz="2400" dirty="0" err="1"/>
              <a:t>with</a:t>
            </a:r>
            <a:r>
              <a:rPr lang="fr-FR" sz="2400" dirty="0"/>
              <a:t> </a:t>
            </a:r>
            <a:r>
              <a:rPr lang="fr-FR" sz="2400" dirty="0" err="1"/>
              <a:t>different</a:t>
            </a:r>
            <a:r>
              <a:rPr lang="fr-FR" sz="2400" dirty="0"/>
              <a:t> </a:t>
            </a:r>
            <a:r>
              <a:rPr lang="fr-FR" sz="2400" dirty="0" err="1"/>
              <a:t>partitionning</a:t>
            </a:r>
            <a:r>
              <a:rPr lang="fr-FR" sz="2400" dirty="0"/>
              <a:t> ?</a:t>
            </a:r>
          </a:p>
          <a:p>
            <a:endParaRPr lang="fr-FR" sz="2400" dirty="0"/>
          </a:p>
          <a:p>
            <a:r>
              <a:rPr lang="fr-FR" sz="2400" dirty="0"/>
              <a:t>c/ </a:t>
            </a:r>
            <a:r>
              <a:rPr lang="fr-FR" sz="2400" dirty="0" err="1"/>
              <a:t>Why</a:t>
            </a:r>
            <a:r>
              <a:rPr lang="fr-FR" sz="2400" dirty="0"/>
              <a:t>/How </a:t>
            </a:r>
            <a:r>
              <a:rPr lang="fr-FR" sz="2400" dirty="0" err="1"/>
              <a:t>should</a:t>
            </a:r>
            <a:r>
              <a:rPr lang="fr-FR" sz="2400" dirty="0"/>
              <a:t> </a:t>
            </a:r>
            <a:r>
              <a:rPr lang="fr-FR" sz="2400" dirty="0" err="1"/>
              <a:t>you</a:t>
            </a:r>
            <a:r>
              <a:rPr lang="fr-FR" sz="2400" dirty="0"/>
              <a:t> use partitions ? </a:t>
            </a:r>
          </a:p>
          <a:p>
            <a:endParaRPr lang="fr-FR" sz="2400" dirty="0"/>
          </a:p>
          <a:p>
            <a:r>
              <a:rPr lang="fr-FR" sz="2400" dirty="0"/>
              <a:t>d/ Is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advisable</a:t>
            </a:r>
            <a:r>
              <a:rPr lang="fr-FR" sz="2400" dirty="0"/>
              <a:t> to have </a:t>
            </a:r>
            <a:r>
              <a:rPr lang="fr-FR" sz="2400" dirty="0" err="1"/>
              <a:t>deep</a:t>
            </a:r>
            <a:r>
              <a:rPr lang="fr-FR" sz="2400" dirty="0"/>
              <a:t> </a:t>
            </a:r>
            <a:r>
              <a:rPr lang="fr-FR" sz="2400" dirty="0" err="1"/>
              <a:t>sub-sub-sub</a:t>
            </a:r>
            <a:r>
              <a:rPr lang="fr-FR" sz="2400" dirty="0"/>
              <a:t> </a:t>
            </a:r>
            <a:r>
              <a:rPr lang="fr-FR" sz="2400" dirty="0" err="1"/>
              <a:t>partitioning</a:t>
            </a:r>
            <a:r>
              <a:rPr lang="fr-FR" sz="2400" dirty="0"/>
              <a:t> ?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263451267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73D55-410C-52DB-7AA2-744FF4F06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b="1" dirty="0" err="1"/>
              <a:t>Optionnal</a:t>
            </a:r>
            <a:r>
              <a:rPr lang="fr-FR" b="1" dirty="0"/>
              <a:t> </a:t>
            </a:r>
            <a:r>
              <a:rPr lang="fr-FR" dirty="0" err="1"/>
              <a:t>Exercise</a:t>
            </a:r>
            <a:r>
              <a:rPr lang="fr-FR" dirty="0"/>
              <a:t> 26 – </a:t>
            </a:r>
            <a:r>
              <a:rPr lang="fr-FR" dirty="0" err="1"/>
              <a:t>DeltaLake</a:t>
            </a:r>
            <a:r>
              <a:rPr lang="fr-FR" dirty="0"/>
              <a:t> / Iceberg 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F41B29-69D8-AB15-88E3-181430BD9344}"/>
              </a:ext>
            </a:extLst>
          </p:cNvPr>
          <p:cNvSpPr txBox="1"/>
          <p:nvPr/>
        </p:nvSpPr>
        <p:spPr>
          <a:xfrm>
            <a:off x="525334" y="1962983"/>
            <a:ext cx="11284628" cy="40934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Have a look to </a:t>
            </a:r>
            <a:r>
              <a:rPr lang="fr-FR" sz="2800" dirty="0" err="1"/>
              <a:t>DeltaLake</a:t>
            </a:r>
            <a:r>
              <a:rPr lang="fr-FR" sz="2800" dirty="0"/>
              <a:t>   (</a:t>
            </a:r>
            <a:r>
              <a:rPr lang="fr-FR" sz="2800" dirty="0" err="1"/>
              <a:t>legacy</a:t>
            </a:r>
            <a:r>
              <a:rPr lang="fr-FR" sz="2800" dirty="0"/>
              <a:t> system, </a:t>
            </a:r>
            <a:r>
              <a:rPr lang="fr-FR" sz="2800" dirty="0" err="1"/>
              <a:t>now</a:t>
            </a:r>
            <a:r>
              <a:rPr lang="fr-FR" sz="2800" dirty="0"/>
              <a:t> </a:t>
            </a:r>
            <a:r>
              <a:rPr lang="fr-FR" sz="2800" dirty="0" err="1"/>
              <a:t>switching</a:t>
            </a:r>
            <a:r>
              <a:rPr lang="fr-FR" sz="2800" dirty="0"/>
              <a:t> to Iceberg standard)</a:t>
            </a:r>
          </a:p>
          <a:p>
            <a:endParaRPr lang="fr-FR" sz="2800" dirty="0"/>
          </a:p>
          <a:p>
            <a:r>
              <a:rPr lang="fr-FR" sz="2800" dirty="0">
                <a:hlinkClick r:id="rId2"/>
              </a:rPr>
              <a:t>https://docs.delta.io/latest/quick-start.html</a:t>
            </a:r>
            <a:endParaRPr lang="fr-FR" sz="2800" dirty="0"/>
          </a:p>
          <a:p>
            <a:endParaRPr lang="fr-FR" sz="2800" dirty="0"/>
          </a:p>
          <a:p>
            <a:endParaRPr lang="fr-FR" sz="2800" dirty="0"/>
          </a:p>
          <a:p>
            <a:r>
              <a:rPr lang="fr-FR" sz="2400" dirty="0" err="1"/>
              <a:t>spark-shell</a:t>
            </a:r>
            <a:r>
              <a:rPr lang="fr-FR" sz="2400" dirty="0"/>
              <a:t> --packages io.delta:delta-core_2.12:2.2.0 \</a:t>
            </a:r>
            <a:br>
              <a:rPr lang="fr-FR" sz="2400" dirty="0"/>
            </a:br>
            <a:r>
              <a:rPr lang="fr-FR" sz="2400" dirty="0"/>
              <a:t> --conf </a:t>
            </a:r>
            <a:r>
              <a:rPr lang="fr-FR" sz="2400" dirty="0" err="1"/>
              <a:t>spark.sql.extensions</a:t>
            </a:r>
            <a:r>
              <a:rPr lang="fr-FR" sz="2400" dirty="0"/>
              <a:t>=</a:t>
            </a:r>
            <a:r>
              <a:rPr lang="fr-FR" sz="2400" dirty="0" err="1"/>
              <a:t>io.delta.sql.DeltaSparkSessionExtension</a:t>
            </a:r>
            <a:r>
              <a:rPr lang="fr-FR" sz="2400" dirty="0"/>
              <a:t>  \</a:t>
            </a:r>
            <a:br>
              <a:rPr lang="fr-FR" sz="2400" dirty="0"/>
            </a:br>
            <a:r>
              <a:rPr lang="fr-FR" sz="2400" dirty="0"/>
              <a:t> --conf </a:t>
            </a:r>
            <a:r>
              <a:rPr lang="fr-FR" sz="2400" dirty="0" err="1"/>
              <a:t>spark.sql.catalog.spark_catalog</a:t>
            </a:r>
            <a:r>
              <a:rPr lang="fr-FR" sz="2400" dirty="0"/>
              <a:t>=</a:t>
            </a:r>
            <a:r>
              <a:rPr lang="fr-FR" sz="2400" dirty="0" err="1"/>
              <a:t>org.apache.spark.sql.delta.catalog.DeltaCatalog</a:t>
            </a:r>
            <a:br>
              <a:rPr lang="fr-FR" sz="2400" dirty="0"/>
            </a:br>
            <a:br>
              <a:rPr lang="fr-FR" sz="2400" dirty="0"/>
            </a:br>
            <a:r>
              <a:rPr lang="fr-FR" sz="2400" dirty="0"/>
              <a:t>CREATE TABLE … USING DELTA …      (</a:t>
            </a:r>
            <a:r>
              <a:rPr lang="fr-FR" sz="2400" dirty="0" err="1"/>
              <a:t>instead</a:t>
            </a:r>
            <a:r>
              <a:rPr lang="fr-FR" sz="2400" dirty="0"/>
              <a:t> of STORED AS PARQUET … )</a:t>
            </a:r>
          </a:p>
        </p:txBody>
      </p:sp>
    </p:spTree>
    <p:extLst>
      <p:ext uri="{BB962C8B-B14F-4D97-AF65-F5344CB8AC3E}">
        <p14:creationId xmlns:p14="http://schemas.microsoft.com/office/powerpoint/2010/main" val="142572846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79978D6-95BB-47C0-A240-391CA2752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725"/>
            <a:ext cx="10515600" cy="671513"/>
          </a:xfrm>
        </p:spPr>
        <p:txBody>
          <a:bodyPr>
            <a:normAutofit fontScale="90000"/>
          </a:bodyPr>
          <a:lstStyle/>
          <a:p>
            <a:r>
              <a:rPr lang="fr-FR" dirty="0" err="1"/>
              <a:t>Exercise</a:t>
            </a:r>
            <a:r>
              <a:rPr lang="fr-FR" dirty="0"/>
              <a:t> 27 – Iceberg…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7F5CB32-8385-4288-9B4E-3E641774940B}"/>
              </a:ext>
            </a:extLst>
          </p:cNvPr>
          <p:cNvSpPr txBox="1"/>
          <p:nvPr/>
        </p:nvSpPr>
        <p:spPr>
          <a:xfrm>
            <a:off x="890587" y="824984"/>
            <a:ext cx="846772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>
                <a:hlinkClick r:id="rId2"/>
              </a:rPr>
              <a:t>https://iceberg.apache.org/docs/latest/spark-getting-started/</a:t>
            </a:r>
            <a:r>
              <a:rPr lang="fr-FR" sz="2400" dirty="0"/>
              <a:t> 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9DBA58E9-2C8C-4E63-9E66-3209DBE081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1800500"/>
            <a:ext cx="8139525" cy="4857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053781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EB9B82-1706-4C15-86DF-CBD44B644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Spark + Iceberg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8758246-2A6C-4731-A7B3-FED270C01C79}"/>
              </a:ext>
            </a:extLst>
          </p:cNvPr>
          <p:cNvSpPr txBox="1"/>
          <p:nvPr/>
        </p:nvSpPr>
        <p:spPr>
          <a:xfrm>
            <a:off x="2200276" y="3121580"/>
            <a:ext cx="88344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spark-shell</a:t>
            </a:r>
            <a:r>
              <a:rPr lang="fr-FR" dirty="0"/>
              <a:t> --packages org.apache.iceberg:iceberg-spark-runtime-3.5_2.12:1.10.0</a:t>
            </a:r>
          </a:p>
        </p:txBody>
      </p:sp>
    </p:spTree>
    <p:extLst>
      <p:ext uri="{BB962C8B-B14F-4D97-AF65-F5344CB8AC3E}">
        <p14:creationId xmlns:p14="http://schemas.microsoft.com/office/powerpoint/2010/main" val="252829061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A9FC461-B5D0-43FE-9480-5055F72F9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Self Exploration  (or </a:t>
            </a:r>
            <a:r>
              <a:rPr lang="fr-FR" dirty="0" err="1"/>
              <a:t>HomeWork</a:t>
            </a:r>
            <a:r>
              <a:rPr lang="fr-FR" dirty="0"/>
              <a:t>)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5226C40-C329-4380-BA72-D9CFF1797CB7}"/>
              </a:ext>
            </a:extLst>
          </p:cNvPr>
          <p:cNvSpPr txBox="1"/>
          <p:nvPr/>
        </p:nvSpPr>
        <p:spPr>
          <a:xfrm>
            <a:off x="2752726" y="2633662"/>
            <a:ext cx="5791329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Create</a:t>
            </a:r>
            <a:r>
              <a:rPr lang="fr-FR" sz="2800" dirty="0"/>
              <a:t>   Iceberg Table  for </a:t>
            </a:r>
            <a:r>
              <a:rPr lang="fr-FR" sz="2800" dirty="0" err="1"/>
              <a:t>your</a:t>
            </a:r>
            <a:r>
              <a:rPr lang="fr-FR" sz="2800" dirty="0"/>
              <a:t> </a:t>
            </a:r>
            <a:r>
              <a:rPr lang="fr-FR" sz="2800" dirty="0" err="1"/>
              <a:t>dataset</a:t>
            </a:r>
            <a:endParaRPr lang="fr-FR" sz="2800" dirty="0"/>
          </a:p>
          <a:p>
            <a:endParaRPr lang="fr-FR" sz="2800" dirty="0"/>
          </a:p>
          <a:p>
            <a:r>
              <a:rPr lang="fr-FR" sz="2800" dirty="0" err="1"/>
              <a:t>Execute</a:t>
            </a:r>
            <a:r>
              <a:rPr lang="fr-FR" sz="2800" dirty="0"/>
              <a:t> SQL </a:t>
            </a:r>
            <a:r>
              <a:rPr lang="fr-FR" sz="2800" dirty="0" err="1"/>
              <a:t>query</a:t>
            </a:r>
            <a:r>
              <a:rPr lang="fr-FR" sz="2800" dirty="0"/>
              <a:t> on </a:t>
            </a:r>
            <a:r>
              <a:rPr lang="fr-FR" sz="2800" dirty="0" err="1"/>
              <a:t>it</a:t>
            </a:r>
            <a:endParaRPr lang="fr-FR" sz="2800" dirty="0"/>
          </a:p>
          <a:p>
            <a:endParaRPr lang="fr-FR" sz="2800" dirty="0"/>
          </a:p>
          <a:p>
            <a:r>
              <a:rPr lang="fr-FR" sz="2800" dirty="0" err="1"/>
              <a:t>Execute</a:t>
            </a:r>
            <a:r>
              <a:rPr lang="fr-FR" sz="2800" dirty="0"/>
              <a:t> an UPDATE </a:t>
            </a:r>
            <a:r>
              <a:rPr lang="fr-FR" sz="2800" dirty="0" err="1"/>
              <a:t>Sql</a:t>
            </a:r>
            <a:r>
              <a:rPr lang="fr-FR" sz="2800" dirty="0"/>
              <a:t> </a:t>
            </a:r>
            <a:r>
              <a:rPr lang="fr-FR" sz="2800" dirty="0" err="1"/>
              <a:t>query</a:t>
            </a:r>
            <a:r>
              <a:rPr lang="fr-FR" sz="2800" dirty="0"/>
              <a:t> on </a:t>
            </a:r>
            <a:r>
              <a:rPr lang="fr-FR" sz="2800" dirty="0" err="1"/>
              <a:t>it</a:t>
            </a:r>
            <a:r>
              <a:rPr lang="fr-FR" sz="2800" dirty="0"/>
              <a:t> !</a:t>
            </a:r>
          </a:p>
        </p:txBody>
      </p:sp>
    </p:spTree>
    <p:extLst>
      <p:ext uri="{BB962C8B-B14F-4D97-AF65-F5344CB8AC3E}">
        <p14:creationId xmlns:p14="http://schemas.microsoft.com/office/powerpoint/2010/main" val="17774852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3A85E3-D373-4128-A600-FDC48FA47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Check Read-</a:t>
            </a:r>
            <a:r>
              <a:rPr lang="fr-FR" dirty="0" err="1"/>
              <a:t>Consistency</a:t>
            </a:r>
            <a:r>
              <a:rPr lang="fr-FR" dirty="0"/>
              <a:t> 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3CC836C-E5A7-4907-AE40-596775F2F984}"/>
              </a:ext>
            </a:extLst>
          </p:cNvPr>
          <p:cNvSpPr txBox="1"/>
          <p:nvPr/>
        </p:nvSpPr>
        <p:spPr>
          <a:xfrm>
            <a:off x="1538288" y="2000250"/>
            <a:ext cx="9194953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Open 2   </a:t>
            </a:r>
            <a:r>
              <a:rPr lang="fr-FR" dirty="0" err="1"/>
              <a:t>spark-shells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In terminal 1/   launch </a:t>
            </a:r>
            <a:r>
              <a:rPr lang="fr-FR" dirty="0" err="1"/>
              <a:t>spark-shell</a:t>
            </a:r>
            <a:r>
              <a:rPr lang="fr-FR" dirty="0"/>
              <a:t>….  start </a:t>
            </a:r>
            <a:r>
              <a:rPr lang="fr-FR" dirty="0" err="1"/>
              <a:t>working</a:t>
            </a:r>
            <a:r>
              <a:rPr lang="fr-FR" dirty="0"/>
              <a:t> (</a:t>
            </a:r>
            <a:r>
              <a:rPr lang="fr-FR" dirty="0" err="1"/>
              <a:t>reading</a:t>
            </a:r>
            <a:r>
              <a:rPr lang="fr-FR" dirty="0"/>
              <a:t>) </a:t>
            </a:r>
            <a:r>
              <a:rPr lang="fr-FR" dirty="0" err="1"/>
              <a:t>with</a:t>
            </a:r>
            <a:r>
              <a:rPr lang="fr-FR" dirty="0"/>
              <a:t> an Iceberg Table</a:t>
            </a:r>
          </a:p>
          <a:p>
            <a:r>
              <a:rPr lang="fr-FR" dirty="0"/>
              <a:t>    </a:t>
            </a:r>
          </a:p>
          <a:p>
            <a:endParaRPr lang="fr-FR" dirty="0"/>
          </a:p>
          <a:p>
            <a:r>
              <a:rPr lang="fr-FR" dirty="0"/>
              <a:t>In Terminal 2/    launch </a:t>
            </a:r>
            <a:r>
              <a:rPr lang="fr-FR" dirty="0" err="1"/>
              <a:t>another</a:t>
            </a:r>
            <a:r>
              <a:rPr lang="fr-FR" dirty="0"/>
              <a:t> </a:t>
            </a:r>
            <a:r>
              <a:rPr lang="fr-FR" dirty="0" err="1"/>
              <a:t>spark-shell</a:t>
            </a:r>
            <a:r>
              <a:rPr lang="fr-FR" dirty="0"/>
              <a:t> ….  Do an UPDATE on the Table</a:t>
            </a:r>
          </a:p>
          <a:p>
            <a:endParaRPr lang="fr-FR" dirty="0"/>
          </a:p>
          <a:p>
            <a:r>
              <a:rPr lang="fr-FR" dirty="0" err="1"/>
              <a:t>Then</a:t>
            </a:r>
            <a:r>
              <a:rPr lang="fr-FR" dirty="0"/>
              <a:t>, go back on Terminal 1/ </a:t>
            </a:r>
            <a:br>
              <a:rPr lang="fr-FR" dirty="0"/>
            </a:br>
            <a:r>
              <a:rPr lang="fr-FR" dirty="0"/>
              <a:t>    do </a:t>
            </a:r>
            <a:r>
              <a:rPr lang="fr-FR" dirty="0" err="1"/>
              <a:t>again</a:t>
            </a:r>
            <a:r>
              <a:rPr lang="fr-FR" dirty="0"/>
              <a:t> a </a:t>
            </a:r>
            <a:r>
              <a:rPr lang="fr-FR" dirty="0" err="1"/>
              <a:t>Query</a:t>
            </a:r>
            <a:r>
              <a:rPr lang="fr-FR" dirty="0"/>
              <a:t> on Table  (or continue a long </a:t>
            </a:r>
            <a:r>
              <a:rPr lang="fr-FR" dirty="0" err="1"/>
              <a:t>query</a:t>
            </a:r>
            <a:r>
              <a:rPr lang="fr-FR" dirty="0"/>
              <a:t>)</a:t>
            </a:r>
          </a:p>
          <a:p>
            <a:r>
              <a:rPr lang="fr-FR" dirty="0"/>
              <a:t>     … Check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still</a:t>
            </a:r>
            <a:r>
              <a:rPr lang="fr-FR" dirty="0"/>
              <a:t> </a:t>
            </a:r>
            <a:r>
              <a:rPr lang="fr-FR" dirty="0" err="1"/>
              <a:t>works</a:t>
            </a:r>
            <a:r>
              <a:rPr lang="fr-FR" dirty="0"/>
              <a:t>,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read</a:t>
            </a:r>
            <a:r>
              <a:rPr lang="fr-FR" dirty="0"/>
              <a:t> isolation   (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don’t</a:t>
            </a:r>
            <a:r>
              <a:rPr lang="fr-FR" dirty="0"/>
              <a:t> </a:t>
            </a:r>
            <a:r>
              <a:rPr lang="fr-FR" dirty="0" err="1"/>
              <a:t>see</a:t>
            </a:r>
            <a:r>
              <a:rPr lang="fr-FR" dirty="0"/>
              <a:t> the updates &amp;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does</a:t>
            </a:r>
            <a:r>
              <a:rPr lang="fr-FR" dirty="0"/>
              <a:t> not fail ?)</a:t>
            </a:r>
          </a:p>
        </p:txBody>
      </p:sp>
    </p:spTree>
    <p:extLst>
      <p:ext uri="{BB962C8B-B14F-4D97-AF65-F5344CB8AC3E}">
        <p14:creationId xmlns:p14="http://schemas.microsoft.com/office/powerpoint/2010/main" val="390436561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D21972-074D-44A1-856E-33F376E89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Compare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legacy</a:t>
            </a:r>
            <a:r>
              <a:rPr lang="fr-FR" dirty="0"/>
              <a:t> </a:t>
            </a:r>
            <a:r>
              <a:rPr lang="fr-FR" dirty="0" err="1"/>
              <a:t>Hive</a:t>
            </a:r>
            <a:r>
              <a:rPr lang="fr-FR" dirty="0"/>
              <a:t> (</a:t>
            </a:r>
            <a:r>
              <a:rPr lang="fr-FR" dirty="0" err="1"/>
              <a:t>Partitioned</a:t>
            </a:r>
            <a:r>
              <a:rPr lang="fr-FR" dirty="0"/>
              <a:t>) Table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32773DD-60D3-4FE2-8DE0-838279FCA338}"/>
              </a:ext>
            </a:extLst>
          </p:cNvPr>
          <p:cNvSpPr txBox="1"/>
          <p:nvPr/>
        </p:nvSpPr>
        <p:spPr>
          <a:xfrm>
            <a:off x="1668780" y="2171700"/>
            <a:ext cx="964692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On </a:t>
            </a:r>
            <a:r>
              <a:rPr lang="fr-FR" dirty="0" err="1"/>
              <a:t>Legacy</a:t>
            </a:r>
            <a:r>
              <a:rPr lang="fr-FR" dirty="0"/>
              <a:t> </a:t>
            </a:r>
            <a:r>
              <a:rPr lang="fr-FR" dirty="0" err="1"/>
              <a:t>Hive</a:t>
            </a:r>
            <a:r>
              <a:rPr lang="fr-FR" dirty="0"/>
              <a:t> (</a:t>
            </a:r>
            <a:r>
              <a:rPr lang="fr-FR" dirty="0" err="1"/>
              <a:t>Partitioned</a:t>
            </a:r>
            <a:r>
              <a:rPr lang="fr-FR" dirty="0"/>
              <a:t>) Table</a:t>
            </a:r>
          </a:p>
          <a:p>
            <a:endParaRPr lang="fr-FR" dirty="0"/>
          </a:p>
          <a:p>
            <a:r>
              <a:rPr lang="fr-FR" dirty="0"/>
              <a:t>You can ONLY </a:t>
            </a:r>
            <a:r>
              <a:rPr lang="fr-FR" dirty="0" err="1"/>
              <a:t>fully</a:t>
            </a:r>
            <a:r>
              <a:rPr lang="fr-FR" dirty="0"/>
              <a:t> </a:t>
            </a:r>
            <a:r>
              <a:rPr lang="fr-FR" dirty="0" err="1"/>
              <a:t>overwrite</a:t>
            </a:r>
            <a:r>
              <a:rPr lang="fr-FR" dirty="0"/>
              <a:t>  (~ « Update »)  a partition</a:t>
            </a:r>
          </a:p>
          <a:p>
            <a:endParaRPr lang="fr-FR" dirty="0"/>
          </a:p>
          <a:p>
            <a:r>
              <a:rPr lang="fr-FR" dirty="0"/>
              <a:t>If a Table </a:t>
            </a:r>
            <a:r>
              <a:rPr lang="fr-FR" dirty="0" err="1"/>
              <a:t>is</a:t>
            </a:r>
            <a:r>
              <a:rPr lang="fr-FR" dirty="0"/>
              <a:t> NOT </a:t>
            </a:r>
            <a:r>
              <a:rPr lang="fr-FR" dirty="0" err="1"/>
              <a:t>partitioned</a:t>
            </a:r>
            <a:r>
              <a:rPr lang="fr-FR" dirty="0"/>
              <a:t> =&gt; </a:t>
            </a:r>
            <a:r>
              <a:rPr lang="fr-FR" dirty="0" err="1"/>
              <a:t>yuo</a:t>
            </a:r>
            <a:r>
              <a:rPr lang="fr-FR" dirty="0"/>
              <a:t> can </a:t>
            </a:r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fully</a:t>
            </a:r>
            <a:r>
              <a:rPr lang="fr-FR" dirty="0"/>
              <a:t> </a:t>
            </a:r>
            <a:r>
              <a:rPr lang="fr-FR" dirty="0" err="1"/>
              <a:t>overwrite</a:t>
            </a:r>
            <a:r>
              <a:rPr lang="fr-FR" dirty="0"/>
              <a:t> the full table</a:t>
            </a:r>
          </a:p>
          <a:p>
            <a:endParaRPr lang="fr-FR" dirty="0"/>
          </a:p>
          <a:p>
            <a:r>
              <a:rPr lang="fr-FR" dirty="0"/>
              <a:t>… This </a:t>
            </a:r>
            <a:r>
              <a:rPr lang="fr-FR" dirty="0" err="1"/>
              <a:t>is</a:t>
            </a:r>
            <a:r>
              <a:rPr lang="fr-FR" dirty="0"/>
              <a:t> not an Atomic update</a:t>
            </a:r>
          </a:p>
          <a:p>
            <a:r>
              <a:rPr lang="fr-FR" dirty="0"/>
              <a:t>And not READ ISOLATED !</a:t>
            </a:r>
          </a:p>
          <a:p>
            <a:endParaRPr lang="fr-FR" dirty="0"/>
          </a:p>
          <a:p>
            <a:r>
              <a:rPr lang="fr-FR" dirty="0"/>
              <a:t>Check </a:t>
            </a:r>
            <a:r>
              <a:rPr lang="fr-FR" dirty="0" err="1"/>
              <a:t>that</a:t>
            </a:r>
            <a:r>
              <a:rPr lang="fr-FR" dirty="0"/>
              <a:t> 2 concurrent sessions of </a:t>
            </a:r>
            <a:r>
              <a:rPr lang="fr-FR" dirty="0" err="1"/>
              <a:t>spark</a:t>
            </a:r>
            <a:r>
              <a:rPr lang="fr-FR" dirty="0"/>
              <a:t> </a:t>
            </a:r>
            <a:r>
              <a:rPr lang="fr-FR" dirty="0" err="1"/>
              <a:t>will</a:t>
            </a:r>
            <a:r>
              <a:rPr lang="fr-FR" dirty="0"/>
              <a:t> FAIL  :   </a:t>
            </a:r>
          </a:p>
          <a:p>
            <a:r>
              <a:rPr lang="fr-FR" dirty="0" err="1"/>
              <a:t>After</a:t>
            </a:r>
            <a:r>
              <a:rPr lang="fr-FR" dirty="0"/>
              <a:t> an Update,  the Spark session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try</a:t>
            </a:r>
            <a:r>
              <a:rPr lang="fr-FR" dirty="0"/>
              <a:t> to </a:t>
            </a:r>
            <a:r>
              <a:rPr lang="fr-FR" dirty="0" err="1"/>
              <a:t>read</a:t>
            </a:r>
            <a:r>
              <a:rPr lang="fr-FR" dirty="0"/>
              <a:t> the (</a:t>
            </a:r>
            <a:r>
              <a:rPr lang="fr-FR" dirty="0" err="1"/>
              <a:t>old</a:t>
            </a:r>
            <a:r>
              <a:rPr lang="fr-FR" dirty="0"/>
              <a:t> files of ) the table FAIL </a:t>
            </a:r>
            <a:r>
              <a:rPr lang="fr-FR" dirty="0" err="1"/>
              <a:t>miserably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863773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DF82C-157F-9B9D-067E-1C75301BB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7648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28 : </a:t>
            </a:r>
            <a:r>
              <a:rPr lang="fr-FR" dirty="0" err="1"/>
              <a:t>MindMap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5F23C2-BFF4-138E-223D-CE00D8253FB3}"/>
              </a:ext>
            </a:extLst>
          </p:cNvPr>
          <p:cNvSpPr txBox="1"/>
          <p:nvPr/>
        </p:nvSpPr>
        <p:spPr>
          <a:xfrm>
            <a:off x="1589859" y="1976630"/>
            <a:ext cx="9603270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Draw</a:t>
            </a:r>
            <a:r>
              <a:rPr lang="fr-FR" sz="2800" dirty="0"/>
              <a:t> a </a:t>
            </a:r>
            <a:r>
              <a:rPr lang="fr-FR" sz="2800" dirty="0" err="1"/>
              <a:t>MindMap</a:t>
            </a:r>
            <a:r>
              <a:rPr lang="fr-FR" sz="2800" dirty="0"/>
              <a:t> to </a:t>
            </a:r>
            <a:r>
              <a:rPr lang="fr-FR" sz="2800" dirty="0" err="1"/>
              <a:t>summarize</a:t>
            </a:r>
            <a:r>
              <a:rPr lang="fr-FR" sz="2800" dirty="0"/>
              <a:t> </a:t>
            </a:r>
          </a:p>
          <a:p>
            <a:r>
              <a:rPr lang="fr-FR" sz="2800" dirty="0" err="1"/>
              <a:t>what</a:t>
            </a:r>
            <a:r>
              <a:rPr lang="fr-FR" sz="2800" dirty="0"/>
              <a:t> </a:t>
            </a:r>
            <a:r>
              <a:rPr lang="fr-FR" sz="2800" dirty="0" err="1"/>
              <a:t>you</a:t>
            </a:r>
            <a:r>
              <a:rPr lang="fr-FR" sz="2800" dirty="0"/>
              <a:t> </a:t>
            </a:r>
            <a:r>
              <a:rPr lang="fr-FR" sz="2800" dirty="0" err="1"/>
              <a:t>did</a:t>
            </a:r>
            <a:r>
              <a:rPr lang="fr-FR" sz="2800" dirty="0"/>
              <a:t> and </a:t>
            </a:r>
            <a:r>
              <a:rPr lang="fr-FR" sz="2800" dirty="0" err="1"/>
              <a:t>learn</a:t>
            </a:r>
            <a:r>
              <a:rPr lang="fr-FR" sz="2800" dirty="0"/>
              <a:t> </a:t>
            </a:r>
            <a:r>
              <a:rPr lang="fr-FR" sz="2800" dirty="0" err="1"/>
              <a:t>from</a:t>
            </a:r>
            <a:r>
              <a:rPr lang="fr-FR" sz="2800" dirty="0"/>
              <a:t> </a:t>
            </a:r>
            <a:r>
              <a:rPr lang="fr-FR" sz="2800" dirty="0" err="1"/>
              <a:t>this</a:t>
            </a:r>
            <a:r>
              <a:rPr lang="fr-FR" sz="2800" dirty="0"/>
              <a:t> Hands-On session</a:t>
            </a:r>
          </a:p>
          <a:p>
            <a:endParaRPr lang="fr-FR" sz="2800" dirty="0"/>
          </a:p>
          <a:p>
            <a:endParaRPr lang="fr-FR" sz="2800" dirty="0"/>
          </a:p>
          <a:p>
            <a:r>
              <a:rPr lang="fr-FR" sz="2800" dirty="0" err="1"/>
              <a:t>Your</a:t>
            </a:r>
            <a:r>
              <a:rPr lang="fr-FR" sz="2800" dirty="0"/>
              <a:t> </a:t>
            </a:r>
            <a:r>
              <a:rPr lang="fr-FR" sz="2800" dirty="0" err="1"/>
              <a:t>MindMap</a:t>
            </a:r>
            <a:r>
              <a:rPr lang="fr-FR" sz="2800" dirty="0"/>
              <a:t> </a:t>
            </a:r>
            <a:r>
              <a:rPr lang="fr-FR" sz="2800" dirty="0" err="1"/>
              <a:t>should</a:t>
            </a:r>
            <a:r>
              <a:rPr lang="fr-FR" sz="2800" dirty="0"/>
              <a:t> </a:t>
            </a:r>
          </a:p>
          <a:p>
            <a:r>
              <a:rPr lang="fr-FR" sz="2800" dirty="0"/>
              <a:t>start </a:t>
            </a:r>
            <a:r>
              <a:rPr lang="fr-FR" sz="2800" dirty="0" err="1"/>
              <a:t>with</a:t>
            </a:r>
            <a:r>
              <a:rPr lang="fr-FR" sz="2800" dirty="0"/>
              <a:t> </a:t>
            </a:r>
            <a:r>
              <a:rPr lang="fr-FR" sz="2800" dirty="0" err="1"/>
              <a:t>word</a:t>
            </a:r>
            <a:r>
              <a:rPr lang="fr-FR" sz="2800" dirty="0"/>
              <a:t> « Spark </a:t>
            </a:r>
            <a:r>
              <a:rPr lang="fr-FR" sz="2800" dirty="0" err="1"/>
              <a:t>Catalog</a:t>
            </a:r>
            <a:r>
              <a:rPr lang="fr-FR" sz="2800" dirty="0"/>
              <a:t> - </a:t>
            </a:r>
            <a:r>
              <a:rPr lang="fr-FR" sz="2800" dirty="0" err="1"/>
              <a:t>Metastore</a:t>
            </a:r>
            <a:r>
              <a:rPr lang="fr-FR" sz="2800" dirty="0"/>
              <a:t>» in the middle</a:t>
            </a:r>
          </a:p>
          <a:p>
            <a:r>
              <a:rPr lang="fr-FR" sz="2800" dirty="0" err="1"/>
              <a:t>Then</a:t>
            </a:r>
            <a:r>
              <a:rPr lang="fr-FR" sz="2800" dirty="0"/>
              <a:t> </a:t>
            </a:r>
            <a:r>
              <a:rPr lang="fr-FR" sz="2800" dirty="0" err="1"/>
              <a:t>draw</a:t>
            </a:r>
            <a:r>
              <a:rPr lang="fr-FR" sz="2800" dirty="0"/>
              <a:t> star </a:t>
            </a:r>
            <a:r>
              <a:rPr lang="fr-FR" sz="2800" dirty="0" err="1"/>
              <a:t>edges</a:t>
            </a:r>
            <a:r>
              <a:rPr lang="fr-FR" sz="2800" dirty="0"/>
              <a:t> to </a:t>
            </a:r>
            <a:r>
              <a:rPr lang="fr-FR" sz="2800" dirty="0" err="1"/>
              <a:t>other</a:t>
            </a:r>
            <a:r>
              <a:rPr lang="fr-FR" sz="2800" dirty="0"/>
              <a:t> </a:t>
            </a:r>
            <a:r>
              <a:rPr lang="fr-FR" sz="2800" dirty="0" err="1"/>
              <a:t>word</a:t>
            </a:r>
            <a:r>
              <a:rPr lang="fr-FR" sz="2800" dirty="0"/>
              <a:t> </a:t>
            </a:r>
            <a:r>
              <a:rPr lang="fr-FR" sz="2800" dirty="0" err="1"/>
              <a:t>chapters</a:t>
            </a:r>
            <a:r>
              <a:rPr lang="fr-FR" sz="2800" dirty="0"/>
              <a:t> and </a:t>
            </a:r>
            <a:r>
              <a:rPr lang="fr-FR" sz="2800" dirty="0" err="1"/>
              <a:t>sub-chapters</a:t>
            </a:r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175685163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9C29C-E452-D9F8-B157-69024E3E6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530"/>
            <a:ext cx="10515600" cy="715218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27: </a:t>
            </a:r>
            <a:r>
              <a:rPr lang="fr-FR" dirty="0" err="1"/>
              <a:t>MindMap</a:t>
            </a:r>
            <a:endParaRPr lang="fr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1E9D8F-71D1-3907-DF02-20756D44B17F}"/>
              </a:ext>
            </a:extLst>
          </p:cNvPr>
          <p:cNvSpPr txBox="1"/>
          <p:nvPr/>
        </p:nvSpPr>
        <p:spPr>
          <a:xfrm>
            <a:off x="4153640" y="3364182"/>
            <a:ext cx="35344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/>
              <a:t>Spark </a:t>
            </a:r>
            <a:r>
              <a:rPr lang="fr-FR" sz="2400" b="1" dirty="0" err="1"/>
              <a:t>Catalog</a:t>
            </a:r>
            <a:r>
              <a:rPr lang="fr-FR" sz="2400" b="1" dirty="0"/>
              <a:t> - </a:t>
            </a:r>
            <a:r>
              <a:rPr lang="fr-FR" sz="2400" b="1" dirty="0" err="1"/>
              <a:t>Metastore</a:t>
            </a:r>
            <a:endParaRPr lang="fr-FR" sz="2400" b="1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829BAEB-87DD-6E70-FC24-2DE82E3C6027}"/>
              </a:ext>
            </a:extLst>
          </p:cNvPr>
          <p:cNvCxnSpPr/>
          <p:nvPr/>
        </p:nvCxnSpPr>
        <p:spPr>
          <a:xfrm flipV="1">
            <a:off x="7659936" y="2783875"/>
            <a:ext cx="602707" cy="482473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0355AD-673C-208B-7904-B37E10BDDFAA}"/>
              </a:ext>
            </a:extLst>
          </p:cNvPr>
          <p:cNvCxnSpPr>
            <a:cxnSpLocks/>
          </p:cNvCxnSpPr>
          <p:nvPr/>
        </p:nvCxnSpPr>
        <p:spPr>
          <a:xfrm>
            <a:off x="5898779" y="3952770"/>
            <a:ext cx="394441" cy="78064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DDDA027-32D6-8459-E9C7-01F4A7FAF453}"/>
              </a:ext>
            </a:extLst>
          </p:cNvPr>
          <p:cNvCxnSpPr>
            <a:cxnSpLocks/>
          </p:cNvCxnSpPr>
          <p:nvPr/>
        </p:nvCxnSpPr>
        <p:spPr>
          <a:xfrm flipH="1">
            <a:off x="4845623" y="3988799"/>
            <a:ext cx="391708" cy="74603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D15CB16-4757-10E0-1EB7-5F591949D6E7}"/>
              </a:ext>
            </a:extLst>
          </p:cNvPr>
          <p:cNvCxnSpPr>
            <a:cxnSpLocks/>
          </p:cNvCxnSpPr>
          <p:nvPr/>
        </p:nvCxnSpPr>
        <p:spPr>
          <a:xfrm>
            <a:off x="6846858" y="3772779"/>
            <a:ext cx="841204" cy="32426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FC7ABBE-4499-EFF3-711D-7611CE4E2FD9}"/>
              </a:ext>
            </a:extLst>
          </p:cNvPr>
          <p:cNvCxnSpPr>
            <a:cxnSpLocks/>
          </p:cNvCxnSpPr>
          <p:nvPr/>
        </p:nvCxnSpPr>
        <p:spPr>
          <a:xfrm flipH="1" flipV="1">
            <a:off x="4153640" y="2929954"/>
            <a:ext cx="561850" cy="39113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D74D5A7-8688-0BA0-4F4B-17154B492D4B}"/>
              </a:ext>
            </a:extLst>
          </p:cNvPr>
          <p:cNvCxnSpPr>
            <a:cxnSpLocks/>
          </p:cNvCxnSpPr>
          <p:nvPr/>
        </p:nvCxnSpPr>
        <p:spPr>
          <a:xfrm flipH="1">
            <a:off x="3416994" y="3764780"/>
            <a:ext cx="825228" cy="28508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75C362A-B1ED-7153-F7B8-2B8612F92CE8}"/>
              </a:ext>
            </a:extLst>
          </p:cNvPr>
          <p:cNvSpPr txBox="1"/>
          <p:nvPr/>
        </p:nvSpPr>
        <p:spPr>
          <a:xfrm>
            <a:off x="7939328" y="2287620"/>
            <a:ext cx="1750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createTempView</a:t>
            </a:r>
            <a:endParaRPr lang="fr-FR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8001B9-3552-9E06-E743-ECFF04678368}"/>
              </a:ext>
            </a:extLst>
          </p:cNvPr>
          <p:cNvSpPr txBox="1"/>
          <p:nvPr/>
        </p:nvSpPr>
        <p:spPr>
          <a:xfrm>
            <a:off x="8052857" y="1186736"/>
            <a:ext cx="2035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SQL on java </a:t>
            </a:r>
            <a:r>
              <a:rPr lang="fr-FR" dirty="0" err="1"/>
              <a:t>Dataset</a:t>
            </a:r>
            <a:endParaRPr lang="fr-FR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7AF6ECE-ADEA-8BE8-BECC-C1CF5CB72B67}"/>
              </a:ext>
            </a:extLst>
          </p:cNvPr>
          <p:cNvCxnSpPr>
            <a:cxnSpLocks/>
          </p:cNvCxnSpPr>
          <p:nvPr/>
        </p:nvCxnSpPr>
        <p:spPr>
          <a:xfrm flipH="1" flipV="1">
            <a:off x="8481592" y="1484785"/>
            <a:ext cx="258460" cy="845623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115E604-A250-3A33-DACE-87796DEFB9DA}"/>
              </a:ext>
            </a:extLst>
          </p:cNvPr>
          <p:cNvCxnSpPr>
            <a:cxnSpLocks/>
          </p:cNvCxnSpPr>
          <p:nvPr/>
        </p:nvCxnSpPr>
        <p:spPr>
          <a:xfrm flipV="1">
            <a:off x="9210570" y="2200624"/>
            <a:ext cx="622161" cy="12978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52AD2D3-70A5-F9C8-1CD6-FA9EAA029AFB}"/>
              </a:ext>
            </a:extLst>
          </p:cNvPr>
          <p:cNvSpPr txBox="1"/>
          <p:nvPr/>
        </p:nvSpPr>
        <p:spPr>
          <a:xfrm>
            <a:off x="9832731" y="1961076"/>
            <a:ext cx="22118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Describe</a:t>
            </a:r>
            <a:r>
              <a:rPr lang="fr-FR" dirty="0"/>
              <a:t> table .OK</a:t>
            </a:r>
            <a:br>
              <a:rPr lang="fr-FR" dirty="0"/>
            </a:br>
            <a:r>
              <a:rPr lang="fr-FR" dirty="0"/>
              <a:t>show </a:t>
            </a:r>
            <a:r>
              <a:rPr lang="fr-FR" dirty="0" err="1"/>
              <a:t>Create</a:t>
            </a:r>
            <a:r>
              <a:rPr lang="fr-FR" dirty="0"/>
              <a:t> Table KO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FC759FF-AA10-318B-262D-9A29DFFAF519}"/>
              </a:ext>
            </a:extLst>
          </p:cNvPr>
          <p:cNvCxnSpPr>
            <a:cxnSpLocks/>
          </p:cNvCxnSpPr>
          <p:nvPr/>
        </p:nvCxnSpPr>
        <p:spPr>
          <a:xfrm flipV="1">
            <a:off x="8982205" y="1856964"/>
            <a:ext cx="284142" cy="42727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BA93DB4-07C6-33C3-80EF-E7648BEC0FFB}"/>
              </a:ext>
            </a:extLst>
          </p:cNvPr>
          <p:cNvSpPr txBox="1"/>
          <p:nvPr/>
        </p:nvSpPr>
        <p:spPr>
          <a:xfrm>
            <a:off x="9111418" y="1493558"/>
            <a:ext cx="1137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List Tables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078494-157D-9F7F-C693-D47143176F85}"/>
              </a:ext>
            </a:extLst>
          </p:cNvPr>
          <p:cNvSpPr txBox="1"/>
          <p:nvPr/>
        </p:nvSpPr>
        <p:spPr>
          <a:xfrm>
            <a:off x="7746881" y="3825847"/>
            <a:ext cx="2356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createGlobalTempView</a:t>
            </a:r>
            <a:endParaRPr lang="fr-FR" dirty="0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5775F8A-2631-629A-84E2-C6CE5B26B6DA}"/>
              </a:ext>
            </a:extLst>
          </p:cNvPr>
          <p:cNvCxnSpPr>
            <a:cxnSpLocks/>
          </p:cNvCxnSpPr>
          <p:nvPr/>
        </p:nvCxnSpPr>
        <p:spPr>
          <a:xfrm>
            <a:off x="9189372" y="4195179"/>
            <a:ext cx="622829" cy="240993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4F829D7-A56E-AB5E-CB2D-AC7F1E272D04}"/>
              </a:ext>
            </a:extLst>
          </p:cNvPr>
          <p:cNvSpPr txBox="1"/>
          <p:nvPr/>
        </p:nvSpPr>
        <p:spPr>
          <a:xfrm>
            <a:off x="10019116" y="4087083"/>
            <a:ext cx="17979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« </a:t>
            </a:r>
            <a:r>
              <a:rPr lang="fr-FR" dirty="0" err="1"/>
              <a:t>global_temp</a:t>
            </a:r>
            <a:r>
              <a:rPr lang="fr-FR" dirty="0"/>
              <a:t> »</a:t>
            </a:r>
            <a:br>
              <a:rPr lang="fr-FR" dirty="0"/>
            </a:br>
            <a:r>
              <a:rPr lang="fr-FR" dirty="0" err="1"/>
              <a:t>hidden</a:t>
            </a:r>
            <a:r>
              <a:rPr lang="fr-FR" dirty="0"/>
              <a:t> </a:t>
            </a:r>
            <a:r>
              <a:rPr lang="fr-FR" dirty="0" err="1"/>
              <a:t>Database</a:t>
            </a:r>
            <a:endParaRPr lang="fr-FR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2A1ADC1-E600-9A2D-EC05-DC0CEC2CE63A}"/>
              </a:ext>
            </a:extLst>
          </p:cNvPr>
          <p:cNvCxnSpPr>
            <a:cxnSpLocks/>
          </p:cNvCxnSpPr>
          <p:nvPr/>
        </p:nvCxnSpPr>
        <p:spPr>
          <a:xfrm>
            <a:off x="8819725" y="4195179"/>
            <a:ext cx="268202" cy="52697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1D70078-5892-50B3-7848-77FC11C8D8BF}"/>
              </a:ext>
            </a:extLst>
          </p:cNvPr>
          <p:cNvSpPr txBox="1"/>
          <p:nvPr/>
        </p:nvSpPr>
        <p:spPr>
          <a:xfrm>
            <a:off x="8439263" y="4779580"/>
            <a:ext cx="2247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Global=Multi Sessions</a:t>
            </a:r>
            <a:br>
              <a:rPr lang="fr-FR" dirty="0"/>
            </a:br>
            <a:r>
              <a:rPr lang="fr-FR" dirty="0"/>
              <a:t> (</a:t>
            </a:r>
            <a:r>
              <a:rPr lang="fr-FR" dirty="0" err="1"/>
              <a:t>SparkContext</a:t>
            </a:r>
            <a:r>
              <a:rPr lang="fr-FR" dirty="0"/>
              <a:t>)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4CD06EF-3632-AF20-D762-DE5954DF66EC}"/>
              </a:ext>
            </a:extLst>
          </p:cNvPr>
          <p:cNvCxnSpPr>
            <a:cxnSpLocks/>
          </p:cNvCxnSpPr>
          <p:nvPr/>
        </p:nvCxnSpPr>
        <p:spPr>
          <a:xfrm flipH="1">
            <a:off x="8042716" y="4183922"/>
            <a:ext cx="352158" cy="42336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AE9EED8C-EDA8-D3B1-9A93-2AD3B77BAEAF}"/>
              </a:ext>
            </a:extLst>
          </p:cNvPr>
          <p:cNvSpPr txBox="1"/>
          <p:nvPr/>
        </p:nvSpPr>
        <p:spPr>
          <a:xfrm>
            <a:off x="7377591" y="4607289"/>
            <a:ext cx="117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temporary</a:t>
            </a:r>
            <a:endParaRPr lang="fr-FR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0A8EAFA-AC44-D765-8101-5648F2595210}"/>
              </a:ext>
            </a:extLst>
          </p:cNvPr>
          <p:cNvSpPr txBox="1"/>
          <p:nvPr/>
        </p:nvSpPr>
        <p:spPr>
          <a:xfrm>
            <a:off x="5743852" y="5069150"/>
            <a:ext cx="1590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HiveMetaStore</a:t>
            </a:r>
            <a:endParaRPr lang="fr-FR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0C50008-0C76-A2B0-0CE1-0171247E95D4}"/>
              </a:ext>
            </a:extLst>
          </p:cNvPr>
          <p:cNvCxnSpPr>
            <a:cxnSpLocks/>
          </p:cNvCxnSpPr>
          <p:nvPr/>
        </p:nvCxnSpPr>
        <p:spPr>
          <a:xfrm flipH="1">
            <a:off x="5557421" y="5438482"/>
            <a:ext cx="735799" cy="61273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D75FE302-13A8-1EA0-44AF-D096D79ACB0D}"/>
              </a:ext>
            </a:extLst>
          </p:cNvPr>
          <p:cNvSpPr txBox="1"/>
          <p:nvPr/>
        </p:nvSpPr>
        <p:spPr>
          <a:xfrm>
            <a:off x="4956103" y="6047682"/>
            <a:ext cx="18658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Plain </a:t>
            </a:r>
            <a:r>
              <a:rPr lang="fr-FR" dirty="0" err="1"/>
              <a:t>old</a:t>
            </a:r>
            <a:r>
              <a:rPr lang="fr-FR" dirty="0"/>
              <a:t> server, </a:t>
            </a:r>
            <a:br>
              <a:rPr lang="fr-FR" dirty="0"/>
            </a:b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relational</a:t>
            </a:r>
            <a:r>
              <a:rPr lang="fr-FR" dirty="0"/>
              <a:t> DB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D5CB3C5-A6BF-CB7D-E360-959D9DE5E736}"/>
              </a:ext>
            </a:extLst>
          </p:cNvPr>
          <p:cNvCxnSpPr>
            <a:cxnSpLocks/>
          </p:cNvCxnSpPr>
          <p:nvPr/>
        </p:nvCxnSpPr>
        <p:spPr>
          <a:xfrm>
            <a:off x="6812886" y="5426322"/>
            <a:ext cx="269565" cy="361031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42D8ADD0-41AF-B9E7-9D15-4F1F350BD84F}"/>
              </a:ext>
            </a:extLst>
          </p:cNvPr>
          <p:cNvSpPr txBox="1"/>
          <p:nvPr/>
        </p:nvSpPr>
        <p:spPr>
          <a:xfrm>
            <a:off x="7132677" y="5825228"/>
            <a:ext cx="13172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Do not use!</a:t>
            </a:r>
          </a:p>
          <a:p>
            <a:r>
              <a:rPr lang="fr-FR" dirty="0"/>
              <a:t>HiveServer2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A342366-C260-347F-1B33-D6CC88226CB8}"/>
              </a:ext>
            </a:extLst>
          </p:cNvPr>
          <p:cNvSpPr txBox="1"/>
          <p:nvPr/>
        </p:nvSpPr>
        <p:spPr>
          <a:xfrm>
            <a:off x="1898276" y="5368628"/>
            <a:ext cx="182505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Search</a:t>
            </a:r>
            <a:r>
              <a:rPr lang="fr-FR" dirty="0"/>
              <a:t> +</a:t>
            </a:r>
            <a:br>
              <a:rPr lang="fr-FR" dirty="0"/>
            </a:br>
            <a:r>
              <a:rPr lang="fr-FR" dirty="0"/>
              <a:t>Download</a:t>
            </a:r>
            <a:br>
              <a:rPr lang="fr-FR" dirty="0"/>
            </a:br>
            <a:r>
              <a:rPr lang="fr-FR" dirty="0"/>
              <a:t>jar</a:t>
            </a:r>
          </a:p>
          <a:p>
            <a:r>
              <a:rPr lang="fr-FR" dirty="0"/>
              <a:t>(</a:t>
            </a:r>
            <a:r>
              <a:rPr lang="fr-FR" dirty="0" err="1"/>
              <a:t>postgres,derby</a:t>
            </a:r>
            <a:r>
              <a:rPr lang="fr-FR" dirty="0"/>
              <a:t>..)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0C9E60-F51D-BE50-A9BE-28050B4CC426}"/>
              </a:ext>
            </a:extLst>
          </p:cNvPr>
          <p:cNvSpPr txBox="1"/>
          <p:nvPr/>
        </p:nvSpPr>
        <p:spPr>
          <a:xfrm>
            <a:off x="1861042" y="3629604"/>
            <a:ext cx="1672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Configure Spark</a:t>
            </a:r>
          </a:p>
          <a:p>
            <a:r>
              <a:rPr lang="fr-FR" dirty="0" err="1"/>
              <a:t>ExternalCatalog</a:t>
            </a:r>
            <a:endParaRPr lang="fr-FR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E332399-E85E-2E0B-E886-885B122A99B0}"/>
              </a:ext>
            </a:extLst>
          </p:cNvPr>
          <p:cNvSpPr txBox="1"/>
          <p:nvPr/>
        </p:nvSpPr>
        <p:spPr>
          <a:xfrm>
            <a:off x="3284498" y="4578085"/>
            <a:ext cx="23162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Config</a:t>
            </a:r>
          </a:p>
          <a:p>
            <a:r>
              <a:rPr lang="fr-FR" dirty="0"/>
              <a:t>HADOOP_CONFIG_DIR</a:t>
            </a:r>
          </a:p>
          <a:p>
            <a:r>
              <a:rPr lang="fr-FR" dirty="0"/>
              <a:t> (or HADOOP_HOME)</a:t>
            </a:r>
          </a:p>
          <a:p>
            <a:r>
              <a:rPr lang="fr-FR" dirty="0"/>
              <a:t>   /hive-site.xml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5F376094-9B17-1200-3661-6ACE54CFCD33}"/>
              </a:ext>
            </a:extLst>
          </p:cNvPr>
          <p:cNvCxnSpPr>
            <a:cxnSpLocks/>
            <a:endCxn id="49" idx="0"/>
          </p:cNvCxnSpPr>
          <p:nvPr/>
        </p:nvCxnSpPr>
        <p:spPr>
          <a:xfrm flipH="1">
            <a:off x="2810802" y="4269820"/>
            <a:ext cx="316940" cy="109880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C86B33F-38F9-0E41-C0F7-937442403232}"/>
              </a:ext>
            </a:extLst>
          </p:cNvPr>
          <p:cNvCxnSpPr>
            <a:cxnSpLocks/>
          </p:cNvCxnSpPr>
          <p:nvPr/>
        </p:nvCxnSpPr>
        <p:spPr>
          <a:xfrm flipH="1">
            <a:off x="1861042" y="4269820"/>
            <a:ext cx="577642" cy="30826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FD2E1285-B9A0-6F2C-3CFF-175604489F36}"/>
              </a:ext>
            </a:extLst>
          </p:cNvPr>
          <p:cNvSpPr txBox="1"/>
          <p:nvPr/>
        </p:nvSpPr>
        <p:spPr>
          <a:xfrm>
            <a:off x="113642" y="4269820"/>
            <a:ext cx="2701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--conf </a:t>
            </a:r>
            <a:r>
              <a:rPr lang="fr-FR" dirty="0" err="1"/>
              <a:t>spark.sql</a:t>
            </a:r>
            <a:r>
              <a:rPr lang="fr-FR" dirty="0"/>
              <a:t>.</a:t>
            </a:r>
            <a:br>
              <a:rPr lang="fr-FR" dirty="0"/>
            </a:br>
            <a:r>
              <a:rPr lang="fr-FR" dirty="0"/>
              <a:t>  </a:t>
            </a:r>
            <a:r>
              <a:rPr lang="fr-FR" sz="1800" dirty="0" err="1"/>
              <a:t>catalogImplementation</a:t>
            </a:r>
            <a:r>
              <a:rPr lang="fr-FR" sz="1800" dirty="0"/>
              <a:t>=..</a:t>
            </a:r>
            <a:endParaRPr lang="fr-FR" dirty="0"/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C22CA46-0B76-5EC8-4B8F-8C07821F5B07}"/>
              </a:ext>
            </a:extLst>
          </p:cNvPr>
          <p:cNvCxnSpPr>
            <a:cxnSpLocks/>
          </p:cNvCxnSpPr>
          <p:nvPr/>
        </p:nvCxnSpPr>
        <p:spPr>
          <a:xfrm flipH="1">
            <a:off x="549163" y="4916151"/>
            <a:ext cx="599971" cy="33766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264ABF3E-0A79-F522-BEA3-930E37A3D613}"/>
              </a:ext>
            </a:extLst>
          </p:cNvPr>
          <p:cNvCxnSpPr>
            <a:cxnSpLocks/>
          </p:cNvCxnSpPr>
          <p:nvPr/>
        </p:nvCxnSpPr>
        <p:spPr>
          <a:xfrm flipH="1">
            <a:off x="1287648" y="4936581"/>
            <a:ext cx="9257" cy="53828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21EC8CC-C84D-ADFA-DB93-6404DB1D4C7C}"/>
              </a:ext>
            </a:extLst>
          </p:cNvPr>
          <p:cNvSpPr txBox="1"/>
          <p:nvPr/>
        </p:nvSpPr>
        <p:spPr>
          <a:xfrm>
            <a:off x="17481" y="5188395"/>
            <a:ext cx="12213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in-memory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B46EF58-DBD8-F871-6630-FD8B694D6A93}"/>
              </a:ext>
            </a:extLst>
          </p:cNvPr>
          <p:cNvSpPr txBox="1"/>
          <p:nvPr/>
        </p:nvSpPr>
        <p:spPr>
          <a:xfrm>
            <a:off x="1023445" y="5495297"/>
            <a:ext cx="5767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hive</a:t>
            </a:r>
            <a:endParaRPr lang="fr-FR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E36CD74-6A11-BEA8-95D1-AE9AC71F294F}"/>
              </a:ext>
            </a:extLst>
          </p:cNvPr>
          <p:cNvSpPr txBox="1"/>
          <p:nvPr/>
        </p:nvSpPr>
        <p:spPr>
          <a:xfrm>
            <a:off x="3339730" y="2529260"/>
            <a:ext cx="979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SQL DDL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51082316-623E-C804-8DCA-ED6473A346E3}"/>
              </a:ext>
            </a:extLst>
          </p:cNvPr>
          <p:cNvCxnSpPr>
            <a:cxnSpLocks/>
            <a:stCxn id="71" idx="1"/>
            <a:endCxn id="109" idx="3"/>
          </p:cNvCxnSpPr>
          <p:nvPr/>
        </p:nvCxnSpPr>
        <p:spPr>
          <a:xfrm flipH="1">
            <a:off x="2578435" y="2713926"/>
            <a:ext cx="761295" cy="16601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7C0C8C46-CC43-93FB-C513-772E9CA4C71F}"/>
              </a:ext>
            </a:extLst>
          </p:cNvPr>
          <p:cNvCxnSpPr>
            <a:cxnSpLocks/>
          </p:cNvCxnSpPr>
          <p:nvPr/>
        </p:nvCxnSpPr>
        <p:spPr>
          <a:xfrm flipH="1" flipV="1">
            <a:off x="3058406" y="1820184"/>
            <a:ext cx="693396" cy="70907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63FDE75C-23C9-36C5-2393-CCF4B411ADD0}"/>
              </a:ext>
            </a:extLst>
          </p:cNvPr>
          <p:cNvSpPr txBox="1"/>
          <p:nvPr/>
        </p:nvSpPr>
        <p:spPr>
          <a:xfrm>
            <a:off x="2301764" y="1522890"/>
            <a:ext cx="1309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SQL on Files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383A5824-883B-2FFB-FC29-0BA1CA1E9DDB}"/>
              </a:ext>
            </a:extLst>
          </p:cNvPr>
          <p:cNvCxnSpPr>
            <a:cxnSpLocks/>
          </p:cNvCxnSpPr>
          <p:nvPr/>
        </p:nvCxnSpPr>
        <p:spPr>
          <a:xfrm flipH="1" flipV="1">
            <a:off x="1811288" y="1445050"/>
            <a:ext cx="417448" cy="23285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E82E2560-8933-88DA-DFA3-4E614D68810D}"/>
              </a:ext>
            </a:extLst>
          </p:cNvPr>
          <p:cNvSpPr txBox="1"/>
          <p:nvPr/>
        </p:nvSpPr>
        <p:spPr>
          <a:xfrm>
            <a:off x="516889" y="1004060"/>
            <a:ext cx="13338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STORED AS..</a:t>
            </a:r>
          </a:p>
          <a:p>
            <a:r>
              <a:rPr lang="fr-FR" dirty="0"/>
              <a:t>LOCATION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CC5420CD-8150-1FF6-EA6F-CF9D041CA306}"/>
              </a:ext>
            </a:extLst>
          </p:cNvPr>
          <p:cNvCxnSpPr>
            <a:cxnSpLocks/>
          </p:cNvCxnSpPr>
          <p:nvPr/>
        </p:nvCxnSpPr>
        <p:spPr>
          <a:xfrm flipV="1">
            <a:off x="2658733" y="1267479"/>
            <a:ext cx="163745" cy="26489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8B468396-9B6B-7AAA-9CB6-2BD2F8EA4F94}"/>
              </a:ext>
            </a:extLst>
          </p:cNvPr>
          <p:cNvSpPr txBox="1"/>
          <p:nvPr/>
        </p:nvSpPr>
        <p:spPr>
          <a:xfrm>
            <a:off x="2042848" y="688487"/>
            <a:ext cx="23956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*/Files per </a:t>
            </a:r>
            <a:r>
              <a:rPr lang="fr-FR" dirty="0" err="1"/>
              <a:t>dir</a:t>
            </a:r>
            <a:endParaRPr lang="fr-FR" dirty="0"/>
          </a:p>
          <a:p>
            <a:r>
              <a:rPr lang="fr-FR" dirty="0"/>
              <a:t>1…N new file per insert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9D04B89-CE55-A2F3-4D7E-D480C3B37464}"/>
              </a:ext>
            </a:extLst>
          </p:cNvPr>
          <p:cNvSpPr txBox="1"/>
          <p:nvPr/>
        </p:nvSpPr>
        <p:spPr>
          <a:xfrm>
            <a:off x="4762284" y="2186713"/>
            <a:ext cx="21062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TABLE PARTITIONED </a:t>
            </a:r>
            <a:br>
              <a:rPr lang="fr-FR" dirty="0"/>
            </a:br>
            <a:r>
              <a:rPr lang="fr-FR" dirty="0"/>
              <a:t>BY(col type)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CAF69AC6-D651-9617-FE35-415B98B2F23C}"/>
              </a:ext>
            </a:extLst>
          </p:cNvPr>
          <p:cNvCxnSpPr>
            <a:cxnSpLocks/>
          </p:cNvCxnSpPr>
          <p:nvPr/>
        </p:nvCxnSpPr>
        <p:spPr>
          <a:xfrm>
            <a:off x="5401405" y="2783875"/>
            <a:ext cx="118333" cy="482473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6504777E-8AE0-8C45-835C-755C0ABEFF93}"/>
              </a:ext>
            </a:extLst>
          </p:cNvPr>
          <p:cNvCxnSpPr>
            <a:cxnSpLocks/>
          </p:cNvCxnSpPr>
          <p:nvPr/>
        </p:nvCxnSpPr>
        <p:spPr>
          <a:xfrm>
            <a:off x="4915609" y="1886645"/>
            <a:ext cx="427610" cy="230291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25713E64-AB77-04B0-C5F7-9E46A8FED237}"/>
              </a:ext>
            </a:extLst>
          </p:cNvPr>
          <p:cNvCxnSpPr>
            <a:cxnSpLocks/>
          </p:cNvCxnSpPr>
          <p:nvPr/>
        </p:nvCxnSpPr>
        <p:spPr>
          <a:xfrm flipH="1" flipV="1">
            <a:off x="2197223" y="2271251"/>
            <a:ext cx="1101142" cy="29320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5E211612-6747-8BBC-F78B-65ED83144AB5}"/>
              </a:ext>
            </a:extLst>
          </p:cNvPr>
          <p:cNvCxnSpPr>
            <a:cxnSpLocks/>
          </p:cNvCxnSpPr>
          <p:nvPr/>
        </p:nvCxnSpPr>
        <p:spPr>
          <a:xfrm flipH="1">
            <a:off x="2197223" y="2881709"/>
            <a:ext cx="1121857" cy="50185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8D618EAC-ECB2-B5D4-5A5C-0544FBF86B28}"/>
              </a:ext>
            </a:extLst>
          </p:cNvPr>
          <p:cNvSpPr txBox="1"/>
          <p:nvPr/>
        </p:nvSpPr>
        <p:spPr>
          <a:xfrm>
            <a:off x="511586" y="3218053"/>
            <a:ext cx="1508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SHOW TABLES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0A227EA1-6C86-22BE-754C-A7C34AACA5C2}"/>
              </a:ext>
            </a:extLst>
          </p:cNvPr>
          <p:cNvSpPr txBox="1"/>
          <p:nvPr/>
        </p:nvSpPr>
        <p:spPr>
          <a:xfrm>
            <a:off x="423037" y="2695270"/>
            <a:ext cx="2155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SHOW CREATE TABLE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4D334B6-E7F7-F73A-1B99-F7EB307B5C0B}"/>
              </a:ext>
            </a:extLst>
          </p:cNvPr>
          <p:cNvSpPr txBox="1"/>
          <p:nvPr/>
        </p:nvSpPr>
        <p:spPr>
          <a:xfrm>
            <a:off x="93024" y="1939964"/>
            <a:ext cx="25650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CREATE EXTERNAL TABLE </a:t>
            </a:r>
            <a:br>
              <a:rPr lang="fr-FR" dirty="0"/>
            </a:br>
            <a:r>
              <a:rPr lang="fr-FR" dirty="0"/>
              <a:t>   IF NOT EXISTS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1367662-D324-4AE3-99A7-4ECF4A9FAF0E}"/>
              </a:ext>
            </a:extLst>
          </p:cNvPr>
          <p:cNvCxnSpPr>
            <a:cxnSpLocks/>
          </p:cNvCxnSpPr>
          <p:nvPr/>
        </p:nvCxnSpPr>
        <p:spPr>
          <a:xfrm flipV="1">
            <a:off x="5472432" y="1510565"/>
            <a:ext cx="236739" cy="61186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25AB623-0625-BDDA-2818-BAD5C4C6D553}"/>
              </a:ext>
            </a:extLst>
          </p:cNvPr>
          <p:cNvSpPr txBox="1"/>
          <p:nvPr/>
        </p:nvSpPr>
        <p:spPr>
          <a:xfrm>
            <a:off x="5205482" y="784173"/>
            <a:ext cx="16318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No SQL </a:t>
            </a:r>
            <a:br>
              <a:rPr lang="fr-FR" dirty="0"/>
            </a:br>
            <a:r>
              <a:rPr lang="fr-FR" dirty="0"/>
              <a:t>Update/ </a:t>
            </a:r>
            <a:r>
              <a:rPr lang="fr-FR" dirty="0" err="1"/>
              <a:t>Delete</a:t>
            </a:r>
            <a:endParaRPr lang="fr-FR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6FD9B0F-DD54-7C84-2DD8-F2C9B3F83265}"/>
              </a:ext>
            </a:extLst>
          </p:cNvPr>
          <p:cNvSpPr txBox="1"/>
          <p:nvPr/>
        </p:nvSpPr>
        <p:spPr>
          <a:xfrm>
            <a:off x="3976765" y="1306917"/>
            <a:ext cx="16869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Insert </a:t>
            </a:r>
            <a:r>
              <a:rPr lang="fr-FR" dirty="0" err="1"/>
              <a:t>overwrite</a:t>
            </a:r>
            <a:endParaRPr lang="fr-FR" dirty="0"/>
          </a:p>
          <a:p>
            <a:r>
              <a:rPr lang="fr-FR" dirty="0"/>
              <a:t>.. By partition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833E480-D649-FA65-7E8E-C7754B2E42E4}"/>
              </a:ext>
            </a:extLst>
          </p:cNvPr>
          <p:cNvCxnSpPr>
            <a:cxnSpLocks/>
          </p:cNvCxnSpPr>
          <p:nvPr/>
        </p:nvCxnSpPr>
        <p:spPr>
          <a:xfrm flipV="1">
            <a:off x="5565114" y="1980018"/>
            <a:ext cx="320369" cy="14241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0AB15A1-9BA0-2623-1073-E5F148F3DA78}"/>
              </a:ext>
            </a:extLst>
          </p:cNvPr>
          <p:cNvSpPr txBox="1"/>
          <p:nvPr/>
        </p:nvSpPr>
        <p:spPr>
          <a:xfrm>
            <a:off x="5847794" y="1398265"/>
            <a:ext cx="14091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Read </a:t>
            </a:r>
            <a:r>
              <a:rPr lang="fr-FR" dirty="0" err="1"/>
              <a:t>Optim</a:t>
            </a:r>
            <a:r>
              <a:rPr lang="fr-FR" dirty="0"/>
              <a:t>: </a:t>
            </a:r>
            <a:br>
              <a:rPr lang="fr-FR" dirty="0"/>
            </a:br>
            <a:r>
              <a:rPr lang="fr-FR" dirty="0"/>
              <a:t>part-</a:t>
            </a:r>
            <a:r>
              <a:rPr lang="fr-FR" dirty="0" err="1"/>
              <a:t>pruning</a:t>
            </a:r>
            <a:endParaRPr lang="fr-FR" dirty="0"/>
          </a:p>
        </p:txBody>
      </p:sp>
      <p:cxnSp>
        <p:nvCxnSpPr>
          <p:cNvPr id="60" name="Straight Connector 93">
            <a:extLst>
              <a:ext uri="{FF2B5EF4-FFF2-40B4-BE49-F238E27FC236}">
                <a16:creationId xmlns:a16="http://schemas.microsoft.com/office/drawing/2014/main" id="{39110665-4C70-4F11-8BB5-2873695C3C65}"/>
              </a:ext>
            </a:extLst>
          </p:cNvPr>
          <p:cNvCxnSpPr>
            <a:cxnSpLocks/>
          </p:cNvCxnSpPr>
          <p:nvPr/>
        </p:nvCxnSpPr>
        <p:spPr>
          <a:xfrm flipH="1">
            <a:off x="6215063" y="2879936"/>
            <a:ext cx="631795" cy="33811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92">
            <a:extLst>
              <a:ext uri="{FF2B5EF4-FFF2-40B4-BE49-F238E27FC236}">
                <a16:creationId xmlns:a16="http://schemas.microsoft.com/office/drawing/2014/main" id="{B939F272-EE6F-4AF3-AC6A-5AB9FA4115E7}"/>
              </a:ext>
            </a:extLst>
          </p:cNvPr>
          <p:cNvSpPr txBox="1"/>
          <p:nvPr/>
        </p:nvSpPr>
        <p:spPr>
          <a:xfrm>
            <a:off x="6530960" y="2481581"/>
            <a:ext cx="8788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Iceberg</a:t>
            </a:r>
          </a:p>
        </p:txBody>
      </p:sp>
    </p:spTree>
    <p:extLst>
      <p:ext uri="{BB962C8B-B14F-4D97-AF65-F5344CB8AC3E}">
        <p14:creationId xmlns:p14="http://schemas.microsoft.com/office/powerpoint/2010/main" val="309899827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4218F-C29D-00F3-A91B-5F09DB287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993" y="2581852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Questions ?</a:t>
            </a:r>
          </a:p>
        </p:txBody>
      </p:sp>
    </p:spTree>
    <p:extLst>
      <p:ext uri="{BB962C8B-B14F-4D97-AF65-F5344CB8AC3E}">
        <p14:creationId xmlns:p14="http://schemas.microsoft.com/office/powerpoint/2010/main" val="54422604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4D8E6-8A5B-9C63-AA96-75FC5E57F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2196083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Take-Away</a:t>
            </a:r>
            <a:r>
              <a:rPr lang="fr-FR" dirty="0"/>
              <a:t> 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What</a:t>
            </a:r>
            <a:r>
              <a:rPr lang="fr-FR" dirty="0"/>
              <a:t> You </a:t>
            </a:r>
            <a:r>
              <a:rPr lang="fr-FR" dirty="0" err="1"/>
              <a:t>learned</a:t>
            </a:r>
            <a:r>
              <a:rPr lang="fr-FR" dirty="0"/>
              <a:t> ?</a:t>
            </a:r>
          </a:p>
        </p:txBody>
      </p:sp>
    </p:spTree>
    <p:extLst>
      <p:ext uri="{BB962C8B-B14F-4D97-AF65-F5344CB8AC3E}">
        <p14:creationId xmlns:p14="http://schemas.microsoft.com/office/powerpoint/2010/main" val="414448709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B51E2-D58F-F242-532C-D550D72C0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Next </a:t>
            </a:r>
            <a:r>
              <a:rPr lang="fr-FR" dirty="0" err="1"/>
              <a:t>Steps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DC0953-00EA-F8BF-D047-998B9247DD02}"/>
              </a:ext>
            </a:extLst>
          </p:cNvPr>
          <p:cNvSpPr txBox="1"/>
          <p:nvPr/>
        </p:nvSpPr>
        <p:spPr>
          <a:xfrm>
            <a:off x="4335838" y="2094807"/>
            <a:ext cx="5237909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More </a:t>
            </a:r>
            <a:r>
              <a:rPr lang="fr-FR" dirty="0" err="1"/>
              <a:t>Lessons</a:t>
            </a:r>
            <a:endParaRPr lang="fr-FR" dirty="0"/>
          </a:p>
          <a:p>
            <a:endParaRPr lang="fr-FR" dirty="0"/>
          </a:p>
          <a:p>
            <a:r>
              <a:rPr lang="fr-FR" dirty="0"/>
              <a:t>More Hands-On</a:t>
            </a:r>
          </a:p>
          <a:p>
            <a:endParaRPr lang="fr-FR" dirty="0"/>
          </a:p>
          <a:p>
            <a:r>
              <a:rPr lang="fr-FR" dirty="0"/>
              <a:t>Spark concepts:</a:t>
            </a:r>
          </a:p>
          <a:p>
            <a:pPr marL="285750" indent="-285750">
              <a:buFontTx/>
              <a:buChar char="-"/>
            </a:pPr>
            <a:r>
              <a:rPr lang="fr-FR" dirty="0"/>
              <a:t>Spark UI, DAG, Optimisation, </a:t>
            </a:r>
            <a:r>
              <a:rPr lang="fr-FR" dirty="0" err="1"/>
              <a:t>Predicate</a:t>
            </a:r>
            <a:r>
              <a:rPr lang="fr-FR" dirty="0"/>
              <a:t>-Push-Down</a:t>
            </a:r>
          </a:p>
          <a:p>
            <a:pPr marL="285750" indent="-285750">
              <a:buFontTx/>
              <a:buChar char="-"/>
            </a:pPr>
            <a:r>
              <a:rPr lang="fr-FR" dirty="0"/>
              <a:t>Spark Clustering</a:t>
            </a:r>
          </a:p>
          <a:p>
            <a:pPr marL="285750" indent="-285750">
              <a:buFontTx/>
              <a:buChar char="-"/>
            </a:pPr>
            <a:r>
              <a:rPr lang="fr-FR" dirty="0"/>
              <a:t>Java binding, UDF, </a:t>
            </a:r>
            <a:r>
              <a:rPr lang="fr-FR" dirty="0" err="1"/>
              <a:t>map</a:t>
            </a: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Spark Streaming</a:t>
            </a:r>
          </a:p>
          <a:p>
            <a:pPr marL="285750" indent="-285750">
              <a:buFontTx/>
              <a:buChar char="-"/>
            </a:pPr>
            <a:r>
              <a:rPr lang="fr-FR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3957207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18371</TotalTime>
  <Words>5173</Words>
  <Application>Microsoft Office PowerPoint</Application>
  <PresentationFormat>Grand écran</PresentationFormat>
  <Paragraphs>666</Paragraphs>
  <Slides>91</Slides>
  <Notes>0</Notes>
  <HiddenSlides>20</HiddenSlides>
  <MMClips>0</MMClips>
  <ScaleCrop>false</ScaleCrop>
  <HeadingPairs>
    <vt:vector size="8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91</vt:i4>
      </vt:variant>
    </vt:vector>
  </HeadingPairs>
  <TitlesOfParts>
    <vt:vector size="98" baseType="lpstr">
      <vt:lpstr>-apple-system</vt:lpstr>
      <vt:lpstr>Arial</vt:lpstr>
      <vt:lpstr>Calibri</vt:lpstr>
      <vt:lpstr>Calibri Light</vt:lpstr>
      <vt:lpstr>Consolas</vt:lpstr>
      <vt:lpstr>Office Theme</vt:lpstr>
      <vt:lpstr>Bitmap Image</vt:lpstr>
      <vt:lpstr>BigData Spark – HandsOn 3  SQL, Temporary View Hive MetaStore, ExternalCatalog, Table Partitions</vt:lpstr>
      <vt:lpstr>Objectives of Hands-On</vt:lpstr>
      <vt:lpstr>Reminder Hands-On 1</vt:lpstr>
      <vt:lpstr>Reminder Hands-On 2</vt:lpstr>
      <vt:lpstr>Objectives of Hands-On 3</vt:lpstr>
      <vt:lpstr>PRE-REQUISITES : Redo from previous TD</vt:lpstr>
      <vt:lpstr>REMINDER..</vt:lpstr>
      <vt:lpstr>ERROR on column "date_der_maj" ("date dernière mise à jour",  in english: last update date)</vt:lpstr>
      <vt:lpstr>Gregorian Calendar Dates : after 1582-10-15 so check invalid dates before</vt:lpstr>
      <vt:lpstr>Alternative to Fix invalid dates,  replace by min date  (or NULL)</vt:lpstr>
      <vt:lpstr>Parquet Files … ~3 x 640 Mo</vt:lpstr>
      <vt:lpstr>Objectives of Hands-On 3</vt:lpstr>
      <vt:lpstr>Spark Changes  version &lt;= 3 …  then &gt;= 4</vt:lpstr>
      <vt:lpstr>Exercise 1: check spark conf spark.sql.catalogImplementation= « hive »  or  « in-memory » ?</vt:lpstr>
      <vt:lpstr>Check Source Code</vt:lpstr>
      <vt:lpstr>Checking from Spark-UI</vt:lpstr>
      <vt:lpstr>Re-Checking Second Time …</vt:lpstr>
      <vt:lpstr>Exercise 2: reload address DataSet  ensure no OutOfMemoryError</vt:lpstr>
      <vt:lpstr>OutOfMemoryError ?</vt:lpstr>
      <vt:lpstr>Ensure Memory JVM Argument –Xmx3g add arg    --driver-memory=3g</vt:lpstr>
      <vt:lpstr>Answer Exercise 2</vt:lpstr>
      <vt:lpstr>Exercise 3:  createTempView … then SQL</vt:lpstr>
      <vt:lpstr>Answer Exercise 3</vt:lpstr>
      <vt:lpstr>Exercise 4: list Tables</vt:lpstr>
      <vt:lpstr>Answer Exercise 4: List Tables </vt:lpstr>
      <vt:lpstr>Exercise 5: Describe Table  / printSchema</vt:lpstr>
      <vt:lpstr>Answer Exercise 5 : describe Table / table DS schema</vt:lpstr>
      <vt:lpstr>Exercise 6: stop + restart .. temporary</vt:lpstr>
      <vt:lpstr>Optional Exercise 7: createGlobalTemporaryView</vt:lpstr>
      <vt:lpstr>Answer Exercise 7 … Confusing: Where is my global temp table?</vt:lpstr>
      <vt:lpstr>Answer Exercise 7 ask explicitly in « global_temp »</vt:lpstr>
      <vt:lpstr>Answer Exercise 7 … Even more Confusing  using spark.sharedState.externalCatalog</vt:lpstr>
      <vt:lpstr>Answer Exercise 7</vt:lpstr>
      <vt:lpstr>Objectives of Hands-On</vt:lpstr>
      <vt:lpstr>Default hive… using Derby metastore_db cf next slides if explicitly using Postgresql DB</vt:lpstr>
      <vt:lpstr>Install Hive Standalone Metastore</vt:lpstr>
      <vt:lpstr>Example using Postgres : Create Hive Schema</vt:lpstr>
      <vt:lpstr>Copy Jar .. Example using Postgresql</vt:lpstr>
      <vt:lpstr>Configure hive metastore in HADOOP_CONF_DIR (or HADOOP_HOME) /conf/hive-site.xml</vt:lpstr>
      <vt:lpstr>Objectives of Hands-On</vt:lpstr>
      <vt:lpstr>Restart spark-shell  + Check externalCatalog</vt:lpstr>
      <vt:lpstr>Optional Exercise 8: View/Change  spark-defaults.conf</vt:lpstr>
      <vt:lpstr>Objectives of Hands-On</vt:lpstr>
      <vt:lpstr>List Databases</vt:lpstr>
      <vt:lpstr>Exercise 9: Create Database, Create if not exists</vt:lpstr>
      <vt:lpstr>Answer Exercise 9: Create Database</vt:lpstr>
      <vt:lpstr>Answer Exercise 9: Show Databases</vt:lpstr>
      <vt:lpstr>10 mn pause</vt:lpstr>
      <vt:lpstr>Exercise 10: saveAsTable</vt:lpstr>
      <vt:lpstr>Answer Exercise 10:</vt:lpstr>
      <vt:lpstr>Exercise 10 : CTAS CREATE  TABLE &lt;db&gt;.&lt;table&gt;  AS SELECT</vt:lpstr>
      <vt:lpstr>Exercise 11 : SHOW CREATE TABLE</vt:lpstr>
      <vt:lpstr>Answer Exercise 11: SHOW CREATE TABLE</vt:lpstr>
      <vt:lpstr>Answer Exercise 11: SHOW CREATE TABLE ..</vt:lpstr>
      <vt:lpstr>Hint Exercise 11:  Replacing \\n by \n</vt:lpstr>
      <vt:lpstr>SHOW CREATE TABLE</vt:lpstr>
      <vt:lpstr>Exercise 12: Create « EXTERNAL » TABLE instead of default «MANAGED » Table</vt:lpstr>
      <vt:lpstr>CREATE EXTERNAL TABLE .. STORED AS .. LOCATION …</vt:lpstr>
      <vt:lpstr>Answer Exercise 12: Create EXTERNAL Table … WARN if directory not already exists</vt:lpstr>
      <vt:lpstr>Answer Exercise 12: Create EXTERNAL Table ( directory already existed)</vt:lpstr>
      <vt:lpstr>Exercise 13: INSERT INTO ..VALUES … result created File(s)</vt:lpstr>
      <vt:lpstr>Exercise 13(next): INSERT INTO SELECT.. … result created File(s)</vt:lpstr>
      <vt:lpstr>Exercise 14: INSERT OVERWRITE  ( difference with INSERT INTO )</vt:lpstr>
      <vt:lpstr>Answer Exercise 14: INSERT INTO .. SELECT ..</vt:lpstr>
      <vt:lpstr>Objectives of Hands-On</vt:lpstr>
      <vt:lpstr>Exercise 15: enrich Dataset / table address by computing column « dept » from column « commune_insee »</vt:lpstr>
      <vt:lpstr>Answer Exercise 15: computing « dept »</vt:lpstr>
      <vt:lpstr>Exercise 16 : Create PARTITIONED Table</vt:lpstr>
      <vt:lpstr>Exercise 17: Dirs for Partitioned Table</vt:lpstr>
      <vt:lpstr>Answer Exercise 17 : Dirs for Partitioned Table</vt:lpstr>
      <vt:lpstr>10 mn pause</vt:lpstr>
      <vt:lpstr>Exercise 18: Query a Partitioned Table …  optim « Partition Pruning »</vt:lpstr>
      <vt:lpstr>Exercise 19: SQL Explain plan: SQL « EXPLAIN select … from .. Where ..»</vt:lpstr>
      <vt:lpstr>Answer Exercise 19: SQL Explain Plan</vt:lpstr>
      <vt:lpstr>Exercise 20: Query by condition,  NOT by partition column</vt:lpstr>
      <vt:lpstr>Exercise 21: INSERT OVERWRITE… partitioned</vt:lpstr>
      <vt:lpstr>Exercise 22: SAME insert overwrite … on 2 differently partitioned tables</vt:lpstr>
      <vt:lpstr>Exercise 23: INSERT OVERWRITE… for fully « UPDATING » partition(s)</vt:lpstr>
      <vt:lpstr>Exercise 24: ACID Update / Delete in Spark ?</vt:lpstr>
      <vt:lpstr>Exercise 25: Question on Partition.. What for ? </vt:lpstr>
      <vt:lpstr>Optionnal Exercise 26 – DeltaLake / Iceberg …</vt:lpstr>
      <vt:lpstr>Exercise 27 – Iceberg…</vt:lpstr>
      <vt:lpstr>Spark + Iceberg</vt:lpstr>
      <vt:lpstr>Self Exploration  (or HomeWork)</vt:lpstr>
      <vt:lpstr>Check Read-Consistency </vt:lpstr>
      <vt:lpstr>Compare with legacy Hive (Partitioned) Table</vt:lpstr>
      <vt:lpstr>Exercise 28 : MindMap</vt:lpstr>
      <vt:lpstr>Answer Exercise 27: MindMap</vt:lpstr>
      <vt:lpstr>Questions ?</vt:lpstr>
      <vt:lpstr>Take-Away   What You learned ?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BigData Spark - TD3</dc:title>
  <dc:creator>arnaud.nauwynck@gmail.com</dc:creator>
  <cp:lastModifiedBy>arnaud</cp:lastModifiedBy>
  <cp:revision>88</cp:revision>
  <dcterms:created xsi:type="dcterms:W3CDTF">2022-09-29T13:13:18Z</dcterms:created>
  <dcterms:modified xsi:type="dcterms:W3CDTF">2025-10-16T21:10:47Z</dcterms:modified>
</cp:coreProperties>
</file>