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57" r:id="rId4"/>
    <p:sldId id="258" r:id="rId5"/>
    <p:sldId id="348" r:id="rId6"/>
    <p:sldId id="349" r:id="rId7"/>
    <p:sldId id="259" r:id="rId8"/>
    <p:sldId id="350" r:id="rId9"/>
    <p:sldId id="281" r:id="rId10"/>
    <p:sldId id="260" r:id="rId11"/>
    <p:sldId id="261" r:id="rId12"/>
    <p:sldId id="262" r:id="rId13"/>
    <p:sldId id="351" r:id="rId14"/>
    <p:sldId id="344" r:id="rId15"/>
    <p:sldId id="343" r:id="rId16"/>
    <p:sldId id="263" r:id="rId17"/>
    <p:sldId id="352" r:id="rId18"/>
    <p:sldId id="353" r:id="rId19"/>
    <p:sldId id="355" r:id="rId20"/>
    <p:sldId id="354" r:id="rId21"/>
    <p:sldId id="356" r:id="rId22"/>
    <p:sldId id="264" r:id="rId23"/>
    <p:sldId id="346" r:id="rId24"/>
    <p:sldId id="282" r:id="rId25"/>
    <p:sldId id="347" r:id="rId26"/>
    <p:sldId id="265" r:id="rId27"/>
    <p:sldId id="287" r:id="rId28"/>
    <p:sldId id="286" r:id="rId29"/>
    <p:sldId id="283" r:id="rId30"/>
    <p:sldId id="358" r:id="rId31"/>
    <p:sldId id="266" r:id="rId32"/>
    <p:sldId id="341" r:id="rId33"/>
    <p:sldId id="342" r:id="rId34"/>
    <p:sldId id="285" r:id="rId35"/>
    <p:sldId id="284" r:id="rId36"/>
    <p:sldId id="267" r:id="rId37"/>
    <p:sldId id="268" r:id="rId38"/>
    <p:sldId id="288" r:id="rId39"/>
    <p:sldId id="270" r:id="rId40"/>
    <p:sldId id="315" r:id="rId41"/>
    <p:sldId id="316" r:id="rId42"/>
    <p:sldId id="345" r:id="rId43"/>
    <p:sldId id="320" r:id="rId44"/>
    <p:sldId id="318" r:id="rId45"/>
    <p:sldId id="319" r:id="rId46"/>
    <p:sldId id="317" r:id="rId47"/>
    <p:sldId id="321" r:id="rId48"/>
    <p:sldId id="322" r:id="rId49"/>
    <p:sldId id="269" r:id="rId50"/>
    <p:sldId id="271" r:id="rId51"/>
    <p:sldId id="272" r:id="rId52"/>
    <p:sldId id="314" r:id="rId53"/>
    <p:sldId id="294" r:id="rId54"/>
    <p:sldId id="289" r:id="rId55"/>
    <p:sldId id="297" r:id="rId56"/>
    <p:sldId id="290" r:id="rId57"/>
    <p:sldId id="292" r:id="rId58"/>
    <p:sldId id="298" r:id="rId59"/>
    <p:sldId id="274" r:id="rId60"/>
    <p:sldId id="291" r:id="rId61"/>
    <p:sldId id="299" r:id="rId62"/>
    <p:sldId id="293" r:id="rId63"/>
    <p:sldId id="295" r:id="rId64"/>
    <p:sldId id="296" r:id="rId65"/>
    <p:sldId id="273" r:id="rId66"/>
    <p:sldId id="300" r:id="rId67"/>
    <p:sldId id="275" r:id="rId68"/>
    <p:sldId id="276" r:id="rId69"/>
    <p:sldId id="277" r:id="rId70"/>
    <p:sldId id="278" r:id="rId71"/>
    <p:sldId id="279" r:id="rId72"/>
    <p:sldId id="280" r:id="rId73"/>
    <p:sldId id="301" r:id="rId74"/>
    <p:sldId id="302" r:id="rId75"/>
    <p:sldId id="303" r:id="rId76"/>
    <p:sldId id="304" r:id="rId77"/>
    <p:sldId id="305" r:id="rId78"/>
    <p:sldId id="309" r:id="rId79"/>
    <p:sldId id="306" r:id="rId80"/>
    <p:sldId id="310" r:id="rId81"/>
    <p:sldId id="307" r:id="rId82"/>
    <p:sldId id="308" r:id="rId83"/>
    <p:sldId id="311" r:id="rId84"/>
    <p:sldId id="312" r:id="rId85"/>
    <p:sldId id="313" r:id="rId86"/>
    <p:sldId id="330" r:id="rId87"/>
    <p:sldId id="331" r:id="rId88"/>
    <p:sldId id="332" r:id="rId89"/>
    <p:sldId id="334" r:id="rId90"/>
    <p:sldId id="323" r:id="rId91"/>
    <p:sldId id="324" r:id="rId92"/>
    <p:sldId id="333" r:id="rId93"/>
    <p:sldId id="335" r:id="rId94"/>
    <p:sldId id="325" r:id="rId95"/>
    <p:sldId id="326" r:id="rId96"/>
    <p:sldId id="360" r:id="rId97"/>
    <p:sldId id="361" r:id="rId98"/>
    <p:sldId id="359" r:id="rId99"/>
    <p:sldId id="337" r:id="rId100"/>
    <p:sldId id="338" r:id="rId101"/>
    <p:sldId id="329" r:id="rId102"/>
    <p:sldId id="328" r:id="rId103"/>
    <p:sldId id="362" r:id="rId104"/>
    <p:sldId id="339" r:id="rId105"/>
    <p:sldId id="327" r:id="rId106"/>
    <p:sldId id="340" r:id="rId10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43" d="100"/>
          <a:sy n="43" d="100"/>
        </p:scale>
        <p:origin x="2160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DAB7E-5236-656E-11F8-A58420D3D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F02E2-A868-3707-DC64-0B6E2B9F4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67CB9-7E59-264C-3C46-6CE0B5F8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BCC1-F78E-4FD9-8726-E721F20EF30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C9DAA-5077-738E-80A6-9E520A9C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AF8B7-AB03-EFC9-9741-A8451524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A7DC-DF06-48D0-81BE-15329EFBD0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984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746D2-D300-9B62-61BF-194CDC510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E9F7F-F230-7DB3-0241-EF1B50C63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DCA14-6833-1C9F-89E1-87EEA581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BCC1-F78E-4FD9-8726-E721F20EF30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481E6-D83C-5052-FDDB-B27F21654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8DF59-A90C-84AA-B4E5-3D1012938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A7DC-DF06-48D0-81BE-15329EFBD0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5456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0BEF-E799-C056-A28E-F089570E3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2AF44-98E2-0185-9475-CEF53A959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D70CC-B00F-841A-F47C-231861560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BCC1-F78E-4FD9-8726-E721F20EF30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6D697-541D-475D-6F9A-B7C1C8323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67727-340E-995C-B8ED-BFC242A95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A7DC-DF06-48D0-81BE-15329EFBD0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23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F5F87-2AC2-D8D3-5A8A-8CC8B1BF4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D35D6-D307-9680-B1E1-7DC11E28BE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40C86A-ED44-EF92-7E48-295A4A698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2B37D-E6AC-EE4D-1AB7-8F8805402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BCC1-F78E-4FD9-8726-E721F20EF30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F7049-0352-090A-1987-C175341D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BE6D6-99DB-0318-D61E-440EECB00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A7DC-DF06-48D0-81BE-15329EFBD0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5507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E7AC6-8C34-BE2C-4328-0E7508C95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F127BE-B4EB-6AF1-BD56-4D881470C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2E40E6-CA7C-CC38-1C8D-2135B5FA5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FF49FE-1DEA-68F2-69D2-57099F0E3C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1C4505-8160-8A1B-C392-E2AEBF03A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D3AF78-267B-A8BC-B674-F6E1C5BF4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BCC1-F78E-4FD9-8726-E721F20EF30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272942-0E66-0B80-B1DD-8AF70C446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ECB4A7-BFC8-1E13-D439-44F1A617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A7DC-DF06-48D0-81BE-15329EFBD0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2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A1A0E-BAB9-DFA4-C48C-8E1EA59C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026F97-9B8D-8FEF-07D2-EAD8B0A99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BCC1-F78E-4FD9-8726-E721F20EF30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55E368-C266-E0FC-458A-3A92CF5B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0D7166-1FA1-6DFC-0FA6-E2519B058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A7DC-DF06-48D0-81BE-15329EFBD0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600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0A394B-6094-1CB2-2185-C197609B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BCC1-F78E-4FD9-8726-E721F20EF30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3CB707-54FE-CDE3-FF88-0122E2FF8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281F6-FF93-BDD6-1DEE-0E9E3E4CD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A7DC-DF06-48D0-81BE-15329EFBD0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149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5FA8D-405A-E4E0-ED92-F7B64A43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FB578-3D1C-0337-C049-24F66B87C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3FDCD-D7B9-59A7-6DE3-A83DF69D9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1CBCD-072B-2E46-BC8E-E365D0A04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BCC1-F78E-4FD9-8726-E721F20EF30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F4D08-B275-F8F5-E1D2-0641201B6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56454-DE90-EEE5-5EEF-ED51705A6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A7DC-DF06-48D0-81BE-15329EFBD0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2831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3D140-9DC0-E046-6132-9F1DFA149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32F25A-7303-F31C-178C-C0A64E1FC8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DE0A55-7ECF-EB9C-4751-9EBB170FA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6EAB5-DBA7-7D3C-0139-14F982474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BCC1-F78E-4FD9-8726-E721F20EF30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357B8-7CD3-BD4F-0722-BAAF3CAE5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4B73A-FDE9-4BBB-8515-54E67F7D9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A7DC-DF06-48D0-81BE-15329EFBD0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0424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21858-3A9F-E46D-023F-AD321A0DA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5276A-0592-30C5-A1D2-C4648C050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585CC-6333-C94D-7144-40B48FD5C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BCC1-F78E-4FD9-8726-E721F20EF30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CD13A-9BCC-FEF0-6522-A8FDF722B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CC177-A6C1-10A9-0F65-F0976C8F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A7DC-DF06-48D0-81BE-15329EFBD0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7039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34895E-60E1-74F5-A136-FE84C18AAD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48A2B-A4C1-8128-C2DF-0F1BFD983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4AE5B-17AD-80A5-E0FA-3CB7E7178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BCC1-F78E-4FD9-8726-E721F20EF30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80914-1CC0-3747-8F74-75379364C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3380D-AC88-4447-058E-2D71C3B30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A7DC-DF06-48D0-81BE-15329EFBD0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1997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EF6B0-2AE3-702F-5F99-C4DE29C5F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15E67-354C-E063-2AC8-23F85DCE6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53F2C-5DEA-9D16-F968-AFA52C1205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ABCC1-F78E-4FD9-8726-E721F20EF30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C803F-5215-9133-AC1A-0BD677038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D5744-C371-E95E-43C5-614406D40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CA7DC-DF06-48D0-81BE-15329EFBD0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712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doptium.net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cdarlint/winutil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file:///c:\local-dir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hyperlink" Target="https://spark.apache.org/docs/latest/sql-getting-started.html#creating-datasets" TargetMode="Externa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542E3-9F5D-0FF0-4903-E7E7D1E74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85613"/>
          </a:xfrm>
        </p:spPr>
        <p:txBody>
          <a:bodyPr>
            <a:normAutofit/>
          </a:bodyPr>
          <a:lstStyle/>
          <a:p>
            <a:r>
              <a:rPr lang="fr-FR" dirty="0"/>
              <a:t>Big Data Spark Hands-On 1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spark-shell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C77904-2188-8049-BB3F-1D0FDBAAD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9663" y="5481851"/>
            <a:ext cx="9144000" cy="912290"/>
          </a:xfrm>
        </p:spPr>
        <p:txBody>
          <a:bodyPr>
            <a:normAutofit/>
          </a:bodyPr>
          <a:lstStyle/>
          <a:p>
            <a:r>
              <a:rPr lang="fr-FR" sz="2000" dirty="0"/>
              <a:t>arnaud.nauwynck@gmail.com</a:t>
            </a:r>
          </a:p>
          <a:p>
            <a:r>
              <a:rPr lang="fr-FR" sz="2000" dirty="0" err="1"/>
              <a:t>Esilv</a:t>
            </a:r>
            <a:r>
              <a:rPr lang="fr-FR" sz="2000" dirty="0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167497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400"/>
            <a:ext cx="10515600" cy="820044"/>
          </a:xfrm>
        </p:spPr>
        <p:txBody>
          <a:bodyPr/>
          <a:lstStyle/>
          <a:p>
            <a:pPr algn="ctr"/>
            <a:r>
              <a:rPr lang="fr-FR" dirty="0"/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84FF0-6CEF-2C76-2FA1-28BFA297E5D8}"/>
              </a:ext>
            </a:extLst>
          </p:cNvPr>
          <p:cNvSpPr txBox="1"/>
          <p:nvPr/>
        </p:nvSpPr>
        <p:spPr>
          <a:xfrm>
            <a:off x="1824361" y="1970843"/>
            <a:ext cx="890224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Install on </a:t>
            </a:r>
            <a:r>
              <a:rPr lang="fr-FR" sz="2400" dirty="0" err="1"/>
              <a:t>your</a:t>
            </a:r>
            <a:r>
              <a:rPr lang="fr-FR" sz="2400" dirty="0"/>
              <a:t> (Windows) PC a </a:t>
            </a:r>
            <a:r>
              <a:rPr lang="fr-FR" sz="2400" dirty="0" err="1"/>
              <a:t>minimalist</a:t>
            </a:r>
            <a:r>
              <a:rPr lang="fr-FR" sz="2400" dirty="0"/>
              <a:t> local SPARK</a:t>
            </a:r>
          </a:p>
          <a:p>
            <a:endParaRPr lang="fr-FR" sz="2400" dirty="0"/>
          </a:p>
          <a:p>
            <a:r>
              <a:rPr lang="fr-FR" sz="2400" dirty="0"/>
              <a:t>2/ Configure </a:t>
            </a:r>
            <a:r>
              <a:rPr lang="fr-FR" sz="2400" dirty="0" err="1"/>
              <a:t>it</a:t>
            </a:r>
            <a:r>
              <a:rPr lang="fr-FR" sz="2400" dirty="0"/>
              <a:t>, launch </a:t>
            </a:r>
            <a:r>
              <a:rPr lang="fr-FR" sz="2400" dirty="0" err="1"/>
              <a:t>spark-shell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3/ Discover </a:t>
            </a:r>
            <a:r>
              <a:rPr lang="fr-FR" sz="2400" dirty="0" err="1"/>
              <a:t>spark-shell</a:t>
            </a:r>
            <a:r>
              <a:rPr lang="fr-FR" sz="2400" dirty="0"/>
              <a:t>   scala&gt; REPL </a:t>
            </a:r>
          </a:p>
          <a:p>
            <a:endParaRPr lang="fr-FR" sz="2400" dirty="0"/>
          </a:p>
          <a:p>
            <a:r>
              <a:rPr lang="fr-FR" sz="2400" dirty="0"/>
              <a:t>4/ </a:t>
            </a:r>
            <a:r>
              <a:rPr lang="fr-FR" sz="2400" dirty="0" err="1"/>
              <a:t>Exercises</a:t>
            </a:r>
            <a:r>
              <a:rPr lang="fr-FR" sz="2400" dirty="0"/>
              <a:t> 1,2,..16 :  … to </a:t>
            </a:r>
            <a:r>
              <a:rPr lang="fr-FR" sz="2400" dirty="0" err="1"/>
              <a:t>Execute</a:t>
            </a:r>
            <a:r>
              <a:rPr lang="fr-FR" sz="2400" dirty="0"/>
              <a:t> basic </a:t>
            </a:r>
            <a:r>
              <a:rPr lang="fr-FR" sz="2400" dirty="0" err="1"/>
              <a:t>spark</a:t>
            </a:r>
            <a:r>
              <a:rPr lang="fr-FR" sz="2400" dirty="0"/>
              <a:t> </a:t>
            </a:r>
            <a:r>
              <a:rPr lang="fr-FR" sz="2400" dirty="0" err="1"/>
              <a:t>commands</a:t>
            </a:r>
            <a:r>
              <a:rPr lang="fr-FR" sz="2400" dirty="0"/>
              <a:t> on </a:t>
            </a:r>
            <a:r>
              <a:rPr lang="fr-FR" sz="2400" dirty="0" err="1"/>
              <a:t>DataSets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662187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0248B5-12F8-4264-8ECE-6F8F3C1C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fr-FR" dirty="0" err="1"/>
              <a:t>Installing</a:t>
            </a:r>
            <a:r>
              <a:rPr lang="fr-FR" dirty="0"/>
              <a:t> (NOT on Windows..) </a:t>
            </a:r>
            <a:br>
              <a:rPr lang="fr-FR" dirty="0"/>
            </a:br>
            <a:r>
              <a:rPr lang="fr-FR" dirty="0" err="1"/>
              <a:t>with</a:t>
            </a:r>
            <a:r>
              <a:rPr lang="fr-FR" dirty="0"/>
              <a:t> a Package Manager : </a:t>
            </a:r>
            <a:r>
              <a:rPr lang="fr-FR" dirty="0" err="1"/>
              <a:t>MacOS</a:t>
            </a:r>
            <a:r>
              <a:rPr lang="fr-FR" dirty="0"/>
              <a:t>,  Linux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DAB7DDD-F4BA-45E7-9C43-E4BE566C9CEB}"/>
              </a:ext>
            </a:extLst>
          </p:cNvPr>
          <p:cNvSpPr txBox="1"/>
          <p:nvPr/>
        </p:nvSpPr>
        <p:spPr>
          <a:xfrm>
            <a:off x="3244522" y="1900140"/>
            <a:ext cx="6474849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MAC OS:  </a:t>
            </a:r>
          </a:p>
          <a:p>
            <a:r>
              <a:rPr lang="fr-FR" sz="3200" b="1" dirty="0" err="1"/>
              <a:t>brew</a:t>
            </a:r>
            <a:r>
              <a:rPr lang="fr-FR" sz="3200" b="1" dirty="0"/>
              <a:t> </a:t>
            </a:r>
            <a:r>
              <a:rPr lang="fr-FR" sz="3200" b="1" dirty="0" err="1"/>
              <a:t>install</a:t>
            </a:r>
            <a:r>
              <a:rPr lang="fr-FR" sz="3200" b="1" dirty="0"/>
              <a:t>  apache-</a:t>
            </a:r>
            <a:r>
              <a:rPr lang="fr-FR" sz="3200" b="1" dirty="0" err="1"/>
              <a:t>spark</a:t>
            </a:r>
            <a:endParaRPr lang="fr-FR" sz="3200" b="1" dirty="0"/>
          </a:p>
          <a:p>
            <a:endParaRPr lang="fr-FR" sz="3200" dirty="0"/>
          </a:p>
          <a:p>
            <a:r>
              <a:rPr lang="fr-FR" sz="3200" dirty="0" err="1"/>
              <a:t>RedHat</a:t>
            </a:r>
            <a:r>
              <a:rPr lang="fr-FR" sz="3200" dirty="0"/>
              <a:t>:</a:t>
            </a:r>
            <a:br>
              <a:rPr lang="fr-FR" sz="3200" dirty="0"/>
            </a:br>
            <a:r>
              <a:rPr lang="fr-FR" sz="3200" dirty="0" err="1"/>
              <a:t>yum</a:t>
            </a:r>
            <a:r>
              <a:rPr lang="fr-FR" sz="3200" dirty="0"/>
              <a:t> </a:t>
            </a:r>
            <a:r>
              <a:rPr lang="fr-FR" sz="3200" dirty="0" err="1"/>
              <a:t>install</a:t>
            </a:r>
            <a:r>
              <a:rPr lang="fr-FR" sz="3200" dirty="0"/>
              <a:t> </a:t>
            </a:r>
            <a:r>
              <a:rPr lang="fr-FR" sz="3200" dirty="0" err="1"/>
              <a:t>spark</a:t>
            </a:r>
            <a:endParaRPr lang="fr-FR" sz="3200" dirty="0"/>
          </a:p>
          <a:p>
            <a:endParaRPr lang="fr-FR" sz="3200" dirty="0"/>
          </a:p>
          <a:p>
            <a:r>
              <a:rPr lang="fr-FR" sz="3200" dirty="0"/>
              <a:t>Debian:</a:t>
            </a:r>
          </a:p>
          <a:p>
            <a:r>
              <a:rPr lang="fr-FR" sz="3200" dirty="0" err="1"/>
              <a:t>sudo</a:t>
            </a:r>
            <a:r>
              <a:rPr lang="fr-FR" sz="3200" dirty="0"/>
              <a:t> </a:t>
            </a:r>
            <a:r>
              <a:rPr lang="fr-FR" sz="3200" dirty="0" err="1"/>
              <a:t>apt</a:t>
            </a:r>
            <a:r>
              <a:rPr lang="fr-FR" sz="3200" dirty="0"/>
              <a:t> </a:t>
            </a:r>
            <a:r>
              <a:rPr lang="fr-FR" sz="3200" dirty="0" err="1"/>
              <a:t>install</a:t>
            </a:r>
            <a:r>
              <a:rPr lang="fr-FR" sz="3200" dirty="0"/>
              <a:t> openjdk-8-jdk</a:t>
            </a:r>
            <a:br>
              <a:rPr lang="fr-FR" sz="3200" dirty="0"/>
            </a:br>
            <a:r>
              <a:rPr lang="fr-FR" sz="3200" b="1" dirty="0" err="1"/>
              <a:t>sudo</a:t>
            </a:r>
            <a:r>
              <a:rPr lang="fr-FR" sz="3200" b="1" dirty="0"/>
              <a:t> apt-get </a:t>
            </a:r>
            <a:r>
              <a:rPr lang="fr-FR" sz="3200" b="1" dirty="0" err="1"/>
              <a:t>install</a:t>
            </a:r>
            <a:r>
              <a:rPr lang="fr-FR" sz="3200" b="1" dirty="0"/>
              <a:t> </a:t>
            </a:r>
            <a:r>
              <a:rPr lang="fr-FR" sz="3200" b="1" dirty="0" err="1"/>
              <a:t>spark</a:t>
            </a:r>
            <a:br>
              <a:rPr lang="fr-FR" sz="3200" dirty="0"/>
            </a:br>
            <a:r>
              <a:rPr lang="fr-FR" sz="3200" dirty="0"/>
              <a:t># or … </a:t>
            </a:r>
            <a:r>
              <a:rPr lang="fr-FR" sz="3200" dirty="0" err="1"/>
              <a:t>sudo</a:t>
            </a:r>
            <a:r>
              <a:rPr lang="fr-FR" sz="3200" dirty="0"/>
              <a:t> snap </a:t>
            </a:r>
            <a:r>
              <a:rPr lang="fr-FR" sz="3200" dirty="0" err="1"/>
              <a:t>install</a:t>
            </a:r>
            <a:r>
              <a:rPr lang="fr-FR" sz="3200" dirty="0"/>
              <a:t> </a:t>
            </a:r>
            <a:r>
              <a:rPr lang="fr-FR" sz="3200" dirty="0" err="1"/>
              <a:t>spark</a:t>
            </a:r>
            <a:r>
              <a:rPr lang="fr-FR" sz="3200" dirty="0"/>
              <a:t> --</a:t>
            </a:r>
            <a:r>
              <a:rPr lang="fr-FR" sz="3200" dirty="0" err="1"/>
              <a:t>classic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4017980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400"/>
            <a:ext cx="10515600" cy="820044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1: Download Spark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054487-7695-78C7-F2F1-C365959E0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2" y="947659"/>
            <a:ext cx="4946973" cy="28335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5ED42E-A5EC-A76E-7945-17F045AAEEB2}"/>
              </a:ext>
            </a:extLst>
          </p:cNvPr>
          <p:cNvSpPr txBox="1"/>
          <p:nvPr/>
        </p:nvSpPr>
        <p:spPr>
          <a:xfrm>
            <a:off x="5428386" y="2895339"/>
            <a:ext cx="63183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https://spark.apache.org/downloads.html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D19091-4D2C-C968-83AB-46652420B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939" y="3382234"/>
            <a:ext cx="6930921" cy="332026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60506A2-6342-7DE0-0BF0-0DE119B303A0}"/>
              </a:ext>
            </a:extLst>
          </p:cNvPr>
          <p:cNvSpPr/>
          <p:nvPr/>
        </p:nvSpPr>
        <p:spPr>
          <a:xfrm>
            <a:off x="4804653" y="5450005"/>
            <a:ext cx="3588720" cy="3280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8519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B98C8-0803-A141-F9B0-90038229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Download..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2D4B7D-7EA8-A19F-69B6-A0F8019C6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331" y="1351264"/>
            <a:ext cx="10287469" cy="53429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045C035-6E16-374D-04A7-CD6F4BC79113}"/>
              </a:ext>
            </a:extLst>
          </p:cNvPr>
          <p:cNvSpPr/>
          <p:nvPr/>
        </p:nvSpPr>
        <p:spPr>
          <a:xfrm>
            <a:off x="683029" y="4553802"/>
            <a:ext cx="6468398" cy="3280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3874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CE089-3738-C5E1-565E-C8E2F9D98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Download .. </a:t>
            </a:r>
            <a:br>
              <a:rPr lang="fr-FR" dirty="0"/>
            </a:br>
            <a:r>
              <a:rPr lang="fr-FR" dirty="0"/>
              <a:t>spark3=370 MB, spark4=530 MB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1E47A1-794F-0F0B-C148-8F0E15A56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586" y="2110063"/>
            <a:ext cx="4362828" cy="1809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61CB48-34D8-9EEE-82DE-ADD5D2F491A5}"/>
              </a:ext>
            </a:extLst>
          </p:cNvPr>
          <p:cNvSpPr txBox="1"/>
          <p:nvPr/>
        </p:nvSpPr>
        <p:spPr>
          <a:xfrm>
            <a:off x="2461575" y="5195248"/>
            <a:ext cx="8769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(   </a:t>
            </a:r>
            <a:r>
              <a:rPr lang="fr-FR" sz="2400" dirty="0" err="1"/>
              <a:t>cf</a:t>
            </a:r>
            <a:r>
              <a:rPr lang="fr-FR" sz="2400" dirty="0"/>
              <a:t>  </a:t>
            </a:r>
            <a:r>
              <a:rPr lang="fr-FR" sz="2400" dirty="0" err="1"/>
              <a:t>also</a:t>
            </a:r>
            <a:r>
              <a:rPr lang="fr-FR" sz="2400" dirty="0"/>
              <a:t> </a:t>
            </a:r>
            <a:r>
              <a:rPr lang="fr-FR" sz="2400" dirty="0" err="1"/>
              <a:t>Step</a:t>
            </a:r>
            <a:r>
              <a:rPr lang="fr-FR" sz="2400" dirty="0"/>
              <a:t> 3 : </a:t>
            </a:r>
            <a:r>
              <a:rPr lang="fr-FR" sz="2400" dirty="0" err="1"/>
              <a:t>another</a:t>
            </a:r>
            <a:r>
              <a:rPr lang="fr-FR" sz="2400" dirty="0"/>
              <a:t> download for JDK </a:t>
            </a:r>
            <a:r>
              <a:rPr lang="fr-FR" sz="2400" dirty="0" err="1"/>
              <a:t>next</a:t>
            </a:r>
            <a:r>
              <a:rPr lang="fr-FR" sz="2400" dirty="0"/>
              <a:t> !! … 100MB  more ) </a:t>
            </a:r>
          </a:p>
        </p:txBody>
      </p:sp>
    </p:spTree>
    <p:extLst>
      <p:ext uri="{BB962C8B-B14F-4D97-AF65-F5344CB8AC3E}">
        <p14:creationId xmlns:p14="http://schemas.microsoft.com/office/powerpoint/2010/main" val="3417929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99"/>
            <a:ext cx="10515600" cy="120178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Step</a:t>
            </a:r>
            <a:r>
              <a:rPr lang="fr-FR" dirty="0"/>
              <a:t> 2: </a:t>
            </a:r>
            <a:r>
              <a:rPr lang="fr-FR" dirty="0" err="1"/>
              <a:t>Unzip</a:t>
            </a:r>
            <a:br>
              <a:rPr lang="fr-FR" dirty="0"/>
            </a:br>
            <a:r>
              <a:rPr lang="fr-FR" dirty="0"/>
              <a:t>for </a:t>
            </a:r>
            <a:r>
              <a:rPr lang="fr-FR" dirty="0" err="1"/>
              <a:t>example</a:t>
            </a:r>
            <a:r>
              <a:rPr lang="fr-FR" dirty="0"/>
              <a:t> in C:\apps\spark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5BE333-0CE3-D044-C2F9-FC5B0F42E846}"/>
              </a:ext>
            </a:extLst>
          </p:cNvPr>
          <p:cNvSpPr txBox="1"/>
          <p:nvPr/>
        </p:nvSpPr>
        <p:spPr>
          <a:xfrm>
            <a:off x="838200" y="1901067"/>
            <a:ext cx="7763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cygwin</a:t>
            </a:r>
            <a:r>
              <a:rPr lang="fr-FR" sz="2400" dirty="0"/>
              <a:t> / Linux ?   =&gt; </a:t>
            </a:r>
            <a:r>
              <a:rPr lang="fr-FR" sz="2400" dirty="0" err="1"/>
              <a:t>simply</a:t>
            </a:r>
            <a:r>
              <a:rPr lang="fr-FR" sz="2400" dirty="0"/>
              <a:t> type  « tar </a:t>
            </a:r>
            <a:r>
              <a:rPr lang="fr-FR" sz="2400" dirty="0" err="1"/>
              <a:t>zxf</a:t>
            </a:r>
            <a:r>
              <a:rPr lang="fr-FR" sz="2400" dirty="0"/>
              <a:t> spark*.tgz 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F8B769-BE89-6D8E-600E-287C471EC3C1}"/>
              </a:ext>
            </a:extLst>
          </p:cNvPr>
          <p:cNvSpPr txBox="1"/>
          <p:nvPr/>
        </p:nvSpPr>
        <p:spPr>
          <a:xfrm>
            <a:off x="838200" y="3089429"/>
            <a:ext cx="2370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From</a:t>
            </a:r>
            <a:r>
              <a:rPr lang="fr-FR" sz="2400" dirty="0"/>
              <a:t> Windows …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AE4B443-067D-22A6-5305-1D15BC1D23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229613"/>
              </p:ext>
            </p:extLst>
          </p:nvPr>
        </p:nvGraphicFramePr>
        <p:xfrm>
          <a:off x="3298054" y="2735207"/>
          <a:ext cx="7447409" cy="3857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Bitmap Image" r:id="rId3" imgW="10203120" imgH="5284440" progId="PBrush">
                  <p:embed/>
                </p:oleObj>
              </mc:Choice>
              <mc:Fallback>
                <p:oleObj name="Bitmap Image" r:id="rId3" imgW="10203120" imgH="52844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98054" y="2735207"/>
                        <a:ext cx="7447409" cy="3857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5356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D2B12-BBE7-F844-C54C-5D3093B65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7-Zip … not </a:t>
            </a:r>
            <a:r>
              <a:rPr lang="fr-FR" dirty="0" err="1"/>
              <a:t>very</a:t>
            </a:r>
            <a:r>
              <a:rPr lang="fr-FR" dirty="0"/>
              <a:t> user-</a:t>
            </a:r>
            <a:r>
              <a:rPr lang="fr-FR" dirty="0" err="1"/>
              <a:t>friendly</a:t>
            </a:r>
            <a:r>
              <a:rPr lang="fr-FR" dirty="0"/>
              <a:t> for « .tar.gz »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C28AA8-6C79-796F-264D-2EE899515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472" y="1652335"/>
            <a:ext cx="5791702" cy="19127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2EFE6AA-83FF-770A-36F6-38E638FB17F3}"/>
              </a:ext>
            </a:extLst>
          </p:cNvPr>
          <p:cNvSpPr/>
          <p:nvPr/>
        </p:nvSpPr>
        <p:spPr>
          <a:xfrm>
            <a:off x="3030124" y="2764539"/>
            <a:ext cx="2119632" cy="3280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B58E28-365E-46B2-44F4-85947B228159}"/>
              </a:ext>
            </a:extLst>
          </p:cNvPr>
          <p:cNvSpPr txBox="1"/>
          <p:nvPr/>
        </p:nvSpPr>
        <p:spPr>
          <a:xfrm>
            <a:off x="2533935" y="3299287"/>
            <a:ext cx="90031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First  </a:t>
            </a:r>
            <a:r>
              <a:rPr lang="fr-FR" sz="2400" dirty="0" err="1"/>
              <a:t>unzip</a:t>
            </a:r>
            <a:r>
              <a:rPr lang="fr-FR" sz="2400" dirty="0"/>
              <a:t> …. 7-Zip </a:t>
            </a:r>
            <a:r>
              <a:rPr lang="fr-FR" sz="2400" dirty="0" err="1"/>
              <a:t>only</a:t>
            </a:r>
            <a:r>
              <a:rPr lang="fr-FR" sz="2400" dirty="0"/>
              <a:t> </a:t>
            </a:r>
            <a:r>
              <a:rPr lang="fr-FR" sz="2400" dirty="0" err="1"/>
              <a:t>understand</a:t>
            </a:r>
            <a:r>
              <a:rPr lang="fr-FR" sz="2400" dirty="0"/>
              <a:t> the « .</a:t>
            </a:r>
            <a:r>
              <a:rPr lang="fr-FR" sz="2400" dirty="0" err="1"/>
              <a:t>gz</a:t>
            </a:r>
            <a:r>
              <a:rPr lang="fr-FR" sz="2400" dirty="0"/>
              <a:t> »  </a:t>
            </a:r>
            <a:r>
              <a:rPr lang="fr-FR" sz="2400" dirty="0" err="1"/>
              <a:t>suffix</a:t>
            </a:r>
            <a:r>
              <a:rPr lang="fr-FR" sz="2400" dirty="0"/>
              <a:t>  out of « .tar.gz »</a:t>
            </a:r>
          </a:p>
          <a:p>
            <a:r>
              <a:rPr lang="fr-FR" sz="2400" dirty="0"/>
              <a:t>=&gt; You </a:t>
            </a:r>
            <a:r>
              <a:rPr lang="fr-FR" sz="2400" dirty="0" err="1"/>
              <a:t>extract</a:t>
            </a:r>
            <a:r>
              <a:rPr lang="fr-FR" sz="2400" dirty="0"/>
              <a:t> a « .tar » file …. </a:t>
            </a:r>
            <a:r>
              <a:rPr lang="fr-FR" sz="2400" dirty="0" err="1"/>
              <a:t>Then</a:t>
            </a:r>
            <a:r>
              <a:rPr lang="fr-FR" sz="2400" dirty="0"/>
              <a:t> </a:t>
            </a:r>
            <a:r>
              <a:rPr lang="fr-FR" sz="2400" dirty="0" err="1"/>
              <a:t>you</a:t>
            </a:r>
            <a:r>
              <a:rPr lang="fr-FR" sz="2400" dirty="0"/>
              <a:t> </a:t>
            </a:r>
            <a:r>
              <a:rPr lang="fr-FR" sz="2400" dirty="0" err="1"/>
              <a:t>redo</a:t>
            </a:r>
            <a:r>
              <a:rPr lang="fr-FR" sz="2400" dirty="0"/>
              <a:t> </a:t>
            </a:r>
            <a:r>
              <a:rPr lang="fr-FR" sz="2400" dirty="0" err="1"/>
              <a:t>extract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this</a:t>
            </a:r>
            <a:r>
              <a:rPr lang="fr-FR" sz="2400" dirty="0"/>
              <a:t> file 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D66A35-A569-6F82-8A3F-E5CA4BF33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360" y="4767567"/>
            <a:ext cx="6294665" cy="1817528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8AB1BF53-BB18-4437-FFD2-82643995977A}"/>
              </a:ext>
            </a:extLst>
          </p:cNvPr>
          <p:cNvSpPr/>
          <p:nvPr/>
        </p:nvSpPr>
        <p:spPr>
          <a:xfrm>
            <a:off x="5183164" y="5841242"/>
            <a:ext cx="504967" cy="3866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B8E3670-E9A6-D409-EAA6-1D4F5546D423}"/>
              </a:ext>
            </a:extLst>
          </p:cNvPr>
          <p:cNvSpPr/>
          <p:nvPr/>
        </p:nvSpPr>
        <p:spPr>
          <a:xfrm>
            <a:off x="411308" y="5119705"/>
            <a:ext cx="504967" cy="3866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5A5423-D676-F54B-2B10-ED7A516CD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875" y="4500526"/>
            <a:ext cx="4160881" cy="123835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CB02DEA-7834-15CE-0906-F8F4C4E26FAF}"/>
              </a:ext>
            </a:extLst>
          </p:cNvPr>
          <p:cNvSpPr/>
          <p:nvPr/>
        </p:nvSpPr>
        <p:spPr>
          <a:xfrm>
            <a:off x="2018294" y="4955677"/>
            <a:ext cx="1469232" cy="3280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0B0AE8-42DA-905D-3D3C-CF223013F5F8}"/>
              </a:ext>
            </a:extLst>
          </p:cNvPr>
          <p:cNvSpPr/>
          <p:nvPr/>
        </p:nvSpPr>
        <p:spPr>
          <a:xfrm>
            <a:off x="6448744" y="5251601"/>
            <a:ext cx="598050" cy="3280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6031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BF64F-A730-F145-436E-6F01EC77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52885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2… check </a:t>
            </a:r>
            <a:r>
              <a:rPr lang="fr-FR" dirty="0" err="1"/>
              <a:t>extract</a:t>
            </a:r>
            <a:r>
              <a:rPr lang="fr-FR" dirty="0"/>
              <a:t> « .tar » file!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59D612-B34C-7543-06ED-720C6B523355}"/>
              </a:ext>
            </a:extLst>
          </p:cNvPr>
          <p:cNvSpPr txBox="1"/>
          <p:nvPr/>
        </p:nvSpPr>
        <p:spPr>
          <a:xfrm>
            <a:off x="90820" y="3347113"/>
            <a:ext cx="642810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Simplify</a:t>
            </a:r>
            <a:r>
              <a:rPr lang="fr-FR" sz="2800" dirty="0"/>
              <a:t>… move and </a:t>
            </a:r>
            <a:r>
              <a:rPr lang="fr-FR" sz="2800" dirty="0" err="1"/>
              <a:t>rename</a:t>
            </a:r>
            <a:r>
              <a:rPr lang="fr-FR" sz="2800" dirty="0"/>
              <a:t> </a:t>
            </a:r>
            <a:r>
              <a:rPr lang="fr-FR" sz="2800" dirty="0" err="1"/>
              <a:t>sub-sub</a:t>
            </a:r>
            <a:r>
              <a:rPr lang="fr-FR" sz="2800" dirty="0"/>
              <a:t> </a:t>
            </a:r>
            <a:r>
              <a:rPr lang="fr-FR" sz="2800" dirty="0" err="1"/>
              <a:t>dir</a:t>
            </a:r>
            <a:r>
              <a:rPr lang="fr-FR" sz="2800" dirty="0"/>
              <a:t> </a:t>
            </a:r>
          </a:p>
          <a:p>
            <a:r>
              <a:rPr lang="fr-FR" sz="2800" dirty="0"/>
              <a:t>to « c:\apps\spark »</a:t>
            </a:r>
          </a:p>
          <a:p>
            <a:endParaRPr lang="fr-FR" sz="2800" dirty="0"/>
          </a:p>
          <a:p>
            <a:r>
              <a:rPr lang="fr-FR" sz="2800" dirty="0" err="1"/>
              <a:t>your</a:t>
            </a:r>
            <a:r>
              <a:rPr lang="fr-FR" sz="2800" dirty="0"/>
              <a:t> version </a:t>
            </a:r>
            <a:r>
              <a:rPr lang="fr-FR" sz="2800" dirty="0" err="1"/>
              <a:t>may</a:t>
            </a:r>
            <a:r>
              <a:rPr lang="fr-FR" sz="2800" dirty="0"/>
              <a:t> </a:t>
            </a:r>
            <a:r>
              <a:rPr lang="fr-FR" sz="2800" dirty="0" err="1"/>
              <a:t>be</a:t>
            </a:r>
            <a:r>
              <a:rPr lang="fr-FR" sz="2800" dirty="0"/>
              <a:t> 3.4.xx</a:t>
            </a:r>
          </a:p>
          <a:p>
            <a:r>
              <a:rPr lang="fr-FR" sz="2800" dirty="0"/>
              <a:t>   != 3.3.0 … </a:t>
            </a:r>
            <a:r>
              <a:rPr lang="fr-FR" sz="2800" dirty="0" err="1"/>
              <a:t>screenshot</a:t>
            </a:r>
            <a:r>
              <a:rPr lang="fr-FR" sz="2800" dirty="0"/>
              <a:t> </a:t>
            </a:r>
            <a:r>
              <a:rPr lang="fr-FR" sz="2800" dirty="0" err="1"/>
              <a:t>from</a:t>
            </a:r>
            <a:r>
              <a:rPr lang="fr-FR" sz="2800" dirty="0"/>
              <a:t> </a:t>
            </a:r>
            <a:r>
              <a:rPr lang="fr-FR" sz="2800" dirty="0" err="1"/>
              <a:t>oct</a:t>
            </a:r>
            <a:r>
              <a:rPr lang="fr-FR" sz="2800" dirty="0"/>
              <a:t> 2022 </a:t>
            </a:r>
          </a:p>
          <a:p>
            <a:r>
              <a:rPr lang="fr-FR" sz="2800" dirty="0" err="1"/>
              <a:t>warn</a:t>
            </a:r>
            <a:r>
              <a:rPr lang="fr-FR" sz="2800" dirty="0"/>
              <a:t> on </a:t>
            </a:r>
            <a:r>
              <a:rPr lang="fr-FR" sz="2800" dirty="0" err="1"/>
              <a:t>next</a:t>
            </a:r>
            <a:r>
              <a:rPr lang="fr-FR" sz="2800" dirty="0"/>
              <a:t> slides for </a:t>
            </a:r>
            <a:r>
              <a:rPr lang="fr-FR" sz="2800" dirty="0" err="1"/>
              <a:t>your</a:t>
            </a:r>
            <a:r>
              <a:rPr lang="fr-FR" sz="2800" dirty="0"/>
              <a:t> exact </a:t>
            </a:r>
            <a:r>
              <a:rPr lang="fr-FR" sz="2800" dirty="0" err="1"/>
              <a:t>dir</a:t>
            </a:r>
            <a:r>
              <a:rPr lang="fr-FR" sz="2800" dirty="0"/>
              <a:t> </a:t>
            </a:r>
            <a:r>
              <a:rPr lang="fr-FR" sz="2800" dirty="0" err="1"/>
              <a:t>path</a:t>
            </a:r>
            <a:r>
              <a:rPr lang="fr-FR" sz="2800" dirty="0"/>
              <a:t>!</a:t>
            </a:r>
          </a:p>
          <a:p>
            <a:endParaRPr lang="fr-FR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C7BB7B-1359-7896-5B20-ABD89A0D3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90" y="1163395"/>
            <a:ext cx="5372566" cy="12459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C33A05-A77E-2169-00E0-C7AD9C7BC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210" y="2215486"/>
            <a:ext cx="5279846" cy="445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53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99"/>
            <a:ext cx="10515600" cy="96208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Step</a:t>
            </a:r>
            <a:r>
              <a:rPr lang="fr-FR" dirty="0"/>
              <a:t> 3: Pre-</a:t>
            </a:r>
            <a:r>
              <a:rPr lang="fr-FR" dirty="0" err="1"/>
              <a:t>requisite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Install JDK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CBAA0C-6080-E0CE-9650-763E9DB684B7}"/>
              </a:ext>
            </a:extLst>
          </p:cNvPr>
          <p:cNvSpPr txBox="1"/>
          <p:nvPr/>
        </p:nvSpPr>
        <p:spPr>
          <a:xfrm>
            <a:off x="674703" y="2001915"/>
            <a:ext cx="9411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Notice: </a:t>
            </a:r>
            <a:r>
              <a:rPr lang="fr-FR" sz="2400" dirty="0" err="1"/>
              <a:t>most</a:t>
            </a:r>
            <a:r>
              <a:rPr lang="fr-FR" sz="2400" dirty="0"/>
              <a:t> of Hadoop </a:t>
            </a:r>
            <a:r>
              <a:rPr lang="fr-FR" sz="2400" dirty="0" err="1"/>
              <a:t>still</a:t>
            </a:r>
            <a:r>
              <a:rPr lang="fr-FR" sz="2400" dirty="0"/>
              <a:t> use Java 8+linux.. But cmd </a:t>
            </a:r>
            <a:r>
              <a:rPr lang="fr-FR" sz="2400" dirty="0" err="1"/>
              <a:t>error</a:t>
            </a:r>
            <a:r>
              <a:rPr lang="fr-FR" sz="2400" dirty="0"/>
              <a:t> on  </a:t>
            </a:r>
            <a:r>
              <a:rPr lang="fr-FR" sz="2400" dirty="0" err="1"/>
              <a:t>windows</a:t>
            </a:r>
            <a:r>
              <a:rPr lang="fr-FR" sz="24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A1557-73A2-094A-83FB-FCBA1BB42F51}"/>
              </a:ext>
            </a:extLst>
          </p:cNvPr>
          <p:cNvSpPr txBox="1"/>
          <p:nvPr/>
        </p:nvSpPr>
        <p:spPr>
          <a:xfrm>
            <a:off x="674703" y="2766874"/>
            <a:ext cx="11616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JDK </a:t>
            </a:r>
            <a:r>
              <a:rPr lang="fr-FR" sz="2400" dirty="0" err="1"/>
              <a:t>is</a:t>
            </a:r>
            <a:r>
              <a:rPr lang="fr-FR" sz="2400" dirty="0"/>
              <a:t> Open-Source, but </a:t>
            </a:r>
            <a:r>
              <a:rPr lang="fr-FR" sz="2400" dirty="0" err="1"/>
              <a:t>pre-built</a:t>
            </a:r>
            <a:r>
              <a:rPr lang="fr-FR" sz="2400" dirty="0"/>
              <a:t> </a:t>
            </a:r>
            <a:r>
              <a:rPr lang="fr-FR" sz="2400" dirty="0" err="1"/>
              <a:t>binaries</a:t>
            </a:r>
            <a:r>
              <a:rPr lang="fr-FR" sz="2400" dirty="0"/>
              <a:t> </a:t>
            </a:r>
            <a:r>
              <a:rPr lang="fr-FR" sz="2400" dirty="0" err="1"/>
              <a:t>may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licenced</a:t>
            </a:r>
            <a:r>
              <a:rPr lang="fr-FR" sz="2400" dirty="0"/>
              <a:t> if </a:t>
            </a:r>
            <a:r>
              <a:rPr lang="fr-FR" sz="2400" dirty="0" err="1"/>
              <a:t>downloading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oracle.com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A0F410-7CBA-4A66-B7D2-325CB2618E6A}"/>
              </a:ext>
            </a:extLst>
          </p:cNvPr>
          <p:cNvSpPr txBox="1"/>
          <p:nvPr/>
        </p:nvSpPr>
        <p:spPr>
          <a:xfrm>
            <a:off x="674703" y="3523792"/>
            <a:ext cx="7805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Download </a:t>
            </a:r>
            <a:r>
              <a:rPr lang="fr-FR" sz="2400" dirty="0" err="1"/>
              <a:t>from</a:t>
            </a:r>
            <a:r>
              <a:rPr lang="fr-FR" sz="2400" dirty="0"/>
              <a:t> « </a:t>
            </a:r>
            <a:r>
              <a:rPr lang="fr-FR" sz="2400" dirty="0" err="1"/>
              <a:t>adoptium</a:t>
            </a:r>
            <a:r>
              <a:rPr lang="fr-FR" sz="2400" dirty="0"/>
              <a:t> »  (</a:t>
            </a:r>
            <a:r>
              <a:rPr lang="fr-FR" sz="2400" dirty="0" err="1"/>
              <a:t>previously</a:t>
            </a:r>
            <a:r>
              <a:rPr lang="fr-FR" sz="2400" dirty="0"/>
              <a:t> « </a:t>
            </a:r>
            <a:r>
              <a:rPr lang="fr-FR" sz="2400" dirty="0" err="1"/>
              <a:t>adoptOpenJdk</a:t>
            </a:r>
            <a:r>
              <a:rPr lang="fr-FR" sz="2400" dirty="0"/>
              <a:t> »)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0CE7E0-F35D-CF4A-BB6B-19C6B0772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572" y="4254231"/>
            <a:ext cx="6011759" cy="26037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1E9EAA-717C-B874-9648-1DC84C666712}"/>
              </a:ext>
            </a:extLst>
          </p:cNvPr>
          <p:cNvSpPr txBox="1"/>
          <p:nvPr/>
        </p:nvSpPr>
        <p:spPr>
          <a:xfrm>
            <a:off x="941970" y="5127992"/>
            <a:ext cx="399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hlinkClick r:id="rId3"/>
              </a:rPr>
              <a:t>https://adoptium.net/</a:t>
            </a:r>
            <a:r>
              <a:rPr lang="fr-FR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363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805"/>
            <a:ext cx="10515600" cy="116966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Step</a:t>
            </a:r>
            <a:r>
              <a:rPr lang="fr-FR" dirty="0"/>
              <a:t> 4: on Windows </a:t>
            </a:r>
            <a:r>
              <a:rPr lang="fr-FR" dirty="0" err="1"/>
              <a:t>only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Download « </a:t>
            </a:r>
            <a:r>
              <a:rPr lang="fr-FR" dirty="0" err="1"/>
              <a:t>WinUtils</a:t>
            </a:r>
            <a:r>
              <a:rPr lang="fr-FR" dirty="0"/>
              <a:t> 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CEE0D-C0FC-B091-C0BA-B736880C61A3}"/>
              </a:ext>
            </a:extLst>
          </p:cNvPr>
          <p:cNvSpPr txBox="1"/>
          <p:nvPr/>
        </p:nvSpPr>
        <p:spPr>
          <a:xfrm>
            <a:off x="5102372" y="3590267"/>
            <a:ext cx="55609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hlinkClick r:id="rId2"/>
              </a:rPr>
              <a:t>https://github.com/cdarlint/winutils</a:t>
            </a:r>
            <a:r>
              <a:rPr lang="fr-FR" sz="28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16DAA1-4B91-8F36-A4F7-22560137A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3943" y="4208249"/>
            <a:ext cx="8188171" cy="23162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74CC02-41CE-478E-E14E-8DD5BA05B5A3}"/>
              </a:ext>
            </a:extLst>
          </p:cNvPr>
          <p:cNvSpPr txBox="1"/>
          <p:nvPr/>
        </p:nvSpPr>
        <p:spPr>
          <a:xfrm>
            <a:off x="627797" y="3746584"/>
            <a:ext cx="26975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OR ELSE (more </a:t>
            </a:r>
            <a:r>
              <a:rPr lang="fr-FR" dirty="0" err="1"/>
              <a:t>difficult</a:t>
            </a:r>
            <a:r>
              <a:rPr lang="fr-FR" dirty="0"/>
              <a:t>)</a:t>
            </a:r>
          </a:p>
          <a:p>
            <a:r>
              <a:rPr lang="fr-FR" dirty="0"/>
              <a:t>If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 to copy </a:t>
            </a:r>
          </a:p>
          <a:p>
            <a:r>
              <a:rPr lang="fr-FR" dirty="0"/>
              <a:t>        </a:t>
            </a:r>
            <a:r>
              <a:rPr lang="fr-FR" dirty="0" err="1"/>
              <a:t>from</a:t>
            </a:r>
            <a:r>
              <a:rPr lang="fr-FR" dirty="0"/>
              <a:t> Source </a:t>
            </a:r>
            <a:r>
              <a:rPr lang="fr-FR" dirty="0" err="1"/>
              <a:t>directly</a:t>
            </a:r>
            <a:endParaRPr lang="fr-FR" dirty="0"/>
          </a:p>
          <a:p>
            <a:endParaRPr lang="fr-FR" dirty="0"/>
          </a:p>
          <a:p>
            <a:r>
              <a:rPr lang="fr-FR" dirty="0"/>
              <a:t>..  Cf 2 Files to </a:t>
            </a:r>
            <a:r>
              <a:rPr lang="fr-FR" dirty="0" err="1"/>
              <a:t>extract</a:t>
            </a:r>
            <a:r>
              <a:rPr lang="fr-FR" dirty="0"/>
              <a:t> </a:t>
            </a:r>
            <a:r>
              <a:rPr lang="fr-FR" dirty="0" err="1"/>
              <a:t>from</a:t>
            </a:r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45069B-C392-128E-C15F-CF77DF10D4A5}"/>
              </a:ext>
            </a:extLst>
          </p:cNvPr>
          <p:cNvSpPr txBox="1"/>
          <p:nvPr/>
        </p:nvSpPr>
        <p:spPr>
          <a:xfrm>
            <a:off x="1880447" y="2080368"/>
            <a:ext cx="69496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copying</a:t>
            </a:r>
            <a:r>
              <a:rPr lang="fr-FR" sz="2400" dirty="0"/>
              <a:t> 2 files =&gt; </a:t>
            </a:r>
            <a:r>
              <a:rPr lang="fr-FR" sz="2400" b="1" dirty="0" err="1"/>
              <a:t>from</a:t>
            </a:r>
            <a:r>
              <a:rPr lang="fr-FR" sz="2400" b="1" dirty="0"/>
              <a:t> DVO &gt; Course Spark &gt;  « TD1 »</a:t>
            </a:r>
          </a:p>
          <a:p>
            <a:r>
              <a:rPr lang="fr-FR" sz="2400" b="1" dirty="0"/>
              <a:t>  hadoop.dll + winutils.exe   in  </a:t>
            </a:r>
            <a:r>
              <a:rPr lang="fr-FR" sz="2400" b="1" dirty="0" err="1"/>
              <a:t>your</a:t>
            </a:r>
            <a:r>
              <a:rPr lang="fr-FR" sz="2400" b="1" dirty="0"/>
              <a:t> Spark\bin</a:t>
            </a:r>
          </a:p>
        </p:txBody>
      </p:sp>
    </p:spTree>
    <p:extLst>
      <p:ext uri="{BB962C8B-B14F-4D97-AF65-F5344CB8AC3E}">
        <p14:creationId xmlns:p14="http://schemas.microsoft.com/office/powerpoint/2010/main" val="1400832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400"/>
            <a:ext cx="10515600" cy="82004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Step</a:t>
            </a:r>
            <a:r>
              <a:rPr lang="fr-FR" dirty="0"/>
              <a:t> 4… Copy winutils.exe, hadoop.dll</a:t>
            </a:r>
            <a:br>
              <a:rPr lang="fr-FR" dirty="0"/>
            </a:br>
            <a:r>
              <a:rPr lang="fr-FR" dirty="0"/>
              <a:t>to </a:t>
            </a:r>
            <a:r>
              <a:rPr lang="fr-FR" dirty="0" err="1"/>
              <a:t>you</a:t>
            </a:r>
            <a:r>
              <a:rPr lang="fr-FR" dirty="0"/>
              <a:t> Spark  \bin\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7BBD83-EE4F-3489-74BF-6D820C357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430" y="2470354"/>
            <a:ext cx="7304137" cy="41953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26AAD14-2157-0353-D662-55D728F38178}"/>
              </a:ext>
            </a:extLst>
          </p:cNvPr>
          <p:cNvSpPr/>
          <p:nvPr/>
        </p:nvSpPr>
        <p:spPr>
          <a:xfrm>
            <a:off x="3671889" y="3695010"/>
            <a:ext cx="1593542" cy="38617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C6F85F-B5CF-F5EC-4D92-5C4DE74134A0}"/>
              </a:ext>
            </a:extLst>
          </p:cNvPr>
          <p:cNvSpPr/>
          <p:nvPr/>
        </p:nvSpPr>
        <p:spPr>
          <a:xfrm>
            <a:off x="3671889" y="5673811"/>
            <a:ext cx="1593542" cy="38617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2725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19617-D56B-D19D-7589-BF1B40C2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Check </a:t>
            </a:r>
            <a:r>
              <a:rPr lang="fr-FR" dirty="0" err="1"/>
              <a:t>Copied</a:t>
            </a:r>
            <a:r>
              <a:rPr lang="fr-FR" dirty="0"/>
              <a:t> 2 Files in  </a:t>
            </a:r>
            <a:r>
              <a:rPr lang="fr-FR" dirty="0" err="1"/>
              <a:t>spark</a:t>
            </a:r>
            <a:r>
              <a:rPr lang="fr-FR" dirty="0"/>
              <a:t>…. \bin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D89B53-EF67-E098-A99C-A1A776EBA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269" y="1410269"/>
            <a:ext cx="5314666" cy="531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471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08ECC-8C90-875F-9124-6472E03F2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4564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Step</a:t>
            </a:r>
            <a:r>
              <a:rPr lang="fr-FR" dirty="0"/>
              <a:t> 5-a/ … </a:t>
            </a:r>
            <a:r>
              <a:rPr lang="fr-FR" b="1" dirty="0" err="1"/>
              <a:t>optionnal</a:t>
            </a:r>
            <a:r>
              <a:rPr lang="fr-FR" b="1" dirty="0"/>
              <a:t> …</a:t>
            </a:r>
            <a:br>
              <a:rPr lang="fr-FR" b="1" dirty="0"/>
            </a:br>
            <a:r>
              <a:rPr lang="fr-FR" b="1" dirty="0"/>
              <a:t>( </a:t>
            </a:r>
            <a:r>
              <a:rPr lang="fr-FR" dirty="0"/>
              <a:t>… for more possible </a:t>
            </a:r>
            <a:r>
              <a:rPr lang="fr-FR" dirty="0" err="1"/>
              <a:t>customization</a:t>
            </a:r>
            <a:r>
              <a:rPr lang="fr-FR" dirty="0"/>
              <a:t> on Hadoop configuration files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5D09F4-59A0-2D56-191D-C8B1383BB38A}"/>
              </a:ext>
            </a:extLst>
          </p:cNvPr>
          <p:cNvSpPr txBox="1"/>
          <p:nvPr/>
        </p:nvSpPr>
        <p:spPr>
          <a:xfrm>
            <a:off x="2774271" y="2454675"/>
            <a:ext cx="853355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Also</a:t>
            </a:r>
            <a:r>
              <a:rPr lang="fr-FR" dirty="0"/>
              <a:t> Download Hadoop </a:t>
            </a:r>
            <a:r>
              <a:rPr lang="fr-FR" dirty="0" err="1"/>
              <a:t>separatly</a:t>
            </a:r>
            <a:r>
              <a:rPr lang="fr-FR" dirty="0"/>
              <a:t> !! (</a:t>
            </a:r>
            <a:r>
              <a:rPr lang="fr-FR" dirty="0" err="1"/>
              <a:t>cf</a:t>
            </a:r>
            <a:r>
              <a:rPr lang="fr-FR" dirty="0"/>
              <a:t> </a:t>
            </a:r>
            <a:r>
              <a:rPr lang="fr-FR" dirty="0" err="1"/>
              <a:t>next</a:t>
            </a:r>
            <a:r>
              <a:rPr lang="fr-FR" dirty="0"/>
              <a:t> slide)</a:t>
            </a:r>
          </a:p>
          <a:p>
            <a:endParaRPr lang="fr-FR" dirty="0"/>
          </a:p>
          <a:p>
            <a:r>
              <a:rPr lang="fr-FR" dirty="0"/>
              <a:t>AND   Re-download </a:t>
            </a:r>
            <a:r>
              <a:rPr lang="fr-FR" dirty="0" err="1"/>
              <a:t>spark</a:t>
            </a:r>
            <a:r>
              <a:rPr lang="fr-FR" dirty="0"/>
              <a:t>, </a:t>
            </a:r>
            <a:r>
              <a:rPr lang="fr-FR" dirty="0" err="1"/>
              <a:t>choose</a:t>
            </a:r>
            <a:r>
              <a:rPr lang="fr-FR" dirty="0"/>
              <a:t> package type = « </a:t>
            </a:r>
            <a:r>
              <a:rPr lang="fr-FR" dirty="0" err="1"/>
              <a:t>with</a:t>
            </a:r>
            <a:r>
              <a:rPr lang="fr-FR" dirty="0"/>
              <a:t> user-</a:t>
            </a:r>
            <a:r>
              <a:rPr lang="fr-FR" dirty="0" err="1"/>
              <a:t>provided</a:t>
            </a:r>
            <a:r>
              <a:rPr lang="fr-FR" dirty="0"/>
              <a:t> Apache Hadoop »</a:t>
            </a:r>
          </a:p>
          <a:p>
            <a:endParaRPr lang="fr-FR" dirty="0"/>
          </a:p>
          <a:p>
            <a:r>
              <a:rPr lang="fr-FR" dirty="0"/>
              <a:t> </a:t>
            </a:r>
          </a:p>
          <a:p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3CEC9F-6876-AD93-EFA0-28E5CF7A5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038" y="3614591"/>
            <a:ext cx="6885267" cy="20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94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4C0B2-2075-376A-B5BB-F5B77AC98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5-b/ … </a:t>
            </a:r>
            <a:r>
              <a:rPr lang="fr-FR" dirty="0" err="1"/>
              <a:t>optionnal</a:t>
            </a:r>
            <a:r>
              <a:rPr lang="fr-FR" dirty="0"/>
              <a:t> … </a:t>
            </a:r>
            <a:br>
              <a:rPr lang="fr-FR" dirty="0"/>
            </a:br>
            <a:r>
              <a:rPr lang="fr-FR" dirty="0"/>
              <a:t>Download user-</a:t>
            </a:r>
            <a:r>
              <a:rPr lang="fr-FR" dirty="0" err="1"/>
              <a:t>defined</a:t>
            </a:r>
            <a:r>
              <a:rPr lang="fr-FR" dirty="0"/>
              <a:t> Hadoop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ADFAFE-8B8E-CD6C-3CB0-4F464EE12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453" y="3184902"/>
            <a:ext cx="9754445" cy="33911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90EEA5-E489-4D9A-D48C-FBB78CEB4DDC}"/>
              </a:ext>
            </a:extLst>
          </p:cNvPr>
          <p:cNvSpPr txBox="1"/>
          <p:nvPr/>
        </p:nvSpPr>
        <p:spPr>
          <a:xfrm>
            <a:off x="2111800" y="2175029"/>
            <a:ext cx="79684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https://hadoop.apache.org/releases.html</a:t>
            </a:r>
          </a:p>
        </p:txBody>
      </p:sp>
    </p:spTree>
    <p:extLst>
      <p:ext uri="{BB962C8B-B14F-4D97-AF65-F5344CB8AC3E}">
        <p14:creationId xmlns:p14="http://schemas.microsoft.com/office/powerpoint/2010/main" val="1779038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983"/>
            <a:ext cx="10515600" cy="820044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6 : Configure </a:t>
            </a:r>
            <a:r>
              <a:rPr lang="fr-FR" dirty="0" err="1"/>
              <a:t>Environment</a:t>
            </a:r>
            <a:r>
              <a:rPr lang="fr-FR" dirty="0"/>
              <a:t> 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37DE36-DBEF-416A-E53F-4B23026FF348}"/>
              </a:ext>
            </a:extLst>
          </p:cNvPr>
          <p:cNvSpPr txBox="1"/>
          <p:nvPr/>
        </p:nvSpPr>
        <p:spPr>
          <a:xfrm>
            <a:off x="1129506" y="2195711"/>
            <a:ext cx="9856994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800" dirty="0"/>
          </a:p>
          <a:p>
            <a:r>
              <a:rPr lang="fr-FR" sz="2800" b="1" dirty="0"/>
              <a:t>(RECOMMENDED) </a:t>
            </a:r>
            <a:br>
              <a:rPr lang="fr-FR" sz="2800" b="1" dirty="0"/>
            </a:br>
            <a:r>
              <a:rPr lang="fr-FR" sz="2800" dirty="0"/>
              <a:t>Edit </a:t>
            </a:r>
            <a:r>
              <a:rPr lang="fr-FR" sz="2800" dirty="0" err="1"/>
              <a:t>your</a:t>
            </a:r>
            <a:r>
              <a:rPr lang="fr-FR" sz="2800" dirty="0"/>
              <a:t> Windows</a:t>
            </a:r>
            <a:br>
              <a:rPr lang="fr-FR" sz="2800" dirty="0"/>
            </a:br>
            <a:r>
              <a:rPr lang="fr-FR" sz="2800" dirty="0"/>
              <a:t>  </a:t>
            </a:r>
            <a:r>
              <a:rPr lang="fr-FR" sz="2800" dirty="0" err="1"/>
              <a:t>Environment</a:t>
            </a:r>
            <a:r>
              <a:rPr lang="fr-FR" sz="2800" dirty="0"/>
              <a:t> Variables !!!</a:t>
            </a:r>
          </a:p>
          <a:p>
            <a:endParaRPr lang="fr-FR" sz="2800" b="1" dirty="0"/>
          </a:p>
          <a:p>
            <a:endParaRPr lang="fr-FR" sz="2800" b="1" dirty="0"/>
          </a:p>
          <a:p>
            <a:r>
              <a:rPr lang="fr-FR" sz="2800" b="1" dirty="0"/>
              <a:t>Or</a:t>
            </a:r>
            <a:r>
              <a:rPr lang="fr-FR" sz="2800" dirty="0"/>
              <a:t> </a:t>
            </a:r>
            <a:r>
              <a:rPr lang="fr-FR" sz="2800" dirty="0" err="1"/>
              <a:t>save</a:t>
            </a:r>
            <a:r>
              <a:rPr lang="fr-FR" sz="2800" dirty="0"/>
              <a:t> « set VAR=.. » in new file « c:\apps\setenv-spark-xxx.cmd »</a:t>
            </a:r>
          </a:p>
          <a:p>
            <a:r>
              <a:rPr lang="fr-FR" sz="2800" dirty="0"/>
              <a:t>This file as to </a:t>
            </a:r>
            <a:r>
              <a:rPr lang="fr-FR" sz="2800" dirty="0" err="1"/>
              <a:t>be</a:t>
            </a:r>
            <a:r>
              <a:rPr lang="fr-FR" sz="2800" dirty="0"/>
              <a:t> </a:t>
            </a:r>
            <a:r>
              <a:rPr lang="fr-FR" sz="2800" dirty="0" err="1"/>
              <a:t>executed</a:t>
            </a:r>
            <a:r>
              <a:rPr lang="fr-FR" sz="2800" dirty="0"/>
              <a:t> </a:t>
            </a:r>
            <a:r>
              <a:rPr lang="fr-FR" sz="2800" dirty="0" err="1"/>
              <a:t>each</a:t>
            </a:r>
            <a:r>
              <a:rPr lang="fr-FR" sz="2800" dirty="0"/>
              <a:t> time </a:t>
            </a:r>
            <a:r>
              <a:rPr lang="fr-FR" sz="2800" dirty="0" err="1"/>
              <a:t>you</a:t>
            </a:r>
            <a:r>
              <a:rPr lang="fr-FR" sz="2800" dirty="0"/>
              <a:t> start a terminal !  </a:t>
            </a:r>
          </a:p>
          <a:p>
            <a:r>
              <a:rPr lang="fr-FR" sz="2800" dirty="0"/>
              <a:t>(</a:t>
            </a:r>
            <a:r>
              <a:rPr lang="fr-FR" sz="2800" dirty="0" err="1"/>
              <a:t>typically</a:t>
            </a:r>
            <a:r>
              <a:rPr lang="fr-FR" sz="2800" dirty="0"/>
              <a:t> in « .</a:t>
            </a:r>
            <a:r>
              <a:rPr lang="fr-FR" sz="2800" dirty="0" err="1"/>
              <a:t>bashrc</a:t>
            </a:r>
            <a:r>
              <a:rPr lang="fr-FR" sz="2800" dirty="0"/>
              <a:t> » for </a:t>
            </a:r>
            <a:r>
              <a:rPr lang="fr-FR" sz="2800" dirty="0" err="1"/>
              <a:t>bash</a:t>
            </a:r>
            <a:r>
              <a:rPr lang="fr-FR" sz="2800" dirty="0"/>
              <a:t> </a:t>
            </a:r>
            <a:r>
              <a:rPr lang="fr-FR" sz="2800" dirty="0" err="1"/>
              <a:t>shell</a:t>
            </a:r>
            <a:r>
              <a:rPr lang="fr-FR" sz="2800" dirty="0"/>
              <a:t>  or  conf in </a:t>
            </a:r>
            <a:r>
              <a:rPr lang="fr-FR" sz="2800" dirty="0" err="1"/>
              <a:t>Cmder</a:t>
            </a:r>
            <a:r>
              <a:rPr lang="fr-FR" sz="2800" dirty="0"/>
              <a:t> )</a:t>
            </a:r>
            <a:br>
              <a:rPr lang="fr-FR" sz="2800" dirty="0"/>
            </a:br>
            <a:endParaRPr lang="fr-FR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F2E7B4-2CC5-AC37-52F0-5F38457D5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293" y="751114"/>
            <a:ext cx="3089545" cy="35593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9484650-9184-7285-5657-77B4C856F2A1}"/>
              </a:ext>
            </a:extLst>
          </p:cNvPr>
          <p:cNvSpPr/>
          <p:nvPr/>
        </p:nvSpPr>
        <p:spPr>
          <a:xfrm>
            <a:off x="7883752" y="3416830"/>
            <a:ext cx="1939721" cy="41505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9032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6B794E-30A1-4E78-B8A9-71BACF4C2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05930"/>
          </a:xfrm>
        </p:spPr>
        <p:txBody>
          <a:bodyPr/>
          <a:lstStyle/>
          <a:p>
            <a:r>
              <a:rPr lang="fr-FR" dirty="0" err="1"/>
              <a:t>Using</a:t>
            </a:r>
            <a:r>
              <a:rPr lang="fr-FR" dirty="0"/>
              <a:t> Windows </a:t>
            </a:r>
            <a:r>
              <a:rPr lang="fr-FR" dirty="0" err="1"/>
              <a:t>Environment</a:t>
            </a:r>
            <a:r>
              <a:rPr lang="fr-FR" dirty="0"/>
              <a:t> Variables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D0E9138-485F-427D-A8D1-CDF3AC25B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204" y="1573299"/>
            <a:ext cx="3852347" cy="441230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C55ECF9-567C-4F7D-931A-F72AD4E9D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270" y="811006"/>
            <a:ext cx="5696444" cy="60469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254FAD5-2456-4B21-8B8A-30CBCB55103F}"/>
              </a:ext>
            </a:extLst>
          </p:cNvPr>
          <p:cNvSpPr/>
          <p:nvPr/>
        </p:nvSpPr>
        <p:spPr>
          <a:xfrm>
            <a:off x="6008467" y="1785556"/>
            <a:ext cx="1268627" cy="1839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F5E983-83B6-4890-BAEC-8B4B58881DCF}"/>
              </a:ext>
            </a:extLst>
          </p:cNvPr>
          <p:cNvSpPr/>
          <p:nvPr/>
        </p:nvSpPr>
        <p:spPr>
          <a:xfrm>
            <a:off x="6012587" y="1950312"/>
            <a:ext cx="1268627" cy="1839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DE8501-2F10-4B12-B2E0-789DE273E173}"/>
              </a:ext>
            </a:extLst>
          </p:cNvPr>
          <p:cNvSpPr/>
          <p:nvPr/>
        </p:nvSpPr>
        <p:spPr>
          <a:xfrm>
            <a:off x="6043480" y="2648466"/>
            <a:ext cx="1268627" cy="1839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752092-41EC-420F-AD58-32EC43802B38}"/>
              </a:ext>
            </a:extLst>
          </p:cNvPr>
          <p:cNvSpPr/>
          <p:nvPr/>
        </p:nvSpPr>
        <p:spPr>
          <a:xfrm>
            <a:off x="6018771" y="2296296"/>
            <a:ext cx="1268627" cy="1839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6812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FF0914-CC1B-4C42-97A9-6B739911A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Variable JAVA_HOME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88F8422-83E6-4B38-BD10-B539E7517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752" y="1880213"/>
            <a:ext cx="6046994" cy="167654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4D96D7E-6CA3-4231-9EC0-55365B3C011E}"/>
              </a:ext>
            </a:extLst>
          </p:cNvPr>
          <p:cNvSpPr txBox="1"/>
          <p:nvPr/>
        </p:nvSpPr>
        <p:spPr>
          <a:xfrm>
            <a:off x="1037561" y="4043158"/>
            <a:ext cx="1043260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IMPORTANT : </a:t>
            </a:r>
            <a:br>
              <a:rPr lang="fr-FR" sz="2000" dirty="0"/>
            </a:br>
            <a:r>
              <a:rPr lang="fr-FR" sz="2000" dirty="0"/>
              <a:t>1/  no </a:t>
            </a:r>
            <a:r>
              <a:rPr lang="fr-FR" sz="2000" dirty="0" err="1"/>
              <a:t>space</a:t>
            </a:r>
            <a:r>
              <a:rPr lang="fr-FR" sz="2000" dirty="0"/>
              <a:t> in directory </a:t>
            </a:r>
            <a:r>
              <a:rPr lang="fr-FR" sz="2000" dirty="0" err="1"/>
              <a:t>path</a:t>
            </a:r>
            <a:r>
              <a:rPr lang="fr-FR" sz="2000" dirty="0"/>
              <a:t>   </a:t>
            </a:r>
            <a:br>
              <a:rPr lang="fr-FR" sz="2000" dirty="0"/>
            </a:br>
            <a:r>
              <a:rPr lang="fr-FR" sz="2000" dirty="0"/>
              <a:t>   (</a:t>
            </a:r>
            <a:r>
              <a:rPr lang="fr-FR" sz="2000" dirty="0" err="1"/>
              <a:t>so</a:t>
            </a:r>
            <a:r>
              <a:rPr lang="fr-FR" sz="2000" dirty="0"/>
              <a:t> do not use the default « c:\Program &amp; Files\</a:t>
            </a:r>
            <a:r>
              <a:rPr lang="fr-FR" sz="2000" dirty="0" err="1"/>
              <a:t>Elipse</a:t>
            </a:r>
            <a:r>
              <a:rPr lang="fr-FR" sz="2000" dirty="0"/>
              <a:t> </a:t>
            </a:r>
            <a:r>
              <a:rPr lang="fr-FR" sz="2000" dirty="0" err="1"/>
              <a:t>Adoptium</a:t>
            </a:r>
            <a:r>
              <a:rPr lang="fr-FR" sz="2000" dirty="0"/>
              <a:t>\ … »</a:t>
            </a:r>
            <a:br>
              <a:rPr lang="fr-FR" sz="2000" dirty="0"/>
            </a:br>
            <a:r>
              <a:rPr lang="fr-FR" sz="2000" dirty="0"/>
              <a:t>   =&gt; move  to  « c:\apps\ »  directory</a:t>
            </a:r>
          </a:p>
          <a:p>
            <a:endParaRPr lang="fr-FR" sz="2000" dirty="0"/>
          </a:p>
          <a:p>
            <a:r>
              <a:rPr lang="fr-FR" sz="2000" dirty="0"/>
              <a:t>2/ do not use </a:t>
            </a:r>
            <a:r>
              <a:rPr lang="fr-FR" sz="2000" dirty="0" err="1"/>
              <a:t>too</a:t>
            </a:r>
            <a:r>
              <a:rPr lang="fr-FR" sz="2000" dirty="0"/>
              <a:t> </a:t>
            </a:r>
            <a:r>
              <a:rPr lang="fr-FR" sz="2000" dirty="0" err="1"/>
              <a:t>recent</a:t>
            </a:r>
            <a:r>
              <a:rPr lang="fr-FR" sz="2000" dirty="0"/>
              <a:t> </a:t>
            </a:r>
            <a:r>
              <a:rPr lang="fr-FR" sz="2000" dirty="0" err="1"/>
              <a:t>jdk</a:t>
            </a:r>
            <a:r>
              <a:rPr lang="fr-FR" sz="2000" dirty="0"/>
              <a:t> 23 !!   It </a:t>
            </a:r>
            <a:r>
              <a:rPr lang="fr-FR" sz="2000" dirty="0" err="1"/>
              <a:t>is</a:t>
            </a:r>
            <a:r>
              <a:rPr lang="fr-FR" sz="2000" dirty="0"/>
              <a:t> not compatible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 err="1"/>
              <a:t>spark</a:t>
            </a:r>
            <a:r>
              <a:rPr lang="fr-FR" sz="2000" dirty="0"/>
              <a:t> 4</a:t>
            </a: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3/ </a:t>
            </a:r>
            <a:r>
              <a:rPr lang="fr-FR" sz="2000" dirty="0" err="1"/>
              <a:t>recommended</a:t>
            </a:r>
            <a:r>
              <a:rPr lang="fr-FR" sz="2000" dirty="0"/>
              <a:t> JDK:  21  (LTS « Long </a:t>
            </a:r>
            <a:r>
              <a:rPr lang="fr-FR" sz="2000" dirty="0" err="1"/>
              <a:t>Term</a:t>
            </a:r>
            <a:r>
              <a:rPr lang="fr-FR" sz="2000" dirty="0"/>
              <a:t> Support », or 19, 17, ..   Or « </a:t>
            </a:r>
            <a:r>
              <a:rPr lang="fr-FR" sz="2000" dirty="0" err="1"/>
              <a:t>experimental</a:t>
            </a:r>
            <a:r>
              <a:rPr lang="fr-FR" sz="2000" dirty="0"/>
              <a:t> » 22, 20, .. )</a:t>
            </a:r>
          </a:p>
        </p:txBody>
      </p:sp>
    </p:spTree>
    <p:extLst>
      <p:ext uri="{BB962C8B-B14F-4D97-AF65-F5344CB8AC3E}">
        <p14:creationId xmlns:p14="http://schemas.microsoft.com/office/powerpoint/2010/main" val="2807396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80C2DB-374C-497D-9540-7A6AB0BE8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SPARK_HOME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31708B7-9A67-49EB-B59E-EDE7694D8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469" y="1975774"/>
            <a:ext cx="5989839" cy="164606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A068017-DCF4-4524-9EEC-79A022156635}"/>
              </a:ext>
            </a:extLst>
          </p:cNvPr>
          <p:cNvSpPr txBox="1"/>
          <p:nvPr/>
        </p:nvSpPr>
        <p:spPr>
          <a:xfrm>
            <a:off x="990556" y="4276577"/>
            <a:ext cx="1063861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IMPORTANT: </a:t>
            </a:r>
            <a:br>
              <a:rPr lang="fr-FR" sz="2800" dirty="0"/>
            </a:br>
            <a:r>
              <a:rPr lang="fr-FR" sz="2800" dirty="0"/>
              <a:t>1/ no </a:t>
            </a:r>
            <a:r>
              <a:rPr lang="fr-FR" sz="2800" dirty="0" err="1"/>
              <a:t>space</a:t>
            </a:r>
            <a:r>
              <a:rPr lang="fr-FR" sz="2800" dirty="0"/>
              <a:t> in directory </a:t>
            </a:r>
            <a:r>
              <a:rPr lang="fr-FR" sz="2800" dirty="0" err="1"/>
              <a:t>path</a:t>
            </a:r>
            <a:br>
              <a:rPr lang="fr-FR" sz="2800" dirty="0"/>
            </a:br>
            <a:br>
              <a:rPr lang="fr-FR" sz="2800" dirty="0"/>
            </a:br>
            <a:r>
              <a:rPr lang="fr-FR" sz="2800" dirty="0"/>
              <a:t>2/ do not point to parent </a:t>
            </a:r>
            <a:r>
              <a:rPr lang="fr-FR" sz="2800" dirty="0" err="1"/>
              <a:t>dir</a:t>
            </a:r>
            <a:r>
              <a:rPr lang="fr-FR" sz="2800" dirty="0"/>
              <a:t> (</a:t>
            </a:r>
            <a:r>
              <a:rPr lang="fr-FR" sz="2800" dirty="0" err="1"/>
              <a:t>extracting</a:t>
            </a:r>
            <a:r>
              <a:rPr lang="fr-FR" sz="2800" dirty="0"/>
              <a:t> 2x .tar.gz), </a:t>
            </a:r>
            <a:r>
              <a:rPr lang="fr-FR" sz="2800" dirty="0" err="1"/>
              <a:t>nor</a:t>
            </a:r>
            <a:r>
              <a:rPr lang="fr-FR" sz="2800" dirty="0"/>
              <a:t> to </a:t>
            </a:r>
            <a:r>
              <a:rPr lang="fr-FR" sz="2800" dirty="0" err="1"/>
              <a:t>child</a:t>
            </a:r>
            <a:r>
              <a:rPr lang="fr-FR" sz="2800" dirty="0"/>
              <a:t> </a:t>
            </a:r>
            <a:r>
              <a:rPr lang="fr-FR" sz="2800" dirty="0" err="1"/>
              <a:t>dir</a:t>
            </a:r>
            <a:r>
              <a:rPr lang="fr-FR" sz="2800" dirty="0"/>
              <a:t> (\bin)</a:t>
            </a:r>
          </a:p>
        </p:txBody>
      </p:sp>
    </p:spTree>
    <p:extLst>
      <p:ext uri="{BB962C8B-B14F-4D97-AF65-F5344CB8AC3E}">
        <p14:creationId xmlns:p14="http://schemas.microsoft.com/office/powerpoint/2010/main" val="960689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4BEF10-CC7C-44E4-A206-D650A07F5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HADOOP_HOME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2FFC4F0-F204-49BF-AC04-D7802C1D4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279" y="4835381"/>
            <a:ext cx="6001270" cy="165749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128A4F2-B85E-40E5-925A-9899F5C59A0B}"/>
              </a:ext>
            </a:extLst>
          </p:cNvPr>
          <p:cNvSpPr txBox="1"/>
          <p:nvPr/>
        </p:nvSpPr>
        <p:spPr>
          <a:xfrm>
            <a:off x="1150721" y="2027193"/>
            <a:ext cx="104646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Symbol" panose="05050102010706020507" pitchFamily="18" charset="2"/>
              <a:buChar char="Þ"/>
            </a:pPr>
            <a:r>
              <a:rPr lang="fr-FR" sz="2800" dirty="0"/>
              <a:t>points to </a:t>
            </a:r>
            <a:r>
              <a:rPr lang="fr-FR" sz="2800" dirty="0" err="1"/>
              <a:t>same</a:t>
            </a:r>
            <a:r>
              <a:rPr lang="fr-FR" sz="2800" dirty="0"/>
              <a:t> </a:t>
            </a:r>
            <a:r>
              <a:rPr lang="fr-FR" sz="2800" dirty="0" err="1"/>
              <a:t>dir</a:t>
            </a:r>
            <a:r>
              <a:rPr lang="fr-FR" sz="2800" dirty="0"/>
              <a:t> as SPARK_HOME</a:t>
            </a:r>
          </a:p>
          <a:p>
            <a:r>
              <a:rPr lang="fr-FR" sz="2800" dirty="0"/>
              <a:t> (</a:t>
            </a:r>
            <a:r>
              <a:rPr lang="fr-FR" sz="2800" dirty="0" err="1"/>
              <a:t>we</a:t>
            </a:r>
            <a:r>
              <a:rPr lang="fr-FR" sz="2800" dirty="0"/>
              <a:t> </a:t>
            </a:r>
            <a:r>
              <a:rPr lang="fr-FR" sz="2800" dirty="0" err="1"/>
              <a:t>downloaded</a:t>
            </a:r>
            <a:r>
              <a:rPr lang="fr-FR" sz="2800" dirty="0"/>
              <a:t> </a:t>
            </a:r>
            <a:r>
              <a:rPr lang="fr-FR" sz="2800" dirty="0" err="1"/>
              <a:t>spark</a:t>
            </a:r>
            <a:r>
              <a:rPr lang="fr-FR" sz="2800" dirty="0"/>
              <a:t> distribution « </a:t>
            </a:r>
            <a:r>
              <a:rPr lang="fr-FR" sz="2800" dirty="0" err="1"/>
              <a:t>with-hadoop-embedded</a:t>
            </a:r>
            <a:r>
              <a:rPr lang="fr-FR" sz="2800" dirty="0"/>
              <a:t>»)</a:t>
            </a:r>
          </a:p>
          <a:p>
            <a:pPr marL="457200" indent="-457200">
              <a:buFont typeface="Symbol" panose="05050102010706020507" pitchFamily="18" charset="2"/>
              <a:buChar char="Þ"/>
            </a:pPr>
            <a:endParaRPr lang="fr-FR" sz="2800" dirty="0"/>
          </a:p>
          <a:p>
            <a:pPr marL="457200" indent="-457200">
              <a:buFont typeface="Symbol" panose="05050102010706020507" pitchFamily="18" charset="2"/>
              <a:buChar char="Þ"/>
            </a:pPr>
            <a:r>
              <a:rPr lang="fr-FR" sz="2800" dirty="0"/>
              <a:t>It </a:t>
            </a:r>
            <a:r>
              <a:rPr lang="fr-FR" sz="2800" dirty="0" err="1"/>
              <a:t>is</a:t>
            </a:r>
            <a:r>
              <a:rPr lang="fr-FR" sz="2800" dirty="0"/>
              <a:t> how </a:t>
            </a:r>
            <a:r>
              <a:rPr lang="fr-FR" sz="2800" dirty="0" err="1"/>
              <a:t>hadoop</a:t>
            </a:r>
            <a:r>
              <a:rPr lang="fr-FR" sz="2800" dirty="0"/>
              <a:t> </a:t>
            </a:r>
            <a:r>
              <a:rPr lang="fr-FR" sz="2800" dirty="0" err="1"/>
              <a:t>library</a:t>
            </a:r>
            <a:r>
              <a:rPr lang="fr-FR" sz="2800" dirty="0"/>
              <a:t> </a:t>
            </a:r>
            <a:r>
              <a:rPr lang="fr-FR" sz="2800" dirty="0" err="1"/>
              <a:t>find</a:t>
            </a:r>
            <a:r>
              <a:rPr lang="fr-FR" sz="2800" dirty="0"/>
              <a:t> </a:t>
            </a:r>
            <a:r>
              <a:rPr lang="fr-FR" sz="2800" dirty="0" err="1"/>
              <a:t>its</a:t>
            </a:r>
            <a:r>
              <a:rPr lang="fr-FR" sz="2800" dirty="0"/>
              <a:t> config /*.xml, </a:t>
            </a:r>
            <a:br>
              <a:rPr lang="fr-FR" sz="2800" dirty="0"/>
            </a:br>
            <a:r>
              <a:rPr lang="fr-FR" sz="2800" dirty="0"/>
              <a:t>and </a:t>
            </a:r>
            <a:r>
              <a:rPr lang="fr-FR" sz="2800" dirty="0" err="1"/>
              <a:t>also</a:t>
            </a:r>
            <a:r>
              <a:rPr lang="fr-FR" sz="2800" dirty="0"/>
              <a:t> hadoop.dll + winutil.exe files</a:t>
            </a:r>
            <a:br>
              <a:rPr lang="fr-FR" sz="2800" dirty="0"/>
            </a:b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743272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661C24-D4EC-44F6-9D6E-B352F267E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PATH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B5A0C48-1214-4538-B45B-0ED004148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365" y="213960"/>
            <a:ext cx="4846740" cy="518204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29D86C8-FD6C-4819-81DC-E8E5CDC39A41}"/>
              </a:ext>
            </a:extLst>
          </p:cNvPr>
          <p:cNvSpPr/>
          <p:nvPr/>
        </p:nvSpPr>
        <p:spPr>
          <a:xfrm>
            <a:off x="4210559" y="871156"/>
            <a:ext cx="1268627" cy="1839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15E64C-C6EB-4100-BD0C-CD72612E57CA}"/>
              </a:ext>
            </a:extLst>
          </p:cNvPr>
          <p:cNvSpPr/>
          <p:nvPr/>
        </p:nvSpPr>
        <p:spPr>
          <a:xfrm>
            <a:off x="4210559" y="1055056"/>
            <a:ext cx="1268627" cy="1839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FB1DA4B-DEC0-46B0-8B59-6135109EACAD}"/>
              </a:ext>
            </a:extLst>
          </p:cNvPr>
          <p:cNvSpPr txBox="1"/>
          <p:nvPr/>
        </p:nvSpPr>
        <p:spPr>
          <a:xfrm>
            <a:off x="365542" y="5547174"/>
            <a:ext cx="102272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Important:  DO NOT « </a:t>
            </a:r>
            <a:r>
              <a:rPr lang="fr-FR" sz="2000" dirty="0" err="1"/>
              <a:t>corrupt</a:t>
            </a:r>
            <a:r>
              <a:rPr lang="fr-FR" sz="2000" dirty="0"/>
              <a:t> » (</a:t>
            </a:r>
            <a:r>
              <a:rPr lang="fr-FR" sz="2000" dirty="0" err="1"/>
              <a:t>delete</a:t>
            </a:r>
            <a:r>
              <a:rPr lang="fr-FR" sz="2000" dirty="0"/>
              <a:t>) </a:t>
            </a:r>
            <a:r>
              <a:rPr lang="fr-FR" sz="2000" dirty="0" err="1"/>
              <a:t>your</a:t>
            </a:r>
            <a:r>
              <a:rPr lang="fr-FR" sz="2000" dirty="0"/>
              <a:t> PATH !!! You </a:t>
            </a:r>
            <a:r>
              <a:rPr lang="fr-FR" sz="2000" dirty="0" err="1"/>
              <a:t>may</a:t>
            </a:r>
            <a:r>
              <a:rPr lang="fr-FR" sz="2000" dirty="0"/>
              <a:t> have </a:t>
            </a:r>
            <a:r>
              <a:rPr lang="fr-FR" sz="2000" dirty="0" err="1"/>
              <a:t>problems</a:t>
            </a:r>
            <a:r>
              <a:rPr lang="fr-FR" sz="2000" dirty="0"/>
              <a:t> on </a:t>
            </a:r>
            <a:r>
              <a:rPr lang="fr-FR" sz="2000" dirty="0" err="1"/>
              <a:t>your</a:t>
            </a:r>
            <a:r>
              <a:rPr lang="fr-FR" sz="2000" dirty="0"/>
              <a:t> computer</a:t>
            </a:r>
            <a:br>
              <a:rPr lang="fr-FR" sz="2000" dirty="0"/>
            </a:br>
            <a:r>
              <a:rPr lang="fr-FR" sz="2000" dirty="0"/>
              <a:t>JUST </a:t>
            </a:r>
            <a:r>
              <a:rPr lang="fr-FR" sz="2000" dirty="0" err="1"/>
              <a:t>add</a:t>
            </a:r>
            <a:r>
              <a:rPr lang="fr-FR" sz="2000" dirty="0"/>
              <a:t> 2 « new » entries:  %JAVA_HOME%\bin  and   %SPARK_HOME%\bin</a:t>
            </a:r>
          </a:p>
          <a:p>
            <a:r>
              <a:rPr lang="fr-FR" sz="2000" dirty="0"/>
              <a:t>and </a:t>
            </a:r>
            <a:r>
              <a:rPr lang="fr-FR" sz="2000" dirty="0" err="1"/>
              <a:t>cleanup</a:t>
            </a:r>
            <a:r>
              <a:rPr lang="fr-FR" sz="2000" dirty="0"/>
              <a:t> </a:t>
            </a:r>
            <a:r>
              <a:rPr lang="fr-FR" sz="2000" dirty="0" err="1"/>
              <a:t>old</a:t>
            </a:r>
            <a:r>
              <a:rPr lang="fr-FR" sz="2000" dirty="0"/>
              <a:t> </a:t>
            </a:r>
            <a:r>
              <a:rPr lang="fr-FR" sz="2000" dirty="0" err="1"/>
              <a:t>unused</a:t>
            </a:r>
            <a:r>
              <a:rPr lang="fr-FR" sz="2000" dirty="0"/>
              <a:t> java </a:t>
            </a:r>
            <a:r>
              <a:rPr lang="fr-FR" sz="2000" dirty="0" err="1"/>
              <a:t>conflicts</a:t>
            </a:r>
            <a:r>
              <a:rPr lang="fr-FR" sz="2000" dirty="0"/>
              <a:t> (like </a:t>
            </a:r>
            <a:r>
              <a:rPr lang="fr-FR" sz="2000" dirty="0" err="1"/>
              <a:t>old</a:t>
            </a:r>
            <a:r>
              <a:rPr lang="fr-FR" sz="2000" dirty="0"/>
              <a:t> « </a:t>
            </a:r>
            <a:r>
              <a:rPr lang="fr-FR" sz="2000" dirty="0" err="1"/>
              <a:t>oraclepath</a:t>
            </a:r>
            <a:r>
              <a:rPr lang="fr-FR" sz="2000" dirty="0"/>
              <a:t> »)</a:t>
            </a:r>
          </a:p>
        </p:txBody>
      </p:sp>
    </p:spTree>
    <p:extLst>
      <p:ext uri="{BB962C8B-B14F-4D97-AF65-F5344CB8AC3E}">
        <p14:creationId xmlns:p14="http://schemas.microsoft.com/office/powerpoint/2010/main" val="19726648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241" y="8936"/>
            <a:ext cx="10560293" cy="227219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(NOT </a:t>
            </a:r>
            <a:r>
              <a:rPr lang="fr-FR" dirty="0" err="1"/>
              <a:t>Recommended</a:t>
            </a:r>
            <a:r>
              <a:rPr lang="fr-FR" dirty="0"/>
              <a:t>, ALTERNATIVE … ) </a:t>
            </a:r>
            <a:br>
              <a:rPr lang="fr-FR" dirty="0"/>
            </a:br>
            <a:r>
              <a:rPr lang="fr-FR" dirty="0" err="1"/>
              <a:t>using</a:t>
            </a:r>
            <a:r>
              <a:rPr lang="fr-FR" dirty="0"/>
              <a:t> scripts files to </a:t>
            </a:r>
            <a:r>
              <a:rPr lang="fr-FR" dirty="0" err="1"/>
              <a:t>exec</a:t>
            </a:r>
            <a:br>
              <a:rPr lang="fr-FR" dirty="0"/>
            </a:br>
            <a:r>
              <a:rPr lang="fr-FR" dirty="0"/>
              <a:t> set JAVA_HOME , PATH, </a:t>
            </a:r>
            <a:br>
              <a:rPr lang="fr-FR" dirty="0"/>
            </a:br>
            <a:r>
              <a:rPr lang="fr-FR" dirty="0"/>
              <a:t>SPARK_HOME, HADOOP_HOME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637AC9-4D59-1F92-F942-2296ABB86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762" y="2792256"/>
            <a:ext cx="6839154" cy="3470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81FBC7-7216-A9D7-2374-A5BAA4A7B723}"/>
              </a:ext>
            </a:extLst>
          </p:cNvPr>
          <p:cNvSpPr txBox="1"/>
          <p:nvPr/>
        </p:nvSpPr>
        <p:spPr>
          <a:xfrm>
            <a:off x="194543" y="2428788"/>
            <a:ext cx="3889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Example for OLD version of </a:t>
            </a:r>
            <a:r>
              <a:rPr lang="fr-FR" dirty="0" err="1"/>
              <a:t>spark</a:t>
            </a:r>
            <a:r>
              <a:rPr lang="fr-FR" dirty="0"/>
              <a:t> 3.3.0</a:t>
            </a:r>
          </a:p>
        </p:txBody>
      </p:sp>
    </p:spTree>
    <p:extLst>
      <p:ext uri="{BB962C8B-B14F-4D97-AF65-F5344CB8AC3E}">
        <p14:creationId xmlns:p14="http://schemas.microsoft.com/office/powerpoint/2010/main" val="1511440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E5374-20F2-0610-8AB1-D25697CDA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2660129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Step</a:t>
            </a:r>
            <a:r>
              <a:rPr lang="fr-FR" dirty="0"/>
              <a:t> 6… </a:t>
            </a:r>
            <a:r>
              <a:rPr lang="fr-FR" dirty="0" err="1"/>
              <a:t>optionnal</a:t>
            </a:r>
            <a:r>
              <a:rPr lang="fr-FR" dirty="0"/>
              <a:t> …</a:t>
            </a:r>
            <a:br>
              <a:rPr lang="fr-FR" dirty="0"/>
            </a:br>
            <a:br>
              <a:rPr lang="fr-FR" dirty="0"/>
            </a:br>
            <a:r>
              <a:rPr lang="fr-FR" dirty="0"/>
              <a:t>If </a:t>
            </a:r>
            <a:r>
              <a:rPr lang="fr-FR" dirty="0" err="1"/>
              <a:t>using</a:t>
            </a:r>
            <a:r>
              <a:rPr lang="fr-FR" dirty="0"/>
              <a:t> explicit user-</a:t>
            </a:r>
            <a:r>
              <a:rPr lang="fr-FR" dirty="0" err="1"/>
              <a:t>defined</a:t>
            </a:r>
            <a:r>
              <a:rPr lang="fr-FR" dirty="0"/>
              <a:t> Hadoop</a:t>
            </a:r>
            <a:br>
              <a:rPr lang="fr-FR" dirty="0"/>
            </a:br>
            <a:r>
              <a:rPr lang="fr-FR" dirty="0"/>
              <a:t>…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</a:t>
            </a:r>
            <a:r>
              <a:rPr lang="fr-FR" dirty="0" err="1"/>
              <a:t>spark</a:t>
            </a:r>
            <a:r>
              <a:rPr lang="fr-FR" dirty="0"/>
              <a:t>-env.{</a:t>
            </a:r>
            <a:r>
              <a:rPr lang="fr-FR" dirty="0" err="1"/>
              <a:t>sh|cmd</a:t>
            </a:r>
            <a:r>
              <a:rPr lang="fr-FR" dirty="0"/>
              <a:t>} </a:t>
            </a:r>
            <a:br>
              <a:rPr lang="fr-FR" dirty="0"/>
            </a:br>
            <a:r>
              <a:rPr lang="fr-FR" dirty="0"/>
              <a:t>SPARK_DIST_CLASSPATH=$( </a:t>
            </a:r>
            <a:r>
              <a:rPr lang="fr-FR" dirty="0" err="1"/>
              <a:t>hadoop</a:t>
            </a:r>
            <a:r>
              <a:rPr lang="fr-FR" dirty="0"/>
              <a:t> classpath 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EE5043-2453-ECCD-5B5E-655A271A9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71717"/>
            <a:ext cx="12192000" cy="93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1582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56" y="178695"/>
            <a:ext cx="12011487" cy="178658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Step</a:t>
            </a:r>
            <a:r>
              <a:rPr lang="fr-FR" dirty="0"/>
              <a:t> 6… </a:t>
            </a:r>
            <a:r>
              <a:rPr lang="fr-FR" dirty="0" err="1"/>
              <a:t>optionnal</a:t>
            </a:r>
            <a:r>
              <a:rPr lang="fr-FR" dirty="0"/>
              <a:t> …</a:t>
            </a:r>
            <a:br>
              <a:rPr lang="fr-FR" dirty="0"/>
            </a:br>
            <a:r>
              <a:rPr lang="fr-FR" dirty="0"/>
              <a:t>if </a:t>
            </a:r>
            <a:r>
              <a:rPr lang="fr-FR" dirty="0" err="1"/>
              <a:t>using</a:t>
            </a:r>
            <a:r>
              <a:rPr lang="fr-FR" dirty="0"/>
              <a:t> explicit HADOOP_HOME</a:t>
            </a:r>
            <a:br>
              <a:rPr lang="fr-FR" dirty="0"/>
            </a:br>
            <a:r>
              <a:rPr lang="fr-FR" dirty="0"/>
              <a:t>(? for fine-</a:t>
            </a:r>
            <a:r>
              <a:rPr lang="fr-FR" dirty="0" err="1"/>
              <a:t>grained</a:t>
            </a:r>
            <a:r>
              <a:rPr lang="fr-FR" dirty="0"/>
              <a:t> configuration / versions)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06949F-408F-D6B4-8FFF-7A71EE41F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048" y="2354304"/>
            <a:ext cx="10638469" cy="432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670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E03F3-4C34-4803-654B-9E114E462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6 … </a:t>
            </a:r>
            <a:r>
              <a:rPr lang="fr-FR" dirty="0" err="1"/>
              <a:t>Error</a:t>
            </a:r>
            <a:r>
              <a:rPr lang="fr-FR" dirty="0"/>
              <a:t> if </a:t>
            </a:r>
            <a:r>
              <a:rPr lang="fr-FR" dirty="0" err="1"/>
              <a:t>forgetting</a:t>
            </a:r>
            <a:r>
              <a:rPr lang="fr-FR" dirty="0"/>
              <a:t> SPARK_DIST_CLASSPATH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6DB690-42B9-9B4E-6E9B-58AE5F9E7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602" y="1948195"/>
            <a:ext cx="7392041" cy="5906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4F3598-FC0C-528C-6402-30CFB9782BD6}"/>
              </a:ext>
            </a:extLst>
          </p:cNvPr>
          <p:cNvSpPr txBox="1"/>
          <p:nvPr/>
        </p:nvSpPr>
        <p:spPr>
          <a:xfrm>
            <a:off x="657081" y="2931282"/>
            <a:ext cx="7452521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 </a:t>
            </a:r>
            <a:r>
              <a:rPr lang="fr-FR" dirty="0" err="1"/>
              <a:t>Detailed</a:t>
            </a:r>
            <a:r>
              <a:rPr lang="fr-FR" dirty="0"/>
              <a:t>!!!   … </a:t>
            </a:r>
            <a:r>
              <a:rPr lang="fr-FR" dirty="0" err="1"/>
              <a:t>Internally</a:t>
            </a:r>
            <a:r>
              <a:rPr lang="fr-FR" dirty="0"/>
              <a:t>  </a:t>
            </a:r>
            <a:r>
              <a:rPr lang="fr-FR" dirty="0" err="1"/>
              <a:t>spark-shell</a:t>
            </a:r>
            <a:r>
              <a:rPr lang="fr-FR" dirty="0"/>
              <a:t> expand to command =&gt;</a:t>
            </a:r>
          </a:p>
          <a:p>
            <a:endParaRPr lang="fr-FR" dirty="0"/>
          </a:p>
          <a:p>
            <a:r>
              <a:rPr lang="fr-FR" dirty="0"/>
              <a:t>C:\apps\jdk\jdk-17.0.1.12\bin\java </a:t>
            </a:r>
          </a:p>
          <a:p>
            <a:r>
              <a:rPr lang="fr-FR" dirty="0"/>
              <a:t>-</a:t>
            </a:r>
            <a:r>
              <a:rPr lang="fr-FR" dirty="0" err="1"/>
              <a:t>cp</a:t>
            </a:r>
            <a:r>
              <a:rPr lang="fr-FR" dirty="0"/>
              <a:t> "C:\apps\hadoop\spark-3.3.0\bin\..\conf\;C:\apps\hadoop\spark-3.3.0\jars\*;C:\apps\hadoop\conf-localfs" </a:t>
            </a:r>
          </a:p>
          <a:p>
            <a:r>
              <a:rPr lang="fr-FR" dirty="0"/>
              <a:t>"-</a:t>
            </a:r>
            <a:r>
              <a:rPr lang="fr-FR" dirty="0" err="1"/>
              <a:t>Dscala.usejavacp</a:t>
            </a:r>
            <a:r>
              <a:rPr lang="fr-FR" dirty="0"/>
              <a:t>=</a:t>
            </a:r>
            <a:r>
              <a:rPr lang="fr-FR" dirty="0" err="1"/>
              <a:t>true</a:t>
            </a:r>
            <a:r>
              <a:rPr lang="fr-FR" dirty="0"/>
              <a:t>" -Xmx1g -XX:+</a:t>
            </a:r>
            <a:r>
              <a:rPr lang="fr-FR" dirty="0" err="1"/>
              <a:t>IgnoreUnrecognizedVMOptions</a:t>
            </a:r>
            <a:r>
              <a:rPr lang="fr-FR" dirty="0"/>
              <a:t> </a:t>
            </a:r>
          </a:p>
          <a:p>
            <a:r>
              <a:rPr lang="fr-FR" dirty="0"/>
              <a:t>"--</a:t>
            </a:r>
            <a:r>
              <a:rPr lang="fr-FR" dirty="0" err="1"/>
              <a:t>add</a:t>
            </a:r>
            <a:r>
              <a:rPr lang="fr-FR" dirty="0"/>
              <a:t>-opens=</a:t>
            </a:r>
            <a:r>
              <a:rPr lang="fr-FR" dirty="0" err="1"/>
              <a:t>java.base</a:t>
            </a:r>
            <a:r>
              <a:rPr lang="fr-FR" dirty="0"/>
              <a:t>/</a:t>
            </a:r>
            <a:r>
              <a:rPr lang="fr-FR" dirty="0" err="1"/>
              <a:t>java.lang</a:t>
            </a:r>
            <a:r>
              <a:rPr lang="fr-FR" dirty="0"/>
              <a:t>=ALL-UNNAMED" "--</a:t>
            </a:r>
            <a:r>
              <a:rPr lang="fr-FR" dirty="0" err="1"/>
              <a:t>add</a:t>
            </a:r>
            <a:r>
              <a:rPr lang="fr-FR" dirty="0"/>
              <a:t>-opens=</a:t>
            </a:r>
            <a:r>
              <a:rPr lang="fr-FR" dirty="0" err="1"/>
              <a:t>java.base</a:t>
            </a:r>
            <a:r>
              <a:rPr lang="fr-FR" dirty="0"/>
              <a:t>/</a:t>
            </a:r>
            <a:r>
              <a:rPr lang="fr-FR" dirty="0" err="1"/>
              <a:t>java.lang.invoke</a:t>
            </a:r>
            <a:r>
              <a:rPr lang="fr-FR" dirty="0"/>
              <a:t>=ALL-UNNAMED" "--</a:t>
            </a:r>
            <a:r>
              <a:rPr lang="fr-FR" dirty="0" err="1"/>
              <a:t>add</a:t>
            </a:r>
            <a:r>
              <a:rPr lang="fr-FR" dirty="0"/>
              <a:t>-opens=</a:t>
            </a:r>
            <a:r>
              <a:rPr lang="fr-FR" dirty="0" err="1"/>
              <a:t>java.base</a:t>
            </a:r>
            <a:r>
              <a:rPr lang="fr-FR" dirty="0"/>
              <a:t>/</a:t>
            </a:r>
            <a:r>
              <a:rPr lang="fr-FR" dirty="0" err="1"/>
              <a:t>java.lang.reflect</a:t>
            </a:r>
            <a:r>
              <a:rPr lang="fr-FR" dirty="0"/>
              <a:t>=ALL-UNNAMED" "--</a:t>
            </a:r>
            <a:r>
              <a:rPr lang="fr-FR" dirty="0" err="1"/>
              <a:t>add</a:t>
            </a:r>
            <a:r>
              <a:rPr lang="fr-FR" dirty="0"/>
              <a:t>-opens=</a:t>
            </a:r>
            <a:r>
              <a:rPr lang="fr-FR" dirty="0" err="1"/>
              <a:t>java.base</a:t>
            </a:r>
            <a:r>
              <a:rPr lang="fr-FR" dirty="0"/>
              <a:t>/java.io=ALL-UNNAMED" "--</a:t>
            </a:r>
            <a:r>
              <a:rPr lang="fr-FR" dirty="0" err="1"/>
              <a:t>add</a:t>
            </a:r>
            <a:r>
              <a:rPr lang="fr-FR" dirty="0"/>
              <a:t>-opens=</a:t>
            </a:r>
            <a:r>
              <a:rPr lang="fr-FR" dirty="0" err="1"/>
              <a:t>java.base</a:t>
            </a:r>
            <a:r>
              <a:rPr lang="fr-FR" dirty="0"/>
              <a:t>/java.net=ALL-UNNAMED" "--</a:t>
            </a:r>
            <a:r>
              <a:rPr lang="fr-FR" dirty="0" err="1"/>
              <a:t>add</a:t>
            </a:r>
            <a:r>
              <a:rPr lang="fr-FR" dirty="0"/>
              <a:t>-opens=</a:t>
            </a:r>
            <a:r>
              <a:rPr lang="fr-FR" dirty="0" err="1"/>
              <a:t>java.base</a:t>
            </a:r>
            <a:r>
              <a:rPr lang="fr-FR" dirty="0"/>
              <a:t>/</a:t>
            </a:r>
            <a:r>
              <a:rPr lang="fr-FR" dirty="0" err="1"/>
              <a:t>java.nio</a:t>
            </a:r>
            <a:r>
              <a:rPr lang="fr-FR" dirty="0"/>
              <a:t>=ALL-UNNAMED" "--</a:t>
            </a:r>
            <a:r>
              <a:rPr lang="fr-FR" dirty="0" err="1"/>
              <a:t>add</a:t>
            </a:r>
            <a:r>
              <a:rPr lang="fr-FR" dirty="0"/>
              <a:t>-opens=</a:t>
            </a:r>
            <a:r>
              <a:rPr lang="fr-FR" dirty="0" err="1"/>
              <a:t>java.base</a:t>
            </a:r>
            <a:r>
              <a:rPr lang="fr-FR" dirty="0"/>
              <a:t>/</a:t>
            </a:r>
            <a:r>
              <a:rPr lang="fr-FR" dirty="0" err="1"/>
              <a:t>java.util</a:t>
            </a:r>
            <a:r>
              <a:rPr lang="fr-FR" dirty="0"/>
              <a:t>=ALL-UNNAMED" "--</a:t>
            </a:r>
            <a:r>
              <a:rPr lang="fr-FR" dirty="0" err="1"/>
              <a:t>add</a:t>
            </a:r>
            <a:r>
              <a:rPr lang="fr-FR" dirty="0"/>
              <a:t>-opens=</a:t>
            </a:r>
            <a:r>
              <a:rPr lang="fr-FR" dirty="0" err="1"/>
              <a:t>java.base</a:t>
            </a:r>
            <a:r>
              <a:rPr lang="fr-FR" dirty="0"/>
              <a:t>/</a:t>
            </a:r>
            <a:r>
              <a:rPr lang="fr-FR" dirty="0" err="1"/>
              <a:t>java.util.concurrent</a:t>
            </a:r>
            <a:r>
              <a:rPr lang="fr-FR" dirty="0"/>
              <a:t>=ALL-UNNAMED" "--</a:t>
            </a:r>
            <a:r>
              <a:rPr lang="fr-FR" dirty="0" err="1"/>
              <a:t>add</a:t>
            </a:r>
            <a:r>
              <a:rPr lang="fr-FR" dirty="0"/>
              <a:t>-opens=</a:t>
            </a:r>
            <a:r>
              <a:rPr lang="fr-FR" dirty="0" err="1"/>
              <a:t>java.base</a:t>
            </a:r>
            <a:r>
              <a:rPr lang="fr-FR" dirty="0"/>
              <a:t>/</a:t>
            </a:r>
            <a:r>
              <a:rPr lang="fr-FR" dirty="0" err="1"/>
              <a:t>java.util.concurrent.atomic</a:t>
            </a:r>
            <a:r>
              <a:rPr lang="fr-FR" dirty="0"/>
              <a:t>=ALL-UNNAMED" "--</a:t>
            </a:r>
            <a:r>
              <a:rPr lang="fr-FR" dirty="0" err="1"/>
              <a:t>add</a:t>
            </a:r>
            <a:r>
              <a:rPr lang="fr-FR" dirty="0"/>
              <a:t>-opens=</a:t>
            </a:r>
            <a:r>
              <a:rPr lang="fr-FR" dirty="0" err="1"/>
              <a:t>java.base</a:t>
            </a:r>
            <a:r>
              <a:rPr lang="fr-FR" dirty="0"/>
              <a:t>/sun.nio.ch=ALL-UNNAMED" "--</a:t>
            </a:r>
            <a:r>
              <a:rPr lang="fr-FR" dirty="0" err="1"/>
              <a:t>add</a:t>
            </a:r>
            <a:r>
              <a:rPr lang="fr-FR" dirty="0"/>
              <a:t>-opens=</a:t>
            </a:r>
            <a:r>
              <a:rPr lang="fr-FR" dirty="0" err="1"/>
              <a:t>java.base</a:t>
            </a:r>
            <a:r>
              <a:rPr lang="fr-FR" dirty="0"/>
              <a:t>/</a:t>
            </a:r>
            <a:r>
              <a:rPr lang="fr-FR" dirty="0" err="1"/>
              <a:t>sun.nio.cs</a:t>
            </a:r>
            <a:r>
              <a:rPr lang="fr-FR" dirty="0"/>
              <a:t>=ALL-UNNAMED" "--</a:t>
            </a:r>
            <a:r>
              <a:rPr lang="fr-FR" dirty="0" err="1"/>
              <a:t>add</a:t>
            </a:r>
            <a:r>
              <a:rPr lang="fr-FR" dirty="0"/>
              <a:t>-opens=</a:t>
            </a:r>
            <a:r>
              <a:rPr lang="fr-FR" dirty="0" err="1"/>
              <a:t>java.base</a:t>
            </a:r>
            <a:r>
              <a:rPr lang="fr-FR" dirty="0"/>
              <a:t>/</a:t>
            </a:r>
            <a:r>
              <a:rPr lang="fr-FR" dirty="0" err="1"/>
              <a:t>sun.security.action</a:t>
            </a:r>
            <a:r>
              <a:rPr lang="fr-FR" dirty="0"/>
              <a:t>=ALL-UNNAMED" "--</a:t>
            </a:r>
            <a:r>
              <a:rPr lang="fr-FR" dirty="0" err="1"/>
              <a:t>add</a:t>
            </a:r>
            <a:r>
              <a:rPr lang="fr-FR" dirty="0"/>
              <a:t>-opens=</a:t>
            </a:r>
            <a:r>
              <a:rPr lang="fr-FR" dirty="0" err="1"/>
              <a:t>java.base</a:t>
            </a:r>
            <a:r>
              <a:rPr lang="fr-FR" dirty="0"/>
              <a:t>/</a:t>
            </a:r>
            <a:r>
              <a:rPr lang="fr-FR" dirty="0" err="1"/>
              <a:t>sun.util.calendar</a:t>
            </a:r>
            <a:r>
              <a:rPr lang="fr-FR" dirty="0"/>
              <a:t>=ALL-UNNAMED" "--</a:t>
            </a:r>
            <a:r>
              <a:rPr lang="fr-FR" dirty="0" err="1"/>
              <a:t>add</a:t>
            </a:r>
            <a:r>
              <a:rPr lang="fr-FR" dirty="0"/>
              <a:t>-opens=</a:t>
            </a:r>
            <a:r>
              <a:rPr lang="fr-FR" dirty="0" err="1"/>
              <a:t>java.security.jgss</a:t>
            </a:r>
            <a:r>
              <a:rPr lang="fr-FR" dirty="0"/>
              <a:t>/sun.security.krb5=ALL-UNNAMED" </a:t>
            </a:r>
          </a:p>
          <a:p>
            <a:r>
              <a:rPr lang="fr-FR" dirty="0" err="1"/>
              <a:t>org.apache.spark.deploy.SparkSubmit</a:t>
            </a:r>
            <a:r>
              <a:rPr lang="fr-FR" dirty="0"/>
              <a:t> </a:t>
            </a:r>
          </a:p>
          <a:p>
            <a:r>
              <a:rPr lang="fr-FR" dirty="0"/>
              <a:t>--class </a:t>
            </a:r>
            <a:r>
              <a:rPr lang="fr-FR" dirty="0" err="1"/>
              <a:t>org.apache.spark.repl.Main</a:t>
            </a:r>
            <a:r>
              <a:rPr lang="fr-FR" dirty="0"/>
              <a:t> --</a:t>
            </a:r>
            <a:r>
              <a:rPr lang="fr-FR" dirty="0" err="1"/>
              <a:t>name</a:t>
            </a:r>
            <a:r>
              <a:rPr lang="fr-FR" dirty="0"/>
              <a:t> "Spark </a:t>
            </a:r>
            <a:r>
              <a:rPr lang="fr-FR" dirty="0" err="1"/>
              <a:t>shell</a:t>
            </a:r>
            <a:r>
              <a:rPr lang="fr-FR" dirty="0"/>
              <a:t>" </a:t>
            </a:r>
            <a:r>
              <a:rPr lang="fr-FR" dirty="0" err="1"/>
              <a:t>spark-shell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09134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400"/>
            <a:ext cx="10515600" cy="820044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7: </a:t>
            </a:r>
            <a:r>
              <a:rPr lang="fr-FR" dirty="0" err="1"/>
              <a:t>Sanity</a:t>
            </a:r>
            <a:r>
              <a:rPr lang="fr-FR" dirty="0"/>
              <a:t> Checks 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4ADC42-258A-ECD6-4430-AE8BAD913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1654767"/>
            <a:ext cx="7669876" cy="42242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06A855-407F-7C96-0C79-E4A28F989062}"/>
              </a:ext>
            </a:extLst>
          </p:cNvPr>
          <p:cNvSpPr txBox="1"/>
          <p:nvPr/>
        </p:nvSpPr>
        <p:spPr>
          <a:xfrm>
            <a:off x="177338" y="2255520"/>
            <a:ext cx="404232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Windows &gt; cmd</a:t>
            </a:r>
            <a:br>
              <a:rPr lang="fr-FR" sz="3200" dirty="0"/>
            </a:br>
            <a:r>
              <a:rPr lang="fr-FR" sz="3200" dirty="0"/>
              <a:t>cd &lt;</a:t>
            </a:r>
            <a:r>
              <a:rPr lang="fr-FR" sz="3200" dirty="0" err="1"/>
              <a:t>yourdir</a:t>
            </a:r>
            <a:r>
              <a:rPr lang="fr-FR" sz="3200" dirty="0"/>
              <a:t>&gt;</a:t>
            </a:r>
          </a:p>
          <a:p>
            <a:r>
              <a:rPr lang="fr-FR" sz="3200" dirty="0"/>
              <a:t>call &lt;</a:t>
            </a:r>
            <a:r>
              <a:rPr lang="fr-FR" sz="3200" dirty="0" err="1"/>
              <a:t>your-setenv</a:t>
            </a:r>
            <a:r>
              <a:rPr lang="fr-FR" sz="3200" dirty="0"/>
              <a:t>&gt;.cmd</a:t>
            </a:r>
          </a:p>
        </p:txBody>
      </p:sp>
    </p:spTree>
    <p:extLst>
      <p:ext uri="{BB962C8B-B14F-4D97-AF65-F5344CB8AC3E}">
        <p14:creationId xmlns:p14="http://schemas.microsoft.com/office/powerpoint/2010/main" val="42570922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9C42D-BEF9-358D-B94B-6405B082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Sanity</a:t>
            </a:r>
            <a:r>
              <a:rPr lang="fr-FR" dirty="0"/>
              <a:t> Check: Java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E1ADE1-DACE-4DE8-E4FA-61E0FDAB5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357" y="1478068"/>
            <a:ext cx="8866638" cy="48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189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D12D9-EC40-1003-6051-6EAC97612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Sanity</a:t>
            </a:r>
            <a:r>
              <a:rPr lang="fr-FR" dirty="0"/>
              <a:t> check: </a:t>
            </a:r>
            <a:r>
              <a:rPr lang="fr-FR" dirty="0" err="1"/>
              <a:t>WinUtils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77713E-2224-F98F-F371-3BE410B54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160" y="1596872"/>
            <a:ext cx="8859018" cy="483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8061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B9D31-B5B3-B8EA-B830-AAEE76F3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0824"/>
          </a:xfrm>
        </p:spPr>
        <p:txBody>
          <a:bodyPr/>
          <a:lstStyle/>
          <a:p>
            <a:pPr algn="ctr"/>
            <a:r>
              <a:rPr lang="fr-FR" dirty="0" err="1"/>
              <a:t>Sanity</a:t>
            </a:r>
            <a:r>
              <a:rPr lang="fr-FR" dirty="0"/>
              <a:t> Check « </a:t>
            </a:r>
            <a:r>
              <a:rPr lang="fr-FR" dirty="0" err="1"/>
              <a:t>spark-shell</a:t>
            </a:r>
            <a:r>
              <a:rPr lang="fr-FR" dirty="0"/>
              <a:t> --version »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65174F-1ACE-BA72-C025-8E51CAC5F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072" y="1690688"/>
            <a:ext cx="8801863" cy="48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283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A7157F-838B-4771-AA58-4698A7E46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Typical</a:t>
            </a:r>
            <a:r>
              <a:rPr lang="fr-FR" dirty="0"/>
              <a:t> </a:t>
            </a:r>
            <a:r>
              <a:rPr lang="fr-FR" dirty="0" err="1"/>
              <a:t>Error</a:t>
            </a:r>
            <a:r>
              <a:rPr lang="fr-FR" dirty="0"/>
              <a:t>: </a:t>
            </a:r>
            <a:r>
              <a:rPr lang="fr-FR" dirty="0" err="1"/>
              <a:t>forgot</a:t>
            </a:r>
            <a:r>
              <a:rPr lang="fr-FR" dirty="0"/>
              <a:t> to copy winutils.exe file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3109BBE-0648-4453-ACD3-54FA55A62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24647"/>
            <a:ext cx="10515600" cy="445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950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400"/>
            <a:ext cx="10515600" cy="18143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Spark and custom user-</a:t>
            </a:r>
            <a:r>
              <a:rPr lang="fr-FR" dirty="0" err="1"/>
              <a:t>defined</a:t>
            </a:r>
            <a:r>
              <a:rPr lang="fr-FR" dirty="0"/>
              <a:t> Hadoop?</a:t>
            </a:r>
            <a:br>
              <a:rPr lang="fr-FR" dirty="0"/>
            </a:br>
            <a:r>
              <a:rPr lang="fr-FR" dirty="0"/>
              <a:t>.. More </a:t>
            </a:r>
            <a:r>
              <a:rPr lang="fr-FR" dirty="0" err="1"/>
              <a:t>difficult</a:t>
            </a:r>
            <a:br>
              <a:rPr lang="fr-FR" dirty="0"/>
            </a:br>
            <a:r>
              <a:rPr lang="fr-FR" dirty="0" err="1"/>
              <a:t>error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JDK8 … but ok </a:t>
            </a:r>
            <a:r>
              <a:rPr lang="fr-FR" dirty="0" err="1"/>
              <a:t>when</a:t>
            </a:r>
            <a:r>
              <a:rPr lang="fr-FR" dirty="0"/>
              <a:t> JDK17 ?!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556D18-894E-5F4B-81BA-7BBA32DAA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735" y="1959755"/>
            <a:ext cx="7151990" cy="48391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0A7DD6-DBE7-6471-73D1-71E33EDC4139}"/>
              </a:ext>
            </a:extLst>
          </p:cNvPr>
          <p:cNvSpPr txBox="1"/>
          <p:nvPr/>
        </p:nvSpPr>
        <p:spPr>
          <a:xfrm>
            <a:off x="275961" y="2508937"/>
            <a:ext cx="367523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Naively</a:t>
            </a:r>
            <a:r>
              <a:rPr lang="fr-FR" sz="2800" dirty="0"/>
              <a:t> </a:t>
            </a:r>
            <a:r>
              <a:rPr lang="fr-FR" sz="2800" dirty="0" err="1"/>
              <a:t>think</a:t>
            </a:r>
            <a:endParaRPr lang="fr-FR" sz="2800" dirty="0"/>
          </a:p>
          <a:p>
            <a:r>
              <a:rPr lang="fr-FR" sz="2800" dirty="0" err="1"/>
              <a:t>missing</a:t>
            </a:r>
            <a:r>
              <a:rPr lang="fr-FR" sz="2800" dirty="0"/>
              <a:t> </a:t>
            </a:r>
            <a:r>
              <a:rPr lang="fr-FR" sz="2800" dirty="0" err="1"/>
              <a:t>hadoop</a:t>
            </a:r>
            <a:r>
              <a:rPr lang="fr-FR" sz="2800" dirty="0"/>
              <a:t> jars</a:t>
            </a:r>
          </a:p>
          <a:p>
            <a:r>
              <a:rPr lang="fr-FR" sz="2800" dirty="0"/>
              <a:t>in </a:t>
            </a:r>
            <a:r>
              <a:rPr lang="fr-FR" sz="2800" dirty="0" err="1"/>
              <a:t>spark</a:t>
            </a:r>
            <a:r>
              <a:rPr lang="fr-FR" sz="2800" dirty="0"/>
              <a:t> classpath ?!</a:t>
            </a:r>
          </a:p>
          <a:p>
            <a:r>
              <a:rPr lang="fr-FR" sz="2800" dirty="0"/>
              <a:t>… NOT </a:t>
            </a:r>
            <a:r>
              <a:rPr lang="fr-FR" sz="2800" dirty="0" err="1"/>
              <a:t>Only</a:t>
            </a:r>
            <a:r>
              <a:rPr lang="fr-FR" sz="2800" dirty="0"/>
              <a:t> !!</a:t>
            </a:r>
          </a:p>
          <a:p>
            <a:endParaRPr lang="fr-FR" sz="2800" dirty="0"/>
          </a:p>
          <a:p>
            <a:r>
              <a:rPr lang="fr-FR" sz="2800" dirty="0"/>
              <a:t>Root cause </a:t>
            </a:r>
          </a:p>
          <a:p>
            <a:r>
              <a:rPr lang="fr-FR" sz="2800" dirty="0" err="1"/>
              <a:t>was</a:t>
            </a:r>
            <a:r>
              <a:rPr lang="fr-FR" sz="2800" dirty="0"/>
              <a:t> </a:t>
            </a:r>
            <a:r>
              <a:rPr lang="fr-FR" sz="2800" dirty="0" err="1"/>
              <a:t>jdk</a:t>
            </a:r>
            <a:r>
              <a:rPr lang="fr-FR" sz="2800" dirty="0"/>
              <a:t> version + </a:t>
            </a:r>
          </a:p>
          <a:p>
            <a:r>
              <a:rPr lang="fr-FR" sz="2800" dirty="0" err="1"/>
              <a:t>Missing</a:t>
            </a:r>
            <a:r>
              <a:rPr lang="fr-FR" sz="2800" dirty="0"/>
              <a:t> </a:t>
            </a:r>
            <a:r>
              <a:rPr lang="fr-FR" sz="2800" dirty="0" err="1"/>
              <a:t>env</a:t>
            </a:r>
            <a:r>
              <a:rPr lang="fr-FR" sz="2800" dirty="0"/>
              <a:t> var</a:t>
            </a:r>
          </a:p>
          <a:p>
            <a:r>
              <a:rPr lang="fr-FR" sz="2800" dirty="0"/>
              <a:t>SPARK_SCALA_VERSION</a:t>
            </a:r>
          </a:p>
        </p:txBody>
      </p:sp>
    </p:spTree>
    <p:extLst>
      <p:ext uri="{BB962C8B-B14F-4D97-AF65-F5344CB8AC3E}">
        <p14:creationId xmlns:p14="http://schemas.microsoft.com/office/powerpoint/2010/main" val="24895705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A7E80-4F6B-F1B0-8DF3-9B3AD2065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Optionnal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custom Hadoop</a:t>
            </a:r>
            <a:br>
              <a:rPr lang="fr-FR" dirty="0"/>
            </a:br>
            <a:r>
              <a:rPr lang="fr-FR" dirty="0" err="1"/>
              <a:t>Sanity</a:t>
            </a:r>
            <a:r>
              <a:rPr lang="fr-FR" dirty="0"/>
              <a:t> check HADOOP_HOME + PATH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A699C8-E08F-7243-8291-2B3E36642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495" y="2567315"/>
            <a:ext cx="7971211" cy="41913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97EE3B-9FEB-F5B5-5997-6B059166AB9C}"/>
              </a:ext>
            </a:extLst>
          </p:cNvPr>
          <p:cNvSpPr txBox="1"/>
          <p:nvPr/>
        </p:nvSpPr>
        <p:spPr>
          <a:xfrm>
            <a:off x="1131903" y="1953087"/>
            <a:ext cx="4756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C:&gt;   </a:t>
            </a:r>
            <a:r>
              <a:rPr lang="fr-FR" sz="2800" dirty="0" err="1"/>
              <a:t>hdfs</a:t>
            </a:r>
            <a:r>
              <a:rPr lang="fr-FR" sz="2800" dirty="0"/>
              <a:t> </a:t>
            </a:r>
            <a:r>
              <a:rPr lang="fr-FR" sz="2800" dirty="0" err="1"/>
              <a:t>dfs</a:t>
            </a:r>
            <a:r>
              <a:rPr lang="fr-FR" sz="2800" dirty="0"/>
              <a:t> –ls   file:///c:/data</a:t>
            </a:r>
          </a:p>
        </p:txBody>
      </p:sp>
    </p:spTree>
    <p:extLst>
      <p:ext uri="{BB962C8B-B14F-4D97-AF65-F5344CB8AC3E}">
        <p14:creationId xmlns:p14="http://schemas.microsoft.com/office/powerpoint/2010/main" val="10843022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895AD-6A8E-08D0-417F-AC2D41B7E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hdfs</a:t>
            </a:r>
            <a:r>
              <a:rPr lang="fr-FR" dirty="0"/>
              <a:t> </a:t>
            </a:r>
            <a:r>
              <a:rPr lang="fr-FR" dirty="0" err="1"/>
              <a:t>dfs</a:t>
            </a:r>
            <a:r>
              <a:rPr lang="fr-FR" dirty="0"/>
              <a:t> –ls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9C42A8-677D-E7A8-5EE8-D3EC0443E1B3}"/>
              </a:ext>
            </a:extLst>
          </p:cNvPr>
          <p:cNvSpPr txBox="1"/>
          <p:nvPr/>
        </p:nvSpPr>
        <p:spPr>
          <a:xfrm>
            <a:off x="922541" y="1780062"/>
            <a:ext cx="1039265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« </a:t>
            </a:r>
            <a:r>
              <a:rPr lang="fr-FR" sz="2400" dirty="0" err="1"/>
              <a:t>hdfs</a:t>
            </a:r>
            <a:r>
              <a:rPr lang="fr-FR" sz="2400" dirty="0"/>
              <a:t> </a:t>
            </a:r>
            <a:r>
              <a:rPr lang="fr-FR" sz="2400" dirty="0" err="1"/>
              <a:t>dfs</a:t>
            </a:r>
            <a:r>
              <a:rPr lang="fr-FR" sz="2400" dirty="0"/>
              <a:t> »  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unix</a:t>
            </a:r>
            <a:r>
              <a:rPr lang="fr-FR" sz="2400" dirty="0"/>
              <a:t> like </a:t>
            </a:r>
            <a:r>
              <a:rPr lang="fr-FR" sz="2400" dirty="0" err="1"/>
              <a:t>commands</a:t>
            </a:r>
            <a:r>
              <a:rPr lang="fr-FR" sz="2400" dirty="0"/>
              <a:t> for </a:t>
            </a:r>
            <a:r>
              <a:rPr lang="fr-FR" sz="2400" dirty="0" err="1"/>
              <a:t>accessing</a:t>
            </a:r>
            <a:r>
              <a:rPr lang="fr-FR" sz="2400" dirty="0"/>
              <a:t> Hadoop </a:t>
            </a:r>
            <a:r>
              <a:rPr lang="fr-FR" sz="2400" dirty="0" err="1"/>
              <a:t>FileSystem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example</a:t>
            </a:r>
            <a:endParaRPr lang="fr-FR" sz="2400" dirty="0"/>
          </a:p>
          <a:p>
            <a:r>
              <a:rPr lang="fr-FR" sz="2400" dirty="0" err="1"/>
              <a:t>hdfs</a:t>
            </a:r>
            <a:r>
              <a:rPr lang="fr-FR" sz="2400" dirty="0"/>
              <a:t> </a:t>
            </a:r>
            <a:r>
              <a:rPr lang="fr-FR" sz="2400" dirty="0" err="1"/>
              <a:t>dfs</a:t>
            </a:r>
            <a:r>
              <a:rPr lang="fr-FR" sz="2400" dirty="0"/>
              <a:t> –ls  /</a:t>
            </a:r>
            <a:r>
              <a:rPr lang="fr-FR" sz="2400" dirty="0" err="1"/>
              <a:t>some-hdfs-dir</a:t>
            </a:r>
            <a:r>
              <a:rPr lang="fr-FR" sz="2400" dirty="0"/>
              <a:t>      </a:t>
            </a:r>
          </a:p>
          <a:p>
            <a:r>
              <a:rPr lang="fr-FR" sz="2400" dirty="0"/>
              <a:t>     # =&gt;  </a:t>
            </a:r>
            <a:r>
              <a:rPr lang="fr-FR" sz="2400" dirty="0" err="1"/>
              <a:t>implicitly</a:t>
            </a:r>
            <a:r>
              <a:rPr lang="fr-FR" sz="2400" dirty="0"/>
              <a:t> </a:t>
            </a:r>
            <a:r>
              <a:rPr lang="fr-FR" sz="2400" dirty="0" err="1"/>
              <a:t>converted</a:t>
            </a:r>
            <a:r>
              <a:rPr lang="fr-FR" sz="2400" dirty="0"/>
              <a:t> to  «</a:t>
            </a:r>
            <a:r>
              <a:rPr lang="fr-FR" sz="2400" dirty="0" err="1"/>
              <a:t>hdfs</a:t>
            </a:r>
            <a:r>
              <a:rPr lang="fr-FR" sz="2400" dirty="0"/>
              <a:t> </a:t>
            </a:r>
            <a:r>
              <a:rPr lang="fr-FR" sz="2400" dirty="0" err="1"/>
              <a:t>dfs</a:t>
            </a:r>
            <a:r>
              <a:rPr lang="fr-FR" sz="2400" dirty="0"/>
              <a:t> –ls  hdfs://&lt;hdfsServer&gt;/some-hdfs-dir »</a:t>
            </a:r>
          </a:p>
          <a:p>
            <a:endParaRPr lang="fr-FR" sz="2400" dirty="0"/>
          </a:p>
          <a:p>
            <a:r>
              <a:rPr lang="fr-FR" sz="2400" dirty="0" err="1"/>
              <a:t>hdfs</a:t>
            </a:r>
            <a:r>
              <a:rPr lang="fr-FR" sz="2400" dirty="0"/>
              <a:t> </a:t>
            </a:r>
            <a:r>
              <a:rPr lang="fr-FR" sz="2400" dirty="0" err="1"/>
              <a:t>dfs</a:t>
            </a:r>
            <a:r>
              <a:rPr lang="fr-FR" sz="2400" dirty="0"/>
              <a:t> –ls s3://   …  for </a:t>
            </a:r>
            <a:r>
              <a:rPr lang="fr-FR" sz="2400" dirty="0" err="1"/>
              <a:t>accessing</a:t>
            </a:r>
            <a:r>
              <a:rPr lang="fr-FR" sz="2400" dirty="0"/>
              <a:t> Amazon S3</a:t>
            </a:r>
          </a:p>
          <a:p>
            <a:r>
              <a:rPr lang="fr-FR" sz="2400" dirty="0" err="1"/>
              <a:t>hdfs</a:t>
            </a:r>
            <a:r>
              <a:rPr lang="fr-FR" sz="2400" dirty="0"/>
              <a:t> </a:t>
            </a:r>
            <a:r>
              <a:rPr lang="fr-FR" sz="2400" dirty="0" err="1"/>
              <a:t>dfs</a:t>
            </a:r>
            <a:r>
              <a:rPr lang="fr-FR" sz="2400" dirty="0"/>
              <a:t> –ls abfss://   …  for </a:t>
            </a:r>
            <a:r>
              <a:rPr lang="fr-FR" sz="2400" dirty="0" err="1"/>
              <a:t>accessing</a:t>
            </a:r>
            <a:r>
              <a:rPr lang="fr-FR" sz="2400" dirty="0"/>
              <a:t> Azure Storage</a:t>
            </a:r>
          </a:p>
          <a:p>
            <a:endParaRPr lang="fr-FR" sz="2400" dirty="0"/>
          </a:p>
          <a:p>
            <a:r>
              <a:rPr lang="fr-FR" sz="2400" dirty="0" err="1"/>
              <a:t>hdfs</a:t>
            </a:r>
            <a:r>
              <a:rPr lang="fr-FR" sz="2400" dirty="0"/>
              <a:t> </a:t>
            </a:r>
            <a:r>
              <a:rPr lang="fr-FR" sz="2400" dirty="0" err="1"/>
              <a:t>dfs</a:t>
            </a:r>
            <a:r>
              <a:rPr lang="fr-FR" sz="2400" dirty="0"/>
              <a:t> –ls </a:t>
            </a:r>
            <a:r>
              <a:rPr lang="fr-FR" sz="2400" dirty="0">
                <a:hlinkClick r:id="rId2" action="ppaction://hlinkfile"/>
              </a:rPr>
              <a:t>file:///c:/local-dir</a:t>
            </a:r>
            <a:r>
              <a:rPr lang="fr-FR" sz="2400" dirty="0"/>
              <a:t>      … for </a:t>
            </a:r>
            <a:r>
              <a:rPr lang="fr-FR" sz="2400" dirty="0" err="1"/>
              <a:t>accessing</a:t>
            </a:r>
            <a:r>
              <a:rPr lang="fr-FR" sz="2400" dirty="0"/>
              <a:t> local </a:t>
            </a:r>
            <a:r>
              <a:rPr lang="fr-FR" sz="2400" dirty="0" err="1"/>
              <a:t>dir</a:t>
            </a:r>
            <a:r>
              <a:rPr lang="fr-FR" sz="2400" dirty="0"/>
              <a:t> !   Notice 3 </a:t>
            </a:r>
            <a:r>
              <a:rPr lang="fr-FR" sz="2400" dirty="0" err="1"/>
              <a:t>slashes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351503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14475-F4C0-0E4F-4A56-D5FE951A1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Spark-</a:t>
            </a:r>
            <a:r>
              <a:rPr lang="fr-FR" dirty="0" err="1"/>
              <a:t>shell</a:t>
            </a:r>
            <a:r>
              <a:rPr lang="fr-FR" dirty="0"/>
              <a:t>   … </a:t>
            </a:r>
            <a:r>
              <a:rPr lang="fr-FR" dirty="0" err="1"/>
              <a:t>print</a:t>
            </a:r>
            <a:r>
              <a:rPr lang="fr-FR" dirty="0"/>
              <a:t>(« Hello World »)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6E2F25-89A7-E5B1-288A-622B7E45D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170" y="1422465"/>
            <a:ext cx="8847587" cy="513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640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400"/>
            <a:ext cx="10515600" cy="820044"/>
          </a:xfrm>
        </p:spPr>
        <p:txBody>
          <a:bodyPr/>
          <a:lstStyle/>
          <a:p>
            <a:pPr algn="ctr"/>
            <a:r>
              <a:rPr lang="fr-FR" dirty="0"/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84FF0-6CEF-2C76-2FA1-28BFA297E5D8}"/>
              </a:ext>
            </a:extLst>
          </p:cNvPr>
          <p:cNvSpPr txBox="1"/>
          <p:nvPr/>
        </p:nvSpPr>
        <p:spPr>
          <a:xfrm>
            <a:off x="1824361" y="1970843"/>
            <a:ext cx="712707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Install on </a:t>
            </a:r>
            <a:r>
              <a:rPr lang="fr-FR" sz="2400" dirty="0" err="1"/>
              <a:t>your</a:t>
            </a:r>
            <a:r>
              <a:rPr lang="fr-FR" sz="2400" dirty="0"/>
              <a:t> (Windows) PC a </a:t>
            </a:r>
            <a:r>
              <a:rPr lang="fr-FR" sz="2400" dirty="0" err="1"/>
              <a:t>minimalist</a:t>
            </a:r>
            <a:r>
              <a:rPr lang="fr-FR" sz="2400" dirty="0"/>
              <a:t> local SPARK</a:t>
            </a:r>
          </a:p>
          <a:p>
            <a:endParaRPr lang="fr-FR" sz="2400" dirty="0"/>
          </a:p>
          <a:p>
            <a:r>
              <a:rPr lang="fr-FR" sz="2400" dirty="0"/>
              <a:t>2/ Configure </a:t>
            </a:r>
            <a:r>
              <a:rPr lang="fr-FR" sz="2400" dirty="0" err="1"/>
              <a:t>it</a:t>
            </a:r>
            <a:r>
              <a:rPr lang="fr-FR" sz="2400" dirty="0"/>
              <a:t>, launch </a:t>
            </a:r>
            <a:r>
              <a:rPr lang="fr-FR" sz="2400" dirty="0" err="1"/>
              <a:t>spark-shell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3/ Discover </a:t>
            </a:r>
            <a:r>
              <a:rPr lang="fr-FR" sz="2400" dirty="0" err="1"/>
              <a:t>spark-shell</a:t>
            </a:r>
            <a:r>
              <a:rPr lang="fr-FR" sz="2400" dirty="0"/>
              <a:t>   scala&gt; REPL </a:t>
            </a:r>
          </a:p>
          <a:p>
            <a:endParaRPr lang="fr-FR" sz="2400" dirty="0"/>
          </a:p>
          <a:p>
            <a:r>
              <a:rPr lang="fr-FR" sz="2400" dirty="0"/>
              <a:t>4/ </a:t>
            </a:r>
            <a:r>
              <a:rPr lang="fr-FR" sz="2400" dirty="0" err="1"/>
              <a:t>Execute</a:t>
            </a:r>
            <a:r>
              <a:rPr lang="fr-FR" sz="2400" dirty="0"/>
              <a:t> basic </a:t>
            </a:r>
            <a:r>
              <a:rPr lang="fr-FR" sz="2400" dirty="0" err="1"/>
              <a:t>spark</a:t>
            </a:r>
            <a:r>
              <a:rPr lang="fr-FR" sz="2400" dirty="0"/>
              <a:t> </a:t>
            </a:r>
            <a:r>
              <a:rPr lang="fr-FR" sz="2400" dirty="0" err="1"/>
              <a:t>commands</a:t>
            </a:r>
            <a:r>
              <a:rPr lang="fr-FR" sz="2400" dirty="0"/>
              <a:t> on </a:t>
            </a:r>
            <a:r>
              <a:rPr lang="fr-FR" sz="2400" dirty="0" err="1"/>
              <a:t>DataSets</a:t>
            </a:r>
            <a:r>
              <a:rPr lang="fr-FR" sz="2400" dirty="0"/>
              <a:t>, Files</a:t>
            </a:r>
          </a:p>
        </p:txBody>
      </p:sp>
      <p:pic>
        <p:nvPicPr>
          <p:cNvPr id="1026" name="Picture 2" descr="Image result for checkmark icon">
            <a:extLst>
              <a:ext uri="{FF2B5EF4-FFF2-40B4-BE49-F238E27FC236}">
                <a16:creationId xmlns:a16="http://schemas.microsoft.com/office/drawing/2014/main" id="{E74398AD-0B0C-A258-6EA0-DE207F030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37" y="1636224"/>
            <a:ext cx="896388" cy="89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mage result for checkmark icon">
            <a:extLst>
              <a:ext uri="{FF2B5EF4-FFF2-40B4-BE49-F238E27FC236}">
                <a16:creationId xmlns:a16="http://schemas.microsoft.com/office/drawing/2014/main" id="{0645F1A1-AD96-D4C4-4891-AC9189521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37" y="2532612"/>
            <a:ext cx="896388" cy="89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7034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538" y="3018978"/>
            <a:ext cx="10515600" cy="820044"/>
          </a:xfrm>
        </p:spPr>
        <p:txBody>
          <a:bodyPr/>
          <a:lstStyle/>
          <a:p>
            <a:pPr algn="ctr"/>
            <a:r>
              <a:rPr lang="fr-FR" dirty="0"/>
              <a:t>10 mn Pause</a:t>
            </a:r>
          </a:p>
        </p:txBody>
      </p:sp>
    </p:spTree>
    <p:extLst>
      <p:ext uri="{BB962C8B-B14F-4D97-AF65-F5344CB8AC3E}">
        <p14:creationId xmlns:p14="http://schemas.microsoft.com/office/powerpoint/2010/main" val="13889063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400"/>
            <a:ext cx="10515600" cy="82004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Discover Spark-</a:t>
            </a:r>
            <a:r>
              <a:rPr lang="fr-FR" dirty="0" err="1"/>
              <a:t>shell</a:t>
            </a:r>
            <a:br>
              <a:rPr lang="fr-FR" dirty="0"/>
            </a:br>
            <a:r>
              <a:rPr lang="fr-FR" dirty="0"/>
              <a:t>type &lt;enter&gt; &lt;enter&gt; &lt;enter&gt; 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05ACAA-0AE2-9932-2F59-19459111E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535" y="1350249"/>
            <a:ext cx="8859018" cy="514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4681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702E-9188-97EB-DF59-210E766A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REPL = Read – Eval – </a:t>
            </a:r>
            <a:r>
              <a:rPr lang="fr-FR" dirty="0" err="1"/>
              <a:t>Print</a:t>
            </a:r>
            <a:r>
              <a:rPr lang="fr-FR" dirty="0"/>
              <a:t> - Loop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DE5838-C940-0AA6-D1FB-1F1DCFE0A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118" y="2546028"/>
            <a:ext cx="3384931" cy="33056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71DC5B-1AD8-9486-0B3B-6D3FF8D522C1}"/>
              </a:ext>
            </a:extLst>
          </p:cNvPr>
          <p:cNvSpPr txBox="1"/>
          <p:nvPr/>
        </p:nvSpPr>
        <p:spPr>
          <a:xfrm>
            <a:off x="1174866" y="2261062"/>
            <a:ext cx="588731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For </a:t>
            </a:r>
            <a:r>
              <a:rPr lang="fr-FR" sz="2800" dirty="0" err="1"/>
              <a:t>each</a:t>
            </a:r>
            <a:r>
              <a:rPr lang="fr-FR" sz="2800" dirty="0"/>
              <a:t> line, </a:t>
            </a:r>
          </a:p>
          <a:p>
            <a:endParaRPr lang="fr-FR" sz="2800" dirty="0"/>
          </a:p>
          <a:p>
            <a:r>
              <a:rPr lang="fr-FR" sz="2800" dirty="0"/>
              <a:t>Spark </a:t>
            </a:r>
            <a:r>
              <a:rPr lang="fr-FR" sz="2800" dirty="0" err="1"/>
              <a:t>evaluate</a:t>
            </a:r>
            <a:r>
              <a:rPr lang="fr-FR" sz="2800" dirty="0"/>
              <a:t> (compile in scala code)</a:t>
            </a:r>
          </a:p>
          <a:p>
            <a:endParaRPr lang="fr-FR" sz="2800" dirty="0"/>
          </a:p>
          <a:p>
            <a:r>
              <a:rPr lang="fr-FR" sz="2800" dirty="0" err="1"/>
              <a:t>Result</a:t>
            </a:r>
            <a:r>
              <a:rPr lang="fr-FR" sz="2800" dirty="0"/>
              <a:t> </a:t>
            </a:r>
            <a:r>
              <a:rPr lang="fr-FR" sz="2800" dirty="0" err="1"/>
              <a:t>is</a:t>
            </a:r>
            <a:r>
              <a:rPr lang="fr-FR" sz="2800" dirty="0"/>
              <a:t> </a:t>
            </a:r>
            <a:r>
              <a:rPr lang="fr-FR" sz="2800" dirty="0" err="1"/>
              <a:t>printed</a:t>
            </a:r>
            <a:r>
              <a:rPr lang="fr-FR" sz="2800" dirty="0"/>
              <a:t>, </a:t>
            </a:r>
            <a:r>
              <a:rPr lang="fr-FR" sz="2800" dirty="0" err="1"/>
              <a:t>with</a:t>
            </a:r>
            <a:r>
              <a:rPr lang="fr-FR" sz="2800" dirty="0"/>
              <a:t> type information</a:t>
            </a:r>
          </a:p>
          <a:p>
            <a:r>
              <a:rPr lang="fr-FR" sz="2800" dirty="0"/>
              <a:t>and </a:t>
            </a:r>
            <a:r>
              <a:rPr lang="fr-FR" sz="2800" dirty="0" err="1"/>
              <a:t>assigned</a:t>
            </a:r>
            <a:r>
              <a:rPr lang="fr-FR" sz="2800" dirty="0"/>
              <a:t> to variable « </a:t>
            </a:r>
            <a:r>
              <a:rPr lang="fr-FR" sz="2800" dirty="0" err="1"/>
              <a:t>res</a:t>
            </a:r>
            <a:r>
              <a:rPr lang="fr-FR" sz="2800" dirty="0"/>
              <a:t>${i} »</a:t>
            </a:r>
            <a:br>
              <a:rPr lang="fr-FR" sz="2800" dirty="0"/>
            </a:br>
            <a:r>
              <a:rPr lang="fr-FR" sz="2800" dirty="0"/>
              <a:t>   </a:t>
            </a:r>
            <a:r>
              <a:rPr lang="fr-FR" sz="2800" dirty="0" err="1"/>
              <a:t>where</a:t>
            </a:r>
            <a:r>
              <a:rPr lang="fr-FR" sz="2800" dirty="0"/>
              <a:t> « i » </a:t>
            </a:r>
            <a:r>
              <a:rPr lang="fr-FR" sz="2800" dirty="0" err="1"/>
              <a:t>is</a:t>
            </a:r>
            <a:r>
              <a:rPr lang="fr-FR" sz="2800" dirty="0"/>
              <a:t> </a:t>
            </a:r>
            <a:r>
              <a:rPr lang="fr-FR" sz="2800" dirty="0" err="1"/>
              <a:t>incremented</a:t>
            </a:r>
            <a:r>
              <a:rPr lang="fr-FR" sz="2800" dirty="0"/>
              <a:t> </a:t>
            </a:r>
          </a:p>
          <a:p>
            <a:endParaRPr lang="fr-FR" sz="2800" dirty="0"/>
          </a:p>
          <a:p>
            <a:r>
              <a:rPr lang="fr-FR" sz="2800" dirty="0"/>
              <a:t>Variables can </a:t>
            </a:r>
            <a:r>
              <a:rPr lang="fr-FR" sz="2800" dirty="0" err="1"/>
              <a:t>be</a:t>
            </a:r>
            <a:r>
              <a:rPr lang="fr-FR" sz="2800" dirty="0"/>
              <a:t> re-</a:t>
            </a:r>
            <a:r>
              <a:rPr lang="fr-FR" sz="2800" dirty="0" err="1"/>
              <a:t>used</a:t>
            </a:r>
            <a:r>
              <a:rPr lang="fr-FR" sz="2800" dirty="0"/>
              <a:t> by </a:t>
            </a:r>
            <a:r>
              <a:rPr lang="fr-FR" sz="2800" dirty="0" err="1"/>
              <a:t>name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2059020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25" y="236400"/>
            <a:ext cx="11032375" cy="219091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Not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spark-shell</a:t>
            </a:r>
            <a:r>
              <a:rPr lang="fr-FR" dirty="0"/>
              <a:t>…</a:t>
            </a:r>
            <a:br>
              <a:rPr lang="fr-FR" dirty="0"/>
            </a:br>
            <a:r>
              <a:rPr lang="fr-FR" dirty="0" err="1"/>
              <a:t>pyspark</a:t>
            </a:r>
            <a:r>
              <a:rPr lang="fr-FR" dirty="0"/>
              <a:t> =&gt; </a:t>
            </a:r>
            <a:r>
              <a:rPr lang="fr-FR" dirty="0" err="1"/>
              <a:t>need</a:t>
            </a:r>
            <a:r>
              <a:rPr lang="fr-FR" dirty="0"/>
              <a:t> python exe</a:t>
            </a:r>
            <a:br>
              <a:rPr lang="fr-FR" dirty="0"/>
            </a:br>
            <a:r>
              <a:rPr lang="fr-FR" dirty="0" err="1"/>
              <a:t>sparkR</a:t>
            </a:r>
            <a:r>
              <a:rPr lang="fr-FR" dirty="0"/>
              <a:t> =&gt; </a:t>
            </a:r>
            <a:r>
              <a:rPr lang="fr-FR" dirty="0" err="1"/>
              <a:t>need</a:t>
            </a:r>
            <a:r>
              <a:rPr lang="fr-FR" dirty="0"/>
              <a:t> ‘R’ exe</a:t>
            </a:r>
            <a:br>
              <a:rPr lang="fr-FR" dirty="0"/>
            </a:br>
            <a:r>
              <a:rPr lang="fr-FR" dirty="0" err="1"/>
              <a:t>spark-sql</a:t>
            </a:r>
            <a:r>
              <a:rPr lang="fr-FR" dirty="0"/>
              <a:t> =&gt; </a:t>
            </a:r>
            <a:r>
              <a:rPr lang="fr-FR" dirty="0" err="1"/>
              <a:t>need</a:t>
            </a:r>
            <a:r>
              <a:rPr lang="fr-FR" dirty="0"/>
              <a:t> </a:t>
            </a:r>
            <a:r>
              <a:rPr lang="fr-FR" dirty="0" err="1"/>
              <a:t>connect</a:t>
            </a:r>
            <a:r>
              <a:rPr lang="fr-FR" dirty="0"/>
              <a:t> to </a:t>
            </a:r>
            <a:r>
              <a:rPr lang="fr-FR" dirty="0" err="1"/>
              <a:t>Hive</a:t>
            </a:r>
            <a:r>
              <a:rPr lang="fr-FR" dirty="0"/>
              <a:t> </a:t>
            </a:r>
            <a:r>
              <a:rPr lang="fr-FR" dirty="0" err="1"/>
              <a:t>MetaStore</a:t>
            </a:r>
            <a:r>
              <a:rPr lang="fr-FR" dirty="0"/>
              <a:t> Server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1A8905-80FA-D273-C79F-5B85820AF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277" y="2481234"/>
            <a:ext cx="7891586" cy="428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9458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8759F-2DAA-995B-52C1-A68CF867D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Discover </a:t>
            </a:r>
            <a:r>
              <a:rPr lang="fr-FR" dirty="0" err="1"/>
              <a:t>built-ins</a:t>
            </a:r>
            <a:r>
              <a:rPr lang="fr-FR" dirty="0"/>
              <a:t> </a:t>
            </a:r>
            <a:r>
              <a:rPr lang="fr-FR" dirty="0" err="1"/>
              <a:t>commands</a:t>
            </a:r>
            <a:r>
              <a:rPr lang="fr-FR" dirty="0"/>
              <a:t>, :help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5DB814-AE27-3756-B85A-495FAEDFC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715" y="1690688"/>
            <a:ext cx="8847587" cy="46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673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8759F-2DAA-995B-52C1-A68CF867D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Discover </a:t>
            </a:r>
            <a:r>
              <a:rPr lang="fr-FR" dirty="0" err="1"/>
              <a:t>History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1BD78-1BC1-9A11-EAF2-B8D4A9BB0506}"/>
              </a:ext>
            </a:extLst>
          </p:cNvPr>
          <p:cNvSpPr txBox="1"/>
          <p:nvPr/>
        </p:nvSpPr>
        <p:spPr>
          <a:xfrm>
            <a:off x="3197629" y="2310938"/>
            <a:ext cx="532536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Exercise</a:t>
            </a:r>
            <a:r>
              <a:rPr lang="fr-FR" dirty="0"/>
              <a:t> :</a:t>
            </a:r>
            <a:br>
              <a:rPr lang="fr-FR" dirty="0"/>
            </a:br>
            <a:br>
              <a:rPr lang="fr-FR" dirty="0"/>
            </a:br>
            <a:r>
              <a:rPr lang="fr-FR" dirty="0"/>
              <a:t>a/  Type 5 basic </a:t>
            </a:r>
            <a:r>
              <a:rPr lang="fr-FR" dirty="0" err="1"/>
              <a:t>commands</a:t>
            </a:r>
            <a:r>
              <a:rPr lang="fr-FR" dirty="0"/>
              <a:t>:  </a:t>
            </a:r>
            <a:br>
              <a:rPr lang="fr-FR" dirty="0"/>
            </a:br>
            <a:r>
              <a:rPr lang="fr-FR" dirty="0" err="1"/>
              <a:t>print</a:t>
            </a:r>
            <a:r>
              <a:rPr lang="fr-FR" dirty="0"/>
              <a:t>(« line1 »)  &lt;ENTER&gt;</a:t>
            </a:r>
            <a:br>
              <a:rPr lang="fr-FR" dirty="0"/>
            </a:br>
            <a:r>
              <a:rPr lang="fr-FR" dirty="0" err="1"/>
              <a:t>print</a:t>
            </a:r>
            <a:r>
              <a:rPr lang="fr-FR" dirty="0"/>
              <a:t>(« line2 »)  &lt;ENTER&gt;</a:t>
            </a:r>
            <a:br>
              <a:rPr lang="fr-FR" dirty="0"/>
            </a:br>
            <a:r>
              <a:rPr lang="fr-FR" dirty="0"/>
              <a:t>….  </a:t>
            </a:r>
            <a:br>
              <a:rPr lang="fr-FR" dirty="0"/>
            </a:br>
            <a:r>
              <a:rPr lang="fr-FR" dirty="0" err="1"/>
              <a:t>print</a:t>
            </a:r>
            <a:r>
              <a:rPr lang="fr-FR" dirty="0"/>
              <a:t>(« line5 ») &lt;ENTER&gt;</a:t>
            </a:r>
          </a:p>
          <a:p>
            <a:endParaRPr lang="fr-FR" dirty="0"/>
          </a:p>
          <a:p>
            <a:r>
              <a:rPr lang="fr-FR" dirty="0"/>
              <a:t>b/   </a:t>
            </a:r>
            <a:r>
              <a:rPr lang="fr-FR" dirty="0" err="1"/>
              <a:t>navigate</a:t>
            </a:r>
            <a:r>
              <a:rPr lang="fr-FR" dirty="0"/>
              <a:t> scroll UP and Down to retype command N</a:t>
            </a:r>
            <a:br>
              <a:rPr lang="fr-FR" dirty="0"/>
            </a:br>
            <a:endParaRPr lang="fr-FR" dirty="0"/>
          </a:p>
          <a:p>
            <a:r>
              <a:rPr lang="fr-FR" dirty="0"/>
              <a:t>c/ replay  all </a:t>
            </a:r>
            <a:r>
              <a:rPr lang="fr-FR" dirty="0" err="1"/>
              <a:t>commands</a:t>
            </a:r>
            <a:r>
              <a:rPr lang="fr-FR" dirty="0"/>
              <a:t>, </a:t>
            </a:r>
            <a:r>
              <a:rPr lang="fr-FR" dirty="0" err="1"/>
              <a:t>using</a:t>
            </a:r>
            <a:r>
              <a:rPr lang="fr-FR" dirty="0"/>
              <a:t> « :replay »</a:t>
            </a:r>
          </a:p>
          <a:p>
            <a:endParaRPr lang="fr-FR" dirty="0"/>
          </a:p>
          <a:p>
            <a:r>
              <a:rPr lang="fr-FR" dirty="0"/>
              <a:t>c/  </a:t>
            </a:r>
            <a:r>
              <a:rPr lang="fr-FR" dirty="0" err="1"/>
              <a:t>save</a:t>
            </a:r>
            <a:r>
              <a:rPr lang="fr-FR" dirty="0"/>
              <a:t>  session in file  « my-supper-commands.txt »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47079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B50E-ABAD-471F-F592-6E335FC14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Interactive Line Edit</a:t>
            </a:r>
            <a:br>
              <a:rPr lang="fr-FR" dirty="0"/>
            </a:br>
            <a:r>
              <a:rPr lang="fr-FR" dirty="0" err="1"/>
              <a:t>Jline</a:t>
            </a:r>
            <a:r>
              <a:rPr lang="fr-FR" dirty="0"/>
              <a:t>  ( ~GNU </a:t>
            </a:r>
            <a:r>
              <a:rPr lang="fr-FR" dirty="0" err="1"/>
              <a:t>readline</a:t>
            </a:r>
            <a:r>
              <a:rPr lang="fr-FR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D98329-B961-1DD4-D086-E446109C0268}"/>
              </a:ext>
            </a:extLst>
          </p:cNvPr>
          <p:cNvSpPr txBox="1"/>
          <p:nvPr/>
        </p:nvSpPr>
        <p:spPr>
          <a:xfrm>
            <a:off x="3382392" y="2361460"/>
            <a:ext cx="4811253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Remember</a:t>
            </a:r>
            <a:r>
              <a:rPr lang="fr-FR" dirty="0"/>
              <a:t> the </a:t>
            </a:r>
            <a:r>
              <a:rPr lang="fr-FR" dirty="0" err="1"/>
              <a:t>following</a:t>
            </a:r>
            <a:r>
              <a:rPr lang="fr-FR" dirty="0"/>
              <a:t> standard </a:t>
            </a:r>
            <a:r>
              <a:rPr lang="fr-FR" dirty="0" err="1"/>
              <a:t>shortcuts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CTRL+L  : </a:t>
            </a:r>
            <a:r>
              <a:rPr lang="fr-FR" dirty="0" err="1"/>
              <a:t>clear</a:t>
            </a:r>
            <a:r>
              <a:rPr lang="fr-FR" dirty="0"/>
              <a:t> screen </a:t>
            </a:r>
          </a:p>
          <a:p>
            <a:endParaRPr lang="fr-FR" dirty="0"/>
          </a:p>
          <a:p>
            <a:r>
              <a:rPr lang="fr-FR" dirty="0" err="1"/>
              <a:t>CTRL+a</a:t>
            </a:r>
            <a:r>
              <a:rPr lang="fr-FR" dirty="0"/>
              <a:t>   / </a:t>
            </a:r>
            <a:r>
              <a:rPr lang="fr-FR" dirty="0" err="1"/>
              <a:t>CTRL+e</a:t>
            </a:r>
            <a:r>
              <a:rPr lang="fr-FR" dirty="0"/>
              <a:t>  : jump to </a:t>
            </a:r>
            <a:r>
              <a:rPr lang="fr-FR" dirty="0" err="1"/>
              <a:t>begin</a:t>
            </a:r>
            <a:r>
              <a:rPr lang="fr-FR" dirty="0"/>
              <a:t>/end of line</a:t>
            </a:r>
          </a:p>
          <a:p>
            <a:endParaRPr lang="fr-FR" dirty="0"/>
          </a:p>
          <a:p>
            <a:r>
              <a:rPr lang="fr-FR" dirty="0" err="1"/>
              <a:t>CTRL+d</a:t>
            </a:r>
            <a:r>
              <a:rPr lang="fr-FR" dirty="0"/>
              <a:t>  : </a:t>
            </a:r>
            <a:r>
              <a:rPr lang="fr-FR" dirty="0" err="1"/>
              <a:t>delete</a:t>
            </a:r>
            <a:r>
              <a:rPr lang="fr-FR" dirty="0"/>
              <a:t> char</a:t>
            </a:r>
          </a:p>
          <a:p>
            <a:r>
              <a:rPr lang="fr-FR" dirty="0" err="1"/>
              <a:t>CTRL+k</a:t>
            </a:r>
            <a:r>
              <a:rPr lang="fr-FR" dirty="0"/>
              <a:t>  : </a:t>
            </a:r>
            <a:r>
              <a:rPr lang="fr-FR" dirty="0" err="1"/>
              <a:t>kill</a:t>
            </a:r>
            <a:r>
              <a:rPr lang="fr-FR" dirty="0"/>
              <a:t> </a:t>
            </a:r>
            <a:r>
              <a:rPr lang="fr-FR" dirty="0" err="1"/>
              <a:t>rest</a:t>
            </a:r>
            <a:r>
              <a:rPr lang="fr-FR" dirty="0"/>
              <a:t> of line, put in buffer</a:t>
            </a:r>
          </a:p>
          <a:p>
            <a:r>
              <a:rPr lang="fr-FR" dirty="0" err="1"/>
              <a:t>CTRL+y</a:t>
            </a:r>
            <a:r>
              <a:rPr lang="fr-FR" dirty="0"/>
              <a:t>  : paste line </a:t>
            </a:r>
            <a:r>
              <a:rPr lang="fr-FR" dirty="0" err="1"/>
              <a:t>from</a:t>
            </a:r>
            <a:r>
              <a:rPr lang="fr-FR" dirty="0"/>
              <a:t> buffer</a:t>
            </a:r>
          </a:p>
          <a:p>
            <a:endParaRPr lang="fr-FR" dirty="0"/>
          </a:p>
          <a:p>
            <a:r>
              <a:rPr lang="fr-FR" dirty="0"/>
              <a:t>Scroll Up / Down : </a:t>
            </a:r>
            <a:r>
              <a:rPr lang="fr-FR" dirty="0" err="1"/>
              <a:t>previous</a:t>
            </a:r>
            <a:r>
              <a:rPr lang="fr-FR" dirty="0"/>
              <a:t>/</a:t>
            </a:r>
            <a:r>
              <a:rPr lang="fr-FR" dirty="0" err="1"/>
              <a:t>next</a:t>
            </a:r>
            <a:r>
              <a:rPr lang="fr-FR" dirty="0"/>
              <a:t> line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history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13149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8759F-2DAA-995B-52C1-A68CF867D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Discover </a:t>
            </a:r>
            <a:r>
              <a:rPr lang="fr-FR" dirty="0" err="1"/>
              <a:t>History</a:t>
            </a:r>
            <a:r>
              <a:rPr lang="fr-FR" dirty="0"/>
              <a:t>  (stop + </a:t>
            </a:r>
            <a:r>
              <a:rPr lang="fr-FR" dirty="0" err="1"/>
              <a:t>relaunch</a:t>
            </a:r>
            <a:r>
              <a:rPr lang="fr-FR" dirty="0"/>
              <a:t> </a:t>
            </a:r>
            <a:r>
              <a:rPr lang="fr-FR" dirty="0" err="1"/>
              <a:t>spark-shell</a:t>
            </a:r>
            <a:r>
              <a:rPr lang="fr-FR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1BD78-1BC1-9A11-EAF2-B8D4A9BB0506}"/>
              </a:ext>
            </a:extLst>
          </p:cNvPr>
          <p:cNvSpPr txBox="1"/>
          <p:nvPr/>
        </p:nvSpPr>
        <p:spPr>
          <a:xfrm>
            <a:off x="1280160" y="2128058"/>
            <a:ext cx="944066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Exercise</a:t>
            </a:r>
            <a:r>
              <a:rPr lang="fr-FR" dirty="0"/>
              <a:t> :</a:t>
            </a:r>
            <a:br>
              <a:rPr lang="fr-FR" dirty="0"/>
            </a:br>
            <a:br>
              <a:rPr lang="fr-FR" dirty="0"/>
            </a:br>
            <a:r>
              <a:rPr lang="fr-FR" dirty="0"/>
              <a:t>a/  Stop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spark-shell</a:t>
            </a:r>
            <a:endParaRPr lang="fr-FR" dirty="0"/>
          </a:p>
          <a:p>
            <a:endParaRPr lang="fr-FR" dirty="0"/>
          </a:p>
          <a:p>
            <a:r>
              <a:rPr lang="fr-FR" dirty="0"/>
              <a:t>b/  restart a </a:t>
            </a:r>
            <a:r>
              <a:rPr lang="fr-FR" dirty="0" err="1"/>
              <a:t>spark-shell</a:t>
            </a:r>
            <a:br>
              <a:rPr lang="fr-FR" dirty="0"/>
            </a:br>
            <a:endParaRPr lang="fr-FR" dirty="0"/>
          </a:p>
          <a:p>
            <a:r>
              <a:rPr lang="fr-FR" dirty="0"/>
              <a:t>c/ do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previous</a:t>
            </a:r>
            <a:r>
              <a:rPr lang="fr-FR" dirty="0"/>
              <a:t> </a:t>
            </a:r>
            <a:r>
              <a:rPr lang="fr-FR" dirty="0" err="1"/>
              <a:t>commands</a:t>
            </a:r>
            <a:r>
              <a:rPr lang="fr-FR" dirty="0"/>
              <a:t> (Scroll Up)</a:t>
            </a:r>
          </a:p>
          <a:p>
            <a:endParaRPr lang="fr-FR" dirty="0"/>
          </a:p>
          <a:p>
            <a:r>
              <a:rPr lang="fr-FR" dirty="0"/>
              <a:t>d/ do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history</a:t>
            </a:r>
            <a:r>
              <a:rPr lang="fr-FR" dirty="0"/>
              <a:t> ?</a:t>
            </a:r>
          </a:p>
          <a:p>
            <a:endParaRPr lang="fr-FR" dirty="0"/>
          </a:p>
          <a:p>
            <a:r>
              <a:rPr lang="fr-FR" dirty="0"/>
              <a:t>e/ </a:t>
            </a:r>
            <a:r>
              <a:rPr lang="fr-FR" dirty="0" err="1"/>
              <a:t>Find</a:t>
            </a:r>
            <a:r>
              <a:rPr lang="fr-FR" dirty="0"/>
              <a:t> in </a:t>
            </a:r>
            <a:r>
              <a:rPr lang="fr-FR" dirty="0" err="1"/>
              <a:t>which</a:t>
            </a:r>
            <a:r>
              <a:rPr lang="fr-FR" dirty="0"/>
              <a:t> file are </a:t>
            </a:r>
            <a:r>
              <a:rPr lang="fr-FR" dirty="0" err="1"/>
              <a:t>written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commands</a:t>
            </a:r>
            <a:r>
              <a:rPr lang="fr-FR" dirty="0"/>
              <a:t> ?</a:t>
            </a:r>
            <a:br>
              <a:rPr lang="fr-FR" dirty="0"/>
            </a:br>
            <a:r>
              <a:rPr lang="fr-FR" dirty="0"/>
              <a:t>   … </a:t>
            </a:r>
            <a:r>
              <a:rPr lang="fr-FR" dirty="0" err="1"/>
              <a:t>search</a:t>
            </a:r>
            <a:r>
              <a:rPr lang="fr-FR" dirty="0"/>
              <a:t> for </a:t>
            </a:r>
            <a:r>
              <a:rPr lang="fr-FR" dirty="0" err="1"/>
              <a:t>hidden</a:t>
            </a:r>
            <a:r>
              <a:rPr lang="fr-FR" dirty="0"/>
              <a:t> « .</a:t>
            </a:r>
            <a:r>
              <a:rPr lang="fr-FR" dirty="0" err="1"/>
              <a:t>scala_history</a:t>
            </a:r>
            <a:r>
              <a:rPr lang="fr-FR" dirty="0"/>
              <a:t> » file, in </a:t>
            </a:r>
            <a:r>
              <a:rPr lang="fr-FR" dirty="0" err="1"/>
              <a:t>your</a:t>
            </a:r>
            <a:r>
              <a:rPr lang="fr-FR" dirty="0"/>
              <a:t> home directory C:\users\&lt;login&gt;\.scala_history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55442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8759F-2DAA-995B-52C1-A68CF867D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« :</a:t>
            </a:r>
            <a:r>
              <a:rPr lang="fr-FR" dirty="0" err="1"/>
              <a:t>save</a:t>
            </a:r>
            <a:r>
              <a:rPr lang="fr-FR" dirty="0"/>
              <a:t> », « :</a:t>
            </a:r>
            <a:r>
              <a:rPr lang="fr-FR" dirty="0" err="1"/>
              <a:t>load</a:t>
            </a:r>
            <a:r>
              <a:rPr lang="fr-FR" dirty="0"/>
              <a:t> 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1BD78-1BC1-9A11-EAF2-B8D4A9BB0506}"/>
              </a:ext>
            </a:extLst>
          </p:cNvPr>
          <p:cNvSpPr txBox="1"/>
          <p:nvPr/>
        </p:nvSpPr>
        <p:spPr>
          <a:xfrm>
            <a:off x="2582488" y="2310938"/>
            <a:ext cx="832086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fr-FR" sz="2400" dirty="0"/>
            </a:br>
            <a:r>
              <a:rPr lang="fr-FR" sz="2400" dirty="0"/>
              <a:t>a/  </a:t>
            </a:r>
            <a:r>
              <a:rPr lang="fr-FR" sz="2400" dirty="0" err="1"/>
              <a:t>save</a:t>
            </a:r>
            <a:r>
              <a:rPr lang="fr-FR" sz="2400" dirty="0"/>
              <a:t> all </a:t>
            </a:r>
            <a:r>
              <a:rPr lang="fr-FR" sz="2400" dirty="0" err="1"/>
              <a:t>commands</a:t>
            </a:r>
            <a:r>
              <a:rPr lang="fr-FR" sz="2400" dirty="0"/>
              <a:t> session in file  « my-super-commands.txt »</a:t>
            </a:r>
          </a:p>
          <a:p>
            <a:endParaRPr lang="fr-FR" sz="2400" dirty="0"/>
          </a:p>
          <a:p>
            <a:r>
              <a:rPr lang="fr-FR" sz="2400" dirty="0"/>
              <a:t>b/ </a:t>
            </a:r>
            <a:r>
              <a:rPr lang="fr-FR" sz="2400" dirty="0" err="1"/>
              <a:t>load</a:t>
            </a:r>
            <a:r>
              <a:rPr lang="fr-FR" sz="2400" dirty="0"/>
              <a:t> and re-</a:t>
            </a:r>
            <a:r>
              <a:rPr lang="fr-FR" sz="2400" dirty="0" err="1"/>
              <a:t>execute</a:t>
            </a:r>
            <a:r>
              <a:rPr lang="fr-FR" sz="2400" dirty="0"/>
              <a:t> </a:t>
            </a:r>
            <a:r>
              <a:rPr lang="fr-FR" sz="2400" dirty="0" err="1"/>
              <a:t>commands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file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393310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8759F-2DAA-995B-52C1-A68CF867D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« :replay », « :reset 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1BD78-1BC1-9A11-EAF2-B8D4A9BB0506}"/>
              </a:ext>
            </a:extLst>
          </p:cNvPr>
          <p:cNvSpPr txBox="1"/>
          <p:nvPr/>
        </p:nvSpPr>
        <p:spPr>
          <a:xfrm>
            <a:off x="2582488" y="2310938"/>
            <a:ext cx="80899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fr-FR" sz="2400" dirty="0"/>
            </a:br>
            <a:r>
              <a:rPr lang="fr-FR" sz="2400" dirty="0"/>
              <a:t>a/  replay all in once </a:t>
            </a:r>
            <a:r>
              <a:rPr lang="fr-FR" sz="2400" dirty="0" err="1"/>
              <a:t>your</a:t>
            </a:r>
            <a:r>
              <a:rPr lang="fr-FR" sz="2400" dirty="0"/>
              <a:t> </a:t>
            </a:r>
            <a:r>
              <a:rPr lang="fr-FR" sz="2400" dirty="0" err="1"/>
              <a:t>previous</a:t>
            </a:r>
            <a:r>
              <a:rPr lang="fr-FR" sz="2400" dirty="0"/>
              <a:t> </a:t>
            </a:r>
            <a:r>
              <a:rPr lang="fr-FR" sz="2400" dirty="0" err="1"/>
              <a:t>commands</a:t>
            </a:r>
            <a:r>
              <a:rPr lang="fr-FR" sz="2400" dirty="0"/>
              <a:t>, </a:t>
            </a:r>
            <a:r>
              <a:rPr lang="fr-FR" sz="2400" dirty="0" err="1"/>
              <a:t>using</a:t>
            </a:r>
            <a:r>
              <a:rPr lang="fr-FR" sz="2400" dirty="0"/>
              <a:t> « :replay »</a:t>
            </a:r>
          </a:p>
          <a:p>
            <a:endParaRPr lang="fr-FR" sz="2400" dirty="0"/>
          </a:p>
          <a:p>
            <a:r>
              <a:rPr lang="fr-FR" sz="2400" dirty="0"/>
              <a:t>b/ reset </a:t>
            </a:r>
            <a:r>
              <a:rPr lang="fr-FR" sz="2400" dirty="0" err="1"/>
              <a:t>commands</a:t>
            </a:r>
            <a:r>
              <a:rPr lang="fr-FR" sz="2400" dirty="0"/>
              <a:t>… </a:t>
            </a:r>
            <a:r>
              <a:rPr lang="fr-FR" sz="2400" dirty="0" err="1"/>
              <a:t>see</a:t>
            </a:r>
            <a:r>
              <a:rPr lang="fr-FR" sz="2400" dirty="0"/>
              <a:t> </a:t>
            </a:r>
            <a:r>
              <a:rPr lang="fr-FR" sz="2400" dirty="0" err="1"/>
              <a:t>History</a:t>
            </a:r>
            <a:r>
              <a:rPr lang="fr-FR" sz="2400" dirty="0"/>
              <a:t> </a:t>
            </a:r>
            <a:r>
              <a:rPr lang="fr-FR" sz="2400" dirty="0" err="1"/>
              <a:t>after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8243267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8759F-2DAA-995B-52C1-A68CF867D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Discover Multi-Line </a:t>
            </a:r>
            <a:r>
              <a:rPr lang="fr-FR" dirty="0" err="1"/>
              <a:t>edit</a:t>
            </a:r>
            <a:r>
              <a:rPr lang="fr-FR" dirty="0"/>
              <a:t> support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9D4062-033E-ECEA-2AB2-A54D503ED188}"/>
              </a:ext>
            </a:extLst>
          </p:cNvPr>
          <p:cNvSpPr txBox="1"/>
          <p:nvPr/>
        </p:nvSpPr>
        <p:spPr>
          <a:xfrm>
            <a:off x="2017222" y="1690688"/>
            <a:ext cx="9527993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How to type 1 command </a:t>
            </a:r>
            <a:r>
              <a:rPr lang="fr-FR" sz="2400" dirty="0" err="1"/>
              <a:t>containing</a:t>
            </a:r>
            <a:r>
              <a:rPr lang="fr-FR" sz="2400" dirty="0"/>
              <a:t> </a:t>
            </a:r>
            <a:r>
              <a:rPr lang="fr-FR" sz="2400" dirty="0" err="1"/>
              <a:t>several</a:t>
            </a:r>
            <a:r>
              <a:rPr lang="fr-FR" sz="2400" dirty="0"/>
              <a:t> </a:t>
            </a:r>
            <a:r>
              <a:rPr lang="fr-FR" sz="2400" dirty="0" err="1"/>
              <a:t>lines</a:t>
            </a:r>
            <a:r>
              <a:rPr lang="fr-FR" sz="2400" dirty="0"/>
              <a:t>  ??</a:t>
            </a:r>
          </a:p>
          <a:p>
            <a:endParaRPr lang="fr-FR" sz="2400" dirty="0"/>
          </a:p>
          <a:p>
            <a:r>
              <a:rPr lang="fr-FR" sz="2400" dirty="0"/>
              <a:t>For </a:t>
            </a:r>
            <a:r>
              <a:rPr lang="fr-FR" sz="2400" dirty="0" err="1"/>
              <a:t>example</a:t>
            </a:r>
            <a:r>
              <a:rPr lang="fr-FR" sz="2400" dirty="0"/>
              <a:t> a for </a:t>
            </a:r>
            <a:r>
              <a:rPr lang="fr-FR" sz="2400" dirty="0" err="1"/>
              <a:t>loop</a:t>
            </a:r>
            <a:r>
              <a:rPr lang="fr-FR" sz="2400" dirty="0"/>
              <a:t>, </a:t>
            </a:r>
            <a:r>
              <a:rPr lang="fr-FR" sz="2400" dirty="0" err="1"/>
              <a:t>with</a:t>
            </a:r>
            <a:r>
              <a:rPr lang="fr-FR" sz="2400" dirty="0"/>
              <a:t> if –</a:t>
            </a:r>
            <a:r>
              <a:rPr lang="fr-FR" sz="2400" dirty="0" err="1"/>
              <a:t>then-else</a:t>
            </a:r>
            <a:endParaRPr lang="fr-FR" sz="2400" dirty="0"/>
          </a:p>
          <a:p>
            <a:r>
              <a:rPr lang="fr-FR" sz="2400" dirty="0"/>
              <a:t>Or more </a:t>
            </a:r>
            <a:r>
              <a:rPr lang="fr-FR" sz="2400" dirty="0" err="1"/>
              <a:t>realistic</a:t>
            </a:r>
            <a:r>
              <a:rPr lang="fr-FR" sz="2400" dirty="0"/>
              <a:t> … SQL </a:t>
            </a:r>
            <a:r>
              <a:rPr lang="fr-FR" sz="2400" dirty="0" err="1"/>
              <a:t>query</a:t>
            </a:r>
            <a:r>
              <a:rPr lang="fr-FR" sz="2400" dirty="0"/>
              <a:t> on select line:  SELECT … FROM … WHERE … 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Answer</a:t>
            </a:r>
            <a:r>
              <a:rPr lang="fr-FR" sz="2400" dirty="0"/>
              <a:t>: </a:t>
            </a:r>
          </a:p>
          <a:p>
            <a:endParaRPr lang="fr-FR" sz="2400" dirty="0"/>
          </a:p>
          <a:p>
            <a:r>
              <a:rPr lang="fr-FR" sz="2400" dirty="0"/>
              <a:t>Type </a:t>
            </a:r>
            <a:r>
              <a:rPr lang="fr-FR" sz="2400" b="1" dirty="0"/>
              <a:t>« :paste »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 err="1"/>
              <a:t>then</a:t>
            </a:r>
            <a:r>
              <a:rPr lang="fr-FR" sz="2400" dirty="0"/>
              <a:t> copy&amp; paste multiple </a:t>
            </a:r>
            <a:r>
              <a:rPr lang="fr-FR" sz="2400" dirty="0" err="1"/>
              <a:t>lines</a:t>
            </a:r>
            <a:r>
              <a:rPr lang="fr-FR" sz="2400" dirty="0"/>
              <a:t>… or </a:t>
            </a:r>
            <a:r>
              <a:rPr lang="fr-FR" sz="2400" dirty="0" err="1"/>
              <a:t>simply</a:t>
            </a:r>
            <a:r>
              <a:rPr lang="fr-FR" sz="2400" dirty="0"/>
              <a:t> type </a:t>
            </a:r>
            <a:r>
              <a:rPr lang="fr-FR" sz="2400" dirty="0" err="1"/>
              <a:t>several</a:t>
            </a:r>
            <a:r>
              <a:rPr lang="fr-FR" sz="2400" dirty="0"/>
              <a:t> </a:t>
            </a:r>
            <a:r>
              <a:rPr lang="fr-FR" sz="2400" dirty="0" err="1"/>
              <a:t>lines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 &lt;enter&gt;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 err="1"/>
              <a:t>When</a:t>
            </a:r>
            <a:r>
              <a:rPr lang="fr-FR" sz="2400" dirty="0"/>
              <a:t> </a:t>
            </a:r>
            <a:r>
              <a:rPr lang="fr-FR" sz="2400" dirty="0" err="1"/>
              <a:t>finished</a:t>
            </a:r>
            <a:r>
              <a:rPr lang="fr-FR" sz="2400" dirty="0"/>
              <a:t>, </a:t>
            </a:r>
            <a:r>
              <a:rPr lang="fr-FR" sz="2400" dirty="0" err="1"/>
              <a:t>press</a:t>
            </a:r>
            <a:r>
              <a:rPr lang="fr-FR" sz="2400" dirty="0"/>
              <a:t> </a:t>
            </a:r>
            <a:r>
              <a:rPr lang="fr-FR" sz="2400" b="1" dirty="0"/>
              <a:t>« Control + D »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9839844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8E830-EACC-D86B-F9B3-90EB47F3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Using</a:t>
            </a:r>
            <a:r>
              <a:rPr lang="fr-FR" dirty="0"/>
              <a:t> :paste   …   </a:t>
            </a:r>
            <a:r>
              <a:rPr lang="fr-FR" dirty="0" err="1"/>
              <a:t>Control+D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1CF934-5B7C-4213-71BA-F256A3CB2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319" y="1845425"/>
            <a:ext cx="4066270" cy="38499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0444A5-DD14-BABB-ED8A-FEBD8F9CF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631" y="2795437"/>
            <a:ext cx="3494722" cy="163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4443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0D529-D6B7-2729-6CD1-467E95B05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Using</a:t>
            </a:r>
            <a:r>
              <a:rPr lang="fr-FR" dirty="0"/>
              <a:t> Multiple line String (</a:t>
            </a:r>
            <a:r>
              <a:rPr lang="fr-FR" dirty="0" err="1"/>
              <a:t>example</a:t>
            </a:r>
            <a:r>
              <a:rPr lang="fr-FR" dirty="0"/>
              <a:t>: SQL)   triple </a:t>
            </a:r>
            <a:r>
              <a:rPr lang="fr-FR" dirty="0" err="1"/>
              <a:t>quotes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444D86-A6F5-1D66-121E-8FE96AD34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69" y="2401762"/>
            <a:ext cx="5486875" cy="21985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72C984-346B-2098-BCEF-425189BCB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279" y="1618796"/>
            <a:ext cx="4153260" cy="523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2797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400"/>
            <a:ext cx="10515600" cy="820044"/>
          </a:xfrm>
        </p:spPr>
        <p:txBody>
          <a:bodyPr/>
          <a:lstStyle/>
          <a:p>
            <a:pPr algn="ctr"/>
            <a:r>
              <a:rPr lang="fr-FR" dirty="0"/>
              <a:t>Spark-</a:t>
            </a:r>
            <a:r>
              <a:rPr lang="fr-FR" dirty="0" err="1"/>
              <a:t>shell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« REPL » for Spark in « scala »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27DC3-10BF-A829-2E9F-EBB2AC8B5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39" y="1637022"/>
            <a:ext cx="3599018" cy="20056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8E3DA2-6668-FA61-4A15-6E7051E7F1CC}"/>
              </a:ext>
            </a:extLst>
          </p:cNvPr>
          <p:cNvSpPr txBox="1"/>
          <p:nvPr/>
        </p:nvSpPr>
        <p:spPr>
          <a:xfrm>
            <a:off x="788324" y="1230283"/>
            <a:ext cx="27388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Scala basic </a:t>
            </a:r>
            <a:r>
              <a:rPr lang="fr-FR" sz="2000" dirty="0" err="1"/>
              <a:t>commands</a:t>
            </a:r>
            <a:r>
              <a:rPr lang="fr-FR" sz="2000" dirty="0"/>
              <a:t> 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8ACC9-7294-F694-7164-08EEAAE3CA6F}"/>
              </a:ext>
            </a:extLst>
          </p:cNvPr>
          <p:cNvSpPr txBox="1"/>
          <p:nvPr/>
        </p:nvSpPr>
        <p:spPr>
          <a:xfrm>
            <a:off x="4831080" y="2734888"/>
            <a:ext cx="1576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More Scala 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BBD454-8544-11B5-1755-5E96E4A334E2}"/>
              </a:ext>
            </a:extLst>
          </p:cNvPr>
          <p:cNvSpPr txBox="1"/>
          <p:nvPr/>
        </p:nvSpPr>
        <p:spPr>
          <a:xfrm>
            <a:off x="6274723" y="4713093"/>
            <a:ext cx="59638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More Scala </a:t>
            </a:r>
            <a:r>
              <a:rPr lang="fr-FR" sz="2000" dirty="0" err="1"/>
              <a:t>with</a:t>
            </a:r>
            <a:r>
              <a:rPr lang="fr-FR" sz="2000" dirty="0"/>
              <a:t> … </a:t>
            </a:r>
            <a:r>
              <a:rPr lang="fr-FR" sz="2000" dirty="0" err="1"/>
              <a:t>Sequence</a:t>
            </a:r>
            <a:r>
              <a:rPr lang="fr-FR" sz="2000" dirty="0"/>
              <a:t>, </a:t>
            </a:r>
            <a:r>
              <a:rPr lang="fr-FR" sz="2000" dirty="0" err="1"/>
              <a:t>implicit</a:t>
            </a:r>
            <a:r>
              <a:rPr lang="fr-FR" sz="2000" dirty="0"/>
              <a:t> Lambda, « _ » var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8D9609-B012-709D-5F8D-EB3B8EF12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437" y="5113203"/>
            <a:ext cx="3655604" cy="16062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0E80B3-7802-15E3-B018-475F245E1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806" y="3226879"/>
            <a:ext cx="5548806" cy="124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1378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400"/>
            <a:ext cx="10515600" cy="82004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« Scala » .. ~  a super set of « Java »</a:t>
            </a:r>
            <a:br>
              <a:rPr lang="fr-FR" dirty="0"/>
            </a:br>
            <a:r>
              <a:rPr lang="fr-FR" dirty="0"/>
              <a:t>Scala runs on the JVM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AA27DE-0F8D-9F9B-B2E2-0C8DD73B0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78" y="1657384"/>
            <a:ext cx="11990043" cy="81969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1D44B11-4D3D-A4E8-E9DD-F92A9AEC56DF}"/>
              </a:ext>
            </a:extLst>
          </p:cNvPr>
          <p:cNvSpPr txBox="1">
            <a:spLocks/>
          </p:cNvSpPr>
          <p:nvPr/>
        </p:nvSpPr>
        <p:spPr>
          <a:xfrm>
            <a:off x="730135" y="3176335"/>
            <a:ext cx="10515600" cy="82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… but not </a:t>
            </a:r>
            <a:r>
              <a:rPr lang="fr-FR" dirty="0" err="1"/>
              <a:t>exactly</a:t>
            </a:r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8884A3-CB53-FE28-D173-D56686670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254" y="4035968"/>
            <a:ext cx="8138417" cy="12620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B357E0-1F7C-EEA7-F0B8-3186BFF6E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253" y="5672540"/>
            <a:ext cx="6748555" cy="108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9204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400"/>
            <a:ext cx="10515600" cy="820044"/>
          </a:xfrm>
        </p:spPr>
        <p:txBody>
          <a:bodyPr/>
          <a:lstStyle/>
          <a:p>
            <a:pPr algn="ctr"/>
            <a:r>
              <a:rPr lang="fr-FR" dirty="0"/>
              <a:t>https://docs.scala-lang.org/cheatsheets/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EC0DE0-9153-D458-8D83-E76957C8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902" y="1335967"/>
            <a:ext cx="9952582" cy="54297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F96BBE-4575-845D-684A-35D7FBAA69D3}"/>
              </a:ext>
            </a:extLst>
          </p:cNvPr>
          <p:cNvSpPr txBox="1"/>
          <p:nvPr/>
        </p:nvSpPr>
        <p:spPr>
          <a:xfrm>
            <a:off x="66502" y="3563389"/>
            <a:ext cx="19174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5-10 minutes</a:t>
            </a:r>
          </a:p>
          <a:p>
            <a:r>
              <a:rPr lang="fr-FR" sz="2400" dirty="0"/>
              <a:t>Reading</a:t>
            </a:r>
          </a:p>
        </p:txBody>
      </p:sp>
    </p:spTree>
    <p:extLst>
      <p:ext uri="{BB962C8B-B14F-4D97-AF65-F5344CB8AC3E}">
        <p14:creationId xmlns:p14="http://schemas.microsoft.com/office/powerpoint/2010/main" val="27615456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400"/>
            <a:ext cx="10515600" cy="820044"/>
          </a:xfrm>
        </p:spPr>
        <p:txBody>
          <a:bodyPr/>
          <a:lstStyle/>
          <a:p>
            <a:pPr algn="ctr"/>
            <a:r>
              <a:rPr lang="fr-FR" dirty="0"/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84FF0-6CEF-2C76-2FA1-28BFA297E5D8}"/>
              </a:ext>
            </a:extLst>
          </p:cNvPr>
          <p:cNvSpPr txBox="1"/>
          <p:nvPr/>
        </p:nvSpPr>
        <p:spPr>
          <a:xfrm>
            <a:off x="1918572" y="1854465"/>
            <a:ext cx="719600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Install on </a:t>
            </a:r>
            <a:r>
              <a:rPr lang="fr-FR" sz="2400" dirty="0" err="1"/>
              <a:t>your</a:t>
            </a:r>
            <a:r>
              <a:rPr lang="fr-FR" sz="2400" dirty="0"/>
              <a:t> (Windows) PC a </a:t>
            </a:r>
            <a:r>
              <a:rPr lang="fr-FR" sz="2400" dirty="0" err="1"/>
              <a:t>minimalist</a:t>
            </a:r>
            <a:r>
              <a:rPr lang="fr-FR" sz="2400" dirty="0"/>
              <a:t> local SPARK</a:t>
            </a:r>
            <a:br>
              <a:rPr lang="fr-FR" sz="2400" dirty="0"/>
            </a:b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2/ Configure </a:t>
            </a:r>
            <a:r>
              <a:rPr lang="fr-FR" sz="2400" dirty="0" err="1"/>
              <a:t>it</a:t>
            </a:r>
            <a:r>
              <a:rPr lang="fr-FR" sz="2400" dirty="0"/>
              <a:t>, launch </a:t>
            </a:r>
            <a:r>
              <a:rPr lang="fr-FR" sz="2400" dirty="0" err="1"/>
              <a:t>spark-shell</a:t>
            </a:r>
            <a:br>
              <a:rPr lang="fr-FR" sz="2400" dirty="0"/>
            </a:b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3/ Discover </a:t>
            </a:r>
            <a:r>
              <a:rPr lang="fr-FR" sz="2400" dirty="0" err="1"/>
              <a:t>spark-shell</a:t>
            </a:r>
            <a:r>
              <a:rPr lang="fr-FR" sz="2400" dirty="0"/>
              <a:t>   scala&gt; REPL </a:t>
            </a:r>
            <a:br>
              <a:rPr lang="fr-FR" sz="2400" dirty="0"/>
            </a:b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4/ </a:t>
            </a:r>
            <a:r>
              <a:rPr lang="fr-FR" sz="2400" dirty="0" err="1"/>
              <a:t>Execute</a:t>
            </a:r>
            <a:r>
              <a:rPr lang="fr-FR" sz="2400" dirty="0"/>
              <a:t> basic </a:t>
            </a:r>
            <a:r>
              <a:rPr lang="fr-FR" sz="2400" dirty="0" err="1"/>
              <a:t>spark</a:t>
            </a:r>
            <a:r>
              <a:rPr lang="fr-FR" sz="2400" dirty="0"/>
              <a:t> </a:t>
            </a:r>
            <a:r>
              <a:rPr lang="fr-FR" sz="2400" dirty="0" err="1"/>
              <a:t>commands</a:t>
            </a:r>
            <a:r>
              <a:rPr lang="fr-FR" sz="2400" dirty="0"/>
              <a:t> on </a:t>
            </a:r>
            <a:r>
              <a:rPr lang="fr-FR" sz="2400" dirty="0" err="1"/>
              <a:t>DataSets</a:t>
            </a:r>
            <a:endParaRPr lang="fr-FR" sz="2400" dirty="0"/>
          </a:p>
        </p:txBody>
      </p:sp>
      <p:pic>
        <p:nvPicPr>
          <p:cNvPr id="1026" name="Picture 2" descr="Image result for checkmark icon">
            <a:extLst>
              <a:ext uri="{FF2B5EF4-FFF2-40B4-BE49-F238E27FC236}">
                <a16:creationId xmlns:a16="http://schemas.microsoft.com/office/drawing/2014/main" id="{E74398AD-0B0C-A258-6EA0-DE207F030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37" y="1636224"/>
            <a:ext cx="896388" cy="89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mage result for checkmark icon">
            <a:extLst>
              <a:ext uri="{FF2B5EF4-FFF2-40B4-BE49-F238E27FC236}">
                <a16:creationId xmlns:a16="http://schemas.microsoft.com/office/drawing/2014/main" id="{0645F1A1-AD96-D4C4-4891-AC9189521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37" y="2734541"/>
            <a:ext cx="896388" cy="89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 result for checkmark icon">
            <a:extLst>
              <a:ext uri="{FF2B5EF4-FFF2-40B4-BE49-F238E27FC236}">
                <a16:creationId xmlns:a16="http://schemas.microsoft.com/office/drawing/2014/main" id="{E9E3EC63-3460-E871-AD03-9AD06BB51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37" y="3832858"/>
            <a:ext cx="896388" cy="89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37381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335EA-9067-C41A-CA52-3A912DECE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Introduction to </a:t>
            </a:r>
            <a:r>
              <a:rPr lang="fr-FR" dirty="0" err="1"/>
              <a:t>Exercises</a:t>
            </a:r>
            <a:r>
              <a:rPr lang="fr-FR" dirty="0"/>
              <a:t> 1,2,3,4,5 …</a:t>
            </a:r>
            <a:br>
              <a:rPr lang="fr-FR" dirty="0"/>
            </a:br>
            <a:r>
              <a:rPr lang="fr-FR" dirty="0"/>
              <a:t>The goal </a:t>
            </a:r>
            <a:r>
              <a:rPr lang="fr-FR" dirty="0" err="1"/>
              <a:t>is</a:t>
            </a:r>
            <a:r>
              <a:rPr lang="fr-FR" dirty="0"/>
              <a:t> to </a:t>
            </a:r>
            <a:r>
              <a:rPr lang="fr-FR" dirty="0" err="1"/>
              <a:t>create</a:t>
            </a:r>
            <a:r>
              <a:rPr lang="fr-FR" dirty="0"/>
              <a:t> a </a:t>
            </a:r>
            <a:r>
              <a:rPr lang="fr-FR" dirty="0" err="1"/>
              <a:t>spark</a:t>
            </a:r>
            <a:r>
              <a:rPr lang="fr-FR" dirty="0"/>
              <a:t> </a:t>
            </a:r>
            <a:r>
              <a:rPr lang="fr-FR" dirty="0" err="1"/>
              <a:t>DataSet</a:t>
            </a:r>
            <a:r>
              <a:rPr lang="fr-FR" dirty="0"/>
              <a:t>..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B95CB0-B4B3-A349-9A1E-FFAE116644A3}"/>
              </a:ext>
            </a:extLst>
          </p:cNvPr>
          <p:cNvSpPr txBox="1">
            <a:spLocks/>
          </p:cNvSpPr>
          <p:nvPr/>
        </p:nvSpPr>
        <p:spPr>
          <a:xfrm>
            <a:off x="838200" y="1967345"/>
            <a:ext cx="10515600" cy="29316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err="1"/>
              <a:t>Expected</a:t>
            </a:r>
            <a:r>
              <a:rPr lang="fr-FR" dirty="0"/>
              <a:t> </a:t>
            </a:r>
            <a:r>
              <a:rPr lang="fr-FR" dirty="0" err="1"/>
              <a:t>DataSet</a:t>
            </a:r>
            <a:r>
              <a:rPr lang="fr-FR" dirty="0"/>
              <a:t> = List of 100_000 </a:t>
            </a:r>
            <a:r>
              <a:rPr lang="fr-FR" dirty="0" err="1"/>
              <a:t>rows</a:t>
            </a:r>
            <a:br>
              <a:rPr lang="fr-FR" dirty="0"/>
            </a:b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row</a:t>
            </a:r>
            <a:r>
              <a:rPr lang="fr-FR" dirty="0"/>
              <a:t> </a:t>
            </a:r>
            <a:r>
              <a:rPr lang="fr-FR" dirty="0" err="1"/>
              <a:t>containing</a:t>
            </a:r>
            <a:r>
              <a:rPr lang="fr-FR" dirty="0"/>
              <a:t>  a Tuple of </a:t>
            </a:r>
            <a:br>
              <a:rPr lang="fr-FR" dirty="0"/>
            </a:br>
            <a:r>
              <a:rPr lang="fr-FR" dirty="0"/>
              <a:t>( </a:t>
            </a:r>
            <a:r>
              <a:rPr lang="fr-FR" dirty="0" err="1"/>
              <a:t>int</a:t>
            </a:r>
            <a:r>
              <a:rPr lang="fr-FR" dirty="0"/>
              <a:t> : i,</a:t>
            </a:r>
            <a:br>
              <a:rPr lang="fr-FR" dirty="0"/>
            </a:br>
            <a:r>
              <a:rPr lang="fr-FR" dirty="0" err="1"/>
              <a:t>boolean</a:t>
            </a:r>
            <a:r>
              <a:rPr lang="fr-FR" dirty="0"/>
              <a:t> : </a:t>
            </a:r>
            <a:r>
              <a:rPr lang="fr-FR" dirty="0" err="1"/>
              <a:t>true</a:t>
            </a:r>
            <a:r>
              <a:rPr lang="fr-FR" dirty="0"/>
              <a:t>  if i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even</a:t>
            </a:r>
            <a:r>
              <a:rPr lang="fr-FR" dirty="0"/>
              <a:t>,</a:t>
            </a:r>
            <a:br>
              <a:rPr lang="fr-FR" dirty="0"/>
            </a:br>
            <a:r>
              <a:rPr lang="fr-FR" dirty="0"/>
              <a:t>string: « hello ${i} » )</a:t>
            </a:r>
          </a:p>
        </p:txBody>
      </p:sp>
    </p:spTree>
    <p:extLst>
      <p:ext uri="{BB962C8B-B14F-4D97-AF65-F5344CB8AC3E}">
        <p14:creationId xmlns:p14="http://schemas.microsoft.com/office/powerpoint/2010/main" val="32728946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7775"/>
            <a:ext cx="10515600" cy="980901"/>
          </a:xfrm>
        </p:spPr>
        <p:txBody>
          <a:bodyPr>
            <a:normAutofit/>
          </a:bodyPr>
          <a:lstStyle/>
          <a:p>
            <a:r>
              <a:rPr lang="fr-FR" dirty="0" err="1"/>
              <a:t>Exercise</a:t>
            </a:r>
            <a:r>
              <a:rPr lang="fr-FR" dirty="0"/>
              <a:t> 1 : </a:t>
            </a:r>
            <a:r>
              <a:rPr lang="fr-FR" dirty="0" err="1"/>
              <a:t>create</a:t>
            </a:r>
            <a:r>
              <a:rPr lang="fr-FR" dirty="0"/>
              <a:t> a List of 3 Tuples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C36E3C-BB2B-65BE-6492-C9500398B153}"/>
              </a:ext>
            </a:extLst>
          </p:cNvPr>
          <p:cNvSpPr txBox="1"/>
          <p:nvPr/>
        </p:nvSpPr>
        <p:spPr>
          <a:xfrm>
            <a:off x="3762895" y="2272145"/>
            <a:ext cx="369171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fr-FR" sz="2800" dirty="0"/>
            </a:br>
            <a:r>
              <a:rPr lang="fr-FR" sz="2800" dirty="0"/>
              <a:t>var ls = ??? </a:t>
            </a:r>
            <a:br>
              <a:rPr lang="fr-FR" sz="2800" dirty="0"/>
            </a:br>
            <a:endParaRPr lang="fr-FR" sz="2800" dirty="0"/>
          </a:p>
          <a:p>
            <a:r>
              <a:rPr lang="fr-FR" sz="2800" dirty="0" err="1"/>
              <a:t>With</a:t>
            </a:r>
            <a:r>
              <a:rPr lang="fr-FR" sz="2800" dirty="0"/>
              <a:t> </a:t>
            </a:r>
            <a:r>
              <a:rPr lang="fr-FR" sz="2800" dirty="0" err="1"/>
              <a:t>expected</a:t>
            </a:r>
            <a:r>
              <a:rPr lang="fr-FR" sz="2800" dirty="0"/>
              <a:t> content: </a:t>
            </a:r>
            <a:br>
              <a:rPr lang="fr-FR" sz="2800" dirty="0"/>
            </a:br>
            <a:r>
              <a:rPr lang="fr-FR" sz="2800" dirty="0"/>
              <a:t>  (1, false, "hello 1")</a:t>
            </a:r>
            <a:br>
              <a:rPr lang="fr-FR" sz="2800" dirty="0"/>
            </a:br>
            <a:r>
              <a:rPr lang="fr-FR" sz="2800" dirty="0"/>
              <a:t>  (2, </a:t>
            </a:r>
            <a:r>
              <a:rPr lang="fr-FR" sz="2800" dirty="0" err="1"/>
              <a:t>true</a:t>
            </a:r>
            <a:r>
              <a:rPr lang="fr-FR" sz="2800" dirty="0"/>
              <a:t>, "hello 2") </a:t>
            </a:r>
            <a:br>
              <a:rPr lang="fr-FR" sz="2800" dirty="0"/>
            </a:br>
            <a:r>
              <a:rPr lang="fr-FR" sz="2800" dirty="0"/>
              <a:t>  (3, false, "Hello 3")</a:t>
            </a:r>
          </a:p>
        </p:txBody>
      </p:sp>
    </p:spTree>
    <p:extLst>
      <p:ext uri="{BB962C8B-B14F-4D97-AF65-F5344CB8AC3E}">
        <p14:creationId xmlns:p14="http://schemas.microsoft.com/office/powerpoint/2010/main" val="29198933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2D01C-B2DD-F1D6-BC04-67761F951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9988"/>
          </a:xfrm>
        </p:spPr>
        <p:txBody>
          <a:bodyPr/>
          <a:lstStyle/>
          <a:p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7D579-AE90-808D-2B62-AE60A7684912}"/>
              </a:ext>
            </a:extLst>
          </p:cNvPr>
          <p:cNvSpPr txBox="1"/>
          <p:nvPr/>
        </p:nvSpPr>
        <p:spPr>
          <a:xfrm>
            <a:off x="759229" y="2515985"/>
            <a:ext cx="98727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 scala,     </a:t>
            </a:r>
          </a:p>
          <a:p>
            <a:endParaRPr lang="fr-FR" sz="2400" dirty="0"/>
          </a:p>
          <a:p>
            <a:r>
              <a:rPr lang="fr-FR" sz="2400" dirty="0"/>
              <a:t>« (a, b, c) »         </a:t>
            </a:r>
            <a:r>
              <a:rPr lang="fr-FR" sz="2400" dirty="0" err="1"/>
              <a:t>creates</a:t>
            </a:r>
            <a:r>
              <a:rPr lang="fr-FR" sz="2400" dirty="0"/>
              <a:t> a Tuple </a:t>
            </a:r>
            <a:r>
              <a:rPr lang="fr-FR" sz="2400" dirty="0" err="1"/>
              <a:t>with</a:t>
            </a:r>
            <a:r>
              <a:rPr lang="fr-FR" sz="2400" dirty="0"/>
              <a:t> 3 </a:t>
            </a:r>
            <a:r>
              <a:rPr lang="fr-FR" sz="2400" dirty="0" err="1"/>
              <a:t>fields</a:t>
            </a:r>
            <a:r>
              <a:rPr lang="fr-FR" sz="2400" dirty="0"/>
              <a:t> _1,_2,_3     </a:t>
            </a:r>
            <a:r>
              <a:rPr lang="fr-FR" sz="2400" dirty="0" err="1"/>
              <a:t>with</a:t>
            </a:r>
            <a:r>
              <a:rPr lang="fr-FR" sz="2400" dirty="0"/>
              <a:t> _1=a, _2=b, _3=c</a:t>
            </a:r>
          </a:p>
          <a:p>
            <a:r>
              <a:rPr lang="fr-FR" sz="2400" dirty="0"/>
              <a:t>« Seq(a, b, c) »  </a:t>
            </a:r>
            <a:r>
              <a:rPr lang="fr-FR" sz="2400" dirty="0" err="1"/>
              <a:t>create</a:t>
            </a:r>
            <a:r>
              <a:rPr lang="fr-FR" sz="2400" dirty="0"/>
              <a:t> a </a:t>
            </a:r>
            <a:r>
              <a:rPr lang="fr-FR" sz="2400" dirty="0" err="1"/>
              <a:t>Sequence</a:t>
            </a:r>
            <a:r>
              <a:rPr lang="fr-FR" sz="2400" dirty="0"/>
              <a:t> (</a:t>
            </a:r>
            <a:r>
              <a:rPr lang="fr-FR" sz="2400" dirty="0" err="1"/>
              <a:t>synonym</a:t>
            </a:r>
            <a:r>
              <a:rPr lang="fr-FR" sz="2400" dirty="0"/>
              <a:t>: List) of 3 </a:t>
            </a:r>
            <a:r>
              <a:rPr lang="fr-FR" sz="2400" dirty="0" err="1"/>
              <a:t>elements</a:t>
            </a:r>
            <a:r>
              <a:rPr lang="fr-FR" sz="2400" dirty="0"/>
              <a:t>: a, b, c</a:t>
            </a:r>
          </a:p>
        </p:txBody>
      </p:sp>
    </p:spTree>
    <p:extLst>
      <p:ext uri="{BB962C8B-B14F-4D97-AF65-F5344CB8AC3E}">
        <p14:creationId xmlns:p14="http://schemas.microsoft.com/office/powerpoint/2010/main" val="12010399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5BA-B34B-373F-873C-3EB81B911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70BAD0-6C9E-C834-4DA8-27893D5E7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81" y="2786192"/>
            <a:ext cx="11990437" cy="79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2233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3F88-1288-1AC6-FFE4-AFCB36BBA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331" y="1988877"/>
            <a:ext cx="10515600" cy="2677333"/>
          </a:xfrm>
        </p:spPr>
        <p:txBody>
          <a:bodyPr>
            <a:normAutofit/>
          </a:bodyPr>
          <a:lstStyle/>
          <a:p>
            <a:r>
              <a:rPr lang="fr-FR" dirty="0" err="1"/>
              <a:t>Exercise</a:t>
            </a:r>
            <a:r>
              <a:rPr lang="fr-FR" dirty="0"/>
              <a:t> 2: </a:t>
            </a:r>
            <a:r>
              <a:rPr lang="fr-FR" dirty="0" err="1"/>
              <a:t>same</a:t>
            </a:r>
            <a:r>
              <a:rPr lang="fr-FR" dirty="0"/>
              <a:t>, but </a:t>
            </a:r>
            <a:r>
              <a:rPr lang="fr-FR" dirty="0" err="1"/>
              <a:t>create</a:t>
            </a:r>
            <a:r>
              <a:rPr lang="fr-FR" dirty="0"/>
              <a:t> an </a:t>
            </a:r>
            <a:r>
              <a:rPr lang="fr-FR" dirty="0" err="1"/>
              <a:t>empty</a:t>
            </a:r>
            <a:r>
              <a:rPr lang="fr-FR" dirty="0"/>
              <a:t> List, </a:t>
            </a:r>
            <a:br>
              <a:rPr lang="fr-FR" dirty="0"/>
            </a:br>
            <a:r>
              <a:rPr lang="fr-FR" dirty="0"/>
              <a:t>and </a:t>
            </a:r>
            <a:r>
              <a:rPr lang="fr-FR" dirty="0" err="1"/>
              <a:t>successively</a:t>
            </a:r>
            <a:r>
              <a:rPr lang="fr-FR" dirty="0"/>
              <a:t> </a:t>
            </a:r>
            <a:r>
              <a:rPr lang="fr-FR" dirty="0" err="1"/>
              <a:t>add</a:t>
            </a:r>
            <a:r>
              <a:rPr lang="fr-FR" dirty="0"/>
              <a:t> 3 </a:t>
            </a:r>
            <a:r>
              <a:rPr lang="fr-FR" dirty="0" err="1"/>
              <a:t>rows</a:t>
            </a:r>
            <a:br>
              <a:rPr lang="fr-FR" dirty="0"/>
            </a:br>
            <a:r>
              <a:rPr lang="fr-FR" dirty="0"/>
              <a:t>… the (non </a:t>
            </a:r>
            <a:r>
              <a:rPr lang="fr-FR" dirty="0" err="1"/>
              <a:t>idiomatic</a:t>
            </a:r>
            <a:r>
              <a:rPr lang="fr-FR" dirty="0"/>
              <a:t>) Java </a:t>
            </a:r>
            <a:r>
              <a:rPr lang="fr-FR" dirty="0" err="1"/>
              <a:t>way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12997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DD255-A559-C152-717C-63E170846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CD803F-B844-1F83-EA93-DB029D648908}"/>
              </a:ext>
            </a:extLst>
          </p:cNvPr>
          <p:cNvSpPr txBox="1"/>
          <p:nvPr/>
        </p:nvSpPr>
        <p:spPr>
          <a:xfrm>
            <a:off x="1057890" y="2449484"/>
            <a:ext cx="1007622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List are immutable !</a:t>
            </a:r>
          </a:p>
          <a:p>
            <a:r>
              <a:rPr lang="fr-FR" sz="2400" dirty="0"/>
              <a:t>You can </a:t>
            </a:r>
            <a:r>
              <a:rPr lang="fr-FR" sz="2400" dirty="0" err="1"/>
              <a:t>create</a:t>
            </a:r>
            <a:r>
              <a:rPr lang="fr-FR" sz="2400" dirty="0"/>
              <a:t> a new List, as the </a:t>
            </a:r>
            <a:r>
              <a:rPr lang="fr-FR" sz="2400" dirty="0" err="1"/>
              <a:t>concatenation</a:t>
            </a:r>
            <a:r>
              <a:rPr lang="fr-FR" sz="2400" dirty="0"/>
              <a:t> of 1 </a:t>
            </a:r>
            <a:r>
              <a:rPr lang="fr-FR" sz="2400" dirty="0" err="1"/>
              <a:t>element</a:t>
            </a:r>
            <a:r>
              <a:rPr lang="fr-FR" sz="2400" dirty="0"/>
              <a:t> and an </a:t>
            </a:r>
            <a:r>
              <a:rPr lang="fr-FR" sz="2400" dirty="0" err="1"/>
              <a:t>existing</a:t>
            </a:r>
            <a:r>
              <a:rPr lang="fr-FR" sz="2400" dirty="0"/>
              <a:t> </a:t>
            </a:r>
            <a:r>
              <a:rPr lang="fr-FR" sz="2400" dirty="0" err="1"/>
              <a:t>list</a:t>
            </a:r>
            <a:endParaRPr lang="fr-FR" sz="2400" dirty="0"/>
          </a:p>
          <a:p>
            <a:r>
              <a:rPr lang="fr-FR" sz="2400" dirty="0"/>
              <a:t>List has « :: » </a:t>
            </a:r>
            <a:r>
              <a:rPr lang="fr-FR" sz="2400" dirty="0" err="1"/>
              <a:t>operator</a:t>
            </a:r>
            <a:r>
              <a:rPr lang="fr-FR" sz="2400" dirty="0"/>
              <a:t>,  not Seq !</a:t>
            </a:r>
          </a:p>
          <a:p>
            <a:endParaRPr lang="fr-FR" sz="2400" dirty="0"/>
          </a:p>
          <a:p>
            <a:r>
              <a:rPr lang="fr-FR" sz="2400" dirty="0"/>
              <a:t>var ls = List[Object]()</a:t>
            </a:r>
          </a:p>
          <a:p>
            <a:r>
              <a:rPr lang="fr-FR" sz="2400" dirty="0"/>
              <a:t>var ls2 =  a :: ls</a:t>
            </a:r>
          </a:p>
          <a:p>
            <a:endParaRPr lang="fr-FR" sz="2400" dirty="0"/>
          </a:p>
          <a:p>
            <a:r>
              <a:rPr lang="fr-FR" sz="2400" dirty="0"/>
              <a:t>« a » and « ls » must have </a:t>
            </a:r>
            <a:r>
              <a:rPr lang="fr-FR" sz="2400" dirty="0" err="1"/>
              <a:t>same</a:t>
            </a:r>
            <a:r>
              <a:rPr lang="fr-FR" sz="2400" dirty="0"/>
              <a:t> </a:t>
            </a:r>
            <a:r>
              <a:rPr lang="fr-FR" sz="2400" dirty="0" err="1"/>
              <a:t>generic</a:t>
            </a:r>
            <a:r>
              <a:rPr lang="fr-FR" sz="2400" dirty="0"/>
              <a:t> type!  </a:t>
            </a:r>
          </a:p>
          <a:p>
            <a:r>
              <a:rPr lang="fr-FR" sz="2400" dirty="0"/>
              <a:t>Use « List[Type] » </a:t>
            </a:r>
            <a:r>
              <a:rPr lang="fr-FR" sz="2400" dirty="0" err="1"/>
              <a:t>instead</a:t>
            </a:r>
            <a:r>
              <a:rPr lang="fr-FR" sz="2400" dirty="0"/>
              <a:t> of « List() »</a:t>
            </a:r>
          </a:p>
          <a:p>
            <a:r>
              <a:rPr lang="fr-FR" sz="2400" dirty="0"/>
              <a:t>Type </a:t>
            </a:r>
            <a:r>
              <a:rPr lang="fr-FR" sz="2400" dirty="0" err="1"/>
              <a:t>is</a:t>
            </a:r>
            <a:r>
              <a:rPr lang="fr-FR" sz="2400" dirty="0"/>
              <a:t> … (Int, Boolean, String)</a:t>
            </a:r>
          </a:p>
        </p:txBody>
      </p:sp>
    </p:spTree>
    <p:extLst>
      <p:ext uri="{BB962C8B-B14F-4D97-AF65-F5344CB8AC3E}">
        <p14:creationId xmlns:p14="http://schemas.microsoft.com/office/powerpoint/2010/main" val="20576212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400"/>
            <a:ext cx="10515600" cy="82004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2 … the (non-</a:t>
            </a:r>
            <a:r>
              <a:rPr lang="fr-FR" dirty="0" err="1"/>
              <a:t>idiomatic</a:t>
            </a:r>
            <a:r>
              <a:rPr lang="fr-FR" dirty="0"/>
              <a:t>) Java </a:t>
            </a:r>
            <a:r>
              <a:rPr lang="fr-FR" dirty="0" err="1"/>
              <a:t>Way</a:t>
            </a:r>
            <a:r>
              <a:rPr lang="fr-FR" dirty="0"/>
              <a:t>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440EC-90F2-B47D-18C0-CBEBDBDE0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715" y="2378575"/>
            <a:ext cx="8865496" cy="225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3123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01C4B-C479-A6FE-316D-B246773F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623118"/>
            <a:ext cx="10515600" cy="1945813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Exercise</a:t>
            </a:r>
            <a:r>
              <a:rPr lang="fr-FR" dirty="0"/>
              <a:t> 3 .. </a:t>
            </a:r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« </a:t>
            </a:r>
            <a:r>
              <a:rPr lang="fr-FR" dirty="0" err="1"/>
              <a:t>functional</a:t>
            </a:r>
            <a:r>
              <a:rPr lang="fr-FR" dirty="0"/>
              <a:t> » code style:</a:t>
            </a:r>
            <a:br>
              <a:rPr lang="fr-FR" dirty="0"/>
            </a:br>
            <a:r>
              <a:rPr lang="fr-FR" dirty="0" err="1"/>
              <a:t>transform</a:t>
            </a:r>
            <a:r>
              <a:rPr lang="fr-FR" dirty="0"/>
              <a:t> the </a:t>
            </a:r>
            <a:r>
              <a:rPr lang="fr-FR" dirty="0" err="1"/>
              <a:t>sequence</a:t>
            </a:r>
            <a:r>
              <a:rPr lang="fr-FR" dirty="0"/>
              <a:t> (1, 2 … 10000) </a:t>
            </a:r>
            <a:r>
              <a:rPr lang="fr-FR" dirty="0" err="1"/>
              <a:t>into</a:t>
            </a:r>
            <a:r>
              <a:rPr lang="fr-FR" dirty="0"/>
              <a:t> Tuples </a:t>
            </a:r>
            <a:br>
              <a:rPr lang="fr-FR" dirty="0"/>
            </a:br>
            <a:r>
              <a:rPr lang="fr-FR" dirty="0" err="1"/>
              <a:t>using</a:t>
            </a:r>
            <a:r>
              <a:rPr lang="fr-FR" dirty="0"/>
              <a:t> « </a:t>
            </a:r>
            <a:r>
              <a:rPr lang="fr-FR" dirty="0" err="1"/>
              <a:t>map</a:t>
            </a:r>
            <a:r>
              <a:rPr lang="fr-FR" dirty="0"/>
              <a:t> » lambda </a:t>
            </a:r>
            <a:r>
              <a:rPr lang="fr-FR" dirty="0" err="1"/>
              <a:t>function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98893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F6693-3E91-6219-D89E-C3D65EFF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1B9CAD-970A-A971-5E9E-E20EB4B0F66D}"/>
              </a:ext>
            </a:extLst>
          </p:cNvPr>
          <p:cNvSpPr txBox="1"/>
          <p:nvPr/>
        </p:nvSpPr>
        <p:spPr>
          <a:xfrm>
            <a:off x="1335695" y="1723847"/>
            <a:ext cx="796198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« .</a:t>
            </a:r>
            <a:r>
              <a:rPr lang="fr-FR" sz="2000" dirty="0" err="1"/>
              <a:t>map</a:t>
            </a:r>
            <a:r>
              <a:rPr lang="fr-FR" sz="2000" dirty="0"/>
              <a:t>( f ) »        </a:t>
            </a:r>
            <a:r>
              <a:rPr lang="fr-FR" sz="2000" dirty="0" err="1"/>
              <a:t>is</a:t>
            </a:r>
            <a:r>
              <a:rPr lang="fr-FR" sz="2000" dirty="0"/>
              <a:t> a </a:t>
            </a:r>
            <a:r>
              <a:rPr lang="fr-FR" sz="2000" dirty="0" err="1"/>
              <a:t>method</a:t>
            </a:r>
            <a:r>
              <a:rPr lang="fr-FR" sz="2000" dirty="0"/>
              <a:t> of List,    </a:t>
            </a:r>
          </a:p>
          <a:p>
            <a:r>
              <a:rPr lang="fr-FR" sz="2000" dirty="0"/>
              <a:t>                              to </a:t>
            </a:r>
            <a:r>
              <a:rPr lang="fr-FR" sz="2000" dirty="0" err="1"/>
              <a:t>map</a:t>
            </a:r>
            <a:r>
              <a:rPr lang="fr-FR" sz="2000" dirty="0"/>
              <a:t> all </a:t>
            </a:r>
            <a:r>
              <a:rPr lang="fr-FR" sz="2000" dirty="0" err="1"/>
              <a:t>elements</a:t>
            </a:r>
            <a:r>
              <a:rPr lang="fr-FR" sz="2000" dirty="0"/>
              <a:t> </a:t>
            </a:r>
            <a:r>
              <a:rPr lang="fr-FR" sz="2000" dirty="0" err="1"/>
              <a:t>from</a:t>
            </a:r>
            <a:r>
              <a:rPr lang="fr-FR" sz="2000" dirty="0"/>
              <a:t> source type X  to </a:t>
            </a:r>
            <a:r>
              <a:rPr lang="fr-FR" sz="2000" dirty="0" err="1"/>
              <a:t>target</a:t>
            </a:r>
            <a:r>
              <a:rPr lang="fr-FR" sz="2000" dirty="0"/>
              <a:t> type Y</a:t>
            </a:r>
          </a:p>
          <a:p>
            <a:r>
              <a:rPr lang="fr-FR" sz="2000" dirty="0"/>
              <a:t>                              </a:t>
            </a:r>
            <a:r>
              <a:rPr lang="fr-FR" sz="2000" dirty="0" err="1"/>
              <a:t>taking</a:t>
            </a:r>
            <a:r>
              <a:rPr lang="fr-FR" sz="2000" dirty="0"/>
              <a:t> a </a:t>
            </a:r>
            <a:r>
              <a:rPr lang="fr-FR" sz="2000" dirty="0" err="1"/>
              <a:t>function</a:t>
            </a:r>
            <a:r>
              <a:rPr lang="fr-FR" sz="2000" dirty="0"/>
              <a:t> « f » as </a:t>
            </a:r>
            <a:r>
              <a:rPr lang="fr-FR" sz="2000" dirty="0" err="1"/>
              <a:t>parameter</a:t>
            </a:r>
            <a:r>
              <a:rPr lang="fr-FR" sz="2000" dirty="0"/>
              <a:t> :   « f(X) -&gt; Y » </a:t>
            </a:r>
            <a:br>
              <a:rPr lang="fr-FR" sz="2000" dirty="0"/>
            </a:br>
            <a:r>
              <a:rPr lang="fr-FR" sz="2000" dirty="0"/>
              <a:t>                                        … f can </a:t>
            </a:r>
            <a:r>
              <a:rPr lang="fr-FR" sz="2000" dirty="0" err="1"/>
              <a:t>be</a:t>
            </a:r>
            <a:r>
              <a:rPr lang="fr-FR" sz="2000" dirty="0"/>
              <a:t> </a:t>
            </a:r>
            <a:r>
              <a:rPr lang="fr-FR" sz="2000" dirty="0" err="1"/>
              <a:t>written</a:t>
            </a:r>
            <a:r>
              <a:rPr lang="fr-FR" sz="2000" dirty="0"/>
              <a:t> as a lambda: « x =&gt; { ..return y;}  »</a:t>
            </a:r>
            <a:br>
              <a:rPr lang="fr-FR" sz="2000" dirty="0"/>
            </a:br>
            <a:endParaRPr lang="fr-FR" sz="2000"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C6EA839A-80A7-C090-0B03-090D4D2DB887}"/>
              </a:ext>
            </a:extLst>
          </p:cNvPr>
          <p:cNvSpPr/>
          <p:nvPr/>
        </p:nvSpPr>
        <p:spPr>
          <a:xfrm>
            <a:off x="4383577" y="4189655"/>
            <a:ext cx="393470" cy="39454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D7749897-4EFA-F85E-0D96-3C5828B26B86}"/>
              </a:ext>
            </a:extLst>
          </p:cNvPr>
          <p:cNvSpPr/>
          <p:nvPr/>
        </p:nvSpPr>
        <p:spPr>
          <a:xfrm>
            <a:off x="1740130" y="4632607"/>
            <a:ext cx="393470" cy="39454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22ED0D8A-BE60-50CC-2D63-2EBA70B29822}"/>
              </a:ext>
            </a:extLst>
          </p:cNvPr>
          <p:cNvSpPr/>
          <p:nvPr/>
        </p:nvSpPr>
        <p:spPr>
          <a:xfrm>
            <a:off x="1740130" y="5184018"/>
            <a:ext cx="393470" cy="39454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88ABC7C0-BCCE-2292-A6A0-FFEF6F38EFDA}"/>
              </a:ext>
            </a:extLst>
          </p:cNvPr>
          <p:cNvSpPr/>
          <p:nvPr/>
        </p:nvSpPr>
        <p:spPr>
          <a:xfrm>
            <a:off x="1740130" y="5696636"/>
            <a:ext cx="393470" cy="39454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6F44D60-14BE-5F76-424D-2B246A68D0EA}"/>
              </a:ext>
            </a:extLst>
          </p:cNvPr>
          <p:cNvSpPr/>
          <p:nvPr/>
        </p:nvSpPr>
        <p:spPr>
          <a:xfrm>
            <a:off x="5214851" y="4273858"/>
            <a:ext cx="626225" cy="182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560D1F-2645-7D14-5441-DAF83A8E0D97}"/>
              </a:ext>
            </a:extLst>
          </p:cNvPr>
          <p:cNvSpPr txBox="1"/>
          <p:nvPr/>
        </p:nvSpPr>
        <p:spPr>
          <a:xfrm>
            <a:off x="1208117" y="3761286"/>
            <a:ext cx="1568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Source : List[X]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E79A6E-275B-1DAB-3F50-890944FBB16A}"/>
              </a:ext>
            </a:extLst>
          </p:cNvPr>
          <p:cNvSpPr txBox="1"/>
          <p:nvPr/>
        </p:nvSpPr>
        <p:spPr>
          <a:xfrm>
            <a:off x="4383577" y="3761286"/>
            <a:ext cx="3104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transformationFunction</a:t>
            </a:r>
            <a:r>
              <a:rPr lang="fr-FR" dirty="0"/>
              <a:t> : X -&gt; Y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CC56E04-1292-0527-CB6E-E7227735AB9F}"/>
              </a:ext>
            </a:extLst>
          </p:cNvPr>
          <p:cNvSpPr/>
          <p:nvPr/>
        </p:nvSpPr>
        <p:spPr>
          <a:xfrm>
            <a:off x="6123709" y="4165451"/>
            <a:ext cx="310341" cy="4429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F03BF09-B55B-91B0-0856-5D2AED80F5F6}"/>
              </a:ext>
            </a:extLst>
          </p:cNvPr>
          <p:cNvSpPr/>
          <p:nvPr/>
        </p:nvSpPr>
        <p:spPr>
          <a:xfrm>
            <a:off x="8987343" y="4584200"/>
            <a:ext cx="310341" cy="4429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7CF6BEF-A8C1-B81B-FEDA-2A1BC1842CC1}"/>
              </a:ext>
            </a:extLst>
          </p:cNvPr>
          <p:cNvSpPr/>
          <p:nvPr/>
        </p:nvSpPr>
        <p:spPr>
          <a:xfrm>
            <a:off x="8987342" y="5128316"/>
            <a:ext cx="310341" cy="4429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9EA2FFB-D7CC-1E22-FC17-D1DA40A3202F}"/>
              </a:ext>
            </a:extLst>
          </p:cNvPr>
          <p:cNvSpPr/>
          <p:nvPr/>
        </p:nvSpPr>
        <p:spPr>
          <a:xfrm>
            <a:off x="8987342" y="5696636"/>
            <a:ext cx="310341" cy="4429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799F89-D3AE-5E4A-35CA-2F27A8A3A8AD}"/>
              </a:ext>
            </a:extLst>
          </p:cNvPr>
          <p:cNvSpPr txBox="1"/>
          <p:nvPr/>
        </p:nvSpPr>
        <p:spPr>
          <a:xfrm>
            <a:off x="8415252" y="3945952"/>
            <a:ext cx="1489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target</a:t>
            </a:r>
            <a:r>
              <a:rPr lang="fr-FR" dirty="0"/>
              <a:t> : List[Y]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7E1198-11F1-E178-2A56-5277E760267E}"/>
              </a:ext>
            </a:extLst>
          </p:cNvPr>
          <p:cNvSpPr/>
          <p:nvPr/>
        </p:nvSpPr>
        <p:spPr>
          <a:xfrm>
            <a:off x="1590502" y="4315284"/>
            <a:ext cx="737062" cy="21353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95CF28-7C78-F683-DFAD-39EA66356517}"/>
              </a:ext>
            </a:extLst>
          </p:cNvPr>
          <p:cNvSpPr/>
          <p:nvPr/>
        </p:nvSpPr>
        <p:spPr>
          <a:xfrm>
            <a:off x="8736675" y="4315869"/>
            <a:ext cx="737062" cy="21353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07425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5731B-ED8C-D254-B60E-DC5F371CA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57F0F9-4551-0179-09BC-837F15C7C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15" y="2676247"/>
            <a:ext cx="11585770" cy="178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1785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B4EA-9F4E-B7F9-E872-392B7AD08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519690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Exercise</a:t>
            </a:r>
            <a:r>
              <a:rPr lang="fr-FR" dirty="0"/>
              <a:t> 4: display </a:t>
            </a:r>
            <a:r>
              <a:rPr lang="fr-FR" dirty="0" err="1"/>
              <a:t>result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previous</a:t>
            </a:r>
            <a:r>
              <a:rPr lang="fr-FR" dirty="0"/>
              <a:t> </a:t>
            </a:r>
            <a:r>
              <a:rPr lang="fr-FR" dirty="0" err="1"/>
              <a:t>exercise</a:t>
            </a:r>
            <a:br>
              <a:rPr lang="fr-FR" dirty="0"/>
            </a:br>
            <a:br>
              <a:rPr lang="fr-FR" dirty="0"/>
            </a:br>
            <a:r>
              <a:rPr lang="fr-FR" dirty="0"/>
              <a:t>4a / display </a:t>
            </a:r>
            <a:r>
              <a:rPr lang="fr-FR" dirty="0" err="1"/>
              <a:t>length</a:t>
            </a:r>
            <a:r>
              <a:rPr lang="fr-FR" dirty="0"/>
              <a:t> of </a:t>
            </a:r>
            <a:r>
              <a:rPr lang="fr-FR" dirty="0" err="1"/>
              <a:t>result</a:t>
            </a:r>
            <a:br>
              <a:rPr lang="fr-FR" dirty="0"/>
            </a:br>
            <a:r>
              <a:rPr lang="fr-FR" dirty="0"/>
              <a:t>4b/ display </a:t>
            </a:r>
            <a:r>
              <a:rPr lang="fr-FR" dirty="0" err="1"/>
              <a:t>row</a:t>
            </a:r>
            <a:r>
              <a:rPr lang="fr-FR" dirty="0"/>
              <a:t> 0 tuple</a:t>
            </a:r>
            <a:br>
              <a:rPr lang="fr-FR" dirty="0"/>
            </a:br>
            <a:r>
              <a:rPr lang="fr-FR" dirty="0"/>
              <a:t>4c/ display </a:t>
            </a:r>
            <a:r>
              <a:rPr lang="fr-FR" dirty="0" err="1"/>
              <a:t>row</a:t>
            </a:r>
            <a:r>
              <a:rPr lang="fr-FR" dirty="0"/>
              <a:t> 0, </a:t>
            </a:r>
            <a:r>
              <a:rPr lang="fr-FR" dirty="0" err="1"/>
              <a:t>individual</a:t>
            </a:r>
            <a:r>
              <a:rPr lang="fr-FR" dirty="0"/>
              <a:t> </a:t>
            </a:r>
            <a:r>
              <a:rPr lang="fr-FR" dirty="0" err="1"/>
              <a:t>fields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tuple</a:t>
            </a:r>
          </a:p>
        </p:txBody>
      </p:sp>
    </p:spTree>
    <p:extLst>
      <p:ext uri="{BB962C8B-B14F-4D97-AF65-F5344CB8AC3E}">
        <p14:creationId xmlns:p14="http://schemas.microsoft.com/office/powerpoint/2010/main" val="38664430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5731B-ED8C-D254-B60E-DC5F371CA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C0D915-8747-BFCC-8915-07FD0AAEC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698" y="2361400"/>
            <a:ext cx="4322603" cy="268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3306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967345"/>
            <a:ext cx="11571316" cy="293162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5:  </a:t>
            </a:r>
            <a:r>
              <a:rPr lang="fr-FR" dirty="0" err="1"/>
              <a:t>create</a:t>
            </a:r>
            <a:r>
              <a:rPr lang="fr-FR" dirty="0"/>
              <a:t> a </a:t>
            </a:r>
            <a:r>
              <a:rPr lang="fr-FR" dirty="0" err="1"/>
              <a:t>spark</a:t>
            </a:r>
            <a:r>
              <a:rPr lang="fr-FR" dirty="0"/>
              <a:t> </a:t>
            </a:r>
            <a:r>
              <a:rPr lang="fr-FR" dirty="0" err="1"/>
              <a:t>DataSet</a:t>
            </a:r>
            <a:r>
              <a:rPr lang="fr-FR" dirty="0"/>
              <a:t> of 100_000 </a:t>
            </a:r>
            <a:r>
              <a:rPr lang="fr-FR" dirty="0" err="1"/>
              <a:t>rows</a:t>
            </a:r>
            <a:br>
              <a:rPr lang="fr-FR" dirty="0"/>
            </a:b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row</a:t>
            </a:r>
            <a:r>
              <a:rPr lang="fr-FR" dirty="0"/>
              <a:t> </a:t>
            </a:r>
            <a:r>
              <a:rPr lang="fr-FR" dirty="0" err="1"/>
              <a:t>containing</a:t>
            </a:r>
            <a:r>
              <a:rPr lang="fr-FR" dirty="0"/>
              <a:t>  a Tuple of </a:t>
            </a:r>
            <a:br>
              <a:rPr lang="fr-FR" dirty="0"/>
            </a:br>
            <a:r>
              <a:rPr lang="fr-FR" dirty="0" err="1"/>
              <a:t>int</a:t>
            </a:r>
            <a:r>
              <a:rPr lang="fr-FR" dirty="0"/>
              <a:t> : i</a:t>
            </a:r>
            <a:br>
              <a:rPr lang="fr-FR" dirty="0"/>
            </a:br>
            <a:r>
              <a:rPr lang="fr-FR" dirty="0" err="1"/>
              <a:t>boolean</a:t>
            </a:r>
            <a:r>
              <a:rPr lang="fr-FR" dirty="0"/>
              <a:t> : </a:t>
            </a:r>
            <a:r>
              <a:rPr lang="fr-FR" dirty="0" err="1"/>
              <a:t>true</a:t>
            </a:r>
            <a:r>
              <a:rPr lang="fr-FR" dirty="0"/>
              <a:t>  if i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even</a:t>
            </a:r>
            <a:br>
              <a:rPr lang="fr-FR" dirty="0"/>
            </a:br>
            <a:r>
              <a:rPr lang="fr-FR" dirty="0"/>
              <a:t>string: « hello ${i} »</a:t>
            </a:r>
          </a:p>
        </p:txBody>
      </p:sp>
    </p:spTree>
    <p:extLst>
      <p:ext uri="{BB962C8B-B14F-4D97-AF65-F5344CB8AC3E}">
        <p14:creationId xmlns:p14="http://schemas.microsoft.com/office/powerpoint/2010/main" val="2412400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12567-2923-4513-8415-1059AD0E0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016902-C7CD-1246-08B9-E08E678FB2AF}"/>
              </a:ext>
            </a:extLst>
          </p:cNvPr>
          <p:cNvSpPr txBox="1"/>
          <p:nvPr/>
        </p:nvSpPr>
        <p:spPr>
          <a:xfrm>
            <a:off x="1318953" y="2698865"/>
            <a:ext cx="838825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Just use </a:t>
            </a:r>
          </a:p>
          <a:p>
            <a:endParaRPr lang="fr-FR" sz="2400" dirty="0"/>
          </a:p>
          <a:p>
            <a:r>
              <a:rPr lang="fr-FR" sz="2400" dirty="0" err="1"/>
              <a:t>spark.createDataset</a:t>
            </a:r>
            <a:r>
              <a:rPr lang="fr-FR" sz="2400" dirty="0"/>
              <a:t>()    </a:t>
            </a:r>
            <a:r>
              <a:rPr lang="fr-FR" sz="2400" dirty="0" err="1"/>
              <a:t>method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« </a:t>
            </a:r>
            <a:r>
              <a:rPr lang="fr-FR" sz="2400" dirty="0" err="1"/>
              <a:t>spark</a:t>
            </a:r>
            <a:r>
              <a:rPr lang="fr-FR" sz="2400" dirty="0"/>
              <a:t> »  </a:t>
            </a:r>
            <a:r>
              <a:rPr lang="fr-FR" sz="2400" dirty="0" err="1"/>
              <a:t>is</a:t>
            </a:r>
            <a:r>
              <a:rPr lang="fr-FR" sz="2400" dirty="0"/>
              <a:t> a </a:t>
            </a:r>
            <a:r>
              <a:rPr lang="fr-FR" sz="2400" dirty="0" err="1"/>
              <a:t>built-in</a:t>
            </a:r>
            <a:r>
              <a:rPr lang="fr-FR" sz="2400" dirty="0"/>
              <a:t> variable</a:t>
            </a:r>
          </a:p>
          <a:p>
            <a:r>
              <a:rPr lang="fr-FR" sz="2400" dirty="0"/>
              <a:t>You can type  « </a:t>
            </a:r>
            <a:r>
              <a:rPr lang="fr-FR" sz="2400" dirty="0" err="1"/>
              <a:t>spark.create</a:t>
            </a:r>
            <a:r>
              <a:rPr lang="fr-FR" sz="2400" dirty="0"/>
              <a:t> » and </a:t>
            </a:r>
            <a:r>
              <a:rPr lang="fr-FR" sz="2400" dirty="0" err="1"/>
              <a:t>press</a:t>
            </a:r>
            <a:r>
              <a:rPr lang="fr-FR" sz="2400" dirty="0"/>
              <a:t> TAB TAB to </a:t>
            </a:r>
            <a:r>
              <a:rPr lang="fr-FR" sz="2400" dirty="0" err="1"/>
              <a:t>autocomplete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4855620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400"/>
            <a:ext cx="10515600" cy="820044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413533-85E0-B525-AA31-653DA37B9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79" y="1472142"/>
            <a:ext cx="11220378" cy="2251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D3FA68-ADE9-E8E3-7A53-78B91AE1FDA0}"/>
              </a:ext>
            </a:extLst>
          </p:cNvPr>
          <p:cNvSpPr txBox="1"/>
          <p:nvPr/>
        </p:nvSpPr>
        <p:spPr>
          <a:xfrm>
            <a:off x="659476" y="4344785"/>
            <a:ext cx="2811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Equivalent 1-liner solution 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96509C-4443-3602-0E0F-CFAD01CD7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579" y="4872625"/>
            <a:ext cx="11261849" cy="55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533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99"/>
            <a:ext cx="10515600" cy="1298685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6: Display </a:t>
            </a:r>
            <a:r>
              <a:rPr lang="fr-FR" dirty="0" err="1"/>
              <a:t>result</a:t>
            </a:r>
            <a:r>
              <a:rPr lang="fr-FR" dirty="0"/>
              <a:t> </a:t>
            </a:r>
            <a:r>
              <a:rPr lang="fr-FR" dirty="0" err="1"/>
              <a:t>DataSet</a:t>
            </a:r>
            <a:r>
              <a:rPr lang="fr-FR" dirty="0"/>
              <a:t> of ex. 5</a:t>
            </a:r>
            <a:br>
              <a:rPr lang="fr-FR" dirty="0"/>
            </a:br>
            <a:endParaRPr lang="fr-FR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F899D3-42B5-89DF-37FC-BE0A98012AD0}"/>
              </a:ext>
            </a:extLst>
          </p:cNvPr>
          <p:cNvSpPr txBox="1">
            <a:spLocks/>
          </p:cNvSpPr>
          <p:nvPr/>
        </p:nvSpPr>
        <p:spPr>
          <a:xfrm>
            <a:off x="563880" y="1535084"/>
            <a:ext cx="10515600" cy="309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6a / display 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rows</a:t>
            </a:r>
            <a:endParaRPr lang="fr-FR" dirty="0"/>
          </a:p>
          <a:p>
            <a:r>
              <a:rPr lang="fr-FR" dirty="0"/>
              <a:t>6b/ show first </a:t>
            </a:r>
            <a:r>
              <a:rPr lang="fr-FR" dirty="0" err="1"/>
              <a:t>rows</a:t>
            </a:r>
            <a:r>
              <a:rPr lang="fr-FR" dirty="0"/>
              <a:t> (default: 20)</a:t>
            </a:r>
          </a:p>
          <a:p>
            <a:r>
              <a:rPr lang="fr-FR" dirty="0"/>
              <a:t>6c/ show </a:t>
            </a:r>
            <a:r>
              <a:rPr lang="fr-FR" dirty="0" err="1"/>
              <a:t>only</a:t>
            </a:r>
            <a:r>
              <a:rPr lang="fr-FR" dirty="0"/>
              <a:t> first 2 </a:t>
            </a:r>
            <a:r>
              <a:rPr lang="fr-FR" dirty="0" err="1"/>
              <a:t>rows</a:t>
            </a:r>
            <a:endParaRPr lang="fr-FR" dirty="0"/>
          </a:p>
          <a:p>
            <a:r>
              <a:rPr lang="fr-FR" dirty="0"/>
              <a:t>6d/ show </a:t>
            </a:r>
            <a:r>
              <a:rPr lang="fr-FR" dirty="0" err="1"/>
              <a:t>individual</a:t>
            </a:r>
            <a:r>
              <a:rPr lang="fr-FR" dirty="0"/>
              <a:t> </a:t>
            </a:r>
            <a:r>
              <a:rPr lang="fr-FR" dirty="0" err="1"/>
              <a:t>columns</a:t>
            </a:r>
            <a:r>
              <a:rPr lang="fr-FR" dirty="0"/>
              <a:t> of row0</a:t>
            </a:r>
          </a:p>
          <a:p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136167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400"/>
            <a:ext cx="10515600" cy="820044"/>
          </a:xfrm>
        </p:spPr>
        <p:txBody>
          <a:bodyPr/>
          <a:lstStyle/>
          <a:p>
            <a:pPr algn="ctr"/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B43700-3FB9-9D2B-9046-3AB9C63B2A8C}"/>
              </a:ext>
            </a:extLst>
          </p:cNvPr>
          <p:cNvSpPr txBox="1"/>
          <p:nvPr/>
        </p:nvSpPr>
        <p:spPr>
          <a:xfrm>
            <a:off x="838200" y="2654531"/>
            <a:ext cx="66912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Like on Seq or List … </a:t>
            </a:r>
            <a:r>
              <a:rPr lang="fr-FR" sz="2400" dirty="0" err="1"/>
              <a:t>Dataset</a:t>
            </a:r>
            <a:r>
              <a:rPr lang="fr-FR" sz="2400" dirty="0"/>
              <a:t> </a:t>
            </a:r>
            <a:r>
              <a:rPr lang="fr-FR" sz="2400" dirty="0" err="1"/>
              <a:t>accept</a:t>
            </a:r>
            <a:r>
              <a:rPr lang="fr-FR" sz="2400" dirty="0"/>
              <a:t> </a:t>
            </a:r>
            <a:r>
              <a:rPr lang="fr-FR" sz="2400" dirty="0" err="1"/>
              <a:t>many</a:t>
            </a:r>
            <a:r>
              <a:rPr lang="fr-FR" sz="2400" dirty="0"/>
              <a:t> </a:t>
            </a:r>
            <a:r>
              <a:rPr lang="fr-FR" sz="2400" dirty="0" err="1"/>
              <a:t>methods</a:t>
            </a:r>
            <a:r>
              <a:rPr lang="fr-FR" sz="2400" dirty="0"/>
              <a:t>, </a:t>
            </a:r>
          </a:p>
          <a:p>
            <a:r>
              <a:rPr lang="fr-FR" sz="2400" dirty="0"/>
              <a:t>like « .show() », « .count() », « .</a:t>
            </a:r>
            <a:r>
              <a:rPr lang="fr-FR" sz="2400" dirty="0" err="1"/>
              <a:t>take</a:t>
            </a:r>
            <a:r>
              <a:rPr lang="fr-FR" sz="2400" dirty="0"/>
              <a:t>() »  etc.</a:t>
            </a:r>
          </a:p>
        </p:txBody>
      </p:sp>
    </p:spTree>
    <p:extLst>
      <p:ext uri="{BB962C8B-B14F-4D97-AF65-F5344CB8AC3E}">
        <p14:creationId xmlns:p14="http://schemas.microsoft.com/office/powerpoint/2010/main" val="283934713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400"/>
            <a:ext cx="10515600" cy="820044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17608D-8796-8D36-C2B1-C51F600C9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19" y="1366675"/>
            <a:ext cx="3317208" cy="30396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39BBFA-1894-84A3-26B4-6CB957949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859" y="2079646"/>
            <a:ext cx="1855631" cy="40770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90C9C9-CC75-A5FC-5D93-F5713E6207FC}"/>
              </a:ext>
            </a:extLst>
          </p:cNvPr>
          <p:cNvSpPr txBox="1"/>
          <p:nvPr/>
        </p:nvSpPr>
        <p:spPr>
          <a:xfrm>
            <a:off x="5974080" y="1388966"/>
            <a:ext cx="4901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By default… « .show() » =&gt;  </a:t>
            </a:r>
            <a:r>
              <a:rPr lang="fr-FR" dirty="0" err="1"/>
              <a:t>same</a:t>
            </a:r>
            <a:r>
              <a:rPr lang="fr-FR" dirty="0"/>
              <a:t> as  « .show(20) »</a:t>
            </a:r>
            <a:br>
              <a:rPr lang="fr-FR" dirty="0"/>
            </a:br>
            <a:r>
              <a:rPr lang="fr-FR" dirty="0"/>
              <a:t>.. =&gt; </a:t>
            </a:r>
            <a:r>
              <a:rPr lang="fr-FR" dirty="0" err="1"/>
              <a:t>same</a:t>
            </a:r>
            <a:r>
              <a:rPr lang="fr-FR" dirty="0"/>
              <a:t> as « .show(20, </a:t>
            </a:r>
            <a:r>
              <a:rPr lang="fr-FR" dirty="0" err="1"/>
              <a:t>true</a:t>
            </a:r>
            <a:r>
              <a:rPr lang="fr-FR" dirty="0"/>
              <a:t>) »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8887E0-05C0-5C50-955C-147AE0CB9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119" y="4620664"/>
            <a:ext cx="4530866" cy="215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7725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941"/>
            <a:ext cx="10515600" cy="855339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7: Rename </a:t>
            </a:r>
            <a:r>
              <a:rPr lang="fr-FR" dirty="0" err="1"/>
              <a:t>columns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F1185-F519-3E47-4C07-729938EF3EFB}"/>
              </a:ext>
            </a:extLst>
          </p:cNvPr>
          <p:cNvSpPr txBox="1"/>
          <p:nvPr/>
        </p:nvSpPr>
        <p:spPr>
          <a:xfrm>
            <a:off x="3588623" y="2642235"/>
            <a:ext cx="522534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Rename </a:t>
            </a:r>
            <a:r>
              <a:rPr lang="fr-FR" sz="3600" dirty="0" err="1"/>
              <a:t>columns</a:t>
            </a:r>
            <a:r>
              <a:rPr lang="fr-FR" sz="3600" dirty="0"/>
              <a:t> _1,_2,_3 </a:t>
            </a:r>
            <a:br>
              <a:rPr lang="fr-FR" sz="3600" dirty="0"/>
            </a:br>
            <a:r>
              <a:rPr lang="fr-FR" sz="3600" dirty="0"/>
              <a:t>to </a:t>
            </a:r>
            <a:br>
              <a:rPr lang="fr-FR" sz="3600" dirty="0"/>
            </a:br>
            <a:r>
              <a:rPr lang="fr-FR" sz="3600" dirty="0"/>
              <a:t>« id », « </a:t>
            </a:r>
            <a:r>
              <a:rPr lang="fr-FR" sz="3600" dirty="0" err="1"/>
              <a:t>even</a:t>
            </a:r>
            <a:r>
              <a:rPr lang="fr-FR" sz="3600" dirty="0"/>
              <a:t> », « </a:t>
            </a:r>
            <a:r>
              <a:rPr lang="fr-FR" sz="3600" dirty="0" err="1"/>
              <a:t>text</a:t>
            </a:r>
            <a:r>
              <a:rPr lang="fr-FR" sz="3600" dirty="0"/>
              <a:t> »</a:t>
            </a:r>
          </a:p>
        </p:txBody>
      </p:sp>
    </p:spTree>
    <p:extLst>
      <p:ext uri="{BB962C8B-B14F-4D97-AF65-F5344CB8AC3E}">
        <p14:creationId xmlns:p14="http://schemas.microsoft.com/office/powerpoint/2010/main" val="40877261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400"/>
            <a:ext cx="10515600" cy="820044"/>
          </a:xfrm>
        </p:spPr>
        <p:txBody>
          <a:bodyPr/>
          <a:lstStyle/>
          <a:p>
            <a:pPr algn="ctr"/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9F5E38-8AA3-7740-25CD-3F82F82526C6}"/>
              </a:ext>
            </a:extLst>
          </p:cNvPr>
          <p:cNvSpPr txBox="1"/>
          <p:nvPr/>
        </p:nvSpPr>
        <p:spPr>
          <a:xfrm>
            <a:off x="1917469" y="2975956"/>
            <a:ext cx="511313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Use </a:t>
            </a:r>
            <a:r>
              <a:rPr lang="fr-FR" sz="2000" dirty="0" err="1"/>
              <a:t>dataset.withColumnRenamed</a:t>
            </a:r>
            <a:r>
              <a:rPr lang="fr-FR" sz="2000" dirty="0"/>
              <a:t>()</a:t>
            </a:r>
          </a:p>
          <a:p>
            <a:endParaRPr lang="fr-FR" sz="2000" dirty="0"/>
          </a:p>
          <a:p>
            <a:r>
              <a:rPr lang="fr-FR" sz="2000" dirty="0"/>
              <a:t>… </a:t>
            </a:r>
            <a:r>
              <a:rPr lang="fr-FR" sz="2000" dirty="0" err="1"/>
              <a:t>remember</a:t>
            </a:r>
            <a:r>
              <a:rPr lang="fr-FR" sz="2000" dirty="0"/>
              <a:t> </a:t>
            </a:r>
            <a:r>
              <a:rPr lang="fr-FR" sz="2000" dirty="0" err="1"/>
              <a:t>Dataset</a:t>
            </a:r>
            <a:r>
              <a:rPr lang="fr-FR" sz="2000" dirty="0"/>
              <a:t> are immutable !</a:t>
            </a:r>
          </a:p>
          <a:p>
            <a:r>
              <a:rPr lang="fr-FR" sz="2000" dirty="0"/>
              <a:t>Most </a:t>
            </a:r>
            <a:r>
              <a:rPr lang="fr-FR" sz="2000" dirty="0" err="1"/>
              <a:t>Dataset</a:t>
            </a:r>
            <a:r>
              <a:rPr lang="fr-FR" sz="2000" dirty="0"/>
              <a:t> </a:t>
            </a:r>
            <a:r>
              <a:rPr lang="fr-FR" sz="2000" dirty="0" err="1"/>
              <a:t>method</a:t>
            </a:r>
            <a:r>
              <a:rPr lang="fr-FR" sz="2000" dirty="0"/>
              <a:t> </a:t>
            </a:r>
            <a:r>
              <a:rPr lang="fr-FR" sz="2000" dirty="0" err="1"/>
              <a:t>returns</a:t>
            </a:r>
            <a:r>
              <a:rPr lang="fr-FR" sz="2000" dirty="0"/>
              <a:t> a new </a:t>
            </a:r>
            <a:r>
              <a:rPr lang="fr-FR" sz="2000" dirty="0" err="1"/>
              <a:t>Dataset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 err="1"/>
              <a:t>so</a:t>
            </a:r>
            <a:r>
              <a:rPr lang="fr-FR" sz="2000" dirty="0"/>
              <a:t> cascade calls (or </a:t>
            </a:r>
            <a:r>
              <a:rPr lang="fr-FR" sz="2000" dirty="0" err="1"/>
              <a:t>assign</a:t>
            </a:r>
            <a:r>
              <a:rPr lang="fr-FR" sz="2000" dirty="0"/>
              <a:t> </a:t>
            </a:r>
            <a:r>
              <a:rPr lang="fr-FR" sz="2000" dirty="0" err="1"/>
              <a:t>intermediate</a:t>
            </a:r>
            <a:r>
              <a:rPr lang="fr-FR" sz="2000" dirty="0"/>
              <a:t> </a:t>
            </a:r>
            <a:r>
              <a:rPr lang="fr-FR" sz="2000" dirty="0" err="1"/>
              <a:t>results</a:t>
            </a:r>
            <a:r>
              <a:rPr lang="fr-FR" sz="2000" dirty="0"/>
              <a:t>)</a:t>
            </a:r>
          </a:p>
          <a:p>
            <a:r>
              <a:rPr lang="fr-FR" sz="2000" dirty="0" err="1"/>
              <a:t>repeat</a:t>
            </a:r>
            <a:r>
              <a:rPr lang="fr-FR" sz="2000" dirty="0"/>
              <a:t> the </a:t>
            </a:r>
            <a:r>
              <a:rPr lang="fr-FR" sz="2000" dirty="0" err="1"/>
              <a:t>operation</a:t>
            </a:r>
            <a:r>
              <a:rPr lang="fr-FR" sz="2000" dirty="0"/>
              <a:t> 3 times</a:t>
            </a:r>
          </a:p>
        </p:txBody>
      </p:sp>
    </p:spTree>
    <p:extLst>
      <p:ext uri="{BB962C8B-B14F-4D97-AF65-F5344CB8AC3E}">
        <p14:creationId xmlns:p14="http://schemas.microsoft.com/office/powerpoint/2010/main" val="15177103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43AA6-5925-0B93-9EBC-F1B638587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786" y="160713"/>
            <a:ext cx="10515600" cy="1003502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6D327-301A-6FCE-CD3B-241F01905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89" y="1486190"/>
            <a:ext cx="8502284" cy="18943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36F311-7D0E-B04A-2381-337CAAE9E294}"/>
              </a:ext>
            </a:extLst>
          </p:cNvPr>
          <p:cNvSpPr txBox="1"/>
          <p:nvPr/>
        </p:nvSpPr>
        <p:spPr>
          <a:xfrm>
            <a:off x="590189" y="4078778"/>
            <a:ext cx="4843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Ds</a:t>
            </a:r>
            <a:r>
              <a:rPr lang="fr-FR" dirty="0"/>
              <a:t> …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unmodified</a:t>
            </a:r>
            <a:r>
              <a:rPr lang="fr-FR" dirty="0"/>
              <a:t> … </a:t>
            </a:r>
            <a:r>
              <a:rPr lang="fr-FR" dirty="0" err="1"/>
              <a:t>still</a:t>
            </a:r>
            <a:r>
              <a:rPr lang="fr-FR" dirty="0"/>
              <a:t> has  _1, _2, _3  </a:t>
            </a:r>
            <a:r>
              <a:rPr lang="fr-FR" dirty="0" err="1"/>
              <a:t>columns</a:t>
            </a:r>
            <a:endParaRPr lang="fr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E629BC-3DFF-6F26-FC0C-7BC1B483B7B0}"/>
              </a:ext>
            </a:extLst>
          </p:cNvPr>
          <p:cNvSpPr txBox="1"/>
          <p:nvPr/>
        </p:nvSpPr>
        <p:spPr>
          <a:xfrm>
            <a:off x="590188" y="5187144"/>
            <a:ext cx="3358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More </a:t>
            </a:r>
            <a:r>
              <a:rPr lang="fr-FR" dirty="0" err="1"/>
              <a:t>idiomatic</a:t>
            </a:r>
            <a:r>
              <a:rPr lang="fr-FR" dirty="0"/>
              <a:t>: cascade </a:t>
            </a:r>
            <a:r>
              <a:rPr lang="fr-FR" dirty="0" err="1"/>
              <a:t>methods</a:t>
            </a:r>
            <a:endParaRPr lang="fr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C515CB-22CC-8725-F261-FC637088E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44" y="5538246"/>
            <a:ext cx="11435709" cy="5149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3A2B7B-C52C-BA11-99D0-454423D7B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88" y="4502966"/>
            <a:ext cx="8583883" cy="39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13745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43AA6-5925-0B93-9EBC-F1B638587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786" y="160713"/>
            <a:ext cx="10515600" cy="1003502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8E625-5474-423F-01C0-B04C2BBF3DEA}"/>
              </a:ext>
            </a:extLst>
          </p:cNvPr>
          <p:cNvSpPr txBox="1"/>
          <p:nvPr/>
        </p:nvSpPr>
        <p:spPr>
          <a:xfrm>
            <a:off x="3358342" y="2937164"/>
            <a:ext cx="745313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Filter</a:t>
            </a:r>
            <a:r>
              <a:rPr lang="fr-FR" sz="2400" dirty="0"/>
              <a:t> </a:t>
            </a:r>
            <a:r>
              <a:rPr lang="fr-FR" sz="2400" dirty="0" err="1"/>
              <a:t>rows</a:t>
            </a:r>
            <a:r>
              <a:rPr lang="fr-FR" sz="2400" dirty="0"/>
              <a:t> </a:t>
            </a:r>
            <a:r>
              <a:rPr lang="fr-FR" sz="2400" dirty="0" err="1"/>
              <a:t>where</a:t>
            </a:r>
            <a:r>
              <a:rPr lang="fr-FR" sz="2400" dirty="0"/>
              <a:t> « id » </a:t>
            </a:r>
            <a:r>
              <a:rPr lang="fr-FR" sz="2400" dirty="0" err="1"/>
              <a:t>is</a:t>
            </a:r>
            <a:r>
              <a:rPr lang="fr-FR" sz="2400" dirty="0"/>
              <a:t> « &gt;= 100 »</a:t>
            </a:r>
          </a:p>
          <a:p>
            <a:r>
              <a:rPr lang="fr-FR" sz="2400" dirty="0" err="1"/>
              <a:t>Using</a:t>
            </a:r>
            <a:r>
              <a:rPr lang="fr-FR" sz="2400" dirty="0"/>
              <a:t> « </a:t>
            </a:r>
            <a:r>
              <a:rPr lang="fr-FR" sz="2400" dirty="0" err="1"/>
              <a:t>filter</a:t>
            </a:r>
            <a:r>
              <a:rPr lang="fr-FR" sz="2400" dirty="0"/>
              <a:t>(</a:t>
            </a:r>
            <a:r>
              <a:rPr lang="fr-FR" sz="2400" dirty="0" err="1"/>
              <a:t>Column</a:t>
            </a:r>
            <a:r>
              <a:rPr lang="fr-FR" sz="2400" dirty="0"/>
              <a:t>) » </a:t>
            </a:r>
            <a:r>
              <a:rPr lang="fr-FR" sz="2400" dirty="0" err="1"/>
              <a:t>operators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To </a:t>
            </a:r>
            <a:r>
              <a:rPr lang="fr-FR" sz="2400" dirty="0" err="1"/>
              <a:t>create</a:t>
            </a:r>
            <a:r>
              <a:rPr lang="fr-FR" sz="2400" dirty="0"/>
              <a:t> an expression on </a:t>
            </a:r>
            <a:r>
              <a:rPr lang="fr-FR" sz="2400" dirty="0" err="1"/>
              <a:t>column</a:t>
            </a:r>
            <a:r>
              <a:rPr lang="fr-FR" sz="2400" dirty="0"/>
              <a:t> « id » of </a:t>
            </a:r>
            <a:r>
              <a:rPr lang="fr-FR" sz="2400" dirty="0" err="1"/>
              <a:t>dataset</a:t>
            </a:r>
            <a:r>
              <a:rPr lang="fr-FR" sz="2400" dirty="0"/>
              <a:t> « </a:t>
            </a:r>
            <a:r>
              <a:rPr lang="fr-FR" sz="2400" dirty="0" err="1"/>
              <a:t>ds</a:t>
            </a:r>
            <a:r>
              <a:rPr lang="fr-FR" sz="2400" dirty="0"/>
              <a:t> »,</a:t>
            </a:r>
          </a:p>
          <a:p>
            <a:r>
              <a:rPr lang="fr-FR" sz="2400" dirty="0"/>
              <a:t>You can use « </a:t>
            </a:r>
            <a:r>
              <a:rPr lang="fr-FR" sz="2400" dirty="0" err="1"/>
              <a:t>ds</a:t>
            </a:r>
            <a:r>
              <a:rPr lang="fr-FR" sz="2400" dirty="0"/>
              <a:t>(« id ») »</a:t>
            </a:r>
            <a:br>
              <a:rPr lang="fr-FR" sz="2400" dirty="0"/>
            </a:br>
            <a:r>
              <a:rPr lang="fr-FR" sz="2400" dirty="0"/>
              <a:t>OR </a:t>
            </a:r>
            <a:r>
              <a:rPr lang="fr-FR" sz="2400" dirty="0" err="1"/>
              <a:t>implicit</a:t>
            </a:r>
            <a:r>
              <a:rPr lang="fr-FR" sz="2400" dirty="0"/>
              <a:t> </a:t>
            </a:r>
            <a:r>
              <a:rPr lang="fr-FR" sz="2400" dirty="0" err="1"/>
              <a:t>equivalent</a:t>
            </a:r>
            <a:r>
              <a:rPr lang="fr-FR" sz="2400" dirty="0"/>
              <a:t>  $«id »</a:t>
            </a:r>
          </a:p>
        </p:txBody>
      </p:sp>
    </p:spTree>
    <p:extLst>
      <p:ext uri="{BB962C8B-B14F-4D97-AF65-F5344CB8AC3E}">
        <p14:creationId xmlns:p14="http://schemas.microsoft.com/office/powerpoint/2010/main" val="15311472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43AA6-5925-0B93-9EBC-F1B638587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786" y="160713"/>
            <a:ext cx="10515600" cy="1003502"/>
          </a:xfrm>
        </p:spPr>
        <p:txBody>
          <a:bodyPr/>
          <a:lstStyle/>
          <a:p>
            <a:pPr algn="ctr"/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B98856-1354-59E7-5D57-4CCC5437E0B1}"/>
              </a:ext>
            </a:extLst>
          </p:cNvPr>
          <p:cNvSpPr txBox="1"/>
          <p:nvPr/>
        </p:nvSpPr>
        <p:spPr>
          <a:xfrm>
            <a:off x="1311731" y="3962401"/>
            <a:ext cx="766761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use « .</a:t>
            </a:r>
            <a:r>
              <a:rPr lang="fr-FR" dirty="0" err="1"/>
              <a:t>filter</a:t>
            </a:r>
            <a:r>
              <a:rPr lang="fr-FR" dirty="0"/>
              <a:t>( </a:t>
            </a:r>
            <a:r>
              <a:rPr lang="fr-FR" dirty="0" err="1"/>
              <a:t>ds</a:t>
            </a:r>
            <a:r>
              <a:rPr lang="fr-FR" dirty="0"/>
              <a:t>(«  </a:t>
            </a:r>
            <a:r>
              <a:rPr lang="fr-FR" dirty="0" err="1"/>
              <a:t>columnName</a:t>
            </a:r>
            <a:r>
              <a:rPr lang="fr-FR" dirty="0"/>
              <a:t>»)  </a:t>
            </a:r>
            <a:r>
              <a:rPr lang="fr-FR" dirty="0" err="1"/>
              <a:t>operator</a:t>
            </a:r>
            <a:r>
              <a:rPr lang="fr-FR" dirty="0"/>
              <a:t>…  ) »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more </a:t>
            </a:r>
            <a:r>
              <a:rPr lang="fr-FR" dirty="0" err="1"/>
              <a:t>complex</a:t>
            </a:r>
            <a:r>
              <a:rPr lang="fr-FR" dirty="0"/>
              <a:t> </a:t>
            </a:r>
            <a:r>
              <a:rPr lang="fr-FR" dirty="0" err="1"/>
              <a:t>than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SQL </a:t>
            </a:r>
            <a:r>
              <a:rPr lang="fr-FR" dirty="0" err="1"/>
              <a:t>conditionExpr</a:t>
            </a:r>
            <a:r>
              <a:rPr lang="fr-FR" dirty="0"/>
              <a:t>… </a:t>
            </a:r>
            <a:r>
              <a:rPr lang="fr-FR" dirty="0" err="1"/>
              <a:t>cf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9</a:t>
            </a:r>
          </a:p>
          <a:p>
            <a:r>
              <a:rPr lang="fr-FR" dirty="0"/>
              <a:t>But It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simpler</a:t>
            </a:r>
            <a:r>
              <a:rPr lang="fr-FR" dirty="0"/>
              <a:t> </a:t>
            </a:r>
            <a:r>
              <a:rPr lang="fr-FR" dirty="0" err="1"/>
              <a:t>than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10 … </a:t>
            </a:r>
            <a:r>
              <a:rPr lang="fr-FR" dirty="0" err="1"/>
              <a:t>using</a:t>
            </a:r>
            <a:r>
              <a:rPr lang="fr-FR" dirty="0"/>
              <a:t> lambda </a:t>
            </a:r>
            <a:r>
              <a:rPr lang="fr-FR" dirty="0" err="1"/>
              <a:t>predicateFunc</a:t>
            </a:r>
            <a:r>
              <a:rPr lang="fr-FR" dirty="0"/>
              <a:t> : </a:t>
            </a:r>
            <a:r>
              <a:rPr lang="fr-FR" dirty="0" err="1"/>
              <a:t>row</a:t>
            </a:r>
            <a:r>
              <a:rPr lang="fr-FR" dirty="0"/>
              <a:t> -&gt; </a:t>
            </a:r>
            <a:r>
              <a:rPr lang="fr-FR" dirty="0" err="1"/>
              <a:t>boolean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936CBA-50BB-8A8E-AD36-353F1F45B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809" y="2190007"/>
            <a:ext cx="8687553" cy="11812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25093D-BD92-5B3D-E452-F64B6AB4F7EF}"/>
              </a:ext>
            </a:extLst>
          </p:cNvPr>
          <p:cNvSpPr txBox="1"/>
          <p:nvPr/>
        </p:nvSpPr>
        <p:spPr>
          <a:xfrm>
            <a:off x="1413164" y="1377360"/>
            <a:ext cx="5265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Type « .</a:t>
            </a:r>
            <a:r>
              <a:rPr lang="fr-FR" dirty="0" err="1"/>
              <a:t>filter</a:t>
            </a:r>
            <a:r>
              <a:rPr lang="fr-FR" dirty="0"/>
              <a:t>» and </a:t>
            </a:r>
            <a:r>
              <a:rPr lang="fr-FR" dirty="0" err="1"/>
              <a:t>pres</a:t>
            </a:r>
            <a:r>
              <a:rPr lang="fr-FR" dirty="0"/>
              <a:t> TAB </a:t>
            </a:r>
            <a:r>
              <a:rPr lang="fr-FR" dirty="0" err="1"/>
              <a:t>TAB</a:t>
            </a:r>
            <a:r>
              <a:rPr lang="fr-FR" dirty="0"/>
              <a:t> to </a:t>
            </a:r>
            <a:r>
              <a:rPr lang="fr-FR" dirty="0" err="1"/>
              <a:t>autocomplete</a:t>
            </a:r>
            <a:endParaRPr lang="fr-FR" dirty="0"/>
          </a:p>
          <a:p>
            <a:r>
              <a:rPr lang="fr-FR" dirty="0"/>
              <a:t>You can 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are 3 possible </a:t>
            </a:r>
            <a:r>
              <a:rPr lang="fr-FR" dirty="0" err="1"/>
              <a:t>overloads</a:t>
            </a:r>
            <a:r>
              <a:rPr lang="fr-FR" dirty="0"/>
              <a:t> for </a:t>
            </a:r>
            <a:r>
              <a:rPr lang="fr-FR" dirty="0" err="1"/>
              <a:t>method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525407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43AA6-5925-0B93-9EBC-F1B638587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786" y="160713"/>
            <a:ext cx="10515600" cy="1003502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2340C-409B-52FB-C319-4D3ACF1BC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066" y="1768771"/>
            <a:ext cx="10278353" cy="10966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E4FD86-A6B5-0BCA-3F0F-578256341743}"/>
              </a:ext>
            </a:extLst>
          </p:cNvPr>
          <p:cNvSpPr txBox="1"/>
          <p:nvPr/>
        </p:nvSpPr>
        <p:spPr>
          <a:xfrm>
            <a:off x="1198907" y="3655729"/>
            <a:ext cx="62405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utlisation</a:t>
            </a:r>
            <a:r>
              <a:rPr lang="fr-FR" dirty="0"/>
              <a:t> de l'api BAS-NIVEAU "</a:t>
            </a:r>
            <a:r>
              <a:rPr lang="fr-FR" dirty="0" err="1"/>
              <a:t>Column</a:t>
            </a:r>
            <a:r>
              <a:rPr lang="fr-FR" dirty="0"/>
              <a:t>" expression</a:t>
            </a:r>
          </a:p>
          <a:p>
            <a:r>
              <a:rPr lang="fr-FR" dirty="0"/>
              <a:t>val ds5 = </a:t>
            </a:r>
            <a:r>
              <a:rPr lang="fr-FR" dirty="0" err="1"/>
              <a:t>dataframe.filter</a:t>
            </a:r>
            <a:r>
              <a:rPr lang="fr-FR" dirty="0"/>
              <a:t>(  </a:t>
            </a:r>
            <a:r>
              <a:rPr lang="fr-FR" dirty="0" err="1"/>
              <a:t>dataframe.col</a:t>
            </a:r>
            <a:r>
              <a:rPr lang="fr-FR" dirty="0"/>
              <a:t>("value").gt( lit (100) ) )</a:t>
            </a:r>
          </a:p>
          <a:p>
            <a:r>
              <a:rPr lang="fr-FR" dirty="0"/>
              <a:t>val ds5 = </a:t>
            </a:r>
            <a:r>
              <a:rPr lang="fr-FR" dirty="0" err="1"/>
              <a:t>dataframe.filter</a:t>
            </a:r>
            <a:r>
              <a:rPr lang="fr-FR" dirty="0"/>
              <a:t>(  </a:t>
            </a:r>
            <a:r>
              <a:rPr lang="fr-FR" dirty="0" err="1"/>
              <a:t>dataframe.col</a:t>
            </a:r>
            <a:r>
              <a:rPr lang="fr-FR" dirty="0"/>
              <a:t>("value") &gt; lit (100) )</a:t>
            </a:r>
          </a:p>
          <a:p>
            <a:r>
              <a:rPr lang="fr-FR" dirty="0"/>
              <a:t>val ds5 = </a:t>
            </a:r>
            <a:r>
              <a:rPr lang="fr-FR" dirty="0" err="1"/>
              <a:t>dataframe.filter</a:t>
            </a:r>
            <a:r>
              <a:rPr lang="fr-FR" dirty="0"/>
              <a:t>(  </a:t>
            </a:r>
            <a:r>
              <a:rPr lang="fr-FR" dirty="0" err="1"/>
              <a:t>dataframe.col</a:t>
            </a:r>
            <a:r>
              <a:rPr lang="fr-FR" dirty="0"/>
              <a:t>("value") &gt; 100 )</a:t>
            </a:r>
          </a:p>
          <a:p>
            <a:r>
              <a:rPr lang="fr-FR" dirty="0"/>
              <a:t>val ds5 = </a:t>
            </a:r>
            <a:r>
              <a:rPr lang="fr-FR" dirty="0" err="1"/>
              <a:t>dataframe.filter</a:t>
            </a:r>
            <a:r>
              <a:rPr lang="fr-FR" dirty="0"/>
              <a:t>( col("value") &gt; 100 )</a:t>
            </a:r>
          </a:p>
          <a:p>
            <a:r>
              <a:rPr lang="fr-FR" dirty="0"/>
              <a:t>val ds5 = </a:t>
            </a:r>
            <a:r>
              <a:rPr lang="fr-FR" dirty="0" err="1"/>
              <a:t>dataframe.filter</a:t>
            </a:r>
            <a:r>
              <a:rPr lang="fr-FR" dirty="0"/>
              <a:t>( $"value" &gt; 100 )</a:t>
            </a:r>
          </a:p>
        </p:txBody>
      </p:sp>
    </p:spTree>
    <p:extLst>
      <p:ext uri="{BB962C8B-B14F-4D97-AF65-F5344CB8AC3E}">
        <p14:creationId xmlns:p14="http://schemas.microsoft.com/office/powerpoint/2010/main" val="14954536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43AA6-5925-0B93-9EBC-F1B638587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786" y="160713"/>
            <a:ext cx="10515600" cy="1003502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0EB516-6F25-E936-6433-16358DC578A3}"/>
              </a:ext>
            </a:extLst>
          </p:cNvPr>
          <p:cNvSpPr txBox="1"/>
          <p:nvPr/>
        </p:nvSpPr>
        <p:spPr>
          <a:xfrm>
            <a:off x="3358342" y="2937164"/>
            <a:ext cx="46293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Filter</a:t>
            </a:r>
            <a:r>
              <a:rPr lang="fr-FR" sz="2400" dirty="0"/>
              <a:t> </a:t>
            </a:r>
            <a:r>
              <a:rPr lang="fr-FR" sz="2400" dirty="0" err="1"/>
              <a:t>rows</a:t>
            </a:r>
            <a:r>
              <a:rPr lang="fr-FR" sz="2400" dirty="0"/>
              <a:t> </a:t>
            </a:r>
            <a:r>
              <a:rPr lang="fr-FR" sz="2400" dirty="0" err="1"/>
              <a:t>where</a:t>
            </a:r>
            <a:r>
              <a:rPr lang="fr-FR" sz="2400" dirty="0"/>
              <a:t> </a:t>
            </a:r>
          </a:p>
          <a:p>
            <a:r>
              <a:rPr lang="fr-FR" sz="2400" dirty="0"/>
              <a:t>       « id » </a:t>
            </a:r>
            <a:r>
              <a:rPr lang="fr-FR" sz="2400" dirty="0" err="1"/>
              <a:t>is</a:t>
            </a:r>
            <a:r>
              <a:rPr lang="fr-FR" sz="2400" dirty="0"/>
              <a:t> « &gt;= 100 »</a:t>
            </a:r>
            <a:br>
              <a:rPr lang="fr-FR" sz="2400" dirty="0"/>
            </a:br>
            <a:r>
              <a:rPr lang="fr-FR" sz="2400" dirty="0"/>
              <a:t>AND </a:t>
            </a:r>
          </a:p>
          <a:p>
            <a:r>
              <a:rPr lang="fr-FR" sz="2400" dirty="0"/>
              <a:t>      «</a:t>
            </a:r>
            <a:r>
              <a:rPr lang="fr-FR" sz="2400" dirty="0" err="1"/>
              <a:t>text</a:t>
            </a:r>
            <a:r>
              <a:rPr lang="fr-FR" sz="2400" dirty="0"/>
              <a:t> » </a:t>
            </a:r>
            <a:r>
              <a:rPr lang="fr-FR" sz="2400" dirty="0" err="1"/>
              <a:t>contains</a:t>
            </a:r>
            <a:r>
              <a:rPr lang="fr-FR" sz="2400" dirty="0"/>
              <a:t> </a:t>
            </a:r>
            <a:r>
              <a:rPr lang="fr-FR" sz="2400" dirty="0" err="1"/>
              <a:t>substring</a:t>
            </a:r>
            <a:r>
              <a:rPr lang="fr-FR" sz="2400" dirty="0"/>
              <a:t> « 12 »</a:t>
            </a:r>
          </a:p>
        </p:txBody>
      </p:sp>
    </p:spTree>
    <p:extLst>
      <p:ext uri="{BB962C8B-B14F-4D97-AF65-F5344CB8AC3E}">
        <p14:creationId xmlns:p14="http://schemas.microsoft.com/office/powerpoint/2010/main" val="18743875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3C91F-C8A0-ACAD-F998-19D3012E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433DB-490F-F4DF-8E28-B3FC6BD32CDF}"/>
              </a:ext>
            </a:extLst>
          </p:cNvPr>
          <p:cNvSpPr txBox="1"/>
          <p:nvPr/>
        </p:nvSpPr>
        <p:spPr>
          <a:xfrm>
            <a:off x="2412844" y="2767280"/>
            <a:ext cx="73663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Spark as </a:t>
            </a:r>
            <a:r>
              <a:rPr lang="fr-FR" sz="2000" dirty="0" err="1"/>
              <a:t>overriden</a:t>
            </a:r>
            <a:r>
              <a:rPr lang="fr-FR" sz="2000" dirty="0"/>
              <a:t> </a:t>
            </a:r>
            <a:r>
              <a:rPr lang="fr-FR" sz="2000" dirty="0" err="1"/>
              <a:t>most</a:t>
            </a:r>
            <a:r>
              <a:rPr lang="fr-FR" sz="2000" dirty="0"/>
              <a:t> of the </a:t>
            </a:r>
            <a:r>
              <a:rPr lang="fr-FR" sz="2000" dirty="0" err="1"/>
              <a:t>natural</a:t>
            </a:r>
            <a:r>
              <a:rPr lang="fr-FR" sz="2000" dirty="0"/>
              <a:t> </a:t>
            </a:r>
            <a:r>
              <a:rPr lang="fr-FR" sz="2000" dirty="0" err="1"/>
              <a:t>operators</a:t>
            </a:r>
            <a:r>
              <a:rPr lang="fr-FR" sz="2000" dirty="0"/>
              <a:t> on class « </a:t>
            </a:r>
            <a:r>
              <a:rPr lang="fr-FR" sz="2000" dirty="0" err="1"/>
              <a:t>Column</a:t>
            </a:r>
            <a:r>
              <a:rPr lang="fr-FR" sz="2000" dirty="0"/>
              <a:t> »</a:t>
            </a:r>
          </a:p>
          <a:p>
            <a:r>
              <a:rPr lang="fr-FR" sz="2000" dirty="0" err="1"/>
              <a:t>Including</a:t>
            </a:r>
            <a:r>
              <a:rPr lang="fr-FR" sz="2000" dirty="0"/>
              <a:t> &gt;=,  &amp;&amp;,  ||, !, </a:t>
            </a:r>
            <a:r>
              <a:rPr lang="fr-FR" sz="2000" dirty="0" err="1"/>
              <a:t>contains</a:t>
            </a:r>
            <a:r>
              <a:rPr lang="fr-FR" sz="2000" dirty="0"/>
              <a:t>, …</a:t>
            </a:r>
          </a:p>
          <a:p>
            <a:endParaRPr lang="fr-FR" sz="2000" dirty="0"/>
          </a:p>
          <a:p>
            <a:r>
              <a:rPr lang="fr-FR" sz="2000" dirty="0"/>
              <a:t>You can </a:t>
            </a:r>
            <a:r>
              <a:rPr lang="fr-FR" sz="2000" dirty="0" err="1"/>
              <a:t>manipulate</a:t>
            </a:r>
            <a:r>
              <a:rPr lang="fr-FR" sz="2000" dirty="0"/>
              <a:t> </a:t>
            </a:r>
            <a:r>
              <a:rPr lang="fr-FR" sz="2000" dirty="0" err="1"/>
              <a:t>columns</a:t>
            </a:r>
            <a:r>
              <a:rPr lang="fr-FR" sz="2000" dirty="0"/>
              <a:t> </a:t>
            </a:r>
            <a:r>
              <a:rPr lang="fr-FR" sz="2000" dirty="0" err="1"/>
              <a:t>objects</a:t>
            </a:r>
            <a:r>
              <a:rPr lang="fr-FR" sz="2000" dirty="0"/>
              <a:t> </a:t>
            </a:r>
            <a:r>
              <a:rPr lang="fr-FR" sz="2000" dirty="0" err="1"/>
              <a:t>almost</a:t>
            </a:r>
            <a:r>
              <a:rPr lang="fr-FR" sz="2000" dirty="0"/>
              <a:t> as values in scala</a:t>
            </a:r>
          </a:p>
        </p:txBody>
      </p:sp>
    </p:spTree>
    <p:extLst>
      <p:ext uri="{BB962C8B-B14F-4D97-AF65-F5344CB8AC3E}">
        <p14:creationId xmlns:p14="http://schemas.microsoft.com/office/powerpoint/2010/main" val="398987945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43AA6-5925-0B93-9EBC-F1B638587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786" y="160713"/>
            <a:ext cx="10515600" cy="1003502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C8168B-06DD-621F-80D2-09ADCF345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396" y="1938118"/>
            <a:ext cx="9179636" cy="356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3693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1226A-FA7C-8F36-DA8E-CD5529E37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Alternative </a:t>
            </a:r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55B115-0BD2-A245-C2E2-870098AC8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030" y="1792473"/>
            <a:ext cx="9165939" cy="349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5735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43AA6-5925-0B93-9EBC-F1B638587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786" y="160713"/>
            <a:ext cx="10515600" cy="1003502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61D872-6E37-B8C3-757A-D6497BDC44C6}"/>
              </a:ext>
            </a:extLst>
          </p:cNvPr>
          <p:cNvSpPr txBox="1"/>
          <p:nvPr/>
        </p:nvSpPr>
        <p:spPr>
          <a:xfrm>
            <a:off x="3267373" y="2842953"/>
            <a:ext cx="6760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Redo</a:t>
            </a:r>
            <a:r>
              <a:rPr lang="fr-FR" sz="2400" dirty="0"/>
              <a:t> </a:t>
            </a:r>
            <a:r>
              <a:rPr lang="fr-FR" sz="2400" dirty="0" err="1"/>
              <a:t>exercise</a:t>
            </a:r>
            <a:r>
              <a:rPr lang="fr-FR" sz="2400" dirty="0"/>
              <a:t> 7,8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dirty="0" err="1"/>
              <a:t>filter</a:t>
            </a:r>
            <a:r>
              <a:rPr lang="fr-FR" sz="2400" dirty="0"/>
              <a:t> by  SQL </a:t>
            </a:r>
            <a:r>
              <a:rPr lang="fr-FR" sz="2400" dirty="0" err="1"/>
              <a:t>text</a:t>
            </a:r>
            <a:r>
              <a:rPr lang="fr-FR" sz="2400" dirty="0"/>
              <a:t> expression</a:t>
            </a:r>
          </a:p>
        </p:txBody>
      </p:sp>
    </p:spTree>
    <p:extLst>
      <p:ext uri="{BB962C8B-B14F-4D97-AF65-F5344CB8AC3E}">
        <p14:creationId xmlns:p14="http://schemas.microsoft.com/office/powerpoint/2010/main" val="45508596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43AA6-5925-0B93-9EBC-F1B638587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786" y="160713"/>
            <a:ext cx="10515600" cy="1003502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DAEE54-B165-35F5-9399-E9ABC3362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281" y="1839560"/>
            <a:ext cx="9582130" cy="418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64958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9C8B7-E5FB-8E61-CCE9-03F9644D8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644DFA-9C65-035B-0833-9CB7F7141D50}"/>
              </a:ext>
            </a:extLst>
          </p:cNvPr>
          <p:cNvSpPr txBox="1"/>
          <p:nvPr/>
        </p:nvSpPr>
        <p:spPr>
          <a:xfrm>
            <a:off x="1773381" y="2964872"/>
            <a:ext cx="986154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Same</a:t>
            </a:r>
            <a:r>
              <a:rPr lang="fr-FR" sz="2400" dirty="0"/>
              <a:t> as </a:t>
            </a:r>
            <a:r>
              <a:rPr lang="fr-FR" sz="2400" dirty="0" err="1"/>
              <a:t>exercise</a:t>
            </a:r>
            <a:r>
              <a:rPr lang="fr-FR" sz="2400" dirty="0"/>
              <a:t> 7,8,9…  but </a:t>
            </a:r>
            <a:r>
              <a:rPr lang="fr-FR" sz="2400" dirty="0" err="1"/>
              <a:t>using</a:t>
            </a:r>
            <a:r>
              <a:rPr lang="fr-FR" sz="2400" dirty="0"/>
              <a:t> « .</a:t>
            </a:r>
            <a:r>
              <a:rPr lang="fr-FR" sz="2400" dirty="0" err="1"/>
              <a:t>filter</a:t>
            </a:r>
            <a:r>
              <a:rPr lang="fr-FR" sz="2400" dirty="0"/>
              <a:t>(</a:t>
            </a:r>
            <a:r>
              <a:rPr lang="fr-FR" sz="2400" dirty="0" err="1"/>
              <a:t>row</a:t>
            </a:r>
            <a:r>
              <a:rPr lang="fr-FR" sz="2400" dirty="0"/>
              <a:t> =&gt; …) »</a:t>
            </a:r>
          </a:p>
          <a:p>
            <a:r>
              <a:rPr lang="fr-FR" sz="2400" dirty="0"/>
              <a:t>   i.e.  </a:t>
            </a:r>
            <a:r>
              <a:rPr lang="fr-FR" sz="2400" dirty="0" err="1"/>
              <a:t>Filter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lambda </a:t>
            </a:r>
            <a:r>
              <a:rPr lang="fr-FR" sz="2400" dirty="0" err="1"/>
              <a:t>function</a:t>
            </a:r>
            <a:r>
              <a:rPr lang="fr-FR" sz="2400" dirty="0"/>
              <a:t> on </a:t>
            </a:r>
            <a:r>
              <a:rPr lang="fr-FR" sz="2400" dirty="0" err="1"/>
              <a:t>row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Use </a:t>
            </a:r>
            <a:r>
              <a:rPr lang="fr-FR" sz="2400" dirty="0" err="1"/>
              <a:t>getAs</a:t>
            </a:r>
            <a:r>
              <a:rPr lang="fr-FR" sz="2400" dirty="0"/>
              <a:t>[Type](« </a:t>
            </a:r>
            <a:r>
              <a:rPr lang="fr-FR" sz="2400" dirty="0" err="1"/>
              <a:t>columnName</a:t>
            </a:r>
            <a:r>
              <a:rPr lang="fr-FR" sz="2400" dirty="0"/>
              <a:t> »)   to </a:t>
            </a:r>
            <a:r>
              <a:rPr lang="fr-FR" sz="2400" dirty="0" err="1"/>
              <a:t>extract</a:t>
            </a:r>
            <a:r>
              <a:rPr lang="fr-FR" sz="2400" dirty="0"/>
              <a:t> the value of a </a:t>
            </a:r>
            <a:r>
              <a:rPr lang="fr-FR" sz="2400" dirty="0" err="1"/>
              <a:t>column</a:t>
            </a:r>
            <a:r>
              <a:rPr lang="fr-FR" sz="2400" dirty="0"/>
              <a:t>, and </a:t>
            </a:r>
            <a:r>
              <a:rPr lang="fr-FR" sz="2400" dirty="0" err="1"/>
              <a:t>cast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16114429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B89A5-9501-0952-3027-7D4FBDC5A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FAB925-1FF4-1F50-A86E-C08C95538A47}"/>
              </a:ext>
            </a:extLst>
          </p:cNvPr>
          <p:cNvSpPr txBox="1"/>
          <p:nvPr/>
        </p:nvSpPr>
        <p:spPr>
          <a:xfrm>
            <a:off x="2056015" y="3197629"/>
            <a:ext cx="783810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Method signature </a:t>
            </a:r>
            <a:r>
              <a:rPr lang="fr-FR" dirty="0" err="1"/>
              <a:t>is</a:t>
            </a:r>
            <a:r>
              <a:rPr lang="fr-FR" dirty="0"/>
              <a:t> </a:t>
            </a:r>
          </a:p>
          <a:p>
            <a:r>
              <a:rPr lang="fr-FR" dirty="0"/>
              <a:t>.</a:t>
            </a:r>
            <a:r>
              <a:rPr lang="fr-FR" dirty="0" err="1"/>
              <a:t>filter</a:t>
            </a:r>
            <a:r>
              <a:rPr lang="fr-FR" dirty="0"/>
              <a:t>( (</a:t>
            </a:r>
            <a:r>
              <a:rPr lang="fr-FR" dirty="0" err="1"/>
              <a:t>or.apache.spark.sql.Row</a:t>
            </a:r>
            <a:r>
              <a:rPr lang="fr-FR" dirty="0"/>
              <a:t> </a:t>
            </a:r>
            <a:r>
              <a:rPr lang="fr-FR" dirty="0" err="1"/>
              <a:t>row</a:t>
            </a:r>
            <a:r>
              <a:rPr lang="fr-FR" dirty="0"/>
              <a:t>) =&gt; </a:t>
            </a:r>
            <a:r>
              <a:rPr lang="fr-FR" dirty="0" err="1"/>
              <a:t>boolean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fr-FR" dirty="0"/>
              <a:t>You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extract</a:t>
            </a:r>
            <a:r>
              <a:rPr lang="fr-FR" dirty="0"/>
              <a:t> </a:t>
            </a:r>
            <a:r>
              <a:rPr lang="fr-FR" dirty="0" err="1"/>
              <a:t>column</a:t>
            </a:r>
            <a:r>
              <a:rPr lang="fr-FR" dirty="0"/>
              <a:t> value for </a:t>
            </a:r>
            <a:r>
              <a:rPr lang="fr-FR" dirty="0" err="1"/>
              <a:t>object</a:t>
            </a:r>
            <a:r>
              <a:rPr lang="fr-FR" dirty="0"/>
              <a:t> « Row », and </a:t>
            </a:r>
            <a:r>
              <a:rPr lang="fr-FR" dirty="0" err="1"/>
              <a:t>interpret</a:t>
            </a:r>
            <a:r>
              <a:rPr lang="fr-FR" dirty="0"/>
              <a:t> as Int or String</a:t>
            </a:r>
          </a:p>
          <a:p>
            <a:endParaRPr lang="fr-FR" dirty="0"/>
          </a:p>
          <a:p>
            <a:r>
              <a:rPr lang="fr-FR" dirty="0"/>
              <a:t>for </a:t>
            </a:r>
            <a:r>
              <a:rPr lang="fr-FR" dirty="0" err="1"/>
              <a:t>column</a:t>
            </a:r>
            <a:r>
              <a:rPr lang="fr-FR" dirty="0"/>
              <a:t> « id » as Int … use  « </a:t>
            </a:r>
            <a:r>
              <a:rPr lang="fr-FR" dirty="0" err="1"/>
              <a:t>row.getAs</a:t>
            </a:r>
            <a:r>
              <a:rPr lang="fr-FR" dirty="0"/>
              <a:t>[Int]("id") »</a:t>
            </a:r>
          </a:p>
          <a:p>
            <a:r>
              <a:rPr lang="fr-FR" dirty="0"/>
              <a:t>For </a:t>
            </a:r>
            <a:r>
              <a:rPr lang="fr-FR" dirty="0" err="1"/>
              <a:t>column</a:t>
            </a:r>
            <a:r>
              <a:rPr lang="fr-FR" dirty="0"/>
              <a:t> « </a:t>
            </a:r>
            <a:r>
              <a:rPr lang="fr-FR" dirty="0" err="1"/>
              <a:t>text</a:t>
            </a:r>
            <a:r>
              <a:rPr lang="fr-FR" dirty="0"/>
              <a:t> » as String  … use « </a:t>
            </a:r>
            <a:r>
              <a:rPr lang="fr-FR" dirty="0" err="1"/>
              <a:t>row.getAs</a:t>
            </a:r>
            <a:r>
              <a:rPr lang="fr-FR" dirty="0"/>
              <a:t>[String](« </a:t>
            </a:r>
            <a:r>
              <a:rPr lang="fr-FR" dirty="0" err="1"/>
              <a:t>text</a:t>
            </a:r>
            <a:r>
              <a:rPr lang="fr-FR" dirty="0"/>
              <a:t>") »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1568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12A70-2920-15BD-2D20-C3852BB9D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3AD02-7FCF-9130-FE4F-C4BCC9DDD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57" y="1928229"/>
            <a:ext cx="10667395" cy="430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515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5F4D5-0640-7F14-16CC-551E25AFA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306"/>
            <a:ext cx="10515600" cy="103754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11 : </a:t>
            </a:r>
            <a:r>
              <a:rPr lang="fr-FR" dirty="0" err="1"/>
              <a:t>same</a:t>
            </a:r>
            <a:r>
              <a:rPr lang="fr-FR" dirty="0"/>
              <a:t> as </a:t>
            </a:r>
            <a:r>
              <a:rPr lang="fr-FR" dirty="0" err="1"/>
              <a:t>exercise</a:t>
            </a:r>
            <a:r>
              <a:rPr lang="fr-FR" dirty="0"/>
              <a:t> 1 (on Tuple), </a:t>
            </a:r>
            <a:br>
              <a:rPr lang="fr-FR" dirty="0"/>
            </a:br>
            <a:r>
              <a:rPr lang="fr-FR" dirty="0"/>
              <a:t>but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custom « case-class 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55D36F-1ADE-0F5B-E6A4-9E44A66C763D}"/>
              </a:ext>
            </a:extLst>
          </p:cNvPr>
          <p:cNvSpPr txBox="1"/>
          <p:nvPr/>
        </p:nvSpPr>
        <p:spPr>
          <a:xfrm>
            <a:off x="2978459" y="2219418"/>
            <a:ext cx="663079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Declare</a:t>
            </a:r>
            <a:r>
              <a:rPr lang="fr-FR" dirty="0"/>
              <a:t> a scala case-class   (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named</a:t>
            </a:r>
            <a:r>
              <a:rPr lang="fr-FR" dirty="0"/>
              <a:t> Bean, POJO or Record in java)</a:t>
            </a:r>
          </a:p>
          <a:p>
            <a:r>
              <a:rPr lang="fr-FR" dirty="0"/>
              <a:t>To replace the Tuple «  (</a:t>
            </a:r>
            <a:r>
              <a:rPr lang="fr-FR" dirty="0" err="1"/>
              <a:t>Int,boolean,String</a:t>
            </a:r>
            <a:r>
              <a:rPr lang="fr-FR" dirty="0"/>
              <a:t>) » of </a:t>
            </a:r>
            <a:r>
              <a:rPr lang="fr-FR" dirty="0" err="1"/>
              <a:t>exercise</a:t>
            </a:r>
            <a:r>
              <a:rPr lang="fr-FR" dirty="0"/>
              <a:t> 1</a:t>
            </a:r>
          </a:p>
          <a:p>
            <a:endParaRPr lang="fr-FR" dirty="0"/>
          </a:p>
          <a:p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equivalent</a:t>
            </a:r>
            <a:r>
              <a:rPr lang="fr-FR" dirty="0"/>
              <a:t> to java class:</a:t>
            </a:r>
          </a:p>
          <a:p>
            <a:br>
              <a:rPr lang="fr-FR" dirty="0"/>
            </a:br>
            <a:r>
              <a:rPr lang="fr-FR" dirty="0"/>
              <a:t>public class </a:t>
            </a:r>
            <a:r>
              <a:rPr lang="fr-FR" dirty="0" err="1"/>
              <a:t>CustomBean</a:t>
            </a:r>
            <a:r>
              <a:rPr lang="fr-FR" dirty="0"/>
              <a:t> {</a:t>
            </a:r>
          </a:p>
          <a:p>
            <a:r>
              <a:rPr lang="fr-FR" dirty="0"/>
              <a:t>    public </a:t>
            </a:r>
            <a:r>
              <a:rPr lang="fr-FR" dirty="0" err="1"/>
              <a:t>int</a:t>
            </a:r>
            <a:r>
              <a:rPr lang="fr-FR" dirty="0"/>
              <a:t> id;</a:t>
            </a:r>
          </a:p>
          <a:p>
            <a:r>
              <a:rPr lang="fr-FR" dirty="0"/>
              <a:t>    public </a:t>
            </a:r>
            <a:r>
              <a:rPr lang="fr-FR" dirty="0" err="1"/>
              <a:t>boolean</a:t>
            </a:r>
            <a:r>
              <a:rPr lang="fr-FR" dirty="0"/>
              <a:t> </a:t>
            </a:r>
            <a:r>
              <a:rPr lang="fr-FR" dirty="0" err="1"/>
              <a:t>even</a:t>
            </a:r>
            <a:r>
              <a:rPr lang="fr-FR" dirty="0"/>
              <a:t>;</a:t>
            </a:r>
          </a:p>
          <a:p>
            <a:r>
              <a:rPr lang="fr-FR" dirty="0"/>
              <a:t>    public String </a:t>
            </a:r>
            <a:r>
              <a:rPr lang="fr-FR" dirty="0" err="1"/>
              <a:t>text</a:t>
            </a:r>
            <a:r>
              <a:rPr lang="fr-FR" dirty="0"/>
              <a:t>;</a:t>
            </a:r>
            <a:br>
              <a:rPr lang="fr-FR" dirty="0"/>
            </a:br>
            <a:br>
              <a:rPr lang="fr-FR" dirty="0"/>
            </a:br>
            <a:r>
              <a:rPr lang="fr-FR" dirty="0"/>
              <a:t>    public </a:t>
            </a:r>
            <a:r>
              <a:rPr lang="fr-FR" dirty="0" err="1"/>
              <a:t>CustomBean</a:t>
            </a:r>
            <a:r>
              <a:rPr lang="fr-FR" dirty="0"/>
              <a:t>(</a:t>
            </a:r>
            <a:r>
              <a:rPr lang="fr-FR" dirty="0" err="1"/>
              <a:t>int</a:t>
            </a:r>
            <a:r>
              <a:rPr lang="fr-FR" dirty="0"/>
              <a:t> id, </a:t>
            </a:r>
            <a:r>
              <a:rPr lang="fr-FR" dirty="0" err="1"/>
              <a:t>boolean</a:t>
            </a:r>
            <a:r>
              <a:rPr lang="fr-FR" dirty="0"/>
              <a:t> </a:t>
            </a:r>
            <a:r>
              <a:rPr lang="fr-FR" dirty="0" err="1"/>
              <a:t>even</a:t>
            </a:r>
            <a:r>
              <a:rPr lang="fr-FR" dirty="0"/>
              <a:t>, String </a:t>
            </a:r>
            <a:r>
              <a:rPr lang="fr-FR" dirty="0" err="1"/>
              <a:t>text</a:t>
            </a:r>
            <a:r>
              <a:rPr lang="fr-FR" dirty="0"/>
              <a:t>) {</a:t>
            </a:r>
          </a:p>
          <a:p>
            <a:r>
              <a:rPr lang="fr-FR" dirty="0"/>
              <a:t>       this.id = id;  </a:t>
            </a:r>
            <a:r>
              <a:rPr lang="fr-FR" dirty="0" err="1"/>
              <a:t>this.even</a:t>
            </a:r>
            <a:r>
              <a:rPr lang="fr-FR" dirty="0"/>
              <a:t> = </a:t>
            </a:r>
            <a:r>
              <a:rPr lang="fr-FR" dirty="0" err="1"/>
              <a:t>even</a:t>
            </a:r>
            <a:r>
              <a:rPr lang="fr-FR" dirty="0"/>
              <a:t>;   </a:t>
            </a:r>
            <a:r>
              <a:rPr lang="fr-FR" dirty="0" err="1"/>
              <a:t>this.text</a:t>
            </a:r>
            <a:r>
              <a:rPr lang="fr-FR" dirty="0"/>
              <a:t> = </a:t>
            </a:r>
            <a:r>
              <a:rPr lang="fr-FR" dirty="0" err="1"/>
              <a:t>text</a:t>
            </a:r>
            <a:r>
              <a:rPr lang="fr-FR" dirty="0"/>
              <a:t>;</a:t>
            </a:r>
          </a:p>
          <a:p>
            <a:r>
              <a:rPr lang="fr-FR" dirty="0"/>
              <a:t>   }</a:t>
            </a:r>
          </a:p>
          <a:p>
            <a:r>
              <a:rPr lang="fr-F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97665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6F7A9-8380-A507-6EE6-B9F446067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51"/>
            <a:ext cx="10515600" cy="899943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28E925-6E29-081D-C059-51B884667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05" y="2572904"/>
            <a:ext cx="11615516" cy="191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87661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3A549-2DF8-BC83-F47A-63A2A539F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12 : </a:t>
            </a:r>
            <a:r>
              <a:rPr lang="fr-FR" dirty="0" err="1"/>
              <a:t>Same</a:t>
            </a:r>
            <a:r>
              <a:rPr lang="fr-FR" dirty="0"/>
              <a:t> as </a:t>
            </a:r>
            <a:r>
              <a:rPr lang="fr-FR" dirty="0" err="1"/>
              <a:t>Exercise</a:t>
            </a:r>
            <a:r>
              <a:rPr lang="fr-FR" dirty="0"/>
              <a:t> 5,6,7,8,9 ..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CaseClass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31BB77-76C7-A94A-AEFA-F37FADF99D8C}"/>
              </a:ext>
            </a:extLst>
          </p:cNvPr>
          <p:cNvSpPr txBox="1"/>
          <p:nvPr/>
        </p:nvSpPr>
        <p:spPr>
          <a:xfrm>
            <a:off x="2641107" y="3067235"/>
            <a:ext cx="752423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a/  </a:t>
            </a:r>
            <a:r>
              <a:rPr lang="fr-FR" dirty="0" err="1"/>
              <a:t>create</a:t>
            </a:r>
            <a:r>
              <a:rPr lang="fr-FR" dirty="0"/>
              <a:t> a List of 100 000 </a:t>
            </a:r>
            <a:r>
              <a:rPr lang="fr-FR" dirty="0" err="1"/>
              <a:t>CustomBean</a:t>
            </a:r>
            <a:r>
              <a:rPr lang="fr-FR" dirty="0"/>
              <a:t> </a:t>
            </a:r>
            <a:r>
              <a:rPr lang="fr-FR" dirty="0" err="1"/>
              <a:t>objects</a:t>
            </a:r>
            <a:r>
              <a:rPr lang="fr-FR" dirty="0"/>
              <a:t>, 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map</a:t>
            </a:r>
            <a:r>
              <a:rPr lang="fr-FR" dirty="0"/>
              <a:t> + lambda </a:t>
            </a:r>
            <a:r>
              <a:rPr lang="fr-FR" dirty="0" err="1"/>
              <a:t>function</a:t>
            </a:r>
            <a:br>
              <a:rPr lang="fr-FR" dirty="0"/>
            </a:br>
            <a:endParaRPr lang="fr-FR" dirty="0"/>
          </a:p>
          <a:p>
            <a:r>
              <a:rPr lang="fr-FR" dirty="0"/>
              <a:t>b/ </a:t>
            </a:r>
            <a:r>
              <a:rPr lang="fr-FR" dirty="0" err="1"/>
              <a:t>create</a:t>
            </a:r>
            <a:r>
              <a:rPr lang="fr-FR" dirty="0"/>
              <a:t> a </a:t>
            </a:r>
            <a:r>
              <a:rPr lang="fr-FR" dirty="0" err="1"/>
              <a:t>Dataset</a:t>
            </a:r>
            <a:r>
              <a:rPr lang="fr-FR" dirty="0"/>
              <a:t>[</a:t>
            </a:r>
            <a:r>
              <a:rPr lang="fr-FR" dirty="0" err="1"/>
              <a:t>CustomBean</a:t>
            </a:r>
            <a:r>
              <a:rPr lang="fr-FR" dirty="0"/>
              <a:t>] </a:t>
            </a:r>
            <a:r>
              <a:rPr lang="fr-FR" dirty="0" err="1"/>
              <a:t>with</a:t>
            </a:r>
            <a:r>
              <a:rPr lang="fr-FR" dirty="0"/>
              <a:t> 100 000 </a:t>
            </a:r>
            <a:r>
              <a:rPr lang="fr-FR" dirty="0" err="1"/>
              <a:t>rows</a:t>
            </a:r>
            <a:endParaRPr lang="fr-FR" dirty="0"/>
          </a:p>
          <a:p>
            <a:endParaRPr lang="fr-FR" dirty="0"/>
          </a:p>
          <a:p>
            <a:r>
              <a:rPr lang="fr-FR" dirty="0"/>
              <a:t>c/ display </a:t>
            </a:r>
            <a:r>
              <a:rPr lang="fr-FR" dirty="0" err="1"/>
              <a:t>results</a:t>
            </a:r>
            <a:r>
              <a:rPr lang="fr-FR" dirty="0"/>
              <a:t> :  show 10 </a:t>
            </a:r>
            <a:r>
              <a:rPr lang="fr-FR" dirty="0" err="1"/>
              <a:t>rows</a:t>
            </a:r>
            <a:r>
              <a:rPr lang="fr-FR" dirty="0"/>
              <a:t>, show </a:t>
            </a:r>
            <a:r>
              <a:rPr lang="fr-FR" dirty="0" err="1"/>
              <a:t>row</a:t>
            </a:r>
            <a:r>
              <a:rPr lang="fr-FR" dirty="0"/>
              <a:t> 0, show </a:t>
            </a:r>
            <a:r>
              <a:rPr lang="fr-FR" dirty="0" err="1"/>
              <a:t>individual</a:t>
            </a:r>
            <a:r>
              <a:rPr lang="fr-FR" dirty="0"/>
              <a:t> </a:t>
            </a:r>
            <a:r>
              <a:rPr lang="fr-FR" dirty="0" err="1"/>
              <a:t>fields</a:t>
            </a:r>
            <a:r>
              <a:rPr lang="fr-FR" dirty="0"/>
              <a:t> of </a:t>
            </a:r>
            <a:r>
              <a:rPr lang="fr-FR" dirty="0" err="1"/>
              <a:t>row</a:t>
            </a:r>
            <a:r>
              <a:rPr lang="fr-FR" dirty="0"/>
              <a:t> 0</a:t>
            </a:r>
          </a:p>
          <a:p>
            <a:endParaRPr lang="fr-FR" dirty="0"/>
          </a:p>
          <a:p>
            <a:r>
              <a:rPr lang="fr-FR" dirty="0"/>
              <a:t>d/ </a:t>
            </a:r>
            <a:r>
              <a:rPr lang="fr-FR" dirty="0" err="1"/>
              <a:t>filter</a:t>
            </a:r>
            <a:r>
              <a:rPr lang="fr-FR" dirty="0"/>
              <a:t> </a:t>
            </a:r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 « id &gt; 100 and </a:t>
            </a:r>
            <a:r>
              <a:rPr lang="fr-FR" dirty="0" err="1"/>
              <a:t>text</a:t>
            </a:r>
            <a:r>
              <a:rPr lang="fr-FR" dirty="0"/>
              <a:t> </a:t>
            </a:r>
            <a:r>
              <a:rPr lang="fr-FR" dirty="0" err="1"/>
              <a:t>contains</a:t>
            </a:r>
            <a:r>
              <a:rPr lang="fr-FR" dirty="0"/>
              <a:t> ’12’ 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4A9333-B258-C332-93D8-0D3C589EF155}"/>
              </a:ext>
            </a:extLst>
          </p:cNvPr>
          <p:cNvSpPr txBox="1"/>
          <p:nvPr/>
        </p:nvSpPr>
        <p:spPr>
          <a:xfrm>
            <a:off x="1500326" y="2206102"/>
            <a:ext cx="7678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linkClick r:id="rId2"/>
              </a:rPr>
              <a:t>https://spark.apache.org/docs/latest/sql-getting-started.html#creating-datasets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710091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59F1E-F919-37BE-FF47-4F57CAEC2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212"/>
            <a:ext cx="10515600" cy="806727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634E5-5169-BA17-06C2-04E1E8B7C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28" y="1119663"/>
            <a:ext cx="10560728" cy="495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1148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A1D8B-B98B-0FA3-D004-ADE28248D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13 : </a:t>
            </a:r>
            <a:r>
              <a:rPr lang="fr-FR" dirty="0" err="1"/>
              <a:t>convert</a:t>
            </a:r>
            <a:r>
              <a:rPr lang="fr-FR" dirty="0"/>
              <a:t> to </a:t>
            </a:r>
            <a:r>
              <a:rPr lang="fr-FR" dirty="0" err="1"/>
              <a:t>DataFrame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Dataframe</a:t>
            </a:r>
            <a:r>
              <a:rPr lang="fr-FR" dirty="0"/>
              <a:t> = </a:t>
            </a:r>
            <a:r>
              <a:rPr lang="fr-FR" dirty="0" err="1"/>
              <a:t>Dataset</a:t>
            </a:r>
            <a:r>
              <a:rPr lang="fr-FR" dirty="0"/>
              <a:t>&lt;Row&gt;)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85AE18-F403-4A3B-D2E7-6CD09C98378F}"/>
              </a:ext>
            </a:extLst>
          </p:cNvPr>
          <p:cNvSpPr txBox="1"/>
          <p:nvPr/>
        </p:nvSpPr>
        <p:spPr>
          <a:xfrm>
            <a:off x="2234212" y="3060577"/>
            <a:ext cx="856920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a/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was</a:t>
            </a:r>
            <a:r>
              <a:rPr lang="fr-FR" dirty="0"/>
              <a:t> the type of « </a:t>
            </a:r>
            <a:r>
              <a:rPr lang="fr-FR" dirty="0" err="1"/>
              <a:t>ds</a:t>
            </a:r>
            <a:r>
              <a:rPr lang="fr-FR" dirty="0"/>
              <a:t> »  (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5) ?</a:t>
            </a:r>
          </a:p>
          <a:p>
            <a:r>
              <a:rPr lang="fr-FR" dirty="0"/>
              <a:t>b/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type of « </a:t>
            </a:r>
            <a:r>
              <a:rPr lang="fr-FR" dirty="0" err="1"/>
              <a:t>dsFilter</a:t>
            </a:r>
            <a:r>
              <a:rPr lang="fr-FR" dirty="0"/>
              <a:t> »  (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8) ?</a:t>
            </a:r>
          </a:p>
          <a:p>
            <a:r>
              <a:rPr lang="fr-FR" dirty="0"/>
              <a:t>c/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type of « </a:t>
            </a:r>
            <a:r>
              <a:rPr lang="fr-FR" dirty="0" err="1"/>
              <a:t>beanDs</a:t>
            </a:r>
            <a:r>
              <a:rPr lang="fr-FR" dirty="0"/>
              <a:t> » (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12) ?</a:t>
            </a:r>
          </a:p>
          <a:p>
            <a:br>
              <a:rPr lang="fr-FR" dirty="0"/>
            </a:br>
            <a:r>
              <a:rPr lang="fr-FR" dirty="0"/>
              <a:t>d/ </a:t>
            </a:r>
            <a:r>
              <a:rPr lang="fr-FR" dirty="0" err="1"/>
              <a:t>Convert</a:t>
            </a:r>
            <a:r>
              <a:rPr lang="fr-FR" dirty="0"/>
              <a:t> a </a:t>
            </a:r>
            <a:r>
              <a:rPr lang="fr-FR" dirty="0" err="1"/>
              <a:t>Dataset</a:t>
            </a:r>
            <a:r>
              <a:rPr lang="fr-FR" dirty="0"/>
              <a:t> of tuple « </a:t>
            </a:r>
            <a:r>
              <a:rPr lang="fr-FR" dirty="0" err="1"/>
              <a:t>ds</a:t>
            </a:r>
            <a:r>
              <a:rPr lang="fr-FR" dirty="0"/>
              <a:t> » (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5)  to a </a:t>
            </a:r>
            <a:r>
              <a:rPr lang="fr-FR" dirty="0" err="1"/>
              <a:t>spark</a:t>
            </a:r>
            <a:r>
              <a:rPr lang="fr-FR" dirty="0"/>
              <a:t> </a:t>
            </a:r>
            <a:r>
              <a:rPr lang="fr-FR" dirty="0" err="1"/>
              <a:t>DataFrame</a:t>
            </a:r>
            <a:r>
              <a:rPr lang="fr-FR" dirty="0"/>
              <a:t> </a:t>
            </a:r>
          </a:p>
          <a:p>
            <a:r>
              <a:rPr lang="fr-FR" dirty="0"/>
              <a:t>e/ </a:t>
            </a:r>
            <a:r>
              <a:rPr lang="fr-FR" dirty="0" err="1"/>
              <a:t>Convert</a:t>
            </a:r>
            <a:r>
              <a:rPr lang="fr-FR" dirty="0"/>
              <a:t> a </a:t>
            </a:r>
            <a:r>
              <a:rPr lang="fr-FR" dirty="0" err="1"/>
              <a:t>Dataset</a:t>
            </a:r>
            <a:r>
              <a:rPr lang="fr-FR" dirty="0"/>
              <a:t> of custom Bean « </a:t>
            </a:r>
            <a:r>
              <a:rPr lang="fr-FR" dirty="0" err="1"/>
              <a:t>beanDs</a:t>
            </a:r>
            <a:r>
              <a:rPr lang="fr-FR" dirty="0"/>
              <a:t> » (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12)  to a </a:t>
            </a:r>
            <a:r>
              <a:rPr lang="fr-FR" dirty="0" err="1"/>
              <a:t>spark</a:t>
            </a:r>
            <a:r>
              <a:rPr lang="fr-FR" dirty="0"/>
              <a:t> </a:t>
            </a:r>
            <a:r>
              <a:rPr lang="fr-FR" dirty="0" err="1"/>
              <a:t>DataFrame</a:t>
            </a:r>
            <a:r>
              <a:rPr lang="fr-FR" dirty="0"/>
              <a:t>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360100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C9702-2305-3047-88B0-038EF0332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934" y="26359"/>
            <a:ext cx="10515600" cy="977909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74E429-C493-7BEC-BFB3-95F44DB2B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790" y="1730183"/>
            <a:ext cx="7449196" cy="8763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D5811D-9AFE-5F85-9F9C-B743A8E73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790" y="3658142"/>
            <a:ext cx="7792125" cy="4381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0894E0-44F8-20F4-29B9-D851BDE5D7CC}"/>
              </a:ext>
            </a:extLst>
          </p:cNvPr>
          <p:cNvSpPr txBox="1"/>
          <p:nvPr/>
        </p:nvSpPr>
        <p:spPr>
          <a:xfrm>
            <a:off x="2374360" y="3184832"/>
            <a:ext cx="7833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After</a:t>
            </a:r>
            <a:r>
              <a:rPr lang="fr-FR" dirty="0"/>
              <a:t> a </a:t>
            </a:r>
            <a:r>
              <a:rPr lang="fr-FR" dirty="0" err="1"/>
              <a:t>filter</a:t>
            </a:r>
            <a:r>
              <a:rPr lang="fr-FR" dirty="0"/>
              <a:t>() </a:t>
            </a:r>
            <a:r>
              <a:rPr lang="fr-FR" dirty="0" err="1"/>
              <a:t>operation</a:t>
            </a:r>
            <a:r>
              <a:rPr lang="fr-FR" dirty="0"/>
              <a:t>, Spark has </a:t>
            </a:r>
            <a:r>
              <a:rPr lang="fr-FR" dirty="0" err="1"/>
              <a:t>already</a:t>
            </a:r>
            <a:r>
              <a:rPr lang="fr-FR" dirty="0"/>
              <a:t> </a:t>
            </a:r>
            <a:r>
              <a:rPr lang="fr-FR" dirty="0" err="1"/>
              <a:t>enterred</a:t>
            </a:r>
            <a:r>
              <a:rPr lang="fr-FR" dirty="0"/>
              <a:t> the </a:t>
            </a:r>
            <a:r>
              <a:rPr lang="fr-FR" dirty="0" err="1"/>
              <a:t>magic</a:t>
            </a:r>
            <a:r>
              <a:rPr lang="fr-FR" dirty="0"/>
              <a:t> </a:t>
            </a:r>
            <a:r>
              <a:rPr lang="fr-FR" dirty="0" err="1"/>
              <a:t>DataFrame</a:t>
            </a:r>
            <a:r>
              <a:rPr lang="fr-FR" dirty="0"/>
              <a:t> world 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23165E-D843-E833-F3F8-22EB1AF9F7F3}"/>
              </a:ext>
            </a:extLst>
          </p:cNvPr>
          <p:cNvSpPr txBox="1"/>
          <p:nvPr/>
        </p:nvSpPr>
        <p:spPr>
          <a:xfrm>
            <a:off x="2374360" y="1274434"/>
            <a:ext cx="230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Type, </a:t>
            </a:r>
            <a:r>
              <a:rPr lang="fr-FR" dirty="0" err="1"/>
              <a:t>then</a:t>
            </a:r>
            <a:r>
              <a:rPr lang="fr-FR" dirty="0"/>
              <a:t> conversion: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7D967D-6A92-3386-048E-5CE24D7E9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5790" y="5277994"/>
            <a:ext cx="6668078" cy="8649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462F9C-E6BE-5331-D622-08EEF342366E}"/>
              </a:ext>
            </a:extLst>
          </p:cNvPr>
          <p:cNvSpPr txBox="1"/>
          <p:nvPr/>
        </p:nvSpPr>
        <p:spPr>
          <a:xfrm>
            <a:off x="2395074" y="4735828"/>
            <a:ext cx="6505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Converting</a:t>
            </a:r>
            <a:r>
              <a:rPr lang="fr-FR" dirty="0"/>
              <a:t> </a:t>
            </a:r>
            <a:r>
              <a:rPr lang="fr-FR" dirty="0" err="1"/>
              <a:t>CustomBean</a:t>
            </a:r>
            <a:r>
              <a:rPr lang="fr-FR" dirty="0"/>
              <a:t>-&gt;</a:t>
            </a:r>
            <a:r>
              <a:rPr lang="fr-FR" dirty="0" err="1"/>
              <a:t>DataFrame</a:t>
            </a:r>
            <a:r>
              <a:rPr lang="fr-FR" dirty="0"/>
              <a:t>… </a:t>
            </a:r>
            <a:r>
              <a:rPr lang="fr-FR" dirty="0" err="1"/>
              <a:t>same</a:t>
            </a:r>
            <a:r>
              <a:rPr lang="fr-FR" dirty="0"/>
              <a:t> as Tuple -&gt; </a:t>
            </a:r>
            <a:r>
              <a:rPr lang="fr-FR" dirty="0" err="1"/>
              <a:t>DataFrame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219999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A1D8B-B98B-0FA3-D004-ADE28248D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14 : Question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5B8791-3DAB-3646-AA25-F78E52B0B6DB}"/>
              </a:ext>
            </a:extLst>
          </p:cNvPr>
          <p:cNvSpPr txBox="1"/>
          <p:nvPr/>
        </p:nvSpPr>
        <p:spPr>
          <a:xfrm>
            <a:off x="1731144" y="2210541"/>
            <a:ext cx="944149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understand</a:t>
            </a:r>
            <a:r>
              <a:rPr lang="fr-FR" dirty="0"/>
              <a:t> the in-memory </a:t>
            </a:r>
            <a:r>
              <a:rPr lang="fr-FR" dirty="0" err="1"/>
              <a:t>difference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?</a:t>
            </a:r>
            <a:br>
              <a:rPr lang="fr-FR" dirty="0"/>
            </a:br>
            <a:br>
              <a:rPr lang="fr-FR" dirty="0"/>
            </a:br>
            <a:r>
              <a:rPr lang="fr-FR" dirty="0"/>
              <a:t>a/ in memory scala collection of Tuple:   Set(  Tuple ( …)  )</a:t>
            </a:r>
            <a:br>
              <a:rPr lang="fr-FR" dirty="0"/>
            </a:br>
            <a:r>
              <a:rPr lang="fr-FR" dirty="0"/>
              <a:t>b/ </a:t>
            </a:r>
            <a:r>
              <a:rPr lang="fr-FR" dirty="0" err="1"/>
              <a:t>Dataset</a:t>
            </a:r>
            <a:r>
              <a:rPr lang="fr-FR" dirty="0"/>
              <a:t> on scala Tuple:   </a:t>
            </a:r>
            <a:r>
              <a:rPr lang="fr-FR" dirty="0" err="1"/>
              <a:t>Dataset</a:t>
            </a:r>
            <a:r>
              <a:rPr lang="fr-FR" dirty="0"/>
              <a:t>[ ( ..Tuple  ) ]</a:t>
            </a:r>
          </a:p>
          <a:p>
            <a:r>
              <a:rPr lang="fr-FR" dirty="0"/>
              <a:t>c/ </a:t>
            </a:r>
            <a:r>
              <a:rPr lang="fr-FR" dirty="0" err="1"/>
              <a:t>Dataset</a:t>
            </a:r>
            <a:r>
              <a:rPr lang="fr-FR" dirty="0"/>
              <a:t> on custom class  </a:t>
            </a:r>
            <a:r>
              <a:rPr lang="fr-FR" dirty="0" err="1"/>
              <a:t>Dataset</a:t>
            </a:r>
            <a:r>
              <a:rPr lang="fr-FR" dirty="0"/>
              <a:t>[ </a:t>
            </a:r>
            <a:r>
              <a:rPr lang="fr-FR" dirty="0" err="1"/>
              <a:t>YourCustomBean</a:t>
            </a:r>
            <a:r>
              <a:rPr lang="fr-FR" dirty="0"/>
              <a:t> ]</a:t>
            </a:r>
          </a:p>
          <a:p>
            <a:r>
              <a:rPr lang="fr-FR" dirty="0"/>
              <a:t>c/ </a:t>
            </a:r>
            <a:r>
              <a:rPr lang="fr-FR" dirty="0" err="1"/>
              <a:t>DataFrame</a:t>
            </a:r>
            <a:r>
              <a:rPr lang="fr-FR" dirty="0"/>
              <a:t> ….  </a:t>
            </a:r>
            <a:r>
              <a:rPr lang="fr-FR" dirty="0" err="1"/>
              <a:t>Dataset</a:t>
            </a:r>
            <a:r>
              <a:rPr lang="fr-FR" dirty="0"/>
              <a:t>[Row]   … </a:t>
            </a:r>
            <a:r>
              <a:rPr lang="fr-FR" dirty="0" err="1"/>
              <a:t>means</a:t>
            </a:r>
            <a:r>
              <a:rPr lang="fr-FR" dirty="0"/>
              <a:t> </a:t>
            </a:r>
            <a:r>
              <a:rPr lang="fr-FR" dirty="0" err="1"/>
              <a:t>YourCustomBean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preferred</a:t>
            </a:r>
            <a:r>
              <a:rPr lang="fr-FR" dirty="0"/>
              <a:t> </a:t>
            </a:r>
            <a:r>
              <a:rPr lang="fr-FR" dirty="0" err="1"/>
              <a:t>spark</a:t>
            </a:r>
            <a:r>
              <a:rPr lang="fr-FR" dirty="0"/>
              <a:t> one: « Row »</a:t>
            </a:r>
            <a:br>
              <a:rPr lang="fr-FR" dirty="0"/>
            </a:br>
            <a:br>
              <a:rPr lang="fr-FR" dirty="0"/>
            </a:br>
            <a:br>
              <a:rPr lang="fr-FR" dirty="0"/>
            </a:br>
            <a:r>
              <a:rPr lang="fr-FR" dirty="0" err="1"/>
              <a:t>What</a:t>
            </a:r>
            <a:r>
              <a:rPr lang="fr-FR" dirty="0"/>
              <a:t> do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think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most</a:t>
            </a:r>
            <a:r>
              <a:rPr lang="fr-FR" dirty="0"/>
              <a:t> efficient for </a:t>
            </a:r>
            <a:r>
              <a:rPr lang="fr-FR" dirty="0" err="1"/>
              <a:t>developping</a:t>
            </a:r>
            <a:r>
              <a:rPr lang="fr-FR" dirty="0"/>
              <a:t> type-</a:t>
            </a:r>
            <a:r>
              <a:rPr lang="fr-FR" dirty="0" err="1"/>
              <a:t>safe</a:t>
            </a:r>
            <a:r>
              <a:rPr lang="fr-FR" dirty="0"/>
              <a:t> code, and </a:t>
            </a:r>
            <a:r>
              <a:rPr lang="fr-FR" dirty="0" err="1"/>
              <a:t>internally</a:t>
            </a:r>
            <a:r>
              <a:rPr lang="fr-FR" dirty="0"/>
              <a:t> for Spark ?</a:t>
            </a:r>
          </a:p>
        </p:txBody>
      </p:sp>
    </p:spTree>
    <p:extLst>
      <p:ext uri="{BB962C8B-B14F-4D97-AF65-F5344CB8AC3E}">
        <p14:creationId xmlns:p14="http://schemas.microsoft.com/office/powerpoint/2010/main" val="44669033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B7C-AAB4-AF25-DD3A-D0D4E2425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406"/>
            <a:ext cx="10515600" cy="868871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A1B870-09B6-6BC5-84BF-3B9A6EA5ABB6}"/>
              </a:ext>
            </a:extLst>
          </p:cNvPr>
          <p:cNvSpPr txBox="1"/>
          <p:nvPr/>
        </p:nvSpPr>
        <p:spPr>
          <a:xfrm>
            <a:off x="1646808" y="2343705"/>
            <a:ext cx="855856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Scala collection are </a:t>
            </a:r>
            <a:r>
              <a:rPr lang="fr-FR" dirty="0" err="1"/>
              <a:t>only</a:t>
            </a:r>
            <a:r>
              <a:rPr lang="fr-FR" dirty="0"/>
              <a:t> on the Spark </a:t>
            </a:r>
            <a:r>
              <a:rPr lang="fr-FR" b="1" dirty="0"/>
              <a:t>driver </a:t>
            </a:r>
            <a:r>
              <a:rPr lang="fr-FR" dirty="0" err="1"/>
              <a:t>side</a:t>
            </a:r>
            <a:r>
              <a:rPr lang="fr-FR" dirty="0"/>
              <a:t>  </a:t>
            </a:r>
          </a:p>
          <a:p>
            <a:r>
              <a:rPr lang="fr-FR" dirty="0"/>
              <a:t>…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not </a:t>
            </a:r>
            <a:r>
              <a:rPr lang="fr-FR" dirty="0" err="1"/>
              <a:t>be</a:t>
            </a:r>
            <a:r>
              <a:rPr lang="fr-FR" dirty="0"/>
              <a:t> able to </a:t>
            </a:r>
            <a:r>
              <a:rPr lang="fr-FR" dirty="0" err="1"/>
              <a:t>instanciate</a:t>
            </a:r>
            <a:r>
              <a:rPr lang="fr-FR" dirty="0"/>
              <a:t> 500 Giga </a:t>
            </a:r>
            <a:r>
              <a:rPr lang="fr-FR" dirty="0" err="1"/>
              <a:t>otects</a:t>
            </a:r>
            <a:r>
              <a:rPr lang="fr-FR" dirty="0"/>
              <a:t> of </a:t>
            </a:r>
            <a:r>
              <a:rPr lang="fr-FR" dirty="0" err="1"/>
              <a:t>these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Dataset</a:t>
            </a:r>
            <a:r>
              <a:rPr lang="fr-FR" dirty="0"/>
              <a:t> (and </a:t>
            </a:r>
            <a:r>
              <a:rPr lang="fr-FR" dirty="0" err="1"/>
              <a:t>DataFrame</a:t>
            </a:r>
            <a:r>
              <a:rPr lang="fr-FR" dirty="0"/>
              <a:t>) are  </a:t>
            </a:r>
            <a:r>
              <a:rPr lang="fr-FR" dirty="0" err="1"/>
              <a:t>distributed</a:t>
            </a:r>
            <a:r>
              <a:rPr lang="fr-FR" dirty="0"/>
              <a:t> over </a:t>
            </a:r>
            <a:r>
              <a:rPr lang="fr-FR" dirty="0" err="1"/>
              <a:t>spark</a:t>
            </a:r>
            <a:r>
              <a:rPr lang="fr-FR" dirty="0"/>
              <a:t> </a:t>
            </a:r>
            <a:r>
              <a:rPr lang="fr-FR" b="1" dirty="0" err="1"/>
              <a:t>executors</a:t>
            </a:r>
            <a:endParaRPr lang="fr-FR" b="1" dirty="0"/>
          </a:p>
          <a:p>
            <a:endParaRPr lang="fr-FR" b="1" dirty="0"/>
          </a:p>
          <a:p>
            <a:r>
              <a:rPr lang="fr-FR" dirty="0"/>
              <a:t>To </a:t>
            </a:r>
            <a:r>
              <a:rPr lang="fr-FR" dirty="0" err="1"/>
              <a:t>send</a:t>
            </a:r>
            <a:r>
              <a:rPr lang="fr-FR" dirty="0"/>
              <a:t> data over the network, </a:t>
            </a:r>
            <a:r>
              <a:rPr lang="fr-FR" dirty="0" err="1"/>
              <a:t>they</a:t>
            </a:r>
            <a:r>
              <a:rPr lang="fr-FR" dirty="0"/>
              <a:t> are </a:t>
            </a:r>
            <a:r>
              <a:rPr lang="fr-FR" dirty="0" err="1"/>
              <a:t>serialized</a:t>
            </a:r>
            <a:r>
              <a:rPr lang="fr-FR" dirty="0"/>
              <a:t> </a:t>
            </a:r>
            <a:r>
              <a:rPr lang="fr-FR" dirty="0" err="1"/>
              <a:t>then</a:t>
            </a:r>
            <a:r>
              <a:rPr lang="fr-FR" dirty="0"/>
              <a:t> un-</a:t>
            </a:r>
            <a:r>
              <a:rPr lang="fr-FR" dirty="0" err="1"/>
              <a:t>serialized</a:t>
            </a:r>
            <a:r>
              <a:rPr lang="fr-FR" dirty="0"/>
              <a:t>.</a:t>
            </a:r>
          </a:p>
          <a:p>
            <a:r>
              <a:rPr lang="fr-FR" dirty="0"/>
              <a:t>So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still</a:t>
            </a:r>
            <a:r>
              <a:rPr lang="fr-FR" dirty="0"/>
              <a:t> real « Tuple » or « </a:t>
            </a:r>
            <a:r>
              <a:rPr lang="fr-FR" dirty="0" err="1"/>
              <a:t>CustomBean</a:t>
            </a:r>
            <a:r>
              <a:rPr lang="fr-FR" dirty="0"/>
              <a:t> » </a:t>
            </a:r>
            <a:r>
              <a:rPr lang="fr-FR" dirty="0" err="1"/>
              <a:t>object</a:t>
            </a:r>
            <a:r>
              <a:rPr lang="fr-FR" dirty="0"/>
              <a:t> pointers, but on </a:t>
            </a:r>
            <a:r>
              <a:rPr lang="fr-FR" dirty="0" err="1"/>
              <a:t>spark</a:t>
            </a:r>
            <a:r>
              <a:rPr lang="fr-FR" dirty="0"/>
              <a:t> </a:t>
            </a:r>
            <a:r>
              <a:rPr lang="fr-FR" dirty="0" err="1"/>
              <a:t>executors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 err="1"/>
              <a:t>Dataset</a:t>
            </a:r>
            <a:r>
              <a:rPr lang="fr-FR" dirty="0"/>
              <a:t>[Row]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special</a:t>
            </a:r>
            <a:r>
              <a:rPr lang="fr-FR" dirty="0"/>
              <a:t> … Spark </a:t>
            </a:r>
            <a:r>
              <a:rPr lang="fr-FR" dirty="0" err="1"/>
              <a:t>internally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able to </a:t>
            </a:r>
            <a:r>
              <a:rPr lang="fr-FR" dirty="0" err="1"/>
              <a:t>handle</a:t>
            </a:r>
            <a:r>
              <a:rPr lang="fr-FR" dirty="0"/>
              <a:t> native memory / swap </a:t>
            </a:r>
            <a:r>
              <a:rPr lang="fr-FR" dirty="0" err="1"/>
              <a:t>storage</a:t>
            </a:r>
            <a:r>
              <a:rPr lang="fr-FR" dirty="0"/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008280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ACB0E-02FD-203C-0AF8-681E71CB2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243" y="365125"/>
            <a:ext cx="11270201" cy="1325563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15: 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EC53C6-25F0-CD63-5612-4F180AA3D8AF}"/>
              </a:ext>
            </a:extLst>
          </p:cNvPr>
          <p:cNvSpPr txBox="1"/>
          <p:nvPr/>
        </p:nvSpPr>
        <p:spPr>
          <a:xfrm>
            <a:off x="2527236" y="2586971"/>
            <a:ext cx="924605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When</a:t>
            </a:r>
            <a:r>
              <a:rPr lang="fr-FR" sz="2800" dirty="0"/>
              <a:t> do </a:t>
            </a:r>
            <a:r>
              <a:rPr lang="fr-FR" sz="2800" dirty="0" err="1"/>
              <a:t>you</a:t>
            </a:r>
            <a:r>
              <a:rPr lang="fr-FR" sz="2800" dirty="0"/>
              <a:t> use   { ._1, ._2 }   ?</a:t>
            </a:r>
          </a:p>
          <a:p>
            <a:endParaRPr lang="fr-FR" sz="2800" dirty="0"/>
          </a:p>
          <a:p>
            <a:r>
              <a:rPr lang="fr-FR" sz="2800" dirty="0" err="1"/>
              <a:t>When</a:t>
            </a:r>
            <a:r>
              <a:rPr lang="fr-FR" sz="2800" dirty="0"/>
              <a:t> do </a:t>
            </a:r>
            <a:r>
              <a:rPr lang="fr-FR" sz="2800" dirty="0" err="1"/>
              <a:t>you</a:t>
            </a:r>
            <a:r>
              <a:rPr lang="fr-FR" sz="2800" dirty="0"/>
              <a:t> use    { .id, .</a:t>
            </a:r>
            <a:r>
              <a:rPr lang="fr-FR" sz="2800" dirty="0" err="1"/>
              <a:t>text</a:t>
            </a:r>
            <a:r>
              <a:rPr lang="fr-FR" sz="2800" dirty="0"/>
              <a:t> }   ?</a:t>
            </a:r>
          </a:p>
          <a:p>
            <a:endParaRPr lang="fr-FR" sz="2800" dirty="0"/>
          </a:p>
          <a:p>
            <a:r>
              <a:rPr lang="fr-FR" sz="2800" dirty="0" err="1"/>
              <a:t>When</a:t>
            </a:r>
            <a:r>
              <a:rPr lang="fr-FR" sz="2800" dirty="0"/>
              <a:t> do </a:t>
            </a:r>
            <a:r>
              <a:rPr lang="fr-FR" sz="2800" dirty="0" err="1"/>
              <a:t>you</a:t>
            </a:r>
            <a:r>
              <a:rPr lang="fr-FR" sz="2800" dirty="0"/>
              <a:t> use   { .</a:t>
            </a:r>
            <a:r>
              <a:rPr lang="fr-FR" sz="2800" dirty="0" err="1"/>
              <a:t>getAs</a:t>
            </a:r>
            <a:r>
              <a:rPr lang="fr-FR" sz="2800" dirty="0"/>
              <a:t>[Int](« id »), .</a:t>
            </a:r>
            <a:r>
              <a:rPr lang="fr-FR" sz="2800" dirty="0" err="1"/>
              <a:t>getAs</a:t>
            </a:r>
            <a:r>
              <a:rPr lang="fr-FR" sz="2800" dirty="0"/>
              <a:t>[Int](« </a:t>
            </a:r>
            <a:r>
              <a:rPr lang="fr-FR" sz="2800" dirty="0" err="1"/>
              <a:t>text</a:t>
            </a:r>
            <a:r>
              <a:rPr lang="fr-FR" sz="2800" dirty="0"/>
              <a:t> ») }  ?</a:t>
            </a:r>
          </a:p>
        </p:txBody>
      </p:sp>
    </p:spTree>
    <p:extLst>
      <p:ext uri="{BB962C8B-B14F-4D97-AF65-F5344CB8AC3E}">
        <p14:creationId xmlns:p14="http://schemas.microsoft.com/office/powerpoint/2010/main" val="104621588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BDA5-3D67-35B0-B328-7EA134F7B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73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C933A4-5170-0A43-D5C4-44B9DB301EE6}"/>
              </a:ext>
            </a:extLst>
          </p:cNvPr>
          <p:cNvSpPr txBox="1"/>
          <p:nvPr/>
        </p:nvSpPr>
        <p:spPr>
          <a:xfrm>
            <a:off x="530021" y="1761213"/>
            <a:ext cx="113039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On scala Tuple =&gt;   </a:t>
            </a:r>
            <a:r>
              <a:rPr lang="fr-FR" sz="2800" dirty="0" err="1"/>
              <a:t>you</a:t>
            </a:r>
            <a:r>
              <a:rPr lang="fr-FR" sz="2800" dirty="0"/>
              <a:t> use   _1, _2, … </a:t>
            </a:r>
            <a:r>
              <a:rPr lang="fr-FR" sz="2800" dirty="0" err="1"/>
              <a:t>field</a:t>
            </a:r>
            <a:r>
              <a:rPr lang="fr-FR" sz="2800" dirty="0"/>
              <a:t> </a:t>
            </a:r>
            <a:r>
              <a:rPr lang="fr-FR" sz="2800" dirty="0" err="1"/>
              <a:t>names</a:t>
            </a:r>
            <a:endParaRPr lang="fr-FR" sz="2800" dirty="0"/>
          </a:p>
          <a:p>
            <a:endParaRPr lang="fr-FR" sz="2800" dirty="0"/>
          </a:p>
          <a:p>
            <a:r>
              <a:rPr lang="fr-FR" sz="2800" dirty="0"/>
              <a:t>On </a:t>
            </a:r>
            <a:r>
              <a:rPr lang="fr-FR" sz="2800" dirty="0" err="1"/>
              <a:t>your</a:t>
            </a:r>
            <a:r>
              <a:rPr lang="fr-FR" sz="2800" dirty="0"/>
              <a:t> custom </a:t>
            </a:r>
            <a:r>
              <a:rPr lang="fr-FR" sz="2800" dirty="0" err="1"/>
              <a:t>bean</a:t>
            </a:r>
            <a:r>
              <a:rPr lang="fr-FR" sz="2800" dirty="0"/>
              <a:t>    =&gt; </a:t>
            </a:r>
            <a:r>
              <a:rPr lang="fr-FR" sz="2800" dirty="0" err="1"/>
              <a:t>you</a:t>
            </a:r>
            <a:r>
              <a:rPr lang="fr-FR" sz="2800" dirty="0"/>
              <a:t> use </a:t>
            </a:r>
            <a:r>
              <a:rPr lang="fr-FR" sz="2800" dirty="0" err="1"/>
              <a:t>your</a:t>
            </a:r>
            <a:r>
              <a:rPr lang="fr-FR" sz="2800" dirty="0"/>
              <a:t> class </a:t>
            </a:r>
            <a:r>
              <a:rPr lang="fr-FR" sz="2800" dirty="0" err="1"/>
              <a:t>fieldName</a:t>
            </a:r>
            <a:r>
              <a:rPr lang="fr-FR" sz="2800" dirty="0"/>
              <a:t> (or getter)</a:t>
            </a:r>
            <a:br>
              <a:rPr lang="fr-FR" sz="2800" dirty="0"/>
            </a:br>
            <a:r>
              <a:rPr lang="fr-FR" sz="2800" dirty="0"/>
              <a:t>    Example:   case class </a:t>
            </a:r>
            <a:r>
              <a:rPr lang="fr-FR" sz="2800" dirty="0" err="1"/>
              <a:t>YourCustomBean</a:t>
            </a:r>
            <a:r>
              <a:rPr lang="fr-FR" sz="2800" dirty="0"/>
              <a:t>(id: Int, </a:t>
            </a:r>
            <a:r>
              <a:rPr lang="fr-FR" sz="2800" dirty="0" err="1"/>
              <a:t>text</a:t>
            </a:r>
            <a:r>
              <a:rPr lang="fr-FR" sz="2800" dirty="0"/>
              <a:t>: String, </a:t>
            </a:r>
            <a:r>
              <a:rPr lang="fr-FR" sz="2800" dirty="0" err="1"/>
              <a:t>foo</a:t>
            </a:r>
            <a:r>
              <a:rPr lang="fr-FR" sz="2800" dirty="0"/>
              <a:t>: String) {}   </a:t>
            </a:r>
          </a:p>
          <a:p>
            <a:r>
              <a:rPr lang="fr-FR" sz="2800" dirty="0"/>
              <a:t>    val </a:t>
            </a:r>
            <a:r>
              <a:rPr lang="fr-FR" sz="2800" dirty="0" err="1"/>
              <a:t>bean</a:t>
            </a:r>
            <a:r>
              <a:rPr lang="fr-FR" sz="2800" dirty="0"/>
              <a:t> = </a:t>
            </a:r>
            <a:r>
              <a:rPr lang="fr-FR" sz="2800" dirty="0" err="1"/>
              <a:t>YourCustomBean</a:t>
            </a:r>
            <a:r>
              <a:rPr lang="fr-FR" sz="2800" dirty="0"/>
              <a:t>(123, « </a:t>
            </a:r>
            <a:r>
              <a:rPr lang="fr-FR" sz="2800" dirty="0" err="1"/>
              <a:t>text</a:t>
            </a:r>
            <a:r>
              <a:rPr lang="fr-FR" sz="2800" dirty="0"/>
              <a:t> », « </a:t>
            </a:r>
            <a:r>
              <a:rPr lang="fr-FR" sz="2800" dirty="0" err="1"/>
              <a:t>foo</a:t>
            </a:r>
            <a:r>
              <a:rPr lang="fr-FR" sz="2800" dirty="0"/>
              <a:t> »);</a:t>
            </a:r>
          </a:p>
          <a:p>
            <a:r>
              <a:rPr lang="fr-FR" sz="2800" dirty="0"/>
              <a:t>    </a:t>
            </a:r>
            <a:r>
              <a:rPr lang="fr-FR" sz="2800" dirty="0" err="1"/>
              <a:t>bean.foo</a:t>
            </a:r>
            <a:endParaRPr lang="fr-FR" sz="2800" dirty="0"/>
          </a:p>
          <a:p>
            <a:br>
              <a:rPr lang="fr-FR" sz="2800" dirty="0"/>
            </a:br>
            <a:r>
              <a:rPr lang="fr-FR" sz="2800" dirty="0"/>
              <a:t>In SQL expression, </a:t>
            </a:r>
            <a:r>
              <a:rPr lang="fr-FR" sz="2800" dirty="0" err="1"/>
              <a:t>you</a:t>
            </a:r>
            <a:r>
              <a:rPr lang="fr-FR" sz="2800" dirty="0"/>
              <a:t> use the </a:t>
            </a:r>
            <a:r>
              <a:rPr lang="fr-FR" sz="2800" dirty="0" err="1"/>
              <a:t>column</a:t>
            </a:r>
            <a:r>
              <a:rPr lang="fr-FR" sz="2800" dirty="0"/>
              <a:t> </a:t>
            </a:r>
            <a:r>
              <a:rPr lang="fr-FR" sz="2800" dirty="0" err="1"/>
              <a:t>name</a:t>
            </a:r>
            <a:r>
              <a:rPr lang="fr-FR" sz="2800" dirty="0"/>
              <a:t>, </a:t>
            </a:r>
            <a:r>
              <a:rPr lang="fr-FR" sz="2800" dirty="0" err="1"/>
              <a:t>example</a:t>
            </a:r>
            <a:r>
              <a:rPr lang="fr-FR" sz="2800" dirty="0"/>
              <a:t> « _1 », « id », « </a:t>
            </a:r>
            <a:r>
              <a:rPr lang="fr-FR" sz="2800" dirty="0" err="1"/>
              <a:t>text</a:t>
            </a:r>
            <a:r>
              <a:rPr lang="fr-FR" sz="2800" dirty="0"/>
              <a:t> »</a:t>
            </a:r>
          </a:p>
          <a:p>
            <a:endParaRPr lang="fr-FR" sz="2800" dirty="0"/>
          </a:p>
          <a:p>
            <a:r>
              <a:rPr lang="fr-FR" sz="2800" dirty="0"/>
              <a:t>On </a:t>
            </a:r>
            <a:r>
              <a:rPr lang="fr-FR" sz="2800" dirty="0" err="1"/>
              <a:t>spark.sql.Row</a:t>
            </a:r>
            <a:r>
              <a:rPr lang="fr-FR" sz="2800" dirty="0"/>
              <a:t> =&gt; </a:t>
            </a:r>
            <a:r>
              <a:rPr lang="fr-FR" sz="2800" dirty="0" err="1"/>
              <a:t>you</a:t>
            </a:r>
            <a:r>
              <a:rPr lang="fr-FR" sz="2800" dirty="0"/>
              <a:t> use  </a:t>
            </a:r>
            <a:r>
              <a:rPr lang="fr-FR" sz="2800" dirty="0" err="1"/>
              <a:t>org.apache.spark.sql.Row</a:t>
            </a:r>
            <a:r>
              <a:rPr lang="fr-FR" sz="2800" dirty="0"/>
              <a:t> </a:t>
            </a:r>
            <a:r>
              <a:rPr lang="fr-FR" sz="2800" dirty="0" err="1"/>
              <a:t>methods</a:t>
            </a:r>
            <a:r>
              <a:rPr lang="fr-FR" sz="2800" dirty="0"/>
              <a:t> !!   </a:t>
            </a:r>
            <a:br>
              <a:rPr lang="fr-FR" sz="2800" dirty="0"/>
            </a:br>
            <a:r>
              <a:rPr lang="fr-FR" sz="2800" dirty="0"/>
              <a:t>   Example:   </a:t>
            </a:r>
            <a:r>
              <a:rPr lang="fr-FR" sz="2800" dirty="0" err="1"/>
              <a:t>row.getAs</a:t>
            </a:r>
            <a:r>
              <a:rPr lang="fr-FR" sz="2800" dirty="0"/>
              <a:t>[Int](« </a:t>
            </a:r>
            <a:r>
              <a:rPr lang="fr-FR" sz="2800" dirty="0" err="1"/>
              <a:t>foo</a:t>
            </a:r>
            <a:r>
              <a:rPr lang="fr-FR" sz="2800" dirty="0"/>
              <a:t> »)</a:t>
            </a:r>
          </a:p>
        </p:txBody>
      </p:sp>
    </p:spTree>
    <p:extLst>
      <p:ext uri="{BB962C8B-B14F-4D97-AF65-F5344CB8AC3E}">
        <p14:creationId xmlns:p14="http://schemas.microsoft.com/office/powerpoint/2010/main" val="111710685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ACB0E-02FD-203C-0AF8-681E71CB2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243" y="365125"/>
            <a:ext cx="11270201" cy="1325563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16: </a:t>
            </a:r>
            <a:r>
              <a:rPr lang="fr-FR" dirty="0" err="1"/>
              <a:t>filtering</a:t>
            </a:r>
            <a:r>
              <a:rPr lang="fr-FR" dirty="0"/>
              <a:t> </a:t>
            </a:r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EC53C6-25F0-CD63-5612-4F180AA3D8AF}"/>
              </a:ext>
            </a:extLst>
          </p:cNvPr>
          <p:cNvSpPr txBox="1"/>
          <p:nvPr/>
        </p:nvSpPr>
        <p:spPr>
          <a:xfrm>
            <a:off x="1545742" y="2025908"/>
            <a:ext cx="10104561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Using</a:t>
            </a:r>
            <a:r>
              <a:rPr lang="fr-FR" sz="2800" dirty="0"/>
              <a:t>   </a:t>
            </a:r>
            <a:r>
              <a:rPr lang="fr-FR" sz="2800" dirty="0" err="1"/>
              <a:t>ds.filter</a:t>
            </a:r>
            <a:r>
              <a:rPr lang="fr-FR" sz="2800" dirty="0"/>
              <a:t>( …  )     return a new </a:t>
            </a:r>
            <a:r>
              <a:rPr lang="fr-FR" sz="2800" dirty="0" err="1"/>
              <a:t>dataset</a:t>
            </a:r>
            <a:r>
              <a:rPr lang="fr-FR" sz="2800" dirty="0"/>
              <a:t> (</a:t>
            </a:r>
            <a:r>
              <a:rPr lang="fr-FR" sz="2800" dirty="0" err="1"/>
              <a:t>dataset</a:t>
            </a:r>
            <a:r>
              <a:rPr lang="fr-FR" sz="2800" dirty="0"/>
              <a:t> are immutable)</a:t>
            </a:r>
          </a:p>
          <a:p>
            <a:r>
              <a:rPr lang="fr-FR" sz="2800" dirty="0"/>
              <a:t>So use  « </a:t>
            </a:r>
            <a:r>
              <a:rPr lang="fr-FR" sz="2800" dirty="0" err="1"/>
              <a:t>ds.filter</a:t>
            </a:r>
            <a:r>
              <a:rPr lang="fr-FR" sz="2800" dirty="0"/>
              <a:t> ( … )  .show(5, false) »</a:t>
            </a:r>
          </a:p>
          <a:p>
            <a:endParaRPr lang="fr-FR" sz="2800" dirty="0"/>
          </a:p>
          <a:p>
            <a:r>
              <a:rPr lang="fr-FR" sz="2800" dirty="0" err="1"/>
              <a:t>Study</a:t>
            </a:r>
            <a:r>
              <a:rPr lang="fr-FR" sz="2800" dirty="0"/>
              <a:t> the </a:t>
            </a:r>
            <a:r>
              <a:rPr lang="fr-FR" sz="2800" dirty="0" err="1"/>
              <a:t>different</a:t>
            </a:r>
            <a:r>
              <a:rPr lang="fr-FR" sz="2800" dirty="0"/>
              <a:t> </a:t>
            </a:r>
            <a:r>
              <a:rPr lang="fr-FR" sz="2800" dirty="0" err="1"/>
              <a:t>filter</a:t>
            </a:r>
            <a:r>
              <a:rPr lang="fr-FR" sz="2800" dirty="0"/>
              <a:t>() </a:t>
            </a:r>
            <a:r>
              <a:rPr lang="fr-FR" sz="2800" dirty="0" err="1"/>
              <a:t>methods</a:t>
            </a:r>
            <a:r>
              <a:rPr lang="fr-FR" sz="2800" dirty="0"/>
              <a:t> signature </a:t>
            </a:r>
            <a:r>
              <a:rPr lang="fr-FR" sz="2800" dirty="0" err="1"/>
              <a:t>available</a:t>
            </a:r>
            <a:endParaRPr lang="fr-FR" sz="2800" dirty="0"/>
          </a:p>
          <a:p>
            <a:endParaRPr lang="fr-FR" sz="2800" dirty="0"/>
          </a:p>
          <a:p>
            <a:r>
              <a:rPr lang="fr-FR" sz="2800" dirty="0" err="1"/>
              <a:t>Filter</a:t>
            </a:r>
            <a:r>
              <a:rPr lang="fr-FR" sz="2800" dirty="0"/>
              <a:t> in 4 </a:t>
            </a:r>
            <a:r>
              <a:rPr lang="fr-FR" sz="2800" dirty="0" err="1"/>
              <a:t>different</a:t>
            </a:r>
            <a:r>
              <a:rPr lang="fr-FR" sz="2800" dirty="0"/>
              <a:t> </a:t>
            </a:r>
            <a:r>
              <a:rPr lang="fr-FR" sz="2800" dirty="0" err="1"/>
              <a:t>ways</a:t>
            </a:r>
            <a:r>
              <a:rPr lang="fr-FR" sz="2800" dirty="0"/>
              <a:t> </a:t>
            </a:r>
            <a:r>
              <a:rPr lang="fr-FR" sz="2800" dirty="0" err="1"/>
              <a:t>with</a:t>
            </a:r>
            <a:r>
              <a:rPr lang="fr-FR" sz="2800" dirty="0"/>
              <a:t> the condition </a:t>
            </a:r>
          </a:p>
          <a:p>
            <a:r>
              <a:rPr lang="fr-FR" sz="2800" dirty="0"/>
              <a:t>         _1 &gt;= 10  &amp;&amp;  _2 == </a:t>
            </a:r>
            <a:r>
              <a:rPr lang="fr-FR" sz="2800" dirty="0" err="1"/>
              <a:t>true</a:t>
            </a:r>
            <a:r>
              <a:rPr lang="fr-FR" sz="2800" dirty="0"/>
              <a:t> &amp;&amp; _3 </a:t>
            </a:r>
            <a:r>
              <a:rPr lang="fr-FR" sz="2800" dirty="0" err="1"/>
              <a:t>contains</a:t>
            </a:r>
            <a:r>
              <a:rPr lang="fr-FR" sz="2800" dirty="0"/>
              <a:t> « hello »</a:t>
            </a:r>
          </a:p>
          <a:p>
            <a:endParaRPr lang="fr-FR" sz="2800" dirty="0"/>
          </a:p>
          <a:p>
            <a:r>
              <a:rPr lang="fr-FR" sz="2800" dirty="0" err="1"/>
              <a:t>Way</a:t>
            </a:r>
            <a:r>
              <a:rPr lang="fr-FR" sz="2800" dirty="0"/>
              <a:t> 1/ </a:t>
            </a:r>
            <a:r>
              <a:rPr lang="fr-FR" sz="2800" dirty="0" err="1"/>
              <a:t>using</a:t>
            </a:r>
            <a:r>
              <a:rPr lang="fr-FR" sz="2800" dirty="0"/>
              <a:t> SQL </a:t>
            </a:r>
            <a:r>
              <a:rPr lang="fr-FR" sz="2800" dirty="0" err="1"/>
              <a:t>where</a:t>
            </a:r>
            <a:r>
              <a:rPr lang="fr-FR" sz="2800" dirty="0"/>
              <a:t> clause,  2/ </a:t>
            </a:r>
            <a:r>
              <a:rPr lang="fr-FR" sz="2800" dirty="0" err="1"/>
              <a:t>using</a:t>
            </a:r>
            <a:r>
              <a:rPr lang="fr-FR" sz="2800" dirty="0"/>
              <a:t> </a:t>
            </a:r>
            <a:r>
              <a:rPr lang="fr-FR" sz="2800" dirty="0" err="1"/>
              <a:t>function</a:t>
            </a:r>
            <a:r>
              <a:rPr lang="fr-FR" sz="2800" dirty="0"/>
              <a:t> callback </a:t>
            </a:r>
            <a:br>
              <a:rPr lang="fr-FR" sz="2800" dirty="0"/>
            </a:br>
            <a:r>
              <a:rPr lang="fr-FR" sz="2800" dirty="0"/>
              <a:t>3/ </a:t>
            </a:r>
            <a:r>
              <a:rPr lang="fr-FR" sz="2800" dirty="0" err="1"/>
              <a:t>using</a:t>
            </a:r>
            <a:r>
              <a:rPr lang="fr-FR" sz="2800" dirty="0"/>
              <a:t> </a:t>
            </a:r>
            <a:r>
              <a:rPr lang="fr-FR" sz="2800" dirty="0" err="1"/>
              <a:t>algebra</a:t>
            </a:r>
            <a:r>
              <a:rPr lang="fr-FR" sz="2800" dirty="0"/>
              <a:t> on  </a:t>
            </a:r>
            <a:r>
              <a:rPr lang="fr-FR" sz="2800" dirty="0" err="1"/>
              <a:t>column</a:t>
            </a:r>
            <a:r>
              <a:rPr lang="fr-FR" sz="2800" dirty="0"/>
              <a:t>  </a:t>
            </a:r>
            <a:r>
              <a:rPr lang="fr-FR" sz="2800" dirty="0" err="1"/>
              <a:t>ds.col</a:t>
            </a:r>
            <a:r>
              <a:rPr lang="fr-FR" sz="2800" dirty="0"/>
              <a:t>(« _1 »)  4/ </a:t>
            </a:r>
            <a:r>
              <a:rPr lang="fr-FR" sz="2800" dirty="0" err="1"/>
              <a:t>using</a:t>
            </a:r>
            <a:r>
              <a:rPr lang="fr-FR" sz="2800" dirty="0"/>
              <a:t> $« _1 »</a:t>
            </a: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43593934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BDA5-3D67-35B0-B328-7EA134F7B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73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DFEF41C-9DB2-4C4F-BDF9-FD2F6543EA65}"/>
              </a:ext>
            </a:extLst>
          </p:cNvPr>
          <p:cNvSpPr txBox="1"/>
          <p:nvPr/>
        </p:nvSpPr>
        <p:spPr>
          <a:xfrm>
            <a:off x="215153" y="1863822"/>
            <a:ext cx="119768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filter</a:t>
            </a:r>
            <a:r>
              <a:rPr lang="fr-FR" dirty="0"/>
              <a:t>(</a:t>
            </a:r>
            <a:r>
              <a:rPr lang="fr-FR" dirty="0" err="1"/>
              <a:t>conditionExpr</a:t>
            </a:r>
            <a:r>
              <a:rPr lang="fr-FR" dirty="0"/>
              <a:t>: String): </a:t>
            </a:r>
            <a:r>
              <a:rPr lang="fr-FR" dirty="0" err="1"/>
              <a:t>org.apache.spark.sql.Dataset</a:t>
            </a:r>
            <a:r>
              <a:rPr lang="fr-FR" dirty="0"/>
              <a:t>[(Int, Boolean, String)]</a:t>
            </a:r>
          </a:p>
          <a:p>
            <a:endParaRPr lang="fr-FR" dirty="0"/>
          </a:p>
          <a:p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filter</a:t>
            </a:r>
            <a:r>
              <a:rPr lang="fr-FR" dirty="0"/>
              <a:t>(</a:t>
            </a:r>
            <a:r>
              <a:rPr lang="fr-FR" dirty="0" err="1"/>
              <a:t>func</a:t>
            </a:r>
            <a:r>
              <a:rPr lang="fr-FR" dirty="0"/>
              <a:t>: </a:t>
            </a:r>
            <a:r>
              <a:rPr lang="fr-FR" dirty="0" err="1"/>
              <a:t>org.apache.spark.api.java.function.FilterFunction</a:t>
            </a:r>
            <a:r>
              <a:rPr lang="fr-FR" dirty="0"/>
              <a:t>[(Int, Boolean, String)]): </a:t>
            </a:r>
            <a:r>
              <a:rPr lang="fr-FR" dirty="0" err="1"/>
              <a:t>org.apache.spark.sql.Dataset</a:t>
            </a:r>
            <a:r>
              <a:rPr lang="fr-FR" dirty="0"/>
              <a:t>[(Int, Boolean, String)]</a:t>
            </a:r>
          </a:p>
          <a:p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filter</a:t>
            </a:r>
            <a:r>
              <a:rPr lang="fr-FR" dirty="0"/>
              <a:t>(</a:t>
            </a:r>
            <a:r>
              <a:rPr lang="fr-FR" dirty="0" err="1"/>
              <a:t>func</a:t>
            </a:r>
            <a:r>
              <a:rPr lang="fr-FR" dirty="0"/>
              <a:t>: ((Int, Boolean, String)) =&gt; Boolean): </a:t>
            </a:r>
            <a:r>
              <a:rPr lang="fr-FR" dirty="0" err="1"/>
              <a:t>org.apache.spark.sql.Dataset</a:t>
            </a:r>
            <a:r>
              <a:rPr lang="fr-FR" dirty="0"/>
              <a:t>[(Int, Boolean, String)]</a:t>
            </a:r>
          </a:p>
          <a:p>
            <a:endParaRPr lang="fr-FR" dirty="0"/>
          </a:p>
          <a:p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filter</a:t>
            </a:r>
            <a:r>
              <a:rPr lang="fr-FR" dirty="0"/>
              <a:t>(condition: </a:t>
            </a:r>
            <a:r>
              <a:rPr lang="fr-FR" dirty="0" err="1"/>
              <a:t>org.apache.spark.sql.Column</a:t>
            </a:r>
            <a:r>
              <a:rPr lang="fr-FR" dirty="0"/>
              <a:t>): </a:t>
            </a:r>
            <a:r>
              <a:rPr lang="fr-FR" dirty="0" err="1"/>
              <a:t>org.apache.spark.sql.Dataset</a:t>
            </a:r>
            <a:r>
              <a:rPr lang="fr-FR" dirty="0"/>
              <a:t>[(Int, Boolean, String)]</a:t>
            </a:r>
          </a:p>
          <a:p>
            <a:endParaRPr lang="fr-FR" dirty="0"/>
          </a:p>
          <a:p>
            <a:r>
              <a:rPr lang="fr-FR" dirty="0"/>
              <a:t>scala&gt; </a:t>
            </a:r>
            <a:r>
              <a:rPr lang="fr-FR" dirty="0" err="1"/>
              <a:t>ds.filter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432647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BDA5-3D67-35B0-B328-7EA134F7B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73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16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8516F6F-4F75-45A6-9D29-3E02DDB27CDC}"/>
              </a:ext>
            </a:extLst>
          </p:cNvPr>
          <p:cNvSpPr txBox="1"/>
          <p:nvPr/>
        </p:nvSpPr>
        <p:spPr>
          <a:xfrm>
            <a:off x="1864658" y="2459923"/>
            <a:ext cx="984324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ds.filter</a:t>
            </a:r>
            <a:r>
              <a:rPr lang="en-US" sz="2400" dirty="0"/>
              <a:t>( " _3 LIKE '%very%' AND _1 &gt;= 15 ").show(3, false)</a:t>
            </a:r>
          </a:p>
          <a:p>
            <a:endParaRPr lang="en-US" sz="2400" dirty="0"/>
          </a:p>
          <a:p>
            <a:r>
              <a:rPr lang="en-US" sz="2400" dirty="0"/>
              <a:t> </a:t>
            </a:r>
            <a:r>
              <a:rPr lang="en-US" sz="2400" dirty="0" err="1"/>
              <a:t>ds.filter</a:t>
            </a:r>
            <a:r>
              <a:rPr lang="en-US" sz="2400" dirty="0"/>
              <a:t>( row =&gt; row._1 &gt;= 15 &amp;&amp; row._3.contains("very") ).show(5, false)</a:t>
            </a:r>
          </a:p>
          <a:p>
            <a:endParaRPr lang="fr-FR" sz="2400" dirty="0"/>
          </a:p>
          <a:p>
            <a:r>
              <a:rPr lang="fr-FR" sz="2400" dirty="0" err="1"/>
              <a:t>ds.filter</a:t>
            </a:r>
            <a:r>
              <a:rPr lang="fr-FR" sz="2400" dirty="0"/>
              <a:t>( </a:t>
            </a:r>
            <a:r>
              <a:rPr lang="fr-FR" sz="2400" dirty="0" err="1"/>
              <a:t>ds.col</a:t>
            </a:r>
            <a:r>
              <a:rPr lang="fr-FR" sz="2400" dirty="0"/>
              <a:t>("_2").and( </a:t>
            </a:r>
            <a:r>
              <a:rPr lang="fr-FR" sz="2400" dirty="0" err="1"/>
              <a:t>ds.col</a:t>
            </a:r>
            <a:r>
              <a:rPr lang="fr-FR" sz="2400" dirty="0"/>
              <a:t>("_1").gt ( lit(15) )) ).show(5, false)</a:t>
            </a:r>
          </a:p>
          <a:p>
            <a:endParaRPr lang="fr-FR" sz="2400" dirty="0"/>
          </a:p>
          <a:p>
            <a:r>
              <a:rPr lang="fr-FR" sz="2400" dirty="0" err="1"/>
              <a:t>ds.filter</a:t>
            </a:r>
            <a:r>
              <a:rPr lang="fr-FR" sz="2400" dirty="0"/>
              <a:t>( $"_2" .and( $"_1" .gt ( lit(15) )) ).show(5, false)</a:t>
            </a:r>
          </a:p>
        </p:txBody>
      </p:sp>
    </p:spTree>
    <p:extLst>
      <p:ext uri="{BB962C8B-B14F-4D97-AF65-F5344CB8AC3E}">
        <p14:creationId xmlns:p14="http://schemas.microsoft.com/office/powerpoint/2010/main" val="222001069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DF82C-157F-9B9D-067E-1C75301BB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7648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17 : </a:t>
            </a:r>
            <a:r>
              <a:rPr lang="fr-FR" dirty="0" err="1"/>
              <a:t>MindMap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5F23C2-BFF4-138E-223D-CE00D8253FB3}"/>
              </a:ext>
            </a:extLst>
          </p:cNvPr>
          <p:cNvSpPr txBox="1"/>
          <p:nvPr/>
        </p:nvSpPr>
        <p:spPr>
          <a:xfrm>
            <a:off x="2006866" y="1946485"/>
            <a:ext cx="9303381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Draw</a:t>
            </a:r>
            <a:r>
              <a:rPr lang="fr-FR" sz="2800" dirty="0"/>
              <a:t> a </a:t>
            </a:r>
            <a:r>
              <a:rPr lang="fr-FR" sz="2800" dirty="0" err="1"/>
              <a:t>MindMap</a:t>
            </a:r>
            <a:r>
              <a:rPr lang="fr-FR" sz="2800" dirty="0"/>
              <a:t> to </a:t>
            </a:r>
            <a:r>
              <a:rPr lang="fr-FR" sz="2800" dirty="0" err="1"/>
              <a:t>summarize</a:t>
            </a:r>
            <a:r>
              <a:rPr lang="fr-FR" sz="2800" dirty="0"/>
              <a:t> </a:t>
            </a:r>
          </a:p>
          <a:p>
            <a:r>
              <a:rPr lang="fr-FR" sz="2800" dirty="0" err="1"/>
              <a:t>what</a:t>
            </a:r>
            <a:r>
              <a:rPr lang="fr-FR" sz="2800" dirty="0"/>
              <a:t> </a:t>
            </a:r>
            <a:r>
              <a:rPr lang="fr-FR" sz="2800" dirty="0" err="1"/>
              <a:t>you</a:t>
            </a:r>
            <a:r>
              <a:rPr lang="fr-FR" sz="2800" dirty="0"/>
              <a:t> </a:t>
            </a:r>
            <a:r>
              <a:rPr lang="fr-FR" sz="2800" dirty="0" err="1"/>
              <a:t>did</a:t>
            </a:r>
            <a:r>
              <a:rPr lang="fr-FR" sz="2800" dirty="0"/>
              <a:t> and </a:t>
            </a:r>
            <a:r>
              <a:rPr lang="fr-FR" sz="2800" dirty="0" err="1"/>
              <a:t>learn</a:t>
            </a:r>
            <a:r>
              <a:rPr lang="fr-FR" sz="2800" dirty="0"/>
              <a:t> </a:t>
            </a:r>
            <a:r>
              <a:rPr lang="fr-FR" sz="2800" dirty="0" err="1"/>
              <a:t>from</a:t>
            </a:r>
            <a:r>
              <a:rPr lang="fr-FR" sz="2800" dirty="0"/>
              <a:t> </a:t>
            </a:r>
            <a:r>
              <a:rPr lang="fr-FR" sz="2800" dirty="0" err="1"/>
              <a:t>this</a:t>
            </a:r>
            <a:r>
              <a:rPr lang="fr-FR" sz="2800" dirty="0"/>
              <a:t> TD session</a:t>
            </a:r>
          </a:p>
          <a:p>
            <a:endParaRPr lang="fr-FR" sz="2800" dirty="0"/>
          </a:p>
          <a:p>
            <a:endParaRPr lang="fr-FR" sz="2800" dirty="0"/>
          </a:p>
          <a:p>
            <a:r>
              <a:rPr lang="fr-FR" sz="2800" dirty="0" err="1"/>
              <a:t>Your</a:t>
            </a:r>
            <a:r>
              <a:rPr lang="fr-FR" sz="2800" dirty="0"/>
              <a:t> </a:t>
            </a:r>
            <a:r>
              <a:rPr lang="fr-FR" sz="2800" dirty="0" err="1"/>
              <a:t>MindMap</a:t>
            </a:r>
            <a:r>
              <a:rPr lang="fr-FR" sz="2800" dirty="0"/>
              <a:t> </a:t>
            </a:r>
            <a:r>
              <a:rPr lang="fr-FR" sz="2800" dirty="0" err="1"/>
              <a:t>should</a:t>
            </a:r>
            <a:r>
              <a:rPr lang="fr-FR" sz="2800" dirty="0"/>
              <a:t> </a:t>
            </a:r>
          </a:p>
          <a:p>
            <a:r>
              <a:rPr lang="fr-FR" sz="2800" dirty="0"/>
              <a:t>start </a:t>
            </a:r>
            <a:r>
              <a:rPr lang="fr-FR" sz="2800" dirty="0" err="1"/>
              <a:t>with</a:t>
            </a:r>
            <a:r>
              <a:rPr lang="fr-FR" sz="2800" dirty="0"/>
              <a:t> </a:t>
            </a:r>
            <a:r>
              <a:rPr lang="fr-FR" sz="2800" dirty="0" err="1"/>
              <a:t>word</a:t>
            </a:r>
            <a:r>
              <a:rPr lang="fr-FR" sz="2800" dirty="0"/>
              <a:t> « </a:t>
            </a:r>
            <a:r>
              <a:rPr lang="fr-FR" sz="2800" dirty="0" err="1"/>
              <a:t>spark-shell</a:t>
            </a:r>
            <a:r>
              <a:rPr lang="fr-FR" sz="2800" dirty="0"/>
              <a:t> » in the middle</a:t>
            </a:r>
          </a:p>
          <a:p>
            <a:r>
              <a:rPr lang="fr-FR" sz="2800" dirty="0" err="1"/>
              <a:t>Then</a:t>
            </a:r>
            <a:r>
              <a:rPr lang="fr-FR" sz="2800" dirty="0"/>
              <a:t> </a:t>
            </a:r>
            <a:r>
              <a:rPr lang="fr-FR" sz="2800" dirty="0" err="1"/>
              <a:t>draw</a:t>
            </a:r>
            <a:r>
              <a:rPr lang="fr-FR" sz="2800" dirty="0"/>
              <a:t> star </a:t>
            </a:r>
            <a:r>
              <a:rPr lang="fr-FR" sz="2800" dirty="0" err="1"/>
              <a:t>edges</a:t>
            </a:r>
            <a:r>
              <a:rPr lang="fr-FR" sz="2800" dirty="0"/>
              <a:t> to </a:t>
            </a:r>
            <a:r>
              <a:rPr lang="fr-FR" sz="2800" dirty="0" err="1"/>
              <a:t>other</a:t>
            </a:r>
            <a:r>
              <a:rPr lang="fr-FR" sz="2800" dirty="0"/>
              <a:t> </a:t>
            </a:r>
            <a:r>
              <a:rPr lang="fr-FR" sz="2800" dirty="0" err="1"/>
              <a:t>word</a:t>
            </a:r>
            <a:r>
              <a:rPr lang="fr-FR" sz="2800" dirty="0"/>
              <a:t> </a:t>
            </a:r>
            <a:r>
              <a:rPr lang="fr-FR" sz="2800" dirty="0" err="1"/>
              <a:t>chapters</a:t>
            </a:r>
            <a:r>
              <a:rPr lang="fr-FR" sz="2800" dirty="0"/>
              <a:t> and </a:t>
            </a:r>
            <a:r>
              <a:rPr lang="fr-FR" sz="2800" dirty="0" err="1"/>
              <a:t>sub-chapters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57190663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D2308-620A-EB6A-38FF-9002E61BC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087"/>
            <a:ext cx="10515600" cy="705504"/>
          </a:xfrm>
        </p:spPr>
        <p:txBody>
          <a:bodyPr/>
          <a:lstStyle/>
          <a:p>
            <a:pPr algn="ctr"/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28FC5-CAA8-A243-1F4E-0E285D3B1223}"/>
              </a:ext>
            </a:extLst>
          </p:cNvPr>
          <p:cNvSpPr txBox="1"/>
          <p:nvPr/>
        </p:nvSpPr>
        <p:spPr>
          <a:xfrm>
            <a:off x="5068257" y="3574890"/>
            <a:ext cx="16161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Spark-Shell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7888A2-3166-2F50-3DFC-20C476517EA1}"/>
              </a:ext>
            </a:extLst>
          </p:cNvPr>
          <p:cNvSpPr txBox="1"/>
          <p:nvPr/>
        </p:nvSpPr>
        <p:spPr>
          <a:xfrm>
            <a:off x="6773758" y="2684230"/>
            <a:ext cx="1621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Installation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524053-5837-8963-BC29-A855E898140F}"/>
              </a:ext>
            </a:extLst>
          </p:cNvPr>
          <p:cNvCxnSpPr/>
          <p:nvPr/>
        </p:nvCxnSpPr>
        <p:spPr>
          <a:xfrm flipV="1">
            <a:off x="6472404" y="3145895"/>
            <a:ext cx="602707" cy="48247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3EE9F3-AE0C-D232-26F0-F3DC56CC4ACC}"/>
              </a:ext>
            </a:extLst>
          </p:cNvPr>
          <p:cNvCxnSpPr>
            <a:cxnSpLocks/>
          </p:cNvCxnSpPr>
          <p:nvPr/>
        </p:nvCxnSpPr>
        <p:spPr>
          <a:xfrm flipV="1">
            <a:off x="7787694" y="1826437"/>
            <a:ext cx="98313" cy="82675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DAB2A3-D9E2-457A-52E7-A0FFD6C1FF9C}"/>
              </a:ext>
            </a:extLst>
          </p:cNvPr>
          <p:cNvCxnSpPr>
            <a:cxnSpLocks/>
          </p:cNvCxnSpPr>
          <p:nvPr/>
        </p:nvCxnSpPr>
        <p:spPr>
          <a:xfrm flipV="1">
            <a:off x="8014189" y="2288102"/>
            <a:ext cx="682136" cy="3961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0BFBB7-F52F-ACBE-86FE-36D031E24D0F}"/>
              </a:ext>
            </a:extLst>
          </p:cNvPr>
          <p:cNvCxnSpPr>
            <a:cxnSpLocks/>
          </p:cNvCxnSpPr>
          <p:nvPr/>
        </p:nvCxnSpPr>
        <p:spPr>
          <a:xfrm>
            <a:off x="8291772" y="2808093"/>
            <a:ext cx="846686" cy="1955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0648404-1073-E1BB-3C75-D10133A8BD2C}"/>
              </a:ext>
            </a:extLst>
          </p:cNvPr>
          <p:cNvCxnSpPr>
            <a:cxnSpLocks/>
          </p:cNvCxnSpPr>
          <p:nvPr/>
        </p:nvCxnSpPr>
        <p:spPr>
          <a:xfrm>
            <a:off x="6289964" y="4057363"/>
            <a:ext cx="394441" cy="78064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09CE59C-4A38-A84F-B2E4-F71E8E083B3F}"/>
              </a:ext>
            </a:extLst>
          </p:cNvPr>
          <p:cNvSpPr txBox="1"/>
          <p:nvPr/>
        </p:nvSpPr>
        <p:spPr>
          <a:xfrm>
            <a:off x="6342795" y="4782588"/>
            <a:ext cx="732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Repl</a:t>
            </a:r>
            <a:endParaRPr lang="fr-FR" sz="24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7D486F-121B-E2CF-C506-A95AEA8001FA}"/>
              </a:ext>
            </a:extLst>
          </p:cNvPr>
          <p:cNvCxnSpPr>
            <a:cxnSpLocks/>
          </p:cNvCxnSpPr>
          <p:nvPr/>
        </p:nvCxnSpPr>
        <p:spPr>
          <a:xfrm flipH="1">
            <a:off x="5228697" y="4036555"/>
            <a:ext cx="391708" cy="74603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40BD2B3-92F2-604E-73AF-8DB0DE97321F}"/>
              </a:ext>
            </a:extLst>
          </p:cNvPr>
          <p:cNvSpPr txBox="1"/>
          <p:nvPr/>
        </p:nvSpPr>
        <p:spPr>
          <a:xfrm>
            <a:off x="4638501" y="4782589"/>
            <a:ext cx="128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Scala&gt;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A0D89CB-88CF-5756-CFAA-EB3E671BD6FD}"/>
              </a:ext>
            </a:extLst>
          </p:cNvPr>
          <p:cNvCxnSpPr>
            <a:cxnSpLocks/>
          </p:cNvCxnSpPr>
          <p:nvPr/>
        </p:nvCxnSpPr>
        <p:spPr>
          <a:xfrm>
            <a:off x="6804321" y="3829361"/>
            <a:ext cx="732552" cy="5306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FCD5B3A-D2EF-E1DD-5FE7-CA61B4A3C4E8}"/>
              </a:ext>
            </a:extLst>
          </p:cNvPr>
          <p:cNvSpPr txBox="1"/>
          <p:nvPr/>
        </p:nvSpPr>
        <p:spPr>
          <a:xfrm>
            <a:off x="7697765" y="3667223"/>
            <a:ext cx="1515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Interactive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17F368B-CA8B-7D7F-E084-102329158727}"/>
              </a:ext>
            </a:extLst>
          </p:cNvPr>
          <p:cNvCxnSpPr>
            <a:cxnSpLocks/>
          </p:cNvCxnSpPr>
          <p:nvPr/>
        </p:nvCxnSpPr>
        <p:spPr>
          <a:xfrm flipH="1" flipV="1">
            <a:off x="4638501" y="2967286"/>
            <a:ext cx="590196" cy="56630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15976BC-859D-5712-A81B-BBD237F04649}"/>
              </a:ext>
            </a:extLst>
          </p:cNvPr>
          <p:cNvSpPr txBox="1"/>
          <p:nvPr/>
        </p:nvSpPr>
        <p:spPr>
          <a:xfrm>
            <a:off x="3462973" y="2667895"/>
            <a:ext cx="1815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DataSet</a:t>
            </a:r>
            <a:endParaRPr lang="fr-FR" sz="24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5F06C46-1E90-78B6-AB49-47C9C24BDBDE}"/>
              </a:ext>
            </a:extLst>
          </p:cNvPr>
          <p:cNvCxnSpPr>
            <a:cxnSpLocks/>
          </p:cNvCxnSpPr>
          <p:nvPr/>
        </p:nvCxnSpPr>
        <p:spPr>
          <a:xfrm flipH="1">
            <a:off x="4123113" y="3843802"/>
            <a:ext cx="825228" cy="28508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AF4668C-DEC3-3F18-7C92-5FE4DC6D57D0}"/>
              </a:ext>
            </a:extLst>
          </p:cNvPr>
          <p:cNvSpPr txBox="1"/>
          <p:nvPr/>
        </p:nvSpPr>
        <p:spPr>
          <a:xfrm>
            <a:off x="2461957" y="3829361"/>
            <a:ext cx="21765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Functionnal</a:t>
            </a:r>
            <a:r>
              <a:rPr lang="fr-FR" sz="2400" dirty="0"/>
              <a:t> </a:t>
            </a:r>
          </a:p>
          <a:p>
            <a:r>
              <a:rPr lang="fr-FR" sz="2400" dirty="0"/>
              <a:t>Code Style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299FB5B-F363-6FB4-991C-EFDFC03BDC3D}"/>
              </a:ext>
            </a:extLst>
          </p:cNvPr>
          <p:cNvCxnSpPr>
            <a:cxnSpLocks/>
          </p:cNvCxnSpPr>
          <p:nvPr/>
        </p:nvCxnSpPr>
        <p:spPr>
          <a:xfrm>
            <a:off x="9374328" y="4009598"/>
            <a:ext cx="846686" cy="1955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1FE2E94-7828-2DF6-DE53-D4A86CFE55A9}"/>
              </a:ext>
            </a:extLst>
          </p:cNvPr>
          <p:cNvCxnSpPr>
            <a:cxnSpLocks/>
          </p:cNvCxnSpPr>
          <p:nvPr/>
        </p:nvCxnSpPr>
        <p:spPr>
          <a:xfrm flipV="1">
            <a:off x="9242426" y="3619460"/>
            <a:ext cx="740616" cy="26609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BF64E6A-737F-0E28-24AB-7DB305D09D3B}"/>
              </a:ext>
            </a:extLst>
          </p:cNvPr>
          <p:cNvCxnSpPr>
            <a:cxnSpLocks/>
          </p:cNvCxnSpPr>
          <p:nvPr/>
        </p:nvCxnSpPr>
        <p:spPr>
          <a:xfrm>
            <a:off x="7274422" y="5013420"/>
            <a:ext cx="846686" cy="1955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303CAC7-F2AD-EA99-73FF-2E6BE210D117}"/>
              </a:ext>
            </a:extLst>
          </p:cNvPr>
          <p:cNvCxnSpPr>
            <a:cxnSpLocks/>
          </p:cNvCxnSpPr>
          <p:nvPr/>
        </p:nvCxnSpPr>
        <p:spPr>
          <a:xfrm>
            <a:off x="7127942" y="5208992"/>
            <a:ext cx="569823" cy="46028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E8B0BB5-FFC0-84C0-5900-BBD078BD15F9}"/>
              </a:ext>
            </a:extLst>
          </p:cNvPr>
          <p:cNvCxnSpPr>
            <a:cxnSpLocks/>
          </p:cNvCxnSpPr>
          <p:nvPr/>
        </p:nvCxnSpPr>
        <p:spPr>
          <a:xfrm flipH="1">
            <a:off x="4477789" y="5244253"/>
            <a:ext cx="470552" cy="62059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0A48098-C696-B83F-8CD2-448879819FB1}"/>
              </a:ext>
            </a:extLst>
          </p:cNvPr>
          <p:cNvCxnSpPr>
            <a:cxnSpLocks/>
          </p:cNvCxnSpPr>
          <p:nvPr/>
        </p:nvCxnSpPr>
        <p:spPr>
          <a:xfrm>
            <a:off x="5139777" y="5228370"/>
            <a:ext cx="177840" cy="6993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6B3B228-8C43-2ED3-AC46-33AE8629624A}"/>
              </a:ext>
            </a:extLst>
          </p:cNvPr>
          <p:cNvCxnSpPr>
            <a:cxnSpLocks/>
          </p:cNvCxnSpPr>
          <p:nvPr/>
        </p:nvCxnSpPr>
        <p:spPr>
          <a:xfrm>
            <a:off x="3550229" y="1938428"/>
            <a:ext cx="177840" cy="6993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0D6050D-6972-4CEA-FD97-681B77AD6FF7}"/>
              </a:ext>
            </a:extLst>
          </p:cNvPr>
          <p:cNvCxnSpPr>
            <a:cxnSpLocks/>
          </p:cNvCxnSpPr>
          <p:nvPr/>
        </p:nvCxnSpPr>
        <p:spPr>
          <a:xfrm>
            <a:off x="2841094" y="2222565"/>
            <a:ext cx="621879" cy="4306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4D94970-78E1-EF43-3146-2716C79F3E1E}"/>
              </a:ext>
            </a:extLst>
          </p:cNvPr>
          <p:cNvCxnSpPr>
            <a:cxnSpLocks/>
          </p:cNvCxnSpPr>
          <p:nvPr/>
        </p:nvCxnSpPr>
        <p:spPr>
          <a:xfrm>
            <a:off x="1792398" y="3609877"/>
            <a:ext cx="621879" cy="4306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9A07495-8996-5B36-750C-F13566F3311F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1631506" y="4244860"/>
            <a:ext cx="830451" cy="32159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03746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00E4-32F2-EB5E-1A3F-63FBBB3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400"/>
            <a:ext cx="10515600" cy="820044"/>
          </a:xfrm>
        </p:spPr>
        <p:txBody>
          <a:bodyPr/>
          <a:lstStyle/>
          <a:p>
            <a:pPr algn="ctr"/>
            <a:r>
              <a:rPr lang="fr-FR" dirty="0"/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84FF0-6CEF-2C76-2FA1-28BFA297E5D8}"/>
              </a:ext>
            </a:extLst>
          </p:cNvPr>
          <p:cNvSpPr txBox="1"/>
          <p:nvPr/>
        </p:nvSpPr>
        <p:spPr>
          <a:xfrm>
            <a:off x="1918572" y="1854465"/>
            <a:ext cx="719600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Install on </a:t>
            </a:r>
            <a:r>
              <a:rPr lang="fr-FR" sz="2400" dirty="0" err="1"/>
              <a:t>your</a:t>
            </a:r>
            <a:r>
              <a:rPr lang="fr-FR" sz="2400" dirty="0"/>
              <a:t> (Windows) PC a </a:t>
            </a:r>
            <a:r>
              <a:rPr lang="fr-FR" sz="2400" dirty="0" err="1"/>
              <a:t>minimalist</a:t>
            </a:r>
            <a:r>
              <a:rPr lang="fr-FR" sz="2400" dirty="0"/>
              <a:t> local SPARK</a:t>
            </a:r>
            <a:br>
              <a:rPr lang="fr-FR" sz="2400" dirty="0"/>
            </a:b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2/ Configure </a:t>
            </a:r>
            <a:r>
              <a:rPr lang="fr-FR" sz="2400" dirty="0" err="1"/>
              <a:t>it</a:t>
            </a:r>
            <a:r>
              <a:rPr lang="fr-FR" sz="2400" dirty="0"/>
              <a:t>, launch </a:t>
            </a:r>
            <a:r>
              <a:rPr lang="fr-FR" sz="2400" dirty="0" err="1"/>
              <a:t>spark-shell</a:t>
            </a:r>
            <a:br>
              <a:rPr lang="fr-FR" sz="2400" dirty="0"/>
            </a:b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3/ Discover </a:t>
            </a:r>
            <a:r>
              <a:rPr lang="fr-FR" sz="2400" dirty="0" err="1"/>
              <a:t>spark-shell</a:t>
            </a:r>
            <a:r>
              <a:rPr lang="fr-FR" sz="2400" dirty="0"/>
              <a:t>   scala&gt; REPL </a:t>
            </a:r>
            <a:br>
              <a:rPr lang="fr-FR" sz="2400" dirty="0"/>
            </a:b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4/ </a:t>
            </a:r>
            <a:r>
              <a:rPr lang="fr-FR" sz="2400" dirty="0" err="1"/>
              <a:t>Execute</a:t>
            </a:r>
            <a:r>
              <a:rPr lang="fr-FR" sz="2400" dirty="0"/>
              <a:t> basic </a:t>
            </a:r>
            <a:r>
              <a:rPr lang="fr-FR" sz="2400" dirty="0" err="1"/>
              <a:t>spark</a:t>
            </a:r>
            <a:r>
              <a:rPr lang="fr-FR" sz="2400" dirty="0"/>
              <a:t> </a:t>
            </a:r>
            <a:r>
              <a:rPr lang="fr-FR" sz="2400" dirty="0" err="1"/>
              <a:t>commands</a:t>
            </a:r>
            <a:r>
              <a:rPr lang="fr-FR" sz="2400" dirty="0"/>
              <a:t> on </a:t>
            </a:r>
            <a:r>
              <a:rPr lang="fr-FR" sz="2400" dirty="0" err="1"/>
              <a:t>DataSets</a:t>
            </a:r>
            <a:endParaRPr lang="fr-FR" sz="2400" dirty="0"/>
          </a:p>
        </p:txBody>
      </p:sp>
      <p:pic>
        <p:nvPicPr>
          <p:cNvPr id="1026" name="Picture 2" descr="Image result for checkmark icon">
            <a:extLst>
              <a:ext uri="{FF2B5EF4-FFF2-40B4-BE49-F238E27FC236}">
                <a16:creationId xmlns:a16="http://schemas.microsoft.com/office/drawing/2014/main" id="{E74398AD-0B0C-A258-6EA0-DE207F030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37" y="1636224"/>
            <a:ext cx="896388" cy="89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mage result for checkmark icon">
            <a:extLst>
              <a:ext uri="{FF2B5EF4-FFF2-40B4-BE49-F238E27FC236}">
                <a16:creationId xmlns:a16="http://schemas.microsoft.com/office/drawing/2014/main" id="{0645F1A1-AD96-D4C4-4891-AC9189521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37" y="2734541"/>
            <a:ext cx="896388" cy="89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 result for checkmark icon">
            <a:extLst>
              <a:ext uri="{FF2B5EF4-FFF2-40B4-BE49-F238E27FC236}">
                <a16:creationId xmlns:a16="http://schemas.microsoft.com/office/drawing/2014/main" id="{E9E3EC63-3460-E871-AD03-9AD06BB51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37" y="3832858"/>
            <a:ext cx="896388" cy="89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Image result for checkmark icon">
            <a:extLst>
              <a:ext uri="{FF2B5EF4-FFF2-40B4-BE49-F238E27FC236}">
                <a16:creationId xmlns:a16="http://schemas.microsoft.com/office/drawing/2014/main" id="{7F716726-452B-DA9E-E1CE-70AD6C508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37" y="4931175"/>
            <a:ext cx="896388" cy="89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11129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4D8E6-8A5B-9C63-AA96-75FC5E57F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96083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Take-Away</a:t>
            </a:r>
            <a:r>
              <a:rPr lang="fr-FR" dirty="0"/>
              <a:t> 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What</a:t>
            </a:r>
            <a:r>
              <a:rPr lang="fr-FR" dirty="0"/>
              <a:t> You </a:t>
            </a:r>
            <a:r>
              <a:rPr lang="fr-FR" dirty="0" err="1"/>
              <a:t>learned</a:t>
            </a:r>
            <a:r>
              <a:rPr lang="fr-FR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414448709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13336-8FDB-4424-A53F-DACFEDD3E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Take</a:t>
            </a:r>
            <a:r>
              <a:rPr lang="fr-FR" dirty="0"/>
              <a:t> </a:t>
            </a:r>
            <a:r>
              <a:rPr lang="fr-FR" dirty="0" err="1"/>
              <a:t>Away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B6FFCB3-1777-448F-A7BE-940F379A621B}"/>
              </a:ext>
            </a:extLst>
          </p:cNvPr>
          <p:cNvSpPr txBox="1"/>
          <p:nvPr/>
        </p:nvSpPr>
        <p:spPr>
          <a:xfrm>
            <a:off x="1649506" y="1918448"/>
            <a:ext cx="934122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val </a:t>
            </a:r>
            <a:r>
              <a:rPr lang="fr-FR" sz="2000" dirty="0" err="1"/>
              <a:t>ds</a:t>
            </a:r>
            <a:r>
              <a:rPr lang="fr-FR" sz="2000" dirty="0"/>
              <a:t> = </a:t>
            </a:r>
            <a:r>
              <a:rPr lang="fr-FR" sz="2000" dirty="0" err="1"/>
              <a:t>spark.createDataset</a:t>
            </a:r>
            <a:r>
              <a:rPr lang="fr-FR" sz="2000" dirty="0"/>
              <a:t>( ( 1 to 100000).</a:t>
            </a:r>
            <a:r>
              <a:rPr lang="fr-FR" sz="2000" dirty="0" err="1"/>
              <a:t>map</a:t>
            </a:r>
            <a:r>
              <a:rPr lang="fr-FR" sz="2000" dirty="0"/>
              <a:t> ( i =&gt; ( i, 0==i%2, </a:t>
            </a:r>
            <a:r>
              <a:rPr lang="fr-FR" sz="2000" dirty="0" err="1"/>
              <a:t>s"Hello</a:t>
            </a:r>
            <a:r>
              <a:rPr lang="fr-FR" sz="2000" dirty="0"/>
              <a:t> ${i} ") ) )</a:t>
            </a:r>
          </a:p>
          <a:p>
            <a:endParaRPr lang="fr-FR" sz="2000" dirty="0"/>
          </a:p>
          <a:p>
            <a:r>
              <a:rPr lang="fr-FR" sz="2000" dirty="0" err="1"/>
              <a:t>ds.printSchema</a:t>
            </a:r>
            <a:r>
              <a:rPr lang="fr-FR" sz="2000" dirty="0"/>
              <a:t>()</a:t>
            </a:r>
          </a:p>
          <a:p>
            <a:endParaRPr lang="fr-FR" sz="2000" dirty="0"/>
          </a:p>
          <a:p>
            <a:r>
              <a:rPr lang="fr-FR" sz="2000" dirty="0" err="1"/>
              <a:t>ds.show</a:t>
            </a:r>
            <a:r>
              <a:rPr lang="fr-FR" sz="2000" dirty="0"/>
              <a:t>(10, false)</a:t>
            </a:r>
          </a:p>
          <a:p>
            <a:endParaRPr lang="fr-FR" sz="2000" dirty="0"/>
          </a:p>
          <a:p>
            <a:r>
              <a:rPr lang="en-US" sz="2000" dirty="0" err="1"/>
              <a:t>ds.filter</a:t>
            </a:r>
            <a:r>
              <a:rPr lang="en-US" sz="2000" dirty="0"/>
              <a:t>( " _3 LIKE '%very%' AND _1 &gt;= 15 ").show(5, false)</a:t>
            </a:r>
          </a:p>
          <a:p>
            <a:endParaRPr lang="en-US" sz="2000" dirty="0"/>
          </a:p>
          <a:p>
            <a:r>
              <a:rPr lang="en-US" sz="2000" dirty="0" err="1"/>
              <a:t>ds.filter</a:t>
            </a:r>
            <a:r>
              <a:rPr lang="en-US" sz="2000" dirty="0"/>
              <a:t>( row =&gt; row._1 &gt;= 15 &amp;&amp; row._3.contains("very") ).show(5, false)</a:t>
            </a:r>
          </a:p>
          <a:p>
            <a:endParaRPr lang="fr-FR" sz="2000" dirty="0"/>
          </a:p>
          <a:p>
            <a:r>
              <a:rPr lang="fr-FR" sz="2000" dirty="0" err="1"/>
              <a:t>ds.filter</a:t>
            </a:r>
            <a:r>
              <a:rPr lang="fr-FR" sz="2000" dirty="0"/>
              <a:t>( </a:t>
            </a:r>
            <a:r>
              <a:rPr lang="fr-FR" sz="2000" dirty="0" err="1"/>
              <a:t>ds.col</a:t>
            </a:r>
            <a:r>
              <a:rPr lang="fr-FR" sz="2000" dirty="0"/>
              <a:t>("_2").and( </a:t>
            </a:r>
            <a:r>
              <a:rPr lang="fr-FR" sz="2000" dirty="0" err="1"/>
              <a:t>ds.col</a:t>
            </a:r>
            <a:r>
              <a:rPr lang="fr-FR" sz="2000" dirty="0"/>
              <a:t>("_1").gt ( lit(15) )) ).show(5, false)</a:t>
            </a:r>
          </a:p>
          <a:p>
            <a:endParaRPr lang="fr-FR" sz="2000" dirty="0"/>
          </a:p>
          <a:p>
            <a:r>
              <a:rPr lang="fr-FR" sz="2000" dirty="0" err="1"/>
              <a:t>ds.filter</a:t>
            </a:r>
            <a:r>
              <a:rPr lang="fr-FR" sz="2000" dirty="0"/>
              <a:t>( $"_2" .and( $"_1" .gt ( lit(15) )) ).show(5, false)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29245001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D2308-620A-EB6A-38FF-9002E61BC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087"/>
            <a:ext cx="10515600" cy="705504"/>
          </a:xfrm>
        </p:spPr>
        <p:txBody>
          <a:bodyPr/>
          <a:lstStyle/>
          <a:p>
            <a:pPr algn="ctr"/>
            <a:r>
              <a:rPr lang="fr-FR" dirty="0" err="1"/>
              <a:t>Mind</a:t>
            </a:r>
            <a:r>
              <a:rPr lang="fr-FR" dirty="0"/>
              <a:t> </a:t>
            </a:r>
            <a:r>
              <a:rPr lang="fr-FR" dirty="0" err="1"/>
              <a:t>Map</a:t>
            </a:r>
            <a:endParaRPr lang="fr-FR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3EE9F3-AE0C-D232-26F0-F3DC56CC4ACC}"/>
              </a:ext>
            </a:extLst>
          </p:cNvPr>
          <p:cNvCxnSpPr>
            <a:cxnSpLocks/>
          </p:cNvCxnSpPr>
          <p:nvPr/>
        </p:nvCxnSpPr>
        <p:spPr>
          <a:xfrm flipV="1">
            <a:off x="7787694" y="1826437"/>
            <a:ext cx="98313" cy="82675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DAB2A3-D9E2-457A-52E7-A0FFD6C1FF9C}"/>
              </a:ext>
            </a:extLst>
          </p:cNvPr>
          <p:cNvCxnSpPr>
            <a:cxnSpLocks/>
          </p:cNvCxnSpPr>
          <p:nvPr/>
        </p:nvCxnSpPr>
        <p:spPr>
          <a:xfrm flipV="1">
            <a:off x="8014189" y="2288102"/>
            <a:ext cx="682136" cy="3961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0BFBB7-F52F-ACBE-86FE-36D031E24D0F}"/>
              </a:ext>
            </a:extLst>
          </p:cNvPr>
          <p:cNvCxnSpPr>
            <a:cxnSpLocks/>
          </p:cNvCxnSpPr>
          <p:nvPr/>
        </p:nvCxnSpPr>
        <p:spPr>
          <a:xfrm>
            <a:off x="8291772" y="2808093"/>
            <a:ext cx="846686" cy="1955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6A5CBD2-9056-9532-3E60-D2663FE8AD20}"/>
              </a:ext>
            </a:extLst>
          </p:cNvPr>
          <p:cNvSpPr txBox="1"/>
          <p:nvPr/>
        </p:nvSpPr>
        <p:spPr>
          <a:xfrm>
            <a:off x="7289810" y="1326264"/>
            <a:ext cx="1575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Pre-</a:t>
            </a:r>
            <a:r>
              <a:rPr lang="fr-FR" sz="2000" dirty="0" err="1"/>
              <a:t>Requisite</a:t>
            </a:r>
            <a:endParaRPr lang="fr-FR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ACEF10-8760-C83D-5E84-F7D3EAEBEA9B}"/>
              </a:ext>
            </a:extLst>
          </p:cNvPr>
          <p:cNvSpPr txBox="1"/>
          <p:nvPr/>
        </p:nvSpPr>
        <p:spPr>
          <a:xfrm>
            <a:off x="8606667" y="1872920"/>
            <a:ext cx="23086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Spark.tar.gz</a:t>
            </a:r>
            <a:br>
              <a:rPr lang="fr-FR" sz="2000" dirty="0"/>
            </a:br>
            <a:r>
              <a:rPr lang="fr-FR" sz="2000" dirty="0"/>
              <a:t>  </a:t>
            </a:r>
            <a:r>
              <a:rPr lang="fr-FR" sz="2000" dirty="0" err="1"/>
              <a:t>embedded</a:t>
            </a:r>
            <a:r>
              <a:rPr lang="fr-FR" sz="2000" dirty="0"/>
              <a:t> Hadoop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0C714C-6AF4-01EE-17E3-FBF538675D72}"/>
              </a:ext>
            </a:extLst>
          </p:cNvPr>
          <p:cNvSpPr txBox="1"/>
          <p:nvPr/>
        </p:nvSpPr>
        <p:spPr>
          <a:xfrm>
            <a:off x="9138458" y="2808093"/>
            <a:ext cx="17399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User-</a:t>
            </a:r>
            <a:r>
              <a:rPr lang="fr-FR" sz="2000" dirty="0" err="1"/>
              <a:t>defined</a:t>
            </a:r>
            <a:r>
              <a:rPr lang="fr-FR" sz="2000" dirty="0"/>
              <a:t> </a:t>
            </a:r>
          </a:p>
          <a:p>
            <a:r>
              <a:rPr lang="fr-FR" sz="2000" dirty="0"/>
              <a:t>  Hadoop.tar.gz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526FB0A-3D4B-2602-BB2B-8F80795CB45A}"/>
              </a:ext>
            </a:extLst>
          </p:cNvPr>
          <p:cNvCxnSpPr>
            <a:cxnSpLocks/>
          </p:cNvCxnSpPr>
          <p:nvPr/>
        </p:nvCxnSpPr>
        <p:spPr>
          <a:xfrm>
            <a:off x="10376808" y="3496634"/>
            <a:ext cx="593467" cy="16837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B62231E-3268-90A1-2081-8AA79C4CC653}"/>
              </a:ext>
            </a:extLst>
          </p:cNvPr>
          <p:cNvSpPr txBox="1"/>
          <p:nvPr/>
        </p:nvSpPr>
        <p:spPr>
          <a:xfrm>
            <a:off x="10546609" y="3628368"/>
            <a:ext cx="1694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Windows </a:t>
            </a:r>
            <a:r>
              <a:rPr lang="fr-FR" dirty="0" err="1"/>
              <a:t>error</a:t>
            </a:r>
            <a:r>
              <a:rPr lang="fr-FR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2F2542-2F39-264E-4B13-731C9865546E}"/>
              </a:ext>
            </a:extLst>
          </p:cNvPr>
          <p:cNvSpPr txBox="1"/>
          <p:nvPr/>
        </p:nvSpPr>
        <p:spPr>
          <a:xfrm>
            <a:off x="5068257" y="3574890"/>
            <a:ext cx="16161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Spark-Shell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A2F40-7A90-19E9-E2C7-6A4E7F81EF83}"/>
              </a:ext>
            </a:extLst>
          </p:cNvPr>
          <p:cNvSpPr txBox="1"/>
          <p:nvPr/>
        </p:nvSpPr>
        <p:spPr>
          <a:xfrm>
            <a:off x="6773758" y="2684230"/>
            <a:ext cx="1621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Installation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613519-2F67-94A2-6BD5-55F140ACD45B}"/>
              </a:ext>
            </a:extLst>
          </p:cNvPr>
          <p:cNvCxnSpPr/>
          <p:nvPr/>
        </p:nvCxnSpPr>
        <p:spPr>
          <a:xfrm flipV="1">
            <a:off x="6472404" y="3145895"/>
            <a:ext cx="602707" cy="48247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C35939-5AA9-4947-EC47-FA50FD25D2D4}"/>
              </a:ext>
            </a:extLst>
          </p:cNvPr>
          <p:cNvCxnSpPr>
            <a:cxnSpLocks/>
          </p:cNvCxnSpPr>
          <p:nvPr/>
        </p:nvCxnSpPr>
        <p:spPr>
          <a:xfrm flipV="1">
            <a:off x="7787694" y="1826437"/>
            <a:ext cx="98313" cy="82675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911F1C0-FFA3-3B96-F7D1-08362CA82F4B}"/>
              </a:ext>
            </a:extLst>
          </p:cNvPr>
          <p:cNvCxnSpPr>
            <a:cxnSpLocks/>
          </p:cNvCxnSpPr>
          <p:nvPr/>
        </p:nvCxnSpPr>
        <p:spPr>
          <a:xfrm flipV="1">
            <a:off x="8014189" y="2288102"/>
            <a:ext cx="682136" cy="3961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ECCB1C-87B0-89CE-6DB1-3C5181AA884B}"/>
              </a:ext>
            </a:extLst>
          </p:cNvPr>
          <p:cNvCxnSpPr>
            <a:cxnSpLocks/>
          </p:cNvCxnSpPr>
          <p:nvPr/>
        </p:nvCxnSpPr>
        <p:spPr>
          <a:xfrm>
            <a:off x="8291772" y="2808093"/>
            <a:ext cx="846686" cy="1955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982F43-7591-1EC9-10CB-4426C1E3CE6A}"/>
              </a:ext>
            </a:extLst>
          </p:cNvPr>
          <p:cNvCxnSpPr>
            <a:cxnSpLocks/>
          </p:cNvCxnSpPr>
          <p:nvPr/>
        </p:nvCxnSpPr>
        <p:spPr>
          <a:xfrm>
            <a:off x="6289964" y="4057363"/>
            <a:ext cx="394441" cy="78064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91CAD3E-6D64-7583-6E12-0573E1974D1A}"/>
              </a:ext>
            </a:extLst>
          </p:cNvPr>
          <p:cNvSpPr txBox="1"/>
          <p:nvPr/>
        </p:nvSpPr>
        <p:spPr>
          <a:xfrm>
            <a:off x="6342795" y="4782588"/>
            <a:ext cx="732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Repl</a:t>
            </a:r>
            <a:endParaRPr lang="fr-FR" sz="24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6304AF-E92D-5150-A0DF-4F0F4A778C45}"/>
              </a:ext>
            </a:extLst>
          </p:cNvPr>
          <p:cNvCxnSpPr>
            <a:cxnSpLocks/>
          </p:cNvCxnSpPr>
          <p:nvPr/>
        </p:nvCxnSpPr>
        <p:spPr>
          <a:xfrm flipH="1">
            <a:off x="5228697" y="4036555"/>
            <a:ext cx="391708" cy="74603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66B7982-1349-0639-8A56-6B6F333064AA}"/>
              </a:ext>
            </a:extLst>
          </p:cNvPr>
          <p:cNvSpPr txBox="1"/>
          <p:nvPr/>
        </p:nvSpPr>
        <p:spPr>
          <a:xfrm>
            <a:off x="4638501" y="4782589"/>
            <a:ext cx="128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Scala&gt;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0657E3-ABAB-93D5-2613-1AB926A02048}"/>
              </a:ext>
            </a:extLst>
          </p:cNvPr>
          <p:cNvCxnSpPr>
            <a:cxnSpLocks/>
          </p:cNvCxnSpPr>
          <p:nvPr/>
        </p:nvCxnSpPr>
        <p:spPr>
          <a:xfrm>
            <a:off x="6804321" y="3829361"/>
            <a:ext cx="732552" cy="5306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7C21DE-23D7-72AB-55AA-DE248386BAD0}"/>
              </a:ext>
            </a:extLst>
          </p:cNvPr>
          <p:cNvSpPr txBox="1"/>
          <p:nvPr/>
        </p:nvSpPr>
        <p:spPr>
          <a:xfrm>
            <a:off x="7697765" y="3667223"/>
            <a:ext cx="1515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Interactive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91D5413-0917-AC1A-F48E-2F3EF6E60985}"/>
              </a:ext>
            </a:extLst>
          </p:cNvPr>
          <p:cNvCxnSpPr>
            <a:cxnSpLocks/>
          </p:cNvCxnSpPr>
          <p:nvPr/>
        </p:nvCxnSpPr>
        <p:spPr>
          <a:xfrm flipH="1" flipV="1">
            <a:off x="4638501" y="2967286"/>
            <a:ext cx="590196" cy="56630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3F5C4C0-8429-C888-2D52-CF3BECACFCEA}"/>
              </a:ext>
            </a:extLst>
          </p:cNvPr>
          <p:cNvSpPr txBox="1"/>
          <p:nvPr/>
        </p:nvSpPr>
        <p:spPr>
          <a:xfrm>
            <a:off x="3462973" y="2667895"/>
            <a:ext cx="1815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DataSet</a:t>
            </a:r>
            <a:endParaRPr lang="fr-FR" sz="24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1B956F-E86A-D219-E93A-EA3EA87CFFB0}"/>
              </a:ext>
            </a:extLst>
          </p:cNvPr>
          <p:cNvCxnSpPr>
            <a:cxnSpLocks/>
          </p:cNvCxnSpPr>
          <p:nvPr/>
        </p:nvCxnSpPr>
        <p:spPr>
          <a:xfrm flipH="1">
            <a:off x="4123113" y="3843802"/>
            <a:ext cx="825228" cy="28508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498DDAB-C263-D62B-8031-9BA396AB99C0}"/>
              </a:ext>
            </a:extLst>
          </p:cNvPr>
          <p:cNvSpPr txBox="1"/>
          <p:nvPr/>
        </p:nvSpPr>
        <p:spPr>
          <a:xfrm>
            <a:off x="2461957" y="3829361"/>
            <a:ext cx="21765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Functionnal</a:t>
            </a:r>
            <a:r>
              <a:rPr lang="fr-FR" sz="2400" dirty="0"/>
              <a:t> </a:t>
            </a:r>
          </a:p>
          <a:p>
            <a:r>
              <a:rPr lang="fr-FR" sz="2400" dirty="0"/>
              <a:t>Code Style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C7FB39A-6F16-EB31-2DF2-3CAF06D6C7D6}"/>
              </a:ext>
            </a:extLst>
          </p:cNvPr>
          <p:cNvCxnSpPr>
            <a:cxnSpLocks/>
          </p:cNvCxnSpPr>
          <p:nvPr/>
        </p:nvCxnSpPr>
        <p:spPr>
          <a:xfrm>
            <a:off x="8805672" y="4289730"/>
            <a:ext cx="460248" cy="41527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381A2A6-AB2F-C7C4-2CD5-A2AD3121E55D}"/>
              </a:ext>
            </a:extLst>
          </p:cNvPr>
          <p:cNvCxnSpPr>
            <a:cxnSpLocks/>
          </p:cNvCxnSpPr>
          <p:nvPr/>
        </p:nvCxnSpPr>
        <p:spPr>
          <a:xfrm>
            <a:off x="8995030" y="4088242"/>
            <a:ext cx="583308" cy="11353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B182A6-C080-F2F3-49E5-1BB9CBB024F6}"/>
              </a:ext>
            </a:extLst>
          </p:cNvPr>
          <p:cNvCxnSpPr>
            <a:cxnSpLocks/>
          </p:cNvCxnSpPr>
          <p:nvPr/>
        </p:nvCxnSpPr>
        <p:spPr>
          <a:xfrm>
            <a:off x="7161021" y="5130584"/>
            <a:ext cx="846686" cy="1955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A2C5F38-76B4-F4AC-B795-58A687F28471}"/>
              </a:ext>
            </a:extLst>
          </p:cNvPr>
          <p:cNvCxnSpPr>
            <a:cxnSpLocks/>
          </p:cNvCxnSpPr>
          <p:nvPr/>
        </p:nvCxnSpPr>
        <p:spPr>
          <a:xfrm>
            <a:off x="7048585" y="5217990"/>
            <a:ext cx="569823" cy="46028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5A07CAF-2F65-259E-7395-2B6B1CCB03CD}"/>
              </a:ext>
            </a:extLst>
          </p:cNvPr>
          <p:cNvCxnSpPr>
            <a:cxnSpLocks/>
          </p:cNvCxnSpPr>
          <p:nvPr/>
        </p:nvCxnSpPr>
        <p:spPr>
          <a:xfrm flipH="1">
            <a:off x="4477789" y="5244253"/>
            <a:ext cx="470552" cy="62059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A64BFA9-32B4-75B6-9260-F815546FB0CA}"/>
              </a:ext>
            </a:extLst>
          </p:cNvPr>
          <p:cNvCxnSpPr>
            <a:cxnSpLocks/>
          </p:cNvCxnSpPr>
          <p:nvPr/>
        </p:nvCxnSpPr>
        <p:spPr>
          <a:xfrm>
            <a:off x="5139777" y="5228370"/>
            <a:ext cx="177840" cy="6993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C0D3F6C-561B-71BB-9519-D6039B1B001F}"/>
              </a:ext>
            </a:extLst>
          </p:cNvPr>
          <p:cNvCxnSpPr>
            <a:cxnSpLocks/>
          </p:cNvCxnSpPr>
          <p:nvPr/>
        </p:nvCxnSpPr>
        <p:spPr>
          <a:xfrm>
            <a:off x="3550229" y="1938428"/>
            <a:ext cx="177840" cy="6993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D6E21B5-6510-BCB8-F630-5E2AE5B25F29}"/>
              </a:ext>
            </a:extLst>
          </p:cNvPr>
          <p:cNvCxnSpPr>
            <a:cxnSpLocks/>
          </p:cNvCxnSpPr>
          <p:nvPr/>
        </p:nvCxnSpPr>
        <p:spPr>
          <a:xfrm>
            <a:off x="2841094" y="2222565"/>
            <a:ext cx="621879" cy="4306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F5F49F2-BE3A-DFB3-D640-3EBA1FF0E027}"/>
              </a:ext>
            </a:extLst>
          </p:cNvPr>
          <p:cNvCxnSpPr>
            <a:cxnSpLocks/>
          </p:cNvCxnSpPr>
          <p:nvPr/>
        </p:nvCxnSpPr>
        <p:spPr>
          <a:xfrm>
            <a:off x="1792398" y="3609877"/>
            <a:ext cx="621879" cy="4306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A218175-D48E-D649-4517-4482FFF9273A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1631506" y="4244860"/>
            <a:ext cx="830451" cy="32159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5333A69-F38A-4ADE-3219-C8EBC29A9541}"/>
              </a:ext>
            </a:extLst>
          </p:cNvPr>
          <p:cNvSpPr txBox="1"/>
          <p:nvPr/>
        </p:nvSpPr>
        <p:spPr>
          <a:xfrm>
            <a:off x="9578338" y="4069613"/>
            <a:ext cx="85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History</a:t>
            </a:r>
            <a:endParaRPr lang="fr-FR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B3B6275-07B7-09AC-0025-C1C20C9A2EC5}"/>
              </a:ext>
            </a:extLst>
          </p:cNvPr>
          <p:cNvSpPr txBox="1"/>
          <p:nvPr/>
        </p:nvSpPr>
        <p:spPr>
          <a:xfrm>
            <a:off x="9265920" y="4699885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:help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AD6BE79-4ACE-0B90-FCFB-27EB4B2B99C4}"/>
              </a:ext>
            </a:extLst>
          </p:cNvPr>
          <p:cNvCxnSpPr>
            <a:cxnSpLocks/>
          </p:cNvCxnSpPr>
          <p:nvPr/>
        </p:nvCxnSpPr>
        <p:spPr>
          <a:xfrm>
            <a:off x="8652085" y="4302648"/>
            <a:ext cx="223129" cy="65173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821C2E6-DFBE-F088-7C89-81C94BA667CF}"/>
              </a:ext>
            </a:extLst>
          </p:cNvPr>
          <p:cNvSpPr txBox="1"/>
          <p:nvPr/>
        </p:nvSpPr>
        <p:spPr>
          <a:xfrm>
            <a:off x="8778561" y="4943479"/>
            <a:ext cx="2488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TAB </a:t>
            </a:r>
            <a:r>
              <a:rPr lang="fr-FR" dirty="0" err="1"/>
              <a:t>TAB</a:t>
            </a:r>
            <a:r>
              <a:rPr lang="fr-FR" dirty="0"/>
              <a:t> </a:t>
            </a:r>
            <a:r>
              <a:rPr lang="fr-FR" dirty="0" err="1"/>
              <a:t>autocompletion</a:t>
            </a:r>
            <a:endParaRPr lang="fr-FR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1FDB85-1B5A-3EE8-D86F-1149AB2E4FAE}"/>
              </a:ext>
            </a:extLst>
          </p:cNvPr>
          <p:cNvSpPr txBox="1"/>
          <p:nvPr/>
        </p:nvSpPr>
        <p:spPr>
          <a:xfrm>
            <a:off x="7705799" y="5321259"/>
            <a:ext cx="2316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Line </a:t>
            </a:r>
            <a:r>
              <a:rPr lang="fr-FR" dirty="0" err="1"/>
              <a:t>compiled</a:t>
            </a:r>
            <a:r>
              <a:rPr lang="fr-FR" dirty="0"/>
              <a:t> to scala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DDCC22-82A8-4FDF-74B3-176ED4191C84}"/>
              </a:ext>
            </a:extLst>
          </p:cNvPr>
          <p:cNvSpPr txBox="1"/>
          <p:nvPr/>
        </p:nvSpPr>
        <p:spPr>
          <a:xfrm>
            <a:off x="7519506" y="5665965"/>
            <a:ext cx="1641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Eval on &lt;enter&gt;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1D10B9-710C-EDCD-4D11-C24CEE171938}"/>
              </a:ext>
            </a:extLst>
          </p:cNvPr>
          <p:cNvSpPr txBox="1"/>
          <p:nvPr/>
        </p:nvSpPr>
        <p:spPr>
          <a:xfrm>
            <a:off x="7111346" y="6030400"/>
            <a:ext cx="3203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Numbered</a:t>
            </a:r>
            <a:r>
              <a:rPr lang="fr-FR" dirty="0"/>
              <a:t> </a:t>
            </a:r>
            <a:r>
              <a:rPr lang="fr-FR" dirty="0" err="1"/>
              <a:t>result</a:t>
            </a:r>
            <a:r>
              <a:rPr lang="fr-FR" dirty="0"/>
              <a:t> « res0,res1,.. »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B575F2B-ECFA-454E-C802-C112D929913C}"/>
              </a:ext>
            </a:extLst>
          </p:cNvPr>
          <p:cNvCxnSpPr>
            <a:cxnSpLocks/>
          </p:cNvCxnSpPr>
          <p:nvPr/>
        </p:nvCxnSpPr>
        <p:spPr>
          <a:xfrm>
            <a:off x="6954982" y="5223554"/>
            <a:ext cx="400367" cy="70416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B6CEB13-A9F3-91F3-4310-5990ADF64658}"/>
              </a:ext>
            </a:extLst>
          </p:cNvPr>
          <p:cNvSpPr txBox="1"/>
          <p:nvPr/>
        </p:nvSpPr>
        <p:spPr>
          <a:xfrm>
            <a:off x="4992741" y="5890385"/>
            <a:ext cx="694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Seq()</a:t>
            </a:r>
          </a:p>
          <a:p>
            <a:r>
              <a:rPr lang="fr-FR" dirty="0"/>
              <a:t>Tuple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DBF288-3504-A236-A26A-8179F9E3503E}"/>
              </a:ext>
            </a:extLst>
          </p:cNvPr>
          <p:cNvSpPr txBox="1"/>
          <p:nvPr/>
        </p:nvSpPr>
        <p:spPr>
          <a:xfrm>
            <a:off x="4064464" y="5837519"/>
            <a:ext cx="803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val i = </a:t>
            </a:r>
          </a:p>
          <a:p>
            <a:r>
              <a:rPr lang="fr-FR" dirty="0"/>
              <a:t>var i =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E578F8D-76F5-4C20-E3C1-F9084C686690}"/>
              </a:ext>
            </a:extLst>
          </p:cNvPr>
          <p:cNvSpPr txBox="1"/>
          <p:nvPr/>
        </p:nvSpPr>
        <p:spPr>
          <a:xfrm>
            <a:off x="5743477" y="5846918"/>
            <a:ext cx="914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JVM</a:t>
            </a:r>
          </a:p>
          <a:p>
            <a:r>
              <a:rPr lang="fr-FR" dirty="0"/>
              <a:t>~Java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1238D50-2677-3EF0-79A9-23DFCF71EE87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5278581" y="5244254"/>
            <a:ext cx="521890" cy="59326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FE34065-50D4-D426-9939-FE693B01D9C0}"/>
              </a:ext>
            </a:extLst>
          </p:cNvPr>
          <p:cNvSpPr txBox="1"/>
          <p:nvPr/>
        </p:nvSpPr>
        <p:spPr>
          <a:xfrm>
            <a:off x="972351" y="4516423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Seq </a:t>
            </a:r>
          </a:p>
          <a:p>
            <a:r>
              <a:rPr lang="fr-FR" dirty="0"/>
              <a:t>.</a:t>
            </a:r>
            <a:r>
              <a:rPr lang="fr-FR" dirty="0" err="1"/>
              <a:t>map</a:t>
            </a:r>
            <a:endParaRPr lang="fr-FR" dirty="0"/>
          </a:p>
          <a:p>
            <a:r>
              <a:rPr lang="fr-FR" dirty="0"/>
              <a:t>lambda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011CFE-3617-D8DE-E85B-5251CB84D0D9}"/>
              </a:ext>
            </a:extLst>
          </p:cNvPr>
          <p:cNvSpPr txBox="1"/>
          <p:nvPr/>
        </p:nvSpPr>
        <p:spPr>
          <a:xfrm>
            <a:off x="539556" y="3348927"/>
            <a:ext cx="1207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Immutable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3D8531-BC46-D328-54BB-2F1D9F6D537C}"/>
              </a:ext>
            </a:extLst>
          </p:cNvPr>
          <p:cNvSpPr txBox="1"/>
          <p:nvPr/>
        </p:nvSpPr>
        <p:spPr>
          <a:xfrm>
            <a:off x="43907" y="3740676"/>
            <a:ext cx="1326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avoid</a:t>
            </a:r>
            <a:r>
              <a:rPr lang="fr-FR" dirty="0"/>
              <a:t> </a:t>
            </a:r>
          </a:p>
          <a:p>
            <a:r>
              <a:rPr lang="fr-FR" dirty="0"/>
              <a:t>for () {} </a:t>
            </a:r>
            <a:r>
              <a:rPr lang="fr-FR" dirty="0" err="1"/>
              <a:t>loop</a:t>
            </a:r>
            <a:endParaRPr lang="fr-FR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6280928-3BA6-B603-8A70-EBB89DFED732}"/>
              </a:ext>
            </a:extLst>
          </p:cNvPr>
          <p:cNvCxnSpPr>
            <a:cxnSpLocks/>
          </p:cNvCxnSpPr>
          <p:nvPr/>
        </p:nvCxnSpPr>
        <p:spPr>
          <a:xfrm>
            <a:off x="1191913" y="4057363"/>
            <a:ext cx="1125946" cy="5808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59FB4B3-3B7E-5E9F-A38F-69B846B89DAC}"/>
              </a:ext>
            </a:extLst>
          </p:cNvPr>
          <p:cNvSpPr txBox="1"/>
          <p:nvPr/>
        </p:nvSpPr>
        <p:spPr>
          <a:xfrm>
            <a:off x="4209448" y="1342475"/>
            <a:ext cx="2591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DataFrame</a:t>
            </a:r>
            <a:r>
              <a:rPr lang="fr-FR" dirty="0"/>
              <a:t>=</a:t>
            </a:r>
            <a:r>
              <a:rPr lang="fr-FR" dirty="0" err="1"/>
              <a:t>Dataset</a:t>
            </a:r>
            <a:r>
              <a:rPr lang="fr-FR" dirty="0"/>
              <a:t>[Row]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E099FBD-AFA3-0A8B-3E3F-8B0B7B7ABFEB}"/>
              </a:ext>
            </a:extLst>
          </p:cNvPr>
          <p:cNvSpPr txBox="1"/>
          <p:nvPr/>
        </p:nvSpPr>
        <p:spPr>
          <a:xfrm>
            <a:off x="675837" y="1643549"/>
            <a:ext cx="2963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Val </a:t>
            </a:r>
            <a:r>
              <a:rPr lang="fr-FR" dirty="0" err="1"/>
              <a:t>ds</a:t>
            </a:r>
            <a:r>
              <a:rPr lang="fr-FR" dirty="0"/>
              <a:t> = </a:t>
            </a:r>
            <a:r>
              <a:rPr lang="fr-FR" dirty="0" err="1"/>
              <a:t>spark.createDataset</a:t>
            </a:r>
            <a:r>
              <a:rPr lang="fr-FR" dirty="0"/>
              <a:t>()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27F65A7-3D7C-F19A-7802-5263E495CCF5}"/>
              </a:ext>
            </a:extLst>
          </p:cNvPr>
          <p:cNvSpPr txBox="1"/>
          <p:nvPr/>
        </p:nvSpPr>
        <p:spPr>
          <a:xfrm>
            <a:off x="761395" y="2093149"/>
            <a:ext cx="1831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ds.show</a:t>
            </a:r>
            <a:r>
              <a:rPr lang="fr-FR" dirty="0"/>
              <a:t>(10, </a:t>
            </a:r>
            <a:r>
              <a:rPr lang="fr-FR" dirty="0" err="1"/>
              <a:t>true</a:t>
            </a:r>
            <a:r>
              <a:rPr lang="fr-FR" dirty="0"/>
              <a:t>)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BED1B3F-C25F-03C8-170D-B1538FD40FC7}"/>
              </a:ext>
            </a:extLst>
          </p:cNvPr>
          <p:cNvCxnSpPr>
            <a:cxnSpLocks/>
          </p:cNvCxnSpPr>
          <p:nvPr/>
        </p:nvCxnSpPr>
        <p:spPr>
          <a:xfrm>
            <a:off x="2531818" y="2452581"/>
            <a:ext cx="760322" cy="26010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DA0ECCD-7914-49A0-7155-EAB9DA3021C5}"/>
              </a:ext>
            </a:extLst>
          </p:cNvPr>
          <p:cNvCxnSpPr>
            <a:cxnSpLocks/>
          </p:cNvCxnSpPr>
          <p:nvPr/>
        </p:nvCxnSpPr>
        <p:spPr>
          <a:xfrm>
            <a:off x="3884618" y="1643549"/>
            <a:ext cx="70806" cy="99422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4BC0580-CA6A-ADC2-864D-125AFA66319C}"/>
              </a:ext>
            </a:extLst>
          </p:cNvPr>
          <p:cNvCxnSpPr>
            <a:cxnSpLocks/>
          </p:cNvCxnSpPr>
          <p:nvPr/>
        </p:nvCxnSpPr>
        <p:spPr>
          <a:xfrm flipH="1">
            <a:off x="4083606" y="1725419"/>
            <a:ext cx="752941" cy="9131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D2C39174-2852-C23D-9E11-91AC0EEC2627}"/>
              </a:ext>
            </a:extLst>
          </p:cNvPr>
          <p:cNvSpPr txBox="1"/>
          <p:nvPr/>
        </p:nvSpPr>
        <p:spPr>
          <a:xfrm>
            <a:off x="2619473" y="1131376"/>
            <a:ext cx="168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Transform</a:t>
            </a:r>
            <a:r>
              <a:rPr lang="fr-FR" dirty="0"/>
              <a:t>, </a:t>
            </a:r>
            <a:r>
              <a:rPr lang="fr-FR" dirty="0" err="1"/>
              <a:t>filter</a:t>
            </a:r>
            <a:endParaRPr lang="fr-FR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6B6C158-4CD2-86EA-5356-74EDE82EA6C2}"/>
              </a:ext>
            </a:extLst>
          </p:cNvPr>
          <p:cNvSpPr txBox="1"/>
          <p:nvPr/>
        </p:nvSpPr>
        <p:spPr>
          <a:xfrm>
            <a:off x="9473470" y="4398250"/>
            <a:ext cx="1200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Up / Down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4EFE5FE-E98F-21F7-1BF9-D51B54AE2AF3}"/>
              </a:ext>
            </a:extLst>
          </p:cNvPr>
          <p:cNvCxnSpPr>
            <a:cxnSpLocks/>
          </p:cNvCxnSpPr>
          <p:nvPr/>
        </p:nvCxnSpPr>
        <p:spPr>
          <a:xfrm>
            <a:off x="8980082" y="4188986"/>
            <a:ext cx="354119" cy="22322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14D8BB4-D195-CDAD-7915-90FBC68F0AF7}"/>
              </a:ext>
            </a:extLst>
          </p:cNvPr>
          <p:cNvCxnSpPr>
            <a:cxnSpLocks/>
          </p:cNvCxnSpPr>
          <p:nvPr/>
        </p:nvCxnSpPr>
        <p:spPr>
          <a:xfrm flipV="1">
            <a:off x="9380739" y="1564422"/>
            <a:ext cx="544336" cy="33051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8A751954-A359-1C90-445E-AD45EA4216B6}"/>
              </a:ext>
            </a:extLst>
          </p:cNvPr>
          <p:cNvSpPr txBox="1"/>
          <p:nvPr/>
        </p:nvSpPr>
        <p:spPr>
          <a:xfrm>
            <a:off x="9660775" y="1196538"/>
            <a:ext cx="1162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Setenv.bat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A24C11B-DED8-5FFE-FAA8-873A6B26B68C}"/>
              </a:ext>
            </a:extLst>
          </p:cNvPr>
          <p:cNvSpPr txBox="1"/>
          <p:nvPr/>
        </p:nvSpPr>
        <p:spPr>
          <a:xfrm>
            <a:off x="9572527" y="274472"/>
            <a:ext cx="18415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Set JAVA_HOME</a:t>
            </a:r>
          </a:p>
          <a:p>
            <a:r>
              <a:rPr lang="fr-FR" dirty="0"/>
              <a:t>Set SPARK_HOME</a:t>
            </a:r>
            <a:br>
              <a:rPr lang="fr-FR" dirty="0"/>
            </a:br>
            <a:r>
              <a:rPr lang="fr-FR" dirty="0"/>
              <a:t>set PATH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B6DDA20-45CC-6034-13C8-C697BF259C24}"/>
              </a:ext>
            </a:extLst>
          </p:cNvPr>
          <p:cNvCxnSpPr>
            <a:cxnSpLocks/>
          </p:cNvCxnSpPr>
          <p:nvPr/>
        </p:nvCxnSpPr>
        <p:spPr>
          <a:xfrm flipV="1">
            <a:off x="10073506" y="1060980"/>
            <a:ext cx="168646" cy="24250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FB5E999-FBF4-BC80-1310-26019D9D56F6}"/>
              </a:ext>
            </a:extLst>
          </p:cNvPr>
          <p:cNvCxnSpPr>
            <a:cxnSpLocks/>
          </p:cNvCxnSpPr>
          <p:nvPr/>
        </p:nvCxnSpPr>
        <p:spPr>
          <a:xfrm>
            <a:off x="7659512" y="1024864"/>
            <a:ext cx="211360" cy="31761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A242DF0-3205-21D1-00A8-960E59774542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8077334" y="1016759"/>
            <a:ext cx="163240" cy="30950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AC35FD98-360B-FC27-F9A0-E28A41F70C84}"/>
              </a:ext>
            </a:extLst>
          </p:cNvPr>
          <p:cNvSpPr txBox="1"/>
          <p:nvPr/>
        </p:nvSpPr>
        <p:spPr>
          <a:xfrm>
            <a:off x="7293121" y="699541"/>
            <a:ext cx="721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JVM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BB1C120-FD25-5A63-EA17-7A3D45A06F2C}"/>
              </a:ext>
            </a:extLst>
          </p:cNvPr>
          <p:cNvSpPr txBox="1"/>
          <p:nvPr/>
        </p:nvSpPr>
        <p:spPr>
          <a:xfrm>
            <a:off x="7862024" y="685712"/>
            <a:ext cx="1114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WinUtils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389425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4D8E6-8A5B-9C63-AA96-75FC5E57F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106345573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B51E2-D58F-F242-532C-D550D72C0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Next </a:t>
            </a:r>
            <a:r>
              <a:rPr lang="fr-FR" dirty="0" err="1"/>
              <a:t>Steps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DC0953-00EA-F8BF-D047-998B9247DD02}"/>
              </a:ext>
            </a:extLst>
          </p:cNvPr>
          <p:cNvSpPr txBox="1"/>
          <p:nvPr/>
        </p:nvSpPr>
        <p:spPr>
          <a:xfrm>
            <a:off x="4335838" y="2094807"/>
            <a:ext cx="3520323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More </a:t>
            </a:r>
            <a:r>
              <a:rPr lang="fr-FR" dirty="0" err="1"/>
              <a:t>CMs</a:t>
            </a:r>
            <a:endParaRPr lang="fr-FR" dirty="0"/>
          </a:p>
          <a:p>
            <a:endParaRPr lang="fr-FR" dirty="0"/>
          </a:p>
          <a:p>
            <a:r>
              <a:rPr lang="fr-FR" dirty="0"/>
              <a:t>More </a:t>
            </a:r>
            <a:r>
              <a:rPr lang="fr-FR" dirty="0" err="1"/>
              <a:t>TDs</a:t>
            </a:r>
            <a:endParaRPr lang="fr-FR" dirty="0"/>
          </a:p>
          <a:p>
            <a:endParaRPr lang="fr-FR" dirty="0"/>
          </a:p>
          <a:p>
            <a:r>
              <a:rPr lang="fr-FR" dirty="0"/>
              <a:t>Spark concepts:</a:t>
            </a:r>
          </a:p>
          <a:p>
            <a:pPr marL="285750" indent="-285750">
              <a:buFontTx/>
              <a:buChar char="-"/>
            </a:pPr>
            <a:r>
              <a:rPr lang="fr-FR" dirty="0"/>
              <a:t>File Input / Output  </a:t>
            </a:r>
          </a:p>
          <a:p>
            <a:pPr marL="285750" indent="-285750">
              <a:buFontTx/>
              <a:buChar char="-"/>
            </a:pPr>
            <a:r>
              <a:rPr lang="fr-FR" dirty="0"/>
              <a:t>PARQUET </a:t>
            </a:r>
            <a:r>
              <a:rPr lang="fr-FR" dirty="0" err="1"/>
              <a:t>columnar</a:t>
            </a:r>
            <a:r>
              <a:rPr lang="fr-FR" dirty="0"/>
              <a:t> files</a:t>
            </a:r>
          </a:p>
          <a:p>
            <a:pPr marL="285750" indent="-285750">
              <a:buFontTx/>
              <a:buChar char="-"/>
            </a:pPr>
            <a:r>
              <a:rPr lang="fr-FR" dirty="0"/>
              <a:t>SQL</a:t>
            </a:r>
          </a:p>
          <a:p>
            <a:pPr marL="285750" indent="-285750">
              <a:buFontTx/>
              <a:buChar char="-"/>
            </a:pPr>
            <a:r>
              <a:rPr lang="fr-FR" dirty="0"/>
              <a:t>Spark Clustering</a:t>
            </a:r>
          </a:p>
          <a:p>
            <a:pPr marL="285750" indent="-285750">
              <a:buFontTx/>
              <a:buChar char="-"/>
            </a:pPr>
            <a:r>
              <a:rPr lang="fr-FR" dirty="0"/>
              <a:t>DAG, Distribution, </a:t>
            </a:r>
            <a:r>
              <a:rPr lang="fr-FR" dirty="0" err="1"/>
              <a:t>Optimizations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Java binding, UDF, </a:t>
            </a:r>
            <a:r>
              <a:rPr lang="fr-FR" dirty="0" err="1"/>
              <a:t>map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Spark Streaming</a:t>
            </a:r>
          </a:p>
          <a:p>
            <a:pPr marL="285750" indent="-285750">
              <a:buFontTx/>
              <a:buChar char="-"/>
            </a:pPr>
            <a:r>
              <a:rPr lang="fr-F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95720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24040</TotalTime>
  <Words>4643</Words>
  <Application>Microsoft Office PowerPoint</Application>
  <PresentationFormat>Grand écran</PresentationFormat>
  <Paragraphs>519</Paragraphs>
  <Slides>106</Slides>
  <Notes>0</Notes>
  <HiddenSlides>8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106</vt:i4>
      </vt:variant>
    </vt:vector>
  </HeadingPairs>
  <TitlesOfParts>
    <vt:vector size="112" baseType="lpstr">
      <vt:lpstr>Arial</vt:lpstr>
      <vt:lpstr>Calibri</vt:lpstr>
      <vt:lpstr>Calibri Light</vt:lpstr>
      <vt:lpstr>Symbol</vt:lpstr>
      <vt:lpstr>Office Theme</vt:lpstr>
      <vt:lpstr>Bitmap Image</vt:lpstr>
      <vt:lpstr>Big Data Spark Hands-On 1  spark-shell</vt:lpstr>
      <vt:lpstr>Objectives</vt:lpstr>
      <vt:lpstr>Installing (NOT on Windows..)  with a Package Manager : MacOS,  Linux</vt:lpstr>
      <vt:lpstr>Step 1: Download Spark</vt:lpstr>
      <vt:lpstr>Download..</vt:lpstr>
      <vt:lpstr>Download ..  spark3=370 MB, spark4=530 MB</vt:lpstr>
      <vt:lpstr>Step 2: Unzip for example in C:\apps\spark</vt:lpstr>
      <vt:lpstr>7-Zip … not very user-friendly for « .tar.gz »</vt:lpstr>
      <vt:lpstr>Step 2… check extract « .tar » file! </vt:lpstr>
      <vt:lpstr>Step 3: Pre-requisite  Install JDK</vt:lpstr>
      <vt:lpstr>Step 4: on Windows only  Download « WinUtils »</vt:lpstr>
      <vt:lpstr>Step 4… Copy winutils.exe, hadoop.dll to you Spark  \bin\</vt:lpstr>
      <vt:lpstr>Check Copied 2 Files in  spark…. \bin</vt:lpstr>
      <vt:lpstr>Step 5-a/ … optionnal … ( … for more possible customization on Hadoop configuration files )</vt:lpstr>
      <vt:lpstr>Step 5-b/ … optionnal …  Download user-defined Hadoop</vt:lpstr>
      <vt:lpstr>Step 6 : Configure Environment Variables</vt:lpstr>
      <vt:lpstr>Using Windows Environment Variables</vt:lpstr>
      <vt:lpstr>Variable JAVA_HOME</vt:lpstr>
      <vt:lpstr>SPARK_HOME</vt:lpstr>
      <vt:lpstr>HADOOP_HOME </vt:lpstr>
      <vt:lpstr>PATH</vt:lpstr>
      <vt:lpstr>(NOT Recommended, ALTERNATIVE … )  using scripts files to exec  set JAVA_HOME , PATH,  SPARK_HOME, HADOOP_HOME</vt:lpstr>
      <vt:lpstr>Step 6… optionnal …  If using explicit user-defined Hadoop … also need spark-env.{sh|cmd}  SPARK_DIST_CLASSPATH=$( hadoop classpath )</vt:lpstr>
      <vt:lpstr>Step 6… optionnal … if using explicit HADOOP_HOME (? for fine-grained configuration / versions)</vt:lpstr>
      <vt:lpstr>Step 6 … Error if forgetting SPARK_DIST_CLASSPATH</vt:lpstr>
      <vt:lpstr>Step 7: Sanity Checks …</vt:lpstr>
      <vt:lpstr>Sanity Check: Java</vt:lpstr>
      <vt:lpstr>Sanity check: WinUtils</vt:lpstr>
      <vt:lpstr>Sanity Check « spark-shell --version »</vt:lpstr>
      <vt:lpstr>Typical Error: forgot to copy winutils.exe file</vt:lpstr>
      <vt:lpstr>Spark and custom user-defined Hadoop? .. More difficult error when using JDK8 … but ok when JDK17 ?!</vt:lpstr>
      <vt:lpstr>Optionnal when using custom Hadoop Sanity check HADOOP_HOME + PATH</vt:lpstr>
      <vt:lpstr>hdfs dfs –ls …</vt:lpstr>
      <vt:lpstr>Spark-shell   … print(« Hello World »)</vt:lpstr>
      <vt:lpstr>Objectives</vt:lpstr>
      <vt:lpstr>10 mn Pause</vt:lpstr>
      <vt:lpstr>Discover Spark-shell type &lt;enter&gt; &lt;enter&gt; &lt;enter&gt; …</vt:lpstr>
      <vt:lpstr>REPL = Read – Eval – Print - Loop</vt:lpstr>
      <vt:lpstr>Not only spark-shell… pyspark =&gt; need python exe sparkR =&gt; need ‘R’ exe spark-sql =&gt; need connect to Hive MetaStore Server</vt:lpstr>
      <vt:lpstr>Discover built-ins commands, :help</vt:lpstr>
      <vt:lpstr>Discover History</vt:lpstr>
      <vt:lpstr>Interactive Line Edit Jline  ( ~GNU readline)</vt:lpstr>
      <vt:lpstr>Discover History  (stop + relaunch spark-shell)</vt:lpstr>
      <vt:lpstr>Exercise using « :save », « :load »</vt:lpstr>
      <vt:lpstr>Exercise using « :replay », « :reset »</vt:lpstr>
      <vt:lpstr>Discover Multi-Line edit support</vt:lpstr>
      <vt:lpstr>Using :paste   …   Control+D</vt:lpstr>
      <vt:lpstr>Using Multiple line String (example: SQL)   triple quotes</vt:lpstr>
      <vt:lpstr>Spark-shell is a « REPL » for Spark in « scala »</vt:lpstr>
      <vt:lpstr>« Scala » .. ~  a super set of « Java » Scala runs on the JVM</vt:lpstr>
      <vt:lpstr>https://docs.scala-lang.org/cheatsheets/</vt:lpstr>
      <vt:lpstr>Objectives</vt:lpstr>
      <vt:lpstr>Introduction to Exercises 1,2,3,4,5 … The goal is to create a spark DataSet.. </vt:lpstr>
      <vt:lpstr>Exercise 1 : create a List of 3 Tuples</vt:lpstr>
      <vt:lpstr>Hint Exercise 1</vt:lpstr>
      <vt:lpstr>Answer Exercise 1</vt:lpstr>
      <vt:lpstr>Exercise 2: same, but create an empty List,  and successively add 3 rows … the (non idiomatic) Java way</vt:lpstr>
      <vt:lpstr>Hint exercise 2</vt:lpstr>
      <vt:lpstr>Answer Exercise 2 … the (non-idiomatic) Java Way..</vt:lpstr>
      <vt:lpstr>Exercise 3 .. Same using « functional » code style: transform the sequence (1, 2 … 10000) into Tuples  using « map » lambda function</vt:lpstr>
      <vt:lpstr>Hint Exercise 3</vt:lpstr>
      <vt:lpstr>Answer Exercise 3</vt:lpstr>
      <vt:lpstr>Exercise 4: display result from previous exercise  4a / display length of result 4b/ display row 0 tuple 4c/ display row 0, individual fields from tuple</vt:lpstr>
      <vt:lpstr>Answer Exercise 4</vt:lpstr>
      <vt:lpstr>Exercise 5:  create a spark DataSet of 100_000 rows each row containing  a Tuple of  int : i boolean : true  if i is even string: « hello ${i} »</vt:lpstr>
      <vt:lpstr>Hint Exercise 5</vt:lpstr>
      <vt:lpstr>Answer Exercise 5</vt:lpstr>
      <vt:lpstr>Exercise 6: Display result DataSet of ex. 5 </vt:lpstr>
      <vt:lpstr>Hint Exercise 6</vt:lpstr>
      <vt:lpstr>Answer Exercise 6</vt:lpstr>
      <vt:lpstr>Exercise 7: Rename columns</vt:lpstr>
      <vt:lpstr>Hint Exercise 7</vt:lpstr>
      <vt:lpstr>Answer Exercise 7</vt:lpstr>
      <vt:lpstr>Exercise 8</vt:lpstr>
      <vt:lpstr>Hint Exercise 8</vt:lpstr>
      <vt:lpstr>Answer Exercise 8</vt:lpstr>
      <vt:lpstr>Exercise 8</vt:lpstr>
      <vt:lpstr>Hint Exercise 8</vt:lpstr>
      <vt:lpstr>Answer Exercise 8</vt:lpstr>
      <vt:lpstr>Alternative Answer Exercise 8</vt:lpstr>
      <vt:lpstr>Exercise 9</vt:lpstr>
      <vt:lpstr>Answer Exercise 9</vt:lpstr>
      <vt:lpstr>Exercise 10</vt:lpstr>
      <vt:lpstr>Hint Exercise 10</vt:lpstr>
      <vt:lpstr>Answer Exercise 10</vt:lpstr>
      <vt:lpstr>Exercise 11 : same as exercise 1 (on Tuple),  but using your own custom « case-class »</vt:lpstr>
      <vt:lpstr>Answer Exercise 11</vt:lpstr>
      <vt:lpstr>Exercise 12 : Same as Exercise 5,6,7,8,9 .. Using CaseClass</vt:lpstr>
      <vt:lpstr>Answer Exercise 12</vt:lpstr>
      <vt:lpstr>Exercise 13 : convert to DataFrame  (Dataframe = Dataset&lt;Row&gt;)</vt:lpstr>
      <vt:lpstr>Answer Exercise 13</vt:lpstr>
      <vt:lpstr>Exercise 14 : Question</vt:lpstr>
      <vt:lpstr>Answer Exercise 14</vt:lpstr>
      <vt:lpstr>Exercise 15: question</vt:lpstr>
      <vt:lpstr>Answer Exercise 15</vt:lpstr>
      <vt:lpstr>Exercise 16: filtering Dataset</vt:lpstr>
      <vt:lpstr>Answer Exercise 16</vt:lpstr>
      <vt:lpstr>Answer Exercise 16</vt:lpstr>
      <vt:lpstr>Exercise 17 : MindMap</vt:lpstr>
      <vt:lpstr>Hint Exercise 17</vt:lpstr>
      <vt:lpstr>Objectives</vt:lpstr>
      <vt:lpstr>Take-Away   What You learned ?</vt:lpstr>
      <vt:lpstr>Take Away</vt:lpstr>
      <vt:lpstr>Mind Map</vt:lpstr>
      <vt:lpstr>Questions ?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– Spark  TD1</dc:title>
  <dc:creator>arnaud.nauwynck@gmail.com</dc:creator>
  <cp:lastModifiedBy>arnaud</cp:lastModifiedBy>
  <cp:revision>74</cp:revision>
  <dcterms:created xsi:type="dcterms:W3CDTF">2022-09-26T11:21:05Z</dcterms:created>
  <dcterms:modified xsi:type="dcterms:W3CDTF">2026-10-05T06:31:16Z</dcterms:modified>
</cp:coreProperties>
</file>