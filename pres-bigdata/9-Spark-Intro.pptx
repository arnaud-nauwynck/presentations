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theme" Target="theme/theme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fr-FR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fr-FR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fr-FR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fr-FR"/>
              <a:t>20/11/2025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fr-FR"/>
              <a:t>20/11/2025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fr-FR"/>
              <a:t>20/11/2025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fr-FR"/>
              <a:t>20/11/2025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fr-FR"/>
              <a:t>20/11/2025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fr-FR"/>
              <a:t>20/11/2025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fr-FR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fr-FR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fr-FR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gif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jpeg"/><Relationship Id="rId9" Type="http://schemas.openxmlformats.org/officeDocument/2006/relationships/image" Target="../media/image13.png"/><Relationship Id="rId10" Type="http://schemas.openxmlformats.org/officeDocument/2006/relationships/image" Target="../media/image14.jpe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jpeg"/><Relationship Id="rId6" Type="http://schemas.openxmlformats.org/officeDocument/2006/relationships/image" Target="../media/image27.jpeg"/><Relationship Id="rId7" Type="http://schemas.openxmlformats.org/officeDocument/2006/relationships/image" Target="../media/image28.png"/><Relationship Id="rId8" Type="http://schemas.openxmlformats.org/officeDocument/2006/relationships/image" Target="../media/image29.jpe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1.png"/><Relationship Id="rId19" Type="http://schemas.openxmlformats.org/officeDocument/2006/relationships/image" Target="../media/image38.jpe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eg"/><Relationship Id="rId3" Type="http://schemas.openxmlformats.org/officeDocument/2006/relationships/image" Target="../media/image57.jpe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16037"/>
          </a:xfrm>
          <a:prstGeom prst="rect">
            <a:avLst/>
          </a:prstGeom>
        </p:spPr>
        <p:txBody>
          <a:bodyPr/>
          <a:lstStyle/>
          <a:p>
            <a:r>
              <a:rPr lang="fr-FR"/>
              <a:t>Spark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13" y="3602038"/>
            <a:ext cx="11877039" cy="265652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course Esilv 2026</a:t>
            </a:r>
          </a:p>
          <a:p>
            <a:r>
              <a:rPr lang="fr-FR"/>
              <a:t>arnaud.nauwynck@gmail.com</a:t>
            </a:r>
          </a:p>
          <a:p>
            <a:endParaRPr lang="fr-FR"/>
          </a:p>
          <a:p>
            <a:r>
              <a:rPr lang="fr-FR"/>
              <a:t>this</a:t>
            </a:r>
            <a:r>
              <a:rPr lang="fr-FR"/>
              <a:t> document:</a:t>
            </a:r>
          </a:p>
          <a:p>
            <a:r>
              <a:rPr lang="fr-FR" sz="2400"/>
              <a:t>https://github.com/Arnaud-Nauwynck/presentations/</a:t>
            </a:r>
            <a:br>
              <a:rPr lang="fr-FR" sz="2400"/>
            </a:br>
            <a:r>
              <a:rPr lang="fr-FR" sz="2400"/>
              <a:t> /</a:t>
            </a:r>
            <a:r>
              <a:rPr lang="fr-FR" sz="2400"/>
              <a:t>pres-bigdata</a:t>
            </a:r>
            <a:r>
              <a:rPr lang="fr-FR" sz="2400"/>
              <a:t>/9-spark-intro</a:t>
            </a:r>
          </a:p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Spark (</a:t>
            </a:r>
            <a:r>
              <a:rPr lang="fr-FR"/>
              <a:t>Recent</a:t>
            </a:r>
            <a:r>
              <a:rPr lang="fr-FR"/>
              <a:t>) </a:t>
            </a:r>
            <a:r>
              <a:rPr lang="fr-FR"/>
              <a:t>History</a:t>
            </a:r>
            <a:r>
              <a:rPr lang="fr-FR"/>
              <a:t> &amp; </a:t>
            </a:r>
            <a:r>
              <a:rPr lang="fr-FR"/>
              <a:t>Ancestors</a:t>
            </a:r>
            <a:endParaRPr lang="fr-FR"/>
          </a:p>
        </p:txBody>
      </p:sp>
      <p:sp>
        <p:nvSpPr>
          <p:cNvPr id="4" name="Arrow: Right 3"/>
          <p:cNvSpPr/>
          <p:nvPr/>
        </p:nvSpPr>
        <p:spPr>
          <a:xfrm>
            <a:off x="889855" y="1762016"/>
            <a:ext cx="5582911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621461" y="2126955"/>
            <a:ext cx="105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2002</a:t>
            </a:r>
            <a:r>
              <a:rPr lang="fr-FR"/>
              <a:t>  </a:t>
            </a:r>
            <a:br>
              <a:rPr lang="fr-FR"/>
            </a:br>
            <a:r>
              <a:rPr lang="fr-FR"/>
              <a:t>@Google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1533" y="2169864"/>
            <a:ext cx="1699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2004</a:t>
            </a:r>
            <a:r>
              <a:rPr lang="fr-FR"/>
              <a:t>  Google </a:t>
            </a:r>
          </a:p>
          <a:p>
            <a:r>
              <a:rPr lang="fr-FR"/>
              <a:t>Paper </a:t>
            </a:r>
            <a:r>
              <a:rPr lang="fr-FR"/>
              <a:t>published</a:t>
            </a:r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5877251" y="2153885"/>
            <a:ext cx="3136238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2014 Google</a:t>
            </a:r>
          </a:p>
          <a:p>
            <a:r>
              <a:rPr lang="fr-FR" b="1"/>
              <a:t>No longer used for MapReduce</a:t>
            </a:r>
          </a:p>
        </p:txBody>
      </p:sp>
      <p:sp>
        <p:nvSpPr>
          <p:cNvPr id="9" name="Arrow: Right 8"/>
          <p:cNvSpPr/>
          <p:nvPr/>
        </p:nvSpPr>
        <p:spPr>
          <a:xfrm>
            <a:off x="2820341" y="3427615"/>
            <a:ext cx="5511323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2411776" y="3750780"/>
            <a:ext cx="2521764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2006  @Yahoo</a:t>
            </a:r>
          </a:p>
          <a:p>
            <a:r>
              <a:rPr lang="fr-FR" b="1"/>
              <a:t>Hadoop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0325" y="3218315"/>
            <a:ext cx="3568769" cy="1737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2021 MapReduce bashing </a:t>
            </a:r>
          </a:p>
          <a:p>
            <a:r>
              <a:rPr lang="fr-FR" b="1"/>
              <a:t>… HDFS &amp; Hadoop also</a:t>
            </a:r>
          </a:p>
          <a:p>
            <a:r>
              <a:rPr lang="fr-FR" b="1"/>
              <a:t>HortonWork bought by Cloudera</a:t>
            </a:r>
            <a:br>
              <a:rPr lang="fr-FR" b="1"/>
            </a:br>
            <a:r>
              <a:rPr lang="fr-FR" b="1"/>
              <a:t>HDInsight @Azure…very bad choice</a:t>
            </a:r>
          </a:p>
          <a:p>
            <a:r>
              <a:rPr lang="fr-FR" b="1"/>
              <a:t>      .. To be abandoned</a:t>
            </a:r>
          </a:p>
          <a:p/>
        </p:txBody>
      </p:sp>
      <p:sp>
        <p:nvSpPr>
          <p:cNvPr id="12" name="Arrow: Right 11"/>
          <p:cNvSpPr/>
          <p:nvPr/>
        </p:nvSpPr>
        <p:spPr>
          <a:xfrm>
            <a:off x="4787899" y="5457787"/>
            <a:ext cx="5071533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4430613" y="5751320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2010</a:t>
            </a:r>
            <a:r>
              <a:rPr lang="fr-FR"/>
              <a:t> Spark </a:t>
            </a:r>
            <a:r>
              <a:rPr lang="fr-FR"/>
              <a:t>paper</a:t>
            </a:r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056153" y="3746388"/>
            <a:ext cx="1697553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2012  YARN (v2)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9875" y="4354377"/>
            <a:ext cx="268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2008</a:t>
            </a:r>
            <a:r>
              <a:rPr lang="fr-FR"/>
              <a:t> Apache Open-Source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5179" y="1516429"/>
            <a:ext cx="158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MapReduce @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4081" y="5758005"/>
            <a:ext cx="233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2013</a:t>
            </a:r>
            <a:r>
              <a:rPr lang="fr-FR"/>
              <a:t> Apache top-</a:t>
            </a:r>
            <a:r>
              <a:rPr lang="fr-FR"/>
              <a:t>level</a:t>
            </a:r>
            <a:r>
              <a:rPr lang="fr-FR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2484" y="6247247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2020</a:t>
            </a:r>
          </a:p>
          <a:p>
            <a:r>
              <a:rPr lang="fr-FR" b="1"/>
              <a:t>Spark on K8s</a:t>
            </a:r>
            <a:endParaRPr lang="fr-FR"/>
          </a:p>
        </p:txBody>
      </p:sp>
      <p:sp>
        <p:nvSpPr>
          <p:cNvPr id="19" name="Arrow: Right 18"/>
          <p:cNvSpPr/>
          <p:nvPr/>
        </p:nvSpPr>
        <p:spPr>
          <a:xfrm>
            <a:off x="10103240" y="5176396"/>
            <a:ext cx="831460" cy="98310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/>
          <p:cNvSpPr txBox="1"/>
          <p:nvPr/>
        </p:nvSpPr>
        <p:spPr>
          <a:xfrm>
            <a:off x="10218794" y="5317067"/>
            <a:ext cx="779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/>
              <a:t>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7469" y="6261783"/>
            <a:ext cx="1274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2015 </a:t>
            </a:r>
          </a:p>
          <a:p>
            <a:r>
              <a:rPr lang="fr-FR"/>
              <a:t>Kubernetes</a:t>
            </a:r>
            <a:endParaRPr lang="fr-FR"/>
          </a:p>
        </p:txBody>
      </p:sp>
      <p:pic>
        <p:nvPicPr>
          <p:cNvPr id="1026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50880" y="6414519"/>
            <a:ext cx="380112" cy="371062"/>
          </a:xfrm>
          <a:prstGeom prst="rect">
            <a:avLst/>
          </a:prstGeom>
          <a:noFill/>
        </p:spPr>
      </p:pic>
      <p:pic>
        <p:nvPicPr>
          <p:cNvPr id="1030" name="Picture 6" descr="The Obsolescence Of Hadoop Seen As Investment Opportunity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56529" y="3053235"/>
            <a:ext cx="2738967" cy="709350"/>
          </a:xfrm>
          <a:prstGeom prst="rect">
            <a:avLst/>
          </a:prstGeom>
          <a:noFill/>
        </p:spPr>
      </p:pic>
      <p:pic>
        <p:nvPicPr>
          <p:cNvPr id="1032" name="Picture 8" descr="Apache Spark — Wikipédia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98492" y="4791935"/>
            <a:ext cx="1731327" cy="898847"/>
          </a:xfrm>
          <a:prstGeom prst="rect">
            <a:avLst/>
          </a:prstGeom>
          <a:noFill/>
        </p:spPr>
      </p:pic>
      <p:pic>
        <p:nvPicPr>
          <p:cNvPr id="1034" name="Picture 10" descr="Googlebot — Wikipédia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902217" y="1435418"/>
            <a:ext cx="1378549" cy="466409"/>
          </a:xfrm>
          <a:prstGeom prst="rect">
            <a:avLst/>
          </a:prstGeom>
          <a:noFill/>
        </p:spPr>
      </p:pic>
      <p:pic>
        <p:nvPicPr>
          <p:cNvPr id="1036" name="Picture 12" descr="The reign and modern challenges of the Message Passing Interface (MPI): A  discussion with Dr. Torsten Hoefler. - XRDSXRDS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567" y="4740128"/>
            <a:ext cx="1418579" cy="494684"/>
          </a:xfrm>
          <a:prstGeom prst="rect">
            <a:avLst/>
          </a:prstGeom>
          <a:noFill/>
        </p:spPr>
      </p:pic>
      <p:sp>
        <p:nvSpPr>
          <p:cNvPr id="29" name="TextBox 28"/>
          <p:cNvSpPr txBox="1"/>
          <p:nvPr/>
        </p:nvSpPr>
        <p:spPr>
          <a:xfrm>
            <a:off x="24212" y="5160150"/>
            <a:ext cx="3161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1995 </a:t>
            </a:r>
            <a:r>
              <a:rPr lang="fr-FR"/>
              <a:t>Message Passing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Simple =&gt; </a:t>
            </a:r>
            <a:r>
              <a:rPr lang="fr-FR"/>
              <a:t>Many</a:t>
            </a:r>
            <a:r>
              <a:rPr lang="fr-FR"/>
              <a:t> </a:t>
            </a:r>
            <a:r>
              <a:rPr lang="fr-FR"/>
              <a:t>Specific</a:t>
            </a:r>
            <a:r>
              <a:rPr lang="fr-FR"/>
              <a:t> </a:t>
            </a:r>
            <a:r>
              <a:rPr lang="fr-FR"/>
              <a:t>Systems</a:t>
            </a:r>
            <a:r>
              <a:rPr lang="fr-FR"/>
              <a:t> =&gt; </a:t>
            </a:r>
            <a:r>
              <a:rPr lang="fr-FR"/>
              <a:t>Unified</a:t>
            </a:r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297313" y="5793990"/>
            <a:ext cx="2653427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/>
              <a:t>« Simple » ecosystem</a:t>
            </a:r>
          </a:p>
          <a:p>
            <a:r>
              <a:rPr lang="fr-FR" sz="2000"/>
              <a:t>( verbose inefficient &amp; complex java code)</a:t>
            </a:r>
          </a:p>
        </p:txBody>
      </p:sp>
      <p:pic>
        <p:nvPicPr>
          <p:cNvPr id="2050" name="Picture 2" descr="Le paradigme MapReduce | Le Data Scientist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7999" y="2678926"/>
            <a:ext cx="2327805" cy="796194"/>
          </a:xfrm>
          <a:prstGeom prst="rect">
            <a:avLst/>
          </a:prstGeom>
          <a:noFill/>
        </p:spPr>
      </p:pic>
      <p:sp>
        <p:nvSpPr>
          <p:cNvPr id="5" name="Arrow: Right 4"/>
          <p:cNvSpPr/>
          <p:nvPr/>
        </p:nvSpPr>
        <p:spPr>
          <a:xfrm rot="19367819">
            <a:off x="3666066" y="2169298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2" name="Picture 4" descr="Apache Hive — Wikipédia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52035" y="1083226"/>
            <a:ext cx="734368" cy="660931"/>
          </a:xfrm>
          <a:prstGeom prst="rect">
            <a:avLst/>
          </a:prstGeom>
          <a:noFill/>
        </p:spPr>
      </p:pic>
      <p:pic>
        <p:nvPicPr>
          <p:cNvPr id="2056" name="Picture 8" descr="Big Data Services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19219" y="1759484"/>
            <a:ext cx="1083733" cy="812800"/>
          </a:xfrm>
          <a:prstGeom prst="rect">
            <a:avLst/>
          </a:prstGeom>
          <a:noFill/>
        </p:spPr>
      </p:pic>
      <p:sp>
        <p:nvSpPr>
          <p:cNvPr id="10" name="Arrow: Right 9"/>
          <p:cNvSpPr/>
          <p:nvPr/>
        </p:nvSpPr>
        <p:spPr>
          <a:xfrm rot="20130776">
            <a:off x="3654340" y="2648380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8" name="Picture 10" descr="Mahout: explorez vos données (en plus de les stocker) – Blog Zenika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56386" y="1821595"/>
            <a:ext cx="1510304" cy="589492"/>
          </a:xfrm>
          <a:prstGeom prst="rect">
            <a:avLst/>
          </a:prstGeom>
          <a:noFill/>
        </p:spPr>
      </p:pic>
      <p:sp>
        <p:nvSpPr>
          <p:cNvPr id="12" name="Arrow: Right 11"/>
          <p:cNvSpPr/>
          <p:nvPr/>
        </p:nvSpPr>
        <p:spPr>
          <a:xfrm rot="363563">
            <a:off x="3727563" y="3051232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0" name="Picture 12" descr="Apache Storm — Wikipédia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29660" y="2637138"/>
            <a:ext cx="1706033" cy="568678"/>
          </a:xfrm>
          <a:prstGeom prst="rect">
            <a:avLst/>
          </a:prstGeom>
          <a:noFill/>
        </p:spPr>
      </p:pic>
      <p:sp>
        <p:nvSpPr>
          <p:cNvPr id="14" name="Arrow: Right 13"/>
          <p:cNvSpPr/>
          <p:nvPr/>
        </p:nvSpPr>
        <p:spPr>
          <a:xfrm rot="2456694">
            <a:off x="3699019" y="3522881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4" name="Picture 16" descr="Index of /docs/3.1.2-incubating/images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337418" y="4368502"/>
            <a:ext cx="1862813" cy="532648"/>
          </a:xfrm>
          <a:prstGeom prst="rect">
            <a:avLst/>
          </a:prstGeom>
          <a:noFill/>
        </p:spPr>
      </p:pic>
      <p:sp>
        <p:nvSpPr>
          <p:cNvPr id="17" name="Arrow: Right 16"/>
          <p:cNvSpPr/>
          <p:nvPr/>
        </p:nvSpPr>
        <p:spPr>
          <a:xfrm rot="3518807">
            <a:off x="3654339" y="4082080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6" name="Picture 18" descr="Apache Tez – Welcome to Apache TEZ®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217228" y="4246644"/>
            <a:ext cx="1439333" cy="737658"/>
          </a:xfrm>
          <a:prstGeom prst="rect">
            <a:avLst/>
          </a:prstGeom>
          <a:noFill/>
        </p:spPr>
      </p:pic>
      <p:sp>
        <p:nvSpPr>
          <p:cNvPr id="19" name="Arrow: Right 18"/>
          <p:cNvSpPr/>
          <p:nvPr/>
        </p:nvSpPr>
        <p:spPr>
          <a:xfrm rot="4121961">
            <a:off x="3649871" y="4661626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8" name="Picture 20" descr="Distributed Database - Apache Ignite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370077" y="4937778"/>
            <a:ext cx="1510305" cy="637296"/>
          </a:xfrm>
          <a:prstGeom prst="rect">
            <a:avLst/>
          </a:prstGeom>
          <a:noFill/>
        </p:spPr>
      </p:pic>
      <p:sp>
        <p:nvSpPr>
          <p:cNvPr id="21" name="Arrow: Right 20"/>
          <p:cNvSpPr/>
          <p:nvPr/>
        </p:nvSpPr>
        <p:spPr>
          <a:xfrm rot="17773493">
            <a:off x="3633170" y="1664062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72" name="Picture 24" descr="Advisory: Apache Flink Remote Code Execution Vulnerability - NSFOCUS, Inc.,  a global network and cyber security leader, protects enterprises and  carriers from advanced cyber attacks.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490909" y="3295882"/>
            <a:ext cx="1570567" cy="956826"/>
          </a:xfrm>
          <a:prstGeom prst="rect">
            <a:avLst/>
          </a:prstGeom>
          <a:noFill/>
        </p:spPr>
      </p:pic>
      <p:pic>
        <p:nvPicPr>
          <p:cNvPr id="2074" name="Picture 26" descr="Presto ODBC Driver | Presto JDBC Driver with SQL Connector | Simba -  Magnitude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081789" y="1143870"/>
            <a:ext cx="1248833" cy="655637"/>
          </a:xfrm>
          <a:prstGeom prst="rect">
            <a:avLst/>
          </a:prstGeom>
          <a:noFill/>
        </p:spPr>
      </p:pic>
      <p:pic>
        <p:nvPicPr>
          <p:cNvPr id="2076" name="Picture 28" descr="VirajeTech | World&amp;#39;s Best E-Learning Platform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235560" y="2598095"/>
            <a:ext cx="1068259" cy="956827"/>
          </a:xfrm>
          <a:prstGeom prst="rect">
            <a:avLst/>
          </a:prstGeom>
          <a:noFill/>
        </p:spPr>
      </p:pic>
      <p:pic>
        <p:nvPicPr>
          <p:cNvPr id="2078" name="Picture 30" descr="Apache NiFi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061476" y="3720753"/>
            <a:ext cx="1341611" cy="559005"/>
          </a:xfrm>
          <a:prstGeom prst="rect">
            <a:avLst/>
          </a:prstGeom>
          <a:noFill/>
        </p:spPr>
      </p:pic>
      <p:pic>
        <p:nvPicPr>
          <p:cNvPr id="2080" name="Picture 32" descr="Apache Drill — Wikipédia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895859" y="4951187"/>
            <a:ext cx="1507067" cy="744742"/>
          </a:xfrm>
          <a:prstGeom prst="rect">
            <a:avLst/>
          </a:prstGeom>
          <a:noFill/>
        </p:spPr>
      </p:pic>
      <p:sp>
        <p:nvSpPr>
          <p:cNvPr id="31" name="Arrow: Right 30"/>
          <p:cNvSpPr/>
          <p:nvPr/>
        </p:nvSpPr>
        <p:spPr>
          <a:xfrm rot="3236082">
            <a:off x="8801128" y="2558920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Right 31"/>
          <p:cNvSpPr/>
          <p:nvPr/>
        </p:nvSpPr>
        <p:spPr>
          <a:xfrm>
            <a:off x="8827129" y="3194852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/>
          <p:cNvSpPr/>
          <p:nvPr/>
        </p:nvSpPr>
        <p:spPr>
          <a:xfrm rot="18786171">
            <a:off x="8784982" y="3862549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577318" y="5994607"/>
            <a:ext cx="3248554" cy="6350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4982" y="5700856"/>
            <a:ext cx="3775388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« Bazaar » ecosystem</a:t>
            </a:r>
          </a:p>
          <a:p>
            <a:r>
              <a:rPr lang="fr-FR" sz="2400"/>
              <a:t>(Too MANY, too</a:t>
            </a:r>
            <a:br>
              <a:rPr lang="fr-FR" sz="2400"/>
            </a:br>
            <a:r>
              <a:rPr lang="fr-FR" sz="2400"/>
              <a:t>redundant, complex)</a:t>
            </a:r>
          </a:p>
        </p:txBody>
      </p:sp>
      <p:pic>
        <p:nvPicPr>
          <p:cNvPr id="2084" name="Picture 36" descr="Partners - KEEP IN PACT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687302" y="1581995"/>
            <a:ext cx="2164615" cy="190919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9281283" y="5535062"/>
            <a:ext cx="2870021" cy="118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“</a:t>
            </a:r>
            <a:r>
              <a:rPr lang="en-US" sz="2400" b="1"/>
              <a:t>Unified” ecosystem</a:t>
            </a:r>
          </a:p>
          <a:p>
            <a:r>
              <a:rPr lang="en-US" sz="2400" b="1"/>
              <a:t>Simple</a:t>
            </a:r>
          </a:p>
          <a:p>
            <a:r>
              <a:rPr lang="en-US" sz="2400" b="1"/>
              <a:t>+ extensible modules</a:t>
            </a:r>
            <a:endParaRPr lang="fr-FR"/>
          </a:p>
        </p:txBody>
      </p:sp>
      <p:pic>
        <p:nvPicPr>
          <p:cNvPr id="39" name="Picture 8" descr="Apache Spark — Wikipédia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9924431" y="3194852"/>
            <a:ext cx="1731327" cy="8988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Spark = « </a:t>
            </a:r>
            <a:r>
              <a:rPr lang="fr-FR" b="1"/>
              <a:t>Unified</a:t>
            </a:r>
            <a:r>
              <a:rPr lang="fr-FR"/>
              <a:t> </a:t>
            </a:r>
            <a:r>
              <a:rPr lang="fr-FR" b="1"/>
              <a:t>Engine</a:t>
            </a:r>
            <a:r>
              <a:rPr lang="fr-FR"/>
              <a:t> »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25647" y="1690688"/>
            <a:ext cx="9740705" cy="44689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Multi Purpose – Multi Languages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83695" y="1547592"/>
            <a:ext cx="8698361" cy="52571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Streamlio Claims Pulsar Performance Advantages Over Kafka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91744" y="649749"/>
            <a:ext cx="1431056" cy="951917"/>
          </a:xfrm>
          <a:prstGeom prst="rect">
            <a:avLst/>
          </a:prstGeom>
          <a:noFill/>
        </p:spPr>
      </p:pic>
      <p:pic>
        <p:nvPicPr>
          <p:cNvPr id="3114" name="Picture 42" descr="William Ardila, Author at Nub8 » Page 3 of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3706" y="3861635"/>
            <a:ext cx="2198294" cy="1099147"/>
          </a:xfrm>
          <a:prstGeom prst="rect">
            <a:avLst/>
          </a:prstGeom>
          <a:noFill/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028063" y="806791"/>
            <a:ext cx="791712" cy="7917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550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Spark-</a:t>
            </a:r>
            <a:r>
              <a:rPr lang="fr-FR"/>
              <a:t>Core</a:t>
            </a:r>
            <a:r>
              <a:rPr lang="fr-FR"/>
              <a:t> + …</a:t>
            </a:r>
          </a:p>
        </p:txBody>
      </p:sp>
      <p:pic>
        <p:nvPicPr>
          <p:cNvPr id="3076" name="Picture 4" descr="Upcoming Meetups - airisData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694928" y="1546686"/>
            <a:ext cx="1994595" cy="1356618"/>
          </a:xfrm>
          <a:prstGeom prst="rect">
            <a:avLst/>
          </a:prstGeom>
          <a:noFill/>
        </p:spPr>
      </p:pic>
      <p:pic>
        <p:nvPicPr>
          <p:cNvPr id="3080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1076" y="1546686"/>
            <a:ext cx="2482088" cy="1422400"/>
          </a:xfrm>
          <a:prstGeom prst="rect">
            <a:avLst/>
          </a:prstGeom>
          <a:noFill/>
        </p:spPr>
      </p:pic>
      <p:pic>
        <p:nvPicPr>
          <p:cNvPr id="3082" name="Picture 10" descr="My First Foray into Spark MLlib. As a data science team that&amp;#39;s always… | by  Dan Piltzer | Red Ventures Data Science &amp;amp; Engineering | Medium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28265" y="1695311"/>
            <a:ext cx="2665230" cy="951917"/>
          </a:xfrm>
          <a:prstGeom prst="rect">
            <a:avLst/>
          </a:prstGeom>
          <a:noFill/>
        </p:spPr>
      </p:pic>
      <p:pic>
        <p:nvPicPr>
          <p:cNvPr id="3084" name="Picture 12" descr="Big Data Processing Using Apache Spark - Part 6: Graph Data Analytics with Spark  GraphX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355712" y="1531425"/>
            <a:ext cx="1849623" cy="132556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19680" y="872292"/>
            <a:ext cx="1180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Structured</a:t>
            </a:r>
            <a:br>
              <a:rPr lang="fr-FR"/>
            </a:br>
            <a:r>
              <a:rPr lang="fr-FR"/>
              <a:t> Data</a:t>
            </a:r>
          </a:p>
        </p:txBody>
      </p:sp>
      <p:sp>
        <p:nvSpPr>
          <p:cNvPr id="7" name="Cylinder 6"/>
          <p:cNvSpPr/>
          <p:nvPr/>
        </p:nvSpPr>
        <p:spPr>
          <a:xfrm>
            <a:off x="1800003" y="979224"/>
            <a:ext cx="901700" cy="611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ylinder 7"/>
          <p:cNvSpPr/>
          <p:nvPr/>
        </p:nvSpPr>
        <p:spPr>
          <a:xfrm rot="16200000">
            <a:off x="4899374" y="910516"/>
            <a:ext cx="259006" cy="8459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8" name="Picture 16" descr="Apache Kafka : Flux de données temps réel | OVHcloud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789512" y="1215863"/>
            <a:ext cx="718608" cy="277919"/>
          </a:xfrm>
          <a:prstGeom prst="rect">
            <a:avLst/>
          </a:prstGeom>
          <a:noFill/>
        </p:spPr>
      </p:pic>
      <p:sp>
        <p:nvSpPr>
          <p:cNvPr id="12" name="Rectangle: Rounded Corners 11"/>
          <p:cNvSpPr/>
          <p:nvPr/>
        </p:nvSpPr>
        <p:spPr>
          <a:xfrm>
            <a:off x="809962" y="16405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/>
          <p:cNvSpPr/>
          <p:nvPr/>
        </p:nvSpPr>
        <p:spPr>
          <a:xfrm>
            <a:off x="3551468" y="1635335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: Rounded Corners 23"/>
          <p:cNvSpPr/>
          <p:nvPr/>
        </p:nvSpPr>
        <p:spPr>
          <a:xfrm>
            <a:off x="6286574" y="16232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: Rounded Corners 24"/>
          <p:cNvSpPr/>
          <p:nvPr/>
        </p:nvSpPr>
        <p:spPr>
          <a:xfrm>
            <a:off x="9031816" y="1590324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94" name="Picture 22" descr="The Quantum Graph Recurrent Neural Network — PennyLane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778999" y="817930"/>
            <a:ext cx="889451" cy="669529"/>
          </a:xfrm>
          <a:prstGeom prst="rect">
            <a:avLst/>
          </a:prstGeom>
          <a:noFill/>
        </p:spPr>
      </p:pic>
      <p:sp>
        <p:nvSpPr>
          <p:cNvPr id="13" name="Rectangle: Rounded Corners 12"/>
          <p:cNvSpPr/>
          <p:nvPr/>
        </p:nvSpPr>
        <p:spPr>
          <a:xfrm>
            <a:off x="4018354" y="3850382"/>
            <a:ext cx="4536440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Picture 8" descr="Apache Spark — Wikipédia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75554" y="3945924"/>
            <a:ext cx="1731327" cy="898847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6755663" y="4129785"/>
            <a:ext cx="13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/>
              <a:t>Core</a:t>
            </a:r>
            <a:endParaRPr lang="fr-FR" sz="4800" b="1"/>
          </a:p>
        </p:txBody>
      </p:sp>
      <p:sp>
        <p:nvSpPr>
          <p:cNvPr id="15" name="TextBox 14"/>
          <p:cNvSpPr txBox="1"/>
          <p:nvPr/>
        </p:nvSpPr>
        <p:spPr>
          <a:xfrm>
            <a:off x="1650900" y="3790947"/>
            <a:ext cx="2377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DataSource</a:t>
            </a:r>
            <a:r>
              <a:rPr lang="fr-FR"/>
              <a:t> </a:t>
            </a:r>
            <a:r>
              <a:rPr lang="fr-FR"/>
              <a:t>Connectors</a:t>
            </a:r>
            <a:endParaRPr lang="fr-FR"/>
          </a:p>
          <a:p>
            <a:r>
              <a:rPr lang="fr-FR"/>
              <a:t>(Hadoop API)</a:t>
            </a:r>
          </a:p>
        </p:txBody>
      </p:sp>
      <p:sp>
        <p:nvSpPr>
          <p:cNvPr id="17" name="Arrow: Up-Down 16"/>
          <p:cNvSpPr/>
          <p:nvPr/>
        </p:nvSpPr>
        <p:spPr>
          <a:xfrm rot="5400000">
            <a:off x="2522832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/>
          <p:cNvSpPr txBox="1"/>
          <p:nvPr/>
        </p:nvSpPr>
        <p:spPr>
          <a:xfrm>
            <a:off x="8709460" y="3943031"/>
            <a:ext cx="173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Cluster Manager</a:t>
            </a:r>
          </a:p>
        </p:txBody>
      </p:sp>
      <p:sp>
        <p:nvSpPr>
          <p:cNvPr id="35" name="Arrow: Up-Down 34"/>
          <p:cNvSpPr/>
          <p:nvPr/>
        </p:nvSpPr>
        <p:spPr>
          <a:xfrm rot="5400000">
            <a:off x="9400610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/>
          <p:cNvSpPr txBox="1"/>
          <p:nvPr/>
        </p:nvSpPr>
        <p:spPr>
          <a:xfrm>
            <a:off x="6250010" y="5261663"/>
            <a:ext cx="1961202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Languages Support</a:t>
            </a:r>
          </a:p>
        </p:txBody>
      </p:sp>
      <p:sp>
        <p:nvSpPr>
          <p:cNvPr id="37" name="Arrow: Up-Down 36"/>
          <p:cNvSpPr/>
          <p:nvPr/>
        </p:nvSpPr>
        <p:spPr>
          <a:xfrm rot="10800000">
            <a:off x="5928832" y="5190670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/>
          <p:cNvSpPr txBox="1"/>
          <p:nvPr/>
        </p:nvSpPr>
        <p:spPr>
          <a:xfrm>
            <a:off x="6474534" y="306043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Modules</a:t>
            </a:r>
          </a:p>
        </p:txBody>
      </p:sp>
      <p:pic>
        <p:nvPicPr>
          <p:cNvPr id="3096" name="Picture 24" descr="Java (langage) — Wikipédia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561705" y="5554641"/>
            <a:ext cx="637540" cy="1186632"/>
          </a:xfrm>
          <a:prstGeom prst="rect">
            <a:avLst/>
          </a:prstGeom>
          <a:noFill/>
        </p:spPr>
      </p:pic>
      <p:pic>
        <p:nvPicPr>
          <p:cNvPr id="3098" name="Picture 26" descr="Scala (langage) — Wikipédia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567553" y="6066414"/>
            <a:ext cx="1719743" cy="705535"/>
          </a:xfrm>
          <a:prstGeom prst="rect">
            <a:avLst/>
          </a:prstGeom>
          <a:noFill/>
        </p:spPr>
      </p:pic>
      <p:pic>
        <p:nvPicPr>
          <p:cNvPr id="3102" name="Picture 30" descr="Python-Logo-PNG-Image - Indigo.amsterdam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865951" y="5799353"/>
            <a:ext cx="2015656" cy="1007828"/>
          </a:xfrm>
          <a:prstGeom prst="rect">
            <a:avLst/>
          </a:prstGeom>
          <a:noFill/>
        </p:spPr>
      </p:pic>
      <p:pic>
        <p:nvPicPr>
          <p:cNvPr id="3106" name="Picture 34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426061" y="5989133"/>
            <a:ext cx="911091" cy="706120"/>
          </a:xfrm>
          <a:prstGeom prst="rect">
            <a:avLst/>
          </a:prstGeom>
          <a:noFill/>
        </p:spPr>
      </p:pic>
      <p:pic>
        <p:nvPicPr>
          <p:cNvPr id="3110" name="Picture 38" descr="Présentation Hadoop Distributed File System – Blog technique Groupe SII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34928" y="3327277"/>
            <a:ext cx="1393418" cy="657519"/>
          </a:xfrm>
          <a:prstGeom prst="rect">
            <a:avLst/>
          </a:prstGeom>
          <a:noFill/>
        </p:spPr>
      </p:pic>
      <p:pic>
        <p:nvPicPr>
          <p:cNvPr id="3112" name="Picture 40" descr="Upload/Download your Azure Storage files by using Azure Data Lake Storage  Plugin with Workload Automation - WORKLOAD AUTOMATION COMMUNITY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65341" y="4499093"/>
            <a:ext cx="1447594" cy="836499"/>
          </a:xfrm>
          <a:prstGeom prst="rect">
            <a:avLst/>
          </a:prstGeom>
          <a:noFill/>
        </p:spPr>
      </p:pic>
      <p:pic>
        <p:nvPicPr>
          <p:cNvPr id="50" name="Picture 2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688770" y="4775421"/>
            <a:ext cx="896605" cy="875258"/>
          </a:xfrm>
          <a:prstGeom prst="rect">
            <a:avLst/>
          </a:prstGeom>
          <a:noFill/>
        </p:spPr>
      </p:pic>
      <p:pic>
        <p:nvPicPr>
          <p:cNvPr id="3116" name="Picture 44" descr="How to Run an Application on Spark Standalone Cluster | by Chuan Xu | Medium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346550" y="3171738"/>
            <a:ext cx="1676749" cy="943171"/>
          </a:xfrm>
          <a:prstGeom prst="rect">
            <a:avLst/>
          </a:prstGeom>
          <a:noFill/>
        </p:spPr>
      </p:pic>
      <p:pic>
        <p:nvPicPr>
          <p:cNvPr id="3118" name="Picture 46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18759" y="5306801"/>
            <a:ext cx="698767" cy="571975"/>
          </a:xfrm>
          <a:prstGeom prst="rect">
            <a:avLst/>
          </a:prstGeom>
          <a:noFill/>
        </p:spPr>
      </p:pic>
      <p:pic>
        <p:nvPicPr>
          <p:cNvPr id="3120" name="Picture 48" descr="Apache Iceber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643695" y="5349397"/>
            <a:ext cx="1447594" cy="394469"/>
          </a:xfrm>
          <a:prstGeom prst="rect">
            <a:avLst/>
          </a:prstGeom>
          <a:noFill/>
        </p:spPr>
      </p:pic>
      <p:pic>
        <p:nvPicPr>
          <p:cNvPr id="3108" name="Picture 36" descr="Amazon S3 101. S3 is a Simple Storage Service that is… | by Vedha Sankar |  featurepreneur | Medium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37402" y="3952271"/>
            <a:ext cx="903472" cy="676732"/>
          </a:xfrm>
          <a:prstGeom prst="rect">
            <a:avLst/>
          </a:prstGeom>
          <a:noFill/>
        </p:spPr>
      </p:pic>
      <p:sp>
        <p:nvSpPr>
          <p:cNvPr id="3" name="Arrow: Down 2"/>
          <p:cNvSpPr/>
          <p:nvPr/>
        </p:nvSpPr>
        <p:spPr>
          <a:xfrm>
            <a:off x="5928022" y="3055809"/>
            <a:ext cx="414513" cy="5043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Getting</a:t>
            </a:r>
            <a:r>
              <a:rPr lang="fr-FR"/>
              <a:t> </a:t>
            </a:r>
            <a:r>
              <a:rPr lang="fr-FR"/>
              <a:t>Started</a:t>
            </a:r>
            <a:endParaRPr lang="fr-FR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7040" y="2351666"/>
            <a:ext cx="6055360" cy="21546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98880" y="1844040"/>
            <a:ext cx="143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1/ 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1240" y="1836511"/>
            <a:ext cx="2376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2/ </a:t>
            </a:r>
            <a:r>
              <a:rPr lang="fr-FR" b="1"/>
              <a:t>Unzip</a:t>
            </a:r>
            <a:r>
              <a:rPr lang="fr-FR" b="1"/>
              <a:t> + </a:t>
            </a:r>
            <a:r>
              <a:rPr lang="fr-FR" b="1"/>
              <a:t>add</a:t>
            </a:r>
            <a:r>
              <a:rPr lang="fr-FR" b="1"/>
              <a:t> to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4480" y="1836511"/>
            <a:ext cx="32319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3/ launch</a:t>
            </a:r>
          </a:p>
          <a:p>
            <a:endParaRPr lang="fr-FR" b="1"/>
          </a:p>
          <a:p>
            <a:r>
              <a:rPr lang="fr-FR" b="1"/>
              <a:t>C:&gt; bin\</a:t>
            </a:r>
            <a:r>
              <a:rPr lang="fr-FR" b="1"/>
              <a:t>spark-shell</a:t>
            </a:r>
            <a:endParaRPr lang="fr-FR" b="1"/>
          </a:p>
          <a:p>
            <a:pPr marL="285750" indent="-285750">
              <a:buFont typeface="Wingdings"/>
              <a:buChar char="Ø"/>
            </a:pPr>
            <a:endParaRPr lang="fr-FR" b="1"/>
          </a:p>
          <a:p>
            <a:r>
              <a:rPr lang="fr-FR" b="1"/>
              <a:t>( or </a:t>
            </a:r>
            <a:r>
              <a:rPr lang="fr-FR" b="1"/>
              <a:t>spark-submit</a:t>
            </a:r>
            <a:r>
              <a:rPr lang="fr-FR" b="1"/>
              <a:t>, or </a:t>
            </a:r>
            <a:r>
              <a:rPr lang="fr-FR" b="1"/>
              <a:t>spark-sql</a:t>
            </a:r>
            <a:r>
              <a:rPr lang="fr-FR" b="1"/>
              <a:t> 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00071" y="4155924"/>
            <a:ext cx="5847457" cy="22603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         scala&gt;  println(« Hello spark »);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0640" y="1911048"/>
            <a:ext cx="9409217" cy="42935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75390" y="5256946"/>
            <a:ext cx="2853939" cy="268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510639" y="5921245"/>
            <a:ext cx="837323" cy="268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2465010" y="1858184"/>
            <a:ext cx="457200" cy="268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/>
          <p:cNvSpPr/>
          <p:nvPr/>
        </p:nvSpPr>
        <p:spPr>
          <a:xfrm>
            <a:off x="1847109" y="1832472"/>
            <a:ext cx="396724" cy="268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/>
          <p:cNvSpPr/>
          <p:nvPr/>
        </p:nvSpPr>
        <p:spPr>
          <a:xfrm>
            <a:off x="1771752" y="5525549"/>
            <a:ext cx="396724" cy="268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0" y="5300718"/>
            <a:ext cx="1623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inside</a:t>
            </a:r>
            <a:r>
              <a:rPr lang="fr-FR"/>
              <a:t> </a:t>
            </a:r>
            <a:r>
              <a:rPr lang="fr-FR"/>
              <a:t>spark</a:t>
            </a:r>
            <a:endParaRPr lang="fr-FR"/>
          </a:p>
          <a:p>
            <a:r>
              <a:rPr lang="fr-FR"/>
              <a:t>type scala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57" y="1509306"/>
            <a:ext cx="1874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launch </a:t>
            </a:r>
            <a:r>
              <a:rPr lang="fr-FR"/>
              <a:t>spark-shell</a:t>
            </a:r>
            <a:endParaRPr lang="fr-FR"/>
          </a:p>
          <a:p>
            <a:r>
              <a:rPr lang="fr-FR"/>
              <a:t>from</a:t>
            </a:r>
            <a:r>
              <a:rPr lang="fr-FR"/>
              <a:t> terminal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Spark-</a:t>
            </a:r>
            <a:r>
              <a:rPr lang="fr-FR"/>
              <a:t>shell</a:t>
            </a:r>
            <a:r>
              <a:rPr lang="fr-FR"/>
              <a:t>&gt;    SCALA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4713395"/>
            <a:ext cx="1298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/>
              <a:t>Ctrl-D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9850" y="1351216"/>
            <a:ext cx="1353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/>
              <a:t>:paste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8570" y="2121867"/>
            <a:ext cx="5292868" cy="19026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37823" y="3947886"/>
            <a:ext cx="4815977" cy="2555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spark-shell</a:t>
            </a:r>
            <a:r>
              <a:rPr lang="fr-FR"/>
              <a:t>&gt; help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48503" y="876804"/>
            <a:ext cx="9640135" cy="58107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ds = spark.createDataset(..)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76817" y="3544053"/>
            <a:ext cx="7733674" cy="16964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76817" y="2143946"/>
            <a:ext cx="5925503" cy="8547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ds</a:t>
            </a:r>
            <a:r>
              <a:rPr lang="fr-FR"/>
              <a:t> = </a:t>
            </a:r>
            <a:r>
              <a:rPr lang="fr-FR"/>
              <a:t>spark.read.textFile</a:t>
            </a:r>
            <a:r>
              <a:rPr lang="fr-FR"/>
              <a:t>( ..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320" y="3606800"/>
            <a:ext cx="1003595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scala&gt; val </a:t>
            </a:r>
            <a:r>
              <a:rPr lang="fr-FR" sz="3200"/>
              <a:t>ds</a:t>
            </a:r>
            <a:r>
              <a:rPr lang="fr-FR" sz="3200"/>
              <a:t>=</a:t>
            </a:r>
            <a:r>
              <a:rPr lang="fr-FR" sz="3200" b="1"/>
              <a:t>spark</a:t>
            </a:r>
            <a:r>
              <a:rPr lang="fr-FR" sz="3200"/>
              <a:t>.read.textFile</a:t>
            </a:r>
            <a:r>
              <a:rPr lang="fr-FR" sz="3200"/>
              <a:t>("c:/data/loremIpsum.txt")</a:t>
            </a:r>
          </a:p>
          <a:p>
            <a:r>
              <a:rPr lang="fr-FR" sz="3200"/>
              <a:t>ds</a:t>
            </a:r>
            <a:r>
              <a:rPr lang="fr-FR" sz="3200"/>
              <a:t>: </a:t>
            </a:r>
            <a:r>
              <a:rPr lang="fr-FR" sz="3200"/>
              <a:t>org.apache.spark.sql.Dataset</a:t>
            </a:r>
            <a:r>
              <a:rPr lang="fr-FR" sz="3200"/>
              <a:t>[String] = [value: string]</a:t>
            </a:r>
          </a:p>
          <a:p>
            <a:endParaRPr lang="fr-FR" sz="3200"/>
          </a:p>
          <a:p>
            <a:r>
              <a:rPr lang="fr-FR" sz="3200"/>
              <a:t>scala&gt; </a:t>
            </a:r>
            <a:r>
              <a:rPr lang="fr-FR" sz="3200"/>
              <a:t>ds.count</a:t>
            </a:r>
            <a:r>
              <a:rPr lang="fr-FR" sz="3200"/>
              <a:t>  // count </a:t>
            </a:r>
            <a:r>
              <a:rPr lang="fr-FR" sz="3200"/>
              <a:t>lines</a:t>
            </a:r>
            <a:endParaRPr lang="fr-FR" sz="3200"/>
          </a:p>
          <a:p>
            <a:r>
              <a:rPr lang="fr-FR" sz="3200"/>
              <a:t>res1: Long = 4</a:t>
            </a:r>
          </a:p>
          <a:p>
            <a:endParaRPr lang="fr-FR" sz="3200"/>
          </a:p>
        </p:txBody>
      </p:sp>
      <p:sp>
        <p:nvSpPr>
          <p:cNvPr id="5" name="TextBox 4"/>
          <p:cNvSpPr txBox="1"/>
          <p:nvPr/>
        </p:nvSpPr>
        <p:spPr>
          <a:xfrm>
            <a:off x="304800" y="1773872"/>
            <a:ext cx="118492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Lorem Ipsum </a:t>
            </a:r>
            <a:r>
              <a:rPr lang="fr-FR"/>
              <a:t>dolor</a:t>
            </a:r>
            <a:r>
              <a:rPr lang="fr-FR"/>
              <a:t> </a:t>
            </a:r>
            <a:r>
              <a:rPr lang="fr-FR"/>
              <a:t>sit</a:t>
            </a:r>
            <a:r>
              <a:rPr lang="fr-FR"/>
              <a:t> </a:t>
            </a:r>
            <a:r>
              <a:rPr lang="fr-FR"/>
              <a:t>amet</a:t>
            </a:r>
            <a:r>
              <a:rPr lang="fr-FR"/>
              <a:t>, </a:t>
            </a:r>
            <a:r>
              <a:rPr lang="fr-FR"/>
              <a:t>consectetur</a:t>
            </a:r>
            <a:r>
              <a:rPr lang="fr-FR"/>
              <a:t> </a:t>
            </a:r>
            <a:r>
              <a:rPr lang="fr-FR"/>
              <a:t>adipiscing</a:t>
            </a:r>
            <a:r>
              <a:rPr lang="fr-FR"/>
              <a:t> </a:t>
            </a:r>
            <a:r>
              <a:rPr lang="fr-FR"/>
              <a:t>elit</a:t>
            </a:r>
            <a:r>
              <a:rPr lang="fr-FR"/>
              <a:t>, </a:t>
            </a:r>
            <a:r>
              <a:rPr lang="fr-FR"/>
              <a:t>sed</a:t>
            </a:r>
            <a:r>
              <a:rPr lang="fr-FR"/>
              <a:t> do </a:t>
            </a:r>
            <a:r>
              <a:rPr lang="fr-FR"/>
              <a:t>eiusmod</a:t>
            </a:r>
            <a:r>
              <a:rPr lang="fr-FR"/>
              <a:t> </a:t>
            </a:r>
            <a:r>
              <a:rPr lang="fr-FR"/>
              <a:t>tempor</a:t>
            </a:r>
            <a:r>
              <a:rPr lang="fr-FR"/>
              <a:t> </a:t>
            </a:r>
            <a:r>
              <a:rPr lang="fr-FR"/>
              <a:t>incididunt</a:t>
            </a:r>
            <a:r>
              <a:rPr lang="fr-FR"/>
              <a:t> ut </a:t>
            </a:r>
            <a:r>
              <a:rPr lang="fr-FR"/>
              <a:t>labore</a:t>
            </a:r>
            <a:r>
              <a:rPr lang="fr-FR"/>
              <a:t> et </a:t>
            </a:r>
            <a:r>
              <a:rPr lang="fr-FR"/>
              <a:t>dolore</a:t>
            </a:r>
            <a:r>
              <a:rPr lang="fr-FR"/>
              <a:t> magna </a:t>
            </a:r>
            <a:r>
              <a:rPr lang="fr-FR"/>
              <a:t>aliqua</a:t>
            </a:r>
            <a:r>
              <a:rPr lang="fr-FR"/>
              <a:t>.</a:t>
            </a:r>
          </a:p>
          <a:p>
            <a:r>
              <a:rPr lang="fr-FR"/>
              <a:t>Ut </a:t>
            </a:r>
            <a:r>
              <a:rPr lang="fr-FR"/>
              <a:t>enim</a:t>
            </a:r>
            <a:r>
              <a:rPr lang="fr-FR"/>
              <a:t> ad </a:t>
            </a:r>
            <a:r>
              <a:rPr lang="fr-FR"/>
              <a:t>minim</a:t>
            </a:r>
            <a:r>
              <a:rPr lang="fr-FR"/>
              <a:t> </a:t>
            </a:r>
            <a:r>
              <a:rPr lang="fr-FR"/>
              <a:t>veniam</a:t>
            </a:r>
            <a:r>
              <a:rPr lang="fr-FR"/>
              <a:t>, </a:t>
            </a:r>
            <a:r>
              <a:rPr lang="fr-FR"/>
              <a:t>quis</a:t>
            </a:r>
            <a:r>
              <a:rPr lang="fr-FR"/>
              <a:t> </a:t>
            </a:r>
            <a:r>
              <a:rPr lang="fr-FR"/>
              <a:t>nostrud</a:t>
            </a:r>
            <a:r>
              <a:rPr lang="fr-FR"/>
              <a:t> </a:t>
            </a:r>
            <a:r>
              <a:rPr lang="fr-FR"/>
              <a:t>exercitation</a:t>
            </a:r>
            <a:r>
              <a:rPr lang="fr-FR"/>
              <a:t> </a:t>
            </a:r>
            <a:r>
              <a:rPr lang="fr-FR"/>
              <a:t>ullamco</a:t>
            </a:r>
            <a:r>
              <a:rPr lang="fr-FR"/>
              <a:t> </a:t>
            </a:r>
            <a:r>
              <a:rPr lang="fr-FR"/>
              <a:t>laboris</a:t>
            </a:r>
            <a:r>
              <a:rPr lang="fr-FR"/>
              <a:t> </a:t>
            </a:r>
            <a:r>
              <a:rPr lang="fr-FR"/>
              <a:t>nisi</a:t>
            </a:r>
            <a:r>
              <a:rPr lang="fr-FR"/>
              <a:t> ut </a:t>
            </a:r>
            <a:r>
              <a:rPr lang="fr-FR"/>
              <a:t>aliquip</a:t>
            </a:r>
            <a:r>
              <a:rPr lang="fr-FR"/>
              <a:t> ex </a:t>
            </a:r>
            <a:r>
              <a:rPr lang="fr-FR"/>
              <a:t>ea</a:t>
            </a:r>
            <a:r>
              <a:rPr lang="fr-FR"/>
              <a:t> commodo </a:t>
            </a:r>
            <a:r>
              <a:rPr lang="fr-FR"/>
              <a:t>consequat</a:t>
            </a:r>
            <a:r>
              <a:rPr lang="fr-FR"/>
              <a:t>.</a:t>
            </a:r>
          </a:p>
          <a:p>
            <a:r>
              <a:rPr lang="fr-FR"/>
              <a:t>Duis </a:t>
            </a:r>
            <a:r>
              <a:rPr lang="fr-FR"/>
              <a:t>aute</a:t>
            </a:r>
            <a:r>
              <a:rPr lang="fr-FR"/>
              <a:t> </a:t>
            </a:r>
            <a:r>
              <a:rPr lang="fr-FR"/>
              <a:t>irure</a:t>
            </a:r>
            <a:r>
              <a:rPr lang="fr-FR"/>
              <a:t> </a:t>
            </a:r>
            <a:r>
              <a:rPr lang="fr-FR"/>
              <a:t>dolor</a:t>
            </a:r>
            <a:r>
              <a:rPr lang="fr-FR"/>
              <a:t> in </a:t>
            </a:r>
            <a:r>
              <a:rPr lang="fr-FR"/>
              <a:t>reprehenderit</a:t>
            </a:r>
            <a:r>
              <a:rPr lang="fr-FR"/>
              <a:t> in </a:t>
            </a:r>
            <a:r>
              <a:rPr lang="fr-FR"/>
              <a:t>voluptate</a:t>
            </a:r>
            <a:r>
              <a:rPr lang="fr-FR"/>
              <a:t> </a:t>
            </a:r>
            <a:r>
              <a:rPr lang="fr-FR"/>
              <a:t>velit</a:t>
            </a:r>
            <a:r>
              <a:rPr lang="fr-FR"/>
              <a:t> esse </a:t>
            </a:r>
            <a:r>
              <a:rPr lang="fr-FR"/>
              <a:t>cillum</a:t>
            </a:r>
            <a:r>
              <a:rPr lang="fr-FR"/>
              <a:t> </a:t>
            </a:r>
            <a:r>
              <a:rPr lang="fr-FR"/>
              <a:t>dolore</a:t>
            </a:r>
            <a:r>
              <a:rPr lang="fr-FR"/>
              <a:t> eu </a:t>
            </a:r>
            <a:r>
              <a:rPr lang="fr-FR"/>
              <a:t>fugiat</a:t>
            </a:r>
            <a:r>
              <a:rPr lang="fr-FR"/>
              <a:t> </a:t>
            </a:r>
            <a:r>
              <a:rPr lang="fr-FR"/>
              <a:t>nulla</a:t>
            </a:r>
            <a:r>
              <a:rPr lang="fr-FR"/>
              <a:t> </a:t>
            </a:r>
            <a:r>
              <a:rPr lang="fr-FR"/>
              <a:t>pariatur</a:t>
            </a:r>
            <a:r>
              <a:rPr lang="fr-FR"/>
              <a:t>.</a:t>
            </a:r>
          </a:p>
          <a:p>
            <a:r>
              <a:rPr lang="fr-FR"/>
              <a:t>Excepteur</a:t>
            </a:r>
            <a:r>
              <a:rPr lang="fr-FR"/>
              <a:t> </a:t>
            </a:r>
            <a:r>
              <a:rPr lang="fr-FR"/>
              <a:t>sint</a:t>
            </a:r>
            <a:r>
              <a:rPr lang="fr-FR"/>
              <a:t> </a:t>
            </a:r>
            <a:r>
              <a:rPr lang="fr-FR"/>
              <a:t>occaecat</a:t>
            </a:r>
            <a:r>
              <a:rPr lang="fr-FR"/>
              <a:t> </a:t>
            </a:r>
            <a:r>
              <a:rPr lang="fr-FR"/>
              <a:t>cupidatat</a:t>
            </a:r>
            <a:r>
              <a:rPr lang="fr-FR"/>
              <a:t> non </a:t>
            </a:r>
            <a:r>
              <a:rPr lang="fr-FR"/>
              <a:t>proident</a:t>
            </a:r>
            <a:r>
              <a:rPr lang="fr-FR"/>
              <a:t>, </a:t>
            </a:r>
            <a:r>
              <a:rPr lang="fr-FR"/>
              <a:t>sunt</a:t>
            </a:r>
            <a:r>
              <a:rPr lang="fr-FR"/>
              <a:t> in culpa qui officia </a:t>
            </a:r>
            <a:r>
              <a:rPr lang="fr-FR"/>
              <a:t>deserunt</a:t>
            </a:r>
            <a:r>
              <a:rPr lang="fr-FR"/>
              <a:t> mollit </a:t>
            </a:r>
            <a:r>
              <a:rPr lang="fr-FR"/>
              <a:t>anim</a:t>
            </a:r>
            <a:r>
              <a:rPr lang="fr-FR"/>
              <a:t> id est </a:t>
            </a:r>
            <a:r>
              <a:rPr lang="fr-FR"/>
              <a:t>laborum</a:t>
            </a:r>
            <a:r>
              <a:rPr lang="fr-FR"/>
              <a:t>.</a:t>
            </a:r>
          </a:p>
          <a:p>
            <a:endParaRPr lang="fr-FR"/>
          </a:p>
        </p:txBody>
      </p:sp>
      <p:sp>
        <p:nvSpPr>
          <p:cNvPr id="6" name="Rectangle: Folded Corner 5"/>
          <p:cNvSpPr/>
          <p:nvPr/>
        </p:nvSpPr>
        <p:spPr>
          <a:xfrm>
            <a:off x="193040" y="1690688"/>
            <a:ext cx="11877040" cy="1372552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220811" y="1362948"/>
            <a:ext cx="1617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loremIpsum.txt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fr-FR"/>
              <a:t>dataset.show</a:t>
            </a:r>
            <a:r>
              <a:rPr lang="fr-FR"/>
              <a:t> ()</a:t>
            </a:r>
            <a:br>
              <a:rPr lang="fr-FR"/>
            </a:br>
            <a:r>
              <a:rPr lang="fr-FR"/>
              <a:t>         default   show(20 /*line*/, </a:t>
            </a:r>
            <a:r>
              <a:rPr lang="fr-FR"/>
              <a:t>true</a:t>
            </a:r>
            <a:r>
              <a:rPr lang="fr-FR"/>
              <a:t> /*</a:t>
            </a:r>
            <a:r>
              <a:rPr lang="fr-FR"/>
              <a:t>truncate</a:t>
            </a:r>
            <a:r>
              <a:rPr lang="fr-FR"/>
              <a:t>*/)  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00064" y="1789080"/>
            <a:ext cx="6591871" cy="24767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3736" y="4534970"/>
            <a:ext cx="12048264" cy="2312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Words</a:t>
            </a:r>
            <a:r>
              <a:rPr lang="fr-FR"/>
              <a:t> Count :  </a:t>
            </a:r>
            <a:r>
              <a:rPr lang="fr-FR"/>
              <a:t>flatMap</a:t>
            </a:r>
            <a:r>
              <a:rPr lang="fr-FR"/>
              <a:t>(…).count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5629" y="1325563"/>
            <a:ext cx="6894260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scala&gt; </a:t>
            </a:r>
            <a:r>
              <a:rPr lang="en-US" sz="3200"/>
              <a:t>val</a:t>
            </a:r>
            <a:r>
              <a:rPr lang="en-US" sz="3200"/>
              <a:t> </a:t>
            </a:r>
            <a:r>
              <a:rPr lang="en-US" sz="3200"/>
              <a:t>wordDs</a:t>
            </a:r>
            <a:r>
              <a:rPr lang="en-US" sz="3200"/>
              <a:t> = </a:t>
            </a:r>
            <a:r>
              <a:rPr lang="en-US" sz="3200"/>
              <a:t>ds.</a:t>
            </a:r>
            <a:r>
              <a:rPr lang="en-US" sz="3200" b="1"/>
              <a:t>flatMap</a:t>
            </a:r>
            <a:r>
              <a:rPr lang="en-US" sz="3200"/>
              <a:t>(line =&gt; </a:t>
            </a:r>
          </a:p>
          <a:p>
            <a:r>
              <a:rPr lang="en-US" sz="3200"/>
              <a:t>	</a:t>
            </a:r>
            <a:r>
              <a:rPr lang="en-US" sz="3200"/>
              <a:t>line.replaceAll</a:t>
            </a:r>
            <a:r>
              <a:rPr lang="en-US" sz="3200"/>
              <a:t>("[,;.:!?]", " ")</a:t>
            </a:r>
          </a:p>
          <a:p>
            <a:r>
              <a:rPr lang="en-US" sz="3200"/>
              <a:t>		.</a:t>
            </a:r>
            <a:r>
              <a:rPr lang="en-US" sz="3200"/>
              <a:t>replaceAll</a:t>
            </a:r>
            <a:r>
              <a:rPr lang="en-US" sz="3200"/>
              <a:t>("  ", " ")</a:t>
            </a:r>
          </a:p>
          <a:p>
            <a:r>
              <a:rPr lang="en-US" sz="3200"/>
              <a:t>		.split(" ")</a:t>
            </a:r>
          </a:p>
          <a:p>
            <a:r>
              <a:rPr lang="en-US" sz="3200"/>
              <a:t>	)</a:t>
            </a:r>
          </a:p>
          <a:p>
            <a:r>
              <a:rPr lang="en-US" sz="3200"/>
              <a:t>words: .. Dataset[String] = [value: string]</a:t>
            </a:r>
          </a:p>
          <a:p>
            <a:endParaRPr lang="en-US" sz="3200"/>
          </a:p>
          <a:p>
            <a:r>
              <a:rPr lang="en-US" sz="3200"/>
              <a:t>scala&gt; </a:t>
            </a:r>
            <a:r>
              <a:rPr lang="en-US" sz="3200" b="1"/>
              <a:t>wordDs.count</a:t>
            </a:r>
            <a:endParaRPr lang="en-US" sz="3200" b="1"/>
          </a:p>
          <a:p>
            <a:r>
              <a:rPr lang="en-US" sz="3200"/>
              <a:t>res3: Long = 69</a:t>
            </a:r>
            <a:endParaRPr lang="fr-FR" sz="3200"/>
          </a:p>
          <a:p>
            <a:endParaRPr lang="en-US" sz="3200"/>
          </a:p>
          <a:p>
            <a:r>
              <a:rPr lang="en-US" sz="3200"/>
              <a:t>scala&gt; </a:t>
            </a:r>
            <a:r>
              <a:rPr lang="en-US" sz="3200"/>
              <a:t>wordDs.show</a:t>
            </a:r>
            <a:r>
              <a:rPr lang="en-US" sz="3200"/>
              <a:t>(10, false)</a:t>
            </a:r>
          </a:p>
          <a:p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44609" y="1663086"/>
            <a:ext cx="3181762" cy="46521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r>
              <a:rPr lang="fr-FR"/>
              <a:t>Words</a:t>
            </a:r>
            <a:r>
              <a:rPr lang="fr-FR"/>
              <a:t> Count … local[*] </a:t>
            </a:r>
            <a:r>
              <a:rPr lang="fr-FR"/>
              <a:t>Debug</a:t>
            </a:r>
            <a:r>
              <a:rPr lang="fr-FR"/>
              <a:t> in Java IDE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74700" y="1325626"/>
            <a:ext cx="10642600" cy="56238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1507404" cy="132562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fr-FR" sz="4400"/>
              <a:t>spark-submit --class &lt;&lt;MainClass&gt;&gt; &lt;&lt;JarFile&gt;&gt;</a:t>
            </a:r>
            <a:endParaRPr sz="4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73120" y="2433862"/>
            <a:ext cx="8818880" cy="44241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6520" y="1129916"/>
            <a:ext cx="11912600" cy="1265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738120"/>
            <a:ext cx="2802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… </a:t>
            </a:r>
            <a:r>
              <a:rPr lang="fr-FR"/>
              <a:t>skipped</a:t>
            </a:r>
            <a:r>
              <a:rPr lang="fr-FR"/>
              <a:t> 1000 </a:t>
            </a:r>
            <a:r>
              <a:rPr lang="fr-FR"/>
              <a:t>lines</a:t>
            </a:r>
            <a:r>
              <a:rPr lang="fr-FR"/>
              <a:t> LOG 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resultDs = dataset.map( x -&gt; {… return y; })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6778244" y="2831644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/>
          <p:cNvSpPr/>
          <p:nvPr/>
        </p:nvSpPr>
        <p:spPr>
          <a:xfrm>
            <a:off x="2410693" y="285121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1479087" y="2333659"/>
            <a:ext cx="2533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Source </a:t>
            </a:r>
            <a:r>
              <a:rPr lang="fr-FR"/>
              <a:t>Dataset</a:t>
            </a:r>
            <a:r>
              <a:rPr lang="fr-FR"/>
              <a:t> = List&lt;X&gt;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7813" y="2668330"/>
            <a:ext cx="721360" cy="221863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/>
          <p:cNvSpPr/>
          <p:nvPr/>
        </p:nvSpPr>
        <p:spPr>
          <a:xfrm>
            <a:off x="4988560" y="2915920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8880775" y="2702362"/>
            <a:ext cx="721360" cy="22912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Isosceles Triangle 9"/>
          <p:cNvSpPr/>
          <p:nvPr/>
        </p:nvSpPr>
        <p:spPr>
          <a:xfrm>
            <a:off x="6763004" y="3456484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/>
          <p:cNvSpPr/>
          <p:nvPr/>
        </p:nvSpPr>
        <p:spPr>
          <a:xfrm>
            <a:off x="2395453" y="347605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/>
          <p:cNvSpPr/>
          <p:nvPr/>
        </p:nvSpPr>
        <p:spPr>
          <a:xfrm>
            <a:off x="4973320" y="3540760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Isosceles Triangle 12"/>
          <p:cNvSpPr/>
          <p:nvPr/>
        </p:nvSpPr>
        <p:spPr>
          <a:xfrm>
            <a:off x="6752844" y="4355644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/>
          <p:cNvSpPr/>
          <p:nvPr/>
        </p:nvSpPr>
        <p:spPr>
          <a:xfrm>
            <a:off x="2385293" y="437521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/>
          <p:cNvSpPr/>
          <p:nvPr/>
        </p:nvSpPr>
        <p:spPr>
          <a:xfrm>
            <a:off x="4963160" y="4439920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8520264" y="2337221"/>
            <a:ext cx="1636273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Result = List&lt;Y&gt;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6662" y="2837300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y1=f(x1)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661" y="340002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y2=f(x2)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6523" y="435564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yn</a:t>
            </a:r>
            <a:r>
              <a:rPr lang="fr-FR"/>
              <a:t>=f(</a:t>
            </a:r>
            <a:r>
              <a:rPr lang="fr-FR"/>
              <a:t>xn</a:t>
            </a:r>
            <a:r>
              <a:rPr lang="fr-FR"/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3694" y="1918435"/>
            <a:ext cx="3124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Mapping </a:t>
            </a:r>
            <a:r>
              <a:rPr lang="fr-FR"/>
              <a:t>function</a:t>
            </a:r>
            <a:r>
              <a:rPr lang="fr-FR"/>
              <a:t> (or lambda) :</a:t>
            </a:r>
          </a:p>
          <a:p>
            <a:r>
              <a:rPr lang="fr-FR"/>
              <a:t>  x -&gt; …. return y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9060688" y="2865676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Isosceles Triangle 21"/>
          <p:cNvSpPr/>
          <p:nvPr/>
        </p:nvSpPr>
        <p:spPr>
          <a:xfrm>
            <a:off x="9045448" y="3490516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Isosceles Triangle 22"/>
          <p:cNvSpPr/>
          <p:nvPr/>
        </p:nvSpPr>
        <p:spPr>
          <a:xfrm>
            <a:off x="9035288" y="4389676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Arrow: Right 23"/>
          <p:cNvSpPr/>
          <p:nvPr/>
        </p:nvSpPr>
        <p:spPr>
          <a:xfrm>
            <a:off x="8184388" y="3389848"/>
            <a:ext cx="272241" cy="1325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Oval 24"/>
          <p:cNvSpPr/>
          <p:nvPr/>
        </p:nvSpPr>
        <p:spPr>
          <a:xfrm>
            <a:off x="4305808" y="2870776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Oval 25"/>
          <p:cNvSpPr/>
          <p:nvPr/>
        </p:nvSpPr>
        <p:spPr>
          <a:xfrm>
            <a:off x="4290568" y="3495616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val 26"/>
          <p:cNvSpPr/>
          <p:nvPr/>
        </p:nvSpPr>
        <p:spPr>
          <a:xfrm>
            <a:off x="4280408" y="4394776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/>
          <p:cNvSpPr txBox="1"/>
          <p:nvPr/>
        </p:nvSpPr>
        <p:spPr>
          <a:xfrm>
            <a:off x="8141669" y="1918399"/>
            <a:ext cx="3092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dataset.map</a:t>
            </a:r>
            <a:r>
              <a:rPr lang="fr-FR" sz="2800" b="1"/>
              <a:t>( </a:t>
            </a:r>
            <a:r>
              <a:rPr lang="fr-FR" sz="2800" b="1"/>
              <a:t>func</a:t>
            </a:r>
            <a:r>
              <a:rPr lang="fr-FR" sz="2800" b="1"/>
              <a:t>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" y="5659120"/>
            <a:ext cx="325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« Equivalent » </a:t>
            </a:r>
            <a:r>
              <a:rPr lang="fr-FR" b="1"/>
              <a:t>imperative</a:t>
            </a:r>
            <a:r>
              <a:rPr lang="fr-FR" b="1"/>
              <a:t> code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810" y="5151289"/>
            <a:ext cx="3078418" cy="1737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List&lt;Y&gt; res = new ArrayList&lt;&gt;();</a:t>
            </a:r>
          </a:p>
          <a:p>
            <a:r>
              <a:rPr lang="fr-FR"/>
              <a:t>for( x : sourceList) {</a:t>
            </a:r>
          </a:p>
          <a:p>
            <a:r>
              <a:rPr lang="fr-FR"/>
              <a:t>    y = func(x);</a:t>
            </a:r>
          </a:p>
          <a:p>
            <a:r>
              <a:rPr lang="fr-FR"/>
              <a:t>    res.add(y);</a:t>
            </a:r>
          </a:p>
          <a:p>
            <a:r>
              <a:rPr lang="fr-FR"/>
              <a:t>}</a:t>
            </a:r>
          </a:p>
          <a:p>
            <a:r>
              <a:rPr lang="fr-FR"/>
              <a:t>return res;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3688" cy="1069389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resultDs</a:t>
            </a:r>
            <a:r>
              <a:rPr lang="fr-FR"/>
              <a:t> = </a:t>
            </a:r>
            <a:r>
              <a:rPr lang="fr-FR"/>
              <a:t>dataset.flatMap</a:t>
            </a:r>
            <a:r>
              <a:rPr lang="fr-FR"/>
              <a:t>(  x -&gt; {… return </a:t>
            </a:r>
            <a:r>
              <a:rPr lang="fr-FR"/>
              <a:t>list</a:t>
            </a:r>
            <a:r>
              <a:rPr lang="fr-FR"/>
              <a:t>&lt;y&gt;; })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9948798" y="2406313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/>
          <p:cNvSpPr/>
          <p:nvPr/>
        </p:nvSpPr>
        <p:spPr>
          <a:xfrm>
            <a:off x="3175000" y="241941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2296160" y="1629232"/>
            <a:ext cx="1841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Source </a:t>
            </a:r>
          </a:p>
          <a:p>
            <a:r>
              <a:rPr lang="fr-FR"/>
              <a:t>Dataset</a:t>
            </a:r>
            <a:r>
              <a:rPr lang="fr-FR"/>
              <a:t> = List&lt;X&gt;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2120" y="2236530"/>
            <a:ext cx="721360" cy="27686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/>
          <p:cNvSpPr/>
          <p:nvPr/>
        </p:nvSpPr>
        <p:spPr>
          <a:xfrm>
            <a:off x="4327383" y="2458898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9781158" y="1872997"/>
            <a:ext cx="1318642" cy="427888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Isosceles Triangle 9"/>
          <p:cNvSpPr/>
          <p:nvPr/>
        </p:nvSpPr>
        <p:spPr>
          <a:xfrm>
            <a:off x="9894715" y="3356478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/>
          <p:cNvSpPr/>
          <p:nvPr/>
        </p:nvSpPr>
        <p:spPr>
          <a:xfrm>
            <a:off x="3159760" y="304425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/>
          <p:cNvSpPr/>
          <p:nvPr/>
        </p:nvSpPr>
        <p:spPr>
          <a:xfrm>
            <a:off x="4312143" y="3083738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Isosceles Triangle 12"/>
          <p:cNvSpPr/>
          <p:nvPr/>
        </p:nvSpPr>
        <p:spPr>
          <a:xfrm>
            <a:off x="9955553" y="5036940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/>
          <p:cNvSpPr/>
          <p:nvPr/>
        </p:nvSpPr>
        <p:spPr>
          <a:xfrm>
            <a:off x="3149600" y="440569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/>
          <p:cNvSpPr/>
          <p:nvPr/>
        </p:nvSpPr>
        <p:spPr>
          <a:xfrm>
            <a:off x="4301983" y="4445178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9334820" y="1476589"/>
            <a:ext cx="2397753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Result Dataset = List&lt;Y&gt;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5485" y="238027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{y1,y2…y5}=f(x1)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5484" y="2943006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{y6,y7}=f(x2)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5346" y="4360902"/>
            <a:ext cx="2275639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{y39,y40,y41} yn=f(xn)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674" y="1154609"/>
            <a:ext cx="3124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Mapping </a:t>
            </a:r>
            <a:r>
              <a:rPr lang="fr-FR"/>
              <a:t>function</a:t>
            </a:r>
            <a:r>
              <a:rPr lang="fr-FR"/>
              <a:t> (or lambda) :</a:t>
            </a:r>
          </a:p>
          <a:p>
            <a:r>
              <a:rPr lang="fr-FR"/>
              <a:t>  x -&gt; …. return y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7105245" y="2364918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Isosceles Triangle 21"/>
          <p:cNvSpPr/>
          <p:nvPr/>
        </p:nvSpPr>
        <p:spPr>
          <a:xfrm>
            <a:off x="7526920" y="2364918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Isosceles Triangle 22"/>
          <p:cNvSpPr/>
          <p:nvPr/>
        </p:nvSpPr>
        <p:spPr>
          <a:xfrm>
            <a:off x="8189265" y="2364918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Isosceles Triangle 23"/>
          <p:cNvSpPr/>
          <p:nvPr/>
        </p:nvSpPr>
        <p:spPr>
          <a:xfrm>
            <a:off x="7096020" y="2946350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Isosceles Triangle 24"/>
          <p:cNvSpPr/>
          <p:nvPr/>
        </p:nvSpPr>
        <p:spPr>
          <a:xfrm>
            <a:off x="7548247" y="2957890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Isosceles Triangle 25"/>
          <p:cNvSpPr/>
          <p:nvPr/>
        </p:nvSpPr>
        <p:spPr>
          <a:xfrm>
            <a:off x="7078952" y="4303692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Isosceles Triangle 26"/>
          <p:cNvSpPr/>
          <p:nvPr/>
        </p:nvSpPr>
        <p:spPr>
          <a:xfrm>
            <a:off x="7524492" y="4303692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Isosceles Triangle 27"/>
          <p:cNvSpPr/>
          <p:nvPr/>
        </p:nvSpPr>
        <p:spPr>
          <a:xfrm>
            <a:off x="8271882" y="4303692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6996171" y="2306043"/>
            <a:ext cx="1685533" cy="53367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7011411" y="2920723"/>
            <a:ext cx="1040389" cy="53367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7056070" y="4245133"/>
            <a:ext cx="1828850" cy="53367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/>
          <p:cNvSpPr/>
          <p:nvPr/>
        </p:nvSpPr>
        <p:spPr>
          <a:xfrm>
            <a:off x="10280795" y="2564461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Isosceles Triangle 32"/>
          <p:cNvSpPr/>
          <p:nvPr/>
        </p:nvSpPr>
        <p:spPr>
          <a:xfrm>
            <a:off x="10697884" y="2744093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Isosceles Triangle 33"/>
          <p:cNvSpPr/>
          <p:nvPr/>
        </p:nvSpPr>
        <p:spPr>
          <a:xfrm>
            <a:off x="10229995" y="3550406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Isosceles Triangle 34"/>
          <p:cNvSpPr/>
          <p:nvPr/>
        </p:nvSpPr>
        <p:spPr>
          <a:xfrm>
            <a:off x="10157674" y="5156318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Isosceles Triangle 35"/>
          <p:cNvSpPr/>
          <p:nvPr/>
        </p:nvSpPr>
        <p:spPr>
          <a:xfrm>
            <a:off x="10511599" y="5338912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reeform: Shape 2"/>
          <p:cNvSpPr/>
          <p:nvPr/>
        </p:nvSpPr>
        <p:spPr>
          <a:xfrm>
            <a:off x="9696301" y="3076350"/>
            <a:ext cx="1549316" cy="553720"/>
          </a:xfrm>
          <a:custGeom>
            <a:avLst/>
            <a:gdLst/>
            <a:ahLst/>
            <a:cxnLst/>
            <a:rect l="l" t="t" r="r" b="b"/>
            <a:pathLst>
              <a:path w="1549316" h="553720">
                <a:moveTo>
                  <a:pt x="1383317" y="0"/>
                </a:moveTo>
                <a:cubicBezTo>
                  <a:pt x="1600487" y="30056"/>
                  <a:pt x="1601757" y="155787"/>
                  <a:pt x="1403637" y="213360"/>
                </a:cubicBezTo>
                <a:cubicBezTo>
                  <a:pt x="1205517" y="270933"/>
                  <a:pt x="629784" y="258233"/>
                  <a:pt x="194597" y="345440"/>
                </a:cubicBezTo>
                <a:cubicBezTo>
                  <a:pt x="-240590" y="432647"/>
                  <a:pt x="189305" y="512445"/>
                  <a:pt x="194597" y="553720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0334877" y="2577861"/>
            <a:ext cx="464088" cy="19103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/>
          <p:cNvSpPr/>
          <p:nvPr/>
        </p:nvSpPr>
        <p:spPr>
          <a:xfrm>
            <a:off x="9665626" y="3838869"/>
            <a:ext cx="1171257" cy="508000"/>
          </a:xfrm>
          <a:custGeom>
            <a:avLst/>
            <a:gdLst/>
            <a:ahLst/>
            <a:cxnLst/>
            <a:rect l="l" t="t" r="r" b="b"/>
            <a:pathLst>
              <a:path w="1171257" h="508000">
                <a:moveTo>
                  <a:pt x="1030788" y="0"/>
                </a:moveTo>
                <a:cubicBezTo>
                  <a:pt x="1247958" y="30056"/>
                  <a:pt x="1179801" y="158327"/>
                  <a:pt x="1051108" y="213360"/>
                </a:cubicBezTo>
                <a:cubicBezTo>
                  <a:pt x="922415" y="268393"/>
                  <a:pt x="849601" y="215053"/>
                  <a:pt x="258628" y="330200"/>
                </a:cubicBezTo>
                <a:cubicBezTo>
                  <a:pt x="-332345" y="445347"/>
                  <a:pt x="273656" y="466725"/>
                  <a:pt x="278948" y="508000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reeform: Shape 41"/>
          <p:cNvSpPr/>
          <p:nvPr/>
        </p:nvSpPr>
        <p:spPr>
          <a:xfrm>
            <a:off x="9726422" y="4751130"/>
            <a:ext cx="1171257" cy="508000"/>
          </a:xfrm>
          <a:custGeom>
            <a:avLst/>
            <a:gdLst/>
            <a:ahLst/>
            <a:cxnLst/>
            <a:rect l="l" t="t" r="r" b="b"/>
            <a:pathLst>
              <a:path w="1171257" h="508000">
                <a:moveTo>
                  <a:pt x="1030788" y="0"/>
                </a:moveTo>
                <a:cubicBezTo>
                  <a:pt x="1247958" y="30056"/>
                  <a:pt x="1179801" y="158327"/>
                  <a:pt x="1051108" y="213360"/>
                </a:cubicBezTo>
                <a:cubicBezTo>
                  <a:pt x="922415" y="268393"/>
                  <a:pt x="849601" y="215053"/>
                  <a:pt x="258628" y="330200"/>
                </a:cubicBezTo>
                <a:cubicBezTo>
                  <a:pt x="-332345" y="445347"/>
                  <a:pt x="273656" y="466725"/>
                  <a:pt x="278948" y="508000"/>
                </a:cubicBezTo>
              </a:path>
            </a:pathLst>
          </a:custGeom>
          <a:noFill/>
          <a:ln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/>
          <p:cNvSpPr txBox="1"/>
          <p:nvPr/>
        </p:nvSpPr>
        <p:spPr>
          <a:xfrm>
            <a:off x="14586" y="5646543"/>
            <a:ext cx="325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« Equivalent » </a:t>
            </a:r>
            <a:r>
              <a:rPr lang="fr-FR" b="1"/>
              <a:t>imperative</a:t>
            </a:r>
            <a:r>
              <a:rPr lang="fr-FR" b="1"/>
              <a:t> code 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2800" y="5175128"/>
            <a:ext cx="3078418" cy="1737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List&lt;Y&gt; res = new ArrayList&lt;&gt;();</a:t>
            </a:r>
          </a:p>
          <a:p>
            <a:r>
              <a:rPr lang="fr-FR"/>
              <a:t>for( x : sourceList) {</a:t>
            </a:r>
          </a:p>
          <a:p>
            <a:r>
              <a:rPr lang="fr-FR"/>
              <a:t>    tmpYSubList = func(x);</a:t>
            </a:r>
          </a:p>
          <a:p>
            <a:r>
              <a:rPr lang="fr-FR"/>
              <a:t>    res.addAll(tmpYSubList);</a:t>
            </a:r>
          </a:p>
          <a:p>
            <a:r>
              <a:rPr lang="fr-FR"/>
              <a:t>}</a:t>
            </a:r>
          </a:p>
          <a:p>
            <a:r>
              <a:rPr lang="fr-FR"/>
              <a:t>return res;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5529" y="1004045"/>
            <a:ext cx="3609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dataset.flatMap</a:t>
            </a:r>
            <a:r>
              <a:rPr lang="fr-FR" sz="2800" b="1"/>
              <a:t>( </a:t>
            </a:r>
            <a:r>
              <a:rPr lang="fr-FR" sz="2800" b="1"/>
              <a:t>func</a:t>
            </a:r>
            <a:r>
              <a:rPr lang="fr-FR" sz="2800" b="1"/>
              <a:t> 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3504651" y="1775868"/>
            <a:ext cx="3111163" cy="1852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6043728" y="3712417"/>
            <a:ext cx="2826573" cy="1946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380531" y="2324174"/>
            <a:ext cx="2806499" cy="4278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r>
              <a:rPr lang="fr-FR"/>
              <a:t>Dataset: « logical view » of « partitions » on Driver </a:t>
            </a:r>
            <a:br>
              <a:rPr lang="fr-FR"/>
            </a:br>
            <a:r>
              <a:rPr lang="fr-FR"/>
              <a:t>     … « data » allocated in-memory on Executors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4289" y="2504800"/>
            <a:ext cx="1127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X 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880" y="2866514"/>
            <a:ext cx="1325880" cy="140576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val 8"/>
          <p:cNvSpPr/>
          <p:nvPr/>
        </p:nvSpPr>
        <p:spPr>
          <a:xfrm>
            <a:off x="4678678" y="254390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3442287" y="1781108"/>
            <a:ext cx="1162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 for </a:t>
            </a:r>
          </a:p>
          <a:p>
            <a:r>
              <a:rPr lang="fr-FR"/>
              <a:t>Partition 1</a:t>
            </a:r>
          </a:p>
          <a:p>
            <a:r>
              <a:rPr lang="fr-FR"/>
              <a:t>Dataset</a:t>
            </a:r>
            <a:r>
              <a:rPr lang="fr-FR"/>
              <a:t>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5798" y="2361025"/>
            <a:ext cx="721360" cy="115698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val 11"/>
          <p:cNvSpPr/>
          <p:nvPr/>
        </p:nvSpPr>
        <p:spPr>
          <a:xfrm>
            <a:off x="4663438" y="301126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val 12"/>
          <p:cNvSpPr/>
          <p:nvPr/>
        </p:nvSpPr>
        <p:spPr>
          <a:xfrm>
            <a:off x="7085741" y="463420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6882541" y="4579457"/>
            <a:ext cx="721360" cy="9548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59408" y="2997472"/>
            <a:ext cx="1162369" cy="431528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759408" y="3572197"/>
            <a:ext cx="1162369" cy="360166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938759" y="3755766"/>
            <a:ext cx="4960764" cy="1099460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3"/>
            <a:endCxn id="11" idx="1"/>
          </p:cNvCxnSpPr>
          <p:nvPr/>
        </p:nvCxnSpPr>
        <p:spPr>
          <a:xfrm flipV="1">
            <a:off x="1921777" y="2939516"/>
            <a:ext cx="2574021" cy="273720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89230" y="3700949"/>
            <a:ext cx="1215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 for </a:t>
            </a:r>
          </a:p>
          <a:p>
            <a:r>
              <a:rPr lang="fr-FR"/>
              <a:t>Partition 2 </a:t>
            </a:r>
          </a:p>
          <a:p>
            <a:r>
              <a:rPr lang="fr-FR"/>
              <a:t>Dataset</a:t>
            </a:r>
            <a:r>
              <a:rPr lang="fr-FR"/>
              <a:t>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408" y="3005982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Partition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388" y="3544590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Partition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4972" y="4899361"/>
            <a:ext cx="3077855" cy="1824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/>
          <p:cNvSpPr txBox="1"/>
          <p:nvPr/>
        </p:nvSpPr>
        <p:spPr>
          <a:xfrm>
            <a:off x="564773" y="1867635"/>
            <a:ext cx="2590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Driver</a:t>
            </a:r>
            <a:r>
              <a:rPr lang="fr-FR" sz="2400"/>
              <a:t> JVM Process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4330" y="1302692"/>
            <a:ext cx="3141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Executor</a:t>
            </a:r>
            <a:r>
              <a:rPr lang="fr-FR" sz="2400" b="1"/>
              <a:t> 1</a:t>
            </a:r>
            <a:r>
              <a:rPr lang="fr-FR" sz="2400"/>
              <a:t> JVM Process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5814" y="3315205"/>
            <a:ext cx="3141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Executor</a:t>
            </a:r>
            <a:r>
              <a:rPr lang="fr-FR" sz="2400" b="1"/>
              <a:t> 2</a:t>
            </a:r>
            <a:r>
              <a:rPr lang="fr-FR" sz="2400"/>
              <a:t> JVM 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4972" y="4483009"/>
            <a:ext cx="318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Executor</a:t>
            </a:r>
            <a:r>
              <a:rPr lang="fr-FR" sz="2400" b="1"/>
              <a:t> N</a:t>
            </a:r>
            <a:r>
              <a:rPr lang="fr-FR" sz="2400"/>
              <a:t> JVM Process</a:t>
            </a:r>
          </a:p>
        </p:txBody>
      </p:sp>
      <p:sp>
        <p:nvSpPr>
          <p:cNvPr id="42" name="Arrow: Right 41"/>
          <p:cNvSpPr/>
          <p:nvPr/>
        </p:nvSpPr>
        <p:spPr>
          <a:xfrm>
            <a:off x="5099888" y="2580725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Right 42"/>
          <p:cNvSpPr/>
          <p:nvPr/>
        </p:nvSpPr>
        <p:spPr>
          <a:xfrm>
            <a:off x="5099888" y="3038673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/>
          <p:cNvSpPr/>
          <p:nvPr/>
        </p:nvSpPr>
        <p:spPr>
          <a:xfrm>
            <a:off x="5735320" y="2361025"/>
            <a:ext cx="721360" cy="114426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Arrow: Right 46"/>
          <p:cNvSpPr/>
          <p:nvPr/>
        </p:nvSpPr>
        <p:spPr>
          <a:xfrm>
            <a:off x="7473527" y="4689431"/>
            <a:ext cx="50292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7794385" y="4566347"/>
            <a:ext cx="721360" cy="95526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Isosceles Triangle 49"/>
          <p:cNvSpPr/>
          <p:nvPr/>
        </p:nvSpPr>
        <p:spPr>
          <a:xfrm>
            <a:off x="5890563" y="2445148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Isosceles Triangle 50"/>
          <p:cNvSpPr/>
          <p:nvPr/>
        </p:nvSpPr>
        <p:spPr>
          <a:xfrm>
            <a:off x="5875925" y="2916174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Isosceles Triangle 51"/>
          <p:cNvSpPr/>
          <p:nvPr/>
        </p:nvSpPr>
        <p:spPr>
          <a:xfrm>
            <a:off x="7973891" y="4624279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TextBox 58"/>
          <p:cNvSpPr txBox="1"/>
          <p:nvPr/>
        </p:nvSpPr>
        <p:spPr>
          <a:xfrm>
            <a:off x="1154205" y="4490026"/>
            <a:ext cx="1119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Y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0796" y="4851740"/>
            <a:ext cx="1325880" cy="140576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/>
          <p:cNvSpPr/>
          <p:nvPr/>
        </p:nvSpPr>
        <p:spPr>
          <a:xfrm>
            <a:off x="1119324" y="4982698"/>
            <a:ext cx="1162369" cy="431528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1119324" y="5557423"/>
            <a:ext cx="1162369" cy="360166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TextBox 62"/>
          <p:cNvSpPr txBox="1"/>
          <p:nvPr/>
        </p:nvSpPr>
        <p:spPr>
          <a:xfrm>
            <a:off x="1119324" y="4991208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Partition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8304" y="5529816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Partition 2</a:t>
            </a:r>
          </a:p>
        </p:txBody>
      </p:sp>
      <p:cxnSp>
        <p:nvCxnSpPr>
          <p:cNvPr id="65" name="Straight Arrow Connector 64"/>
          <p:cNvCxnSpPr>
            <a:stCxn id="61" idx="3"/>
          </p:cNvCxnSpPr>
          <p:nvPr/>
        </p:nvCxnSpPr>
        <p:spPr>
          <a:xfrm flipV="1">
            <a:off x="2281693" y="3344194"/>
            <a:ext cx="3220832" cy="1854268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2298675" y="5041391"/>
            <a:ext cx="5495710" cy="74107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735320" y="1964460"/>
            <a:ext cx="84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Part1 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2840" y="4135335"/>
            <a:ext cx="84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Part2 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fr-FR"/>
              <a:t>Driver : Drives the main() program</a:t>
            </a:r>
            <a:br>
              <a:rPr lang="fr-FR"/>
            </a:br>
            <a:r>
              <a:rPr lang="fr-FR"/>
              <a:t>Executors</a:t>
            </a:r>
            <a:r>
              <a:rPr lang="fr-FR"/>
              <a:t> : </a:t>
            </a:r>
            <a:r>
              <a:rPr lang="fr-FR"/>
              <a:t>Execute</a:t>
            </a:r>
            <a:r>
              <a:rPr lang="fr-FR"/>
              <a:t> the </a:t>
            </a:r>
            <a:r>
              <a:rPr lang="fr-FR"/>
              <a:t>functions</a:t>
            </a:r>
            <a:r>
              <a:rPr lang="fr-FR"/>
              <a:t> 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4987" y="2823423"/>
            <a:ext cx="5019705" cy="1911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778133" y="2375635"/>
            <a:ext cx="3618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/>
              <a:t>Driver</a:t>
            </a:r>
            <a:r>
              <a:rPr lang="fr-FR" sz="2400"/>
              <a:t> JVM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842" y="2872155"/>
            <a:ext cx="49412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public </a:t>
            </a:r>
            <a:r>
              <a:rPr lang="fr-FR" sz="2400"/>
              <a:t>static</a:t>
            </a:r>
            <a:r>
              <a:rPr lang="fr-FR" sz="2400"/>
              <a:t> </a:t>
            </a:r>
            <a:r>
              <a:rPr lang="fr-FR" sz="2400"/>
              <a:t>void</a:t>
            </a:r>
            <a:r>
              <a:rPr lang="fr-FR" sz="2400"/>
              <a:t> main(String[] args) {</a:t>
            </a:r>
          </a:p>
          <a:p>
            <a:r>
              <a:rPr lang="fr-FR" sz="2400"/>
              <a:t>    </a:t>
            </a:r>
            <a:r>
              <a:rPr lang="fr-FR" sz="2400"/>
              <a:t>SparkSession</a:t>
            </a:r>
            <a:r>
              <a:rPr lang="fr-FR" sz="2400"/>
              <a:t> </a:t>
            </a:r>
            <a:r>
              <a:rPr lang="fr-FR" sz="2400"/>
              <a:t>spark</a:t>
            </a:r>
            <a:r>
              <a:rPr lang="fr-FR" sz="2400"/>
              <a:t> = …</a:t>
            </a:r>
          </a:p>
          <a:p>
            <a:r>
              <a:rPr lang="fr-FR" sz="2400"/>
              <a:t>    </a:t>
            </a:r>
            <a:r>
              <a:rPr lang="fr-FR" sz="2400"/>
              <a:t>ds</a:t>
            </a:r>
            <a:r>
              <a:rPr lang="fr-FR" sz="2400"/>
              <a:t> = </a:t>
            </a:r>
            <a:r>
              <a:rPr lang="fr-FR" sz="2400"/>
              <a:t>spark.createDataset</a:t>
            </a:r>
            <a:r>
              <a:rPr lang="fr-FR" sz="2400"/>
              <a:t>(..)</a:t>
            </a:r>
          </a:p>
          <a:p>
            <a:r>
              <a:rPr lang="fr-FR" sz="2400"/>
              <a:t>    </a:t>
            </a:r>
            <a:r>
              <a:rPr lang="fr-FR" sz="2400"/>
              <a:t>result</a:t>
            </a:r>
            <a:r>
              <a:rPr lang="fr-FR" sz="2400"/>
              <a:t> = </a:t>
            </a:r>
            <a:r>
              <a:rPr lang="fr-FR" sz="2400"/>
              <a:t>ds.</a:t>
            </a:r>
            <a:r>
              <a:rPr lang="fr-FR" sz="2400" b="1"/>
              <a:t>flatMap</a:t>
            </a:r>
            <a:r>
              <a:rPr lang="fr-FR" sz="2400"/>
              <a:t>( x -&gt; { ..} );</a:t>
            </a:r>
          </a:p>
          <a:p>
            <a:r>
              <a:rPr lang="fr-FR" sz="2400"/>
              <a:t>}</a:t>
            </a:r>
          </a:p>
        </p:txBody>
      </p:sp>
      <p:sp>
        <p:nvSpPr>
          <p:cNvPr id="7" name="Arrow: Right 6"/>
          <p:cNvSpPr/>
          <p:nvPr/>
        </p:nvSpPr>
        <p:spPr>
          <a:xfrm rot="16200000">
            <a:off x="2281460" y="5027930"/>
            <a:ext cx="612140" cy="396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1478280" y="5717539"/>
            <a:ext cx="2445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Your</a:t>
            </a:r>
            <a:r>
              <a:rPr lang="fr-FR"/>
              <a:t> main code</a:t>
            </a:r>
          </a:p>
          <a:p>
            <a:r>
              <a:rPr lang="fr-FR"/>
              <a:t>Using</a:t>
            </a:r>
            <a:r>
              <a:rPr lang="fr-FR"/>
              <a:t> Spark </a:t>
            </a:r>
            <a:r>
              <a:rPr lang="fr-FR" b="1"/>
              <a:t>Dataset</a:t>
            </a:r>
            <a:r>
              <a:rPr lang="fr-FR" b="1"/>
              <a:t>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000" y="2303102"/>
            <a:ext cx="3388268" cy="28547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6699904" y="1841436"/>
            <a:ext cx="3618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/>
              <a:t>Executor</a:t>
            </a:r>
            <a:r>
              <a:rPr lang="fr-FR" sz="2400"/>
              <a:t> JVM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9904" y="3305081"/>
            <a:ext cx="205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/>
              <a:t>…</a:t>
            </a:r>
          </a:p>
          <a:p>
            <a:r>
              <a:rPr lang="fr-FR" sz="2800"/>
              <a:t>    </a:t>
            </a:r>
            <a:r>
              <a:rPr lang="fr-FR" sz="2800" b="1"/>
              <a:t>x -&gt; { .. } </a:t>
            </a:r>
          </a:p>
          <a:p>
            <a:r>
              <a:rPr lang="fr-FR" sz="2800"/>
              <a:t>…</a:t>
            </a:r>
          </a:p>
        </p:txBody>
      </p:sp>
      <p:sp>
        <p:nvSpPr>
          <p:cNvPr id="12" name="Arrow: Curved Right 11"/>
          <p:cNvSpPr/>
          <p:nvPr/>
        </p:nvSpPr>
        <p:spPr>
          <a:xfrm rot="16200000">
            <a:off x="5450840" y="3020537"/>
            <a:ext cx="695960" cy="34899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46574" y="5358694"/>
            <a:ext cx="3854631" cy="914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Code fragment in map() is « serialized »</a:t>
            </a:r>
          </a:p>
          <a:p>
            <a:r>
              <a:rPr lang="fr-FR"/>
              <a:t> + sent to </a:t>
            </a:r>
            <a:r>
              <a:rPr lang="fr-FR"/>
              <a:t>executors</a:t>
            </a:r>
            <a:endParaRPr lang="fr-FR"/>
          </a:p>
          <a:p>
            <a:r>
              <a:rPr lang="fr-FR"/>
              <a:t>Run on </a:t>
            </a:r>
            <a:r>
              <a:rPr lang="fr-FR"/>
              <a:t>CPUs</a:t>
            </a:r>
            <a:r>
              <a:rPr lang="fr-FR"/>
              <a:t> of multiple </a:t>
            </a:r>
            <a:r>
              <a:rPr lang="fr-FR"/>
              <a:t>executors</a:t>
            </a:r>
            <a:endParaRPr lang="fr-FR"/>
          </a:p>
        </p:txBody>
      </p:sp>
      <p:sp>
        <p:nvSpPr>
          <p:cNvPr id="14" name="Arrow: Right 13"/>
          <p:cNvSpPr/>
          <p:nvPr/>
        </p:nvSpPr>
        <p:spPr>
          <a:xfrm flipH="1">
            <a:off x="9565029" y="2485696"/>
            <a:ext cx="655320" cy="309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/>
          <p:cNvSpPr/>
          <p:nvPr/>
        </p:nvSpPr>
        <p:spPr>
          <a:xfrm>
            <a:off x="9577916" y="4656207"/>
            <a:ext cx="642433" cy="309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10343494" y="2455970"/>
            <a:ext cx="1121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Read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2664" y="4626481"/>
            <a:ext cx="117472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Write data</a:t>
            </a:r>
          </a:p>
        </p:txBody>
      </p:sp>
      <p:sp>
        <p:nvSpPr>
          <p:cNvPr id="18" name="Arrow: Curved Right 17"/>
          <p:cNvSpPr/>
          <p:nvPr/>
        </p:nvSpPr>
        <p:spPr>
          <a:xfrm flipH="1">
            <a:off x="9590803" y="3496567"/>
            <a:ext cx="691117" cy="5410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60939" y="3331307"/>
            <a:ext cx="1900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Exchange (</a:t>
            </a:r>
            <a:r>
              <a:rPr lang="fr-FR"/>
              <a:t>shuffle</a:t>
            </a:r>
            <a:r>
              <a:rPr lang="fr-FR"/>
              <a:t>)</a:t>
            </a:r>
          </a:p>
          <a:p>
            <a:r>
              <a:rPr lang="fr-FR"/>
              <a:t>data </a:t>
            </a:r>
            <a:r>
              <a:rPr lang="fr-FR"/>
              <a:t>between</a:t>
            </a:r>
            <a:r>
              <a:rPr lang="fr-FR"/>
              <a:t> </a:t>
            </a:r>
          </a:p>
          <a:p>
            <a:r>
              <a:rPr lang="fr-FR"/>
              <a:t>executors</a:t>
            </a:r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667274"/>
          </a:xfrm>
          <a:prstGeom prst="rect">
            <a:avLst/>
          </a:prstGeom>
        </p:spPr>
        <p:txBody>
          <a:bodyPr anchor="ctr">
            <a:normAutofit fontScale="81763" lnSpcReduction="14590"/>
          </a:bodyPr>
          <a:lstStyle/>
          <a:p>
            <a:pPr algn="ctr"/>
            <a:r>
              <a:rPr lang="fr-FR" sz="4400"/>
              <a:t>See the difference ?</a:t>
            </a:r>
            <a:br>
              <a:rPr lang="fr-FR" sz="4400"/>
            </a:br>
            <a:r>
              <a:rPr lang="fr-FR" sz="4400"/>
              <a:t>Driver API / Executor Engine</a:t>
            </a:r>
            <a:br>
              <a:rPr lang="fr-FR" sz="4400"/>
            </a:br>
            <a:r>
              <a:rPr lang="fr-FR" sz="4400"/>
              <a:t>Code Logic / Data+Cpu Internal</a:t>
            </a:r>
            <a:endParaRPr sz="4400"/>
          </a:p>
        </p:txBody>
      </p:sp>
      <p:pic>
        <p:nvPicPr>
          <p:cNvPr id="5124" name="Picture 4" descr="Ferrari Formula 1 Steering Wheel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9795" y="2712720"/>
            <a:ext cx="5030329" cy="2829560"/>
          </a:xfrm>
          <a:prstGeom prst="rect">
            <a:avLst/>
          </a:prstGeom>
          <a:noFill/>
        </p:spPr>
      </p:pic>
      <p:pic>
        <p:nvPicPr>
          <p:cNvPr id="5126" name="Picture 6" descr="Ferrari Classiche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83132" y="2184400"/>
            <a:ext cx="5761218" cy="3845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0"/>
            <a:ext cx="11176000" cy="1325626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fr-FR"/>
              <a:t>Exchange / </a:t>
            </a:r>
            <a:r>
              <a:rPr lang="fr-FR"/>
              <a:t>Shuffle</a:t>
            </a:r>
            <a:r>
              <a:rPr lang="fr-FR"/>
              <a:t> / </a:t>
            </a:r>
            <a:r>
              <a:rPr lang="fr-FR"/>
              <a:t>Repartition</a:t>
            </a:r>
            <a:r>
              <a:rPr lang="fr-FR"/>
              <a:t> / Coalesce / </a:t>
            </a:r>
            <a:r>
              <a:rPr lang="fr-FR"/>
              <a:t>Distribute</a:t>
            </a:r>
            <a:br>
              <a:rPr lang="fr-FR"/>
            </a:br>
            <a:r>
              <a:rPr lang="fr-FR"/>
              <a:t>Wide transformation / </a:t>
            </a:r>
            <a:r>
              <a:rPr lang="fr-FR"/>
              <a:t>Reduce</a:t>
            </a:r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3772717" y="1984683"/>
            <a:ext cx="5975803" cy="15454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Oval 5"/>
          <p:cNvSpPr/>
          <p:nvPr/>
        </p:nvSpPr>
        <p:spPr>
          <a:xfrm>
            <a:off x="5298438" y="241690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3874087" y="2040188"/>
            <a:ext cx="1162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 for </a:t>
            </a:r>
          </a:p>
          <a:p>
            <a:r>
              <a:rPr lang="fr-FR"/>
              <a:t>Partition 1</a:t>
            </a:r>
          </a:p>
          <a:p>
            <a:r>
              <a:rPr lang="fr-FR"/>
              <a:t>Dataset</a:t>
            </a:r>
            <a:r>
              <a:rPr lang="fr-FR"/>
              <a:t> X</a:t>
            </a:r>
          </a:p>
        </p:txBody>
      </p:sp>
      <p:sp>
        <p:nvSpPr>
          <p:cNvPr id="8" name="Rectangle 7"/>
          <p:cNvSpPr/>
          <p:nvPr/>
        </p:nvSpPr>
        <p:spPr>
          <a:xfrm>
            <a:off x="5115558" y="2234025"/>
            <a:ext cx="721360" cy="115698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val 8"/>
          <p:cNvSpPr/>
          <p:nvPr/>
        </p:nvSpPr>
        <p:spPr>
          <a:xfrm>
            <a:off x="5283198" y="288426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val 9"/>
          <p:cNvSpPr/>
          <p:nvPr/>
        </p:nvSpPr>
        <p:spPr>
          <a:xfrm>
            <a:off x="8592012" y="2471648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388812" y="2416905"/>
            <a:ext cx="721360" cy="9548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7120984" y="2020373"/>
            <a:ext cx="2674796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 Y = x.repartition(3)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9103" y="2234025"/>
            <a:ext cx="1766907" cy="822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Executor 1</a:t>
            </a:r>
            <a:br>
              <a:rPr lang="fr-FR" sz="2400" b="1"/>
            </a:br>
            <a:r>
              <a:rPr lang="fr-FR" sz="2400" b="1"/>
              <a:t>JVM Process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72717" y="3864705"/>
            <a:ext cx="6033415" cy="113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/>
          <p:cNvSpPr txBox="1"/>
          <p:nvPr/>
        </p:nvSpPr>
        <p:spPr>
          <a:xfrm>
            <a:off x="1749103" y="4015039"/>
            <a:ext cx="1766907" cy="822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Executor 2</a:t>
            </a:r>
            <a:br>
              <a:rPr lang="fr-FR" sz="2400" b="1"/>
            </a:br>
            <a:r>
              <a:rPr lang="fr-FR" sz="2400" b="1"/>
              <a:t>JVM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9103" y="5588409"/>
            <a:ext cx="1766907" cy="822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Executor 3</a:t>
            </a:r>
            <a:br>
              <a:rPr lang="fr-FR" sz="2400" b="1"/>
            </a:br>
            <a:r>
              <a:rPr lang="fr-FR" sz="2400" b="1"/>
              <a:t>JVM Process</a:t>
            </a:r>
          </a:p>
        </p:txBody>
      </p:sp>
      <p:sp>
        <p:nvSpPr>
          <p:cNvPr id="27" name="Oval 26"/>
          <p:cNvSpPr/>
          <p:nvPr/>
        </p:nvSpPr>
        <p:spPr>
          <a:xfrm>
            <a:off x="5298438" y="410854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5115558" y="3925665"/>
            <a:ext cx="721360" cy="9968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Oval 28"/>
          <p:cNvSpPr/>
          <p:nvPr/>
        </p:nvSpPr>
        <p:spPr>
          <a:xfrm>
            <a:off x="5298438" y="429142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Oval 29"/>
          <p:cNvSpPr/>
          <p:nvPr/>
        </p:nvSpPr>
        <p:spPr>
          <a:xfrm>
            <a:off x="5298436" y="4478798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3772717" y="5438074"/>
            <a:ext cx="6033415" cy="113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Oval 31"/>
          <p:cNvSpPr/>
          <p:nvPr/>
        </p:nvSpPr>
        <p:spPr>
          <a:xfrm>
            <a:off x="8592012" y="4015039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8388812" y="3960296"/>
            <a:ext cx="721360" cy="9548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Oval 33"/>
          <p:cNvSpPr/>
          <p:nvPr/>
        </p:nvSpPr>
        <p:spPr>
          <a:xfrm>
            <a:off x="8627572" y="5571236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8424372" y="5516493"/>
            <a:ext cx="721360" cy="9548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Right 35"/>
          <p:cNvSpPr/>
          <p:nvPr/>
        </p:nvSpPr>
        <p:spPr>
          <a:xfrm>
            <a:off x="6121400" y="2609377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Right 36"/>
          <p:cNvSpPr/>
          <p:nvPr/>
        </p:nvSpPr>
        <p:spPr>
          <a:xfrm rot="1650908">
            <a:off x="6116830" y="2767039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Right 37"/>
          <p:cNvSpPr/>
          <p:nvPr/>
        </p:nvSpPr>
        <p:spPr>
          <a:xfrm rot="3365529">
            <a:off x="6062426" y="2939511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/>
          <p:cNvSpPr/>
          <p:nvPr/>
        </p:nvSpPr>
        <p:spPr>
          <a:xfrm rot="3365529">
            <a:off x="6130285" y="4472973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Arrow: Right 39"/>
          <p:cNvSpPr/>
          <p:nvPr/>
        </p:nvSpPr>
        <p:spPr>
          <a:xfrm rot="18953122">
            <a:off x="6165390" y="4119511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Arrow: Right 40"/>
          <p:cNvSpPr/>
          <p:nvPr/>
        </p:nvSpPr>
        <p:spPr>
          <a:xfrm>
            <a:off x="6235704" y="4286364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Oval 41"/>
          <p:cNvSpPr/>
          <p:nvPr/>
        </p:nvSpPr>
        <p:spPr>
          <a:xfrm>
            <a:off x="8592012" y="296457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Oval 42"/>
          <p:cNvSpPr/>
          <p:nvPr/>
        </p:nvSpPr>
        <p:spPr>
          <a:xfrm>
            <a:off x="8634384" y="6088050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2967846" y="5046372"/>
            <a:ext cx="5075717" cy="17306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/>
          <p:cNvSpPr/>
          <p:nvPr/>
        </p:nvSpPr>
        <p:spPr>
          <a:xfrm>
            <a:off x="2815446" y="4893972"/>
            <a:ext cx="5075717" cy="17306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Wide vs Narrow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3046" y="4653069"/>
            <a:ext cx="5075717" cy="18191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/>
          <p:cNvSpPr/>
          <p:nvPr/>
        </p:nvSpPr>
        <p:spPr>
          <a:xfrm>
            <a:off x="3000046" y="479105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817166" y="4726189"/>
            <a:ext cx="721360" cy="103896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Oval 7"/>
          <p:cNvSpPr/>
          <p:nvPr/>
        </p:nvSpPr>
        <p:spPr>
          <a:xfrm>
            <a:off x="2984806" y="5258415"/>
            <a:ext cx="335280" cy="33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2023063" y="4304696"/>
            <a:ext cx="8192785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 Y = x.map( func1 ) .flatMap(func2).filter( pred ) .first(10) .sortWithinPartition 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301" y="5029777"/>
            <a:ext cx="25090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Partition Xi</a:t>
            </a:r>
          </a:p>
          <a:p>
            <a:r>
              <a:rPr lang="fr-FR" sz="2400"/>
              <a:t> + </a:t>
            </a:r>
            <a:r>
              <a:rPr lang="fr-FR" sz="2400"/>
              <a:t>corresp</a:t>
            </a:r>
            <a:r>
              <a:rPr lang="fr-FR" sz="2400"/>
              <a:t>. Yi</a:t>
            </a:r>
          </a:p>
          <a:p>
            <a:r>
              <a:rPr lang="fr-FR" sz="2400"/>
              <a:t> on </a:t>
            </a:r>
            <a:r>
              <a:rPr lang="fr-FR" sz="2400"/>
              <a:t>Executor</a:t>
            </a:r>
            <a:r>
              <a:rPr lang="fr-FR" sz="2400"/>
              <a:t> 1/2/3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606" y="4726188"/>
            <a:ext cx="721360" cy="167495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631486" y="4716029"/>
            <a:ext cx="721360" cy="137523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6886246" y="4716029"/>
            <a:ext cx="721360" cy="103896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/>
          <p:cNvSpPr/>
          <p:nvPr/>
        </p:nvSpPr>
        <p:spPr>
          <a:xfrm>
            <a:off x="3421686" y="4887291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/>
          <p:cNvSpPr/>
          <p:nvPr/>
        </p:nvSpPr>
        <p:spPr>
          <a:xfrm>
            <a:off x="4778046" y="4893972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Right 21"/>
          <p:cNvSpPr/>
          <p:nvPr/>
        </p:nvSpPr>
        <p:spPr>
          <a:xfrm>
            <a:off x="6245305" y="4879974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Isosceles Triangle 22"/>
          <p:cNvSpPr/>
          <p:nvPr/>
        </p:nvSpPr>
        <p:spPr>
          <a:xfrm>
            <a:off x="4298805" y="4791055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Isosceles Triangle 23"/>
          <p:cNvSpPr/>
          <p:nvPr/>
        </p:nvSpPr>
        <p:spPr>
          <a:xfrm>
            <a:off x="4298805" y="5273620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Diamond 24"/>
          <p:cNvSpPr/>
          <p:nvPr/>
        </p:nvSpPr>
        <p:spPr>
          <a:xfrm>
            <a:off x="5812642" y="4791055"/>
            <a:ext cx="340356" cy="32599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Diamond 25"/>
          <p:cNvSpPr/>
          <p:nvPr/>
        </p:nvSpPr>
        <p:spPr>
          <a:xfrm>
            <a:off x="5821988" y="5221926"/>
            <a:ext cx="340356" cy="32599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Parallelogram 26"/>
          <p:cNvSpPr/>
          <p:nvPr/>
        </p:nvSpPr>
        <p:spPr>
          <a:xfrm>
            <a:off x="7145328" y="4836506"/>
            <a:ext cx="257974" cy="280539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Parallelogram 27"/>
          <p:cNvSpPr/>
          <p:nvPr/>
        </p:nvSpPr>
        <p:spPr>
          <a:xfrm>
            <a:off x="7117939" y="5402052"/>
            <a:ext cx="257974" cy="280539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Right 28"/>
          <p:cNvSpPr/>
          <p:nvPr/>
        </p:nvSpPr>
        <p:spPr>
          <a:xfrm>
            <a:off x="3416606" y="5395291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row: Right 29"/>
          <p:cNvSpPr/>
          <p:nvPr/>
        </p:nvSpPr>
        <p:spPr>
          <a:xfrm>
            <a:off x="4778046" y="5657544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Right 30"/>
          <p:cNvSpPr/>
          <p:nvPr/>
        </p:nvSpPr>
        <p:spPr>
          <a:xfrm>
            <a:off x="4778046" y="5283531"/>
            <a:ext cx="553720" cy="1377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/>
          <p:cNvSpPr/>
          <p:nvPr/>
        </p:nvSpPr>
        <p:spPr>
          <a:xfrm>
            <a:off x="4308965" y="5791780"/>
            <a:ext cx="386080" cy="41656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Diamond 32"/>
          <p:cNvSpPr/>
          <p:nvPr/>
        </p:nvSpPr>
        <p:spPr>
          <a:xfrm>
            <a:off x="5827068" y="5663886"/>
            <a:ext cx="340356" cy="32599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/>
          <p:cNvSpPr txBox="1"/>
          <p:nvPr/>
        </p:nvSpPr>
        <p:spPr>
          <a:xfrm>
            <a:off x="399868" y="2105843"/>
            <a:ext cx="1520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Executor</a:t>
            </a:r>
            <a:r>
              <a:rPr lang="fr-FR" sz="2400"/>
              <a:t>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48" y="1374405"/>
            <a:ext cx="5512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Wide Transformation (Exchange) </a:t>
            </a:r>
            <a:r>
              <a:rPr lang="fr-FR" sz="2400"/>
              <a:t>between</a:t>
            </a:r>
            <a:endParaRPr lang="fr-FR" sz="2400"/>
          </a:p>
        </p:txBody>
      </p:sp>
      <p:sp>
        <p:nvSpPr>
          <p:cNvPr id="37" name="TextBox 36"/>
          <p:cNvSpPr txBox="1"/>
          <p:nvPr/>
        </p:nvSpPr>
        <p:spPr>
          <a:xfrm>
            <a:off x="399866" y="3029173"/>
            <a:ext cx="1520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Executor</a:t>
            </a:r>
            <a:r>
              <a:rPr lang="fr-FR" sz="2400"/>
              <a:t>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865" y="2546474"/>
            <a:ext cx="1520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Executor</a:t>
            </a:r>
            <a:r>
              <a:rPr lang="fr-FR" sz="2400"/>
              <a:t>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99" y="4013389"/>
            <a:ext cx="3172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Narrow Transformation</a:t>
            </a:r>
            <a:endParaRPr lang="fr-FR" sz="2400"/>
          </a:p>
        </p:txBody>
      </p:sp>
      <p:sp>
        <p:nvSpPr>
          <p:cNvPr id="40" name="Rectangle 39"/>
          <p:cNvSpPr/>
          <p:nvPr/>
        </p:nvSpPr>
        <p:spPr>
          <a:xfrm>
            <a:off x="2122642" y="2190176"/>
            <a:ext cx="5040159" cy="3024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/>
          <p:cNvSpPr/>
          <p:nvPr/>
        </p:nvSpPr>
        <p:spPr>
          <a:xfrm>
            <a:off x="2122642" y="2707751"/>
            <a:ext cx="5040159" cy="3024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2122643" y="3239977"/>
            <a:ext cx="5040158" cy="3024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rrow: Right 44"/>
          <p:cNvSpPr/>
          <p:nvPr/>
        </p:nvSpPr>
        <p:spPr>
          <a:xfrm rot="20507095">
            <a:off x="3064573" y="2778490"/>
            <a:ext cx="3027996" cy="177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Arrow: Right 45"/>
          <p:cNvSpPr/>
          <p:nvPr/>
        </p:nvSpPr>
        <p:spPr>
          <a:xfrm rot="1232250">
            <a:off x="3001016" y="2806341"/>
            <a:ext cx="3027996" cy="177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Arrow: Right 46"/>
          <p:cNvSpPr/>
          <p:nvPr/>
        </p:nvSpPr>
        <p:spPr>
          <a:xfrm rot="758906">
            <a:off x="3126490" y="3039116"/>
            <a:ext cx="2600948" cy="1648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Arrow: Right 47"/>
          <p:cNvSpPr/>
          <p:nvPr/>
        </p:nvSpPr>
        <p:spPr>
          <a:xfrm rot="20928596">
            <a:off x="3111517" y="2508026"/>
            <a:ext cx="2600948" cy="1648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Arrow: Right 48"/>
          <p:cNvSpPr/>
          <p:nvPr/>
        </p:nvSpPr>
        <p:spPr>
          <a:xfrm rot="654241">
            <a:off x="3130624" y="2506269"/>
            <a:ext cx="2600948" cy="1648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Arrow: Right 49"/>
          <p:cNvSpPr/>
          <p:nvPr/>
        </p:nvSpPr>
        <p:spPr>
          <a:xfrm rot="20996550">
            <a:off x="3137114" y="3076069"/>
            <a:ext cx="2600948" cy="1648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extBox 50"/>
          <p:cNvSpPr txBox="1"/>
          <p:nvPr/>
        </p:nvSpPr>
        <p:spPr>
          <a:xfrm>
            <a:off x="2122642" y="1797868"/>
            <a:ext cx="5463984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 Y = x.repartition(3).shuffle(..) .reduce(..) .sortBy()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38427" y="2277975"/>
            <a:ext cx="4121405" cy="118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Network exchange</a:t>
            </a:r>
          </a:p>
          <a:p>
            <a:r>
              <a:rPr lang="fr-FR"/>
              <a:t>Between executors</a:t>
            </a:r>
          </a:p>
          <a:p>
            <a:r>
              <a:rPr lang="fr-FR"/>
              <a:t>… serialization/deserialization of byte data</a:t>
            </a:r>
          </a:p>
          <a:p/>
        </p:txBody>
      </p:sp>
      <p:sp>
        <p:nvSpPr>
          <p:cNvPr id="53" name="TextBox 52"/>
          <p:cNvSpPr txBox="1"/>
          <p:nvPr/>
        </p:nvSpPr>
        <p:spPr>
          <a:xfrm>
            <a:off x="8589357" y="5015547"/>
            <a:ext cx="2840665" cy="1463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No data exchange</a:t>
            </a:r>
          </a:p>
          <a:p>
            <a:r>
              <a:rPr lang="fr-FR"/>
              <a:t>only in-memory pointer, </a:t>
            </a:r>
          </a:p>
          <a:p>
            <a:r>
              <a:rPr lang="fr-FR"/>
              <a:t>within same thread/process</a:t>
            </a:r>
          </a:p>
          <a:p>
            <a:r>
              <a:rPr lang="fr-FR"/>
              <a:t>… computation changes</a:t>
            </a:r>
          </a:p>
          <a:p>
            <a:r>
              <a:rPr lang="fr-FR"/>
              <a:t>but same logical partitioning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Things</a:t>
            </a:r>
            <a:r>
              <a:rPr lang="fr-FR"/>
              <a:t> </a:t>
            </a:r>
            <a:r>
              <a:rPr lang="fr-FR"/>
              <a:t>get</a:t>
            </a:r>
            <a:r>
              <a:rPr lang="fr-FR"/>
              <a:t> </a:t>
            </a:r>
            <a:r>
              <a:rPr lang="fr-FR"/>
              <a:t>complex</a:t>
            </a:r>
            <a:r>
              <a:rPr lang="fr-FR"/>
              <a:t>…</a:t>
            </a:r>
            <a:br>
              <a:rPr lang="fr-FR"/>
            </a:br>
            <a:r>
              <a:rPr lang="fr-FR"/>
              <a:t>« </a:t>
            </a:r>
            <a:r>
              <a:rPr lang="fr-FR"/>
              <a:t>repartition</a:t>
            </a:r>
            <a:r>
              <a:rPr lang="fr-FR"/>
              <a:t>() .</a:t>
            </a:r>
            <a:r>
              <a:rPr lang="fr-FR"/>
              <a:t>flatMap</a:t>
            </a:r>
            <a:r>
              <a:rPr lang="fr-FR"/>
              <a:t>() .</a:t>
            </a:r>
            <a:r>
              <a:rPr lang="fr-FR"/>
              <a:t>explain</a:t>
            </a:r>
            <a:r>
              <a:rPr lang="fr-FR"/>
              <a:t>() 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" y="4013150"/>
            <a:ext cx="10450098" cy="228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scala&gt; ds</a:t>
            </a:r>
            <a:r>
              <a:rPr lang="fr-FR" b="1"/>
              <a:t>.repartition(3).</a:t>
            </a:r>
            <a:r>
              <a:rPr lang="fr-FR"/>
              <a:t>flatMap(line =&gt; line.replaceAll("[,;.:!?]", " ").replaceAll("  ", " ").split(" ")).</a:t>
            </a:r>
            <a:r>
              <a:rPr lang="fr-FR" b="1"/>
              <a:t>explain</a:t>
            </a:r>
            <a:endParaRPr lang="fr-FR" b="1"/>
          </a:p>
          <a:p>
            <a:r>
              <a:rPr lang="fr-FR"/>
              <a:t>== Physical Plan ==</a:t>
            </a:r>
          </a:p>
          <a:p>
            <a:r>
              <a:rPr lang="fr-FR"/>
              <a:t>*(1) </a:t>
            </a:r>
            <a:r>
              <a:rPr lang="fr-FR"/>
              <a:t>SerializeFromObject</a:t>
            </a:r>
            <a:r>
              <a:rPr lang="fr-FR"/>
              <a:t> [</a:t>
            </a:r>
            <a:r>
              <a:rPr lang="fr-FR"/>
              <a:t>staticinvoke</a:t>
            </a:r>
            <a:r>
              <a:rPr lang="fr-FR"/>
              <a:t>(…  ) AS value#112]</a:t>
            </a:r>
          </a:p>
          <a:p>
            <a:r>
              <a:rPr lang="fr-FR"/>
              <a:t>+- </a:t>
            </a:r>
            <a:r>
              <a:rPr lang="fr-FR"/>
              <a:t>MapPartitions</a:t>
            </a:r>
            <a:r>
              <a:rPr lang="fr-FR"/>
              <a:t> </a:t>
            </a:r>
            <a:r>
              <a:rPr lang="fr-FR"/>
              <a:t>org.apache.spark.sql.Dataset</a:t>
            </a:r>
            <a:r>
              <a:rPr lang="fr-FR"/>
              <a:t>$$Lambda$3735/14922651@18e4389, obj#111: </a:t>
            </a:r>
            <a:r>
              <a:rPr lang="fr-FR"/>
              <a:t>java.lang.String</a:t>
            </a:r>
            <a:endParaRPr lang="fr-FR"/>
          </a:p>
          <a:p>
            <a:r>
              <a:rPr lang="fr-FR"/>
              <a:t>   +- </a:t>
            </a:r>
            <a:r>
              <a:rPr lang="fr-FR"/>
              <a:t>DeserializeToObject</a:t>
            </a:r>
            <a:r>
              <a:rPr lang="fr-FR"/>
              <a:t> value#12.toString, obj#110: </a:t>
            </a:r>
            <a:r>
              <a:rPr lang="fr-FR"/>
              <a:t>java.lang.String</a:t>
            </a:r>
            <a:endParaRPr lang="fr-FR"/>
          </a:p>
          <a:p>
            <a:r>
              <a:rPr lang="fr-FR"/>
              <a:t>      </a:t>
            </a:r>
            <a:r>
              <a:rPr lang="fr-FR" b="1"/>
              <a:t>+- Exchange </a:t>
            </a:r>
            <a:r>
              <a:rPr lang="fr-FR" b="1"/>
              <a:t>RoundRobinPartitioning</a:t>
            </a:r>
            <a:r>
              <a:rPr lang="fr-FR" b="1"/>
              <a:t>(3), REPARTITION_WITH_NUM, [id=#235]</a:t>
            </a:r>
          </a:p>
          <a:p>
            <a:r>
              <a:rPr lang="fr-FR"/>
              <a:t>         +- FileScan text [value#12] Batched: false, DataFilters: [], Format: Text, </a:t>
            </a:r>
            <a:br>
              <a:rPr lang="fr-FR"/>
            </a:br>
            <a:r>
              <a:rPr lang="fr-FR"/>
              <a:t>             Location: InMemoryFileIndex[file:/c:/data/loremIpsum.txt], PartitionFilters: [], PushedFilters: [],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800" y="1690688"/>
            <a:ext cx="10384800" cy="20116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scala&gt; ds.flatMap(line =&gt; line.replaceAll("[,;.:!?]", " ").replaceAll("  ", " ").split(" ")).</a:t>
            </a:r>
            <a:r>
              <a:rPr lang="fr-FR" b="1"/>
              <a:t>explain</a:t>
            </a:r>
            <a:endParaRPr lang="fr-FR" b="1"/>
          </a:p>
          <a:p>
            <a:r>
              <a:rPr lang="fr-FR"/>
              <a:t>== Physical Plan ==</a:t>
            </a:r>
          </a:p>
          <a:p>
            <a:r>
              <a:rPr lang="fr-FR"/>
              <a:t>*(1) </a:t>
            </a:r>
            <a:r>
              <a:rPr lang="fr-FR"/>
              <a:t>SerializeFromObject</a:t>
            </a:r>
            <a:r>
              <a:rPr lang="fr-FR"/>
              <a:t> […  AS value#116]</a:t>
            </a:r>
          </a:p>
          <a:p>
            <a:r>
              <a:rPr lang="fr-FR"/>
              <a:t>+- </a:t>
            </a:r>
            <a:r>
              <a:rPr lang="fr-FR"/>
              <a:t>MapPartitions</a:t>
            </a:r>
            <a:r>
              <a:rPr lang="fr-FR"/>
              <a:t> </a:t>
            </a:r>
            <a:r>
              <a:rPr lang="fr-FR"/>
              <a:t>org.apache.spark.sql.Dataset</a:t>
            </a:r>
            <a:r>
              <a:rPr lang="fr-FR"/>
              <a:t>$$Lambda$3735/14922651@1f3e32c, obj#115: </a:t>
            </a:r>
            <a:r>
              <a:rPr lang="fr-FR"/>
              <a:t>java.lang.String</a:t>
            </a:r>
            <a:endParaRPr lang="fr-FR"/>
          </a:p>
          <a:p>
            <a:r>
              <a:rPr lang="fr-FR"/>
              <a:t>   +- </a:t>
            </a:r>
            <a:r>
              <a:rPr lang="fr-FR"/>
              <a:t>DeserializeToObject</a:t>
            </a:r>
            <a:r>
              <a:rPr lang="fr-FR"/>
              <a:t> value#12.toString, obj#114: </a:t>
            </a:r>
            <a:r>
              <a:rPr lang="fr-FR"/>
              <a:t>java.lang.String</a:t>
            </a:r>
            <a:endParaRPr lang="fr-FR"/>
          </a:p>
          <a:p>
            <a:r>
              <a:rPr lang="fr-FR"/>
              <a:t>      +- FileScan text [value#12] Batched: false, DataFilters: [], Format: Text, </a:t>
            </a:r>
            <a:br>
              <a:rPr lang="fr-FR"/>
            </a:br>
            <a:r>
              <a:rPr lang="fr-FR"/>
              <a:t>           Location: InMemoryFileIndex[file:/c:/data/loremIpsum.txt], PartitionFilters: [], PushedFilters: [], 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626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/>
              <a:t>Confusing Questions at first Glance…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42720"/>
            <a:ext cx="12209408" cy="478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1/ RDD vs Dataset vs DataFrame ?</a:t>
            </a:r>
          </a:p>
          <a:p>
            <a:r>
              <a:rPr lang="fr-FR" sz="2800"/>
              <a:t>2/ meaning of Sql / Job / Task / Stage / Action ?</a:t>
            </a:r>
          </a:p>
          <a:p>
            <a:r>
              <a:rPr lang="fr-FR" sz="2800"/>
              <a:t>3/ Driver vs Executor … where is executed my code ?</a:t>
            </a:r>
          </a:p>
          <a:p>
            <a:r>
              <a:rPr lang="fr-FR" sz="2800"/>
              <a:t>4/ Batch and Streaming API ?</a:t>
            </a:r>
          </a:p>
          <a:p>
            <a:r>
              <a:rPr lang="fr-FR" sz="2800"/>
              <a:t>5/ SQL or Code ? Functional API in java-scala-python ?</a:t>
            </a:r>
          </a:p>
          <a:p>
            <a:r>
              <a:rPr lang="fr-FR" sz="2800"/>
              <a:t>6/ Spark-shell / spark-sql / spark-submit / spark-thrift server / spark-history server ?</a:t>
            </a:r>
          </a:p>
          <a:p>
            <a:r>
              <a:rPr lang="fr-FR" sz="2800"/>
              <a:t>7/ Master = yarn/standalone/k8s + mode = Client vs Cluster vs …</a:t>
            </a:r>
          </a:p>
          <a:p>
            <a:r>
              <a:rPr lang="fr-FR" sz="2800"/>
              <a:t>8/ use Spark UI / Console / logs?</a:t>
            </a:r>
          </a:p>
          <a:p>
            <a:r>
              <a:rPr lang="fr-FR" sz="2800"/>
              <a:t>9/ Performance diagnostics?</a:t>
            </a:r>
          </a:p>
          <a:p>
            <a:r>
              <a:rPr lang="fr-FR" sz="2800"/>
              <a:t>     DAG ? Metrics ? Shuffle ? SpillToDisk ? SkewedPartition?</a:t>
            </a:r>
          </a:p>
          <a:p>
            <a:r>
              <a:rPr lang="fr-FR" sz="2800"/>
              <a:t>10/ Optimize or add more resources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Introduction</dc:title>
  <dc:creator>NAUWYNCK Arnaud</dc:creator>
  <cp:lastModifiedBy>arnaud</cp:lastModifiedBy>
  <cp:revision>6</cp:revision>
  <dcterms:created xsi:type="dcterms:W3CDTF">2025-01-07T22:46:38Z</dcterms:created>
  <dcterms:modified xsi:type="dcterms:W3CDTF">2025-11-22T19:22:37Z</dcterms:modified>
</cp:coreProperties>
</file>