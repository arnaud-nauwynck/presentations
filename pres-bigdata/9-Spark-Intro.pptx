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77" r:id="rId4"/>
    <p:sldId id="278" r:id="rId5"/>
    <p:sldId id="279" r:id="rId6"/>
    <p:sldId id="263" r:id="rId7"/>
    <p:sldId id="286" r:id="rId8"/>
    <p:sldId id="280" r:id="rId9"/>
    <p:sldId id="282" r:id="rId10"/>
    <p:sldId id="281" r:id="rId11"/>
    <p:sldId id="355" r:id="rId12"/>
    <p:sldId id="283" r:id="rId13"/>
    <p:sldId id="284" r:id="rId14"/>
    <p:sldId id="285" r:id="rId15"/>
    <p:sldId id="353" r:id="rId16"/>
    <p:sldId id="354" r:id="rId17"/>
    <p:sldId id="307" r:id="rId18"/>
    <p:sldId id="308" r:id="rId19"/>
    <p:sldId id="309" r:id="rId20"/>
    <p:sldId id="310" r:id="rId21"/>
    <p:sldId id="311" r:id="rId22"/>
    <p:sldId id="312" r:id="rId23"/>
    <p:sldId id="314" r:id="rId24"/>
    <p:sldId id="287" r:id="rId25"/>
    <p:sldId id="300" r:id="rId2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4660"/>
  </p:normalViewPr>
  <p:slideViewPr>
    <p:cSldViewPr snapToGrid="0">
      <p:cViewPr varScale="1">
        <p:scale>
          <a:sx n="81" d="100"/>
          <a:sy n="81" d="100"/>
        </p:scale>
        <p:origin x="6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61F2D-B965-75D0-A2FD-4E701CB5CC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56C30C-1089-DBE1-0168-2C7F60BB5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7A982C-1866-80C4-8166-671D5D9CE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0E99F-A490-EACD-4010-0468A268C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04C51-AA1C-C99C-5B65-01D92DC2E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2222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4B273-281D-712B-583D-1E3E0E080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65CB-D7AE-0CE8-338A-B4383C9E3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630C3-E8B0-B545-02D4-10480D264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CB4F5-4CE3-B026-A1DE-7E797516A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5CD48-1A5E-5EBE-0E9D-463D9BF75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8929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228E4-51FB-B8F2-B609-C93174EC8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FD7AA-7613-700A-6084-BAED49446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022BD-A847-A929-3204-9DBB588F6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2E588-F0F2-E042-140F-41F37A9B6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C9EC3-FC96-80A4-867E-F6A30CE2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2364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B667F-7E62-E13E-890E-7E307FB8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52EFD-BBBD-B87D-83AC-4AF91790B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C12A3A-2D04-78E4-3785-6ADF8C3FD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8C4FAB-62AB-7519-99B5-2B13FA86E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F53FCD-4C5F-40A6-7165-7CF810856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3732C-4CE6-83D6-E8A9-EEA94B80D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548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35E00-E8CE-96B8-83AB-150EA092E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7CAB1-B818-FC85-1670-1AB977171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BFC5D-7D6C-1DC6-B0CD-8BD3E1ABB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77F5E-E89C-948C-BCFA-AC0BC08C41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2D82DA-E45C-92FB-3AD8-37DEB0276C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D42FB2-6AE2-9810-CB18-068497F1C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D2963E-5E58-21FD-CD95-FC68C011F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6DB5AE-333C-EB74-32E8-C616CCF7F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266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195DB-53E8-339F-5A6A-7977CB2EB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BE897D-3970-9D02-A67A-006A397A2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3F31B2-5704-D7A3-1777-6A3E36956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CCFD6-EF67-EBB7-DC0C-D890B85F9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5588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FADF7C-047D-6634-F2B2-1FC4EA801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D200C-6AAA-4255-99AE-065AF1EA3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F7D07-083B-00BE-45BF-2469071D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953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C50F-4BB9-4170-52A5-AD2FB12E4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E29DE-2EBD-1CC4-3784-5245DB7AB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BE1FAB-2D4B-5060-2E30-129A243C7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276FF-FF3D-7C5E-25EC-A46744064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2440C-42B2-8DF3-D512-E19010D4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9B769-D884-ED39-A26E-C11606B02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6098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82885-E367-4729-A897-ECBF2CCC9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DF57E5-1737-132A-2373-A0F5B24912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638DD-F6AC-083A-C4A4-E53E7A8623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1D9D1-1CC3-4330-BF58-3B30CBAD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0D3082-6C22-6A34-46BE-9587AB08E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245183-0215-2C4C-CCAE-196A98DA3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076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8CA52-D03F-E3F8-C9F4-119200E9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8735B0-5890-6263-7358-570CBFB6BC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FFBE-8BB7-C938-4A3C-11009D39E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43785-A172-180F-E192-CE452C255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9C4FD-E7F4-3ED9-8352-25B4041C4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9635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8ABE90-6A7D-382F-EAEF-29E833CC5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03AB9-1616-8C8B-BD7F-765180D370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55798-6EDA-016B-E1D5-DBA79159F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D05F3-4B68-541F-9E87-0CE081FD3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A4B6B-005F-665A-A6A8-4DBC84708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331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E1A9C4-DEBB-1BF9-A7C4-A4B07A989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9F74F-101F-A9BB-72EB-DD4F66A8A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E9C6FB-8D8C-B69C-B532-EC454D1CA0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F7A4B9-7D22-465E-9CF9-C63004B79C25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8A446-FD64-D1A1-F89A-EE296CC42E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A52CC-5A40-C69C-942E-C99CADD1EF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669FE-77F1-4C2C-9A89-933ACD2BE9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7329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3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jpeg"/><Relationship Id="rId15" Type="http://schemas.openxmlformats.org/officeDocument/2006/relationships/image" Target="../media/image19.png"/><Relationship Id="rId10" Type="http://schemas.openxmlformats.org/officeDocument/2006/relationships/image" Target="../media/image14.jpeg"/><Relationship Id="rId4" Type="http://schemas.openxmlformats.org/officeDocument/2006/relationships/image" Target="../media/image8.jpe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1.png"/><Relationship Id="rId3" Type="http://schemas.openxmlformats.org/officeDocument/2006/relationships/image" Target="../media/image24.png"/><Relationship Id="rId21" Type="http://schemas.openxmlformats.org/officeDocument/2006/relationships/image" Target="../media/image40.png"/><Relationship Id="rId7" Type="http://schemas.openxmlformats.org/officeDocument/2006/relationships/image" Target="../media/image28.jpe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" Type="http://schemas.openxmlformats.org/officeDocument/2006/relationships/image" Target="../media/image23.png"/><Relationship Id="rId16" Type="http://schemas.openxmlformats.org/officeDocument/2006/relationships/image" Target="../media/image36.png"/><Relationship Id="rId20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.png"/><Relationship Id="rId5" Type="http://schemas.openxmlformats.org/officeDocument/2006/relationships/image" Target="../media/image26.jpeg"/><Relationship Id="rId15" Type="http://schemas.openxmlformats.org/officeDocument/2006/relationships/image" Target="../media/image35.png"/><Relationship Id="rId10" Type="http://schemas.openxmlformats.org/officeDocument/2006/relationships/image" Target="../media/image31.png"/><Relationship Id="rId19" Type="http://schemas.openxmlformats.org/officeDocument/2006/relationships/image" Target="../media/image38.jpeg"/><Relationship Id="rId4" Type="http://schemas.openxmlformats.org/officeDocument/2006/relationships/image" Target="../media/image25.jpe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71330-6104-C3DD-11E1-E139848B64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16037"/>
          </a:xfrm>
        </p:spPr>
        <p:txBody>
          <a:bodyPr/>
          <a:lstStyle/>
          <a:p>
            <a:r>
              <a:rPr lang="fr-FR" dirty="0"/>
              <a:t>Spark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D599FA-B479-FAFA-F351-B62870E72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656522"/>
          </a:xfrm>
        </p:spPr>
        <p:txBody>
          <a:bodyPr/>
          <a:lstStyle/>
          <a:p>
            <a:r>
              <a:rPr lang="fr-FR" dirty="0"/>
              <a:t>course </a:t>
            </a:r>
            <a:r>
              <a:rPr lang="fr-FR" dirty="0" err="1"/>
              <a:t>Esilv</a:t>
            </a:r>
            <a:r>
              <a:rPr lang="fr-FR" dirty="0"/>
              <a:t> 2025</a:t>
            </a:r>
          </a:p>
          <a:p>
            <a:r>
              <a:rPr lang="fr-FR" dirty="0"/>
              <a:t>arnaud.nauwynck@gmail.com</a:t>
            </a:r>
          </a:p>
          <a:p>
            <a:endParaRPr lang="fr-FR" dirty="0"/>
          </a:p>
          <a:p>
            <a:r>
              <a:rPr lang="fr-FR" dirty="0" err="1"/>
              <a:t>this</a:t>
            </a:r>
            <a:r>
              <a:rPr lang="fr-FR" dirty="0"/>
              <a:t> document:</a:t>
            </a:r>
          </a:p>
          <a:p>
            <a:r>
              <a:rPr lang="fr-FR" sz="2400" dirty="0"/>
              <a:t>https://github.com/Arnaud-Nauwynck/presentations/</a:t>
            </a:r>
            <a:br>
              <a:rPr lang="fr-FR" sz="2400" dirty="0"/>
            </a:br>
            <a:r>
              <a:rPr lang="fr-FR" sz="2400" dirty="0"/>
              <a:t> /</a:t>
            </a:r>
            <a:r>
              <a:rPr lang="fr-FR" sz="2400" dirty="0" err="1"/>
              <a:t>pres-bigdata</a:t>
            </a:r>
            <a:r>
              <a:rPr lang="fr-FR" sz="2400" dirty="0"/>
              <a:t>/9-spark-intro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677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89721-285D-40B3-9058-00C32087A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Spark (</a:t>
            </a:r>
            <a:r>
              <a:rPr lang="fr-FR" dirty="0" err="1"/>
              <a:t>Recent</a:t>
            </a:r>
            <a:r>
              <a:rPr lang="fr-FR" dirty="0"/>
              <a:t>) </a:t>
            </a:r>
            <a:r>
              <a:rPr lang="fr-FR" dirty="0" err="1"/>
              <a:t>History</a:t>
            </a:r>
            <a:r>
              <a:rPr lang="fr-FR" dirty="0"/>
              <a:t> &amp; </a:t>
            </a:r>
            <a:r>
              <a:rPr lang="fr-FR" dirty="0" err="1"/>
              <a:t>Ancestors</a:t>
            </a:r>
            <a:endParaRPr lang="fr-FR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AD73F8F-B96E-4C3A-8B71-E9ACDA380287}"/>
              </a:ext>
            </a:extLst>
          </p:cNvPr>
          <p:cNvSpPr/>
          <p:nvPr/>
        </p:nvSpPr>
        <p:spPr>
          <a:xfrm>
            <a:off x="889855" y="1762016"/>
            <a:ext cx="5582911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CF9C89-0903-4862-A464-6FEFE0FA75AF}"/>
              </a:ext>
            </a:extLst>
          </p:cNvPr>
          <p:cNvSpPr txBox="1"/>
          <p:nvPr/>
        </p:nvSpPr>
        <p:spPr>
          <a:xfrm>
            <a:off x="621461" y="2126955"/>
            <a:ext cx="1058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2002</a:t>
            </a:r>
            <a:r>
              <a:rPr lang="fr-FR" dirty="0"/>
              <a:t>  </a:t>
            </a:r>
            <a:br>
              <a:rPr lang="fr-FR" dirty="0"/>
            </a:br>
            <a:r>
              <a:rPr lang="fr-FR" dirty="0"/>
              <a:t>@Google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5DCE6-D6E7-457D-ADEE-4FF973A598F8}"/>
              </a:ext>
            </a:extLst>
          </p:cNvPr>
          <p:cNvSpPr txBox="1"/>
          <p:nvPr/>
        </p:nvSpPr>
        <p:spPr>
          <a:xfrm>
            <a:off x="1751533" y="2169864"/>
            <a:ext cx="16993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2004</a:t>
            </a:r>
            <a:r>
              <a:rPr lang="fr-FR" dirty="0"/>
              <a:t>  Google </a:t>
            </a:r>
          </a:p>
          <a:p>
            <a:r>
              <a:rPr lang="fr-FR" dirty="0"/>
              <a:t>Paper </a:t>
            </a:r>
            <a:r>
              <a:rPr lang="fr-FR" dirty="0" err="1"/>
              <a:t>published</a:t>
            </a:r>
            <a:endParaRPr lang="fr-F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09E70-1DE4-4215-B974-1D51ED036A2E}"/>
              </a:ext>
            </a:extLst>
          </p:cNvPr>
          <p:cNvSpPr txBox="1"/>
          <p:nvPr/>
        </p:nvSpPr>
        <p:spPr>
          <a:xfrm>
            <a:off x="5877251" y="2153885"/>
            <a:ext cx="29299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2014</a:t>
            </a:r>
            <a:r>
              <a:rPr lang="fr-FR" dirty="0"/>
              <a:t> Google</a:t>
            </a:r>
          </a:p>
          <a:p>
            <a:r>
              <a:rPr lang="fr-FR" dirty="0"/>
              <a:t>No more </a:t>
            </a:r>
            <a:r>
              <a:rPr lang="fr-FR" dirty="0" err="1"/>
              <a:t>used</a:t>
            </a:r>
            <a:r>
              <a:rPr lang="fr-FR" dirty="0"/>
              <a:t> of MapReduce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D6D9F58-C2EB-4F61-BC7E-2D130BFFC257}"/>
              </a:ext>
            </a:extLst>
          </p:cNvPr>
          <p:cNvSpPr/>
          <p:nvPr/>
        </p:nvSpPr>
        <p:spPr>
          <a:xfrm>
            <a:off x="2820341" y="3427615"/>
            <a:ext cx="5511323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67BAD-4AC1-44CC-A71E-83004C2B8857}"/>
              </a:ext>
            </a:extLst>
          </p:cNvPr>
          <p:cNvSpPr txBox="1"/>
          <p:nvPr/>
        </p:nvSpPr>
        <p:spPr>
          <a:xfrm>
            <a:off x="2411776" y="3750780"/>
            <a:ext cx="253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2006</a:t>
            </a:r>
            <a:r>
              <a:rPr lang="fr-FR" dirty="0"/>
              <a:t>  @Yahoo</a:t>
            </a:r>
          </a:p>
          <a:p>
            <a:r>
              <a:rPr lang="fr-FR" dirty="0"/>
              <a:t>Hadoop  </a:t>
            </a:r>
            <a:r>
              <a:rPr lang="fr-FR" dirty="0" err="1"/>
              <a:t>implementation</a:t>
            </a:r>
            <a:endParaRPr lang="fr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CDD4AC-7942-4C7B-A8D3-2DF3266077D0}"/>
              </a:ext>
            </a:extLst>
          </p:cNvPr>
          <p:cNvSpPr txBox="1"/>
          <p:nvPr/>
        </p:nvSpPr>
        <p:spPr>
          <a:xfrm>
            <a:off x="8320325" y="3218315"/>
            <a:ext cx="35259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2021</a:t>
            </a:r>
            <a:r>
              <a:rPr lang="fr-FR" dirty="0"/>
              <a:t> MapReduce bashing </a:t>
            </a:r>
          </a:p>
          <a:p>
            <a:r>
              <a:rPr lang="fr-FR" dirty="0"/>
              <a:t>… HDFS &amp; Hadoop </a:t>
            </a:r>
            <a:r>
              <a:rPr lang="fr-FR" dirty="0" err="1"/>
              <a:t>also</a:t>
            </a:r>
            <a:endParaRPr lang="fr-FR" dirty="0"/>
          </a:p>
          <a:p>
            <a:r>
              <a:rPr lang="fr-FR" dirty="0" err="1"/>
              <a:t>HortonWork</a:t>
            </a:r>
            <a:r>
              <a:rPr lang="fr-FR" dirty="0"/>
              <a:t> </a:t>
            </a:r>
            <a:r>
              <a:rPr lang="fr-FR" dirty="0" err="1"/>
              <a:t>bought</a:t>
            </a:r>
            <a:r>
              <a:rPr lang="fr-FR" dirty="0"/>
              <a:t> by Cloudera</a:t>
            </a:r>
            <a:br>
              <a:rPr lang="fr-FR" dirty="0"/>
            </a:br>
            <a:r>
              <a:rPr lang="fr-FR" dirty="0" err="1"/>
              <a:t>HDInsight</a:t>
            </a:r>
            <a:r>
              <a:rPr lang="fr-FR" dirty="0"/>
              <a:t> @Azure…very </a:t>
            </a:r>
            <a:r>
              <a:rPr lang="fr-FR" dirty="0" err="1"/>
              <a:t>bad</a:t>
            </a:r>
            <a:r>
              <a:rPr lang="fr-FR" dirty="0"/>
              <a:t> </a:t>
            </a:r>
            <a:r>
              <a:rPr lang="fr-FR" dirty="0" err="1"/>
              <a:t>choice</a:t>
            </a:r>
            <a:endParaRPr lang="fr-FR" dirty="0"/>
          </a:p>
          <a:p>
            <a:r>
              <a:rPr lang="fr-FR" dirty="0"/>
              <a:t>      ..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abandonned</a:t>
            </a:r>
            <a:endParaRPr lang="fr-FR" dirty="0"/>
          </a:p>
          <a:p>
            <a:endParaRPr lang="fr-FR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287B9C61-9D58-4430-B436-7331490D2E6A}"/>
              </a:ext>
            </a:extLst>
          </p:cNvPr>
          <p:cNvSpPr/>
          <p:nvPr/>
        </p:nvSpPr>
        <p:spPr>
          <a:xfrm>
            <a:off x="4787899" y="5457787"/>
            <a:ext cx="5071533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5FDAA9-DEF0-4A4F-9EF9-D268CF5E929D}"/>
              </a:ext>
            </a:extLst>
          </p:cNvPr>
          <p:cNvSpPr txBox="1"/>
          <p:nvPr/>
        </p:nvSpPr>
        <p:spPr>
          <a:xfrm>
            <a:off x="4430613" y="5751320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2010</a:t>
            </a:r>
            <a:r>
              <a:rPr lang="fr-FR" dirty="0"/>
              <a:t> Spark </a:t>
            </a:r>
            <a:r>
              <a:rPr lang="fr-FR" dirty="0" err="1"/>
              <a:t>paper</a:t>
            </a:r>
            <a:endParaRPr lang="fr-F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C06F17-EC4A-437B-A339-EAA580BA47FB}"/>
              </a:ext>
            </a:extLst>
          </p:cNvPr>
          <p:cNvSpPr txBox="1"/>
          <p:nvPr/>
        </p:nvSpPr>
        <p:spPr>
          <a:xfrm>
            <a:off x="5056153" y="3746388"/>
            <a:ext cx="1583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2012</a:t>
            </a:r>
            <a:r>
              <a:rPr lang="fr-FR" dirty="0"/>
              <a:t>  </a:t>
            </a:r>
            <a:r>
              <a:rPr lang="fr-FR" dirty="0" err="1"/>
              <a:t>Yarn</a:t>
            </a:r>
            <a:r>
              <a:rPr lang="fr-FR" dirty="0"/>
              <a:t> (v2)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FD3B78-D620-4C9E-871B-1A688874EE76}"/>
              </a:ext>
            </a:extLst>
          </p:cNvPr>
          <p:cNvSpPr txBox="1"/>
          <p:nvPr/>
        </p:nvSpPr>
        <p:spPr>
          <a:xfrm>
            <a:off x="3439875" y="4354377"/>
            <a:ext cx="2680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2008</a:t>
            </a:r>
            <a:r>
              <a:rPr lang="fr-FR" dirty="0"/>
              <a:t> Apache Open-Source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30AB88-D909-4751-9CC6-766B14F90487}"/>
              </a:ext>
            </a:extLst>
          </p:cNvPr>
          <p:cNvSpPr txBox="1"/>
          <p:nvPr/>
        </p:nvSpPr>
        <p:spPr>
          <a:xfrm>
            <a:off x="1425179" y="1516429"/>
            <a:ext cx="158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MapReduce @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AF8FC5-A53C-44E0-89AD-917DA1CD41D0}"/>
              </a:ext>
            </a:extLst>
          </p:cNvPr>
          <p:cNvSpPr txBox="1"/>
          <p:nvPr/>
        </p:nvSpPr>
        <p:spPr>
          <a:xfrm>
            <a:off x="6344081" y="5758005"/>
            <a:ext cx="233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2013</a:t>
            </a:r>
            <a:r>
              <a:rPr lang="fr-FR" dirty="0"/>
              <a:t> Apache top-</a:t>
            </a:r>
            <a:r>
              <a:rPr lang="fr-FR" dirty="0" err="1"/>
              <a:t>level</a:t>
            </a:r>
            <a:r>
              <a:rPr lang="fr-FR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168A00-0A20-464C-A502-F008DA5C1810}"/>
              </a:ext>
            </a:extLst>
          </p:cNvPr>
          <p:cNvSpPr txBox="1"/>
          <p:nvPr/>
        </p:nvSpPr>
        <p:spPr>
          <a:xfrm>
            <a:off x="8712484" y="6247247"/>
            <a:ext cx="14109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2020</a:t>
            </a:r>
          </a:p>
          <a:p>
            <a:r>
              <a:rPr lang="fr-FR" b="1" dirty="0"/>
              <a:t>Spark on K8s</a:t>
            </a:r>
            <a:endParaRPr lang="fr-F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40EC993-201A-41CE-ABF4-EEA1474162E8}"/>
              </a:ext>
            </a:extLst>
          </p:cNvPr>
          <p:cNvSpPr/>
          <p:nvPr/>
        </p:nvSpPr>
        <p:spPr>
          <a:xfrm>
            <a:off x="10103240" y="5176396"/>
            <a:ext cx="831460" cy="983104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267D0C-17E5-4429-8A57-5181168167C8}"/>
              </a:ext>
            </a:extLst>
          </p:cNvPr>
          <p:cNvSpPr txBox="1"/>
          <p:nvPr/>
        </p:nvSpPr>
        <p:spPr>
          <a:xfrm>
            <a:off x="10218794" y="5317067"/>
            <a:ext cx="7794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dirty="0"/>
              <a:t>??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1649FD-DB62-4AEA-95F0-529E4064BBAD}"/>
              </a:ext>
            </a:extLst>
          </p:cNvPr>
          <p:cNvSpPr txBox="1"/>
          <p:nvPr/>
        </p:nvSpPr>
        <p:spPr>
          <a:xfrm>
            <a:off x="7057469" y="6261783"/>
            <a:ext cx="12741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2015 </a:t>
            </a:r>
          </a:p>
          <a:p>
            <a:r>
              <a:rPr lang="fr-FR" dirty="0" err="1"/>
              <a:t>Kubernetes</a:t>
            </a:r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F7E4A8-C541-4CE2-ADBB-61D03984D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880" y="6414519"/>
            <a:ext cx="380112" cy="371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e Obsolescence Of Hadoop Seen As Investment Opportunity">
            <a:extLst>
              <a:ext uri="{FF2B5EF4-FFF2-40B4-BE49-F238E27FC236}">
                <a16:creationId xmlns:a16="http://schemas.microsoft.com/office/drawing/2014/main" id="{930E53C3-C2B3-4E4B-ABF9-681D1FC52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6529" y="3053235"/>
            <a:ext cx="2738967" cy="7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pache Spark — Wikipédia">
            <a:extLst>
              <a:ext uri="{FF2B5EF4-FFF2-40B4-BE49-F238E27FC236}">
                <a16:creationId xmlns:a16="http://schemas.microsoft.com/office/drawing/2014/main" id="{5F1C8055-9A63-4348-8A45-26DD28D15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8492" y="4791935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ooglebot — Wikipédia">
            <a:extLst>
              <a:ext uri="{FF2B5EF4-FFF2-40B4-BE49-F238E27FC236}">
                <a16:creationId xmlns:a16="http://schemas.microsoft.com/office/drawing/2014/main" id="{5D8D4190-7159-4945-A026-8936E3B0C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217" y="1435418"/>
            <a:ext cx="1378549" cy="466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The reign and modern challenges of the Message Passing Interface (MPI): A  discussion with Dr. Torsten Hoefler. - XRDSXRDS">
            <a:extLst>
              <a:ext uri="{FF2B5EF4-FFF2-40B4-BE49-F238E27FC236}">
                <a16:creationId xmlns:a16="http://schemas.microsoft.com/office/drawing/2014/main" id="{8EF65E9A-7CFE-4FA8-9E84-00574AC32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" y="4740128"/>
            <a:ext cx="1418579" cy="49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121265F-EFA5-4F5A-B0D0-194B67D19D0E}"/>
              </a:ext>
            </a:extLst>
          </p:cNvPr>
          <p:cNvSpPr txBox="1"/>
          <p:nvPr/>
        </p:nvSpPr>
        <p:spPr>
          <a:xfrm>
            <a:off x="-51988" y="5160150"/>
            <a:ext cx="3161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1995 </a:t>
            </a:r>
            <a:r>
              <a:rPr lang="fr-FR" dirty="0"/>
              <a:t>Message Passing Interface</a:t>
            </a:r>
          </a:p>
        </p:txBody>
      </p:sp>
    </p:spTree>
    <p:extLst>
      <p:ext uri="{BB962C8B-B14F-4D97-AF65-F5344CB8AC3E}">
        <p14:creationId xmlns:p14="http://schemas.microsoft.com/office/powerpoint/2010/main" val="4290668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CE8A5-83F9-4D87-912F-02ECCFB82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100" y="-282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Simple =&gt;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Specific</a:t>
            </a:r>
            <a:r>
              <a:rPr lang="fr-FR" dirty="0"/>
              <a:t> </a:t>
            </a:r>
            <a:r>
              <a:rPr lang="fr-FR" dirty="0" err="1"/>
              <a:t>Systems</a:t>
            </a:r>
            <a:r>
              <a:rPr lang="fr-FR" dirty="0"/>
              <a:t> =&gt; </a:t>
            </a:r>
            <a:r>
              <a:rPr lang="fr-FR" dirty="0" err="1"/>
              <a:t>Unified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AF190-80A4-427C-95F9-68527B03B4E1}"/>
              </a:ext>
            </a:extLst>
          </p:cNvPr>
          <p:cNvSpPr txBox="1"/>
          <p:nvPr/>
        </p:nvSpPr>
        <p:spPr>
          <a:xfrm>
            <a:off x="297313" y="5793990"/>
            <a:ext cx="26534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« </a:t>
            </a:r>
            <a:r>
              <a:rPr lang="fr-FR" sz="2000" b="1" dirty="0"/>
              <a:t>Simple</a:t>
            </a:r>
            <a:r>
              <a:rPr lang="fr-FR" sz="2000" dirty="0"/>
              <a:t> » </a:t>
            </a:r>
            <a:r>
              <a:rPr lang="fr-FR" sz="2000" dirty="0" err="1"/>
              <a:t>ecosystem</a:t>
            </a:r>
            <a:endParaRPr lang="fr-FR" sz="2000" dirty="0"/>
          </a:p>
          <a:p>
            <a:r>
              <a:rPr lang="fr-FR" sz="2000" dirty="0"/>
              <a:t>( </a:t>
            </a:r>
            <a:r>
              <a:rPr lang="fr-FR" sz="2000" dirty="0" err="1"/>
              <a:t>verbose</a:t>
            </a:r>
            <a:r>
              <a:rPr lang="fr-FR" sz="2000" dirty="0"/>
              <a:t> </a:t>
            </a:r>
            <a:r>
              <a:rPr lang="fr-FR" sz="2000" dirty="0" err="1"/>
              <a:t>inneficient</a:t>
            </a:r>
            <a:r>
              <a:rPr lang="fr-FR" sz="2000" dirty="0"/>
              <a:t> &amp; </a:t>
            </a:r>
            <a:r>
              <a:rPr lang="fr-FR" sz="2000" dirty="0" err="1"/>
              <a:t>complex</a:t>
            </a:r>
            <a:r>
              <a:rPr lang="fr-FR" sz="2000" dirty="0"/>
              <a:t> java code)</a:t>
            </a:r>
          </a:p>
        </p:txBody>
      </p:sp>
      <p:pic>
        <p:nvPicPr>
          <p:cNvPr id="2050" name="Picture 2" descr="Le paradigme MapReduce | Le Data Scientist">
            <a:extLst>
              <a:ext uri="{FF2B5EF4-FFF2-40B4-BE49-F238E27FC236}">
                <a16:creationId xmlns:a16="http://schemas.microsoft.com/office/drawing/2014/main" id="{A82D5666-E08C-4211-8FD9-0B52A7CD0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99" y="2450326"/>
            <a:ext cx="2327805" cy="79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8676D9ED-0A6F-4BE9-AB8F-50C8FB6A785C}"/>
              </a:ext>
            </a:extLst>
          </p:cNvPr>
          <p:cNvSpPr/>
          <p:nvPr/>
        </p:nvSpPr>
        <p:spPr>
          <a:xfrm rot="19367819">
            <a:off x="3666066" y="1940698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2" name="Picture 4" descr="Apache Hive — Wikipédia">
            <a:extLst>
              <a:ext uri="{FF2B5EF4-FFF2-40B4-BE49-F238E27FC236}">
                <a16:creationId xmlns:a16="http://schemas.microsoft.com/office/drawing/2014/main" id="{C1A34FAB-47AB-4ACB-A287-AE71A82E0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035" y="854626"/>
            <a:ext cx="734368" cy="660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ig Data Services">
            <a:extLst>
              <a:ext uri="{FF2B5EF4-FFF2-40B4-BE49-F238E27FC236}">
                <a16:creationId xmlns:a16="http://schemas.microsoft.com/office/drawing/2014/main" id="{2D4EB75A-EEE8-4746-9CD8-5BA4355BFB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9219" y="1530884"/>
            <a:ext cx="1083733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DF8088E-D773-44E6-B618-EE2D4710F660}"/>
              </a:ext>
            </a:extLst>
          </p:cNvPr>
          <p:cNvSpPr/>
          <p:nvPr/>
        </p:nvSpPr>
        <p:spPr>
          <a:xfrm rot="20130776">
            <a:off x="3654340" y="2419780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8" name="Picture 10" descr="Mahout: explorez vos données (en plus de les stocker) – Blog Zenika">
            <a:extLst>
              <a:ext uri="{FF2B5EF4-FFF2-40B4-BE49-F238E27FC236}">
                <a16:creationId xmlns:a16="http://schemas.microsoft.com/office/drawing/2014/main" id="{BC60BDFF-EBDE-4ADE-B6E2-CBF6A4633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386" y="1592995"/>
            <a:ext cx="1510304" cy="589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D24A99E7-2214-4DA1-9BA7-F1823657F05E}"/>
              </a:ext>
            </a:extLst>
          </p:cNvPr>
          <p:cNvSpPr/>
          <p:nvPr/>
        </p:nvSpPr>
        <p:spPr>
          <a:xfrm rot="363563">
            <a:off x="3727563" y="2822632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0" name="Picture 12" descr="Apache Storm — Wikipédia">
            <a:extLst>
              <a:ext uri="{FF2B5EF4-FFF2-40B4-BE49-F238E27FC236}">
                <a16:creationId xmlns:a16="http://schemas.microsoft.com/office/drawing/2014/main" id="{F184CC7E-7CF5-49AB-A177-0EA24CA2B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9660" y="2408538"/>
            <a:ext cx="1706033" cy="568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BD7DFAA5-DA0F-4299-8709-D8048A515CC8}"/>
              </a:ext>
            </a:extLst>
          </p:cNvPr>
          <p:cNvSpPr/>
          <p:nvPr/>
        </p:nvSpPr>
        <p:spPr>
          <a:xfrm rot="2456694">
            <a:off x="3699019" y="3294281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4" name="Picture 16" descr="Index of /docs/3.1.2-incubating/images">
            <a:extLst>
              <a:ext uri="{FF2B5EF4-FFF2-40B4-BE49-F238E27FC236}">
                <a16:creationId xmlns:a16="http://schemas.microsoft.com/office/drawing/2014/main" id="{5EB77B2B-2076-4045-AEF6-0915637EF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418" y="4139902"/>
            <a:ext cx="1862813" cy="532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ABE7D301-7702-405C-9DA2-D9D2C6885662}"/>
              </a:ext>
            </a:extLst>
          </p:cNvPr>
          <p:cNvSpPr/>
          <p:nvPr/>
        </p:nvSpPr>
        <p:spPr>
          <a:xfrm rot="3518807">
            <a:off x="3654339" y="3853480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6" name="Picture 18" descr="Apache Tez – Welcome to Apache TEZ®">
            <a:extLst>
              <a:ext uri="{FF2B5EF4-FFF2-40B4-BE49-F238E27FC236}">
                <a16:creationId xmlns:a16="http://schemas.microsoft.com/office/drawing/2014/main" id="{5E50F5CD-87A7-498E-A0C5-D1FCFCC90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7228" y="4018044"/>
            <a:ext cx="1439333" cy="737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E2C540CF-3594-4351-800D-1ABE564F9C91}"/>
              </a:ext>
            </a:extLst>
          </p:cNvPr>
          <p:cNvSpPr/>
          <p:nvPr/>
        </p:nvSpPr>
        <p:spPr>
          <a:xfrm rot="4121961">
            <a:off x="3649871" y="4433026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8" name="Picture 20" descr="Distributed Database - Apache Ignite">
            <a:extLst>
              <a:ext uri="{FF2B5EF4-FFF2-40B4-BE49-F238E27FC236}">
                <a16:creationId xmlns:a16="http://schemas.microsoft.com/office/drawing/2014/main" id="{2F10FF13-8E34-4CA0-BDA3-69C620C07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077" y="4709178"/>
            <a:ext cx="1510305" cy="637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C39B3890-4F01-47D3-9C26-A566E62E989C}"/>
              </a:ext>
            </a:extLst>
          </p:cNvPr>
          <p:cNvSpPr/>
          <p:nvPr/>
        </p:nvSpPr>
        <p:spPr>
          <a:xfrm rot="17773493">
            <a:off x="3633170" y="1435462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72" name="Picture 24" descr="Advisory: Apache Flink Remote Code Execution Vulnerability - NSFOCUS, Inc.,  a global network and cyber security leader, protects enterprises and  carriers from advanced cyber attacks.">
            <a:extLst>
              <a:ext uri="{FF2B5EF4-FFF2-40B4-BE49-F238E27FC236}">
                <a16:creationId xmlns:a16="http://schemas.microsoft.com/office/drawing/2014/main" id="{3FB2DBEE-04C2-458E-A346-E3F50511C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909" y="3067282"/>
            <a:ext cx="1570567" cy="956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4" name="Picture 26" descr="Presto ODBC Driver | Presto JDBC Driver with SQL Connector | Simba -  Magnitude">
            <a:extLst>
              <a:ext uri="{FF2B5EF4-FFF2-40B4-BE49-F238E27FC236}">
                <a16:creationId xmlns:a16="http://schemas.microsoft.com/office/drawing/2014/main" id="{58298143-2793-466F-A94C-F59CAFFF4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789" y="915270"/>
            <a:ext cx="1248833" cy="65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6" name="Picture 28" descr="VirajeTech | World&amp;#39;s Best E-Learning Platform">
            <a:extLst>
              <a:ext uri="{FF2B5EF4-FFF2-40B4-BE49-F238E27FC236}">
                <a16:creationId xmlns:a16="http://schemas.microsoft.com/office/drawing/2014/main" id="{E6BFCD12-2393-4FD4-B744-4674D1A1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560" y="2369495"/>
            <a:ext cx="1068259" cy="956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8" name="Picture 30" descr="Apache NiFi">
            <a:extLst>
              <a:ext uri="{FF2B5EF4-FFF2-40B4-BE49-F238E27FC236}">
                <a16:creationId xmlns:a16="http://schemas.microsoft.com/office/drawing/2014/main" id="{E10BA113-04C1-425E-9501-6458DE15F8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1476" y="3492153"/>
            <a:ext cx="1341611" cy="55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0" name="Picture 32" descr="Apache Drill — Wikipédia">
            <a:extLst>
              <a:ext uri="{FF2B5EF4-FFF2-40B4-BE49-F238E27FC236}">
                <a16:creationId xmlns:a16="http://schemas.microsoft.com/office/drawing/2014/main" id="{F8E3E96B-A4F1-47C1-B31A-C9F87BCA9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859" y="4722587"/>
            <a:ext cx="1507067" cy="744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Arrow: Right 30">
            <a:extLst>
              <a:ext uri="{FF2B5EF4-FFF2-40B4-BE49-F238E27FC236}">
                <a16:creationId xmlns:a16="http://schemas.microsoft.com/office/drawing/2014/main" id="{F8665BAB-F172-4181-9DFD-6B6F0E41A356}"/>
              </a:ext>
            </a:extLst>
          </p:cNvPr>
          <p:cNvSpPr/>
          <p:nvPr/>
        </p:nvSpPr>
        <p:spPr>
          <a:xfrm rot="3236082">
            <a:off x="8801128" y="2330320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2217F24-A3E7-4BE1-BA94-D7AF967E93BF}"/>
              </a:ext>
            </a:extLst>
          </p:cNvPr>
          <p:cNvSpPr/>
          <p:nvPr/>
        </p:nvSpPr>
        <p:spPr>
          <a:xfrm>
            <a:off x="8827129" y="2966252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8210506-3F30-4861-A644-F945B8262A18}"/>
              </a:ext>
            </a:extLst>
          </p:cNvPr>
          <p:cNvSpPr/>
          <p:nvPr/>
        </p:nvSpPr>
        <p:spPr>
          <a:xfrm rot="18786171">
            <a:off x="8784982" y="3633949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563613-83EB-4424-9ED8-5442F542ABC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77318" y="5994607"/>
            <a:ext cx="3248554" cy="6350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290AB99-FE8D-44E6-92CD-88EEA8E9202B}"/>
              </a:ext>
            </a:extLst>
          </p:cNvPr>
          <p:cNvSpPr txBox="1"/>
          <p:nvPr/>
        </p:nvSpPr>
        <p:spPr>
          <a:xfrm>
            <a:off x="3394982" y="5700856"/>
            <a:ext cx="37753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« </a:t>
            </a:r>
            <a:r>
              <a:rPr lang="fr-FR" sz="2400" b="1" dirty="0"/>
              <a:t>Bazard</a:t>
            </a:r>
            <a:r>
              <a:rPr lang="fr-FR" sz="2400" dirty="0"/>
              <a:t> » </a:t>
            </a:r>
            <a:r>
              <a:rPr lang="fr-FR" sz="2400" dirty="0" err="1"/>
              <a:t>ecosystem</a:t>
            </a:r>
            <a:endParaRPr lang="fr-FR" sz="2400" dirty="0"/>
          </a:p>
          <a:p>
            <a:r>
              <a:rPr lang="fr-FR" sz="2400" dirty="0"/>
              <a:t>(</a:t>
            </a:r>
            <a:r>
              <a:rPr lang="fr-FR" sz="2400" b="1" dirty="0" err="1"/>
              <a:t>Too</a:t>
            </a:r>
            <a:r>
              <a:rPr lang="fr-FR" sz="2400" b="1" dirty="0"/>
              <a:t> MANY TOO</a:t>
            </a:r>
            <a:br>
              <a:rPr lang="fr-FR" sz="2400" b="1" dirty="0"/>
            </a:br>
            <a:r>
              <a:rPr lang="fr-FR" sz="2400" dirty="0" err="1"/>
              <a:t>redundant</a:t>
            </a:r>
            <a:r>
              <a:rPr lang="fr-FR" sz="2400" dirty="0"/>
              <a:t>,  complexes)</a:t>
            </a:r>
          </a:p>
        </p:txBody>
      </p:sp>
      <p:pic>
        <p:nvPicPr>
          <p:cNvPr id="2084" name="Picture 36" descr="Partners - KEEP IN PACT">
            <a:extLst>
              <a:ext uri="{FF2B5EF4-FFF2-40B4-BE49-F238E27FC236}">
                <a16:creationId xmlns:a16="http://schemas.microsoft.com/office/drawing/2014/main" id="{6186D7C4-7458-4626-A34F-457DED065D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7302" y="1353395"/>
            <a:ext cx="2164615" cy="1909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609702-2FEE-4FB2-84C3-1A5CFF6DB7A2}"/>
              </a:ext>
            </a:extLst>
          </p:cNvPr>
          <p:cNvSpPr txBox="1"/>
          <p:nvPr/>
        </p:nvSpPr>
        <p:spPr>
          <a:xfrm>
            <a:off x="9281283" y="5535062"/>
            <a:ext cx="2886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“</a:t>
            </a:r>
            <a:r>
              <a:rPr lang="en-US" sz="2400" b="1" dirty="0"/>
              <a:t>Unified” ecosystem</a:t>
            </a:r>
          </a:p>
          <a:p>
            <a:r>
              <a:rPr lang="en-US" sz="2400" b="1" dirty="0"/>
              <a:t>Simple </a:t>
            </a:r>
          </a:p>
          <a:p>
            <a:r>
              <a:rPr lang="en-US" sz="2400" b="1" dirty="0"/>
              <a:t>+ extensible modules</a:t>
            </a:r>
            <a:endParaRPr lang="fr-FR" dirty="0"/>
          </a:p>
        </p:txBody>
      </p:sp>
      <p:pic>
        <p:nvPicPr>
          <p:cNvPr id="39" name="Picture 8" descr="Apache Spark — Wikipédia">
            <a:extLst>
              <a:ext uri="{FF2B5EF4-FFF2-40B4-BE49-F238E27FC236}">
                <a16:creationId xmlns:a16="http://schemas.microsoft.com/office/drawing/2014/main" id="{C639043C-9292-4E46-9608-AA5EB9D02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4431" y="2966252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665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F9E80-3621-4765-A927-9F775185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Spark = « </a:t>
            </a:r>
            <a:r>
              <a:rPr lang="fr-FR" b="1" dirty="0" err="1"/>
              <a:t>Unified</a:t>
            </a:r>
            <a:r>
              <a:rPr lang="fr-FR" dirty="0"/>
              <a:t> </a:t>
            </a:r>
            <a:r>
              <a:rPr lang="fr-FR" b="1" dirty="0"/>
              <a:t>Engine</a:t>
            </a:r>
            <a:r>
              <a:rPr lang="fr-FR" dirty="0"/>
              <a:t> »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3DFE92-FA4C-437A-9887-E44CC154C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647" y="1690688"/>
            <a:ext cx="9740705" cy="446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570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53AFA-65B0-4B6F-9901-9CB4D4AFB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Multi </a:t>
            </a:r>
            <a:r>
              <a:rPr lang="fr-FR" dirty="0" err="1"/>
              <a:t>Purposes</a:t>
            </a:r>
            <a:r>
              <a:rPr lang="fr-FR" dirty="0"/>
              <a:t> – Multi Langages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7B4C94-0BB2-4825-AB7A-CEE858EF1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695" y="1547592"/>
            <a:ext cx="8698361" cy="525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700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4" name="Picture 42" descr="William Ardila, Author at Nub8 » Page 3 of 10">
            <a:extLst>
              <a:ext uri="{FF2B5EF4-FFF2-40B4-BE49-F238E27FC236}">
                <a16:creationId xmlns:a16="http://schemas.microsoft.com/office/drawing/2014/main" id="{24C069AE-274B-40A6-8143-9AD3A8C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3706" y="3861635"/>
            <a:ext cx="2198294" cy="1099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122EF4-40AE-45C7-8C2D-52DF2CD82E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8063" y="806791"/>
            <a:ext cx="791712" cy="7917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D6ADA-481D-4B0B-BB2D-84591DE3A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254" y="-187704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Spark-</a:t>
            </a:r>
            <a:r>
              <a:rPr lang="fr-FR" dirty="0" err="1"/>
              <a:t>Core</a:t>
            </a:r>
            <a:r>
              <a:rPr lang="fr-FR" dirty="0"/>
              <a:t> + …</a:t>
            </a:r>
          </a:p>
        </p:txBody>
      </p:sp>
      <p:pic>
        <p:nvPicPr>
          <p:cNvPr id="3076" name="Picture 4" descr="Upcoming Meetups - airisData">
            <a:extLst>
              <a:ext uri="{FF2B5EF4-FFF2-40B4-BE49-F238E27FC236}">
                <a16:creationId xmlns:a16="http://schemas.microsoft.com/office/drawing/2014/main" id="{8038F541-3855-4F2C-82B7-18636A64BC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4928" y="1546686"/>
            <a:ext cx="1994595" cy="1356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79CF49D0-10D1-4C63-847B-A6C9A460D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76" y="1546686"/>
            <a:ext cx="2482088" cy="142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My First Foray into Spark MLlib. As a data science team that&amp;#39;s always… | by  Dan Piltzer | Red Ventures Data Science &amp;amp; Engineering | Medium">
            <a:extLst>
              <a:ext uri="{FF2B5EF4-FFF2-40B4-BE49-F238E27FC236}">
                <a16:creationId xmlns:a16="http://schemas.microsoft.com/office/drawing/2014/main" id="{D30B6836-4094-425B-B6DA-09C38DC4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265" y="1695311"/>
            <a:ext cx="2665230" cy="95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Big Data Processing Using Apache Spark - Part 6: Graph Data Analytics with Spark  GraphX">
            <a:extLst>
              <a:ext uri="{FF2B5EF4-FFF2-40B4-BE49-F238E27FC236}">
                <a16:creationId xmlns:a16="http://schemas.microsoft.com/office/drawing/2014/main" id="{E1E41B2A-66CA-4CCB-A048-C5F1E6020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5712" y="1531425"/>
            <a:ext cx="1849623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BBAF62-9445-44E8-B3A4-B28F4AD78309}"/>
              </a:ext>
            </a:extLst>
          </p:cNvPr>
          <p:cNvSpPr txBox="1"/>
          <p:nvPr/>
        </p:nvSpPr>
        <p:spPr>
          <a:xfrm>
            <a:off x="619680" y="872292"/>
            <a:ext cx="118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Structured</a:t>
            </a:r>
            <a:br>
              <a:rPr lang="fr-FR" dirty="0"/>
            </a:br>
            <a:r>
              <a:rPr lang="fr-FR" dirty="0"/>
              <a:t> Data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72400475-C7E2-4868-A667-1501FA268F18}"/>
              </a:ext>
            </a:extLst>
          </p:cNvPr>
          <p:cNvSpPr/>
          <p:nvPr/>
        </p:nvSpPr>
        <p:spPr>
          <a:xfrm>
            <a:off x="1800003" y="979224"/>
            <a:ext cx="901700" cy="6111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6" name="Picture 14" descr="Streamlio Claims Pulsar Performance Advantages Over Kafka">
            <a:extLst>
              <a:ext uri="{FF2B5EF4-FFF2-40B4-BE49-F238E27FC236}">
                <a16:creationId xmlns:a16="http://schemas.microsoft.com/office/drawing/2014/main" id="{B3B7FAC9-7FA7-4161-AABD-701C22C8C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1744" y="649749"/>
            <a:ext cx="1431056" cy="95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ylinder 7">
            <a:extLst>
              <a:ext uri="{FF2B5EF4-FFF2-40B4-BE49-F238E27FC236}">
                <a16:creationId xmlns:a16="http://schemas.microsoft.com/office/drawing/2014/main" id="{A40C39E5-B229-4F58-8435-9B5A88B5087F}"/>
              </a:ext>
            </a:extLst>
          </p:cNvPr>
          <p:cNvSpPr/>
          <p:nvPr/>
        </p:nvSpPr>
        <p:spPr>
          <a:xfrm rot="16200000">
            <a:off x="4899374" y="910516"/>
            <a:ext cx="259006" cy="84597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8" name="Picture 16" descr="Apache Kafka : Flux de données temps réel | OVHcloud">
            <a:extLst>
              <a:ext uri="{FF2B5EF4-FFF2-40B4-BE49-F238E27FC236}">
                <a16:creationId xmlns:a16="http://schemas.microsoft.com/office/drawing/2014/main" id="{90AF0E31-AC61-42AF-8B72-C6B70A950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9512" y="1215863"/>
            <a:ext cx="718608" cy="277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3C8FE7-DCA9-463C-80A6-5704FF4A987B}"/>
              </a:ext>
            </a:extLst>
          </p:cNvPr>
          <p:cNvSpPr/>
          <p:nvPr/>
        </p:nvSpPr>
        <p:spPr>
          <a:xfrm>
            <a:off x="809962" y="16405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0701C34-B397-4611-B900-DF63A8DF5B4B}"/>
              </a:ext>
            </a:extLst>
          </p:cNvPr>
          <p:cNvSpPr/>
          <p:nvPr/>
        </p:nvSpPr>
        <p:spPr>
          <a:xfrm>
            <a:off x="3551468" y="1635335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AD1C0D-F29D-4456-9909-7911FCAF91C3}"/>
              </a:ext>
            </a:extLst>
          </p:cNvPr>
          <p:cNvSpPr/>
          <p:nvPr/>
        </p:nvSpPr>
        <p:spPr>
          <a:xfrm>
            <a:off x="6286574" y="16232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56550BF-F31B-4C72-B8F6-7550B0F0E95B}"/>
              </a:ext>
            </a:extLst>
          </p:cNvPr>
          <p:cNvSpPr/>
          <p:nvPr/>
        </p:nvSpPr>
        <p:spPr>
          <a:xfrm>
            <a:off x="9031816" y="1590324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094" name="Picture 22" descr="The Quantum Graph Recurrent Neural Network — PennyLane">
            <a:extLst>
              <a:ext uri="{FF2B5EF4-FFF2-40B4-BE49-F238E27FC236}">
                <a16:creationId xmlns:a16="http://schemas.microsoft.com/office/drawing/2014/main" id="{E0388403-A81F-4872-B855-22FF1BB48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8999" y="817930"/>
            <a:ext cx="889451" cy="669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A11EE00-BD17-486B-84F1-F4066B389DB6}"/>
              </a:ext>
            </a:extLst>
          </p:cNvPr>
          <p:cNvSpPr/>
          <p:nvPr/>
        </p:nvSpPr>
        <p:spPr>
          <a:xfrm>
            <a:off x="4018354" y="3850382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8" name="Picture 8" descr="Apache Spark — Wikipédia">
            <a:extLst>
              <a:ext uri="{FF2B5EF4-FFF2-40B4-BE49-F238E27FC236}">
                <a16:creationId xmlns:a16="http://schemas.microsoft.com/office/drawing/2014/main" id="{325463C3-864E-4B24-A47A-6841F9BDD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5554" y="3945924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2E59BBC-D52E-4509-8664-13081CB07B97}"/>
              </a:ext>
            </a:extLst>
          </p:cNvPr>
          <p:cNvSpPr txBox="1"/>
          <p:nvPr/>
        </p:nvSpPr>
        <p:spPr>
          <a:xfrm>
            <a:off x="6755663" y="4129785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 dirty="0" err="1"/>
              <a:t>Core</a:t>
            </a:r>
            <a:endParaRPr lang="fr-FR" sz="48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D2F43-729C-467A-AB60-7F402385B607}"/>
              </a:ext>
            </a:extLst>
          </p:cNvPr>
          <p:cNvSpPr txBox="1"/>
          <p:nvPr/>
        </p:nvSpPr>
        <p:spPr>
          <a:xfrm>
            <a:off x="1650900" y="3790947"/>
            <a:ext cx="2377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DataSource</a:t>
            </a:r>
            <a:r>
              <a:rPr lang="fr-FR" dirty="0"/>
              <a:t> </a:t>
            </a:r>
            <a:r>
              <a:rPr lang="fr-FR" dirty="0" err="1"/>
              <a:t>Connectors</a:t>
            </a:r>
            <a:endParaRPr lang="fr-FR" dirty="0"/>
          </a:p>
          <a:p>
            <a:r>
              <a:rPr lang="fr-FR" dirty="0"/>
              <a:t>(Hadoop API)</a:t>
            </a:r>
          </a:p>
        </p:txBody>
      </p:sp>
      <p:sp>
        <p:nvSpPr>
          <p:cNvPr id="17" name="Arrow: Up-Down 16">
            <a:extLst>
              <a:ext uri="{FF2B5EF4-FFF2-40B4-BE49-F238E27FC236}">
                <a16:creationId xmlns:a16="http://schemas.microsoft.com/office/drawing/2014/main" id="{464D4A2D-3DE2-4E7C-8704-15A131902399}"/>
              </a:ext>
            </a:extLst>
          </p:cNvPr>
          <p:cNvSpPr/>
          <p:nvPr/>
        </p:nvSpPr>
        <p:spPr>
          <a:xfrm rot="5400000">
            <a:off x="2522832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91CE0B-02CA-420A-AB9B-2C62ECC3D764}"/>
              </a:ext>
            </a:extLst>
          </p:cNvPr>
          <p:cNvSpPr txBox="1"/>
          <p:nvPr/>
        </p:nvSpPr>
        <p:spPr>
          <a:xfrm>
            <a:off x="8709460" y="3943031"/>
            <a:ext cx="1735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Cluster Manager</a:t>
            </a: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8586462E-E6EC-4DF4-A713-3DDF696893CF}"/>
              </a:ext>
            </a:extLst>
          </p:cNvPr>
          <p:cNvSpPr/>
          <p:nvPr/>
        </p:nvSpPr>
        <p:spPr>
          <a:xfrm rot="5400000">
            <a:off x="9400610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7E89965-653B-47EC-8240-6C3653476935}"/>
              </a:ext>
            </a:extLst>
          </p:cNvPr>
          <p:cNvSpPr txBox="1"/>
          <p:nvPr/>
        </p:nvSpPr>
        <p:spPr>
          <a:xfrm>
            <a:off x="6250010" y="5261663"/>
            <a:ext cx="184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Langages Support</a:t>
            </a:r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E4448577-6664-4DED-B148-2AB00E82F242}"/>
              </a:ext>
            </a:extLst>
          </p:cNvPr>
          <p:cNvSpPr/>
          <p:nvPr/>
        </p:nvSpPr>
        <p:spPr>
          <a:xfrm rot="10800000">
            <a:off x="5928832" y="5190670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2F1402-EF55-4C5F-B22D-CCEA4B714938}"/>
              </a:ext>
            </a:extLst>
          </p:cNvPr>
          <p:cNvSpPr txBox="1"/>
          <p:nvPr/>
        </p:nvSpPr>
        <p:spPr>
          <a:xfrm>
            <a:off x="6474534" y="3060431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Modules</a:t>
            </a:r>
          </a:p>
        </p:txBody>
      </p:sp>
      <p:pic>
        <p:nvPicPr>
          <p:cNvPr id="3096" name="Picture 24" descr="Java (langage) — Wikipédia">
            <a:extLst>
              <a:ext uri="{FF2B5EF4-FFF2-40B4-BE49-F238E27FC236}">
                <a16:creationId xmlns:a16="http://schemas.microsoft.com/office/drawing/2014/main" id="{6224F849-AD5D-4E0A-BF6A-3AF46D29A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1705" y="5554641"/>
            <a:ext cx="637540" cy="1186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8" name="Picture 26" descr="Scala (langage) — Wikipédia">
            <a:extLst>
              <a:ext uri="{FF2B5EF4-FFF2-40B4-BE49-F238E27FC236}">
                <a16:creationId xmlns:a16="http://schemas.microsoft.com/office/drawing/2014/main" id="{A1CBC9D1-B4C1-4828-848A-75BE6CE70D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7553" y="6066414"/>
            <a:ext cx="1719743" cy="705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2" name="Picture 30" descr="Python-Logo-PNG-Image - Indigo.amsterdam">
            <a:extLst>
              <a:ext uri="{FF2B5EF4-FFF2-40B4-BE49-F238E27FC236}">
                <a16:creationId xmlns:a16="http://schemas.microsoft.com/office/drawing/2014/main" id="{6539C180-53C1-4DEF-B701-2C3D64A44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5951" y="5799353"/>
            <a:ext cx="2015656" cy="100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6" name="Picture 34">
            <a:extLst>
              <a:ext uri="{FF2B5EF4-FFF2-40B4-BE49-F238E27FC236}">
                <a16:creationId xmlns:a16="http://schemas.microsoft.com/office/drawing/2014/main" id="{9BC7296E-525F-4EFA-B7E5-BA5F758FE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6061" y="5989133"/>
            <a:ext cx="911091" cy="706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0" name="Picture 38" descr="Présentation Hadoop Distributed File System – Blog technique Groupe SII">
            <a:extLst>
              <a:ext uri="{FF2B5EF4-FFF2-40B4-BE49-F238E27FC236}">
                <a16:creationId xmlns:a16="http://schemas.microsoft.com/office/drawing/2014/main" id="{9F7017BC-137A-4FCD-8921-E6B5B74FD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28" y="3327277"/>
            <a:ext cx="1393418" cy="657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2" name="Picture 40" descr="Upload/Download your Azure Storage files by using Azure Data Lake Storage  Plugin with Workload Automation - WORKLOAD AUTOMATION COMMUNITY">
            <a:extLst>
              <a:ext uri="{FF2B5EF4-FFF2-40B4-BE49-F238E27FC236}">
                <a16:creationId xmlns:a16="http://schemas.microsoft.com/office/drawing/2014/main" id="{0B969055-5D95-4028-A24A-382729740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341" y="4499093"/>
            <a:ext cx="1447594" cy="836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2">
            <a:extLst>
              <a:ext uri="{FF2B5EF4-FFF2-40B4-BE49-F238E27FC236}">
                <a16:creationId xmlns:a16="http://schemas.microsoft.com/office/drawing/2014/main" id="{A5CFE9A7-290C-4F7A-9224-0482F9863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8770" y="4775421"/>
            <a:ext cx="896605" cy="875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6" name="Picture 44" descr="How to Run an Application on Spark Standalone Cluster | by Chuan Xu | Medium">
            <a:extLst>
              <a:ext uri="{FF2B5EF4-FFF2-40B4-BE49-F238E27FC236}">
                <a16:creationId xmlns:a16="http://schemas.microsoft.com/office/drawing/2014/main" id="{520B4716-BD3D-4BD0-8364-B874A91B3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550" y="3171738"/>
            <a:ext cx="1676749" cy="94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8" name="Picture 46">
            <a:extLst>
              <a:ext uri="{FF2B5EF4-FFF2-40B4-BE49-F238E27FC236}">
                <a16:creationId xmlns:a16="http://schemas.microsoft.com/office/drawing/2014/main" id="{6A2E18B7-D45F-4F5A-8B3D-A62E9BD9EB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59" y="5306801"/>
            <a:ext cx="698767" cy="57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20" name="Picture 48" descr="Apache Iceberg">
            <a:extLst>
              <a:ext uri="{FF2B5EF4-FFF2-40B4-BE49-F238E27FC236}">
                <a16:creationId xmlns:a16="http://schemas.microsoft.com/office/drawing/2014/main" id="{709A7303-EE0C-4A11-9528-76B24460E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695" y="5349397"/>
            <a:ext cx="1447594" cy="394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8" name="Picture 36" descr="Amazon S3 101. S3 is a Simple Storage Service that is… | by Vedha Sankar |  featurepreneur | Medium">
            <a:extLst>
              <a:ext uri="{FF2B5EF4-FFF2-40B4-BE49-F238E27FC236}">
                <a16:creationId xmlns:a16="http://schemas.microsoft.com/office/drawing/2014/main" id="{EE95ED07-F5BA-4E14-8407-5AC42A259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402" y="3952271"/>
            <a:ext cx="903472" cy="676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E8510E92-2B55-3ACB-8D28-1E2895BCCEBA}"/>
              </a:ext>
            </a:extLst>
          </p:cNvPr>
          <p:cNvSpPr/>
          <p:nvPr/>
        </p:nvSpPr>
        <p:spPr>
          <a:xfrm>
            <a:off x="5928022" y="3055809"/>
            <a:ext cx="414513" cy="5043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144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280DC-8C59-40FE-98FE-65F9EB3A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Getting</a:t>
            </a:r>
            <a:r>
              <a:rPr lang="fr-FR" dirty="0"/>
              <a:t> </a:t>
            </a:r>
            <a:r>
              <a:rPr lang="fr-FR" dirty="0" err="1"/>
              <a:t>Started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E7E150-279A-4A6C-AC63-5CE332931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40" y="2351666"/>
            <a:ext cx="6055360" cy="21546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D0DAC9-44A8-4D03-AEF3-F64A32993225}"/>
              </a:ext>
            </a:extLst>
          </p:cNvPr>
          <p:cNvSpPr txBox="1"/>
          <p:nvPr/>
        </p:nvSpPr>
        <p:spPr>
          <a:xfrm>
            <a:off x="1198880" y="1844040"/>
            <a:ext cx="1434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1/ Download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7CF089-6C5D-4231-BD12-4C0D37AD893F}"/>
              </a:ext>
            </a:extLst>
          </p:cNvPr>
          <p:cNvSpPr txBox="1"/>
          <p:nvPr/>
        </p:nvSpPr>
        <p:spPr>
          <a:xfrm>
            <a:off x="4841240" y="1836511"/>
            <a:ext cx="2376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2/ </a:t>
            </a:r>
            <a:r>
              <a:rPr lang="fr-FR" b="1" dirty="0" err="1"/>
              <a:t>Unzip</a:t>
            </a:r>
            <a:r>
              <a:rPr lang="fr-FR" b="1" dirty="0"/>
              <a:t> + </a:t>
            </a:r>
            <a:r>
              <a:rPr lang="fr-FR" b="1" dirty="0" err="1"/>
              <a:t>add</a:t>
            </a:r>
            <a:r>
              <a:rPr lang="fr-FR" b="1" dirty="0"/>
              <a:t> to 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6CEFE3-54C4-4E8C-84B9-1B1ADF8093DA}"/>
              </a:ext>
            </a:extLst>
          </p:cNvPr>
          <p:cNvSpPr txBox="1"/>
          <p:nvPr/>
        </p:nvSpPr>
        <p:spPr>
          <a:xfrm>
            <a:off x="7904480" y="1836511"/>
            <a:ext cx="323197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3/ launch</a:t>
            </a:r>
          </a:p>
          <a:p>
            <a:endParaRPr lang="fr-FR" b="1" dirty="0"/>
          </a:p>
          <a:p>
            <a:r>
              <a:rPr lang="fr-FR" b="1" dirty="0"/>
              <a:t>C:&gt; bin\</a:t>
            </a:r>
            <a:r>
              <a:rPr lang="fr-FR" b="1" dirty="0" err="1"/>
              <a:t>spark-shell</a:t>
            </a:r>
            <a:endParaRPr lang="fr-FR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b="1" dirty="0"/>
          </a:p>
          <a:p>
            <a:r>
              <a:rPr lang="fr-FR" b="1" dirty="0"/>
              <a:t>( or </a:t>
            </a:r>
            <a:r>
              <a:rPr lang="fr-FR" b="1" dirty="0" err="1"/>
              <a:t>spark-submit</a:t>
            </a:r>
            <a:r>
              <a:rPr lang="fr-FR" b="1" dirty="0"/>
              <a:t>, or </a:t>
            </a:r>
            <a:r>
              <a:rPr lang="fr-FR" b="1" dirty="0" err="1"/>
              <a:t>spark-sql</a:t>
            </a:r>
            <a:r>
              <a:rPr lang="fr-FR" b="1" dirty="0"/>
              <a:t> )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4F5AA6-CF0D-20EB-5230-DBF1D1C9E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071" y="4155924"/>
            <a:ext cx="5847457" cy="226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1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0A21-253B-4A34-B481-E341300F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819" y="2162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         scala&gt;</a:t>
            </a:r>
            <a:br>
              <a:rPr lang="fr-FR" dirty="0"/>
            </a:br>
            <a:r>
              <a:rPr lang="fr-FR" dirty="0"/>
              <a:t>scala&gt;  </a:t>
            </a:r>
            <a:r>
              <a:rPr lang="fr-FR" dirty="0" err="1"/>
              <a:t>println</a:t>
            </a:r>
            <a:r>
              <a:rPr lang="fr-FR" dirty="0"/>
              <a:t>(« Hello </a:t>
            </a:r>
            <a:r>
              <a:rPr lang="fr-FR" dirty="0" err="1"/>
              <a:t>spark</a:t>
            </a:r>
            <a:r>
              <a:rPr lang="fr-FR" dirty="0"/>
              <a:t> »);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F8884B-FB2C-C445-0FC0-6081CB192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640" y="1911048"/>
            <a:ext cx="9409217" cy="4293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2767BFC-2785-8BDA-521B-60D06A5228EA}"/>
              </a:ext>
            </a:extLst>
          </p:cNvPr>
          <p:cNvSpPr/>
          <p:nvPr/>
        </p:nvSpPr>
        <p:spPr>
          <a:xfrm>
            <a:off x="3275390" y="5256946"/>
            <a:ext cx="2853939" cy="268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426828-17E3-4910-78DA-4BDBDADAC565}"/>
              </a:ext>
            </a:extLst>
          </p:cNvPr>
          <p:cNvSpPr/>
          <p:nvPr/>
        </p:nvSpPr>
        <p:spPr>
          <a:xfrm>
            <a:off x="2510639" y="5921245"/>
            <a:ext cx="837323" cy="268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8214D5-6B94-58F6-B034-049B2B87494B}"/>
              </a:ext>
            </a:extLst>
          </p:cNvPr>
          <p:cNvSpPr/>
          <p:nvPr/>
        </p:nvSpPr>
        <p:spPr>
          <a:xfrm>
            <a:off x="2465010" y="1858184"/>
            <a:ext cx="457200" cy="268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340968F-B81B-FA4A-1F2D-9B6EBB2F0F43}"/>
              </a:ext>
            </a:extLst>
          </p:cNvPr>
          <p:cNvSpPr/>
          <p:nvPr/>
        </p:nvSpPr>
        <p:spPr>
          <a:xfrm>
            <a:off x="1847109" y="1832472"/>
            <a:ext cx="396724" cy="2686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8B02B11-9AF8-E5CE-B774-94425D37E8DA}"/>
              </a:ext>
            </a:extLst>
          </p:cNvPr>
          <p:cNvSpPr/>
          <p:nvPr/>
        </p:nvSpPr>
        <p:spPr>
          <a:xfrm>
            <a:off x="1771752" y="5525549"/>
            <a:ext cx="396724" cy="2686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667C02-D33E-DB49-AB20-DC7F0F059A07}"/>
              </a:ext>
            </a:extLst>
          </p:cNvPr>
          <p:cNvSpPr txBox="1"/>
          <p:nvPr/>
        </p:nvSpPr>
        <p:spPr>
          <a:xfrm>
            <a:off x="0" y="5300718"/>
            <a:ext cx="1623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inside</a:t>
            </a:r>
            <a:r>
              <a:rPr lang="fr-FR" dirty="0"/>
              <a:t> </a:t>
            </a:r>
            <a:r>
              <a:rPr lang="fr-FR" dirty="0" err="1"/>
              <a:t>spark</a:t>
            </a:r>
            <a:endParaRPr lang="fr-FR" dirty="0"/>
          </a:p>
          <a:p>
            <a:r>
              <a:rPr lang="fr-FR" dirty="0"/>
              <a:t>type scala code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C2C042-95F8-60DC-E8E1-71E5B082D4D9}"/>
              </a:ext>
            </a:extLst>
          </p:cNvPr>
          <p:cNvSpPr txBox="1"/>
          <p:nvPr/>
        </p:nvSpPr>
        <p:spPr>
          <a:xfrm>
            <a:off x="75357" y="1509306"/>
            <a:ext cx="1874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launch </a:t>
            </a:r>
            <a:r>
              <a:rPr lang="fr-FR" dirty="0" err="1"/>
              <a:t>spark-shell</a:t>
            </a:r>
            <a:endParaRPr lang="fr-FR" dirty="0"/>
          </a:p>
          <a:p>
            <a:r>
              <a:rPr lang="fr-FR" dirty="0" err="1"/>
              <a:t>from</a:t>
            </a:r>
            <a:r>
              <a:rPr lang="fr-FR" dirty="0"/>
              <a:t> terminal</a:t>
            </a:r>
          </a:p>
        </p:txBody>
      </p:sp>
    </p:spTree>
    <p:extLst>
      <p:ext uri="{BB962C8B-B14F-4D97-AF65-F5344CB8AC3E}">
        <p14:creationId xmlns:p14="http://schemas.microsoft.com/office/powerpoint/2010/main" val="3597241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035B0-C8C4-4B14-8D8E-48C16D87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487"/>
            <a:ext cx="10515600" cy="1116574"/>
          </a:xfrm>
        </p:spPr>
        <p:txBody>
          <a:bodyPr/>
          <a:lstStyle/>
          <a:p>
            <a:pPr algn="ctr"/>
            <a:r>
              <a:rPr lang="fr-FR" dirty="0"/>
              <a:t>Spark-</a:t>
            </a:r>
            <a:r>
              <a:rPr lang="fr-FR" dirty="0" err="1"/>
              <a:t>shell</a:t>
            </a:r>
            <a:r>
              <a:rPr lang="fr-FR" dirty="0"/>
              <a:t>&gt;    SCALA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524767-7C4E-4A62-8079-1D4F8374B997}"/>
              </a:ext>
            </a:extLst>
          </p:cNvPr>
          <p:cNvSpPr txBox="1"/>
          <p:nvPr/>
        </p:nvSpPr>
        <p:spPr>
          <a:xfrm>
            <a:off x="4526280" y="4713395"/>
            <a:ext cx="12987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Ctrl-D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BBFB26-DAF8-44CD-B622-6DE806E89A91}"/>
              </a:ext>
            </a:extLst>
          </p:cNvPr>
          <p:cNvSpPr txBox="1"/>
          <p:nvPr/>
        </p:nvSpPr>
        <p:spPr>
          <a:xfrm>
            <a:off x="2439850" y="1351216"/>
            <a:ext cx="1353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:paste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E78631-7A96-9449-E7D4-59A026899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70" y="2121867"/>
            <a:ext cx="5292868" cy="190269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3457B0B-13C7-F12B-7F04-CF793388B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823" y="3947886"/>
            <a:ext cx="4815977" cy="255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501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B52E2-56CC-4771-9C22-D4D91226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067" y="1"/>
            <a:ext cx="10515600" cy="876804"/>
          </a:xfrm>
        </p:spPr>
        <p:txBody>
          <a:bodyPr/>
          <a:lstStyle/>
          <a:p>
            <a:pPr algn="ctr"/>
            <a:r>
              <a:rPr lang="fr-FR" dirty="0" err="1"/>
              <a:t>spark-shell</a:t>
            </a:r>
            <a:r>
              <a:rPr lang="fr-FR" dirty="0"/>
              <a:t>&gt; help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6525BC-1488-6F34-EA65-C0539E303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503" y="876804"/>
            <a:ext cx="9640135" cy="58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462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4DF9A-000C-AC07-6AB9-1E64051A7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1"/>
            <a:ext cx="10515600" cy="1112520"/>
          </a:xfrm>
        </p:spPr>
        <p:txBody>
          <a:bodyPr/>
          <a:lstStyle/>
          <a:p>
            <a:pPr algn="ctr"/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(..)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B2C382-C117-DE25-04CE-2CA198777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817" y="3544053"/>
            <a:ext cx="7733674" cy="16964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1A721D-8AD8-070F-22D2-C22C52823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6817" y="2143946"/>
            <a:ext cx="5925503" cy="85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68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9BE79-2F6C-41D2-9CE2-0AB364E5A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5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spark.read.textFile</a:t>
            </a:r>
            <a:r>
              <a:rPr lang="fr-FR" dirty="0"/>
              <a:t>( ..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C9672-DEF3-4A41-B857-03D64845E70B}"/>
              </a:ext>
            </a:extLst>
          </p:cNvPr>
          <p:cNvSpPr txBox="1"/>
          <p:nvPr/>
        </p:nvSpPr>
        <p:spPr>
          <a:xfrm>
            <a:off x="528320" y="3606800"/>
            <a:ext cx="1003595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scala&gt; val </a:t>
            </a:r>
            <a:r>
              <a:rPr lang="fr-FR" sz="3200" dirty="0" err="1"/>
              <a:t>ds</a:t>
            </a:r>
            <a:r>
              <a:rPr lang="fr-FR" sz="3200" dirty="0"/>
              <a:t>=</a:t>
            </a:r>
            <a:r>
              <a:rPr lang="fr-FR" sz="3200" b="1" dirty="0" err="1"/>
              <a:t>spark</a:t>
            </a:r>
            <a:r>
              <a:rPr lang="fr-FR" sz="3200" dirty="0" err="1"/>
              <a:t>.read.textFile</a:t>
            </a:r>
            <a:r>
              <a:rPr lang="fr-FR" sz="3200" dirty="0"/>
              <a:t>("c:/data/loremIpsum.txt")</a:t>
            </a:r>
          </a:p>
          <a:p>
            <a:r>
              <a:rPr lang="fr-FR" sz="3200" dirty="0" err="1"/>
              <a:t>ds</a:t>
            </a:r>
            <a:r>
              <a:rPr lang="fr-FR" sz="3200" dirty="0"/>
              <a:t>: </a:t>
            </a:r>
            <a:r>
              <a:rPr lang="fr-FR" sz="3200" dirty="0" err="1"/>
              <a:t>org.apache.spark.sql.Dataset</a:t>
            </a:r>
            <a:r>
              <a:rPr lang="fr-FR" sz="3200" dirty="0"/>
              <a:t>[String] = [value: string]</a:t>
            </a:r>
          </a:p>
          <a:p>
            <a:endParaRPr lang="fr-FR" sz="3200" dirty="0"/>
          </a:p>
          <a:p>
            <a:r>
              <a:rPr lang="fr-FR" sz="3200" dirty="0"/>
              <a:t>scala&gt; </a:t>
            </a:r>
            <a:r>
              <a:rPr lang="fr-FR" sz="3200" dirty="0" err="1"/>
              <a:t>ds.count</a:t>
            </a:r>
            <a:r>
              <a:rPr lang="fr-FR" sz="3200" dirty="0"/>
              <a:t>  // count </a:t>
            </a:r>
            <a:r>
              <a:rPr lang="fr-FR" sz="3200" dirty="0" err="1"/>
              <a:t>lines</a:t>
            </a:r>
            <a:endParaRPr lang="fr-FR" sz="3200" dirty="0"/>
          </a:p>
          <a:p>
            <a:r>
              <a:rPr lang="fr-FR" sz="3200" dirty="0"/>
              <a:t>res1: Long = 4</a:t>
            </a:r>
          </a:p>
          <a:p>
            <a:endParaRPr lang="fr-FR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560066-937E-48CF-971B-700AC319EBC4}"/>
              </a:ext>
            </a:extLst>
          </p:cNvPr>
          <p:cNvSpPr txBox="1"/>
          <p:nvPr/>
        </p:nvSpPr>
        <p:spPr>
          <a:xfrm>
            <a:off x="304800" y="1773872"/>
            <a:ext cx="1184926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r>
              <a:rPr lang="fr-FR" dirty="0"/>
              <a:t>, </a:t>
            </a:r>
            <a:r>
              <a:rPr lang="fr-FR" dirty="0" err="1"/>
              <a:t>consectetur</a:t>
            </a:r>
            <a:r>
              <a:rPr lang="fr-FR" dirty="0"/>
              <a:t> </a:t>
            </a:r>
            <a:r>
              <a:rPr lang="fr-FR" dirty="0" err="1"/>
              <a:t>adipiscing</a:t>
            </a:r>
            <a:r>
              <a:rPr lang="fr-FR" dirty="0"/>
              <a:t> </a:t>
            </a:r>
            <a:r>
              <a:rPr lang="fr-FR" dirty="0" err="1"/>
              <a:t>elit</a:t>
            </a:r>
            <a:r>
              <a:rPr lang="fr-FR" dirty="0"/>
              <a:t>, </a:t>
            </a:r>
            <a:r>
              <a:rPr lang="fr-FR" dirty="0" err="1"/>
              <a:t>sed</a:t>
            </a:r>
            <a:r>
              <a:rPr lang="fr-FR" dirty="0"/>
              <a:t> do </a:t>
            </a:r>
            <a:r>
              <a:rPr lang="fr-FR" dirty="0" err="1"/>
              <a:t>eiusmod</a:t>
            </a:r>
            <a:r>
              <a:rPr lang="fr-FR" dirty="0"/>
              <a:t> </a:t>
            </a:r>
            <a:r>
              <a:rPr lang="fr-FR" dirty="0" err="1"/>
              <a:t>tempor</a:t>
            </a:r>
            <a:r>
              <a:rPr lang="fr-FR" dirty="0"/>
              <a:t> </a:t>
            </a:r>
            <a:r>
              <a:rPr lang="fr-FR" dirty="0" err="1"/>
              <a:t>incididunt</a:t>
            </a:r>
            <a:r>
              <a:rPr lang="fr-FR" dirty="0"/>
              <a:t> ut </a:t>
            </a:r>
            <a:r>
              <a:rPr lang="fr-FR" dirty="0" err="1"/>
              <a:t>labore</a:t>
            </a:r>
            <a:r>
              <a:rPr lang="fr-FR" dirty="0"/>
              <a:t> et </a:t>
            </a:r>
            <a:r>
              <a:rPr lang="fr-FR" dirty="0" err="1"/>
              <a:t>dolore</a:t>
            </a:r>
            <a:r>
              <a:rPr lang="fr-FR" dirty="0"/>
              <a:t> magna </a:t>
            </a:r>
            <a:r>
              <a:rPr lang="fr-FR" dirty="0" err="1"/>
              <a:t>aliqua</a:t>
            </a:r>
            <a:r>
              <a:rPr lang="fr-FR" dirty="0"/>
              <a:t>.</a:t>
            </a:r>
          </a:p>
          <a:p>
            <a:r>
              <a:rPr lang="fr-FR" dirty="0"/>
              <a:t>Ut </a:t>
            </a:r>
            <a:r>
              <a:rPr lang="fr-FR" dirty="0" err="1"/>
              <a:t>enim</a:t>
            </a:r>
            <a:r>
              <a:rPr lang="fr-FR" dirty="0"/>
              <a:t> ad </a:t>
            </a:r>
            <a:r>
              <a:rPr lang="fr-FR" dirty="0" err="1"/>
              <a:t>minim</a:t>
            </a:r>
            <a:r>
              <a:rPr lang="fr-FR" dirty="0"/>
              <a:t> </a:t>
            </a:r>
            <a:r>
              <a:rPr lang="fr-FR" dirty="0" err="1"/>
              <a:t>veniam</a:t>
            </a:r>
            <a:r>
              <a:rPr lang="fr-FR" dirty="0"/>
              <a:t>, </a:t>
            </a:r>
            <a:r>
              <a:rPr lang="fr-FR" dirty="0" err="1"/>
              <a:t>quis</a:t>
            </a:r>
            <a:r>
              <a:rPr lang="fr-FR" dirty="0"/>
              <a:t> </a:t>
            </a:r>
            <a:r>
              <a:rPr lang="fr-FR" dirty="0" err="1"/>
              <a:t>nostrud</a:t>
            </a:r>
            <a:r>
              <a:rPr lang="fr-FR" dirty="0"/>
              <a:t> </a:t>
            </a:r>
            <a:r>
              <a:rPr lang="fr-FR" dirty="0" err="1"/>
              <a:t>exercitation</a:t>
            </a:r>
            <a:r>
              <a:rPr lang="fr-FR" dirty="0"/>
              <a:t> </a:t>
            </a:r>
            <a:r>
              <a:rPr lang="fr-FR" dirty="0" err="1"/>
              <a:t>ullamco</a:t>
            </a:r>
            <a:r>
              <a:rPr lang="fr-FR" dirty="0"/>
              <a:t> </a:t>
            </a:r>
            <a:r>
              <a:rPr lang="fr-FR" dirty="0" err="1"/>
              <a:t>laboris</a:t>
            </a:r>
            <a:r>
              <a:rPr lang="fr-FR" dirty="0"/>
              <a:t> </a:t>
            </a:r>
            <a:r>
              <a:rPr lang="fr-FR" dirty="0" err="1"/>
              <a:t>nisi</a:t>
            </a:r>
            <a:r>
              <a:rPr lang="fr-FR" dirty="0"/>
              <a:t> ut </a:t>
            </a:r>
            <a:r>
              <a:rPr lang="fr-FR" dirty="0" err="1"/>
              <a:t>aliquip</a:t>
            </a:r>
            <a:r>
              <a:rPr lang="fr-FR" dirty="0"/>
              <a:t> ex </a:t>
            </a:r>
            <a:r>
              <a:rPr lang="fr-FR" dirty="0" err="1"/>
              <a:t>ea</a:t>
            </a:r>
            <a:r>
              <a:rPr lang="fr-FR" dirty="0"/>
              <a:t> commodo </a:t>
            </a:r>
            <a:r>
              <a:rPr lang="fr-FR" dirty="0" err="1"/>
              <a:t>consequat</a:t>
            </a:r>
            <a:r>
              <a:rPr lang="fr-FR" dirty="0"/>
              <a:t>.</a:t>
            </a:r>
          </a:p>
          <a:p>
            <a:r>
              <a:rPr lang="fr-FR" dirty="0"/>
              <a:t>Duis </a:t>
            </a:r>
            <a:r>
              <a:rPr lang="fr-FR" dirty="0" err="1"/>
              <a:t>aute</a:t>
            </a:r>
            <a:r>
              <a:rPr lang="fr-FR" dirty="0"/>
              <a:t> </a:t>
            </a:r>
            <a:r>
              <a:rPr lang="fr-FR" dirty="0" err="1"/>
              <a:t>irure</a:t>
            </a:r>
            <a:r>
              <a:rPr lang="fr-FR" dirty="0"/>
              <a:t> </a:t>
            </a:r>
            <a:r>
              <a:rPr lang="fr-FR" dirty="0" err="1"/>
              <a:t>dolor</a:t>
            </a:r>
            <a:r>
              <a:rPr lang="fr-FR" dirty="0"/>
              <a:t> in </a:t>
            </a:r>
            <a:r>
              <a:rPr lang="fr-FR" dirty="0" err="1"/>
              <a:t>reprehenderit</a:t>
            </a:r>
            <a:r>
              <a:rPr lang="fr-FR" dirty="0"/>
              <a:t> in </a:t>
            </a:r>
            <a:r>
              <a:rPr lang="fr-FR" dirty="0" err="1"/>
              <a:t>voluptate</a:t>
            </a:r>
            <a:r>
              <a:rPr lang="fr-FR" dirty="0"/>
              <a:t> </a:t>
            </a:r>
            <a:r>
              <a:rPr lang="fr-FR" dirty="0" err="1"/>
              <a:t>velit</a:t>
            </a:r>
            <a:r>
              <a:rPr lang="fr-FR" dirty="0"/>
              <a:t> esse </a:t>
            </a:r>
            <a:r>
              <a:rPr lang="fr-FR" dirty="0" err="1"/>
              <a:t>cillum</a:t>
            </a:r>
            <a:r>
              <a:rPr lang="fr-FR" dirty="0"/>
              <a:t> </a:t>
            </a:r>
            <a:r>
              <a:rPr lang="fr-FR" dirty="0" err="1"/>
              <a:t>dolore</a:t>
            </a:r>
            <a:r>
              <a:rPr lang="fr-FR" dirty="0"/>
              <a:t> eu </a:t>
            </a:r>
            <a:r>
              <a:rPr lang="fr-FR" dirty="0" err="1"/>
              <a:t>fugiat</a:t>
            </a:r>
            <a:r>
              <a:rPr lang="fr-FR" dirty="0"/>
              <a:t> </a:t>
            </a:r>
            <a:r>
              <a:rPr lang="fr-FR" dirty="0" err="1"/>
              <a:t>nulla</a:t>
            </a:r>
            <a:r>
              <a:rPr lang="fr-FR" dirty="0"/>
              <a:t> </a:t>
            </a:r>
            <a:r>
              <a:rPr lang="fr-FR" dirty="0" err="1"/>
              <a:t>pariatur</a:t>
            </a:r>
            <a:r>
              <a:rPr lang="fr-FR" dirty="0"/>
              <a:t>.</a:t>
            </a:r>
          </a:p>
          <a:p>
            <a:r>
              <a:rPr lang="fr-FR" dirty="0" err="1"/>
              <a:t>Excepteur</a:t>
            </a:r>
            <a:r>
              <a:rPr lang="fr-FR" dirty="0"/>
              <a:t> </a:t>
            </a:r>
            <a:r>
              <a:rPr lang="fr-FR" dirty="0" err="1"/>
              <a:t>sint</a:t>
            </a:r>
            <a:r>
              <a:rPr lang="fr-FR" dirty="0"/>
              <a:t> </a:t>
            </a:r>
            <a:r>
              <a:rPr lang="fr-FR" dirty="0" err="1"/>
              <a:t>occaecat</a:t>
            </a:r>
            <a:r>
              <a:rPr lang="fr-FR" dirty="0"/>
              <a:t> </a:t>
            </a:r>
            <a:r>
              <a:rPr lang="fr-FR" dirty="0" err="1"/>
              <a:t>cupidatat</a:t>
            </a:r>
            <a:r>
              <a:rPr lang="fr-FR" dirty="0"/>
              <a:t> non </a:t>
            </a:r>
            <a:r>
              <a:rPr lang="fr-FR" dirty="0" err="1"/>
              <a:t>proident</a:t>
            </a:r>
            <a:r>
              <a:rPr lang="fr-FR" dirty="0"/>
              <a:t>, </a:t>
            </a:r>
            <a:r>
              <a:rPr lang="fr-FR" dirty="0" err="1"/>
              <a:t>sunt</a:t>
            </a:r>
            <a:r>
              <a:rPr lang="fr-FR" dirty="0"/>
              <a:t> in culpa qui officia </a:t>
            </a:r>
            <a:r>
              <a:rPr lang="fr-FR" dirty="0" err="1"/>
              <a:t>deserunt</a:t>
            </a:r>
            <a:r>
              <a:rPr lang="fr-FR" dirty="0"/>
              <a:t> mollit </a:t>
            </a:r>
            <a:r>
              <a:rPr lang="fr-FR" dirty="0" err="1"/>
              <a:t>anim</a:t>
            </a:r>
            <a:r>
              <a:rPr lang="fr-FR" dirty="0"/>
              <a:t> id est </a:t>
            </a:r>
            <a:r>
              <a:rPr lang="fr-FR" dirty="0" err="1"/>
              <a:t>laborum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2228719E-6A53-487E-9910-8FDAF8A85729}"/>
              </a:ext>
            </a:extLst>
          </p:cNvPr>
          <p:cNvSpPr/>
          <p:nvPr/>
        </p:nvSpPr>
        <p:spPr>
          <a:xfrm>
            <a:off x="193040" y="1690688"/>
            <a:ext cx="11877040" cy="1372552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EC17EA-699C-494D-8BDA-B326A0C66C7E}"/>
              </a:ext>
            </a:extLst>
          </p:cNvPr>
          <p:cNvSpPr txBox="1"/>
          <p:nvPr/>
        </p:nvSpPr>
        <p:spPr>
          <a:xfrm>
            <a:off x="220811" y="1362948"/>
            <a:ext cx="1617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loremIpsum.txt</a:t>
            </a:r>
          </a:p>
        </p:txBody>
      </p:sp>
    </p:spTree>
    <p:extLst>
      <p:ext uri="{BB962C8B-B14F-4D97-AF65-F5344CB8AC3E}">
        <p14:creationId xmlns:p14="http://schemas.microsoft.com/office/powerpoint/2010/main" val="2286625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56BA765-9440-41B5-BA1B-D2324D6FB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dataset.show</a:t>
            </a:r>
            <a:r>
              <a:rPr lang="fr-FR" dirty="0"/>
              <a:t> ()</a:t>
            </a:r>
            <a:br>
              <a:rPr lang="fr-FR" dirty="0"/>
            </a:br>
            <a:r>
              <a:rPr lang="fr-FR" dirty="0"/>
              <a:t>         default   show(20 /*line*/, </a:t>
            </a:r>
            <a:r>
              <a:rPr lang="fr-FR" dirty="0" err="1"/>
              <a:t>true</a:t>
            </a:r>
            <a:r>
              <a:rPr lang="fr-FR" dirty="0"/>
              <a:t> /*</a:t>
            </a:r>
            <a:r>
              <a:rPr lang="fr-FR" dirty="0" err="1"/>
              <a:t>truncate</a:t>
            </a:r>
            <a:r>
              <a:rPr lang="fr-FR" dirty="0"/>
              <a:t>*/)  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2FCE22-3ACE-1D13-9CEE-C8F131C1E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064" y="1789080"/>
            <a:ext cx="6591871" cy="2476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DB00BA-6E7D-94B9-A130-F90ECA4B5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36" y="4534970"/>
            <a:ext cx="12048264" cy="2312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043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55960-38A9-4C8A-BEBC-80A8C1580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86971"/>
          </a:xfrm>
        </p:spPr>
        <p:txBody>
          <a:bodyPr/>
          <a:lstStyle/>
          <a:p>
            <a:pPr algn="ctr"/>
            <a:r>
              <a:rPr lang="fr-FR" dirty="0" err="1"/>
              <a:t>Words</a:t>
            </a:r>
            <a:r>
              <a:rPr lang="fr-FR" dirty="0"/>
              <a:t> Count :  </a:t>
            </a:r>
            <a:r>
              <a:rPr lang="fr-FR" dirty="0" err="1"/>
              <a:t>flatMap</a:t>
            </a:r>
            <a:r>
              <a:rPr lang="fr-FR" dirty="0"/>
              <a:t>(…).count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F3D68-4C93-4DC6-8781-B8084DD15F34}"/>
              </a:ext>
            </a:extLst>
          </p:cNvPr>
          <p:cNvSpPr txBox="1"/>
          <p:nvPr/>
        </p:nvSpPr>
        <p:spPr>
          <a:xfrm>
            <a:off x="765629" y="1325563"/>
            <a:ext cx="6894260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scala&gt; </a:t>
            </a:r>
            <a:r>
              <a:rPr lang="en-US" sz="3200" dirty="0" err="1"/>
              <a:t>val</a:t>
            </a:r>
            <a:r>
              <a:rPr lang="en-US" sz="3200" dirty="0"/>
              <a:t> </a:t>
            </a:r>
            <a:r>
              <a:rPr lang="en-US" sz="3200" dirty="0" err="1"/>
              <a:t>wordDs</a:t>
            </a:r>
            <a:r>
              <a:rPr lang="en-US" sz="3200" dirty="0"/>
              <a:t> = </a:t>
            </a:r>
            <a:r>
              <a:rPr lang="en-US" sz="3200" dirty="0" err="1"/>
              <a:t>ds.</a:t>
            </a:r>
            <a:r>
              <a:rPr lang="en-US" sz="3200" b="1" dirty="0" err="1"/>
              <a:t>flatMap</a:t>
            </a:r>
            <a:r>
              <a:rPr lang="en-US" sz="3200" dirty="0"/>
              <a:t>(line =&gt; </a:t>
            </a:r>
          </a:p>
          <a:p>
            <a:r>
              <a:rPr lang="en-US" sz="3200" dirty="0"/>
              <a:t>	</a:t>
            </a:r>
            <a:r>
              <a:rPr lang="en-US" sz="3200" dirty="0" err="1"/>
              <a:t>line.replaceAll</a:t>
            </a:r>
            <a:r>
              <a:rPr lang="en-US" sz="3200" dirty="0"/>
              <a:t>("[,;.:!?]", " ")</a:t>
            </a:r>
          </a:p>
          <a:p>
            <a:r>
              <a:rPr lang="en-US" sz="3200" dirty="0"/>
              <a:t>		.</a:t>
            </a:r>
            <a:r>
              <a:rPr lang="en-US" sz="3200" dirty="0" err="1"/>
              <a:t>replaceAll</a:t>
            </a:r>
            <a:r>
              <a:rPr lang="en-US" sz="3200" dirty="0"/>
              <a:t>("  ", " ")</a:t>
            </a:r>
          </a:p>
          <a:p>
            <a:r>
              <a:rPr lang="en-US" sz="3200" dirty="0"/>
              <a:t>		.split(" ")</a:t>
            </a:r>
          </a:p>
          <a:p>
            <a:r>
              <a:rPr lang="en-US" sz="3200" dirty="0"/>
              <a:t>	)</a:t>
            </a:r>
          </a:p>
          <a:p>
            <a:r>
              <a:rPr lang="en-US" sz="3200" dirty="0"/>
              <a:t>words: .. Dataset[String] = [value: string]</a:t>
            </a:r>
          </a:p>
          <a:p>
            <a:endParaRPr lang="en-US" sz="3200" dirty="0"/>
          </a:p>
          <a:p>
            <a:r>
              <a:rPr lang="en-US" sz="3200" dirty="0"/>
              <a:t>scala&gt; </a:t>
            </a:r>
            <a:r>
              <a:rPr lang="en-US" sz="3200" b="1" dirty="0" err="1"/>
              <a:t>wordDs.count</a:t>
            </a:r>
            <a:endParaRPr lang="en-US" sz="3200" b="1" dirty="0"/>
          </a:p>
          <a:p>
            <a:r>
              <a:rPr lang="en-US" sz="3200" dirty="0"/>
              <a:t>res3: Long = 69</a:t>
            </a:r>
            <a:endParaRPr lang="fr-FR" sz="3200" dirty="0"/>
          </a:p>
          <a:p>
            <a:endParaRPr lang="en-US" sz="3200" dirty="0"/>
          </a:p>
          <a:p>
            <a:r>
              <a:rPr lang="en-US" sz="3200" dirty="0"/>
              <a:t>scala&gt; </a:t>
            </a:r>
            <a:r>
              <a:rPr lang="en-US" sz="3200" dirty="0" err="1"/>
              <a:t>wordDs.show</a:t>
            </a:r>
            <a:r>
              <a:rPr lang="en-US" sz="3200" dirty="0"/>
              <a:t>(10, false)</a:t>
            </a:r>
          </a:p>
          <a:p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C02455-49F0-B9E6-6BBE-8C8CAA29F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4609" y="1663086"/>
            <a:ext cx="3181762" cy="465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656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A3955-33E6-4903-8B2C-E0501F35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59715"/>
            <a:ext cx="10515600" cy="1325563"/>
          </a:xfrm>
        </p:spPr>
        <p:txBody>
          <a:bodyPr/>
          <a:lstStyle/>
          <a:p>
            <a:r>
              <a:rPr lang="fr-FR" dirty="0" err="1"/>
              <a:t>Words</a:t>
            </a:r>
            <a:r>
              <a:rPr lang="fr-FR" dirty="0"/>
              <a:t> Count … local[*] </a:t>
            </a:r>
            <a:r>
              <a:rPr lang="fr-FR" dirty="0" err="1"/>
              <a:t>Debug</a:t>
            </a:r>
            <a:r>
              <a:rPr lang="fr-FR" dirty="0"/>
              <a:t> in Java IDE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70215C-4752-44B2-8396-097ED6ECE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64769"/>
            <a:ext cx="11724640" cy="6193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198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FB1B-8F1D-4EC0-8F51-A11BEEDE9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" y="-291942"/>
            <a:ext cx="12095480" cy="1325563"/>
          </a:xfrm>
        </p:spPr>
        <p:txBody>
          <a:bodyPr>
            <a:noAutofit/>
          </a:bodyPr>
          <a:lstStyle/>
          <a:p>
            <a:pPr algn="ctr"/>
            <a:r>
              <a:rPr lang="fr-FR" sz="3200" dirty="0" err="1"/>
              <a:t>spark-submit</a:t>
            </a:r>
            <a:r>
              <a:rPr lang="fr-FR" sz="3200" dirty="0"/>
              <a:t> --class &lt;&lt;</a:t>
            </a:r>
            <a:r>
              <a:rPr lang="fr-FR" sz="3200" dirty="0" err="1"/>
              <a:t>MainClass</a:t>
            </a:r>
            <a:r>
              <a:rPr lang="fr-FR" sz="3200" dirty="0"/>
              <a:t>&gt;&gt; &lt;&lt;</a:t>
            </a:r>
            <a:r>
              <a:rPr lang="fr-FR" sz="3200" dirty="0" err="1"/>
              <a:t>JarFile</a:t>
            </a:r>
            <a:r>
              <a:rPr lang="fr-FR" sz="3200" dirty="0"/>
              <a:t>&gt;&gt;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45003-6524-4628-9634-C1EB35334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120" y="2063022"/>
            <a:ext cx="8818880" cy="44241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081C2D-DDAA-4CAB-89CA-AFB5452F5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0" y="759076"/>
            <a:ext cx="11912600" cy="1265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A99C36-D0C4-4E81-A913-7438D3AE6072}"/>
              </a:ext>
            </a:extLst>
          </p:cNvPr>
          <p:cNvSpPr txBox="1"/>
          <p:nvPr/>
        </p:nvSpPr>
        <p:spPr>
          <a:xfrm>
            <a:off x="685800" y="2367280"/>
            <a:ext cx="2802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… </a:t>
            </a:r>
            <a:r>
              <a:rPr lang="fr-FR" dirty="0" err="1"/>
              <a:t>skipped</a:t>
            </a:r>
            <a:r>
              <a:rPr lang="fr-FR" dirty="0"/>
              <a:t> 1000 </a:t>
            </a:r>
            <a:r>
              <a:rPr lang="fr-FR" dirty="0" err="1"/>
              <a:t>lines</a:t>
            </a:r>
            <a:r>
              <a:rPr lang="fr-FR" dirty="0"/>
              <a:t> LOG …</a:t>
            </a:r>
          </a:p>
        </p:txBody>
      </p:sp>
    </p:spTree>
    <p:extLst>
      <p:ext uri="{BB962C8B-B14F-4D97-AF65-F5344CB8AC3E}">
        <p14:creationId xmlns:p14="http://schemas.microsoft.com/office/powerpoint/2010/main" val="37703691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AA810-B169-4DFA-B2AF-2E6FEFA00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resultDs</a:t>
            </a:r>
            <a:r>
              <a:rPr lang="fr-FR" dirty="0"/>
              <a:t> = </a:t>
            </a:r>
            <a:r>
              <a:rPr lang="fr-FR" dirty="0" err="1"/>
              <a:t>dataset.map</a:t>
            </a:r>
            <a:r>
              <a:rPr lang="fr-FR" dirty="0"/>
              <a:t>(  x -&gt; {… return y; })</a:t>
            </a: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DC106D2-E315-4EDC-929E-B1603DF0EE28}"/>
              </a:ext>
            </a:extLst>
          </p:cNvPr>
          <p:cNvSpPr/>
          <p:nvPr/>
        </p:nvSpPr>
        <p:spPr>
          <a:xfrm>
            <a:off x="6778244" y="2831644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8C65BA-828C-42DF-AC6A-73DCB9172E6A}"/>
              </a:ext>
            </a:extLst>
          </p:cNvPr>
          <p:cNvSpPr/>
          <p:nvPr/>
        </p:nvSpPr>
        <p:spPr>
          <a:xfrm>
            <a:off x="2410693" y="285121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226A96-FE05-4D9F-81B5-FAE72624B57F}"/>
              </a:ext>
            </a:extLst>
          </p:cNvPr>
          <p:cNvSpPr txBox="1"/>
          <p:nvPr/>
        </p:nvSpPr>
        <p:spPr>
          <a:xfrm>
            <a:off x="1479087" y="2333659"/>
            <a:ext cx="2533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Source </a:t>
            </a:r>
            <a:r>
              <a:rPr lang="fr-FR" dirty="0" err="1"/>
              <a:t>Dataset</a:t>
            </a:r>
            <a:r>
              <a:rPr lang="fr-FR" dirty="0"/>
              <a:t> = List&lt;X&gt;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506850-0B34-48DE-89BE-F7E147082455}"/>
              </a:ext>
            </a:extLst>
          </p:cNvPr>
          <p:cNvSpPr/>
          <p:nvPr/>
        </p:nvSpPr>
        <p:spPr>
          <a:xfrm>
            <a:off x="2227813" y="2668330"/>
            <a:ext cx="721360" cy="221863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1A79143-162B-43CF-BDCC-469E4775DCA6}"/>
              </a:ext>
            </a:extLst>
          </p:cNvPr>
          <p:cNvSpPr/>
          <p:nvPr/>
        </p:nvSpPr>
        <p:spPr>
          <a:xfrm>
            <a:off x="4988560" y="2915920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F56317-CD0F-4D0A-95FF-0EABF1B61344}"/>
              </a:ext>
            </a:extLst>
          </p:cNvPr>
          <p:cNvSpPr/>
          <p:nvPr/>
        </p:nvSpPr>
        <p:spPr>
          <a:xfrm>
            <a:off x="8880775" y="2702362"/>
            <a:ext cx="721360" cy="229127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16DD8660-592F-4855-B83F-1F0181DDAF73}"/>
              </a:ext>
            </a:extLst>
          </p:cNvPr>
          <p:cNvSpPr/>
          <p:nvPr/>
        </p:nvSpPr>
        <p:spPr>
          <a:xfrm>
            <a:off x="6763004" y="3456484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4C13902-B020-4295-B1C8-C130689566B8}"/>
              </a:ext>
            </a:extLst>
          </p:cNvPr>
          <p:cNvSpPr/>
          <p:nvPr/>
        </p:nvSpPr>
        <p:spPr>
          <a:xfrm>
            <a:off x="2395453" y="347605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81D6945-AA37-4C5D-A1F1-6531D7F47ABF}"/>
              </a:ext>
            </a:extLst>
          </p:cNvPr>
          <p:cNvSpPr/>
          <p:nvPr/>
        </p:nvSpPr>
        <p:spPr>
          <a:xfrm>
            <a:off x="4973320" y="3540760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5805BA8F-495A-4B2B-A776-6723D227DAD6}"/>
              </a:ext>
            </a:extLst>
          </p:cNvPr>
          <p:cNvSpPr/>
          <p:nvPr/>
        </p:nvSpPr>
        <p:spPr>
          <a:xfrm>
            <a:off x="6752844" y="4355644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DC3DDF1-80CA-4356-9DCA-0E1F5C9B35A0}"/>
              </a:ext>
            </a:extLst>
          </p:cNvPr>
          <p:cNvSpPr/>
          <p:nvPr/>
        </p:nvSpPr>
        <p:spPr>
          <a:xfrm>
            <a:off x="2385293" y="437521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D115695-9966-4DB9-9E13-DB33EF93B171}"/>
              </a:ext>
            </a:extLst>
          </p:cNvPr>
          <p:cNvSpPr/>
          <p:nvPr/>
        </p:nvSpPr>
        <p:spPr>
          <a:xfrm>
            <a:off x="4963160" y="4439920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1E250-9912-4DA5-9346-B6AF486EE6CA}"/>
              </a:ext>
            </a:extLst>
          </p:cNvPr>
          <p:cNvSpPr txBox="1"/>
          <p:nvPr/>
        </p:nvSpPr>
        <p:spPr>
          <a:xfrm>
            <a:off x="8520264" y="2337221"/>
            <a:ext cx="169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Result</a:t>
            </a:r>
            <a:r>
              <a:rPr lang="fr-FR" dirty="0"/>
              <a:t> = List&lt; Y&gt;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B83F69-267A-4651-92E1-C1AD3F659555}"/>
              </a:ext>
            </a:extLst>
          </p:cNvPr>
          <p:cNvSpPr txBox="1"/>
          <p:nvPr/>
        </p:nvSpPr>
        <p:spPr>
          <a:xfrm>
            <a:off x="5586662" y="2837300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y1=f(x1)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07827F-A1BE-44BC-80BE-D5202DE90010}"/>
              </a:ext>
            </a:extLst>
          </p:cNvPr>
          <p:cNvSpPr txBox="1"/>
          <p:nvPr/>
        </p:nvSpPr>
        <p:spPr>
          <a:xfrm>
            <a:off x="5586661" y="3400028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y2=f(x2)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FD034A-7CCE-415C-BD49-DF70C8BD7C03}"/>
              </a:ext>
            </a:extLst>
          </p:cNvPr>
          <p:cNvSpPr txBox="1"/>
          <p:nvPr/>
        </p:nvSpPr>
        <p:spPr>
          <a:xfrm>
            <a:off x="5556523" y="4355644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yn</a:t>
            </a:r>
            <a:r>
              <a:rPr lang="fr-FR" dirty="0"/>
              <a:t>=f(</a:t>
            </a:r>
            <a:r>
              <a:rPr lang="fr-FR" dirty="0" err="1"/>
              <a:t>xn</a:t>
            </a:r>
            <a:r>
              <a:rPr lang="fr-FR" dirty="0"/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29239F-BD1B-4F30-BB70-31198CB74A6C}"/>
              </a:ext>
            </a:extLst>
          </p:cNvPr>
          <p:cNvSpPr txBox="1"/>
          <p:nvPr/>
        </p:nvSpPr>
        <p:spPr>
          <a:xfrm>
            <a:off x="4473694" y="1918435"/>
            <a:ext cx="3124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Mapping </a:t>
            </a:r>
            <a:r>
              <a:rPr lang="fr-FR" dirty="0" err="1"/>
              <a:t>function</a:t>
            </a:r>
            <a:r>
              <a:rPr lang="fr-FR" dirty="0"/>
              <a:t> (or lambda) :</a:t>
            </a:r>
          </a:p>
          <a:p>
            <a:r>
              <a:rPr lang="fr-FR" dirty="0"/>
              <a:t>  x -&gt; …. return y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549BCDA2-0A75-4A3C-8F02-6FA0A28E5262}"/>
              </a:ext>
            </a:extLst>
          </p:cNvPr>
          <p:cNvSpPr/>
          <p:nvPr/>
        </p:nvSpPr>
        <p:spPr>
          <a:xfrm>
            <a:off x="9060688" y="2865676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611F538-F312-45EB-9262-190D3F010DB9}"/>
              </a:ext>
            </a:extLst>
          </p:cNvPr>
          <p:cNvSpPr/>
          <p:nvPr/>
        </p:nvSpPr>
        <p:spPr>
          <a:xfrm>
            <a:off x="9045448" y="3490516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9361FC8-1E80-4F01-974F-5DC5D14A83A1}"/>
              </a:ext>
            </a:extLst>
          </p:cNvPr>
          <p:cNvSpPr/>
          <p:nvPr/>
        </p:nvSpPr>
        <p:spPr>
          <a:xfrm>
            <a:off x="9035288" y="4389676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BF2357B9-BD17-4D33-B1E8-D3AB9EE0FFAB}"/>
              </a:ext>
            </a:extLst>
          </p:cNvPr>
          <p:cNvSpPr/>
          <p:nvPr/>
        </p:nvSpPr>
        <p:spPr>
          <a:xfrm>
            <a:off x="8184388" y="3389848"/>
            <a:ext cx="272241" cy="13255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810C0FD-8A15-468D-8B09-DA219A73959F}"/>
              </a:ext>
            </a:extLst>
          </p:cNvPr>
          <p:cNvSpPr/>
          <p:nvPr/>
        </p:nvSpPr>
        <p:spPr>
          <a:xfrm>
            <a:off x="4305808" y="2870776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C8137E7-B8FD-4EE7-9F87-052D5EFDE0BD}"/>
              </a:ext>
            </a:extLst>
          </p:cNvPr>
          <p:cNvSpPr/>
          <p:nvPr/>
        </p:nvSpPr>
        <p:spPr>
          <a:xfrm>
            <a:off x="4290568" y="3495616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18EA0AC-8D20-4AA9-8051-E83A02AA937E}"/>
              </a:ext>
            </a:extLst>
          </p:cNvPr>
          <p:cNvSpPr/>
          <p:nvPr/>
        </p:nvSpPr>
        <p:spPr>
          <a:xfrm>
            <a:off x="4280408" y="4394776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399718-620C-47E4-AF7B-E9D668FFE3DE}"/>
              </a:ext>
            </a:extLst>
          </p:cNvPr>
          <p:cNvSpPr txBox="1"/>
          <p:nvPr/>
        </p:nvSpPr>
        <p:spPr>
          <a:xfrm>
            <a:off x="8141669" y="1918399"/>
            <a:ext cx="30928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/>
              <a:t>dataset.map</a:t>
            </a:r>
            <a:r>
              <a:rPr lang="fr-FR" sz="2800" b="1" dirty="0"/>
              <a:t>( </a:t>
            </a:r>
            <a:r>
              <a:rPr lang="fr-FR" sz="2800" b="1" dirty="0" err="1"/>
              <a:t>func</a:t>
            </a:r>
            <a:r>
              <a:rPr lang="fr-FR" sz="2800" b="1" dirty="0"/>
              <a:t> 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0A71AA-C073-4A8A-BA53-599C71D07339}"/>
              </a:ext>
            </a:extLst>
          </p:cNvPr>
          <p:cNvSpPr txBox="1"/>
          <p:nvPr/>
        </p:nvSpPr>
        <p:spPr>
          <a:xfrm>
            <a:off x="441960" y="5659120"/>
            <a:ext cx="3254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« Equivalent » </a:t>
            </a:r>
            <a:r>
              <a:rPr lang="fr-FR" b="1" dirty="0" err="1"/>
              <a:t>imperative</a:t>
            </a:r>
            <a:r>
              <a:rPr lang="fr-FR" b="1" dirty="0"/>
              <a:t> code 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08B75C-AF81-40B8-A74B-1AA7783363F5}"/>
              </a:ext>
            </a:extLst>
          </p:cNvPr>
          <p:cNvSpPr txBox="1"/>
          <p:nvPr/>
        </p:nvSpPr>
        <p:spPr>
          <a:xfrm>
            <a:off x="4005810" y="5151289"/>
            <a:ext cx="31014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List&lt;Y&gt; </a:t>
            </a:r>
            <a:r>
              <a:rPr lang="fr-FR" dirty="0" err="1"/>
              <a:t>res</a:t>
            </a:r>
            <a:r>
              <a:rPr lang="fr-FR" dirty="0"/>
              <a:t> = new </a:t>
            </a:r>
            <a:r>
              <a:rPr lang="fr-FR" dirty="0" err="1"/>
              <a:t>ArrayList</a:t>
            </a:r>
            <a:r>
              <a:rPr lang="fr-FR" dirty="0"/>
              <a:t>&lt;&gt;();</a:t>
            </a:r>
          </a:p>
          <a:p>
            <a:r>
              <a:rPr lang="fr-FR" dirty="0"/>
              <a:t>For( x : </a:t>
            </a:r>
            <a:r>
              <a:rPr lang="fr-FR" dirty="0" err="1"/>
              <a:t>sourceList</a:t>
            </a:r>
            <a:r>
              <a:rPr lang="fr-FR" dirty="0"/>
              <a:t>) {</a:t>
            </a:r>
          </a:p>
          <a:p>
            <a:r>
              <a:rPr lang="fr-FR" dirty="0"/>
              <a:t>    y = </a:t>
            </a:r>
            <a:r>
              <a:rPr lang="fr-FR" dirty="0" err="1"/>
              <a:t>func</a:t>
            </a:r>
            <a:r>
              <a:rPr lang="fr-FR" dirty="0"/>
              <a:t>(x);</a:t>
            </a:r>
          </a:p>
          <a:p>
            <a:r>
              <a:rPr lang="fr-FR" dirty="0"/>
              <a:t>    </a:t>
            </a:r>
            <a:r>
              <a:rPr lang="fr-FR" dirty="0" err="1"/>
              <a:t>res.add</a:t>
            </a:r>
            <a:r>
              <a:rPr lang="fr-FR" dirty="0"/>
              <a:t>(y);</a:t>
            </a:r>
          </a:p>
          <a:p>
            <a:r>
              <a:rPr lang="fr-FR" dirty="0"/>
              <a:t>}</a:t>
            </a:r>
          </a:p>
          <a:p>
            <a:r>
              <a:rPr lang="fr-FR" dirty="0"/>
              <a:t>return </a:t>
            </a:r>
            <a:r>
              <a:rPr lang="fr-FR" dirty="0" err="1"/>
              <a:t>res</a:t>
            </a:r>
            <a:r>
              <a:rPr lang="fr-FR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9645271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AA810-B169-4DFA-B2AF-2E6FEFA00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147" y="-208762"/>
            <a:ext cx="12034520" cy="1325563"/>
          </a:xfrm>
        </p:spPr>
        <p:txBody>
          <a:bodyPr/>
          <a:lstStyle/>
          <a:p>
            <a:pPr algn="ctr"/>
            <a:r>
              <a:rPr lang="fr-FR" dirty="0" err="1"/>
              <a:t>resultDs</a:t>
            </a:r>
            <a:r>
              <a:rPr lang="fr-FR" dirty="0"/>
              <a:t> = </a:t>
            </a:r>
            <a:r>
              <a:rPr lang="fr-FR" dirty="0" err="1"/>
              <a:t>dataset.flatMap</a:t>
            </a:r>
            <a:r>
              <a:rPr lang="fr-FR" dirty="0"/>
              <a:t>(  x -&gt; {… return </a:t>
            </a:r>
            <a:r>
              <a:rPr lang="fr-FR" dirty="0" err="1"/>
              <a:t>list</a:t>
            </a:r>
            <a:r>
              <a:rPr lang="fr-FR" dirty="0"/>
              <a:t>&lt;y&gt;; })</a:t>
            </a: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DC106D2-E315-4EDC-929E-B1603DF0EE28}"/>
              </a:ext>
            </a:extLst>
          </p:cNvPr>
          <p:cNvSpPr/>
          <p:nvPr/>
        </p:nvSpPr>
        <p:spPr>
          <a:xfrm>
            <a:off x="9948798" y="2406313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8C65BA-828C-42DF-AC6A-73DCB9172E6A}"/>
              </a:ext>
            </a:extLst>
          </p:cNvPr>
          <p:cNvSpPr/>
          <p:nvPr/>
        </p:nvSpPr>
        <p:spPr>
          <a:xfrm>
            <a:off x="3175000" y="241941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226A96-FE05-4D9F-81B5-FAE72624B57F}"/>
              </a:ext>
            </a:extLst>
          </p:cNvPr>
          <p:cNvSpPr txBox="1"/>
          <p:nvPr/>
        </p:nvSpPr>
        <p:spPr>
          <a:xfrm>
            <a:off x="2296160" y="1629232"/>
            <a:ext cx="18414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Source </a:t>
            </a:r>
          </a:p>
          <a:p>
            <a:r>
              <a:rPr lang="fr-FR" dirty="0" err="1"/>
              <a:t>Dataset</a:t>
            </a:r>
            <a:r>
              <a:rPr lang="fr-FR" dirty="0"/>
              <a:t> = List&lt;X&gt;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506850-0B34-48DE-89BE-F7E147082455}"/>
              </a:ext>
            </a:extLst>
          </p:cNvPr>
          <p:cNvSpPr/>
          <p:nvPr/>
        </p:nvSpPr>
        <p:spPr>
          <a:xfrm>
            <a:off x="2992120" y="2236530"/>
            <a:ext cx="721360" cy="27686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1A79143-162B-43CF-BDCC-469E4775DCA6}"/>
              </a:ext>
            </a:extLst>
          </p:cNvPr>
          <p:cNvSpPr/>
          <p:nvPr/>
        </p:nvSpPr>
        <p:spPr>
          <a:xfrm>
            <a:off x="4327383" y="2458898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F56317-CD0F-4D0A-95FF-0EABF1B61344}"/>
              </a:ext>
            </a:extLst>
          </p:cNvPr>
          <p:cNvSpPr/>
          <p:nvPr/>
        </p:nvSpPr>
        <p:spPr>
          <a:xfrm>
            <a:off x="9781158" y="1872997"/>
            <a:ext cx="1318642" cy="4278883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16DD8660-592F-4855-B83F-1F0181DDAF73}"/>
              </a:ext>
            </a:extLst>
          </p:cNvPr>
          <p:cNvSpPr/>
          <p:nvPr/>
        </p:nvSpPr>
        <p:spPr>
          <a:xfrm>
            <a:off x="9894715" y="3356478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4C13902-B020-4295-B1C8-C130689566B8}"/>
              </a:ext>
            </a:extLst>
          </p:cNvPr>
          <p:cNvSpPr/>
          <p:nvPr/>
        </p:nvSpPr>
        <p:spPr>
          <a:xfrm>
            <a:off x="3159760" y="304425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81D6945-AA37-4C5D-A1F1-6531D7F47ABF}"/>
              </a:ext>
            </a:extLst>
          </p:cNvPr>
          <p:cNvSpPr/>
          <p:nvPr/>
        </p:nvSpPr>
        <p:spPr>
          <a:xfrm>
            <a:off x="4312143" y="3083738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5805BA8F-495A-4B2B-A776-6723D227DAD6}"/>
              </a:ext>
            </a:extLst>
          </p:cNvPr>
          <p:cNvSpPr/>
          <p:nvPr/>
        </p:nvSpPr>
        <p:spPr>
          <a:xfrm>
            <a:off x="9955553" y="5036940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DC3DDF1-80CA-4356-9DCA-0E1F5C9B35A0}"/>
              </a:ext>
            </a:extLst>
          </p:cNvPr>
          <p:cNvSpPr/>
          <p:nvPr/>
        </p:nvSpPr>
        <p:spPr>
          <a:xfrm>
            <a:off x="3149600" y="440569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D115695-9966-4DB9-9E13-DB33EF93B171}"/>
              </a:ext>
            </a:extLst>
          </p:cNvPr>
          <p:cNvSpPr/>
          <p:nvPr/>
        </p:nvSpPr>
        <p:spPr>
          <a:xfrm>
            <a:off x="4301983" y="4445178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1E250-9912-4DA5-9346-B6AF486EE6CA}"/>
              </a:ext>
            </a:extLst>
          </p:cNvPr>
          <p:cNvSpPr txBox="1"/>
          <p:nvPr/>
        </p:nvSpPr>
        <p:spPr>
          <a:xfrm>
            <a:off x="9334820" y="1476589"/>
            <a:ext cx="2464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Result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= List&lt; Y&gt;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B83F69-267A-4651-92E1-C1AD3F659555}"/>
              </a:ext>
            </a:extLst>
          </p:cNvPr>
          <p:cNvSpPr txBox="1"/>
          <p:nvPr/>
        </p:nvSpPr>
        <p:spPr>
          <a:xfrm>
            <a:off x="4925485" y="2380278"/>
            <a:ext cx="1752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{y1,y2…y5}=f(x1)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07827F-A1BE-44BC-80BE-D5202DE90010}"/>
              </a:ext>
            </a:extLst>
          </p:cNvPr>
          <p:cNvSpPr txBox="1"/>
          <p:nvPr/>
        </p:nvSpPr>
        <p:spPr>
          <a:xfrm>
            <a:off x="4925484" y="2943006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{y6,y7}=f(x2)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FD034A-7CCE-415C-BD49-DF70C8BD7C03}"/>
              </a:ext>
            </a:extLst>
          </p:cNvPr>
          <p:cNvSpPr txBox="1"/>
          <p:nvPr/>
        </p:nvSpPr>
        <p:spPr>
          <a:xfrm>
            <a:off x="4895346" y="4360902"/>
            <a:ext cx="2286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{y39,y40,y42} </a:t>
            </a:r>
            <a:r>
              <a:rPr lang="fr-FR" dirty="0" err="1"/>
              <a:t>yn</a:t>
            </a:r>
            <a:r>
              <a:rPr lang="fr-FR" dirty="0"/>
              <a:t>=f(</a:t>
            </a:r>
            <a:r>
              <a:rPr lang="fr-FR" dirty="0" err="1"/>
              <a:t>xn</a:t>
            </a:r>
            <a:r>
              <a:rPr lang="fr-FR" dirty="0"/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29239F-BD1B-4F30-BB70-31198CB74A6C}"/>
              </a:ext>
            </a:extLst>
          </p:cNvPr>
          <p:cNvSpPr txBox="1"/>
          <p:nvPr/>
        </p:nvSpPr>
        <p:spPr>
          <a:xfrm>
            <a:off x="4423674" y="1154609"/>
            <a:ext cx="3124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Mapping </a:t>
            </a:r>
            <a:r>
              <a:rPr lang="fr-FR" dirty="0" err="1"/>
              <a:t>function</a:t>
            </a:r>
            <a:r>
              <a:rPr lang="fr-FR" dirty="0"/>
              <a:t> (or lambda) :</a:t>
            </a:r>
          </a:p>
          <a:p>
            <a:r>
              <a:rPr lang="fr-FR" dirty="0"/>
              <a:t>  x -&gt; …. return y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E43F7D4-11B7-481A-B9A2-9B3ABDAE303C}"/>
              </a:ext>
            </a:extLst>
          </p:cNvPr>
          <p:cNvSpPr/>
          <p:nvPr/>
        </p:nvSpPr>
        <p:spPr>
          <a:xfrm>
            <a:off x="7105245" y="2364918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B19FC9E-04D6-4E52-A457-B27AE254701C}"/>
              </a:ext>
            </a:extLst>
          </p:cNvPr>
          <p:cNvSpPr/>
          <p:nvPr/>
        </p:nvSpPr>
        <p:spPr>
          <a:xfrm>
            <a:off x="7526920" y="2364918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9892E4A-CE5A-4B95-BF8A-A3B5AC6CCD98}"/>
              </a:ext>
            </a:extLst>
          </p:cNvPr>
          <p:cNvSpPr/>
          <p:nvPr/>
        </p:nvSpPr>
        <p:spPr>
          <a:xfrm>
            <a:off x="8189265" y="2364918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F063F8DF-FDBA-4FA7-81F1-0F5D38ABEACB}"/>
              </a:ext>
            </a:extLst>
          </p:cNvPr>
          <p:cNvSpPr/>
          <p:nvPr/>
        </p:nvSpPr>
        <p:spPr>
          <a:xfrm>
            <a:off x="7096020" y="2946350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A8B21F5C-4C30-4EFC-957A-654CC7D4149F}"/>
              </a:ext>
            </a:extLst>
          </p:cNvPr>
          <p:cNvSpPr/>
          <p:nvPr/>
        </p:nvSpPr>
        <p:spPr>
          <a:xfrm>
            <a:off x="7548247" y="2957890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92798619-96C4-4153-8169-B9DAF8C0BE78}"/>
              </a:ext>
            </a:extLst>
          </p:cNvPr>
          <p:cNvSpPr/>
          <p:nvPr/>
        </p:nvSpPr>
        <p:spPr>
          <a:xfrm>
            <a:off x="7078952" y="4303692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D2772F0-E7FF-4A48-9703-68802EA2D584}"/>
              </a:ext>
            </a:extLst>
          </p:cNvPr>
          <p:cNvSpPr/>
          <p:nvPr/>
        </p:nvSpPr>
        <p:spPr>
          <a:xfrm>
            <a:off x="7524492" y="4303692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F121D5FB-F233-4B5A-9BFE-2EE78DE480F9}"/>
              </a:ext>
            </a:extLst>
          </p:cNvPr>
          <p:cNvSpPr/>
          <p:nvPr/>
        </p:nvSpPr>
        <p:spPr>
          <a:xfrm>
            <a:off x="8271882" y="4303692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C07F90-507D-4980-902F-89C436DD83F4}"/>
              </a:ext>
            </a:extLst>
          </p:cNvPr>
          <p:cNvSpPr/>
          <p:nvPr/>
        </p:nvSpPr>
        <p:spPr>
          <a:xfrm>
            <a:off x="6996171" y="2306043"/>
            <a:ext cx="1685533" cy="53367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CC4846A-4BD7-4A6D-BBD7-16AEA2996D43}"/>
              </a:ext>
            </a:extLst>
          </p:cNvPr>
          <p:cNvSpPr/>
          <p:nvPr/>
        </p:nvSpPr>
        <p:spPr>
          <a:xfrm>
            <a:off x="7011411" y="2920723"/>
            <a:ext cx="1040389" cy="53367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7B2DB7-F2D5-45A7-8764-7345441D99EB}"/>
              </a:ext>
            </a:extLst>
          </p:cNvPr>
          <p:cNvSpPr/>
          <p:nvPr/>
        </p:nvSpPr>
        <p:spPr>
          <a:xfrm>
            <a:off x="7056070" y="4245133"/>
            <a:ext cx="1828850" cy="53367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2EC18AB8-FA18-41A0-B204-E664011256C8}"/>
              </a:ext>
            </a:extLst>
          </p:cNvPr>
          <p:cNvSpPr/>
          <p:nvPr/>
        </p:nvSpPr>
        <p:spPr>
          <a:xfrm>
            <a:off x="10280795" y="2564461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8C79E862-9415-4C3C-B516-3198A84EC013}"/>
              </a:ext>
            </a:extLst>
          </p:cNvPr>
          <p:cNvSpPr/>
          <p:nvPr/>
        </p:nvSpPr>
        <p:spPr>
          <a:xfrm>
            <a:off x="10697884" y="2744093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D0CD6915-E8EF-47F9-9360-83236D741308}"/>
              </a:ext>
            </a:extLst>
          </p:cNvPr>
          <p:cNvSpPr/>
          <p:nvPr/>
        </p:nvSpPr>
        <p:spPr>
          <a:xfrm>
            <a:off x="10229995" y="3550406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F13E87F2-9938-42DF-BD53-0A6A048BC802}"/>
              </a:ext>
            </a:extLst>
          </p:cNvPr>
          <p:cNvSpPr/>
          <p:nvPr/>
        </p:nvSpPr>
        <p:spPr>
          <a:xfrm>
            <a:off x="10157674" y="5156318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71A79756-0334-4A4B-999B-C08994E00D56}"/>
              </a:ext>
            </a:extLst>
          </p:cNvPr>
          <p:cNvSpPr/>
          <p:nvPr/>
        </p:nvSpPr>
        <p:spPr>
          <a:xfrm>
            <a:off x="10511599" y="5338912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DDD5CEE-F960-4C30-8765-E0DCAA1E2847}"/>
              </a:ext>
            </a:extLst>
          </p:cNvPr>
          <p:cNvSpPr/>
          <p:nvPr/>
        </p:nvSpPr>
        <p:spPr>
          <a:xfrm>
            <a:off x="9696301" y="3076350"/>
            <a:ext cx="1549316" cy="553720"/>
          </a:xfrm>
          <a:custGeom>
            <a:avLst/>
            <a:gdLst>
              <a:gd name="connsiteX0" fmla="*/ 1487070 w 1789371"/>
              <a:gd name="connsiteY0" fmla="*/ 0 h 425551"/>
              <a:gd name="connsiteX1" fmla="*/ 1690270 w 1789371"/>
              <a:gd name="connsiteY1" fmla="*/ 101600 h 425551"/>
              <a:gd name="connsiteX2" fmla="*/ 100230 w 1789371"/>
              <a:gd name="connsiteY2" fmla="*/ 248920 h 425551"/>
              <a:gd name="connsiteX3" fmla="*/ 166270 w 1789371"/>
              <a:gd name="connsiteY3" fmla="*/ 411480 h 425551"/>
              <a:gd name="connsiteX4" fmla="*/ 176430 w 1789371"/>
              <a:gd name="connsiteY4" fmla="*/ 406400 h 425551"/>
              <a:gd name="connsiteX0" fmla="*/ 1517550 w 1798786"/>
              <a:gd name="connsiteY0" fmla="*/ 0 h 506831"/>
              <a:gd name="connsiteX1" fmla="*/ 1690270 w 1798786"/>
              <a:gd name="connsiteY1" fmla="*/ 182880 h 506831"/>
              <a:gd name="connsiteX2" fmla="*/ 100230 w 1798786"/>
              <a:gd name="connsiteY2" fmla="*/ 330200 h 506831"/>
              <a:gd name="connsiteX3" fmla="*/ 166270 w 1798786"/>
              <a:gd name="connsiteY3" fmla="*/ 492760 h 506831"/>
              <a:gd name="connsiteX4" fmla="*/ 176430 w 1798786"/>
              <a:gd name="connsiteY4" fmla="*/ 487680 h 506831"/>
              <a:gd name="connsiteX0" fmla="*/ 1506421 w 1687335"/>
              <a:gd name="connsiteY0" fmla="*/ 0 h 506831"/>
              <a:gd name="connsiteX1" fmla="*/ 1526741 w 1687335"/>
              <a:gd name="connsiteY1" fmla="*/ 213360 h 506831"/>
              <a:gd name="connsiteX2" fmla="*/ 89101 w 1687335"/>
              <a:gd name="connsiteY2" fmla="*/ 330200 h 506831"/>
              <a:gd name="connsiteX3" fmla="*/ 155141 w 1687335"/>
              <a:gd name="connsiteY3" fmla="*/ 492760 h 506831"/>
              <a:gd name="connsiteX4" fmla="*/ 165301 w 1687335"/>
              <a:gd name="connsiteY4" fmla="*/ 487680 h 506831"/>
              <a:gd name="connsiteX0" fmla="*/ 1399275 w 1570188"/>
              <a:gd name="connsiteY0" fmla="*/ 0 h 506831"/>
              <a:gd name="connsiteX1" fmla="*/ 1419595 w 1570188"/>
              <a:gd name="connsiteY1" fmla="*/ 213360 h 506831"/>
              <a:gd name="connsiteX2" fmla="*/ 134355 w 1570188"/>
              <a:gd name="connsiteY2" fmla="*/ 320040 h 506831"/>
              <a:gd name="connsiteX3" fmla="*/ 47995 w 1570188"/>
              <a:gd name="connsiteY3" fmla="*/ 492760 h 506831"/>
              <a:gd name="connsiteX4" fmla="*/ 58155 w 1570188"/>
              <a:gd name="connsiteY4" fmla="*/ 487680 h 506831"/>
              <a:gd name="connsiteX0" fmla="*/ 1399275 w 1570188"/>
              <a:gd name="connsiteY0" fmla="*/ 0 h 524566"/>
              <a:gd name="connsiteX1" fmla="*/ 1419595 w 1570188"/>
              <a:gd name="connsiteY1" fmla="*/ 213360 h 524566"/>
              <a:gd name="connsiteX2" fmla="*/ 134355 w 1570188"/>
              <a:gd name="connsiteY2" fmla="*/ 320040 h 524566"/>
              <a:gd name="connsiteX3" fmla="*/ 47995 w 1570188"/>
              <a:gd name="connsiteY3" fmla="*/ 492760 h 524566"/>
              <a:gd name="connsiteX4" fmla="*/ 159755 w 1570188"/>
              <a:gd name="connsiteY4" fmla="*/ 518160 h 524566"/>
              <a:gd name="connsiteX0" fmla="*/ 1441704 w 1612617"/>
              <a:gd name="connsiteY0" fmla="*/ 0 h 520270"/>
              <a:gd name="connsiteX1" fmla="*/ 1462024 w 1612617"/>
              <a:gd name="connsiteY1" fmla="*/ 213360 h 520270"/>
              <a:gd name="connsiteX2" fmla="*/ 176784 w 1612617"/>
              <a:gd name="connsiteY2" fmla="*/ 320040 h 520270"/>
              <a:gd name="connsiteX3" fmla="*/ 19304 w 1612617"/>
              <a:gd name="connsiteY3" fmla="*/ 431800 h 520270"/>
              <a:gd name="connsiteX4" fmla="*/ 202184 w 1612617"/>
              <a:gd name="connsiteY4" fmla="*/ 518160 h 520270"/>
              <a:gd name="connsiteX0" fmla="*/ 1441704 w 1612617"/>
              <a:gd name="connsiteY0" fmla="*/ 0 h 520270"/>
              <a:gd name="connsiteX1" fmla="*/ 1462024 w 1612617"/>
              <a:gd name="connsiteY1" fmla="*/ 213360 h 520270"/>
              <a:gd name="connsiteX2" fmla="*/ 176784 w 1612617"/>
              <a:gd name="connsiteY2" fmla="*/ 320040 h 520270"/>
              <a:gd name="connsiteX3" fmla="*/ 19304 w 1612617"/>
              <a:gd name="connsiteY3" fmla="*/ 431800 h 520270"/>
              <a:gd name="connsiteX4" fmla="*/ 202184 w 1612617"/>
              <a:gd name="connsiteY4" fmla="*/ 518160 h 520270"/>
              <a:gd name="connsiteX0" fmla="*/ 1353138 w 1524051"/>
              <a:gd name="connsiteY0" fmla="*/ 0 h 518160"/>
              <a:gd name="connsiteX1" fmla="*/ 1373458 w 1524051"/>
              <a:gd name="connsiteY1" fmla="*/ 213360 h 518160"/>
              <a:gd name="connsiteX2" fmla="*/ 88218 w 1524051"/>
              <a:gd name="connsiteY2" fmla="*/ 320040 h 518160"/>
              <a:gd name="connsiteX3" fmla="*/ 113618 w 1524051"/>
              <a:gd name="connsiteY3" fmla="*/ 518160 h 518160"/>
              <a:gd name="connsiteX0" fmla="*/ 1298838 w 1464837"/>
              <a:gd name="connsiteY0" fmla="*/ 0 h 518160"/>
              <a:gd name="connsiteX1" fmla="*/ 1319158 w 1464837"/>
              <a:gd name="connsiteY1" fmla="*/ 213360 h 518160"/>
              <a:gd name="connsiteX2" fmla="*/ 110118 w 1464837"/>
              <a:gd name="connsiteY2" fmla="*/ 345440 h 518160"/>
              <a:gd name="connsiteX3" fmla="*/ 59318 w 1464837"/>
              <a:gd name="connsiteY3" fmla="*/ 518160 h 518160"/>
              <a:gd name="connsiteX0" fmla="*/ 1279467 w 1445466"/>
              <a:gd name="connsiteY0" fmla="*/ 0 h 553720"/>
              <a:gd name="connsiteX1" fmla="*/ 1299787 w 1445466"/>
              <a:gd name="connsiteY1" fmla="*/ 213360 h 553720"/>
              <a:gd name="connsiteX2" fmla="*/ 90747 w 1445466"/>
              <a:gd name="connsiteY2" fmla="*/ 345440 h 553720"/>
              <a:gd name="connsiteX3" fmla="*/ 90747 w 1445466"/>
              <a:gd name="connsiteY3" fmla="*/ 553720 h 553720"/>
              <a:gd name="connsiteX0" fmla="*/ 1279467 w 1445466"/>
              <a:gd name="connsiteY0" fmla="*/ 0 h 553720"/>
              <a:gd name="connsiteX1" fmla="*/ 1299787 w 1445466"/>
              <a:gd name="connsiteY1" fmla="*/ 213360 h 553720"/>
              <a:gd name="connsiteX2" fmla="*/ 90747 w 1445466"/>
              <a:gd name="connsiteY2" fmla="*/ 345440 h 553720"/>
              <a:gd name="connsiteX3" fmla="*/ 90747 w 1445466"/>
              <a:gd name="connsiteY3" fmla="*/ 553720 h 553720"/>
              <a:gd name="connsiteX0" fmla="*/ 1383317 w 1549316"/>
              <a:gd name="connsiteY0" fmla="*/ 0 h 553720"/>
              <a:gd name="connsiteX1" fmla="*/ 1403637 w 1549316"/>
              <a:gd name="connsiteY1" fmla="*/ 213360 h 553720"/>
              <a:gd name="connsiteX2" fmla="*/ 194597 w 1549316"/>
              <a:gd name="connsiteY2" fmla="*/ 345440 h 553720"/>
              <a:gd name="connsiteX3" fmla="*/ 194597 w 1549316"/>
              <a:gd name="connsiteY3" fmla="*/ 553720 h 553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49316" h="553720">
                <a:moveTo>
                  <a:pt x="1383317" y="0"/>
                </a:moveTo>
                <a:cubicBezTo>
                  <a:pt x="1600487" y="30056"/>
                  <a:pt x="1601757" y="155787"/>
                  <a:pt x="1403637" y="213360"/>
                </a:cubicBezTo>
                <a:cubicBezTo>
                  <a:pt x="1205517" y="270933"/>
                  <a:pt x="629784" y="258233"/>
                  <a:pt x="194597" y="345440"/>
                </a:cubicBezTo>
                <a:cubicBezTo>
                  <a:pt x="-240590" y="432647"/>
                  <a:pt x="189305" y="512445"/>
                  <a:pt x="194597" y="553720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7CCE513-F30B-45DA-9830-6D99C11007D5}"/>
              </a:ext>
            </a:extLst>
          </p:cNvPr>
          <p:cNvCxnSpPr>
            <a:cxnSpLocks/>
          </p:cNvCxnSpPr>
          <p:nvPr/>
        </p:nvCxnSpPr>
        <p:spPr>
          <a:xfrm>
            <a:off x="10334877" y="2577861"/>
            <a:ext cx="464088" cy="191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8773B3ED-4650-490E-B78D-A07957EA49BD}"/>
              </a:ext>
            </a:extLst>
          </p:cNvPr>
          <p:cNvSpPr/>
          <p:nvPr/>
        </p:nvSpPr>
        <p:spPr>
          <a:xfrm>
            <a:off x="9665626" y="3838869"/>
            <a:ext cx="1171257" cy="508000"/>
          </a:xfrm>
          <a:custGeom>
            <a:avLst/>
            <a:gdLst>
              <a:gd name="connsiteX0" fmla="*/ 1487070 w 1789371"/>
              <a:gd name="connsiteY0" fmla="*/ 0 h 425551"/>
              <a:gd name="connsiteX1" fmla="*/ 1690270 w 1789371"/>
              <a:gd name="connsiteY1" fmla="*/ 101600 h 425551"/>
              <a:gd name="connsiteX2" fmla="*/ 100230 w 1789371"/>
              <a:gd name="connsiteY2" fmla="*/ 248920 h 425551"/>
              <a:gd name="connsiteX3" fmla="*/ 166270 w 1789371"/>
              <a:gd name="connsiteY3" fmla="*/ 411480 h 425551"/>
              <a:gd name="connsiteX4" fmla="*/ 176430 w 1789371"/>
              <a:gd name="connsiteY4" fmla="*/ 406400 h 425551"/>
              <a:gd name="connsiteX0" fmla="*/ 1517550 w 1798786"/>
              <a:gd name="connsiteY0" fmla="*/ 0 h 506831"/>
              <a:gd name="connsiteX1" fmla="*/ 1690270 w 1798786"/>
              <a:gd name="connsiteY1" fmla="*/ 182880 h 506831"/>
              <a:gd name="connsiteX2" fmla="*/ 100230 w 1798786"/>
              <a:gd name="connsiteY2" fmla="*/ 330200 h 506831"/>
              <a:gd name="connsiteX3" fmla="*/ 166270 w 1798786"/>
              <a:gd name="connsiteY3" fmla="*/ 492760 h 506831"/>
              <a:gd name="connsiteX4" fmla="*/ 176430 w 1798786"/>
              <a:gd name="connsiteY4" fmla="*/ 487680 h 506831"/>
              <a:gd name="connsiteX0" fmla="*/ 1506421 w 1687335"/>
              <a:gd name="connsiteY0" fmla="*/ 0 h 506831"/>
              <a:gd name="connsiteX1" fmla="*/ 1526741 w 1687335"/>
              <a:gd name="connsiteY1" fmla="*/ 213360 h 506831"/>
              <a:gd name="connsiteX2" fmla="*/ 89101 w 1687335"/>
              <a:gd name="connsiteY2" fmla="*/ 330200 h 506831"/>
              <a:gd name="connsiteX3" fmla="*/ 155141 w 1687335"/>
              <a:gd name="connsiteY3" fmla="*/ 492760 h 506831"/>
              <a:gd name="connsiteX4" fmla="*/ 165301 w 1687335"/>
              <a:gd name="connsiteY4" fmla="*/ 487680 h 506831"/>
              <a:gd name="connsiteX0" fmla="*/ 1399275 w 1570188"/>
              <a:gd name="connsiteY0" fmla="*/ 0 h 506831"/>
              <a:gd name="connsiteX1" fmla="*/ 1419595 w 1570188"/>
              <a:gd name="connsiteY1" fmla="*/ 213360 h 506831"/>
              <a:gd name="connsiteX2" fmla="*/ 134355 w 1570188"/>
              <a:gd name="connsiteY2" fmla="*/ 320040 h 506831"/>
              <a:gd name="connsiteX3" fmla="*/ 47995 w 1570188"/>
              <a:gd name="connsiteY3" fmla="*/ 492760 h 506831"/>
              <a:gd name="connsiteX4" fmla="*/ 58155 w 1570188"/>
              <a:gd name="connsiteY4" fmla="*/ 487680 h 506831"/>
              <a:gd name="connsiteX0" fmla="*/ 1399275 w 1570188"/>
              <a:gd name="connsiteY0" fmla="*/ 0 h 524566"/>
              <a:gd name="connsiteX1" fmla="*/ 1419595 w 1570188"/>
              <a:gd name="connsiteY1" fmla="*/ 213360 h 524566"/>
              <a:gd name="connsiteX2" fmla="*/ 134355 w 1570188"/>
              <a:gd name="connsiteY2" fmla="*/ 320040 h 524566"/>
              <a:gd name="connsiteX3" fmla="*/ 47995 w 1570188"/>
              <a:gd name="connsiteY3" fmla="*/ 492760 h 524566"/>
              <a:gd name="connsiteX4" fmla="*/ 159755 w 1570188"/>
              <a:gd name="connsiteY4" fmla="*/ 518160 h 524566"/>
              <a:gd name="connsiteX0" fmla="*/ 1441704 w 1612617"/>
              <a:gd name="connsiteY0" fmla="*/ 0 h 520270"/>
              <a:gd name="connsiteX1" fmla="*/ 1462024 w 1612617"/>
              <a:gd name="connsiteY1" fmla="*/ 213360 h 520270"/>
              <a:gd name="connsiteX2" fmla="*/ 176784 w 1612617"/>
              <a:gd name="connsiteY2" fmla="*/ 320040 h 520270"/>
              <a:gd name="connsiteX3" fmla="*/ 19304 w 1612617"/>
              <a:gd name="connsiteY3" fmla="*/ 431800 h 520270"/>
              <a:gd name="connsiteX4" fmla="*/ 202184 w 1612617"/>
              <a:gd name="connsiteY4" fmla="*/ 518160 h 520270"/>
              <a:gd name="connsiteX0" fmla="*/ 1441704 w 1612617"/>
              <a:gd name="connsiteY0" fmla="*/ 0 h 520270"/>
              <a:gd name="connsiteX1" fmla="*/ 1462024 w 1612617"/>
              <a:gd name="connsiteY1" fmla="*/ 213360 h 520270"/>
              <a:gd name="connsiteX2" fmla="*/ 176784 w 1612617"/>
              <a:gd name="connsiteY2" fmla="*/ 320040 h 520270"/>
              <a:gd name="connsiteX3" fmla="*/ 19304 w 1612617"/>
              <a:gd name="connsiteY3" fmla="*/ 431800 h 520270"/>
              <a:gd name="connsiteX4" fmla="*/ 202184 w 1612617"/>
              <a:gd name="connsiteY4" fmla="*/ 518160 h 520270"/>
              <a:gd name="connsiteX0" fmla="*/ 1353138 w 1524051"/>
              <a:gd name="connsiteY0" fmla="*/ 0 h 518160"/>
              <a:gd name="connsiteX1" fmla="*/ 1373458 w 1524051"/>
              <a:gd name="connsiteY1" fmla="*/ 213360 h 518160"/>
              <a:gd name="connsiteX2" fmla="*/ 88218 w 1524051"/>
              <a:gd name="connsiteY2" fmla="*/ 320040 h 518160"/>
              <a:gd name="connsiteX3" fmla="*/ 113618 w 1524051"/>
              <a:gd name="connsiteY3" fmla="*/ 518160 h 518160"/>
              <a:gd name="connsiteX0" fmla="*/ 1298838 w 1464837"/>
              <a:gd name="connsiteY0" fmla="*/ 0 h 518160"/>
              <a:gd name="connsiteX1" fmla="*/ 1319158 w 1464837"/>
              <a:gd name="connsiteY1" fmla="*/ 213360 h 518160"/>
              <a:gd name="connsiteX2" fmla="*/ 110118 w 1464837"/>
              <a:gd name="connsiteY2" fmla="*/ 345440 h 518160"/>
              <a:gd name="connsiteX3" fmla="*/ 59318 w 1464837"/>
              <a:gd name="connsiteY3" fmla="*/ 518160 h 518160"/>
              <a:gd name="connsiteX0" fmla="*/ 1279467 w 1445466"/>
              <a:gd name="connsiteY0" fmla="*/ 0 h 553720"/>
              <a:gd name="connsiteX1" fmla="*/ 1299787 w 1445466"/>
              <a:gd name="connsiteY1" fmla="*/ 213360 h 553720"/>
              <a:gd name="connsiteX2" fmla="*/ 90747 w 1445466"/>
              <a:gd name="connsiteY2" fmla="*/ 345440 h 553720"/>
              <a:gd name="connsiteX3" fmla="*/ 90747 w 1445466"/>
              <a:gd name="connsiteY3" fmla="*/ 553720 h 553720"/>
              <a:gd name="connsiteX0" fmla="*/ 1279467 w 1445466"/>
              <a:gd name="connsiteY0" fmla="*/ 0 h 553720"/>
              <a:gd name="connsiteX1" fmla="*/ 1299787 w 1445466"/>
              <a:gd name="connsiteY1" fmla="*/ 213360 h 553720"/>
              <a:gd name="connsiteX2" fmla="*/ 90747 w 1445466"/>
              <a:gd name="connsiteY2" fmla="*/ 345440 h 553720"/>
              <a:gd name="connsiteX3" fmla="*/ 90747 w 1445466"/>
              <a:gd name="connsiteY3" fmla="*/ 553720 h 553720"/>
              <a:gd name="connsiteX0" fmla="*/ 1383317 w 1549316"/>
              <a:gd name="connsiteY0" fmla="*/ 0 h 553720"/>
              <a:gd name="connsiteX1" fmla="*/ 1403637 w 1549316"/>
              <a:gd name="connsiteY1" fmla="*/ 213360 h 553720"/>
              <a:gd name="connsiteX2" fmla="*/ 194597 w 1549316"/>
              <a:gd name="connsiteY2" fmla="*/ 345440 h 553720"/>
              <a:gd name="connsiteX3" fmla="*/ 194597 w 1549316"/>
              <a:gd name="connsiteY3" fmla="*/ 553720 h 553720"/>
              <a:gd name="connsiteX0" fmla="*/ 1189549 w 1328844"/>
              <a:gd name="connsiteY0" fmla="*/ 0 h 553720"/>
              <a:gd name="connsiteX1" fmla="*/ 1209869 w 1328844"/>
              <a:gd name="connsiteY1" fmla="*/ 213360 h 553720"/>
              <a:gd name="connsiteX2" fmla="*/ 437709 w 1328844"/>
              <a:gd name="connsiteY2" fmla="*/ 299720 h 553720"/>
              <a:gd name="connsiteX3" fmla="*/ 829 w 1328844"/>
              <a:gd name="connsiteY3" fmla="*/ 553720 h 553720"/>
              <a:gd name="connsiteX0" fmla="*/ 810232 w 949527"/>
              <a:gd name="connsiteY0" fmla="*/ 0 h 508000"/>
              <a:gd name="connsiteX1" fmla="*/ 830552 w 949527"/>
              <a:gd name="connsiteY1" fmla="*/ 213360 h 508000"/>
              <a:gd name="connsiteX2" fmla="*/ 58392 w 949527"/>
              <a:gd name="connsiteY2" fmla="*/ 299720 h 508000"/>
              <a:gd name="connsiteX3" fmla="*/ 58392 w 949527"/>
              <a:gd name="connsiteY3" fmla="*/ 508000 h 508000"/>
              <a:gd name="connsiteX0" fmla="*/ 916334 w 1055629"/>
              <a:gd name="connsiteY0" fmla="*/ 0 h 508000"/>
              <a:gd name="connsiteX1" fmla="*/ 936654 w 1055629"/>
              <a:gd name="connsiteY1" fmla="*/ 213360 h 508000"/>
              <a:gd name="connsiteX2" fmla="*/ 164494 w 1055629"/>
              <a:gd name="connsiteY2" fmla="*/ 299720 h 508000"/>
              <a:gd name="connsiteX3" fmla="*/ 164494 w 1055629"/>
              <a:gd name="connsiteY3" fmla="*/ 508000 h 508000"/>
              <a:gd name="connsiteX0" fmla="*/ 1015674 w 1154969"/>
              <a:gd name="connsiteY0" fmla="*/ 0 h 508000"/>
              <a:gd name="connsiteX1" fmla="*/ 1035994 w 1154969"/>
              <a:gd name="connsiteY1" fmla="*/ 213360 h 508000"/>
              <a:gd name="connsiteX2" fmla="*/ 263834 w 1154969"/>
              <a:gd name="connsiteY2" fmla="*/ 299720 h 508000"/>
              <a:gd name="connsiteX3" fmla="*/ 263834 w 1154969"/>
              <a:gd name="connsiteY3" fmla="*/ 508000 h 508000"/>
              <a:gd name="connsiteX0" fmla="*/ 1030788 w 1171257"/>
              <a:gd name="connsiteY0" fmla="*/ 0 h 508000"/>
              <a:gd name="connsiteX1" fmla="*/ 1051108 w 1171257"/>
              <a:gd name="connsiteY1" fmla="*/ 213360 h 508000"/>
              <a:gd name="connsiteX2" fmla="*/ 258628 w 1171257"/>
              <a:gd name="connsiteY2" fmla="*/ 330200 h 508000"/>
              <a:gd name="connsiteX3" fmla="*/ 278948 w 1171257"/>
              <a:gd name="connsiteY3" fmla="*/ 508000 h 50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1257" h="508000">
                <a:moveTo>
                  <a:pt x="1030788" y="0"/>
                </a:moveTo>
                <a:cubicBezTo>
                  <a:pt x="1247958" y="30056"/>
                  <a:pt x="1179801" y="158327"/>
                  <a:pt x="1051108" y="213360"/>
                </a:cubicBezTo>
                <a:cubicBezTo>
                  <a:pt x="922415" y="268393"/>
                  <a:pt x="849601" y="215053"/>
                  <a:pt x="258628" y="330200"/>
                </a:cubicBezTo>
                <a:cubicBezTo>
                  <a:pt x="-332345" y="445347"/>
                  <a:pt x="273656" y="466725"/>
                  <a:pt x="278948" y="508000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0067F85D-B547-4969-AE3D-613BEE02277A}"/>
              </a:ext>
            </a:extLst>
          </p:cNvPr>
          <p:cNvSpPr/>
          <p:nvPr/>
        </p:nvSpPr>
        <p:spPr>
          <a:xfrm>
            <a:off x="9726422" y="4751130"/>
            <a:ext cx="1171257" cy="508000"/>
          </a:xfrm>
          <a:custGeom>
            <a:avLst/>
            <a:gdLst>
              <a:gd name="connsiteX0" fmla="*/ 1487070 w 1789371"/>
              <a:gd name="connsiteY0" fmla="*/ 0 h 425551"/>
              <a:gd name="connsiteX1" fmla="*/ 1690270 w 1789371"/>
              <a:gd name="connsiteY1" fmla="*/ 101600 h 425551"/>
              <a:gd name="connsiteX2" fmla="*/ 100230 w 1789371"/>
              <a:gd name="connsiteY2" fmla="*/ 248920 h 425551"/>
              <a:gd name="connsiteX3" fmla="*/ 166270 w 1789371"/>
              <a:gd name="connsiteY3" fmla="*/ 411480 h 425551"/>
              <a:gd name="connsiteX4" fmla="*/ 176430 w 1789371"/>
              <a:gd name="connsiteY4" fmla="*/ 406400 h 425551"/>
              <a:gd name="connsiteX0" fmla="*/ 1517550 w 1798786"/>
              <a:gd name="connsiteY0" fmla="*/ 0 h 506831"/>
              <a:gd name="connsiteX1" fmla="*/ 1690270 w 1798786"/>
              <a:gd name="connsiteY1" fmla="*/ 182880 h 506831"/>
              <a:gd name="connsiteX2" fmla="*/ 100230 w 1798786"/>
              <a:gd name="connsiteY2" fmla="*/ 330200 h 506831"/>
              <a:gd name="connsiteX3" fmla="*/ 166270 w 1798786"/>
              <a:gd name="connsiteY3" fmla="*/ 492760 h 506831"/>
              <a:gd name="connsiteX4" fmla="*/ 176430 w 1798786"/>
              <a:gd name="connsiteY4" fmla="*/ 487680 h 506831"/>
              <a:gd name="connsiteX0" fmla="*/ 1506421 w 1687335"/>
              <a:gd name="connsiteY0" fmla="*/ 0 h 506831"/>
              <a:gd name="connsiteX1" fmla="*/ 1526741 w 1687335"/>
              <a:gd name="connsiteY1" fmla="*/ 213360 h 506831"/>
              <a:gd name="connsiteX2" fmla="*/ 89101 w 1687335"/>
              <a:gd name="connsiteY2" fmla="*/ 330200 h 506831"/>
              <a:gd name="connsiteX3" fmla="*/ 155141 w 1687335"/>
              <a:gd name="connsiteY3" fmla="*/ 492760 h 506831"/>
              <a:gd name="connsiteX4" fmla="*/ 165301 w 1687335"/>
              <a:gd name="connsiteY4" fmla="*/ 487680 h 506831"/>
              <a:gd name="connsiteX0" fmla="*/ 1399275 w 1570188"/>
              <a:gd name="connsiteY0" fmla="*/ 0 h 506831"/>
              <a:gd name="connsiteX1" fmla="*/ 1419595 w 1570188"/>
              <a:gd name="connsiteY1" fmla="*/ 213360 h 506831"/>
              <a:gd name="connsiteX2" fmla="*/ 134355 w 1570188"/>
              <a:gd name="connsiteY2" fmla="*/ 320040 h 506831"/>
              <a:gd name="connsiteX3" fmla="*/ 47995 w 1570188"/>
              <a:gd name="connsiteY3" fmla="*/ 492760 h 506831"/>
              <a:gd name="connsiteX4" fmla="*/ 58155 w 1570188"/>
              <a:gd name="connsiteY4" fmla="*/ 487680 h 506831"/>
              <a:gd name="connsiteX0" fmla="*/ 1399275 w 1570188"/>
              <a:gd name="connsiteY0" fmla="*/ 0 h 524566"/>
              <a:gd name="connsiteX1" fmla="*/ 1419595 w 1570188"/>
              <a:gd name="connsiteY1" fmla="*/ 213360 h 524566"/>
              <a:gd name="connsiteX2" fmla="*/ 134355 w 1570188"/>
              <a:gd name="connsiteY2" fmla="*/ 320040 h 524566"/>
              <a:gd name="connsiteX3" fmla="*/ 47995 w 1570188"/>
              <a:gd name="connsiteY3" fmla="*/ 492760 h 524566"/>
              <a:gd name="connsiteX4" fmla="*/ 159755 w 1570188"/>
              <a:gd name="connsiteY4" fmla="*/ 518160 h 524566"/>
              <a:gd name="connsiteX0" fmla="*/ 1441704 w 1612617"/>
              <a:gd name="connsiteY0" fmla="*/ 0 h 520270"/>
              <a:gd name="connsiteX1" fmla="*/ 1462024 w 1612617"/>
              <a:gd name="connsiteY1" fmla="*/ 213360 h 520270"/>
              <a:gd name="connsiteX2" fmla="*/ 176784 w 1612617"/>
              <a:gd name="connsiteY2" fmla="*/ 320040 h 520270"/>
              <a:gd name="connsiteX3" fmla="*/ 19304 w 1612617"/>
              <a:gd name="connsiteY3" fmla="*/ 431800 h 520270"/>
              <a:gd name="connsiteX4" fmla="*/ 202184 w 1612617"/>
              <a:gd name="connsiteY4" fmla="*/ 518160 h 520270"/>
              <a:gd name="connsiteX0" fmla="*/ 1441704 w 1612617"/>
              <a:gd name="connsiteY0" fmla="*/ 0 h 520270"/>
              <a:gd name="connsiteX1" fmla="*/ 1462024 w 1612617"/>
              <a:gd name="connsiteY1" fmla="*/ 213360 h 520270"/>
              <a:gd name="connsiteX2" fmla="*/ 176784 w 1612617"/>
              <a:gd name="connsiteY2" fmla="*/ 320040 h 520270"/>
              <a:gd name="connsiteX3" fmla="*/ 19304 w 1612617"/>
              <a:gd name="connsiteY3" fmla="*/ 431800 h 520270"/>
              <a:gd name="connsiteX4" fmla="*/ 202184 w 1612617"/>
              <a:gd name="connsiteY4" fmla="*/ 518160 h 520270"/>
              <a:gd name="connsiteX0" fmla="*/ 1353138 w 1524051"/>
              <a:gd name="connsiteY0" fmla="*/ 0 h 518160"/>
              <a:gd name="connsiteX1" fmla="*/ 1373458 w 1524051"/>
              <a:gd name="connsiteY1" fmla="*/ 213360 h 518160"/>
              <a:gd name="connsiteX2" fmla="*/ 88218 w 1524051"/>
              <a:gd name="connsiteY2" fmla="*/ 320040 h 518160"/>
              <a:gd name="connsiteX3" fmla="*/ 113618 w 1524051"/>
              <a:gd name="connsiteY3" fmla="*/ 518160 h 518160"/>
              <a:gd name="connsiteX0" fmla="*/ 1298838 w 1464837"/>
              <a:gd name="connsiteY0" fmla="*/ 0 h 518160"/>
              <a:gd name="connsiteX1" fmla="*/ 1319158 w 1464837"/>
              <a:gd name="connsiteY1" fmla="*/ 213360 h 518160"/>
              <a:gd name="connsiteX2" fmla="*/ 110118 w 1464837"/>
              <a:gd name="connsiteY2" fmla="*/ 345440 h 518160"/>
              <a:gd name="connsiteX3" fmla="*/ 59318 w 1464837"/>
              <a:gd name="connsiteY3" fmla="*/ 518160 h 518160"/>
              <a:gd name="connsiteX0" fmla="*/ 1279467 w 1445466"/>
              <a:gd name="connsiteY0" fmla="*/ 0 h 553720"/>
              <a:gd name="connsiteX1" fmla="*/ 1299787 w 1445466"/>
              <a:gd name="connsiteY1" fmla="*/ 213360 h 553720"/>
              <a:gd name="connsiteX2" fmla="*/ 90747 w 1445466"/>
              <a:gd name="connsiteY2" fmla="*/ 345440 h 553720"/>
              <a:gd name="connsiteX3" fmla="*/ 90747 w 1445466"/>
              <a:gd name="connsiteY3" fmla="*/ 553720 h 553720"/>
              <a:gd name="connsiteX0" fmla="*/ 1279467 w 1445466"/>
              <a:gd name="connsiteY0" fmla="*/ 0 h 553720"/>
              <a:gd name="connsiteX1" fmla="*/ 1299787 w 1445466"/>
              <a:gd name="connsiteY1" fmla="*/ 213360 h 553720"/>
              <a:gd name="connsiteX2" fmla="*/ 90747 w 1445466"/>
              <a:gd name="connsiteY2" fmla="*/ 345440 h 553720"/>
              <a:gd name="connsiteX3" fmla="*/ 90747 w 1445466"/>
              <a:gd name="connsiteY3" fmla="*/ 553720 h 553720"/>
              <a:gd name="connsiteX0" fmla="*/ 1383317 w 1549316"/>
              <a:gd name="connsiteY0" fmla="*/ 0 h 553720"/>
              <a:gd name="connsiteX1" fmla="*/ 1403637 w 1549316"/>
              <a:gd name="connsiteY1" fmla="*/ 213360 h 553720"/>
              <a:gd name="connsiteX2" fmla="*/ 194597 w 1549316"/>
              <a:gd name="connsiteY2" fmla="*/ 345440 h 553720"/>
              <a:gd name="connsiteX3" fmla="*/ 194597 w 1549316"/>
              <a:gd name="connsiteY3" fmla="*/ 553720 h 553720"/>
              <a:gd name="connsiteX0" fmla="*/ 1189549 w 1328844"/>
              <a:gd name="connsiteY0" fmla="*/ 0 h 553720"/>
              <a:gd name="connsiteX1" fmla="*/ 1209869 w 1328844"/>
              <a:gd name="connsiteY1" fmla="*/ 213360 h 553720"/>
              <a:gd name="connsiteX2" fmla="*/ 437709 w 1328844"/>
              <a:gd name="connsiteY2" fmla="*/ 299720 h 553720"/>
              <a:gd name="connsiteX3" fmla="*/ 829 w 1328844"/>
              <a:gd name="connsiteY3" fmla="*/ 553720 h 553720"/>
              <a:gd name="connsiteX0" fmla="*/ 810232 w 949527"/>
              <a:gd name="connsiteY0" fmla="*/ 0 h 508000"/>
              <a:gd name="connsiteX1" fmla="*/ 830552 w 949527"/>
              <a:gd name="connsiteY1" fmla="*/ 213360 h 508000"/>
              <a:gd name="connsiteX2" fmla="*/ 58392 w 949527"/>
              <a:gd name="connsiteY2" fmla="*/ 299720 h 508000"/>
              <a:gd name="connsiteX3" fmla="*/ 58392 w 949527"/>
              <a:gd name="connsiteY3" fmla="*/ 508000 h 508000"/>
              <a:gd name="connsiteX0" fmla="*/ 916334 w 1055629"/>
              <a:gd name="connsiteY0" fmla="*/ 0 h 508000"/>
              <a:gd name="connsiteX1" fmla="*/ 936654 w 1055629"/>
              <a:gd name="connsiteY1" fmla="*/ 213360 h 508000"/>
              <a:gd name="connsiteX2" fmla="*/ 164494 w 1055629"/>
              <a:gd name="connsiteY2" fmla="*/ 299720 h 508000"/>
              <a:gd name="connsiteX3" fmla="*/ 164494 w 1055629"/>
              <a:gd name="connsiteY3" fmla="*/ 508000 h 508000"/>
              <a:gd name="connsiteX0" fmla="*/ 1015674 w 1154969"/>
              <a:gd name="connsiteY0" fmla="*/ 0 h 508000"/>
              <a:gd name="connsiteX1" fmla="*/ 1035994 w 1154969"/>
              <a:gd name="connsiteY1" fmla="*/ 213360 h 508000"/>
              <a:gd name="connsiteX2" fmla="*/ 263834 w 1154969"/>
              <a:gd name="connsiteY2" fmla="*/ 299720 h 508000"/>
              <a:gd name="connsiteX3" fmla="*/ 263834 w 1154969"/>
              <a:gd name="connsiteY3" fmla="*/ 508000 h 508000"/>
              <a:gd name="connsiteX0" fmla="*/ 1030788 w 1171257"/>
              <a:gd name="connsiteY0" fmla="*/ 0 h 508000"/>
              <a:gd name="connsiteX1" fmla="*/ 1051108 w 1171257"/>
              <a:gd name="connsiteY1" fmla="*/ 213360 h 508000"/>
              <a:gd name="connsiteX2" fmla="*/ 258628 w 1171257"/>
              <a:gd name="connsiteY2" fmla="*/ 330200 h 508000"/>
              <a:gd name="connsiteX3" fmla="*/ 278948 w 1171257"/>
              <a:gd name="connsiteY3" fmla="*/ 508000 h 50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1257" h="508000">
                <a:moveTo>
                  <a:pt x="1030788" y="0"/>
                </a:moveTo>
                <a:cubicBezTo>
                  <a:pt x="1247958" y="30056"/>
                  <a:pt x="1179801" y="158327"/>
                  <a:pt x="1051108" y="213360"/>
                </a:cubicBezTo>
                <a:cubicBezTo>
                  <a:pt x="922415" y="268393"/>
                  <a:pt x="849601" y="215053"/>
                  <a:pt x="258628" y="330200"/>
                </a:cubicBezTo>
                <a:cubicBezTo>
                  <a:pt x="-332345" y="445347"/>
                  <a:pt x="273656" y="466725"/>
                  <a:pt x="278948" y="508000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8446C5-1F3D-4C28-9048-60BF04B8E029}"/>
              </a:ext>
            </a:extLst>
          </p:cNvPr>
          <p:cNvSpPr txBox="1"/>
          <p:nvPr/>
        </p:nvSpPr>
        <p:spPr>
          <a:xfrm>
            <a:off x="14586" y="5646543"/>
            <a:ext cx="3254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« Equivalent » </a:t>
            </a:r>
            <a:r>
              <a:rPr lang="fr-FR" b="1" dirty="0" err="1"/>
              <a:t>imperative</a:t>
            </a:r>
            <a:r>
              <a:rPr lang="fr-FR" b="1" dirty="0"/>
              <a:t> code :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4125D5-992D-4D95-98F3-F6F8EE513C1B}"/>
              </a:ext>
            </a:extLst>
          </p:cNvPr>
          <p:cNvSpPr txBox="1"/>
          <p:nvPr/>
        </p:nvSpPr>
        <p:spPr>
          <a:xfrm>
            <a:off x="3622800" y="5175128"/>
            <a:ext cx="31014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List&lt;Y&gt; </a:t>
            </a:r>
            <a:r>
              <a:rPr lang="fr-FR" dirty="0" err="1"/>
              <a:t>res</a:t>
            </a:r>
            <a:r>
              <a:rPr lang="fr-FR" dirty="0"/>
              <a:t> = new </a:t>
            </a:r>
            <a:r>
              <a:rPr lang="fr-FR" dirty="0" err="1"/>
              <a:t>ArrayList</a:t>
            </a:r>
            <a:r>
              <a:rPr lang="fr-FR" dirty="0"/>
              <a:t>&lt;&gt;();</a:t>
            </a:r>
          </a:p>
          <a:p>
            <a:r>
              <a:rPr lang="fr-FR" dirty="0"/>
              <a:t>For( x : </a:t>
            </a:r>
            <a:r>
              <a:rPr lang="fr-FR" dirty="0" err="1"/>
              <a:t>sourceList</a:t>
            </a:r>
            <a:r>
              <a:rPr lang="fr-FR" dirty="0"/>
              <a:t>) {</a:t>
            </a:r>
          </a:p>
          <a:p>
            <a:r>
              <a:rPr lang="fr-FR" dirty="0"/>
              <a:t>    </a:t>
            </a:r>
            <a:r>
              <a:rPr lang="fr-FR" dirty="0" err="1"/>
              <a:t>tmpYSubList</a:t>
            </a:r>
            <a:r>
              <a:rPr lang="fr-FR" dirty="0"/>
              <a:t> = </a:t>
            </a:r>
            <a:r>
              <a:rPr lang="fr-FR" dirty="0" err="1"/>
              <a:t>func</a:t>
            </a:r>
            <a:r>
              <a:rPr lang="fr-FR" dirty="0"/>
              <a:t>(x);</a:t>
            </a:r>
          </a:p>
          <a:p>
            <a:r>
              <a:rPr lang="fr-FR" dirty="0"/>
              <a:t>    </a:t>
            </a:r>
            <a:r>
              <a:rPr lang="fr-FR" dirty="0" err="1"/>
              <a:t>res.addAll</a:t>
            </a:r>
            <a:r>
              <a:rPr lang="fr-FR" dirty="0"/>
              <a:t>(</a:t>
            </a:r>
            <a:r>
              <a:rPr lang="fr-FR" dirty="0" err="1"/>
              <a:t>tmpYSubList</a:t>
            </a:r>
            <a:r>
              <a:rPr lang="fr-FR" dirty="0"/>
              <a:t>);</a:t>
            </a:r>
          </a:p>
          <a:p>
            <a:r>
              <a:rPr lang="fr-FR" dirty="0"/>
              <a:t>}</a:t>
            </a:r>
          </a:p>
          <a:p>
            <a:r>
              <a:rPr lang="fr-FR" dirty="0"/>
              <a:t>return </a:t>
            </a:r>
            <a:r>
              <a:rPr lang="fr-FR" dirty="0" err="1"/>
              <a:t>res</a:t>
            </a:r>
            <a:r>
              <a:rPr lang="fr-FR" dirty="0"/>
              <a:t>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886A66-2278-48E4-B34D-73819DB6BB29}"/>
              </a:ext>
            </a:extLst>
          </p:cNvPr>
          <p:cNvSpPr txBox="1"/>
          <p:nvPr/>
        </p:nvSpPr>
        <p:spPr>
          <a:xfrm>
            <a:off x="8635529" y="1004045"/>
            <a:ext cx="36098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/>
              <a:t>dataset.flatMap</a:t>
            </a:r>
            <a:r>
              <a:rPr lang="fr-FR" sz="2800" b="1" dirty="0"/>
              <a:t>( </a:t>
            </a:r>
            <a:r>
              <a:rPr lang="fr-FR" sz="2800" b="1" dirty="0" err="1"/>
              <a:t>func</a:t>
            </a:r>
            <a:r>
              <a:rPr lang="fr-FR" sz="2800" b="1" dirty="0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358602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93BF4A-2C97-4C40-BDAF-4694AB8F5C23}"/>
              </a:ext>
            </a:extLst>
          </p:cNvPr>
          <p:cNvSpPr/>
          <p:nvPr/>
        </p:nvSpPr>
        <p:spPr>
          <a:xfrm>
            <a:off x="3504651" y="1775868"/>
            <a:ext cx="3111163" cy="1852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3BDBBA4-8417-403C-8510-D860F5FA886C}"/>
              </a:ext>
            </a:extLst>
          </p:cNvPr>
          <p:cNvSpPr/>
          <p:nvPr/>
        </p:nvSpPr>
        <p:spPr>
          <a:xfrm>
            <a:off x="6043728" y="3712417"/>
            <a:ext cx="2826573" cy="19467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69CD75-B380-4285-BE3D-7FEA23A43DA2}"/>
              </a:ext>
            </a:extLst>
          </p:cNvPr>
          <p:cNvSpPr/>
          <p:nvPr/>
        </p:nvSpPr>
        <p:spPr>
          <a:xfrm>
            <a:off x="380531" y="2324174"/>
            <a:ext cx="2806499" cy="42784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D4A394-A608-4E79-9D98-E1A8077E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796" y="-7785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Dataset</a:t>
            </a:r>
            <a:r>
              <a:rPr lang="fr-FR" dirty="0"/>
              <a:t>: « </a:t>
            </a:r>
            <a:r>
              <a:rPr lang="fr-FR" dirty="0" err="1"/>
              <a:t>logical</a:t>
            </a:r>
            <a:r>
              <a:rPr lang="fr-FR" dirty="0"/>
              <a:t> </a:t>
            </a:r>
            <a:r>
              <a:rPr lang="fr-FR" dirty="0" err="1"/>
              <a:t>View</a:t>
            </a:r>
            <a:r>
              <a:rPr lang="fr-FR" dirty="0"/>
              <a:t> » of « partitions » on Driver </a:t>
            </a:r>
            <a:br>
              <a:rPr lang="fr-FR" dirty="0"/>
            </a:br>
            <a:r>
              <a:rPr lang="fr-FR" dirty="0"/>
              <a:t>     … « data » </a:t>
            </a:r>
            <a:r>
              <a:rPr lang="fr-FR" dirty="0" err="1"/>
              <a:t>allocated</a:t>
            </a:r>
            <a:r>
              <a:rPr lang="fr-FR" dirty="0"/>
              <a:t> in-memory on </a:t>
            </a:r>
            <a:r>
              <a:rPr lang="fr-FR" dirty="0" err="1"/>
              <a:t>Executors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E0642F-DB0A-4882-B7C2-A7047DF84201}"/>
              </a:ext>
            </a:extLst>
          </p:cNvPr>
          <p:cNvSpPr txBox="1"/>
          <p:nvPr/>
        </p:nvSpPr>
        <p:spPr>
          <a:xfrm>
            <a:off x="794289" y="2504800"/>
            <a:ext cx="1127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 X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0673F7-B83B-4B53-BDD9-2FE9C66051EE}"/>
              </a:ext>
            </a:extLst>
          </p:cNvPr>
          <p:cNvSpPr/>
          <p:nvPr/>
        </p:nvSpPr>
        <p:spPr>
          <a:xfrm>
            <a:off x="690880" y="2866514"/>
            <a:ext cx="1325880" cy="140576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92A384-B168-499A-93CD-5792064CE792}"/>
              </a:ext>
            </a:extLst>
          </p:cNvPr>
          <p:cNvSpPr/>
          <p:nvPr/>
        </p:nvSpPr>
        <p:spPr>
          <a:xfrm>
            <a:off x="4678678" y="254390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8B2B24-4DF3-4121-A290-86F2B7024FE5}"/>
              </a:ext>
            </a:extLst>
          </p:cNvPr>
          <p:cNvSpPr txBox="1"/>
          <p:nvPr/>
        </p:nvSpPr>
        <p:spPr>
          <a:xfrm>
            <a:off x="3442287" y="1781108"/>
            <a:ext cx="11623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Data for </a:t>
            </a:r>
          </a:p>
          <a:p>
            <a:r>
              <a:rPr lang="fr-FR" dirty="0"/>
              <a:t>Partition 1</a:t>
            </a:r>
          </a:p>
          <a:p>
            <a:r>
              <a:rPr lang="fr-FR" dirty="0" err="1"/>
              <a:t>Dataset</a:t>
            </a:r>
            <a:r>
              <a:rPr lang="fr-FR" dirty="0"/>
              <a:t> 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7A1DC6-2D9A-40B1-8C1E-EB604DCE63B7}"/>
              </a:ext>
            </a:extLst>
          </p:cNvPr>
          <p:cNvSpPr/>
          <p:nvPr/>
        </p:nvSpPr>
        <p:spPr>
          <a:xfrm>
            <a:off x="4495798" y="2361025"/>
            <a:ext cx="721360" cy="115698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3698F7-8048-4D95-BA77-7FAFF600F57B}"/>
              </a:ext>
            </a:extLst>
          </p:cNvPr>
          <p:cNvSpPr/>
          <p:nvPr/>
        </p:nvSpPr>
        <p:spPr>
          <a:xfrm>
            <a:off x="4663438" y="301126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49531B-10D0-41D2-9E0C-B2F734627547}"/>
              </a:ext>
            </a:extLst>
          </p:cNvPr>
          <p:cNvSpPr/>
          <p:nvPr/>
        </p:nvSpPr>
        <p:spPr>
          <a:xfrm>
            <a:off x="7085741" y="463420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D4D9AA-2E83-4D2E-8BB3-E60C63E42163}"/>
              </a:ext>
            </a:extLst>
          </p:cNvPr>
          <p:cNvSpPr/>
          <p:nvPr/>
        </p:nvSpPr>
        <p:spPr>
          <a:xfrm>
            <a:off x="6882541" y="4579457"/>
            <a:ext cx="721360" cy="95487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7814E5-4683-4B09-85AE-11D0B0792622}"/>
              </a:ext>
            </a:extLst>
          </p:cNvPr>
          <p:cNvSpPr/>
          <p:nvPr/>
        </p:nvSpPr>
        <p:spPr>
          <a:xfrm>
            <a:off x="759408" y="2997472"/>
            <a:ext cx="1162369" cy="431528"/>
          </a:xfrm>
          <a:prstGeom prst="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747203-8196-4805-803E-00DDCFA898CD}"/>
              </a:ext>
            </a:extLst>
          </p:cNvPr>
          <p:cNvSpPr/>
          <p:nvPr/>
        </p:nvSpPr>
        <p:spPr>
          <a:xfrm>
            <a:off x="759408" y="3572197"/>
            <a:ext cx="1162369" cy="360166"/>
          </a:xfrm>
          <a:prstGeom prst="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9C6DC3-25C7-4E2D-9358-4594065AF527}"/>
              </a:ext>
            </a:extLst>
          </p:cNvPr>
          <p:cNvCxnSpPr>
            <a:cxnSpLocks/>
          </p:cNvCxnSpPr>
          <p:nvPr/>
        </p:nvCxnSpPr>
        <p:spPr>
          <a:xfrm>
            <a:off x="1938759" y="3755766"/>
            <a:ext cx="4960764" cy="10994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F1EE35C-92F1-4CE1-BDFE-3AD476EC1A31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1921777" y="2939516"/>
            <a:ext cx="2574021" cy="27372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37F37AB-2D4E-4502-A6AE-2F4CE1E0FBFE}"/>
              </a:ext>
            </a:extLst>
          </p:cNvPr>
          <p:cNvSpPr txBox="1"/>
          <p:nvPr/>
        </p:nvSpPr>
        <p:spPr>
          <a:xfrm>
            <a:off x="5989230" y="3700949"/>
            <a:ext cx="12152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Data for </a:t>
            </a:r>
          </a:p>
          <a:p>
            <a:r>
              <a:rPr lang="fr-FR" dirty="0"/>
              <a:t>Partition 2 </a:t>
            </a:r>
          </a:p>
          <a:p>
            <a:r>
              <a:rPr lang="fr-FR" dirty="0" err="1"/>
              <a:t>Dataset</a:t>
            </a:r>
            <a:r>
              <a:rPr lang="fr-FR" dirty="0"/>
              <a:t> X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220E73-75F9-476D-A9F1-959C55B9C499}"/>
              </a:ext>
            </a:extLst>
          </p:cNvPr>
          <p:cNvSpPr txBox="1"/>
          <p:nvPr/>
        </p:nvSpPr>
        <p:spPr>
          <a:xfrm>
            <a:off x="759408" y="3005982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Partition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91CFE1-CF98-47C9-8A47-6C218A9BE823}"/>
              </a:ext>
            </a:extLst>
          </p:cNvPr>
          <p:cNvSpPr txBox="1"/>
          <p:nvPr/>
        </p:nvSpPr>
        <p:spPr>
          <a:xfrm>
            <a:off x="738388" y="3544590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Partition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455420-8568-4215-AAC2-C30326F1C844}"/>
              </a:ext>
            </a:extLst>
          </p:cNvPr>
          <p:cNvSpPr/>
          <p:nvPr/>
        </p:nvSpPr>
        <p:spPr>
          <a:xfrm>
            <a:off x="9004972" y="4899361"/>
            <a:ext cx="3077855" cy="18249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FE758B-BB7D-486C-9DC9-8DC98DFC8E6C}"/>
              </a:ext>
            </a:extLst>
          </p:cNvPr>
          <p:cNvSpPr txBox="1"/>
          <p:nvPr/>
        </p:nvSpPr>
        <p:spPr>
          <a:xfrm>
            <a:off x="564773" y="1867635"/>
            <a:ext cx="2590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Driver</a:t>
            </a:r>
            <a:r>
              <a:rPr lang="fr-FR" sz="2400" dirty="0"/>
              <a:t> JVM Process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852B37-B3E2-45B5-886D-81EC65802259}"/>
              </a:ext>
            </a:extLst>
          </p:cNvPr>
          <p:cNvSpPr txBox="1"/>
          <p:nvPr/>
        </p:nvSpPr>
        <p:spPr>
          <a:xfrm>
            <a:off x="3544330" y="1302692"/>
            <a:ext cx="31413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Executor</a:t>
            </a:r>
            <a:r>
              <a:rPr lang="fr-FR" sz="2400" b="1" dirty="0"/>
              <a:t> 1</a:t>
            </a:r>
            <a:r>
              <a:rPr lang="fr-FR" sz="2400" dirty="0"/>
              <a:t> JVM Process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C65BD0-91ED-4A59-BC8F-5FA327DB19FE}"/>
              </a:ext>
            </a:extLst>
          </p:cNvPr>
          <p:cNvSpPr txBox="1"/>
          <p:nvPr/>
        </p:nvSpPr>
        <p:spPr>
          <a:xfrm>
            <a:off x="6615814" y="3315205"/>
            <a:ext cx="31413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Executor</a:t>
            </a:r>
            <a:r>
              <a:rPr lang="fr-FR" sz="2400" b="1" dirty="0"/>
              <a:t> 2</a:t>
            </a:r>
            <a:r>
              <a:rPr lang="fr-FR" sz="2400" dirty="0"/>
              <a:t> JVM Process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199072-E4A9-4F07-840E-6A20CC1E39B1}"/>
              </a:ext>
            </a:extLst>
          </p:cNvPr>
          <p:cNvSpPr txBox="1"/>
          <p:nvPr/>
        </p:nvSpPr>
        <p:spPr>
          <a:xfrm>
            <a:off x="9004972" y="4483009"/>
            <a:ext cx="3187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Executor</a:t>
            </a:r>
            <a:r>
              <a:rPr lang="fr-FR" sz="2400" b="1" dirty="0"/>
              <a:t> N</a:t>
            </a:r>
            <a:r>
              <a:rPr lang="fr-FR" sz="2400" dirty="0"/>
              <a:t> JVM Process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A595BD20-7C11-4091-9E89-C6EA8CB752CA}"/>
              </a:ext>
            </a:extLst>
          </p:cNvPr>
          <p:cNvSpPr/>
          <p:nvPr/>
        </p:nvSpPr>
        <p:spPr>
          <a:xfrm>
            <a:off x="5099888" y="2580725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B025ED61-CFFD-4202-8364-AEA5CBFDB4AA}"/>
              </a:ext>
            </a:extLst>
          </p:cNvPr>
          <p:cNvSpPr/>
          <p:nvPr/>
        </p:nvSpPr>
        <p:spPr>
          <a:xfrm>
            <a:off x="5099888" y="3038673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FA3D59C-DF4F-44EA-887D-71AF5DEF4AA3}"/>
              </a:ext>
            </a:extLst>
          </p:cNvPr>
          <p:cNvSpPr/>
          <p:nvPr/>
        </p:nvSpPr>
        <p:spPr>
          <a:xfrm>
            <a:off x="5735320" y="2361025"/>
            <a:ext cx="721360" cy="114426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C2FCB09D-7575-4DF2-B02C-1326C889124F}"/>
              </a:ext>
            </a:extLst>
          </p:cNvPr>
          <p:cNvSpPr/>
          <p:nvPr/>
        </p:nvSpPr>
        <p:spPr>
          <a:xfrm>
            <a:off x="7473527" y="4689431"/>
            <a:ext cx="50292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33811-019E-4A68-B1FE-702BC96B440C}"/>
              </a:ext>
            </a:extLst>
          </p:cNvPr>
          <p:cNvSpPr/>
          <p:nvPr/>
        </p:nvSpPr>
        <p:spPr>
          <a:xfrm>
            <a:off x="7794385" y="4566347"/>
            <a:ext cx="721360" cy="95526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760B5FD7-466A-4B6E-9AED-6D16368F9E08}"/>
              </a:ext>
            </a:extLst>
          </p:cNvPr>
          <p:cNvSpPr/>
          <p:nvPr/>
        </p:nvSpPr>
        <p:spPr>
          <a:xfrm>
            <a:off x="5890563" y="2445148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AF157EC3-D61F-4CAE-A715-8F816A8F63B1}"/>
              </a:ext>
            </a:extLst>
          </p:cNvPr>
          <p:cNvSpPr/>
          <p:nvPr/>
        </p:nvSpPr>
        <p:spPr>
          <a:xfrm>
            <a:off x="5875925" y="2916174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42F84151-BC2D-43B3-BC2C-8001B63892FF}"/>
              </a:ext>
            </a:extLst>
          </p:cNvPr>
          <p:cNvSpPr/>
          <p:nvPr/>
        </p:nvSpPr>
        <p:spPr>
          <a:xfrm>
            <a:off x="7973891" y="4624279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56653E-262E-4526-8AB1-0960EC5F3AB6}"/>
              </a:ext>
            </a:extLst>
          </p:cNvPr>
          <p:cNvSpPr txBox="1"/>
          <p:nvPr/>
        </p:nvSpPr>
        <p:spPr>
          <a:xfrm>
            <a:off x="1154205" y="4490026"/>
            <a:ext cx="1119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 Y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E696BF-5BFB-4E6A-A62B-AA4ACEF6974F}"/>
              </a:ext>
            </a:extLst>
          </p:cNvPr>
          <p:cNvSpPr/>
          <p:nvPr/>
        </p:nvSpPr>
        <p:spPr>
          <a:xfrm>
            <a:off x="1050796" y="4851740"/>
            <a:ext cx="1325880" cy="140576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F7925A4-4E2D-41B5-AC86-5F3B519CE4B2}"/>
              </a:ext>
            </a:extLst>
          </p:cNvPr>
          <p:cNvSpPr/>
          <p:nvPr/>
        </p:nvSpPr>
        <p:spPr>
          <a:xfrm>
            <a:off x="1119324" y="4982698"/>
            <a:ext cx="1162369" cy="431528"/>
          </a:xfrm>
          <a:prstGeom prst="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BA4D263-790E-4F63-8BC8-F67A942A1360}"/>
              </a:ext>
            </a:extLst>
          </p:cNvPr>
          <p:cNvSpPr/>
          <p:nvPr/>
        </p:nvSpPr>
        <p:spPr>
          <a:xfrm>
            <a:off x="1119324" y="5557423"/>
            <a:ext cx="1162369" cy="360166"/>
          </a:xfrm>
          <a:prstGeom prst="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982B90-97FA-413A-8A48-309506EA72CB}"/>
              </a:ext>
            </a:extLst>
          </p:cNvPr>
          <p:cNvSpPr txBox="1"/>
          <p:nvPr/>
        </p:nvSpPr>
        <p:spPr>
          <a:xfrm>
            <a:off x="1119324" y="4991208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Partition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391C0A8-D656-42F6-94D2-334834DCA054}"/>
              </a:ext>
            </a:extLst>
          </p:cNvPr>
          <p:cNvSpPr txBox="1"/>
          <p:nvPr/>
        </p:nvSpPr>
        <p:spPr>
          <a:xfrm>
            <a:off x="1098304" y="5529816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Partition 2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7BBBD63-5DE1-4645-84DD-A120DD8205D1}"/>
              </a:ext>
            </a:extLst>
          </p:cNvPr>
          <p:cNvCxnSpPr>
            <a:cxnSpLocks/>
            <a:stCxn id="61" idx="3"/>
          </p:cNvCxnSpPr>
          <p:nvPr/>
        </p:nvCxnSpPr>
        <p:spPr>
          <a:xfrm flipV="1">
            <a:off x="2281693" y="3344194"/>
            <a:ext cx="3220832" cy="185426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A171A49-657A-4E69-96E7-C52847BDD4B2}"/>
              </a:ext>
            </a:extLst>
          </p:cNvPr>
          <p:cNvCxnSpPr>
            <a:cxnSpLocks/>
          </p:cNvCxnSpPr>
          <p:nvPr/>
        </p:nvCxnSpPr>
        <p:spPr>
          <a:xfrm flipV="1">
            <a:off x="2298675" y="5041391"/>
            <a:ext cx="5495710" cy="74107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284C1BEB-9D91-4F23-A234-60486CD15041}"/>
              </a:ext>
            </a:extLst>
          </p:cNvPr>
          <p:cNvSpPr txBox="1"/>
          <p:nvPr/>
        </p:nvSpPr>
        <p:spPr>
          <a:xfrm>
            <a:off x="5735320" y="1964460"/>
            <a:ext cx="848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Part1 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F24A7C6-A798-4D0A-984D-BD03161B07A7}"/>
              </a:ext>
            </a:extLst>
          </p:cNvPr>
          <p:cNvSpPr txBox="1"/>
          <p:nvPr/>
        </p:nvSpPr>
        <p:spPr>
          <a:xfrm>
            <a:off x="7742840" y="4135335"/>
            <a:ext cx="848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Part2 Y</a:t>
            </a:r>
          </a:p>
        </p:txBody>
      </p:sp>
    </p:spTree>
    <p:extLst>
      <p:ext uri="{BB962C8B-B14F-4D97-AF65-F5344CB8AC3E}">
        <p14:creationId xmlns:p14="http://schemas.microsoft.com/office/powerpoint/2010/main" val="766291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2224-9B0B-463F-98D7-D3A8AF5D5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Driver : Drives the main() program</a:t>
            </a:r>
            <a:br>
              <a:rPr lang="fr-FR" dirty="0"/>
            </a:br>
            <a:r>
              <a:rPr lang="fr-FR" dirty="0" err="1"/>
              <a:t>Executors</a:t>
            </a:r>
            <a:r>
              <a:rPr lang="fr-FR" dirty="0"/>
              <a:t> : </a:t>
            </a:r>
            <a:r>
              <a:rPr lang="fr-FR" dirty="0" err="1"/>
              <a:t>Execute</a:t>
            </a:r>
            <a:r>
              <a:rPr lang="fr-FR" dirty="0"/>
              <a:t> the </a:t>
            </a:r>
            <a:r>
              <a:rPr lang="fr-FR" dirty="0" err="1"/>
              <a:t>functions</a:t>
            </a:r>
            <a:r>
              <a:rPr lang="fr-FR" dirty="0"/>
              <a:t> on 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BE284E-A1E8-40D1-8020-6CA537D84B5D}"/>
              </a:ext>
            </a:extLst>
          </p:cNvPr>
          <p:cNvSpPr/>
          <p:nvPr/>
        </p:nvSpPr>
        <p:spPr>
          <a:xfrm>
            <a:off x="654987" y="2823423"/>
            <a:ext cx="5019705" cy="1911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87A94D-975B-4304-A723-78EED4059B85}"/>
              </a:ext>
            </a:extLst>
          </p:cNvPr>
          <p:cNvSpPr txBox="1"/>
          <p:nvPr/>
        </p:nvSpPr>
        <p:spPr>
          <a:xfrm>
            <a:off x="778133" y="2375635"/>
            <a:ext cx="3618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Driver</a:t>
            </a:r>
            <a:r>
              <a:rPr lang="fr-FR" sz="2400" dirty="0"/>
              <a:t> JVM Process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4DFC25-818A-40E8-A4CD-D0E1E0D4470B}"/>
              </a:ext>
            </a:extLst>
          </p:cNvPr>
          <p:cNvSpPr txBox="1"/>
          <p:nvPr/>
        </p:nvSpPr>
        <p:spPr>
          <a:xfrm>
            <a:off x="651842" y="2872155"/>
            <a:ext cx="49412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public </a:t>
            </a:r>
            <a:r>
              <a:rPr lang="fr-FR" sz="2400" dirty="0" err="1"/>
              <a:t>static</a:t>
            </a:r>
            <a:r>
              <a:rPr lang="fr-FR" sz="2400" dirty="0"/>
              <a:t> </a:t>
            </a:r>
            <a:r>
              <a:rPr lang="fr-FR" sz="2400" dirty="0" err="1"/>
              <a:t>void</a:t>
            </a:r>
            <a:r>
              <a:rPr lang="fr-FR" sz="2400" dirty="0"/>
              <a:t> main(String[] args) {</a:t>
            </a:r>
          </a:p>
          <a:p>
            <a:r>
              <a:rPr lang="fr-FR" sz="2400" dirty="0"/>
              <a:t>    </a:t>
            </a:r>
            <a:r>
              <a:rPr lang="fr-FR" sz="2400" dirty="0" err="1"/>
              <a:t>SparkSession</a:t>
            </a:r>
            <a:r>
              <a:rPr lang="fr-FR" sz="2400" dirty="0"/>
              <a:t> </a:t>
            </a:r>
            <a:r>
              <a:rPr lang="fr-FR" sz="2400" dirty="0" err="1"/>
              <a:t>spark</a:t>
            </a:r>
            <a:r>
              <a:rPr lang="fr-FR" sz="2400" dirty="0"/>
              <a:t> = …</a:t>
            </a:r>
          </a:p>
          <a:p>
            <a:r>
              <a:rPr lang="fr-FR" sz="2400" dirty="0"/>
              <a:t>    </a:t>
            </a:r>
            <a:r>
              <a:rPr lang="fr-FR" sz="2400" dirty="0" err="1"/>
              <a:t>ds</a:t>
            </a:r>
            <a:r>
              <a:rPr lang="fr-FR" sz="2400" dirty="0"/>
              <a:t> = </a:t>
            </a:r>
            <a:r>
              <a:rPr lang="fr-FR" sz="2400" dirty="0" err="1"/>
              <a:t>spark.createDataset</a:t>
            </a:r>
            <a:r>
              <a:rPr lang="fr-FR" sz="2400" dirty="0"/>
              <a:t>(..)</a:t>
            </a:r>
          </a:p>
          <a:p>
            <a:r>
              <a:rPr lang="fr-FR" sz="2400" dirty="0"/>
              <a:t>    </a:t>
            </a:r>
            <a:r>
              <a:rPr lang="fr-FR" sz="2400" dirty="0" err="1"/>
              <a:t>result</a:t>
            </a:r>
            <a:r>
              <a:rPr lang="fr-FR" sz="2400" dirty="0"/>
              <a:t> = </a:t>
            </a:r>
            <a:r>
              <a:rPr lang="fr-FR" sz="2400" dirty="0" err="1"/>
              <a:t>ds.</a:t>
            </a:r>
            <a:r>
              <a:rPr lang="fr-FR" sz="2400" b="1" dirty="0" err="1"/>
              <a:t>flatMap</a:t>
            </a:r>
            <a:r>
              <a:rPr lang="fr-FR" sz="2400" dirty="0"/>
              <a:t>( x -&gt; { ..} );</a:t>
            </a:r>
          </a:p>
          <a:p>
            <a:r>
              <a:rPr lang="fr-FR" sz="2400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BECC837-E5E5-482B-8F47-90D29B5D8148}"/>
              </a:ext>
            </a:extLst>
          </p:cNvPr>
          <p:cNvSpPr/>
          <p:nvPr/>
        </p:nvSpPr>
        <p:spPr>
          <a:xfrm rot="16200000">
            <a:off x="2281460" y="5027930"/>
            <a:ext cx="612140" cy="3962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4B833F-2925-4868-ABEB-E575401305EE}"/>
              </a:ext>
            </a:extLst>
          </p:cNvPr>
          <p:cNvSpPr txBox="1"/>
          <p:nvPr/>
        </p:nvSpPr>
        <p:spPr>
          <a:xfrm>
            <a:off x="1478280" y="5717539"/>
            <a:ext cx="24453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Your</a:t>
            </a:r>
            <a:r>
              <a:rPr lang="fr-FR" dirty="0"/>
              <a:t> main code</a:t>
            </a:r>
          </a:p>
          <a:p>
            <a:r>
              <a:rPr lang="fr-FR" dirty="0" err="1"/>
              <a:t>Using</a:t>
            </a:r>
            <a:r>
              <a:rPr lang="fr-FR" dirty="0"/>
              <a:t> Spark </a:t>
            </a:r>
            <a:r>
              <a:rPr lang="fr-FR" b="1" dirty="0" err="1"/>
              <a:t>Dataset</a:t>
            </a:r>
            <a:r>
              <a:rPr lang="fr-FR" b="1" dirty="0"/>
              <a:t> 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06A77E-662D-4E2A-8871-9D6B8035EACF}"/>
              </a:ext>
            </a:extLst>
          </p:cNvPr>
          <p:cNvSpPr/>
          <p:nvPr/>
        </p:nvSpPr>
        <p:spPr>
          <a:xfrm>
            <a:off x="6519000" y="2303102"/>
            <a:ext cx="3388268" cy="28547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7BC290-30A8-4074-A7FF-399C66D83645}"/>
              </a:ext>
            </a:extLst>
          </p:cNvPr>
          <p:cNvSpPr txBox="1"/>
          <p:nvPr/>
        </p:nvSpPr>
        <p:spPr>
          <a:xfrm>
            <a:off x="6699904" y="1841436"/>
            <a:ext cx="3618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/>
              <a:t>Executor</a:t>
            </a:r>
            <a:r>
              <a:rPr lang="fr-FR" sz="2400" dirty="0"/>
              <a:t> JVM Process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DC4F6A-C044-482F-8D65-E01431BE877A}"/>
              </a:ext>
            </a:extLst>
          </p:cNvPr>
          <p:cNvSpPr txBox="1"/>
          <p:nvPr/>
        </p:nvSpPr>
        <p:spPr>
          <a:xfrm>
            <a:off x="6699904" y="3305081"/>
            <a:ext cx="20542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…</a:t>
            </a:r>
          </a:p>
          <a:p>
            <a:r>
              <a:rPr lang="fr-FR" sz="2800" dirty="0"/>
              <a:t>    </a:t>
            </a:r>
            <a:r>
              <a:rPr lang="fr-FR" sz="2800" b="1" dirty="0"/>
              <a:t>x -&gt; { .. } </a:t>
            </a:r>
          </a:p>
          <a:p>
            <a:r>
              <a:rPr lang="fr-FR" sz="2800" dirty="0"/>
              <a:t>…</a:t>
            </a:r>
          </a:p>
        </p:txBody>
      </p:sp>
      <p:sp>
        <p:nvSpPr>
          <p:cNvPr id="12" name="Arrow: Curved Right 11">
            <a:extLst>
              <a:ext uri="{FF2B5EF4-FFF2-40B4-BE49-F238E27FC236}">
                <a16:creationId xmlns:a16="http://schemas.microsoft.com/office/drawing/2014/main" id="{88F160D1-7A2B-47D9-9580-3C276C8C7627}"/>
              </a:ext>
            </a:extLst>
          </p:cNvPr>
          <p:cNvSpPr/>
          <p:nvPr/>
        </p:nvSpPr>
        <p:spPr>
          <a:xfrm rot="16200000">
            <a:off x="5450840" y="3020537"/>
            <a:ext cx="695960" cy="348996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AD50AA-2C44-4590-BD84-F6718F506882}"/>
              </a:ext>
            </a:extLst>
          </p:cNvPr>
          <p:cNvSpPr txBox="1"/>
          <p:nvPr/>
        </p:nvSpPr>
        <p:spPr>
          <a:xfrm>
            <a:off x="4246574" y="5358694"/>
            <a:ext cx="39428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Code fragment in  </a:t>
            </a:r>
            <a:r>
              <a:rPr lang="fr-FR" dirty="0" err="1"/>
              <a:t>map</a:t>
            </a:r>
            <a:r>
              <a:rPr lang="fr-FR" dirty="0"/>
              <a:t>() </a:t>
            </a:r>
            <a:r>
              <a:rPr lang="fr-FR" dirty="0" err="1"/>
              <a:t>is</a:t>
            </a:r>
            <a:r>
              <a:rPr lang="fr-FR" dirty="0"/>
              <a:t> « </a:t>
            </a:r>
            <a:r>
              <a:rPr lang="fr-FR" dirty="0" err="1"/>
              <a:t>serialized</a:t>
            </a:r>
            <a:r>
              <a:rPr lang="fr-FR" dirty="0"/>
              <a:t> »</a:t>
            </a:r>
          </a:p>
          <a:p>
            <a:r>
              <a:rPr lang="fr-FR" dirty="0"/>
              <a:t> + sent to </a:t>
            </a:r>
            <a:r>
              <a:rPr lang="fr-FR" dirty="0" err="1"/>
              <a:t>executors</a:t>
            </a:r>
            <a:endParaRPr lang="fr-FR" dirty="0"/>
          </a:p>
          <a:p>
            <a:r>
              <a:rPr lang="fr-FR" dirty="0"/>
              <a:t>Run on </a:t>
            </a:r>
            <a:r>
              <a:rPr lang="fr-FR" dirty="0" err="1"/>
              <a:t>CPUs</a:t>
            </a:r>
            <a:r>
              <a:rPr lang="fr-FR" dirty="0"/>
              <a:t> of multiple </a:t>
            </a:r>
            <a:r>
              <a:rPr lang="fr-FR" dirty="0" err="1"/>
              <a:t>executors</a:t>
            </a:r>
            <a:endParaRPr lang="fr-FR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81494C4-58CC-47AD-8573-D8E914C36BE6}"/>
              </a:ext>
            </a:extLst>
          </p:cNvPr>
          <p:cNvSpPr/>
          <p:nvPr/>
        </p:nvSpPr>
        <p:spPr>
          <a:xfrm flipH="1">
            <a:off x="9565029" y="2485696"/>
            <a:ext cx="655320" cy="309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D546021-9694-46BD-85F2-1FB7B9A42429}"/>
              </a:ext>
            </a:extLst>
          </p:cNvPr>
          <p:cNvSpPr/>
          <p:nvPr/>
        </p:nvSpPr>
        <p:spPr>
          <a:xfrm>
            <a:off x="9577916" y="4656207"/>
            <a:ext cx="642433" cy="309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6FEED8-FD17-405D-9593-5B4B73F3596B}"/>
              </a:ext>
            </a:extLst>
          </p:cNvPr>
          <p:cNvSpPr txBox="1"/>
          <p:nvPr/>
        </p:nvSpPr>
        <p:spPr>
          <a:xfrm>
            <a:off x="10343494" y="2455970"/>
            <a:ext cx="1121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Read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43342C-3F3C-4C71-9AD8-84A9D67F88D2}"/>
              </a:ext>
            </a:extLst>
          </p:cNvPr>
          <p:cNvSpPr txBox="1"/>
          <p:nvPr/>
        </p:nvSpPr>
        <p:spPr>
          <a:xfrm>
            <a:off x="10402664" y="4626481"/>
            <a:ext cx="1140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write</a:t>
            </a:r>
            <a:r>
              <a:rPr lang="fr-FR" dirty="0"/>
              <a:t> data</a:t>
            </a:r>
          </a:p>
        </p:txBody>
      </p:sp>
      <p:sp>
        <p:nvSpPr>
          <p:cNvPr id="18" name="Arrow: Curved Right 17">
            <a:extLst>
              <a:ext uri="{FF2B5EF4-FFF2-40B4-BE49-F238E27FC236}">
                <a16:creationId xmlns:a16="http://schemas.microsoft.com/office/drawing/2014/main" id="{BA49167D-0D72-495D-9343-120EB176AFEC}"/>
              </a:ext>
            </a:extLst>
          </p:cNvPr>
          <p:cNvSpPr/>
          <p:nvPr/>
        </p:nvSpPr>
        <p:spPr>
          <a:xfrm flipH="1">
            <a:off x="9590803" y="3496567"/>
            <a:ext cx="691117" cy="541035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5DD2D4-3E37-455F-9241-7CD08750ECF9}"/>
              </a:ext>
            </a:extLst>
          </p:cNvPr>
          <p:cNvSpPr txBox="1"/>
          <p:nvPr/>
        </p:nvSpPr>
        <p:spPr>
          <a:xfrm>
            <a:off x="10260939" y="3331307"/>
            <a:ext cx="19001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Exchange (</a:t>
            </a:r>
            <a:r>
              <a:rPr lang="fr-FR" dirty="0" err="1"/>
              <a:t>shuffle</a:t>
            </a:r>
            <a:r>
              <a:rPr lang="fr-FR" dirty="0"/>
              <a:t>)</a:t>
            </a:r>
          </a:p>
          <a:p>
            <a:r>
              <a:rPr lang="fr-FR" dirty="0"/>
              <a:t>data </a:t>
            </a:r>
            <a:r>
              <a:rPr lang="fr-FR" dirty="0" err="1"/>
              <a:t>between</a:t>
            </a:r>
            <a:r>
              <a:rPr lang="fr-FR" dirty="0"/>
              <a:t> </a:t>
            </a:r>
          </a:p>
          <a:p>
            <a:r>
              <a:rPr lang="fr-FR" dirty="0" err="1"/>
              <a:t>executors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476386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7C50E-2F1C-411B-8989-3545D61C8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565"/>
            <a:ext cx="10515600" cy="174815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See</a:t>
            </a:r>
            <a:r>
              <a:rPr lang="fr-FR" dirty="0"/>
              <a:t> the </a:t>
            </a:r>
            <a:r>
              <a:rPr lang="fr-FR" dirty="0" err="1"/>
              <a:t>difference</a:t>
            </a:r>
            <a:r>
              <a:rPr lang="fr-FR" dirty="0"/>
              <a:t> ?</a:t>
            </a:r>
            <a:br>
              <a:rPr lang="fr-FR" dirty="0"/>
            </a:br>
            <a:r>
              <a:rPr lang="fr-FR" dirty="0"/>
              <a:t>Driver Api / </a:t>
            </a:r>
            <a:r>
              <a:rPr lang="fr-FR" dirty="0" err="1"/>
              <a:t>Executor</a:t>
            </a:r>
            <a:r>
              <a:rPr lang="fr-FR" dirty="0"/>
              <a:t> Engine</a:t>
            </a:r>
            <a:br>
              <a:rPr lang="fr-FR" dirty="0"/>
            </a:br>
            <a:r>
              <a:rPr lang="fr-FR" dirty="0"/>
              <a:t>Code Logic / </a:t>
            </a:r>
            <a:r>
              <a:rPr lang="fr-FR" dirty="0" err="1"/>
              <a:t>Data+Cpu</a:t>
            </a:r>
            <a:r>
              <a:rPr lang="fr-FR" dirty="0"/>
              <a:t> </a:t>
            </a:r>
            <a:r>
              <a:rPr lang="fr-FR" dirty="0" err="1"/>
              <a:t>Internal</a:t>
            </a:r>
            <a:endParaRPr lang="fr-FR" dirty="0"/>
          </a:p>
        </p:txBody>
      </p:sp>
      <p:pic>
        <p:nvPicPr>
          <p:cNvPr id="5124" name="Picture 4" descr="Ferrari Formula 1 Steering Wheel">
            <a:extLst>
              <a:ext uri="{FF2B5EF4-FFF2-40B4-BE49-F238E27FC236}">
                <a16:creationId xmlns:a16="http://schemas.microsoft.com/office/drawing/2014/main" id="{875CAAD4-E309-494A-9014-D268B06D9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795" y="2712720"/>
            <a:ext cx="5030329" cy="2829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Ferrari Classiche">
            <a:extLst>
              <a:ext uri="{FF2B5EF4-FFF2-40B4-BE49-F238E27FC236}">
                <a16:creationId xmlns:a16="http://schemas.microsoft.com/office/drawing/2014/main" id="{324E7098-0F01-4F48-BDB0-BE0EE53C6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3132" y="2184400"/>
            <a:ext cx="5761218" cy="3845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403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3F42E-5968-469F-9F9D-C7361624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" y="365125"/>
            <a:ext cx="1207516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Exchange / </a:t>
            </a:r>
            <a:r>
              <a:rPr lang="fr-FR" dirty="0" err="1"/>
              <a:t>Shuffle</a:t>
            </a:r>
            <a:r>
              <a:rPr lang="fr-FR" dirty="0"/>
              <a:t> / </a:t>
            </a:r>
            <a:r>
              <a:rPr lang="fr-FR" dirty="0" err="1"/>
              <a:t>Repartition</a:t>
            </a:r>
            <a:r>
              <a:rPr lang="fr-FR" dirty="0"/>
              <a:t> / Coalesce / </a:t>
            </a:r>
            <a:r>
              <a:rPr lang="fr-FR" dirty="0" err="1"/>
              <a:t>Distribute</a:t>
            </a:r>
            <a:br>
              <a:rPr lang="fr-FR" dirty="0"/>
            </a:br>
            <a:r>
              <a:rPr lang="fr-FR" dirty="0"/>
              <a:t>Wide transformation / </a:t>
            </a:r>
            <a:r>
              <a:rPr lang="fr-FR" dirty="0" err="1"/>
              <a:t>Reduce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D416A5-DE12-4053-9EA9-F44BFD490FB1}"/>
              </a:ext>
            </a:extLst>
          </p:cNvPr>
          <p:cNvSpPr/>
          <p:nvPr/>
        </p:nvSpPr>
        <p:spPr>
          <a:xfrm>
            <a:off x="3772717" y="1984683"/>
            <a:ext cx="5975803" cy="15454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1D4FBBD-958F-4064-9141-1DF93D9F56FF}"/>
              </a:ext>
            </a:extLst>
          </p:cNvPr>
          <p:cNvSpPr/>
          <p:nvPr/>
        </p:nvSpPr>
        <p:spPr>
          <a:xfrm>
            <a:off x="5298438" y="241690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C245C-2656-4D16-B5F3-E4D7638EA52C}"/>
              </a:ext>
            </a:extLst>
          </p:cNvPr>
          <p:cNvSpPr txBox="1"/>
          <p:nvPr/>
        </p:nvSpPr>
        <p:spPr>
          <a:xfrm>
            <a:off x="3874087" y="2040188"/>
            <a:ext cx="11623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Data for </a:t>
            </a:r>
          </a:p>
          <a:p>
            <a:r>
              <a:rPr lang="fr-FR" dirty="0"/>
              <a:t>Partition 1</a:t>
            </a:r>
          </a:p>
          <a:p>
            <a:r>
              <a:rPr lang="fr-FR" dirty="0" err="1"/>
              <a:t>Dataset</a:t>
            </a:r>
            <a:r>
              <a:rPr lang="fr-FR" dirty="0"/>
              <a:t> 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3EE6EA-1FD4-424A-B2EE-379CDC18234E}"/>
              </a:ext>
            </a:extLst>
          </p:cNvPr>
          <p:cNvSpPr/>
          <p:nvPr/>
        </p:nvSpPr>
        <p:spPr>
          <a:xfrm>
            <a:off x="5115558" y="2234025"/>
            <a:ext cx="721360" cy="115698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1EA5612-3B5A-47C4-9198-284E453CBA7F}"/>
              </a:ext>
            </a:extLst>
          </p:cNvPr>
          <p:cNvSpPr/>
          <p:nvPr/>
        </p:nvSpPr>
        <p:spPr>
          <a:xfrm>
            <a:off x="5283198" y="288426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CCD101E-44A3-49D0-88A8-9FCCAE5C7DD1}"/>
              </a:ext>
            </a:extLst>
          </p:cNvPr>
          <p:cNvSpPr/>
          <p:nvPr/>
        </p:nvSpPr>
        <p:spPr>
          <a:xfrm>
            <a:off x="8592012" y="2471648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C2679-9DA5-4F09-B212-A5236D1E6966}"/>
              </a:ext>
            </a:extLst>
          </p:cNvPr>
          <p:cNvSpPr/>
          <p:nvPr/>
        </p:nvSpPr>
        <p:spPr>
          <a:xfrm>
            <a:off x="8388812" y="2416905"/>
            <a:ext cx="721360" cy="95487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A175F-BB5A-4A90-8EE0-0F94BEEB3862}"/>
              </a:ext>
            </a:extLst>
          </p:cNvPr>
          <p:cNvSpPr txBox="1"/>
          <p:nvPr/>
        </p:nvSpPr>
        <p:spPr>
          <a:xfrm>
            <a:off x="7120984" y="2020373"/>
            <a:ext cx="270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 Y = </a:t>
            </a:r>
            <a:r>
              <a:rPr lang="fr-FR" dirty="0" err="1"/>
              <a:t>x.repartition</a:t>
            </a:r>
            <a:r>
              <a:rPr lang="fr-FR" dirty="0"/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C915A6-5AA6-411E-A612-44D8C0E1D460}"/>
              </a:ext>
            </a:extLst>
          </p:cNvPr>
          <p:cNvSpPr txBox="1"/>
          <p:nvPr/>
        </p:nvSpPr>
        <p:spPr>
          <a:xfrm>
            <a:off x="1749103" y="2234025"/>
            <a:ext cx="18051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Executor</a:t>
            </a:r>
            <a:r>
              <a:rPr lang="fr-FR" sz="2400" b="1" dirty="0"/>
              <a:t> 1</a:t>
            </a:r>
            <a:br>
              <a:rPr lang="fr-FR" sz="2400" b="1" dirty="0"/>
            </a:br>
            <a:r>
              <a:rPr lang="fr-FR" sz="2400" dirty="0"/>
              <a:t> JVM Process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79216-9A6E-4A3F-8ADD-CC4837BED102}"/>
              </a:ext>
            </a:extLst>
          </p:cNvPr>
          <p:cNvSpPr/>
          <p:nvPr/>
        </p:nvSpPr>
        <p:spPr>
          <a:xfrm>
            <a:off x="3772717" y="3864705"/>
            <a:ext cx="6033415" cy="11316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B604B6-9722-4965-9046-7A252C40015C}"/>
              </a:ext>
            </a:extLst>
          </p:cNvPr>
          <p:cNvSpPr txBox="1"/>
          <p:nvPr/>
        </p:nvSpPr>
        <p:spPr>
          <a:xfrm>
            <a:off x="1749103" y="4015039"/>
            <a:ext cx="18051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Executor</a:t>
            </a:r>
            <a:r>
              <a:rPr lang="fr-FR" sz="2400" b="1" dirty="0"/>
              <a:t> 2</a:t>
            </a:r>
            <a:br>
              <a:rPr lang="fr-FR" sz="2400" b="1" dirty="0"/>
            </a:br>
            <a:r>
              <a:rPr lang="fr-FR" sz="2400" dirty="0"/>
              <a:t> JVM Process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C12665-A93F-43EF-AA57-C249AD0A07DB}"/>
              </a:ext>
            </a:extLst>
          </p:cNvPr>
          <p:cNvSpPr txBox="1"/>
          <p:nvPr/>
        </p:nvSpPr>
        <p:spPr>
          <a:xfrm>
            <a:off x="1749103" y="5588409"/>
            <a:ext cx="18051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Executor</a:t>
            </a:r>
            <a:r>
              <a:rPr lang="fr-FR" sz="2400" b="1" dirty="0"/>
              <a:t> 3</a:t>
            </a:r>
            <a:br>
              <a:rPr lang="fr-FR" sz="2400" b="1" dirty="0"/>
            </a:br>
            <a:r>
              <a:rPr lang="fr-FR" sz="2400" dirty="0"/>
              <a:t> JVM Process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E4FC214-688D-46C3-A394-85757BD032C5}"/>
              </a:ext>
            </a:extLst>
          </p:cNvPr>
          <p:cNvSpPr/>
          <p:nvPr/>
        </p:nvSpPr>
        <p:spPr>
          <a:xfrm>
            <a:off x="5298438" y="410854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0E1A58-72F6-4EE7-B0E5-ED7FB44236BA}"/>
              </a:ext>
            </a:extLst>
          </p:cNvPr>
          <p:cNvSpPr/>
          <p:nvPr/>
        </p:nvSpPr>
        <p:spPr>
          <a:xfrm>
            <a:off x="5115558" y="3925665"/>
            <a:ext cx="721360" cy="99685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5649C4A-E401-4738-82FA-9A290D51F400}"/>
              </a:ext>
            </a:extLst>
          </p:cNvPr>
          <p:cNvSpPr/>
          <p:nvPr/>
        </p:nvSpPr>
        <p:spPr>
          <a:xfrm>
            <a:off x="5298438" y="429142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2A71F4B-734B-40C2-A0B7-191E7C22CB10}"/>
              </a:ext>
            </a:extLst>
          </p:cNvPr>
          <p:cNvSpPr/>
          <p:nvPr/>
        </p:nvSpPr>
        <p:spPr>
          <a:xfrm>
            <a:off x="5298436" y="4478798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781B20-CB45-49E1-9C53-09C87838CDA3}"/>
              </a:ext>
            </a:extLst>
          </p:cNvPr>
          <p:cNvSpPr/>
          <p:nvPr/>
        </p:nvSpPr>
        <p:spPr>
          <a:xfrm>
            <a:off x="3772717" y="5438074"/>
            <a:ext cx="6033415" cy="11316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62DF2B0-0270-4A67-828E-446986EA74CC}"/>
              </a:ext>
            </a:extLst>
          </p:cNvPr>
          <p:cNvSpPr/>
          <p:nvPr/>
        </p:nvSpPr>
        <p:spPr>
          <a:xfrm>
            <a:off x="8592012" y="4015039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BB6E4F-4D1E-42A2-BAAF-D99F160D6BB2}"/>
              </a:ext>
            </a:extLst>
          </p:cNvPr>
          <p:cNvSpPr/>
          <p:nvPr/>
        </p:nvSpPr>
        <p:spPr>
          <a:xfrm>
            <a:off x="8388812" y="3960296"/>
            <a:ext cx="721360" cy="95487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FA964FA0-44BF-4CEB-B6C8-0BC7B6AB1783}"/>
              </a:ext>
            </a:extLst>
          </p:cNvPr>
          <p:cNvSpPr/>
          <p:nvPr/>
        </p:nvSpPr>
        <p:spPr>
          <a:xfrm>
            <a:off x="8627572" y="5571236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E8C2B3-2F43-4FE0-9D1A-015368B03CFC}"/>
              </a:ext>
            </a:extLst>
          </p:cNvPr>
          <p:cNvSpPr/>
          <p:nvPr/>
        </p:nvSpPr>
        <p:spPr>
          <a:xfrm>
            <a:off x="8424372" y="5516493"/>
            <a:ext cx="721360" cy="95487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E2D276D2-BAB4-48DA-BBBB-8652F0E7F0EB}"/>
              </a:ext>
            </a:extLst>
          </p:cNvPr>
          <p:cNvSpPr/>
          <p:nvPr/>
        </p:nvSpPr>
        <p:spPr>
          <a:xfrm>
            <a:off x="6121400" y="2609377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99E540DC-0347-436B-A3B0-4D5EFFA0EF19}"/>
              </a:ext>
            </a:extLst>
          </p:cNvPr>
          <p:cNvSpPr/>
          <p:nvPr/>
        </p:nvSpPr>
        <p:spPr>
          <a:xfrm rot="1650908">
            <a:off x="6116830" y="2767039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B576F002-2664-451C-A8BC-E3E589A99E03}"/>
              </a:ext>
            </a:extLst>
          </p:cNvPr>
          <p:cNvSpPr/>
          <p:nvPr/>
        </p:nvSpPr>
        <p:spPr>
          <a:xfrm rot="3365529">
            <a:off x="6062426" y="2939511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590BEFC2-0CF2-4F64-B54F-54980781E20C}"/>
              </a:ext>
            </a:extLst>
          </p:cNvPr>
          <p:cNvSpPr/>
          <p:nvPr/>
        </p:nvSpPr>
        <p:spPr>
          <a:xfrm rot="3365529">
            <a:off x="6130285" y="4472973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411D2B0E-242F-4478-AD63-6D7A05FB954B}"/>
              </a:ext>
            </a:extLst>
          </p:cNvPr>
          <p:cNvSpPr/>
          <p:nvPr/>
        </p:nvSpPr>
        <p:spPr>
          <a:xfrm rot="18953122">
            <a:off x="6165390" y="4119511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FE3DD2DE-39AB-4111-B4BE-C5A15AA95826}"/>
              </a:ext>
            </a:extLst>
          </p:cNvPr>
          <p:cNvSpPr/>
          <p:nvPr/>
        </p:nvSpPr>
        <p:spPr>
          <a:xfrm>
            <a:off x="6235704" y="4286364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742495EB-9B37-4BA3-B0AD-47A8D8BC12FF}"/>
              </a:ext>
            </a:extLst>
          </p:cNvPr>
          <p:cNvSpPr/>
          <p:nvPr/>
        </p:nvSpPr>
        <p:spPr>
          <a:xfrm>
            <a:off x="8592012" y="296457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9B1C8D2-AA9F-4260-8CD7-C58DAF738436}"/>
              </a:ext>
            </a:extLst>
          </p:cNvPr>
          <p:cNvSpPr/>
          <p:nvPr/>
        </p:nvSpPr>
        <p:spPr>
          <a:xfrm>
            <a:off x="8634384" y="6088050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46350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DEC14F04-6281-40F6-92C7-BEFCD05D64CB}"/>
              </a:ext>
            </a:extLst>
          </p:cNvPr>
          <p:cNvSpPr/>
          <p:nvPr/>
        </p:nvSpPr>
        <p:spPr>
          <a:xfrm>
            <a:off x="2967846" y="5046372"/>
            <a:ext cx="5075717" cy="17306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B9A0C68-2B9D-4543-9055-256CA49E73A4}"/>
              </a:ext>
            </a:extLst>
          </p:cNvPr>
          <p:cNvSpPr/>
          <p:nvPr/>
        </p:nvSpPr>
        <p:spPr>
          <a:xfrm>
            <a:off x="2815446" y="4893972"/>
            <a:ext cx="5075717" cy="17306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207350-0640-48E2-BA7C-F422CCE52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705" y="-157743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Wide vs Narrow Transformation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66B404-5431-4F84-9FED-7DE761E77667}"/>
              </a:ext>
            </a:extLst>
          </p:cNvPr>
          <p:cNvSpPr/>
          <p:nvPr/>
        </p:nvSpPr>
        <p:spPr>
          <a:xfrm>
            <a:off x="2663046" y="4653069"/>
            <a:ext cx="5075717" cy="18191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2E11ED4-8C92-43FA-9730-837BFDB1EE93}"/>
              </a:ext>
            </a:extLst>
          </p:cNvPr>
          <p:cNvSpPr/>
          <p:nvPr/>
        </p:nvSpPr>
        <p:spPr>
          <a:xfrm>
            <a:off x="3000046" y="479105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98D275-1ABC-4E24-AB5C-164295697440}"/>
              </a:ext>
            </a:extLst>
          </p:cNvPr>
          <p:cNvSpPr/>
          <p:nvPr/>
        </p:nvSpPr>
        <p:spPr>
          <a:xfrm>
            <a:off x="2817166" y="4726189"/>
            <a:ext cx="721360" cy="103896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C9183E3-EB9D-4FA6-91A8-2ACFB3A2D831}"/>
              </a:ext>
            </a:extLst>
          </p:cNvPr>
          <p:cNvSpPr/>
          <p:nvPr/>
        </p:nvSpPr>
        <p:spPr>
          <a:xfrm>
            <a:off x="2984806" y="5258415"/>
            <a:ext cx="335280" cy="330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1FFF3F-C213-4448-9E2E-7E77FCBAEF71}"/>
              </a:ext>
            </a:extLst>
          </p:cNvPr>
          <p:cNvSpPr txBox="1"/>
          <p:nvPr/>
        </p:nvSpPr>
        <p:spPr>
          <a:xfrm>
            <a:off x="2023063" y="4304696"/>
            <a:ext cx="83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 Y = </a:t>
            </a:r>
            <a:r>
              <a:rPr lang="fr-FR" dirty="0" err="1"/>
              <a:t>x.map</a:t>
            </a:r>
            <a:r>
              <a:rPr lang="fr-FR" dirty="0"/>
              <a:t>( func1 ) .</a:t>
            </a:r>
            <a:r>
              <a:rPr lang="fr-FR" dirty="0" err="1"/>
              <a:t>flatMap</a:t>
            </a:r>
            <a:r>
              <a:rPr lang="fr-FR" dirty="0"/>
              <a:t>(func2).</a:t>
            </a:r>
            <a:r>
              <a:rPr lang="fr-FR" dirty="0" err="1"/>
              <a:t>filter</a:t>
            </a:r>
            <a:r>
              <a:rPr lang="fr-FR" dirty="0"/>
              <a:t>( </a:t>
            </a:r>
            <a:r>
              <a:rPr lang="fr-FR" dirty="0" err="1"/>
              <a:t>pred</a:t>
            </a:r>
            <a:r>
              <a:rPr lang="fr-FR" dirty="0"/>
              <a:t> ) .first(10) .</a:t>
            </a:r>
            <a:r>
              <a:rPr lang="fr-FR" dirty="0" err="1"/>
              <a:t>sortWithinPartition</a:t>
            </a:r>
            <a:r>
              <a:rPr lang="fr-FR" dirty="0"/>
              <a:t> 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5C444-926D-4330-9284-4382E92995F2}"/>
              </a:ext>
            </a:extLst>
          </p:cNvPr>
          <p:cNvSpPr txBox="1"/>
          <p:nvPr/>
        </p:nvSpPr>
        <p:spPr>
          <a:xfrm>
            <a:off x="202301" y="5029777"/>
            <a:ext cx="25090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Partition Xi</a:t>
            </a:r>
          </a:p>
          <a:p>
            <a:r>
              <a:rPr lang="fr-FR" sz="2400" dirty="0"/>
              <a:t> + </a:t>
            </a:r>
            <a:r>
              <a:rPr lang="fr-FR" sz="2400" dirty="0" err="1"/>
              <a:t>corresp</a:t>
            </a:r>
            <a:r>
              <a:rPr lang="fr-FR" sz="2400" dirty="0"/>
              <a:t>. Yi</a:t>
            </a:r>
          </a:p>
          <a:p>
            <a:r>
              <a:rPr lang="fr-FR" sz="2400" dirty="0"/>
              <a:t> on </a:t>
            </a:r>
            <a:r>
              <a:rPr lang="fr-FR" sz="2400" dirty="0" err="1"/>
              <a:t>Executor</a:t>
            </a:r>
            <a:r>
              <a:rPr lang="fr-FR" sz="2400" dirty="0"/>
              <a:t> 1/2/3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EC194B-D548-4EAF-B0F8-88913E860BC0}"/>
              </a:ext>
            </a:extLst>
          </p:cNvPr>
          <p:cNvSpPr/>
          <p:nvPr/>
        </p:nvSpPr>
        <p:spPr>
          <a:xfrm>
            <a:off x="4178606" y="4726188"/>
            <a:ext cx="721360" cy="167495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4E70E1-24CE-4DC2-9089-E39A4335A7D4}"/>
              </a:ext>
            </a:extLst>
          </p:cNvPr>
          <p:cNvSpPr/>
          <p:nvPr/>
        </p:nvSpPr>
        <p:spPr>
          <a:xfrm>
            <a:off x="5631486" y="4716029"/>
            <a:ext cx="721360" cy="137523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0C494A-416C-485E-928D-C0FC5E5031C6}"/>
              </a:ext>
            </a:extLst>
          </p:cNvPr>
          <p:cNvSpPr/>
          <p:nvPr/>
        </p:nvSpPr>
        <p:spPr>
          <a:xfrm>
            <a:off x="6886246" y="4716029"/>
            <a:ext cx="721360" cy="103896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6585A90B-1265-40C9-9EF3-8D4BFDE9470A}"/>
              </a:ext>
            </a:extLst>
          </p:cNvPr>
          <p:cNvSpPr/>
          <p:nvPr/>
        </p:nvSpPr>
        <p:spPr>
          <a:xfrm>
            <a:off x="3421686" y="4887291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A5E09F68-0B56-4DB0-9151-9C26C8601053}"/>
              </a:ext>
            </a:extLst>
          </p:cNvPr>
          <p:cNvSpPr/>
          <p:nvPr/>
        </p:nvSpPr>
        <p:spPr>
          <a:xfrm>
            <a:off x="4778046" y="4893972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1733D509-237E-488C-BEF5-17E0D50B401E}"/>
              </a:ext>
            </a:extLst>
          </p:cNvPr>
          <p:cNvSpPr/>
          <p:nvPr/>
        </p:nvSpPr>
        <p:spPr>
          <a:xfrm>
            <a:off x="6245305" y="4879974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2A21E61B-02B9-4D6A-9141-84DD377DAA67}"/>
              </a:ext>
            </a:extLst>
          </p:cNvPr>
          <p:cNvSpPr/>
          <p:nvPr/>
        </p:nvSpPr>
        <p:spPr>
          <a:xfrm>
            <a:off x="4298805" y="4791055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8B34F11-F036-4AA1-9E31-7949DFF4CACC}"/>
              </a:ext>
            </a:extLst>
          </p:cNvPr>
          <p:cNvSpPr/>
          <p:nvPr/>
        </p:nvSpPr>
        <p:spPr>
          <a:xfrm>
            <a:off x="4298805" y="5273620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F274395F-DC1F-47DF-AF46-F8DFEBB4DF16}"/>
              </a:ext>
            </a:extLst>
          </p:cNvPr>
          <p:cNvSpPr/>
          <p:nvPr/>
        </p:nvSpPr>
        <p:spPr>
          <a:xfrm>
            <a:off x="5812642" y="4791055"/>
            <a:ext cx="340356" cy="32599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879B10F6-3856-4CCD-B510-254D4492C554}"/>
              </a:ext>
            </a:extLst>
          </p:cNvPr>
          <p:cNvSpPr/>
          <p:nvPr/>
        </p:nvSpPr>
        <p:spPr>
          <a:xfrm>
            <a:off x="5821988" y="5221926"/>
            <a:ext cx="340356" cy="32599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B2AD8E3F-9373-4E7F-91FB-868318679FA3}"/>
              </a:ext>
            </a:extLst>
          </p:cNvPr>
          <p:cNvSpPr/>
          <p:nvPr/>
        </p:nvSpPr>
        <p:spPr>
          <a:xfrm>
            <a:off x="7145328" y="4836506"/>
            <a:ext cx="257974" cy="280539"/>
          </a:xfrm>
          <a:prstGeom prst="parallelogra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DBE49E64-4990-480D-ACEF-0AE1DD93010D}"/>
              </a:ext>
            </a:extLst>
          </p:cNvPr>
          <p:cNvSpPr/>
          <p:nvPr/>
        </p:nvSpPr>
        <p:spPr>
          <a:xfrm>
            <a:off x="7117939" y="5402052"/>
            <a:ext cx="257974" cy="280539"/>
          </a:xfrm>
          <a:prstGeom prst="parallelogra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9536D763-30D9-47B0-A1D2-898FFF2BF3E5}"/>
              </a:ext>
            </a:extLst>
          </p:cNvPr>
          <p:cNvSpPr/>
          <p:nvPr/>
        </p:nvSpPr>
        <p:spPr>
          <a:xfrm>
            <a:off x="3416606" y="5395291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86B7EEB3-2E00-4948-B0C1-0257C817B9FE}"/>
              </a:ext>
            </a:extLst>
          </p:cNvPr>
          <p:cNvSpPr/>
          <p:nvPr/>
        </p:nvSpPr>
        <p:spPr>
          <a:xfrm>
            <a:off x="4778046" y="5657544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90E4E46F-6DD9-4F74-A77C-AA8231A7532E}"/>
              </a:ext>
            </a:extLst>
          </p:cNvPr>
          <p:cNvSpPr/>
          <p:nvPr/>
        </p:nvSpPr>
        <p:spPr>
          <a:xfrm>
            <a:off x="4778046" y="5283531"/>
            <a:ext cx="553720" cy="1377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4D10B693-079A-42F9-A68D-5D07C33D1A6D}"/>
              </a:ext>
            </a:extLst>
          </p:cNvPr>
          <p:cNvSpPr/>
          <p:nvPr/>
        </p:nvSpPr>
        <p:spPr>
          <a:xfrm>
            <a:off x="4308965" y="5791780"/>
            <a:ext cx="386080" cy="41656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519280DB-CE12-4926-8CD2-EA1F785BE3FC}"/>
              </a:ext>
            </a:extLst>
          </p:cNvPr>
          <p:cNvSpPr/>
          <p:nvPr/>
        </p:nvSpPr>
        <p:spPr>
          <a:xfrm>
            <a:off x="5827068" y="5663886"/>
            <a:ext cx="340356" cy="32599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63EDD4-D6E9-4219-83BD-DEE0E9D53CB2}"/>
              </a:ext>
            </a:extLst>
          </p:cNvPr>
          <p:cNvSpPr txBox="1"/>
          <p:nvPr/>
        </p:nvSpPr>
        <p:spPr>
          <a:xfrm>
            <a:off x="399868" y="2105843"/>
            <a:ext cx="1520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Executor</a:t>
            </a:r>
            <a:r>
              <a:rPr lang="fr-FR" sz="2400" dirty="0"/>
              <a:t> 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2E9F78-D30F-4BEC-98A9-524F01B046B5}"/>
              </a:ext>
            </a:extLst>
          </p:cNvPr>
          <p:cNvSpPr txBox="1"/>
          <p:nvPr/>
        </p:nvSpPr>
        <p:spPr>
          <a:xfrm>
            <a:off x="38848" y="1374405"/>
            <a:ext cx="5512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Wide Transformation (Exchange) </a:t>
            </a:r>
            <a:r>
              <a:rPr lang="fr-FR" sz="2400" dirty="0" err="1"/>
              <a:t>between</a:t>
            </a:r>
            <a:endParaRPr lang="fr-FR" sz="2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47538A-8D2A-4F1A-954D-F08C2C977D44}"/>
              </a:ext>
            </a:extLst>
          </p:cNvPr>
          <p:cNvSpPr txBox="1"/>
          <p:nvPr/>
        </p:nvSpPr>
        <p:spPr>
          <a:xfrm>
            <a:off x="399866" y="3029173"/>
            <a:ext cx="1520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Executor</a:t>
            </a:r>
            <a:r>
              <a:rPr lang="fr-FR" sz="2400" dirty="0"/>
              <a:t> 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8FADB3-2BED-4A9D-BE9C-B637191541EA}"/>
              </a:ext>
            </a:extLst>
          </p:cNvPr>
          <p:cNvSpPr txBox="1"/>
          <p:nvPr/>
        </p:nvSpPr>
        <p:spPr>
          <a:xfrm>
            <a:off x="399865" y="2546474"/>
            <a:ext cx="1520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Executor</a:t>
            </a:r>
            <a:r>
              <a:rPr lang="fr-FR" sz="2400" dirty="0"/>
              <a:t> 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082FE5-3244-4BB9-9B71-54471C0E1E0C}"/>
              </a:ext>
            </a:extLst>
          </p:cNvPr>
          <p:cNvSpPr txBox="1"/>
          <p:nvPr/>
        </p:nvSpPr>
        <p:spPr>
          <a:xfrm>
            <a:off x="77799" y="4013389"/>
            <a:ext cx="3172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Narrow Transformation</a:t>
            </a:r>
            <a:endParaRPr lang="fr-FR" sz="24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929C37E-B46C-42F1-B1EC-D5EDBDC8E426}"/>
              </a:ext>
            </a:extLst>
          </p:cNvPr>
          <p:cNvSpPr/>
          <p:nvPr/>
        </p:nvSpPr>
        <p:spPr>
          <a:xfrm>
            <a:off x="2122642" y="2190176"/>
            <a:ext cx="5040159" cy="3024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B006DD-9681-4922-815A-C863D03EA3D8}"/>
              </a:ext>
            </a:extLst>
          </p:cNvPr>
          <p:cNvSpPr/>
          <p:nvPr/>
        </p:nvSpPr>
        <p:spPr>
          <a:xfrm>
            <a:off x="2122642" y="2707751"/>
            <a:ext cx="5040159" cy="3024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6A28B7-C6F1-47CD-9E24-B0BDD9410F32}"/>
              </a:ext>
            </a:extLst>
          </p:cNvPr>
          <p:cNvSpPr/>
          <p:nvPr/>
        </p:nvSpPr>
        <p:spPr>
          <a:xfrm>
            <a:off x="2122643" y="3239977"/>
            <a:ext cx="5040158" cy="3024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E994F4BE-1EC5-4F7C-A899-466D224661D2}"/>
              </a:ext>
            </a:extLst>
          </p:cNvPr>
          <p:cNvSpPr/>
          <p:nvPr/>
        </p:nvSpPr>
        <p:spPr>
          <a:xfrm rot="20507095">
            <a:off x="3064573" y="2778490"/>
            <a:ext cx="3027996" cy="1778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EF79FB95-1BB6-42A5-8839-CC65376396BD}"/>
              </a:ext>
            </a:extLst>
          </p:cNvPr>
          <p:cNvSpPr/>
          <p:nvPr/>
        </p:nvSpPr>
        <p:spPr>
          <a:xfrm rot="1232250">
            <a:off x="3001016" y="2806341"/>
            <a:ext cx="3027996" cy="1778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3D44A1C8-9101-4FB9-A845-515AF27D4DBB}"/>
              </a:ext>
            </a:extLst>
          </p:cNvPr>
          <p:cNvSpPr/>
          <p:nvPr/>
        </p:nvSpPr>
        <p:spPr>
          <a:xfrm rot="758906">
            <a:off x="3126490" y="3039116"/>
            <a:ext cx="2600948" cy="1648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2DA72190-F19C-4949-A707-8D1D465C6063}"/>
              </a:ext>
            </a:extLst>
          </p:cNvPr>
          <p:cNvSpPr/>
          <p:nvPr/>
        </p:nvSpPr>
        <p:spPr>
          <a:xfrm rot="20928596">
            <a:off x="3111517" y="2508026"/>
            <a:ext cx="2600948" cy="1648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17380ECE-9D07-48F9-9B76-278037474C81}"/>
              </a:ext>
            </a:extLst>
          </p:cNvPr>
          <p:cNvSpPr/>
          <p:nvPr/>
        </p:nvSpPr>
        <p:spPr>
          <a:xfrm rot="654241">
            <a:off x="3130624" y="2506269"/>
            <a:ext cx="2600948" cy="1648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E73AF2D9-BC36-4333-AD12-3E16ED2CA9D0}"/>
              </a:ext>
            </a:extLst>
          </p:cNvPr>
          <p:cNvSpPr/>
          <p:nvPr/>
        </p:nvSpPr>
        <p:spPr>
          <a:xfrm rot="20996550">
            <a:off x="3137114" y="3076069"/>
            <a:ext cx="2600948" cy="1648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6CC776-99E8-4CF7-A6A5-3665393B5CFD}"/>
              </a:ext>
            </a:extLst>
          </p:cNvPr>
          <p:cNvSpPr txBox="1"/>
          <p:nvPr/>
        </p:nvSpPr>
        <p:spPr>
          <a:xfrm>
            <a:off x="2122642" y="1797868"/>
            <a:ext cx="5525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 Y = </a:t>
            </a:r>
            <a:r>
              <a:rPr lang="fr-FR" dirty="0" err="1"/>
              <a:t>x.repartition</a:t>
            </a:r>
            <a:r>
              <a:rPr lang="fr-FR" dirty="0"/>
              <a:t>(3).</a:t>
            </a:r>
            <a:r>
              <a:rPr lang="fr-FR" dirty="0" err="1"/>
              <a:t>shuffle</a:t>
            </a:r>
            <a:r>
              <a:rPr lang="fr-FR" dirty="0"/>
              <a:t>(..) .</a:t>
            </a:r>
            <a:r>
              <a:rPr lang="fr-FR" dirty="0" err="1"/>
              <a:t>reduce</a:t>
            </a:r>
            <a:r>
              <a:rPr lang="fr-FR" dirty="0"/>
              <a:t>(..) .</a:t>
            </a:r>
            <a:r>
              <a:rPr lang="fr-FR" dirty="0" err="1"/>
              <a:t>sortBy</a:t>
            </a:r>
            <a:r>
              <a:rPr lang="fr-FR" dirty="0"/>
              <a:t>()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42AD73-4496-4080-BAD3-A9E27B80CA74}"/>
              </a:ext>
            </a:extLst>
          </p:cNvPr>
          <p:cNvSpPr txBox="1"/>
          <p:nvPr/>
        </p:nvSpPr>
        <p:spPr>
          <a:xfrm>
            <a:off x="8038427" y="2277975"/>
            <a:ext cx="41535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Network exchange</a:t>
            </a:r>
          </a:p>
          <a:p>
            <a:r>
              <a:rPr lang="fr-FR" dirty="0" err="1"/>
              <a:t>Bewteen</a:t>
            </a:r>
            <a:r>
              <a:rPr lang="fr-FR" dirty="0"/>
              <a:t> </a:t>
            </a:r>
            <a:r>
              <a:rPr lang="fr-FR" dirty="0" err="1"/>
              <a:t>executors</a:t>
            </a:r>
            <a:endParaRPr lang="fr-FR" dirty="0"/>
          </a:p>
          <a:p>
            <a:r>
              <a:rPr lang="fr-FR" dirty="0"/>
              <a:t>… </a:t>
            </a:r>
            <a:r>
              <a:rPr lang="fr-FR" dirty="0" err="1"/>
              <a:t>serialization</a:t>
            </a:r>
            <a:r>
              <a:rPr lang="fr-FR" dirty="0"/>
              <a:t>/</a:t>
            </a:r>
            <a:r>
              <a:rPr lang="fr-FR" dirty="0" err="1"/>
              <a:t>deserialization</a:t>
            </a:r>
            <a:r>
              <a:rPr lang="fr-FR" dirty="0"/>
              <a:t> of byte data</a:t>
            </a:r>
          </a:p>
          <a:p>
            <a:endParaRPr lang="fr-FR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301E78-5A83-477C-9635-7EDD1F8690B2}"/>
              </a:ext>
            </a:extLst>
          </p:cNvPr>
          <p:cNvSpPr txBox="1"/>
          <p:nvPr/>
        </p:nvSpPr>
        <p:spPr>
          <a:xfrm>
            <a:off x="8589357" y="5015547"/>
            <a:ext cx="298158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 data exchange</a:t>
            </a:r>
          </a:p>
          <a:p>
            <a:r>
              <a:rPr lang="fr-FR" dirty="0" err="1"/>
              <a:t>only</a:t>
            </a:r>
            <a:r>
              <a:rPr lang="fr-FR" dirty="0"/>
              <a:t> in-memory pointer, </a:t>
            </a:r>
          </a:p>
          <a:p>
            <a:r>
              <a:rPr lang="fr-FR" dirty="0" err="1"/>
              <a:t>within</a:t>
            </a:r>
            <a:r>
              <a:rPr lang="fr-FR" dirty="0"/>
              <a:t> </a:t>
            </a:r>
            <a:r>
              <a:rPr lang="fr-FR" dirty="0" err="1"/>
              <a:t>same</a:t>
            </a:r>
            <a:r>
              <a:rPr lang="fr-FR" dirty="0"/>
              <a:t> thread/process</a:t>
            </a:r>
          </a:p>
          <a:p>
            <a:r>
              <a:rPr lang="fr-FR" dirty="0"/>
              <a:t>… computation changes</a:t>
            </a:r>
          </a:p>
          <a:p>
            <a:r>
              <a:rPr lang="fr-FR" dirty="0"/>
              <a:t>but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logical</a:t>
            </a:r>
            <a:r>
              <a:rPr lang="fr-FR" dirty="0"/>
              <a:t> </a:t>
            </a:r>
            <a:r>
              <a:rPr lang="fr-FR" dirty="0" err="1"/>
              <a:t>partitionning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95899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2F481-8E8E-4BC9-AAA0-F28DC774C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Things</a:t>
            </a:r>
            <a:r>
              <a:rPr lang="fr-FR" dirty="0"/>
              <a:t> </a:t>
            </a:r>
            <a:r>
              <a:rPr lang="fr-FR" dirty="0" err="1"/>
              <a:t>get</a:t>
            </a:r>
            <a:r>
              <a:rPr lang="fr-FR" dirty="0"/>
              <a:t> </a:t>
            </a:r>
            <a:r>
              <a:rPr lang="fr-FR" dirty="0" err="1"/>
              <a:t>complex</a:t>
            </a:r>
            <a:r>
              <a:rPr lang="fr-FR" dirty="0"/>
              <a:t>…</a:t>
            </a:r>
            <a:br>
              <a:rPr lang="fr-FR" dirty="0"/>
            </a:br>
            <a:r>
              <a:rPr lang="fr-FR" dirty="0"/>
              <a:t>« </a:t>
            </a:r>
            <a:r>
              <a:rPr lang="fr-FR" dirty="0" err="1"/>
              <a:t>repartition</a:t>
            </a:r>
            <a:r>
              <a:rPr lang="fr-FR" dirty="0"/>
              <a:t>() .</a:t>
            </a:r>
            <a:r>
              <a:rPr lang="fr-FR" dirty="0" err="1"/>
              <a:t>flatMap</a:t>
            </a:r>
            <a:r>
              <a:rPr lang="fr-FR" dirty="0"/>
              <a:t>() .</a:t>
            </a:r>
            <a:r>
              <a:rPr lang="fr-FR" dirty="0" err="1"/>
              <a:t>explain</a:t>
            </a:r>
            <a:r>
              <a:rPr lang="fr-FR" dirty="0"/>
              <a:t>()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5FCD3-66CC-4021-8386-4166073683E6}"/>
              </a:ext>
            </a:extLst>
          </p:cNvPr>
          <p:cNvSpPr txBox="1"/>
          <p:nvPr/>
        </p:nvSpPr>
        <p:spPr>
          <a:xfrm>
            <a:off x="177800" y="4013150"/>
            <a:ext cx="130377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scala&gt; </a:t>
            </a:r>
            <a:r>
              <a:rPr lang="fr-FR" dirty="0" err="1"/>
              <a:t>loremIpsum</a:t>
            </a:r>
            <a:r>
              <a:rPr lang="fr-FR" b="1" dirty="0" err="1"/>
              <a:t>.repartition</a:t>
            </a:r>
            <a:r>
              <a:rPr lang="fr-FR" b="1" dirty="0"/>
              <a:t>(3).</a:t>
            </a:r>
            <a:r>
              <a:rPr lang="fr-FR" dirty="0" err="1"/>
              <a:t>flatMap</a:t>
            </a:r>
            <a:r>
              <a:rPr lang="fr-FR" dirty="0"/>
              <a:t>(line =&gt; </a:t>
            </a:r>
            <a:r>
              <a:rPr lang="fr-FR" dirty="0" err="1"/>
              <a:t>line.replaceAll</a:t>
            </a:r>
            <a:r>
              <a:rPr lang="fr-FR" dirty="0"/>
              <a:t>("[,;.:!?]", " ").</a:t>
            </a:r>
            <a:r>
              <a:rPr lang="fr-FR" dirty="0" err="1"/>
              <a:t>replaceAll</a:t>
            </a:r>
            <a:r>
              <a:rPr lang="fr-FR" dirty="0"/>
              <a:t>("  ", " ").split(" ")).</a:t>
            </a:r>
            <a:r>
              <a:rPr lang="fr-FR" b="1" dirty="0" err="1"/>
              <a:t>explain</a:t>
            </a:r>
            <a:endParaRPr lang="fr-FR" b="1" dirty="0"/>
          </a:p>
          <a:p>
            <a:r>
              <a:rPr lang="fr-FR" dirty="0"/>
              <a:t>== Physical Plan ==</a:t>
            </a:r>
          </a:p>
          <a:p>
            <a:r>
              <a:rPr lang="fr-FR" dirty="0"/>
              <a:t>*(1) </a:t>
            </a:r>
            <a:r>
              <a:rPr lang="fr-FR" dirty="0" err="1"/>
              <a:t>SerializeFromObject</a:t>
            </a:r>
            <a:r>
              <a:rPr lang="fr-FR" dirty="0"/>
              <a:t> [</a:t>
            </a:r>
            <a:r>
              <a:rPr lang="fr-FR" dirty="0" err="1"/>
              <a:t>staticinvoke</a:t>
            </a:r>
            <a:r>
              <a:rPr lang="fr-FR" dirty="0"/>
              <a:t>(…  ) AS value#112]</a:t>
            </a:r>
          </a:p>
          <a:p>
            <a:r>
              <a:rPr lang="fr-FR" dirty="0"/>
              <a:t>+- </a:t>
            </a:r>
            <a:r>
              <a:rPr lang="fr-FR" dirty="0" err="1"/>
              <a:t>MapPartitions</a:t>
            </a:r>
            <a:r>
              <a:rPr lang="fr-FR" dirty="0"/>
              <a:t> </a:t>
            </a:r>
            <a:r>
              <a:rPr lang="fr-FR" dirty="0" err="1"/>
              <a:t>org.apache.spark.sql.Dataset</a:t>
            </a:r>
            <a:r>
              <a:rPr lang="fr-FR" dirty="0"/>
              <a:t>$$Lambda$3735/14922651@18e4389, obj#111: </a:t>
            </a:r>
            <a:r>
              <a:rPr lang="fr-FR" dirty="0" err="1"/>
              <a:t>java.lang.String</a:t>
            </a:r>
            <a:endParaRPr lang="fr-FR" dirty="0"/>
          </a:p>
          <a:p>
            <a:r>
              <a:rPr lang="fr-FR" dirty="0"/>
              <a:t>   +- </a:t>
            </a:r>
            <a:r>
              <a:rPr lang="fr-FR" dirty="0" err="1"/>
              <a:t>DeserializeToObject</a:t>
            </a:r>
            <a:r>
              <a:rPr lang="fr-FR" dirty="0"/>
              <a:t> value#12.toString, obj#110: </a:t>
            </a:r>
            <a:r>
              <a:rPr lang="fr-FR" dirty="0" err="1"/>
              <a:t>java.lang.String</a:t>
            </a:r>
            <a:endParaRPr lang="fr-FR" dirty="0"/>
          </a:p>
          <a:p>
            <a:r>
              <a:rPr lang="fr-FR" dirty="0"/>
              <a:t>      </a:t>
            </a:r>
            <a:r>
              <a:rPr lang="fr-FR" b="1" dirty="0"/>
              <a:t>+- Exchange </a:t>
            </a:r>
            <a:r>
              <a:rPr lang="fr-FR" b="1" dirty="0" err="1"/>
              <a:t>RoundRobinPartitioning</a:t>
            </a:r>
            <a:r>
              <a:rPr lang="fr-FR" b="1" dirty="0"/>
              <a:t>(3), REPARTITION_WITH_NUM, [id=#235]</a:t>
            </a:r>
          </a:p>
          <a:p>
            <a:r>
              <a:rPr lang="fr-FR" dirty="0"/>
              <a:t>         +- </a:t>
            </a:r>
            <a:r>
              <a:rPr lang="fr-FR" dirty="0" err="1"/>
              <a:t>FileScan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 [value#12] </a:t>
            </a:r>
            <a:r>
              <a:rPr lang="fr-FR" dirty="0" err="1"/>
              <a:t>Batched</a:t>
            </a:r>
            <a:r>
              <a:rPr lang="fr-FR" dirty="0"/>
              <a:t>: false, </a:t>
            </a:r>
            <a:r>
              <a:rPr lang="fr-FR" dirty="0" err="1"/>
              <a:t>DataFilters</a:t>
            </a:r>
            <a:r>
              <a:rPr lang="fr-FR" dirty="0"/>
              <a:t>: [], Format: </a:t>
            </a:r>
            <a:r>
              <a:rPr lang="fr-FR" dirty="0" err="1"/>
              <a:t>Text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             Location: </a:t>
            </a:r>
            <a:r>
              <a:rPr lang="fr-FR" dirty="0" err="1"/>
              <a:t>InMemoryFileIndex</a:t>
            </a:r>
            <a:r>
              <a:rPr lang="fr-FR" dirty="0"/>
              <a:t>[file:/c:/data/loremIpsum.txt], </a:t>
            </a:r>
            <a:r>
              <a:rPr lang="fr-FR" dirty="0" err="1"/>
              <a:t>PartitionFilters</a:t>
            </a:r>
            <a:r>
              <a:rPr lang="fr-FR" dirty="0"/>
              <a:t>: [], </a:t>
            </a:r>
            <a:r>
              <a:rPr lang="fr-FR" dirty="0" err="1"/>
              <a:t>PushedFilters</a:t>
            </a:r>
            <a:r>
              <a:rPr lang="fr-FR" dirty="0"/>
              <a:t>: [], </a:t>
            </a:r>
            <a:r>
              <a:rPr lang="fr-FR" dirty="0" err="1"/>
              <a:t>ReadSchema</a:t>
            </a:r>
            <a:r>
              <a:rPr lang="fr-FR" dirty="0"/>
              <a:t>: </a:t>
            </a:r>
            <a:r>
              <a:rPr lang="fr-FR" dirty="0" err="1"/>
              <a:t>struct</a:t>
            </a:r>
            <a:r>
              <a:rPr lang="fr-FR" dirty="0"/>
              <a:t>&lt;</a:t>
            </a:r>
            <a:r>
              <a:rPr lang="fr-FR" dirty="0" err="1"/>
              <a:t>value:string</a:t>
            </a:r>
            <a:r>
              <a:rPr lang="fr-FR" dirty="0"/>
              <a:t>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2BF98-62CC-4EAD-B601-643B7C04283E}"/>
              </a:ext>
            </a:extLst>
          </p:cNvPr>
          <p:cNvSpPr txBox="1"/>
          <p:nvPr/>
        </p:nvSpPr>
        <p:spPr>
          <a:xfrm>
            <a:off x="177800" y="1690688"/>
            <a:ext cx="1298483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scala&gt; </a:t>
            </a:r>
            <a:r>
              <a:rPr lang="fr-FR" dirty="0" err="1"/>
              <a:t>loremIpsum.flatMap</a:t>
            </a:r>
            <a:r>
              <a:rPr lang="fr-FR" dirty="0"/>
              <a:t>(line =&gt; </a:t>
            </a:r>
            <a:r>
              <a:rPr lang="fr-FR" dirty="0" err="1"/>
              <a:t>line.replaceAll</a:t>
            </a:r>
            <a:r>
              <a:rPr lang="fr-FR" dirty="0"/>
              <a:t>("[,;.:!?]", " ").</a:t>
            </a:r>
            <a:r>
              <a:rPr lang="fr-FR" dirty="0" err="1"/>
              <a:t>replaceAll</a:t>
            </a:r>
            <a:r>
              <a:rPr lang="fr-FR" dirty="0"/>
              <a:t>("  ", " ").split(" ")).</a:t>
            </a:r>
            <a:r>
              <a:rPr lang="fr-FR" b="1" dirty="0" err="1"/>
              <a:t>explain</a:t>
            </a:r>
            <a:endParaRPr lang="fr-FR" b="1" dirty="0"/>
          </a:p>
          <a:p>
            <a:r>
              <a:rPr lang="fr-FR" dirty="0"/>
              <a:t>== Physical Plan ==</a:t>
            </a:r>
          </a:p>
          <a:p>
            <a:r>
              <a:rPr lang="fr-FR" dirty="0"/>
              <a:t>*(1) </a:t>
            </a:r>
            <a:r>
              <a:rPr lang="fr-FR" dirty="0" err="1"/>
              <a:t>SerializeFromObject</a:t>
            </a:r>
            <a:r>
              <a:rPr lang="fr-FR" dirty="0"/>
              <a:t> […  AS value#116]</a:t>
            </a:r>
          </a:p>
          <a:p>
            <a:r>
              <a:rPr lang="fr-FR" dirty="0"/>
              <a:t>+- </a:t>
            </a:r>
            <a:r>
              <a:rPr lang="fr-FR" dirty="0" err="1"/>
              <a:t>MapPartitions</a:t>
            </a:r>
            <a:r>
              <a:rPr lang="fr-FR" dirty="0"/>
              <a:t> </a:t>
            </a:r>
            <a:r>
              <a:rPr lang="fr-FR" dirty="0" err="1"/>
              <a:t>org.apache.spark.sql.Dataset</a:t>
            </a:r>
            <a:r>
              <a:rPr lang="fr-FR" dirty="0"/>
              <a:t>$$Lambda$3735/14922651@1f3e32c, obj#115: </a:t>
            </a:r>
            <a:r>
              <a:rPr lang="fr-FR" dirty="0" err="1"/>
              <a:t>java.lang.String</a:t>
            </a:r>
            <a:endParaRPr lang="fr-FR" dirty="0"/>
          </a:p>
          <a:p>
            <a:r>
              <a:rPr lang="fr-FR" dirty="0"/>
              <a:t>   +- </a:t>
            </a:r>
            <a:r>
              <a:rPr lang="fr-FR" dirty="0" err="1"/>
              <a:t>DeserializeToObject</a:t>
            </a:r>
            <a:r>
              <a:rPr lang="fr-FR" dirty="0"/>
              <a:t> value#12.toString, obj#114: </a:t>
            </a:r>
            <a:r>
              <a:rPr lang="fr-FR" dirty="0" err="1"/>
              <a:t>java.lang.String</a:t>
            </a:r>
            <a:endParaRPr lang="fr-FR" dirty="0"/>
          </a:p>
          <a:p>
            <a:r>
              <a:rPr lang="fr-FR" dirty="0"/>
              <a:t>      +- </a:t>
            </a:r>
            <a:r>
              <a:rPr lang="fr-FR" dirty="0" err="1"/>
              <a:t>FileScan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 [value#12] </a:t>
            </a:r>
            <a:r>
              <a:rPr lang="fr-FR" dirty="0" err="1"/>
              <a:t>Batched</a:t>
            </a:r>
            <a:r>
              <a:rPr lang="fr-FR" dirty="0"/>
              <a:t>: false, </a:t>
            </a:r>
            <a:r>
              <a:rPr lang="fr-FR" dirty="0" err="1"/>
              <a:t>DataFilters</a:t>
            </a:r>
            <a:r>
              <a:rPr lang="fr-FR" dirty="0"/>
              <a:t>: [], Format: </a:t>
            </a:r>
            <a:r>
              <a:rPr lang="fr-FR" dirty="0" err="1"/>
              <a:t>Text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           Location: </a:t>
            </a:r>
            <a:r>
              <a:rPr lang="fr-FR" dirty="0" err="1"/>
              <a:t>InMemoryFileIndex</a:t>
            </a:r>
            <a:r>
              <a:rPr lang="fr-FR" dirty="0"/>
              <a:t>[file:/c:/data/loremIpsum.txt], </a:t>
            </a:r>
            <a:r>
              <a:rPr lang="fr-FR" dirty="0" err="1"/>
              <a:t>PartitionFilters</a:t>
            </a:r>
            <a:r>
              <a:rPr lang="fr-FR" dirty="0"/>
              <a:t>: [], </a:t>
            </a:r>
            <a:r>
              <a:rPr lang="fr-FR" dirty="0" err="1"/>
              <a:t>PushedFilters</a:t>
            </a:r>
            <a:r>
              <a:rPr lang="fr-FR" dirty="0"/>
              <a:t>: [], </a:t>
            </a:r>
            <a:r>
              <a:rPr lang="fr-FR" dirty="0" err="1"/>
              <a:t>ReadSchema</a:t>
            </a:r>
            <a:r>
              <a:rPr lang="fr-FR" dirty="0"/>
              <a:t>: </a:t>
            </a:r>
            <a:r>
              <a:rPr lang="fr-FR" dirty="0" err="1"/>
              <a:t>struct</a:t>
            </a:r>
            <a:r>
              <a:rPr lang="fr-FR" dirty="0"/>
              <a:t>&lt;</a:t>
            </a:r>
            <a:r>
              <a:rPr lang="fr-FR" dirty="0" err="1"/>
              <a:t>value:string</a:t>
            </a:r>
            <a:r>
              <a:rPr lang="fr-F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5258512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640A4-B582-49ED-9F5A-E899E8BCB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Confusing</a:t>
            </a:r>
            <a:r>
              <a:rPr lang="fr-FR" dirty="0"/>
              <a:t> Questions at first </a:t>
            </a:r>
            <a:r>
              <a:rPr lang="fr-FR" dirty="0" err="1"/>
              <a:t>Glance</a:t>
            </a:r>
            <a:r>
              <a:rPr lang="fr-FR" dirty="0"/>
              <a:t>…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87D3E5-97DA-49A5-9CDA-04AD45D40189}"/>
              </a:ext>
            </a:extLst>
          </p:cNvPr>
          <p:cNvSpPr txBox="1"/>
          <p:nvPr/>
        </p:nvSpPr>
        <p:spPr>
          <a:xfrm>
            <a:off x="0" y="1442720"/>
            <a:ext cx="12398138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1/ RDD  vs  </a:t>
            </a:r>
            <a:r>
              <a:rPr lang="fr-FR" sz="2800" dirty="0" err="1"/>
              <a:t>DataSet</a:t>
            </a:r>
            <a:r>
              <a:rPr lang="fr-FR" sz="2800" dirty="0"/>
              <a:t>  vs </a:t>
            </a:r>
            <a:r>
              <a:rPr lang="fr-FR" sz="2800" dirty="0" err="1"/>
              <a:t>DataFrame</a:t>
            </a:r>
            <a:r>
              <a:rPr lang="fr-FR" sz="2800" dirty="0"/>
              <a:t> ?</a:t>
            </a:r>
          </a:p>
          <a:p>
            <a:r>
              <a:rPr lang="fr-FR" sz="2800" dirty="0"/>
              <a:t>2/ </a:t>
            </a:r>
            <a:r>
              <a:rPr lang="fr-FR" sz="2800" dirty="0" err="1"/>
              <a:t>meaning</a:t>
            </a:r>
            <a:r>
              <a:rPr lang="fr-FR" sz="2800" dirty="0"/>
              <a:t> of </a:t>
            </a:r>
            <a:r>
              <a:rPr lang="fr-FR" sz="2800" dirty="0" err="1"/>
              <a:t>Sql</a:t>
            </a:r>
            <a:r>
              <a:rPr lang="fr-FR" sz="2800" dirty="0"/>
              <a:t> / Job / </a:t>
            </a:r>
            <a:r>
              <a:rPr lang="fr-FR" sz="2800" dirty="0" err="1"/>
              <a:t>Task</a:t>
            </a:r>
            <a:r>
              <a:rPr lang="fr-FR" sz="2800" dirty="0"/>
              <a:t> / </a:t>
            </a:r>
            <a:r>
              <a:rPr lang="fr-FR" sz="2800" dirty="0" err="1"/>
              <a:t>Staging</a:t>
            </a:r>
            <a:r>
              <a:rPr lang="fr-FR" sz="2800" dirty="0"/>
              <a:t> / Action ? </a:t>
            </a:r>
          </a:p>
          <a:p>
            <a:r>
              <a:rPr lang="fr-FR" sz="2800" dirty="0"/>
              <a:t>3/ Driver  vs  </a:t>
            </a:r>
            <a:r>
              <a:rPr lang="fr-FR" sz="2800" dirty="0" err="1"/>
              <a:t>Executor</a:t>
            </a:r>
            <a:r>
              <a:rPr lang="fr-FR" sz="2800" dirty="0"/>
              <a:t> … </a:t>
            </a:r>
            <a:r>
              <a:rPr lang="fr-FR" sz="2800" dirty="0" err="1"/>
              <a:t>where</a:t>
            </a:r>
            <a:r>
              <a:rPr lang="fr-FR" sz="2800" dirty="0"/>
              <a:t>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executed</a:t>
            </a:r>
            <a:r>
              <a:rPr lang="fr-FR" sz="2800" dirty="0"/>
              <a:t> </a:t>
            </a:r>
            <a:r>
              <a:rPr lang="fr-FR" sz="2800" dirty="0" err="1"/>
              <a:t>my</a:t>
            </a:r>
            <a:r>
              <a:rPr lang="fr-FR" sz="2800" dirty="0"/>
              <a:t> code ?</a:t>
            </a:r>
          </a:p>
          <a:p>
            <a:r>
              <a:rPr lang="fr-FR" sz="2800" dirty="0"/>
              <a:t>4/ Batch and Streaming api ?</a:t>
            </a:r>
          </a:p>
          <a:p>
            <a:r>
              <a:rPr lang="fr-FR" sz="2800" dirty="0"/>
              <a:t>5/ SQL or Code ? </a:t>
            </a:r>
            <a:r>
              <a:rPr lang="fr-FR" sz="2800" dirty="0" err="1"/>
              <a:t>Functional</a:t>
            </a:r>
            <a:r>
              <a:rPr lang="fr-FR" sz="2800" dirty="0"/>
              <a:t> API in  java-scala-python ? </a:t>
            </a:r>
          </a:p>
          <a:p>
            <a:r>
              <a:rPr lang="fr-FR" sz="2800" dirty="0"/>
              <a:t>6/ Spark-</a:t>
            </a:r>
            <a:r>
              <a:rPr lang="fr-FR" sz="2800" dirty="0" err="1"/>
              <a:t>shell</a:t>
            </a:r>
            <a:r>
              <a:rPr lang="fr-FR" sz="2800" dirty="0"/>
              <a:t> / </a:t>
            </a:r>
            <a:r>
              <a:rPr lang="fr-FR" sz="2800" dirty="0" err="1"/>
              <a:t>spark-sql</a:t>
            </a:r>
            <a:r>
              <a:rPr lang="fr-FR" sz="2800" dirty="0"/>
              <a:t> / </a:t>
            </a:r>
            <a:r>
              <a:rPr lang="fr-FR" sz="2800" dirty="0" err="1"/>
              <a:t>spark-submit</a:t>
            </a:r>
            <a:r>
              <a:rPr lang="fr-FR" sz="2800" dirty="0"/>
              <a:t> / </a:t>
            </a:r>
            <a:r>
              <a:rPr lang="fr-FR" sz="2800" dirty="0" err="1"/>
              <a:t>spark-thrift</a:t>
            </a:r>
            <a:r>
              <a:rPr lang="fr-FR" sz="2800" dirty="0"/>
              <a:t> server / </a:t>
            </a:r>
            <a:r>
              <a:rPr lang="fr-FR" sz="2800" dirty="0" err="1"/>
              <a:t>spark-history</a:t>
            </a:r>
            <a:r>
              <a:rPr lang="fr-FR" sz="2800" dirty="0"/>
              <a:t> server ?</a:t>
            </a:r>
          </a:p>
          <a:p>
            <a:r>
              <a:rPr lang="fr-FR" sz="2800" dirty="0"/>
              <a:t>7/ Master = </a:t>
            </a:r>
            <a:r>
              <a:rPr lang="fr-FR" sz="2800" dirty="0" err="1"/>
              <a:t>yarn</a:t>
            </a:r>
            <a:r>
              <a:rPr lang="fr-FR" sz="2800" dirty="0"/>
              <a:t>/</a:t>
            </a:r>
            <a:r>
              <a:rPr lang="fr-FR" sz="2800" dirty="0" err="1"/>
              <a:t>standone</a:t>
            </a:r>
            <a:r>
              <a:rPr lang="fr-FR" sz="2800" dirty="0"/>
              <a:t>/k8s  + mode =  Client vs Cluster vs … </a:t>
            </a:r>
          </a:p>
          <a:p>
            <a:r>
              <a:rPr lang="fr-FR" sz="2800" dirty="0"/>
              <a:t>8/ use Spark-</a:t>
            </a:r>
            <a:r>
              <a:rPr lang="fr-FR" sz="2800" dirty="0" err="1"/>
              <a:t>ui</a:t>
            </a:r>
            <a:r>
              <a:rPr lang="fr-FR" sz="2800" dirty="0"/>
              <a:t> / Console / logs?</a:t>
            </a:r>
          </a:p>
          <a:p>
            <a:r>
              <a:rPr lang="fr-FR" sz="2800" dirty="0"/>
              <a:t>9/ Performance diagnostic? </a:t>
            </a:r>
          </a:p>
          <a:p>
            <a:r>
              <a:rPr lang="fr-FR" sz="2800" dirty="0"/>
              <a:t>     DAG ? </a:t>
            </a:r>
            <a:r>
              <a:rPr lang="fr-FR" sz="2800" dirty="0" err="1"/>
              <a:t>Metrics</a:t>
            </a:r>
            <a:r>
              <a:rPr lang="fr-FR" sz="2800" dirty="0"/>
              <a:t> ? </a:t>
            </a:r>
            <a:r>
              <a:rPr lang="fr-FR" sz="2800" dirty="0" err="1"/>
              <a:t>Shuffle</a:t>
            </a:r>
            <a:r>
              <a:rPr lang="fr-FR" sz="2800" dirty="0"/>
              <a:t> ? </a:t>
            </a:r>
            <a:r>
              <a:rPr lang="fr-FR" sz="2800" dirty="0" err="1"/>
              <a:t>SpillToDisk</a:t>
            </a:r>
            <a:r>
              <a:rPr lang="fr-FR" sz="2800" dirty="0"/>
              <a:t> ? </a:t>
            </a:r>
            <a:r>
              <a:rPr lang="fr-FR" sz="2800" dirty="0" err="1"/>
              <a:t>SkewedPartition</a:t>
            </a:r>
            <a:r>
              <a:rPr lang="fr-FR" sz="2800" dirty="0"/>
              <a:t>?</a:t>
            </a:r>
          </a:p>
          <a:p>
            <a:r>
              <a:rPr lang="fr-FR" sz="2800" dirty="0"/>
              <a:t>10/ </a:t>
            </a:r>
            <a:r>
              <a:rPr lang="fr-FR" sz="2800" dirty="0" err="1"/>
              <a:t>Optimize</a:t>
            </a:r>
            <a:r>
              <a:rPr lang="fr-FR" sz="2800" dirty="0"/>
              <a:t> or </a:t>
            </a:r>
            <a:r>
              <a:rPr lang="fr-FR" sz="2800" dirty="0" err="1"/>
              <a:t>add</a:t>
            </a:r>
            <a:r>
              <a:rPr lang="fr-FR" sz="2800" dirty="0"/>
              <a:t> more </a:t>
            </a:r>
            <a:r>
              <a:rPr lang="fr-FR" sz="2800" dirty="0" err="1"/>
              <a:t>resources</a:t>
            </a:r>
            <a:r>
              <a:rPr lang="fr-FR" sz="2800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1267299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3614</TotalTime>
  <Words>1479</Words>
  <Application>Microsoft Office PowerPoint</Application>
  <PresentationFormat>Grand écran</PresentationFormat>
  <Paragraphs>219</Paragraphs>
  <Slides>25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Wingdings</vt:lpstr>
      <vt:lpstr>Office Theme</vt:lpstr>
      <vt:lpstr>Spark Introduction</vt:lpstr>
      <vt:lpstr>Spark (Recent) History &amp; Ancestors</vt:lpstr>
      <vt:lpstr>Simple =&gt; Many Specific Systems =&gt; Unified</vt:lpstr>
      <vt:lpstr>Spark = « Unified Engine » </vt:lpstr>
      <vt:lpstr>Multi Purposes – Multi Langages</vt:lpstr>
      <vt:lpstr>Spark-Core + …</vt:lpstr>
      <vt:lpstr>Getting Started</vt:lpstr>
      <vt:lpstr>         scala&gt; scala&gt;  println(« Hello spark »);</vt:lpstr>
      <vt:lpstr>Spark-shell&gt;    SCALA code</vt:lpstr>
      <vt:lpstr>spark-shell&gt; help</vt:lpstr>
      <vt:lpstr>ds = spark.createDataSet(..)</vt:lpstr>
      <vt:lpstr>ds = spark.read.textFile( .. )</vt:lpstr>
      <vt:lpstr>dataset.show ()          default   show(20 /*line*/, true /*truncate*/)    </vt:lpstr>
      <vt:lpstr>Words Count :  flatMap(…).count</vt:lpstr>
      <vt:lpstr>Words Count … local[*] Debug in Java IDE</vt:lpstr>
      <vt:lpstr>spark-submit --class &lt;&lt;MainClass&gt;&gt; &lt;&lt;JarFile&gt;&gt;</vt:lpstr>
      <vt:lpstr>resultDs = dataset.map(  x -&gt; {… return y; })</vt:lpstr>
      <vt:lpstr>resultDs = dataset.flatMap(  x -&gt; {… return list&lt;y&gt;; })</vt:lpstr>
      <vt:lpstr>Dataset: « logical View » of « partitions » on Driver       … « data » allocated in-memory on Executors</vt:lpstr>
      <vt:lpstr>Driver : Drives the main() program Executors : Execute the functions on data</vt:lpstr>
      <vt:lpstr>See the difference ? Driver Api / Executor Engine Code Logic / Data+Cpu Internal</vt:lpstr>
      <vt:lpstr>Exchange / Shuffle / Repartition / Coalesce / Distribute Wide transformation / Reduce</vt:lpstr>
      <vt:lpstr>Wide vs Narrow Transformation</vt:lpstr>
      <vt:lpstr>Things get complex… « repartition() .flatMap() .explain() »</vt:lpstr>
      <vt:lpstr>Confusing Questions at first Glance…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Introduction</dc:title>
  <dc:creator>NAUWYNCK Arnaud</dc:creator>
  <cp:lastModifiedBy>arnaud</cp:lastModifiedBy>
  <cp:revision>6</cp:revision>
  <dcterms:created xsi:type="dcterms:W3CDTF">2025-01-07T22:46:38Z</dcterms:created>
  <dcterms:modified xsi:type="dcterms:W3CDTF">2025-11-22T19:22:37Z</dcterms:modified>
</cp:coreProperties>
</file>