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xmlns:p="http://schemas.openxmlformats.org/presentationml/2006/main"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theme" Target="theme/theme1.xml"/><Relationship Id="rId99" Type="http://schemas.openxmlformats.org/officeDocument/2006/relationships/presProps" Target="presProps.xml"/><Relationship Id="rId100" Type="http://schemas.openxmlformats.org/officeDocument/2006/relationships/viewProps" Target="viewProps.xml"/><Relationship Id="rId101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5B21-E8EE-4505-87E0-7B7F2C3DBBD0}" type="datetimeFigureOut">
              <a:rPr lang="fr-FR"/>
              <a:t>12/11/2025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C6D5D-A00E-4AA9-84F2-364CBECE0EE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609E6-1126-4CCC-8F95-892B304C12E9}" type="datetimeFigureOut">
              <a:rPr lang="fr-FR"/>
              <a:t>12/11/2025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3082BF-5467-4883-8896-824F7369BC9A}" type="datetimeFigureOut">
              <a:rPr lang="fr-FR"/>
              <a:t>12/11/2025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66248-C912-41CA-84D9-08E1C7982093}" type="datetimeFigureOut">
              <a:rPr lang="fr-FR"/>
              <a:t>12/11/2025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FB636-F4D9-4299-85F9-44D23E27C49C}" type="datetimeFigureOut">
              <a:rPr lang="fr-FR"/>
              <a:t>12/11/2025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C346-E4DF-45C0-848B-E2AC5513E0D5}" type="datetimeFigureOut">
              <a:rPr lang="fr-FR"/>
              <a:t>12/11/2025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B29E-DC2A-4D67-887F-3BE2DC8489D6}" type="datetimeFigureOut">
              <a:rPr lang="fr-FR"/>
              <a:t>12/11/2025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563BD-7186-488E-816C-8F41FA24179F}" type="datetimeFigureOut">
              <a:rPr lang="fr-FR"/>
              <a:t>12/11/2025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02C48-70E8-4C8D-81F4-17FB598144B8}" type="datetimeFigureOut">
              <a:rPr lang="fr-FR"/>
              <a:t>12/11/2025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02B83-4DFE-444B-8222-D5FF1EA6B44C}" type="datetimeFigureOut">
              <a:rPr lang="fr-FR"/>
              <a:t>12/11/2025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40F9-1701-4EB4-806D-4ED861E7A003}" type="datetimeFigureOut">
              <a:rPr lang="fr-FR"/>
              <a:t>12/11/2025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ADADCF-DC63-475D-8D69-AEBF4EDF3BBC}" type="datetimeFigureOut">
              <a:rPr lang="fr-FR"/>
              <a:t>12/11/2025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 lang="fr-FR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Arnaud.nauwynck@gmail.com" TargetMode="External"/><Relationship Id="rId3" Type="http://schemas.openxmlformats.org/officeDocument/2006/relationships/hyperlink" Target="https://github.com/Arnaud-Nauwynck/presentations/tree/main/pres-bigdata/Course-2022-Spark%20/Datalake-File-Format-Parquet.pdf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tatic.googleusercontent.com/media/research.google.com/en/pubs/archive/36632.pdf" TargetMode="External"/><Relationship Id="rId3" Type="http://schemas.openxmlformats.org/officeDocument/2006/relationships/image" Target="../media/image15.png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7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7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/Relationships>
</file>

<file path=ppt/slides/_rels/slide7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/Relationships>
</file>

<file path=ppt/slides/_rels/slide7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/Relationships>
</file>

<file path=ppt/slides/_rels/slide7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/Relationships>
</file>

<file path=ppt/slides/_rels/slide8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8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julien.ledem.net/experiment/parquet-visualizer.html" TargetMode="External"/></Relationships>
</file>

<file path=ppt/slides/_rels/slide8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julienledem/parquet-metadata-vizualizer" TargetMode="External"/><Relationship Id="rId3" Type="http://schemas.openxmlformats.org/officeDocument/2006/relationships/image" Target="../media/image30.png"/></Relationships>
</file>

<file path=ppt/slides/_rels/slide8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julien.ledem.net/experiment/parquet-visualizer.html" TargetMode="External"/><Relationship Id="rId3" Type="http://schemas.openxmlformats.org/officeDocument/2006/relationships/image" Target="../media/image31.png"/></Relationships>
</file>

<file path=ppt/slides/_rels/slide8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/Relationships>
</file>

<file path=ppt/slides/_rels/slide8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/Relationships>
</file>

<file path=ppt/slides/_rels/slide8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9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/Relationships>
</file>

<file path=ppt/slides/_rels/slide9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/Relationships>
</file>

<file path=ppt/slides/_rels/slide9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/Relationships>
</file>

<file path=ppt/slides/_rels/slide9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/>
              <a:t>Datalake</a:t>
            </a:r>
            <a:r>
              <a:rPr lang="fr-FR"/>
              <a:t> File Format:</a:t>
            </a:r>
            <a:br>
              <a:rPr lang="fr-FR"/>
            </a:br>
            <a:r>
              <a:rPr lang="fr-FR"/>
              <a:t>Parquet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" y="4343400"/>
            <a:ext cx="11887200" cy="2262968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fr-FR">
                <a:hlinkClick r:id="rId2"/>
              </a:rPr>
              <a:t>arnaud.nauwynck@gmail.com</a:t>
            </a:r>
            <a:endParaRPr lang="fr-FR"/>
          </a:p>
          <a:p>
            <a:endParaRPr lang="fr-FR"/>
          </a:p>
          <a:p>
            <a:r>
              <a:rPr lang="fr-FR"/>
              <a:t>Course Esilv 2026</a:t>
            </a:r>
          </a:p>
          <a:p>
            <a:r>
              <a:rPr lang="fr-FR"/>
              <a:t>This document: </a:t>
            </a:r>
            <a:br>
              <a:rPr lang="fr-FR"/>
            </a:br>
            <a:r>
              <a:rPr lang="fr-FR">
                <a:hlinkClick r:id="rId3"/>
              </a:rPr>
              <a:t>https://github.com/Arnaud-Nauwynck/presentations/pres-bigdata/</a:t>
            </a:r>
            <a:br>
              <a:rPr lang="fr-FR">
                <a:hlinkClick r:id="rId3"/>
              </a:rPr>
            </a:br>
            <a:r>
              <a:rPr lang="fr-FR">
                <a:hlinkClick r:id="rId3"/>
              </a:rPr>
              <a:t>Datalake</a:t>
            </a:r>
            <a:r>
              <a:rPr lang="fr-FR">
                <a:hlinkClick r:id="rId3"/>
              </a:rPr>
              <a:t>-File-Format-Parquet</a:t>
            </a:r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/>
              <a:t>Outline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Parquet </a:t>
            </a:r>
            <a:r>
              <a:rPr lang="fr-FR"/>
              <a:t>Caracteristics</a:t>
            </a:r>
            <a:br>
              <a:rPr lang="fr-FR"/>
            </a:br>
            <a:endParaRPr lang="fr-FR"/>
          </a:p>
          <a:p>
            <a:pPr lvl="1"/>
            <a:r>
              <a:rPr lang="fr-FR"/>
              <a:t>Structured</a:t>
            </a:r>
            <a:r>
              <a:rPr lang="fr-FR"/>
              <a:t>, </a:t>
            </a:r>
            <a:r>
              <a:rPr lang="fr-FR"/>
              <a:t>with</a:t>
            </a:r>
            <a:r>
              <a:rPr lang="fr-FR"/>
              <a:t> </a:t>
            </a:r>
            <a:r>
              <a:rPr lang="fr-FR"/>
              <a:t>Schema</a:t>
            </a:r>
            <a:endParaRPr lang="fr-FR"/>
          </a:p>
          <a:p>
            <a:pPr lvl="1"/>
            <a:r>
              <a:rPr lang="fr-FR"/>
              <a:t>Data – </a:t>
            </a:r>
            <a:r>
              <a:rPr lang="fr-FR"/>
              <a:t>Metadata</a:t>
            </a:r>
            <a:r>
              <a:rPr lang="fr-FR"/>
              <a:t> (</a:t>
            </a:r>
            <a:r>
              <a:rPr lang="fr-FR"/>
              <a:t>footer</a:t>
            </a:r>
            <a:r>
              <a:rPr lang="fr-FR"/>
              <a:t>)</a:t>
            </a:r>
          </a:p>
          <a:p>
            <a:pPr lvl="1"/>
            <a:r>
              <a:rPr lang="fr-FR"/>
              <a:t>Immutable</a:t>
            </a:r>
            <a:endParaRPr lang="fr-FR"/>
          </a:p>
          <a:p>
            <a:pPr lvl="1"/>
            <a:r>
              <a:rPr lang="fr-FR"/>
              <a:t>Columnar  ... Column Pruning</a:t>
            </a:r>
            <a:endParaRPr lang="fr-FR"/>
          </a:p>
          <a:p>
            <a:pPr lvl="1"/>
            <a:r>
              <a:rPr lang="fr-FR"/>
              <a:t>Splittable</a:t>
            </a:r>
            <a:r>
              <a:rPr lang="fr-FR"/>
              <a:t>  ... </a:t>
            </a:r>
            <a:r>
              <a:rPr lang="fr-FR"/>
              <a:t>spark</a:t>
            </a:r>
            <a:r>
              <a:rPr lang="fr-FR"/>
              <a:t> </a:t>
            </a:r>
            <a:r>
              <a:rPr lang="fr-FR"/>
              <a:t>Dataset</a:t>
            </a:r>
            <a:r>
              <a:rPr lang="fr-FR"/>
              <a:t> Partitions</a:t>
            </a:r>
          </a:p>
          <a:p>
            <a:pPr lvl="1"/>
            <a:r>
              <a:rPr lang="fr-FR"/>
              <a:t>Compression</a:t>
            </a:r>
          </a:p>
          <a:p>
            <a:pPr lvl="1"/>
            <a:r>
              <a:rPr lang="fr-FR"/>
              <a:t>Encoding</a:t>
            </a:r>
            <a:endParaRPr lang="fr-FR"/>
          </a:p>
          <a:p>
            <a:pPr lvl="1"/>
            <a:r>
              <a:rPr lang="fr-FR"/>
              <a:t>Statistics</a:t>
            </a:r>
            <a:r>
              <a:rPr lang="fr-FR"/>
              <a:t>, Bloom   ... </a:t>
            </a:r>
            <a:r>
              <a:rPr lang="fr-FR"/>
              <a:t>spark</a:t>
            </a:r>
            <a:r>
              <a:rPr lang="fr-FR"/>
              <a:t> </a:t>
            </a:r>
            <a:r>
              <a:rPr lang="fr-FR"/>
              <a:t>Predicate</a:t>
            </a:r>
            <a:r>
              <a:rPr lang="fr-FR"/>
              <a:t>-Push-Down</a:t>
            </a:r>
          </a:p>
          <a:p>
            <a:pPr lvl="1"/>
            <a:r>
              <a:rPr lang="fr-FR"/>
              <a:t>Optimize</a:t>
            </a:r>
            <a:r>
              <a:rPr lang="fr-FR"/>
              <a:t> </a:t>
            </a:r>
            <a:r>
              <a:rPr lang="fr-FR"/>
              <a:t>write</a:t>
            </a:r>
            <a:r>
              <a:rPr lang="fr-FR"/>
              <a:t> once, </a:t>
            </a:r>
            <a:r>
              <a:rPr lang="fr-FR"/>
              <a:t>read</a:t>
            </a:r>
            <a:r>
              <a:rPr lang="fr-FR"/>
              <a:t> </a:t>
            </a:r>
            <a:r>
              <a:rPr lang="fr-FR"/>
              <a:t>many</a:t>
            </a:r>
            <a:r>
              <a:rPr lang="fr-FR"/>
              <a:t>   </a:t>
            </a:r>
            <a:br>
              <a:rPr lang="fr-FR"/>
            </a:br>
            <a:r>
              <a:rPr lang="fr-FR"/>
              <a:t>      ... </a:t>
            </a:r>
            <a:r>
              <a:rPr lang="fr-FR"/>
              <a:t>spark</a:t>
            </a:r>
            <a:r>
              <a:rPr lang="fr-FR"/>
              <a:t>  </a:t>
            </a:r>
            <a:r>
              <a:rPr lang="fr-FR"/>
              <a:t>dataset.repartition</a:t>
            </a:r>
            <a:r>
              <a:rPr lang="fr-FR"/>
              <a:t>().</a:t>
            </a:r>
            <a:r>
              <a:rPr lang="fr-FR"/>
              <a:t>sortWithinPartition</a:t>
            </a:r>
            <a:r>
              <a:rPr lang="fr-FR"/>
              <a:t>().</a:t>
            </a:r>
            <a:r>
              <a:rPr lang="fr-FR"/>
              <a:t>write</a:t>
            </a:r>
            <a:endParaRPr lang="fr-FR"/>
          </a:p>
          <a:p>
            <a:pPr lvl="1"/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692" y="2766218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is a Structured Format</a:t>
            </a:r>
            <a:br>
              <a:rPr lang="fr-FR"/>
            </a:br>
            <a:r>
              <a:rPr lang="fr-FR"/>
              <a:t>Strongly Typed, Schema-based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File Formats</a:t>
            </a:r>
          </a:p>
        </p:txBody>
      </p:sp>
      <p:sp>
        <p:nvSpPr>
          <p:cNvPr id="4" name="Rectangle: Folded Corner 3"/>
          <p:cNvSpPr/>
          <p:nvPr/>
        </p:nvSpPr>
        <p:spPr>
          <a:xfrm>
            <a:off x="666717" y="3298974"/>
            <a:ext cx="2498501" cy="830997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568569" y="1408621"/>
            <a:ext cx="24404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Unstructured</a:t>
            </a:r>
            <a:endParaRPr lang="fr-FR" sz="3200" b="1"/>
          </a:p>
        </p:txBody>
      </p:sp>
      <p:sp>
        <p:nvSpPr>
          <p:cNvPr id="8" name="TextBox 7"/>
          <p:cNvSpPr txBox="1"/>
          <p:nvPr/>
        </p:nvSpPr>
        <p:spPr>
          <a:xfrm>
            <a:off x="770821" y="3298975"/>
            <a:ext cx="17693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text</a:t>
            </a:r>
            <a:r>
              <a:rPr lang="fr-FR" sz="2400"/>
              <a:t> line 1 \n</a:t>
            </a:r>
            <a:br>
              <a:rPr lang="fr-FR" sz="2400"/>
            </a:br>
            <a:r>
              <a:rPr lang="fr-FR" sz="2400"/>
              <a:t>text</a:t>
            </a:r>
            <a:r>
              <a:rPr lang="fr-FR" sz="2400"/>
              <a:t> line 2 \n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16" y="2680226"/>
            <a:ext cx="8629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Text</a:t>
            </a:r>
            <a:endParaRPr lang="fr-FR" sz="3200"/>
          </a:p>
        </p:txBody>
      </p:sp>
      <p:sp>
        <p:nvSpPr>
          <p:cNvPr id="10" name="Rectangle: Folded Corner 9"/>
          <p:cNvSpPr/>
          <p:nvPr/>
        </p:nvSpPr>
        <p:spPr>
          <a:xfrm>
            <a:off x="666716" y="4943775"/>
            <a:ext cx="2498501" cy="1234304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770820" y="4943776"/>
            <a:ext cx="22829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Col1;Col2;Col3\n</a:t>
            </a:r>
            <a:br>
              <a:rPr lang="fr-FR" sz="2400"/>
            </a:br>
            <a:r>
              <a:rPr lang="fr-FR" sz="2400"/>
              <a:t>a1;b1;c1\n</a:t>
            </a:r>
          </a:p>
          <a:p>
            <a:r>
              <a:rPr lang="fr-FR" sz="2400"/>
              <a:t>a2;b2;c2\n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15" y="4325027"/>
            <a:ext cx="7443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Csv</a:t>
            </a:r>
          </a:p>
        </p:txBody>
      </p:sp>
      <p:sp>
        <p:nvSpPr>
          <p:cNvPr id="13" name="Rectangle: Folded Corner 12"/>
          <p:cNvSpPr/>
          <p:nvPr/>
        </p:nvSpPr>
        <p:spPr>
          <a:xfrm>
            <a:off x="4553990" y="3298974"/>
            <a:ext cx="2988227" cy="830997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4455842" y="1408621"/>
            <a:ext cx="29484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Semi-</a:t>
            </a:r>
            <a:r>
              <a:rPr lang="fr-FR" sz="3200" b="1"/>
              <a:t>Structured</a:t>
            </a:r>
            <a:endParaRPr lang="fr-FR" sz="3200" b="1"/>
          </a:p>
        </p:txBody>
      </p:sp>
      <p:sp>
        <p:nvSpPr>
          <p:cNvPr id="15" name="TextBox 14"/>
          <p:cNvSpPr txBox="1"/>
          <p:nvPr/>
        </p:nvSpPr>
        <p:spPr>
          <a:xfrm>
            <a:off x="4658094" y="3298975"/>
            <a:ext cx="28841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{"a":"a1","b":"b1"} \n</a:t>
            </a:r>
            <a:br>
              <a:rPr lang="fr-FR" sz="2400"/>
            </a:br>
            <a:r>
              <a:rPr lang="fr-FR" sz="2400"/>
              <a:t>{"a":"a2","b":"b2"} \n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989" y="2680226"/>
            <a:ext cx="9092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Json</a:t>
            </a:r>
            <a:endParaRPr lang="fr-FR" sz="3200"/>
          </a:p>
        </p:txBody>
      </p:sp>
      <p:sp>
        <p:nvSpPr>
          <p:cNvPr id="17" name="Rectangle: Folded Corner 16"/>
          <p:cNvSpPr/>
          <p:nvPr/>
        </p:nvSpPr>
        <p:spPr>
          <a:xfrm>
            <a:off x="4553989" y="4943775"/>
            <a:ext cx="2498501" cy="1234304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/>
          <p:cNvSpPr txBox="1"/>
          <p:nvPr/>
        </p:nvSpPr>
        <p:spPr>
          <a:xfrm>
            <a:off x="4658093" y="4943776"/>
            <a:ext cx="16979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&lt;</a:t>
            </a:r>
            <a:r>
              <a:rPr lang="fr-FR" sz="2400"/>
              <a:t>elt</a:t>
            </a:r>
            <a:r>
              <a:rPr lang="fr-FR" sz="2400"/>
              <a:t>&gt;</a:t>
            </a:r>
            <a:br>
              <a:rPr lang="fr-FR" sz="2400"/>
            </a:br>
            <a:r>
              <a:rPr lang="fr-FR" sz="2400"/>
              <a:t>  &lt;a&gt;a1&lt;/a&gt;</a:t>
            </a:r>
            <a:br>
              <a:rPr lang="fr-FR" sz="2400"/>
            </a:br>
            <a:r>
              <a:rPr lang="fr-FR" sz="2400"/>
              <a:t>  &lt;b&gt;b1&lt;/b&gt;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988" y="4325027"/>
            <a:ext cx="8210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Xml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2205" y="1408621"/>
            <a:ext cx="19882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Structured</a:t>
            </a:r>
            <a:endParaRPr lang="fr-FR" sz="3200" b="1"/>
          </a:p>
        </p:txBody>
      </p:sp>
      <p:sp>
        <p:nvSpPr>
          <p:cNvPr id="21" name="TextBox 20"/>
          <p:cNvSpPr txBox="1"/>
          <p:nvPr/>
        </p:nvSpPr>
        <p:spPr>
          <a:xfrm>
            <a:off x="8389998" y="2223919"/>
            <a:ext cx="31490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Serialization</a:t>
            </a:r>
            <a:r>
              <a:rPr lang="fr-FR" sz="2400"/>
              <a:t> </a:t>
            </a:r>
            <a:r>
              <a:rPr lang="fr-FR" sz="2400"/>
              <a:t>Structured</a:t>
            </a:r>
            <a:endParaRPr lang="fr-FR" sz="2400"/>
          </a:p>
        </p:txBody>
      </p:sp>
      <p:sp>
        <p:nvSpPr>
          <p:cNvPr id="22" name="TextBox 21"/>
          <p:cNvSpPr txBox="1"/>
          <p:nvPr/>
        </p:nvSpPr>
        <p:spPr>
          <a:xfrm>
            <a:off x="8399637" y="4512839"/>
            <a:ext cx="28255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Columnar</a:t>
            </a:r>
            <a:r>
              <a:rPr lang="fr-FR" sz="2400" b="1"/>
              <a:t> </a:t>
            </a:r>
            <a:r>
              <a:rPr lang="fr-FR" sz="2400"/>
              <a:t>Structured</a:t>
            </a:r>
            <a:endParaRPr lang="fr-FR" sz="2400"/>
          </a:p>
        </p:txBody>
      </p:sp>
      <p:sp>
        <p:nvSpPr>
          <p:cNvPr id="23" name="Rectangle: Folded Corner 22"/>
          <p:cNvSpPr/>
          <p:nvPr/>
        </p:nvSpPr>
        <p:spPr>
          <a:xfrm>
            <a:off x="8600041" y="5660091"/>
            <a:ext cx="2498501" cy="746861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: Folded Corner 23"/>
          <p:cNvSpPr/>
          <p:nvPr/>
        </p:nvSpPr>
        <p:spPr>
          <a:xfrm>
            <a:off x="8479921" y="3298974"/>
            <a:ext cx="2498501" cy="746861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/>
          <p:cNvSpPr txBox="1"/>
          <p:nvPr/>
        </p:nvSpPr>
        <p:spPr>
          <a:xfrm>
            <a:off x="8389998" y="5094385"/>
            <a:ext cx="22715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Orc</a:t>
            </a:r>
            <a:r>
              <a:rPr lang="fr-FR" sz="3200"/>
              <a:t>, Parquet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9921" y="3266468"/>
            <a:ext cx="24901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schema:XX</a:t>
            </a:r>
            <a:r>
              <a:rPr lang="fr-FR" sz="2400"/>
              <a:t>,</a:t>
            </a:r>
          </a:p>
          <a:p>
            <a:r>
              <a:rPr lang="fr-FR" sz="2400"/>
              <a:t>value:0101010101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0820" y="2780548"/>
            <a:ext cx="35128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Avro,Thrift,Protobuf</a:t>
            </a:r>
            <a:endParaRPr lang="fr-FR" sz="3200"/>
          </a:p>
        </p:txBody>
      </p:sp>
      <p:cxnSp>
        <p:nvCxnSpPr>
          <p:cNvPr id="29" name="Straight Connector 28"/>
          <p:cNvCxnSpPr/>
          <p:nvPr/>
        </p:nvCxnSpPr>
        <p:spPr>
          <a:xfrm>
            <a:off x="3752871" y="1746739"/>
            <a:ext cx="0" cy="456027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7832502" y="1712943"/>
            <a:ext cx="0" cy="456027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H="1">
            <a:off x="7973179" y="4325027"/>
            <a:ext cx="351692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/>
          <p:cNvSpPr/>
          <p:nvPr/>
        </p:nvSpPr>
        <p:spPr>
          <a:xfrm>
            <a:off x="1703044" y="3211475"/>
            <a:ext cx="1381495" cy="232695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9319" y="0"/>
            <a:ext cx="10515600" cy="1110198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Structured</a:t>
            </a:r>
            <a:r>
              <a:rPr lang="fr-FR"/>
              <a:t> : </a:t>
            </a:r>
            <a:r>
              <a:rPr lang="fr-FR"/>
              <a:t>struct</a:t>
            </a:r>
            <a:r>
              <a:rPr lang="fr-FR"/>
              <a:t>&lt;&gt;, </a:t>
            </a:r>
            <a:r>
              <a:rPr lang="fr-FR"/>
              <a:t>array</a:t>
            </a:r>
            <a:r>
              <a:rPr lang="fr-FR"/>
              <a:t>&lt;&gt;, </a:t>
            </a:r>
            <a:r>
              <a:rPr lang="fr-FR"/>
              <a:t>map</a:t>
            </a:r>
            <a:r>
              <a:rPr lang="fr-FR"/>
              <a:t>&lt;&gt;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4380" y="1377195"/>
            <a:ext cx="494706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Scalar</a:t>
            </a:r>
            <a:r>
              <a:rPr lang="fr-FR" sz="2800" b="1"/>
              <a:t> Value</a:t>
            </a:r>
          </a:p>
          <a:p>
            <a:r>
              <a:rPr lang="fr-FR" sz="2800"/>
              <a:t>(= terminal </a:t>
            </a:r>
            <a:r>
              <a:rPr lang="fr-FR" sz="2800"/>
              <a:t>element</a:t>
            </a:r>
            <a:r>
              <a:rPr lang="fr-FR" sz="2800"/>
              <a:t> in </a:t>
            </a:r>
            <a:r>
              <a:rPr lang="fr-FR" sz="2800"/>
              <a:t>grammar</a:t>
            </a:r>
            <a:r>
              <a:rPr lang="fr-FR" sz="2800"/>
              <a:t>)</a:t>
            </a:r>
          </a:p>
          <a:p>
            <a:r>
              <a:rPr lang="fr-FR" sz="2800"/>
              <a:t>= primitive data-type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91704" y="3211475"/>
            <a:ext cx="120417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String</a:t>
            </a:r>
          </a:p>
          <a:p>
            <a:r>
              <a:rPr lang="fr-FR" sz="2400"/>
              <a:t>boolean</a:t>
            </a:r>
            <a:endParaRPr lang="fr-FR" sz="2400"/>
          </a:p>
          <a:p>
            <a:r>
              <a:rPr lang="fr-FR" sz="2400"/>
              <a:t>int</a:t>
            </a:r>
            <a:endParaRPr lang="fr-FR" sz="2400"/>
          </a:p>
          <a:p>
            <a:r>
              <a:rPr lang="fr-FR" sz="2400"/>
              <a:t>double</a:t>
            </a:r>
          </a:p>
          <a:p>
            <a:r>
              <a:rPr lang="fr-FR" sz="2400"/>
              <a:t>Date</a:t>
            </a:r>
          </a:p>
          <a:p>
            <a:r>
              <a:rPr lang="fr-FR" sz="2400"/>
              <a:t>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01647" y="1377195"/>
            <a:ext cx="26900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Composite 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59893" y="2612971"/>
            <a:ext cx="1062990" cy="90297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6248400" y="2058287"/>
            <a:ext cx="43965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struct</a:t>
            </a:r>
            <a:r>
              <a:rPr lang="fr-FR" sz="2800" b="1"/>
              <a:t>&lt;a:Type1, b:Type2, ...&gt;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08" y="3504290"/>
            <a:ext cx="32527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array</a:t>
            </a:r>
            <a:r>
              <a:rPr lang="fr-FR" sz="2800" b="1"/>
              <a:t>&lt;</a:t>
            </a:r>
            <a:r>
              <a:rPr lang="fr-FR" sz="2800" b="1"/>
              <a:t>ElementType</a:t>
            </a:r>
            <a:r>
              <a:rPr lang="fr-FR" sz="2800" b="1"/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8108" y="4687029"/>
            <a:ext cx="40711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map</a:t>
            </a:r>
            <a:r>
              <a:rPr lang="fr-FR" sz="2800" b="1"/>
              <a:t>&lt;</a:t>
            </a:r>
            <a:r>
              <a:rPr lang="fr-FR" sz="2800" b="1"/>
              <a:t>KeyType,ValueType</a:t>
            </a:r>
            <a:r>
              <a:rPr lang="fr-FR" sz="2800" b="1"/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327" y="4152289"/>
            <a:ext cx="3765661" cy="3442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/>
          <p:cNvSpPr/>
          <p:nvPr/>
        </p:nvSpPr>
        <p:spPr>
          <a:xfrm>
            <a:off x="7914483" y="4218042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8503813" y="4218042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/>
          <p:cNvSpPr/>
          <p:nvPr/>
        </p:nvSpPr>
        <p:spPr>
          <a:xfrm>
            <a:off x="9093143" y="4218042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/>
          <p:cNvSpPr/>
          <p:nvPr/>
        </p:nvSpPr>
        <p:spPr>
          <a:xfrm>
            <a:off x="9682473" y="4226666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/>
          <p:cNvSpPr/>
          <p:nvPr/>
        </p:nvSpPr>
        <p:spPr>
          <a:xfrm>
            <a:off x="10286843" y="4218042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/>
          <p:cNvSpPr/>
          <p:nvPr/>
        </p:nvSpPr>
        <p:spPr>
          <a:xfrm>
            <a:off x="10891213" y="4218042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/>
          <p:cNvSpPr/>
          <p:nvPr/>
        </p:nvSpPr>
        <p:spPr>
          <a:xfrm>
            <a:off x="7832744" y="2705776"/>
            <a:ext cx="807932" cy="1621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/>
          <p:cNvSpPr/>
          <p:nvPr/>
        </p:nvSpPr>
        <p:spPr>
          <a:xfrm>
            <a:off x="7851794" y="2960747"/>
            <a:ext cx="529652" cy="175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/>
          <p:cNvSpPr/>
          <p:nvPr/>
        </p:nvSpPr>
        <p:spPr>
          <a:xfrm>
            <a:off x="7851794" y="3226537"/>
            <a:ext cx="708722" cy="175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7825906" y="5315885"/>
            <a:ext cx="1412988" cy="13145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/>
          <p:cNvSpPr/>
          <p:nvPr/>
        </p:nvSpPr>
        <p:spPr>
          <a:xfrm>
            <a:off x="7914483" y="5347349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/>
          <p:cNvSpPr/>
          <p:nvPr/>
        </p:nvSpPr>
        <p:spPr>
          <a:xfrm>
            <a:off x="8722414" y="5347349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8446663" y="5445076"/>
            <a:ext cx="190773" cy="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914483" y="5608557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/>
          <p:cNvSpPr/>
          <p:nvPr/>
        </p:nvSpPr>
        <p:spPr>
          <a:xfrm>
            <a:off x="8722414" y="5608557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8446663" y="5706284"/>
            <a:ext cx="190773" cy="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914483" y="5869765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8722414" y="5869765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8446663" y="5967492"/>
            <a:ext cx="190773" cy="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7914483" y="6130973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/>
          <p:cNvSpPr/>
          <p:nvPr/>
        </p:nvSpPr>
        <p:spPr>
          <a:xfrm>
            <a:off x="8722414" y="6130973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9" name="Straight Arrow Connector 38"/>
          <p:cNvCxnSpPr/>
          <p:nvPr/>
        </p:nvCxnSpPr>
        <p:spPr>
          <a:xfrm>
            <a:off x="8446663" y="6228700"/>
            <a:ext cx="190773" cy="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914483" y="6392181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/>
          <p:cNvSpPr/>
          <p:nvPr/>
        </p:nvSpPr>
        <p:spPr>
          <a:xfrm>
            <a:off x="8722414" y="6392181"/>
            <a:ext cx="437203" cy="195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8446663" y="6489908"/>
            <a:ext cx="190773" cy="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463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Type </a:t>
            </a:r>
            <a:r>
              <a:rPr lang="fr-FR"/>
              <a:t>constraint</a:t>
            </a:r>
            <a:r>
              <a:rPr lang="fr-FR"/>
              <a:t> = </a:t>
            </a:r>
            <a:r>
              <a:rPr lang="fr-FR"/>
              <a:t>Schema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3919380" y="2057400"/>
            <a:ext cx="11929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{ JSON }</a:t>
            </a:r>
          </a:p>
        </p:txBody>
      </p:sp>
      <p:sp>
        <p:nvSpPr>
          <p:cNvPr id="5" name="Arrow: Right 4"/>
          <p:cNvSpPr/>
          <p:nvPr/>
        </p:nvSpPr>
        <p:spPr>
          <a:xfrm>
            <a:off x="5474774" y="2143126"/>
            <a:ext cx="495691" cy="1978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6" name="TextBox 5"/>
          <p:cNvSpPr txBox="1"/>
          <p:nvPr/>
        </p:nvSpPr>
        <p:spPr>
          <a:xfrm>
            <a:off x="6218310" y="2057401"/>
            <a:ext cx="33093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 JSON </a:t>
            </a:r>
            <a:r>
              <a:rPr lang="fr-FR" sz="2400"/>
              <a:t>Schema</a:t>
            </a:r>
            <a:r>
              <a:rPr lang="fr-FR" sz="2400"/>
              <a:t> (</a:t>
            </a:r>
            <a:r>
              <a:rPr lang="fr-FR" sz="2400"/>
              <a:t>optional</a:t>
            </a:r>
            <a:r>
              <a:rPr lang="fr-FR" sz="2400"/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9380" y="2732128"/>
            <a:ext cx="958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&lt;xml&gt;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5474774" y="2817854"/>
            <a:ext cx="495691" cy="1978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9" name="TextBox 8"/>
          <p:cNvSpPr txBox="1"/>
          <p:nvPr/>
        </p:nvSpPr>
        <p:spPr>
          <a:xfrm>
            <a:off x="6218310" y="2732129"/>
            <a:ext cx="3226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 XSD </a:t>
            </a:r>
            <a:r>
              <a:rPr lang="fr-FR" sz="2400"/>
              <a:t>Schema</a:t>
            </a:r>
            <a:r>
              <a:rPr lang="fr-FR" sz="2400"/>
              <a:t>  (</a:t>
            </a:r>
            <a:r>
              <a:rPr lang="fr-FR" sz="2400"/>
              <a:t>optional</a:t>
            </a:r>
            <a:r>
              <a:rPr lang="fr-FR" sz="2400"/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2744" y="3593544"/>
            <a:ext cx="8305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.</a:t>
            </a:r>
            <a:r>
              <a:rPr lang="fr-FR" sz="2400"/>
              <a:t>avro</a:t>
            </a:r>
            <a:endParaRPr lang="fr-FR" sz="2400"/>
          </a:p>
        </p:txBody>
      </p:sp>
      <p:sp>
        <p:nvSpPr>
          <p:cNvPr id="11" name="Arrow: Right 10"/>
          <p:cNvSpPr/>
          <p:nvPr/>
        </p:nvSpPr>
        <p:spPr>
          <a:xfrm>
            <a:off x="5474773" y="3679270"/>
            <a:ext cx="495691" cy="1978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2" name="TextBox 11"/>
          <p:cNvSpPr txBox="1"/>
          <p:nvPr/>
        </p:nvSpPr>
        <p:spPr>
          <a:xfrm>
            <a:off x="6218310" y="3513481"/>
            <a:ext cx="51787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.</a:t>
            </a:r>
            <a:r>
              <a:rPr lang="fr-FR" sz="2400"/>
              <a:t>avsc</a:t>
            </a:r>
            <a:r>
              <a:rPr lang="fr-FR" sz="2400"/>
              <a:t>  = </a:t>
            </a:r>
            <a:r>
              <a:rPr lang="fr-FR" sz="2400"/>
              <a:t>avro</a:t>
            </a:r>
            <a:r>
              <a:rPr lang="fr-FR" sz="2400"/>
              <a:t> </a:t>
            </a:r>
            <a:r>
              <a:rPr lang="fr-FR" sz="2400"/>
              <a:t>schema</a:t>
            </a:r>
            <a:endParaRPr lang="fr-FR" sz="2400"/>
          </a:p>
          <a:p>
            <a:r>
              <a:rPr lang="fr-FR" sz="2400"/>
              <a:t>included</a:t>
            </a:r>
            <a:r>
              <a:rPr lang="fr-FR" sz="2400"/>
              <a:t> in </a:t>
            </a:r>
            <a:r>
              <a:rPr lang="fr-FR" sz="2400"/>
              <a:t>avro</a:t>
            </a:r>
            <a:r>
              <a:rPr lang="fr-FR" sz="2400"/>
              <a:t> </a:t>
            </a:r>
            <a:r>
              <a:rPr lang="fr-FR" sz="2400"/>
              <a:t>datafile</a:t>
            </a:r>
            <a:r>
              <a:rPr lang="fr-FR" sz="2400"/>
              <a:t> format header</a:t>
            </a:r>
          </a:p>
          <a:p>
            <a:r>
              <a:rPr lang="fr-FR" sz="2400"/>
              <a:t>implicit</a:t>
            </a:r>
            <a:r>
              <a:rPr lang="fr-FR" sz="2400"/>
              <a:t> in </a:t>
            </a:r>
            <a:r>
              <a:rPr lang="fr-FR" sz="2400"/>
              <a:t>avro</a:t>
            </a:r>
            <a:r>
              <a:rPr lang="fr-FR" sz="2400"/>
              <a:t> </a:t>
            </a:r>
            <a:r>
              <a:rPr lang="fr-FR" sz="2400"/>
              <a:t>client-server</a:t>
            </a:r>
            <a:r>
              <a:rPr lang="fr-FR" sz="2400"/>
              <a:t> exchanges</a:t>
            </a:r>
          </a:p>
        </p:txBody>
      </p:sp>
      <p:sp>
        <p:nvSpPr>
          <p:cNvPr id="13" name="Left Brace 12"/>
          <p:cNvSpPr/>
          <p:nvPr/>
        </p:nvSpPr>
        <p:spPr>
          <a:xfrm>
            <a:off x="3291059" y="2057401"/>
            <a:ext cx="365760" cy="109156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4" name="Left Brace 13"/>
          <p:cNvSpPr/>
          <p:nvPr/>
        </p:nvSpPr>
        <p:spPr>
          <a:xfrm>
            <a:off x="3291059" y="3776426"/>
            <a:ext cx="365760" cy="224718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5" name="TextBox 14"/>
          <p:cNvSpPr txBox="1"/>
          <p:nvPr/>
        </p:nvSpPr>
        <p:spPr>
          <a:xfrm>
            <a:off x="685800" y="2288233"/>
            <a:ext cx="25655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semi-</a:t>
            </a:r>
            <a:r>
              <a:rPr lang="fr-FR" sz="2400"/>
              <a:t>structured</a:t>
            </a:r>
            <a:endParaRPr lang="fr-FR" sz="2400"/>
          </a:p>
          <a:p>
            <a:r>
              <a:rPr lang="fr-FR" sz="2400" b="1"/>
              <a:t>schema</a:t>
            </a:r>
            <a:r>
              <a:rPr lang="fr-FR" sz="2400" b="1"/>
              <a:t> </a:t>
            </a:r>
            <a:r>
              <a:rPr lang="fr-FR" sz="2400" b="1"/>
              <a:t>is</a:t>
            </a:r>
            <a:r>
              <a:rPr lang="fr-FR" sz="2400" b="1"/>
              <a:t> </a:t>
            </a:r>
            <a:r>
              <a:rPr lang="fr-FR" sz="2400" b="1"/>
              <a:t>optional</a:t>
            </a:r>
            <a:endParaRPr lang="fr-FR" sz="2400" b="1"/>
          </a:p>
        </p:txBody>
      </p:sp>
      <p:sp>
        <p:nvSpPr>
          <p:cNvPr id="16" name="TextBox 15"/>
          <p:cNvSpPr txBox="1"/>
          <p:nvPr/>
        </p:nvSpPr>
        <p:spPr>
          <a:xfrm>
            <a:off x="725869" y="4520385"/>
            <a:ext cx="21432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structured</a:t>
            </a:r>
            <a:endParaRPr lang="fr-FR" sz="2400"/>
          </a:p>
          <a:p>
            <a:r>
              <a:rPr lang="fr-FR" sz="2400" b="1"/>
              <a:t>schema</a:t>
            </a:r>
            <a:r>
              <a:rPr lang="fr-FR" sz="2400" b="1"/>
              <a:t> </a:t>
            </a:r>
            <a:r>
              <a:rPr lang="fr-FR" sz="2400" b="1"/>
              <a:t>is</a:t>
            </a:r>
            <a:r>
              <a:rPr lang="fr-FR" sz="2400" b="1"/>
              <a:t> strict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9988" y="5351381"/>
            <a:ext cx="1280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.parquet</a:t>
            </a:r>
          </a:p>
        </p:txBody>
      </p:sp>
      <p:sp>
        <p:nvSpPr>
          <p:cNvPr id="18" name="Arrow: Right 17"/>
          <p:cNvSpPr/>
          <p:nvPr/>
        </p:nvSpPr>
        <p:spPr>
          <a:xfrm>
            <a:off x="5462017" y="5437107"/>
            <a:ext cx="495691" cy="1978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9" name="TextBox 18"/>
          <p:cNvSpPr txBox="1"/>
          <p:nvPr/>
        </p:nvSpPr>
        <p:spPr>
          <a:xfrm>
            <a:off x="6218310" y="5239484"/>
            <a:ext cx="56239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included</a:t>
            </a:r>
            <a:r>
              <a:rPr lang="fr-FR" sz="2400"/>
              <a:t> in parquet file </a:t>
            </a:r>
            <a:r>
              <a:rPr lang="fr-FR" sz="2400"/>
              <a:t>footer</a:t>
            </a:r>
            <a:r>
              <a:rPr lang="fr-FR" sz="2400"/>
              <a:t>  (= </a:t>
            </a:r>
            <a:r>
              <a:rPr lang="fr-FR" sz="2400"/>
              <a:t>metadata</a:t>
            </a:r>
            <a:r>
              <a:rPr lang="fr-FR" sz="2400"/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9988" y="4270294"/>
            <a:ext cx="13176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thrift</a:t>
            </a:r>
            <a:endParaRPr lang="fr-FR" sz="2400"/>
          </a:p>
          <a:p>
            <a:r>
              <a:rPr lang="fr-FR" sz="2400"/>
              <a:t>protobuf</a:t>
            </a:r>
            <a:endParaRPr lang="fr-FR"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SDK / Converter / </a:t>
            </a:r>
            <a:r>
              <a:rPr lang="fr-FR"/>
              <a:t>ObjectModel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14477" y="1981200"/>
            <a:ext cx="10163046" cy="41656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262" y="2766218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</a:t>
            </a:r>
            <a:r>
              <a:rPr lang="fr-FR"/>
              <a:t>separates</a:t>
            </a:r>
            <a:r>
              <a:rPr lang="fr-FR"/>
              <a:t> Data and </a:t>
            </a:r>
            <a:r>
              <a:rPr lang="fr-FR"/>
              <a:t>MetaData</a:t>
            </a:r>
            <a:endParaRPr lang="fr-F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</a:t>
            </a:r>
            <a:r>
              <a:rPr lang="fr-FR"/>
              <a:t>Schema</a:t>
            </a:r>
            <a:r>
              <a:rPr lang="fr-FR"/>
              <a:t> : in </a:t>
            </a:r>
            <a:r>
              <a:rPr lang="fr-FR"/>
              <a:t>metadata</a:t>
            </a:r>
            <a:r>
              <a:rPr lang="fr-FR"/>
              <a:t> </a:t>
            </a:r>
            <a:r>
              <a:rPr lang="fr-FR"/>
              <a:t>footer</a:t>
            </a:r>
            <a:endParaRPr lang="fr-FR"/>
          </a:p>
        </p:txBody>
      </p:sp>
      <p:sp>
        <p:nvSpPr>
          <p:cNvPr id="4" name="Rectangle: Folded Corner 3"/>
          <p:cNvSpPr/>
          <p:nvPr/>
        </p:nvSpPr>
        <p:spPr>
          <a:xfrm>
            <a:off x="5258091" y="2363651"/>
            <a:ext cx="3987508" cy="3626397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5343473" y="4546781"/>
            <a:ext cx="3409003" cy="129158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5472066" y="4693465"/>
            <a:ext cx="3201524" cy="59626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SCHEMA: </a:t>
            </a:r>
            <a:r>
              <a:rPr lang="fr-FR"/>
              <a:t>struct</a:t>
            </a:r>
            <a:r>
              <a:rPr lang="fr-FR"/>
              <a:t>&lt;</a:t>
            </a:r>
            <a:r>
              <a:rPr lang="fr-FR"/>
              <a:t>a:int</a:t>
            </a:r>
            <a:r>
              <a:rPr lang="fr-FR"/>
              <a:t>, b: string, c:map&lt;int,array&lt;...&gt;&gt;  .. 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3456" y="2029094"/>
            <a:ext cx="1278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file.parquet</a:t>
            </a:r>
            <a:endParaRPr lang="fr-FR"/>
          </a:p>
        </p:txBody>
      </p:sp>
      <p:sp>
        <p:nvSpPr>
          <p:cNvPr id="9" name="Left Brace 8"/>
          <p:cNvSpPr/>
          <p:nvPr/>
        </p:nvSpPr>
        <p:spPr>
          <a:xfrm>
            <a:off x="4223656" y="4693465"/>
            <a:ext cx="348343" cy="1144906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Left Brace 9"/>
          <p:cNvSpPr/>
          <p:nvPr/>
        </p:nvSpPr>
        <p:spPr>
          <a:xfrm>
            <a:off x="4223655" y="2398425"/>
            <a:ext cx="348343" cy="214835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683817" y="3163950"/>
            <a:ext cx="2994218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data part</a:t>
            </a:r>
            <a:endParaRPr lang="fr-FR"/>
          </a:p>
          <a:p>
            <a:r>
              <a:rPr lang="fr-FR"/>
              <a:t>(</a:t>
            </a:r>
            <a:r>
              <a:rPr lang="fr-FR"/>
              <a:t>usually</a:t>
            </a:r>
            <a:r>
              <a:rPr lang="fr-FR"/>
              <a:t> N x blocks of 128 Mo)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3816" y="4880322"/>
            <a:ext cx="3344442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footer</a:t>
            </a:r>
            <a:r>
              <a:rPr lang="fr-FR" sz="2800"/>
              <a:t>: </a:t>
            </a:r>
            <a:r>
              <a:rPr lang="fr-FR" sz="2800"/>
              <a:t>metadata</a:t>
            </a:r>
            <a:r>
              <a:rPr lang="fr-FR" sz="2800"/>
              <a:t> part</a:t>
            </a:r>
            <a:endParaRPr lang="fr-FR"/>
          </a:p>
          <a:p>
            <a:r>
              <a:rPr lang="fr-FR"/>
              <a:t>(</a:t>
            </a:r>
            <a:r>
              <a:rPr lang="fr-FR"/>
              <a:t>usually</a:t>
            </a:r>
            <a:r>
              <a:rPr lang="fr-FR"/>
              <a:t> &lt;= 50 ko 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for Small Files ?</a:t>
            </a:r>
          </a:p>
        </p:txBody>
      </p:sp>
      <p:sp>
        <p:nvSpPr>
          <p:cNvPr id="4" name="Rectangle: Folded Corner 3"/>
          <p:cNvSpPr/>
          <p:nvPr/>
        </p:nvSpPr>
        <p:spPr>
          <a:xfrm>
            <a:off x="5548378" y="2373424"/>
            <a:ext cx="3987508" cy="2111151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5633760" y="3041308"/>
            <a:ext cx="3409003" cy="129158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5762352" y="3187991"/>
            <a:ext cx="3182355" cy="778421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SCHEMA: </a:t>
            </a:r>
            <a:r>
              <a:rPr lang="fr-FR"/>
              <a:t>struct</a:t>
            </a:r>
            <a:r>
              <a:rPr lang="fr-FR"/>
              <a:t>&lt;</a:t>
            </a:r>
            <a:r>
              <a:rPr lang="fr-FR"/>
              <a:t>a:int</a:t>
            </a:r>
            <a:r>
              <a:rPr lang="fr-FR"/>
              <a:t>, b: string, c:map&lt;int,array&lt;...&gt;&gt;  .. 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75396" y="1939972"/>
            <a:ext cx="1821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small</a:t>
            </a:r>
            <a:r>
              <a:rPr lang="fr-FR"/>
              <a:t> </a:t>
            </a:r>
            <a:r>
              <a:rPr lang="fr-FR"/>
              <a:t>file.parquet</a:t>
            </a:r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5642321" y="2567312"/>
            <a:ext cx="3400442" cy="175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Left Brace 8"/>
          <p:cNvSpPr/>
          <p:nvPr/>
        </p:nvSpPr>
        <p:spPr>
          <a:xfrm>
            <a:off x="4888586" y="3158784"/>
            <a:ext cx="348343" cy="1144906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Left Brace 9"/>
          <p:cNvSpPr/>
          <p:nvPr/>
        </p:nvSpPr>
        <p:spPr>
          <a:xfrm>
            <a:off x="4888585" y="2504528"/>
            <a:ext cx="348343" cy="269343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2033532" y="3158784"/>
            <a:ext cx="269932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parquet files </a:t>
            </a:r>
            <a:br>
              <a:rPr lang="fr-FR" sz="2000"/>
            </a:br>
            <a:r>
              <a:rPr lang="fr-FR" sz="2000"/>
              <a:t>ALWAYS have an </a:t>
            </a:r>
          </a:p>
          <a:p>
            <a:r>
              <a:rPr lang="fr-FR" sz="2000"/>
              <a:t>uncompressable</a:t>
            </a:r>
            <a:r>
              <a:rPr lang="fr-FR" sz="2000"/>
              <a:t>  </a:t>
            </a:r>
            <a:r>
              <a:rPr lang="fr-FR" sz="2000"/>
              <a:t>footer</a:t>
            </a:r>
            <a:r>
              <a:rPr lang="fr-FR" sz="2000"/>
              <a:t>,</a:t>
            </a:r>
          </a:p>
          <a:p>
            <a:r>
              <a:rPr lang="fr-FR" sz="2000"/>
              <a:t>containing</a:t>
            </a:r>
            <a:r>
              <a:rPr lang="fr-FR" sz="2000"/>
              <a:t> SCHEMA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3532" y="2213369"/>
            <a:ext cx="24885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data part can </a:t>
            </a:r>
            <a:r>
              <a:rPr lang="fr-FR" sz="2000"/>
              <a:t>be</a:t>
            </a:r>
            <a:r>
              <a:rPr lang="fr-FR" sz="2000"/>
              <a:t> </a:t>
            </a:r>
            <a:r>
              <a:rPr lang="fr-FR" sz="2000"/>
              <a:t>small</a:t>
            </a:r>
            <a:br>
              <a:rPr lang="fr-FR" sz="2000"/>
            </a:br>
            <a:r>
              <a:rPr lang="fr-FR" sz="2000"/>
              <a:t>(</a:t>
            </a:r>
            <a:r>
              <a:rPr lang="fr-FR" sz="2000"/>
              <a:t>even</a:t>
            </a:r>
            <a:r>
              <a:rPr lang="fr-FR" sz="2000"/>
              <a:t> </a:t>
            </a:r>
            <a:r>
              <a:rPr lang="fr-FR" sz="2000"/>
              <a:t>empty</a:t>
            </a:r>
            <a:r>
              <a:rPr lang="fr-FR" sz="2000"/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8585" y="5107158"/>
            <a:ext cx="577138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Parquet for </a:t>
            </a:r>
            <a:r>
              <a:rPr lang="fr-FR" sz="2800"/>
              <a:t>small</a:t>
            </a:r>
            <a:r>
              <a:rPr lang="fr-FR" sz="2800"/>
              <a:t> data </a:t>
            </a:r>
            <a:r>
              <a:rPr lang="fr-FR" sz="2800"/>
              <a:t>is</a:t>
            </a:r>
            <a:r>
              <a:rPr lang="fr-FR" sz="2800"/>
              <a:t> NOT efficient </a:t>
            </a:r>
          </a:p>
          <a:p>
            <a:r>
              <a:rPr lang="fr-FR" sz="2800"/>
              <a:t>bad</a:t>
            </a:r>
            <a:r>
              <a:rPr lang="fr-FR" sz="2800"/>
              <a:t> ratio  of  "data / </a:t>
            </a:r>
            <a:r>
              <a:rPr lang="fr-FR" sz="2800"/>
              <a:t>metadata</a:t>
            </a:r>
            <a:r>
              <a:rPr lang="fr-FR" sz="2800"/>
              <a:t>" size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Read Parquet </a:t>
            </a:r>
            <a:r>
              <a:rPr lang="fr-FR"/>
              <a:t>footer</a:t>
            </a:r>
            <a:r>
              <a:rPr lang="fr-FR"/>
              <a:t> </a:t>
            </a:r>
            <a:r>
              <a:rPr lang="fr-FR"/>
              <a:t>only</a:t>
            </a:r>
            <a:endParaRPr lang="fr-FR"/>
          </a:p>
        </p:txBody>
      </p:sp>
      <p:sp>
        <p:nvSpPr>
          <p:cNvPr id="4" name="Rectangle: Folded Corner 3"/>
          <p:cNvSpPr/>
          <p:nvPr/>
        </p:nvSpPr>
        <p:spPr>
          <a:xfrm>
            <a:off x="6351129" y="2454690"/>
            <a:ext cx="3987508" cy="4129224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6436511" y="4637820"/>
            <a:ext cx="3409003" cy="129158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6565104" y="4784504"/>
            <a:ext cx="3201524" cy="59626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SCHEMA: </a:t>
            </a:r>
            <a:r>
              <a:rPr lang="fr-FR"/>
              <a:t>struct</a:t>
            </a:r>
            <a:r>
              <a:rPr lang="fr-FR"/>
              <a:t>&lt;</a:t>
            </a:r>
            <a:r>
              <a:rPr lang="fr-FR"/>
              <a:t>a:int</a:t>
            </a:r>
            <a:r>
              <a:rPr lang="fr-FR"/>
              <a:t>, b: string, c:map&lt;int,array&lt;...&gt;&gt;  .. 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6494" y="2120133"/>
            <a:ext cx="1278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file.parquet</a:t>
            </a:r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6436511" y="6119513"/>
            <a:ext cx="2677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last bytes:  </a:t>
            </a:r>
            <a:r>
              <a:rPr lang="fr-FR" b="1"/>
              <a:t>&lt;&lt;</a:t>
            </a:r>
            <a:r>
              <a:rPr lang="fr-FR" b="1"/>
              <a:t>footer</a:t>
            </a:r>
            <a:r>
              <a:rPr lang="fr-FR" b="1"/>
              <a:t> size&gt;&gt;</a:t>
            </a:r>
          </a:p>
        </p:txBody>
      </p:sp>
      <p:sp>
        <p:nvSpPr>
          <p:cNvPr id="9" name="Arrow: Down 8"/>
          <p:cNvSpPr/>
          <p:nvPr/>
        </p:nvSpPr>
        <p:spPr>
          <a:xfrm rot="20785611">
            <a:off x="2311567" y="2362864"/>
            <a:ext cx="336646" cy="3944867"/>
          </a:xfrm>
          <a:prstGeom prst="down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Down 9"/>
          <p:cNvSpPr/>
          <p:nvPr/>
        </p:nvSpPr>
        <p:spPr>
          <a:xfrm rot="20854962">
            <a:off x="4732246" y="4728480"/>
            <a:ext cx="364713" cy="11928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556418" y="1932184"/>
            <a:ext cx="35917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1/ </a:t>
            </a:r>
            <a:r>
              <a:rPr lang="fr-FR" sz="2400" b="1"/>
              <a:t>query</a:t>
            </a:r>
            <a:r>
              <a:rPr lang="fr-FR" sz="2400" b="1"/>
              <a:t> File </a:t>
            </a:r>
            <a:r>
              <a:rPr lang="fr-FR" sz="2400" b="1"/>
              <a:t>length</a:t>
            </a:r>
            <a:r>
              <a:rPr lang="fr-FR" sz="2400" b="1"/>
              <a:t> =&gt; </a:t>
            </a:r>
            <a:r>
              <a:rPr lang="fr-FR" sz="2400" b="1"/>
              <a:t>len</a:t>
            </a:r>
            <a:r>
              <a:rPr lang="fr-FR" sz="2400" b="1"/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3125" y="6213140"/>
            <a:ext cx="4941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2/ </a:t>
            </a:r>
            <a:r>
              <a:rPr lang="fr-FR" sz="2400" b="1"/>
              <a:t>read</a:t>
            </a:r>
            <a:r>
              <a:rPr lang="fr-FR" sz="2400" b="1"/>
              <a:t> last bytes       [len-4, </a:t>
            </a:r>
            <a:r>
              <a:rPr lang="fr-FR" sz="2400" b="1"/>
              <a:t>len</a:t>
            </a:r>
            <a:r>
              <a:rPr lang="fr-FR" sz="2400" b="1"/>
              <a:t>] =&gt; 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1729" y="4018422"/>
            <a:ext cx="3398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3/ </a:t>
            </a:r>
            <a:r>
              <a:rPr lang="fr-FR" sz="2400" b="1"/>
              <a:t>read</a:t>
            </a:r>
            <a:r>
              <a:rPr lang="fr-FR" sz="2400" b="1"/>
              <a:t> </a:t>
            </a:r>
            <a:r>
              <a:rPr lang="fr-FR" sz="2400" b="1"/>
              <a:t>footer</a:t>
            </a:r>
            <a:r>
              <a:rPr lang="fr-FR" sz="2400" b="1"/>
              <a:t> [</a:t>
            </a:r>
            <a:r>
              <a:rPr lang="fr-FR" sz="2400" b="1"/>
              <a:t>len</a:t>
            </a:r>
            <a:r>
              <a:rPr lang="fr-FR" sz="2400" b="1"/>
              <a:t>-F, </a:t>
            </a:r>
            <a:r>
              <a:rPr lang="fr-FR" sz="2400" b="1"/>
              <a:t>len</a:t>
            </a:r>
            <a:r>
              <a:rPr lang="fr-FR" sz="2400" b="1"/>
              <a:t>]</a:t>
            </a:r>
          </a:p>
        </p:txBody>
      </p:sp>
      <p:sp>
        <p:nvSpPr>
          <p:cNvPr id="15" name="Arrow: Down 14"/>
          <p:cNvSpPr/>
          <p:nvPr/>
        </p:nvSpPr>
        <p:spPr>
          <a:xfrm rot="20854962">
            <a:off x="428595" y="1215403"/>
            <a:ext cx="364713" cy="6855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Arrow: Down 15"/>
          <p:cNvSpPr/>
          <p:nvPr/>
        </p:nvSpPr>
        <p:spPr>
          <a:xfrm rot="20785611">
            <a:off x="3656220" y="6224843"/>
            <a:ext cx="377847" cy="52800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13288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Why</a:t>
            </a:r>
            <a:r>
              <a:rPr lang="fr-FR"/>
              <a:t> </a:t>
            </a:r>
            <a:r>
              <a:rPr lang="fr-FR"/>
              <a:t>Footer</a:t>
            </a:r>
            <a:r>
              <a:rPr lang="fr-FR"/>
              <a:t> </a:t>
            </a:r>
            <a:r>
              <a:rPr lang="fr-FR"/>
              <a:t>instead</a:t>
            </a:r>
            <a:r>
              <a:rPr lang="fr-FR"/>
              <a:t> of Header?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57828" y="2598057"/>
            <a:ext cx="1031583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For </a:t>
            </a:r>
            <a:r>
              <a:rPr lang="fr-FR" sz="3200"/>
              <a:t>reader</a:t>
            </a:r>
            <a:r>
              <a:rPr lang="fr-FR" sz="3200"/>
              <a:t> : not a big </a:t>
            </a:r>
            <a:r>
              <a:rPr lang="fr-FR" sz="3200"/>
              <a:t>overhead</a:t>
            </a:r>
            <a:r>
              <a:rPr lang="fr-FR" sz="3200"/>
              <a:t>,  ONLY  3 calls to </a:t>
            </a:r>
            <a:r>
              <a:rPr lang="fr-FR" sz="3200"/>
              <a:t>read</a:t>
            </a:r>
            <a:endParaRPr lang="fr-FR" sz="3200"/>
          </a:p>
          <a:p>
            <a:endParaRPr lang="fr-FR" sz="3200"/>
          </a:p>
          <a:p>
            <a:endParaRPr lang="fr-FR" sz="3200"/>
          </a:p>
          <a:p>
            <a:r>
              <a:rPr lang="fr-FR" sz="3200"/>
              <a:t>For </a:t>
            </a:r>
            <a:r>
              <a:rPr lang="fr-FR" sz="3200"/>
              <a:t>writer</a:t>
            </a:r>
            <a:r>
              <a:rPr lang="fr-FR" sz="3200"/>
              <a:t> : MUCH more </a:t>
            </a:r>
            <a:r>
              <a:rPr lang="fr-FR" sz="3200"/>
              <a:t>practical</a:t>
            </a:r>
            <a:r>
              <a:rPr lang="fr-FR" sz="3200"/>
              <a:t> to "</a:t>
            </a:r>
            <a:r>
              <a:rPr lang="fr-FR" sz="3200"/>
              <a:t>stream</a:t>
            </a:r>
            <a:r>
              <a:rPr lang="fr-FR" sz="3200"/>
              <a:t>" </a:t>
            </a:r>
            <a:r>
              <a:rPr lang="fr-FR" sz="3200"/>
              <a:t>write</a:t>
            </a:r>
            <a:r>
              <a:rPr lang="fr-FR" sz="3200"/>
              <a:t> </a:t>
            </a:r>
            <a:r>
              <a:rPr lang="fr-FR" sz="3200"/>
              <a:t>Nx</a:t>
            </a:r>
            <a:r>
              <a:rPr lang="fr-FR" sz="3200"/>
              <a:t> </a:t>
            </a:r>
            <a:r>
              <a:rPr lang="fr-FR" sz="3200"/>
              <a:t>rows</a:t>
            </a:r>
            <a:r>
              <a:rPr lang="fr-FR" sz="3200"/>
              <a:t>, </a:t>
            </a:r>
            <a:br>
              <a:rPr lang="fr-FR" sz="3200"/>
            </a:br>
            <a:r>
              <a:rPr lang="fr-FR" sz="3200"/>
              <a:t>                     </a:t>
            </a:r>
            <a:r>
              <a:rPr lang="fr-FR" sz="3200"/>
              <a:t>keep</a:t>
            </a:r>
            <a:r>
              <a:rPr lang="fr-FR" sz="3200"/>
              <a:t> in-memory </a:t>
            </a:r>
            <a:r>
              <a:rPr lang="fr-FR" sz="3200"/>
              <a:t>only</a:t>
            </a:r>
            <a:r>
              <a:rPr lang="fr-FR" sz="3200"/>
              <a:t> few </a:t>
            </a:r>
            <a:r>
              <a:rPr lang="fr-FR" sz="3200"/>
              <a:t>metadata</a:t>
            </a:r>
            <a:r>
              <a:rPr lang="fr-FR" sz="3200"/>
              <a:t>, </a:t>
            </a:r>
            <a:br>
              <a:rPr lang="fr-FR" sz="3200"/>
            </a:br>
            <a:r>
              <a:rPr lang="fr-FR" sz="3200"/>
              <a:t>                     to flush </a:t>
            </a:r>
            <a:r>
              <a:rPr lang="fr-FR" sz="3200"/>
              <a:t>write</a:t>
            </a:r>
            <a:r>
              <a:rPr lang="fr-FR" sz="3200"/>
              <a:t> at 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27439"/>
          </a:xfrm>
          <a:prstGeom prst="rect">
            <a:avLst/>
          </a:prstGeom>
        </p:spPr>
        <p:txBody>
          <a:bodyPr/>
          <a:lstStyle/>
          <a:p>
            <a:pPr algn="ctr"/>
            <a:r>
              <a:rPr/>
              <a:t>Schema Evolution</a:t>
            </a:r>
          </a:p>
        </p:txBody>
      </p:sp>
      <p:sp>
        <p:nvSpPr>
          <p:cNvPr id="2215" name="Content Placeholder 2"/>
          <p:cNvSpPr>
            <a:spLocks noGrp="1"/>
          </p:cNvSpPr>
          <p:nvPr>
            <p:ph idx="1"/>
          </p:nvPr>
        </p:nvSpPr>
        <p:spPr>
          <a:xfrm>
            <a:off x="838200" y="1625600"/>
            <a:ext cx="10515600" cy="1778000"/>
          </a:xfrm>
          <a:prstGeom prst="rect">
            <a:avLst/>
          </a:prstGeom>
        </p:spPr>
        <p:txBody>
          <a:bodyPr/>
          <a:lstStyle/>
          <a:p>
            <a:r>
              <a:rPr/>
              <a:t>Adding columns: old files read as NULL</a:t>
            </a:r>
          </a:p>
          <a:p>
            <a:r>
              <a:rPr/>
              <a:t>Renaming columns: seen as drop + add</a:t>
            </a:r>
          </a:p>
          <a:p>
            <a:r>
              <a:rPr/>
              <a:t>Mismatched types: fail, or widened if compatible</a:t>
            </a:r>
          </a:p>
        </p:txBody>
      </p:sp>
      <p:sp>
        <p:nvSpPr>
          <p:cNvPr id="2216" name="Rectangle 3"/>
          <p:cNvSpPr/>
          <p:nvPr/>
        </p:nvSpPr>
        <p:spPr>
          <a:xfrm>
            <a:off x="838200" y="4368800"/>
            <a:ext cx="2540000" cy="698500"/>
          </a:xfrm>
          <a:prstGeom prst="round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file_v1</a:t>
            </a:r>
            <a:endParaRPr>
              <a:solidFill>
                <a:srgbClr val="1F1F1F"/>
              </a:solidFill>
            </a:endParaRPr>
          </a:p>
          <a:p>
            <a:pPr algn="ctr"/>
            <a:r>
              <a:rPr>
                <a:solidFill>
                  <a:srgbClr val="1F1F1F"/>
                </a:solidFill>
              </a:rPr>
              <a:t>id, name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217" name="Rectangle 4"/>
          <p:cNvSpPr/>
          <p:nvPr/>
        </p:nvSpPr>
        <p:spPr>
          <a:xfrm>
            <a:off x="4826000" y="4368800"/>
            <a:ext cx="2540000" cy="698500"/>
          </a:xfrm>
          <a:prstGeom prst="roundRect">
            <a:avLst/>
          </a:prstGeom>
          <a:solidFill>
            <a:srgbClr val="E2F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file_v2</a:t>
            </a:r>
            <a:endParaRPr>
              <a:solidFill>
                <a:srgbClr val="1F1F1F"/>
              </a:solidFill>
            </a:endParaRPr>
          </a:p>
          <a:p>
            <a:pPr algn="ctr"/>
            <a:r>
              <a:rPr>
                <a:solidFill>
                  <a:srgbClr val="1F1F1F"/>
                </a:solidFill>
              </a:rPr>
              <a:t>id, name, email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218" name="Rectangle 5"/>
          <p:cNvSpPr/>
          <p:nvPr/>
        </p:nvSpPr>
        <p:spPr>
          <a:xfrm>
            <a:off x="8813800" y="4368800"/>
            <a:ext cx="2540000" cy="698500"/>
          </a:xfrm>
          <a:prstGeom prst="roundRect">
            <a:avLst/>
          </a:prstGeom>
          <a:solidFill>
            <a:srgbClr val="E2F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file_v3</a:t>
            </a:r>
            <a:endParaRPr>
              <a:solidFill>
                <a:srgbClr val="1F1F1F"/>
              </a:solidFill>
            </a:endParaRPr>
          </a:p>
          <a:p>
            <a:pPr algn="ctr"/>
            <a:r>
              <a:rPr>
                <a:solidFill>
                  <a:srgbClr val="1F1F1F"/>
                </a:solidFill>
              </a:rPr>
              <a:t>id, full_name, email</a:t>
            </a:r>
            <a:endParaRPr>
              <a:solidFill>
                <a:srgbClr val="1F1F1F"/>
              </a:solidFill>
            </a:endParaRPr>
          </a:p>
        </p:txBody>
      </p:sp>
      <p:graphicFrame>
        <p:nvGraphicFramePr>
          <p:cNvPr id="2219" name="Table 6"/>
          <p:cNvGraphicFramePr>
            <a:graphicFrameLocks noGrp="1"/>
          </p:cNvGraphicFramePr>
          <p:nvPr/>
        </p:nvGraphicFramePr>
        <p:xfrm>
          <a:off x="838200" y="5232400"/>
          <a:ext cx="7620000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1524000"/>
                <a:gridCol w="1524000"/>
                <a:gridCol w="1524000"/>
                <a:gridCol w="1524000"/>
              </a:tblGrid>
              <a:tr h="381000">
                <a:tc>
                  <a:txBody>
                    <a:bodyPr/>
                    <a:lstStyle/>
                    <a:p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full_name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/>
                        <a:t>file_v1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Ann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NULL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/>
                        <a:t>file_v2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bob@x.com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NULL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/>
                        <a:t>file_v3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cy@x.com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Cy C.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20" name="Rectangle 7"/>
          <p:cNvSpPr/>
          <p:nvPr/>
        </p:nvSpPr>
        <p:spPr>
          <a:xfrm>
            <a:off x="8763000" y="5232400"/>
            <a:ext cx="2590800" cy="1270000"/>
          </a:xfrm>
          <a:prstGeom prst="roundRect">
            <a:avLst/>
          </a:prstGeom>
          <a:solidFill>
            <a:srgbClr val="F8D7DA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7F0000"/>
                </a:solidFill>
              </a:rPr>
              <a:t>Type conflict: age is int in v1, string in v4 → read fails, or type widened</a:t>
            </a:r>
            <a:endParaRPr>
              <a:solidFill>
                <a:srgbClr val="7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84046"/>
          </a:xfrm>
          <a:prstGeom prst="rect">
            <a:avLst/>
          </a:prstGeom>
        </p:spPr>
        <p:txBody>
          <a:bodyPr/>
          <a:lstStyle/>
          <a:p>
            <a:pPr algn="ctr"/>
            <a:r>
              <a:rPr/>
              <a:t>mergeSchema</a:t>
            </a:r>
          </a:p>
        </p:txBody>
      </p:sp>
      <p:sp>
        <p:nvSpPr>
          <p:cNvPr id="2229" name="Rectangle 5"/>
          <p:cNvSpPr/>
          <p:nvPr/>
        </p:nvSpPr>
        <p:spPr>
          <a:xfrm>
            <a:off x="838200" y="3835400"/>
            <a:ext cx="1143000" cy="1016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file_1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230" name="Rectangle 6"/>
          <p:cNvSpPr/>
          <p:nvPr/>
        </p:nvSpPr>
        <p:spPr>
          <a:xfrm>
            <a:off x="2108200" y="3835400"/>
            <a:ext cx="1143000" cy="1016000"/>
          </a:xfrm>
          <a:prstGeom prst="rect">
            <a:avLst/>
          </a:prstGeom>
          <a:solidFill>
            <a:srgbClr val="EDEDE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808080"/>
                </a:solidFill>
              </a:rPr>
              <a:t>file_2</a:t>
            </a:r>
            <a:endParaRPr>
              <a:solidFill>
                <a:srgbClr val="808080"/>
              </a:solidFill>
            </a:endParaRPr>
          </a:p>
        </p:txBody>
      </p:sp>
      <p:sp>
        <p:nvSpPr>
          <p:cNvPr id="2231" name="Rectangle 7"/>
          <p:cNvSpPr/>
          <p:nvPr/>
        </p:nvSpPr>
        <p:spPr>
          <a:xfrm>
            <a:off x="3378200" y="3835400"/>
            <a:ext cx="1143000" cy="1016000"/>
          </a:xfrm>
          <a:prstGeom prst="rect">
            <a:avLst/>
          </a:prstGeom>
          <a:solidFill>
            <a:srgbClr val="EDEDE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808080"/>
                </a:solidFill>
              </a:rPr>
              <a:t>file_3</a:t>
            </a:r>
            <a:endParaRPr>
              <a:solidFill>
                <a:srgbClr val="808080"/>
              </a:solidFill>
            </a:endParaRPr>
          </a:p>
        </p:txBody>
      </p:sp>
      <p:sp>
        <p:nvSpPr>
          <p:cNvPr id="2232" name="Rectangle 8"/>
          <p:cNvSpPr/>
          <p:nvPr/>
        </p:nvSpPr>
        <p:spPr>
          <a:xfrm>
            <a:off x="4648200" y="3835400"/>
            <a:ext cx="1143000" cy="1016000"/>
          </a:xfrm>
          <a:prstGeom prst="rect">
            <a:avLst/>
          </a:prstGeom>
          <a:solidFill>
            <a:srgbClr val="EDEDE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808080"/>
                </a:solidFill>
              </a:rPr>
              <a:t>file_4</a:t>
            </a:r>
            <a:endParaRPr>
              <a:solidFill>
                <a:srgbClr val="808080"/>
              </a:solidFill>
            </a:endParaRPr>
          </a:p>
        </p:txBody>
      </p:sp>
      <p:sp>
        <p:nvSpPr>
          <p:cNvPr id="2233" name="Rectangle 9"/>
          <p:cNvSpPr/>
          <p:nvPr/>
        </p:nvSpPr>
        <p:spPr>
          <a:xfrm>
            <a:off x="6273800" y="3835400"/>
            <a:ext cx="1143000" cy="1016000"/>
          </a:xfrm>
          <a:prstGeom prst="rect">
            <a:avLst/>
          </a:prstGeom>
          <a:solidFill>
            <a:srgbClr val="E2F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file_1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234" name="Rectangle 10"/>
          <p:cNvSpPr/>
          <p:nvPr/>
        </p:nvSpPr>
        <p:spPr>
          <a:xfrm>
            <a:off x="7543800" y="3835400"/>
            <a:ext cx="1143000" cy="1016000"/>
          </a:xfrm>
          <a:prstGeom prst="rect">
            <a:avLst/>
          </a:prstGeom>
          <a:solidFill>
            <a:srgbClr val="E2F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file_2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235" name="Rectangle 11"/>
          <p:cNvSpPr/>
          <p:nvPr/>
        </p:nvSpPr>
        <p:spPr>
          <a:xfrm>
            <a:off x="8813800" y="3835400"/>
            <a:ext cx="1143000" cy="1016000"/>
          </a:xfrm>
          <a:prstGeom prst="rect">
            <a:avLst/>
          </a:prstGeom>
          <a:solidFill>
            <a:srgbClr val="E2F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file_3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236" name="Rectangle 12"/>
          <p:cNvSpPr/>
          <p:nvPr/>
        </p:nvSpPr>
        <p:spPr>
          <a:xfrm>
            <a:off x="10083800" y="3835400"/>
            <a:ext cx="1143000" cy="1016000"/>
          </a:xfrm>
          <a:prstGeom prst="rect">
            <a:avLst/>
          </a:prstGeom>
          <a:solidFill>
            <a:srgbClr val="E2F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file_4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237" name="Arrow 13"/>
          <p:cNvSpPr/>
          <p:nvPr/>
        </p:nvSpPr>
        <p:spPr>
          <a:xfrm>
            <a:off x="1320800" y="4902200"/>
            <a:ext cx="177800" cy="254000"/>
          </a:xfrm>
          <a:prstGeom prst="downArrow">
            <a:avLst/>
          </a:prstGeom>
          <a:solidFill>
            <a:srgbClr val="7F7F7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238" name="Rectangle 14"/>
          <p:cNvSpPr/>
          <p:nvPr/>
        </p:nvSpPr>
        <p:spPr>
          <a:xfrm>
            <a:off x="838200" y="5207000"/>
            <a:ext cx="5080000" cy="558800"/>
          </a:xfrm>
          <a:prstGeom prst="round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schema: id, name   (missing columns)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239" name="Arrow 15"/>
          <p:cNvSpPr/>
          <p:nvPr/>
        </p:nvSpPr>
        <p:spPr>
          <a:xfrm>
            <a:off x="6756400" y="4902200"/>
            <a:ext cx="177800" cy="254000"/>
          </a:xfrm>
          <a:prstGeom prst="downArrow">
            <a:avLst/>
          </a:prstGeom>
          <a:solidFill>
            <a:srgbClr val="7F7F7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240" name="Arrow 16"/>
          <p:cNvSpPr/>
          <p:nvPr/>
        </p:nvSpPr>
        <p:spPr>
          <a:xfrm>
            <a:off x="8026400" y="4902200"/>
            <a:ext cx="177800" cy="254000"/>
          </a:xfrm>
          <a:prstGeom prst="downArrow">
            <a:avLst/>
          </a:prstGeom>
          <a:solidFill>
            <a:srgbClr val="7F7F7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241" name="Arrow 17"/>
          <p:cNvSpPr/>
          <p:nvPr/>
        </p:nvSpPr>
        <p:spPr>
          <a:xfrm>
            <a:off x="9296400" y="4902200"/>
            <a:ext cx="177800" cy="254000"/>
          </a:xfrm>
          <a:prstGeom prst="downArrow">
            <a:avLst/>
          </a:prstGeom>
          <a:solidFill>
            <a:srgbClr val="7F7F7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242" name="Arrow 18"/>
          <p:cNvSpPr/>
          <p:nvPr/>
        </p:nvSpPr>
        <p:spPr>
          <a:xfrm>
            <a:off x="10566400" y="4902200"/>
            <a:ext cx="177800" cy="254000"/>
          </a:xfrm>
          <a:prstGeom prst="downArrow">
            <a:avLst/>
          </a:prstGeom>
          <a:solidFill>
            <a:srgbClr val="7F7F7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243" name="Rectangle 19"/>
          <p:cNvSpPr/>
          <p:nvPr/>
        </p:nvSpPr>
        <p:spPr>
          <a:xfrm>
            <a:off x="6273800" y="5207000"/>
            <a:ext cx="5080000" cy="558800"/>
          </a:xfrm>
          <a:prstGeom prst="roundRect">
            <a:avLst/>
          </a:prstGeom>
          <a:solidFill>
            <a:srgbClr val="E2F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merged: id, name, email   (all columns, null values)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244" name="Rectangle 20"/>
          <p:cNvSpPr/>
          <p:nvPr/>
        </p:nvSpPr>
        <p:spPr>
          <a:xfrm>
            <a:off x="838200" y="4521200"/>
            <a:ext cx="1143000" cy="330200"/>
          </a:xfrm>
          <a:prstGeom prst="rect">
            <a:avLst/>
          </a:prstGeom>
          <a:solidFill>
            <a:srgbClr val="BDD7E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1F1F1F"/>
                </a:solidFill>
              </a:rPr>
              <a:t>id, name</a:t>
            </a:r>
          </a:p>
        </p:txBody>
      </p:sp>
      <p:sp>
        <p:nvSpPr>
          <p:cNvPr id="2245" name="Rectangle 21"/>
          <p:cNvSpPr/>
          <p:nvPr/>
        </p:nvSpPr>
        <p:spPr>
          <a:xfrm>
            <a:off x="2108200" y="4521200"/>
            <a:ext cx="1143000" cy="33020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808080"/>
                </a:solidFill>
              </a:rPr>
              <a:t>not read</a:t>
            </a:r>
          </a:p>
        </p:txBody>
      </p:sp>
      <p:sp>
        <p:nvSpPr>
          <p:cNvPr id="2246" name="Rectangle 22"/>
          <p:cNvSpPr/>
          <p:nvPr/>
        </p:nvSpPr>
        <p:spPr>
          <a:xfrm>
            <a:off x="3378200" y="4521200"/>
            <a:ext cx="1143000" cy="33020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808080"/>
                </a:solidFill>
              </a:rPr>
              <a:t>not read</a:t>
            </a:r>
          </a:p>
        </p:txBody>
      </p:sp>
      <p:sp>
        <p:nvSpPr>
          <p:cNvPr id="2247" name="Rectangle 23"/>
          <p:cNvSpPr/>
          <p:nvPr/>
        </p:nvSpPr>
        <p:spPr>
          <a:xfrm>
            <a:off x="4648200" y="4521200"/>
            <a:ext cx="1143000" cy="33020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808080"/>
                </a:solidFill>
              </a:rPr>
              <a:t>not read</a:t>
            </a:r>
          </a:p>
        </p:txBody>
      </p:sp>
      <p:sp>
        <p:nvSpPr>
          <p:cNvPr id="2248" name="Rectangle 24"/>
          <p:cNvSpPr/>
          <p:nvPr/>
        </p:nvSpPr>
        <p:spPr>
          <a:xfrm>
            <a:off x="6273800" y="4521200"/>
            <a:ext cx="1143000" cy="330200"/>
          </a:xfrm>
          <a:prstGeom prst="rect">
            <a:avLst/>
          </a:prstGeom>
          <a:solidFill>
            <a:srgbClr val="C5E0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1F1F1F"/>
                </a:solidFill>
              </a:rPr>
              <a:t>id, name</a:t>
            </a:r>
          </a:p>
        </p:txBody>
      </p:sp>
      <p:sp>
        <p:nvSpPr>
          <p:cNvPr id="2249" name="Rectangle 25"/>
          <p:cNvSpPr/>
          <p:nvPr/>
        </p:nvSpPr>
        <p:spPr>
          <a:xfrm>
            <a:off x="7543800" y="4521200"/>
            <a:ext cx="1143000" cy="330200"/>
          </a:xfrm>
          <a:prstGeom prst="rect">
            <a:avLst/>
          </a:prstGeom>
          <a:solidFill>
            <a:srgbClr val="C5E0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1F1F1F"/>
                </a:solidFill>
              </a:rPr>
              <a:t>id, name, email</a:t>
            </a:r>
          </a:p>
        </p:txBody>
      </p:sp>
      <p:sp>
        <p:nvSpPr>
          <p:cNvPr id="2250" name="Rectangle 26"/>
          <p:cNvSpPr/>
          <p:nvPr/>
        </p:nvSpPr>
        <p:spPr>
          <a:xfrm>
            <a:off x="8813800" y="4521200"/>
            <a:ext cx="1143000" cy="330200"/>
          </a:xfrm>
          <a:prstGeom prst="rect">
            <a:avLst/>
          </a:prstGeom>
          <a:solidFill>
            <a:srgbClr val="C5E0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1F1F1F"/>
                </a:solidFill>
              </a:rPr>
              <a:t>id, name, email</a:t>
            </a:r>
          </a:p>
        </p:txBody>
      </p:sp>
      <p:sp>
        <p:nvSpPr>
          <p:cNvPr id="2251" name="Rectangle 27"/>
          <p:cNvSpPr/>
          <p:nvPr/>
        </p:nvSpPr>
        <p:spPr>
          <a:xfrm>
            <a:off x="10083800" y="4521200"/>
            <a:ext cx="1143000" cy="330200"/>
          </a:xfrm>
          <a:prstGeom prst="rect">
            <a:avLst/>
          </a:prstGeom>
          <a:solidFill>
            <a:srgbClr val="C5E0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1F1F1F"/>
                </a:solidFill>
              </a:rPr>
              <a:t>id, name, email</a:t>
            </a:r>
          </a:p>
        </p:txBody>
      </p:sp>
      <p:sp>
        <p:nvSpPr>
          <p:cNvPr id="2252" name="TextBox 27"/>
          <p:cNvSpPr txBox="1"/>
          <p:nvPr/>
        </p:nvSpPr>
        <p:spPr>
          <a:xfrm>
            <a:off x="4724400" y="3581400"/>
            <a:ext cx="2743200" cy="365760"/>
          </a:xfrm>
          <a:prstGeom prst="rect">
            <a:avLst/>
          </a:prstGeom>
        </p:spPr>
        <p:txBody>
          <a:bodyPr wrap="square">
            <a:spAutoFit/>
          </a:bodyPr>
          <a:lstStyle/>
          <a:p/>
        </p:txBody>
      </p:sp>
      <p:sp>
        <p:nvSpPr>
          <p:cNvPr id="2253" name="TextBox 28"/>
          <p:cNvSpPr txBox="1"/>
          <p:nvPr/>
        </p:nvSpPr>
        <p:spPr>
          <a:xfrm>
            <a:off x="4724400" y="3581400"/>
            <a:ext cx="2743200" cy="365760"/>
          </a:xfrm>
          <a:prstGeom prst="rect">
            <a:avLst/>
          </a:prstGeom>
        </p:spPr>
        <p:txBody>
          <a:bodyPr wrap="square">
            <a:spAutoFit/>
          </a:bodyPr>
          <a:lstStyle/>
          <a:p/>
        </p:txBody>
      </p:sp>
      <p:sp>
        <p:nvSpPr>
          <p:cNvPr id="2254" name="TextBox 29"/>
          <p:cNvSpPr txBox="1"/>
          <p:nvPr/>
        </p:nvSpPr>
        <p:spPr>
          <a:xfrm>
            <a:off x="1498600" y="1417320"/>
            <a:ext cx="3914104" cy="192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/>
              <a:t>Default = NO mergeSchema</a:t>
            </a:r>
            <a:br>
              <a:rPr sz="2400"/>
            </a:br>
            <a:endParaRPr sz="2400"/>
          </a:p>
          <a:p>
            <a:r>
              <a:rPr sz="2400"/>
              <a:t>only 1 file schema read </a:t>
            </a:r>
            <a:br>
              <a:rPr sz="2400"/>
            </a:br>
            <a:br>
              <a:rPr sz="2400"/>
            </a:br>
            <a:r>
              <a:rPr sz="2400"/>
              <a:t>= FASTER</a:t>
            </a:r>
            <a:endParaRPr sz="2400"/>
          </a:p>
        </p:txBody>
      </p:sp>
      <p:sp>
        <p:nvSpPr>
          <p:cNvPr id="2255" name="TextBox 29"/>
          <p:cNvSpPr txBox="1"/>
          <p:nvPr/>
        </p:nvSpPr>
        <p:spPr>
          <a:xfrm>
            <a:off x="6273800" y="1143000"/>
            <a:ext cx="5783568" cy="2194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/>
              <a:t>MergeSchema =true</a:t>
            </a:r>
            <a:br>
              <a:rPr sz="2400"/>
            </a:br>
            <a:r>
              <a:rPr/>
              <a:t>spark.read.option("mergeSchema", "true").load(..)</a:t>
            </a:r>
            <a:br>
              <a:rPr sz="2400"/>
            </a:br>
            <a:endParaRPr sz="2400"/>
          </a:p>
          <a:p>
            <a:r>
              <a:rPr sz="2400"/>
              <a:t>ALL file schemas read, then merged</a:t>
            </a:r>
            <a:br>
              <a:rPr sz="2400"/>
            </a:br>
            <a:br>
              <a:rPr sz="2400"/>
            </a:br>
            <a:r>
              <a:rPr sz="2400"/>
              <a:t>= SLOWER, but exhaustive, support evolution</a:t>
            </a:r>
            <a:endParaRPr sz="2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5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69895"/>
          </a:xfrm>
          <a:prstGeom prst="rect">
            <a:avLst/>
          </a:prstGeom>
        </p:spPr>
        <p:txBody>
          <a:bodyPr/>
          <a:lstStyle/>
          <a:p>
            <a:pPr algn="ctr"/>
            <a:r>
              <a:rPr/>
              <a:t>Parquet Files Schema Coercion </a:t>
            </a:r>
            <a:br>
              <a:rPr/>
            </a:br>
            <a:r>
              <a:rPr/>
              <a:t>from HiveMetastore Table DDL</a:t>
            </a:r>
          </a:p>
        </p:txBody>
      </p:sp>
      <p:sp>
        <p:nvSpPr>
          <p:cNvPr id="2257" name="Rectangle 3"/>
          <p:cNvSpPr/>
          <p:nvPr/>
        </p:nvSpPr>
        <p:spPr>
          <a:xfrm>
            <a:off x="838200" y="2794000"/>
            <a:ext cx="3302000" cy="10922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file_1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258" name="Rectangle 4"/>
          <p:cNvSpPr/>
          <p:nvPr/>
        </p:nvSpPr>
        <p:spPr>
          <a:xfrm>
            <a:off x="4445000" y="2794000"/>
            <a:ext cx="3302000" cy="10922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file_2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259" name="Rectangle 5"/>
          <p:cNvSpPr/>
          <p:nvPr/>
        </p:nvSpPr>
        <p:spPr>
          <a:xfrm>
            <a:off x="8051800" y="2794000"/>
            <a:ext cx="3302000" cy="10922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file_3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260" name="Rectangle 6"/>
          <p:cNvSpPr/>
          <p:nvPr/>
        </p:nvSpPr>
        <p:spPr>
          <a:xfrm>
            <a:off x="838200" y="3556000"/>
            <a:ext cx="3302000" cy="330200"/>
          </a:xfrm>
          <a:prstGeom prst="rect">
            <a:avLst/>
          </a:prstGeom>
          <a:solidFill>
            <a:srgbClr val="BDD7E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000">
                <a:solidFill>
                  <a:srgbClr val="1F1F1F"/>
                </a:solidFill>
              </a:rPr>
              <a:t>id INT, name STRING</a:t>
            </a:r>
            <a:endParaRPr sz="1000">
              <a:solidFill>
                <a:srgbClr val="1F1F1F"/>
              </a:solidFill>
            </a:endParaRPr>
          </a:p>
        </p:txBody>
      </p:sp>
      <p:sp>
        <p:nvSpPr>
          <p:cNvPr id="2261" name="Rectangle 7"/>
          <p:cNvSpPr/>
          <p:nvPr/>
        </p:nvSpPr>
        <p:spPr>
          <a:xfrm>
            <a:off x="4445000" y="3556000"/>
            <a:ext cx="3302000" cy="330200"/>
          </a:xfrm>
          <a:prstGeom prst="rect">
            <a:avLst/>
          </a:prstGeom>
          <a:solidFill>
            <a:srgbClr val="BDD7E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000">
                <a:solidFill>
                  <a:srgbClr val="1F1F1F"/>
                </a:solidFill>
              </a:rPr>
              <a:t>id INT, name STRING, email STRING, age STRING</a:t>
            </a:r>
            <a:endParaRPr sz="1000">
              <a:solidFill>
                <a:srgbClr val="1F1F1F"/>
              </a:solidFill>
            </a:endParaRPr>
          </a:p>
        </p:txBody>
      </p:sp>
      <p:sp>
        <p:nvSpPr>
          <p:cNvPr id="2262" name="Rectangle 8"/>
          <p:cNvSpPr/>
          <p:nvPr/>
        </p:nvSpPr>
        <p:spPr>
          <a:xfrm>
            <a:off x="8051800" y="3556000"/>
            <a:ext cx="3302000" cy="330200"/>
          </a:xfrm>
          <a:prstGeom prst="rect">
            <a:avLst/>
          </a:prstGeom>
          <a:solidFill>
            <a:srgbClr val="BDD7E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000">
                <a:solidFill>
                  <a:srgbClr val="1F1F1F"/>
                </a:solidFill>
              </a:rPr>
              <a:t>id INT, name STRING, email STRING, age INT, city STRING</a:t>
            </a:r>
            <a:endParaRPr sz="1000">
              <a:solidFill>
                <a:srgbClr val="1F1F1F"/>
              </a:solidFill>
            </a:endParaRPr>
          </a:p>
        </p:txBody>
      </p:sp>
      <p:sp>
        <p:nvSpPr>
          <p:cNvPr id="2263" name="Arrow 9"/>
          <p:cNvSpPr/>
          <p:nvPr/>
        </p:nvSpPr>
        <p:spPr>
          <a:xfrm>
            <a:off x="2400300" y="3962400"/>
            <a:ext cx="177800" cy="254000"/>
          </a:xfrm>
          <a:prstGeom prst="downArrow">
            <a:avLst/>
          </a:prstGeom>
          <a:solidFill>
            <a:srgbClr val="7F7F7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264" name="Arrow 10"/>
          <p:cNvSpPr/>
          <p:nvPr/>
        </p:nvSpPr>
        <p:spPr>
          <a:xfrm>
            <a:off x="6007100" y="3962400"/>
            <a:ext cx="177800" cy="254000"/>
          </a:xfrm>
          <a:prstGeom prst="downArrow">
            <a:avLst/>
          </a:prstGeom>
          <a:solidFill>
            <a:srgbClr val="7F7F7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265" name="Arrow 11"/>
          <p:cNvSpPr/>
          <p:nvPr/>
        </p:nvSpPr>
        <p:spPr>
          <a:xfrm>
            <a:off x="9613900" y="3962400"/>
            <a:ext cx="177800" cy="254000"/>
          </a:xfrm>
          <a:prstGeom prst="downArrow">
            <a:avLst/>
          </a:prstGeom>
          <a:solidFill>
            <a:srgbClr val="7F7F7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266" name="Rectangle 12"/>
          <p:cNvSpPr/>
          <p:nvPr/>
        </p:nvSpPr>
        <p:spPr>
          <a:xfrm>
            <a:off x="838200" y="4318000"/>
            <a:ext cx="10515600" cy="711200"/>
          </a:xfrm>
          <a:prstGeom prst="rect">
            <a:avLst/>
          </a:prstGeom>
          <a:solidFill>
            <a:srgbClr val="FFF2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300">
                <a:solidFill>
                  <a:srgbClr val="1F1F1F"/>
                </a:solidFill>
              </a:rPr>
              <a:t>Match columns by name, not position · missing column → NULL · extra column → ignored</a:t>
            </a:r>
            <a:endParaRPr sz="1300">
              <a:solidFill>
                <a:srgbClr val="1F1F1F"/>
              </a:solidFill>
            </a:endParaRPr>
          </a:p>
          <a:p>
            <a:pPr algn="ctr"/>
            <a:r>
              <a:rPr sz="1300">
                <a:solidFill>
                  <a:srgbClr val="1F1F1F"/>
                </a:solidFill>
              </a:rPr>
              <a:t>compatible type → cast (age "42" → 42)</a:t>
            </a:r>
            <a:endParaRPr sz="1300">
              <a:solidFill>
                <a:srgbClr val="1F1F1F"/>
              </a:solidFill>
            </a:endParaRPr>
          </a:p>
        </p:txBody>
      </p:sp>
      <p:sp>
        <p:nvSpPr>
          <p:cNvPr id="2267" name="Arrow 13"/>
          <p:cNvSpPr/>
          <p:nvPr/>
        </p:nvSpPr>
        <p:spPr>
          <a:xfrm>
            <a:off x="4559300" y="5080000"/>
            <a:ext cx="177800" cy="304800"/>
          </a:xfrm>
          <a:prstGeom prst="downArrow">
            <a:avLst/>
          </a:prstGeom>
          <a:solidFill>
            <a:srgbClr val="7F7F7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268" name="Rectangle 14"/>
          <p:cNvSpPr/>
          <p:nvPr/>
        </p:nvSpPr>
        <p:spPr>
          <a:xfrm>
            <a:off x="8763000" y="5461000"/>
            <a:ext cx="2590800" cy="1219200"/>
          </a:xfrm>
          <a:prstGeom prst="rect">
            <a:avLst/>
          </a:prstGeom>
          <a:solidFill>
            <a:srgbClr val="F8D7DA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7F0000"/>
                </a:solidFill>
              </a:rPr>
              <a:t>file_4: age = "abc" → cast fails (read error)</a:t>
            </a:r>
            <a:endParaRPr sz="1200">
              <a:solidFill>
                <a:srgbClr val="7F0000"/>
              </a:solidFill>
            </a:endParaRPr>
          </a:p>
        </p:txBody>
      </p:sp>
      <p:graphicFrame>
        <p:nvGraphicFramePr>
          <p:cNvPr id="2269" name="Table 15"/>
          <p:cNvGraphicFramePr>
            <a:graphicFrameLocks noGrp="1"/>
          </p:cNvGraphicFramePr>
          <p:nvPr/>
        </p:nvGraphicFramePr>
        <p:xfrm>
          <a:off x="838200" y="5461000"/>
          <a:ext cx="76200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</a:tblGrid>
              <a:tr h="304800">
                <a:tc>
                  <a:txBody>
                    <a:bodyPr/>
                    <a:lstStyle/>
                    <a:p>
                      <a:r>
                        <a:rPr sz="1200"/>
                        <a:t>id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name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email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age</a:t>
                      </a:r>
                      <a:endParaRPr sz="1200"/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Ann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NULL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NULL</a:t>
                      </a:r>
                      <a:endParaRPr sz="1200"/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Bob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bob@x.com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 (cast)</a:t>
                      </a:r>
                      <a:endParaRPr sz="1200"/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Cy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cy@x.com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35 (city ignored)</a:t>
                      </a:r>
                      <a:endParaRPr sz="12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70" name="TextBox 16"/>
          <p:cNvSpPr txBox="1"/>
          <p:nvPr/>
        </p:nvSpPr>
        <p:spPr>
          <a:xfrm>
            <a:off x="127000" y="1833880"/>
            <a:ext cx="3470612" cy="335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600" b="1"/>
              <a:t>Expected schema  (Hive Metastore)</a:t>
            </a:r>
            <a:endParaRPr sz="1600" b="1"/>
          </a:p>
        </p:txBody>
      </p:sp>
      <p:sp>
        <p:nvSpPr>
          <p:cNvPr id="2271" name="TextBox 17"/>
          <p:cNvSpPr txBox="1"/>
          <p:nvPr/>
        </p:nvSpPr>
        <p:spPr>
          <a:xfrm>
            <a:off x="127000" y="2458720"/>
            <a:ext cx="7620000" cy="335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600" b="1"/>
              <a:t>Actual file footers (Parquet)</a:t>
            </a:r>
            <a:endParaRPr sz="1600" b="1"/>
          </a:p>
        </p:txBody>
      </p:sp>
      <p:sp>
        <p:nvSpPr>
          <p:cNvPr id="2272" name="Cylinder 17"/>
          <p:cNvSpPr/>
          <p:nvPr/>
        </p:nvSpPr>
        <p:spPr>
          <a:xfrm>
            <a:off x="3686512" y="1544320"/>
            <a:ext cx="1397000" cy="914400"/>
          </a:xfrm>
          <a:prstGeom prst="can">
            <a:avLst/>
          </a:prstGeom>
          <a:solidFill>
            <a:srgbClr val="4472C4"/>
          </a:solidFill>
          <a:ln>
            <a:solidFill>
              <a:srgbClr val="2F55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Hive Metastore DB</a:t>
            </a:r>
            <a:endParaRPr sz="1100">
              <a:solidFill>
                <a:srgbClr val="FFFFFF"/>
              </a:solidFill>
            </a:endParaRPr>
          </a:p>
        </p:txBody>
      </p:sp>
      <p:sp>
        <p:nvSpPr>
          <p:cNvPr id="2273" name="Rectangle 18"/>
          <p:cNvSpPr/>
          <p:nvPr/>
        </p:nvSpPr>
        <p:spPr>
          <a:xfrm>
            <a:off x="5337512" y="1544320"/>
            <a:ext cx="4916283" cy="914400"/>
          </a:xfrm>
          <a:prstGeom prst="rect">
            <a:avLst/>
          </a:prstGeom>
          <a:solidFill>
            <a:srgbClr val="F2F2F2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/>
            <a:r>
              <a:rPr sz="1600" b="1">
                <a:solidFill>
                  <a:srgbClr val="1F1F1F"/>
                </a:solidFill>
              </a:rPr>
              <a:t>CREATE TABLE sales.users (</a:t>
            </a:r>
            <a:endParaRPr sz="1600" b="1">
              <a:solidFill>
                <a:srgbClr val="1F1F1F"/>
              </a:solidFill>
            </a:endParaRPr>
          </a:p>
          <a:p>
            <a:pPr algn="l"/>
            <a:r>
              <a:rPr sz="1600" b="1">
                <a:solidFill>
                  <a:srgbClr val="1F1F1F"/>
                </a:solidFill>
              </a:rPr>
              <a:t>  id INT, name STRING, email STRING, age INT</a:t>
            </a:r>
            <a:endParaRPr sz="1600" b="1">
              <a:solidFill>
                <a:srgbClr val="1F1F1F"/>
              </a:solidFill>
            </a:endParaRPr>
          </a:p>
          <a:p>
            <a:pPr algn="l"/>
            <a:r>
              <a:rPr sz="1600" b="1">
                <a:solidFill>
                  <a:srgbClr val="1F1F1F"/>
                </a:solidFill>
              </a:rPr>
              <a:t>) STORED AS PARQUET;</a:t>
            </a:r>
            <a:endParaRPr sz="1600" b="1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9251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is Immutable</a:t>
            </a:r>
            <a:endParaRPr lang="fr-F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7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424624"/>
          </a:xfrm>
          <a:prstGeom prst="rect">
            <a:avLst/>
          </a:prstGeom>
        </p:spPr>
        <p:txBody>
          <a:bodyPr/>
          <a:lstStyle/>
          <a:p>
            <a:pPr algn="ctr"/>
            <a:r>
              <a:rPr/>
              <a:t>Once Written (footer flushed),</a:t>
            </a:r>
            <a:br>
              <a:rPr/>
            </a:br>
            <a:r>
              <a:rPr/>
              <a:t>Data is Immutable  = NO in-place Update</a:t>
            </a:r>
          </a:p>
        </p:txBody>
      </p:sp>
      <p:sp>
        <p:nvSpPr>
          <p:cNvPr id="2290" name="Rectangle 7"/>
          <p:cNvSpPr/>
          <p:nvPr/>
        </p:nvSpPr>
        <p:spPr>
          <a:xfrm>
            <a:off x="1756420" y="1905000"/>
            <a:ext cx="3903960" cy="508000"/>
          </a:xfrm>
          <a:prstGeom prst="rect">
            <a:avLst/>
          </a:prstGeom>
          <a:solidFill>
            <a:srgbClr val="F8D7DA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400">
                <a:solidFill>
                  <a:srgbClr val="7F0000"/>
                </a:solidFill>
              </a:rPr>
              <a:t>Update a row in-place: impossible</a:t>
            </a:r>
            <a:endParaRPr sz="1400">
              <a:solidFill>
                <a:srgbClr val="7F0000"/>
              </a:solidFill>
            </a:endParaRPr>
          </a:p>
        </p:txBody>
      </p:sp>
      <p:sp>
        <p:nvSpPr>
          <p:cNvPr id="2291" name="Rectangle 8"/>
          <p:cNvSpPr/>
          <p:nvPr/>
        </p:nvSpPr>
        <p:spPr>
          <a:xfrm>
            <a:off x="6273800" y="1905000"/>
            <a:ext cx="5080000" cy="514172"/>
          </a:xfrm>
          <a:prstGeom prst="rect">
            <a:avLst/>
          </a:prstGeom>
          <a:solidFill>
            <a:srgbClr val="4472C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/>
              <a:t>Update = copy the full file</a:t>
            </a:r>
          </a:p>
        </p:txBody>
      </p:sp>
      <p:sp>
        <p:nvSpPr>
          <p:cNvPr id="2302" name="Rectangle 5"/>
          <p:cNvSpPr/>
          <p:nvPr/>
        </p:nvSpPr>
        <p:spPr>
          <a:xfrm>
            <a:off x="3136900" y="3149600"/>
            <a:ext cx="1143000" cy="1016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file_1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303" name="Rectangle 20"/>
          <p:cNvSpPr/>
          <p:nvPr/>
        </p:nvSpPr>
        <p:spPr>
          <a:xfrm>
            <a:off x="3136900" y="3835400"/>
            <a:ext cx="1143000" cy="330200"/>
          </a:xfrm>
          <a:prstGeom prst="rect">
            <a:avLst/>
          </a:prstGeom>
          <a:solidFill>
            <a:srgbClr val="BDD7E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1F1F1F"/>
                </a:solidFill>
              </a:rPr>
              <a:t>schema</a:t>
            </a:r>
            <a:endParaRPr sz="1100">
              <a:solidFill>
                <a:srgbClr val="1F1F1F"/>
              </a:solidFill>
            </a:endParaRPr>
          </a:p>
        </p:txBody>
      </p:sp>
      <p:sp>
        <p:nvSpPr>
          <p:cNvPr id="2289" name="Multiplication Sign 6"/>
          <p:cNvSpPr/>
          <p:nvPr/>
        </p:nvSpPr>
        <p:spPr>
          <a:xfrm>
            <a:off x="3898900" y="3200400"/>
            <a:ext cx="457200" cy="457200"/>
          </a:xfrm>
          <a:prstGeom prst="mathMultiply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304" name="Rectangle 5"/>
          <p:cNvSpPr/>
          <p:nvPr/>
        </p:nvSpPr>
        <p:spPr>
          <a:xfrm>
            <a:off x="7137400" y="3149600"/>
            <a:ext cx="1143000" cy="1016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file_1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305" name="Rectangle 20"/>
          <p:cNvSpPr/>
          <p:nvPr/>
        </p:nvSpPr>
        <p:spPr>
          <a:xfrm>
            <a:off x="7137400" y="3835400"/>
            <a:ext cx="1143000" cy="330200"/>
          </a:xfrm>
          <a:prstGeom prst="rect">
            <a:avLst/>
          </a:prstGeom>
          <a:solidFill>
            <a:srgbClr val="BDD7E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1F1F1F"/>
                </a:solidFill>
              </a:rPr>
              <a:t>schema</a:t>
            </a:r>
            <a:endParaRPr sz="1100">
              <a:solidFill>
                <a:srgbClr val="1F1F1F"/>
              </a:solidFill>
            </a:endParaRPr>
          </a:p>
        </p:txBody>
      </p:sp>
      <p:sp>
        <p:nvSpPr>
          <p:cNvPr id="2307" name="Rectangle 5"/>
          <p:cNvSpPr/>
          <p:nvPr/>
        </p:nvSpPr>
        <p:spPr>
          <a:xfrm>
            <a:off x="9347200" y="3149600"/>
            <a:ext cx="1143000" cy="1016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new_file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308" name="Rectangle 20"/>
          <p:cNvSpPr/>
          <p:nvPr/>
        </p:nvSpPr>
        <p:spPr>
          <a:xfrm>
            <a:off x="9347200" y="3835400"/>
            <a:ext cx="1143000" cy="330200"/>
          </a:xfrm>
          <a:prstGeom prst="rect">
            <a:avLst/>
          </a:prstGeom>
          <a:solidFill>
            <a:srgbClr val="BDD7E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1F1F1F"/>
                </a:solidFill>
              </a:rPr>
              <a:t>schema</a:t>
            </a:r>
            <a:endParaRPr sz="1100">
              <a:solidFill>
                <a:srgbClr val="1F1F1F"/>
              </a:solidFill>
            </a:endParaRPr>
          </a:p>
        </p:txBody>
      </p:sp>
      <p:sp>
        <p:nvSpPr>
          <p:cNvPr id="2316" name="Arrow 11"/>
          <p:cNvSpPr/>
          <p:nvPr/>
        </p:nvSpPr>
        <p:spPr>
          <a:xfrm>
            <a:off x="8356600" y="3530600"/>
            <a:ext cx="914400" cy="330200"/>
          </a:xfrm>
          <a:prstGeom prst="rightArrow">
            <a:avLst/>
          </a:prstGeom>
          <a:solidFill>
            <a:srgbClr val="7F7F7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318" name="Rectangle 13"/>
          <p:cNvSpPr/>
          <p:nvPr/>
        </p:nvSpPr>
        <p:spPr>
          <a:xfrm>
            <a:off x="6273800" y="4445000"/>
            <a:ext cx="2413000" cy="457200"/>
          </a:xfrm>
          <a:prstGeom prst="rect">
            <a:avLst/>
          </a:prstGeom>
          <a:solidFill>
            <a:srgbClr val="F8D7DA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400">
                <a:solidFill>
                  <a:srgbClr val="7F0000"/>
                </a:solidFill>
              </a:rPr>
              <a:t>2. Delete old file_1</a:t>
            </a:r>
            <a:endParaRPr sz="1400">
              <a:solidFill>
                <a:srgbClr val="7F0000"/>
              </a:solidFill>
            </a:endParaRPr>
          </a:p>
        </p:txBody>
      </p:sp>
      <p:sp>
        <p:nvSpPr>
          <p:cNvPr id="2319" name="Arrow 14"/>
          <p:cNvSpPr/>
          <p:nvPr/>
        </p:nvSpPr>
        <p:spPr>
          <a:xfrm>
            <a:off x="8737600" y="4508500"/>
            <a:ext cx="355600" cy="279400"/>
          </a:xfrm>
          <a:prstGeom prst="rightArrow">
            <a:avLst/>
          </a:prstGeom>
          <a:solidFill>
            <a:srgbClr val="7F7F7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320" name="Rectangle 15"/>
          <p:cNvSpPr/>
          <p:nvPr/>
        </p:nvSpPr>
        <p:spPr>
          <a:xfrm>
            <a:off x="9144000" y="4445000"/>
            <a:ext cx="2209800" cy="457200"/>
          </a:xfrm>
          <a:prstGeom prst="rect">
            <a:avLst/>
          </a:prstGeom>
          <a:solidFill>
            <a:srgbClr val="E2F0D9"/>
          </a:solidFill>
          <a:ln>
            <a:solidFill>
              <a:srgbClr val="54823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400">
                <a:solidFill>
                  <a:srgbClr val="1F1F1F"/>
                </a:solidFill>
              </a:rPr>
              <a:t>3. Create new file_2</a:t>
            </a:r>
            <a:endParaRPr sz="1400">
              <a:solidFill>
                <a:srgbClr val="1F1F1F"/>
              </a:solidFill>
            </a:endParaRPr>
          </a:p>
        </p:txBody>
      </p:sp>
      <p:sp>
        <p:nvSpPr>
          <p:cNvPr id="2321" name="TextBox 16"/>
          <p:cNvSpPr txBox="1"/>
          <p:nvPr/>
        </p:nvSpPr>
        <p:spPr>
          <a:xfrm>
            <a:off x="7874000" y="2819400"/>
            <a:ext cx="1905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200"/>
              <a:t>1. copy + update 1 line</a:t>
            </a:r>
            <a:endParaRPr sz="1200"/>
          </a:p>
        </p:txBody>
      </p:sp>
      <p:sp>
        <p:nvSpPr>
          <p:cNvPr id="2322" name="Multiplication Sign 16"/>
          <p:cNvSpPr/>
          <p:nvPr/>
        </p:nvSpPr>
        <p:spPr>
          <a:xfrm>
            <a:off x="7073900" y="3022600"/>
            <a:ext cx="1270000" cy="1270000"/>
          </a:xfrm>
          <a:prstGeom prst="mathMultiply">
            <a:avLst/>
          </a:prstGeom>
          <a:solidFill>
            <a:srgbClr val="C00000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325" name="Rectangle 17"/>
          <p:cNvSpPr/>
          <p:nvPr/>
        </p:nvSpPr>
        <p:spPr>
          <a:xfrm>
            <a:off x="3327400" y="3327400"/>
            <a:ext cx="723900" cy="226783"/>
          </a:xfrm>
          <a:prstGeom prst="rect">
            <a:avLst/>
          </a:prstGeom>
          <a:noFill/>
          <a:ln w="1905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100">
                <a:solidFill>
                  <a:srgbClr val="C00000"/>
                </a:solidFill>
              </a:rPr>
              <a:t>1 line</a:t>
            </a:r>
            <a:endParaRPr sz="110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/>
              <a:t>Versionning Parquet </a:t>
            </a:r>
          </a:p>
          <a:p>
            <a:pPr algn="ctr"/>
            <a:r>
              <a:rPr/>
              <a:t>in Legacy “Partition” Directories Hive Table</a:t>
            </a:r>
          </a:p>
        </p:txBody>
      </p:sp>
      <p:sp>
        <p:nvSpPr>
          <p:cNvPr id="2384" name="TextBox 2"/>
          <p:cNvSpPr txBox="1"/>
          <p:nvPr/>
        </p:nvSpPr>
        <p:spPr>
          <a:xfrm>
            <a:off x="838200" y="1828800"/>
            <a:ext cx="10515600" cy="701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1F1F"/>
                </a:solidFill>
              </a:rPr>
              <a:t>Hive table “path/day={yyyy-MM-dd}/*.parquet”</a:t>
            </a:r>
            <a:br>
              <a:rPr sz="2000" b="1">
                <a:solidFill>
                  <a:srgbClr val="1F1F1F"/>
                </a:solidFill>
              </a:rPr>
            </a:br>
            <a:r>
              <a:rPr sz="2000" b="1">
                <a:solidFill>
                  <a:srgbClr val="1F1F1F"/>
                </a:solidFill>
              </a:rPr>
              <a:t> append = add a new file in the day folder</a:t>
            </a:r>
            <a:endParaRPr sz="2000" b="1">
              <a:solidFill>
                <a:srgbClr val="1F1F1F"/>
              </a:solidFill>
            </a:endParaRPr>
          </a:p>
        </p:txBody>
      </p:sp>
      <p:sp>
        <p:nvSpPr>
          <p:cNvPr id="2385" name="Rectangle 3"/>
          <p:cNvSpPr/>
          <p:nvPr/>
        </p:nvSpPr>
        <p:spPr>
          <a:xfrm>
            <a:off x="3594100" y="2971800"/>
            <a:ext cx="5003800" cy="431800"/>
          </a:xfrm>
          <a:prstGeom prst="rect">
            <a:avLst/>
          </a:prstGeom>
          <a:solidFill>
            <a:srgbClr val="4472C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/>
              <a:t>sales_events/</a:t>
            </a:r>
          </a:p>
        </p:txBody>
      </p:sp>
      <p:sp>
        <p:nvSpPr>
          <p:cNvPr id="2386" name="Rectangle 4"/>
          <p:cNvSpPr/>
          <p:nvPr/>
        </p:nvSpPr>
        <p:spPr>
          <a:xfrm>
            <a:off x="838200" y="3810000"/>
            <a:ext cx="3403600" cy="4318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day=2026-10-15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387" name="Rectangle 5"/>
          <p:cNvSpPr/>
          <p:nvPr/>
        </p:nvSpPr>
        <p:spPr>
          <a:xfrm>
            <a:off x="4394200" y="3810000"/>
            <a:ext cx="3403600" cy="4318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day=2026-10-16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388" name="Rectangle 6"/>
          <p:cNvSpPr/>
          <p:nvPr/>
        </p:nvSpPr>
        <p:spPr>
          <a:xfrm>
            <a:off x="7950200" y="3810000"/>
            <a:ext cx="3403600" cy="4318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day=2026-10-17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389" name="Rectangle 7"/>
          <p:cNvSpPr/>
          <p:nvPr/>
        </p:nvSpPr>
        <p:spPr>
          <a:xfrm>
            <a:off x="838200" y="4749800"/>
            <a:ext cx="3403600" cy="4318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part-0001.parquet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390" name="Rectangle 8"/>
          <p:cNvSpPr/>
          <p:nvPr/>
        </p:nvSpPr>
        <p:spPr>
          <a:xfrm>
            <a:off x="4394200" y="4749800"/>
            <a:ext cx="3403600" cy="4318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>
                <a:solidFill>
                  <a:srgbClr val="1F1F1F"/>
                </a:solidFill>
              </a:rPr>
              <a:t>part-0001.parquet</a:t>
            </a:r>
            <a:endParaRPr>
              <a:solidFill>
                <a:srgbClr val="1F1F1F"/>
              </a:solidFill>
            </a:endParaRPr>
          </a:p>
        </p:txBody>
      </p:sp>
      <p:sp>
        <p:nvSpPr>
          <p:cNvPr id="2391" name="Rectangle 9"/>
          <p:cNvSpPr/>
          <p:nvPr/>
        </p:nvSpPr>
        <p:spPr>
          <a:xfrm>
            <a:off x="7950200" y="4749800"/>
            <a:ext cx="1625600" cy="4318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1F1F1F"/>
                </a:solidFill>
              </a:rPr>
              <a:t>part-0001.parquet</a:t>
            </a:r>
            <a:endParaRPr sz="1200">
              <a:solidFill>
                <a:srgbClr val="1F1F1F"/>
              </a:solidFill>
            </a:endParaRPr>
          </a:p>
        </p:txBody>
      </p:sp>
      <p:sp>
        <p:nvSpPr>
          <p:cNvPr id="2392" name="Rectangle 10"/>
          <p:cNvSpPr/>
          <p:nvPr/>
        </p:nvSpPr>
        <p:spPr>
          <a:xfrm>
            <a:off x="9652000" y="4749800"/>
            <a:ext cx="1701800" cy="431800"/>
          </a:xfrm>
          <a:prstGeom prst="rect">
            <a:avLst/>
          </a:prstGeom>
          <a:solidFill>
            <a:srgbClr val="E2F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1F1F1F"/>
                </a:solidFill>
              </a:rPr>
              <a:t>part-0002 (new)</a:t>
            </a:r>
            <a:endParaRPr sz="1200"/>
          </a:p>
        </p:txBody>
      </p:sp>
      <p:sp>
        <p:nvSpPr>
          <p:cNvPr id="2393" name="TextBox 11"/>
          <p:cNvSpPr txBox="1"/>
          <p:nvPr/>
        </p:nvSpPr>
        <p:spPr>
          <a:xfrm>
            <a:off x="838200" y="5537200"/>
            <a:ext cx="10515600" cy="335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600">
                <a:solidFill>
                  <a:srgbClr val="1F1F1F"/>
                </a:solidFill>
              </a:rPr>
              <a:t>Existing files are untouched: the new file is simply added to today's folder.</a:t>
            </a:r>
            <a:endParaRPr sz="1600">
              <a:solidFill>
                <a:srgbClr val="1F1F1F"/>
              </a:solidFill>
            </a:endParaRPr>
          </a:p>
        </p:txBody>
      </p:sp>
      <p:cxnSp>
        <p:nvCxnSpPr>
          <p:cNvPr id="2401" name="Arrow 12"/>
          <p:cNvCxnSpPr>
            <a:stCxn id="2385" idx="2"/>
            <a:endCxn id="2386" idx="0"/>
          </p:cNvCxnSpPr>
          <p:nvPr/>
        </p:nvCxnSpPr>
        <p:spPr>
          <a:xfrm flipH="1">
            <a:off x="2540000" y="3403600"/>
            <a:ext cx="3556000" cy="40640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2" name="Arrow 13"/>
          <p:cNvCxnSpPr>
            <a:stCxn id="2385" idx="2"/>
            <a:endCxn id="2387" idx="0"/>
          </p:cNvCxnSpPr>
          <p:nvPr/>
        </p:nvCxnSpPr>
        <p:spPr>
          <a:xfrm>
            <a:off x="6096000" y="3403600"/>
            <a:ext cx="0" cy="40640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3" name="Arrow 14"/>
          <p:cNvCxnSpPr>
            <a:stCxn id="2385" idx="2"/>
            <a:endCxn id="2388" idx="0"/>
          </p:cNvCxnSpPr>
          <p:nvPr/>
        </p:nvCxnSpPr>
        <p:spPr>
          <a:xfrm>
            <a:off x="6096000" y="3403600"/>
            <a:ext cx="3556000" cy="40640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4" name="Arrow 15"/>
          <p:cNvCxnSpPr>
            <a:stCxn id="2386" idx="2"/>
            <a:endCxn id="2389" idx="0"/>
          </p:cNvCxnSpPr>
          <p:nvPr/>
        </p:nvCxnSpPr>
        <p:spPr>
          <a:xfrm>
            <a:off x="2540000" y="4241800"/>
            <a:ext cx="0" cy="50800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5" name="Arrow 16"/>
          <p:cNvCxnSpPr>
            <a:stCxn id="2387" idx="2"/>
            <a:endCxn id="2390" idx="0"/>
          </p:cNvCxnSpPr>
          <p:nvPr/>
        </p:nvCxnSpPr>
        <p:spPr>
          <a:xfrm>
            <a:off x="6096000" y="4241800"/>
            <a:ext cx="0" cy="50800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6" name="Arrow 17"/>
          <p:cNvCxnSpPr>
            <a:stCxn id="2388" idx="2"/>
            <a:endCxn id="2391" idx="0"/>
          </p:cNvCxnSpPr>
          <p:nvPr/>
        </p:nvCxnSpPr>
        <p:spPr>
          <a:xfrm flipH="1">
            <a:off x="8763000" y="4241800"/>
            <a:ext cx="889000" cy="50800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7" name="Arrow 18"/>
          <p:cNvCxnSpPr>
            <a:stCxn id="2388" idx="2"/>
            <a:endCxn id="2392" idx="0"/>
          </p:cNvCxnSpPr>
          <p:nvPr/>
        </p:nvCxnSpPr>
        <p:spPr>
          <a:xfrm>
            <a:off x="9652000" y="4241800"/>
            <a:ext cx="850900" cy="50800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7" name="Title 1"/>
          <p:cNvSpPr>
            <a:spLocks noGrp="1"/>
          </p:cNvSpPr>
          <p:nvPr>
            <p:ph type="title"/>
          </p:nvPr>
        </p:nvSpPr>
        <p:spPr>
          <a:xfrm>
            <a:off x="31554" y="0"/>
            <a:ext cx="12160446" cy="1467708"/>
          </a:xfrm>
          <a:prstGeom prst="rect">
            <a:avLst/>
          </a:prstGeom>
        </p:spPr>
        <p:txBody>
          <a:bodyPr/>
          <a:lstStyle/>
          <a:p>
            <a:pPr algn="ctr"/>
            <a:r>
              <a:rPr/>
              <a:t>Versionning Data: </a:t>
            </a:r>
            <a:br>
              <a:rPr/>
            </a:br>
            <a:r>
              <a:rPr/>
              <a:t>Parquet within Iceberg</a:t>
            </a:r>
          </a:p>
        </p:txBody>
      </p:sp>
      <p:sp>
        <p:nvSpPr>
          <p:cNvPr id="2338" name="Rectangle 11"/>
          <p:cNvSpPr/>
          <p:nvPr/>
        </p:nvSpPr>
        <p:spPr>
          <a:xfrm>
            <a:off x="838200" y="4572000"/>
            <a:ext cx="1524000" cy="762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1F1F1F"/>
                </a:solidFill>
              </a:rPr>
              <a:t>data-001</a:t>
            </a:r>
          </a:p>
        </p:txBody>
      </p:sp>
      <p:sp>
        <p:nvSpPr>
          <p:cNvPr id="2339" name="Rectangle 12"/>
          <p:cNvSpPr/>
          <p:nvPr/>
        </p:nvSpPr>
        <p:spPr>
          <a:xfrm>
            <a:off x="2489200" y="4572000"/>
            <a:ext cx="1524000" cy="762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1F1F1F"/>
                </a:solidFill>
              </a:rPr>
              <a:t>data-002</a:t>
            </a:r>
          </a:p>
        </p:txBody>
      </p:sp>
      <p:sp>
        <p:nvSpPr>
          <p:cNvPr id="2340" name="Rectangle 13"/>
          <p:cNvSpPr/>
          <p:nvPr/>
        </p:nvSpPr>
        <p:spPr>
          <a:xfrm>
            <a:off x="4140200" y="4572000"/>
            <a:ext cx="1524000" cy="762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1F1F1F"/>
                </a:solidFill>
              </a:rPr>
              <a:t>data-003</a:t>
            </a:r>
          </a:p>
        </p:txBody>
      </p:sp>
      <p:sp>
        <p:nvSpPr>
          <p:cNvPr id="2350" name="Rectangle 23"/>
          <p:cNvSpPr/>
          <p:nvPr/>
        </p:nvSpPr>
        <p:spPr>
          <a:xfrm>
            <a:off x="6273800" y="4572000"/>
            <a:ext cx="1625600" cy="762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1F1F1F"/>
                </a:solidFill>
              </a:rPr>
              <a:t>data-001</a:t>
            </a:r>
          </a:p>
        </p:txBody>
      </p:sp>
      <p:sp>
        <p:nvSpPr>
          <p:cNvPr id="2351" name="Rectangle 24"/>
          <p:cNvSpPr/>
          <p:nvPr/>
        </p:nvSpPr>
        <p:spPr>
          <a:xfrm>
            <a:off x="8001000" y="4572000"/>
            <a:ext cx="1625600" cy="762000"/>
          </a:xfrm>
          <a:prstGeom prst="rect">
            <a:avLst/>
          </a:prstGeom>
          <a:solidFill>
            <a:srgbClr val="E2F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1F1F1F"/>
                </a:solidFill>
              </a:rPr>
              <a:t>data-002' (new)</a:t>
            </a:r>
          </a:p>
        </p:txBody>
      </p:sp>
      <p:sp>
        <p:nvSpPr>
          <p:cNvPr id="2352" name="Rectangle 25"/>
          <p:cNvSpPr/>
          <p:nvPr/>
        </p:nvSpPr>
        <p:spPr>
          <a:xfrm>
            <a:off x="9728200" y="4572000"/>
            <a:ext cx="1625600" cy="762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1F1F1F"/>
                </a:solidFill>
              </a:rPr>
              <a:t>data-003</a:t>
            </a:r>
          </a:p>
        </p:txBody>
      </p:sp>
      <p:sp>
        <p:nvSpPr>
          <p:cNvPr id="2353" name="TextBox 26"/>
          <p:cNvSpPr txBox="1"/>
          <p:nvPr/>
        </p:nvSpPr>
        <p:spPr>
          <a:xfrm>
            <a:off x="838200" y="5669280"/>
            <a:ext cx="11237335" cy="11887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/>
              <a:t>Parquet files are immutable: </a:t>
            </a:r>
            <a:r>
              <a:rPr sz="2400" b="1"/>
              <a:t>Iceberg swaps the pointer, not the bytes. </a:t>
            </a:r>
            <a:br>
              <a:rPr sz="2400" b="1"/>
            </a:br>
            <a:r>
              <a:rPr sz="2400"/>
              <a:t>Old data-002 is no longer referenced from “current”.</a:t>
            </a:r>
            <a:br>
              <a:rPr sz="2400"/>
            </a:br>
            <a:r>
              <a:rPr sz="2400"/>
              <a:t>Still visible “as-of” from previous version</a:t>
            </a:r>
            <a:endParaRPr sz="2400"/>
          </a:p>
        </p:txBody>
      </p:sp>
      <p:sp>
        <p:nvSpPr>
          <p:cNvPr id="2354" name="Rectangle 9"/>
          <p:cNvSpPr/>
          <p:nvPr/>
        </p:nvSpPr>
        <p:spPr>
          <a:xfrm>
            <a:off x="2229709" y="2438400"/>
            <a:ext cx="1882451" cy="762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800">
                <a:solidFill>
                  <a:srgbClr val="1F1F1F"/>
                </a:solidFill>
              </a:rPr>
              <a:t>Snapshot 1</a:t>
            </a:r>
            <a:endParaRPr sz="1800">
              <a:solidFill>
                <a:srgbClr val="1F1F1F"/>
              </a:solidFill>
            </a:endParaRPr>
          </a:p>
        </p:txBody>
      </p:sp>
      <p:sp>
        <p:nvSpPr>
          <p:cNvPr id="2355" name="Rectangle 10"/>
          <p:cNvSpPr/>
          <p:nvPr/>
        </p:nvSpPr>
        <p:spPr>
          <a:xfrm>
            <a:off x="7871669" y="2438400"/>
            <a:ext cx="1867570" cy="762000"/>
          </a:xfrm>
          <a:prstGeom prst="rect">
            <a:avLst/>
          </a:prstGeom>
          <a:solidFill>
            <a:srgbClr val="E2F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800">
                <a:solidFill>
                  <a:srgbClr val="1F1F1F"/>
                </a:solidFill>
              </a:rPr>
              <a:t>Snapshot 2</a:t>
            </a:r>
            <a:endParaRPr sz="1800">
              <a:solidFill>
                <a:srgbClr val="1F1F1F"/>
              </a:solidFill>
            </a:endParaRPr>
          </a:p>
        </p:txBody>
      </p:sp>
      <p:cxnSp>
        <p:nvCxnSpPr>
          <p:cNvPr id="2356" name="Arrow 11"/>
          <p:cNvCxnSpPr>
            <a:stCxn id="2354" idx="2"/>
            <a:endCxn id="2338" idx="0"/>
          </p:cNvCxnSpPr>
          <p:nvPr/>
        </p:nvCxnSpPr>
        <p:spPr>
          <a:xfrm flipH="1">
            <a:off x="1600200" y="3200400"/>
            <a:ext cx="1570734" cy="1371600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7" name="Arrow 12"/>
          <p:cNvCxnSpPr>
            <a:stCxn id="2354" idx="2"/>
            <a:endCxn id="2339" idx="0"/>
          </p:cNvCxnSpPr>
          <p:nvPr/>
        </p:nvCxnSpPr>
        <p:spPr>
          <a:xfrm>
            <a:off x="3170934" y="3200400"/>
            <a:ext cx="80266" cy="1371600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8" name="Arrow 13"/>
          <p:cNvCxnSpPr>
            <a:stCxn id="2354" idx="2"/>
            <a:endCxn id="2340" idx="0"/>
          </p:cNvCxnSpPr>
          <p:nvPr/>
        </p:nvCxnSpPr>
        <p:spPr>
          <a:xfrm>
            <a:off x="3170934" y="3200400"/>
            <a:ext cx="1731266" cy="1371600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9" name="Arrow 14"/>
          <p:cNvCxnSpPr>
            <a:stCxn id="2355" idx="2"/>
            <a:endCxn id="2350" idx="0"/>
          </p:cNvCxnSpPr>
          <p:nvPr/>
        </p:nvCxnSpPr>
        <p:spPr>
          <a:xfrm flipH="1">
            <a:off x="7086600" y="3200400"/>
            <a:ext cx="1718854" cy="1371600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0" name="Arrow 15"/>
          <p:cNvCxnSpPr>
            <a:stCxn id="2355" idx="2"/>
            <a:endCxn id="2351" idx="0"/>
          </p:cNvCxnSpPr>
          <p:nvPr/>
        </p:nvCxnSpPr>
        <p:spPr>
          <a:xfrm>
            <a:off x="8805454" y="3200400"/>
            <a:ext cx="8346" cy="1371600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1" name="Arrow 16"/>
          <p:cNvCxnSpPr>
            <a:stCxn id="2355" idx="2"/>
            <a:endCxn id="2352" idx="0"/>
          </p:cNvCxnSpPr>
          <p:nvPr/>
        </p:nvCxnSpPr>
        <p:spPr>
          <a:xfrm>
            <a:off x="8805454" y="3200400"/>
            <a:ext cx="1735546" cy="1371600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11412"/>
          </a:xfrm>
          <a:prstGeom prst="rect">
            <a:avLst/>
          </a:prstGeom>
        </p:spPr>
        <p:txBody>
          <a:bodyPr/>
          <a:lstStyle/>
          <a:p>
            <a:pPr algn="ctr"/>
            <a:r>
              <a:rPr/>
              <a:t>Iceberg : Versionning System (like “Git”)</a:t>
            </a:r>
            <a:br>
              <a:rPr/>
            </a:br>
            <a:r>
              <a:rPr/>
              <a:t>over Parquet</a:t>
            </a:r>
          </a:p>
        </p:txBody>
      </p:sp>
      <p:sp>
        <p:nvSpPr>
          <p:cNvPr id="2366" name="Rectangle 11"/>
          <p:cNvSpPr/>
          <p:nvPr/>
        </p:nvSpPr>
        <p:spPr>
          <a:xfrm>
            <a:off x="838200" y="4572000"/>
            <a:ext cx="1524000" cy="762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1F1F1F"/>
                </a:solidFill>
              </a:rPr>
              <a:t>data-001</a:t>
            </a:r>
          </a:p>
        </p:txBody>
      </p:sp>
      <p:sp>
        <p:nvSpPr>
          <p:cNvPr id="2367" name="Rectangle 12"/>
          <p:cNvSpPr/>
          <p:nvPr/>
        </p:nvSpPr>
        <p:spPr>
          <a:xfrm>
            <a:off x="2489200" y="4572000"/>
            <a:ext cx="1524000" cy="762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1F1F1F"/>
                </a:solidFill>
              </a:rPr>
              <a:t>data-002</a:t>
            </a:r>
          </a:p>
        </p:txBody>
      </p:sp>
      <p:sp>
        <p:nvSpPr>
          <p:cNvPr id="2368" name="Rectangle 13"/>
          <p:cNvSpPr/>
          <p:nvPr/>
        </p:nvSpPr>
        <p:spPr>
          <a:xfrm>
            <a:off x="4140200" y="4572000"/>
            <a:ext cx="1524000" cy="762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1F1F1F"/>
                </a:solidFill>
              </a:rPr>
              <a:t>data-003</a:t>
            </a:r>
          </a:p>
        </p:txBody>
      </p:sp>
      <p:sp>
        <p:nvSpPr>
          <p:cNvPr id="2370" name="Rectangle 24"/>
          <p:cNvSpPr/>
          <p:nvPr/>
        </p:nvSpPr>
        <p:spPr>
          <a:xfrm>
            <a:off x="8001000" y="4572000"/>
            <a:ext cx="1625600" cy="762000"/>
          </a:xfrm>
          <a:prstGeom prst="rect">
            <a:avLst/>
          </a:prstGeom>
          <a:solidFill>
            <a:srgbClr val="E2F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200">
                <a:solidFill>
                  <a:srgbClr val="1F1F1F"/>
                </a:solidFill>
              </a:rPr>
              <a:t>data-002' (new)</a:t>
            </a:r>
          </a:p>
        </p:txBody>
      </p:sp>
      <p:sp>
        <p:nvSpPr>
          <p:cNvPr id="2372" name="Rectangle 9"/>
          <p:cNvSpPr/>
          <p:nvPr/>
        </p:nvSpPr>
        <p:spPr>
          <a:xfrm>
            <a:off x="2229709" y="2438400"/>
            <a:ext cx="1882451" cy="762000"/>
          </a:xfrm>
          <a:prstGeom prst="rect">
            <a:avLst/>
          </a:prstGeom>
          <a:solidFill>
            <a:srgbClr val="DDEB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800">
                <a:solidFill>
                  <a:srgbClr val="1F1F1F"/>
                </a:solidFill>
              </a:rPr>
              <a:t>Snapshot 1</a:t>
            </a:r>
            <a:endParaRPr sz="1800">
              <a:solidFill>
                <a:srgbClr val="1F1F1F"/>
              </a:solidFill>
            </a:endParaRPr>
          </a:p>
        </p:txBody>
      </p:sp>
      <p:sp>
        <p:nvSpPr>
          <p:cNvPr id="2373" name="Rectangle 10"/>
          <p:cNvSpPr/>
          <p:nvPr/>
        </p:nvSpPr>
        <p:spPr>
          <a:xfrm>
            <a:off x="7871669" y="2438400"/>
            <a:ext cx="1867570" cy="762000"/>
          </a:xfrm>
          <a:prstGeom prst="rect">
            <a:avLst/>
          </a:prstGeom>
          <a:solidFill>
            <a:srgbClr val="E2F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sz="1800">
                <a:solidFill>
                  <a:srgbClr val="1F1F1F"/>
                </a:solidFill>
              </a:rPr>
              <a:t>Snapshot 2</a:t>
            </a:r>
            <a:endParaRPr sz="1800">
              <a:solidFill>
                <a:srgbClr val="1F1F1F"/>
              </a:solidFill>
            </a:endParaRPr>
          </a:p>
        </p:txBody>
      </p:sp>
      <p:cxnSp>
        <p:nvCxnSpPr>
          <p:cNvPr id="2374" name="Arrow 11"/>
          <p:cNvCxnSpPr>
            <a:stCxn id="2372" idx="2"/>
            <a:endCxn id="2366" idx="0"/>
          </p:cNvCxnSpPr>
          <p:nvPr/>
        </p:nvCxnSpPr>
        <p:spPr>
          <a:xfrm flipH="1">
            <a:off x="1600200" y="3200400"/>
            <a:ext cx="1570734" cy="1371600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5" name="Arrow 12"/>
          <p:cNvCxnSpPr>
            <a:stCxn id="2372" idx="2"/>
            <a:endCxn id="2367" idx="0"/>
          </p:cNvCxnSpPr>
          <p:nvPr/>
        </p:nvCxnSpPr>
        <p:spPr>
          <a:xfrm>
            <a:off x="3170934" y="3200400"/>
            <a:ext cx="80266" cy="1371600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6" name="Arrow 13"/>
          <p:cNvCxnSpPr>
            <a:stCxn id="2372" idx="2"/>
            <a:endCxn id="2368" idx="0"/>
          </p:cNvCxnSpPr>
          <p:nvPr/>
        </p:nvCxnSpPr>
        <p:spPr>
          <a:xfrm>
            <a:off x="3170934" y="3200400"/>
            <a:ext cx="1731266" cy="1371600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7" name="Arrow 14"/>
          <p:cNvCxnSpPr>
            <a:stCxn id="2373" idx="2"/>
          </p:cNvCxnSpPr>
          <p:nvPr/>
        </p:nvCxnSpPr>
        <p:spPr>
          <a:xfrm flipH="1">
            <a:off x="1938780" y="3200400"/>
            <a:ext cx="6866675" cy="1356439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8" name="Arrow 15"/>
          <p:cNvCxnSpPr>
            <a:stCxn id="2373" idx="2"/>
            <a:endCxn id="2370" idx="0"/>
          </p:cNvCxnSpPr>
          <p:nvPr/>
        </p:nvCxnSpPr>
        <p:spPr>
          <a:xfrm>
            <a:off x="8805454" y="3200400"/>
            <a:ext cx="8346" cy="1371600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9" name="Arrow 16"/>
          <p:cNvCxnSpPr>
            <a:stCxn id="2373" idx="2"/>
          </p:cNvCxnSpPr>
          <p:nvPr/>
        </p:nvCxnSpPr>
        <p:spPr>
          <a:xfrm flipH="1">
            <a:off x="5264422" y="3200400"/>
            <a:ext cx="3541032" cy="1370592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0" name="TextBox 17"/>
          <p:cNvSpPr txBox="1"/>
          <p:nvPr/>
        </p:nvSpPr>
        <p:spPr>
          <a:xfrm>
            <a:off x="228600" y="2697480"/>
            <a:ext cx="1766734" cy="11887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/>
              <a:t>catalog </a:t>
            </a:r>
            <a:br>
              <a:rPr/>
            </a:br>
            <a:r>
              <a:rPr/>
              <a:t>-&gt; metadata </a:t>
            </a:r>
            <a:br>
              <a:rPr/>
            </a:br>
            <a:r>
              <a:rPr/>
              <a:t>-&gt; manifest </a:t>
            </a:r>
            <a:br>
              <a:rPr/>
            </a:br>
            <a:r>
              <a:rPr/>
              <a:t>-&gt; manifest list </a:t>
            </a:r>
          </a:p>
        </p:txBody>
      </p:sp>
      <p:sp>
        <p:nvSpPr>
          <p:cNvPr id="2408" name="TextBox 15"/>
          <p:cNvSpPr txBox="1"/>
          <p:nvPr/>
        </p:nvSpPr>
        <p:spPr>
          <a:xfrm>
            <a:off x="7559899" y="6248400"/>
            <a:ext cx="4358680" cy="3657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/>
              <a:t>more at …. </a:t>
            </a:r>
            <a:r>
              <a:rPr b="1"/>
              <a:t>https://iceberg.apache.org/</a:t>
            </a:r>
            <a:endParaRPr b="1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5" name="Title 1"/>
          <p:cNvSpPr>
            <a:spLocks noGrp="1"/>
          </p:cNvSpPr>
          <p:nvPr>
            <p:ph type="title"/>
          </p:nvPr>
        </p:nvSpPr>
        <p:spPr>
          <a:xfrm>
            <a:off x="838200" y="259251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</a:t>
            </a:r>
            <a:r>
              <a:rPr lang="fr-FR"/>
              <a:t>is</a:t>
            </a:r>
            <a:r>
              <a:rPr lang="fr-FR"/>
              <a:t> </a:t>
            </a:r>
            <a:r>
              <a:rPr lang="fr-FR"/>
              <a:t>Columnar</a:t>
            </a:r>
            <a:endParaRPr lang="fr-F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3306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: </a:t>
            </a:r>
            <a:r>
              <a:rPr lang="fr-FR"/>
              <a:t>Columnar</a:t>
            </a:r>
            <a:r>
              <a:rPr lang="fr-FR"/>
              <a:t> File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781" y="1712817"/>
            <a:ext cx="43152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Logical</a:t>
            </a:r>
            <a:r>
              <a:rPr lang="fr-FR" sz="2800"/>
              <a:t> </a:t>
            </a:r>
            <a:r>
              <a:rPr lang="fr-FR" sz="2800"/>
              <a:t>view</a:t>
            </a:r>
            <a:r>
              <a:rPr lang="fr-FR" sz="2800"/>
              <a:t>: </a:t>
            </a:r>
            <a:r>
              <a:rPr lang="fr-FR" sz="2800"/>
              <a:t>rows</a:t>
            </a:r>
            <a:r>
              <a:rPr lang="fr-FR" sz="2800"/>
              <a:t> - </a:t>
            </a:r>
            <a:r>
              <a:rPr lang="fr-FR" sz="2800"/>
              <a:t>columns</a:t>
            </a:r>
            <a:endParaRPr lang="fr-FR" sz="2800"/>
          </a:p>
        </p:txBody>
      </p:sp>
      <p:sp>
        <p:nvSpPr>
          <p:cNvPr id="4" name="Rectangle 3"/>
          <p:cNvSpPr/>
          <p:nvPr/>
        </p:nvSpPr>
        <p:spPr>
          <a:xfrm>
            <a:off x="472903" y="2388449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520338" y="2362337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5514" y="2388449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1077768" y="2362337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72346" y="2388449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/>
          <p:cNvSpPr txBox="1"/>
          <p:nvPr/>
        </p:nvSpPr>
        <p:spPr>
          <a:xfrm>
            <a:off x="1614802" y="2362337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14757" y="2388450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TextBox 45"/>
          <p:cNvSpPr txBox="1"/>
          <p:nvPr/>
        </p:nvSpPr>
        <p:spPr>
          <a:xfrm>
            <a:off x="2129220" y="2362337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44835" y="4139310"/>
            <a:ext cx="30139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On Disk: </a:t>
            </a:r>
            <a:r>
              <a:rPr lang="fr-FR" sz="2800" b="1"/>
              <a:t>Columnar</a:t>
            </a:r>
            <a:r>
              <a:rPr lang="fr-FR" sz="2800"/>
              <a:t>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1816" y="2154220"/>
            <a:ext cx="72261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On Disk Row </a:t>
            </a:r>
            <a:r>
              <a:rPr lang="fr-FR" sz="2800"/>
              <a:t>Serialization</a:t>
            </a:r>
            <a:r>
              <a:rPr lang="fr-FR" sz="2800"/>
              <a:t>: like CSV, JSON, AVRO, 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2903" y="2757781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3" name="TextBox 82"/>
          <p:cNvSpPr txBox="1"/>
          <p:nvPr/>
        </p:nvSpPr>
        <p:spPr>
          <a:xfrm>
            <a:off x="520338" y="2731669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5514" y="2757781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TextBox 84"/>
          <p:cNvSpPr txBox="1"/>
          <p:nvPr/>
        </p:nvSpPr>
        <p:spPr>
          <a:xfrm>
            <a:off x="1077768" y="2731669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572346" y="2757781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7" name="TextBox 86"/>
          <p:cNvSpPr txBox="1"/>
          <p:nvPr/>
        </p:nvSpPr>
        <p:spPr>
          <a:xfrm>
            <a:off x="1614802" y="2731669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114757" y="2757782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9" name="TextBox 88"/>
          <p:cNvSpPr txBox="1"/>
          <p:nvPr/>
        </p:nvSpPr>
        <p:spPr>
          <a:xfrm>
            <a:off x="2129220" y="2731669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72903" y="3147778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TextBox 90"/>
          <p:cNvSpPr txBox="1"/>
          <p:nvPr/>
        </p:nvSpPr>
        <p:spPr>
          <a:xfrm>
            <a:off x="520338" y="3121666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35514" y="3147778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3" name="TextBox 92"/>
          <p:cNvSpPr txBox="1"/>
          <p:nvPr/>
        </p:nvSpPr>
        <p:spPr>
          <a:xfrm>
            <a:off x="1077768" y="3121666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572346" y="3147778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TextBox 94"/>
          <p:cNvSpPr txBox="1"/>
          <p:nvPr/>
        </p:nvSpPr>
        <p:spPr>
          <a:xfrm>
            <a:off x="1614802" y="3121666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114757" y="3147779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TextBox 96"/>
          <p:cNvSpPr txBox="1"/>
          <p:nvPr/>
        </p:nvSpPr>
        <p:spPr>
          <a:xfrm>
            <a:off x="2129220" y="3121666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72903" y="3537775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9" name="TextBox 98"/>
          <p:cNvSpPr txBox="1"/>
          <p:nvPr/>
        </p:nvSpPr>
        <p:spPr>
          <a:xfrm>
            <a:off x="520338" y="3511663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35514" y="3537775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1" name="TextBox 100"/>
          <p:cNvSpPr txBox="1"/>
          <p:nvPr/>
        </p:nvSpPr>
        <p:spPr>
          <a:xfrm>
            <a:off x="1077768" y="3511663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572346" y="3537775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" name="TextBox 102"/>
          <p:cNvSpPr txBox="1"/>
          <p:nvPr/>
        </p:nvSpPr>
        <p:spPr>
          <a:xfrm>
            <a:off x="1614802" y="3511663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114757" y="3537776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TextBox 104"/>
          <p:cNvSpPr txBox="1"/>
          <p:nvPr/>
        </p:nvSpPr>
        <p:spPr>
          <a:xfrm>
            <a:off x="2129220" y="3511663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575334" y="2895094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3" name="TextBox 122"/>
          <p:cNvSpPr txBox="1"/>
          <p:nvPr/>
        </p:nvSpPr>
        <p:spPr>
          <a:xfrm>
            <a:off x="3611297" y="2858367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137945" y="2895094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5" name="TextBox 124"/>
          <p:cNvSpPr txBox="1"/>
          <p:nvPr/>
        </p:nvSpPr>
        <p:spPr>
          <a:xfrm>
            <a:off x="4180199" y="2868982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674777" y="2895094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7" name="TextBox 126"/>
          <p:cNvSpPr txBox="1"/>
          <p:nvPr/>
        </p:nvSpPr>
        <p:spPr>
          <a:xfrm>
            <a:off x="4708199" y="2856821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217188" y="2895095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TextBox 128"/>
          <p:cNvSpPr txBox="1"/>
          <p:nvPr/>
        </p:nvSpPr>
        <p:spPr>
          <a:xfrm>
            <a:off x="5231651" y="2868982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747135" y="2893815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1" name="TextBox 130"/>
          <p:cNvSpPr txBox="1"/>
          <p:nvPr/>
        </p:nvSpPr>
        <p:spPr>
          <a:xfrm>
            <a:off x="5778930" y="2864053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89198" y="2893815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3" name="TextBox 132"/>
          <p:cNvSpPr txBox="1"/>
          <p:nvPr/>
        </p:nvSpPr>
        <p:spPr>
          <a:xfrm>
            <a:off x="6331452" y="2867703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826030" y="2893815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5" name="TextBox 134"/>
          <p:cNvSpPr txBox="1"/>
          <p:nvPr/>
        </p:nvSpPr>
        <p:spPr>
          <a:xfrm>
            <a:off x="6850574" y="2856855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368441" y="2893816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7" name="TextBox 136"/>
          <p:cNvSpPr txBox="1"/>
          <p:nvPr/>
        </p:nvSpPr>
        <p:spPr>
          <a:xfrm>
            <a:off x="7382904" y="2875941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871285" y="2897033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9" name="TextBox 138"/>
          <p:cNvSpPr txBox="1"/>
          <p:nvPr/>
        </p:nvSpPr>
        <p:spPr>
          <a:xfrm>
            <a:off x="7938954" y="2870921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403074" y="2897033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1" name="TextBox 140"/>
          <p:cNvSpPr txBox="1"/>
          <p:nvPr/>
        </p:nvSpPr>
        <p:spPr>
          <a:xfrm>
            <a:off x="8445328" y="2870921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b3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939906" y="2897033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3" name="TextBox 142"/>
          <p:cNvSpPr txBox="1"/>
          <p:nvPr/>
        </p:nvSpPr>
        <p:spPr>
          <a:xfrm>
            <a:off x="8984679" y="2856821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482317" y="2897034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5" name="TextBox 144"/>
          <p:cNvSpPr txBox="1"/>
          <p:nvPr/>
        </p:nvSpPr>
        <p:spPr>
          <a:xfrm>
            <a:off x="9496780" y="2870921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d3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019816" y="2900124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7" name="TextBox 156"/>
          <p:cNvSpPr txBox="1"/>
          <p:nvPr/>
        </p:nvSpPr>
        <p:spPr>
          <a:xfrm>
            <a:off x="10054153" y="2864053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551605" y="2900124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9" name="TextBox 158"/>
          <p:cNvSpPr txBox="1"/>
          <p:nvPr/>
        </p:nvSpPr>
        <p:spPr>
          <a:xfrm>
            <a:off x="10593859" y="2874012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1088437" y="2900124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1" name="TextBox 160"/>
          <p:cNvSpPr txBox="1"/>
          <p:nvPr/>
        </p:nvSpPr>
        <p:spPr>
          <a:xfrm>
            <a:off x="11112248" y="2867743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1630848" y="2900125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3" name="TextBox 162"/>
          <p:cNvSpPr txBox="1"/>
          <p:nvPr/>
        </p:nvSpPr>
        <p:spPr>
          <a:xfrm>
            <a:off x="11645311" y="2874012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d4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566194" y="4756728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5" name="TextBox 164"/>
          <p:cNvSpPr txBox="1"/>
          <p:nvPr/>
        </p:nvSpPr>
        <p:spPr>
          <a:xfrm>
            <a:off x="3633863" y="4730616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748600" y="4762861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7" name="TextBox 166"/>
          <p:cNvSpPr txBox="1"/>
          <p:nvPr/>
        </p:nvSpPr>
        <p:spPr>
          <a:xfrm>
            <a:off x="5786174" y="4730616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881042" y="4763687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9" name="TextBox 168"/>
          <p:cNvSpPr txBox="1"/>
          <p:nvPr/>
        </p:nvSpPr>
        <p:spPr>
          <a:xfrm>
            <a:off x="7919010" y="4737575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0019609" y="4762108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1" name="TextBox 170"/>
          <p:cNvSpPr txBox="1"/>
          <p:nvPr/>
        </p:nvSpPr>
        <p:spPr>
          <a:xfrm>
            <a:off x="10034072" y="4735995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d1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125655" y="4763687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3" name="TextBox 172"/>
          <p:cNvSpPr txBox="1"/>
          <p:nvPr/>
        </p:nvSpPr>
        <p:spPr>
          <a:xfrm>
            <a:off x="4162091" y="4722412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6286049" y="4761133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5" name="TextBox 174"/>
          <p:cNvSpPr txBox="1"/>
          <p:nvPr/>
        </p:nvSpPr>
        <p:spPr>
          <a:xfrm>
            <a:off x="6328303" y="4735021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8405868" y="4763687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7" name="TextBox 176"/>
          <p:cNvSpPr txBox="1"/>
          <p:nvPr/>
        </p:nvSpPr>
        <p:spPr>
          <a:xfrm>
            <a:off x="8437403" y="4731778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c2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551838" y="4753858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9" name="TextBox 178"/>
          <p:cNvSpPr txBox="1"/>
          <p:nvPr/>
        </p:nvSpPr>
        <p:spPr>
          <a:xfrm>
            <a:off x="10566909" y="4731562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4663337" y="4760763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1" name="TextBox 180"/>
          <p:cNvSpPr txBox="1"/>
          <p:nvPr/>
        </p:nvSpPr>
        <p:spPr>
          <a:xfrm>
            <a:off x="4719084" y="4722366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6827483" y="4756728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3" name="TextBox 182"/>
          <p:cNvSpPr txBox="1"/>
          <p:nvPr/>
        </p:nvSpPr>
        <p:spPr>
          <a:xfrm>
            <a:off x="6869737" y="4730616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b3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934385" y="4763710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5" name="TextBox 184"/>
          <p:cNvSpPr txBox="1"/>
          <p:nvPr/>
        </p:nvSpPr>
        <p:spPr>
          <a:xfrm>
            <a:off x="8960141" y="4731995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c3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1073456" y="4753858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7" name="TextBox 186"/>
          <p:cNvSpPr txBox="1"/>
          <p:nvPr/>
        </p:nvSpPr>
        <p:spPr>
          <a:xfrm>
            <a:off x="11087919" y="4727745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d3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205376" y="4760764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9" name="TextBox 188"/>
          <p:cNvSpPr txBox="1"/>
          <p:nvPr/>
        </p:nvSpPr>
        <p:spPr>
          <a:xfrm>
            <a:off x="5232856" y="4734582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7362648" y="4762107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1" name="TextBox 190"/>
          <p:cNvSpPr txBox="1"/>
          <p:nvPr/>
        </p:nvSpPr>
        <p:spPr>
          <a:xfrm>
            <a:off x="7404902" y="4735995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9477332" y="4767582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3" name="TextBox 192"/>
          <p:cNvSpPr txBox="1"/>
          <p:nvPr/>
        </p:nvSpPr>
        <p:spPr>
          <a:xfrm>
            <a:off x="9514256" y="4730044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11616255" y="4756729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5" name="TextBox 194"/>
          <p:cNvSpPr txBox="1"/>
          <p:nvPr/>
        </p:nvSpPr>
        <p:spPr>
          <a:xfrm>
            <a:off x="11626859" y="4720804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201466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Columnar</a:t>
            </a:r>
            <a:r>
              <a:rPr lang="fr-FR"/>
              <a:t> </a:t>
            </a:r>
            <a:br>
              <a:rPr lang="fr-FR"/>
            </a:br>
            <a:r>
              <a:rPr lang="fr-FR"/>
              <a:t>=&gt; </a:t>
            </a:r>
            <a:r>
              <a:rPr lang="fr-FR"/>
              <a:t>better</a:t>
            </a:r>
            <a:r>
              <a:rPr lang="fr-FR"/>
              <a:t> memory </a:t>
            </a:r>
            <a:r>
              <a:rPr lang="fr-FR"/>
              <a:t>aligned</a:t>
            </a:r>
            <a:r>
              <a:rPr lang="fr-FR"/>
              <a:t>, </a:t>
            </a:r>
            <a:br>
              <a:rPr lang="fr-FR"/>
            </a:br>
            <a:r>
              <a:rPr lang="fr-FR"/>
              <a:t>Vectorized</a:t>
            </a:r>
            <a:r>
              <a:rPr lang="fr-FR"/>
              <a:t> CPU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2370" y="2905780"/>
            <a:ext cx="4724563" cy="2893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struct</a:t>
            </a:r>
            <a:r>
              <a:rPr lang="fr-FR"/>
              <a:t> A {</a:t>
            </a:r>
          </a:p>
          <a:p>
            <a:endParaRPr lang="fr-FR"/>
          </a:p>
          <a:p>
            <a:r>
              <a:rPr lang="fr-FR"/>
              <a:t>  </a:t>
            </a:r>
            <a:r>
              <a:rPr lang="fr-FR"/>
              <a:t>boolean</a:t>
            </a:r>
            <a:r>
              <a:rPr lang="fr-FR"/>
              <a:t> f1;   // &lt;= 1 bit (on 1 byte)</a:t>
            </a:r>
          </a:p>
          <a:p>
            <a:r>
              <a:rPr lang="fr-FR"/>
              <a:t>                         // in-memory </a:t>
            </a:r>
            <a:r>
              <a:rPr lang="fr-FR"/>
              <a:t>padding</a:t>
            </a:r>
            <a:r>
              <a:rPr lang="fr-FR"/>
              <a:t> 3 bytes</a:t>
            </a:r>
          </a:p>
          <a:p>
            <a:r>
              <a:rPr lang="fr-FR"/>
              <a:t>  </a:t>
            </a:r>
            <a:r>
              <a:rPr lang="fr-FR"/>
              <a:t>int</a:t>
            </a:r>
            <a:r>
              <a:rPr lang="fr-FR"/>
              <a:t>           f2;  // 4 bytes, </a:t>
            </a:r>
            <a:r>
              <a:rPr lang="fr-FR"/>
              <a:t>aligned</a:t>
            </a:r>
            <a:r>
              <a:rPr lang="fr-FR"/>
              <a:t> on multiple of 4</a:t>
            </a:r>
          </a:p>
          <a:p>
            <a:r>
              <a:rPr lang="fr-FR"/>
              <a:t>                        //  in-memory </a:t>
            </a:r>
            <a:r>
              <a:rPr lang="fr-FR"/>
              <a:t>padding</a:t>
            </a:r>
            <a:r>
              <a:rPr lang="fr-FR"/>
              <a:t> 4 bytes</a:t>
            </a:r>
            <a:br>
              <a:rPr lang="fr-FR"/>
            </a:br>
            <a:r>
              <a:rPr lang="fr-FR"/>
              <a:t>  long        f3  // 8 bytes</a:t>
            </a:r>
          </a:p>
          <a:p>
            <a:r>
              <a:rPr lang="fr-FR"/>
              <a:t>}</a:t>
            </a:r>
          </a:p>
          <a:p>
            <a:endParaRPr lang="fr-FR"/>
          </a:p>
          <a:p>
            <a:r>
              <a:rPr lang="fr-FR" sz="2000" b="1"/>
              <a:t>array</a:t>
            </a:r>
            <a:r>
              <a:rPr lang="fr-FR" sz="2000" b="1"/>
              <a:t>[</a:t>
            </a:r>
            <a:r>
              <a:rPr lang="fr-FR" sz="2000" b="1"/>
              <a:t>struct</a:t>
            </a:r>
            <a:r>
              <a:rPr lang="fr-FR" sz="2000" b="1"/>
              <a:t>&lt;..&gt;]</a:t>
            </a:r>
            <a:r>
              <a:rPr lang="fr-FR" sz="2000"/>
              <a:t>    &lt;=&gt;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57108" y="3568450"/>
            <a:ext cx="5496692" cy="18195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96099" y="2905780"/>
            <a:ext cx="44187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Vectorized</a:t>
            </a:r>
            <a:r>
              <a:rPr lang="fr-FR" sz="2800"/>
              <a:t> Reader </a:t>
            </a:r>
            <a:r>
              <a:rPr lang="fr-FR" sz="2800" b="1"/>
              <a:t>~9x </a:t>
            </a:r>
            <a:r>
              <a:rPr lang="fr-FR" sz="2800" b="1"/>
              <a:t>Faster</a:t>
            </a:r>
            <a:endParaRPr lang="fr-FR" sz="2800" b="1"/>
          </a:p>
        </p:txBody>
      </p:sp>
      <p:sp>
        <p:nvSpPr>
          <p:cNvPr id="8" name="TextBox 7"/>
          <p:cNvSpPr txBox="1"/>
          <p:nvPr/>
        </p:nvSpPr>
        <p:spPr>
          <a:xfrm>
            <a:off x="3168825" y="5338165"/>
            <a:ext cx="28369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array</a:t>
            </a:r>
            <a:r>
              <a:rPr lang="fr-FR" sz="2400" b="1"/>
              <a:t>[</a:t>
            </a:r>
            <a:r>
              <a:rPr lang="fr-FR" sz="2400" b="1"/>
              <a:t>boolean</a:t>
            </a:r>
            <a:r>
              <a:rPr lang="fr-FR" sz="2400" b="1"/>
              <a:t>]</a:t>
            </a:r>
          </a:p>
          <a:p>
            <a:r>
              <a:rPr lang="fr-FR" sz="2400" b="1"/>
              <a:t>array</a:t>
            </a:r>
            <a:r>
              <a:rPr lang="fr-FR" sz="2400" b="1"/>
              <a:t>[</a:t>
            </a:r>
            <a:r>
              <a:rPr lang="fr-FR" sz="2400" b="1"/>
              <a:t>int</a:t>
            </a:r>
            <a:r>
              <a:rPr lang="fr-FR" sz="2400" b="1"/>
              <a:t>]</a:t>
            </a:r>
            <a:br>
              <a:rPr lang="fr-FR" sz="2400" b="1"/>
            </a:br>
            <a:r>
              <a:rPr lang="fr-FR" sz="2400" b="1"/>
              <a:t>array</a:t>
            </a:r>
            <a:r>
              <a:rPr lang="fr-FR" sz="2400" b="1"/>
              <a:t>[long]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Vectorized</a:t>
            </a:r>
            <a:r>
              <a:rPr lang="fr-FR"/>
              <a:t> code ... </a:t>
            </a:r>
            <a:r>
              <a:rPr lang="fr-FR"/>
              <a:t>fewer</a:t>
            </a:r>
            <a:r>
              <a:rPr lang="fr-FR"/>
              <a:t> "If", "Loop", "calls"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486863" y="2753794"/>
            <a:ext cx="5705137" cy="269146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22738" y="2513668"/>
            <a:ext cx="5873262" cy="34765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0554" y="1690688"/>
            <a:ext cx="2621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Better</a:t>
            </a:r>
            <a:r>
              <a:rPr lang="fr-FR" sz="2400"/>
              <a:t> CPU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96554" y="1690687"/>
            <a:ext cx="29291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Better</a:t>
            </a:r>
            <a:r>
              <a:rPr lang="fr-FR" sz="2400"/>
              <a:t> Memory Cache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40" y="11447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Column</a:t>
            </a:r>
            <a:r>
              <a:rPr lang="fr-FR"/>
              <a:t> </a:t>
            </a:r>
            <a:r>
              <a:rPr lang="fr-FR"/>
              <a:t>Pruning</a:t>
            </a:r>
            <a:r>
              <a:rPr lang="fr-FR"/>
              <a:t> </a:t>
            </a:r>
            <a:r>
              <a:rPr lang="fr-FR"/>
              <a:t>Optimization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256305" y="2435381"/>
            <a:ext cx="493385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SELECT</a:t>
            </a:r>
            <a:r>
              <a:rPr lang="fr-FR" sz="2800"/>
              <a:t>      ,      -- ONLY 2 </a:t>
            </a:r>
            <a:r>
              <a:rPr lang="fr-FR" sz="2800"/>
              <a:t>columns</a:t>
            </a:r>
            <a:endParaRPr lang="fr-FR" sz="2800"/>
          </a:p>
          <a:p>
            <a:r>
              <a:rPr lang="fr-FR" sz="2800" b="1"/>
              <a:t>FROM</a:t>
            </a:r>
            <a:r>
              <a:rPr lang="fr-FR" sz="2800"/>
              <a:t>  table</a:t>
            </a:r>
          </a:p>
          <a:p>
            <a:r>
              <a:rPr lang="fr-FR" sz="2800"/>
              <a:t>WHERE 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2761" y="4172679"/>
            <a:ext cx="38198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On Disk READ: </a:t>
            </a:r>
            <a:r>
              <a:rPr lang="fr-FR" sz="2800"/>
              <a:t>columnar</a:t>
            </a:r>
            <a:r>
              <a:rPr lang="fr-FR" sz="2800"/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94" y="4808980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3633863" y="4782868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8" name="Rectangle 7"/>
          <p:cNvSpPr/>
          <p:nvPr/>
        </p:nvSpPr>
        <p:spPr>
          <a:xfrm>
            <a:off x="5748600" y="4815113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5786174" y="4782868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81042" y="4815939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7919010" y="4789827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19609" y="4814360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10034072" y="4788247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25655" y="4815939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4162091" y="4774664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86049" y="4813385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6328303" y="4787273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5868" y="4815939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extBox 18"/>
          <p:cNvSpPr txBox="1"/>
          <p:nvPr/>
        </p:nvSpPr>
        <p:spPr>
          <a:xfrm>
            <a:off x="8437403" y="4784030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51838" y="4806110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/>
          <p:cNvSpPr txBox="1"/>
          <p:nvPr/>
        </p:nvSpPr>
        <p:spPr>
          <a:xfrm>
            <a:off x="10566909" y="4783814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337" y="4813015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/>
          <p:cNvSpPr txBox="1"/>
          <p:nvPr/>
        </p:nvSpPr>
        <p:spPr>
          <a:xfrm>
            <a:off x="4719084" y="4774618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27483" y="4808980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/>
          <p:cNvSpPr txBox="1"/>
          <p:nvPr/>
        </p:nvSpPr>
        <p:spPr>
          <a:xfrm>
            <a:off x="6869737" y="4782868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34385" y="4815962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8960141" y="4784247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73456" y="4806110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/>
          <p:cNvSpPr txBox="1"/>
          <p:nvPr/>
        </p:nvSpPr>
        <p:spPr>
          <a:xfrm>
            <a:off x="11087919" y="4779997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05376" y="4813016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TextBox 30"/>
          <p:cNvSpPr txBox="1"/>
          <p:nvPr/>
        </p:nvSpPr>
        <p:spPr>
          <a:xfrm>
            <a:off x="5232856" y="4786834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62648" y="4814359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7404902" y="4788247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77332" y="4819834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TextBox 34"/>
          <p:cNvSpPr txBox="1"/>
          <p:nvPr/>
        </p:nvSpPr>
        <p:spPr>
          <a:xfrm>
            <a:off x="9514256" y="4782296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616255" y="4808981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TextBox 36"/>
          <p:cNvSpPr txBox="1"/>
          <p:nvPr/>
        </p:nvSpPr>
        <p:spPr>
          <a:xfrm>
            <a:off x="11626859" y="4773056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70217" y="4695899"/>
            <a:ext cx="2376604" cy="523220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 38"/>
          <p:cNvSpPr/>
          <p:nvPr/>
        </p:nvSpPr>
        <p:spPr>
          <a:xfrm>
            <a:off x="7862461" y="4773056"/>
            <a:ext cx="2114135" cy="389970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Arrow: Right 39"/>
          <p:cNvSpPr/>
          <p:nvPr/>
        </p:nvSpPr>
        <p:spPr>
          <a:xfrm>
            <a:off x="5786174" y="5401999"/>
            <a:ext cx="2043844" cy="3225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Arrow: Right 40"/>
          <p:cNvSpPr/>
          <p:nvPr/>
        </p:nvSpPr>
        <p:spPr>
          <a:xfrm>
            <a:off x="10034072" y="5401999"/>
            <a:ext cx="2043844" cy="3225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TextBox 41"/>
          <p:cNvSpPr txBox="1"/>
          <p:nvPr/>
        </p:nvSpPr>
        <p:spPr>
          <a:xfrm>
            <a:off x="6143578" y="5730650"/>
            <a:ext cx="2028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IO </a:t>
            </a:r>
            <a:r>
              <a:rPr lang="fr-FR"/>
              <a:t>read</a:t>
            </a:r>
            <a:r>
              <a:rPr lang="fr-FR"/>
              <a:t> for </a:t>
            </a:r>
            <a:r>
              <a:rPr lang="fr-FR" b="1"/>
              <a:t>b</a:t>
            </a:r>
            <a:r>
              <a:rPr lang="fr-FR"/>
              <a:t> values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68327" y="5724554"/>
            <a:ext cx="16050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IO </a:t>
            </a:r>
            <a:r>
              <a:rPr lang="fr-FR"/>
              <a:t>read</a:t>
            </a:r>
            <a:r>
              <a:rPr lang="fr-FR"/>
              <a:t> for </a:t>
            </a:r>
            <a:r>
              <a:rPr lang="fr-FR" b="1"/>
              <a:t>d(s)</a:t>
            </a:r>
          </a:p>
        </p:txBody>
      </p:sp>
      <p:cxnSp>
        <p:nvCxnSpPr>
          <p:cNvPr id="45" name="Straight Connector 44"/>
          <p:cNvCxnSpPr/>
          <p:nvPr/>
        </p:nvCxnSpPr>
        <p:spPr>
          <a:xfrm>
            <a:off x="3802051" y="5550213"/>
            <a:ext cx="163695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8141665" y="5544357"/>
            <a:ext cx="163695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323500" y="1351116"/>
            <a:ext cx="43152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Logical</a:t>
            </a:r>
            <a:r>
              <a:rPr lang="fr-FR" sz="2800"/>
              <a:t> </a:t>
            </a:r>
            <a:r>
              <a:rPr lang="fr-FR" sz="2800"/>
              <a:t>view</a:t>
            </a:r>
            <a:r>
              <a:rPr lang="fr-FR" sz="2800"/>
              <a:t>: </a:t>
            </a:r>
            <a:r>
              <a:rPr lang="fr-FR" sz="2800"/>
              <a:t>rows</a:t>
            </a:r>
            <a:r>
              <a:rPr lang="fr-FR" sz="2800"/>
              <a:t> - </a:t>
            </a:r>
            <a:r>
              <a:rPr lang="fr-FR" sz="2800"/>
              <a:t>columns</a:t>
            </a:r>
            <a:endParaRPr lang="fr-FR" sz="2800"/>
          </a:p>
        </p:txBody>
      </p:sp>
      <p:sp>
        <p:nvSpPr>
          <p:cNvPr id="48" name="Rectangle 47"/>
          <p:cNvSpPr/>
          <p:nvPr/>
        </p:nvSpPr>
        <p:spPr>
          <a:xfrm>
            <a:off x="6607622" y="2026748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TextBox 48"/>
          <p:cNvSpPr txBox="1"/>
          <p:nvPr/>
        </p:nvSpPr>
        <p:spPr>
          <a:xfrm>
            <a:off x="6655057" y="2000636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70233" y="2026748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TextBox 50"/>
          <p:cNvSpPr txBox="1"/>
          <p:nvPr/>
        </p:nvSpPr>
        <p:spPr>
          <a:xfrm>
            <a:off x="7212487" y="2000636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07065" y="2026748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TextBox 52"/>
          <p:cNvSpPr txBox="1"/>
          <p:nvPr/>
        </p:nvSpPr>
        <p:spPr>
          <a:xfrm>
            <a:off x="7749521" y="2000636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49476" y="2026749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TextBox 54"/>
          <p:cNvSpPr txBox="1"/>
          <p:nvPr/>
        </p:nvSpPr>
        <p:spPr>
          <a:xfrm>
            <a:off x="8263939" y="2000636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607622" y="2396080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TextBox 56"/>
          <p:cNvSpPr txBox="1"/>
          <p:nvPr/>
        </p:nvSpPr>
        <p:spPr>
          <a:xfrm>
            <a:off x="6655057" y="2369968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70233" y="2396080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TextBox 58"/>
          <p:cNvSpPr txBox="1"/>
          <p:nvPr/>
        </p:nvSpPr>
        <p:spPr>
          <a:xfrm>
            <a:off x="7212487" y="2369968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07065" y="2396080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TextBox 60"/>
          <p:cNvSpPr txBox="1"/>
          <p:nvPr/>
        </p:nvSpPr>
        <p:spPr>
          <a:xfrm>
            <a:off x="7749521" y="2369968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9476" y="2396081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TextBox 62"/>
          <p:cNvSpPr txBox="1"/>
          <p:nvPr/>
        </p:nvSpPr>
        <p:spPr>
          <a:xfrm>
            <a:off x="8263939" y="2369968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7622" y="2786077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TextBox 64"/>
          <p:cNvSpPr txBox="1"/>
          <p:nvPr/>
        </p:nvSpPr>
        <p:spPr>
          <a:xfrm>
            <a:off x="6655057" y="2759965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0233" y="2786077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TextBox 66"/>
          <p:cNvSpPr txBox="1"/>
          <p:nvPr/>
        </p:nvSpPr>
        <p:spPr>
          <a:xfrm>
            <a:off x="7212487" y="2759965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07065" y="2786077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TextBox 68"/>
          <p:cNvSpPr txBox="1"/>
          <p:nvPr/>
        </p:nvSpPr>
        <p:spPr>
          <a:xfrm>
            <a:off x="7749521" y="2759965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49476" y="2786078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TextBox 70"/>
          <p:cNvSpPr txBox="1"/>
          <p:nvPr/>
        </p:nvSpPr>
        <p:spPr>
          <a:xfrm>
            <a:off x="8263939" y="2759965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7622" y="3176074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TextBox 72"/>
          <p:cNvSpPr txBox="1"/>
          <p:nvPr/>
        </p:nvSpPr>
        <p:spPr>
          <a:xfrm>
            <a:off x="6655057" y="3149962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170233" y="3176074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TextBox 74"/>
          <p:cNvSpPr txBox="1"/>
          <p:nvPr/>
        </p:nvSpPr>
        <p:spPr>
          <a:xfrm>
            <a:off x="7212487" y="3149962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07065" y="3176074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TextBox 76"/>
          <p:cNvSpPr txBox="1"/>
          <p:nvPr/>
        </p:nvSpPr>
        <p:spPr>
          <a:xfrm>
            <a:off x="7749521" y="3149962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249476" y="3176075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TextBox 78"/>
          <p:cNvSpPr txBox="1"/>
          <p:nvPr/>
        </p:nvSpPr>
        <p:spPr>
          <a:xfrm>
            <a:off x="8263939" y="3149962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57126" y="1883694"/>
            <a:ext cx="553272" cy="1763659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Rectangle 80"/>
          <p:cNvSpPr/>
          <p:nvPr/>
        </p:nvSpPr>
        <p:spPr>
          <a:xfrm>
            <a:off x="7688973" y="1961305"/>
            <a:ext cx="553272" cy="1763659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3" name="Rectangle 82"/>
          <p:cNvSpPr/>
          <p:nvPr/>
        </p:nvSpPr>
        <p:spPr>
          <a:xfrm>
            <a:off x="1472691" y="2540875"/>
            <a:ext cx="353451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TextBox 83"/>
          <p:cNvSpPr txBox="1"/>
          <p:nvPr/>
        </p:nvSpPr>
        <p:spPr>
          <a:xfrm>
            <a:off x="1510265" y="2508630"/>
            <a:ext cx="318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03489" y="2550133"/>
            <a:ext cx="318536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TextBox 85"/>
          <p:cNvSpPr txBox="1"/>
          <p:nvPr/>
        </p:nvSpPr>
        <p:spPr>
          <a:xfrm>
            <a:off x="2017952" y="2524020"/>
            <a:ext cx="3185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4148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Compare IO </a:t>
            </a:r>
            <a:r>
              <a:rPr lang="fr-FR"/>
              <a:t>Reads</a:t>
            </a:r>
            <a:r>
              <a:rPr lang="fr-FR"/>
              <a:t> </a:t>
            </a:r>
            <a:r>
              <a:rPr lang="fr-FR"/>
              <a:t>with</a:t>
            </a:r>
            <a:r>
              <a:rPr lang="fr-FR"/>
              <a:t> JSON, CSV, </a:t>
            </a:r>
            <a:r>
              <a:rPr lang="fr-FR"/>
              <a:t>Avro</a:t>
            </a:r>
            <a:r>
              <a:rPr lang="fr-FR"/>
              <a:t>, ..</a:t>
            </a:r>
          </a:p>
        </p:txBody>
      </p:sp>
      <p:sp>
        <p:nvSpPr>
          <p:cNvPr id="4" name="Rectangle 3"/>
          <p:cNvSpPr/>
          <p:nvPr/>
        </p:nvSpPr>
        <p:spPr>
          <a:xfrm>
            <a:off x="3053988" y="2974474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3089951" y="2937747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6599" y="2974474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3658853" y="2948362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8" name="Rectangle 7"/>
          <p:cNvSpPr/>
          <p:nvPr/>
        </p:nvSpPr>
        <p:spPr>
          <a:xfrm>
            <a:off x="4153431" y="2974474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4186853" y="2936201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5842" y="2974475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4710305" y="2948362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25789" y="2973195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5257584" y="2943433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7852" y="2973195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5810106" y="2947083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4684" y="2973195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6329228" y="2936235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47095" y="2973196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extBox 18"/>
          <p:cNvSpPr txBox="1"/>
          <p:nvPr/>
        </p:nvSpPr>
        <p:spPr>
          <a:xfrm>
            <a:off x="6861558" y="2955321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9939" y="2976413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/>
          <p:cNvSpPr txBox="1"/>
          <p:nvPr/>
        </p:nvSpPr>
        <p:spPr>
          <a:xfrm>
            <a:off x="7417608" y="2950301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81728" y="2976413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/>
          <p:cNvSpPr txBox="1"/>
          <p:nvPr/>
        </p:nvSpPr>
        <p:spPr>
          <a:xfrm>
            <a:off x="7923982" y="2950301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8560" y="2976413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/>
          <p:cNvSpPr txBox="1"/>
          <p:nvPr/>
        </p:nvSpPr>
        <p:spPr>
          <a:xfrm>
            <a:off x="8463333" y="2936201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0971" y="2976414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8975434" y="2950301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98470" y="2979504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/>
          <p:cNvSpPr txBox="1"/>
          <p:nvPr/>
        </p:nvSpPr>
        <p:spPr>
          <a:xfrm>
            <a:off x="9532807" y="2943433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30259" y="2979504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TextBox 30"/>
          <p:cNvSpPr txBox="1"/>
          <p:nvPr/>
        </p:nvSpPr>
        <p:spPr>
          <a:xfrm>
            <a:off x="10072513" y="2953392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67091" y="2979504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10590902" y="2947123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109502" y="2979505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TextBox 34"/>
          <p:cNvSpPr txBox="1"/>
          <p:nvPr/>
        </p:nvSpPr>
        <p:spPr>
          <a:xfrm>
            <a:off x="11123965" y="2953392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d4</a:t>
            </a:r>
          </a:p>
        </p:txBody>
      </p:sp>
      <p:sp>
        <p:nvSpPr>
          <p:cNvPr id="37" name="Arrow: Right 36"/>
          <p:cNvSpPr/>
          <p:nvPr/>
        </p:nvSpPr>
        <p:spPr>
          <a:xfrm>
            <a:off x="3053988" y="3906013"/>
            <a:ext cx="8510864" cy="3225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TextBox 38"/>
          <p:cNvSpPr txBox="1"/>
          <p:nvPr/>
        </p:nvSpPr>
        <p:spPr>
          <a:xfrm>
            <a:off x="5286419" y="3515854"/>
            <a:ext cx="34488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force </a:t>
            </a:r>
            <a:r>
              <a:rPr lang="fr-FR" sz="2400"/>
              <a:t>sequential</a:t>
            </a:r>
            <a:r>
              <a:rPr lang="fr-FR" sz="2400"/>
              <a:t> READ ALL</a:t>
            </a:r>
            <a:endParaRPr lang="fr-FR" sz="2400" b="1"/>
          </a:p>
        </p:txBody>
      </p:sp>
      <p:sp>
        <p:nvSpPr>
          <p:cNvPr id="44" name="TextBox 43"/>
          <p:cNvSpPr txBox="1"/>
          <p:nvPr/>
        </p:nvSpPr>
        <p:spPr>
          <a:xfrm>
            <a:off x="213557" y="1626411"/>
            <a:ext cx="493385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SELECT</a:t>
            </a:r>
            <a:r>
              <a:rPr lang="fr-FR" sz="2800"/>
              <a:t>      ,      -- ONLY 2 </a:t>
            </a:r>
            <a:r>
              <a:rPr lang="fr-FR" sz="2800"/>
              <a:t>columns</a:t>
            </a:r>
            <a:endParaRPr lang="fr-FR" sz="2800"/>
          </a:p>
          <a:p>
            <a:r>
              <a:rPr lang="fr-FR" sz="2800" b="1"/>
              <a:t>FROM</a:t>
            </a:r>
            <a:r>
              <a:rPr lang="fr-FR" sz="2800"/>
              <a:t>  table</a:t>
            </a:r>
          </a:p>
          <a:p>
            <a:r>
              <a:rPr lang="fr-FR" sz="2800"/>
              <a:t>WHERE ..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29943" y="1731905"/>
            <a:ext cx="353451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TextBox 45"/>
          <p:cNvSpPr txBox="1"/>
          <p:nvPr/>
        </p:nvSpPr>
        <p:spPr>
          <a:xfrm>
            <a:off x="1467517" y="1699660"/>
            <a:ext cx="318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60741" y="1741163"/>
            <a:ext cx="318536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TextBox 47"/>
          <p:cNvSpPr txBox="1"/>
          <p:nvPr/>
        </p:nvSpPr>
        <p:spPr>
          <a:xfrm>
            <a:off x="1975204" y="1715050"/>
            <a:ext cx="3185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</a:t>
            </a:r>
          </a:p>
        </p:txBody>
      </p:sp>
      <p:pic>
        <p:nvPicPr>
          <p:cNvPr id="1026" name="Picture 2" descr="Recycling bin - Free interface icon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053988" y="5004969"/>
            <a:ext cx="369332" cy="369332"/>
          </a:xfrm>
          <a:prstGeom prst="rect">
            <a:avLst/>
          </a:prstGeom>
          <a:noFill/>
        </p:spPr>
      </p:pic>
      <p:sp>
        <p:nvSpPr>
          <p:cNvPr id="49" name="Arrow: Down 48"/>
          <p:cNvSpPr/>
          <p:nvPr/>
        </p:nvSpPr>
        <p:spPr>
          <a:xfrm>
            <a:off x="3087448" y="4760253"/>
            <a:ext cx="269937" cy="16444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0" name="Picture 2" descr="Recycling bin - Free interface icon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220489" y="4971247"/>
            <a:ext cx="369332" cy="369332"/>
          </a:xfrm>
          <a:prstGeom prst="rect">
            <a:avLst/>
          </a:prstGeom>
          <a:noFill/>
        </p:spPr>
      </p:pic>
      <p:sp>
        <p:nvSpPr>
          <p:cNvPr id="51" name="Arrow: Down 50"/>
          <p:cNvSpPr/>
          <p:nvPr/>
        </p:nvSpPr>
        <p:spPr>
          <a:xfrm>
            <a:off x="4253949" y="4726531"/>
            <a:ext cx="269937" cy="16444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2" name="Picture 2" descr="Recycling bin - Free interface icon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208038" y="4980358"/>
            <a:ext cx="369332" cy="369332"/>
          </a:xfrm>
          <a:prstGeom prst="rect">
            <a:avLst/>
          </a:prstGeom>
          <a:noFill/>
        </p:spPr>
      </p:pic>
      <p:sp>
        <p:nvSpPr>
          <p:cNvPr id="53" name="Arrow: Down 52"/>
          <p:cNvSpPr/>
          <p:nvPr/>
        </p:nvSpPr>
        <p:spPr>
          <a:xfrm>
            <a:off x="5241498" y="4735642"/>
            <a:ext cx="269937" cy="16444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Arrow: Down 53"/>
          <p:cNvSpPr/>
          <p:nvPr/>
        </p:nvSpPr>
        <p:spPr>
          <a:xfrm>
            <a:off x="3659751" y="4739058"/>
            <a:ext cx="237493" cy="10212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Arrow: Down 54"/>
          <p:cNvSpPr/>
          <p:nvPr/>
        </p:nvSpPr>
        <p:spPr>
          <a:xfrm>
            <a:off x="4740500" y="4726531"/>
            <a:ext cx="237493" cy="10212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/>
          <p:cNvSpPr/>
          <p:nvPr/>
        </p:nvSpPr>
        <p:spPr>
          <a:xfrm>
            <a:off x="3538218" y="5903097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TextBox 56"/>
          <p:cNvSpPr txBox="1"/>
          <p:nvPr/>
        </p:nvSpPr>
        <p:spPr>
          <a:xfrm>
            <a:off x="3580472" y="5876985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47622" y="5882433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TextBox 58"/>
          <p:cNvSpPr txBox="1"/>
          <p:nvPr/>
        </p:nvSpPr>
        <p:spPr>
          <a:xfrm>
            <a:off x="4662085" y="5856320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8025" y="4308602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TextBox 60"/>
          <p:cNvSpPr txBox="1"/>
          <p:nvPr/>
        </p:nvSpPr>
        <p:spPr>
          <a:xfrm>
            <a:off x="3053988" y="4271875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49975" y="4346875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TextBox 62"/>
          <p:cNvSpPr txBox="1"/>
          <p:nvPr/>
        </p:nvSpPr>
        <p:spPr>
          <a:xfrm>
            <a:off x="4183397" y="4308602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6081948" y="5292210"/>
            <a:ext cx="60873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 =  IO </a:t>
            </a:r>
            <a:r>
              <a:rPr lang="fr-FR" sz="3200" b="1"/>
              <a:t>waste</a:t>
            </a:r>
            <a:r>
              <a:rPr lang="fr-FR" sz="3200" b="1"/>
              <a:t>  + CPU </a:t>
            </a:r>
            <a:r>
              <a:rPr lang="fr-FR" sz="3200" b="1"/>
              <a:t>decoding</a:t>
            </a:r>
            <a:r>
              <a:rPr lang="fr-FR" sz="3200" b="1"/>
              <a:t> </a:t>
            </a:r>
            <a:r>
              <a:rPr lang="fr-FR" sz="3200" b="1"/>
              <a:t>waste</a:t>
            </a:r>
            <a:endParaRPr lang="fr-FR" sz="3200" b="1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708" y="2766218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</a:t>
            </a:r>
            <a:r>
              <a:rPr lang="fr-FR"/>
              <a:t>is</a:t>
            </a:r>
            <a:r>
              <a:rPr lang="fr-FR"/>
              <a:t> </a:t>
            </a:r>
            <a:r>
              <a:rPr lang="fr-FR"/>
              <a:t>Splittable</a:t>
            </a:r>
            <a:endParaRPr lang="fr-F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split </a:t>
            </a:r>
            <a:r>
              <a:rPr lang="fr-FR"/>
              <a:t>rows</a:t>
            </a:r>
            <a:r>
              <a:rPr lang="fr-FR"/>
              <a:t> by </a:t>
            </a:r>
            <a:r>
              <a:rPr lang="fr-FR"/>
              <a:t>RowGroups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188781" y="1712817"/>
            <a:ext cx="43152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Logical</a:t>
            </a:r>
            <a:r>
              <a:rPr lang="fr-FR" sz="2800"/>
              <a:t> </a:t>
            </a:r>
            <a:r>
              <a:rPr lang="fr-FR" sz="2800"/>
              <a:t>view</a:t>
            </a:r>
            <a:r>
              <a:rPr lang="fr-FR" sz="2800"/>
              <a:t>: </a:t>
            </a:r>
            <a:r>
              <a:rPr lang="fr-FR" sz="2800"/>
              <a:t>rows</a:t>
            </a:r>
            <a:r>
              <a:rPr lang="fr-FR" sz="2800"/>
              <a:t> - </a:t>
            </a:r>
            <a:r>
              <a:rPr lang="fr-FR" sz="2800"/>
              <a:t>columns</a:t>
            </a:r>
            <a:endParaRPr lang="fr-FR" sz="2800"/>
          </a:p>
        </p:txBody>
      </p:sp>
      <p:sp>
        <p:nvSpPr>
          <p:cNvPr id="5" name="Rectangle 4"/>
          <p:cNvSpPr/>
          <p:nvPr/>
        </p:nvSpPr>
        <p:spPr>
          <a:xfrm>
            <a:off x="1224418" y="2284278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1271853" y="2258166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7" name="Rectangle 6"/>
          <p:cNvSpPr/>
          <p:nvPr/>
        </p:nvSpPr>
        <p:spPr>
          <a:xfrm>
            <a:off x="1787029" y="2284278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1829283" y="2258166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3861" y="2284278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2366317" y="2258166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24418" y="2653610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1271853" y="2627498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7029" y="2653610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1829283" y="2627498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23861" y="2653610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/>
          <p:cNvSpPr txBox="1"/>
          <p:nvPr/>
        </p:nvSpPr>
        <p:spPr>
          <a:xfrm>
            <a:off x="2366317" y="2627498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24418" y="3043607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1271853" y="3017495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87029" y="3043607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extBox 23"/>
          <p:cNvSpPr txBox="1"/>
          <p:nvPr/>
        </p:nvSpPr>
        <p:spPr>
          <a:xfrm>
            <a:off x="1829283" y="3017495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23861" y="3043607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TextBox 25"/>
          <p:cNvSpPr txBox="1"/>
          <p:nvPr/>
        </p:nvSpPr>
        <p:spPr>
          <a:xfrm>
            <a:off x="2366317" y="3017495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24418" y="3734052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TextBox 29"/>
          <p:cNvSpPr txBox="1"/>
          <p:nvPr/>
        </p:nvSpPr>
        <p:spPr>
          <a:xfrm>
            <a:off x="1271853" y="3707940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87029" y="3734052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TextBox 31"/>
          <p:cNvSpPr txBox="1"/>
          <p:nvPr/>
        </p:nvSpPr>
        <p:spPr>
          <a:xfrm>
            <a:off x="1829283" y="3707940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23861" y="3734052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/>
          <p:cNvSpPr txBox="1"/>
          <p:nvPr/>
        </p:nvSpPr>
        <p:spPr>
          <a:xfrm>
            <a:off x="2366317" y="3707940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24418" y="4127222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TextBox 45"/>
          <p:cNvSpPr txBox="1"/>
          <p:nvPr/>
        </p:nvSpPr>
        <p:spPr>
          <a:xfrm>
            <a:off x="1271853" y="4101110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787029" y="4127222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TextBox 47"/>
          <p:cNvSpPr txBox="1"/>
          <p:nvPr/>
        </p:nvSpPr>
        <p:spPr>
          <a:xfrm>
            <a:off x="1829283" y="4101110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23861" y="4127222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TextBox 49"/>
          <p:cNvSpPr txBox="1"/>
          <p:nvPr/>
        </p:nvSpPr>
        <p:spPr>
          <a:xfrm>
            <a:off x="2366317" y="4101110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24418" y="4517219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/>
          <p:cNvSpPr txBox="1"/>
          <p:nvPr/>
        </p:nvSpPr>
        <p:spPr>
          <a:xfrm>
            <a:off x="1271853" y="4491107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87029" y="4517219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TextBox 55"/>
          <p:cNvSpPr txBox="1"/>
          <p:nvPr/>
        </p:nvSpPr>
        <p:spPr>
          <a:xfrm>
            <a:off x="1829283" y="4491107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23861" y="4517219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TextBox 57"/>
          <p:cNvSpPr txBox="1"/>
          <p:nvPr/>
        </p:nvSpPr>
        <p:spPr>
          <a:xfrm>
            <a:off x="2366317" y="4491107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c6</a:t>
            </a:r>
          </a:p>
        </p:txBody>
      </p:sp>
      <p:cxnSp>
        <p:nvCxnSpPr>
          <p:cNvPr id="62" name="Straight Connector 61"/>
          <p:cNvCxnSpPr/>
          <p:nvPr/>
        </p:nvCxnSpPr>
        <p:spPr>
          <a:xfrm>
            <a:off x="911904" y="3555652"/>
            <a:ext cx="225987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258" y="3289992"/>
            <a:ext cx="11509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split </a:t>
            </a:r>
          </a:p>
          <a:p>
            <a:r>
              <a:rPr lang="fr-FR"/>
              <a:t>row</a:t>
            </a:r>
            <a:r>
              <a:rPr lang="fr-FR"/>
              <a:t> group</a:t>
            </a:r>
          </a:p>
        </p:txBody>
      </p:sp>
      <p:sp>
        <p:nvSpPr>
          <p:cNvPr id="66" name="Right Brace 65"/>
          <p:cNvSpPr/>
          <p:nvPr/>
        </p:nvSpPr>
        <p:spPr>
          <a:xfrm>
            <a:off x="3285709" y="2284278"/>
            <a:ext cx="287383" cy="1102549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Right Brace 66"/>
          <p:cNvSpPr/>
          <p:nvPr/>
        </p:nvSpPr>
        <p:spPr>
          <a:xfrm>
            <a:off x="3285709" y="3734052"/>
            <a:ext cx="287383" cy="1102549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TextBox 67"/>
          <p:cNvSpPr txBox="1"/>
          <p:nvPr/>
        </p:nvSpPr>
        <p:spPr>
          <a:xfrm>
            <a:off x="3716460" y="2623547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16460" y="4056606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1</a:t>
            </a:r>
          </a:p>
        </p:txBody>
      </p:sp>
      <p:cxnSp>
        <p:nvCxnSpPr>
          <p:cNvPr id="70" name="Straight Connector 69"/>
          <p:cNvCxnSpPr/>
          <p:nvPr/>
        </p:nvCxnSpPr>
        <p:spPr>
          <a:xfrm>
            <a:off x="869349" y="5327847"/>
            <a:ext cx="225987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ight Brace 70"/>
          <p:cNvSpPr/>
          <p:nvPr/>
        </p:nvSpPr>
        <p:spPr>
          <a:xfrm>
            <a:off x="3283030" y="5488521"/>
            <a:ext cx="287383" cy="756157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TextBox 71"/>
          <p:cNvSpPr txBox="1"/>
          <p:nvPr/>
        </p:nvSpPr>
        <p:spPr>
          <a:xfrm>
            <a:off x="3679950" y="5631470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236393" y="5973125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TextBox 73"/>
          <p:cNvSpPr txBox="1"/>
          <p:nvPr/>
        </p:nvSpPr>
        <p:spPr>
          <a:xfrm>
            <a:off x="1283828" y="5947013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799004" y="5973125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TextBox 75"/>
          <p:cNvSpPr txBox="1"/>
          <p:nvPr/>
        </p:nvSpPr>
        <p:spPr>
          <a:xfrm>
            <a:off x="1841258" y="5947013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335836" y="5973125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TextBox 77"/>
          <p:cNvSpPr txBox="1"/>
          <p:nvPr/>
        </p:nvSpPr>
        <p:spPr>
          <a:xfrm>
            <a:off x="2378292" y="5947013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21519" y="2901860"/>
            <a:ext cx="29721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On Disk: </a:t>
            </a:r>
            <a:r>
              <a:rPr lang="fr-FR" sz="2800" b="1"/>
              <a:t>columnar</a:t>
            </a:r>
            <a:r>
              <a:rPr lang="fr-FR" sz="2800"/>
              <a:t> 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696614" y="3709546"/>
            <a:ext cx="789505" cy="31975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TextBox 80"/>
          <p:cNvSpPr txBox="1"/>
          <p:nvPr/>
        </p:nvSpPr>
        <p:spPr>
          <a:xfrm>
            <a:off x="5785728" y="3673224"/>
            <a:ext cx="849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a1..3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486119" y="3706755"/>
            <a:ext cx="789505" cy="322547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3" name="TextBox 112"/>
          <p:cNvSpPr txBox="1"/>
          <p:nvPr/>
        </p:nvSpPr>
        <p:spPr>
          <a:xfrm>
            <a:off x="6543929" y="3682737"/>
            <a:ext cx="734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b1..3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275624" y="3707542"/>
            <a:ext cx="734528" cy="321759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5" name="TextBox 114"/>
          <p:cNvSpPr txBox="1"/>
          <p:nvPr/>
        </p:nvSpPr>
        <p:spPr>
          <a:xfrm>
            <a:off x="7281286" y="3659970"/>
            <a:ext cx="680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c1..3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988468" y="3709546"/>
            <a:ext cx="789505" cy="31975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TextBox 116"/>
          <p:cNvSpPr txBox="1"/>
          <p:nvPr/>
        </p:nvSpPr>
        <p:spPr>
          <a:xfrm>
            <a:off x="8077582" y="3673224"/>
            <a:ext cx="849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a4..6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777973" y="3706755"/>
            <a:ext cx="789505" cy="322547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9" name="TextBox 118"/>
          <p:cNvSpPr txBox="1"/>
          <p:nvPr/>
        </p:nvSpPr>
        <p:spPr>
          <a:xfrm>
            <a:off x="8835783" y="3682737"/>
            <a:ext cx="734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b4..6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567478" y="3707542"/>
            <a:ext cx="734528" cy="321759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1" name="TextBox 120"/>
          <p:cNvSpPr txBox="1"/>
          <p:nvPr/>
        </p:nvSpPr>
        <p:spPr>
          <a:xfrm>
            <a:off x="9573140" y="3659970"/>
            <a:ext cx="680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c4..6</a:t>
            </a:r>
          </a:p>
        </p:txBody>
      </p:sp>
      <p:sp>
        <p:nvSpPr>
          <p:cNvPr id="122" name="Right Brace 121"/>
          <p:cNvSpPr/>
          <p:nvPr/>
        </p:nvSpPr>
        <p:spPr>
          <a:xfrm rot="5400000">
            <a:off x="6721594" y="3241294"/>
            <a:ext cx="285781" cy="2169573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3" name="TextBox 122"/>
          <p:cNvSpPr txBox="1"/>
          <p:nvPr/>
        </p:nvSpPr>
        <p:spPr>
          <a:xfrm>
            <a:off x="6250046" y="4468973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0</a:t>
            </a:r>
          </a:p>
        </p:txBody>
      </p:sp>
      <p:sp>
        <p:nvSpPr>
          <p:cNvPr id="124" name="Right Brace 123"/>
          <p:cNvSpPr/>
          <p:nvPr/>
        </p:nvSpPr>
        <p:spPr>
          <a:xfrm rot="5400000">
            <a:off x="8961343" y="3241294"/>
            <a:ext cx="285781" cy="2169573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5" name="TextBox 124"/>
          <p:cNvSpPr txBox="1"/>
          <p:nvPr/>
        </p:nvSpPr>
        <p:spPr>
          <a:xfrm>
            <a:off x="8489795" y="4468973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1</a:t>
            </a:r>
          </a:p>
        </p:txBody>
      </p:sp>
      <p:sp>
        <p:nvSpPr>
          <p:cNvPr id="126" name="Right Brace 125"/>
          <p:cNvSpPr/>
          <p:nvPr/>
        </p:nvSpPr>
        <p:spPr>
          <a:xfrm rot="5400000">
            <a:off x="11470591" y="3813883"/>
            <a:ext cx="285781" cy="1046904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7" name="TextBox 126"/>
          <p:cNvSpPr txBox="1"/>
          <p:nvPr/>
        </p:nvSpPr>
        <p:spPr>
          <a:xfrm>
            <a:off x="10863576" y="4480226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1392964" y="3720796"/>
            <a:ext cx="734528" cy="321759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TextBox 128"/>
          <p:cNvSpPr txBox="1"/>
          <p:nvPr/>
        </p:nvSpPr>
        <p:spPr>
          <a:xfrm>
            <a:off x="11441122" y="3706755"/>
            <a:ext cx="680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c7..9</a:t>
            </a:r>
          </a:p>
        </p:txBody>
      </p:sp>
      <p:cxnSp>
        <p:nvCxnSpPr>
          <p:cNvPr id="130" name="Straight Connector 129"/>
          <p:cNvCxnSpPr/>
          <p:nvPr/>
        </p:nvCxnSpPr>
        <p:spPr>
          <a:xfrm flipH="1" flipV="1">
            <a:off x="7988468" y="3450358"/>
            <a:ext cx="6061" cy="10831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/>
          <p:nvPr/>
        </p:nvCxnSpPr>
        <p:spPr>
          <a:xfrm flipV="1">
            <a:off x="10293995" y="3488747"/>
            <a:ext cx="15587" cy="1044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/>
          <p:nvPr/>
        </p:nvCxnSpPr>
        <p:spPr>
          <a:xfrm flipH="1" flipV="1">
            <a:off x="11059114" y="3500470"/>
            <a:ext cx="21684" cy="10330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00"/>
          <p:cNvSpPr/>
          <p:nvPr/>
        </p:nvSpPr>
        <p:spPr>
          <a:xfrm>
            <a:off x="1298319" y="1566769"/>
            <a:ext cx="1830528" cy="481280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711" y="0"/>
            <a:ext cx="11037277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RowGroup</a:t>
            </a:r>
            <a:r>
              <a:rPr lang="fr-FR"/>
              <a:t> ~ Spark Partition  ~ </a:t>
            </a:r>
            <a:r>
              <a:rPr lang="fr-FR"/>
              <a:t>Executor</a:t>
            </a:r>
            <a:r>
              <a:rPr lang="fr-FR"/>
              <a:t> Thread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803" y="1709165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1448238" y="1683053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3414" y="1709165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2005668" y="1683053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9" name="Rectangle 8"/>
          <p:cNvSpPr/>
          <p:nvPr/>
        </p:nvSpPr>
        <p:spPr>
          <a:xfrm>
            <a:off x="2500246" y="1709165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2542702" y="1683053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0803" y="2078497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/>
          <p:cNvSpPr txBox="1"/>
          <p:nvPr/>
        </p:nvSpPr>
        <p:spPr>
          <a:xfrm>
            <a:off x="1448238" y="2052385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3414" y="2078497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2005668" y="2052385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00246" y="2078497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2542702" y="2052385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803" y="2468494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/>
          <p:cNvSpPr txBox="1"/>
          <p:nvPr/>
        </p:nvSpPr>
        <p:spPr>
          <a:xfrm>
            <a:off x="1448238" y="2442382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3414" y="2468494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/>
          <p:cNvSpPr txBox="1"/>
          <p:nvPr/>
        </p:nvSpPr>
        <p:spPr>
          <a:xfrm>
            <a:off x="2005668" y="2442382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00246" y="2468494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2542702" y="2442382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00803" y="3158939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extBox 23"/>
          <p:cNvSpPr txBox="1"/>
          <p:nvPr/>
        </p:nvSpPr>
        <p:spPr>
          <a:xfrm>
            <a:off x="1448238" y="3132827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3414" y="3158939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TextBox 25"/>
          <p:cNvSpPr txBox="1"/>
          <p:nvPr/>
        </p:nvSpPr>
        <p:spPr>
          <a:xfrm>
            <a:off x="2005668" y="3132827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00246" y="3158939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27"/>
          <p:cNvSpPr txBox="1"/>
          <p:nvPr/>
        </p:nvSpPr>
        <p:spPr>
          <a:xfrm>
            <a:off x="2542702" y="3132827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00803" y="3552109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TextBox 29"/>
          <p:cNvSpPr txBox="1"/>
          <p:nvPr/>
        </p:nvSpPr>
        <p:spPr>
          <a:xfrm>
            <a:off x="1448238" y="3525997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63414" y="3552109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TextBox 31"/>
          <p:cNvSpPr txBox="1"/>
          <p:nvPr/>
        </p:nvSpPr>
        <p:spPr>
          <a:xfrm>
            <a:off x="2005668" y="3525997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00246" y="3552109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/>
          <p:cNvSpPr txBox="1"/>
          <p:nvPr/>
        </p:nvSpPr>
        <p:spPr>
          <a:xfrm>
            <a:off x="2542702" y="3525997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00803" y="3942106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/>
          <p:cNvSpPr txBox="1"/>
          <p:nvPr/>
        </p:nvSpPr>
        <p:spPr>
          <a:xfrm>
            <a:off x="1448238" y="3915994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63414" y="3942106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TextBox 37"/>
          <p:cNvSpPr txBox="1"/>
          <p:nvPr/>
        </p:nvSpPr>
        <p:spPr>
          <a:xfrm>
            <a:off x="2005668" y="3915994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00246" y="3942106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TextBox 39"/>
          <p:cNvSpPr txBox="1"/>
          <p:nvPr/>
        </p:nvSpPr>
        <p:spPr>
          <a:xfrm>
            <a:off x="2542702" y="3915994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c6</a:t>
            </a:r>
          </a:p>
        </p:txBody>
      </p:sp>
      <p:cxnSp>
        <p:nvCxnSpPr>
          <p:cNvPr id="41" name="Straight Connector 40"/>
          <p:cNvCxnSpPr/>
          <p:nvPr/>
        </p:nvCxnSpPr>
        <p:spPr>
          <a:xfrm>
            <a:off x="1088289" y="2980539"/>
            <a:ext cx="225987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904" y="2009344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RowGroup</a:t>
            </a:r>
            <a:r>
              <a:rPr lang="fr-FR"/>
              <a:t> 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04" y="3442403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RowGroup</a:t>
            </a:r>
            <a:r>
              <a:rPr lang="fr-FR"/>
              <a:t> 1</a:t>
            </a:r>
          </a:p>
        </p:txBody>
      </p:sp>
      <p:cxnSp>
        <p:nvCxnSpPr>
          <p:cNvPr id="46" name="Straight Connector 45"/>
          <p:cNvCxnSpPr/>
          <p:nvPr/>
        </p:nvCxnSpPr>
        <p:spPr>
          <a:xfrm>
            <a:off x="1045734" y="4752734"/>
            <a:ext cx="225987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-23606" y="5017267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RowGroup</a:t>
            </a:r>
            <a:r>
              <a:rPr lang="fr-FR"/>
              <a:t> 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12778" y="5398012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TextBox 49"/>
          <p:cNvSpPr txBox="1"/>
          <p:nvPr/>
        </p:nvSpPr>
        <p:spPr>
          <a:xfrm>
            <a:off x="1460213" y="5371900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75389" y="5398012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TextBox 51"/>
          <p:cNvSpPr txBox="1"/>
          <p:nvPr/>
        </p:nvSpPr>
        <p:spPr>
          <a:xfrm>
            <a:off x="2017643" y="5371900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512221" y="5398012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/>
          <p:cNvSpPr txBox="1"/>
          <p:nvPr/>
        </p:nvSpPr>
        <p:spPr>
          <a:xfrm>
            <a:off x="2554677" y="5371900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c9</a:t>
            </a:r>
          </a:p>
        </p:txBody>
      </p:sp>
      <p:sp>
        <p:nvSpPr>
          <p:cNvPr id="55" name="Arrow: Right 54"/>
          <p:cNvSpPr/>
          <p:nvPr/>
        </p:nvSpPr>
        <p:spPr>
          <a:xfrm flipH="1">
            <a:off x="3472616" y="1540554"/>
            <a:ext cx="597877" cy="2844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/>
          <p:cNvSpPr/>
          <p:nvPr/>
        </p:nvSpPr>
        <p:spPr>
          <a:xfrm>
            <a:off x="1432133" y="5882858"/>
            <a:ext cx="1571157" cy="4189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TextBox 56"/>
          <p:cNvSpPr txBox="1"/>
          <p:nvPr/>
        </p:nvSpPr>
        <p:spPr>
          <a:xfrm>
            <a:off x="4139831" y="1498128"/>
            <a:ext cx="2556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3/ </a:t>
            </a:r>
            <a:r>
              <a:rPr lang="fr-FR"/>
              <a:t>read</a:t>
            </a:r>
            <a:r>
              <a:rPr lang="fr-FR"/>
              <a:t> (rg0) file at </a:t>
            </a:r>
            <a:r>
              <a:rPr lang="fr-FR" b="1"/>
              <a:t>offset</a:t>
            </a:r>
          </a:p>
        </p:txBody>
      </p:sp>
      <p:sp>
        <p:nvSpPr>
          <p:cNvPr id="58" name="Arrow: Right 57"/>
          <p:cNvSpPr/>
          <p:nvPr/>
        </p:nvSpPr>
        <p:spPr>
          <a:xfrm flipH="1">
            <a:off x="3471981" y="3038444"/>
            <a:ext cx="597877" cy="2844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TextBox 58"/>
          <p:cNvSpPr txBox="1"/>
          <p:nvPr/>
        </p:nvSpPr>
        <p:spPr>
          <a:xfrm>
            <a:off x="4460260" y="2948161"/>
            <a:ext cx="2281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read</a:t>
            </a:r>
            <a:r>
              <a:rPr lang="fr-FR"/>
              <a:t> (rg1) file at </a:t>
            </a:r>
            <a:r>
              <a:rPr lang="fr-FR" b="1"/>
              <a:t>offset</a:t>
            </a:r>
          </a:p>
        </p:txBody>
      </p:sp>
      <p:sp>
        <p:nvSpPr>
          <p:cNvPr id="60" name="Arrow: Right 59"/>
          <p:cNvSpPr/>
          <p:nvPr/>
        </p:nvSpPr>
        <p:spPr>
          <a:xfrm flipH="1">
            <a:off x="3519248" y="4676785"/>
            <a:ext cx="597877" cy="2844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TextBox 60"/>
          <p:cNvSpPr txBox="1"/>
          <p:nvPr/>
        </p:nvSpPr>
        <p:spPr>
          <a:xfrm>
            <a:off x="4507527" y="4586502"/>
            <a:ext cx="21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file (</a:t>
            </a:r>
            <a:r>
              <a:rPr lang="fr-FR"/>
              <a:t>rgN</a:t>
            </a:r>
            <a:r>
              <a:rPr lang="fr-FR"/>
              <a:t>) file at </a:t>
            </a:r>
            <a:r>
              <a:rPr lang="fr-FR" b="1"/>
              <a:t>offset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73711" y="5802847"/>
            <a:ext cx="53192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Footer</a:t>
            </a:r>
            <a:r>
              <a:rPr lang="fr-FR"/>
              <a:t> </a:t>
            </a:r>
            <a:r>
              <a:rPr lang="fr-FR"/>
              <a:t>Metadata</a:t>
            </a:r>
            <a:endParaRPr lang="fr-FR"/>
          </a:p>
          <a:p>
            <a:r>
              <a:rPr lang="fr-FR"/>
              <a:t>RowGroup</a:t>
            </a:r>
            <a:r>
              <a:rPr lang="fr-FR"/>
              <a:t> </a:t>
            </a:r>
            <a:r>
              <a:rPr lang="fr-FR"/>
              <a:t>Metadatas</a:t>
            </a:r>
            <a:r>
              <a:rPr lang="fr-FR"/>
              <a:t>=</a:t>
            </a:r>
            <a:r>
              <a:rPr lang="fr-FR" b="1"/>
              <a:t>[ offset 0, offset 1, ... offset N ]</a:t>
            </a:r>
          </a:p>
        </p:txBody>
      </p:sp>
      <p:sp>
        <p:nvSpPr>
          <p:cNvPr id="63" name="Rectangle: Rounded Corners 62"/>
          <p:cNvSpPr/>
          <p:nvPr/>
        </p:nvSpPr>
        <p:spPr>
          <a:xfrm>
            <a:off x="9169501" y="3198679"/>
            <a:ext cx="1263833" cy="132556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TextBox 63"/>
          <p:cNvSpPr txBox="1"/>
          <p:nvPr/>
        </p:nvSpPr>
        <p:spPr>
          <a:xfrm>
            <a:off x="9018167" y="2889529"/>
            <a:ext cx="1618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r>
              <a:rPr lang="fr-FR"/>
              <a:t>&lt;&gt; </a:t>
            </a:r>
            <a:r>
              <a:rPr lang="fr-FR"/>
              <a:t>ds</a:t>
            </a:r>
            <a:r>
              <a:rPr lang="fr-FR"/>
              <a:t> =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237861" y="3690285"/>
            <a:ext cx="1083805" cy="297364"/>
          </a:xfrm>
          <a:prstGeom prst="rect">
            <a:avLst/>
          </a:prstGeom>
          <a:solidFill>
            <a:srgbClr val="E25A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TextBox 67"/>
          <p:cNvSpPr txBox="1"/>
          <p:nvPr/>
        </p:nvSpPr>
        <p:spPr>
          <a:xfrm>
            <a:off x="10240978" y="3265935"/>
            <a:ext cx="1684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= rg0 at offset ..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40378" y="3632958"/>
            <a:ext cx="1631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= rg1 at offset..</a:t>
            </a:r>
          </a:p>
        </p:txBody>
      </p:sp>
      <p:pic>
        <p:nvPicPr>
          <p:cNvPr id="71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69706" y="913016"/>
            <a:ext cx="1722616" cy="894435"/>
          </a:xfrm>
          <a:prstGeom prst="rect">
            <a:avLst/>
          </a:prstGeom>
          <a:noFill/>
        </p:spPr>
      </p:pic>
      <p:sp>
        <p:nvSpPr>
          <p:cNvPr id="72" name="TextBox 71"/>
          <p:cNvSpPr txBox="1"/>
          <p:nvPr/>
        </p:nvSpPr>
        <p:spPr>
          <a:xfrm>
            <a:off x="9551734" y="5983637"/>
            <a:ext cx="25178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1/ Driver </a:t>
            </a:r>
            <a:r>
              <a:rPr lang="fr-FR"/>
              <a:t>read</a:t>
            </a:r>
            <a:r>
              <a:rPr lang="fr-FR"/>
              <a:t> </a:t>
            </a:r>
            <a:r>
              <a:rPr lang="fr-FR"/>
              <a:t>Metadata</a:t>
            </a:r>
            <a:br>
              <a:rPr lang="fr-FR"/>
            </a:br>
            <a:r>
              <a:rPr lang="fr-FR"/>
              <a:t>  =&gt; </a:t>
            </a:r>
            <a:r>
              <a:rPr lang="fr-FR"/>
              <a:t>get</a:t>
            </a:r>
            <a:r>
              <a:rPr lang="fr-FR"/>
              <a:t> </a:t>
            </a:r>
            <a:r>
              <a:rPr lang="fr-FR"/>
              <a:t>rowgroup</a:t>
            </a:r>
            <a:r>
              <a:rPr lang="fr-FR"/>
              <a:t> offsets</a:t>
            </a:r>
          </a:p>
        </p:txBody>
      </p:sp>
      <p:sp>
        <p:nvSpPr>
          <p:cNvPr id="73" name="Arrow: Right 72"/>
          <p:cNvSpPr/>
          <p:nvPr/>
        </p:nvSpPr>
        <p:spPr>
          <a:xfrm rot="2451033" flipH="1">
            <a:off x="8527052" y="2967540"/>
            <a:ext cx="925144" cy="2844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: Rounded Corners 73"/>
          <p:cNvSpPr/>
          <p:nvPr/>
        </p:nvSpPr>
        <p:spPr>
          <a:xfrm>
            <a:off x="7330019" y="2160765"/>
            <a:ext cx="1263833" cy="132556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: Rounded Corners 74"/>
          <p:cNvSpPr/>
          <p:nvPr/>
        </p:nvSpPr>
        <p:spPr>
          <a:xfrm>
            <a:off x="7364492" y="3995425"/>
            <a:ext cx="1263833" cy="132556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TextBox 75"/>
          <p:cNvSpPr txBox="1"/>
          <p:nvPr/>
        </p:nvSpPr>
        <p:spPr>
          <a:xfrm>
            <a:off x="9064261" y="4467460"/>
            <a:ext cx="13639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 Driver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528848" y="2399737"/>
            <a:ext cx="894038" cy="297364"/>
          </a:xfrm>
          <a:prstGeom prst="rect">
            <a:avLst/>
          </a:prstGeom>
          <a:solidFill>
            <a:srgbClr val="E25A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TextBox 77"/>
          <p:cNvSpPr txBox="1"/>
          <p:nvPr/>
        </p:nvSpPr>
        <p:spPr>
          <a:xfrm>
            <a:off x="7301250" y="1806968"/>
            <a:ext cx="1842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 </a:t>
            </a:r>
            <a:r>
              <a:rPr lang="fr-FR" b="1"/>
              <a:t>Executor</a:t>
            </a:r>
            <a:r>
              <a:rPr lang="fr-FR" b="1"/>
              <a:t>(s)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3014" y="3609239"/>
            <a:ext cx="1606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 </a:t>
            </a:r>
            <a:r>
              <a:rPr lang="fr-FR" b="1"/>
              <a:t>Executor</a:t>
            </a:r>
            <a:endParaRPr lang="fr-FR" b="1"/>
          </a:p>
        </p:txBody>
      </p:sp>
      <p:sp>
        <p:nvSpPr>
          <p:cNvPr id="80" name="Rectangle 79"/>
          <p:cNvSpPr/>
          <p:nvPr/>
        </p:nvSpPr>
        <p:spPr>
          <a:xfrm>
            <a:off x="7545913" y="2953060"/>
            <a:ext cx="895535" cy="297364"/>
          </a:xfrm>
          <a:prstGeom prst="rect">
            <a:avLst/>
          </a:prstGeom>
          <a:solidFill>
            <a:srgbClr val="E25A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TextBox 80"/>
          <p:cNvSpPr txBox="1"/>
          <p:nvPr/>
        </p:nvSpPr>
        <p:spPr>
          <a:xfrm>
            <a:off x="5554526" y="2106300"/>
            <a:ext cx="17488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task0 = </a:t>
            </a:r>
            <a:r>
              <a:rPr lang="fr-FR"/>
              <a:t>read</a:t>
            </a:r>
            <a:r>
              <a:rPr lang="fr-FR"/>
              <a:t> rg0</a:t>
            </a:r>
            <a:br>
              <a:rPr lang="fr-FR"/>
            </a:br>
            <a:r>
              <a:rPr lang="fr-FR"/>
              <a:t>(</a:t>
            </a:r>
            <a:r>
              <a:rPr lang="fr-FR"/>
              <a:t>read</a:t>
            </a:r>
            <a:r>
              <a:rPr lang="fr-FR"/>
              <a:t> at offset ..)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13298" y="2379448"/>
            <a:ext cx="6803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9885" y="2907048"/>
            <a:ext cx="6803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545913" y="4259812"/>
            <a:ext cx="895535" cy="297364"/>
          </a:xfrm>
          <a:prstGeom prst="rect">
            <a:avLst/>
          </a:prstGeom>
          <a:solidFill>
            <a:srgbClr val="E25A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TextBox 84"/>
          <p:cNvSpPr txBox="1"/>
          <p:nvPr/>
        </p:nvSpPr>
        <p:spPr>
          <a:xfrm>
            <a:off x="7639885" y="4213800"/>
            <a:ext cx="712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taskN</a:t>
            </a:r>
            <a:endParaRPr lang="fr-FR"/>
          </a:p>
        </p:txBody>
      </p:sp>
      <p:sp>
        <p:nvSpPr>
          <p:cNvPr id="86" name="Arrow: Right 85"/>
          <p:cNvSpPr/>
          <p:nvPr/>
        </p:nvSpPr>
        <p:spPr>
          <a:xfrm rot="2451033" flipH="1">
            <a:off x="6583120" y="1913439"/>
            <a:ext cx="1069537" cy="2844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7" name="Arrow: Right 86"/>
          <p:cNvSpPr/>
          <p:nvPr/>
        </p:nvSpPr>
        <p:spPr>
          <a:xfrm rot="21391459" flipH="1">
            <a:off x="6772902" y="3001395"/>
            <a:ext cx="722846" cy="2844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8" name="Arrow: Right 87"/>
          <p:cNvSpPr/>
          <p:nvPr/>
        </p:nvSpPr>
        <p:spPr>
          <a:xfrm rot="19386070" flipH="1">
            <a:off x="6790086" y="4489573"/>
            <a:ext cx="722846" cy="2844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9" name="TextBox 88"/>
          <p:cNvSpPr txBox="1"/>
          <p:nvPr/>
        </p:nvSpPr>
        <p:spPr>
          <a:xfrm>
            <a:off x="9215184" y="366034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237861" y="4113918"/>
            <a:ext cx="1083805" cy="297364"/>
          </a:xfrm>
          <a:prstGeom prst="rect">
            <a:avLst/>
          </a:prstGeom>
          <a:solidFill>
            <a:srgbClr val="E25A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TextBox 90"/>
          <p:cNvSpPr txBox="1"/>
          <p:nvPr/>
        </p:nvSpPr>
        <p:spPr>
          <a:xfrm>
            <a:off x="9215184" y="4083977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26203" y="3293567"/>
            <a:ext cx="1083805" cy="297364"/>
          </a:xfrm>
          <a:prstGeom prst="rect">
            <a:avLst/>
          </a:prstGeom>
          <a:solidFill>
            <a:srgbClr val="E25A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3" name="TextBox 92"/>
          <p:cNvSpPr txBox="1"/>
          <p:nvPr/>
        </p:nvSpPr>
        <p:spPr>
          <a:xfrm>
            <a:off x="9203526" y="3263626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240378" y="4066645"/>
            <a:ext cx="1631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= rg2 at offset..</a:t>
            </a:r>
          </a:p>
        </p:txBody>
      </p:sp>
      <p:sp>
        <p:nvSpPr>
          <p:cNvPr id="95" name="Arrow: Right 94"/>
          <p:cNvSpPr/>
          <p:nvPr/>
        </p:nvSpPr>
        <p:spPr>
          <a:xfrm rot="8937602" flipH="1">
            <a:off x="7847536" y="5158997"/>
            <a:ext cx="3408397" cy="2844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6" name="Arrow: Right 95"/>
          <p:cNvSpPr/>
          <p:nvPr/>
        </p:nvSpPr>
        <p:spPr>
          <a:xfrm flipH="1">
            <a:off x="8787382" y="6129013"/>
            <a:ext cx="597877" cy="2844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TextBox 96"/>
          <p:cNvSpPr txBox="1"/>
          <p:nvPr/>
        </p:nvSpPr>
        <p:spPr>
          <a:xfrm>
            <a:off x="8844976" y="2231655"/>
            <a:ext cx="20586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2/ Driver </a:t>
            </a:r>
            <a:r>
              <a:rPr lang="fr-FR"/>
              <a:t>send</a:t>
            </a:r>
            <a:r>
              <a:rPr lang="fr-FR"/>
              <a:t> </a:t>
            </a:r>
            <a:r>
              <a:rPr lang="fr-FR"/>
              <a:t>Tasks</a:t>
            </a:r>
            <a:br>
              <a:rPr lang="fr-FR"/>
            </a:br>
            <a:r>
              <a:rPr lang="fr-FR"/>
              <a:t>to </a:t>
            </a:r>
            <a:r>
              <a:rPr lang="fr-FR"/>
              <a:t>Executors</a:t>
            </a:r>
            <a:endParaRPr lang="fr-FR"/>
          </a:p>
        </p:txBody>
      </p:sp>
      <p:sp>
        <p:nvSpPr>
          <p:cNvPr id="98" name="Oval 97"/>
          <p:cNvSpPr/>
          <p:nvPr/>
        </p:nvSpPr>
        <p:spPr>
          <a:xfrm>
            <a:off x="9551734" y="5958942"/>
            <a:ext cx="344453" cy="42063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9" name="Oval 98"/>
          <p:cNvSpPr/>
          <p:nvPr/>
        </p:nvSpPr>
        <p:spPr>
          <a:xfrm>
            <a:off x="8835963" y="2219147"/>
            <a:ext cx="344453" cy="42063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Oval 99"/>
          <p:cNvSpPr/>
          <p:nvPr/>
        </p:nvSpPr>
        <p:spPr>
          <a:xfrm>
            <a:off x="4144466" y="1490854"/>
            <a:ext cx="344453" cy="42063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6623" y="0"/>
            <a:ext cx="9958755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1 Parquet </a:t>
            </a:r>
            <a:r>
              <a:rPr lang="fr-FR"/>
              <a:t>RowGroup</a:t>
            </a:r>
            <a:r>
              <a:rPr lang="fr-FR"/>
              <a:t>(s)</a:t>
            </a:r>
            <a:br>
              <a:rPr lang="fr-FR"/>
            </a:br>
            <a:r>
              <a:rPr lang="fr-FR"/>
              <a:t>     -&gt; default to 1 Spark </a:t>
            </a:r>
            <a:r>
              <a:rPr lang="fr-FR"/>
              <a:t>DataSet</a:t>
            </a:r>
            <a:r>
              <a:rPr lang="fr-FR"/>
              <a:t> partition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98985" y="2409075"/>
            <a:ext cx="6544356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by default,</a:t>
            </a:r>
          </a:p>
          <a:p>
            <a:endParaRPr lang="fr-FR" sz="2800"/>
          </a:p>
          <a:p>
            <a:r>
              <a:rPr lang="fr-FR" sz="2800" b="1"/>
              <a:t>parquet.block.size</a:t>
            </a:r>
            <a:r>
              <a:rPr lang="fr-FR" sz="2800" b="1"/>
              <a:t> = 128 Mo</a:t>
            </a:r>
          </a:p>
          <a:p>
            <a:r>
              <a:rPr lang="fr-FR" sz="2800"/>
              <a:t>             </a:t>
            </a:r>
            <a:r>
              <a:rPr lang="fr-FR" sz="2800" b="1"/>
              <a:t>=</a:t>
            </a:r>
          </a:p>
          <a:p>
            <a:r>
              <a:rPr lang="fr-FR" sz="2800"/>
              <a:t>spark.files.maxPartitionBytes</a:t>
            </a:r>
            <a:r>
              <a:rPr lang="fr-FR" sz="2800"/>
              <a:t> = 128 Mo</a:t>
            </a:r>
          </a:p>
          <a:p>
            <a:r>
              <a:rPr lang="fr-FR" sz="2800"/>
              <a:t>             </a:t>
            </a:r>
            <a:r>
              <a:rPr lang="fr-FR" sz="2800" b="1"/>
              <a:t>=</a:t>
            </a:r>
          </a:p>
          <a:p>
            <a:r>
              <a:rPr lang="fr-FR" sz="2800" b="1"/>
              <a:t>spark.sql.files.maxPartitionBytes</a:t>
            </a:r>
            <a:r>
              <a:rPr lang="fr-FR" sz="2800"/>
              <a:t> </a:t>
            </a:r>
            <a:r>
              <a:rPr lang="fr-FR" sz="2800" b="1"/>
              <a:t>= 128 Mo</a:t>
            </a:r>
          </a:p>
          <a:p>
            <a:endParaRPr lang="fr-FR" sz="28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3901433" y="2239108"/>
            <a:ext cx="869859" cy="44899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" y="48793"/>
            <a:ext cx="11940467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N  Parquet </a:t>
            </a:r>
            <a:r>
              <a:rPr lang="fr-FR"/>
              <a:t>RowGroups</a:t>
            </a:r>
            <a:r>
              <a:rPr lang="fr-FR"/>
              <a:t>   </a:t>
            </a:r>
            <a:br>
              <a:rPr lang="fr-FR"/>
            </a:br>
            <a:r>
              <a:rPr lang="fr-FR"/>
              <a:t>       -&gt;  </a:t>
            </a:r>
            <a:r>
              <a:rPr lang="fr-FR"/>
              <a:t>FileSplit</a:t>
            </a:r>
            <a:r>
              <a:rPr lang="fr-FR"/>
              <a:t> to P (&lt;=N) Spark Partitions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032736" y="2309446"/>
            <a:ext cx="586154" cy="9671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4032736" y="3405554"/>
            <a:ext cx="586154" cy="9671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4032736" y="4501662"/>
            <a:ext cx="586154" cy="9671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/>
        </p:nvSpPr>
        <p:spPr>
          <a:xfrm>
            <a:off x="4032736" y="5597770"/>
            <a:ext cx="586154" cy="9671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ight Brace 7"/>
          <p:cNvSpPr/>
          <p:nvPr/>
        </p:nvSpPr>
        <p:spPr>
          <a:xfrm flipH="1">
            <a:off x="3502751" y="2385591"/>
            <a:ext cx="318971" cy="797170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2131157" y="2608357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0</a:t>
            </a:r>
          </a:p>
        </p:txBody>
      </p:sp>
      <p:sp>
        <p:nvSpPr>
          <p:cNvPr id="10" name="Right Brace 9"/>
          <p:cNvSpPr/>
          <p:nvPr/>
        </p:nvSpPr>
        <p:spPr>
          <a:xfrm flipH="1">
            <a:off x="3502751" y="3520219"/>
            <a:ext cx="318971" cy="797170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2131157" y="3742985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1</a:t>
            </a:r>
          </a:p>
        </p:txBody>
      </p:sp>
      <p:sp>
        <p:nvSpPr>
          <p:cNvPr id="14" name="Right Brace 13"/>
          <p:cNvSpPr/>
          <p:nvPr/>
        </p:nvSpPr>
        <p:spPr>
          <a:xfrm flipH="1">
            <a:off x="3502751" y="4654847"/>
            <a:ext cx="318971" cy="797170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2131157" y="4877613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2</a:t>
            </a:r>
          </a:p>
        </p:txBody>
      </p:sp>
      <p:sp>
        <p:nvSpPr>
          <p:cNvPr id="16" name="Right Brace 15"/>
          <p:cNvSpPr/>
          <p:nvPr/>
        </p:nvSpPr>
        <p:spPr>
          <a:xfrm flipH="1">
            <a:off x="3502751" y="5668895"/>
            <a:ext cx="318971" cy="797170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2131157" y="5891661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5252452" y="2239108"/>
            <a:ext cx="1582615" cy="0"/>
          </a:xfrm>
          <a:prstGeom prst="line">
            <a:avLst/>
          </a:prstGeom>
          <a:ln w="38100">
            <a:solidFill>
              <a:srgbClr val="E25A1C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5252452" y="4112317"/>
            <a:ext cx="1582615" cy="0"/>
          </a:xfrm>
          <a:prstGeom prst="line">
            <a:avLst/>
          </a:prstGeom>
          <a:ln w="38100">
            <a:solidFill>
              <a:srgbClr val="E25A1C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5252452" y="5973722"/>
            <a:ext cx="1582615" cy="0"/>
          </a:xfrm>
          <a:prstGeom prst="line">
            <a:avLst/>
          </a:prstGeom>
          <a:ln w="38100">
            <a:solidFill>
              <a:srgbClr val="E25A1C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4" idx="3"/>
          </p:cNvCxnSpPr>
          <p:nvPr/>
        </p:nvCxnSpPr>
        <p:spPr>
          <a:xfrm flipV="1">
            <a:off x="4618890" y="2790092"/>
            <a:ext cx="550986" cy="2931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4598852" y="3939401"/>
            <a:ext cx="550986" cy="2931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4598852" y="4982308"/>
            <a:ext cx="550986" cy="2931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4618890" y="6064549"/>
            <a:ext cx="550986" cy="2931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21722" y="1829816"/>
            <a:ext cx="1273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parquet file</a:t>
            </a:r>
          </a:p>
        </p:txBody>
      </p:sp>
      <p:pic>
        <p:nvPicPr>
          <p:cNvPr id="2052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609681" y="1353913"/>
            <a:ext cx="1722616" cy="894435"/>
          </a:xfrm>
          <a:prstGeom prst="rect">
            <a:avLst/>
          </a:prstGeom>
          <a:noFill/>
        </p:spPr>
      </p:pic>
      <p:sp>
        <p:nvSpPr>
          <p:cNvPr id="31" name="Arrow: Up-Down 30"/>
          <p:cNvSpPr/>
          <p:nvPr/>
        </p:nvSpPr>
        <p:spPr>
          <a:xfrm>
            <a:off x="1855264" y="2344406"/>
            <a:ext cx="318971" cy="967154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Arrow: Up-Down 31"/>
          <p:cNvSpPr/>
          <p:nvPr/>
        </p:nvSpPr>
        <p:spPr>
          <a:xfrm>
            <a:off x="1855264" y="3406366"/>
            <a:ext cx="318971" cy="967154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55536" y="2532170"/>
            <a:ext cx="1923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parquet.block.size</a:t>
            </a:r>
            <a:endParaRPr lang="fr-FR" b="1"/>
          </a:p>
        </p:txBody>
      </p:sp>
      <p:sp>
        <p:nvSpPr>
          <p:cNvPr id="34" name="Arrow: Up-Down 33"/>
          <p:cNvSpPr/>
          <p:nvPr/>
        </p:nvSpPr>
        <p:spPr>
          <a:xfrm>
            <a:off x="6691411" y="2256693"/>
            <a:ext cx="318971" cy="1865302"/>
          </a:xfrm>
          <a:prstGeom prst="upDown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Arrow: Up-Down 34"/>
          <p:cNvSpPr/>
          <p:nvPr/>
        </p:nvSpPr>
        <p:spPr>
          <a:xfrm>
            <a:off x="6691411" y="4127856"/>
            <a:ext cx="318971" cy="1865302"/>
          </a:xfrm>
          <a:prstGeom prst="upDown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Arrow: Right 36"/>
          <p:cNvSpPr/>
          <p:nvPr/>
        </p:nvSpPr>
        <p:spPr>
          <a:xfrm rot="16200000">
            <a:off x="6476652" y="6202056"/>
            <a:ext cx="748490" cy="318972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TextBox 37"/>
          <p:cNvSpPr txBox="1"/>
          <p:nvPr/>
        </p:nvSpPr>
        <p:spPr>
          <a:xfrm>
            <a:off x="7069957" y="2545379"/>
            <a:ext cx="3308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b="1"/>
              <a:t>spark.sql.files.maxPartitionBytes</a:t>
            </a:r>
            <a:endParaRPr lang="fr-FR" b="1"/>
          </a:p>
        </p:txBody>
      </p:sp>
      <p:sp>
        <p:nvSpPr>
          <p:cNvPr id="39" name="Arrow: Up-Down 38"/>
          <p:cNvSpPr/>
          <p:nvPr/>
        </p:nvSpPr>
        <p:spPr>
          <a:xfrm>
            <a:off x="1877833" y="4498731"/>
            <a:ext cx="318971" cy="967154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: Rounded Corners 40"/>
          <p:cNvSpPr/>
          <p:nvPr/>
        </p:nvSpPr>
        <p:spPr>
          <a:xfrm>
            <a:off x="8827532" y="3552050"/>
            <a:ext cx="1263833" cy="132556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TextBox 41"/>
          <p:cNvSpPr txBox="1"/>
          <p:nvPr/>
        </p:nvSpPr>
        <p:spPr>
          <a:xfrm>
            <a:off x="9065186" y="4992730"/>
            <a:ext cx="205235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ds</a:t>
            </a:r>
            <a:r>
              <a:rPr lang="fr-FR"/>
              <a:t> = </a:t>
            </a:r>
            <a:r>
              <a:rPr lang="fr-FR"/>
              <a:t>spark.sql</a:t>
            </a:r>
            <a:r>
              <a:rPr lang="fr-FR"/>
              <a:t>(..)</a:t>
            </a:r>
          </a:p>
          <a:p>
            <a:r>
              <a:rPr lang="fr-FR"/>
              <a:t>or</a:t>
            </a:r>
          </a:p>
          <a:p>
            <a:r>
              <a:rPr lang="fr-FR"/>
              <a:t>ds</a:t>
            </a:r>
            <a:r>
              <a:rPr lang="fr-FR"/>
              <a:t>=</a:t>
            </a:r>
            <a:r>
              <a:rPr lang="fr-FR"/>
              <a:t>spark.read</a:t>
            </a:r>
            <a:br>
              <a:rPr lang="fr-FR"/>
            </a:br>
            <a:r>
              <a:rPr lang="fr-FR"/>
              <a:t>  .format("parquet")</a:t>
            </a:r>
            <a:br>
              <a:rPr lang="fr-FR"/>
            </a:br>
            <a:r>
              <a:rPr lang="fr-FR"/>
              <a:t>  .</a:t>
            </a:r>
            <a:r>
              <a:rPr lang="fr-FR"/>
              <a:t>load</a:t>
            </a:r>
            <a:r>
              <a:rPr lang="fr-FR"/>
              <a:t>(..)</a:t>
            </a:r>
          </a:p>
          <a:p>
            <a:endParaRPr lang="fr-FR"/>
          </a:p>
        </p:txBody>
      </p:sp>
      <p:sp>
        <p:nvSpPr>
          <p:cNvPr id="43" name="TextBox 42"/>
          <p:cNvSpPr txBox="1"/>
          <p:nvPr/>
        </p:nvSpPr>
        <p:spPr>
          <a:xfrm>
            <a:off x="8676198" y="3242900"/>
            <a:ext cx="1618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r>
              <a:rPr lang="fr-FR"/>
              <a:t>&lt;&gt; </a:t>
            </a:r>
            <a:r>
              <a:rPr lang="fr-FR"/>
              <a:t>ds</a:t>
            </a:r>
            <a:r>
              <a:rPr lang="fr-FR"/>
              <a:t> =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4393" y="3633899"/>
            <a:ext cx="480646" cy="297364"/>
          </a:xfrm>
          <a:prstGeom prst="rect">
            <a:avLst/>
          </a:prstGeom>
          <a:solidFill>
            <a:srgbClr val="E25A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Rectangle 45"/>
          <p:cNvSpPr/>
          <p:nvPr/>
        </p:nvSpPr>
        <p:spPr>
          <a:xfrm>
            <a:off x="9214393" y="4043656"/>
            <a:ext cx="480646" cy="297364"/>
          </a:xfrm>
          <a:prstGeom prst="rect">
            <a:avLst/>
          </a:prstGeom>
          <a:solidFill>
            <a:srgbClr val="E25A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/>
          <p:cNvSpPr/>
          <p:nvPr/>
        </p:nvSpPr>
        <p:spPr>
          <a:xfrm>
            <a:off x="9214393" y="4430071"/>
            <a:ext cx="480646" cy="297364"/>
          </a:xfrm>
          <a:prstGeom prst="rect">
            <a:avLst/>
          </a:prstGeom>
          <a:solidFill>
            <a:srgbClr val="E25A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TextBox 47"/>
          <p:cNvSpPr txBox="1"/>
          <p:nvPr/>
        </p:nvSpPr>
        <p:spPr>
          <a:xfrm>
            <a:off x="5362474" y="1647767"/>
            <a:ext cx="24375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split positions </a:t>
            </a:r>
          </a:p>
          <a:p>
            <a:r>
              <a:rPr lang="fr-FR"/>
              <a:t>= k x 128Mo,  k={1,2,3..}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79666" y="2263168"/>
            <a:ext cx="15514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mid</a:t>
            </a:r>
            <a:r>
              <a:rPr lang="fr-FR"/>
              <a:t> point</a:t>
            </a:r>
          </a:p>
          <a:p>
            <a:r>
              <a:rPr lang="fr-FR"/>
              <a:t>=(</a:t>
            </a:r>
            <a:r>
              <a:rPr lang="fr-FR"/>
              <a:t>start+end</a:t>
            </a:r>
            <a:r>
              <a:rPr lang="fr-FR"/>
              <a:t>)/2</a:t>
            </a:r>
          </a:p>
        </p:txBody>
      </p:sp>
      <p:sp>
        <p:nvSpPr>
          <p:cNvPr id="50" name="Oval 49"/>
          <p:cNvSpPr/>
          <p:nvPr/>
        </p:nvSpPr>
        <p:spPr>
          <a:xfrm>
            <a:off x="5065581" y="2716091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Oval 50"/>
          <p:cNvSpPr/>
          <p:nvPr/>
        </p:nvSpPr>
        <p:spPr>
          <a:xfrm>
            <a:off x="5065581" y="3863359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Oval 51"/>
          <p:cNvSpPr/>
          <p:nvPr/>
        </p:nvSpPr>
        <p:spPr>
          <a:xfrm>
            <a:off x="5077838" y="4918279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Oval 52"/>
          <p:cNvSpPr/>
          <p:nvPr/>
        </p:nvSpPr>
        <p:spPr>
          <a:xfrm>
            <a:off x="5098646" y="6000520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5" name="Straight Connector 54"/>
          <p:cNvCxnSpPr>
            <a:stCxn id="50" idx="6"/>
          </p:cNvCxnSpPr>
          <p:nvPr/>
        </p:nvCxnSpPr>
        <p:spPr>
          <a:xfrm>
            <a:off x="5209581" y="2788091"/>
            <a:ext cx="1481830" cy="430976"/>
          </a:xfrm>
          <a:prstGeom prst="line">
            <a:avLst/>
          </a:prstGeom>
          <a:ln w="38100">
            <a:solidFill>
              <a:srgbClr val="E25A1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5254765" y="3336512"/>
            <a:ext cx="1436646" cy="605820"/>
          </a:xfrm>
          <a:prstGeom prst="line">
            <a:avLst/>
          </a:prstGeom>
          <a:ln w="38100">
            <a:solidFill>
              <a:srgbClr val="E25A1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>
            <a:endCxn id="46" idx="1"/>
          </p:cNvCxnSpPr>
          <p:nvPr/>
        </p:nvCxnSpPr>
        <p:spPr>
          <a:xfrm flipV="1">
            <a:off x="7069957" y="4192338"/>
            <a:ext cx="2144436" cy="883784"/>
          </a:xfrm>
          <a:prstGeom prst="line">
            <a:avLst/>
          </a:prstGeom>
          <a:ln w="38100">
            <a:solidFill>
              <a:srgbClr val="E25A1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Straight Connector 2053"/>
          <p:cNvCxnSpPr>
            <a:endCxn id="44" idx="1"/>
          </p:cNvCxnSpPr>
          <p:nvPr/>
        </p:nvCxnSpPr>
        <p:spPr>
          <a:xfrm>
            <a:off x="7010382" y="3375134"/>
            <a:ext cx="2204011" cy="407447"/>
          </a:xfrm>
          <a:prstGeom prst="line">
            <a:avLst/>
          </a:prstGeom>
          <a:ln w="38100">
            <a:solidFill>
              <a:srgbClr val="E25A1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7" name="Straight Connector 2056"/>
          <p:cNvCxnSpPr/>
          <p:nvPr/>
        </p:nvCxnSpPr>
        <p:spPr>
          <a:xfrm>
            <a:off x="5362474" y="4982308"/>
            <a:ext cx="1298323" cy="98163"/>
          </a:xfrm>
          <a:prstGeom prst="line">
            <a:avLst/>
          </a:prstGeom>
          <a:ln w="38100">
            <a:solidFill>
              <a:srgbClr val="E25A1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2" name="Straight Connector 2061"/>
          <p:cNvCxnSpPr/>
          <p:nvPr/>
        </p:nvCxnSpPr>
        <p:spPr>
          <a:xfrm>
            <a:off x="5301334" y="6072520"/>
            <a:ext cx="1287977" cy="639865"/>
          </a:xfrm>
          <a:prstGeom prst="line">
            <a:avLst/>
          </a:prstGeom>
          <a:ln w="38100">
            <a:solidFill>
              <a:srgbClr val="E25A1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4" name="Straight Connector 2063"/>
          <p:cNvCxnSpPr>
            <a:endCxn id="47" idx="1"/>
          </p:cNvCxnSpPr>
          <p:nvPr/>
        </p:nvCxnSpPr>
        <p:spPr>
          <a:xfrm flipV="1">
            <a:off x="7145067" y="4578753"/>
            <a:ext cx="2069326" cy="2170607"/>
          </a:xfrm>
          <a:prstGeom prst="line">
            <a:avLst/>
          </a:prstGeom>
          <a:ln w="38100">
            <a:solidFill>
              <a:srgbClr val="E25A1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1" name="TextBox 2070"/>
          <p:cNvSpPr txBox="1"/>
          <p:nvPr/>
        </p:nvSpPr>
        <p:spPr>
          <a:xfrm>
            <a:off x="10139342" y="3559306"/>
            <a:ext cx="2139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partition 0 = rg0+rg1</a:t>
            </a:r>
          </a:p>
        </p:txBody>
      </p:sp>
      <p:sp>
        <p:nvSpPr>
          <p:cNvPr id="2072" name="TextBox 2071"/>
          <p:cNvSpPr txBox="1"/>
          <p:nvPr/>
        </p:nvSpPr>
        <p:spPr>
          <a:xfrm>
            <a:off x="10128121" y="3985591"/>
            <a:ext cx="1719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partition 1 = rg2</a:t>
            </a:r>
          </a:p>
        </p:txBody>
      </p:sp>
      <p:sp>
        <p:nvSpPr>
          <p:cNvPr id="2073" name="TextBox 2072"/>
          <p:cNvSpPr txBox="1"/>
          <p:nvPr/>
        </p:nvSpPr>
        <p:spPr>
          <a:xfrm>
            <a:off x="10139342" y="4394087"/>
            <a:ext cx="1754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partition 2 = </a:t>
            </a:r>
            <a:r>
              <a:rPr lang="fr-FR" b="1"/>
              <a:t>rgN</a:t>
            </a:r>
            <a:endParaRPr lang="fr-FR" b="1"/>
          </a:p>
        </p:txBody>
      </p:sp>
      <p:cxnSp>
        <p:nvCxnSpPr>
          <p:cNvPr id="2074" name="Straight Connector 2073"/>
          <p:cNvCxnSpPr/>
          <p:nvPr/>
        </p:nvCxnSpPr>
        <p:spPr>
          <a:xfrm>
            <a:off x="7010382" y="3311560"/>
            <a:ext cx="2204011" cy="425741"/>
          </a:xfrm>
          <a:prstGeom prst="line">
            <a:avLst/>
          </a:prstGeom>
          <a:ln w="38100">
            <a:solidFill>
              <a:srgbClr val="E25A1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96"/>
            <a:ext cx="10515600" cy="1044924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{</a:t>
            </a:r>
            <a:r>
              <a:rPr lang="fr-FR"/>
              <a:t>Texts,CSV,Json</a:t>
            </a:r>
            <a:r>
              <a:rPr lang="fr-FR"/>
              <a:t>} formats </a:t>
            </a:r>
            <a:r>
              <a:rPr lang="fr-FR"/>
              <a:t>FileSplit</a:t>
            </a:r>
            <a:endParaRPr lang="fr-FR"/>
          </a:p>
        </p:txBody>
      </p:sp>
      <p:cxnSp>
        <p:nvCxnSpPr>
          <p:cNvPr id="4" name="Straight Connector 3"/>
          <p:cNvCxnSpPr/>
          <p:nvPr/>
        </p:nvCxnSpPr>
        <p:spPr>
          <a:xfrm>
            <a:off x="4853868" y="2328284"/>
            <a:ext cx="1582615" cy="0"/>
          </a:xfrm>
          <a:prstGeom prst="line">
            <a:avLst/>
          </a:prstGeom>
          <a:ln w="38100">
            <a:solidFill>
              <a:srgbClr val="E25A1C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>
            <a:off x="4853868" y="4201493"/>
            <a:ext cx="1582615" cy="0"/>
          </a:xfrm>
          <a:prstGeom prst="line">
            <a:avLst/>
          </a:prstGeom>
          <a:ln w="38100">
            <a:solidFill>
              <a:srgbClr val="E25A1C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>
            <a:off x="4853868" y="6062898"/>
            <a:ext cx="1582615" cy="0"/>
          </a:xfrm>
          <a:prstGeom prst="line">
            <a:avLst/>
          </a:prstGeom>
          <a:ln w="38100">
            <a:solidFill>
              <a:srgbClr val="E25A1C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rrow: Up-Down 6"/>
          <p:cNvSpPr/>
          <p:nvPr/>
        </p:nvSpPr>
        <p:spPr>
          <a:xfrm>
            <a:off x="6292827" y="2345869"/>
            <a:ext cx="318971" cy="1865302"/>
          </a:xfrm>
          <a:prstGeom prst="upDown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Up-Down 7"/>
          <p:cNvSpPr/>
          <p:nvPr/>
        </p:nvSpPr>
        <p:spPr>
          <a:xfrm>
            <a:off x="6292827" y="4217032"/>
            <a:ext cx="318971" cy="1865302"/>
          </a:xfrm>
          <a:prstGeom prst="upDown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/>
          <p:cNvSpPr/>
          <p:nvPr/>
        </p:nvSpPr>
        <p:spPr>
          <a:xfrm rot="16200000">
            <a:off x="6078068" y="6291232"/>
            <a:ext cx="748490" cy="318972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9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849048" y="3754275"/>
            <a:ext cx="1722616" cy="894435"/>
          </a:xfrm>
          <a:prstGeom prst="rect">
            <a:avLst/>
          </a:prstGeom>
          <a:noFill/>
        </p:spPr>
      </p:pic>
      <p:sp>
        <p:nvSpPr>
          <p:cNvPr id="20" name="TextBox 19"/>
          <p:cNvSpPr txBox="1"/>
          <p:nvPr/>
        </p:nvSpPr>
        <p:spPr>
          <a:xfrm>
            <a:off x="6891461" y="2482071"/>
            <a:ext cx="3033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b="1"/>
              <a:t>spark.files.maxPartitionBytes</a:t>
            </a:r>
            <a:endParaRPr lang="fr-FR" b="1"/>
          </a:p>
        </p:txBody>
      </p:sp>
      <p:sp>
        <p:nvSpPr>
          <p:cNvPr id="21" name="Rectangle: Rounded Corners 20"/>
          <p:cNvSpPr/>
          <p:nvPr/>
        </p:nvSpPr>
        <p:spPr>
          <a:xfrm>
            <a:off x="9204898" y="3662994"/>
            <a:ext cx="1263833" cy="132556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9442552" y="5103674"/>
            <a:ext cx="170271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ds</a:t>
            </a:r>
            <a:r>
              <a:rPr lang="fr-FR"/>
              <a:t> = </a:t>
            </a:r>
            <a:r>
              <a:rPr lang="fr-FR"/>
              <a:t>spark.sql</a:t>
            </a:r>
            <a:r>
              <a:rPr lang="fr-FR"/>
              <a:t>(..)</a:t>
            </a:r>
          </a:p>
          <a:p>
            <a:r>
              <a:rPr lang="fr-FR"/>
              <a:t>or</a:t>
            </a:r>
          </a:p>
          <a:p>
            <a:r>
              <a:rPr lang="fr-FR"/>
              <a:t>ds</a:t>
            </a:r>
            <a:r>
              <a:rPr lang="fr-FR"/>
              <a:t>=</a:t>
            </a:r>
            <a:r>
              <a:rPr lang="fr-FR"/>
              <a:t>spark.read</a:t>
            </a:r>
            <a:br>
              <a:rPr lang="fr-FR"/>
            </a:br>
            <a:r>
              <a:rPr lang="fr-FR"/>
              <a:t>  .format("</a:t>
            </a:r>
            <a:r>
              <a:rPr lang="fr-FR"/>
              <a:t>json</a:t>
            </a:r>
            <a:r>
              <a:rPr lang="fr-FR"/>
              <a:t>")</a:t>
            </a:r>
            <a:br>
              <a:rPr lang="fr-FR"/>
            </a:br>
            <a:r>
              <a:rPr lang="fr-FR"/>
              <a:t>  .</a:t>
            </a:r>
            <a:r>
              <a:rPr lang="fr-FR"/>
              <a:t>load</a:t>
            </a:r>
            <a:r>
              <a:rPr lang="fr-FR"/>
              <a:t>(..)</a:t>
            </a:r>
          </a:p>
          <a:p>
            <a:endParaRPr lang="fr-FR"/>
          </a:p>
        </p:txBody>
      </p:sp>
      <p:sp>
        <p:nvSpPr>
          <p:cNvPr id="23" name="TextBox 22"/>
          <p:cNvSpPr txBox="1"/>
          <p:nvPr/>
        </p:nvSpPr>
        <p:spPr>
          <a:xfrm>
            <a:off x="9053564" y="3353844"/>
            <a:ext cx="1618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r>
              <a:rPr lang="fr-FR"/>
              <a:t>&lt;&gt; </a:t>
            </a:r>
            <a:r>
              <a:rPr lang="fr-FR"/>
              <a:t>ds</a:t>
            </a:r>
            <a:r>
              <a:rPr lang="fr-FR"/>
              <a:t> =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91759" y="3744843"/>
            <a:ext cx="480646" cy="297364"/>
          </a:xfrm>
          <a:prstGeom prst="rect">
            <a:avLst/>
          </a:prstGeom>
          <a:solidFill>
            <a:srgbClr val="E25A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/>
          <p:cNvSpPr/>
          <p:nvPr/>
        </p:nvSpPr>
        <p:spPr>
          <a:xfrm>
            <a:off x="9591759" y="4154600"/>
            <a:ext cx="480646" cy="297364"/>
          </a:xfrm>
          <a:prstGeom prst="rect">
            <a:avLst/>
          </a:prstGeom>
          <a:solidFill>
            <a:srgbClr val="E25A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9591759" y="4541015"/>
            <a:ext cx="480646" cy="297364"/>
          </a:xfrm>
          <a:prstGeom prst="rect">
            <a:avLst/>
          </a:prstGeom>
          <a:solidFill>
            <a:srgbClr val="E25A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7" name="Straight Connector 26"/>
          <p:cNvCxnSpPr>
            <a:endCxn id="25" idx="1"/>
          </p:cNvCxnSpPr>
          <p:nvPr/>
        </p:nvCxnSpPr>
        <p:spPr>
          <a:xfrm flipV="1">
            <a:off x="6671373" y="4303282"/>
            <a:ext cx="2920386" cy="846401"/>
          </a:xfrm>
          <a:prstGeom prst="line">
            <a:avLst/>
          </a:prstGeom>
          <a:ln w="38100">
            <a:solidFill>
              <a:srgbClr val="E25A1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endCxn id="26" idx="1"/>
          </p:cNvCxnSpPr>
          <p:nvPr/>
        </p:nvCxnSpPr>
        <p:spPr>
          <a:xfrm flipV="1">
            <a:off x="6671373" y="4689697"/>
            <a:ext cx="2920386" cy="2111864"/>
          </a:xfrm>
          <a:prstGeom prst="line">
            <a:avLst/>
          </a:prstGeom>
          <a:ln w="38100">
            <a:solidFill>
              <a:srgbClr val="E25A1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516708" y="3670250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partition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5487" y="4096535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partition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6708" y="4505031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partition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89538" y="2310700"/>
            <a:ext cx="3564329" cy="450751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1520430" y="2416197"/>
            <a:ext cx="315812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{ </a:t>
            </a:r>
            <a:r>
              <a:rPr lang="fr-FR"/>
              <a:t>json</a:t>
            </a:r>
            <a:r>
              <a:rPr lang="fr-FR"/>
              <a:t> line  1 } \n</a:t>
            </a:r>
            <a:br>
              <a:rPr lang="fr-FR"/>
            </a:br>
            <a:endParaRPr lang="fr-FR"/>
          </a:p>
          <a:p>
            <a:r>
              <a:rPr lang="fr-FR"/>
              <a:t>{ </a:t>
            </a:r>
            <a:r>
              <a:rPr lang="fr-FR"/>
              <a:t>json</a:t>
            </a:r>
            <a:r>
              <a:rPr lang="fr-FR"/>
              <a:t>      line   2 } \n</a:t>
            </a:r>
          </a:p>
          <a:p>
            <a:br>
              <a:rPr lang="fr-FR"/>
            </a:br>
            <a:endParaRPr lang="fr-FR"/>
          </a:p>
          <a:p>
            <a:r>
              <a:rPr lang="fr-FR"/>
              <a:t>{ </a:t>
            </a:r>
            <a:r>
              <a:rPr lang="fr-FR"/>
              <a:t>json</a:t>
            </a:r>
            <a:r>
              <a:rPr lang="fr-FR"/>
              <a:t> line ...</a:t>
            </a:r>
          </a:p>
          <a:p>
            <a:r>
              <a:rPr lang="fr-FR"/>
              <a:t>                  line N } \n   { line N+1</a:t>
            </a:r>
            <a:br>
              <a:rPr lang="fr-FR"/>
            </a:br>
            <a:endParaRPr lang="fr-FR"/>
          </a:p>
          <a:p>
            <a:r>
              <a:rPr lang="fr-FR"/>
              <a:t> ..                                 line N+1}\n</a:t>
            </a:r>
          </a:p>
          <a:p>
            <a:endParaRPr lang="fr-FR"/>
          </a:p>
          <a:p>
            <a:endParaRPr lang="fr-FR"/>
          </a:p>
          <a:p>
            <a:endParaRPr lang="fr-FR"/>
          </a:p>
          <a:p>
            <a:r>
              <a:rPr lang="fr-FR"/>
              <a:t>{ </a:t>
            </a:r>
            <a:r>
              <a:rPr lang="fr-FR"/>
              <a:t>json</a:t>
            </a:r>
            <a:r>
              <a:rPr lang="fr-FR"/>
              <a:t> line ...</a:t>
            </a:r>
          </a:p>
          <a:p>
            <a:r>
              <a:rPr lang="fr-FR"/>
              <a:t>                  line P} \n  { line P+1 ..</a:t>
            </a:r>
          </a:p>
          <a:p>
            <a:endParaRPr lang="fr-FR"/>
          </a:p>
        </p:txBody>
      </p:sp>
      <p:cxnSp>
        <p:nvCxnSpPr>
          <p:cNvPr id="34" name="Straight Connector 33"/>
          <p:cNvCxnSpPr>
            <a:endCxn id="24" idx="1"/>
          </p:cNvCxnSpPr>
          <p:nvPr/>
        </p:nvCxnSpPr>
        <p:spPr>
          <a:xfrm>
            <a:off x="6611798" y="3113157"/>
            <a:ext cx="2979961" cy="780368"/>
          </a:xfrm>
          <a:prstGeom prst="line">
            <a:avLst/>
          </a:prstGeom>
          <a:ln w="38100">
            <a:solidFill>
              <a:srgbClr val="E25A1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Freeform: Shape 36"/>
          <p:cNvSpPr/>
          <p:nvPr/>
        </p:nvSpPr>
        <p:spPr>
          <a:xfrm>
            <a:off x="1387741" y="2395239"/>
            <a:ext cx="3438199" cy="2021546"/>
          </a:xfrm>
          <a:custGeom>
            <a:avLst/>
            <a:gdLst/>
            <a:ahLst/>
            <a:cxnLst/>
            <a:rect l="l" t="t" r="r" b="b"/>
            <a:pathLst>
              <a:path w="1484248" h="1558195">
                <a:moveTo>
                  <a:pt x="6343" y="2964"/>
                </a:moveTo>
                <a:lnTo>
                  <a:pt x="1483669" y="0"/>
                </a:lnTo>
                <a:cubicBezTo>
                  <a:pt x="1485494" y="407018"/>
                  <a:pt x="1482259" y="850181"/>
                  <a:pt x="1484084" y="1257199"/>
                </a:cubicBezTo>
                <a:lnTo>
                  <a:pt x="934032" y="1254369"/>
                </a:lnTo>
                <a:lnTo>
                  <a:pt x="925448" y="1558195"/>
                </a:lnTo>
                <a:lnTo>
                  <a:pt x="5481" y="1555785"/>
                </a:lnTo>
                <a:cubicBezTo>
                  <a:pt x="9389" y="1032154"/>
                  <a:pt x="-9288" y="526595"/>
                  <a:pt x="6343" y="2964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Freeform: Shape 39"/>
          <p:cNvSpPr/>
          <p:nvPr/>
        </p:nvSpPr>
        <p:spPr>
          <a:xfrm>
            <a:off x="1406769" y="4079631"/>
            <a:ext cx="3411416" cy="2344615"/>
          </a:xfrm>
          <a:custGeom>
            <a:avLst/>
            <a:gdLst/>
            <a:ahLst/>
            <a:cxnLst/>
            <a:rect l="l" t="t" r="r" b="b"/>
            <a:pathLst>
              <a:path w="3411416" h="2344615">
                <a:moveTo>
                  <a:pt x="0" y="2344615"/>
                </a:moveTo>
                <a:lnTo>
                  <a:pt x="0" y="422031"/>
                </a:lnTo>
                <a:lnTo>
                  <a:pt x="2203939" y="410307"/>
                </a:lnTo>
                <a:lnTo>
                  <a:pt x="2203939" y="0"/>
                </a:lnTo>
                <a:lnTo>
                  <a:pt x="3411416" y="0"/>
                </a:lnTo>
                <a:lnTo>
                  <a:pt x="3411416" y="1875692"/>
                </a:lnTo>
                <a:lnTo>
                  <a:pt x="2016369" y="1887415"/>
                </a:lnTo>
                <a:lnTo>
                  <a:pt x="2016369" y="2332892"/>
                </a:lnTo>
                <a:lnTo>
                  <a:pt x="0" y="2344615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/>
          <p:cNvSpPr txBox="1"/>
          <p:nvPr/>
        </p:nvSpPr>
        <p:spPr>
          <a:xfrm>
            <a:off x="284700" y="1099912"/>
            <a:ext cx="478137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each</a:t>
            </a:r>
            <a:r>
              <a:rPr lang="fr-FR" sz="2000"/>
              <a:t> </a:t>
            </a:r>
            <a:r>
              <a:rPr lang="fr-FR" sz="2000"/>
              <a:t>spark</a:t>
            </a:r>
            <a:r>
              <a:rPr lang="fr-FR" sz="2000"/>
              <a:t> </a:t>
            </a:r>
            <a:r>
              <a:rPr lang="fr-FR" sz="2000"/>
              <a:t>executor</a:t>
            </a:r>
            <a:r>
              <a:rPr lang="fr-FR" sz="2000"/>
              <a:t> </a:t>
            </a:r>
            <a:r>
              <a:rPr lang="fr-FR" sz="2000"/>
              <a:t>reader</a:t>
            </a:r>
            <a:r>
              <a:rPr lang="fr-FR" sz="2000"/>
              <a:t> Thread</a:t>
            </a:r>
            <a:br>
              <a:rPr lang="fr-FR" sz="2000"/>
            </a:br>
            <a:r>
              <a:rPr lang="fr-FR" sz="2000"/>
              <a:t>  at split start =&gt; ignore first chars </a:t>
            </a:r>
            <a:r>
              <a:rPr lang="fr-FR" sz="2000"/>
              <a:t>until</a:t>
            </a:r>
            <a:r>
              <a:rPr lang="fr-FR" sz="2000"/>
              <a:t> '\n' </a:t>
            </a:r>
          </a:p>
          <a:p>
            <a:r>
              <a:rPr lang="fr-FR" sz="2000"/>
              <a:t>  at split end =&gt; </a:t>
            </a:r>
            <a:r>
              <a:rPr lang="fr-FR" sz="2000"/>
              <a:t>read</a:t>
            </a:r>
            <a:r>
              <a:rPr lang="fr-FR" sz="2000"/>
              <a:t> extra chars </a:t>
            </a:r>
            <a:r>
              <a:rPr lang="fr-FR" sz="2000"/>
              <a:t>until</a:t>
            </a:r>
            <a:r>
              <a:rPr lang="fr-FR" sz="2000"/>
              <a:t> '\n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1392" y="0"/>
            <a:ext cx="10515600" cy="151089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Example : Reading 1 CSV of 3.2 GB </a:t>
            </a:r>
            <a:br>
              <a:rPr lang="fr-FR"/>
            </a:br>
            <a:r>
              <a:rPr lang="fr-FR"/>
              <a:t> =&gt; 26 splits = 25 (~128 MB) + 1 very small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49336" y="2588556"/>
            <a:ext cx="9470002" cy="13255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40616" y="4242229"/>
            <a:ext cx="34451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3 280 937 / (128*1024) = 25.03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06210" y="5165594"/>
            <a:ext cx="11745964" cy="149563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708" y="2766218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is Compressible { snappy | gz }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1235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*.gz   are NOT Splittable !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185788" y="1955317"/>
            <a:ext cx="8078327" cy="1057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11815" y="3528691"/>
            <a:ext cx="1063515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CSV file </a:t>
            </a:r>
            <a:r>
              <a:rPr lang="fr-FR" sz="2400"/>
              <a:t>was</a:t>
            </a:r>
            <a:r>
              <a:rPr lang="fr-FR" sz="2400"/>
              <a:t> 3.2 Go, </a:t>
            </a:r>
            <a:r>
              <a:rPr lang="fr-FR" sz="2400"/>
              <a:t>now</a:t>
            </a:r>
            <a:r>
              <a:rPr lang="fr-FR" sz="2400"/>
              <a:t> 660 Mo in .</a:t>
            </a:r>
            <a:r>
              <a:rPr lang="fr-FR" sz="2400"/>
              <a:t>gz</a:t>
            </a:r>
            <a:endParaRPr lang="fr-FR" sz="2400"/>
          </a:p>
          <a:p>
            <a:r>
              <a:rPr lang="fr-FR" sz="2400"/>
              <a:t>but NOT </a:t>
            </a:r>
            <a:r>
              <a:rPr lang="fr-FR" sz="2400"/>
              <a:t>Splittable</a:t>
            </a:r>
            <a:r>
              <a:rPr lang="fr-FR" sz="2400"/>
              <a:t> =&gt; 1 </a:t>
            </a:r>
            <a:r>
              <a:rPr lang="fr-FR" sz="2400"/>
              <a:t>spark</a:t>
            </a:r>
            <a:r>
              <a:rPr lang="fr-FR" sz="2400"/>
              <a:t> partition,  </a:t>
            </a:r>
            <a:r>
              <a:rPr lang="fr-FR" sz="2400"/>
              <a:t>reading</a:t>
            </a:r>
            <a:r>
              <a:rPr lang="fr-FR" sz="2400"/>
              <a:t>  (CPU intensive) by 1 Thread </a:t>
            </a:r>
            <a:r>
              <a:rPr lang="fr-FR" sz="2400"/>
              <a:t>only</a:t>
            </a:r>
            <a:r>
              <a:rPr lang="fr-FR" sz="2400"/>
              <a:t> !</a:t>
            </a:r>
          </a:p>
          <a:p>
            <a:r>
              <a:rPr lang="fr-FR" sz="2400"/>
              <a:t>                                           ~8 times </a:t>
            </a:r>
            <a:r>
              <a:rPr lang="fr-FR" sz="2400"/>
              <a:t>slower</a:t>
            </a:r>
            <a:r>
              <a:rPr lang="fr-FR" sz="2400"/>
              <a:t> on a 8 </a:t>
            </a:r>
            <a:r>
              <a:rPr lang="fr-FR" sz="2400"/>
              <a:t>cores</a:t>
            </a:r>
            <a:r>
              <a:rPr lang="fr-FR" sz="2400"/>
              <a:t> PC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1370" y="4989968"/>
            <a:ext cx="11969260" cy="150290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3306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Compressions </a:t>
            </a:r>
            <a:r>
              <a:rPr lang="fr-FR"/>
              <a:t>Algorithms</a:t>
            </a:r>
            <a:endParaRPr lang="fr-FR"/>
          </a:p>
        </p:txBody>
      </p:sp>
      <p:sp>
        <p:nvSpPr>
          <p:cNvPr id="3" name="TextBox 2"/>
          <p:cNvSpPr txBox="1"/>
          <p:nvPr/>
        </p:nvSpPr>
        <p:spPr>
          <a:xfrm>
            <a:off x="770890" y="1627833"/>
            <a:ext cx="924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data</a:t>
            </a:r>
          </a:p>
        </p:txBody>
      </p:sp>
      <p:sp>
        <p:nvSpPr>
          <p:cNvPr id="4" name="Rectangle: Folded Corner 3"/>
          <p:cNvSpPr/>
          <p:nvPr/>
        </p:nvSpPr>
        <p:spPr>
          <a:xfrm>
            <a:off x="641603" y="2291665"/>
            <a:ext cx="2222086" cy="604264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770890" y="2362964"/>
            <a:ext cx="22060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0101010101001</a:t>
            </a:r>
          </a:p>
        </p:txBody>
      </p:sp>
      <p:sp>
        <p:nvSpPr>
          <p:cNvPr id="6" name="Arrow: Right 5"/>
          <p:cNvSpPr/>
          <p:nvPr/>
        </p:nvSpPr>
        <p:spPr>
          <a:xfrm>
            <a:off x="3360217" y="2362963"/>
            <a:ext cx="421429" cy="3630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: Folded Corner 6"/>
          <p:cNvSpPr/>
          <p:nvPr/>
        </p:nvSpPr>
        <p:spPr>
          <a:xfrm>
            <a:off x="4447822" y="2291665"/>
            <a:ext cx="1463895" cy="604264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4577109" y="2362964"/>
            <a:ext cx="1117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010101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4482" y="1627834"/>
            <a:ext cx="1680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/>
              <a:t>.</a:t>
            </a:r>
            <a:r>
              <a:rPr lang="fr-FR" sz="3600" b="1"/>
              <a:t>snappy</a:t>
            </a:r>
            <a:endParaRPr lang="fr-FR" sz="3600" b="1"/>
          </a:p>
        </p:txBody>
      </p:sp>
      <p:sp>
        <p:nvSpPr>
          <p:cNvPr id="10" name="Rectangle: Folded Corner 9"/>
          <p:cNvSpPr/>
          <p:nvPr/>
        </p:nvSpPr>
        <p:spPr>
          <a:xfrm>
            <a:off x="4505148" y="3846855"/>
            <a:ext cx="1117615" cy="604264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4634435" y="3918154"/>
            <a:ext cx="96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01101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1808" y="3183024"/>
            <a:ext cx="1979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/>
              <a:t>.</a:t>
            </a:r>
            <a:r>
              <a:rPr lang="fr-FR" sz="3600" b="1"/>
              <a:t>gz</a:t>
            </a:r>
            <a:r>
              <a:rPr lang="fr-FR" sz="3600" b="1"/>
              <a:t>  (</a:t>
            </a:r>
            <a:r>
              <a:rPr lang="fr-FR" sz="3600" b="1"/>
              <a:t>gzip</a:t>
            </a:r>
            <a:r>
              <a:rPr lang="fr-FR" sz="3600" b="1"/>
              <a:t>)</a:t>
            </a:r>
          </a:p>
        </p:txBody>
      </p:sp>
      <p:sp>
        <p:nvSpPr>
          <p:cNvPr id="13" name="Rectangle: Folded Corner 12"/>
          <p:cNvSpPr/>
          <p:nvPr/>
        </p:nvSpPr>
        <p:spPr>
          <a:xfrm>
            <a:off x="4524374" y="5398835"/>
            <a:ext cx="1463895" cy="604264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4653661" y="5470134"/>
            <a:ext cx="1117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010101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1034" y="4735004"/>
            <a:ext cx="8386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/>
              <a:t>.lz4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1983" y="2212608"/>
            <a:ext cx="43890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fast  compression/</a:t>
            </a:r>
            <a:r>
              <a:rPr lang="fr-FR" sz="2400"/>
              <a:t>decompression</a:t>
            </a:r>
            <a:endParaRPr lang="fr-FR" sz="2400"/>
          </a:p>
          <a:p>
            <a:r>
              <a:rPr lang="fr-FR" sz="2400"/>
              <a:t>(focus on speed)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1983" y="3564211"/>
            <a:ext cx="326454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slower</a:t>
            </a:r>
            <a:r>
              <a:rPr lang="fr-FR" sz="2400"/>
              <a:t>-compression, </a:t>
            </a:r>
          </a:p>
          <a:p>
            <a:r>
              <a:rPr lang="fr-FR" sz="2400"/>
              <a:t>better</a:t>
            </a:r>
            <a:r>
              <a:rPr lang="fr-FR" sz="2400"/>
              <a:t> compression ratio</a:t>
            </a:r>
          </a:p>
          <a:p>
            <a:r>
              <a:rPr lang="fr-FR" sz="2400"/>
              <a:t>(focus on size)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0093" y="5285146"/>
            <a:ext cx="31345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compromise </a:t>
            </a:r>
            <a:r>
              <a:rPr lang="fr-FR" sz="2400"/>
              <a:t>between</a:t>
            </a:r>
            <a:r>
              <a:rPr lang="fr-FR" sz="2400"/>
              <a:t> </a:t>
            </a:r>
          </a:p>
          <a:p>
            <a:r>
              <a:rPr lang="fr-FR" sz="2400"/>
              <a:t>fast / compression ratio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649" y="0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PARQUET.{snappy | gzip}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22804" y="2263618"/>
            <a:ext cx="5545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On Disk: </a:t>
            </a:r>
            <a:r>
              <a:rPr lang="fr-FR" sz="2800" b="1"/>
              <a:t>Columnar</a:t>
            </a:r>
            <a:r>
              <a:rPr lang="fr-FR" sz="2800" b="1"/>
              <a:t>  NO compression</a:t>
            </a:r>
            <a:endParaRPr lang="fr-FR" sz="2800"/>
          </a:p>
        </p:txBody>
      </p:sp>
      <p:sp>
        <p:nvSpPr>
          <p:cNvPr id="4" name="Rectangle 3"/>
          <p:cNvSpPr/>
          <p:nvPr/>
        </p:nvSpPr>
        <p:spPr>
          <a:xfrm>
            <a:off x="3144163" y="2881036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3211832" y="2854924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6" name="Rectangle 5"/>
          <p:cNvSpPr/>
          <p:nvPr/>
        </p:nvSpPr>
        <p:spPr>
          <a:xfrm>
            <a:off x="5326569" y="2887169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5364143" y="2854924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9011" y="2887995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7496979" y="2861883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97578" y="2886416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9612041" y="2860303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624" y="2887995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3740060" y="2846720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64018" y="2885441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5906272" y="2859329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83837" y="2887995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8015372" y="2856086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29807" y="2878166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extBox 18"/>
          <p:cNvSpPr txBox="1"/>
          <p:nvPr/>
        </p:nvSpPr>
        <p:spPr>
          <a:xfrm>
            <a:off x="10144878" y="2855870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41306" y="2885071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/>
          <p:cNvSpPr txBox="1"/>
          <p:nvPr/>
        </p:nvSpPr>
        <p:spPr>
          <a:xfrm>
            <a:off x="4297053" y="2846674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5452" y="2881036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/>
          <p:cNvSpPr txBox="1"/>
          <p:nvPr/>
        </p:nvSpPr>
        <p:spPr>
          <a:xfrm>
            <a:off x="6447706" y="2854924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12354" y="2888018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/>
          <p:cNvSpPr txBox="1"/>
          <p:nvPr/>
        </p:nvSpPr>
        <p:spPr>
          <a:xfrm>
            <a:off x="8538110" y="2856303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51425" y="2878166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10665888" y="2852053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83345" y="2885072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/>
          <p:cNvSpPr txBox="1"/>
          <p:nvPr/>
        </p:nvSpPr>
        <p:spPr>
          <a:xfrm>
            <a:off x="4810825" y="2858890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40617" y="2886415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TextBox 30"/>
          <p:cNvSpPr txBox="1"/>
          <p:nvPr/>
        </p:nvSpPr>
        <p:spPr>
          <a:xfrm>
            <a:off x="6982871" y="2860303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5301" y="2891890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9092225" y="2854352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194224" y="2881037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TextBox 34"/>
          <p:cNvSpPr txBox="1"/>
          <p:nvPr/>
        </p:nvSpPr>
        <p:spPr>
          <a:xfrm>
            <a:off x="11204828" y="2845112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8781" y="1712817"/>
            <a:ext cx="43152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Logical</a:t>
            </a:r>
            <a:r>
              <a:rPr lang="fr-FR" sz="2800"/>
              <a:t> </a:t>
            </a:r>
            <a:r>
              <a:rPr lang="fr-FR" sz="2800"/>
              <a:t>view</a:t>
            </a:r>
            <a:r>
              <a:rPr lang="fr-FR" sz="2800"/>
              <a:t>: </a:t>
            </a:r>
            <a:r>
              <a:rPr lang="fr-FR" sz="2800"/>
              <a:t>rows</a:t>
            </a:r>
            <a:r>
              <a:rPr lang="fr-FR" sz="2800"/>
              <a:t> - </a:t>
            </a:r>
            <a:r>
              <a:rPr lang="fr-FR" sz="2800"/>
              <a:t>columns</a:t>
            </a:r>
            <a:endParaRPr lang="fr-FR" sz="2800"/>
          </a:p>
        </p:txBody>
      </p:sp>
      <p:sp>
        <p:nvSpPr>
          <p:cNvPr id="37" name="Rectangle 36"/>
          <p:cNvSpPr/>
          <p:nvPr/>
        </p:nvSpPr>
        <p:spPr>
          <a:xfrm>
            <a:off x="472903" y="2388449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TextBox 37"/>
          <p:cNvSpPr txBox="1"/>
          <p:nvPr/>
        </p:nvSpPr>
        <p:spPr>
          <a:xfrm>
            <a:off x="520338" y="2362337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5514" y="2388449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TextBox 39"/>
          <p:cNvSpPr txBox="1"/>
          <p:nvPr/>
        </p:nvSpPr>
        <p:spPr>
          <a:xfrm>
            <a:off x="1077768" y="2362337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72346" y="2388449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TextBox 41"/>
          <p:cNvSpPr txBox="1"/>
          <p:nvPr/>
        </p:nvSpPr>
        <p:spPr>
          <a:xfrm>
            <a:off x="1614802" y="2362337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14757" y="2388450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TextBox 43"/>
          <p:cNvSpPr txBox="1"/>
          <p:nvPr/>
        </p:nvSpPr>
        <p:spPr>
          <a:xfrm>
            <a:off x="2129220" y="2362337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2903" y="2757781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TextBox 45"/>
          <p:cNvSpPr txBox="1"/>
          <p:nvPr/>
        </p:nvSpPr>
        <p:spPr>
          <a:xfrm>
            <a:off x="520338" y="2731669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5514" y="2757781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TextBox 47"/>
          <p:cNvSpPr txBox="1"/>
          <p:nvPr/>
        </p:nvSpPr>
        <p:spPr>
          <a:xfrm>
            <a:off x="1077768" y="2731669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72346" y="2757781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TextBox 49"/>
          <p:cNvSpPr txBox="1"/>
          <p:nvPr/>
        </p:nvSpPr>
        <p:spPr>
          <a:xfrm>
            <a:off x="1614802" y="2731669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14757" y="2757782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TextBox 51"/>
          <p:cNvSpPr txBox="1"/>
          <p:nvPr/>
        </p:nvSpPr>
        <p:spPr>
          <a:xfrm>
            <a:off x="2129220" y="2731669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2903" y="3147778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/>
          <p:cNvSpPr txBox="1"/>
          <p:nvPr/>
        </p:nvSpPr>
        <p:spPr>
          <a:xfrm>
            <a:off x="520338" y="3121666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5514" y="3147778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TextBox 55"/>
          <p:cNvSpPr txBox="1"/>
          <p:nvPr/>
        </p:nvSpPr>
        <p:spPr>
          <a:xfrm>
            <a:off x="1077768" y="3121666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72346" y="3147778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TextBox 57"/>
          <p:cNvSpPr txBox="1"/>
          <p:nvPr/>
        </p:nvSpPr>
        <p:spPr>
          <a:xfrm>
            <a:off x="1614802" y="3121666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114757" y="3147779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TextBox 59"/>
          <p:cNvSpPr txBox="1"/>
          <p:nvPr/>
        </p:nvSpPr>
        <p:spPr>
          <a:xfrm>
            <a:off x="2129220" y="3121666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2903" y="3537775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TextBox 61"/>
          <p:cNvSpPr txBox="1"/>
          <p:nvPr/>
        </p:nvSpPr>
        <p:spPr>
          <a:xfrm>
            <a:off x="520338" y="3511663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35514" y="3537775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TextBox 63"/>
          <p:cNvSpPr txBox="1"/>
          <p:nvPr/>
        </p:nvSpPr>
        <p:spPr>
          <a:xfrm>
            <a:off x="1077768" y="3511663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572346" y="3537775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TextBox 65"/>
          <p:cNvSpPr txBox="1"/>
          <p:nvPr/>
        </p:nvSpPr>
        <p:spPr>
          <a:xfrm>
            <a:off x="1614802" y="3511663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114757" y="3537776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TextBox 67"/>
          <p:cNvSpPr txBox="1"/>
          <p:nvPr/>
        </p:nvSpPr>
        <p:spPr>
          <a:xfrm>
            <a:off x="2129220" y="3511663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90473" y="4022829"/>
            <a:ext cx="6639267" cy="518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On Disk: </a:t>
            </a:r>
            <a:r>
              <a:rPr lang="fr-FR" sz="2800" b="1"/>
              <a:t>Columnar  parquet.{snappy | gzip }</a:t>
            </a:r>
            <a:endParaRPr lang="fr-FR" sz="2800"/>
          </a:p>
        </p:txBody>
      </p:sp>
      <p:sp>
        <p:nvSpPr>
          <p:cNvPr id="70" name="Rectangle 69"/>
          <p:cNvSpPr/>
          <p:nvPr/>
        </p:nvSpPr>
        <p:spPr>
          <a:xfrm>
            <a:off x="3153188" y="4911008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TextBox 70"/>
          <p:cNvSpPr txBox="1"/>
          <p:nvPr/>
        </p:nvSpPr>
        <p:spPr>
          <a:xfrm>
            <a:off x="3220857" y="4884896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35594" y="4917141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TextBox 72"/>
          <p:cNvSpPr txBox="1"/>
          <p:nvPr/>
        </p:nvSpPr>
        <p:spPr>
          <a:xfrm>
            <a:off x="5373168" y="4884896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468036" y="4917967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TextBox 74"/>
          <p:cNvSpPr txBox="1"/>
          <p:nvPr/>
        </p:nvSpPr>
        <p:spPr>
          <a:xfrm>
            <a:off x="7506004" y="4891855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606603" y="4916388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TextBox 76"/>
          <p:cNvSpPr txBox="1"/>
          <p:nvPr/>
        </p:nvSpPr>
        <p:spPr>
          <a:xfrm>
            <a:off x="9621066" y="4890275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712649" y="4917967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TextBox 78"/>
          <p:cNvSpPr txBox="1"/>
          <p:nvPr/>
        </p:nvSpPr>
        <p:spPr>
          <a:xfrm>
            <a:off x="3749085" y="4876692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3043" y="4915413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TextBox 80"/>
          <p:cNvSpPr txBox="1"/>
          <p:nvPr/>
        </p:nvSpPr>
        <p:spPr>
          <a:xfrm>
            <a:off x="5915297" y="4889301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992862" y="4917967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3" name="TextBox 82"/>
          <p:cNvSpPr txBox="1"/>
          <p:nvPr/>
        </p:nvSpPr>
        <p:spPr>
          <a:xfrm>
            <a:off x="8024397" y="4886058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138832" y="4908138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TextBox 84"/>
          <p:cNvSpPr txBox="1"/>
          <p:nvPr/>
        </p:nvSpPr>
        <p:spPr>
          <a:xfrm>
            <a:off x="10153903" y="4885842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250331" y="4915043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7" name="TextBox 86"/>
          <p:cNvSpPr txBox="1"/>
          <p:nvPr/>
        </p:nvSpPr>
        <p:spPr>
          <a:xfrm>
            <a:off x="4306078" y="4876646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14477" y="4911008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9" name="TextBox 88"/>
          <p:cNvSpPr txBox="1"/>
          <p:nvPr/>
        </p:nvSpPr>
        <p:spPr>
          <a:xfrm>
            <a:off x="6456731" y="4884896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521379" y="4917990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TextBox 90"/>
          <p:cNvSpPr txBox="1"/>
          <p:nvPr/>
        </p:nvSpPr>
        <p:spPr>
          <a:xfrm>
            <a:off x="8547135" y="4886275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660450" y="4908138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3" name="TextBox 92"/>
          <p:cNvSpPr txBox="1"/>
          <p:nvPr/>
        </p:nvSpPr>
        <p:spPr>
          <a:xfrm>
            <a:off x="10674913" y="4882025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92370" y="4915044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TextBox 94"/>
          <p:cNvSpPr txBox="1"/>
          <p:nvPr/>
        </p:nvSpPr>
        <p:spPr>
          <a:xfrm>
            <a:off x="4819850" y="4888862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49642" y="4916387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TextBox 96"/>
          <p:cNvSpPr txBox="1"/>
          <p:nvPr/>
        </p:nvSpPr>
        <p:spPr>
          <a:xfrm>
            <a:off x="6991896" y="4890275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064326" y="4921862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9" name="TextBox 98"/>
          <p:cNvSpPr txBox="1"/>
          <p:nvPr/>
        </p:nvSpPr>
        <p:spPr>
          <a:xfrm>
            <a:off x="9101250" y="4884324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203249" y="4911009"/>
            <a:ext cx="461041" cy="322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1" name="TextBox 100"/>
          <p:cNvSpPr txBox="1"/>
          <p:nvPr/>
        </p:nvSpPr>
        <p:spPr>
          <a:xfrm>
            <a:off x="11216243" y="4861360"/>
            <a:ext cx="485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d4</a:t>
            </a:r>
          </a:p>
        </p:txBody>
      </p:sp>
      <p:sp>
        <p:nvSpPr>
          <p:cNvPr id="102" name="Rectangle: Rounded Corners 101"/>
          <p:cNvSpPr/>
          <p:nvPr/>
        </p:nvSpPr>
        <p:spPr>
          <a:xfrm>
            <a:off x="3106615" y="4621964"/>
            <a:ext cx="2180601" cy="823116"/>
          </a:xfrm>
          <a:prstGeom prst="round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" name="TextBox 102"/>
          <p:cNvSpPr txBox="1"/>
          <p:nvPr/>
        </p:nvSpPr>
        <p:spPr>
          <a:xfrm>
            <a:off x="3165241" y="4507847"/>
            <a:ext cx="160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snappy</a:t>
            </a:r>
            <a:r>
              <a:rPr lang="fr-FR"/>
              <a:t>(</a:t>
            </a:r>
            <a:r>
              <a:rPr lang="fr-FR"/>
              <a:t>Chunk</a:t>
            </a:r>
            <a:r>
              <a:rPr lang="fr-FR"/>
              <a:t>)</a:t>
            </a:r>
          </a:p>
        </p:txBody>
      </p:sp>
      <p:sp>
        <p:nvSpPr>
          <p:cNvPr id="104" name="Rectangle: Rounded Corners 103"/>
          <p:cNvSpPr/>
          <p:nvPr/>
        </p:nvSpPr>
        <p:spPr>
          <a:xfrm>
            <a:off x="5322277" y="4621964"/>
            <a:ext cx="2110603" cy="823116"/>
          </a:xfrm>
          <a:prstGeom prst="roundRect">
            <a:avLst/>
          </a:prstGeom>
          <a:solidFill>
            <a:srgbClr val="FFFF99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Rectangle: Rounded Corners 104"/>
          <p:cNvSpPr/>
          <p:nvPr/>
        </p:nvSpPr>
        <p:spPr>
          <a:xfrm>
            <a:off x="7456255" y="4621964"/>
            <a:ext cx="2098310" cy="823116"/>
          </a:xfrm>
          <a:prstGeom prst="round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0" name="TextBox 109"/>
          <p:cNvSpPr txBox="1"/>
          <p:nvPr/>
        </p:nvSpPr>
        <p:spPr>
          <a:xfrm>
            <a:off x="5286578" y="4521437"/>
            <a:ext cx="1587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snappy</a:t>
            </a:r>
            <a:r>
              <a:rPr lang="fr-FR"/>
              <a:t>(</a:t>
            </a:r>
            <a:r>
              <a:rPr lang="fr-FR"/>
              <a:t>Chunk</a:t>
            </a:r>
            <a:r>
              <a:rPr lang="fr-FR"/>
              <a:t>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465400" y="4521437"/>
            <a:ext cx="1587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snappy</a:t>
            </a:r>
            <a:r>
              <a:rPr lang="fr-FR"/>
              <a:t>(</a:t>
            </a:r>
            <a:r>
              <a:rPr lang="fr-FR"/>
              <a:t>Chunk</a:t>
            </a:r>
            <a:r>
              <a:rPr lang="fr-FR"/>
              <a:t>)</a:t>
            </a:r>
          </a:p>
        </p:txBody>
      </p:sp>
      <p:sp>
        <p:nvSpPr>
          <p:cNvPr id="106" name="Rectangle: Rounded Corners 105"/>
          <p:cNvSpPr/>
          <p:nvPr/>
        </p:nvSpPr>
        <p:spPr>
          <a:xfrm>
            <a:off x="9587085" y="4609116"/>
            <a:ext cx="2106378" cy="830996"/>
          </a:xfrm>
          <a:prstGeom prst="roundRect">
            <a:avLst/>
          </a:prstGeom>
          <a:solidFill>
            <a:schemeClr val="accent5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2" name="TextBox 111"/>
          <p:cNvSpPr txBox="1"/>
          <p:nvPr/>
        </p:nvSpPr>
        <p:spPr>
          <a:xfrm>
            <a:off x="9563469" y="4535571"/>
            <a:ext cx="1587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snappy</a:t>
            </a:r>
            <a:r>
              <a:rPr lang="fr-FR"/>
              <a:t>(</a:t>
            </a:r>
            <a:r>
              <a:rPr lang="fr-FR"/>
              <a:t>Chunk</a:t>
            </a:r>
            <a:r>
              <a:rPr lang="fr-FR"/>
              <a:t>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3788" y="5826095"/>
            <a:ext cx="81837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every</a:t>
            </a:r>
            <a:r>
              <a:rPr lang="fr-FR" sz="2400"/>
              <a:t> "</a:t>
            </a:r>
            <a:r>
              <a:rPr lang="fr-FR" sz="2400"/>
              <a:t>Chunk</a:t>
            </a:r>
            <a:r>
              <a:rPr lang="fr-FR" sz="2400"/>
              <a:t>" of </a:t>
            </a:r>
            <a:r>
              <a:rPr lang="fr-FR" sz="2400"/>
              <a:t>column</a:t>
            </a:r>
            <a:r>
              <a:rPr lang="fr-FR" sz="2400"/>
              <a:t> data are </a:t>
            </a:r>
            <a:r>
              <a:rPr lang="fr-FR" sz="2400"/>
              <a:t>compressed</a:t>
            </a:r>
            <a:r>
              <a:rPr lang="fr-FR" sz="2400"/>
              <a:t>  INDEPENDENTLY</a:t>
            </a:r>
          </a:p>
          <a:p>
            <a:r>
              <a:rPr lang="fr-FR" sz="2400"/>
              <a:t>=&gt; file </a:t>
            </a:r>
            <a:r>
              <a:rPr lang="fr-FR" sz="2400"/>
              <a:t>is</a:t>
            </a:r>
            <a:r>
              <a:rPr lang="fr-FR" sz="2400"/>
              <a:t> STILL </a:t>
            </a:r>
            <a:r>
              <a:rPr lang="fr-FR" sz="2400"/>
              <a:t>Splitteable</a:t>
            </a:r>
            <a:endParaRPr lang="fr-FR" sz="24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631" y="2928982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use </a:t>
            </a:r>
            <a:r>
              <a:rPr lang="fr-FR"/>
              <a:t>Encodings</a:t>
            </a:r>
            <a:endParaRPr lang="fr-F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3306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Run-</a:t>
            </a:r>
            <a:r>
              <a:rPr lang="fr-FR"/>
              <a:t>length</a:t>
            </a:r>
            <a:r>
              <a:rPr lang="fr-FR"/>
              <a:t> </a:t>
            </a:r>
            <a:r>
              <a:rPr lang="fr-FR"/>
              <a:t>encoding</a:t>
            </a:r>
            <a:r>
              <a:rPr lang="fr-FR"/>
              <a:t> (RLE)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1231" y="1946030"/>
            <a:ext cx="428322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</a:t>
            </a:r>
          </a:p>
          <a:p>
            <a:r>
              <a:rPr lang="fr-FR"/>
              <a:t>a</a:t>
            </a:r>
          </a:p>
          <a:p>
            <a:r>
              <a:rPr lang="fr-FR"/>
              <a:t>a</a:t>
            </a:r>
          </a:p>
          <a:p>
            <a:r>
              <a:rPr lang="fr-FR"/>
              <a:t>bb</a:t>
            </a:r>
            <a:endParaRPr lang="fr-FR"/>
          </a:p>
          <a:p>
            <a:r>
              <a:rPr lang="fr-FR"/>
              <a:t>bb</a:t>
            </a:r>
            <a:endParaRPr lang="fr-FR"/>
          </a:p>
          <a:p>
            <a:r>
              <a:rPr lang="fr-FR"/>
              <a:t>bb</a:t>
            </a:r>
            <a:endParaRPr lang="fr-FR"/>
          </a:p>
          <a:p>
            <a:r>
              <a:rPr lang="fr-FR"/>
              <a:t>bb</a:t>
            </a:r>
            <a:endParaRPr lang="fr-FR"/>
          </a:p>
          <a:p>
            <a:r>
              <a:rPr lang="fr-FR"/>
              <a:t>bb</a:t>
            </a:r>
            <a:endParaRPr lang="fr-FR"/>
          </a:p>
          <a:p>
            <a:r>
              <a:rPr lang="fr-FR"/>
              <a:t>bb</a:t>
            </a:r>
            <a:endParaRPr lang="fr-FR"/>
          </a:p>
          <a:p>
            <a:r>
              <a:rPr lang="fr-FR"/>
              <a:t>c</a:t>
            </a:r>
          </a:p>
          <a:p>
            <a:r>
              <a:rPr lang="fr-FR"/>
              <a:t>c</a:t>
            </a:r>
          </a:p>
          <a:p>
            <a:r>
              <a:rPr lang="fr-FR"/>
              <a:t>c</a:t>
            </a:r>
          </a:p>
          <a:p>
            <a:r>
              <a:rPr lang="fr-FR"/>
              <a:t>c</a:t>
            </a:r>
          </a:p>
        </p:txBody>
      </p:sp>
      <p:sp>
        <p:nvSpPr>
          <p:cNvPr id="4" name="Left Brace 3"/>
          <p:cNvSpPr/>
          <p:nvPr/>
        </p:nvSpPr>
        <p:spPr>
          <a:xfrm flipH="1">
            <a:off x="2719754" y="2039815"/>
            <a:ext cx="246185" cy="750277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3103018" y="2218564"/>
            <a:ext cx="1935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repeated</a:t>
            </a:r>
            <a:r>
              <a:rPr lang="fr-FR"/>
              <a:t>  </a:t>
            </a:r>
            <a:r>
              <a:rPr lang="fr-FR" b="1"/>
              <a:t>x3</a:t>
            </a:r>
            <a:r>
              <a:rPr lang="fr-FR"/>
              <a:t> times</a:t>
            </a:r>
          </a:p>
        </p:txBody>
      </p:sp>
      <p:sp>
        <p:nvSpPr>
          <p:cNvPr id="6" name="Left Brace 5"/>
          <p:cNvSpPr/>
          <p:nvPr/>
        </p:nvSpPr>
        <p:spPr>
          <a:xfrm flipH="1">
            <a:off x="2719752" y="2895599"/>
            <a:ext cx="246185" cy="1477108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Left Brace 6"/>
          <p:cNvSpPr/>
          <p:nvPr/>
        </p:nvSpPr>
        <p:spPr>
          <a:xfrm flipH="1">
            <a:off x="2719752" y="4478214"/>
            <a:ext cx="246184" cy="100003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3140925" y="3423357"/>
            <a:ext cx="1935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 </a:t>
            </a:r>
            <a:r>
              <a:rPr lang="fr-FR"/>
              <a:t>repeated</a:t>
            </a:r>
            <a:r>
              <a:rPr lang="fr-FR"/>
              <a:t> </a:t>
            </a:r>
            <a:r>
              <a:rPr lang="fr-FR" b="1"/>
              <a:t>x6</a:t>
            </a:r>
            <a:r>
              <a:rPr lang="fr-FR"/>
              <a:t> times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0925" y="4731319"/>
            <a:ext cx="1935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 </a:t>
            </a:r>
            <a:r>
              <a:rPr lang="fr-FR"/>
              <a:t>repeated</a:t>
            </a:r>
            <a:r>
              <a:rPr lang="fr-FR"/>
              <a:t> </a:t>
            </a:r>
            <a:r>
              <a:rPr lang="fr-FR" b="1"/>
              <a:t>x4</a:t>
            </a:r>
            <a:r>
              <a:rPr lang="fr-FR"/>
              <a:t> times</a:t>
            </a:r>
          </a:p>
        </p:txBody>
      </p:sp>
      <p:sp>
        <p:nvSpPr>
          <p:cNvPr id="10" name="Arrow: Right 9"/>
          <p:cNvSpPr/>
          <p:nvPr/>
        </p:nvSpPr>
        <p:spPr>
          <a:xfrm>
            <a:off x="5744308" y="3552092"/>
            <a:ext cx="1055077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5545015" y="2919046"/>
            <a:ext cx="2203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Var </a:t>
            </a:r>
            <a:r>
              <a:rPr lang="fr-FR"/>
              <a:t>Length</a:t>
            </a:r>
            <a:r>
              <a:rPr lang="fr-FR"/>
              <a:t> Encoder: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6806" y="3093219"/>
            <a:ext cx="82747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3 a</a:t>
            </a:r>
          </a:p>
          <a:p>
            <a:r>
              <a:rPr lang="fr-FR" sz="2800"/>
              <a:t>6 </a:t>
            </a:r>
            <a:r>
              <a:rPr lang="fr-FR" sz="2800"/>
              <a:t>bb</a:t>
            </a:r>
            <a:endParaRPr lang="fr-FR" sz="2800"/>
          </a:p>
          <a:p>
            <a:r>
              <a:rPr lang="fr-FR" sz="2800"/>
              <a:t>4 c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Size of </a:t>
            </a:r>
            <a:r>
              <a:rPr lang="fr-FR"/>
              <a:t>Adding</a:t>
            </a:r>
            <a:r>
              <a:rPr lang="fr-FR"/>
              <a:t> "Constant" </a:t>
            </a:r>
            <a:r>
              <a:rPr lang="fr-FR"/>
              <a:t>Column</a:t>
            </a:r>
            <a:endParaRPr lang="fr-FR"/>
          </a:p>
        </p:txBody>
      </p:sp>
      <p:sp>
        <p:nvSpPr>
          <p:cNvPr id="3" name="TextBox 2"/>
          <p:cNvSpPr txBox="1"/>
          <p:nvPr/>
        </p:nvSpPr>
        <p:spPr>
          <a:xfrm>
            <a:off x="2813035" y="2831124"/>
            <a:ext cx="769152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adding</a:t>
            </a:r>
            <a:r>
              <a:rPr lang="fr-FR" sz="2800"/>
              <a:t> a </a:t>
            </a:r>
            <a:r>
              <a:rPr lang="fr-FR" sz="2800"/>
              <a:t>column</a:t>
            </a:r>
            <a:r>
              <a:rPr lang="fr-FR" sz="2800"/>
              <a:t> </a:t>
            </a:r>
            <a:r>
              <a:rPr lang="fr-FR" sz="2800"/>
              <a:t>with</a:t>
            </a:r>
            <a:r>
              <a:rPr lang="fr-FR" sz="2800"/>
              <a:t> </a:t>
            </a:r>
            <a:r>
              <a:rPr lang="fr-FR" sz="2800"/>
              <a:t>only</a:t>
            </a:r>
            <a:r>
              <a:rPr lang="fr-FR" sz="2800"/>
              <a:t>  "0"   for Billions of </a:t>
            </a:r>
            <a:r>
              <a:rPr lang="fr-FR" sz="2800"/>
              <a:t>rows</a:t>
            </a:r>
            <a:r>
              <a:rPr lang="fr-FR" sz="2800"/>
              <a:t> </a:t>
            </a:r>
          </a:p>
          <a:p>
            <a:endParaRPr lang="fr-FR" sz="2800"/>
          </a:p>
          <a:p>
            <a:r>
              <a:rPr lang="fr-FR" sz="2800"/>
              <a:t>=&gt; </a:t>
            </a:r>
            <a:r>
              <a:rPr lang="fr-FR" sz="2800"/>
              <a:t>take</a:t>
            </a:r>
            <a:r>
              <a:rPr lang="fr-FR" sz="2800"/>
              <a:t> </a:t>
            </a:r>
            <a:r>
              <a:rPr lang="fr-FR" sz="2800"/>
              <a:t>only</a:t>
            </a:r>
            <a:r>
              <a:rPr lang="fr-FR" sz="2800"/>
              <a:t> ~100 bytes per </a:t>
            </a:r>
            <a:r>
              <a:rPr lang="fr-FR" sz="2800"/>
              <a:t>RowGroup</a:t>
            </a:r>
            <a:endParaRPr lang="fr-FR" sz="28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Dictionary</a:t>
            </a:r>
            <a:r>
              <a:rPr lang="fr-FR"/>
              <a:t> </a:t>
            </a:r>
            <a:r>
              <a:rPr lang="fr-FR"/>
              <a:t>Encoding</a:t>
            </a:r>
            <a:endParaRPr lang="fr-FR"/>
          </a:p>
        </p:txBody>
      </p:sp>
      <p:sp>
        <p:nvSpPr>
          <p:cNvPr id="3" name="TextBox 2"/>
          <p:cNvSpPr txBox="1"/>
          <p:nvPr/>
        </p:nvSpPr>
        <p:spPr>
          <a:xfrm>
            <a:off x="1043354" y="2365048"/>
            <a:ext cx="210390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Manchester City, </a:t>
            </a:r>
          </a:p>
          <a:p>
            <a:r>
              <a:rPr lang="fr-FR"/>
              <a:t>Arsenal, </a:t>
            </a:r>
          </a:p>
          <a:p>
            <a:r>
              <a:rPr lang="fr-FR"/>
              <a:t>Manchester City, </a:t>
            </a:r>
          </a:p>
          <a:p>
            <a:r>
              <a:rPr lang="fr-FR"/>
              <a:t>FC Barcelone, </a:t>
            </a:r>
          </a:p>
          <a:p>
            <a:r>
              <a:rPr lang="fr-FR"/>
              <a:t>Arsenal, </a:t>
            </a:r>
          </a:p>
          <a:p>
            <a:r>
              <a:rPr lang="fr-FR"/>
              <a:t>Newcastle, </a:t>
            </a:r>
          </a:p>
          <a:p>
            <a:r>
              <a:rPr lang="fr-FR"/>
              <a:t>Manchester United, </a:t>
            </a:r>
          </a:p>
          <a:p>
            <a:r>
              <a:rPr lang="fr-FR"/>
              <a:t>Newcastle, </a:t>
            </a:r>
          </a:p>
          <a:p>
            <a:r>
              <a:rPr lang="fr-FR"/>
              <a:t>FC Barcelone, </a:t>
            </a:r>
          </a:p>
          <a:p>
            <a:r>
              <a:rPr lang="fr-FR"/>
              <a:t>Arsenal, </a:t>
            </a:r>
          </a:p>
          <a:p>
            <a:r>
              <a:rPr lang="fr-FR"/>
              <a:t>Manchester United, </a:t>
            </a:r>
          </a:p>
          <a:p>
            <a:r>
              <a:rPr lang="fr-FR"/>
              <a:t>...</a:t>
            </a:r>
          </a:p>
        </p:txBody>
      </p:sp>
      <p:sp>
        <p:nvSpPr>
          <p:cNvPr id="10" name="Arrow: Right 9"/>
          <p:cNvSpPr/>
          <p:nvPr/>
        </p:nvSpPr>
        <p:spPr>
          <a:xfrm>
            <a:off x="4513385" y="3429000"/>
            <a:ext cx="1055077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4314092" y="2795954"/>
            <a:ext cx="2203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Dictionary</a:t>
            </a:r>
            <a:r>
              <a:rPr lang="fr-FR"/>
              <a:t> Encoder: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40121" y="4516343"/>
            <a:ext cx="240322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Value Indexes:</a:t>
            </a:r>
          </a:p>
          <a:p>
            <a:r>
              <a:rPr lang="fr-FR" sz="2800"/>
              <a:t>1, 2, 1, 3, 4, 5 ..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0121" y="1611014"/>
            <a:ext cx="409618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Distinct </a:t>
            </a:r>
            <a:r>
              <a:rPr lang="fr-FR" sz="2800" b="1"/>
              <a:t>Dictionary</a:t>
            </a:r>
            <a:r>
              <a:rPr lang="fr-FR" sz="2800" b="1"/>
              <a:t> Values:</a:t>
            </a:r>
          </a:p>
          <a:p>
            <a:r>
              <a:rPr lang="fr-FR" sz="2800"/>
              <a:t>1=Manchester City</a:t>
            </a:r>
          </a:p>
          <a:p>
            <a:r>
              <a:rPr lang="fr-FR" sz="2800"/>
              <a:t>2=Arsenal</a:t>
            </a:r>
          </a:p>
          <a:p>
            <a:r>
              <a:rPr lang="fr-FR" sz="2800"/>
              <a:t>3=FC Barcelone</a:t>
            </a:r>
          </a:p>
          <a:p>
            <a:r>
              <a:rPr lang="fr-FR" sz="2800"/>
              <a:t>4=Newcastle</a:t>
            </a:r>
          </a:p>
          <a:p>
            <a:r>
              <a:rPr lang="fr-FR" sz="2800"/>
              <a:t>5..</a:t>
            </a:r>
          </a:p>
          <a:p>
            <a:endParaRPr lang="fr-FR" sz="28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Dictionary</a:t>
            </a:r>
            <a:r>
              <a:rPr lang="fr-FR"/>
              <a:t> Size Limit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80700" y="2157046"/>
            <a:ext cx="960897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By default, </a:t>
            </a:r>
            <a:r>
              <a:rPr lang="fr-FR" sz="2400"/>
              <a:t>Dictionary</a:t>
            </a:r>
            <a:r>
              <a:rPr lang="fr-FR" sz="2400"/>
              <a:t> size = max 1 </a:t>
            </a:r>
            <a:r>
              <a:rPr lang="fr-FR" sz="2400"/>
              <a:t>Mega</a:t>
            </a:r>
            <a:r>
              <a:rPr lang="fr-FR" sz="2400"/>
              <a:t>    (per </a:t>
            </a:r>
            <a:r>
              <a:rPr lang="fr-FR" sz="2400"/>
              <a:t>RowGroup</a:t>
            </a:r>
            <a:r>
              <a:rPr lang="fr-FR" sz="2400"/>
              <a:t> - </a:t>
            </a:r>
            <a:r>
              <a:rPr lang="fr-FR" sz="2400"/>
              <a:t>Column</a:t>
            </a:r>
            <a:r>
              <a:rPr lang="fr-FR" sz="2400"/>
              <a:t> </a:t>
            </a:r>
            <a:r>
              <a:rPr lang="fr-FR" sz="2400"/>
              <a:t>Chunk</a:t>
            </a:r>
            <a:r>
              <a:rPr lang="fr-FR" sz="2400"/>
              <a:t> )</a:t>
            </a:r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When</a:t>
            </a:r>
            <a:r>
              <a:rPr lang="fr-FR" sz="2400"/>
              <a:t> </a:t>
            </a:r>
            <a:r>
              <a:rPr lang="fr-FR" sz="2400"/>
              <a:t>using</a:t>
            </a:r>
            <a:r>
              <a:rPr lang="fr-FR" sz="2400"/>
              <a:t> </a:t>
            </a:r>
          </a:p>
          <a:p>
            <a:r>
              <a:rPr lang="fr-FR" sz="2400"/>
              <a:t>     </a:t>
            </a:r>
            <a:r>
              <a:rPr lang="fr-FR" sz="2400"/>
              <a:t>Huge</a:t>
            </a:r>
            <a:r>
              <a:rPr lang="fr-FR" sz="2400"/>
              <a:t> </a:t>
            </a:r>
            <a:r>
              <a:rPr lang="fr-FR" sz="2400"/>
              <a:t>RowGroup</a:t>
            </a:r>
            <a:r>
              <a:rPr lang="fr-FR" sz="2400"/>
              <a:t>  (&gt; 128Mo)        =&gt;   </a:t>
            </a:r>
            <a:r>
              <a:rPr lang="fr-FR" sz="2400"/>
              <a:t>less</a:t>
            </a:r>
            <a:r>
              <a:rPr lang="fr-FR" sz="2400"/>
              <a:t> </a:t>
            </a:r>
            <a:r>
              <a:rPr lang="fr-FR" sz="2400"/>
              <a:t>Dictionaries</a:t>
            </a:r>
            <a:r>
              <a:rPr lang="fr-FR" sz="2400"/>
              <a:t> </a:t>
            </a:r>
            <a:r>
              <a:rPr lang="fr-FR" sz="2400"/>
              <a:t>used</a:t>
            </a:r>
            <a:endParaRPr lang="fr-FR" sz="2400"/>
          </a:p>
          <a:p>
            <a:r>
              <a:rPr lang="fr-FR" sz="2400"/>
              <a:t>     Small </a:t>
            </a:r>
            <a:r>
              <a:rPr lang="fr-FR" sz="2400"/>
              <a:t>RowGroup</a:t>
            </a:r>
            <a:r>
              <a:rPr lang="fr-FR" sz="2400"/>
              <a:t> (32M, 64Mo)   =&gt;   more </a:t>
            </a:r>
            <a:r>
              <a:rPr lang="fr-FR" sz="2400"/>
              <a:t>Dictionaries</a:t>
            </a:r>
            <a:endParaRPr lang="fr-FR" sz="2400"/>
          </a:p>
        </p:txBody>
      </p:sp>
      <p:sp>
        <p:nvSpPr>
          <p:cNvPr id="4" name="TextBox 3"/>
          <p:cNvSpPr txBox="1"/>
          <p:nvPr/>
        </p:nvSpPr>
        <p:spPr>
          <a:xfrm>
            <a:off x="1580700" y="4970585"/>
            <a:ext cx="617585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Parameters</a:t>
            </a:r>
            <a:r>
              <a:rPr lang="fr-FR" sz="2800"/>
              <a:t>:</a:t>
            </a:r>
          </a:p>
          <a:p>
            <a:r>
              <a:rPr lang="fr-FR" sz="2800" b="0" i="0">
                <a:solidFill>
                  <a:srgbClr val="1F2328"/>
                </a:solidFill>
                <a:latin typeface="ui-monospace"/>
              </a:rPr>
              <a:t>parquet.enable.dictionary</a:t>
            </a:r>
            <a:r>
              <a:rPr lang="fr-FR" sz="2800" b="0" i="0">
                <a:solidFill>
                  <a:srgbClr val="1F2328"/>
                </a:solidFill>
                <a:latin typeface="ui-monospace"/>
              </a:rPr>
              <a:t>=</a:t>
            </a:r>
            <a:r>
              <a:rPr lang="fr-FR" sz="2800" b="0" i="0">
                <a:solidFill>
                  <a:srgbClr val="1F2328"/>
                </a:solidFill>
                <a:latin typeface="ui-monospace"/>
              </a:rPr>
              <a:t>true</a:t>
            </a:r>
            <a:r>
              <a:rPr lang="fr-FR" sz="2800" b="0" i="0">
                <a:solidFill>
                  <a:srgbClr val="1F2328"/>
                </a:solidFill>
                <a:latin typeface="ui-monospace"/>
              </a:rPr>
              <a:t>  (default)</a:t>
            </a:r>
          </a:p>
          <a:p>
            <a:r>
              <a:rPr lang="fr-FR" sz="2800" b="1" i="0">
                <a:solidFill>
                  <a:srgbClr val="1F2328"/>
                </a:solidFill>
                <a:latin typeface="ui-monospace"/>
              </a:rPr>
              <a:t>parquet.dictionary.page.size</a:t>
            </a:r>
            <a:r>
              <a:rPr lang="fr-FR" sz="2800" b="0" i="0">
                <a:solidFill>
                  <a:srgbClr val="1F2328"/>
                </a:solidFill>
                <a:latin typeface="ui-monospace"/>
              </a:rPr>
              <a:t>=1M</a:t>
            </a:r>
            <a:endParaRPr lang="fr-FR" sz="28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Delta </a:t>
            </a:r>
            <a:r>
              <a:rPr lang="fr-FR"/>
              <a:t>Encoding</a:t>
            </a:r>
            <a:endParaRPr lang="fr-FR"/>
          </a:p>
        </p:txBody>
      </p:sp>
      <p:sp>
        <p:nvSpPr>
          <p:cNvPr id="3" name="TextBox 2"/>
          <p:cNvSpPr txBox="1"/>
          <p:nvPr/>
        </p:nvSpPr>
        <p:spPr>
          <a:xfrm>
            <a:off x="900879" y="2671895"/>
            <a:ext cx="1098378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10007</a:t>
            </a:r>
          </a:p>
          <a:p>
            <a:r>
              <a:rPr lang="fr-FR" sz="2800"/>
              <a:t>10003</a:t>
            </a:r>
          </a:p>
          <a:p>
            <a:r>
              <a:rPr lang="fr-FR" sz="2800"/>
              <a:t>10005</a:t>
            </a:r>
          </a:p>
          <a:p>
            <a:r>
              <a:rPr lang="fr-FR" sz="2800"/>
              <a:t>10002</a:t>
            </a:r>
          </a:p>
          <a:p>
            <a:r>
              <a:rPr lang="fr-FR" sz="2800"/>
              <a:t>10009</a:t>
            </a:r>
          </a:p>
          <a:p>
            <a:r>
              <a:rPr lang="fr-FR" sz="2800"/>
              <a:t>10002</a:t>
            </a:r>
          </a:p>
          <a:p>
            <a:r>
              <a:rPr lang="fr-FR" sz="2800"/>
              <a:t>10008</a:t>
            </a:r>
          </a:p>
          <a:p>
            <a:endParaRPr lang="fr-FR" sz="2800"/>
          </a:p>
        </p:txBody>
      </p:sp>
      <p:sp>
        <p:nvSpPr>
          <p:cNvPr id="4" name="Arrow: Curved Left 3"/>
          <p:cNvSpPr/>
          <p:nvPr/>
        </p:nvSpPr>
        <p:spPr>
          <a:xfrm>
            <a:off x="2363218" y="2951602"/>
            <a:ext cx="313650" cy="366104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95601" y="2125412"/>
            <a:ext cx="8661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Delta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67672" y="2825085"/>
            <a:ext cx="54694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-4</a:t>
            </a:r>
          </a:p>
          <a:p>
            <a:r>
              <a:rPr lang="fr-FR" sz="2800"/>
              <a:t>+2</a:t>
            </a:r>
          </a:p>
          <a:p>
            <a:r>
              <a:rPr lang="fr-FR" sz="2800"/>
              <a:t>-3</a:t>
            </a:r>
          </a:p>
          <a:p>
            <a:r>
              <a:rPr lang="fr-FR" sz="2800"/>
              <a:t>+7</a:t>
            </a:r>
          </a:p>
          <a:p>
            <a:r>
              <a:rPr lang="fr-FR" sz="2800"/>
              <a:t>-7</a:t>
            </a:r>
          </a:p>
          <a:p>
            <a:r>
              <a:rPr lang="fr-FR" sz="2800"/>
              <a:t>+6</a:t>
            </a:r>
          </a:p>
          <a:p>
            <a:r>
              <a:rPr lang="fr-FR" sz="2800"/>
              <a:t>..</a:t>
            </a:r>
          </a:p>
        </p:txBody>
      </p:sp>
      <p:sp>
        <p:nvSpPr>
          <p:cNvPr id="7" name="Arrow: Curved Left 6"/>
          <p:cNvSpPr/>
          <p:nvPr/>
        </p:nvSpPr>
        <p:spPr>
          <a:xfrm>
            <a:off x="2386064" y="3407357"/>
            <a:ext cx="313650" cy="366104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8" name="Arrow: Curved Left 7"/>
          <p:cNvSpPr/>
          <p:nvPr/>
        </p:nvSpPr>
        <p:spPr>
          <a:xfrm>
            <a:off x="2399254" y="3865121"/>
            <a:ext cx="313650" cy="366104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9" name="Arrow: Curved Left 8"/>
          <p:cNvSpPr/>
          <p:nvPr/>
        </p:nvSpPr>
        <p:spPr>
          <a:xfrm>
            <a:off x="2390070" y="4258558"/>
            <a:ext cx="313650" cy="366104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0" name="Arrow: Curved Left 9"/>
          <p:cNvSpPr/>
          <p:nvPr/>
        </p:nvSpPr>
        <p:spPr>
          <a:xfrm>
            <a:off x="2404319" y="4677456"/>
            <a:ext cx="313650" cy="366104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1" name="Arrow: Curved Left 10"/>
          <p:cNvSpPr/>
          <p:nvPr/>
        </p:nvSpPr>
        <p:spPr>
          <a:xfrm>
            <a:off x="2446213" y="5148626"/>
            <a:ext cx="313650" cy="366104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85065" y="1440952"/>
            <a:ext cx="177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MinDelta</a:t>
            </a:r>
            <a:r>
              <a:rPr lang="fr-FR" sz="2400" b="1"/>
              <a:t>=-7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194" y="5801364"/>
            <a:ext cx="20474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example</a:t>
            </a:r>
            <a:r>
              <a:rPr lang="fr-FR"/>
              <a:t> size </a:t>
            </a:r>
            <a:r>
              <a:rPr lang="fr-FR"/>
              <a:t>when</a:t>
            </a:r>
            <a:br>
              <a:rPr lang="fr-FR"/>
            </a:br>
            <a:r>
              <a:rPr lang="fr-FR"/>
              <a:t>fitting</a:t>
            </a:r>
            <a:r>
              <a:rPr lang="fr-FR"/>
              <a:t> "</a:t>
            </a:r>
            <a:r>
              <a:rPr lang="fr-FR"/>
              <a:t>int</a:t>
            </a:r>
            <a:r>
              <a:rPr lang="fr-FR"/>
              <a:t>"(4 bytes)</a:t>
            </a:r>
          </a:p>
          <a:p>
            <a:r>
              <a:rPr lang="fr-FR"/>
              <a:t>  7 x 4 = 28 bytes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3218" y="5939863"/>
            <a:ext cx="20479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when</a:t>
            </a:r>
            <a:r>
              <a:rPr lang="fr-FR"/>
              <a:t> </a:t>
            </a:r>
            <a:r>
              <a:rPr lang="fr-FR"/>
              <a:t>fitting</a:t>
            </a:r>
            <a:r>
              <a:rPr lang="fr-FR"/>
              <a:t> 2 bytes</a:t>
            </a:r>
          </a:p>
          <a:p>
            <a:r>
              <a:rPr lang="fr-FR"/>
              <a:t>4 + 6 x 2 = 28 bytes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8918" y="1427739"/>
            <a:ext cx="24343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BaseValue</a:t>
            </a:r>
            <a:r>
              <a:rPr lang="fr-FR" sz="2400" b="1"/>
              <a:t>=10007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352" y="2090577"/>
            <a:ext cx="28764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Delta-</a:t>
            </a:r>
            <a:r>
              <a:rPr lang="fr-FR" sz="2400" b="1"/>
              <a:t>MinDelta</a:t>
            </a:r>
            <a:r>
              <a:rPr lang="fr-FR" sz="2400" b="1"/>
              <a:t> (&gt;=0)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5167" y="2825084"/>
            <a:ext cx="54694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3</a:t>
            </a:r>
          </a:p>
          <a:p>
            <a:r>
              <a:rPr lang="fr-FR" sz="2800"/>
              <a:t>9</a:t>
            </a:r>
          </a:p>
          <a:p>
            <a:r>
              <a:rPr lang="fr-FR" sz="2800"/>
              <a:t>4</a:t>
            </a:r>
          </a:p>
          <a:p>
            <a:r>
              <a:rPr lang="fr-FR" sz="2800"/>
              <a:t>14</a:t>
            </a:r>
          </a:p>
          <a:p>
            <a:r>
              <a:rPr lang="fr-FR" sz="2800"/>
              <a:t>0</a:t>
            </a:r>
          </a:p>
          <a:p>
            <a:r>
              <a:rPr lang="fr-FR" sz="2800"/>
              <a:t>13</a:t>
            </a:r>
          </a:p>
          <a:p>
            <a:r>
              <a:rPr lang="fr-FR" sz="2800"/>
              <a:t>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8941" y="5966831"/>
            <a:ext cx="23141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when</a:t>
            </a:r>
            <a:r>
              <a:rPr lang="fr-FR"/>
              <a:t> </a:t>
            </a:r>
            <a:r>
              <a:rPr lang="fr-FR"/>
              <a:t>fitting</a:t>
            </a:r>
            <a:r>
              <a:rPr lang="fr-FR"/>
              <a:t> 1 bytes</a:t>
            </a:r>
          </a:p>
          <a:p>
            <a:r>
              <a:rPr lang="fr-FR"/>
              <a:t>4 + 2 + 6 x 1 = 12 bytes</a:t>
            </a:r>
          </a:p>
        </p:txBody>
      </p:sp>
      <p:sp>
        <p:nvSpPr>
          <p:cNvPr id="19" name="Arrow: Right 18"/>
          <p:cNvSpPr/>
          <p:nvPr/>
        </p:nvSpPr>
        <p:spPr>
          <a:xfrm>
            <a:off x="3886476" y="2951602"/>
            <a:ext cx="507773" cy="2306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Arrow: Right 19"/>
          <p:cNvSpPr/>
          <p:nvPr/>
        </p:nvSpPr>
        <p:spPr>
          <a:xfrm>
            <a:off x="3903442" y="4689179"/>
            <a:ext cx="507773" cy="2306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/>
          <p:cNvSpPr txBox="1"/>
          <p:nvPr/>
        </p:nvSpPr>
        <p:spPr>
          <a:xfrm>
            <a:off x="3878519" y="4448622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+7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03442" y="2702456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+7</a:t>
            </a:r>
          </a:p>
        </p:txBody>
      </p:sp>
      <p:sp>
        <p:nvSpPr>
          <p:cNvPr id="23" name="Arrow: Right 22"/>
          <p:cNvSpPr/>
          <p:nvPr/>
        </p:nvSpPr>
        <p:spPr>
          <a:xfrm>
            <a:off x="6987324" y="3582397"/>
            <a:ext cx="1590564" cy="7814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extBox 23"/>
          <p:cNvSpPr txBox="1"/>
          <p:nvPr/>
        </p:nvSpPr>
        <p:spPr>
          <a:xfrm>
            <a:off x="6755690" y="3137320"/>
            <a:ext cx="20538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Delta </a:t>
            </a:r>
            <a:r>
              <a:rPr lang="fr-FR" sz="2400"/>
              <a:t>Encoding</a:t>
            </a:r>
            <a:endParaRPr lang="fr-FR" sz="2400"/>
          </a:p>
        </p:txBody>
      </p:sp>
      <p:sp>
        <p:nvSpPr>
          <p:cNvPr id="25" name="TextBox 24"/>
          <p:cNvSpPr txBox="1"/>
          <p:nvPr/>
        </p:nvSpPr>
        <p:spPr>
          <a:xfrm>
            <a:off x="8809522" y="3722398"/>
            <a:ext cx="32015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10007, -7,  3,9,4,14,0,13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34534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Low-</a:t>
            </a:r>
            <a:r>
              <a:rPr lang="fr-FR"/>
              <a:t>Level</a:t>
            </a:r>
            <a:r>
              <a:rPr lang="fr-FR"/>
              <a:t> Values </a:t>
            </a:r>
            <a:r>
              <a:rPr lang="fr-FR"/>
              <a:t>Encoding</a:t>
            </a:r>
            <a:r>
              <a:rPr lang="fr-FR"/>
              <a:t>… </a:t>
            </a:r>
            <a:r>
              <a:rPr lang="fr-FR"/>
              <a:t>using</a:t>
            </a:r>
            <a:r>
              <a:rPr lang="fr-FR"/>
              <a:t> </a:t>
            </a:r>
            <a:r>
              <a:rPr lang="fr-FR"/>
              <a:t>Thrift</a:t>
            </a:r>
            <a:br>
              <a:rPr lang="fr-FR"/>
            </a:br>
            <a:r>
              <a:rPr lang="fr-FR"/>
              <a:t>« </a:t>
            </a:r>
            <a:r>
              <a:rPr lang="fr-FR"/>
              <a:t>TCompactProtocol</a:t>
            </a:r>
            <a:r>
              <a:rPr lang="fr-FR"/>
              <a:t> »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0866" y="1122321"/>
            <a:ext cx="7576137" cy="5747892"/>
          </a:xfrm>
          <a:prstGeom prst="rect">
            <a:avLst/>
          </a:prstGeom>
        </p:spPr>
      </p:pic>
      <p:sp>
        <p:nvSpPr>
          <p:cNvPr id="9" name="ZoneTexte 8"/>
          <p:cNvSpPr txBox="1"/>
          <p:nvPr/>
        </p:nvSpPr>
        <p:spPr>
          <a:xfrm>
            <a:off x="8212665" y="1118575"/>
            <a:ext cx="2455335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/>
              <a:t>public interface </a:t>
            </a:r>
            <a:r>
              <a:rPr lang="fr-FR" sz="1200"/>
              <a:t>TReadProtocol</a:t>
            </a:r>
            <a:r>
              <a:rPr lang="fr-FR" sz="1200"/>
              <a:t> {</a:t>
            </a:r>
          </a:p>
          <a:p>
            <a:endParaRPr lang="fr-FR" sz="1200"/>
          </a:p>
          <a:p>
            <a:r>
              <a:rPr lang="fr-FR" sz="1200"/>
              <a:t>  </a:t>
            </a:r>
            <a:r>
              <a:rPr lang="fr-FR" sz="1200"/>
              <a:t>TMessage</a:t>
            </a:r>
            <a:r>
              <a:rPr lang="fr-FR" sz="1200"/>
              <a:t> </a:t>
            </a:r>
            <a:r>
              <a:rPr lang="fr-FR" sz="1200"/>
              <a:t>readMessageBegin</a:t>
            </a:r>
            <a:r>
              <a:rPr lang="fr-FR" sz="1200"/>
              <a:t>();</a:t>
            </a:r>
          </a:p>
          <a:p>
            <a:r>
              <a:rPr lang="fr-FR" sz="1200"/>
              <a:t>  </a:t>
            </a:r>
            <a:r>
              <a:rPr lang="fr-FR" sz="1200"/>
              <a:t>void</a:t>
            </a:r>
            <a:r>
              <a:rPr lang="fr-FR" sz="1200"/>
              <a:t> </a:t>
            </a:r>
            <a:r>
              <a:rPr lang="fr-FR" sz="1200"/>
              <a:t>readMessageEnd</a:t>
            </a:r>
            <a:r>
              <a:rPr lang="fr-FR" sz="1200"/>
              <a:t>();</a:t>
            </a:r>
          </a:p>
          <a:p>
            <a:endParaRPr lang="fr-FR" sz="1200"/>
          </a:p>
          <a:p>
            <a:r>
              <a:rPr lang="fr-FR" sz="1200"/>
              <a:t>  </a:t>
            </a:r>
            <a:r>
              <a:rPr lang="fr-FR" sz="1200"/>
              <a:t>TStruct</a:t>
            </a:r>
            <a:r>
              <a:rPr lang="fr-FR" sz="1200"/>
              <a:t> </a:t>
            </a:r>
            <a:r>
              <a:rPr lang="fr-FR" sz="1200"/>
              <a:t>readStructBegin</a:t>
            </a:r>
            <a:r>
              <a:rPr lang="fr-FR" sz="1200"/>
              <a:t>();</a:t>
            </a:r>
          </a:p>
          <a:p>
            <a:r>
              <a:rPr lang="fr-FR" sz="1200"/>
              <a:t>  </a:t>
            </a:r>
            <a:r>
              <a:rPr lang="fr-FR" sz="1200"/>
              <a:t>void</a:t>
            </a:r>
            <a:r>
              <a:rPr lang="fr-FR" sz="1200"/>
              <a:t> </a:t>
            </a:r>
            <a:r>
              <a:rPr lang="fr-FR" sz="1200"/>
              <a:t>readStructEnd</a:t>
            </a:r>
            <a:r>
              <a:rPr lang="fr-FR" sz="1200"/>
              <a:t>();</a:t>
            </a:r>
          </a:p>
          <a:p>
            <a:endParaRPr lang="fr-FR" sz="1200"/>
          </a:p>
          <a:p>
            <a:r>
              <a:rPr lang="fr-FR" sz="1200"/>
              <a:t>  </a:t>
            </a:r>
            <a:r>
              <a:rPr lang="fr-FR" sz="1200"/>
              <a:t>TField</a:t>
            </a:r>
            <a:r>
              <a:rPr lang="fr-FR" sz="1200"/>
              <a:t> </a:t>
            </a:r>
            <a:r>
              <a:rPr lang="fr-FR" sz="1200"/>
              <a:t>readFieldBegin</a:t>
            </a:r>
            <a:r>
              <a:rPr lang="fr-FR" sz="1200"/>
              <a:t>();</a:t>
            </a:r>
          </a:p>
          <a:p>
            <a:r>
              <a:rPr lang="fr-FR" sz="1200"/>
              <a:t>  </a:t>
            </a:r>
            <a:r>
              <a:rPr lang="fr-FR" sz="1200"/>
              <a:t>void</a:t>
            </a:r>
            <a:r>
              <a:rPr lang="fr-FR" sz="1200"/>
              <a:t> </a:t>
            </a:r>
            <a:r>
              <a:rPr lang="fr-FR" sz="1200"/>
              <a:t>readFieldEnd</a:t>
            </a:r>
            <a:r>
              <a:rPr lang="fr-FR" sz="1200"/>
              <a:t>();</a:t>
            </a:r>
          </a:p>
          <a:p>
            <a:endParaRPr lang="fr-FR" sz="1200"/>
          </a:p>
          <a:p>
            <a:r>
              <a:rPr lang="fr-FR" sz="1200"/>
              <a:t>  </a:t>
            </a:r>
            <a:r>
              <a:rPr lang="fr-FR" sz="1200"/>
              <a:t>TMap</a:t>
            </a:r>
            <a:r>
              <a:rPr lang="fr-FR" sz="1200"/>
              <a:t> </a:t>
            </a:r>
            <a:r>
              <a:rPr lang="fr-FR" sz="1200"/>
              <a:t>readMapBegin</a:t>
            </a:r>
            <a:r>
              <a:rPr lang="fr-FR" sz="1200"/>
              <a:t>();</a:t>
            </a:r>
          </a:p>
          <a:p>
            <a:r>
              <a:rPr lang="fr-FR" sz="1200"/>
              <a:t>  </a:t>
            </a:r>
            <a:r>
              <a:rPr lang="fr-FR" sz="1200"/>
              <a:t>void</a:t>
            </a:r>
            <a:r>
              <a:rPr lang="fr-FR" sz="1200"/>
              <a:t> </a:t>
            </a:r>
            <a:r>
              <a:rPr lang="fr-FR" sz="1200"/>
              <a:t>readMapEnd</a:t>
            </a:r>
            <a:r>
              <a:rPr lang="fr-FR" sz="1200"/>
              <a:t>();</a:t>
            </a:r>
          </a:p>
          <a:p>
            <a:endParaRPr lang="fr-FR" sz="1200"/>
          </a:p>
          <a:p>
            <a:r>
              <a:rPr lang="fr-FR" sz="1200"/>
              <a:t>  </a:t>
            </a:r>
            <a:r>
              <a:rPr lang="fr-FR" sz="1200"/>
              <a:t>TList</a:t>
            </a:r>
            <a:r>
              <a:rPr lang="fr-FR" sz="1200"/>
              <a:t> </a:t>
            </a:r>
            <a:r>
              <a:rPr lang="fr-FR" sz="1200"/>
              <a:t>readListBegin</a:t>
            </a:r>
            <a:r>
              <a:rPr lang="fr-FR" sz="1200"/>
              <a:t>();</a:t>
            </a:r>
          </a:p>
          <a:p>
            <a:r>
              <a:rPr lang="fr-FR" sz="1200"/>
              <a:t>  </a:t>
            </a:r>
            <a:r>
              <a:rPr lang="fr-FR" sz="1200"/>
              <a:t>void</a:t>
            </a:r>
            <a:r>
              <a:rPr lang="fr-FR" sz="1200"/>
              <a:t> </a:t>
            </a:r>
            <a:r>
              <a:rPr lang="fr-FR" sz="1200"/>
              <a:t>readListEnd</a:t>
            </a:r>
            <a:r>
              <a:rPr lang="fr-FR" sz="1200"/>
              <a:t>();</a:t>
            </a:r>
          </a:p>
          <a:p>
            <a:endParaRPr lang="fr-FR" sz="1200"/>
          </a:p>
          <a:p>
            <a:r>
              <a:rPr lang="fr-FR" sz="1200"/>
              <a:t>  </a:t>
            </a:r>
            <a:r>
              <a:rPr lang="fr-FR" sz="1200"/>
              <a:t>TSet</a:t>
            </a:r>
            <a:r>
              <a:rPr lang="fr-FR" sz="1200"/>
              <a:t> </a:t>
            </a:r>
            <a:r>
              <a:rPr lang="fr-FR" sz="1200"/>
              <a:t>readSetBegin</a:t>
            </a:r>
            <a:r>
              <a:rPr lang="fr-FR" sz="1200"/>
              <a:t>();</a:t>
            </a:r>
          </a:p>
          <a:p>
            <a:r>
              <a:rPr lang="fr-FR" sz="1200"/>
              <a:t>  </a:t>
            </a:r>
            <a:r>
              <a:rPr lang="fr-FR" sz="1200"/>
              <a:t>void</a:t>
            </a:r>
            <a:r>
              <a:rPr lang="fr-FR" sz="1200"/>
              <a:t> </a:t>
            </a:r>
            <a:r>
              <a:rPr lang="fr-FR" sz="1200"/>
              <a:t>readSetEnd</a:t>
            </a:r>
            <a:r>
              <a:rPr lang="fr-FR" sz="1200"/>
              <a:t>();</a:t>
            </a:r>
          </a:p>
          <a:p>
            <a:endParaRPr lang="fr-FR" sz="1200"/>
          </a:p>
          <a:p>
            <a:r>
              <a:rPr lang="fr-FR" sz="1200"/>
              <a:t>  </a:t>
            </a:r>
            <a:r>
              <a:rPr lang="fr-FR" sz="1200"/>
              <a:t>boolean</a:t>
            </a:r>
            <a:r>
              <a:rPr lang="fr-FR" sz="1200"/>
              <a:t> </a:t>
            </a:r>
            <a:r>
              <a:rPr lang="fr-FR" sz="1200"/>
              <a:t>readBool</a:t>
            </a:r>
            <a:r>
              <a:rPr lang="fr-FR" sz="1200"/>
              <a:t>();</a:t>
            </a:r>
          </a:p>
          <a:p>
            <a:r>
              <a:rPr lang="fr-FR" sz="1200"/>
              <a:t>  byte </a:t>
            </a:r>
            <a:r>
              <a:rPr lang="fr-FR" sz="1200"/>
              <a:t>readByte</a:t>
            </a:r>
            <a:r>
              <a:rPr lang="fr-FR" sz="1200"/>
              <a:t>();</a:t>
            </a:r>
          </a:p>
          <a:p>
            <a:r>
              <a:rPr lang="fr-FR" sz="1200"/>
              <a:t>  short readI16();</a:t>
            </a:r>
          </a:p>
          <a:p>
            <a:r>
              <a:rPr lang="fr-FR" sz="1200"/>
              <a:t>  </a:t>
            </a:r>
            <a:r>
              <a:rPr lang="fr-FR" sz="1200"/>
              <a:t>int</a:t>
            </a:r>
            <a:r>
              <a:rPr lang="fr-FR" sz="1200"/>
              <a:t> readI32();</a:t>
            </a:r>
          </a:p>
          <a:p>
            <a:r>
              <a:rPr lang="fr-FR" sz="1200"/>
              <a:t>  long readI64();</a:t>
            </a:r>
          </a:p>
          <a:p>
            <a:r>
              <a:rPr lang="fr-FR" sz="1200"/>
              <a:t>  UUID </a:t>
            </a:r>
            <a:r>
              <a:rPr lang="fr-FR" sz="1200"/>
              <a:t>readUuid</a:t>
            </a:r>
            <a:r>
              <a:rPr lang="fr-FR" sz="1200"/>
              <a:t>();</a:t>
            </a:r>
          </a:p>
          <a:p>
            <a:r>
              <a:rPr lang="fr-FR" sz="1200"/>
              <a:t>  double </a:t>
            </a:r>
            <a:r>
              <a:rPr lang="fr-FR" sz="1200"/>
              <a:t>readDouble</a:t>
            </a:r>
            <a:r>
              <a:rPr lang="fr-FR" sz="1200"/>
              <a:t>();</a:t>
            </a:r>
          </a:p>
          <a:p>
            <a:r>
              <a:rPr lang="fr-FR" sz="1200"/>
              <a:t>  String </a:t>
            </a:r>
            <a:r>
              <a:rPr lang="fr-FR" sz="1200"/>
              <a:t>readString</a:t>
            </a:r>
            <a:r>
              <a:rPr lang="fr-FR" sz="1200"/>
              <a:t>();</a:t>
            </a:r>
          </a:p>
          <a:p>
            <a:r>
              <a:rPr lang="fr-FR" sz="1200"/>
              <a:t>  </a:t>
            </a:r>
            <a:r>
              <a:rPr lang="fr-FR" sz="1200"/>
              <a:t>ByteBuffer</a:t>
            </a:r>
            <a:r>
              <a:rPr lang="fr-FR" sz="1200"/>
              <a:t> </a:t>
            </a:r>
            <a:r>
              <a:rPr lang="fr-FR" sz="1200"/>
              <a:t>readBinary</a:t>
            </a:r>
            <a:r>
              <a:rPr lang="fr-FR" sz="1200"/>
              <a:t>();</a:t>
            </a:r>
          </a:p>
          <a:p>
            <a:r>
              <a:rPr lang="fr-FR" sz="1200"/>
              <a:t>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1860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Variable </a:t>
            </a:r>
            <a:r>
              <a:rPr lang="fr-FR"/>
              <a:t>Length</a:t>
            </a:r>
            <a:r>
              <a:rPr lang="fr-FR"/>
              <a:t> for Int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957858" y="2204225"/>
            <a:ext cx="8411749" cy="4058216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>
            <a:off x="838200" y="1207532"/>
            <a:ext cx="4945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Int32 (4 bytes)   =&gt; </a:t>
            </a:r>
            <a:r>
              <a:rPr lang="fr-FR"/>
              <a:t>encoded</a:t>
            </a:r>
            <a:r>
              <a:rPr lang="fr-FR"/>
              <a:t> </a:t>
            </a:r>
            <a:r>
              <a:rPr lang="fr-FR"/>
              <a:t>between</a:t>
            </a:r>
            <a:r>
              <a:rPr lang="fr-FR"/>
              <a:t> 1 to 5 bytes</a:t>
            </a:r>
          </a:p>
          <a:p>
            <a:r>
              <a:rPr lang="fr-FR"/>
              <a:t>Int64  (8 bytes)  =&gt; </a:t>
            </a:r>
            <a:r>
              <a:rPr lang="fr-FR"/>
              <a:t>encoded</a:t>
            </a:r>
            <a:r>
              <a:rPr lang="fr-FR"/>
              <a:t> </a:t>
            </a:r>
            <a:r>
              <a:rPr lang="fr-FR"/>
              <a:t>between</a:t>
            </a:r>
            <a:r>
              <a:rPr lang="fr-FR"/>
              <a:t> 1 to 10 bytes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55863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Variable </a:t>
            </a:r>
            <a:r>
              <a:rPr lang="fr-FR"/>
              <a:t>Length</a:t>
            </a:r>
            <a:r>
              <a:rPr lang="fr-FR"/>
              <a:t> for </a:t>
            </a:r>
            <a:r>
              <a:rPr lang="fr-FR"/>
              <a:t>Negative</a:t>
            </a:r>
            <a:r>
              <a:rPr lang="fr-FR"/>
              <a:t> </a:t>
            </a:r>
            <a:r>
              <a:rPr lang="fr-FR"/>
              <a:t>Sign</a:t>
            </a:r>
            <a:r>
              <a:rPr lang="fr-FR"/>
              <a:t> ? .. </a:t>
            </a:r>
          </a:p>
        </p:txBody>
      </p:sp>
      <p:sp>
        <p:nvSpPr>
          <p:cNvPr id="5" name="ZoneTexte 4"/>
          <p:cNvSpPr txBox="1"/>
          <p:nvPr/>
        </p:nvSpPr>
        <p:spPr>
          <a:xfrm>
            <a:off x="2768600" y="1773534"/>
            <a:ext cx="8458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+1  = 0000...0001   → </a:t>
            </a:r>
            <a:r>
              <a:rPr lang="fr-FR"/>
              <a:t>small</a:t>
            </a:r>
            <a:r>
              <a:rPr lang="fr-FR"/>
              <a:t> </a:t>
            </a:r>
            <a:r>
              <a:rPr lang="fr-FR"/>
              <a:t>varint</a:t>
            </a:r>
            <a:endParaRPr lang="fr-FR"/>
          </a:p>
          <a:p>
            <a:r>
              <a:rPr lang="fr-FR"/>
              <a:t>-1  = 1111...1111   → </a:t>
            </a:r>
            <a:r>
              <a:rPr lang="fr-FR"/>
              <a:t>huge</a:t>
            </a:r>
            <a:r>
              <a:rPr lang="fr-FR"/>
              <a:t> </a:t>
            </a:r>
            <a:r>
              <a:rPr lang="fr-FR"/>
              <a:t>varint</a:t>
            </a:r>
            <a:r>
              <a:rPr lang="fr-FR"/>
              <a:t> (10 bytes if </a:t>
            </a:r>
            <a:r>
              <a:rPr lang="fr-FR"/>
              <a:t>naïvely</a:t>
            </a:r>
            <a:r>
              <a:rPr lang="fr-FR"/>
              <a:t> </a:t>
            </a:r>
            <a:r>
              <a:rPr lang="fr-FR"/>
              <a:t>encoded</a:t>
            </a:r>
            <a:r>
              <a:rPr lang="fr-FR"/>
              <a:t> as </a:t>
            </a:r>
            <a:r>
              <a:rPr lang="fr-FR"/>
              <a:t>unsigned</a:t>
            </a:r>
            <a:r>
              <a:rPr lang="fr-FR"/>
              <a:t>!)</a:t>
            </a:r>
          </a:p>
        </p:txBody>
      </p:sp>
      <p:sp>
        <p:nvSpPr>
          <p:cNvPr id="6" name="ZoneTexte 5"/>
          <p:cNvSpPr txBox="1"/>
          <p:nvPr/>
        </p:nvSpPr>
        <p:spPr>
          <a:xfrm>
            <a:off x="2768600" y="3059668"/>
            <a:ext cx="1808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ZigZag</a:t>
            </a:r>
            <a:r>
              <a:rPr lang="fr-FR"/>
              <a:t>  </a:t>
            </a:r>
            <a:r>
              <a:rPr lang="fr-FR"/>
              <a:t>encoding</a:t>
            </a:r>
            <a:r>
              <a:rPr lang="fr-FR"/>
              <a:t>:</a:t>
            </a:r>
          </a:p>
        </p:txBody>
      </p:sp>
      <p:sp>
        <p:nvSpPr>
          <p:cNvPr id="8" name="ZoneTexte 7"/>
          <p:cNvSpPr txBox="1"/>
          <p:nvPr/>
        </p:nvSpPr>
        <p:spPr>
          <a:xfrm>
            <a:off x="3308850" y="4161934"/>
            <a:ext cx="897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0 =&gt; 0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4021666" y="4531266"/>
            <a:ext cx="897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+1 =&gt; 2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3712021" y="3755070"/>
            <a:ext cx="897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-1 =&gt; 1</a:t>
            </a:r>
          </a:p>
        </p:txBody>
      </p:sp>
      <p:cxnSp>
        <p:nvCxnSpPr>
          <p:cNvPr id="12" name="Connecteur droit 11"/>
          <p:cNvCxnSpPr/>
          <p:nvPr/>
        </p:nvCxnSpPr>
        <p:spPr>
          <a:xfrm flipV="1">
            <a:off x="4089400" y="4116335"/>
            <a:ext cx="259237" cy="2302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/>
          <p:cNvCxnSpPr/>
          <p:nvPr/>
        </p:nvCxnSpPr>
        <p:spPr>
          <a:xfrm>
            <a:off x="4348637" y="4108269"/>
            <a:ext cx="343902" cy="4605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4675608" y="3420868"/>
            <a:ext cx="897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-1 =&gt; 3</a:t>
            </a:r>
          </a:p>
        </p:txBody>
      </p:sp>
      <p:cxnSp>
        <p:nvCxnSpPr>
          <p:cNvPr id="17" name="Connecteur droit 16"/>
          <p:cNvCxnSpPr>
            <a:endCxn id="16" idx="2"/>
          </p:cNvCxnSpPr>
          <p:nvPr/>
        </p:nvCxnSpPr>
        <p:spPr>
          <a:xfrm flipV="1">
            <a:off x="4675608" y="3790200"/>
            <a:ext cx="448734" cy="7923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/>
          <p:cNvCxnSpPr>
            <a:endCxn id="16" idx="2"/>
          </p:cNvCxnSpPr>
          <p:nvPr/>
        </p:nvCxnSpPr>
        <p:spPr>
          <a:xfrm flipH="1" flipV="1">
            <a:off x="5124342" y="3790200"/>
            <a:ext cx="531784" cy="9978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/>
          <p:cNvSpPr txBox="1"/>
          <p:nvPr/>
        </p:nvSpPr>
        <p:spPr>
          <a:xfrm>
            <a:off x="5044517" y="4715932"/>
            <a:ext cx="897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+2 =&gt; 4</a:t>
            </a:r>
          </a:p>
        </p:txBody>
      </p:sp>
      <p:sp>
        <p:nvSpPr>
          <p:cNvPr id="29" name="Flèche : droite 28"/>
          <p:cNvSpPr/>
          <p:nvPr/>
        </p:nvSpPr>
        <p:spPr>
          <a:xfrm>
            <a:off x="2417233" y="6031336"/>
            <a:ext cx="702734" cy="254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/>
          <p:cNvSpPr txBox="1"/>
          <p:nvPr/>
        </p:nvSpPr>
        <p:spPr>
          <a:xfrm>
            <a:off x="3308850" y="5835171"/>
            <a:ext cx="8146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Example for int64 …  </a:t>
            </a:r>
          </a:p>
          <a:p>
            <a:r>
              <a:rPr lang="fr-FR"/>
              <a:t>values in  [-128,127] are </a:t>
            </a:r>
            <a:r>
              <a:rPr lang="fr-FR"/>
              <a:t>encoded</a:t>
            </a:r>
            <a:r>
              <a:rPr lang="fr-FR"/>
              <a:t>  on 1 byte,   </a:t>
            </a:r>
            <a:r>
              <a:rPr lang="fr-FR"/>
              <a:t>then</a:t>
            </a:r>
            <a:r>
              <a:rPr lang="fr-FR"/>
              <a:t> [-256,+255] on 2 bytes, …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53534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Encoding</a:t>
            </a:r>
            <a:r>
              <a:rPr lang="fr-FR"/>
              <a:t> Int = first </a:t>
            </a:r>
            <a:r>
              <a:rPr lang="fr-FR"/>
              <a:t>convert</a:t>
            </a:r>
            <a:r>
              <a:rPr lang="fr-FR"/>
              <a:t> to </a:t>
            </a:r>
            <a:r>
              <a:rPr lang="fr-FR"/>
              <a:t>ZigZag</a:t>
            </a:r>
            <a:r>
              <a:rPr lang="fr-FR"/>
              <a:t> </a:t>
            </a:r>
            <a:r>
              <a:rPr lang="fr-FR"/>
              <a:t>encoding</a:t>
            </a:r>
            <a:endParaRPr lang="fr-FR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73771" y="2010647"/>
            <a:ext cx="5182323" cy="4229690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316800" y="2010647"/>
            <a:ext cx="5401429" cy="2667372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161925"/>
            <a:ext cx="10515600" cy="1802342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High-</a:t>
            </a:r>
            <a:r>
              <a:rPr lang="fr-FR"/>
              <a:t>Level</a:t>
            </a:r>
            <a:r>
              <a:rPr lang="fr-FR"/>
              <a:t> </a:t>
            </a:r>
            <a:r>
              <a:rPr lang="fr-FR"/>
              <a:t>Encoding</a:t>
            </a:r>
            <a:br>
              <a:rPr lang="fr-FR"/>
            </a:br>
            <a:r>
              <a:rPr lang="fr-FR"/>
              <a:t>of </a:t>
            </a:r>
            <a:r>
              <a:rPr lang="fr-FR"/>
              <a:t>Nested</a:t>
            </a:r>
            <a:r>
              <a:rPr lang="fr-FR"/>
              <a:t> Structures (</a:t>
            </a:r>
            <a:r>
              <a:rPr lang="fr-FR"/>
              <a:t>Map,Struct,List</a:t>
            </a:r>
            <a:r>
              <a:rPr lang="fr-FR"/>
              <a:t>) </a:t>
            </a:r>
            <a:br>
              <a:rPr lang="fr-FR"/>
            </a:br>
            <a:r>
              <a:rPr lang="fr-FR"/>
              <a:t>=&gt; </a:t>
            </a:r>
            <a:r>
              <a:rPr lang="fr-FR"/>
              <a:t>using</a:t>
            </a:r>
            <a:r>
              <a:rPr lang="fr-FR"/>
              <a:t> </a:t>
            </a:r>
            <a:r>
              <a:rPr lang="fr-FR" b="1"/>
              <a:t>Definition</a:t>
            </a:r>
            <a:r>
              <a:rPr lang="fr-FR"/>
              <a:t> + </a:t>
            </a:r>
            <a:r>
              <a:rPr lang="fr-FR" b="1"/>
              <a:t>Repetition</a:t>
            </a:r>
            <a:r>
              <a:rPr lang="fr-FR"/>
              <a:t> </a:t>
            </a:r>
            <a:r>
              <a:rPr lang="fr-FR" b="1"/>
              <a:t>Levels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626534" y="2827866"/>
            <a:ext cx="3565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Inspired</a:t>
            </a:r>
            <a:r>
              <a:rPr lang="fr-FR"/>
              <a:t> </a:t>
            </a:r>
            <a:r>
              <a:rPr lang="fr-FR"/>
              <a:t>from</a:t>
            </a:r>
            <a:r>
              <a:rPr lang="fr-FR"/>
              <a:t> Google </a:t>
            </a:r>
            <a:r>
              <a:rPr lang="fr-FR"/>
              <a:t>Dremel</a:t>
            </a:r>
            <a:r>
              <a:rPr lang="fr-FR"/>
              <a:t>  </a:t>
            </a:r>
            <a:r>
              <a:rPr lang="fr-FR"/>
              <a:t>paper</a:t>
            </a:r>
            <a:endParaRPr lang="fr-FR"/>
          </a:p>
        </p:txBody>
      </p:sp>
      <p:sp>
        <p:nvSpPr>
          <p:cNvPr id="8" name="ZoneTexte 7"/>
          <p:cNvSpPr txBox="1"/>
          <p:nvPr/>
        </p:nvSpPr>
        <p:spPr>
          <a:xfrm>
            <a:off x="135467" y="3429000"/>
            <a:ext cx="37422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>
                <a:hlinkClick r:id="rId2"/>
              </a:rPr>
              <a:t>https://static.googleusercontent.com/</a:t>
            </a:r>
            <a:br>
              <a:rPr lang="fr-FR">
                <a:hlinkClick r:id="rId2"/>
              </a:rPr>
            </a:br>
            <a:r>
              <a:rPr lang="fr-FR">
                <a:hlinkClick r:id="rId2"/>
              </a:rPr>
              <a:t>media/research.google.com/en/pubs/</a:t>
            </a:r>
            <a:br>
              <a:rPr lang="fr-FR">
                <a:hlinkClick r:id="rId2"/>
              </a:rPr>
            </a:br>
            <a:r>
              <a:rPr lang="fr-FR">
                <a:hlinkClick r:id="rId2"/>
              </a:rPr>
              <a:t>archive/36632.pdf</a:t>
            </a:r>
            <a:r>
              <a:rPr lang="fr-FR"/>
              <a:t> </a:t>
            </a:r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377266" y="2326221"/>
            <a:ext cx="6262751" cy="4531779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0067" y="1"/>
            <a:ext cx="11938000" cy="83820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fr-FR"/>
              <a:t>Record-</a:t>
            </a:r>
            <a:r>
              <a:rPr lang="fr-FR"/>
              <a:t>Oriented</a:t>
            </a:r>
            <a:r>
              <a:rPr lang="fr-FR"/>
              <a:t> =&gt; </a:t>
            </a:r>
            <a:r>
              <a:rPr lang="fr-FR"/>
              <a:t>stored</a:t>
            </a:r>
            <a:r>
              <a:rPr lang="fr-FR"/>
              <a:t> as </a:t>
            </a:r>
            <a:r>
              <a:rPr lang="fr-FR"/>
              <a:t>Path.Columns</a:t>
            </a:r>
            <a:r>
              <a:rPr lang="fr-FR"/>
              <a:t> (R,D,V)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783628" y="668914"/>
            <a:ext cx="4437505" cy="2015228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339850" y="3143470"/>
            <a:ext cx="9512300" cy="3714529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(R,D,V) triplets … </a:t>
            </a:r>
            <a:r>
              <a:rPr lang="fr-FR"/>
              <a:t>complex</a:t>
            </a:r>
            <a:r>
              <a:rPr lang="fr-FR"/>
              <a:t> but super efficient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294467" y="3014133"/>
            <a:ext cx="7279813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Integer Values in </a:t>
            </a:r>
            <a:r>
              <a:rPr lang="fr-FR"/>
              <a:t>column</a:t>
            </a:r>
            <a:r>
              <a:rPr lang="fr-FR"/>
              <a:t> « R » and « D »    are </a:t>
            </a:r>
            <a:r>
              <a:rPr lang="fr-FR"/>
              <a:t>mostly</a:t>
            </a:r>
            <a:r>
              <a:rPr lang="fr-FR"/>
              <a:t> </a:t>
            </a:r>
            <a:r>
              <a:rPr lang="fr-FR"/>
              <a:t>compressed</a:t>
            </a:r>
            <a:r>
              <a:rPr lang="fr-FR"/>
              <a:t> </a:t>
            </a:r>
            <a:r>
              <a:rPr lang="fr-FR"/>
              <a:t>using</a:t>
            </a:r>
            <a:r>
              <a:rPr lang="fr-FR"/>
              <a:t> RLE</a:t>
            </a:r>
          </a:p>
          <a:p>
            <a:endParaRPr lang="fr-FR"/>
          </a:p>
          <a:p>
            <a:r>
              <a:rPr lang="fr-FR"/>
              <a:t>The </a:t>
            </a:r>
            <a:r>
              <a:rPr lang="fr-FR"/>
              <a:t>algorithm</a:t>
            </a:r>
            <a:r>
              <a:rPr lang="fr-FR"/>
              <a:t> </a:t>
            </a:r>
            <a:r>
              <a:rPr lang="fr-FR"/>
              <a:t>is</a:t>
            </a:r>
            <a:r>
              <a:rPr lang="fr-FR"/>
              <a:t> </a:t>
            </a:r>
            <a:r>
              <a:rPr lang="fr-FR"/>
              <a:t>complex</a:t>
            </a:r>
            <a:r>
              <a:rPr lang="fr-FR"/>
              <a:t> and can </a:t>
            </a:r>
            <a:r>
              <a:rPr lang="fr-FR"/>
              <a:t>be</a:t>
            </a:r>
            <a:r>
              <a:rPr lang="fr-FR"/>
              <a:t> </a:t>
            </a:r>
            <a:r>
              <a:rPr lang="fr-FR"/>
              <a:t>ignored</a:t>
            </a:r>
            <a:r>
              <a:rPr lang="fr-FR"/>
              <a:t> by end-</a:t>
            </a:r>
            <a:r>
              <a:rPr lang="fr-FR"/>
              <a:t>users</a:t>
            </a:r>
            <a:r>
              <a:rPr lang="fr-FR"/>
              <a:t> of Parquet</a:t>
            </a:r>
          </a:p>
          <a:p>
            <a:endParaRPr lang="fr-FR"/>
          </a:p>
          <a:p>
            <a:endParaRPr lang="fr-FR"/>
          </a:p>
          <a:p>
            <a:endParaRPr lang="fr-FR"/>
          </a:p>
          <a:p>
            <a:r>
              <a:rPr lang="fr-FR"/>
              <a:t>The Good News = </a:t>
            </a:r>
            <a:r>
              <a:rPr lang="fr-FR"/>
              <a:t>it</a:t>
            </a:r>
            <a:r>
              <a:rPr lang="fr-FR"/>
              <a:t> </a:t>
            </a:r>
            <a:r>
              <a:rPr lang="fr-FR"/>
              <a:t>works</a:t>
            </a:r>
            <a:r>
              <a:rPr lang="fr-FR"/>
              <a:t> </a:t>
            </a:r>
            <a:r>
              <a:rPr lang="fr-FR"/>
              <a:t>extremely</a:t>
            </a:r>
            <a:r>
              <a:rPr lang="fr-FR"/>
              <a:t> </a:t>
            </a:r>
            <a:r>
              <a:rPr lang="fr-FR"/>
              <a:t>well</a:t>
            </a:r>
            <a:r>
              <a:rPr lang="fr-FR"/>
              <a:t> !!</a:t>
            </a:r>
          </a:p>
          <a:p>
            <a:endParaRPr lang="fr-FR"/>
          </a:p>
          <a:p>
            <a:r>
              <a:rPr lang="fr-FR"/>
              <a:t>Parquet can </a:t>
            </a:r>
            <a:r>
              <a:rPr lang="fr-FR"/>
              <a:t>search</a:t>
            </a:r>
            <a:r>
              <a:rPr lang="fr-FR"/>
              <a:t>/</a:t>
            </a:r>
            <a:r>
              <a:rPr lang="fr-FR"/>
              <a:t>compress</a:t>
            </a:r>
            <a:r>
              <a:rPr lang="fr-FR"/>
              <a:t> at </a:t>
            </a:r>
            <a:r>
              <a:rPr lang="fr-FR"/>
              <a:t>any</a:t>
            </a:r>
            <a:r>
              <a:rPr lang="fr-FR"/>
              <a:t> « </a:t>
            </a:r>
            <a:r>
              <a:rPr lang="fr-FR"/>
              <a:t>path</a:t>
            </a:r>
            <a:r>
              <a:rPr lang="fr-FR"/>
              <a:t> » </a:t>
            </a:r>
            <a:r>
              <a:rPr lang="fr-FR"/>
              <a:t>inside</a:t>
            </a:r>
            <a:r>
              <a:rPr lang="fr-FR"/>
              <a:t> </a:t>
            </a:r>
            <a:r>
              <a:rPr lang="fr-FR"/>
              <a:t>nested</a:t>
            </a:r>
            <a:r>
              <a:rPr lang="fr-FR"/>
              <a:t> Records</a:t>
            </a:r>
          </a:p>
        </p:txBody>
      </p:sp>
      <p:sp>
        <p:nvSpPr>
          <p:cNvPr id="5" name="ZoneTexte 4"/>
          <p:cNvSpPr txBox="1"/>
          <p:nvPr/>
        </p:nvSpPr>
        <p:spPr>
          <a:xfrm rot="19611815">
            <a:off x="75666" y="1196330"/>
            <a:ext cx="14840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Repetition</a:t>
            </a:r>
            <a:endParaRPr lang="fr-FR"/>
          </a:p>
        </p:txBody>
      </p:sp>
      <p:sp>
        <p:nvSpPr>
          <p:cNvPr id="6" name="ZoneTexte 5"/>
          <p:cNvSpPr txBox="1"/>
          <p:nvPr/>
        </p:nvSpPr>
        <p:spPr>
          <a:xfrm rot="19611815">
            <a:off x="607487" y="1254852"/>
            <a:ext cx="1419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Definition</a:t>
            </a:r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 rot="19611815">
            <a:off x="1363448" y="1362504"/>
            <a:ext cx="8760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Value</a:t>
            </a:r>
            <a:endParaRPr lang="fr-F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631" y="2928982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use </a:t>
            </a:r>
            <a:r>
              <a:rPr lang="fr-FR"/>
              <a:t>Statistics</a:t>
            </a:r>
            <a:endParaRPr lang="fr-F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: Folded Corner 78"/>
          <p:cNvSpPr/>
          <p:nvPr/>
        </p:nvSpPr>
        <p:spPr>
          <a:xfrm>
            <a:off x="656278" y="1649886"/>
            <a:ext cx="2832984" cy="5074808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6806" y="0"/>
            <a:ext cx="121920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Column</a:t>
            </a:r>
            <a:r>
              <a:rPr lang="fr-FR"/>
              <a:t> </a:t>
            </a:r>
            <a:r>
              <a:rPr lang="fr-FR"/>
              <a:t>Statistics</a:t>
            </a:r>
            <a:r>
              <a:rPr lang="fr-FR"/>
              <a:t>: min/max Value per </a:t>
            </a:r>
            <a:r>
              <a:rPr lang="fr-FR"/>
              <a:t>RowGroup</a:t>
            </a:r>
            <a:endParaRPr lang="fr-FR"/>
          </a:p>
        </p:txBody>
      </p:sp>
      <p:sp>
        <p:nvSpPr>
          <p:cNvPr id="3" name="TextBox 2"/>
          <p:cNvSpPr txBox="1"/>
          <p:nvPr/>
        </p:nvSpPr>
        <p:spPr>
          <a:xfrm>
            <a:off x="459763" y="1133347"/>
            <a:ext cx="43152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Logical</a:t>
            </a:r>
            <a:r>
              <a:rPr lang="fr-FR" sz="2800"/>
              <a:t> </a:t>
            </a:r>
            <a:r>
              <a:rPr lang="fr-FR" sz="2800"/>
              <a:t>view</a:t>
            </a:r>
            <a:r>
              <a:rPr lang="fr-FR" sz="2800"/>
              <a:t>: </a:t>
            </a:r>
            <a:r>
              <a:rPr lang="fr-FR" sz="2800"/>
              <a:t>rows</a:t>
            </a:r>
            <a:r>
              <a:rPr lang="fr-FR" sz="2800"/>
              <a:t> - </a:t>
            </a:r>
            <a:r>
              <a:rPr lang="fr-FR" sz="2800"/>
              <a:t>columns</a:t>
            </a:r>
            <a:endParaRPr lang="fr-FR" sz="2800"/>
          </a:p>
        </p:txBody>
      </p:sp>
      <p:sp>
        <p:nvSpPr>
          <p:cNvPr id="4" name="Rectangle 3"/>
          <p:cNvSpPr/>
          <p:nvPr/>
        </p:nvSpPr>
        <p:spPr>
          <a:xfrm>
            <a:off x="1495400" y="1704808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1542835" y="1678696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6" name="Rectangle 5"/>
          <p:cNvSpPr/>
          <p:nvPr/>
        </p:nvSpPr>
        <p:spPr>
          <a:xfrm>
            <a:off x="2058011" y="1704808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2100265" y="1678696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4843" y="1704808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2637299" y="1678696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95400" y="2074140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1542835" y="2048028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8011" y="2074140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2100265" y="2048028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4843" y="2074140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2637299" y="2048028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95400" y="2464137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1542835" y="2438025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8011" y="2464137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extBox 18"/>
          <p:cNvSpPr txBox="1"/>
          <p:nvPr/>
        </p:nvSpPr>
        <p:spPr>
          <a:xfrm>
            <a:off x="2100265" y="2438025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94843" y="2464137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/>
          <p:cNvSpPr txBox="1"/>
          <p:nvPr/>
        </p:nvSpPr>
        <p:spPr>
          <a:xfrm>
            <a:off x="2637299" y="2438025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95400" y="3025629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/>
          <p:cNvSpPr txBox="1"/>
          <p:nvPr/>
        </p:nvSpPr>
        <p:spPr>
          <a:xfrm>
            <a:off x="1542835" y="2999517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8011" y="3025629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/>
          <p:cNvSpPr txBox="1"/>
          <p:nvPr/>
        </p:nvSpPr>
        <p:spPr>
          <a:xfrm>
            <a:off x="2100265" y="2999517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94843" y="3025629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2637299" y="2999517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95400" y="3418799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/>
          <p:cNvSpPr txBox="1"/>
          <p:nvPr/>
        </p:nvSpPr>
        <p:spPr>
          <a:xfrm>
            <a:off x="1542835" y="3392687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58011" y="3418799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TextBox 30"/>
          <p:cNvSpPr txBox="1"/>
          <p:nvPr/>
        </p:nvSpPr>
        <p:spPr>
          <a:xfrm>
            <a:off x="2100265" y="3392687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4843" y="3418799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2637299" y="3392687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95400" y="3808796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TextBox 34"/>
          <p:cNvSpPr txBox="1"/>
          <p:nvPr/>
        </p:nvSpPr>
        <p:spPr>
          <a:xfrm>
            <a:off x="1542835" y="3782684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8011" y="3808796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TextBox 36"/>
          <p:cNvSpPr txBox="1"/>
          <p:nvPr/>
        </p:nvSpPr>
        <p:spPr>
          <a:xfrm>
            <a:off x="2100265" y="3782684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4843" y="3808796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TextBox 38"/>
          <p:cNvSpPr txBox="1"/>
          <p:nvPr/>
        </p:nvSpPr>
        <p:spPr>
          <a:xfrm>
            <a:off x="2637299" y="3782684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c6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556691" y="1704808"/>
            <a:ext cx="287383" cy="1102549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ight Brace 41"/>
          <p:cNvSpPr/>
          <p:nvPr/>
        </p:nvSpPr>
        <p:spPr>
          <a:xfrm>
            <a:off x="3556691" y="3025629"/>
            <a:ext cx="287383" cy="1102549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TextBox 42"/>
          <p:cNvSpPr txBox="1"/>
          <p:nvPr/>
        </p:nvSpPr>
        <p:spPr>
          <a:xfrm>
            <a:off x="3987442" y="2044077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87442" y="3348183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1</a:t>
            </a:r>
          </a:p>
        </p:txBody>
      </p:sp>
      <p:sp>
        <p:nvSpPr>
          <p:cNvPr id="46" name="Right Brace 45"/>
          <p:cNvSpPr/>
          <p:nvPr/>
        </p:nvSpPr>
        <p:spPr>
          <a:xfrm>
            <a:off x="3589278" y="4280684"/>
            <a:ext cx="287383" cy="756157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TextBox 46"/>
          <p:cNvSpPr txBox="1"/>
          <p:nvPr/>
        </p:nvSpPr>
        <p:spPr>
          <a:xfrm>
            <a:off x="3986198" y="4423633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07375" y="4596491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TextBox 48"/>
          <p:cNvSpPr txBox="1"/>
          <p:nvPr/>
        </p:nvSpPr>
        <p:spPr>
          <a:xfrm>
            <a:off x="1554810" y="4570379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69986" y="4596491"/>
            <a:ext cx="471715" cy="322555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TextBox 50"/>
          <p:cNvSpPr txBox="1"/>
          <p:nvPr/>
        </p:nvSpPr>
        <p:spPr>
          <a:xfrm>
            <a:off x="2112240" y="4570379"/>
            <a:ext cx="42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06818" y="4596491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TextBox 52"/>
          <p:cNvSpPr txBox="1"/>
          <p:nvPr/>
        </p:nvSpPr>
        <p:spPr>
          <a:xfrm>
            <a:off x="2649274" y="4570379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3083" y="2322384"/>
            <a:ext cx="29721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On Disk: </a:t>
            </a:r>
            <a:r>
              <a:rPr lang="fr-FR" sz="2800" b="1"/>
              <a:t>columnar</a:t>
            </a:r>
            <a:r>
              <a:rPr lang="fr-FR" sz="2800"/>
              <a:t> 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18178" y="3130070"/>
            <a:ext cx="789505" cy="31975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TextBox 55"/>
          <p:cNvSpPr txBox="1"/>
          <p:nvPr/>
        </p:nvSpPr>
        <p:spPr>
          <a:xfrm>
            <a:off x="5707292" y="3093748"/>
            <a:ext cx="849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a1..3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7683" y="3127279"/>
            <a:ext cx="789505" cy="322547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TextBox 57"/>
          <p:cNvSpPr txBox="1"/>
          <p:nvPr/>
        </p:nvSpPr>
        <p:spPr>
          <a:xfrm>
            <a:off x="6465493" y="3103261"/>
            <a:ext cx="734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b1..3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97188" y="3128066"/>
            <a:ext cx="734528" cy="321759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TextBox 59"/>
          <p:cNvSpPr txBox="1"/>
          <p:nvPr/>
        </p:nvSpPr>
        <p:spPr>
          <a:xfrm>
            <a:off x="7202850" y="3080494"/>
            <a:ext cx="680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c1..3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10032" y="3130070"/>
            <a:ext cx="789505" cy="31975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TextBox 61"/>
          <p:cNvSpPr txBox="1"/>
          <p:nvPr/>
        </p:nvSpPr>
        <p:spPr>
          <a:xfrm>
            <a:off x="7999146" y="3093748"/>
            <a:ext cx="849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a4..6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99537" y="3127279"/>
            <a:ext cx="789505" cy="322547"/>
          </a:xfrm>
          <a:prstGeom prst="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TextBox 63"/>
          <p:cNvSpPr txBox="1"/>
          <p:nvPr/>
        </p:nvSpPr>
        <p:spPr>
          <a:xfrm>
            <a:off x="8757347" y="3103261"/>
            <a:ext cx="734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b4..6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89042" y="3128066"/>
            <a:ext cx="734528" cy="321759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TextBox 65"/>
          <p:cNvSpPr txBox="1"/>
          <p:nvPr/>
        </p:nvSpPr>
        <p:spPr>
          <a:xfrm>
            <a:off x="9494704" y="3080494"/>
            <a:ext cx="680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c4..6</a:t>
            </a:r>
          </a:p>
        </p:txBody>
      </p:sp>
      <p:sp>
        <p:nvSpPr>
          <p:cNvPr id="67" name="Right Brace 66"/>
          <p:cNvSpPr/>
          <p:nvPr/>
        </p:nvSpPr>
        <p:spPr>
          <a:xfrm rot="5400000">
            <a:off x="6643158" y="2661818"/>
            <a:ext cx="285781" cy="2169573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TextBox 67"/>
          <p:cNvSpPr txBox="1"/>
          <p:nvPr/>
        </p:nvSpPr>
        <p:spPr>
          <a:xfrm>
            <a:off x="6171610" y="3889497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0</a:t>
            </a:r>
          </a:p>
        </p:txBody>
      </p:sp>
      <p:sp>
        <p:nvSpPr>
          <p:cNvPr id="69" name="Right Brace 68"/>
          <p:cNvSpPr/>
          <p:nvPr/>
        </p:nvSpPr>
        <p:spPr>
          <a:xfrm rot="5400000">
            <a:off x="8882907" y="2661818"/>
            <a:ext cx="285781" cy="2169573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TextBox 69"/>
          <p:cNvSpPr txBox="1"/>
          <p:nvPr/>
        </p:nvSpPr>
        <p:spPr>
          <a:xfrm>
            <a:off x="8411359" y="3889497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1</a:t>
            </a:r>
          </a:p>
        </p:txBody>
      </p:sp>
      <p:sp>
        <p:nvSpPr>
          <p:cNvPr id="71" name="Right Brace 70"/>
          <p:cNvSpPr/>
          <p:nvPr/>
        </p:nvSpPr>
        <p:spPr>
          <a:xfrm rot="5400000">
            <a:off x="11392155" y="3234407"/>
            <a:ext cx="285781" cy="1046904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TextBox 71"/>
          <p:cNvSpPr txBox="1"/>
          <p:nvPr/>
        </p:nvSpPr>
        <p:spPr>
          <a:xfrm>
            <a:off x="10785140" y="3900750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314528" y="3141320"/>
            <a:ext cx="734528" cy="321759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TextBox 73"/>
          <p:cNvSpPr txBox="1"/>
          <p:nvPr/>
        </p:nvSpPr>
        <p:spPr>
          <a:xfrm>
            <a:off x="11362686" y="3127279"/>
            <a:ext cx="680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c7..9</a:t>
            </a:r>
          </a:p>
        </p:txBody>
      </p:sp>
      <p:cxnSp>
        <p:nvCxnSpPr>
          <p:cNvPr id="75" name="Straight Connector 74"/>
          <p:cNvCxnSpPr/>
          <p:nvPr/>
        </p:nvCxnSpPr>
        <p:spPr>
          <a:xfrm flipH="1" flipV="1">
            <a:off x="7910032" y="2870882"/>
            <a:ext cx="6061" cy="10831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 flipV="1">
            <a:off x="10215559" y="2909271"/>
            <a:ext cx="15587" cy="1044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980678" y="2920994"/>
            <a:ext cx="21684" cy="10330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Arrow: Down 77"/>
          <p:cNvSpPr/>
          <p:nvPr/>
        </p:nvSpPr>
        <p:spPr>
          <a:xfrm>
            <a:off x="5935502" y="3954046"/>
            <a:ext cx="287383" cy="128616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0" name="Rectangle 79"/>
          <p:cNvSpPr/>
          <p:nvPr/>
        </p:nvSpPr>
        <p:spPr>
          <a:xfrm>
            <a:off x="700389" y="5111205"/>
            <a:ext cx="2588740" cy="1478531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TextBox 80"/>
          <p:cNvSpPr txBox="1"/>
          <p:nvPr/>
        </p:nvSpPr>
        <p:spPr>
          <a:xfrm>
            <a:off x="673897" y="5104282"/>
            <a:ext cx="27596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Schema</a:t>
            </a:r>
            <a:r>
              <a:rPr lang="fr-FR" b="1"/>
              <a:t>: {a </a:t>
            </a:r>
            <a:r>
              <a:rPr lang="fr-FR" b="1"/>
              <a:t>int</a:t>
            </a:r>
            <a:r>
              <a:rPr lang="fr-FR" b="1"/>
              <a:t>, b string, c }</a:t>
            </a:r>
          </a:p>
          <a:p>
            <a:r>
              <a:rPr lang="fr-FR" b="1"/>
              <a:t>RowGroups</a:t>
            </a:r>
            <a:r>
              <a:rPr lang="fr-FR" b="1"/>
              <a:t>:</a:t>
            </a:r>
          </a:p>
          <a:p>
            <a:r>
              <a:rPr lang="fr-FR" b="1"/>
              <a:t>rg0: {offset, a(</a:t>
            </a:r>
            <a:r>
              <a:rPr lang="fr-FR" b="1"/>
              <a:t>min,max</a:t>
            </a:r>
            <a:r>
              <a:rPr lang="fr-FR" b="1"/>
              <a:t>), </a:t>
            </a:r>
            <a:br>
              <a:rPr lang="fr-FR" b="1"/>
            </a:br>
            <a:r>
              <a:rPr lang="fr-FR" b="1"/>
              <a:t>     b(</a:t>
            </a:r>
            <a:r>
              <a:rPr lang="fr-FR" b="1"/>
              <a:t>min,max</a:t>
            </a:r>
            <a:r>
              <a:rPr lang="fr-FR" b="1"/>
              <a:t>),c(</a:t>
            </a:r>
            <a:r>
              <a:rPr lang="fr-FR" b="1"/>
              <a:t>min,max</a:t>
            </a:r>
            <a:r>
              <a:rPr lang="fr-FR" b="1"/>
              <a:t>)}</a:t>
            </a:r>
          </a:p>
          <a:p>
            <a:r>
              <a:rPr lang="fr-FR" b="1"/>
              <a:t>rg1: { offset, a(</a:t>
            </a:r>
            <a:r>
              <a:rPr lang="fr-FR" b="1"/>
              <a:t>min,max</a:t>
            </a:r>
            <a:r>
              <a:rPr lang="fr-FR" b="1"/>
              <a:t>) ..}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13197" y="5310697"/>
            <a:ext cx="24663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 min = min (a1,a2,..a3)</a:t>
            </a:r>
          </a:p>
          <a:p>
            <a:r>
              <a:rPr lang="fr-FR"/>
              <a:t>a max = max(a1,a2,..a3)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999146" y="5304764"/>
            <a:ext cx="24086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 min = min (a4,a5,..a6)</a:t>
            </a:r>
          </a:p>
          <a:p>
            <a:r>
              <a:rPr lang="fr-FR"/>
              <a:t>a max = max(a4,a5,..a6)</a:t>
            </a:r>
          </a:p>
        </p:txBody>
      </p:sp>
      <p:sp>
        <p:nvSpPr>
          <p:cNvPr id="84" name="Arrow: Down 83"/>
          <p:cNvSpPr/>
          <p:nvPr/>
        </p:nvSpPr>
        <p:spPr>
          <a:xfrm>
            <a:off x="8141884" y="3954046"/>
            <a:ext cx="287383" cy="128616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26571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Reading </a:t>
            </a:r>
            <a:r>
              <a:rPr lang="fr-FR"/>
              <a:t>Metadata</a:t>
            </a:r>
            <a:br>
              <a:rPr lang="fr-FR"/>
            </a:br>
            <a:r>
              <a:rPr lang="fr-FR"/>
              <a:t> =&gt; </a:t>
            </a:r>
            <a:r>
              <a:rPr lang="fr-FR"/>
              <a:t>read</a:t>
            </a:r>
            <a:r>
              <a:rPr lang="fr-FR"/>
              <a:t> </a:t>
            </a:r>
            <a:r>
              <a:rPr lang="fr-FR"/>
              <a:t>schema</a:t>
            </a:r>
            <a:r>
              <a:rPr lang="fr-FR"/>
              <a:t> + offset + </a:t>
            </a:r>
            <a:r>
              <a:rPr lang="fr-FR"/>
              <a:t>statistics</a:t>
            </a:r>
            <a:endParaRPr lang="fr-FR"/>
          </a:p>
        </p:txBody>
      </p:sp>
      <p:sp>
        <p:nvSpPr>
          <p:cNvPr id="79" name="Rectangle: Folded Corner 78"/>
          <p:cNvSpPr/>
          <p:nvPr/>
        </p:nvSpPr>
        <p:spPr>
          <a:xfrm>
            <a:off x="5258091" y="2363651"/>
            <a:ext cx="3987508" cy="3626397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0" name="Rectangle 79"/>
          <p:cNvSpPr/>
          <p:nvPr/>
        </p:nvSpPr>
        <p:spPr>
          <a:xfrm>
            <a:off x="5343473" y="4546781"/>
            <a:ext cx="3409003" cy="129158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Left Brace 80"/>
          <p:cNvSpPr/>
          <p:nvPr/>
        </p:nvSpPr>
        <p:spPr>
          <a:xfrm>
            <a:off x="4223656" y="4693465"/>
            <a:ext cx="348343" cy="1144906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Left Brace 81"/>
          <p:cNvSpPr/>
          <p:nvPr/>
        </p:nvSpPr>
        <p:spPr>
          <a:xfrm>
            <a:off x="4223655" y="2398425"/>
            <a:ext cx="348343" cy="214835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3" name="TextBox 82"/>
          <p:cNvSpPr txBox="1"/>
          <p:nvPr/>
        </p:nvSpPr>
        <p:spPr>
          <a:xfrm>
            <a:off x="683817" y="3163950"/>
            <a:ext cx="2994218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data part</a:t>
            </a:r>
            <a:endParaRPr lang="fr-FR"/>
          </a:p>
          <a:p>
            <a:r>
              <a:rPr lang="fr-FR"/>
              <a:t>(</a:t>
            </a:r>
            <a:r>
              <a:rPr lang="fr-FR"/>
              <a:t>usually</a:t>
            </a:r>
            <a:r>
              <a:rPr lang="fr-FR"/>
              <a:t> N x blocks of 128 Mo)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3816" y="4880322"/>
            <a:ext cx="3344442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footer</a:t>
            </a:r>
            <a:r>
              <a:rPr lang="fr-FR" sz="2800"/>
              <a:t>: </a:t>
            </a:r>
            <a:r>
              <a:rPr lang="fr-FR" sz="2800"/>
              <a:t>metadata</a:t>
            </a:r>
            <a:r>
              <a:rPr lang="fr-FR" sz="2800"/>
              <a:t> part</a:t>
            </a:r>
            <a:endParaRPr lang="fr-FR"/>
          </a:p>
          <a:p>
            <a:r>
              <a:rPr lang="fr-FR"/>
              <a:t>(</a:t>
            </a:r>
            <a:r>
              <a:rPr lang="fr-FR"/>
              <a:t>usually</a:t>
            </a:r>
            <a:r>
              <a:rPr lang="fr-FR"/>
              <a:t> &lt;= 50 ko 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631" y="2928982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can use Bloom </a:t>
            </a:r>
            <a:r>
              <a:rPr lang="fr-FR"/>
              <a:t>Filter</a:t>
            </a:r>
            <a:endParaRPr lang="fr-F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/>
              <a:t>Bloom </a:t>
            </a:r>
            <a:r>
              <a:rPr lang="fr-FR"/>
              <a:t>Filter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075793" y="1955243"/>
            <a:ext cx="5452588" cy="345291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496071" y="2777889"/>
            <a:ext cx="386861" cy="480645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184301" y="2824299"/>
            <a:ext cx="30332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is</a:t>
            </a:r>
            <a:r>
              <a:rPr lang="fr-FR" sz="2400" b="1"/>
              <a:t> W in the set {</a:t>
            </a:r>
            <a:r>
              <a:rPr lang="fr-FR" sz="2400" b="1"/>
              <a:t>x,y,z</a:t>
            </a:r>
            <a:r>
              <a:rPr lang="fr-FR" sz="2400" b="1"/>
              <a:t>} ?</a:t>
            </a:r>
          </a:p>
        </p:txBody>
      </p:sp>
      <p:sp>
        <p:nvSpPr>
          <p:cNvPr id="8" name="Oval 7"/>
          <p:cNvSpPr/>
          <p:nvPr/>
        </p:nvSpPr>
        <p:spPr>
          <a:xfrm>
            <a:off x="7909917" y="2801335"/>
            <a:ext cx="386861" cy="480645"/>
          </a:xfrm>
          <a:prstGeom prst="ellipse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Oval 8"/>
          <p:cNvSpPr/>
          <p:nvPr/>
        </p:nvSpPr>
        <p:spPr>
          <a:xfrm>
            <a:off x="5307397" y="2777888"/>
            <a:ext cx="386861" cy="480645"/>
          </a:xfrm>
          <a:prstGeom prst="ellipse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/>
          <p:cNvSpPr/>
          <p:nvPr/>
        </p:nvSpPr>
        <p:spPr>
          <a:xfrm rot="20129453">
            <a:off x="8722328" y="2348714"/>
            <a:ext cx="1330570" cy="2461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Right 10"/>
          <p:cNvSpPr/>
          <p:nvPr/>
        </p:nvSpPr>
        <p:spPr>
          <a:xfrm rot="19896678">
            <a:off x="8150633" y="2156463"/>
            <a:ext cx="1744685" cy="25102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/>
          <p:cNvSpPr txBox="1"/>
          <p:nvPr/>
        </p:nvSpPr>
        <p:spPr>
          <a:xfrm>
            <a:off x="9922868" y="1614488"/>
            <a:ext cx="1645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Probably</a:t>
            </a:r>
            <a:r>
              <a:rPr lang="fr-FR"/>
              <a:t> Yes 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01338" y="2002646"/>
            <a:ext cx="962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Firm</a:t>
            </a:r>
            <a:r>
              <a:rPr lang="fr-FR"/>
              <a:t>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435" y="3446585"/>
            <a:ext cx="3650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hash(W)</a:t>
            </a:r>
            <a:r>
              <a:rPr lang="fr-FR" sz="2400"/>
              <a:t> = 0000100...10100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54460" y="6143253"/>
            <a:ext cx="61370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/>
              <a:t>https://en.wikipedia.org/wiki/Bloom_filter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631" y="2928982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</a:t>
            </a:r>
            <a:r>
              <a:rPr lang="fr-FR"/>
              <a:t>Predicate</a:t>
            </a:r>
            <a:r>
              <a:rPr lang="fr-FR"/>
              <a:t>-Push-Down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Push-Down :  </a:t>
            </a:r>
            <a:br>
              <a:rPr lang="fr-FR"/>
            </a:br>
            <a:r>
              <a:rPr lang="fr-FR"/>
              <a:t>from</a:t>
            </a:r>
            <a:r>
              <a:rPr lang="fr-FR"/>
              <a:t> Spark -&gt; Parquet Lib -&gt;  IO Storage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01662" y="3112477"/>
            <a:ext cx="2977661" cy="6330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4149970" y="4097216"/>
            <a:ext cx="3681045" cy="6330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4836074" y="3244334"/>
            <a:ext cx="2308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Core</a:t>
            </a:r>
            <a:r>
              <a:rPr lang="fr-FR"/>
              <a:t> - Spark 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2295" y="4229073"/>
            <a:ext cx="1576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Parquet MR lib</a:t>
            </a:r>
          </a:p>
        </p:txBody>
      </p:sp>
      <p:sp>
        <p:nvSpPr>
          <p:cNvPr id="8" name="Rectangle 7"/>
          <p:cNvSpPr/>
          <p:nvPr/>
        </p:nvSpPr>
        <p:spPr>
          <a:xfrm>
            <a:off x="4764740" y="2159753"/>
            <a:ext cx="2451504" cy="6330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4764740" y="2291610"/>
            <a:ext cx="2451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Your</a:t>
            </a:r>
            <a:r>
              <a:rPr lang="fr-FR"/>
              <a:t> App, high </a:t>
            </a:r>
            <a:r>
              <a:rPr lang="fr-FR"/>
              <a:t>level</a:t>
            </a:r>
            <a:r>
              <a:rPr lang="fr-FR"/>
              <a:t> 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92770" y="5081955"/>
            <a:ext cx="4595445" cy="6330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4497203" y="5167312"/>
            <a:ext cx="2986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Hadoop Virtual </a:t>
            </a:r>
            <a:r>
              <a:rPr lang="fr-FR"/>
              <a:t>FileSystem</a:t>
            </a:r>
            <a:r>
              <a:rPr lang="fr-FR"/>
              <a:t> 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9658" y="6190070"/>
            <a:ext cx="894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AWS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6154" y="6166624"/>
            <a:ext cx="2350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Azure </a:t>
            </a:r>
            <a:r>
              <a:rPr lang="fr-FR"/>
              <a:t>Datalake</a:t>
            </a:r>
            <a:r>
              <a:rPr lang="fr-FR"/>
              <a:t>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0703" y="6166624"/>
            <a:ext cx="1475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Hadoop HDFS</a:t>
            </a:r>
          </a:p>
        </p:txBody>
      </p:sp>
      <p:sp>
        <p:nvSpPr>
          <p:cNvPr id="15" name="Arrow: Down 14"/>
          <p:cNvSpPr/>
          <p:nvPr/>
        </p:nvSpPr>
        <p:spPr>
          <a:xfrm>
            <a:off x="5843954" y="2850160"/>
            <a:ext cx="293077" cy="21581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Arrow: Down 15"/>
          <p:cNvSpPr/>
          <p:nvPr/>
        </p:nvSpPr>
        <p:spPr>
          <a:xfrm>
            <a:off x="5843954" y="3834899"/>
            <a:ext cx="293077" cy="21581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Down 16"/>
          <p:cNvSpPr/>
          <p:nvPr/>
        </p:nvSpPr>
        <p:spPr>
          <a:xfrm>
            <a:off x="5843954" y="4823459"/>
            <a:ext cx="293077" cy="21581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Down 17"/>
          <p:cNvSpPr/>
          <p:nvPr/>
        </p:nvSpPr>
        <p:spPr>
          <a:xfrm>
            <a:off x="5843954" y="5807478"/>
            <a:ext cx="293077" cy="21581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Folded Corner 7"/>
          <p:cNvSpPr/>
          <p:nvPr/>
        </p:nvSpPr>
        <p:spPr>
          <a:xfrm>
            <a:off x="1806926" y="1690688"/>
            <a:ext cx="5097965" cy="4944574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2096179" y="5032808"/>
            <a:ext cx="4100290" cy="38360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Statistics</a:t>
            </a:r>
            <a:r>
              <a:rPr lang="fr-FR"/>
              <a:t> for skip </a:t>
            </a:r>
            <a:r>
              <a:rPr lang="fr-FR"/>
              <a:t>read</a:t>
            </a:r>
            <a:r>
              <a:rPr lang="fr-FR"/>
              <a:t> </a:t>
            </a:r>
            <a:r>
              <a:rPr lang="fr-FR"/>
              <a:t>RowGroup</a:t>
            </a:r>
            <a:br>
              <a:rPr lang="fr-FR"/>
            </a:br>
            <a:r>
              <a:rPr lang="fr-FR"/>
              <a:t>SELECT .. WHERE </a:t>
            </a:r>
            <a:r>
              <a:rPr lang="fr-FR"/>
              <a:t>column</a:t>
            </a:r>
            <a:r>
              <a:rPr lang="fr-FR"/>
              <a:t>=value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6179" y="4954748"/>
            <a:ext cx="4100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RG 0 "a" min = 100,  max = 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2096179" y="5579254"/>
            <a:ext cx="4100290" cy="40884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2096179" y="5526438"/>
            <a:ext cx="41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RG 1 "a" min = 201,  max =300</a:t>
            </a:r>
          </a:p>
        </p:txBody>
      </p:sp>
      <p:sp>
        <p:nvSpPr>
          <p:cNvPr id="9" name="Left Brace 8"/>
          <p:cNvSpPr/>
          <p:nvPr/>
        </p:nvSpPr>
        <p:spPr>
          <a:xfrm>
            <a:off x="1081870" y="2036879"/>
            <a:ext cx="348345" cy="971309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Left Brace 9"/>
          <p:cNvSpPr/>
          <p:nvPr/>
        </p:nvSpPr>
        <p:spPr>
          <a:xfrm>
            <a:off x="1073997" y="3056150"/>
            <a:ext cx="348345" cy="1099267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343212" y="2278663"/>
            <a:ext cx="630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RG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883" y="3258200"/>
            <a:ext cx="630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RG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96179" y="6113630"/>
            <a:ext cx="4100290" cy="40884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2096179" y="6060814"/>
            <a:ext cx="41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RG 2 "a" min = 301,  max =400</a:t>
            </a:r>
          </a:p>
        </p:txBody>
      </p:sp>
      <p:sp>
        <p:nvSpPr>
          <p:cNvPr id="15" name="Left Brace 14"/>
          <p:cNvSpPr/>
          <p:nvPr/>
        </p:nvSpPr>
        <p:spPr>
          <a:xfrm>
            <a:off x="1059023" y="4316893"/>
            <a:ext cx="348345" cy="437794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377400" y="4420306"/>
            <a:ext cx="630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RG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3558" y="3369877"/>
            <a:ext cx="252024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SELECT ... </a:t>
            </a:r>
          </a:p>
          <a:p>
            <a:r>
              <a:rPr lang="fr-FR" sz="2800" b="1"/>
              <a:t>WHERE  a = 250</a:t>
            </a:r>
          </a:p>
        </p:txBody>
      </p:sp>
      <p:sp>
        <p:nvSpPr>
          <p:cNvPr id="18" name="Arrow: Right 17"/>
          <p:cNvSpPr/>
          <p:nvPr/>
        </p:nvSpPr>
        <p:spPr>
          <a:xfrm flipH="1">
            <a:off x="6541476" y="5009682"/>
            <a:ext cx="832338" cy="351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Right 18"/>
          <p:cNvSpPr/>
          <p:nvPr/>
        </p:nvSpPr>
        <p:spPr>
          <a:xfrm flipH="1">
            <a:off x="6541476" y="5607780"/>
            <a:ext cx="832338" cy="351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Arrow: Right 19"/>
          <p:cNvSpPr/>
          <p:nvPr/>
        </p:nvSpPr>
        <p:spPr>
          <a:xfrm flipH="1">
            <a:off x="6527576" y="6121521"/>
            <a:ext cx="832338" cy="351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Multiplication Sign 20"/>
          <p:cNvSpPr/>
          <p:nvPr/>
        </p:nvSpPr>
        <p:spPr>
          <a:xfrm>
            <a:off x="6758765" y="4785750"/>
            <a:ext cx="761176" cy="789622"/>
          </a:xfrm>
          <a:prstGeom prst="mathMultiply">
            <a:avLst>
              <a:gd name="adj1" fmla="val 1427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Multiplication Sign 21"/>
          <p:cNvSpPr/>
          <p:nvPr/>
        </p:nvSpPr>
        <p:spPr>
          <a:xfrm>
            <a:off x="6751815" y="5923243"/>
            <a:ext cx="761176" cy="789622"/>
          </a:xfrm>
          <a:prstGeom prst="mathMultiply">
            <a:avLst>
              <a:gd name="adj1" fmla="val 1427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/>
          <p:cNvSpPr txBox="1"/>
          <p:nvPr/>
        </p:nvSpPr>
        <p:spPr>
          <a:xfrm>
            <a:off x="7454595" y="5588344"/>
            <a:ext cx="4987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/>
              <a:t>OK</a:t>
            </a:r>
            <a:r>
              <a:rPr lang="fr-FR" sz="2000"/>
              <a:t>  min &lt;=  a  &lt;= max  (</a:t>
            </a:r>
            <a:r>
              <a:rPr lang="fr-FR" sz="2000"/>
              <a:t>maybe</a:t>
            </a:r>
            <a:r>
              <a:rPr lang="fr-FR" sz="2000"/>
              <a:t> false positive)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5983" y="6113630"/>
            <a:ext cx="24166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NO match</a:t>
            </a:r>
            <a:r>
              <a:rPr lang="fr-FR" sz="2000"/>
              <a:t>     a  &lt; 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81292" y="4985804"/>
            <a:ext cx="23389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NO match</a:t>
            </a:r>
            <a:r>
              <a:rPr lang="fr-FR" sz="2000"/>
              <a:t>     max &lt; 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96179" y="1905640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2143614" y="1879528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96179" y="2274972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/>
          <p:cNvSpPr txBox="1"/>
          <p:nvPr/>
        </p:nvSpPr>
        <p:spPr>
          <a:xfrm>
            <a:off x="2143614" y="2248860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96179" y="2664969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TextBox 30"/>
          <p:cNvSpPr txBox="1"/>
          <p:nvPr/>
        </p:nvSpPr>
        <p:spPr>
          <a:xfrm>
            <a:off x="2143614" y="2638857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96179" y="3049696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2143614" y="3023584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96179" y="3442866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TextBox 34"/>
          <p:cNvSpPr txBox="1"/>
          <p:nvPr/>
        </p:nvSpPr>
        <p:spPr>
          <a:xfrm>
            <a:off x="2143614" y="3416754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96179" y="3832863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TextBox 36"/>
          <p:cNvSpPr txBox="1"/>
          <p:nvPr/>
        </p:nvSpPr>
        <p:spPr>
          <a:xfrm>
            <a:off x="2143614" y="3806751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96179" y="4432132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TextBox 38"/>
          <p:cNvSpPr txBox="1"/>
          <p:nvPr/>
        </p:nvSpPr>
        <p:spPr>
          <a:xfrm>
            <a:off x="2143614" y="4406020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57754" y="1879528"/>
            <a:ext cx="762000" cy="1136723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/>
          <p:cNvSpPr/>
          <p:nvPr/>
        </p:nvSpPr>
        <p:spPr>
          <a:xfrm>
            <a:off x="1957037" y="3040054"/>
            <a:ext cx="762000" cy="1136723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 41"/>
          <p:cNvSpPr/>
          <p:nvPr/>
        </p:nvSpPr>
        <p:spPr>
          <a:xfrm>
            <a:off x="1957037" y="4286108"/>
            <a:ext cx="762000" cy="652280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Multiplication Sign 42"/>
          <p:cNvSpPr/>
          <p:nvPr/>
        </p:nvSpPr>
        <p:spPr>
          <a:xfrm>
            <a:off x="1942047" y="2065194"/>
            <a:ext cx="761176" cy="789622"/>
          </a:xfrm>
          <a:prstGeom prst="mathMultiply">
            <a:avLst>
              <a:gd name="adj1" fmla="val 1427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Multiplication Sign 43"/>
          <p:cNvSpPr/>
          <p:nvPr/>
        </p:nvSpPr>
        <p:spPr>
          <a:xfrm>
            <a:off x="1951448" y="4208234"/>
            <a:ext cx="761176" cy="789622"/>
          </a:xfrm>
          <a:prstGeom prst="mathMultiply">
            <a:avLst>
              <a:gd name="adj1" fmla="val 1427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5585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Column</a:t>
            </a:r>
            <a:r>
              <a:rPr lang="fr-FR"/>
              <a:t> </a:t>
            </a:r>
            <a:r>
              <a:rPr lang="fr-FR"/>
              <a:t>Pruning</a:t>
            </a:r>
            <a:r>
              <a:rPr lang="fr-FR"/>
              <a:t> </a:t>
            </a:r>
            <a:br>
              <a:rPr lang="fr-FR"/>
            </a:br>
            <a:r>
              <a:rPr lang="fr-FR"/>
              <a:t>+ </a:t>
            </a:r>
            <a:r>
              <a:rPr lang="fr-FR"/>
              <a:t>RowGroup</a:t>
            </a:r>
            <a:r>
              <a:rPr lang="fr-FR"/>
              <a:t> </a:t>
            </a:r>
            <a:r>
              <a:rPr lang="fr-FR"/>
              <a:t>Pruning</a:t>
            </a:r>
            <a:r>
              <a:rPr lang="fr-FR"/>
              <a:t>(PPD) = minimal </a:t>
            </a:r>
            <a:r>
              <a:rPr lang="fr-FR"/>
              <a:t>Reads</a:t>
            </a:r>
            <a:endParaRPr lang="fr-FR"/>
          </a:p>
        </p:txBody>
      </p:sp>
      <p:sp>
        <p:nvSpPr>
          <p:cNvPr id="4" name="Rectangle: Folded Corner 3"/>
          <p:cNvSpPr/>
          <p:nvPr/>
        </p:nvSpPr>
        <p:spPr>
          <a:xfrm>
            <a:off x="2863753" y="2052609"/>
            <a:ext cx="5097965" cy="4786944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3153006" y="5237099"/>
            <a:ext cx="4100290" cy="38360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3153006" y="5159039"/>
            <a:ext cx="4100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RG 0 "a" min = 100,  max = 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3006" y="5783545"/>
            <a:ext cx="4100290" cy="40884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3153006" y="5730729"/>
            <a:ext cx="41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RG 1 "a" min = 201,  max =300</a:t>
            </a:r>
          </a:p>
        </p:txBody>
      </p:sp>
      <p:sp>
        <p:nvSpPr>
          <p:cNvPr id="9" name="Left Brace 8"/>
          <p:cNvSpPr/>
          <p:nvPr/>
        </p:nvSpPr>
        <p:spPr>
          <a:xfrm>
            <a:off x="2138697" y="2241170"/>
            <a:ext cx="348345" cy="971309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Left Brace 9"/>
          <p:cNvSpPr/>
          <p:nvPr/>
        </p:nvSpPr>
        <p:spPr>
          <a:xfrm>
            <a:off x="2130824" y="3260441"/>
            <a:ext cx="348345" cy="1099267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1400039" y="2482954"/>
            <a:ext cx="630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RG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6710" y="3462491"/>
            <a:ext cx="630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RG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3006" y="6317921"/>
            <a:ext cx="4100290" cy="40884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3153006" y="6265105"/>
            <a:ext cx="41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RG 2 "a" min = 301,  max =400</a:t>
            </a:r>
          </a:p>
        </p:txBody>
      </p:sp>
      <p:sp>
        <p:nvSpPr>
          <p:cNvPr id="15" name="Left Brace 14"/>
          <p:cNvSpPr/>
          <p:nvPr/>
        </p:nvSpPr>
        <p:spPr>
          <a:xfrm>
            <a:off x="2115850" y="4521184"/>
            <a:ext cx="348345" cy="437794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1434227" y="4624597"/>
            <a:ext cx="630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RG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8247" y="3216280"/>
            <a:ext cx="252024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SELECT c</a:t>
            </a:r>
          </a:p>
          <a:p>
            <a:r>
              <a:rPr lang="fr-FR" sz="2800" b="1"/>
              <a:t>WHERE  a = 250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53006" y="3253987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3200441" y="3227875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53006" y="3647157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TextBox 34"/>
          <p:cNvSpPr txBox="1"/>
          <p:nvPr/>
        </p:nvSpPr>
        <p:spPr>
          <a:xfrm>
            <a:off x="3200441" y="3621045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53006" y="4037154"/>
            <a:ext cx="471715" cy="32255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TextBox 36"/>
          <p:cNvSpPr txBox="1"/>
          <p:nvPr/>
        </p:nvSpPr>
        <p:spPr>
          <a:xfrm>
            <a:off x="3200441" y="4011042"/>
            <a:ext cx="41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a6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3864" y="3244345"/>
            <a:ext cx="762000" cy="1136723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 52"/>
          <p:cNvSpPr/>
          <p:nvPr/>
        </p:nvSpPr>
        <p:spPr>
          <a:xfrm>
            <a:off x="5008318" y="3228666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/>
          <p:cNvSpPr txBox="1"/>
          <p:nvPr/>
        </p:nvSpPr>
        <p:spPr>
          <a:xfrm>
            <a:off x="5050774" y="3202554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08318" y="3621836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TextBox 55"/>
          <p:cNvSpPr txBox="1"/>
          <p:nvPr/>
        </p:nvSpPr>
        <p:spPr>
          <a:xfrm>
            <a:off x="5050774" y="3595724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08318" y="4011833"/>
            <a:ext cx="471714" cy="322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TextBox 57"/>
          <p:cNvSpPr txBox="1"/>
          <p:nvPr/>
        </p:nvSpPr>
        <p:spPr>
          <a:xfrm>
            <a:off x="5050774" y="3985721"/>
            <a:ext cx="39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63175" y="3222985"/>
            <a:ext cx="762000" cy="1136723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Rectangle 62"/>
          <p:cNvSpPr/>
          <p:nvPr/>
        </p:nvSpPr>
        <p:spPr>
          <a:xfrm>
            <a:off x="3013864" y="2207125"/>
            <a:ext cx="762000" cy="95013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Rectangle 63"/>
          <p:cNvSpPr/>
          <p:nvPr/>
        </p:nvSpPr>
        <p:spPr>
          <a:xfrm>
            <a:off x="3978197" y="2207125"/>
            <a:ext cx="762000" cy="95013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Rectangle 64"/>
          <p:cNvSpPr/>
          <p:nvPr/>
        </p:nvSpPr>
        <p:spPr>
          <a:xfrm>
            <a:off x="3989444" y="3237391"/>
            <a:ext cx="762000" cy="1143677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Rectangle 65"/>
          <p:cNvSpPr/>
          <p:nvPr/>
        </p:nvSpPr>
        <p:spPr>
          <a:xfrm>
            <a:off x="4864780" y="2207125"/>
            <a:ext cx="762000" cy="95013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Rectangle 66"/>
          <p:cNvSpPr/>
          <p:nvPr/>
        </p:nvSpPr>
        <p:spPr>
          <a:xfrm>
            <a:off x="5829113" y="2197483"/>
            <a:ext cx="762000" cy="95013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Rectangle 67"/>
          <p:cNvSpPr/>
          <p:nvPr/>
        </p:nvSpPr>
        <p:spPr>
          <a:xfrm>
            <a:off x="5819927" y="3224766"/>
            <a:ext cx="762000" cy="1143677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 68"/>
          <p:cNvSpPr/>
          <p:nvPr/>
        </p:nvSpPr>
        <p:spPr>
          <a:xfrm>
            <a:off x="3002372" y="4483911"/>
            <a:ext cx="762000" cy="56234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Rectangle 69"/>
          <p:cNvSpPr/>
          <p:nvPr/>
        </p:nvSpPr>
        <p:spPr>
          <a:xfrm>
            <a:off x="3989444" y="4483911"/>
            <a:ext cx="762000" cy="56234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Rectangle 70"/>
          <p:cNvSpPr/>
          <p:nvPr/>
        </p:nvSpPr>
        <p:spPr>
          <a:xfrm>
            <a:off x="4863175" y="4483910"/>
            <a:ext cx="762000" cy="56234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Rectangle 71"/>
          <p:cNvSpPr/>
          <p:nvPr/>
        </p:nvSpPr>
        <p:spPr>
          <a:xfrm>
            <a:off x="5827508" y="4488881"/>
            <a:ext cx="762000" cy="56234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Arrow: Right 73"/>
          <p:cNvSpPr/>
          <p:nvPr/>
        </p:nvSpPr>
        <p:spPr>
          <a:xfrm rot="16200000" flipH="1">
            <a:off x="3954275" y="1698675"/>
            <a:ext cx="832338" cy="351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Multiplication Sign 72"/>
          <p:cNvSpPr/>
          <p:nvPr/>
        </p:nvSpPr>
        <p:spPr>
          <a:xfrm>
            <a:off x="4002438" y="1414772"/>
            <a:ext cx="761176" cy="789622"/>
          </a:xfrm>
          <a:prstGeom prst="mathMultiply">
            <a:avLst>
              <a:gd name="adj1" fmla="val 1427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Arrow: Right 74"/>
          <p:cNvSpPr/>
          <p:nvPr/>
        </p:nvSpPr>
        <p:spPr>
          <a:xfrm rot="16200000" flipH="1">
            <a:off x="5806114" y="1658963"/>
            <a:ext cx="832338" cy="351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Multiplication Sign 75"/>
          <p:cNvSpPr/>
          <p:nvPr/>
        </p:nvSpPr>
        <p:spPr>
          <a:xfrm>
            <a:off x="5854277" y="1375060"/>
            <a:ext cx="761176" cy="789622"/>
          </a:xfrm>
          <a:prstGeom prst="mathMultiply">
            <a:avLst>
              <a:gd name="adj1" fmla="val 1427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Arrow: Right 76"/>
          <p:cNvSpPr/>
          <p:nvPr/>
        </p:nvSpPr>
        <p:spPr>
          <a:xfrm flipH="1">
            <a:off x="7831135" y="2379461"/>
            <a:ext cx="832338" cy="351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Arrow: Right 78"/>
          <p:cNvSpPr/>
          <p:nvPr/>
        </p:nvSpPr>
        <p:spPr>
          <a:xfrm flipH="1">
            <a:off x="7848143" y="4496356"/>
            <a:ext cx="832338" cy="351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0" name="Multiplication Sign 79"/>
          <p:cNvSpPr/>
          <p:nvPr/>
        </p:nvSpPr>
        <p:spPr>
          <a:xfrm>
            <a:off x="8048424" y="2155529"/>
            <a:ext cx="761176" cy="789622"/>
          </a:xfrm>
          <a:prstGeom prst="mathMultiply">
            <a:avLst>
              <a:gd name="adj1" fmla="val 1427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Multiplication Sign 80"/>
          <p:cNvSpPr/>
          <p:nvPr/>
        </p:nvSpPr>
        <p:spPr>
          <a:xfrm>
            <a:off x="8072382" y="4298078"/>
            <a:ext cx="761176" cy="789622"/>
          </a:xfrm>
          <a:prstGeom prst="mathMultiply">
            <a:avLst>
              <a:gd name="adj1" fmla="val 1427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5585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Badly</a:t>
            </a:r>
            <a:r>
              <a:rPr lang="fr-FR"/>
              <a:t> </a:t>
            </a:r>
            <a:r>
              <a:rPr lang="fr-FR"/>
              <a:t>sorted</a:t>
            </a:r>
            <a:r>
              <a:rPr lang="fr-FR"/>
              <a:t> files</a:t>
            </a:r>
            <a:br>
              <a:rPr lang="fr-FR"/>
            </a:br>
            <a:r>
              <a:rPr lang="fr-FR"/>
              <a:t>=&gt; Bad min/max </a:t>
            </a:r>
            <a:r>
              <a:rPr lang="fr-FR"/>
              <a:t>statistics</a:t>
            </a:r>
            <a:r>
              <a:rPr lang="fr-FR"/>
              <a:t> =&gt; False positives</a:t>
            </a:r>
          </a:p>
        </p:txBody>
      </p:sp>
      <p:sp>
        <p:nvSpPr>
          <p:cNvPr id="4" name="Rectangle: Folded Corner 3"/>
          <p:cNvSpPr/>
          <p:nvPr/>
        </p:nvSpPr>
        <p:spPr>
          <a:xfrm>
            <a:off x="2863753" y="2052609"/>
            <a:ext cx="5097965" cy="4786944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3153006" y="5237099"/>
            <a:ext cx="4100290" cy="38360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3153006" y="5159039"/>
            <a:ext cx="39447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RG 0 "a" min = 1,  max = 9998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3006" y="5783545"/>
            <a:ext cx="4100290" cy="40884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3153006" y="5730729"/>
            <a:ext cx="3875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RG 1 "a" min = 0,  max =9996</a:t>
            </a:r>
          </a:p>
        </p:txBody>
      </p:sp>
      <p:sp>
        <p:nvSpPr>
          <p:cNvPr id="9" name="Left Brace 8"/>
          <p:cNvSpPr/>
          <p:nvPr/>
        </p:nvSpPr>
        <p:spPr>
          <a:xfrm>
            <a:off x="2138697" y="2241170"/>
            <a:ext cx="348345" cy="971309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Left Brace 9"/>
          <p:cNvSpPr/>
          <p:nvPr/>
        </p:nvSpPr>
        <p:spPr>
          <a:xfrm>
            <a:off x="2130824" y="3260441"/>
            <a:ext cx="348345" cy="1099267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1400039" y="2482954"/>
            <a:ext cx="630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RG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6710" y="3462491"/>
            <a:ext cx="630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RG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3006" y="6317921"/>
            <a:ext cx="4100290" cy="40884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3153006" y="6265105"/>
            <a:ext cx="3875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RG 2 "a" min = 2,  max =9997</a:t>
            </a:r>
          </a:p>
        </p:txBody>
      </p:sp>
      <p:sp>
        <p:nvSpPr>
          <p:cNvPr id="15" name="Left Brace 14"/>
          <p:cNvSpPr/>
          <p:nvPr/>
        </p:nvSpPr>
        <p:spPr>
          <a:xfrm>
            <a:off x="2115850" y="4521184"/>
            <a:ext cx="348345" cy="437794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1434227" y="4624597"/>
            <a:ext cx="630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RG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8247" y="3216280"/>
            <a:ext cx="252024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SELECT c</a:t>
            </a:r>
          </a:p>
          <a:p>
            <a:r>
              <a:rPr lang="fr-FR" sz="2800" b="1"/>
              <a:t>WHERE  a = 250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3864" y="3244345"/>
            <a:ext cx="762000" cy="1136723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Rectangle 59"/>
          <p:cNvSpPr/>
          <p:nvPr/>
        </p:nvSpPr>
        <p:spPr>
          <a:xfrm>
            <a:off x="4863175" y="3222985"/>
            <a:ext cx="762000" cy="1136723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Rectangle 62"/>
          <p:cNvSpPr/>
          <p:nvPr/>
        </p:nvSpPr>
        <p:spPr>
          <a:xfrm>
            <a:off x="3013864" y="2207125"/>
            <a:ext cx="762000" cy="950135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Rectangle 63"/>
          <p:cNvSpPr/>
          <p:nvPr/>
        </p:nvSpPr>
        <p:spPr>
          <a:xfrm>
            <a:off x="3978197" y="2207125"/>
            <a:ext cx="762000" cy="95013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Rectangle 64"/>
          <p:cNvSpPr/>
          <p:nvPr/>
        </p:nvSpPr>
        <p:spPr>
          <a:xfrm>
            <a:off x="3989444" y="3237391"/>
            <a:ext cx="762000" cy="1143677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Rectangle 65"/>
          <p:cNvSpPr/>
          <p:nvPr/>
        </p:nvSpPr>
        <p:spPr>
          <a:xfrm>
            <a:off x="4864780" y="2207125"/>
            <a:ext cx="762000" cy="950135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Rectangle 66"/>
          <p:cNvSpPr/>
          <p:nvPr/>
        </p:nvSpPr>
        <p:spPr>
          <a:xfrm>
            <a:off x="5829113" y="2197483"/>
            <a:ext cx="762000" cy="95013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Rectangle 67"/>
          <p:cNvSpPr/>
          <p:nvPr/>
        </p:nvSpPr>
        <p:spPr>
          <a:xfrm>
            <a:off x="5819927" y="3224766"/>
            <a:ext cx="762000" cy="1143677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 68"/>
          <p:cNvSpPr/>
          <p:nvPr/>
        </p:nvSpPr>
        <p:spPr>
          <a:xfrm>
            <a:off x="3002372" y="4483911"/>
            <a:ext cx="762000" cy="562346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Rectangle 69"/>
          <p:cNvSpPr/>
          <p:nvPr/>
        </p:nvSpPr>
        <p:spPr>
          <a:xfrm>
            <a:off x="3989444" y="4483911"/>
            <a:ext cx="762000" cy="56234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Rectangle 70"/>
          <p:cNvSpPr/>
          <p:nvPr/>
        </p:nvSpPr>
        <p:spPr>
          <a:xfrm>
            <a:off x="4863175" y="4483910"/>
            <a:ext cx="762000" cy="562346"/>
          </a:xfrm>
          <a:prstGeom prst="rect">
            <a:avLst/>
          </a:prstGeom>
          <a:solidFill>
            <a:srgbClr val="92D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Rectangle 71"/>
          <p:cNvSpPr/>
          <p:nvPr/>
        </p:nvSpPr>
        <p:spPr>
          <a:xfrm>
            <a:off x="5827508" y="4488881"/>
            <a:ext cx="762000" cy="56234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Arrow: Right 76"/>
          <p:cNvSpPr/>
          <p:nvPr/>
        </p:nvSpPr>
        <p:spPr>
          <a:xfrm flipH="1">
            <a:off x="7831135" y="2379461"/>
            <a:ext cx="832338" cy="351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Arrow: Right 78"/>
          <p:cNvSpPr/>
          <p:nvPr/>
        </p:nvSpPr>
        <p:spPr>
          <a:xfrm flipH="1">
            <a:off x="7848143" y="4496356"/>
            <a:ext cx="832338" cy="351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Arrow: Right 2"/>
          <p:cNvSpPr/>
          <p:nvPr/>
        </p:nvSpPr>
        <p:spPr>
          <a:xfrm flipH="1">
            <a:off x="7848143" y="3517435"/>
            <a:ext cx="832338" cy="351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/>
          <p:cNvSpPr txBox="1"/>
          <p:nvPr/>
        </p:nvSpPr>
        <p:spPr>
          <a:xfrm>
            <a:off x="7961718" y="5189816"/>
            <a:ext cx="4987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/>
              <a:t>maybe</a:t>
            </a:r>
            <a:r>
              <a:rPr lang="fr-FR" sz="2000" b="1"/>
              <a:t> false positive</a:t>
            </a:r>
            <a:r>
              <a:rPr lang="fr-FR" sz="2000"/>
              <a:t>  min &lt;=  a  &lt;= 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1717" y="5739698"/>
            <a:ext cx="4987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/>
              <a:t>maybe</a:t>
            </a:r>
            <a:r>
              <a:rPr lang="fr-FR" sz="2000" b="1"/>
              <a:t> false positive</a:t>
            </a:r>
            <a:r>
              <a:rPr lang="fr-FR" sz="2000"/>
              <a:t>  min &lt;=  a  &lt;= max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1718" y="6223844"/>
            <a:ext cx="4987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/>
              <a:t>maybe</a:t>
            </a:r>
            <a:r>
              <a:rPr lang="fr-FR" sz="2000" b="1"/>
              <a:t> false positive</a:t>
            </a:r>
            <a:r>
              <a:rPr lang="fr-FR" sz="2000"/>
              <a:t>  min &lt;=  a  &lt;= max</a:t>
            </a:r>
          </a:p>
        </p:txBody>
      </p:sp>
      <p:sp>
        <p:nvSpPr>
          <p:cNvPr id="27" name="Arrow: Right 26"/>
          <p:cNvSpPr/>
          <p:nvPr/>
        </p:nvSpPr>
        <p:spPr>
          <a:xfrm rot="16200000" flipH="1">
            <a:off x="2046999" y="3424178"/>
            <a:ext cx="2717808" cy="351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Arrow: Right 27"/>
          <p:cNvSpPr/>
          <p:nvPr/>
        </p:nvSpPr>
        <p:spPr>
          <a:xfrm rot="16200000" flipH="1">
            <a:off x="3867119" y="3431715"/>
            <a:ext cx="2732883" cy="351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/>
          <p:cNvSpPr txBox="1"/>
          <p:nvPr/>
        </p:nvSpPr>
        <p:spPr>
          <a:xfrm>
            <a:off x="2839576" y="1654340"/>
            <a:ext cx="153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read</a:t>
            </a:r>
            <a:r>
              <a:rPr lang="fr-FR"/>
              <a:t> ALL </a:t>
            </a:r>
            <a:r>
              <a:rPr lang="fr-FR"/>
              <a:t>RGs</a:t>
            </a:r>
            <a:r>
              <a:rPr lang="fr-FR"/>
              <a:t> !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03939" y="3118338"/>
            <a:ext cx="82946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when</a:t>
            </a:r>
            <a:r>
              <a:rPr lang="fr-FR" sz="2400"/>
              <a:t> </a:t>
            </a:r>
            <a:r>
              <a:rPr lang="fr-FR" sz="2400"/>
              <a:t>writing</a:t>
            </a:r>
            <a:r>
              <a:rPr lang="fr-FR" sz="2400"/>
              <a:t> Parquet files ...  </a:t>
            </a:r>
            <a:r>
              <a:rPr lang="fr-FR" sz="2400"/>
              <a:t>think</a:t>
            </a:r>
            <a:r>
              <a:rPr lang="fr-FR" sz="2400"/>
              <a:t> how file </a:t>
            </a:r>
            <a:r>
              <a:rPr lang="fr-FR" sz="2400"/>
              <a:t>might</a:t>
            </a:r>
            <a:r>
              <a:rPr lang="fr-FR" sz="2400"/>
              <a:t> </a:t>
            </a:r>
            <a:r>
              <a:rPr lang="fr-FR" sz="2400"/>
              <a:t>be</a:t>
            </a:r>
            <a:r>
              <a:rPr lang="fr-FR" sz="2400"/>
              <a:t> </a:t>
            </a:r>
            <a:r>
              <a:rPr lang="fr-FR" sz="2400"/>
              <a:t>read</a:t>
            </a:r>
            <a:r>
              <a:rPr lang="fr-FR" sz="2400"/>
              <a:t> </a:t>
            </a:r>
            <a:r>
              <a:rPr lang="fr-FR" sz="2400"/>
              <a:t>later</a:t>
            </a:r>
            <a:r>
              <a:rPr lang="fr-FR" sz="2400"/>
              <a:t> ! </a:t>
            </a:r>
            <a:br>
              <a:rPr lang="fr-FR" sz="2400"/>
            </a:br>
            <a:br>
              <a:rPr lang="fr-FR" sz="2400"/>
            </a:br>
            <a:r>
              <a:rPr lang="fr-FR" sz="2400"/>
              <a:t>spend</a:t>
            </a:r>
            <a:r>
              <a:rPr lang="fr-FR" sz="2400"/>
              <a:t> CPU </a:t>
            </a:r>
            <a:r>
              <a:rPr lang="fr-FR" sz="2400"/>
              <a:t>when</a:t>
            </a:r>
            <a:r>
              <a:rPr lang="fr-FR" sz="2400"/>
              <a:t> </a:t>
            </a:r>
            <a:r>
              <a:rPr lang="fr-FR" sz="2400"/>
              <a:t>writing</a:t>
            </a:r>
            <a:r>
              <a:rPr lang="fr-FR" sz="2400"/>
              <a:t>    to  </a:t>
            </a:r>
            <a:r>
              <a:rPr lang="fr-FR" sz="2400"/>
              <a:t>save</a:t>
            </a:r>
            <a:r>
              <a:rPr lang="fr-FR" sz="2400"/>
              <a:t> CPU / IO  </a:t>
            </a:r>
            <a:r>
              <a:rPr lang="fr-FR" sz="2400"/>
              <a:t>later</a:t>
            </a:r>
            <a:r>
              <a:rPr lang="fr-FR" sz="2400"/>
              <a:t> </a:t>
            </a:r>
            <a:r>
              <a:rPr lang="fr-FR" sz="2400"/>
              <a:t>reading</a:t>
            </a:r>
            <a:r>
              <a:rPr lang="fr-FR" sz="2400"/>
              <a:t> 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Optim</a:t>
            </a:r>
            <a:r>
              <a:rPr lang="fr-FR"/>
              <a:t>   Write Once  /   Read </a:t>
            </a:r>
            <a:r>
              <a:rPr lang="fr-FR"/>
              <a:t>Many</a:t>
            </a:r>
            <a:r>
              <a:rPr lang="fr-FR"/>
              <a:t> 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/>
          <p:nvPr/>
        </p:nvSpPr>
        <p:spPr>
          <a:xfrm>
            <a:off x="1989992" y="1828800"/>
            <a:ext cx="8212016" cy="46775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2400"/>
              <a:t>dataset</a:t>
            </a:r>
            <a:endParaRPr lang="fr-FR" sz="2400"/>
          </a:p>
          <a:p>
            <a:r>
              <a:rPr lang="fr-FR" sz="2400"/>
              <a:t>       </a:t>
            </a:r>
            <a:r>
              <a:rPr lang="fr-FR" sz="2400" b="1"/>
              <a:t>.</a:t>
            </a:r>
            <a:r>
              <a:rPr lang="fr-FR" sz="2400" b="1"/>
              <a:t>repartition</a:t>
            </a:r>
            <a:r>
              <a:rPr lang="fr-FR" sz="2400"/>
              <a:t>(</a:t>
            </a:r>
            <a:r>
              <a:rPr lang="fr-FR" sz="2400"/>
              <a:t>nRepartitionCount</a:t>
            </a:r>
            <a:r>
              <a:rPr lang="fr-FR" sz="2400"/>
              <a:t>)</a:t>
            </a:r>
            <a:br>
              <a:rPr lang="fr-FR" sz="2400"/>
            </a:br>
            <a:r>
              <a:rPr lang="fr-FR" sz="2400"/>
              <a:t>       // or  </a:t>
            </a:r>
            <a:r>
              <a:rPr lang="fr-FR" sz="2400" b="1"/>
              <a:t>.</a:t>
            </a:r>
            <a:r>
              <a:rPr lang="fr-FR" sz="2400" b="1"/>
              <a:t>repartition</a:t>
            </a:r>
            <a:r>
              <a:rPr lang="fr-FR" sz="2400"/>
              <a:t>("col1", </a:t>
            </a:r>
            <a:r>
              <a:rPr lang="fr-FR" sz="2400"/>
              <a:t>nRepartitionHash</a:t>
            </a:r>
            <a:r>
              <a:rPr lang="fr-FR" sz="2400"/>
              <a:t>)</a:t>
            </a:r>
            <a:br>
              <a:rPr lang="fr-FR" sz="2400"/>
            </a:br>
            <a:br>
              <a:rPr lang="fr-FR" sz="2400"/>
            </a:br>
            <a:r>
              <a:rPr lang="fr-FR" sz="2400"/>
              <a:t>       </a:t>
            </a:r>
            <a:r>
              <a:rPr lang="fr-FR" sz="2400" b="1"/>
              <a:t>.</a:t>
            </a:r>
            <a:r>
              <a:rPr lang="fr-FR" sz="2400" b="1"/>
              <a:t>sortWithinPartitions</a:t>
            </a:r>
            <a:r>
              <a:rPr lang="fr-FR" sz="2400"/>
              <a:t>("</a:t>
            </a:r>
            <a:r>
              <a:rPr lang="fr-FR" sz="2400"/>
              <a:t>colA</a:t>
            </a:r>
            <a:r>
              <a:rPr lang="fr-FR" sz="2400"/>
              <a:t>", "</a:t>
            </a:r>
            <a:r>
              <a:rPr lang="fr-FR" sz="2400"/>
              <a:t>colB</a:t>
            </a:r>
            <a:r>
              <a:rPr lang="fr-FR" sz="2400"/>
              <a:t>")</a:t>
            </a:r>
            <a:br>
              <a:rPr lang="fr-FR" sz="2400"/>
            </a:br>
            <a:br>
              <a:rPr lang="fr-FR" sz="2400"/>
            </a:br>
            <a:r>
              <a:rPr lang="fr-FR" sz="2400"/>
              <a:t>       .</a:t>
            </a:r>
            <a:r>
              <a:rPr lang="fr-FR" sz="2400"/>
              <a:t>write</a:t>
            </a:r>
            <a:br>
              <a:rPr lang="fr-FR" sz="2400"/>
            </a:br>
            <a:r>
              <a:rPr lang="fr-FR" sz="2400"/>
              <a:t>       .option("</a:t>
            </a:r>
            <a:r>
              <a:rPr lang="fr-FR" sz="2400"/>
              <a:t>parquet.block.size</a:t>
            </a:r>
            <a:r>
              <a:rPr lang="fr-FR" sz="2400"/>
              <a:t>", 32*MEGA)</a:t>
            </a:r>
          </a:p>
          <a:p>
            <a:br>
              <a:rPr lang="fr-FR" sz="2400"/>
            </a:br>
            <a:r>
              <a:rPr lang="fr-FR" sz="2400"/>
              <a:t>       .format("parquet")</a:t>
            </a:r>
            <a:br>
              <a:rPr lang="fr-FR" sz="2400"/>
            </a:br>
            <a:r>
              <a:rPr lang="fr-FR" sz="2400"/>
              <a:t>       .</a:t>
            </a:r>
            <a:r>
              <a:rPr lang="fr-FR" sz="2400"/>
              <a:t>save</a:t>
            </a:r>
            <a:r>
              <a:rPr lang="fr-FR" sz="2400"/>
              <a:t>("file://some-dir")</a:t>
            </a:r>
          </a:p>
          <a:p>
            <a:r>
              <a:rPr lang="fr-FR" sz="2400"/>
              <a:t>       // or </a:t>
            </a:r>
          </a:p>
          <a:p>
            <a:r>
              <a:rPr lang="fr-FR" sz="2400"/>
              <a:t>       // .format("</a:t>
            </a:r>
            <a:r>
              <a:rPr lang="fr-FR" sz="2400"/>
              <a:t>hive</a:t>
            </a:r>
            <a:r>
              <a:rPr lang="fr-FR" sz="2400"/>
              <a:t>").</a:t>
            </a:r>
            <a:r>
              <a:rPr lang="fr-FR" sz="2400"/>
              <a:t>insertInto</a:t>
            </a:r>
            <a:r>
              <a:rPr lang="fr-FR" sz="2400"/>
              <a:t>("</a:t>
            </a:r>
            <a:r>
              <a:rPr lang="fr-FR" sz="2400"/>
              <a:t>hiveDb.hiveTableName</a:t>
            </a:r>
            <a:r>
              <a:rPr lang="fr-FR" sz="2400"/>
              <a:t>")</a:t>
            </a:r>
          </a:p>
          <a:p>
            <a:endParaRPr lang="fr-FR" sz="2400"/>
          </a:p>
        </p:txBody>
      </p:sp>
      <p:sp>
        <p:nvSpPr>
          <p:cNvPr id="2212" name="Title 5"/>
          <p:cNvSpPr/>
          <p:nvPr/>
        </p:nvSpPr>
        <p:spPr>
          <a:xfrm>
            <a:off x="838200" y="0"/>
            <a:ext cx="10515600" cy="1268172"/>
          </a:xfrm>
          <a:prstGeom prst="rect">
            <a:avLst/>
          </a:prstGeom>
        </p:spPr>
        <p:txBody>
          <a:bodyPr anchor="ctr"/>
          <a:lstStyle/>
          <a:p>
            <a:pPr algn="l"/>
            <a:r>
              <a:rPr lang="fr-FR" sz="3600">
                <a:latin typeface="Calibri Light"/>
              </a:rPr>
              <a:t>.repartion( … )                       // avoid too many small files</a:t>
            </a:r>
            <a:endParaRPr lang="fr-FR" sz="3600">
              <a:latin typeface="Calibri Light"/>
            </a:endParaRPr>
          </a:p>
          <a:p>
            <a:pPr algn="l"/>
            <a:r>
              <a:rPr lang="fr-FR" sz="3600">
                <a:latin typeface="Calibri Light"/>
              </a:rPr>
              <a:t>.sortWithinPartitions( ... )   // sort within each files</a:t>
            </a:r>
            <a:endParaRPr lang="fr-FR" sz="3600">
              <a:latin typeface="Calibri Light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8891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avoid</a:t>
            </a:r>
            <a:r>
              <a:rPr lang="fr-FR"/>
              <a:t> </a:t>
            </a:r>
            <a:r>
              <a:rPr lang="fr-FR"/>
              <a:t>many</a:t>
            </a:r>
            <a:r>
              <a:rPr lang="fr-FR"/>
              <a:t> </a:t>
            </a:r>
            <a:r>
              <a:rPr lang="fr-FR"/>
              <a:t>small</a:t>
            </a:r>
            <a:r>
              <a:rPr lang="fr-FR"/>
              <a:t> files</a:t>
            </a:r>
            <a:br>
              <a:rPr lang="fr-FR"/>
            </a:br>
            <a:r>
              <a:rPr lang="fr-FR"/>
              <a:t>dataset.repartition</a:t>
            </a:r>
            <a:r>
              <a:rPr lang="fr-FR"/>
              <a:t>(1)</a:t>
            </a:r>
            <a:br>
              <a:rPr lang="fr-FR"/>
            </a:br>
            <a:r>
              <a:rPr lang="fr-FR"/>
              <a:t>or .coalesce(1)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0368" y="2043390"/>
            <a:ext cx="71979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/>
              <a:t>dataset</a:t>
            </a:r>
            <a:endParaRPr lang="fr-FR" sz="1800"/>
          </a:p>
          <a:p>
            <a:r>
              <a:rPr lang="fr-FR" sz="1800"/>
              <a:t>       </a:t>
            </a:r>
            <a:r>
              <a:rPr lang="fr-FR" sz="1800" b="1"/>
              <a:t>.</a:t>
            </a:r>
            <a:r>
              <a:rPr lang="fr-FR" sz="1800" b="1"/>
              <a:t>repartition</a:t>
            </a:r>
            <a:r>
              <a:rPr lang="fr-FR" sz="1800"/>
              <a:t>(</a:t>
            </a:r>
            <a:r>
              <a:rPr lang="fr-FR" sz="1800"/>
              <a:t>nRepartitionCount</a:t>
            </a:r>
            <a:r>
              <a:rPr lang="fr-FR" sz="1800"/>
              <a:t>)  // or  .coalesce(</a:t>
            </a:r>
            <a:r>
              <a:rPr lang="fr-FR" sz="1800"/>
              <a:t>nRepartitionCount</a:t>
            </a:r>
            <a:r>
              <a:rPr lang="fr-FR" sz="1800"/>
              <a:t>)</a:t>
            </a:r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3294184" y="2964938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/>
        </p:nvSpPr>
        <p:spPr>
          <a:xfrm>
            <a:off x="3294184" y="4020015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3294184" y="4982033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/>
          <p:cNvSpPr/>
          <p:nvPr/>
        </p:nvSpPr>
        <p:spPr>
          <a:xfrm>
            <a:off x="4686680" y="4227456"/>
            <a:ext cx="1336431" cy="19929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/>
          <p:cNvSpPr/>
          <p:nvPr/>
        </p:nvSpPr>
        <p:spPr>
          <a:xfrm rot="19160911">
            <a:off x="4783014" y="4882385"/>
            <a:ext cx="1336431" cy="19929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Right 10"/>
          <p:cNvSpPr/>
          <p:nvPr/>
        </p:nvSpPr>
        <p:spPr>
          <a:xfrm rot="2030127">
            <a:off x="4744365" y="3583615"/>
            <a:ext cx="1336431" cy="19929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/>
          <p:cNvSpPr/>
          <p:nvPr/>
        </p:nvSpPr>
        <p:spPr>
          <a:xfrm>
            <a:off x="6330461" y="3429000"/>
            <a:ext cx="545884" cy="1942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Right 12"/>
          <p:cNvSpPr/>
          <p:nvPr/>
        </p:nvSpPr>
        <p:spPr>
          <a:xfrm>
            <a:off x="7664342" y="4262153"/>
            <a:ext cx="1336431" cy="19929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Flowchart: Magnetic Disk 14"/>
          <p:cNvSpPr/>
          <p:nvPr/>
        </p:nvSpPr>
        <p:spPr>
          <a:xfrm>
            <a:off x="9425354" y="4020015"/>
            <a:ext cx="656492" cy="64633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5189234" y="6022251"/>
            <a:ext cx="3900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 </a:t>
            </a:r>
            <a:r>
              <a:rPr lang="fr-FR"/>
              <a:t>spark</a:t>
            </a:r>
            <a:r>
              <a:rPr lang="fr-FR"/>
              <a:t> in-memory Partition</a:t>
            </a:r>
          </a:p>
          <a:p>
            <a:r>
              <a:rPr lang="fr-FR"/>
              <a:t>(</a:t>
            </a:r>
            <a:r>
              <a:rPr lang="fr-FR"/>
              <a:t>should</a:t>
            </a:r>
            <a:r>
              <a:rPr lang="fr-FR"/>
              <a:t> fit in </a:t>
            </a:r>
            <a:r>
              <a:rPr lang="fr-FR"/>
              <a:t>spark.executor.memory</a:t>
            </a:r>
            <a:r>
              <a:rPr lang="fr-FR"/>
              <a:t> !!)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7580" y="6052122"/>
            <a:ext cx="29332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N </a:t>
            </a:r>
            <a:r>
              <a:rPr lang="fr-FR"/>
              <a:t>spark</a:t>
            </a:r>
            <a:r>
              <a:rPr lang="fr-FR"/>
              <a:t> in-memory Partitions</a:t>
            </a:r>
          </a:p>
          <a:p>
            <a:r>
              <a:rPr lang="fr-FR"/>
              <a:t>distributed</a:t>
            </a:r>
            <a:r>
              <a:rPr lang="fr-FR"/>
              <a:t> over N </a:t>
            </a:r>
            <a:r>
              <a:rPr lang="fr-FR"/>
              <a:t>executors</a:t>
            </a:r>
            <a:endParaRPr lang="fr-FR"/>
          </a:p>
        </p:txBody>
      </p:sp>
      <p:sp>
        <p:nvSpPr>
          <p:cNvPr id="18" name="TextBox 17"/>
          <p:cNvSpPr txBox="1"/>
          <p:nvPr/>
        </p:nvSpPr>
        <p:spPr>
          <a:xfrm>
            <a:off x="9186804" y="5978209"/>
            <a:ext cx="1984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write</a:t>
            </a:r>
            <a:r>
              <a:rPr lang="fr-FR"/>
              <a:t> 1 parquet file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Does</a:t>
            </a:r>
            <a:r>
              <a:rPr lang="fr-FR"/>
              <a:t> not fit in memory.. compromise to .</a:t>
            </a:r>
            <a:r>
              <a:rPr lang="fr-FR"/>
              <a:t>repartition</a:t>
            </a:r>
            <a:r>
              <a:rPr lang="fr-FR"/>
              <a:t>(</a:t>
            </a:r>
            <a:r>
              <a:rPr lang="fr-FR"/>
              <a:t>smallN</a:t>
            </a:r>
            <a:r>
              <a:rPr lang="fr-FR"/>
              <a:t>)</a:t>
            </a:r>
          </a:p>
        </p:txBody>
      </p:sp>
      <p:sp>
        <p:nvSpPr>
          <p:cNvPr id="4" name="Rectangle 3"/>
          <p:cNvSpPr/>
          <p:nvPr/>
        </p:nvSpPr>
        <p:spPr>
          <a:xfrm>
            <a:off x="3059723" y="1874692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3059723" y="2929769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3059723" y="3891787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Right 6"/>
          <p:cNvSpPr/>
          <p:nvPr/>
        </p:nvSpPr>
        <p:spPr>
          <a:xfrm rot="20811318">
            <a:off x="4494743" y="3131881"/>
            <a:ext cx="559265" cy="17937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/>
          <p:cNvSpPr/>
          <p:nvPr/>
        </p:nvSpPr>
        <p:spPr>
          <a:xfrm rot="20467300">
            <a:off x="4522110" y="5256536"/>
            <a:ext cx="614524" cy="2397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/>
          <p:cNvSpPr/>
          <p:nvPr/>
        </p:nvSpPr>
        <p:spPr>
          <a:xfrm rot="2030127">
            <a:off x="4376114" y="2216512"/>
            <a:ext cx="707901" cy="15447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6096000" y="2338754"/>
            <a:ext cx="545884" cy="13255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Right 10"/>
          <p:cNvSpPr/>
          <p:nvPr/>
        </p:nvSpPr>
        <p:spPr>
          <a:xfrm>
            <a:off x="7429881" y="3171907"/>
            <a:ext cx="1336431" cy="19929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owchart: Magnetic Disk 11"/>
          <p:cNvSpPr/>
          <p:nvPr/>
        </p:nvSpPr>
        <p:spPr>
          <a:xfrm>
            <a:off x="9190893" y="2929769"/>
            <a:ext cx="656492" cy="64633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5158900" y="5798266"/>
            <a:ext cx="6462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n </a:t>
            </a:r>
            <a:r>
              <a:rPr lang="fr-FR"/>
              <a:t>spark</a:t>
            </a:r>
            <a:r>
              <a:rPr lang="fr-FR"/>
              <a:t> in-memory Partition</a:t>
            </a:r>
          </a:p>
          <a:p>
            <a:r>
              <a:rPr lang="fr-FR"/>
              <a:t>n "</a:t>
            </a:r>
            <a:r>
              <a:rPr lang="fr-FR"/>
              <a:t>small</a:t>
            </a:r>
            <a:r>
              <a:rPr lang="fr-FR"/>
              <a:t>", </a:t>
            </a:r>
            <a:r>
              <a:rPr lang="fr-FR"/>
              <a:t>example</a:t>
            </a:r>
            <a:r>
              <a:rPr lang="fr-FR"/>
              <a:t>: {2,3,4 }  </a:t>
            </a:r>
            <a:r>
              <a:rPr lang="fr-FR"/>
              <a:t>should</a:t>
            </a:r>
            <a:r>
              <a:rPr lang="fr-FR"/>
              <a:t> fit in </a:t>
            </a:r>
            <a:r>
              <a:rPr lang="fr-FR"/>
              <a:t>spark.executor.memory</a:t>
            </a:r>
            <a:r>
              <a:rPr lang="fr-FR"/>
              <a:t> !!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0" y="3929607"/>
            <a:ext cx="545884" cy="13255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/>
          <p:cNvSpPr/>
          <p:nvPr/>
        </p:nvSpPr>
        <p:spPr>
          <a:xfrm>
            <a:off x="7453328" y="4566049"/>
            <a:ext cx="1336431" cy="19929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Flowchart: Magnetic Disk 15"/>
          <p:cNvSpPr/>
          <p:nvPr/>
        </p:nvSpPr>
        <p:spPr>
          <a:xfrm>
            <a:off x="9214340" y="4323911"/>
            <a:ext cx="656492" cy="64633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Right 16"/>
          <p:cNvSpPr/>
          <p:nvPr/>
        </p:nvSpPr>
        <p:spPr>
          <a:xfrm rot="3791533" flipV="1">
            <a:off x="4214609" y="2442877"/>
            <a:ext cx="902771" cy="1554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Right 17"/>
          <p:cNvSpPr/>
          <p:nvPr/>
        </p:nvSpPr>
        <p:spPr>
          <a:xfrm rot="2694152">
            <a:off x="4454675" y="3383430"/>
            <a:ext cx="698326" cy="235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/>
          <p:cNvSpPr/>
          <p:nvPr/>
        </p:nvSpPr>
        <p:spPr>
          <a:xfrm>
            <a:off x="3059723" y="4889127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Arrow: Right 19"/>
          <p:cNvSpPr/>
          <p:nvPr/>
        </p:nvSpPr>
        <p:spPr>
          <a:xfrm rot="788682" flipV="1">
            <a:off x="4588185" y="4425534"/>
            <a:ext cx="551307" cy="2342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Arrow: Right 20"/>
          <p:cNvSpPr/>
          <p:nvPr/>
        </p:nvSpPr>
        <p:spPr>
          <a:xfrm rot="18905848" flipV="1">
            <a:off x="4456865" y="4177871"/>
            <a:ext cx="742886" cy="19123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Arrow: Right 21"/>
          <p:cNvSpPr/>
          <p:nvPr/>
        </p:nvSpPr>
        <p:spPr>
          <a:xfrm rot="18544275">
            <a:off x="4446395" y="5115493"/>
            <a:ext cx="614524" cy="2397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/>
          <p:cNvSpPr/>
          <p:nvPr/>
        </p:nvSpPr>
        <p:spPr>
          <a:xfrm>
            <a:off x="3059723" y="5886467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Left Brace 23"/>
          <p:cNvSpPr/>
          <p:nvPr/>
        </p:nvSpPr>
        <p:spPr>
          <a:xfrm>
            <a:off x="2617722" y="1990728"/>
            <a:ext cx="348343" cy="4565518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/>
          <p:cNvSpPr txBox="1"/>
          <p:nvPr/>
        </p:nvSpPr>
        <p:spPr>
          <a:xfrm>
            <a:off x="121499" y="3721077"/>
            <a:ext cx="231082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typically</a:t>
            </a:r>
            <a:r>
              <a:rPr lang="fr-FR"/>
              <a:t> 200 partitions</a:t>
            </a:r>
          </a:p>
          <a:p>
            <a:endParaRPr lang="fr-FR"/>
          </a:p>
          <a:p>
            <a:r>
              <a:rPr lang="fr-FR"/>
              <a:t>default</a:t>
            </a:r>
          </a:p>
          <a:p>
            <a:r>
              <a:rPr lang="fr-FR"/>
              <a:t>spark.shuffle.size</a:t>
            </a:r>
            <a:r>
              <a:rPr lang="fr-FR"/>
              <a:t>=200 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.</a:t>
            </a:r>
            <a:r>
              <a:rPr lang="fr-FR"/>
              <a:t>repartition</a:t>
            </a:r>
            <a:r>
              <a:rPr lang="fr-FR"/>
              <a:t>("</a:t>
            </a:r>
            <a:r>
              <a:rPr lang="fr-FR"/>
              <a:t>column</a:t>
            </a:r>
            <a:r>
              <a:rPr lang="fr-FR"/>
              <a:t>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7767" y="1768791"/>
            <a:ext cx="6081217" cy="24929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typical</a:t>
            </a:r>
            <a:r>
              <a:rPr lang="fr-FR" sz="2400"/>
              <a:t> usage: </a:t>
            </a:r>
          </a:p>
          <a:p>
            <a:r>
              <a:rPr lang="fr-FR" sz="2400"/>
              <a:t>column</a:t>
            </a:r>
            <a:r>
              <a:rPr lang="fr-FR" sz="2400"/>
              <a:t> "a" has  FEW distinct values { 1, 2, 3, 4 }</a:t>
            </a:r>
          </a:p>
          <a:p>
            <a:endParaRPr lang="fr-FR" sz="2400"/>
          </a:p>
          <a:p>
            <a:endParaRPr lang="fr-FR" sz="2400"/>
          </a:p>
          <a:p>
            <a:r>
              <a:rPr lang="fr-FR" sz="3600"/>
              <a:t>ds</a:t>
            </a:r>
            <a:r>
              <a:rPr lang="fr-FR" sz="3600"/>
              <a:t> = </a:t>
            </a:r>
            <a:r>
              <a:rPr lang="fr-FR" sz="3600"/>
              <a:t>dataset.repartition</a:t>
            </a:r>
            <a:r>
              <a:rPr lang="fr-FR" sz="3600"/>
              <a:t>("a")</a:t>
            </a:r>
          </a:p>
          <a:p>
            <a:endParaRPr lang="fr-FR" sz="2400"/>
          </a:p>
        </p:txBody>
      </p:sp>
      <p:sp>
        <p:nvSpPr>
          <p:cNvPr id="3" name="Rectangle 2"/>
          <p:cNvSpPr/>
          <p:nvPr/>
        </p:nvSpPr>
        <p:spPr>
          <a:xfrm>
            <a:off x="6623813" y="1579681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6623813" y="2634758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6623813" y="3596776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Right 6"/>
          <p:cNvSpPr/>
          <p:nvPr/>
        </p:nvSpPr>
        <p:spPr>
          <a:xfrm rot="20811318">
            <a:off x="7636528" y="2947877"/>
            <a:ext cx="559265" cy="17937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/>
          <p:cNvSpPr/>
          <p:nvPr/>
        </p:nvSpPr>
        <p:spPr>
          <a:xfrm rot="20467300">
            <a:off x="7663895" y="5072532"/>
            <a:ext cx="614524" cy="2397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/>
          <p:cNvSpPr/>
          <p:nvPr/>
        </p:nvSpPr>
        <p:spPr>
          <a:xfrm rot="2030127">
            <a:off x="7526249" y="2005057"/>
            <a:ext cx="563061" cy="1404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9237785" y="2154751"/>
            <a:ext cx="545884" cy="8524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9237785" y="3252502"/>
            <a:ext cx="539262" cy="8524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Right 12"/>
          <p:cNvSpPr/>
          <p:nvPr/>
        </p:nvSpPr>
        <p:spPr>
          <a:xfrm rot="3511747">
            <a:off x="7570267" y="3236958"/>
            <a:ext cx="542026" cy="1567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6623813" y="4594116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/>
          <p:cNvSpPr/>
          <p:nvPr/>
        </p:nvSpPr>
        <p:spPr>
          <a:xfrm rot="788682" flipV="1">
            <a:off x="7729970" y="4241530"/>
            <a:ext cx="551307" cy="2342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Arrow: Right 15"/>
          <p:cNvSpPr/>
          <p:nvPr/>
        </p:nvSpPr>
        <p:spPr>
          <a:xfrm rot="18905848" flipV="1">
            <a:off x="7598650" y="3993867"/>
            <a:ext cx="742886" cy="19123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Right 16"/>
          <p:cNvSpPr/>
          <p:nvPr/>
        </p:nvSpPr>
        <p:spPr>
          <a:xfrm rot="18544275">
            <a:off x="7588180" y="4931489"/>
            <a:ext cx="614524" cy="2397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/>
          <p:cNvSpPr/>
          <p:nvPr/>
        </p:nvSpPr>
        <p:spPr>
          <a:xfrm>
            <a:off x="6623813" y="5591456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Right 18"/>
          <p:cNvSpPr/>
          <p:nvPr/>
        </p:nvSpPr>
        <p:spPr>
          <a:xfrm rot="395032">
            <a:off x="7593811" y="1861585"/>
            <a:ext cx="466161" cy="1738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Arrow: Right 19"/>
          <p:cNvSpPr/>
          <p:nvPr/>
        </p:nvSpPr>
        <p:spPr>
          <a:xfrm rot="3179497">
            <a:off x="7442744" y="2118230"/>
            <a:ext cx="748333" cy="16900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Right 11"/>
          <p:cNvSpPr/>
          <p:nvPr/>
        </p:nvSpPr>
        <p:spPr>
          <a:xfrm rot="3791533" flipV="1">
            <a:off x="7356394" y="2258873"/>
            <a:ext cx="902771" cy="1554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Arrow: Right 20"/>
          <p:cNvSpPr/>
          <p:nvPr/>
        </p:nvSpPr>
        <p:spPr>
          <a:xfrm rot="386395">
            <a:off x="7647795" y="3051579"/>
            <a:ext cx="559265" cy="17937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Arrow: Right 21"/>
          <p:cNvSpPr/>
          <p:nvPr/>
        </p:nvSpPr>
        <p:spPr>
          <a:xfrm rot="2255641">
            <a:off x="7636082" y="3159161"/>
            <a:ext cx="559265" cy="17937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/>
          <p:cNvSpPr txBox="1"/>
          <p:nvPr/>
        </p:nvSpPr>
        <p:spPr>
          <a:xfrm>
            <a:off x="8058020" y="1781673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if a=1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58020" y="206158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if a=2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8402" y="230561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if a=3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8402" y="2574667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if a=4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44407" y="4311049"/>
            <a:ext cx="539262" cy="8524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/>
          <p:cNvSpPr/>
          <p:nvPr/>
        </p:nvSpPr>
        <p:spPr>
          <a:xfrm>
            <a:off x="9237785" y="5347824"/>
            <a:ext cx="539262" cy="4257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/>
          <p:cNvSpPr txBox="1"/>
          <p:nvPr/>
        </p:nvSpPr>
        <p:spPr>
          <a:xfrm>
            <a:off x="9902149" y="2320385"/>
            <a:ext cx="18208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</a:t>
            </a:r>
          </a:p>
          <a:p>
            <a:r>
              <a:rPr lang="fr-FR"/>
              <a:t>contains</a:t>
            </a:r>
            <a:r>
              <a:rPr lang="fr-FR"/>
              <a:t> </a:t>
            </a:r>
            <a:r>
              <a:rPr lang="fr-FR"/>
              <a:t>only</a:t>
            </a:r>
            <a:r>
              <a:rPr lang="fr-FR"/>
              <a:t> a=1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89035" y="3315341"/>
            <a:ext cx="18208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</a:t>
            </a:r>
            <a:br>
              <a:rPr lang="fr-FR"/>
            </a:br>
            <a:r>
              <a:rPr lang="fr-FR"/>
              <a:t>contains</a:t>
            </a:r>
            <a:r>
              <a:rPr lang="fr-FR"/>
              <a:t> </a:t>
            </a:r>
            <a:r>
              <a:rPr lang="fr-FR"/>
              <a:t>only</a:t>
            </a:r>
            <a:r>
              <a:rPr lang="fr-FR"/>
              <a:t> a=2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5446" y="4386109"/>
            <a:ext cx="18208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</a:t>
            </a:r>
            <a:br>
              <a:rPr lang="fr-FR"/>
            </a:br>
            <a:r>
              <a:rPr lang="fr-FR"/>
              <a:t>contains</a:t>
            </a:r>
            <a:r>
              <a:rPr lang="fr-FR"/>
              <a:t> </a:t>
            </a:r>
            <a:r>
              <a:rPr lang="fr-FR"/>
              <a:t>only</a:t>
            </a:r>
            <a:r>
              <a:rPr lang="fr-FR"/>
              <a:t> a=3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5446" y="5365501"/>
            <a:ext cx="18208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</a:t>
            </a:r>
            <a:br>
              <a:rPr lang="fr-FR"/>
            </a:br>
            <a:r>
              <a:rPr lang="fr-FR"/>
              <a:t>contains</a:t>
            </a:r>
            <a:r>
              <a:rPr lang="fr-FR"/>
              <a:t> </a:t>
            </a:r>
            <a:r>
              <a:rPr lang="fr-FR"/>
              <a:t>only</a:t>
            </a:r>
            <a:r>
              <a:rPr lang="fr-FR"/>
              <a:t> a=4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.</a:t>
            </a:r>
            <a:r>
              <a:rPr lang="fr-FR"/>
              <a:t>repartition</a:t>
            </a:r>
            <a:r>
              <a:rPr lang="fr-FR"/>
              <a:t>("</a:t>
            </a:r>
            <a:r>
              <a:rPr lang="fr-FR"/>
              <a:t>column</a:t>
            </a:r>
            <a:r>
              <a:rPr lang="fr-FR"/>
              <a:t>", </a:t>
            </a:r>
            <a:r>
              <a:rPr lang="fr-FR"/>
              <a:t>nHashCount</a:t>
            </a:r>
            <a:r>
              <a:rPr lang="fr-FR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8674" y="2605414"/>
            <a:ext cx="509928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example</a:t>
            </a:r>
            <a:r>
              <a:rPr lang="fr-FR" sz="2400"/>
              <a:t> ... </a:t>
            </a:r>
            <a:r>
              <a:rPr lang="fr-FR" sz="2400"/>
              <a:t>having</a:t>
            </a:r>
            <a:r>
              <a:rPr lang="fr-FR" sz="2400"/>
              <a:t>  </a:t>
            </a:r>
            <a:r>
              <a:rPr lang="fr-FR" sz="2400"/>
              <a:t>many</a:t>
            </a:r>
            <a:r>
              <a:rPr lang="fr-FR" sz="2400"/>
              <a:t> distinct values</a:t>
            </a:r>
          </a:p>
          <a:p>
            <a:endParaRPr lang="fr-FR" sz="2400"/>
          </a:p>
          <a:p>
            <a:r>
              <a:rPr lang="fr-FR" sz="2400"/>
              <a:t>col  "a" values  in  [ 1, 2, 3,  .... 500000]</a:t>
            </a:r>
          </a:p>
          <a:p>
            <a:endParaRPr lang="fr-FR" sz="2400"/>
          </a:p>
          <a:p>
            <a:r>
              <a:rPr lang="fr-FR" sz="2400"/>
              <a:t>=&gt;   h  =  hash(a) % 15     in [0, 1, .. 14 ]</a:t>
            </a:r>
          </a:p>
          <a:p>
            <a:endParaRPr lang="fr-FR" sz="2400"/>
          </a:p>
        </p:txBody>
      </p:sp>
      <p:sp>
        <p:nvSpPr>
          <p:cNvPr id="5" name="Rectangle 4"/>
          <p:cNvSpPr/>
          <p:nvPr/>
        </p:nvSpPr>
        <p:spPr>
          <a:xfrm>
            <a:off x="6662951" y="1905000"/>
            <a:ext cx="545884" cy="8524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6662951" y="3002751"/>
            <a:ext cx="539262" cy="8524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/>
        </p:nvSpPr>
        <p:spPr>
          <a:xfrm>
            <a:off x="6669572" y="4061298"/>
            <a:ext cx="539262" cy="8524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6662951" y="5098073"/>
            <a:ext cx="539262" cy="2270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7327315" y="2070634"/>
            <a:ext cx="42462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</a:t>
            </a:r>
          </a:p>
          <a:p>
            <a:r>
              <a:rPr lang="fr-FR"/>
              <a:t>contains</a:t>
            </a:r>
            <a:r>
              <a:rPr lang="fr-FR"/>
              <a:t> </a:t>
            </a:r>
            <a:r>
              <a:rPr lang="fr-FR"/>
              <a:t>only</a:t>
            </a:r>
            <a:r>
              <a:rPr lang="fr-FR"/>
              <a:t> a%15==0 i.e. {0, 15, 30, 45, ..}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4201" y="3065590"/>
            <a:ext cx="4299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</a:t>
            </a:r>
            <a:br>
              <a:rPr lang="fr-FR"/>
            </a:br>
            <a:r>
              <a:rPr lang="fr-FR"/>
              <a:t>contains</a:t>
            </a:r>
            <a:r>
              <a:rPr lang="fr-FR"/>
              <a:t> </a:t>
            </a:r>
            <a:r>
              <a:rPr lang="fr-FR"/>
              <a:t>only</a:t>
            </a:r>
            <a:r>
              <a:rPr lang="fr-FR"/>
              <a:t> a%15==1  i.e. {1, 16, 31, 46, ..}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612" y="4136358"/>
            <a:ext cx="42462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</a:t>
            </a:r>
            <a:br>
              <a:rPr lang="fr-FR"/>
            </a:br>
            <a:r>
              <a:rPr lang="fr-FR"/>
              <a:t>contains</a:t>
            </a:r>
            <a:r>
              <a:rPr lang="fr-FR"/>
              <a:t> </a:t>
            </a:r>
            <a:r>
              <a:rPr lang="fr-FR"/>
              <a:t>only</a:t>
            </a:r>
            <a:r>
              <a:rPr lang="fr-FR"/>
              <a:t> a%15==2 i.e. {2, 12, 32, 47, ..}</a:t>
            </a:r>
          </a:p>
          <a:p>
            <a:endParaRPr lang="fr-FR"/>
          </a:p>
        </p:txBody>
      </p:sp>
      <p:sp>
        <p:nvSpPr>
          <p:cNvPr id="12" name="TextBox 11"/>
          <p:cNvSpPr txBox="1"/>
          <p:nvPr/>
        </p:nvSpPr>
        <p:spPr>
          <a:xfrm>
            <a:off x="7360612" y="5842581"/>
            <a:ext cx="41356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</a:t>
            </a:r>
            <a:br>
              <a:rPr lang="fr-FR"/>
            </a:br>
            <a:r>
              <a:rPr lang="fr-FR"/>
              <a:t>contains</a:t>
            </a:r>
            <a:r>
              <a:rPr lang="fr-FR"/>
              <a:t> </a:t>
            </a:r>
            <a:r>
              <a:rPr lang="fr-FR"/>
              <a:t>only</a:t>
            </a:r>
            <a:r>
              <a:rPr lang="fr-FR"/>
              <a:t> a%15==14 i.e. {14, 29, 44, ..}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2951" y="5395955"/>
            <a:ext cx="539262" cy="2270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6669572" y="5922607"/>
            <a:ext cx="539262" cy="5663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.</a:t>
            </a:r>
            <a:r>
              <a:rPr lang="fr-FR"/>
              <a:t>sortWithinPartitions</a:t>
            </a:r>
            <a:r>
              <a:rPr lang="fr-FR"/>
              <a:t>("a", "b", ...)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0921" y="1741001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4290921" y="2796078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4290921" y="3758096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/>
        </p:nvSpPr>
        <p:spPr>
          <a:xfrm>
            <a:off x="4290921" y="4755436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4290921" y="5752776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6682154" y="1729278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6682154" y="2784355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6682154" y="3746373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/>
          <p:cNvSpPr/>
          <p:nvPr/>
        </p:nvSpPr>
        <p:spPr>
          <a:xfrm>
            <a:off x="6682154" y="4743713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/>
          <p:cNvSpPr/>
          <p:nvPr/>
        </p:nvSpPr>
        <p:spPr>
          <a:xfrm>
            <a:off x="6682154" y="5741053"/>
            <a:ext cx="539262" cy="791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/>
          <p:cNvSpPr/>
          <p:nvPr/>
        </p:nvSpPr>
        <p:spPr>
          <a:xfrm>
            <a:off x="5304693" y="1948905"/>
            <a:ext cx="902951" cy="2461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5182053" y="1360586"/>
            <a:ext cx="12628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local sort</a:t>
            </a:r>
          </a:p>
          <a:p>
            <a:r>
              <a:rPr lang="fr-FR"/>
              <a:t>(no </a:t>
            </a:r>
            <a:r>
              <a:rPr lang="fr-FR"/>
              <a:t>shuffle</a:t>
            </a:r>
            <a:r>
              <a:rPr lang="fr-FR"/>
              <a:t>)</a:t>
            </a:r>
          </a:p>
        </p:txBody>
      </p:sp>
      <p:sp>
        <p:nvSpPr>
          <p:cNvPr id="16" name="Arrow: Right 15"/>
          <p:cNvSpPr/>
          <p:nvPr/>
        </p:nvSpPr>
        <p:spPr>
          <a:xfrm>
            <a:off x="5304693" y="2998738"/>
            <a:ext cx="902951" cy="2461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Right 16"/>
          <p:cNvSpPr/>
          <p:nvPr/>
        </p:nvSpPr>
        <p:spPr>
          <a:xfrm>
            <a:off x="5304692" y="4018935"/>
            <a:ext cx="902951" cy="2461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Right 17"/>
          <p:cNvSpPr/>
          <p:nvPr/>
        </p:nvSpPr>
        <p:spPr>
          <a:xfrm>
            <a:off x="5304692" y="4981239"/>
            <a:ext cx="902951" cy="2461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Right 18"/>
          <p:cNvSpPr/>
          <p:nvPr/>
        </p:nvSpPr>
        <p:spPr>
          <a:xfrm>
            <a:off x="5304691" y="5965873"/>
            <a:ext cx="902951" cy="2461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1103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.</a:t>
            </a:r>
            <a:r>
              <a:rPr lang="fr-FR"/>
              <a:t>sortWithinPartitions</a:t>
            </a:r>
            <a:r>
              <a:rPr lang="fr-FR"/>
              <a:t> </a:t>
            </a:r>
            <a:br>
              <a:rPr lang="fr-FR"/>
            </a:br>
            <a:r>
              <a:rPr lang="fr-FR"/>
              <a:t>=&gt; </a:t>
            </a:r>
            <a:r>
              <a:rPr lang="fr-FR"/>
              <a:t>RowGroups</a:t>
            </a:r>
            <a:r>
              <a:rPr lang="fr-FR"/>
              <a:t> stats more "compact"</a:t>
            </a:r>
          </a:p>
        </p:txBody>
      </p:sp>
      <p:sp>
        <p:nvSpPr>
          <p:cNvPr id="4" name="Rectangle 3"/>
          <p:cNvSpPr/>
          <p:nvPr/>
        </p:nvSpPr>
        <p:spPr>
          <a:xfrm>
            <a:off x="2074985" y="2157900"/>
            <a:ext cx="1805354" cy="39832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2297723" y="2250831"/>
            <a:ext cx="322524" cy="37548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a</a:t>
            </a:r>
          </a:p>
          <a:p>
            <a:r>
              <a:rPr lang="fr-FR" sz="2000" b="1"/>
              <a:t>a</a:t>
            </a:r>
          </a:p>
          <a:p>
            <a:r>
              <a:rPr lang="fr-FR" sz="2000" b="1"/>
              <a:t>b</a:t>
            </a:r>
          </a:p>
          <a:p>
            <a:r>
              <a:rPr lang="fr-FR" sz="2000" b="1"/>
              <a:t>b</a:t>
            </a:r>
          </a:p>
          <a:p>
            <a:r>
              <a:rPr lang="fr-FR" sz="2000" b="1"/>
              <a:t>b</a:t>
            </a:r>
          </a:p>
          <a:p>
            <a:r>
              <a:rPr lang="fr-FR" sz="2000" b="1"/>
              <a:t>b</a:t>
            </a:r>
          </a:p>
          <a:p>
            <a:r>
              <a:rPr lang="fr-FR" sz="2000" b="1"/>
              <a:t>c</a:t>
            </a:r>
          </a:p>
          <a:p>
            <a:r>
              <a:rPr lang="fr-FR" sz="2000" b="1"/>
              <a:t>c</a:t>
            </a:r>
          </a:p>
          <a:p>
            <a:r>
              <a:rPr lang="fr-FR" sz="2000" b="1"/>
              <a:t>d</a:t>
            </a:r>
          </a:p>
          <a:p>
            <a:r>
              <a:rPr lang="fr-FR" sz="2000" b="1"/>
              <a:t>d</a:t>
            </a:r>
          </a:p>
          <a:p>
            <a:endParaRPr lang="fr-FR" sz="2000" b="1"/>
          </a:p>
          <a:p>
            <a:r>
              <a:rPr lang="fr-FR" sz="2000" b="1"/>
              <a:t>z</a:t>
            </a:r>
          </a:p>
        </p:txBody>
      </p:sp>
      <p:cxnSp>
        <p:nvCxnSpPr>
          <p:cNvPr id="7" name="Straight Connector 6"/>
          <p:cNvCxnSpPr/>
          <p:nvPr/>
        </p:nvCxnSpPr>
        <p:spPr>
          <a:xfrm flipH="1">
            <a:off x="4021016" y="3259016"/>
            <a:ext cx="152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H="1">
            <a:off x="4021016" y="4407878"/>
            <a:ext cx="152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H="1">
            <a:off x="4021016" y="5545017"/>
            <a:ext cx="152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Arrow: Up-Down 9"/>
          <p:cNvSpPr/>
          <p:nvPr/>
        </p:nvSpPr>
        <p:spPr>
          <a:xfrm>
            <a:off x="4624754" y="2239961"/>
            <a:ext cx="316523" cy="100818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Up-Down 10"/>
          <p:cNvSpPr/>
          <p:nvPr/>
        </p:nvSpPr>
        <p:spPr>
          <a:xfrm>
            <a:off x="4624753" y="3330639"/>
            <a:ext cx="316523" cy="100818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Up-Down 11"/>
          <p:cNvSpPr/>
          <p:nvPr/>
        </p:nvSpPr>
        <p:spPr>
          <a:xfrm>
            <a:off x="4624752" y="4456697"/>
            <a:ext cx="316523" cy="100818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Up-Down 13"/>
          <p:cNvSpPr/>
          <p:nvPr/>
        </p:nvSpPr>
        <p:spPr>
          <a:xfrm>
            <a:off x="4618889" y="5593835"/>
            <a:ext cx="316523" cy="100818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8494758" y="2401947"/>
            <a:ext cx="1940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min=a  max=b</a:t>
            </a:r>
          </a:p>
        </p:txBody>
      </p:sp>
      <p:sp>
        <p:nvSpPr>
          <p:cNvPr id="17" name="Left Brace 16"/>
          <p:cNvSpPr/>
          <p:nvPr/>
        </p:nvSpPr>
        <p:spPr>
          <a:xfrm flipH="1">
            <a:off x="6348930" y="2239961"/>
            <a:ext cx="210889" cy="9103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/>
          <p:cNvSpPr txBox="1"/>
          <p:nvPr/>
        </p:nvSpPr>
        <p:spPr>
          <a:xfrm>
            <a:off x="6770708" y="2471839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58" y="3552430"/>
            <a:ext cx="195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min=b  max=c</a:t>
            </a:r>
          </a:p>
        </p:txBody>
      </p:sp>
      <p:sp>
        <p:nvSpPr>
          <p:cNvPr id="20" name="Left Brace 19"/>
          <p:cNvSpPr/>
          <p:nvPr/>
        </p:nvSpPr>
        <p:spPr>
          <a:xfrm flipH="1">
            <a:off x="6348930" y="3390444"/>
            <a:ext cx="210889" cy="9103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/>
          <p:cNvSpPr txBox="1"/>
          <p:nvPr/>
        </p:nvSpPr>
        <p:spPr>
          <a:xfrm>
            <a:off x="6770708" y="3622322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0622" y="4642696"/>
            <a:ext cx="19146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min=c  max=e</a:t>
            </a:r>
          </a:p>
        </p:txBody>
      </p:sp>
      <p:sp>
        <p:nvSpPr>
          <p:cNvPr id="23" name="Left Brace 22"/>
          <p:cNvSpPr/>
          <p:nvPr/>
        </p:nvSpPr>
        <p:spPr>
          <a:xfrm flipH="1">
            <a:off x="6354794" y="4480710"/>
            <a:ext cx="210889" cy="9103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extBox 23"/>
          <p:cNvSpPr txBox="1"/>
          <p:nvPr/>
        </p:nvSpPr>
        <p:spPr>
          <a:xfrm>
            <a:off x="6776572" y="4712588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4758" y="5791378"/>
            <a:ext cx="18857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min=x  max=z</a:t>
            </a:r>
          </a:p>
        </p:txBody>
      </p:sp>
      <p:sp>
        <p:nvSpPr>
          <p:cNvPr id="26" name="Left Brace 25"/>
          <p:cNvSpPr/>
          <p:nvPr/>
        </p:nvSpPr>
        <p:spPr>
          <a:xfrm flipH="1">
            <a:off x="6348930" y="5629392"/>
            <a:ext cx="210889" cy="9103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6770708" y="5861270"/>
            <a:ext cx="137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RowGroup</a:t>
            </a:r>
            <a:r>
              <a:rPr lang="fr-FR" b="1"/>
              <a:t>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5412" y="2401947"/>
            <a:ext cx="10434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blockSize</a:t>
            </a:r>
            <a:br>
              <a:rPr lang="fr-FR"/>
            </a:br>
            <a:r>
              <a:rPr lang="fr-FR"/>
              <a:t>=128Mo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27881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see</a:t>
            </a:r>
            <a:r>
              <a:rPr lang="fr-FR"/>
              <a:t> </a:t>
            </a:r>
            <a:r>
              <a:rPr lang="fr-FR"/>
              <a:t>also</a:t>
            </a:r>
            <a:r>
              <a:rPr lang="fr-FR"/>
              <a:t> </a:t>
            </a:r>
            <a:r>
              <a:rPr lang="fr-FR"/>
              <a:t>Dataset.write</a:t>
            </a:r>
            <a:r>
              <a:rPr lang="fr-FR"/>
              <a:t>  .</a:t>
            </a:r>
            <a:r>
              <a:rPr lang="fr-FR"/>
              <a:t>bucketBy</a:t>
            </a:r>
            <a:r>
              <a:rPr lang="fr-FR"/>
              <a:t>( .. 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08189" y="904719"/>
            <a:ext cx="5734547" cy="427519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615267" y="2821814"/>
            <a:ext cx="5284928" cy="3989416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1438" y="1359505"/>
            <a:ext cx="10515600" cy="303348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Analyzing</a:t>
            </a:r>
            <a:r>
              <a:rPr lang="fr-FR"/>
              <a:t> Parquet Files, </a:t>
            </a:r>
            <a:br>
              <a:rPr lang="fr-FR"/>
            </a:br>
            <a:r>
              <a:rPr lang="fr-FR"/>
              <a:t>using</a:t>
            </a:r>
            <a:r>
              <a:rPr lang="fr-FR"/>
              <a:t> "parquet-cli"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Analyzing Parquet File, using "parquet-cli"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388534" y="1040756"/>
            <a:ext cx="9674134" cy="5582754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39337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Search</a:t>
            </a:r>
            <a:r>
              <a:rPr lang="fr-FR"/>
              <a:t> jar in </a:t>
            </a:r>
            <a:r>
              <a:rPr lang="fr-FR"/>
              <a:t>maven</a:t>
            </a:r>
            <a:r>
              <a:rPr lang="fr-FR"/>
              <a:t> repo:</a:t>
            </a:r>
            <a:br>
              <a:rPr lang="fr-FR"/>
            </a:br>
            <a:r>
              <a:rPr lang="fr-FR"/>
              <a:t>https://search.maven.org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17522" y="1961416"/>
            <a:ext cx="7811691" cy="4052592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451428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type </a:t>
            </a:r>
            <a:r>
              <a:rPr lang="fr-FR"/>
              <a:t>search</a:t>
            </a:r>
            <a:r>
              <a:rPr lang="fr-FR"/>
              <a:t> "a:parquet-cli"</a:t>
            </a:r>
            <a:br>
              <a:rPr lang="fr-FR"/>
            </a:br>
            <a:r>
              <a:rPr lang="fr-FR"/>
              <a:t>g:org.apache.parquet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11686" y="1583769"/>
            <a:ext cx="10162151" cy="51515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705981" y="3211285"/>
            <a:ext cx="1165981" cy="27214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3887410" y="3615768"/>
            <a:ext cx="1497390" cy="27214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46628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r>
              <a:rPr lang="fr-FR" sz="3600"/>
              <a:t>Downloading</a:t>
            </a:r>
            <a:r>
              <a:rPr lang="fr-FR" sz="3600"/>
              <a:t> "parquet-cli"  runtime.jar</a:t>
            </a:r>
            <a:br>
              <a:rPr lang="fr-FR" sz="3600"/>
            </a:br>
            <a:r>
              <a:rPr lang="fr-FR" sz="3600"/>
              <a:t>for </a:t>
            </a:r>
            <a:r>
              <a:rPr lang="fr-FR" sz="3600"/>
              <a:t>same</a:t>
            </a:r>
            <a:r>
              <a:rPr lang="fr-FR" sz="3600"/>
              <a:t> version 1.13.0 (</a:t>
            </a:r>
            <a:r>
              <a:rPr lang="fr-FR" sz="3600"/>
              <a:t>same</a:t>
            </a:r>
            <a:r>
              <a:rPr lang="fr-FR" sz="3600"/>
              <a:t> as </a:t>
            </a:r>
            <a:r>
              <a:rPr lang="fr-FR" sz="3600"/>
              <a:t>spark</a:t>
            </a:r>
            <a:r>
              <a:rPr lang="fr-FR" sz="3600"/>
              <a:t>/jars/*.jar)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944914" y="1306220"/>
            <a:ext cx="8688743" cy="544534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376227" y="4711094"/>
            <a:ext cx="1165981" cy="27214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9448800" y="2503713"/>
            <a:ext cx="895047" cy="27214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Launching</a:t>
            </a:r>
            <a:r>
              <a:rPr lang="fr-FR"/>
              <a:t> parquet-cli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9314" y="812800"/>
            <a:ext cx="41197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java -jar parquet-cli-runtime.jar help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376990" y="1961700"/>
            <a:ext cx="7121142" cy="4799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9314" y="1503533"/>
            <a:ext cx="6159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(</a:t>
            </a:r>
            <a:r>
              <a:rPr lang="fr-FR"/>
              <a:t>using</a:t>
            </a:r>
            <a:r>
              <a:rPr lang="fr-FR"/>
              <a:t> </a:t>
            </a:r>
            <a:r>
              <a:rPr lang="fr-FR"/>
              <a:t>shaded</a:t>
            </a:r>
            <a:r>
              <a:rPr lang="fr-FR"/>
              <a:t> jar, </a:t>
            </a:r>
            <a:r>
              <a:rPr lang="fr-FR"/>
              <a:t>otherwise</a:t>
            </a:r>
            <a:r>
              <a:rPr lang="fr-FR"/>
              <a:t> </a:t>
            </a:r>
            <a:r>
              <a:rPr lang="fr-FR"/>
              <a:t>may</a:t>
            </a:r>
            <a:r>
              <a:rPr lang="fr-FR"/>
              <a:t> </a:t>
            </a:r>
            <a:r>
              <a:rPr lang="fr-FR"/>
              <a:t>need</a:t>
            </a:r>
            <a:r>
              <a:rPr lang="fr-FR"/>
              <a:t> to </a:t>
            </a:r>
            <a:r>
              <a:rPr lang="fr-FR"/>
              <a:t>add</a:t>
            </a:r>
            <a:r>
              <a:rPr lang="fr-FR"/>
              <a:t> </a:t>
            </a:r>
            <a:r>
              <a:rPr lang="fr-FR"/>
              <a:t>hadoop</a:t>
            </a:r>
            <a:r>
              <a:rPr lang="fr-FR"/>
              <a:t> classpath)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parquet-cli </a:t>
            </a:r>
            <a:r>
              <a:rPr lang="fr-FR"/>
              <a:t>meta</a:t>
            </a:r>
            <a:r>
              <a:rPr lang="fr-FR"/>
              <a:t> [1/2]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4981" y="1073816"/>
            <a:ext cx="79683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/>
              <a:t>java -jar parquet-cli-runtime.jar  </a:t>
            </a:r>
            <a:r>
              <a:rPr lang="fr-FR" sz="2000" b="1"/>
              <a:t>meta</a:t>
            </a:r>
            <a:r>
              <a:rPr lang="fr-FR" sz="2000" b="1"/>
              <a:t>  </a:t>
            </a:r>
            <a:r>
              <a:rPr lang="fr-FR" sz="2000" b="1"/>
              <a:t>file.parquet</a:t>
            </a:r>
            <a:endParaRPr lang="fr-FR" sz="2000" b="1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35124" y="1590154"/>
            <a:ext cx="7214270" cy="5014403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parquet-cli </a:t>
            </a:r>
            <a:r>
              <a:rPr lang="fr-FR"/>
              <a:t>meta</a:t>
            </a:r>
            <a:r>
              <a:rPr lang="fr-FR"/>
              <a:t> [2/2]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34999" y="754743"/>
            <a:ext cx="11129519" cy="5868095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parquet-cli </a:t>
            </a:r>
            <a:r>
              <a:rPr lang="fr-FR"/>
              <a:t>meta</a:t>
            </a:r>
            <a:r>
              <a:rPr lang="fr-FR"/>
              <a:t> | </a:t>
            </a:r>
            <a:r>
              <a:rPr lang="fr-FR"/>
              <a:t>grep</a:t>
            </a:r>
            <a:r>
              <a:rPr lang="fr-FR"/>
              <a:t> "Row group"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49752" y="1110999"/>
            <a:ext cx="972457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java -jar parquet-cli-runtime.jar </a:t>
            </a:r>
            <a:r>
              <a:rPr lang="fr-FR" b="1"/>
              <a:t>meta</a:t>
            </a:r>
            <a:r>
              <a:rPr lang="fr-FR" b="1"/>
              <a:t>  </a:t>
            </a:r>
            <a:r>
              <a:rPr lang="fr-FR" b="1"/>
              <a:t>file.parquet</a:t>
            </a:r>
            <a:r>
              <a:rPr lang="fr-FR" b="1"/>
              <a:t> &gt; meta.txt </a:t>
            </a:r>
            <a:br>
              <a:rPr lang="fr-FR" b="1"/>
            </a:br>
            <a:endParaRPr lang="fr-FR" b="1"/>
          </a:p>
          <a:p>
            <a:r>
              <a:rPr lang="fr-FR" b="1"/>
              <a:t>grep</a:t>
            </a:r>
            <a:r>
              <a:rPr lang="fr-FR" b="1"/>
              <a:t> "Row group" meta.txt | </a:t>
            </a:r>
            <a:r>
              <a:rPr lang="fr-FR" b="1"/>
              <a:t>head</a:t>
            </a:r>
            <a:endParaRPr lang="fr-FR" b="1"/>
          </a:p>
          <a:p>
            <a:r>
              <a:rPr lang="fr-FR" sz="1200"/>
              <a:t>Row group 0:  count: 219962  71,92 B records  start: 4  total(</a:t>
            </a:r>
            <a:r>
              <a:rPr lang="fr-FR" sz="1200"/>
              <a:t>compressed</a:t>
            </a:r>
            <a:r>
              <a:rPr lang="fr-FR" sz="1200"/>
              <a:t>): 15,086 MB total(</a:t>
            </a:r>
            <a:r>
              <a:rPr lang="fr-FR" sz="1200"/>
              <a:t>uncompressed</a:t>
            </a:r>
            <a:r>
              <a:rPr lang="fr-FR" sz="1200"/>
              <a:t>):33,177 MB</a:t>
            </a:r>
          </a:p>
          <a:p>
            <a:r>
              <a:rPr lang="fr-FR" sz="1200"/>
              <a:t>Row group 1:  count: 215938  72,72 B records  start: 15819187  total(</a:t>
            </a:r>
            <a:r>
              <a:rPr lang="fr-FR" sz="1200"/>
              <a:t>compressed</a:t>
            </a:r>
            <a:r>
              <a:rPr lang="fr-FR" sz="1200"/>
              <a:t>): 14,976 MB total(</a:t>
            </a:r>
            <a:r>
              <a:rPr lang="fr-FR" sz="1200"/>
              <a:t>uncompressed</a:t>
            </a:r>
            <a:r>
              <a:rPr lang="fr-FR" sz="1200"/>
              <a:t>):33,489 MB</a:t>
            </a:r>
          </a:p>
          <a:p>
            <a:r>
              <a:rPr lang="fr-FR" sz="1200"/>
              <a:t>Row group 2:  count: 213992  73,68 B records  start: 31523114  total(</a:t>
            </a:r>
            <a:r>
              <a:rPr lang="fr-FR" sz="1200"/>
              <a:t>compressed</a:t>
            </a:r>
            <a:r>
              <a:rPr lang="fr-FR" sz="1200"/>
              <a:t>): 15,036 MB total(</a:t>
            </a:r>
            <a:r>
              <a:rPr lang="fr-FR" sz="1200"/>
              <a:t>uncompressed</a:t>
            </a:r>
            <a:r>
              <a:rPr lang="fr-FR" sz="1200"/>
              <a:t>):33,821 MB</a:t>
            </a:r>
          </a:p>
          <a:p>
            <a:r>
              <a:rPr lang="fr-FR" sz="1200"/>
              <a:t>Row group 3:  count: 233199  70,29 B records  start: 47289138  total(</a:t>
            </a:r>
            <a:r>
              <a:rPr lang="fr-FR" sz="1200"/>
              <a:t>compressed</a:t>
            </a:r>
            <a:r>
              <a:rPr lang="fr-FR" sz="1200"/>
              <a:t>): 15,631 MB total(</a:t>
            </a:r>
            <a:r>
              <a:rPr lang="fr-FR" sz="1200"/>
              <a:t>uncompressed</a:t>
            </a:r>
            <a:r>
              <a:rPr lang="fr-FR" sz="1200"/>
              <a:t>):34,232 MB</a:t>
            </a:r>
          </a:p>
          <a:p>
            <a:r>
              <a:rPr lang="fr-FR" sz="1200"/>
              <a:t>Row group 4:  count: 231558  69,04 B records  start: 63679653  total(</a:t>
            </a:r>
            <a:r>
              <a:rPr lang="fr-FR" sz="1200"/>
              <a:t>compressed</a:t>
            </a:r>
            <a:r>
              <a:rPr lang="fr-FR" sz="1200"/>
              <a:t>): 15,246 MB total(</a:t>
            </a:r>
            <a:r>
              <a:rPr lang="fr-FR" sz="1200"/>
              <a:t>uncompressed</a:t>
            </a:r>
            <a:r>
              <a:rPr lang="fr-FR" sz="1200"/>
              <a:t>):33,383 MB</a:t>
            </a:r>
          </a:p>
          <a:p>
            <a:r>
              <a:rPr lang="fr-FR" sz="1200"/>
              <a:t>Row group 5:  count: 219962  74,89 B records  start: 79665824  total(</a:t>
            </a:r>
            <a:r>
              <a:rPr lang="fr-FR" sz="1200"/>
              <a:t>compressed</a:t>
            </a:r>
            <a:r>
              <a:rPr lang="fr-FR" sz="1200"/>
              <a:t>): 15,710 MB total(</a:t>
            </a:r>
            <a:r>
              <a:rPr lang="fr-FR" sz="1200"/>
              <a:t>uncompressed</a:t>
            </a:r>
            <a:r>
              <a:rPr lang="fr-FR" sz="1200"/>
              <a:t>):34,531 MB</a:t>
            </a:r>
          </a:p>
          <a:p>
            <a:r>
              <a:rPr lang="fr-FR" sz="1200"/>
              <a:t>Row group 6:  count: 218409  73,91 B records  start: 96138854  total(</a:t>
            </a:r>
            <a:r>
              <a:rPr lang="fr-FR" sz="1200"/>
              <a:t>compressed</a:t>
            </a:r>
            <a:r>
              <a:rPr lang="fr-FR" sz="1200"/>
              <a:t>): 15,394 MB total(</a:t>
            </a:r>
            <a:r>
              <a:rPr lang="fr-FR" sz="1200"/>
              <a:t>uncompressed</a:t>
            </a:r>
            <a:r>
              <a:rPr lang="fr-FR" sz="1200"/>
              <a:t>):33,957 MB</a:t>
            </a:r>
          </a:p>
          <a:p>
            <a:r>
              <a:rPr lang="fr-FR" sz="1200"/>
              <a:t>Row group 7:  count: 199907  75,02 B records  start: 112281114  total(</a:t>
            </a:r>
            <a:r>
              <a:rPr lang="fr-FR" sz="1200"/>
              <a:t>compressed</a:t>
            </a:r>
            <a:r>
              <a:rPr lang="fr-FR" sz="1200"/>
              <a:t>): 14,301 MB total(</a:t>
            </a:r>
            <a:r>
              <a:rPr lang="fr-FR" sz="1200"/>
              <a:t>uncompressed</a:t>
            </a:r>
            <a:r>
              <a:rPr lang="fr-FR" sz="1200"/>
              <a:t>):31,914 MB</a:t>
            </a:r>
          </a:p>
          <a:p>
            <a:r>
              <a:rPr lang="fr-FR" sz="1200"/>
              <a:t>Row group 8:  count: 218409  69,87 B records  start: 127277278  total(</a:t>
            </a:r>
            <a:r>
              <a:rPr lang="fr-FR" sz="1200"/>
              <a:t>compressed</a:t>
            </a:r>
            <a:r>
              <a:rPr lang="fr-FR" sz="1200"/>
              <a:t>): 14,552 MB total(</a:t>
            </a:r>
            <a:r>
              <a:rPr lang="fr-FR" sz="1200"/>
              <a:t>uncompressed</a:t>
            </a:r>
            <a:r>
              <a:rPr lang="fr-FR" sz="1200"/>
              <a:t>):34,174 MB</a:t>
            </a:r>
          </a:p>
          <a:p>
            <a:r>
              <a:rPr lang="fr-FR" sz="1200"/>
              <a:t>Row group 9:  count: 272568  65,80 B records  start: 142536439  total(</a:t>
            </a:r>
            <a:r>
              <a:rPr lang="fr-FR" sz="1200"/>
              <a:t>compressed</a:t>
            </a:r>
            <a:r>
              <a:rPr lang="fr-FR" sz="1200"/>
              <a:t>): 17,104 MB total(</a:t>
            </a:r>
            <a:r>
              <a:rPr lang="fr-FR" sz="1200"/>
              <a:t>uncompressed</a:t>
            </a:r>
            <a:r>
              <a:rPr lang="fr-FR" sz="1200"/>
              <a:t>):35,616 MB</a:t>
            </a:r>
          </a:p>
          <a:p>
            <a:endParaRPr lang="fr-FR" sz="1200"/>
          </a:p>
          <a:p>
            <a:r>
              <a:rPr lang="fr-FR" b="1"/>
              <a:t>grep</a:t>
            </a:r>
            <a:r>
              <a:rPr lang="fr-FR" b="1"/>
              <a:t> "Row group" meta.txt | </a:t>
            </a:r>
            <a:r>
              <a:rPr lang="fr-FR" b="1"/>
              <a:t>tail</a:t>
            </a:r>
            <a:endParaRPr lang="fr-FR" b="1"/>
          </a:p>
          <a:p>
            <a:r>
              <a:rPr lang="fr-FR" sz="1200"/>
              <a:t>Row group 108:  count: 252150  64,55 B records  start: 1719335249  total(</a:t>
            </a:r>
            <a:r>
              <a:rPr lang="fr-FR" sz="1200"/>
              <a:t>compressed</a:t>
            </a:r>
            <a:r>
              <a:rPr lang="fr-FR" sz="1200"/>
              <a:t>): 15,522 MB total(</a:t>
            </a:r>
            <a:r>
              <a:rPr lang="fr-FR" sz="1200"/>
              <a:t>uncompressed</a:t>
            </a:r>
            <a:r>
              <a:rPr lang="fr-FR" sz="1200"/>
              <a:t>):34,027 MB </a:t>
            </a:r>
          </a:p>
          <a:p>
            <a:r>
              <a:rPr lang="fr-FR" sz="1200"/>
              <a:t>Row group 109:  count: 215240  71,68 B records  start: 1735611436  total(</a:t>
            </a:r>
            <a:r>
              <a:rPr lang="fr-FR" sz="1200"/>
              <a:t>compressed</a:t>
            </a:r>
            <a:r>
              <a:rPr lang="fr-FR" sz="1200"/>
              <a:t>): 14,715 MB total(</a:t>
            </a:r>
            <a:r>
              <a:rPr lang="fr-FR" sz="1200"/>
              <a:t>uncompressed</a:t>
            </a:r>
            <a:r>
              <a:rPr lang="fr-FR" sz="1200"/>
              <a:t>):34,014 MB </a:t>
            </a:r>
          </a:p>
          <a:p>
            <a:r>
              <a:rPr lang="fr-FR" sz="1200"/>
              <a:t>Row group 110:  count: 219962  68,48 B records  start: 1751040857  total(</a:t>
            </a:r>
            <a:r>
              <a:rPr lang="fr-FR" sz="1200"/>
              <a:t>compressed</a:t>
            </a:r>
            <a:r>
              <a:rPr lang="fr-FR" sz="1200"/>
              <a:t>): 14,365 MB total(</a:t>
            </a:r>
            <a:r>
              <a:rPr lang="fr-FR" sz="1200"/>
              <a:t>uncompressed</a:t>
            </a:r>
            <a:r>
              <a:rPr lang="fr-FR" sz="1200"/>
              <a:t>):32,978 MB </a:t>
            </a:r>
          </a:p>
          <a:p>
            <a:r>
              <a:rPr lang="fr-FR" sz="1200"/>
              <a:t>Row group 111:  count: 219962  68,18 B records  start: 1766103960  total(</a:t>
            </a:r>
            <a:r>
              <a:rPr lang="fr-FR" sz="1200"/>
              <a:t>compressed</a:t>
            </a:r>
            <a:r>
              <a:rPr lang="fr-FR" sz="1200"/>
              <a:t>): 14,302 MB total(</a:t>
            </a:r>
            <a:r>
              <a:rPr lang="fr-FR" sz="1200"/>
              <a:t>uncompressed</a:t>
            </a:r>
            <a:r>
              <a:rPr lang="fr-FR" sz="1200"/>
              <a:t>):32,914 MB </a:t>
            </a:r>
          </a:p>
          <a:p>
            <a:r>
              <a:rPr lang="fr-FR" sz="1200"/>
              <a:t>Row group 112:  count: 234887  64,52 B records  start: 1781100645  total(</a:t>
            </a:r>
            <a:r>
              <a:rPr lang="fr-FR" sz="1200"/>
              <a:t>compressed</a:t>
            </a:r>
            <a:r>
              <a:rPr lang="fr-FR" sz="1200"/>
              <a:t>): 14,454 MB total(</a:t>
            </a:r>
            <a:r>
              <a:rPr lang="fr-FR" sz="1200"/>
              <a:t>uncompressed</a:t>
            </a:r>
            <a:r>
              <a:rPr lang="fr-FR" sz="1200"/>
              <a:t>):33,355 MB </a:t>
            </a:r>
          </a:p>
          <a:p>
            <a:r>
              <a:rPr lang="fr-FR" sz="1200"/>
              <a:t>Row group 113:  count: 236624  66,44 B records  start: 1796256273  total(</a:t>
            </a:r>
            <a:r>
              <a:rPr lang="fr-FR" sz="1200"/>
              <a:t>compressed</a:t>
            </a:r>
            <a:r>
              <a:rPr lang="fr-FR" sz="1200"/>
              <a:t>): 14,993 MB total(</a:t>
            </a:r>
            <a:r>
              <a:rPr lang="fr-FR" sz="1200"/>
              <a:t>uncompressed</a:t>
            </a:r>
            <a:r>
              <a:rPr lang="fr-FR" sz="1200"/>
              <a:t>):37,495 MB </a:t>
            </a:r>
          </a:p>
          <a:p>
            <a:r>
              <a:rPr lang="fr-FR" sz="1200"/>
              <a:t>Row group 114:  count: 234063  65,95 B records  start: 1811977242  total(</a:t>
            </a:r>
            <a:r>
              <a:rPr lang="fr-FR" sz="1200"/>
              <a:t>compressed</a:t>
            </a:r>
            <a:r>
              <a:rPr lang="fr-FR" sz="1200"/>
              <a:t>): 14,722 MB total(</a:t>
            </a:r>
            <a:r>
              <a:rPr lang="fr-FR" sz="1200"/>
              <a:t>uncompressed</a:t>
            </a:r>
            <a:r>
              <a:rPr lang="fr-FR" sz="1200"/>
              <a:t>):33,626 MB </a:t>
            </a:r>
          </a:p>
          <a:p>
            <a:r>
              <a:rPr lang="fr-FR" sz="1200"/>
              <a:t>Row group 115:  count: 213992  73,42 B records  start: 1827414634  total(</a:t>
            </a:r>
            <a:r>
              <a:rPr lang="fr-FR" sz="1200"/>
              <a:t>compressed</a:t>
            </a:r>
            <a:r>
              <a:rPr lang="fr-FR" sz="1200"/>
              <a:t>): 14,983 MB total(</a:t>
            </a:r>
            <a:r>
              <a:rPr lang="fr-FR" sz="1200"/>
              <a:t>uncompressed</a:t>
            </a:r>
            <a:r>
              <a:rPr lang="fr-FR" sz="1200"/>
              <a:t>):34,526 MB </a:t>
            </a:r>
          </a:p>
          <a:p>
            <a:r>
              <a:rPr lang="fr-FR" sz="1200"/>
              <a:t>Row group 116:  count: 230100  69,58 B records  start: 1843125866  total(</a:t>
            </a:r>
            <a:r>
              <a:rPr lang="fr-FR" sz="1200"/>
              <a:t>compressed</a:t>
            </a:r>
            <a:r>
              <a:rPr lang="fr-FR" sz="1200"/>
              <a:t>): 15,269 MB total(</a:t>
            </a:r>
            <a:r>
              <a:rPr lang="fr-FR" sz="1200"/>
              <a:t>uncompressed</a:t>
            </a:r>
            <a:r>
              <a:rPr lang="fr-FR" sz="1200"/>
              <a:t>):36,039 MB </a:t>
            </a:r>
          </a:p>
          <a:p>
            <a:r>
              <a:rPr lang="fr-FR" sz="1200"/>
              <a:t>Row group 117:  count: 152925  67,36 B records  start: 1859136956  total(</a:t>
            </a:r>
            <a:r>
              <a:rPr lang="fr-FR" sz="1200"/>
              <a:t>compressed</a:t>
            </a:r>
            <a:r>
              <a:rPr lang="fr-FR" sz="1200"/>
              <a:t>): 9,823 MB total(</a:t>
            </a:r>
            <a:r>
              <a:rPr lang="fr-FR" sz="1200"/>
              <a:t>uncompressed</a:t>
            </a:r>
            <a:r>
              <a:rPr lang="fr-FR" sz="1200"/>
              <a:t>):26,622 MB  </a:t>
            </a:r>
          </a:p>
          <a:p>
            <a:r>
              <a:rPr lang="fr-FR" sz="1200"/>
              <a:t> 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parquet-cli  </a:t>
            </a:r>
            <a:r>
              <a:rPr lang="fr-FR"/>
              <a:t>column</a:t>
            </a:r>
            <a:r>
              <a:rPr lang="fr-FR"/>
              <a:t>-size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537366" y="2075048"/>
            <a:ext cx="9049534" cy="392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0266" y="1119569"/>
            <a:ext cx="72813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/>
              <a:t>java -jar parquet-cli-runtime.jar </a:t>
            </a:r>
            <a:r>
              <a:rPr lang="fr-FR" sz="2000" b="1"/>
              <a:t>column</a:t>
            </a:r>
            <a:r>
              <a:rPr lang="fr-FR" sz="2000" b="1"/>
              <a:t>-size  </a:t>
            </a:r>
            <a:r>
              <a:rPr lang="fr-FR" sz="2000" b="1"/>
              <a:t>file.parquet</a:t>
            </a:r>
            <a:endParaRPr lang="fr-FR" sz="2000" b="1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Column</a:t>
            </a:r>
            <a:r>
              <a:rPr lang="fr-FR"/>
              <a:t> Sizes ... </a:t>
            </a:r>
            <a:r>
              <a:rPr lang="fr-FR"/>
              <a:t>sorting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362856" y="754743"/>
            <a:ext cx="87859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cat </a:t>
            </a:r>
            <a:r>
              <a:rPr lang="fr-FR"/>
              <a:t>column</a:t>
            </a:r>
            <a:r>
              <a:rPr lang="fr-FR"/>
              <a:t>-size</a:t>
            </a:r>
            <a:br>
              <a:rPr lang="fr-FR"/>
            </a:br>
            <a:r>
              <a:rPr lang="fr-FR"/>
              <a:t> | </a:t>
            </a:r>
            <a:r>
              <a:rPr lang="fr-FR"/>
              <a:t>sed</a:t>
            </a:r>
            <a:r>
              <a:rPr lang="fr-FR"/>
              <a:t> 's/-&gt; Size In Bytes//g' |  </a:t>
            </a:r>
            <a:r>
              <a:rPr lang="fr-FR"/>
              <a:t>sed</a:t>
            </a:r>
            <a:r>
              <a:rPr lang="fr-FR"/>
              <a:t> 's/ Size In Ratio//g' | </a:t>
            </a:r>
            <a:r>
              <a:rPr lang="fr-FR"/>
              <a:t>sed</a:t>
            </a:r>
            <a:r>
              <a:rPr lang="fr-FR"/>
              <a:t> 's/: /;/g' &gt; column-size.csv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478590" y="1722362"/>
          <a:ext cx="4871961" cy="480906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152339"/>
                <a:gridCol w="1034457"/>
                <a:gridCol w="834240"/>
                <a:gridCol w="850925"/>
              </a:tblGrid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Size in Mo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uid_adresse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882820344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47,22%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841,9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long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213866608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11,44%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204,0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lat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204444396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10,94%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195,0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143779166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7,69%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137,1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cle_interop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139359234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7,45%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132,9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133896306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7,16%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127,7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cad_parcelles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66126109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3,54%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63,1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voie_nom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35412828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1,89%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33,8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numero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26951190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1,44%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25,7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date_der_maj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7501158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4716951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0,25%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suffixe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3721170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3,5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lieudit_complement_nom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2886263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0,15%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2,8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1142012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0,06%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1,1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commune_deleguee_nom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836453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0,04%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certification_commune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673339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0,04%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commune_nom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549711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0,03%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commune_deleguee_insee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431641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0,02%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commune_insee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322609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0,02%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29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     total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1869437488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100,00%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1782,8</a:t>
                      </a:r>
                    </a:p>
                  </a:txBody>
                  <a:tcPr marL="3810" marR="3810" marT="381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</a:t>
            </a:r>
            <a:r>
              <a:rPr lang="fr-FR"/>
              <a:t>Column</a:t>
            </a:r>
            <a:r>
              <a:rPr lang="fr-FR"/>
              <a:t> Sizes </a:t>
            </a:r>
            <a:r>
              <a:rPr lang="fr-FR"/>
              <a:t>Summary</a:t>
            </a:r>
            <a:endParaRPr lang="fr-FR"/>
          </a:p>
        </p:txBody>
      </p:sp>
      <p:sp>
        <p:nvSpPr>
          <p:cNvPr id="3" name="TextBox 2"/>
          <p:cNvSpPr txBox="1"/>
          <p:nvPr/>
        </p:nvSpPr>
        <p:spPr>
          <a:xfrm>
            <a:off x="1626810" y="1678818"/>
            <a:ext cx="4735014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zipcode</a:t>
            </a:r>
            <a:r>
              <a:rPr lang="fr-FR"/>
              <a:t>  ("</a:t>
            </a:r>
            <a:r>
              <a:rPr lang="fr-FR"/>
              <a:t>commun_insee</a:t>
            </a:r>
            <a:r>
              <a:rPr lang="fr-FR"/>
              <a:t>")  :  0.3 Mo</a:t>
            </a:r>
          </a:p>
          <a:p>
            <a:r>
              <a:rPr lang="fr-FR"/>
              <a:t>+</a:t>
            </a:r>
          </a:p>
          <a:p>
            <a:r>
              <a:rPr lang="fr-FR"/>
              <a:t>city </a:t>
            </a:r>
            <a:r>
              <a:rPr lang="fr-FR"/>
              <a:t>name</a:t>
            </a:r>
            <a:r>
              <a:rPr lang="fr-FR"/>
              <a:t> ("</a:t>
            </a:r>
            <a:r>
              <a:rPr lang="fr-FR"/>
              <a:t>commun_nom</a:t>
            </a:r>
            <a:r>
              <a:rPr lang="fr-FR"/>
              <a:t>")  : 0.5 Mo</a:t>
            </a:r>
          </a:p>
          <a:p>
            <a:r>
              <a:rPr lang="fr-FR"/>
              <a:t>+ </a:t>
            </a:r>
          </a:p>
          <a:p>
            <a:r>
              <a:rPr lang="fr-FR"/>
              <a:t>street</a:t>
            </a:r>
            <a:r>
              <a:rPr lang="fr-FR"/>
              <a:t> </a:t>
            </a:r>
            <a:r>
              <a:rPr lang="fr-FR"/>
              <a:t>name</a:t>
            </a:r>
            <a:r>
              <a:rPr lang="fr-FR"/>
              <a:t> ("</a:t>
            </a:r>
            <a:r>
              <a:rPr lang="fr-FR"/>
              <a:t>voie_nom</a:t>
            </a:r>
            <a:r>
              <a:rPr lang="fr-FR"/>
              <a:t>")      : 33.8 Mo</a:t>
            </a:r>
          </a:p>
          <a:p>
            <a:r>
              <a:rPr lang="fr-FR"/>
              <a:t>+ </a:t>
            </a:r>
          </a:p>
          <a:p>
            <a:r>
              <a:rPr lang="fr-FR"/>
              <a:t>numero</a:t>
            </a:r>
            <a:r>
              <a:rPr lang="fr-FR"/>
              <a:t>                                      : 25.7 Mo</a:t>
            </a:r>
          </a:p>
          <a:p>
            <a:endParaRPr lang="fr-FR"/>
          </a:p>
          <a:p>
            <a:r>
              <a:rPr lang="fr-FR"/>
              <a:t>=&gt; 60 </a:t>
            </a:r>
            <a:r>
              <a:rPr lang="fr-FR"/>
              <a:t>Mega</a:t>
            </a:r>
            <a:r>
              <a:rPr lang="fr-FR"/>
              <a:t>   (3% of file)</a:t>
            </a:r>
          </a:p>
          <a:p>
            <a:endParaRPr lang="fr-FR"/>
          </a:p>
          <a:p>
            <a:endParaRPr lang="fr-FR"/>
          </a:p>
          <a:p>
            <a:r>
              <a:rPr lang="fr-FR"/>
              <a:t>+ longitude, latitude               : 204 Mo + 195 Mo</a:t>
            </a:r>
          </a:p>
          <a:p>
            <a:r>
              <a:rPr lang="fr-FR"/>
              <a:t>=&gt; 459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40952" y="2075543"/>
            <a:ext cx="414639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most</a:t>
            </a:r>
            <a:r>
              <a:rPr lang="fr-FR"/>
              <a:t> of the </a:t>
            </a:r>
            <a:r>
              <a:rPr lang="fr-FR"/>
              <a:t>column</a:t>
            </a:r>
            <a:r>
              <a:rPr lang="fr-FR"/>
              <a:t> size </a:t>
            </a:r>
            <a:r>
              <a:rPr lang="fr-FR"/>
              <a:t>is</a:t>
            </a:r>
            <a:r>
              <a:rPr lang="fr-FR"/>
              <a:t> </a:t>
            </a:r>
          </a:p>
          <a:p>
            <a:endParaRPr lang="fr-FR"/>
          </a:p>
          <a:p>
            <a:r>
              <a:rPr lang="fr-FR"/>
              <a:t>uid_address</a:t>
            </a:r>
            <a:r>
              <a:rPr lang="fr-FR"/>
              <a:t>  :   840 Mo (47.2%)</a:t>
            </a:r>
          </a:p>
          <a:p>
            <a:r>
              <a:rPr lang="fr-FR"/>
              <a:t>+</a:t>
            </a:r>
          </a:p>
          <a:p>
            <a:r>
              <a:rPr lang="fr-FR"/>
              <a:t>x, y  ... </a:t>
            </a:r>
            <a:r>
              <a:rPr lang="fr-FR"/>
              <a:t>redundant</a:t>
            </a:r>
            <a:r>
              <a:rPr lang="fr-FR"/>
              <a:t> </a:t>
            </a:r>
            <a:r>
              <a:rPr lang="fr-FR"/>
              <a:t>with</a:t>
            </a:r>
            <a:r>
              <a:rPr lang="fr-FR"/>
              <a:t> </a:t>
            </a:r>
            <a:r>
              <a:rPr lang="fr-FR"/>
              <a:t>longitude,lattitude</a:t>
            </a:r>
            <a:r>
              <a:rPr lang="fr-FR"/>
              <a:t> </a:t>
            </a:r>
          </a:p>
          <a:p>
            <a:r>
              <a:rPr lang="fr-FR"/>
              <a:t>+</a:t>
            </a:r>
          </a:p>
          <a:p>
            <a:r>
              <a:rPr lang="fr-FR"/>
              <a:t>cle_interop</a:t>
            </a:r>
            <a:r>
              <a:rPr lang="fr-FR"/>
              <a:t> :   132 Mo (7.4%)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60800" y="6197600"/>
            <a:ext cx="8129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... </a:t>
            </a:r>
            <a:r>
              <a:rPr lang="fr-FR"/>
              <a:t>we</a:t>
            </a:r>
            <a:r>
              <a:rPr lang="fr-FR"/>
              <a:t> </a:t>
            </a:r>
            <a:r>
              <a:rPr lang="fr-FR"/>
              <a:t>will</a:t>
            </a:r>
            <a:r>
              <a:rPr lang="fr-FR"/>
              <a:t> </a:t>
            </a:r>
            <a:r>
              <a:rPr lang="fr-FR"/>
              <a:t>see</a:t>
            </a:r>
            <a:r>
              <a:rPr lang="fr-FR"/>
              <a:t> parquet   "</a:t>
            </a:r>
            <a:r>
              <a:rPr lang="fr-FR"/>
              <a:t>column-pruning</a:t>
            </a:r>
            <a:r>
              <a:rPr lang="fr-FR"/>
              <a:t>" in action :  </a:t>
            </a:r>
            <a:r>
              <a:rPr lang="fr-FR"/>
              <a:t>skipping</a:t>
            </a:r>
            <a:r>
              <a:rPr lang="fr-FR"/>
              <a:t> </a:t>
            </a:r>
            <a:r>
              <a:rPr lang="fr-FR"/>
              <a:t>unnecessary</a:t>
            </a:r>
            <a:r>
              <a:rPr lang="fr-FR"/>
              <a:t> </a:t>
            </a:r>
            <a:r>
              <a:rPr lang="fr-FR"/>
              <a:t>columns</a:t>
            </a:r>
            <a:r>
              <a:rPr lang="fr-FR"/>
              <a:t> !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11772" y="2193925"/>
            <a:ext cx="10515600" cy="1863068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More </a:t>
            </a:r>
            <a:r>
              <a:rPr lang="fr-FR"/>
              <a:t>Graphical</a:t>
            </a:r>
            <a:r>
              <a:rPr lang="fr-FR"/>
              <a:t> </a:t>
            </a:r>
            <a:br>
              <a:rPr lang="fr-FR"/>
            </a:br>
            <a:br>
              <a:rPr lang="fr-FR"/>
            </a:br>
            <a:r>
              <a:rPr lang="fr-FR"/>
              <a:t>Web UI </a:t>
            </a:r>
            <a:r>
              <a:rPr lang="fr-FR"/>
              <a:t>tools</a:t>
            </a:r>
            <a:r>
              <a:rPr lang="fr-FR"/>
              <a:t> 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1440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Parquet </a:t>
            </a:r>
            <a:r>
              <a:rPr lang="fr-FR"/>
              <a:t>Parser</a:t>
            </a:r>
            <a:r>
              <a:rPr lang="fr-FR"/>
              <a:t> </a:t>
            </a:r>
            <a:r>
              <a:rPr lang="fr-FR"/>
              <a:t>library</a:t>
            </a:r>
            <a:r>
              <a:rPr lang="fr-FR"/>
              <a:t> in JavaScript : « </a:t>
            </a:r>
            <a:r>
              <a:rPr lang="fr-FR"/>
              <a:t>hyparquet</a:t>
            </a:r>
            <a:r>
              <a:rPr lang="fr-FR"/>
              <a:t> » 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605048" y="998679"/>
            <a:ext cx="5622543" cy="5733196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8767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</a:t>
            </a:r>
            <a:r>
              <a:rPr lang="fr-FR"/>
              <a:t>Metadata</a:t>
            </a:r>
            <a:r>
              <a:rPr lang="fr-FR"/>
              <a:t> </a:t>
            </a:r>
            <a:r>
              <a:rPr lang="fr-FR"/>
              <a:t>Visualizer</a:t>
            </a:r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554013" y="5485714"/>
            <a:ext cx="81034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/>
              <a:t>https://github.com/julienledem/parquet-metadata-vizualizer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38200" y="4445143"/>
            <a:ext cx="4599813" cy="9144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created by the creator of Parquet: Julien Ledem</a:t>
            </a:r>
            <a:endParaRPr lang="fr-FR"/>
          </a:p>
          <a:p>
            <a:endParaRPr lang="fr-FR"/>
          </a:p>
          <a:p>
            <a:r>
              <a:rPr lang="fr-FR"/>
              <a:t>Project source code in </a:t>
            </a:r>
            <a:r>
              <a:rPr lang="fr-FR"/>
              <a:t>github</a:t>
            </a:r>
            <a:r>
              <a:rPr lang="fr-FR"/>
              <a:t>: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2469930" y="2065289"/>
            <a:ext cx="8103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>
                <a:hlinkClick r:id="rId2"/>
              </a:rPr>
              <a:t>https://julien.ledem.net/experiment/parquet-visualizer.html</a:t>
            </a:r>
            <a:r>
              <a:rPr lang="fr-FR" sz="2400"/>
              <a:t> 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74229" y="112877"/>
            <a:ext cx="12055366" cy="639521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fr-FR" sz="3600">
                <a:hlinkClick r:id="rId2"/>
              </a:rPr>
              <a:t>https://github.com/julienledem/parquet-metadata-vizualizer</a:t>
            </a:r>
            <a:r>
              <a:rPr lang="fr-FR" sz="3600"/>
              <a:t> 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528293" y="891769"/>
            <a:ext cx="9135413" cy="5853354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25214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Parquet </a:t>
            </a:r>
            <a:r>
              <a:rPr lang="fr-FR"/>
              <a:t>Metadata</a:t>
            </a:r>
            <a:r>
              <a:rPr lang="fr-FR"/>
              <a:t> Viewer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1755227" y="725214"/>
            <a:ext cx="8103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>
                <a:hlinkClick r:id="rId2"/>
              </a:rPr>
              <a:t>https://julien.ledem.net/experiment/parquet-visualizer.html</a:t>
            </a:r>
            <a:r>
              <a:rPr lang="fr-FR" sz="2400"/>
              <a:t> 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755227" y="1554116"/>
            <a:ext cx="8628888" cy="4870244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98786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Parquet </a:t>
            </a:r>
            <a:r>
              <a:rPr lang="fr-FR"/>
              <a:t>Metadata</a:t>
            </a:r>
            <a:r>
              <a:rPr lang="fr-FR"/>
              <a:t> Viewer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965435" y="1056145"/>
            <a:ext cx="8911775" cy="5549605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14704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RowGroup</a:t>
            </a:r>
            <a:r>
              <a:rPr lang="fr-FR"/>
              <a:t> - </a:t>
            </a:r>
            <a:r>
              <a:rPr lang="fr-FR"/>
              <a:t>ColumnChunk</a:t>
            </a:r>
            <a:endParaRPr lang="fr-FR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548103" y="630621"/>
            <a:ext cx="9270414" cy="6143296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98786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ColumnChunk</a:t>
            </a:r>
            <a:r>
              <a:rPr lang="fr-FR"/>
              <a:t> - Pages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550139" y="700310"/>
            <a:ext cx="7091722" cy="615769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09298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fr-FR"/>
              <a:t>Offset Indexes,  </a:t>
            </a:r>
            <a:r>
              <a:rPr lang="fr-FR"/>
              <a:t>Column</a:t>
            </a:r>
            <a:r>
              <a:rPr lang="fr-FR"/>
              <a:t> Indexes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62151" y="662900"/>
            <a:ext cx="10609525" cy="6040205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55279" y="115613"/>
            <a:ext cx="10481442" cy="872359"/>
          </a:xfrm>
          <a:prstGeom prst="rect">
            <a:avLst/>
          </a:prstGeom>
        </p:spPr>
        <p:txBody>
          <a:bodyPr>
            <a:normAutofit fontScale="83564" lnSpcReduction="13148"/>
          </a:bodyPr>
          <a:lstStyle/>
          <a:p>
            <a:r>
              <a:rPr lang="fr-FR"/>
              <a:t>A small project … welcoming PullRequest Contributions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142593" y="1067643"/>
            <a:ext cx="6692732" cy="5674744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77462"/>
          </a:xfrm>
          <a:prstGeom prst="rect">
            <a:avLst/>
          </a:prstGeom>
        </p:spPr>
        <p:txBody>
          <a:bodyPr>
            <a:normAutofit fontScale="100000"/>
          </a:bodyPr>
          <a:lstStyle/>
          <a:p>
            <a:r>
              <a:rPr lang="fr-FR"/>
              <a:t>Project using « Vibe Coding » with Claude AI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267713" y="1286751"/>
            <a:ext cx="7887801" cy="5487166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144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Work In Progress…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061897" y="1492469"/>
            <a:ext cx="9291903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Many</a:t>
            </a:r>
            <a:r>
              <a:rPr lang="fr-FR" sz="2400"/>
              <a:t> simple </a:t>
            </a:r>
            <a:r>
              <a:rPr lang="fr-FR" sz="2400"/>
              <a:t>ideas</a:t>
            </a:r>
            <a:r>
              <a:rPr lang="fr-FR" sz="2400"/>
              <a:t> </a:t>
            </a:r>
            <a:r>
              <a:rPr lang="fr-FR" sz="2400"/>
              <a:t>still</a:t>
            </a:r>
            <a:r>
              <a:rPr lang="fr-FR" sz="2400"/>
              <a:t> to </a:t>
            </a:r>
            <a:r>
              <a:rPr lang="fr-FR" sz="2400"/>
              <a:t>implement</a:t>
            </a:r>
            <a:r>
              <a:rPr lang="fr-FR" sz="2400"/>
              <a:t> !! </a:t>
            </a:r>
          </a:p>
          <a:p>
            <a:endParaRPr lang="fr-FR" sz="2400"/>
          </a:p>
          <a:p>
            <a:r>
              <a:rPr lang="fr-FR" sz="2400"/>
              <a:t>Example:  </a:t>
            </a:r>
          </a:p>
          <a:p>
            <a:endParaRPr lang="fr-FR" sz="2400"/>
          </a:p>
          <a:p>
            <a:pPr marL="285750" indent="-285750">
              <a:buChar char="-"/>
            </a:pPr>
            <a:r>
              <a:rPr lang="fr-FR" sz="2400"/>
              <a:t>Show more </a:t>
            </a:r>
            <a:r>
              <a:rPr lang="fr-FR" sz="2400"/>
              <a:t>nested</a:t>
            </a:r>
            <a:r>
              <a:rPr lang="fr-FR" sz="2400"/>
              <a:t> </a:t>
            </a:r>
            <a:r>
              <a:rPr lang="fr-FR" sz="2400"/>
              <a:t>levels</a:t>
            </a:r>
            <a:r>
              <a:rPr lang="fr-FR" sz="2400"/>
              <a:t> (per Page, per </a:t>
            </a:r>
            <a:r>
              <a:rPr lang="fr-FR" sz="2400"/>
              <a:t>Encodings</a:t>
            </a:r>
            <a:r>
              <a:rPr lang="fr-FR" sz="2400"/>
              <a:t>)</a:t>
            </a:r>
          </a:p>
          <a:p>
            <a:endParaRPr lang="fr-FR" sz="2400"/>
          </a:p>
          <a:p>
            <a:pPr marL="285750" indent="-285750">
              <a:buChar char="-"/>
            </a:pPr>
            <a:r>
              <a:rPr lang="fr-FR" sz="2400"/>
              <a:t>show </a:t>
            </a:r>
            <a:r>
              <a:rPr lang="fr-FR" sz="2400"/>
              <a:t>Predicate</a:t>
            </a:r>
            <a:r>
              <a:rPr lang="fr-FR" sz="2400"/>
              <a:t>-Push-Down </a:t>
            </a:r>
            <a:r>
              <a:rPr lang="fr-FR" sz="2400"/>
              <a:t>effects</a:t>
            </a:r>
            <a:r>
              <a:rPr lang="fr-FR" sz="2400"/>
              <a:t> </a:t>
            </a:r>
            <a:r>
              <a:rPr lang="fr-FR" sz="2400"/>
              <a:t>using</a:t>
            </a:r>
            <a:r>
              <a:rPr lang="fr-FR" sz="2400"/>
              <a:t> min/max </a:t>
            </a:r>
            <a:r>
              <a:rPr lang="fr-FR" sz="2400"/>
              <a:t>statistics</a:t>
            </a:r>
            <a:endParaRPr lang="fr-FR" sz="2400"/>
          </a:p>
          <a:p>
            <a:endParaRPr lang="fr-FR" sz="2400"/>
          </a:p>
          <a:p>
            <a:pPr marL="285750" indent="-285750">
              <a:buChar char="-"/>
            </a:pPr>
            <a:r>
              <a:rPr lang="fr-FR" sz="2400"/>
              <a:t>Compare </a:t>
            </a:r>
            <a:r>
              <a:rPr lang="fr-FR" sz="2400"/>
              <a:t>different</a:t>
            </a:r>
            <a:r>
              <a:rPr lang="fr-FR" sz="2400"/>
              <a:t> Files for </a:t>
            </a:r>
            <a:r>
              <a:rPr lang="fr-FR" sz="2400"/>
              <a:t>same</a:t>
            </a:r>
            <a:r>
              <a:rPr lang="fr-FR" sz="2400"/>
              <a:t> data, but </a:t>
            </a:r>
            <a:r>
              <a:rPr lang="fr-FR" sz="2400"/>
              <a:t>different</a:t>
            </a:r>
            <a:r>
              <a:rPr lang="fr-FR" sz="2400"/>
              <a:t> </a:t>
            </a:r>
            <a:r>
              <a:rPr lang="fr-FR" sz="2400"/>
              <a:t>write</a:t>
            </a:r>
            <a:r>
              <a:rPr lang="fr-FR" sz="2400"/>
              <a:t> options </a:t>
            </a:r>
            <a:r>
              <a:rPr lang="fr-FR" sz="2400"/>
              <a:t>used</a:t>
            </a:r>
            <a:endParaRPr lang="fr-FR" sz="2400"/>
          </a:p>
          <a:p>
            <a:endParaRPr lang="fr-FR" sz="2400"/>
          </a:p>
          <a:p>
            <a:pPr marL="285750" indent="-285750">
              <a:buChar char="-"/>
            </a:pPr>
            <a:r>
              <a:rPr lang="fr-FR" sz="2400"/>
              <a:t>Scan multiple Files </a:t>
            </a:r>
            <a:r>
              <a:rPr lang="fr-FR" sz="2400"/>
              <a:t>within</a:t>
            </a:r>
            <a:r>
              <a:rPr lang="fr-FR" sz="2400"/>
              <a:t> 1 Directory, do </a:t>
            </a:r>
            <a:r>
              <a:rPr lang="fr-FR" sz="2400"/>
              <a:t>statistics</a:t>
            </a:r>
            <a:r>
              <a:rPr lang="fr-FR" sz="2400"/>
              <a:t> on File </a:t>
            </a:r>
            <a:r>
              <a:rPr lang="fr-FR" sz="2400"/>
              <a:t>reads</a:t>
            </a:r>
            <a:endParaRPr lang="fr-FR" sz="2400"/>
          </a:p>
          <a:p>
            <a:pPr marL="285750" indent="-285750">
              <a:buChar char="-"/>
            </a:pPr>
            <a:endParaRPr lang="fr-FR" sz="2400"/>
          </a:p>
          <a:p>
            <a:pPr marL="285750" indent="-285750">
              <a:buChar char="-"/>
            </a:pPr>
            <a:r>
              <a:rPr lang="fr-FR" sz="2400"/>
              <a:t>etc…</a:t>
            </a:r>
          </a:p>
          <a:p>
            <a:pPr marL="285750" indent="-285750">
              <a:buChar char="-"/>
            </a:pPr>
            <a:endParaRPr lang="fr-FR" sz="240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/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58462" y="2649415"/>
            <a:ext cx="860985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Parquet File Format  </a:t>
            </a:r>
            <a:r>
              <a:rPr lang="fr-FR" sz="2400"/>
              <a:t>is</a:t>
            </a:r>
            <a:r>
              <a:rPr lang="fr-FR" sz="2400"/>
              <a:t>  AMAZING </a:t>
            </a:r>
          </a:p>
          <a:p>
            <a:endParaRPr lang="fr-FR" sz="2400"/>
          </a:p>
          <a:p>
            <a:r>
              <a:rPr lang="fr-FR" sz="2400"/>
              <a:t>Spark </a:t>
            </a:r>
            <a:r>
              <a:rPr lang="fr-FR" sz="2400"/>
              <a:t>is</a:t>
            </a:r>
            <a:r>
              <a:rPr lang="fr-FR" sz="2400"/>
              <a:t> </a:t>
            </a:r>
            <a:r>
              <a:rPr lang="fr-FR" sz="2400"/>
              <a:t>great</a:t>
            </a:r>
            <a:r>
              <a:rPr lang="fr-FR" sz="2400"/>
              <a:t> </a:t>
            </a:r>
            <a:r>
              <a:rPr lang="fr-FR" sz="2400"/>
              <a:t>using</a:t>
            </a:r>
            <a:r>
              <a:rPr lang="fr-FR" sz="2400"/>
              <a:t> Parquet</a:t>
            </a:r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Doing</a:t>
            </a:r>
            <a:r>
              <a:rPr lang="fr-FR" sz="2400"/>
              <a:t> </a:t>
            </a:r>
            <a:r>
              <a:rPr lang="fr-FR" sz="2400"/>
              <a:t>BigData</a:t>
            </a:r>
            <a:r>
              <a:rPr lang="fr-FR" sz="2400"/>
              <a:t> </a:t>
            </a:r>
            <a:r>
              <a:rPr lang="fr-FR" sz="2400"/>
              <a:t>processing</a:t>
            </a:r>
            <a:r>
              <a:rPr lang="fr-FR" sz="2400"/>
              <a:t> = </a:t>
            </a:r>
            <a:r>
              <a:rPr lang="fr-FR" sz="2400"/>
              <a:t>doing</a:t>
            </a:r>
            <a:r>
              <a:rPr lang="fr-FR" sz="2400"/>
              <a:t> Spark + Parquet</a:t>
            </a:r>
            <a:br>
              <a:rPr lang="fr-FR" sz="2400"/>
            </a:br>
            <a:r>
              <a:rPr lang="fr-FR" sz="2400"/>
              <a:t>                                                     </a:t>
            </a:r>
            <a:r>
              <a:rPr lang="fr-FR" sz="2400"/>
              <a:t>with</a:t>
            </a:r>
            <a:r>
              <a:rPr lang="fr-FR" sz="2400"/>
              <a:t> good .</a:t>
            </a:r>
            <a:r>
              <a:rPr lang="fr-FR" sz="2400"/>
              <a:t>repartition</a:t>
            </a:r>
            <a:r>
              <a:rPr lang="fr-FR" sz="2400"/>
              <a:t>( ... )</a:t>
            </a:r>
            <a:br>
              <a:rPr lang="fr-FR" sz="2400"/>
            </a:br>
            <a:r>
              <a:rPr lang="fr-FR" sz="2400"/>
              <a:t>                                                                        .</a:t>
            </a:r>
            <a:r>
              <a:rPr lang="fr-FR" sz="2400"/>
              <a:t>bucketBy</a:t>
            </a:r>
            <a:r>
              <a:rPr lang="fr-FR" sz="2400"/>
              <a:t>( ... )</a:t>
            </a:r>
          </a:p>
          <a:p>
            <a:r>
              <a:rPr lang="fr-FR" sz="2400"/>
              <a:t>                                                                        .</a:t>
            </a:r>
            <a:r>
              <a:rPr lang="fr-FR" sz="2400"/>
              <a:t>sortWithinPartitions</a:t>
            </a:r>
            <a:r>
              <a:rPr lang="fr-FR" sz="2400"/>
              <a:t>( ... 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185" y="16206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Mind</a:t>
            </a:r>
            <a:r>
              <a:rPr lang="fr-FR"/>
              <a:t> </a:t>
            </a:r>
            <a:r>
              <a:rPr lang="fr-FR"/>
              <a:t>Map</a:t>
            </a:r>
            <a:endParaRPr lang="fr-FR"/>
          </a:p>
        </p:txBody>
      </p:sp>
      <p:sp>
        <p:nvSpPr>
          <p:cNvPr id="3" name="TextBox 2"/>
          <p:cNvSpPr txBox="1"/>
          <p:nvPr/>
        </p:nvSpPr>
        <p:spPr>
          <a:xfrm>
            <a:off x="4536831" y="3429000"/>
            <a:ext cx="30784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Parquet</a:t>
            </a:r>
            <a:r>
              <a:rPr lang="fr-FR" sz="2800"/>
              <a:t> File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76647" y="2655277"/>
            <a:ext cx="18009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Types of files</a:t>
            </a:r>
          </a:p>
        </p:txBody>
      </p:sp>
      <p:cxnSp>
        <p:nvCxnSpPr>
          <p:cNvPr id="6" name="Straight Connector 5"/>
          <p:cNvCxnSpPr/>
          <p:nvPr/>
        </p:nvCxnSpPr>
        <p:spPr>
          <a:xfrm flipV="1">
            <a:off x="6096000" y="3083169"/>
            <a:ext cx="679938" cy="3458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 flipH="1" flipV="1">
            <a:off x="7065265" y="2086708"/>
            <a:ext cx="88756" cy="6084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7448301" y="2390949"/>
            <a:ext cx="317504" cy="3120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18" idx="1"/>
          </p:cNvCxnSpPr>
          <p:nvPr/>
        </p:nvCxnSpPr>
        <p:spPr>
          <a:xfrm flipV="1">
            <a:off x="7877710" y="2573350"/>
            <a:ext cx="1918371" cy="1218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84673" y="1641930"/>
            <a:ext cx="18458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Unstructured</a:t>
            </a:r>
            <a:endParaRPr lang="fr-FR" sz="2400"/>
          </a:p>
        </p:txBody>
      </p:sp>
      <p:sp>
        <p:nvSpPr>
          <p:cNvPr id="17" name="TextBox 16"/>
          <p:cNvSpPr txBox="1"/>
          <p:nvPr/>
        </p:nvSpPr>
        <p:spPr>
          <a:xfrm>
            <a:off x="7503165" y="2019300"/>
            <a:ext cx="21921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Semi-</a:t>
            </a:r>
            <a:r>
              <a:rPr lang="fr-FR" sz="2400"/>
              <a:t>structured</a:t>
            </a:r>
            <a:endParaRPr lang="fr-FR" sz="2400"/>
          </a:p>
        </p:txBody>
      </p:sp>
      <p:sp>
        <p:nvSpPr>
          <p:cNvPr id="18" name="TextBox 17"/>
          <p:cNvSpPr txBox="1"/>
          <p:nvPr/>
        </p:nvSpPr>
        <p:spPr>
          <a:xfrm>
            <a:off x="9796081" y="2342517"/>
            <a:ext cx="15389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Structured</a:t>
            </a:r>
            <a:endParaRPr lang="fr-FR" sz="2400" b="1"/>
          </a:p>
        </p:txBody>
      </p:sp>
      <p:cxnSp>
        <p:nvCxnSpPr>
          <p:cNvPr id="19" name="Straight Connector 18"/>
          <p:cNvCxnSpPr>
            <a:endCxn id="40" idx="2"/>
          </p:cNvCxnSpPr>
          <p:nvPr/>
        </p:nvCxnSpPr>
        <p:spPr>
          <a:xfrm flipH="1" flipV="1">
            <a:off x="10109656" y="2047309"/>
            <a:ext cx="336406" cy="357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V="1">
            <a:off x="10662813" y="2121277"/>
            <a:ext cx="450983" cy="2834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 flipV="1">
            <a:off x="6775938" y="1445399"/>
            <a:ext cx="231680" cy="3278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>
            <a:endCxn id="30" idx="2"/>
          </p:cNvCxnSpPr>
          <p:nvPr/>
        </p:nvCxnSpPr>
        <p:spPr>
          <a:xfrm flipV="1">
            <a:off x="7154021" y="1479172"/>
            <a:ext cx="251219" cy="2860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30462" y="1133341"/>
            <a:ext cx="548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text</a:t>
            </a:r>
            <a:endParaRPr lang="fr-FR"/>
          </a:p>
        </p:txBody>
      </p:sp>
      <p:sp>
        <p:nvSpPr>
          <p:cNvPr id="30" name="TextBox 29"/>
          <p:cNvSpPr txBox="1"/>
          <p:nvPr/>
        </p:nvSpPr>
        <p:spPr>
          <a:xfrm>
            <a:off x="7168765" y="1109840"/>
            <a:ext cx="472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csv</a:t>
            </a:r>
          </a:p>
        </p:txBody>
      </p:sp>
      <p:cxnSp>
        <p:nvCxnSpPr>
          <p:cNvPr id="32" name="Straight Connector 31"/>
          <p:cNvCxnSpPr/>
          <p:nvPr/>
        </p:nvCxnSpPr>
        <p:spPr>
          <a:xfrm flipH="1" flipV="1">
            <a:off x="8555105" y="1736878"/>
            <a:ext cx="231680" cy="3278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8869741" y="1766866"/>
            <a:ext cx="275393" cy="2860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000173" y="1412980"/>
            <a:ext cx="886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nd-json</a:t>
            </a:r>
            <a:endParaRPr lang="fr-FR"/>
          </a:p>
        </p:txBody>
      </p:sp>
      <p:sp>
        <p:nvSpPr>
          <p:cNvPr id="35" name="TextBox 34"/>
          <p:cNvSpPr txBox="1"/>
          <p:nvPr/>
        </p:nvSpPr>
        <p:spPr>
          <a:xfrm>
            <a:off x="8918296" y="1447145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xml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43626" y="1400978"/>
            <a:ext cx="732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Serial</a:t>
            </a:r>
          </a:p>
          <a:p>
            <a:r>
              <a:rPr lang="fr-FR"/>
              <a:t>(Row)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67509" y="1647862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Columnar</a:t>
            </a:r>
            <a:endParaRPr lang="fr-FR" sz="2400"/>
          </a:p>
        </p:txBody>
      </p:sp>
      <p:cxnSp>
        <p:nvCxnSpPr>
          <p:cNvPr id="42" name="Straight Connector 41"/>
          <p:cNvCxnSpPr/>
          <p:nvPr/>
        </p:nvCxnSpPr>
        <p:spPr>
          <a:xfrm flipV="1">
            <a:off x="11323728" y="1276638"/>
            <a:ext cx="223772" cy="389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H="1" flipV="1">
            <a:off x="10931896" y="1306257"/>
            <a:ext cx="266356" cy="3298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890738" y="676293"/>
            <a:ext cx="1367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PARQUET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84931" y="952693"/>
            <a:ext cx="481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orc</a:t>
            </a:r>
            <a:endParaRPr lang="fr-FR" sz="2400"/>
          </a:p>
        </p:txBody>
      </p:sp>
      <p:cxnSp>
        <p:nvCxnSpPr>
          <p:cNvPr id="49" name="Straight Connector 48"/>
          <p:cNvCxnSpPr/>
          <p:nvPr/>
        </p:nvCxnSpPr>
        <p:spPr>
          <a:xfrm flipH="1" flipV="1">
            <a:off x="9595081" y="1129578"/>
            <a:ext cx="266356" cy="3298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stCxn id="40" idx="0"/>
          </p:cNvCxnSpPr>
          <p:nvPr/>
        </p:nvCxnSpPr>
        <p:spPr>
          <a:xfrm flipV="1">
            <a:off x="10109656" y="933404"/>
            <a:ext cx="119791" cy="4675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H="1" flipV="1">
            <a:off x="9909759" y="1055583"/>
            <a:ext cx="128326" cy="3573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013721" y="897828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Avro</a:t>
            </a:r>
            <a:endParaRPr lang="fr-FR"/>
          </a:p>
        </p:txBody>
      </p:sp>
      <p:sp>
        <p:nvSpPr>
          <p:cNvPr id="57" name="TextBox 56"/>
          <p:cNvSpPr txBox="1"/>
          <p:nvPr/>
        </p:nvSpPr>
        <p:spPr>
          <a:xfrm>
            <a:off x="9271177" y="722459"/>
            <a:ext cx="699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Thrift</a:t>
            </a:r>
            <a:endParaRPr lang="fr-FR"/>
          </a:p>
        </p:txBody>
      </p:sp>
      <p:sp>
        <p:nvSpPr>
          <p:cNvPr id="58" name="TextBox 57"/>
          <p:cNvSpPr txBox="1"/>
          <p:nvPr/>
        </p:nvSpPr>
        <p:spPr>
          <a:xfrm>
            <a:off x="9619463" y="511739"/>
            <a:ext cx="1012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Protobuf</a:t>
            </a:r>
            <a:endParaRPr lang="fr-FR"/>
          </a:p>
        </p:txBody>
      </p:sp>
      <p:cxnSp>
        <p:nvCxnSpPr>
          <p:cNvPr id="63" name="Straight Connector 62"/>
          <p:cNvCxnSpPr/>
          <p:nvPr/>
        </p:nvCxnSpPr>
        <p:spPr>
          <a:xfrm flipV="1">
            <a:off x="9695304" y="2804182"/>
            <a:ext cx="750758" cy="3413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629595" y="3659832"/>
            <a:ext cx="1036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Datatype</a:t>
            </a:r>
            <a:endParaRPr lang="fr-FR"/>
          </a:p>
        </p:txBody>
      </p:sp>
      <p:sp>
        <p:nvSpPr>
          <p:cNvPr id="68" name="TextBox 67"/>
          <p:cNvSpPr txBox="1"/>
          <p:nvPr/>
        </p:nvSpPr>
        <p:spPr>
          <a:xfrm>
            <a:off x="8908349" y="3018362"/>
            <a:ext cx="1040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schema</a:t>
            </a:r>
            <a:endParaRPr lang="fr-FR"/>
          </a:p>
        </p:txBody>
      </p:sp>
      <p:cxnSp>
        <p:nvCxnSpPr>
          <p:cNvPr id="70" name="Straight Connector 69"/>
          <p:cNvCxnSpPr>
            <a:endCxn id="18" idx="2"/>
          </p:cNvCxnSpPr>
          <p:nvPr/>
        </p:nvCxnSpPr>
        <p:spPr>
          <a:xfrm flipV="1">
            <a:off x="10277859" y="2804182"/>
            <a:ext cx="287696" cy="7976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V="1">
            <a:off x="9271177" y="4000932"/>
            <a:ext cx="898374" cy="3003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 flipH="1" flipV="1">
            <a:off x="10277859" y="4013137"/>
            <a:ext cx="610445" cy="2881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8614747" y="4273070"/>
            <a:ext cx="1312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Scalar</a:t>
            </a:r>
            <a:r>
              <a:rPr lang="fr-FR"/>
              <a:t> Value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77859" y="4273070"/>
            <a:ext cx="1762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Composite Value</a:t>
            </a:r>
          </a:p>
        </p:txBody>
      </p:sp>
      <p:cxnSp>
        <p:nvCxnSpPr>
          <p:cNvPr id="83" name="Straight Connector 82"/>
          <p:cNvCxnSpPr/>
          <p:nvPr/>
        </p:nvCxnSpPr>
        <p:spPr>
          <a:xfrm flipV="1">
            <a:off x="8372803" y="4642402"/>
            <a:ext cx="819275" cy="3231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endCxn id="79" idx="2"/>
          </p:cNvCxnSpPr>
          <p:nvPr/>
        </p:nvCxnSpPr>
        <p:spPr>
          <a:xfrm flipV="1">
            <a:off x="8782440" y="4642402"/>
            <a:ext cx="488737" cy="544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92" idx="0"/>
          </p:cNvCxnSpPr>
          <p:nvPr/>
        </p:nvCxnSpPr>
        <p:spPr>
          <a:xfrm flipV="1">
            <a:off x="9186409" y="4642402"/>
            <a:ext cx="173362" cy="682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823815" y="4914540"/>
            <a:ext cx="731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String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49102" y="5140512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bool</a:t>
            </a:r>
            <a:endParaRPr lang="fr-FR"/>
          </a:p>
        </p:txBody>
      </p:sp>
      <p:sp>
        <p:nvSpPr>
          <p:cNvPr id="92" name="TextBox 91"/>
          <p:cNvSpPr txBox="1"/>
          <p:nvPr/>
        </p:nvSpPr>
        <p:spPr>
          <a:xfrm>
            <a:off x="8737664" y="5325178"/>
            <a:ext cx="897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int,long</a:t>
            </a:r>
            <a:endParaRPr lang="fr-FR"/>
          </a:p>
        </p:txBody>
      </p:sp>
      <p:sp>
        <p:nvSpPr>
          <p:cNvPr id="93" name="TextBox 92"/>
          <p:cNvSpPr txBox="1"/>
          <p:nvPr/>
        </p:nvSpPr>
        <p:spPr>
          <a:xfrm>
            <a:off x="9138360" y="5594556"/>
            <a:ext cx="1337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float,double</a:t>
            </a:r>
            <a:endParaRPr lang="fr-FR"/>
          </a:p>
        </p:txBody>
      </p:sp>
      <p:cxnSp>
        <p:nvCxnSpPr>
          <p:cNvPr id="95" name="Straight Connector 94"/>
          <p:cNvCxnSpPr/>
          <p:nvPr/>
        </p:nvCxnSpPr>
        <p:spPr>
          <a:xfrm flipH="1" flipV="1">
            <a:off x="9433125" y="4644302"/>
            <a:ext cx="338609" cy="9136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 flipH="1" flipV="1">
            <a:off x="9565141" y="4661675"/>
            <a:ext cx="642578" cy="12984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9428561" y="5850949"/>
            <a:ext cx="1079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Datetime</a:t>
            </a:r>
            <a:endParaRPr lang="fr-FR"/>
          </a:p>
        </p:txBody>
      </p:sp>
      <p:cxnSp>
        <p:nvCxnSpPr>
          <p:cNvPr id="102" name="Straight Connector 101"/>
          <p:cNvCxnSpPr/>
          <p:nvPr/>
        </p:nvCxnSpPr>
        <p:spPr>
          <a:xfrm flipH="1" flipV="1">
            <a:off x="11262261" y="4623235"/>
            <a:ext cx="476173" cy="3605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/>
          <p:nvPr/>
        </p:nvCxnSpPr>
        <p:spPr>
          <a:xfrm flipV="1">
            <a:off x="10499422" y="4642402"/>
            <a:ext cx="511324" cy="3413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endCxn id="80" idx="2"/>
          </p:cNvCxnSpPr>
          <p:nvPr/>
        </p:nvCxnSpPr>
        <p:spPr>
          <a:xfrm flipV="1">
            <a:off x="11113796" y="4642402"/>
            <a:ext cx="45427" cy="3231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9953818" y="4904925"/>
            <a:ext cx="2088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struct</a:t>
            </a:r>
            <a:r>
              <a:rPr lang="fr-FR"/>
              <a:t>&lt;f1:T1,f2:T2..&gt;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35620" y="5199028"/>
            <a:ext cx="1004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array</a:t>
            </a:r>
            <a:r>
              <a:rPr lang="fr-FR"/>
              <a:t>&lt;T&gt;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1198252" y="5495216"/>
            <a:ext cx="1126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map</a:t>
            </a:r>
            <a:r>
              <a:rPr lang="fr-FR"/>
              <a:t>&lt;K,V&gt;</a:t>
            </a:r>
          </a:p>
        </p:txBody>
      </p:sp>
      <p:cxnSp>
        <p:nvCxnSpPr>
          <p:cNvPr id="119" name="Straight Connector 118"/>
          <p:cNvCxnSpPr/>
          <p:nvPr/>
        </p:nvCxnSpPr>
        <p:spPr>
          <a:xfrm>
            <a:off x="5947410" y="3952220"/>
            <a:ext cx="53924" cy="4551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5266759" y="4347006"/>
            <a:ext cx="2162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 / </a:t>
            </a:r>
            <a:r>
              <a:rPr lang="fr-FR" b="1"/>
              <a:t>metadata</a:t>
            </a:r>
            <a:r>
              <a:rPr lang="fr-FR"/>
              <a:t> split</a:t>
            </a:r>
          </a:p>
        </p:txBody>
      </p:sp>
      <p:cxnSp>
        <p:nvCxnSpPr>
          <p:cNvPr id="125" name="Straight Connector 124"/>
          <p:cNvCxnSpPr>
            <a:endCxn id="130" idx="0"/>
          </p:cNvCxnSpPr>
          <p:nvPr/>
        </p:nvCxnSpPr>
        <p:spPr>
          <a:xfrm flipH="1">
            <a:off x="5440616" y="4706311"/>
            <a:ext cx="352139" cy="3418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/>
          <p:nvPr/>
        </p:nvCxnSpPr>
        <p:spPr>
          <a:xfrm>
            <a:off x="6276047" y="4696975"/>
            <a:ext cx="171574" cy="5216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6162573" y="5122338"/>
            <a:ext cx="763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footer</a:t>
            </a:r>
            <a:endParaRPr lang="fr-FR"/>
          </a:p>
        </p:txBody>
      </p:sp>
      <p:sp>
        <p:nvSpPr>
          <p:cNvPr id="130" name="TextBox 129"/>
          <p:cNvSpPr txBox="1"/>
          <p:nvPr/>
        </p:nvSpPr>
        <p:spPr>
          <a:xfrm>
            <a:off x="4780210" y="5048179"/>
            <a:ext cx="13208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RowGroup</a:t>
            </a:r>
            <a:r>
              <a:rPr lang="fr-FR"/>
              <a:t> </a:t>
            </a:r>
            <a:br>
              <a:rPr lang="fr-FR"/>
            </a:br>
            <a:r>
              <a:rPr lang="fr-FR"/>
              <a:t>page offsets</a:t>
            </a:r>
          </a:p>
        </p:txBody>
      </p:sp>
      <p:cxnSp>
        <p:nvCxnSpPr>
          <p:cNvPr id="132" name="Straight Connector 131"/>
          <p:cNvCxnSpPr/>
          <p:nvPr/>
        </p:nvCxnSpPr>
        <p:spPr>
          <a:xfrm flipH="1">
            <a:off x="5692252" y="5471354"/>
            <a:ext cx="672642" cy="4170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/>
          <p:cNvCxnSpPr/>
          <p:nvPr/>
        </p:nvCxnSpPr>
        <p:spPr>
          <a:xfrm>
            <a:off x="6606901" y="5504496"/>
            <a:ext cx="217529" cy="2836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5172040" y="5783178"/>
            <a:ext cx="1040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schema</a:t>
            </a:r>
            <a:endParaRPr lang="fr-FR"/>
          </a:p>
        </p:txBody>
      </p:sp>
      <p:sp>
        <p:nvSpPr>
          <p:cNvPr id="140" name="TextBox 139"/>
          <p:cNvSpPr txBox="1"/>
          <p:nvPr/>
        </p:nvSpPr>
        <p:spPr>
          <a:xfrm>
            <a:off x="6089965" y="5720301"/>
            <a:ext cx="14467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rowGroups</a:t>
            </a:r>
            <a:r>
              <a:rPr lang="fr-FR"/>
              <a:t>  </a:t>
            </a:r>
            <a:r>
              <a:rPr lang="fr-FR"/>
              <a:t>Metadata</a:t>
            </a:r>
            <a:endParaRPr lang="fr-FR"/>
          </a:p>
        </p:txBody>
      </p:sp>
      <p:sp>
        <p:nvSpPr>
          <p:cNvPr id="141" name="TextBox 140"/>
          <p:cNvSpPr txBox="1"/>
          <p:nvPr/>
        </p:nvSpPr>
        <p:spPr>
          <a:xfrm>
            <a:off x="7356302" y="6087318"/>
            <a:ext cx="14467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rg-columns</a:t>
            </a:r>
            <a:r>
              <a:rPr lang="fr-FR"/>
              <a:t> </a:t>
            </a:r>
            <a:r>
              <a:rPr lang="fr-FR"/>
              <a:t>statistics</a:t>
            </a:r>
            <a:endParaRPr lang="fr-FR"/>
          </a:p>
        </p:txBody>
      </p:sp>
      <p:cxnSp>
        <p:nvCxnSpPr>
          <p:cNvPr id="143" name="Straight Connector 142"/>
          <p:cNvCxnSpPr/>
          <p:nvPr/>
        </p:nvCxnSpPr>
        <p:spPr>
          <a:xfrm>
            <a:off x="7083782" y="6237635"/>
            <a:ext cx="310226" cy="587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/>
          <p:cNvCxnSpPr>
            <a:stCxn id="140" idx="2"/>
          </p:cNvCxnSpPr>
          <p:nvPr/>
        </p:nvCxnSpPr>
        <p:spPr>
          <a:xfrm flipH="1">
            <a:off x="6699611" y="6366632"/>
            <a:ext cx="113719" cy="1889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894945" y="6514634"/>
            <a:ext cx="1446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fileOffset</a:t>
            </a:r>
            <a:endParaRPr lang="fr-FR"/>
          </a:p>
        </p:txBody>
      </p:sp>
      <p:cxnSp>
        <p:nvCxnSpPr>
          <p:cNvPr id="155" name="Straight Connector 154"/>
          <p:cNvCxnSpPr>
            <a:endCxn id="141" idx="3"/>
          </p:cNvCxnSpPr>
          <p:nvPr/>
        </p:nvCxnSpPr>
        <p:spPr>
          <a:xfrm flipV="1">
            <a:off x="8372803" y="6410484"/>
            <a:ext cx="430229" cy="1778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/>
          <p:cNvCxnSpPr/>
          <p:nvPr/>
        </p:nvCxnSpPr>
        <p:spPr>
          <a:xfrm>
            <a:off x="8372803" y="6642597"/>
            <a:ext cx="479349" cy="1349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8829375" y="6225817"/>
            <a:ext cx="1580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min/max value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829375" y="6522817"/>
            <a:ext cx="1269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bloomFilter</a:t>
            </a:r>
            <a:endParaRPr lang="fr-FR"/>
          </a:p>
        </p:txBody>
      </p:sp>
      <p:cxnSp>
        <p:nvCxnSpPr>
          <p:cNvPr id="161" name="Straight Connector 160"/>
          <p:cNvCxnSpPr/>
          <p:nvPr/>
        </p:nvCxnSpPr>
        <p:spPr>
          <a:xfrm flipH="1">
            <a:off x="3611315" y="3772793"/>
            <a:ext cx="755491" cy="6542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Box 162"/>
          <p:cNvSpPr txBox="1"/>
          <p:nvPr/>
        </p:nvSpPr>
        <p:spPr>
          <a:xfrm>
            <a:off x="2252783" y="4120901"/>
            <a:ext cx="16097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Column</a:t>
            </a:r>
            <a:r>
              <a:rPr lang="fr-FR"/>
              <a:t> </a:t>
            </a:r>
            <a:r>
              <a:rPr lang="fr-FR"/>
              <a:t>Chunk</a:t>
            </a:r>
            <a:r>
              <a:rPr lang="fr-FR"/>
              <a:t> </a:t>
            </a:r>
            <a:br>
              <a:rPr lang="fr-FR"/>
            </a:br>
            <a:r>
              <a:rPr lang="fr-FR" b="1"/>
              <a:t>Encoders</a:t>
            </a:r>
            <a:endParaRPr lang="fr-FR" b="1"/>
          </a:p>
        </p:txBody>
      </p:sp>
      <p:cxnSp>
        <p:nvCxnSpPr>
          <p:cNvPr id="165" name="Straight Connector 164"/>
          <p:cNvCxnSpPr/>
          <p:nvPr/>
        </p:nvCxnSpPr>
        <p:spPr>
          <a:xfrm flipH="1" flipV="1">
            <a:off x="1514293" y="4512569"/>
            <a:ext cx="738490" cy="1106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/>
          <p:cNvCxnSpPr/>
          <p:nvPr/>
        </p:nvCxnSpPr>
        <p:spPr>
          <a:xfrm flipH="1">
            <a:off x="1473439" y="4729549"/>
            <a:ext cx="804679" cy="1514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/>
          <p:cNvCxnSpPr/>
          <p:nvPr/>
        </p:nvCxnSpPr>
        <p:spPr>
          <a:xfrm flipH="1">
            <a:off x="1664925" y="4778183"/>
            <a:ext cx="567883" cy="4167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/>
          <p:cNvSpPr txBox="1"/>
          <p:nvPr/>
        </p:nvSpPr>
        <p:spPr>
          <a:xfrm>
            <a:off x="73991" y="4234717"/>
            <a:ext cx="21309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Run-</a:t>
            </a:r>
            <a:r>
              <a:rPr lang="fr-FR"/>
              <a:t>Length</a:t>
            </a:r>
            <a:r>
              <a:rPr lang="fr-FR"/>
              <a:t> Encoder</a:t>
            </a:r>
          </a:p>
          <a:p>
            <a:r>
              <a:rPr lang="fr-FR"/>
              <a:t> ( RLE )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28609" y="4789568"/>
            <a:ext cx="1147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Dictionary</a:t>
            </a:r>
            <a:endParaRPr lang="fr-FR"/>
          </a:p>
        </p:txBody>
      </p:sp>
      <p:sp>
        <p:nvSpPr>
          <p:cNvPr id="174" name="TextBox 173"/>
          <p:cNvSpPr txBox="1"/>
          <p:nvPr/>
        </p:nvSpPr>
        <p:spPr>
          <a:xfrm>
            <a:off x="222824" y="5069344"/>
            <a:ext cx="1502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Delta Encoder</a:t>
            </a:r>
          </a:p>
        </p:txBody>
      </p:sp>
      <p:cxnSp>
        <p:nvCxnSpPr>
          <p:cNvPr id="175" name="Straight Connector 174"/>
          <p:cNvCxnSpPr/>
          <p:nvPr/>
        </p:nvCxnSpPr>
        <p:spPr>
          <a:xfrm flipH="1" flipV="1">
            <a:off x="3687076" y="3491519"/>
            <a:ext cx="679730" cy="1523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2232808" y="3290897"/>
            <a:ext cx="1421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Compression</a:t>
            </a:r>
          </a:p>
        </p:txBody>
      </p:sp>
      <p:cxnSp>
        <p:nvCxnSpPr>
          <p:cNvPr id="181" name="Straight Connector 180"/>
          <p:cNvCxnSpPr/>
          <p:nvPr/>
        </p:nvCxnSpPr>
        <p:spPr>
          <a:xfrm flipH="1" flipV="1">
            <a:off x="1652054" y="3083169"/>
            <a:ext cx="470603" cy="2784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H="1" flipV="1">
            <a:off x="1795494" y="3410074"/>
            <a:ext cx="352302" cy="778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/>
          <p:cNvCxnSpPr/>
          <p:nvPr/>
        </p:nvCxnSpPr>
        <p:spPr>
          <a:xfrm flipH="1">
            <a:off x="1727644" y="3574054"/>
            <a:ext cx="455640" cy="170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/>
          <p:cNvSpPr txBox="1"/>
          <p:nvPr/>
        </p:nvSpPr>
        <p:spPr>
          <a:xfrm>
            <a:off x="301530" y="2854212"/>
            <a:ext cx="1388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snappy</a:t>
            </a:r>
            <a:r>
              <a:rPr lang="fr-FR"/>
              <a:t> (fast)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27227" y="3520684"/>
            <a:ext cx="1656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.</a:t>
            </a:r>
            <a:r>
              <a:rPr lang="fr-FR"/>
              <a:t>gz</a:t>
            </a:r>
            <a:r>
              <a:rPr lang="fr-FR"/>
              <a:t>(</a:t>
            </a:r>
            <a:r>
              <a:rPr lang="fr-FR"/>
              <a:t>comp</a:t>
            </a:r>
            <a:r>
              <a:rPr lang="fr-FR"/>
              <a:t>. ratio)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4713" y="3193383"/>
            <a:ext cx="1804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lz4 (compromise)</a:t>
            </a:r>
          </a:p>
        </p:txBody>
      </p:sp>
      <p:cxnSp>
        <p:nvCxnSpPr>
          <p:cNvPr id="192" name="Straight Connector 191"/>
          <p:cNvCxnSpPr/>
          <p:nvPr/>
        </p:nvCxnSpPr>
        <p:spPr>
          <a:xfrm flipH="1" flipV="1">
            <a:off x="4100369" y="2821822"/>
            <a:ext cx="473981" cy="6336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3444115" y="2422860"/>
            <a:ext cx="1208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Splitteable</a:t>
            </a:r>
            <a:endParaRPr lang="fr-FR" b="1"/>
          </a:p>
        </p:txBody>
      </p:sp>
      <p:cxnSp>
        <p:nvCxnSpPr>
          <p:cNvPr id="196" name="Straight Connector 195"/>
          <p:cNvCxnSpPr/>
          <p:nvPr/>
        </p:nvCxnSpPr>
        <p:spPr>
          <a:xfrm flipH="1" flipV="1">
            <a:off x="2832331" y="2176687"/>
            <a:ext cx="674203" cy="3522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TextBox 197"/>
          <p:cNvSpPr txBox="1"/>
          <p:nvPr/>
        </p:nvSpPr>
        <p:spPr>
          <a:xfrm>
            <a:off x="1078204" y="1797776"/>
            <a:ext cx="20696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text</a:t>
            </a:r>
            <a:r>
              <a:rPr lang="fr-FR"/>
              <a:t> files = </a:t>
            </a:r>
            <a:r>
              <a:rPr lang="fr-FR"/>
              <a:t>splittable</a:t>
            </a:r>
            <a:endParaRPr lang="fr-FR"/>
          </a:p>
          <a:p>
            <a:r>
              <a:rPr lang="fr-FR"/>
              <a:t>(</a:t>
            </a:r>
            <a:r>
              <a:rPr lang="fr-FR"/>
              <a:t>csv,nd-json</a:t>
            </a:r>
            <a:r>
              <a:rPr lang="fr-FR"/>
              <a:t>)</a:t>
            </a:r>
          </a:p>
        </p:txBody>
      </p:sp>
      <p:cxnSp>
        <p:nvCxnSpPr>
          <p:cNvPr id="200" name="Straight Connector 199"/>
          <p:cNvCxnSpPr>
            <a:stCxn id="195" idx="1"/>
          </p:cNvCxnSpPr>
          <p:nvPr/>
        </p:nvCxnSpPr>
        <p:spPr>
          <a:xfrm flipH="1">
            <a:off x="2671187" y="2607526"/>
            <a:ext cx="772928" cy="623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/>
          <p:cNvSpPr txBox="1"/>
          <p:nvPr/>
        </p:nvSpPr>
        <p:spPr>
          <a:xfrm>
            <a:off x="912492" y="2442455"/>
            <a:ext cx="177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.</a:t>
            </a:r>
            <a:r>
              <a:rPr lang="fr-FR"/>
              <a:t>gz</a:t>
            </a:r>
            <a:r>
              <a:rPr lang="fr-FR"/>
              <a:t> = </a:t>
            </a:r>
            <a:r>
              <a:rPr lang="fr-FR"/>
              <a:t>unsplittable</a:t>
            </a:r>
            <a:endParaRPr lang="fr-FR"/>
          </a:p>
        </p:txBody>
      </p:sp>
      <p:cxnSp>
        <p:nvCxnSpPr>
          <p:cNvPr id="204" name="Straight Connector 203"/>
          <p:cNvCxnSpPr/>
          <p:nvPr/>
        </p:nvCxnSpPr>
        <p:spPr>
          <a:xfrm flipH="1" flipV="1">
            <a:off x="3650309" y="1844799"/>
            <a:ext cx="150505" cy="5780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/>
          <p:cNvSpPr txBox="1"/>
          <p:nvPr/>
        </p:nvSpPr>
        <p:spPr>
          <a:xfrm>
            <a:off x="3046866" y="1597646"/>
            <a:ext cx="1178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RowGroup</a:t>
            </a:r>
            <a:endParaRPr lang="fr-FR"/>
          </a:p>
        </p:txBody>
      </p:sp>
      <p:cxnSp>
        <p:nvCxnSpPr>
          <p:cNvPr id="208" name="Straight Connector 207"/>
          <p:cNvCxnSpPr/>
          <p:nvPr/>
        </p:nvCxnSpPr>
        <p:spPr>
          <a:xfrm flipH="1" flipV="1">
            <a:off x="2640968" y="1242897"/>
            <a:ext cx="957084" cy="3704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/>
          <p:cNvSpPr txBox="1"/>
          <p:nvPr/>
        </p:nvSpPr>
        <p:spPr>
          <a:xfrm>
            <a:off x="1555877" y="817943"/>
            <a:ext cx="2836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RowGropup</a:t>
            </a:r>
            <a:r>
              <a:rPr lang="fr-FR"/>
              <a:t> ~</a:t>
            </a:r>
            <a:r>
              <a:rPr lang="fr-FR"/>
              <a:t>spark</a:t>
            </a:r>
            <a:r>
              <a:rPr lang="fr-FR"/>
              <a:t> Partition</a:t>
            </a:r>
            <a:br>
              <a:rPr lang="fr-FR"/>
            </a:br>
            <a:r>
              <a:rPr lang="fr-FR"/>
              <a:t>(</a:t>
            </a:r>
            <a:r>
              <a:rPr lang="fr-FR"/>
              <a:t>FileSplit</a:t>
            </a:r>
            <a:r>
              <a:rPr lang="fr-FR"/>
              <a:t>)</a:t>
            </a:r>
          </a:p>
        </p:txBody>
      </p:sp>
      <p:cxnSp>
        <p:nvCxnSpPr>
          <p:cNvPr id="211" name="Straight Connector 210"/>
          <p:cNvCxnSpPr/>
          <p:nvPr/>
        </p:nvCxnSpPr>
        <p:spPr>
          <a:xfrm flipH="1" flipV="1">
            <a:off x="5449408" y="2546218"/>
            <a:ext cx="210765" cy="828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TextBox 218"/>
          <p:cNvSpPr txBox="1"/>
          <p:nvPr/>
        </p:nvSpPr>
        <p:spPr>
          <a:xfrm>
            <a:off x="1864691" y="5622259"/>
            <a:ext cx="9637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Column</a:t>
            </a:r>
            <a:r>
              <a:rPr lang="fr-FR"/>
              <a:t> </a:t>
            </a:r>
            <a:br>
              <a:rPr lang="fr-FR"/>
            </a:br>
            <a:r>
              <a:rPr lang="fr-FR"/>
              <a:t>Pruning</a:t>
            </a:r>
            <a:endParaRPr lang="fr-FR"/>
          </a:p>
        </p:txBody>
      </p:sp>
      <p:sp>
        <p:nvSpPr>
          <p:cNvPr id="224" name="TextBox 223"/>
          <p:cNvSpPr txBox="1"/>
          <p:nvPr/>
        </p:nvSpPr>
        <p:spPr>
          <a:xfrm>
            <a:off x="2971689" y="4907771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Columnar</a:t>
            </a:r>
            <a:endParaRPr lang="fr-FR" sz="2400"/>
          </a:p>
        </p:txBody>
      </p:sp>
      <p:cxnSp>
        <p:nvCxnSpPr>
          <p:cNvPr id="232" name="Straight Connector 231"/>
          <p:cNvCxnSpPr/>
          <p:nvPr/>
        </p:nvCxnSpPr>
        <p:spPr>
          <a:xfrm flipH="1">
            <a:off x="3910353" y="3868784"/>
            <a:ext cx="1406522" cy="10804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/>
          <p:cNvCxnSpPr>
            <a:endCxn id="224" idx="2"/>
          </p:cNvCxnSpPr>
          <p:nvPr/>
        </p:nvCxnSpPr>
        <p:spPr>
          <a:xfrm flipH="1" flipV="1">
            <a:off x="3673965" y="5369436"/>
            <a:ext cx="654437" cy="3185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3725561" y="5593396"/>
            <a:ext cx="14682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CPU/Memory</a:t>
            </a:r>
            <a:br>
              <a:rPr lang="fr-FR"/>
            </a:br>
            <a:r>
              <a:rPr lang="fr-FR"/>
              <a:t>efficient</a:t>
            </a:r>
          </a:p>
          <a:p>
            <a:endParaRPr lang="fr-FR"/>
          </a:p>
        </p:txBody>
      </p:sp>
      <p:cxnSp>
        <p:nvCxnSpPr>
          <p:cNvPr id="240" name="Straight Connector 239"/>
          <p:cNvCxnSpPr/>
          <p:nvPr/>
        </p:nvCxnSpPr>
        <p:spPr>
          <a:xfrm flipH="1" flipV="1">
            <a:off x="3528310" y="5335143"/>
            <a:ext cx="80099" cy="7521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3" name="TextBox 242"/>
          <p:cNvSpPr txBox="1"/>
          <p:nvPr/>
        </p:nvSpPr>
        <p:spPr>
          <a:xfrm>
            <a:off x="3052154" y="6239212"/>
            <a:ext cx="2431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faster</a:t>
            </a:r>
            <a:r>
              <a:rPr lang="fr-FR"/>
              <a:t> </a:t>
            </a:r>
            <a:r>
              <a:rPr lang="fr-FR"/>
              <a:t>Vectorized</a:t>
            </a:r>
            <a:r>
              <a:rPr lang="fr-FR"/>
              <a:t> </a:t>
            </a:r>
            <a:r>
              <a:rPr lang="fr-FR"/>
              <a:t>reader</a:t>
            </a:r>
            <a:endParaRPr lang="fr-FR"/>
          </a:p>
        </p:txBody>
      </p:sp>
      <p:cxnSp>
        <p:nvCxnSpPr>
          <p:cNvPr id="244" name="Straight Connector 243"/>
          <p:cNvCxnSpPr/>
          <p:nvPr/>
        </p:nvCxnSpPr>
        <p:spPr>
          <a:xfrm flipV="1">
            <a:off x="2719218" y="5335143"/>
            <a:ext cx="560956" cy="3851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TextBox 248"/>
          <p:cNvSpPr txBox="1"/>
          <p:nvPr/>
        </p:nvSpPr>
        <p:spPr>
          <a:xfrm>
            <a:off x="4412784" y="2064531"/>
            <a:ext cx="224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Predicate</a:t>
            </a:r>
            <a:r>
              <a:rPr lang="fr-FR" b="1"/>
              <a:t>-Push-Down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928983"/>
            <a:ext cx="10515600" cy="10000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Questions?</a:t>
            </a:r>
          </a:p>
        </p:txBody>
      </p:sp>
      <p:sp>
        <p:nvSpPr>
          <p:cNvPr id="3" name="Title 1"/>
          <p:cNvSpPr txBox="1"/>
          <p:nvPr/>
        </p:nvSpPr>
        <p:spPr>
          <a:xfrm>
            <a:off x="838200" y="4876800"/>
            <a:ext cx="10515600" cy="1000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/>
              <a:t>arnaud.nauwynck@gmail.com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96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Datalake File Formats (Parquet)</dc:title>
  <dc:creator>NAUWYNCK Arnaud</dc:creator>
  <cp:lastModifiedBy>arnaud</cp:lastModifiedBy>
  <cp:revision>41</cp:revision>
  <dcterms:created xsi:type="dcterms:W3CDTF">2023-11-05T12:01:48Z</dcterms:created>
  <dcterms:modified xsi:type="dcterms:W3CDTF">2025-11-15T14:03:13Z</dcterms:modified>
</cp:coreProperties>
</file>