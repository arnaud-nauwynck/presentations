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1" r:id="rId3"/>
    <p:sldId id="257" r:id="rId4"/>
    <p:sldId id="379" r:id="rId5"/>
    <p:sldId id="380" r:id="rId6"/>
    <p:sldId id="347" r:id="rId7"/>
    <p:sldId id="348" r:id="rId8"/>
    <p:sldId id="342" r:id="rId9"/>
    <p:sldId id="341" r:id="rId10"/>
    <p:sldId id="343" r:id="rId11"/>
    <p:sldId id="344" r:id="rId12"/>
    <p:sldId id="345" r:id="rId13"/>
    <p:sldId id="346" r:id="rId14"/>
    <p:sldId id="377" r:id="rId15"/>
    <p:sldId id="349" r:id="rId16"/>
    <p:sldId id="350" r:id="rId17"/>
    <p:sldId id="351" r:id="rId18"/>
    <p:sldId id="352" r:id="rId19"/>
    <p:sldId id="353" r:id="rId20"/>
    <p:sldId id="378" r:id="rId21"/>
    <p:sldId id="381" r:id="rId22"/>
    <p:sldId id="382" r:id="rId23"/>
    <p:sldId id="393" r:id="rId24"/>
    <p:sldId id="392" r:id="rId25"/>
    <p:sldId id="384" r:id="rId26"/>
    <p:sldId id="394" r:id="rId27"/>
    <p:sldId id="383" r:id="rId28"/>
    <p:sldId id="387" r:id="rId29"/>
    <p:sldId id="395" r:id="rId30"/>
    <p:sldId id="388" r:id="rId31"/>
    <p:sldId id="354" r:id="rId32"/>
    <p:sldId id="356" r:id="rId33"/>
    <p:sldId id="389" r:id="rId34"/>
    <p:sldId id="396" r:id="rId35"/>
    <p:sldId id="397" r:id="rId36"/>
    <p:sldId id="385" r:id="rId37"/>
    <p:sldId id="386" r:id="rId38"/>
    <p:sldId id="366" r:id="rId39"/>
    <p:sldId id="364" r:id="rId40"/>
    <p:sldId id="365" r:id="rId41"/>
    <p:sldId id="376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4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8D26C-66DD-6647-4F35-AF8C306AB7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7C1B2A-E763-8B26-8F80-7C817F1EB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DDC9A-BC0A-BEF9-C197-10873027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2997F-3025-6421-5AC9-404A3FF62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7E7FE-10B0-0ACB-8E0E-34280BB37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9326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712EF-5C42-6C95-3489-06BF6BD4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1020-5279-2C1D-1BAD-BD001832C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533BA-5BB5-05FF-B190-E100F438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CEB21-EECB-00DD-A536-B75088B3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D1521-E9AF-16AA-1884-DD4485C09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35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9DC7-DFEA-C15A-61A9-0BB773950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D9CDF5-4210-8BEC-DAEA-625785D31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55A3C-3E0E-126E-62D4-BCEC0C4E4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8700B-D867-E7DD-59ED-B8B92D8BA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0A63ED-1A45-949E-811D-D8C3B546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8292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81D7-7F7E-7CFB-5D93-39901B17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E22DC-CEB8-C7CE-7737-F7B36903C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0D5B8-49E5-D1EF-590B-AAA1F7CF2B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A1FEE-4FF5-B12C-F86C-473BE179F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BCD0A-25D3-A788-84F5-4131ACF18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AFFE8-40B4-D2BF-090E-EED45879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3540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2B597-0A11-2AA7-448D-E0366D86E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CC2A0-A085-29E6-25BD-B6F63863E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45371-FE1B-5710-AB79-36CFD20C4C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371B34-5AB3-E53F-9F4D-D5FAA3329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EA7509-0839-F01B-D238-D1E0B95BA1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13E823-E3C7-12F6-A133-59E89FEC1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5C7D8-5CB2-0A4F-1FBE-E72D01F1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DEC11A-0C77-FA10-3AF9-572DC805C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374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A2915-875C-2514-5102-B1134E80E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79B91D-BF4B-B4E8-EA82-0896C6ECF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F8D3F1-E6A9-6E63-0FBE-67C3A39E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248D2-8F74-0C66-C489-71B9784CD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684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2711-8020-1BA1-0861-264DD57FD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FDA682-73E0-4BB1-DE71-314E8783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1E31C-8203-6FA6-78A4-4378912C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2088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21AC0-AEEE-3C22-E884-69695F2F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E31B6-E5FA-CA5A-24DD-D49C0A0D8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B83434-C372-064E-2A10-4E0CC5C6F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60E7B-CFBE-9D33-7A4C-227C0BF56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B6BA3C-A711-EC61-6650-BA85EE36E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9B665-6D56-E608-C38B-DEBE66C20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494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DC36-C33B-38B6-971F-C8BD85A5F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04E9E5-619B-C5F8-E88F-E9722A6F5C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ECECF-55D1-7A8D-346F-0F0A0B6BA5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C287F-2867-E0C3-F1A6-79F7D094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08E4D8-40C3-68D4-C9BE-A22BF8370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9F777-42BA-8E3B-E2DD-233D50D67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595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DBAD6-C8C7-BFD9-6D6B-7BBFE1A8D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5BF572-1C41-0986-972E-AAE80BD61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4D38F-1930-5869-C568-F8755CDE9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06838-3420-BE6C-5907-35EC74EF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BCC39-B5DB-80E4-1FBC-150E8FD5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1395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BC7CE5-5D47-F4C3-501C-8B5A2B8052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6F0A2-0FD3-8841-2A69-BD1C3C2EE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AD09E-9D26-EC10-F6CB-4E671255D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74FE6-C4A1-C622-1614-B1E92035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458A2-6CC1-C2D2-8D86-0A6F672C3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359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598B5-6EAD-071E-0597-EE0B233B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EBFB5D-CA12-6BA7-12CB-BFEDF6881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46B93-CDF5-8189-9ADA-5A61A2EA60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789FF-ACCD-436E-9864-D1D02C2870CB}" type="datetimeFigureOut">
              <a:rPr lang="fr-FR" smtClean="0"/>
              <a:t>13/05/2025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64351-7EA7-38C3-A24E-7609EFE48A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9D64B-8BF4-D877-A477-DC75321756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366438-76B5-4213-B351-2F68AFA4F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2623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rnaud.nauwynck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etbootstrap.co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73E4C-96E6-262F-817E-67E3FF855D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5300"/>
            <a:ext cx="12192000" cy="3476625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Angular</a:t>
            </a:r>
            <a:r>
              <a:rPr lang="fr-FR" dirty="0"/>
              <a:t> Demos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ng</a:t>
            </a:r>
            <a:r>
              <a:rPr lang="fr-FR" dirty="0"/>
              <a:t> new,  </a:t>
            </a:r>
            <a:r>
              <a:rPr lang="fr-FR" dirty="0" err="1"/>
              <a:t>ng</a:t>
            </a:r>
            <a:r>
              <a:rPr lang="fr-FR" dirty="0"/>
              <a:t> serve,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ng</a:t>
            </a:r>
            <a:r>
              <a:rPr lang="fr-FR" dirty="0"/>
              <a:t>-)</a:t>
            </a:r>
            <a:r>
              <a:rPr lang="fr-FR" dirty="0" err="1"/>
              <a:t>bootstrap</a:t>
            </a:r>
            <a:r>
              <a:rPr lang="fr-FR" dirty="0"/>
              <a:t> </a:t>
            </a:r>
            <a:r>
              <a:rPr lang="fr-FR" dirty="0" err="1"/>
              <a:t>library</a:t>
            </a:r>
            <a:br>
              <a:rPr lang="fr-FR" dirty="0"/>
            </a:br>
            <a:r>
              <a:rPr lang="fr-FR" dirty="0"/>
              <a:t>basic </a:t>
            </a:r>
            <a:r>
              <a:rPr lang="fr-FR" dirty="0" err="1"/>
              <a:t>elements</a:t>
            </a:r>
            <a:r>
              <a:rPr lang="fr-FR" dirty="0"/>
              <a:t>: </a:t>
            </a:r>
            <a:r>
              <a:rPr lang="fr-FR" dirty="0" err="1"/>
              <a:t>button</a:t>
            </a:r>
            <a:r>
              <a:rPr lang="fr-FR" dirty="0"/>
              <a:t>, menu, tab, ..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0D11FB-79B7-C615-0A08-48B59325B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2624" y="4415698"/>
            <a:ext cx="11406752" cy="2442302"/>
          </a:xfrm>
        </p:spPr>
        <p:txBody>
          <a:bodyPr>
            <a:normAutofit/>
          </a:bodyPr>
          <a:lstStyle/>
          <a:p>
            <a:r>
              <a:rPr lang="fr-FR" dirty="0">
                <a:hlinkClick r:id="rId2"/>
              </a:rPr>
              <a:t>arnaud.nauwynck@gmail.com</a:t>
            </a:r>
            <a:endParaRPr lang="fr-FR" dirty="0"/>
          </a:p>
          <a:p>
            <a:r>
              <a:rPr lang="fr-FR" dirty="0"/>
              <a:t>Course </a:t>
            </a:r>
            <a:r>
              <a:rPr lang="fr-FR" dirty="0" err="1"/>
              <a:t>Esilv</a:t>
            </a:r>
            <a:r>
              <a:rPr lang="fr-FR" dirty="0"/>
              <a:t> 2025</a:t>
            </a:r>
          </a:p>
          <a:p>
            <a:r>
              <a:rPr lang="fr-FR" dirty="0"/>
              <a:t>This document: </a:t>
            </a:r>
            <a:br>
              <a:rPr lang="fr-FR" dirty="0"/>
            </a:br>
            <a:r>
              <a:rPr lang="fr-FR" dirty="0"/>
              <a:t>https://github.com/Arnaud-Nauwynck/presentations/web/</a:t>
            </a:r>
            <a:br>
              <a:rPr lang="fr-FR" dirty="0"/>
            </a:br>
            <a:r>
              <a:rPr lang="fr-FR" dirty="0"/>
              <a:t>angular-demos-1-ng-new-ngbootstrap.pdf</a:t>
            </a:r>
          </a:p>
        </p:txBody>
      </p:sp>
    </p:spTree>
    <p:extLst>
      <p:ext uri="{BB962C8B-B14F-4D97-AF65-F5344CB8AC3E}">
        <p14:creationId xmlns:p14="http://schemas.microsoft.com/office/powerpoint/2010/main" val="3401581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4DEC2-C392-F098-B8B2-508515E0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36378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2 </a:t>
            </a:r>
            <a:r>
              <a:rPr lang="fr-FR" dirty="0" err="1"/>
              <a:t>pre-requisites</a:t>
            </a:r>
            <a:r>
              <a:rPr lang="fr-FR" dirty="0"/>
              <a:t>:</a:t>
            </a:r>
            <a:br>
              <a:rPr lang="fr-FR" dirty="0"/>
            </a:br>
            <a:br>
              <a:rPr lang="fr-FR" dirty="0"/>
            </a:br>
            <a:r>
              <a:rPr lang="fr-FR" dirty="0"/>
              <a:t>1/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b="1" dirty="0"/>
              <a:t>node.js</a:t>
            </a:r>
            <a:br>
              <a:rPr lang="fr-FR" dirty="0"/>
            </a:br>
            <a:r>
              <a:rPr lang="fr-FR" dirty="0"/>
              <a:t>2/ </a:t>
            </a:r>
            <a:r>
              <a:rPr lang="fr-FR" b="1" dirty="0"/>
              <a:t>$ </a:t>
            </a:r>
            <a:r>
              <a:rPr lang="fr-FR" b="1" dirty="0" err="1"/>
              <a:t>npm</a:t>
            </a:r>
            <a:r>
              <a:rPr lang="fr-FR" b="1" dirty="0"/>
              <a:t> </a:t>
            </a:r>
            <a:r>
              <a:rPr lang="fr-FR" b="1" dirty="0" err="1"/>
              <a:t>install</a:t>
            </a:r>
            <a:r>
              <a:rPr lang="fr-FR" b="1" dirty="0"/>
              <a:t> -g @angular/cli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DFD013-0CC4-1731-EE08-BA315DD43E03}"/>
              </a:ext>
            </a:extLst>
          </p:cNvPr>
          <p:cNvSpPr txBox="1"/>
          <p:nvPr/>
        </p:nvSpPr>
        <p:spPr>
          <a:xfrm>
            <a:off x="3929062" y="4286250"/>
            <a:ext cx="497700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Also</a:t>
            </a:r>
            <a:r>
              <a:rPr lang="fr-FR" sz="2400" dirty="0"/>
              <a:t> </a:t>
            </a:r>
            <a:r>
              <a:rPr lang="fr-FR" sz="2400" dirty="0" err="1"/>
              <a:t>recommended</a:t>
            </a:r>
            <a:r>
              <a:rPr lang="fr-FR" sz="2400" dirty="0"/>
              <a:t> :</a:t>
            </a:r>
          </a:p>
          <a:p>
            <a:r>
              <a:rPr lang="fr-FR" sz="2400" dirty="0"/>
              <a:t>3/ have 1G </a:t>
            </a:r>
            <a:r>
              <a:rPr lang="fr-FR" sz="2400" dirty="0" err="1"/>
              <a:t>disk</a:t>
            </a:r>
            <a:r>
              <a:rPr lang="fr-FR" sz="2400" dirty="0"/>
              <a:t> free on </a:t>
            </a:r>
            <a:r>
              <a:rPr lang="fr-FR" sz="2400" dirty="0" err="1"/>
              <a:t>your</a:t>
            </a:r>
            <a:r>
              <a:rPr lang="fr-FR" sz="2400" dirty="0"/>
              <a:t> PC</a:t>
            </a:r>
          </a:p>
          <a:p>
            <a:r>
              <a:rPr lang="fr-FR" sz="2400" dirty="0"/>
              <a:t>4/ </a:t>
            </a:r>
            <a:r>
              <a:rPr lang="fr-FR" sz="2400" dirty="0" err="1"/>
              <a:t>install</a:t>
            </a:r>
            <a:r>
              <a:rPr lang="fr-FR" sz="2400" dirty="0"/>
              <a:t> </a:t>
            </a:r>
            <a:r>
              <a:rPr lang="fr-FR" sz="2400" dirty="0" err="1"/>
              <a:t>Intellij</a:t>
            </a:r>
            <a:r>
              <a:rPr lang="fr-FR" sz="2400" dirty="0"/>
              <a:t>  or Visual Studio Code</a:t>
            </a:r>
          </a:p>
          <a:p>
            <a:r>
              <a:rPr lang="fr-FR" sz="2400" dirty="0"/>
              <a:t>5/ network </a:t>
            </a:r>
            <a:r>
              <a:rPr lang="fr-FR" sz="2400" dirty="0" err="1"/>
              <a:t>bandwidth</a:t>
            </a:r>
            <a:endParaRPr lang="fr-FR" sz="2400" dirty="0"/>
          </a:p>
          <a:p>
            <a:r>
              <a:rPr lang="fr-FR" sz="2400" dirty="0"/>
              <a:t>6/ patience</a:t>
            </a:r>
          </a:p>
        </p:txBody>
      </p:sp>
    </p:spTree>
    <p:extLst>
      <p:ext uri="{BB962C8B-B14F-4D97-AF65-F5344CB8AC3E}">
        <p14:creationId xmlns:p14="http://schemas.microsoft.com/office/powerpoint/2010/main" val="3218073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34375-6FA3-7588-9F7D-26AB207C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$ </a:t>
            </a:r>
            <a:r>
              <a:rPr lang="fr-FR" b="1" dirty="0" err="1"/>
              <a:t>ng</a:t>
            </a:r>
            <a:r>
              <a:rPr lang="fr-FR" b="1" dirty="0"/>
              <a:t> new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0C00-09ED-405E-888E-D34A2E8A1CB6}"/>
              </a:ext>
            </a:extLst>
          </p:cNvPr>
          <p:cNvSpPr txBox="1"/>
          <p:nvPr/>
        </p:nvSpPr>
        <p:spPr>
          <a:xfrm>
            <a:off x="4289946" y="3167390"/>
            <a:ext cx="3785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Create</a:t>
            </a:r>
            <a:r>
              <a:rPr lang="fr-FR" sz="2800" dirty="0"/>
              <a:t> a new application</a:t>
            </a:r>
          </a:p>
        </p:txBody>
      </p:sp>
    </p:spTree>
    <p:extLst>
      <p:ext uri="{BB962C8B-B14F-4D97-AF65-F5344CB8AC3E}">
        <p14:creationId xmlns:p14="http://schemas.microsoft.com/office/powerpoint/2010/main" val="921190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90C3-B3B5-61E2-111C-5BF2AB3EA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Upgrade </a:t>
            </a:r>
            <a:r>
              <a:rPr lang="fr-FR" dirty="0" err="1"/>
              <a:t>existing</a:t>
            </a:r>
            <a:r>
              <a:rPr lang="fr-FR" dirty="0"/>
              <a:t> @angular/cli .. If </a:t>
            </a:r>
            <a:r>
              <a:rPr lang="fr-FR" dirty="0" err="1"/>
              <a:t>needed</a:t>
            </a:r>
            <a:r>
              <a:rPr lang="fr-FR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90F7DA-E36E-DDE4-8931-43CB9E729973}"/>
              </a:ext>
            </a:extLst>
          </p:cNvPr>
          <p:cNvSpPr txBox="1"/>
          <p:nvPr/>
        </p:nvSpPr>
        <p:spPr>
          <a:xfrm>
            <a:off x="3821373" y="2442950"/>
            <a:ext cx="505035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$ </a:t>
            </a:r>
            <a:r>
              <a:rPr lang="fr-FR" sz="3200" dirty="0" err="1"/>
              <a:t>ng</a:t>
            </a:r>
            <a:r>
              <a:rPr lang="fr-FR" sz="3200" dirty="0"/>
              <a:t> update @angular/cli</a:t>
            </a:r>
            <a:br>
              <a:rPr lang="fr-FR" sz="3200" dirty="0"/>
            </a:br>
            <a:br>
              <a:rPr lang="fr-FR" sz="3200" dirty="0"/>
            </a:br>
            <a:r>
              <a:rPr lang="fr-FR" sz="3200" dirty="0"/>
              <a:t>or </a:t>
            </a:r>
          </a:p>
          <a:p>
            <a:endParaRPr lang="fr-FR" sz="3200" dirty="0"/>
          </a:p>
          <a:p>
            <a:r>
              <a:rPr lang="fr-FR" sz="3200" dirty="0"/>
              <a:t>$ </a:t>
            </a:r>
            <a:r>
              <a:rPr lang="fr-FR" sz="3200" dirty="0" err="1"/>
              <a:t>npm</a:t>
            </a:r>
            <a:r>
              <a:rPr lang="fr-FR" sz="3200" dirty="0"/>
              <a:t> </a:t>
            </a:r>
            <a:r>
              <a:rPr lang="fr-FR" sz="3200" dirty="0" err="1"/>
              <a:t>uninstall</a:t>
            </a:r>
            <a:r>
              <a:rPr lang="fr-FR" sz="3200" dirty="0"/>
              <a:t> @angular/cli</a:t>
            </a:r>
          </a:p>
          <a:p>
            <a:r>
              <a:rPr lang="fr-FR" sz="3200" dirty="0"/>
              <a:t>$ </a:t>
            </a:r>
            <a:r>
              <a:rPr lang="fr-FR" sz="3200" dirty="0" err="1"/>
              <a:t>npm</a:t>
            </a:r>
            <a:r>
              <a:rPr lang="fr-FR" sz="3200" dirty="0"/>
              <a:t> </a:t>
            </a:r>
            <a:r>
              <a:rPr lang="fr-FR" sz="3200" dirty="0" err="1"/>
              <a:t>install</a:t>
            </a:r>
            <a:r>
              <a:rPr lang="fr-FR" sz="3200" dirty="0"/>
              <a:t> –g @angular/cli</a:t>
            </a:r>
          </a:p>
        </p:txBody>
      </p:sp>
    </p:spTree>
    <p:extLst>
      <p:ext uri="{BB962C8B-B14F-4D97-AF65-F5344CB8AC3E}">
        <p14:creationId xmlns:p14="http://schemas.microsoft.com/office/powerpoint/2010/main" val="1008307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90C3-B3B5-61E2-111C-5BF2AB3E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6384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Upgrade </a:t>
            </a:r>
            <a:r>
              <a:rPr lang="fr-FR" dirty="0" err="1"/>
              <a:t>existing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 … if </a:t>
            </a:r>
            <a:r>
              <a:rPr lang="fr-FR" dirty="0" err="1"/>
              <a:t>needed</a:t>
            </a:r>
            <a:br>
              <a:rPr lang="fr-FR" dirty="0"/>
            </a:br>
            <a:br>
              <a:rPr lang="fr-FR" dirty="0"/>
            </a:br>
            <a:r>
              <a:rPr lang="fr-FR" dirty="0"/>
              <a:t>$ </a:t>
            </a:r>
            <a:r>
              <a:rPr lang="fr-FR" b="1" dirty="0" err="1"/>
              <a:t>ng</a:t>
            </a:r>
            <a:r>
              <a:rPr lang="fr-FR" b="1" dirty="0"/>
              <a:t> update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21774D-1E37-F7ED-E611-A96B67D18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524" y="3047549"/>
            <a:ext cx="7666384" cy="1226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8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6A9CF-8789-45D7-AAC5-1D9B568F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« </a:t>
            </a:r>
            <a:r>
              <a:rPr lang="fr-FR" dirty="0" err="1"/>
              <a:t>ng</a:t>
            </a:r>
            <a:r>
              <a:rPr lang="fr-FR" dirty="0"/>
              <a:t> new » alternatives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056B6-3BCE-EF92-CE35-B995DCADE706}"/>
              </a:ext>
            </a:extLst>
          </p:cNvPr>
          <p:cNvSpPr txBox="1"/>
          <p:nvPr/>
        </p:nvSpPr>
        <p:spPr>
          <a:xfrm>
            <a:off x="2543033" y="2644170"/>
            <a:ext cx="842314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1/  $ </a:t>
            </a:r>
            <a:r>
              <a:rPr lang="fr-FR" sz="3200" b="1" dirty="0"/>
              <a:t>git clone </a:t>
            </a:r>
            <a:r>
              <a:rPr lang="fr-FR" sz="3200" dirty="0"/>
              <a:t> https://github.com/${org}/${repo}</a:t>
            </a:r>
          </a:p>
          <a:p>
            <a:endParaRPr lang="fr-FR" sz="3200" dirty="0"/>
          </a:p>
          <a:p>
            <a:r>
              <a:rPr lang="fr-FR" sz="3200" dirty="0"/>
              <a:t>2/  </a:t>
            </a:r>
            <a:r>
              <a:rPr lang="fr-FR" sz="3200" b="1" dirty="0" err="1"/>
              <a:t>jhispter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3/ </a:t>
            </a:r>
            <a:r>
              <a:rPr lang="fr-FR" sz="3200" dirty="0" err="1"/>
              <a:t>read</a:t>
            </a:r>
            <a:r>
              <a:rPr lang="fr-FR" sz="3200" dirty="0"/>
              <a:t> docs, </a:t>
            </a:r>
            <a:r>
              <a:rPr lang="fr-FR" sz="3200" dirty="0" err="1"/>
              <a:t>edit</a:t>
            </a:r>
            <a:r>
              <a:rPr lang="fr-FR" sz="3200" dirty="0"/>
              <a:t>  </a:t>
            </a:r>
            <a:r>
              <a:rPr lang="fr-FR" sz="3200" dirty="0" err="1"/>
              <a:t>package.json</a:t>
            </a:r>
            <a:r>
              <a:rPr lang="fr-FR" sz="3200" dirty="0"/>
              <a:t> + </a:t>
            </a:r>
            <a:r>
              <a:rPr lang="fr-FR" sz="3200" dirty="0" err="1"/>
              <a:t>angular.json</a:t>
            </a:r>
            <a:br>
              <a:rPr lang="fr-FR" sz="3200" dirty="0"/>
            </a:br>
            <a:r>
              <a:rPr lang="fr-FR" sz="3200" dirty="0"/>
              <a:t>    … NOT </a:t>
            </a:r>
            <a:r>
              <a:rPr lang="fr-FR" sz="3200" dirty="0" err="1"/>
              <a:t>recommended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3927282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4D26D-54B0-4C1C-BF84-D60BE26CD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Jhipster</a:t>
            </a:r>
            <a:r>
              <a:rPr lang="fr-FR" dirty="0"/>
              <a:t> = Java </a:t>
            </a:r>
            <a:r>
              <a:rPr lang="fr-FR" dirty="0" err="1"/>
              <a:t>springboot</a:t>
            </a:r>
            <a:r>
              <a:rPr lang="fr-FR" dirty="0"/>
              <a:t>(backend) + </a:t>
            </a:r>
            <a:r>
              <a:rPr lang="fr-FR" dirty="0" err="1"/>
              <a:t>angular</a:t>
            </a:r>
            <a:r>
              <a:rPr lang="fr-FR" dirty="0"/>
              <a:t>(frontend) app </a:t>
            </a:r>
            <a:r>
              <a:rPr lang="fr-FR" dirty="0" err="1"/>
              <a:t>generator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63143-B63B-59AA-E77E-67503E7EE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690688"/>
            <a:ext cx="9556845" cy="487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05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11B7-C92B-72BF-71C9-533FA9F29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17467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ng</a:t>
            </a:r>
            <a:r>
              <a:rPr lang="fr-FR" dirty="0"/>
              <a:t> new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77893E-4F53-1CDA-05B7-0DFACFCAE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80" y="1377153"/>
            <a:ext cx="8009314" cy="37417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6DD87A-043F-4C1D-E1A5-3447BF7BE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661" y="837960"/>
            <a:ext cx="3562659" cy="552497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4B3B3058-6ED8-2D50-84C7-E54B8C99FCEC}"/>
              </a:ext>
            </a:extLst>
          </p:cNvPr>
          <p:cNvSpPr/>
          <p:nvPr/>
        </p:nvSpPr>
        <p:spPr>
          <a:xfrm>
            <a:off x="7920037" y="2840831"/>
            <a:ext cx="790575" cy="814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756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7F6B-9D64-559F-3765-A735215D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$ </a:t>
            </a:r>
            <a:r>
              <a:rPr lang="fr-FR" b="1" dirty="0" err="1"/>
              <a:t>ng</a:t>
            </a:r>
            <a:r>
              <a:rPr lang="fr-FR" b="1" dirty="0"/>
              <a:t> serve</a:t>
            </a:r>
            <a:r>
              <a:rPr lang="fr-FR" dirty="0"/>
              <a:t>   =&gt; http://localhost:4200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B5F057-E043-98C3-58AF-DE0B4ED91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14" y="1942940"/>
            <a:ext cx="10409822" cy="3676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05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CC89D-9159-90E3-8A65-F3391282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1601"/>
            <a:ext cx="10515600" cy="166846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Demo</a:t>
            </a:r>
            <a:br>
              <a:rPr lang="fr-FR" dirty="0"/>
            </a:br>
            <a:r>
              <a:rPr lang="fr-FR" dirty="0" err="1"/>
              <a:t>IntelliJ</a:t>
            </a:r>
            <a:r>
              <a:rPr lang="fr-FR" dirty="0"/>
              <a:t> (</a:t>
            </a:r>
            <a:r>
              <a:rPr lang="fr-FR" dirty="0" err="1"/>
              <a:t>left</a:t>
            </a:r>
            <a:r>
              <a:rPr lang="fr-FR" dirty="0"/>
              <a:t>) + Chrome (right) + </a:t>
            </a:r>
            <a:r>
              <a:rPr lang="fr-FR" dirty="0" err="1"/>
              <a:t>ng</a:t>
            </a:r>
            <a:r>
              <a:rPr lang="fr-FR" dirty="0"/>
              <a:t> serve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DD7CD-B327-E078-161E-E6BE0494D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513" y="1507807"/>
            <a:ext cx="9753600" cy="517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033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9AD6E-880B-899F-BC6C-8F3DB70C9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Demo</a:t>
            </a:r>
            <a:r>
              <a:rPr lang="fr-FR" dirty="0"/>
              <a:t> … Live </a:t>
            </a:r>
            <a:r>
              <a:rPr lang="fr-FR" dirty="0" err="1"/>
              <a:t>reload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96476-CEA0-3B31-46F3-4FD7A773D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210" y="1119810"/>
            <a:ext cx="10515601" cy="559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575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CEFEF-B288-FECC-005C-2CF9906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72750" cy="223520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Live </a:t>
            </a:r>
            <a:r>
              <a:rPr lang="fr-FR" dirty="0" err="1"/>
              <a:t>Reload</a:t>
            </a:r>
            <a:r>
              <a:rPr lang="fr-FR" dirty="0"/>
              <a:t> …  --</a:t>
            </a:r>
            <a:r>
              <a:rPr lang="fr-FR" dirty="0" err="1"/>
              <a:t>watch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expect</a:t>
            </a:r>
            <a:r>
              <a:rPr lang="fr-FR" dirty="0"/>
              <a:t> 5 seconds </a:t>
            </a:r>
            <a:r>
              <a:rPr lang="fr-FR" dirty="0" err="1"/>
              <a:t>delay</a:t>
            </a:r>
            <a:r>
              <a:rPr lang="fr-FR" dirty="0"/>
              <a:t>)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watch</a:t>
            </a:r>
            <a:r>
              <a:rPr lang="fr-FR" dirty="0"/>
              <a:t> File changes =&gt; compile =&gt; </a:t>
            </a:r>
            <a:r>
              <a:rPr lang="fr-FR" dirty="0" err="1"/>
              <a:t>refresh</a:t>
            </a:r>
            <a:r>
              <a:rPr lang="fr-FR" dirty="0"/>
              <a:t> page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E37609-DCDE-AC27-9107-F2F9B53A5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880" y="2820751"/>
            <a:ext cx="7025488" cy="367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53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8E948-C2B1-0D2B-D151-542CC2CAF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Demo</a:t>
            </a:r>
            <a:r>
              <a:rPr lang="fr-FR" dirty="0"/>
              <a:t> live-</a:t>
            </a:r>
            <a:r>
              <a:rPr lang="fr-FR" dirty="0" err="1"/>
              <a:t>reload</a:t>
            </a:r>
            <a:r>
              <a:rPr lang="fr-FR" dirty="0"/>
              <a:t> … </a:t>
            </a:r>
            <a:r>
              <a:rPr lang="fr-FR" dirty="0" err="1"/>
              <a:t>when</a:t>
            </a:r>
            <a:r>
              <a:rPr lang="fr-FR" dirty="0"/>
              <a:t> compile </a:t>
            </a:r>
            <a:r>
              <a:rPr lang="fr-FR" dirty="0" err="1"/>
              <a:t>error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836787-3271-D682-0EDF-AAAA2EF3A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50" y="1812044"/>
            <a:ext cx="9105900" cy="483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758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66F97-C872-992D-4C5C-7C9A6083B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341" y="2521471"/>
            <a:ext cx="10515600" cy="1325563"/>
          </a:xfrm>
        </p:spPr>
        <p:txBody>
          <a:bodyPr/>
          <a:lstStyle/>
          <a:p>
            <a:r>
              <a:rPr lang="fr-FR" dirty="0" err="1"/>
              <a:t>Adding</a:t>
            </a:r>
            <a:r>
              <a:rPr lang="fr-FR" dirty="0"/>
              <a:t> Bootstrap </a:t>
            </a:r>
            <a:r>
              <a:rPr lang="fr-FR" dirty="0" err="1"/>
              <a:t>library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08507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37481"/>
          </a:xfrm>
        </p:spPr>
        <p:txBody>
          <a:bodyPr>
            <a:normAutofit/>
          </a:bodyPr>
          <a:lstStyle/>
          <a:p>
            <a:pPr algn="ctr"/>
            <a:r>
              <a:rPr lang="fr-FR" dirty="0">
                <a:hlinkClick r:id="rId2"/>
              </a:rPr>
              <a:t>https://getbootstrap.com/</a:t>
            </a:r>
            <a:r>
              <a:rPr lang="fr-FR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F592A-A298-40A2-CFF6-491028EF4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46" y="1528549"/>
            <a:ext cx="10444583" cy="4979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226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pPr algn="ctr"/>
            <a:r>
              <a:rPr lang="fr-FR" dirty="0"/>
              <a:t>Bootstrap … </a:t>
            </a:r>
            <a:r>
              <a:rPr lang="fr-FR" dirty="0" err="1"/>
              <a:t>example</a:t>
            </a:r>
            <a:r>
              <a:rPr lang="fr-FR" dirty="0"/>
              <a:t>: </a:t>
            </a:r>
            <a:r>
              <a:rPr lang="fr-FR" dirty="0" err="1"/>
              <a:t>button</a:t>
            </a:r>
            <a:r>
              <a:rPr lang="fr-FR" dirty="0"/>
              <a:t> </a:t>
            </a:r>
            <a:r>
              <a:rPr lang="fr-FR" dirty="0" err="1"/>
              <a:t>dropdown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4A63C-56A9-1F81-C9B5-74E8C90BE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5" y="1011501"/>
            <a:ext cx="9472717" cy="48416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5F7A76-1E62-448E-485F-6B64E3144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79" y="3843268"/>
            <a:ext cx="1988992" cy="16193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B4E9F1-E7CF-D362-86DF-13171F837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6859" y="1990684"/>
            <a:ext cx="1855631" cy="933531"/>
          </a:xfrm>
          <a:prstGeom prst="rect">
            <a:avLst/>
          </a:prstGeom>
        </p:spPr>
      </p:pic>
      <p:sp>
        <p:nvSpPr>
          <p:cNvPr id="10" name="Arrow: Down 9">
            <a:extLst>
              <a:ext uri="{FF2B5EF4-FFF2-40B4-BE49-F238E27FC236}">
                <a16:creationId xmlns:a16="http://schemas.microsoft.com/office/drawing/2014/main" id="{D2A1EE05-3A28-1EA7-5F9E-BEEF9C0A4DBE}"/>
              </a:ext>
            </a:extLst>
          </p:cNvPr>
          <p:cNvSpPr/>
          <p:nvPr/>
        </p:nvSpPr>
        <p:spPr>
          <a:xfrm>
            <a:off x="10582275" y="3188478"/>
            <a:ext cx="381000" cy="4381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372592-84F1-E0AC-C052-191B87ED6112}"/>
              </a:ext>
            </a:extLst>
          </p:cNvPr>
          <p:cNvSpPr txBox="1"/>
          <p:nvPr/>
        </p:nvSpPr>
        <p:spPr>
          <a:xfrm>
            <a:off x="11053878" y="3140855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3746952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33015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Adding</a:t>
            </a:r>
            <a:r>
              <a:rPr lang="fr-FR" dirty="0"/>
              <a:t> via </a:t>
            </a:r>
            <a:r>
              <a:rPr lang="fr-FR" dirty="0" err="1"/>
              <a:t>ng-bootstrap</a:t>
            </a:r>
            <a:br>
              <a:rPr lang="fr-FR" dirty="0"/>
            </a:br>
            <a:r>
              <a:rPr lang="fr-FR" dirty="0"/>
              <a:t>… NPM module for Bootstrap in </a:t>
            </a:r>
            <a:r>
              <a:rPr lang="fr-FR" dirty="0" err="1"/>
              <a:t>Angular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B3F491-5FD9-089E-CC8D-9344FBEE2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029" y="1478507"/>
            <a:ext cx="10108302" cy="520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2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4233"/>
            <a:ext cx="10515600" cy="868907"/>
          </a:xfrm>
        </p:spPr>
        <p:txBody>
          <a:bodyPr/>
          <a:lstStyle/>
          <a:p>
            <a:pPr algn="ctr"/>
            <a:r>
              <a:rPr lang="fr-FR" dirty="0" err="1"/>
              <a:t>ng</a:t>
            </a:r>
            <a:r>
              <a:rPr lang="fr-FR" dirty="0"/>
              <a:t> </a:t>
            </a:r>
            <a:r>
              <a:rPr lang="fr-FR" dirty="0" err="1"/>
              <a:t>add</a:t>
            </a:r>
            <a:r>
              <a:rPr lang="fr-FR" dirty="0"/>
              <a:t> @ng-bootstrap/ng-bootstrap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45973-B410-4471-AB43-6465CADD3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982" y="2319980"/>
            <a:ext cx="8204853" cy="349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544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r>
              <a:rPr lang="fr-FR" dirty="0"/>
              <a:t>git </a:t>
            </a:r>
            <a:r>
              <a:rPr lang="fr-FR" dirty="0" err="1"/>
              <a:t>status</a:t>
            </a:r>
            <a:r>
              <a:rPr lang="fr-FR" dirty="0"/>
              <a:t> ; git diff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16AE7B-7875-4D90-D704-F5EAA05B9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385" y="380086"/>
            <a:ext cx="6396318" cy="6368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FDAC07-ED7C-23A7-61B0-9BB39C4F5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93" y="1794858"/>
            <a:ext cx="5408770" cy="196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759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0B89-35C1-0762-EAB9-B4AE4F74E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REDO  </a:t>
            </a:r>
            <a:r>
              <a:rPr lang="fr-FR" dirty="0" err="1"/>
              <a:t>npm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+ stop &amp; restart   </a:t>
            </a:r>
            <a:r>
              <a:rPr lang="fr-FR" dirty="0" err="1"/>
              <a:t>ng</a:t>
            </a:r>
            <a:r>
              <a:rPr lang="fr-FR" dirty="0"/>
              <a:t> server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E021D-F43A-668A-D30A-60C3D8041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745" y="2205394"/>
            <a:ext cx="6458510" cy="3238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188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1A545-3226-E7FF-DF6E-D8068D70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5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Bootstrap Demos</a:t>
            </a:r>
          </a:p>
        </p:txBody>
      </p:sp>
    </p:spTree>
    <p:extLst>
      <p:ext uri="{BB962C8B-B14F-4D97-AF65-F5344CB8AC3E}">
        <p14:creationId xmlns:p14="http://schemas.microsoft.com/office/powerpoint/2010/main" val="589406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E610227-6CC4-07EB-D79E-B000BDA4C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66" y="1252976"/>
            <a:ext cx="4629334" cy="56050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4666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 1: </a:t>
            </a:r>
            <a:br>
              <a:rPr lang="fr-FR" dirty="0"/>
            </a:br>
            <a:r>
              <a:rPr lang="fr-FR" dirty="0"/>
              <a:t>Container,  12 x </a:t>
            </a:r>
            <a:r>
              <a:rPr lang="fr-FR" dirty="0" err="1"/>
              <a:t>columns</a:t>
            </a:r>
            <a:r>
              <a:rPr lang="fr-FR" dirty="0"/>
              <a:t> 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B41E4E-446E-A70B-A613-8508205DF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69" y="1886930"/>
            <a:ext cx="5627125" cy="3285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5FF147B-DEDF-E95D-EEFA-7E2B5F676C64}"/>
              </a:ext>
            </a:extLst>
          </p:cNvPr>
          <p:cNvSpPr/>
          <p:nvPr/>
        </p:nvSpPr>
        <p:spPr>
          <a:xfrm>
            <a:off x="1264681" y="1966713"/>
            <a:ext cx="2302432" cy="34362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3D8640-F4EE-6B2C-770A-1CDC748DA80C}"/>
              </a:ext>
            </a:extLst>
          </p:cNvPr>
          <p:cNvSpPr/>
          <p:nvPr/>
        </p:nvSpPr>
        <p:spPr>
          <a:xfrm>
            <a:off x="1568347" y="2320425"/>
            <a:ext cx="1427266" cy="34362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524D0-0AA3-40A7-BB74-DEC9EED38852}"/>
              </a:ext>
            </a:extLst>
          </p:cNvPr>
          <p:cNvSpPr/>
          <p:nvPr/>
        </p:nvSpPr>
        <p:spPr>
          <a:xfrm>
            <a:off x="1812314" y="3319621"/>
            <a:ext cx="2150086" cy="34362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3647E8-030A-564A-D224-57104F5FC9F4}"/>
              </a:ext>
            </a:extLst>
          </p:cNvPr>
          <p:cNvSpPr/>
          <p:nvPr/>
        </p:nvSpPr>
        <p:spPr>
          <a:xfrm>
            <a:off x="1788502" y="4041339"/>
            <a:ext cx="2150086" cy="34362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3411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 1: </a:t>
            </a:r>
            <a:br>
              <a:rPr lang="fr-FR" dirty="0"/>
            </a:br>
            <a:r>
              <a:rPr lang="fr-FR" dirty="0"/>
              <a:t>Container,  12 x </a:t>
            </a:r>
            <a:r>
              <a:rPr lang="fr-FR" dirty="0" err="1"/>
              <a:t>columns</a:t>
            </a:r>
            <a:r>
              <a:rPr lang="fr-FR" dirty="0"/>
              <a:t>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868B94-0411-5208-1D00-FCB56B963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881" y="2500312"/>
            <a:ext cx="10400334" cy="343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63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8144C-BFD8-A6B6-C06A-D901DCD0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Demo</a:t>
            </a:r>
            <a:r>
              <a:rPr lang="fr-FR" dirty="0"/>
              <a:t> Bootstrap </a:t>
            </a:r>
            <a:r>
              <a:rPr lang="fr-FR" dirty="0" err="1"/>
              <a:t>Carousel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B33A9C-17CB-9A61-FB40-0CD64DAAB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099" y="1447800"/>
            <a:ext cx="8252424" cy="5410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A3D9446-8A82-E4DB-A8CD-2F94FCDE7AF0}"/>
              </a:ext>
            </a:extLst>
          </p:cNvPr>
          <p:cNvSpPr/>
          <p:nvPr/>
        </p:nvSpPr>
        <p:spPr>
          <a:xfrm>
            <a:off x="2224086" y="1500991"/>
            <a:ext cx="1528763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3B117B-A32E-3927-5A72-FF5543F98937}"/>
              </a:ext>
            </a:extLst>
          </p:cNvPr>
          <p:cNvSpPr/>
          <p:nvPr/>
        </p:nvSpPr>
        <p:spPr>
          <a:xfrm>
            <a:off x="3686175" y="1800255"/>
            <a:ext cx="962026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7BDFD6-00BB-38E1-CCD6-C7C0D4CC02DA}"/>
              </a:ext>
            </a:extLst>
          </p:cNvPr>
          <p:cNvSpPr/>
          <p:nvPr/>
        </p:nvSpPr>
        <p:spPr>
          <a:xfrm>
            <a:off x="3152774" y="2882930"/>
            <a:ext cx="2505075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8FA5A9-033F-8E7A-BAA3-C50D9169C682}"/>
              </a:ext>
            </a:extLst>
          </p:cNvPr>
          <p:cNvSpPr/>
          <p:nvPr/>
        </p:nvSpPr>
        <p:spPr>
          <a:xfrm>
            <a:off x="2507454" y="1800255"/>
            <a:ext cx="7679534" cy="245742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1045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 err="1"/>
              <a:t>Carousel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28C4F5-4EAB-F853-4D87-F022BF2C6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158" y="1634272"/>
            <a:ext cx="9381033" cy="50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642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BDDCA-F83C-8D30-BF43-951A88454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Bootstrap Button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5F114C-C3C0-E768-022B-381656063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346" y="1792541"/>
            <a:ext cx="7430799" cy="13795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892109-8C62-6336-1C5A-C4587577D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346" y="3668975"/>
            <a:ext cx="8292833" cy="8393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11A8D6-EBA5-897B-6D2E-0BB155BCB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346" y="4988258"/>
            <a:ext cx="8121802" cy="8393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44FDB84-28B7-A0AF-A51B-193BD1D6981D}"/>
              </a:ext>
            </a:extLst>
          </p:cNvPr>
          <p:cNvSpPr/>
          <p:nvPr/>
        </p:nvSpPr>
        <p:spPr>
          <a:xfrm>
            <a:off x="3430138" y="1817392"/>
            <a:ext cx="3748584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A167B9-6CF4-F69E-A337-F3DF19D4185C}"/>
              </a:ext>
            </a:extLst>
          </p:cNvPr>
          <p:cNvSpPr/>
          <p:nvPr/>
        </p:nvSpPr>
        <p:spPr>
          <a:xfrm>
            <a:off x="6200633" y="3685882"/>
            <a:ext cx="978089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90B74C-7A68-51A5-E9C1-1CCE6C310686}"/>
              </a:ext>
            </a:extLst>
          </p:cNvPr>
          <p:cNvSpPr/>
          <p:nvPr/>
        </p:nvSpPr>
        <p:spPr>
          <a:xfrm>
            <a:off x="7019499" y="5011997"/>
            <a:ext cx="784744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57D949-62D3-B05B-A4FC-DE90F0A41E6D}"/>
              </a:ext>
            </a:extLst>
          </p:cNvPr>
          <p:cNvSpPr/>
          <p:nvPr/>
        </p:nvSpPr>
        <p:spPr>
          <a:xfrm>
            <a:off x="7017225" y="5551087"/>
            <a:ext cx="784744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E20982-2925-59B3-507F-A3CDD0257726}"/>
              </a:ext>
            </a:extLst>
          </p:cNvPr>
          <p:cNvSpPr/>
          <p:nvPr/>
        </p:nvSpPr>
        <p:spPr>
          <a:xfrm>
            <a:off x="6268872" y="1814676"/>
            <a:ext cx="909850" cy="1381182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7823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Button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B4AA4-EF0A-DF1A-B64F-2714B835E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682" y="2205145"/>
            <a:ext cx="8550155" cy="327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04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Button </a:t>
            </a:r>
            <a:r>
              <a:rPr lang="fr-FR" dirty="0" err="1"/>
              <a:t>dropdown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ECC9-0642-1F1B-5C7C-801E99BE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831" y="1977503"/>
            <a:ext cx="8856705" cy="3950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835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Button </a:t>
            </a:r>
            <a:r>
              <a:rPr lang="fr-FR" dirty="0" err="1"/>
              <a:t>dropdown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89953F-3007-D6CB-AC39-5BE482A18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95" y="3110837"/>
            <a:ext cx="7601609" cy="636325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3288D804-97AC-9BF4-98B4-7C25C21F732B}"/>
              </a:ext>
            </a:extLst>
          </p:cNvPr>
          <p:cNvSpPr/>
          <p:nvPr/>
        </p:nvSpPr>
        <p:spPr>
          <a:xfrm>
            <a:off x="3546739" y="3799267"/>
            <a:ext cx="3213452" cy="895563"/>
          </a:xfrm>
          <a:prstGeom prst="wedgeEllipseCallout">
            <a:avLst>
              <a:gd name="adj1" fmla="val -41103"/>
              <a:gd name="adj2" fmla="val -572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dropdown</a:t>
            </a:r>
            <a:endParaRPr lang="fr-FR" dirty="0"/>
          </a:p>
          <a:p>
            <a:pPr algn="ctr"/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work</a:t>
            </a:r>
            <a:r>
              <a:rPr lang="fr-FR" dirty="0"/>
              <a:t>?!</a:t>
            </a:r>
          </a:p>
        </p:txBody>
      </p:sp>
    </p:spTree>
    <p:extLst>
      <p:ext uri="{BB962C8B-B14F-4D97-AF65-F5344CB8AC3E}">
        <p14:creationId xmlns:p14="http://schemas.microsoft.com/office/powerpoint/2010/main" val="10321661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031A7-B885-3071-22AF-C6D8DC81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564"/>
            <a:ext cx="10515600" cy="1645645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 !!!  </a:t>
            </a:r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not </a:t>
            </a:r>
            <a:r>
              <a:rPr lang="fr-FR" dirty="0" err="1"/>
              <a:t>work</a:t>
            </a:r>
            <a:r>
              <a:rPr lang="fr-FR" dirty="0"/>
              <a:t> ??</a:t>
            </a:r>
            <a:br>
              <a:rPr lang="fr-FR" dirty="0"/>
            </a:br>
            <a:r>
              <a:rPr lang="fr-FR" dirty="0"/>
              <a:t>You are not </a:t>
            </a:r>
            <a:r>
              <a:rPr lang="fr-FR" dirty="0" err="1"/>
              <a:t>alone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FD9C2-30F6-43E2-0A64-7F1B3FBC7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685" y="1547387"/>
            <a:ext cx="9240051" cy="518204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336EF52-77EF-F54E-FE64-820A3FB1CEE2}"/>
              </a:ext>
            </a:extLst>
          </p:cNvPr>
          <p:cNvSpPr/>
          <p:nvPr/>
        </p:nvSpPr>
        <p:spPr>
          <a:xfrm>
            <a:off x="3370144" y="3165096"/>
            <a:ext cx="2024418" cy="53226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88F7C348-5478-FBE4-02F7-A07248F16F1F}"/>
              </a:ext>
            </a:extLst>
          </p:cNvPr>
          <p:cNvSpPr/>
          <p:nvPr/>
        </p:nvSpPr>
        <p:spPr>
          <a:xfrm>
            <a:off x="39264" y="3367088"/>
            <a:ext cx="3303724" cy="1366837"/>
          </a:xfrm>
          <a:prstGeom prst="wedgeEllipseCallout">
            <a:avLst>
              <a:gd name="adj1" fmla="val 55425"/>
              <a:gd name="adj2" fmla="val -3331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3674F9-023A-8731-C020-B8B15E507BC7}"/>
              </a:ext>
            </a:extLst>
          </p:cNvPr>
          <p:cNvSpPr txBox="1"/>
          <p:nvPr/>
        </p:nvSpPr>
        <p:spPr>
          <a:xfrm>
            <a:off x="455210" y="3588841"/>
            <a:ext cx="24718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68 Millions</a:t>
            </a:r>
            <a:r>
              <a:rPr lang="fr-FR" dirty="0"/>
              <a:t> bugs / pages</a:t>
            </a:r>
            <a:br>
              <a:rPr lang="fr-FR" dirty="0"/>
            </a:br>
            <a:r>
              <a:rPr lang="fr-FR" dirty="0" err="1"/>
              <a:t>written</a:t>
            </a:r>
            <a:r>
              <a:rPr lang="fr-FR" dirty="0"/>
              <a:t> by </a:t>
            </a:r>
            <a:r>
              <a:rPr lang="fr-FR" dirty="0" err="1"/>
              <a:t>developpers</a:t>
            </a:r>
            <a:br>
              <a:rPr lang="fr-FR" dirty="0"/>
            </a:br>
            <a:r>
              <a:rPr lang="fr-FR" dirty="0" err="1"/>
              <a:t>complaining</a:t>
            </a:r>
            <a:r>
              <a:rPr lang="fr-FR" dirty="0"/>
              <a:t> on </a:t>
            </a:r>
            <a:r>
              <a:rPr lang="fr-FR" dirty="0" err="1"/>
              <a:t>same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46224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13" y="0"/>
            <a:ext cx="11759821" cy="1533525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Root cause of all </a:t>
            </a:r>
            <a:r>
              <a:rPr lang="fr-FR" dirty="0" err="1"/>
              <a:t>problems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/>
              <a:t>CSS </a:t>
            </a:r>
            <a:r>
              <a:rPr lang="fr-FR" dirty="0" err="1"/>
              <a:t>depends</a:t>
            </a:r>
            <a:r>
              <a:rPr lang="fr-FR" dirty="0"/>
              <a:t> on JS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1B7BCC-5F34-2E72-76FE-62830C63F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331" y="1652543"/>
            <a:ext cx="9130639" cy="3552914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A10779C-7BF9-9757-6F92-F103ACF5B3ED}"/>
              </a:ext>
            </a:extLst>
          </p:cNvPr>
          <p:cNvSpPr/>
          <p:nvPr/>
        </p:nvSpPr>
        <p:spPr>
          <a:xfrm>
            <a:off x="3686175" y="4114799"/>
            <a:ext cx="1704975" cy="277883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Speech Bubble: Oval 19">
            <a:extLst>
              <a:ext uri="{FF2B5EF4-FFF2-40B4-BE49-F238E27FC236}">
                <a16:creationId xmlns:a16="http://schemas.microsoft.com/office/drawing/2014/main" id="{47031393-5F18-85CD-ED95-363BE8F9879B}"/>
              </a:ext>
            </a:extLst>
          </p:cNvPr>
          <p:cNvSpPr/>
          <p:nvPr/>
        </p:nvSpPr>
        <p:spPr>
          <a:xfrm>
            <a:off x="2012331" y="4229102"/>
            <a:ext cx="1637136" cy="671512"/>
          </a:xfrm>
          <a:prstGeom prst="wedgeEllipseCallout">
            <a:avLst>
              <a:gd name="adj1" fmla="val 55425"/>
              <a:gd name="adj2" fmla="val -3331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Finally</a:t>
            </a:r>
            <a:r>
              <a:rPr lang="fr-FR" dirty="0"/>
              <a:t> !!</a:t>
            </a:r>
          </a:p>
        </p:txBody>
      </p:sp>
      <p:sp>
        <p:nvSpPr>
          <p:cNvPr id="22" name="Speech Bubble: Oval 21">
            <a:extLst>
              <a:ext uri="{FF2B5EF4-FFF2-40B4-BE49-F238E27FC236}">
                <a16:creationId xmlns:a16="http://schemas.microsoft.com/office/drawing/2014/main" id="{4DEC90C3-29FE-7395-4C07-F6B18E8F9F7C}"/>
              </a:ext>
            </a:extLst>
          </p:cNvPr>
          <p:cNvSpPr/>
          <p:nvPr/>
        </p:nvSpPr>
        <p:spPr>
          <a:xfrm>
            <a:off x="6351822" y="5072107"/>
            <a:ext cx="2406415" cy="661943"/>
          </a:xfrm>
          <a:prstGeom prst="wedgeEllipseCallout">
            <a:avLst>
              <a:gd name="adj1" fmla="val -50817"/>
              <a:gd name="adj2" fmla="val -11431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But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require</a:t>
            </a:r>
            <a:r>
              <a:rPr lang="fr-FR" dirty="0"/>
              <a:t> Popper JS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46B46C2-3F8C-F127-A20A-3D3377DE94A1}"/>
              </a:ext>
            </a:extLst>
          </p:cNvPr>
          <p:cNvSpPr/>
          <p:nvPr/>
        </p:nvSpPr>
        <p:spPr>
          <a:xfrm>
            <a:off x="4664476" y="4310807"/>
            <a:ext cx="1913174" cy="32550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87785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pPr algn="ctr"/>
            <a:r>
              <a:rPr lang="fr-FR" dirty="0"/>
              <a:t>Bootstrap major versions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23D521-6D5D-9654-E230-566149282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61" y="1203995"/>
            <a:ext cx="10126639" cy="551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189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699" y="0"/>
            <a:ext cx="11759821" cy="2060812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Testing</a:t>
            </a:r>
            <a:r>
              <a:rPr lang="fr-FR" dirty="0"/>
              <a:t> basic </a:t>
            </a:r>
            <a:r>
              <a:rPr lang="fr-FR" dirty="0" err="1"/>
              <a:t>bootstrap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dynamic</a:t>
            </a:r>
            <a:r>
              <a:rPr lang="fr-FR" dirty="0"/>
              <a:t> javascript </a:t>
            </a:r>
            <a:r>
              <a:rPr lang="fr-FR" dirty="0" err="1"/>
              <a:t>features</a:t>
            </a:r>
            <a:br>
              <a:rPr lang="fr-FR" dirty="0"/>
            </a:br>
            <a:r>
              <a:rPr lang="fr-FR" dirty="0"/>
              <a:t>=&gt; </a:t>
            </a:r>
            <a:r>
              <a:rPr lang="fr-FR" dirty="0" err="1"/>
              <a:t>using</a:t>
            </a:r>
            <a:r>
              <a:rPr lang="fr-FR" dirty="0"/>
              <a:t> via  « </a:t>
            </a:r>
            <a:r>
              <a:rPr lang="fr-FR" dirty="0" err="1"/>
              <a:t>ng-bootsrap</a:t>
            </a:r>
            <a:r>
              <a:rPr lang="fr-FR" dirty="0"/>
              <a:t> »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56F89E-48CD-740A-333E-26EE79DA4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993" y="2135245"/>
            <a:ext cx="6227527" cy="25875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92E084-E55F-52A4-D381-CF39D34F6FC1}"/>
              </a:ext>
            </a:extLst>
          </p:cNvPr>
          <p:cNvSpPr txBox="1"/>
          <p:nvPr/>
        </p:nvSpPr>
        <p:spPr>
          <a:xfrm>
            <a:off x="1319331" y="5250656"/>
            <a:ext cx="36903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Some</a:t>
            </a:r>
            <a:r>
              <a:rPr lang="fr-FR" dirty="0"/>
              <a:t> « </a:t>
            </a:r>
            <a:r>
              <a:rPr lang="fr-FR" dirty="0" err="1"/>
              <a:t>Vanilla</a:t>
            </a:r>
            <a:r>
              <a:rPr lang="fr-FR" dirty="0"/>
              <a:t> »  Bootstrap </a:t>
            </a:r>
          </a:p>
          <a:p>
            <a:r>
              <a:rPr lang="fr-FR" dirty="0"/>
              <a:t>Classes + « data-</a:t>
            </a:r>
            <a:r>
              <a:rPr lang="fr-FR" dirty="0" err="1"/>
              <a:t>toggle</a:t>
            </a:r>
            <a:r>
              <a:rPr lang="fr-FR" dirty="0"/>
              <a:t> »=.. </a:t>
            </a:r>
            <a:r>
              <a:rPr lang="fr-FR" dirty="0" err="1"/>
              <a:t>attributes</a:t>
            </a:r>
            <a:endParaRPr lang="fr-FR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2F10BF1-A5B1-0A84-52A3-C71AE930C431}"/>
              </a:ext>
            </a:extLst>
          </p:cNvPr>
          <p:cNvSpPr/>
          <p:nvPr/>
        </p:nvSpPr>
        <p:spPr>
          <a:xfrm>
            <a:off x="5472113" y="5362575"/>
            <a:ext cx="1223962" cy="4224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2C697-124F-E859-98BF-7F06E3E24955}"/>
              </a:ext>
            </a:extLst>
          </p:cNvPr>
          <p:cNvSpPr txBox="1"/>
          <p:nvPr/>
        </p:nvSpPr>
        <p:spPr>
          <a:xfrm>
            <a:off x="5195888" y="4953000"/>
            <a:ext cx="1365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Replace by ..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907D0E-EBE8-806E-D891-5DE620660F97}"/>
              </a:ext>
            </a:extLst>
          </p:cNvPr>
          <p:cNvSpPr/>
          <p:nvPr/>
        </p:nvSpPr>
        <p:spPr>
          <a:xfrm>
            <a:off x="8639175" y="3038474"/>
            <a:ext cx="1704975" cy="277883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3D0728-E22D-1DA4-19B7-12930D1431C7}"/>
              </a:ext>
            </a:extLst>
          </p:cNvPr>
          <p:cNvSpPr txBox="1"/>
          <p:nvPr/>
        </p:nvSpPr>
        <p:spPr>
          <a:xfrm>
            <a:off x="7182364" y="5186363"/>
            <a:ext cx="329769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simpler</a:t>
            </a:r>
            <a:r>
              <a:rPr lang="fr-FR" dirty="0"/>
              <a:t>  </a:t>
            </a:r>
            <a:r>
              <a:rPr lang="fr-FR" dirty="0" err="1"/>
              <a:t>ng-bootstrap</a:t>
            </a:r>
            <a:r>
              <a:rPr lang="fr-FR" dirty="0"/>
              <a:t>  </a:t>
            </a:r>
            <a:r>
              <a:rPr lang="fr-FR" dirty="0" err="1"/>
              <a:t>equivalent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ngbDropDown</a:t>
            </a:r>
            <a:endParaRPr lang="fr-FR" dirty="0"/>
          </a:p>
          <a:p>
            <a:r>
              <a:rPr lang="fr-FR" dirty="0" err="1"/>
              <a:t>ngbToggle</a:t>
            </a:r>
            <a:endParaRPr lang="fr-FR" dirty="0"/>
          </a:p>
          <a:p>
            <a:r>
              <a:rPr lang="fr-FR" dirty="0" err="1"/>
              <a:t>ngb</a:t>
            </a:r>
            <a:r>
              <a:rPr lang="fr-FR" dirty="0"/>
              <a:t>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72113E-8053-E5F9-1CA5-C6D29AEC2BC9}"/>
              </a:ext>
            </a:extLst>
          </p:cNvPr>
          <p:cNvSpPr txBox="1"/>
          <p:nvPr/>
        </p:nvSpPr>
        <p:spPr>
          <a:xfrm>
            <a:off x="9539287" y="6017360"/>
            <a:ext cx="18685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Ngb</a:t>
            </a:r>
            <a:r>
              <a:rPr lang="fr-FR" dirty="0"/>
              <a:t> = </a:t>
            </a:r>
            <a:r>
              <a:rPr lang="fr-FR" dirty="0" err="1"/>
              <a:t>initials</a:t>
            </a:r>
            <a:r>
              <a:rPr lang="fr-FR" dirty="0"/>
              <a:t> for </a:t>
            </a:r>
            <a:br>
              <a:rPr lang="fr-FR" dirty="0"/>
            </a:br>
            <a:r>
              <a:rPr lang="fr-FR" dirty="0" err="1"/>
              <a:t>a</a:t>
            </a:r>
            <a:r>
              <a:rPr lang="fr-FR" b="1" dirty="0" err="1"/>
              <a:t>ng</a:t>
            </a:r>
            <a:r>
              <a:rPr lang="fr-FR" dirty="0" err="1"/>
              <a:t>ular</a:t>
            </a:r>
            <a:r>
              <a:rPr lang="fr-FR" dirty="0"/>
              <a:t> </a:t>
            </a:r>
            <a:r>
              <a:rPr lang="fr-FR" b="1" dirty="0"/>
              <a:t>B</a:t>
            </a:r>
            <a:r>
              <a:rPr lang="fr-FR" dirty="0"/>
              <a:t>ootstrap</a:t>
            </a:r>
          </a:p>
        </p:txBody>
      </p:sp>
    </p:spTree>
    <p:extLst>
      <p:ext uri="{BB962C8B-B14F-4D97-AF65-F5344CB8AC3E}">
        <p14:creationId xmlns:p14="http://schemas.microsoft.com/office/powerpoint/2010/main" val="31529380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Button </a:t>
            </a:r>
            <a:r>
              <a:rPr lang="fr-FR" dirty="0" err="1"/>
              <a:t>dropdown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019B2B-E8D6-59F8-CC96-46D01A0EA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7141"/>
            <a:ext cx="6030161" cy="25544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5D21DA-4B53-F43D-442B-C28BA3196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900" y="2400747"/>
            <a:ext cx="5817255" cy="274900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37B7D43-19A1-96C8-9F4A-2C667B35FFCC}"/>
              </a:ext>
            </a:extLst>
          </p:cNvPr>
          <p:cNvSpPr/>
          <p:nvPr/>
        </p:nvSpPr>
        <p:spPr>
          <a:xfrm>
            <a:off x="6860274" y="2437141"/>
            <a:ext cx="1059977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02334D-37B8-A3DF-21E9-2CA5118001F6}"/>
              </a:ext>
            </a:extLst>
          </p:cNvPr>
          <p:cNvSpPr/>
          <p:nvPr/>
        </p:nvSpPr>
        <p:spPr>
          <a:xfrm>
            <a:off x="9542060" y="2921637"/>
            <a:ext cx="1571767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9C1BC1-F672-9F48-8E57-44E363429B24}"/>
              </a:ext>
            </a:extLst>
          </p:cNvPr>
          <p:cNvSpPr/>
          <p:nvPr/>
        </p:nvSpPr>
        <p:spPr>
          <a:xfrm>
            <a:off x="6946711" y="3630389"/>
            <a:ext cx="1442113" cy="289724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3F6B8A-AFC9-7CFA-266E-4209FC727384}"/>
              </a:ext>
            </a:extLst>
          </p:cNvPr>
          <p:cNvSpPr/>
          <p:nvPr/>
        </p:nvSpPr>
        <p:spPr>
          <a:xfrm>
            <a:off x="7426657" y="3934691"/>
            <a:ext cx="1398895" cy="751039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7D0ADB8-582F-E491-BCA7-284DF06E80A6}"/>
              </a:ext>
            </a:extLst>
          </p:cNvPr>
          <p:cNvSpPr/>
          <p:nvPr/>
        </p:nvSpPr>
        <p:spPr>
          <a:xfrm>
            <a:off x="5782101" y="3275463"/>
            <a:ext cx="851871" cy="10190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3740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Button </a:t>
            </a:r>
            <a:r>
              <a:rPr lang="fr-FR" dirty="0" err="1"/>
              <a:t>ngbDropdown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30608E-A2D7-D4FD-5E43-6AEDE8542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937" y="2238620"/>
            <a:ext cx="9396704" cy="16236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513365-625E-E4EF-9F08-4BB4C5E4B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808" y="4167796"/>
            <a:ext cx="2279615" cy="195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222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Nav Tabulations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E3B03B-F497-51CC-489A-9B1EEF0E0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764" y="2270631"/>
            <a:ext cx="3859592" cy="15330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2ECFB6-4680-BAEE-2D5B-1AB3B5210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96" y="2136602"/>
            <a:ext cx="6623641" cy="3433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242E28-969B-A546-B506-808CE6E26A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813" y="3913063"/>
            <a:ext cx="3749118" cy="117414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E74789B-2B8D-B469-F23D-FAED9B2C9EC3}"/>
              </a:ext>
            </a:extLst>
          </p:cNvPr>
          <p:cNvSpPr/>
          <p:nvPr/>
        </p:nvSpPr>
        <p:spPr>
          <a:xfrm>
            <a:off x="1446662" y="2516196"/>
            <a:ext cx="1059977" cy="219769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8C4161-0DA9-1CF6-AE83-394074B6123D}"/>
              </a:ext>
            </a:extLst>
          </p:cNvPr>
          <p:cNvSpPr/>
          <p:nvPr/>
        </p:nvSpPr>
        <p:spPr>
          <a:xfrm>
            <a:off x="1271517" y="2258027"/>
            <a:ext cx="666466" cy="238253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2D17A6-D2C9-C974-23D7-101CFD98A682}"/>
              </a:ext>
            </a:extLst>
          </p:cNvPr>
          <p:cNvSpPr/>
          <p:nvPr/>
        </p:nvSpPr>
        <p:spPr>
          <a:xfrm>
            <a:off x="2015317" y="2764979"/>
            <a:ext cx="1059977" cy="238252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146297-F14E-CB22-0997-09707BFDCB74}"/>
              </a:ext>
            </a:extLst>
          </p:cNvPr>
          <p:cNvSpPr/>
          <p:nvPr/>
        </p:nvSpPr>
        <p:spPr>
          <a:xfrm>
            <a:off x="1544469" y="5023683"/>
            <a:ext cx="1931161" cy="238252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C8A5A5-91E7-E0F5-2B1D-3433D0C3B7F2}"/>
              </a:ext>
            </a:extLst>
          </p:cNvPr>
          <p:cNvSpPr/>
          <p:nvPr/>
        </p:nvSpPr>
        <p:spPr>
          <a:xfrm>
            <a:off x="2506639" y="2996433"/>
            <a:ext cx="1241946" cy="238252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90262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33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Bootstrap </a:t>
            </a:r>
            <a:r>
              <a:rPr lang="fr-FR" dirty="0" err="1"/>
              <a:t>demo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 err="1"/>
              <a:t>Navbar</a:t>
            </a:r>
            <a:r>
              <a:rPr lang="fr-FR" dirty="0"/>
              <a:t> Menu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A636AD-DFB0-8FFD-344C-C50AAA40B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440" y="6080912"/>
            <a:ext cx="6704899" cy="7338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545877-D9E1-6BCC-5899-BDA83A30A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656" y="1464409"/>
            <a:ext cx="8987546" cy="466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096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pPr algn="ctr"/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15F7F4-7DB1-73A9-CE5E-8A7BC1C5EE92}"/>
              </a:ext>
            </a:extLst>
          </p:cNvPr>
          <p:cNvSpPr txBox="1"/>
          <p:nvPr/>
        </p:nvSpPr>
        <p:spPr>
          <a:xfrm>
            <a:off x="4367284" y="1201003"/>
            <a:ext cx="506670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Install node.js   (</a:t>
            </a:r>
            <a:r>
              <a:rPr lang="fr-FR" dirty="0" err="1"/>
              <a:t>npm</a:t>
            </a:r>
            <a:r>
              <a:rPr lang="fr-FR" dirty="0"/>
              <a:t>)</a:t>
            </a:r>
          </a:p>
          <a:p>
            <a:r>
              <a:rPr lang="fr-FR" dirty="0"/>
              <a:t>$ </a:t>
            </a:r>
            <a:r>
              <a:rPr lang="fr-FR" dirty="0" err="1"/>
              <a:t>npm</a:t>
            </a:r>
            <a:r>
              <a:rPr lang="fr-FR" dirty="0"/>
              <a:t> Install –g @angular/cli</a:t>
            </a:r>
            <a:br>
              <a:rPr lang="fr-FR" dirty="0"/>
            </a:br>
            <a:r>
              <a:rPr lang="fr-FR" dirty="0"/>
              <a:t>$ </a:t>
            </a:r>
            <a:r>
              <a:rPr lang="fr-FR" dirty="0" err="1"/>
              <a:t>ng</a:t>
            </a:r>
            <a:r>
              <a:rPr lang="fr-FR" dirty="0"/>
              <a:t> new</a:t>
            </a:r>
            <a:br>
              <a:rPr lang="fr-FR" dirty="0"/>
            </a:br>
            <a:r>
              <a:rPr lang="fr-FR" dirty="0"/>
              <a:t>  =&gt; file:   </a:t>
            </a:r>
            <a:r>
              <a:rPr lang="fr-FR" dirty="0" err="1"/>
              <a:t>package.json</a:t>
            </a:r>
            <a:r>
              <a:rPr lang="fr-FR" dirty="0"/>
              <a:t>,  </a:t>
            </a:r>
            <a:r>
              <a:rPr lang="fr-FR" dirty="0" err="1"/>
              <a:t>angular.json</a:t>
            </a:r>
            <a:br>
              <a:rPr lang="fr-FR" dirty="0"/>
            </a:br>
            <a:r>
              <a:rPr lang="fr-FR" dirty="0"/>
              <a:t>  </a:t>
            </a:r>
            <a:r>
              <a:rPr lang="fr-FR" dirty="0" err="1"/>
              <a:t>app.component</a:t>
            </a:r>
            <a:r>
              <a:rPr lang="fr-FR" dirty="0"/>
              <a:t>.{html | </a:t>
            </a:r>
            <a:r>
              <a:rPr lang="fr-FR" dirty="0" err="1"/>
              <a:t>ts</a:t>
            </a:r>
            <a:r>
              <a:rPr lang="fr-FR" dirty="0"/>
              <a:t>}</a:t>
            </a:r>
            <a:br>
              <a:rPr lang="fr-FR" dirty="0"/>
            </a:br>
            <a:br>
              <a:rPr lang="fr-FR" dirty="0"/>
            </a:br>
            <a:r>
              <a:rPr lang="fr-FR" dirty="0"/>
              <a:t>$ </a:t>
            </a:r>
            <a:r>
              <a:rPr lang="fr-FR" dirty="0" err="1"/>
              <a:t>ng</a:t>
            </a:r>
            <a:r>
              <a:rPr lang="fr-FR" dirty="0"/>
              <a:t> serve</a:t>
            </a:r>
            <a:br>
              <a:rPr lang="fr-FR" dirty="0"/>
            </a:br>
            <a:r>
              <a:rPr lang="fr-FR" dirty="0"/>
              <a:t>$ </a:t>
            </a:r>
            <a:r>
              <a:rPr lang="fr-FR" dirty="0" err="1"/>
              <a:t>ng</a:t>
            </a:r>
            <a:r>
              <a:rPr lang="fr-FR" dirty="0"/>
              <a:t> </a:t>
            </a:r>
            <a:r>
              <a:rPr lang="fr-FR" dirty="0" err="1"/>
              <a:t>add</a:t>
            </a:r>
            <a:r>
              <a:rPr lang="fr-FR" dirty="0"/>
              <a:t> @ng-bootstrap/ng-boostrap</a:t>
            </a:r>
          </a:p>
          <a:p>
            <a:r>
              <a:rPr lang="fr-FR" dirty="0"/>
              <a:t>$ </a:t>
            </a:r>
            <a:r>
              <a:rPr lang="fr-FR" dirty="0" err="1"/>
              <a:t>npm</a:t>
            </a:r>
            <a:r>
              <a:rPr lang="fr-FR" dirty="0"/>
              <a:t> </a:t>
            </a:r>
            <a:r>
              <a:rPr lang="fr-FR" dirty="0" err="1"/>
              <a:t>install</a:t>
            </a:r>
            <a:endParaRPr lang="fr-FR" dirty="0"/>
          </a:p>
          <a:p>
            <a:endParaRPr lang="fr-FR" dirty="0"/>
          </a:p>
          <a:p>
            <a:r>
              <a:rPr lang="fr-FR" dirty="0"/>
              <a:t>&lt;div class=« container »&gt;  </a:t>
            </a:r>
            <a:br>
              <a:rPr lang="fr-FR" dirty="0"/>
            </a:br>
            <a:r>
              <a:rPr lang="fr-FR" dirty="0"/>
              <a:t>    &lt;div class=« </a:t>
            </a:r>
            <a:r>
              <a:rPr lang="fr-FR" dirty="0" err="1"/>
              <a:t>row</a:t>
            </a:r>
            <a:r>
              <a:rPr lang="fr-FR" dirty="0"/>
              <a:t> »&gt;  </a:t>
            </a:r>
            <a:br>
              <a:rPr lang="fr-FR" dirty="0"/>
            </a:br>
            <a:r>
              <a:rPr lang="fr-FR" dirty="0"/>
              <a:t>        &lt;div class=« col-mb-2 »&gt;</a:t>
            </a:r>
          </a:p>
          <a:p>
            <a:endParaRPr lang="fr-FR" dirty="0"/>
          </a:p>
          <a:p>
            <a:r>
              <a:rPr lang="fr-FR" dirty="0"/>
              <a:t>&lt;</a:t>
            </a:r>
            <a:r>
              <a:rPr lang="fr-FR" dirty="0" err="1"/>
              <a:t>button</a:t>
            </a:r>
            <a:r>
              <a:rPr lang="fr-FR" dirty="0"/>
              <a:t> type=« </a:t>
            </a:r>
            <a:r>
              <a:rPr lang="fr-FR" dirty="0" err="1"/>
              <a:t>button</a:t>
            </a:r>
            <a:r>
              <a:rPr lang="fr-FR" dirty="0"/>
              <a:t> » class=« </a:t>
            </a:r>
            <a:r>
              <a:rPr lang="fr-FR" dirty="0" err="1"/>
              <a:t>btn</a:t>
            </a:r>
            <a:r>
              <a:rPr lang="fr-FR" dirty="0"/>
              <a:t> </a:t>
            </a:r>
            <a:r>
              <a:rPr lang="fr-FR" dirty="0" err="1"/>
              <a:t>btn-primary</a:t>
            </a:r>
            <a:r>
              <a:rPr lang="fr-FR" dirty="0"/>
              <a:t> »&gt;</a:t>
            </a:r>
          </a:p>
          <a:p>
            <a:endParaRPr lang="fr-FR" dirty="0"/>
          </a:p>
          <a:p>
            <a:r>
              <a:rPr lang="fr-FR" dirty="0"/>
              <a:t>&lt;</a:t>
            </a:r>
            <a:r>
              <a:rPr lang="fr-FR" dirty="0" err="1"/>
              <a:t>nav</a:t>
            </a:r>
            <a:r>
              <a:rPr lang="fr-FR" dirty="0"/>
              <a:t>&gt;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8203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pPr algn="ctr"/>
            <a:r>
              <a:rPr lang="fr-FR" dirty="0" err="1"/>
              <a:t>Take</a:t>
            </a:r>
            <a:r>
              <a:rPr lang="fr-FR" dirty="0"/>
              <a:t> </a:t>
            </a:r>
            <a:r>
              <a:rPr lang="fr-FR" dirty="0" err="1"/>
              <a:t>Away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26B8B1-19F4-A4CD-3CE7-19E0D8E0CC93}"/>
              </a:ext>
            </a:extLst>
          </p:cNvPr>
          <p:cNvSpPr txBox="1"/>
          <p:nvPr/>
        </p:nvSpPr>
        <p:spPr>
          <a:xfrm>
            <a:off x="2834184" y="1777789"/>
            <a:ext cx="746742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$ </a:t>
            </a:r>
            <a:r>
              <a:rPr lang="fr-FR" sz="2800" dirty="0" err="1"/>
              <a:t>ng</a:t>
            </a:r>
            <a:r>
              <a:rPr lang="fr-FR" sz="2800" dirty="0"/>
              <a:t> new + </a:t>
            </a:r>
            <a:r>
              <a:rPr lang="fr-FR" sz="2800" dirty="0" err="1"/>
              <a:t>ng</a:t>
            </a:r>
            <a:r>
              <a:rPr lang="fr-FR" sz="2800" dirty="0"/>
              <a:t> serve  + </a:t>
            </a:r>
            <a:r>
              <a:rPr lang="fr-FR" sz="2800" dirty="0" err="1"/>
              <a:t>ng</a:t>
            </a:r>
            <a:r>
              <a:rPr lang="fr-FR" sz="2800" dirty="0"/>
              <a:t> </a:t>
            </a:r>
            <a:r>
              <a:rPr lang="fr-FR" sz="2800" dirty="0" err="1"/>
              <a:t>generate</a:t>
            </a:r>
            <a:r>
              <a:rPr lang="fr-FR" sz="2800" dirty="0"/>
              <a:t> + … </a:t>
            </a:r>
          </a:p>
          <a:p>
            <a:endParaRPr lang="fr-FR" sz="2800" dirty="0"/>
          </a:p>
          <a:p>
            <a:r>
              <a:rPr lang="fr-FR" sz="2800" dirty="0"/>
              <a:t>=&gt; GET </a:t>
            </a:r>
            <a:r>
              <a:rPr lang="fr-FR" sz="2800" dirty="0" err="1"/>
              <a:t>easily</a:t>
            </a:r>
            <a:r>
              <a:rPr lang="fr-FR" sz="2800" dirty="0"/>
              <a:t> a </a:t>
            </a:r>
            <a:r>
              <a:rPr lang="fr-FR" sz="2800" dirty="0" err="1"/>
              <a:t>complete</a:t>
            </a:r>
            <a:r>
              <a:rPr lang="fr-FR" sz="2800" dirty="0"/>
              <a:t> </a:t>
            </a:r>
            <a:r>
              <a:rPr lang="fr-FR" sz="2800" dirty="0" err="1"/>
              <a:t>Angular</a:t>
            </a:r>
            <a:r>
              <a:rPr lang="fr-FR" sz="2800" dirty="0"/>
              <a:t> </a:t>
            </a:r>
            <a:r>
              <a:rPr lang="fr-FR" sz="2800" dirty="0" err="1"/>
              <a:t>environment</a:t>
            </a:r>
            <a:r>
              <a:rPr lang="fr-FR" sz="2800" dirty="0"/>
              <a:t>  </a:t>
            </a:r>
            <a:br>
              <a:rPr lang="fr-FR" sz="2800" dirty="0"/>
            </a:br>
            <a:r>
              <a:rPr lang="fr-FR" sz="2800" dirty="0"/>
              <a:t>   … </a:t>
            </a:r>
            <a:r>
              <a:rPr lang="fr-FR" sz="2800" dirty="0" err="1"/>
              <a:t>pre</a:t>
            </a:r>
            <a:r>
              <a:rPr lang="fr-FR" sz="2800" dirty="0"/>
              <a:t>-packaging </a:t>
            </a:r>
            <a:r>
              <a:rPr lang="fr-FR" sz="2800" dirty="0" err="1"/>
              <a:t>angular</a:t>
            </a:r>
            <a:r>
              <a:rPr lang="fr-FR" sz="2800" dirty="0"/>
              <a:t> + </a:t>
            </a:r>
            <a:r>
              <a:rPr lang="fr-FR" sz="2800" dirty="0" err="1"/>
              <a:t>npm</a:t>
            </a:r>
            <a:r>
              <a:rPr lang="fr-FR" sz="2800" dirty="0"/>
              <a:t> + </a:t>
            </a:r>
            <a:r>
              <a:rPr lang="fr-FR" sz="2800" dirty="0" err="1"/>
              <a:t>typescript</a:t>
            </a:r>
            <a:r>
              <a:rPr lang="fr-FR" sz="2800" dirty="0"/>
              <a:t> +  …</a:t>
            </a:r>
          </a:p>
          <a:p>
            <a:endParaRPr lang="fr-FR" sz="2800" dirty="0"/>
          </a:p>
          <a:p>
            <a:r>
              <a:rPr lang="fr-FR" sz="2800" dirty="0" err="1"/>
              <a:t>Add</a:t>
            </a:r>
            <a:r>
              <a:rPr lang="fr-FR" sz="2800" dirty="0"/>
              <a:t> (</a:t>
            </a:r>
            <a:r>
              <a:rPr lang="fr-FR" sz="2800" dirty="0" err="1"/>
              <a:t>ng</a:t>
            </a:r>
            <a:r>
              <a:rPr lang="fr-FR" sz="2800" dirty="0"/>
              <a:t>-)</a:t>
            </a:r>
            <a:r>
              <a:rPr lang="fr-FR" sz="2800" dirty="0" err="1"/>
              <a:t>bootstrap</a:t>
            </a:r>
            <a:endParaRPr lang="fr-FR" sz="2800" dirty="0"/>
          </a:p>
          <a:p>
            <a:r>
              <a:rPr lang="fr-FR" sz="2800" dirty="0"/>
              <a:t>=&gt; GET basic CSS + </a:t>
            </a:r>
            <a:r>
              <a:rPr lang="fr-FR" sz="2800" dirty="0" err="1"/>
              <a:t>elements</a:t>
            </a:r>
            <a:br>
              <a:rPr lang="fr-FR" sz="2800" dirty="0"/>
            </a:br>
            <a:r>
              <a:rPr lang="fr-FR" sz="2800" dirty="0"/>
              <a:t>    … 12-columns </a:t>
            </a:r>
            <a:r>
              <a:rPr lang="fr-FR" sz="2800" dirty="0" err="1"/>
              <a:t>layout</a:t>
            </a:r>
            <a:r>
              <a:rPr lang="fr-FR" sz="2800" dirty="0"/>
              <a:t> system</a:t>
            </a:r>
          </a:p>
          <a:p>
            <a:r>
              <a:rPr lang="fr-FR" sz="2800" dirty="0"/>
              <a:t>    + </a:t>
            </a:r>
            <a:r>
              <a:rPr lang="fr-FR" sz="2800" dirty="0" err="1"/>
              <a:t>button</a:t>
            </a:r>
            <a:r>
              <a:rPr lang="fr-FR" sz="2800" dirty="0"/>
              <a:t>, menu </a:t>
            </a:r>
            <a:r>
              <a:rPr lang="fr-FR" sz="2800" dirty="0" err="1"/>
              <a:t>nav</a:t>
            </a:r>
            <a:r>
              <a:rPr lang="fr-FR" sz="2800" dirty="0"/>
              <a:t> bar, tab, etc.</a:t>
            </a:r>
          </a:p>
        </p:txBody>
      </p:sp>
    </p:spTree>
    <p:extLst>
      <p:ext uri="{BB962C8B-B14F-4D97-AF65-F5344CB8AC3E}">
        <p14:creationId xmlns:p14="http://schemas.microsoft.com/office/powerpoint/2010/main" val="21252384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9143" y="3111689"/>
            <a:ext cx="10515600" cy="868907"/>
          </a:xfrm>
        </p:spPr>
        <p:txBody>
          <a:bodyPr/>
          <a:lstStyle/>
          <a:p>
            <a:pPr algn="ctr"/>
            <a:r>
              <a:rPr lang="fr-FR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0050899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46B4A-5880-4295-7C1A-61DD3756D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8907"/>
          </a:xfrm>
        </p:spPr>
        <p:txBody>
          <a:bodyPr/>
          <a:lstStyle/>
          <a:p>
            <a:pPr algn="ctr"/>
            <a:r>
              <a:rPr lang="fr-FR" dirty="0"/>
              <a:t>Next </a:t>
            </a:r>
            <a:r>
              <a:rPr lang="fr-FR" dirty="0" err="1"/>
              <a:t>Step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16586-AB5D-2472-BBC9-EE4FA260B847}"/>
              </a:ext>
            </a:extLst>
          </p:cNvPr>
          <p:cNvSpPr txBox="1"/>
          <p:nvPr/>
        </p:nvSpPr>
        <p:spPr>
          <a:xfrm>
            <a:off x="3767919" y="1166842"/>
            <a:ext cx="624043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/>
              <a:t>{{interpolation}}</a:t>
            </a:r>
          </a:p>
          <a:p>
            <a:r>
              <a:rPr lang="fr-FR" sz="3600" dirty="0"/>
              <a:t>*</a:t>
            </a:r>
            <a:r>
              <a:rPr lang="fr-FR" sz="3600" dirty="0" err="1"/>
              <a:t>ngFor</a:t>
            </a:r>
            <a:endParaRPr lang="fr-FR" sz="3600" dirty="0"/>
          </a:p>
          <a:p>
            <a:r>
              <a:rPr lang="fr-FR" sz="3600" dirty="0"/>
              <a:t>*</a:t>
            </a:r>
            <a:r>
              <a:rPr lang="fr-FR" sz="3600" dirty="0" err="1"/>
              <a:t>ngIf</a:t>
            </a:r>
            <a:endParaRPr lang="fr-FR" sz="3600" dirty="0"/>
          </a:p>
          <a:p>
            <a:r>
              <a:rPr lang="fr-FR" sz="3600" dirty="0"/>
              <a:t>@Component</a:t>
            </a:r>
          </a:p>
          <a:p>
            <a:r>
              <a:rPr lang="fr-FR" sz="3600" dirty="0"/>
              <a:t>[] .. @Input   (=One </a:t>
            </a:r>
            <a:r>
              <a:rPr lang="fr-FR" sz="3600" dirty="0" err="1"/>
              <a:t>way</a:t>
            </a:r>
            <a:r>
              <a:rPr lang="fr-FR" sz="3600" dirty="0"/>
              <a:t> binding)</a:t>
            </a:r>
          </a:p>
          <a:p>
            <a:r>
              <a:rPr lang="fr-FR" sz="3600" dirty="0"/>
              <a:t>() .. @Output</a:t>
            </a:r>
          </a:p>
          <a:p>
            <a:r>
              <a:rPr lang="fr-FR" sz="3600" dirty="0"/>
              <a:t>[()] .. 2-Ways binding</a:t>
            </a:r>
          </a:p>
          <a:p>
            <a:r>
              <a:rPr lang="fr-FR" sz="3600" dirty="0"/>
              <a:t>Router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2CDF3-F9FA-7A55-3B19-80266C986536}"/>
              </a:ext>
            </a:extLst>
          </p:cNvPr>
          <p:cNvSpPr txBox="1"/>
          <p:nvPr/>
        </p:nvSpPr>
        <p:spPr>
          <a:xfrm>
            <a:off x="586853" y="5923128"/>
            <a:ext cx="115596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 err="1"/>
              <a:t>next</a:t>
            </a:r>
            <a:r>
              <a:rPr lang="fr-FR" sz="2000" dirty="0"/>
              <a:t> document: </a:t>
            </a:r>
            <a:br>
              <a:rPr lang="fr-FR" sz="2000" dirty="0"/>
            </a:br>
            <a:r>
              <a:rPr lang="fr-FR" sz="2000" dirty="0"/>
              <a:t>https://github.com/Arnaud-Nauwynck/presentations/web/angular-demos-2-ngFor-ngIf-component.pdf</a:t>
            </a:r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696403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37482</TotalTime>
  <Words>695</Words>
  <Application>Microsoft Office PowerPoint</Application>
  <PresentationFormat>Grand écran</PresentationFormat>
  <Paragraphs>99</Paragraphs>
  <Slides>41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Calibri Light</vt:lpstr>
      <vt:lpstr>Office Theme</vt:lpstr>
      <vt:lpstr>Angular Demos  ng new,  ng serve,   (ng-)bootstrap library basic elements: button, menu, tab, ..</vt:lpstr>
      <vt:lpstr>2 pre-requisites:  1/ install node.js 2/ $ npm install -g @angular/cli</vt:lpstr>
      <vt:lpstr>$ ng new</vt:lpstr>
      <vt:lpstr>Upgrade existing @angular/cli .. If needed </vt:lpstr>
      <vt:lpstr>Upgrade existing angular project … if needed  $ ng update</vt:lpstr>
      <vt:lpstr>« ng new » alternatives</vt:lpstr>
      <vt:lpstr>Jhipster = Java springboot(backend) + angular(frontend) app generator</vt:lpstr>
      <vt:lpstr>ng new</vt:lpstr>
      <vt:lpstr>$ ng serve   =&gt; http://localhost:4200 </vt:lpstr>
      <vt:lpstr>Demo IntelliJ (left) + Chrome (right) + ng serve</vt:lpstr>
      <vt:lpstr>Demo … Live reload</vt:lpstr>
      <vt:lpstr>Live Reload …  --watch   (expect 5 seconds delay)  watch File changes =&gt; compile =&gt; refresh page </vt:lpstr>
      <vt:lpstr>Demo live-reload … when compile error</vt:lpstr>
      <vt:lpstr>Adding Bootstrap library</vt:lpstr>
      <vt:lpstr>https://getbootstrap.com/ </vt:lpstr>
      <vt:lpstr>Bootstrap … example: button dropdown</vt:lpstr>
      <vt:lpstr>Adding via ng-bootstrap … NPM module for Bootstrap in Angular</vt:lpstr>
      <vt:lpstr>ng add @ng-bootstrap/ng-bootstrap</vt:lpstr>
      <vt:lpstr>git status ; git diff</vt:lpstr>
      <vt:lpstr>REDO  npm install  + stop &amp; restart   ng server</vt:lpstr>
      <vt:lpstr>Bootstrap Demos</vt:lpstr>
      <vt:lpstr>Bootstrap demo 1:  Container,  12 x columns system</vt:lpstr>
      <vt:lpstr>Bootstrap demo 1:  Container,  12 x columns system</vt:lpstr>
      <vt:lpstr>Demo Bootstrap Carousel</vt:lpstr>
      <vt:lpstr>Bootstrap demo:  Carousel</vt:lpstr>
      <vt:lpstr>Bootstrap Button</vt:lpstr>
      <vt:lpstr>Bootstrap demo:  Button styles</vt:lpstr>
      <vt:lpstr>Bootstrap demo:  Button dropdown</vt:lpstr>
      <vt:lpstr>Bootstrap demo:  Button dropdown</vt:lpstr>
      <vt:lpstr> !!!  Demo may not work ?? You are not alone</vt:lpstr>
      <vt:lpstr>Root cause of all problems: CSS depends on JS</vt:lpstr>
      <vt:lpstr>Bootstrap major versions</vt:lpstr>
      <vt:lpstr>Testing basic bootstrap with dynamic javascript features =&gt; using via  « ng-bootsrap »</vt:lpstr>
      <vt:lpstr>Bootstrap demo:  Button dropdown</vt:lpstr>
      <vt:lpstr>Bootstrap demo:  Button ngbDropdown</vt:lpstr>
      <vt:lpstr>Bootstrap demo:  Nav Tabulations</vt:lpstr>
      <vt:lpstr>Bootstrap demo:  Navbar Menu</vt:lpstr>
      <vt:lpstr>Summary</vt:lpstr>
      <vt:lpstr>Take Away</vt:lpstr>
      <vt:lpstr>Questions</vt:lpstr>
      <vt:lpstr>Next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NAUWYNCK Arnaud</dc:creator>
  <cp:lastModifiedBy>arnaud</cp:lastModifiedBy>
  <cp:revision>35</cp:revision>
  <dcterms:created xsi:type="dcterms:W3CDTF">2023-07-09T15:07:58Z</dcterms:created>
  <dcterms:modified xsi:type="dcterms:W3CDTF">2025-06-01T17:55:37Z</dcterms:modified>
</cp:coreProperties>
</file>