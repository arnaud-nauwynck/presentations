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391" r:id="rId3"/>
    <p:sldId id="399" r:id="rId4"/>
    <p:sldId id="400" r:id="rId5"/>
    <p:sldId id="398" r:id="rId6"/>
    <p:sldId id="257" r:id="rId7"/>
    <p:sldId id="379" r:id="rId8"/>
    <p:sldId id="380" r:id="rId9"/>
    <p:sldId id="347" r:id="rId10"/>
    <p:sldId id="348" r:id="rId11"/>
    <p:sldId id="342" r:id="rId12"/>
    <p:sldId id="341" r:id="rId13"/>
    <p:sldId id="343" r:id="rId14"/>
    <p:sldId id="344" r:id="rId15"/>
    <p:sldId id="345" r:id="rId16"/>
    <p:sldId id="346" r:id="rId17"/>
    <p:sldId id="377" r:id="rId18"/>
    <p:sldId id="349" r:id="rId19"/>
    <p:sldId id="350" r:id="rId20"/>
    <p:sldId id="351" r:id="rId21"/>
    <p:sldId id="352" r:id="rId22"/>
    <p:sldId id="353" r:id="rId23"/>
    <p:sldId id="378" r:id="rId24"/>
    <p:sldId id="381" r:id="rId25"/>
    <p:sldId id="382" r:id="rId26"/>
    <p:sldId id="393" r:id="rId27"/>
    <p:sldId id="392" r:id="rId28"/>
    <p:sldId id="384" r:id="rId29"/>
    <p:sldId id="394" r:id="rId30"/>
    <p:sldId id="383" r:id="rId31"/>
    <p:sldId id="387" r:id="rId32"/>
    <p:sldId id="395" r:id="rId33"/>
    <p:sldId id="388" r:id="rId34"/>
    <p:sldId id="354" r:id="rId35"/>
    <p:sldId id="356" r:id="rId36"/>
    <p:sldId id="389" r:id="rId37"/>
    <p:sldId id="396" r:id="rId38"/>
    <p:sldId id="397" r:id="rId39"/>
    <p:sldId id="385" r:id="rId40"/>
    <p:sldId id="386" r:id="rId41"/>
    <p:sldId id="366" r:id="rId42"/>
    <p:sldId id="364" r:id="rId43"/>
    <p:sldId id="365" r:id="rId44"/>
    <p:sldId id="376" r:id="rId45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7" autoAdjust="0"/>
    <p:restoredTop sz="94660"/>
  </p:normalViewPr>
  <p:slideViewPr>
    <p:cSldViewPr snapToGrid="0">
      <p:cViewPr varScale="1">
        <p:scale>
          <a:sx n="86" d="100"/>
          <a:sy n="86" d="100"/>
        </p:scale>
        <p:origin x="564" y="5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F8D26C-66DD-6647-4F35-AF8C306AB71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D7C1B2A-E763-8B26-8F80-7C817F1EBA9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fr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9DDC9A-BC0A-BEF9-C197-1087302742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3789FF-ACCD-436E-9864-D1D02C2870CB}" type="datetimeFigureOut">
              <a:rPr lang="fr-FR" smtClean="0"/>
              <a:t>25/11/2025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A2997F-3025-6421-5AC9-404A3FF62A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F7E7FE-10B0-0ACB-8E0E-34280BB373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366438-76B5-4213-B351-2F68AFA4FB3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293261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F712EF-5C42-6C95-3489-06BF6BD403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B91020-5279-2C1D-1BAD-BD001832C7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F533BA-5BB5-05FF-B190-E100F4383E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3789FF-ACCD-436E-9864-D1D02C2870CB}" type="datetimeFigureOut">
              <a:rPr lang="fr-FR" smtClean="0"/>
              <a:t>25/11/2025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9CEB21-EECB-00DD-A536-B75088B3A6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0D1521-E9AF-16AA-1884-DD4485C09B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366438-76B5-4213-B351-2F68AFA4FB3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535945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3F9DC7-DFEA-C15A-61A9-0BB7739503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FD9CDF5-4210-8BEC-DAEA-625785D31D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155A3C-3E0E-126E-62D4-BCEC0C4E49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3789FF-ACCD-436E-9864-D1D02C2870CB}" type="datetimeFigureOut">
              <a:rPr lang="fr-FR" smtClean="0"/>
              <a:t>25/11/2025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D8700B-D867-E7DD-59ED-B8B92D8BA0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0A63ED-1A45-949E-811D-D8C3B5468A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366438-76B5-4213-B351-2F68AFA4FB3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482926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1881D7-7F7E-7CFB-5D93-39901B1731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DE22DC-CEB8-C7CE-7737-F7B36903C5D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F70D5B8-49E5-D1EF-590B-AAA1F7CF2BB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91A1FEE-4FF5-B12C-F86C-473BE179F5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3789FF-ACCD-436E-9864-D1D02C2870CB}" type="datetimeFigureOut">
              <a:rPr lang="fr-FR" smtClean="0"/>
              <a:t>25/11/2025</a:t>
            </a:fld>
            <a:endParaRPr lang="fr-F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22BCD0A-25D3-A788-84F5-4131ACF185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77AFFE8-40B4-D2BF-090E-EED458793F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366438-76B5-4213-B351-2F68AFA4FB3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835407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C2B597-0A11-2AA7-448D-E0366D86ED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82CC2A0-A085-29E6-25BD-B6F63863EA7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FC45371-FE1B-5710-AB79-36CFD20C4C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B371B34-5AB3-E53F-9F4D-D5FAA332926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0EA7509-0839-F01B-D238-D1E0B95BA19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713E823-E3C7-12F6-A133-59E89FEC13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3789FF-ACCD-436E-9864-D1D02C2870CB}" type="datetimeFigureOut">
              <a:rPr lang="fr-FR" smtClean="0"/>
              <a:t>25/11/2025</a:t>
            </a:fld>
            <a:endParaRPr lang="fr-FR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0E5C7D8-5CB2-0A4F-1FBE-E72D01F14E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CDEC11A-0C77-FA10-3AF9-572DC805C0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366438-76B5-4213-B351-2F68AFA4FB3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43743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8A2915-875C-2514-5102-B1134E80ED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479B91D-BF4B-B4E8-EA82-0896C6ECF3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3789FF-ACCD-436E-9864-D1D02C2870CB}" type="datetimeFigureOut">
              <a:rPr lang="fr-FR" smtClean="0"/>
              <a:t>25/11/2025</a:t>
            </a:fld>
            <a:endParaRPr lang="fr-FR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FF8D3F1-E6A9-6E63-0FBE-67C3A39E6E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51248D2-8F74-0C66-C489-71B9784CD9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366438-76B5-4213-B351-2F68AFA4FB3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166843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E2B2711-8020-1BA1-0861-264DD57FDE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3789FF-ACCD-436E-9864-D1D02C2870CB}" type="datetimeFigureOut">
              <a:rPr lang="fr-FR" smtClean="0"/>
              <a:t>25/11/2025</a:t>
            </a:fld>
            <a:endParaRPr lang="fr-FR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1FDA682-73E0-4BB1-DE71-314E878355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8C1E31C-8203-6FA6-78A4-4378912CB6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366438-76B5-4213-B351-2F68AFA4FB3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720882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E21AC0-AEEE-3C22-E884-69695F2F69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0E31B6-E5FA-CA5A-24DD-D49C0A0D8D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EB83434-C372-064E-2A10-4E0CC5C6FE7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EF60E7B-CFBE-9D33-7A4C-227C0BF568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3789FF-ACCD-436E-9864-D1D02C2870CB}" type="datetimeFigureOut">
              <a:rPr lang="fr-FR" smtClean="0"/>
              <a:t>25/11/2025</a:t>
            </a:fld>
            <a:endParaRPr lang="fr-F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2B6BA3C-A711-EC61-6650-BA85EE36EB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C59B665-6D56-E608-C38B-DEBE66C200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366438-76B5-4213-B351-2F68AFA4FB3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804940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9DDC36-C33B-38B6-971F-C8BD85A5FD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804E9E5-619B-C5F8-E88F-E9722A6F5C3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1DECECF-55D1-7A8D-346F-0F0A0B6BA5C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2FC287F-2867-E0C3-F1A6-79F7D094AD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3789FF-ACCD-436E-9864-D1D02C2870CB}" type="datetimeFigureOut">
              <a:rPr lang="fr-FR" smtClean="0"/>
              <a:t>25/11/2025</a:t>
            </a:fld>
            <a:endParaRPr lang="fr-F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408E4D8-40C3-68D4-C9BE-A22BF83701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E69F777-42BA-8E3B-E2DD-233D50D671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366438-76B5-4213-B351-2F68AFA4FB3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35956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3DBAD6-C8C7-BFD9-6D6B-7BBFE1A8D9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35BF572-1C41-0986-972E-AAE80BD613B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B4D38F-1930-5869-C568-F8755CDE99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3789FF-ACCD-436E-9864-D1D02C2870CB}" type="datetimeFigureOut">
              <a:rPr lang="fr-FR" smtClean="0"/>
              <a:t>25/11/2025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B06838-3420-BE6C-5907-35EC74EF98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DBCC39-B5DB-80E4-1FBC-150E8FD552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366438-76B5-4213-B351-2F68AFA4FB3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513950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EBC7CE5-5D47-F4C3-501C-8B5A2B8052B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826F0A2-0FD3-8841-2A69-BD1C3C2EE2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3AD09E-9D26-EC10-F6CB-4E671255DE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3789FF-ACCD-436E-9864-D1D02C2870CB}" type="datetimeFigureOut">
              <a:rPr lang="fr-FR" smtClean="0"/>
              <a:t>25/11/2025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D74FE6-C4A1-C622-1614-B1E920352B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B458A2-6CC1-C2D2-8D86-0A6F672C3C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366438-76B5-4213-B351-2F68AFA4FB3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343592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A2598B5-6EAD-071E-0597-EE0B233BE9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FEBFB5D-CA12-6BA7-12CB-BFEDF6881A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746B93-CDF5-8189-9ADA-5A61A2EA60B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E3789FF-ACCD-436E-9864-D1D02C2870CB}" type="datetimeFigureOut">
              <a:rPr lang="fr-FR" smtClean="0"/>
              <a:t>25/11/2025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764351-7EA7-38C3-A24E-7609EFE48A7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C9D64B-8BF4-D877-A477-DC753217567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C366438-76B5-4213-B351-2F68AFA4FB3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926234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mailto:arnaud.nauwynck@gmail.com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pnpm.io/" TargetMode="Externa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hyperlink" Target="https://getbootstrap.com/" TargetMode="Externa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0.pn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4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373E4C-96E6-262F-817E-67E3FF855D7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495300"/>
            <a:ext cx="12192000" cy="3476625"/>
          </a:xfrm>
        </p:spPr>
        <p:txBody>
          <a:bodyPr>
            <a:normAutofit fontScale="90000"/>
          </a:bodyPr>
          <a:lstStyle/>
          <a:p>
            <a:r>
              <a:rPr lang="fr-FR" dirty="0" err="1"/>
              <a:t>Angular</a:t>
            </a:r>
            <a:r>
              <a:rPr lang="fr-FR" dirty="0"/>
              <a:t> Demos</a:t>
            </a:r>
            <a:br>
              <a:rPr lang="fr-FR" dirty="0"/>
            </a:br>
            <a:br>
              <a:rPr lang="fr-FR" dirty="0"/>
            </a:br>
            <a:r>
              <a:rPr lang="fr-FR" dirty="0" err="1"/>
              <a:t>ng</a:t>
            </a:r>
            <a:r>
              <a:rPr lang="fr-FR" dirty="0"/>
              <a:t> new,  </a:t>
            </a:r>
            <a:r>
              <a:rPr lang="fr-FR" dirty="0" err="1"/>
              <a:t>ng</a:t>
            </a:r>
            <a:r>
              <a:rPr lang="fr-FR" dirty="0"/>
              <a:t> serve,  </a:t>
            </a:r>
            <a:br>
              <a:rPr lang="fr-FR" dirty="0"/>
            </a:br>
            <a:r>
              <a:rPr lang="fr-FR" dirty="0"/>
              <a:t>(</a:t>
            </a:r>
            <a:r>
              <a:rPr lang="fr-FR" dirty="0" err="1"/>
              <a:t>ng</a:t>
            </a:r>
            <a:r>
              <a:rPr lang="fr-FR" dirty="0"/>
              <a:t>-)</a:t>
            </a:r>
            <a:r>
              <a:rPr lang="fr-FR" dirty="0" err="1"/>
              <a:t>bootstrap</a:t>
            </a:r>
            <a:r>
              <a:rPr lang="fr-FR" dirty="0"/>
              <a:t> </a:t>
            </a:r>
            <a:r>
              <a:rPr lang="fr-FR" dirty="0" err="1"/>
              <a:t>library</a:t>
            </a:r>
            <a:br>
              <a:rPr lang="fr-FR" dirty="0"/>
            </a:br>
            <a:r>
              <a:rPr lang="fr-FR" dirty="0"/>
              <a:t>basic </a:t>
            </a:r>
            <a:r>
              <a:rPr lang="fr-FR" dirty="0" err="1"/>
              <a:t>elements</a:t>
            </a:r>
            <a:r>
              <a:rPr lang="fr-FR" dirty="0"/>
              <a:t>: </a:t>
            </a:r>
            <a:r>
              <a:rPr lang="fr-FR" dirty="0" err="1"/>
              <a:t>button</a:t>
            </a:r>
            <a:r>
              <a:rPr lang="fr-FR" dirty="0"/>
              <a:t>, menu, tab, ..</a:t>
            </a: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EC0D11FB-79B7-C615-0A08-48B59325B27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92624" y="4415698"/>
            <a:ext cx="11406752" cy="2442302"/>
          </a:xfrm>
        </p:spPr>
        <p:txBody>
          <a:bodyPr>
            <a:normAutofit/>
          </a:bodyPr>
          <a:lstStyle/>
          <a:p>
            <a:r>
              <a:rPr lang="fr-FR" dirty="0">
                <a:hlinkClick r:id="rId2"/>
              </a:rPr>
              <a:t>arnaud.nauwynck@gmail.com</a:t>
            </a:r>
            <a:endParaRPr lang="fr-FR" dirty="0"/>
          </a:p>
          <a:p>
            <a:r>
              <a:rPr lang="fr-FR" dirty="0"/>
              <a:t>Course </a:t>
            </a:r>
            <a:r>
              <a:rPr lang="fr-FR" dirty="0" err="1"/>
              <a:t>Esilv</a:t>
            </a:r>
            <a:r>
              <a:rPr lang="fr-FR" dirty="0"/>
              <a:t> 2025</a:t>
            </a:r>
          </a:p>
          <a:p>
            <a:r>
              <a:rPr lang="fr-FR" dirty="0"/>
              <a:t>This document: </a:t>
            </a:r>
            <a:br>
              <a:rPr lang="fr-FR" dirty="0"/>
            </a:br>
            <a:r>
              <a:rPr lang="fr-FR" dirty="0"/>
              <a:t>https://github.com/Arnaud-Nauwynck/presentations/web/</a:t>
            </a:r>
            <a:br>
              <a:rPr lang="fr-FR" dirty="0"/>
            </a:br>
            <a:r>
              <a:rPr lang="fr-FR" dirty="0"/>
              <a:t>angular-demos-1-ng-new-ngbootstrap.pdf</a:t>
            </a:r>
          </a:p>
        </p:txBody>
      </p:sp>
    </p:spTree>
    <p:extLst>
      <p:ext uri="{BB962C8B-B14F-4D97-AF65-F5344CB8AC3E}">
        <p14:creationId xmlns:p14="http://schemas.microsoft.com/office/powerpoint/2010/main" val="34015817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74DEC2-C392-F098-B8B2-508515E05E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2363788"/>
          </a:xfrm>
        </p:spPr>
        <p:txBody>
          <a:bodyPr>
            <a:normAutofit fontScale="90000"/>
          </a:bodyPr>
          <a:lstStyle/>
          <a:p>
            <a:pPr algn="ctr"/>
            <a:r>
              <a:rPr lang="fr-FR" dirty="0"/>
              <a:t>2 </a:t>
            </a:r>
            <a:r>
              <a:rPr lang="fr-FR" dirty="0" err="1"/>
              <a:t>pre-requisites</a:t>
            </a:r>
            <a:r>
              <a:rPr lang="fr-FR" dirty="0"/>
              <a:t>:</a:t>
            </a:r>
            <a:br>
              <a:rPr lang="fr-FR" dirty="0"/>
            </a:br>
            <a:br>
              <a:rPr lang="fr-FR" dirty="0"/>
            </a:br>
            <a:r>
              <a:rPr lang="fr-FR" dirty="0"/>
              <a:t>1/ </a:t>
            </a:r>
            <a:r>
              <a:rPr lang="fr-FR" dirty="0" err="1"/>
              <a:t>install</a:t>
            </a:r>
            <a:r>
              <a:rPr lang="fr-FR" dirty="0"/>
              <a:t> </a:t>
            </a:r>
            <a:r>
              <a:rPr lang="fr-FR" b="1" dirty="0"/>
              <a:t>node.js</a:t>
            </a:r>
            <a:br>
              <a:rPr lang="fr-FR" dirty="0"/>
            </a:br>
            <a:r>
              <a:rPr lang="fr-FR" dirty="0"/>
              <a:t>2/ </a:t>
            </a:r>
            <a:r>
              <a:rPr lang="fr-FR" b="1" dirty="0"/>
              <a:t>$ </a:t>
            </a:r>
            <a:r>
              <a:rPr lang="fr-FR" b="1" dirty="0" err="1"/>
              <a:t>npm</a:t>
            </a:r>
            <a:r>
              <a:rPr lang="fr-FR" b="1" dirty="0"/>
              <a:t> </a:t>
            </a:r>
            <a:r>
              <a:rPr lang="fr-FR" b="1" dirty="0" err="1"/>
              <a:t>install</a:t>
            </a:r>
            <a:r>
              <a:rPr lang="fr-FR" b="1" dirty="0"/>
              <a:t> -g @angular/cli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ADFD013-0CC4-1731-EE08-BA315DD43E03}"/>
              </a:ext>
            </a:extLst>
          </p:cNvPr>
          <p:cNvSpPr txBox="1"/>
          <p:nvPr/>
        </p:nvSpPr>
        <p:spPr>
          <a:xfrm>
            <a:off x="3929062" y="4286250"/>
            <a:ext cx="4977003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dirty="0" err="1"/>
              <a:t>Also</a:t>
            </a:r>
            <a:r>
              <a:rPr lang="fr-FR" sz="2400" dirty="0"/>
              <a:t> </a:t>
            </a:r>
            <a:r>
              <a:rPr lang="fr-FR" sz="2400" dirty="0" err="1"/>
              <a:t>recommended</a:t>
            </a:r>
            <a:r>
              <a:rPr lang="fr-FR" sz="2400" dirty="0"/>
              <a:t> :</a:t>
            </a:r>
          </a:p>
          <a:p>
            <a:r>
              <a:rPr lang="fr-FR" sz="2400" dirty="0"/>
              <a:t>3/ have 1G </a:t>
            </a:r>
            <a:r>
              <a:rPr lang="fr-FR" sz="2400" dirty="0" err="1"/>
              <a:t>disk</a:t>
            </a:r>
            <a:r>
              <a:rPr lang="fr-FR" sz="2400" dirty="0"/>
              <a:t> free on </a:t>
            </a:r>
            <a:r>
              <a:rPr lang="fr-FR" sz="2400" dirty="0" err="1"/>
              <a:t>your</a:t>
            </a:r>
            <a:r>
              <a:rPr lang="fr-FR" sz="2400" dirty="0"/>
              <a:t> PC</a:t>
            </a:r>
          </a:p>
          <a:p>
            <a:r>
              <a:rPr lang="fr-FR" sz="2400" dirty="0"/>
              <a:t>4/ </a:t>
            </a:r>
            <a:r>
              <a:rPr lang="fr-FR" sz="2400" dirty="0" err="1"/>
              <a:t>install</a:t>
            </a:r>
            <a:r>
              <a:rPr lang="fr-FR" sz="2400" dirty="0"/>
              <a:t> </a:t>
            </a:r>
            <a:r>
              <a:rPr lang="fr-FR" sz="2400" dirty="0" err="1"/>
              <a:t>Intellij</a:t>
            </a:r>
            <a:r>
              <a:rPr lang="fr-FR" sz="2400" dirty="0"/>
              <a:t>  or Visual Studio Code</a:t>
            </a:r>
          </a:p>
          <a:p>
            <a:r>
              <a:rPr lang="fr-FR" sz="2400" dirty="0"/>
              <a:t>5/ network </a:t>
            </a:r>
            <a:r>
              <a:rPr lang="fr-FR" sz="2400" dirty="0" err="1"/>
              <a:t>bandwidth</a:t>
            </a:r>
            <a:endParaRPr lang="fr-FR" sz="2400" dirty="0"/>
          </a:p>
          <a:p>
            <a:r>
              <a:rPr lang="fr-FR" sz="2400" dirty="0"/>
              <a:t>6/ patience</a:t>
            </a:r>
          </a:p>
        </p:txBody>
      </p:sp>
    </p:spTree>
    <p:extLst>
      <p:ext uri="{BB962C8B-B14F-4D97-AF65-F5344CB8AC3E}">
        <p14:creationId xmlns:p14="http://schemas.microsoft.com/office/powerpoint/2010/main" val="32180737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EB31CD7-4C7F-418C-8512-B3E1E545B0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1083076"/>
          </a:xfrm>
        </p:spPr>
        <p:txBody>
          <a:bodyPr>
            <a:normAutofit fontScale="90000"/>
          </a:bodyPr>
          <a:lstStyle/>
          <a:p>
            <a:pPr algn="ctr"/>
            <a:r>
              <a:rPr lang="fr-FR" dirty="0"/>
              <a:t>(</a:t>
            </a:r>
            <a:r>
              <a:rPr lang="fr-FR" dirty="0" err="1"/>
              <a:t>Optional</a:t>
            </a:r>
            <a:r>
              <a:rPr lang="fr-FR" dirty="0"/>
              <a:t>) </a:t>
            </a:r>
            <a:r>
              <a:rPr lang="fr-FR" dirty="0" err="1"/>
              <a:t>Using</a:t>
            </a:r>
            <a:r>
              <a:rPr lang="fr-FR" dirty="0"/>
              <a:t> </a:t>
            </a:r>
            <a:r>
              <a:rPr lang="fr-FR" dirty="0" err="1"/>
              <a:t>pnpm</a:t>
            </a:r>
            <a:r>
              <a:rPr lang="fr-FR" dirty="0"/>
              <a:t> </a:t>
            </a:r>
            <a:r>
              <a:rPr lang="fr-FR" dirty="0" err="1"/>
              <a:t>instead</a:t>
            </a:r>
            <a:r>
              <a:rPr lang="fr-FR" dirty="0"/>
              <a:t> of </a:t>
            </a:r>
            <a:r>
              <a:rPr lang="fr-FR" dirty="0" err="1"/>
              <a:t>npm</a:t>
            </a:r>
            <a:r>
              <a:rPr lang="fr-FR" dirty="0"/>
              <a:t> …</a:t>
            </a:r>
            <a:br>
              <a:rPr lang="fr-FR" dirty="0"/>
            </a:br>
            <a:r>
              <a:rPr lang="fr-FR" dirty="0">
                <a:hlinkClick r:id="rId2"/>
              </a:rPr>
              <a:t>https://pnpm.io</a:t>
            </a:r>
            <a:r>
              <a:rPr lang="fr-FR" dirty="0"/>
              <a:t> 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DB42DB23-A618-4418-8B0D-36DBC1E077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73788" y="1410573"/>
            <a:ext cx="7287645" cy="5083442"/>
          </a:xfrm>
          <a:prstGeom prst="rect">
            <a:avLst/>
          </a:prstGeom>
        </p:spPr>
      </p:pic>
      <p:sp>
        <p:nvSpPr>
          <p:cNvPr id="6" name="ZoneTexte 5">
            <a:extLst>
              <a:ext uri="{FF2B5EF4-FFF2-40B4-BE49-F238E27FC236}">
                <a16:creationId xmlns:a16="http://schemas.microsoft.com/office/drawing/2014/main" id="{46D25CC9-D173-4C84-94AD-865776FA93B3}"/>
              </a:ext>
            </a:extLst>
          </p:cNvPr>
          <p:cNvSpPr txBox="1"/>
          <p:nvPr/>
        </p:nvSpPr>
        <p:spPr>
          <a:xfrm>
            <a:off x="270769" y="3599895"/>
            <a:ext cx="403578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dirty="0" err="1"/>
              <a:t>npm</a:t>
            </a:r>
            <a:r>
              <a:rPr lang="fr-FR" sz="2400" dirty="0"/>
              <a:t> </a:t>
            </a:r>
            <a:r>
              <a:rPr lang="fr-FR" sz="2400" dirty="0" err="1"/>
              <a:t>install</a:t>
            </a:r>
            <a:r>
              <a:rPr lang="fr-FR" sz="2400" dirty="0"/>
              <a:t> -g pnpm@latest-10</a:t>
            </a:r>
          </a:p>
        </p:txBody>
      </p:sp>
    </p:spTree>
    <p:extLst>
      <p:ext uri="{BB962C8B-B14F-4D97-AF65-F5344CB8AC3E}">
        <p14:creationId xmlns:p14="http://schemas.microsoft.com/office/powerpoint/2010/main" val="28850697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3F2BD48-7AF3-4714-BD73-34D6F0C4E2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794552"/>
          </a:xfrm>
        </p:spPr>
        <p:txBody>
          <a:bodyPr>
            <a:normAutofit/>
          </a:bodyPr>
          <a:lstStyle/>
          <a:p>
            <a:pPr algn="ctr"/>
            <a:r>
              <a:rPr lang="fr-FR" dirty="0" err="1"/>
              <a:t>Pnpm</a:t>
            </a:r>
            <a:r>
              <a:rPr lang="fr-FR" dirty="0"/>
              <a:t> Motivations</a:t>
            </a:r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332073E4-89D0-4913-BE4A-886882AB34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921" y="708288"/>
            <a:ext cx="4591448" cy="3905588"/>
          </a:xfrm>
          <a:prstGeom prst="rect">
            <a:avLst/>
          </a:prstGeom>
        </p:spPr>
      </p:pic>
      <p:pic>
        <p:nvPicPr>
          <p:cNvPr id="9" name="Image 8">
            <a:extLst>
              <a:ext uri="{FF2B5EF4-FFF2-40B4-BE49-F238E27FC236}">
                <a16:creationId xmlns:a16="http://schemas.microsoft.com/office/drawing/2014/main" id="{641DB871-3D60-4137-9F6A-126E23EF16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3796" y="1533793"/>
            <a:ext cx="4191363" cy="4496190"/>
          </a:xfrm>
          <a:prstGeom prst="rect">
            <a:avLst/>
          </a:prstGeom>
        </p:spPr>
      </p:pic>
      <p:pic>
        <p:nvPicPr>
          <p:cNvPr id="13" name="Image 12">
            <a:extLst>
              <a:ext uri="{FF2B5EF4-FFF2-40B4-BE49-F238E27FC236}">
                <a16:creationId xmlns:a16="http://schemas.microsoft.com/office/drawing/2014/main" id="{3300A799-1A6C-4F52-BECD-D43B0ADB60E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55159" y="1546483"/>
            <a:ext cx="3200677" cy="2350974"/>
          </a:xfrm>
          <a:prstGeom prst="rect">
            <a:avLst/>
          </a:prstGeom>
        </p:spPr>
      </p:pic>
      <p:sp>
        <p:nvSpPr>
          <p:cNvPr id="14" name="ZoneTexte 13">
            <a:extLst>
              <a:ext uri="{FF2B5EF4-FFF2-40B4-BE49-F238E27FC236}">
                <a16:creationId xmlns:a16="http://schemas.microsoft.com/office/drawing/2014/main" id="{2D4FA6ED-4063-4649-8504-D2B484256790}"/>
              </a:ext>
            </a:extLst>
          </p:cNvPr>
          <p:cNvSpPr txBox="1"/>
          <p:nvPr/>
        </p:nvSpPr>
        <p:spPr>
          <a:xfrm>
            <a:off x="1184429" y="6307584"/>
            <a:ext cx="22974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b="1" dirty="0"/>
              <a:t>SMALLER  (</a:t>
            </a:r>
            <a:r>
              <a:rPr lang="fr-FR" b="1" dirty="0" err="1"/>
              <a:t>disk</a:t>
            </a:r>
            <a:r>
              <a:rPr lang="fr-FR" b="1" dirty="0"/>
              <a:t> </a:t>
            </a:r>
            <a:r>
              <a:rPr lang="fr-FR" b="1" dirty="0" err="1"/>
              <a:t>space</a:t>
            </a:r>
            <a:r>
              <a:rPr lang="fr-FR" b="1" dirty="0"/>
              <a:t>)</a:t>
            </a:r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B0F8547B-94FF-4773-A797-7BBE3B8AF922}"/>
              </a:ext>
            </a:extLst>
          </p:cNvPr>
          <p:cNvSpPr txBox="1"/>
          <p:nvPr/>
        </p:nvSpPr>
        <p:spPr>
          <a:xfrm>
            <a:off x="6096000" y="6340136"/>
            <a:ext cx="8794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b="1" dirty="0"/>
              <a:t>FASTER</a:t>
            </a:r>
          </a:p>
        </p:txBody>
      </p:sp>
      <p:sp>
        <p:nvSpPr>
          <p:cNvPr id="16" name="ZoneTexte 15">
            <a:extLst>
              <a:ext uri="{FF2B5EF4-FFF2-40B4-BE49-F238E27FC236}">
                <a16:creationId xmlns:a16="http://schemas.microsoft.com/office/drawing/2014/main" id="{5D3523F3-274D-4524-BAC8-265AEB0278EF}"/>
              </a:ext>
            </a:extLst>
          </p:cNvPr>
          <p:cNvSpPr txBox="1"/>
          <p:nvPr/>
        </p:nvSpPr>
        <p:spPr>
          <a:xfrm>
            <a:off x="10203402" y="6340136"/>
            <a:ext cx="8992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b="1" dirty="0"/>
              <a:t>BETTER</a:t>
            </a:r>
          </a:p>
        </p:txBody>
      </p:sp>
    </p:spTree>
    <p:extLst>
      <p:ext uri="{BB962C8B-B14F-4D97-AF65-F5344CB8AC3E}">
        <p14:creationId xmlns:p14="http://schemas.microsoft.com/office/powerpoint/2010/main" val="30187988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BA9ABA4-40CA-49FE-A0C5-8CDBC49DDD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5479"/>
            <a:ext cx="10515600" cy="1325563"/>
          </a:xfrm>
        </p:spPr>
        <p:txBody>
          <a:bodyPr>
            <a:normAutofit/>
          </a:bodyPr>
          <a:lstStyle/>
          <a:p>
            <a:r>
              <a:rPr lang="fr-FR" dirty="0"/>
              <a:t>(</a:t>
            </a:r>
            <a:r>
              <a:rPr lang="fr-FR" dirty="0" err="1"/>
              <a:t>Optional</a:t>
            </a:r>
            <a:r>
              <a:rPr lang="fr-FR" dirty="0"/>
              <a:t>) </a:t>
            </a:r>
            <a:r>
              <a:rPr lang="fr-FR" dirty="0" err="1"/>
              <a:t>Configuring</a:t>
            </a:r>
            <a:r>
              <a:rPr lang="fr-FR" dirty="0"/>
              <a:t> « </a:t>
            </a:r>
            <a:r>
              <a:rPr lang="fr-FR" dirty="0" err="1"/>
              <a:t>ng</a:t>
            </a:r>
            <a:r>
              <a:rPr lang="fr-FR" dirty="0"/>
              <a:t> cli »</a:t>
            </a:r>
            <a:br>
              <a:rPr lang="fr-FR" dirty="0"/>
            </a:br>
            <a:r>
              <a:rPr lang="fr-FR" dirty="0"/>
              <a:t>  to use </a:t>
            </a:r>
            <a:r>
              <a:rPr lang="fr-FR" dirty="0" err="1"/>
              <a:t>pnpm</a:t>
            </a:r>
            <a:r>
              <a:rPr lang="fr-FR" dirty="0"/>
              <a:t> </a:t>
            </a:r>
            <a:r>
              <a:rPr lang="fr-FR" dirty="0" err="1"/>
              <a:t>instead</a:t>
            </a:r>
            <a:r>
              <a:rPr lang="fr-FR" dirty="0"/>
              <a:t> of </a:t>
            </a:r>
            <a:r>
              <a:rPr lang="fr-FR" dirty="0" err="1"/>
              <a:t>npm</a:t>
            </a:r>
            <a:endParaRPr lang="fr-FR" dirty="0"/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990C2C67-0F42-44E5-8B7A-58DEF3B979D8}"/>
              </a:ext>
            </a:extLst>
          </p:cNvPr>
          <p:cNvSpPr txBox="1"/>
          <p:nvPr/>
        </p:nvSpPr>
        <p:spPr>
          <a:xfrm>
            <a:off x="2081814" y="2693919"/>
            <a:ext cx="7121001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3200" dirty="0" err="1"/>
              <a:t>ng</a:t>
            </a:r>
            <a:r>
              <a:rPr lang="fr-FR" sz="3200" dirty="0"/>
              <a:t> config -g </a:t>
            </a:r>
            <a:r>
              <a:rPr lang="fr-FR" sz="3200" dirty="0" err="1"/>
              <a:t>cli.packageManager</a:t>
            </a:r>
            <a:r>
              <a:rPr lang="fr-FR" sz="3200" dirty="0"/>
              <a:t> </a:t>
            </a:r>
            <a:r>
              <a:rPr lang="fr-FR" sz="3200" dirty="0" err="1"/>
              <a:t>pnpm</a:t>
            </a:r>
            <a:endParaRPr lang="fr-FR" sz="3200" dirty="0"/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11A3158A-874A-4570-A593-23DDB85856C4}"/>
              </a:ext>
            </a:extLst>
          </p:cNvPr>
          <p:cNvSpPr txBox="1"/>
          <p:nvPr/>
        </p:nvSpPr>
        <p:spPr>
          <a:xfrm>
            <a:off x="1864310" y="4265720"/>
            <a:ext cx="8043933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Notice:  </a:t>
            </a:r>
            <a:r>
              <a:rPr lang="fr-FR" dirty="0" err="1"/>
              <a:t>neither</a:t>
            </a:r>
            <a:r>
              <a:rPr lang="fr-FR" dirty="0"/>
              <a:t> </a:t>
            </a:r>
            <a:r>
              <a:rPr lang="fr-FR" dirty="0" err="1"/>
              <a:t>package.json</a:t>
            </a:r>
            <a:r>
              <a:rPr lang="fr-FR" dirty="0"/>
              <a:t> </a:t>
            </a:r>
            <a:r>
              <a:rPr lang="fr-FR" dirty="0" err="1"/>
              <a:t>nor</a:t>
            </a:r>
            <a:r>
              <a:rPr lang="fr-FR" dirty="0"/>
              <a:t>  </a:t>
            </a:r>
            <a:r>
              <a:rPr lang="fr-FR" dirty="0" err="1"/>
              <a:t>angular.jso</a:t>
            </a:r>
            <a:r>
              <a:rPr lang="fr-FR" dirty="0"/>
              <a:t> files </a:t>
            </a:r>
            <a:r>
              <a:rPr lang="fr-FR" dirty="0" err="1"/>
              <a:t>need</a:t>
            </a:r>
            <a:r>
              <a:rPr lang="fr-FR" dirty="0"/>
              <a:t> to </a:t>
            </a:r>
            <a:r>
              <a:rPr lang="fr-FR" dirty="0" err="1"/>
              <a:t>be</a:t>
            </a:r>
            <a:r>
              <a:rPr lang="fr-FR" dirty="0"/>
              <a:t> </a:t>
            </a:r>
            <a:r>
              <a:rPr lang="fr-FR" dirty="0" err="1"/>
              <a:t>changed</a:t>
            </a:r>
            <a:r>
              <a:rPr lang="fr-FR" dirty="0"/>
              <a:t> to use </a:t>
            </a:r>
            <a:r>
              <a:rPr lang="fr-FR" dirty="0" err="1"/>
              <a:t>pnpm</a:t>
            </a:r>
            <a:r>
              <a:rPr lang="fr-FR" dirty="0"/>
              <a:t>.</a:t>
            </a:r>
          </a:p>
          <a:p>
            <a:endParaRPr lang="fr-FR" dirty="0"/>
          </a:p>
          <a:p>
            <a:r>
              <a:rPr lang="fr-FR" dirty="0"/>
              <a:t>But all </a:t>
            </a:r>
            <a:r>
              <a:rPr lang="fr-FR" dirty="0" err="1"/>
              <a:t>commands</a:t>
            </a:r>
            <a:r>
              <a:rPr lang="fr-FR" dirty="0"/>
              <a:t>  « </a:t>
            </a:r>
            <a:r>
              <a:rPr lang="fr-FR" dirty="0" err="1"/>
              <a:t>npm</a:t>
            </a:r>
            <a:r>
              <a:rPr lang="fr-FR" dirty="0"/>
              <a:t> </a:t>
            </a:r>
            <a:r>
              <a:rPr lang="fr-FR" dirty="0" err="1"/>
              <a:t>install</a:t>
            </a:r>
            <a:r>
              <a:rPr lang="fr-FR" dirty="0"/>
              <a:t> » </a:t>
            </a:r>
            <a:r>
              <a:rPr lang="fr-FR" dirty="0" err="1"/>
              <a:t>need</a:t>
            </a:r>
            <a:r>
              <a:rPr lang="fr-FR" dirty="0"/>
              <a:t> to </a:t>
            </a:r>
            <a:r>
              <a:rPr lang="fr-FR" dirty="0" err="1"/>
              <a:t>be</a:t>
            </a:r>
            <a:r>
              <a:rPr lang="fr-FR" dirty="0"/>
              <a:t> </a:t>
            </a:r>
            <a:r>
              <a:rPr lang="fr-FR" dirty="0" err="1"/>
              <a:t>replaced</a:t>
            </a:r>
            <a:r>
              <a:rPr lang="fr-FR" dirty="0"/>
              <a:t> by « </a:t>
            </a:r>
            <a:r>
              <a:rPr lang="fr-FR" dirty="0" err="1"/>
              <a:t>pnpm</a:t>
            </a:r>
            <a:r>
              <a:rPr lang="fr-FR" dirty="0"/>
              <a:t> </a:t>
            </a:r>
            <a:r>
              <a:rPr lang="fr-FR" dirty="0" err="1"/>
              <a:t>install</a:t>
            </a:r>
            <a:r>
              <a:rPr lang="fr-FR" dirty="0"/>
              <a:t> »</a:t>
            </a:r>
            <a:br>
              <a:rPr lang="fr-FR" dirty="0"/>
            </a:br>
            <a:r>
              <a:rPr lang="fr-FR" dirty="0"/>
              <a:t>and « </a:t>
            </a:r>
            <a:r>
              <a:rPr lang="fr-FR" dirty="0" err="1"/>
              <a:t>ng</a:t>
            </a:r>
            <a:r>
              <a:rPr lang="fr-FR" dirty="0"/>
              <a:t> new » </a:t>
            </a:r>
            <a:r>
              <a:rPr lang="fr-FR" dirty="0" err="1"/>
              <a:t>is</a:t>
            </a:r>
            <a:r>
              <a:rPr lang="fr-FR" dirty="0"/>
              <a:t> </a:t>
            </a:r>
            <a:r>
              <a:rPr lang="fr-FR" dirty="0" err="1"/>
              <a:t>calling</a:t>
            </a:r>
            <a:r>
              <a:rPr lang="fr-FR" dirty="0"/>
              <a:t> « ${</a:t>
            </a:r>
            <a:r>
              <a:rPr lang="fr-FR" dirty="0" err="1"/>
              <a:t>cli.packageManager</a:t>
            </a:r>
            <a:r>
              <a:rPr lang="fr-FR" dirty="0"/>
              <a:t>} </a:t>
            </a:r>
            <a:r>
              <a:rPr lang="fr-FR" dirty="0" err="1"/>
              <a:t>install</a:t>
            </a:r>
            <a:r>
              <a:rPr lang="fr-FR" dirty="0"/>
              <a:t> »</a:t>
            </a:r>
          </a:p>
        </p:txBody>
      </p:sp>
    </p:spTree>
    <p:extLst>
      <p:ext uri="{BB962C8B-B14F-4D97-AF65-F5344CB8AC3E}">
        <p14:creationId xmlns:p14="http://schemas.microsoft.com/office/powerpoint/2010/main" val="19870628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E34375-6FA3-7588-9F7D-26AB207C8D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dirty="0"/>
              <a:t>$ </a:t>
            </a:r>
            <a:r>
              <a:rPr lang="fr-FR" b="1" dirty="0" err="1"/>
              <a:t>ng</a:t>
            </a:r>
            <a:r>
              <a:rPr lang="fr-FR" b="1" dirty="0"/>
              <a:t> new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81E0C00-09ED-405E-888E-D34A2E8A1CB6}"/>
              </a:ext>
            </a:extLst>
          </p:cNvPr>
          <p:cNvSpPr txBox="1"/>
          <p:nvPr/>
        </p:nvSpPr>
        <p:spPr>
          <a:xfrm>
            <a:off x="4289946" y="3167390"/>
            <a:ext cx="378590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800" dirty="0" err="1"/>
              <a:t>Create</a:t>
            </a:r>
            <a:r>
              <a:rPr lang="fr-FR" sz="2800" dirty="0"/>
              <a:t> a new application</a:t>
            </a:r>
          </a:p>
        </p:txBody>
      </p:sp>
    </p:spTree>
    <p:extLst>
      <p:ext uri="{BB962C8B-B14F-4D97-AF65-F5344CB8AC3E}">
        <p14:creationId xmlns:p14="http://schemas.microsoft.com/office/powerpoint/2010/main" val="9211902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3790C3-B3B5-61E2-111C-5BF2AB3EA4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dirty="0"/>
              <a:t>Upgrade </a:t>
            </a:r>
            <a:r>
              <a:rPr lang="fr-FR" dirty="0" err="1"/>
              <a:t>existing</a:t>
            </a:r>
            <a:r>
              <a:rPr lang="fr-FR" dirty="0"/>
              <a:t> @angular/cli .. If </a:t>
            </a:r>
            <a:r>
              <a:rPr lang="fr-FR" dirty="0" err="1"/>
              <a:t>needed</a:t>
            </a:r>
            <a:r>
              <a:rPr lang="fr-FR" dirty="0"/>
              <a:t>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090F7DA-E36E-DDE4-8931-43CB9E729973}"/>
              </a:ext>
            </a:extLst>
          </p:cNvPr>
          <p:cNvSpPr txBox="1"/>
          <p:nvPr/>
        </p:nvSpPr>
        <p:spPr>
          <a:xfrm>
            <a:off x="3821373" y="2442950"/>
            <a:ext cx="5050357" cy="30469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3200" dirty="0"/>
              <a:t>$ </a:t>
            </a:r>
            <a:r>
              <a:rPr lang="fr-FR" sz="3200" dirty="0" err="1"/>
              <a:t>ng</a:t>
            </a:r>
            <a:r>
              <a:rPr lang="fr-FR" sz="3200" dirty="0"/>
              <a:t> update @angular/cli</a:t>
            </a:r>
            <a:br>
              <a:rPr lang="fr-FR" sz="3200" dirty="0"/>
            </a:br>
            <a:br>
              <a:rPr lang="fr-FR" sz="3200" dirty="0"/>
            </a:br>
            <a:r>
              <a:rPr lang="fr-FR" sz="3200" dirty="0"/>
              <a:t>or </a:t>
            </a:r>
          </a:p>
          <a:p>
            <a:endParaRPr lang="fr-FR" sz="3200" dirty="0"/>
          </a:p>
          <a:p>
            <a:r>
              <a:rPr lang="fr-FR" sz="3200" dirty="0"/>
              <a:t>$ </a:t>
            </a:r>
            <a:r>
              <a:rPr lang="fr-FR" sz="3200" dirty="0" err="1"/>
              <a:t>npm</a:t>
            </a:r>
            <a:r>
              <a:rPr lang="fr-FR" sz="3200" dirty="0"/>
              <a:t> </a:t>
            </a:r>
            <a:r>
              <a:rPr lang="fr-FR" sz="3200" dirty="0" err="1"/>
              <a:t>uninstall</a:t>
            </a:r>
            <a:r>
              <a:rPr lang="fr-FR" sz="3200" dirty="0"/>
              <a:t> @angular/cli</a:t>
            </a:r>
          </a:p>
          <a:p>
            <a:r>
              <a:rPr lang="fr-FR" sz="3200" dirty="0"/>
              <a:t>$ </a:t>
            </a:r>
            <a:r>
              <a:rPr lang="fr-FR" sz="3200" dirty="0" err="1"/>
              <a:t>npm</a:t>
            </a:r>
            <a:r>
              <a:rPr lang="fr-FR" sz="3200" dirty="0"/>
              <a:t> </a:t>
            </a:r>
            <a:r>
              <a:rPr lang="fr-FR" sz="3200" dirty="0" err="1"/>
              <a:t>install</a:t>
            </a:r>
            <a:r>
              <a:rPr lang="fr-FR" sz="3200" dirty="0"/>
              <a:t> –g @angular/cli</a:t>
            </a:r>
          </a:p>
        </p:txBody>
      </p:sp>
    </p:spTree>
    <p:extLst>
      <p:ext uri="{BB962C8B-B14F-4D97-AF65-F5344CB8AC3E}">
        <p14:creationId xmlns:p14="http://schemas.microsoft.com/office/powerpoint/2010/main" val="100830786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3790C3-B3B5-61E2-111C-5BF2AB3EA4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663842"/>
          </a:xfrm>
        </p:spPr>
        <p:txBody>
          <a:bodyPr>
            <a:normAutofit fontScale="90000"/>
          </a:bodyPr>
          <a:lstStyle/>
          <a:p>
            <a:pPr algn="ctr"/>
            <a:r>
              <a:rPr lang="fr-FR" dirty="0"/>
              <a:t>Upgrade </a:t>
            </a:r>
            <a:r>
              <a:rPr lang="fr-FR" dirty="0" err="1"/>
              <a:t>existing</a:t>
            </a:r>
            <a:r>
              <a:rPr lang="fr-FR" dirty="0"/>
              <a:t> </a:t>
            </a:r>
            <a:r>
              <a:rPr lang="fr-FR" dirty="0" err="1"/>
              <a:t>angular</a:t>
            </a:r>
            <a:r>
              <a:rPr lang="fr-FR" dirty="0"/>
              <a:t> </a:t>
            </a:r>
            <a:r>
              <a:rPr lang="fr-FR" dirty="0" err="1"/>
              <a:t>project</a:t>
            </a:r>
            <a:r>
              <a:rPr lang="fr-FR" dirty="0"/>
              <a:t> … if </a:t>
            </a:r>
            <a:r>
              <a:rPr lang="fr-FR" dirty="0" err="1"/>
              <a:t>needed</a:t>
            </a:r>
            <a:br>
              <a:rPr lang="fr-FR" dirty="0"/>
            </a:br>
            <a:br>
              <a:rPr lang="fr-FR" dirty="0"/>
            </a:br>
            <a:r>
              <a:rPr lang="fr-FR" dirty="0"/>
              <a:t>$ </a:t>
            </a:r>
            <a:r>
              <a:rPr lang="fr-FR" b="1" dirty="0" err="1"/>
              <a:t>ng</a:t>
            </a:r>
            <a:r>
              <a:rPr lang="fr-FR" b="1" dirty="0"/>
              <a:t> update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821774D-1E37-F7ED-E611-A96B67D188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7524" y="3047549"/>
            <a:ext cx="7666384" cy="12269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962801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86A9CF-8789-45D7-AAC5-1D9B568F8B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dirty="0"/>
              <a:t>« </a:t>
            </a:r>
            <a:r>
              <a:rPr lang="fr-FR" dirty="0" err="1"/>
              <a:t>ng</a:t>
            </a:r>
            <a:r>
              <a:rPr lang="fr-FR" dirty="0"/>
              <a:t> new » alternatives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38056B6-3BCE-EF92-CE35-B995DCADE706}"/>
              </a:ext>
            </a:extLst>
          </p:cNvPr>
          <p:cNvSpPr txBox="1"/>
          <p:nvPr/>
        </p:nvSpPr>
        <p:spPr>
          <a:xfrm>
            <a:off x="2543033" y="2644170"/>
            <a:ext cx="8423140" cy="30469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3200" dirty="0"/>
              <a:t>1/  $ </a:t>
            </a:r>
            <a:r>
              <a:rPr lang="fr-FR" sz="3200" b="1" dirty="0"/>
              <a:t>git clone </a:t>
            </a:r>
            <a:r>
              <a:rPr lang="fr-FR" sz="3200" dirty="0"/>
              <a:t> https://github.com/${org}/${repo}</a:t>
            </a:r>
          </a:p>
          <a:p>
            <a:endParaRPr lang="fr-FR" sz="3200" dirty="0"/>
          </a:p>
          <a:p>
            <a:r>
              <a:rPr lang="fr-FR" sz="3200" dirty="0"/>
              <a:t>2/  </a:t>
            </a:r>
            <a:r>
              <a:rPr lang="fr-FR" sz="3200" b="1" dirty="0" err="1"/>
              <a:t>jhispter</a:t>
            </a:r>
            <a:endParaRPr lang="fr-FR" sz="3200" dirty="0"/>
          </a:p>
          <a:p>
            <a:endParaRPr lang="fr-FR" sz="3200" dirty="0"/>
          </a:p>
          <a:p>
            <a:r>
              <a:rPr lang="fr-FR" sz="3200" dirty="0"/>
              <a:t>3/ </a:t>
            </a:r>
            <a:r>
              <a:rPr lang="fr-FR" sz="3200" dirty="0" err="1"/>
              <a:t>read</a:t>
            </a:r>
            <a:r>
              <a:rPr lang="fr-FR" sz="3200" dirty="0"/>
              <a:t> docs, </a:t>
            </a:r>
            <a:r>
              <a:rPr lang="fr-FR" sz="3200" dirty="0" err="1"/>
              <a:t>edit</a:t>
            </a:r>
            <a:r>
              <a:rPr lang="fr-FR" sz="3200" dirty="0"/>
              <a:t>  </a:t>
            </a:r>
            <a:r>
              <a:rPr lang="fr-FR" sz="3200" dirty="0" err="1"/>
              <a:t>package.json</a:t>
            </a:r>
            <a:r>
              <a:rPr lang="fr-FR" sz="3200" dirty="0"/>
              <a:t> + </a:t>
            </a:r>
            <a:r>
              <a:rPr lang="fr-FR" sz="3200" dirty="0" err="1"/>
              <a:t>angular.json</a:t>
            </a:r>
            <a:br>
              <a:rPr lang="fr-FR" sz="3200" dirty="0"/>
            </a:br>
            <a:r>
              <a:rPr lang="fr-FR" sz="3200" dirty="0"/>
              <a:t>    … NOT </a:t>
            </a:r>
            <a:r>
              <a:rPr lang="fr-FR" sz="3200" dirty="0" err="1"/>
              <a:t>recommended</a:t>
            </a:r>
            <a:endParaRPr lang="fr-FR" sz="3200" dirty="0"/>
          </a:p>
        </p:txBody>
      </p:sp>
    </p:spTree>
    <p:extLst>
      <p:ext uri="{BB962C8B-B14F-4D97-AF65-F5344CB8AC3E}">
        <p14:creationId xmlns:p14="http://schemas.microsoft.com/office/powerpoint/2010/main" val="392728284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A4D26D-54B0-4C1C-BF84-D60BE26CDA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dirty="0" err="1"/>
              <a:t>Jhipster</a:t>
            </a:r>
            <a:r>
              <a:rPr lang="fr-FR" dirty="0"/>
              <a:t> = Java </a:t>
            </a:r>
            <a:r>
              <a:rPr lang="fr-FR" dirty="0" err="1"/>
              <a:t>springboot</a:t>
            </a:r>
            <a:r>
              <a:rPr lang="fr-FR" dirty="0"/>
              <a:t>(backend) + </a:t>
            </a:r>
            <a:r>
              <a:rPr lang="fr-FR" dirty="0" err="1"/>
              <a:t>angular</a:t>
            </a:r>
            <a:r>
              <a:rPr lang="fr-FR" dirty="0"/>
              <a:t>(frontend) app </a:t>
            </a:r>
            <a:r>
              <a:rPr lang="fr-FR" dirty="0" err="1"/>
              <a:t>generator</a:t>
            </a:r>
            <a:endParaRPr lang="fr-FR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2963143-B63B-59AA-E77E-67503E7EE9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999" y="1690688"/>
            <a:ext cx="9556845" cy="48779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090517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7B11B7-C92B-72BF-71C9-533FA9F29F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-17467"/>
            <a:ext cx="10515600" cy="1325563"/>
          </a:xfrm>
        </p:spPr>
        <p:txBody>
          <a:bodyPr/>
          <a:lstStyle/>
          <a:p>
            <a:pPr algn="ctr"/>
            <a:r>
              <a:rPr lang="fr-FR" dirty="0" err="1"/>
              <a:t>ng</a:t>
            </a:r>
            <a:r>
              <a:rPr lang="fr-FR" dirty="0"/>
              <a:t> new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877893E-4F53-1CDA-05B7-0DFACFCAE6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9680" y="1377153"/>
            <a:ext cx="8009314" cy="374174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D96DD87A-043F-4C1D-E1A5-3447BF7BE9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09661" y="837960"/>
            <a:ext cx="3562659" cy="5524979"/>
          </a:xfrm>
          <a:prstGeom prst="rect">
            <a:avLst/>
          </a:prstGeom>
        </p:spPr>
      </p:pic>
      <p:sp>
        <p:nvSpPr>
          <p:cNvPr id="7" name="Arrow: Right 6">
            <a:extLst>
              <a:ext uri="{FF2B5EF4-FFF2-40B4-BE49-F238E27FC236}">
                <a16:creationId xmlns:a16="http://schemas.microsoft.com/office/drawing/2014/main" id="{4B3B3058-6ED8-2D50-84C7-E54B8C99FCEC}"/>
              </a:ext>
            </a:extLst>
          </p:cNvPr>
          <p:cNvSpPr/>
          <p:nvPr/>
        </p:nvSpPr>
        <p:spPr>
          <a:xfrm>
            <a:off x="7920037" y="2840831"/>
            <a:ext cx="790575" cy="814387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5756606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7A7F6B-9D64-559F-3765-A735215DE7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b="1" dirty="0"/>
              <a:t>$ </a:t>
            </a:r>
            <a:r>
              <a:rPr lang="fr-FR" b="1" dirty="0" err="1"/>
              <a:t>ng</a:t>
            </a:r>
            <a:r>
              <a:rPr lang="fr-FR" b="1" dirty="0"/>
              <a:t> serve</a:t>
            </a:r>
            <a:r>
              <a:rPr lang="fr-FR" dirty="0"/>
              <a:t>   =&gt; http://localhost:4200 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DB5F057-E043-98C3-58AF-DE0B4ED917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3514" y="1942940"/>
            <a:ext cx="10409822" cy="36769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760553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ACC89D-9159-90E3-8A65-F3391282C6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101601"/>
            <a:ext cx="10515600" cy="1668463"/>
          </a:xfrm>
        </p:spPr>
        <p:txBody>
          <a:bodyPr>
            <a:normAutofit/>
          </a:bodyPr>
          <a:lstStyle/>
          <a:p>
            <a:pPr algn="ctr"/>
            <a:r>
              <a:rPr lang="fr-FR" dirty="0" err="1"/>
              <a:t>Demo</a:t>
            </a:r>
            <a:br>
              <a:rPr lang="fr-FR" dirty="0"/>
            </a:br>
            <a:r>
              <a:rPr lang="fr-FR" dirty="0" err="1"/>
              <a:t>IntelliJ</a:t>
            </a:r>
            <a:r>
              <a:rPr lang="fr-FR" dirty="0"/>
              <a:t> (</a:t>
            </a:r>
            <a:r>
              <a:rPr lang="fr-FR" dirty="0" err="1"/>
              <a:t>left</a:t>
            </a:r>
            <a:r>
              <a:rPr lang="fr-FR" dirty="0"/>
              <a:t>) + Chrome (right) + </a:t>
            </a:r>
            <a:r>
              <a:rPr lang="fr-FR" dirty="0" err="1"/>
              <a:t>ng</a:t>
            </a:r>
            <a:r>
              <a:rPr lang="fr-FR" dirty="0"/>
              <a:t> serve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44DD7CD-B327-E078-161E-E6BE0494D1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513" y="1507807"/>
            <a:ext cx="9753600" cy="51739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603301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C9AD6E-880B-899F-BC6C-8F3DB70C9F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0100" y="0"/>
            <a:ext cx="10515600" cy="1325563"/>
          </a:xfrm>
        </p:spPr>
        <p:txBody>
          <a:bodyPr/>
          <a:lstStyle/>
          <a:p>
            <a:pPr algn="ctr"/>
            <a:r>
              <a:rPr lang="fr-FR" dirty="0" err="1"/>
              <a:t>Demo</a:t>
            </a:r>
            <a:r>
              <a:rPr lang="fr-FR" dirty="0"/>
              <a:t> … Live </a:t>
            </a:r>
            <a:r>
              <a:rPr lang="fr-FR" dirty="0" err="1"/>
              <a:t>reload</a:t>
            </a:r>
            <a:endParaRPr lang="fr-FR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7196476-CEA0-3B31-46F3-4FD7A773DB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8210" y="1119810"/>
            <a:ext cx="10515601" cy="55962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557520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5CEFEF-B288-FECC-005C-2CF9906925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72750" cy="2235200"/>
          </a:xfrm>
        </p:spPr>
        <p:txBody>
          <a:bodyPr>
            <a:normAutofit fontScale="90000"/>
          </a:bodyPr>
          <a:lstStyle/>
          <a:p>
            <a:pPr algn="ctr"/>
            <a:r>
              <a:rPr lang="fr-FR" dirty="0"/>
              <a:t>Live </a:t>
            </a:r>
            <a:r>
              <a:rPr lang="fr-FR" dirty="0" err="1"/>
              <a:t>Reload</a:t>
            </a:r>
            <a:r>
              <a:rPr lang="fr-FR" dirty="0"/>
              <a:t> …  --</a:t>
            </a:r>
            <a:r>
              <a:rPr lang="fr-FR" dirty="0" err="1"/>
              <a:t>watch</a:t>
            </a:r>
            <a:r>
              <a:rPr lang="fr-FR" dirty="0"/>
              <a:t>  </a:t>
            </a:r>
            <a:br>
              <a:rPr lang="fr-FR" dirty="0"/>
            </a:br>
            <a:r>
              <a:rPr lang="fr-FR" dirty="0"/>
              <a:t>(</a:t>
            </a:r>
            <a:r>
              <a:rPr lang="fr-FR" dirty="0" err="1"/>
              <a:t>expect</a:t>
            </a:r>
            <a:r>
              <a:rPr lang="fr-FR" dirty="0"/>
              <a:t> 5 seconds </a:t>
            </a:r>
            <a:r>
              <a:rPr lang="fr-FR" dirty="0" err="1"/>
              <a:t>delay</a:t>
            </a:r>
            <a:r>
              <a:rPr lang="fr-FR" dirty="0"/>
              <a:t>)</a:t>
            </a:r>
            <a:br>
              <a:rPr lang="fr-FR" dirty="0"/>
            </a:br>
            <a:br>
              <a:rPr lang="fr-FR" dirty="0"/>
            </a:br>
            <a:r>
              <a:rPr lang="fr-FR" dirty="0" err="1"/>
              <a:t>watch</a:t>
            </a:r>
            <a:r>
              <a:rPr lang="fr-FR" dirty="0"/>
              <a:t> File changes =&gt; compile =&gt; </a:t>
            </a:r>
            <a:r>
              <a:rPr lang="fr-FR" dirty="0" err="1"/>
              <a:t>refresh</a:t>
            </a:r>
            <a:r>
              <a:rPr lang="fr-FR" dirty="0"/>
              <a:t> page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CE37609-DCDE-AC27-9107-F2F9B53A50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42880" y="2820751"/>
            <a:ext cx="7025488" cy="36721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995331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48E948-C2B1-0D2B-D151-542CC2CAFE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dirty="0" err="1"/>
              <a:t>Demo</a:t>
            </a:r>
            <a:r>
              <a:rPr lang="fr-FR" dirty="0"/>
              <a:t> live-</a:t>
            </a:r>
            <a:r>
              <a:rPr lang="fr-FR" dirty="0" err="1"/>
              <a:t>reload</a:t>
            </a:r>
            <a:r>
              <a:rPr lang="fr-FR" dirty="0"/>
              <a:t> … </a:t>
            </a:r>
            <a:r>
              <a:rPr lang="fr-FR" dirty="0" err="1"/>
              <a:t>when</a:t>
            </a:r>
            <a:r>
              <a:rPr lang="fr-FR" dirty="0"/>
              <a:t> compile </a:t>
            </a:r>
            <a:r>
              <a:rPr lang="fr-FR" dirty="0" err="1"/>
              <a:t>error</a:t>
            </a:r>
            <a:endParaRPr lang="fr-FR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836787-3271-D682-0EDF-AAAA2EF3A1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24050" y="1812044"/>
            <a:ext cx="9105900" cy="48341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627589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666F97-C872-992D-4C5C-7C9A6083BE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7341" y="2521471"/>
            <a:ext cx="10515600" cy="1325563"/>
          </a:xfrm>
        </p:spPr>
        <p:txBody>
          <a:bodyPr/>
          <a:lstStyle/>
          <a:p>
            <a:r>
              <a:rPr lang="fr-FR" dirty="0" err="1"/>
              <a:t>Adding</a:t>
            </a:r>
            <a:r>
              <a:rPr lang="fr-FR" dirty="0"/>
              <a:t> Bootstrap </a:t>
            </a:r>
            <a:r>
              <a:rPr lang="fr-FR" dirty="0" err="1"/>
              <a:t>library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50850766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846B4A-5880-4295-7C1A-61DD3756DC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37481"/>
          </a:xfrm>
        </p:spPr>
        <p:txBody>
          <a:bodyPr>
            <a:normAutofit/>
          </a:bodyPr>
          <a:lstStyle/>
          <a:p>
            <a:pPr algn="ctr"/>
            <a:r>
              <a:rPr lang="fr-FR" dirty="0">
                <a:hlinkClick r:id="rId2"/>
              </a:rPr>
              <a:t>https://getbootstrap.com/</a:t>
            </a:r>
            <a:r>
              <a:rPr lang="fr-FR" dirty="0"/>
              <a:t> 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2CF592A-A298-40A2-CFF6-491028EF41A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60646" y="1528549"/>
            <a:ext cx="10444583" cy="49797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122649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846B4A-5880-4295-7C1A-61DD3756DC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868907"/>
          </a:xfrm>
        </p:spPr>
        <p:txBody>
          <a:bodyPr/>
          <a:lstStyle/>
          <a:p>
            <a:pPr algn="ctr"/>
            <a:r>
              <a:rPr lang="fr-FR" dirty="0"/>
              <a:t>Bootstrap … </a:t>
            </a:r>
            <a:r>
              <a:rPr lang="fr-FR" dirty="0" err="1"/>
              <a:t>example</a:t>
            </a:r>
            <a:r>
              <a:rPr lang="fr-FR" dirty="0"/>
              <a:t>: </a:t>
            </a:r>
            <a:r>
              <a:rPr lang="fr-FR" dirty="0" err="1"/>
              <a:t>button</a:t>
            </a:r>
            <a:r>
              <a:rPr lang="fr-FR" dirty="0"/>
              <a:t> </a:t>
            </a:r>
            <a:r>
              <a:rPr lang="fr-FR" dirty="0" err="1"/>
              <a:t>dropdown</a:t>
            </a:r>
            <a:endParaRPr lang="fr-FR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7B4A63C-56A9-1F81-C9B5-74E8C90BE5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195" y="1011501"/>
            <a:ext cx="9472717" cy="484161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C5F7A76-1E62-448E-485F-6B64E31448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40179" y="3843268"/>
            <a:ext cx="1988992" cy="161939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5B4E9F1-E7CF-D362-86DF-13171F83707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06859" y="1990684"/>
            <a:ext cx="1855631" cy="933531"/>
          </a:xfrm>
          <a:prstGeom prst="rect">
            <a:avLst/>
          </a:prstGeom>
        </p:spPr>
      </p:pic>
      <p:sp>
        <p:nvSpPr>
          <p:cNvPr id="10" name="Arrow: Down 9">
            <a:extLst>
              <a:ext uri="{FF2B5EF4-FFF2-40B4-BE49-F238E27FC236}">
                <a16:creationId xmlns:a16="http://schemas.microsoft.com/office/drawing/2014/main" id="{D2A1EE05-3A28-1EA7-5F9E-BEEF9C0A4DBE}"/>
              </a:ext>
            </a:extLst>
          </p:cNvPr>
          <p:cNvSpPr/>
          <p:nvPr/>
        </p:nvSpPr>
        <p:spPr>
          <a:xfrm>
            <a:off x="10582275" y="3188478"/>
            <a:ext cx="381000" cy="438150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8372592-84F1-E0AC-C052-191B87ED6112}"/>
              </a:ext>
            </a:extLst>
          </p:cNvPr>
          <p:cNvSpPr txBox="1"/>
          <p:nvPr/>
        </p:nvSpPr>
        <p:spPr>
          <a:xfrm>
            <a:off x="11053878" y="3140855"/>
            <a:ext cx="5998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b="1" dirty="0"/>
              <a:t>click</a:t>
            </a:r>
          </a:p>
        </p:txBody>
      </p:sp>
    </p:spTree>
    <p:extLst>
      <p:ext uri="{BB962C8B-B14F-4D97-AF65-F5344CB8AC3E}">
        <p14:creationId xmlns:p14="http://schemas.microsoft.com/office/powerpoint/2010/main" val="374695242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846B4A-5880-4295-7C1A-61DD3756DC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433015"/>
          </a:xfrm>
        </p:spPr>
        <p:txBody>
          <a:bodyPr>
            <a:normAutofit/>
          </a:bodyPr>
          <a:lstStyle/>
          <a:p>
            <a:pPr algn="ctr"/>
            <a:r>
              <a:rPr lang="fr-FR" dirty="0" err="1"/>
              <a:t>Adding</a:t>
            </a:r>
            <a:r>
              <a:rPr lang="fr-FR" dirty="0"/>
              <a:t> via </a:t>
            </a:r>
            <a:r>
              <a:rPr lang="fr-FR" dirty="0" err="1"/>
              <a:t>ng-bootstrap</a:t>
            </a:r>
            <a:br>
              <a:rPr lang="fr-FR" dirty="0"/>
            </a:br>
            <a:r>
              <a:rPr lang="fr-FR" dirty="0"/>
              <a:t>… NPM module for Bootstrap in </a:t>
            </a:r>
            <a:r>
              <a:rPr lang="fr-FR" dirty="0" err="1"/>
              <a:t>Angular</a:t>
            </a:r>
            <a:endParaRPr lang="fr-FR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AB3F491-5FD9-089E-CC8D-9344FBEE20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029" y="1478507"/>
            <a:ext cx="10108302" cy="52004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64239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846B4A-5880-4295-7C1A-61DD3756DC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14233"/>
            <a:ext cx="10515600" cy="868907"/>
          </a:xfrm>
        </p:spPr>
        <p:txBody>
          <a:bodyPr/>
          <a:lstStyle/>
          <a:p>
            <a:pPr algn="ctr"/>
            <a:r>
              <a:rPr lang="fr-FR" dirty="0" err="1"/>
              <a:t>ng</a:t>
            </a:r>
            <a:r>
              <a:rPr lang="fr-FR" dirty="0"/>
              <a:t> </a:t>
            </a:r>
            <a:r>
              <a:rPr lang="fr-FR" dirty="0" err="1"/>
              <a:t>add</a:t>
            </a:r>
            <a:r>
              <a:rPr lang="fr-FR" dirty="0"/>
              <a:t> @ng-bootstrap/ng-bootstrap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3B45973-B410-4471-AB43-6465CADD31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7982" y="2319980"/>
            <a:ext cx="8204853" cy="34985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654402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846B4A-5880-4295-7C1A-61DD3756DC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868907"/>
          </a:xfrm>
        </p:spPr>
        <p:txBody>
          <a:bodyPr/>
          <a:lstStyle/>
          <a:p>
            <a:r>
              <a:rPr lang="fr-FR" dirty="0"/>
              <a:t>git </a:t>
            </a:r>
            <a:r>
              <a:rPr lang="fr-FR" dirty="0" err="1"/>
              <a:t>status</a:t>
            </a:r>
            <a:r>
              <a:rPr lang="fr-FR" dirty="0"/>
              <a:t> ; git diff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516AE7B-7875-4D90-D704-F5EAA05B9D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77385" y="380086"/>
            <a:ext cx="6396318" cy="636873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0FDAC07-ED7C-23A7-61B0-9BB39C4F52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593" y="1794858"/>
            <a:ext cx="5408770" cy="19673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075946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0C0B89-35C1-0762-EAB9-B4AE4F74EF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dirty="0"/>
              <a:t>REDO  </a:t>
            </a:r>
            <a:r>
              <a:rPr lang="fr-FR" dirty="0" err="1"/>
              <a:t>npm</a:t>
            </a:r>
            <a:r>
              <a:rPr lang="fr-FR" dirty="0"/>
              <a:t> </a:t>
            </a:r>
            <a:r>
              <a:rPr lang="fr-FR" dirty="0" err="1"/>
              <a:t>install</a:t>
            </a:r>
            <a:r>
              <a:rPr lang="fr-FR" dirty="0"/>
              <a:t> </a:t>
            </a:r>
            <a:br>
              <a:rPr lang="fr-FR" dirty="0"/>
            </a:br>
            <a:r>
              <a:rPr lang="fr-FR" dirty="0"/>
              <a:t>+ stop &amp; restart   </a:t>
            </a:r>
            <a:r>
              <a:rPr lang="fr-FR" dirty="0" err="1"/>
              <a:t>ng</a:t>
            </a:r>
            <a:r>
              <a:rPr lang="fr-FR" dirty="0"/>
              <a:t> server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EDE021D-F43A-668A-D30A-60C3D80410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66745" y="2205394"/>
            <a:ext cx="6458510" cy="32387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318897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11A545-3226-E7FF-DF6E-D8068D709D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89125"/>
            <a:ext cx="10515600" cy="1325563"/>
          </a:xfrm>
        </p:spPr>
        <p:txBody>
          <a:bodyPr/>
          <a:lstStyle/>
          <a:p>
            <a:pPr algn="ctr"/>
            <a:r>
              <a:rPr lang="fr-FR" dirty="0"/>
              <a:t>Bootstrap Demos</a:t>
            </a:r>
          </a:p>
        </p:txBody>
      </p:sp>
    </p:spTree>
    <p:extLst>
      <p:ext uri="{BB962C8B-B14F-4D97-AF65-F5344CB8AC3E}">
        <p14:creationId xmlns:p14="http://schemas.microsoft.com/office/powerpoint/2010/main" val="58940658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>
            <a:extLst>
              <a:ext uri="{FF2B5EF4-FFF2-40B4-BE49-F238E27FC236}">
                <a16:creationId xmlns:a16="http://schemas.microsoft.com/office/drawing/2014/main" id="{8E610227-6CC4-07EB-D79E-B000BDA4CB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4466" y="1252976"/>
            <a:ext cx="4629334" cy="560502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A846B4A-5880-4295-7C1A-61DD3756DC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446663"/>
          </a:xfrm>
        </p:spPr>
        <p:txBody>
          <a:bodyPr>
            <a:normAutofit/>
          </a:bodyPr>
          <a:lstStyle/>
          <a:p>
            <a:pPr algn="ctr"/>
            <a:r>
              <a:rPr lang="fr-FR" dirty="0"/>
              <a:t>Bootstrap </a:t>
            </a:r>
            <a:r>
              <a:rPr lang="fr-FR" dirty="0" err="1"/>
              <a:t>demo</a:t>
            </a:r>
            <a:r>
              <a:rPr lang="fr-FR" dirty="0"/>
              <a:t> 1: </a:t>
            </a:r>
            <a:br>
              <a:rPr lang="fr-FR" dirty="0"/>
            </a:br>
            <a:r>
              <a:rPr lang="fr-FR" dirty="0"/>
              <a:t>Container,  12 x </a:t>
            </a:r>
            <a:r>
              <a:rPr lang="fr-FR" dirty="0" err="1"/>
              <a:t>columns</a:t>
            </a:r>
            <a:r>
              <a:rPr lang="fr-FR" dirty="0"/>
              <a:t> system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CB41E4E-446E-A70B-A613-8508205DF8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6969" y="1886930"/>
            <a:ext cx="5627125" cy="3285201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D5FF147B-DEDF-E95D-EEFA-7E2B5F676C64}"/>
              </a:ext>
            </a:extLst>
          </p:cNvPr>
          <p:cNvSpPr/>
          <p:nvPr/>
        </p:nvSpPr>
        <p:spPr>
          <a:xfrm>
            <a:off x="1264681" y="1966713"/>
            <a:ext cx="2302432" cy="343620"/>
          </a:xfrm>
          <a:prstGeom prst="rect">
            <a:avLst/>
          </a:prstGeom>
          <a:noFill/>
          <a:ln w="3175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B3D8640-F4EE-6B2C-770A-1CDC748DA80C}"/>
              </a:ext>
            </a:extLst>
          </p:cNvPr>
          <p:cNvSpPr/>
          <p:nvPr/>
        </p:nvSpPr>
        <p:spPr>
          <a:xfrm>
            <a:off x="1568347" y="2320425"/>
            <a:ext cx="1427266" cy="343620"/>
          </a:xfrm>
          <a:prstGeom prst="rect">
            <a:avLst/>
          </a:prstGeom>
          <a:noFill/>
          <a:ln w="3175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40524D0-0AA3-40A7-BB74-DEC9EED38852}"/>
              </a:ext>
            </a:extLst>
          </p:cNvPr>
          <p:cNvSpPr/>
          <p:nvPr/>
        </p:nvSpPr>
        <p:spPr>
          <a:xfrm>
            <a:off x="1812314" y="3319621"/>
            <a:ext cx="2150086" cy="343620"/>
          </a:xfrm>
          <a:prstGeom prst="rect">
            <a:avLst/>
          </a:prstGeom>
          <a:noFill/>
          <a:ln w="3175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63647E8-030A-564A-D224-57104F5FC9F4}"/>
              </a:ext>
            </a:extLst>
          </p:cNvPr>
          <p:cNvSpPr/>
          <p:nvPr/>
        </p:nvSpPr>
        <p:spPr>
          <a:xfrm>
            <a:off x="1788502" y="4041339"/>
            <a:ext cx="2150086" cy="343620"/>
          </a:xfrm>
          <a:prstGeom prst="rect">
            <a:avLst/>
          </a:prstGeom>
          <a:noFill/>
          <a:ln w="3175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1341190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846B4A-5880-4295-7C1A-61DD3756DC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533099"/>
          </a:xfrm>
        </p:spPr>
        <p:txBody>
          <a:bodyPr>
            <a:normAutofit/>
          </a:bodyPr>
          <a:lstStyle/>
          <a:p>
            <a:pPr algn="ctr"/>
            <a:r>
              <a:rPr lang="fr-FR" dirty="0"/>
              <a:t>Bootstrap </a:t>
            </a:r>
            <a:r>
              <a:rPr lang="fr-FR" dirty="0" err="1"/>
              <a:t>demo</a:t>
            </a:r>
            <a:r>
              <a:rPr lang="fr-FR" dirty="0"/>
              <a:t> 1: </a:t>
            </a:r>
            <a:br>
              <a:rPr lang="fr-FR" dirty="0"/>
            </a:br>
            <a:r>
              <a:rPr lang="fr-FR" dirty="0"/>
              <a:t>Container,  12 x </a:t>
            </a:r>
            <a:r>
              <a:rPr lang="fr-FR" dirty="0" err="1"/>
              <a:t>columns</a:t>
            </a:r>
            <a:r>
              <a:rPr lang="fr-FR" dirty="0"/>
              <a:t> system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A868B94-0411-5208-1D00-FCB56B963F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60881" y="2500312"/>
            <a:ext cx="10400334" cy="34309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26381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B8144C-BFD8-A6B6-C06A-D901DCD0EE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dirty="0" err="1"/>
              <a:t>Demo</a:t>
            </a:r>
            <a:r>
              <a:rPr lang="fr-FR" dirty="0"/>
              <a:t> Bootstrap </a:t>
            </a:r>
            <a:r>
              <a:rPr lang="fr-FR" dirty="0" err="1"/>
              <a:t>Carousel</a:t>
            </a:r>
            <a:endParaRPr lang="fr-FR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EB33A9C-17CB-9A61-FB40-0CD64DAAB2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30099" y="1447800"/>
            <a:ext cx="8252424" cy="54102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0A3D9446-8A82-E4DB-A8CD-2F94FCDE7AF0}"/>
              </a:ext>
            </a:extLst>
          </p:cNvPr>
          <p:cNvSpPr/>
          <p:nvPr/>
        </p:nvSpPr>
        <p:spPr>
          <a:xfrm>
            <a:off x="2224086" y="1500991"/>
            <a:ext cx="1528763" cy="289724"/>
          </a:xfrm>
          <a:prstGeom prst="rect">
            <a:avLst/>
          </a:prstGeom>
          <a:noFill/>
          <a:ln w="3175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43B117B-A32E-3927-5A72-FF5543F98937}"/>
              </a:ext>
            </a:extLst>
          </p:cNvPr>
          <p:cNvSpPr/>
          <p:nvPr/>
        </p:nvSpPr>
        <p:spPr>
          <a:xfrm>
            <a:off x="3686175" y="1800255"/>
            <a:ext cx="962026" cy="289724"/>
          </a:xfrm>
          <a:prstGeom prst="rect">
            <a:avLst/>
          </a:prstGeom>
          <a:noFill/>
          <a:ln w="3175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B7BDFD6-00BB-38E1-CCD6-C7C0D4CC02DA}"/>
              </a:ext>
            </a:extLst>
          </p:cNvPr>
          <p:cNvSpPr/>
          <p:nvPr/>
        </p:nvSpPr>
        <p:spPr>
          <a:xfrm>
            <a:off x="3152774" y="2882930"/>
            <a:ext cx="2505075" cy="289724"/>
          </a:xfrm>
          <a:prstGeom prst="rect">
            <a:avLst/>
          </a:prstGeom>
          <a:noFill/>
          <a:ln w="3175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58FA5A9-033F-8E7A-BAA3-C50D9169C682}"/>
              </a:ext>
            </a:extLst>
          </p:cNvPr>
          <p:cNvSpPr/>
          <p:nvPr/>
        </p:nvSpPr>
        <p:spPr>
          <a:xfrm>
            <a:off x="2507454" y="1800255"/>
            <a:ext cx="7679534" cy="2457420"/>
          </a:xfrm>
          <a:prstGeom prst="rect">
            <a:avLst/>
          </a:prstGeom>
          <a:noFill/>
          <a:ln w="3175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8104534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846B4A-5880-4295-7C1A-61DD3756DC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533099"/>
          </a:xfrm>
        </p:spPr>
        <p:txBody>
          <a:bodyPr>
            <a:normAutofit/>
          </a:bodyPr>
          <a:lstStyle/>
          <a:p>
            <a:pPr algn="ctr"/>
            <a:r>
              <a:rPr lang="fr-FR" dirty="0"/>
              <a:t>Bootstrap </a:t>
            </a:r>
            <a:r>
              <a:rPr lang="fr-FR" dirty="0" err="1"/>
              <a:t>demo</a:t>
            </a:r>
            <a:r>
              <a:rPr lang="fr-FR" dirty="0"/>
              <a:t>: </a:t>
            </a:r>
            <a:br>
              <a:rPr lang="fr-FR" dirty="0"/>
            </a:br>
            <a:r>
              <a:rPr lang="fr-FR" dirty="0" err="1"/>
              <a:t>Carousel</a:t>
            </a:r>
            <a:endParaRPr lang="fr-FR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228C4F5-4EAB-F853-4D87-F022BF2C65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2158" y="1634272"/>
            <a:ext cx="9381033" cy="50182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364261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EBDDCA-F83C-8D30-BF43-951A88454D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dirty="0"/>
              <a:t>Bootstrap Button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C5F114C-C3C0-E768-022B-3816560631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90346" y="1792541"/>
            <a:ext cx="7430799" cy="137957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7892109-8C62-6336-1C5A-C4587577DD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90346" y="3668975"/>
            <a:ext cx="8292833" cy="83933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011A8D6-EBA5-897B-6D2E-0BB155BCB8C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90346" y="4988258"/>
            <a:ext cx="8121802" cy="839335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D44FDB84-28B7-A0AF-A51B-193BD1D6981D}"/>
              </a:ext>
            </a:extLst>
          </p:cNvPr>
          <p:cNvSpPr/>
          <p:nvPr/>
        </p:nvSpPr>
        <p:spPr>
          <a:xfrm>
            <a:off x="3430138" y="1817392"/>
            <a:ext cx="3748584" cy="289724"/>
          </a:xfrm>
          <a:prstGeom prst="rect">
            <a:avLst/>
          </a:prstGeom>
          <a:noFill/>
          <a:ln w="3175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2A167B9-6CF4-F69E-A337-F3DF19D4185C}"/>
              </a:ext>
            </a:extLst>
          </p:cNvPr>
          <p:cNvSpPr/>
          <p:nvPr/>
        </p:nvSpPr>
        <p:spPr>
          <a:xfrm>
            <a:off x="6200633" y="3685882"/>
            <a:ext cx="978089" cy="289724"/>
          </a:xfrm>
          <a:prstGeom prst="rect">
            <a:avLst/>
          </a:prstGeom>
          <a:noFill/>
          <a:ln w="3175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D90B74C-7A68-51A5-E9C1-1CCE6C310686}"/>
              </a:ext>
            </a:extLst>
          </p:cNvPr>
          <p:cNvSpPr/>
          <p:nvPr/>
        </p:nvSpPr>
        <p:spPr>
          <a:xfrm>
            <a:off x="7019499" y="5011997"/>
            <a:ext cx="784744" cy="289724"/>
          </a:xfrm>
          <a:prstGeom prst="rect">
            <a:avLst/>
          </a:prstGeom>
          <a:noFill/>
          <a:ln w="3175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557D949-62D3-B05B-A4FC-DE90F0A41E6D}"/>
              </a:ext>
            </a:extLst>
          </p:cNvPr>
          <p:cNvSpPr/>
          <p:nvPr/>
        </p:nvSpPr>
        <p:spPr>
          <a:xfrm>
            <a:off x="7017225" y="5551087"/>
            <a:ext cx="784744" cy="289724"/>
          </a:xfrm>
          <a:prstGeom prst="rect">
            <a:avLst/>
          </a:prstGeom>
          <a:noFill/>
          <a:ln w="3175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8E20982-2925-59B3-507F-A3CDD0257726}"/>
              </a:ext>
            </a:extLst>
          </p:cNvPr>
          <p:cNvSpPr/>
          <p:nvPr/>
        </p:nvSpPr>
        <p:spPr>
          <a:xfrm>
            <a:off x="6268872" y="1814676"/>
            <a:ext cx="909850" cy="1381182"/>
          </a:xfrm>
          <a:prstGeom prst="rect">
            <a:avLst/>
          </a:prstGeom>
          <a:noFill/>
          <a:ln w="3175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3782350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846B4A-5880-4295-7C1A-61DD3756DC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533099"/>
          </a:xfrm>
        </p:spPr>
        <p:txBody>
          <a:bodyPr>
            <a:normAutofit/>
          </a:bodyPr>
          <a:lstStyle/>
          <a:p>
            <a:pPr algn="ctr"/>
            <a:r>
              <a:rPr lang="fr-FR" dirty="0"/>
              <a:t>Bootstrap </a:t>
            </a:r>
            <a:r>
              <a:rPr lang="fr-FR" dirty="0" err="1"/>
              <a:t>demo</a:t>
            </a:r>
            <a:r>
              <a:rPr lang="fr-FR" dirty="0"/>
              <a:t>: </a:t>
            </a:r>
            <a:br>
              <a:rPr lang="fr-FR" dirty="0"/>
            </a:br>
            <a:r>
              <a:rPr lang="fr-FR" dirty="0"/>
              <a:t>Button styles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9DB4AA4-EF0A-DF1A-B64F-2714B835E4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78682" y="2205145"/>
            <a:ext cx="8550155" cy="32767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704477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846B4A-5880-4295-7C1A-61DD3756DC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533099"/>
          </a:xfrm>
        </p:spPr>
        <p:txBody>
          <a:bodyPr>
            <a:normAutofit/>
          </a:bodyPr>
          <a:lstStyle/>
          <a:p>
            <a:pPr algn="ctr"/>
            <a:r>
              <a:rPr lang="fr-FR" dirty="0"/>
              <a:t>Bootstrap </a:t>
            </a:r>
            <a:r>
              <a:rPr lang="fr-FR" dirty="0" err="1"/>
              <a:t>demo</a:t>
            </a:r>
            <a:r>
              <a:rPr lang="fr-FR" dirty="0"/>
              <a:t>: </a:t>
            </a:r>
            <a:br>
              <a:rPr lang="fr-FR" dirty="0"/>
            </a:br>
            <a:r>
              <a:rPr lang="fr-FR" dirty="0"/>
              <a:t>Button </a:t>
            </a:r>
            <a:r>
              <a:rPr lang="fr-FR" dirty="0" err="1"/>
              <a:t>dropdown</a:t>
            </a:r>
            <a:endParaRPr lang="fr-FR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B24ECC9-0642-1F1B-5C7C-801E99BE57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38831" y="1977503"/>
            <a:ext cx="8856705" cy="39501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383562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846B4A-5880-4295-7C1A-61DD3756DC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533099"/>
          </a:xfrm>
        </p:spPr>
        <p:txBody>
          <a:bodyPr>
            <a:normAutofit/>
          </a:bodyPr>
          <a:lstStyle/>
          <a:p>
            <a:pPr algn="ctr"/>
            <a:r>
              <a:rPr lang="fr-FR" dirty="0"/>
              <a:t>Bootstrap </a:t>
            </a:r>
            <a:r>
              <a:rPr lang="fr-FR" dirty="0" err="1"/>
              <a:t>demo</a:t>
            </a:r>
            <a:r>
              <a:rPr lang="fr-FR" dirty="0"/>
              <a:t>: </a:t>
            </a:r>
            <a:br>
              <a:rPr lang="fr-FR" dirty="0"/>
            </a:br>
            <a:r>
              <a:rPr lang="fr-FR" dirty="0"/>
              <a:t>Button </a:t>
            </a:r>
            <a:r>
              <a:rPr lang="fr-FR" dirty="0" err="1"/>
              <a:t>dropdown</a:t>
            </a:r>
            <a:endParaRPr lang="fr-FR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F89953F-3007-D6CB-AC39-5BE482A183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95195" y="3110837"/>
            <a:ext cx="7601609" cy="636325"/>
          </a:xfrm>
          <a:prstGeom prst="rect">
            <a:avLst/>
          </a:prstGeom>
        </p:spPr>
      </p:pic>
      <p:sp>
        <p:nvSpPr>
          <p:cNvPr id="3" name="Speech Bubble: Oval 2">
            <a:extLst>
              <a:ext uri="{FF2B5EF4-FFF2-40B4-BE49-F238E27FC236}">
                <a16:creationId xmlns:a16="http://schemas.microsoft.com/office/drawing/2014/main" id="{3288D804-97AC-9BF4-98B4-7C25C21F732B}"/>
              </a:ext>
            </a:extLst>
          </p:cNvPr>
          <p:cNvSpPr/>
          <p:nvPr/>
        </p:nvSpPr>
        <p:spPr>
          <a:xfrm>
            <a:off x="3546739" y="3799267"/>
            <a:ext cx="3213452" cy="895563"/>
          </a:xfrm>
          <a:prstGeom prst="wedgeEllipseCallout">
            <a:avLst>
              <a:gd name="adj1" fmla="val -41103"/>
              <a:gd name="adj2" fmla="val -57283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 err="1"/>
              <a:t>dropdown</a:t>
            </a:r>
            <a:endParaRPr lang="fr-FR" dirty="0"/>
          </a:p>
          <a:p>
            <a:pPr algn="ctr"/>
            <a:r>
              <a:rPr lang="fr-FR" dirty="0" err="1"/>
              <a:t>does</a:t>
            </a:r>
            <a:r>
              <a:rPr lang="fr-FR" dirty="0"/>
              <a:t> not </a:t>
            </a:r>
            <a:r>
              <a:rPr lang="fr-FR" dirty="0" err="1"/>
              <a:t>work</a:t>
            </a:r>
            <a:r>
              <a:rPr lang="fr-FR" dirty="0"/>
              <a:t>?!</a:t>
            </a:r>
          </a:p>
        </p:txBody>
      </p:sp>
    </p:spTree>
    <p:extLst>
      <p:ext uri="{BB962C8B-B14F-4D97-AF65-F5344CB8AC3E}">
        <p14:creationId xmlns:p14="http://schemas.microsoft.com/office/powerpoint/2010/main" val="103216614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7031A7-B885-3071-22AF-C6D8DC8100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28564"/>
            <a:ext cx="10515600" cy="1645645"/>
          </a:xfrm>
        </p:spPr>
        <p:txBody>
          <a:bodyPr>
            <a:normAutofit/>
          </a:bodyPr>
          <a:lstStyle/>
          <a:p>
            <a:pPr algn="ctr"/>
            <a:r>
              <a:rPr lang="fr-FR" dirty="0"/>
              <a:t> !!!  </a:t>
            </a:r>
            <a:r>
              <a:rPr lang="fr-FR" dirty="0" err="1"/>
              <a:t>Demo</a:t>
            </a:r>
            <a:r>
              <a:rPr lang="fr-FR" dirty="0"/>
              <a:t> </a:t>
            </a:r>
            <a:r>
              <a:rPr lang="fr-FR" dirty="0" err="1"/>
              <a:t>may</a:t>
            </a:r>
            <a:r>
              <a:rPr lang="fr-FR" dirty="0"/>
              <a:t> not </a:t>
            </a:r>
            <a:r>
              <a:rPr lang="fr-FR" dirty="0" err="1"/>
              <a:t>work</a:t>
            </a:r>
            <a:r>
              <a:rPr lang="fr-FR" dirty="0"/>
              <a:t> ??</a:t>
            </a:r>
            <a:br>
              <a:rPr lang="fr-FR" dirty="0"/>
            </a:br>
            <a:r>
              <a:rPr lang="fr-FR" dirty="0"/>
              <a:t>You are not </a:t>
            </a:r>
            <a:r>
              <a:rPr lang="fr-FR" dirty="0" err="1"/>
              <a:t>alone</a:t>
            </a:r>
            <a:endParaRPr lang="fr-FR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F4FD9C2-30F6-43E2-0A64-7F1B3FBC71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12685" y="1547387"/>
            <a:ext cx="9240051" cy="5182049"/>
          </a:xfrm>
          <a:prstGeom prst="rect">
            <a:avLst/>
          </a:prstGeom>
        </p:spPr>
      </p:pic>
      <p:sp>
        <p:nvSpPr>
          <p:cNvPr id="6" name="Oval 5">
            <a:extLst>
              <a:ext uri="{FF2B5EF4-FFF2-40B4-BE49-F238E27FC236}">
                <a16:creationId xmlns:a16="http://schemas.microsoft.com/office/drawing/2014/main" id="{3336EF52-77EF-F54E-FE64-820A3FB1CEE2}"/>
              </a:ext>
            </a:extLst>
          </p:cNvPr>
          <p:cNvSpPr/>
          <p:nvPr/>
        </p:nvSpPr>
        <p:spPr>
          <a:xfrm>
            <a:off x="3370144" y="3165096"/>
            <a:ext cx="2024418" cy="532262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" name="Speech Bubble: Oval 7">
            <a:extLst>
              <a:ext uri="{FF2B5EF4-FFF2-40B4-BE49-F238E27FC236}">
                <a16:creationId xmlns:a16="http://schemas.microsoft.com/office/drawing/2014/main" id="{88F7C348-5478-FBE4-02F7-A07248F16F1F}"/>
              </a:ext>
            </a:extLst>
          </p:cNvPr>
          <p:cNvSpPr/>
          <p:nvPr/>
        </p:nvSpPr>
        <p:spPr>
          <a:xfrm>
            <a:off x="39264" y="3367088"/>
            <a:ext cx="3303724" cy="1366837"/>
          </a:xfrm>
          <a:prstGeom prst="wedgeEllipseCallout">
            <a:avLst>
              <a:gd name="adj1" fmla="val 55425"/>
              <a:gd name="adj2" fmla="val -33319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73674F9-023A-8731-C020-B8B15E507BC7}"/>
              </a:ext>
            </a:extLst>
          </p:cNvPr>
          <p:cNvSpPr txBox="1"/>
          <p:nvPr/>
        </p:nvSpPr>
        <p:spPr>
          <a:xfrm>
            <a:off x="455210" y="3588841"/>
            <a:ext cx="2471831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b="1" dirty="0"/>
              <a:t>68 Millions</a:t>
            </a:r>
            <a:r>
              <a:rPr lang="fr-FR" dirty="0"/>
              <a:t> bugs / pages</a:t>
            </a:r>
            <a:br>
              <a:rPr lang="fr-FR" dirty="0"/>
            </a:br>
            <a:r>
              <a:rPr lang="fr-FR" dirty="0" err="1"/>
              <a:t>written</a:t>
            </a:r>
            <a:r>
              <a:rPr lang="fr-FR" dirty="0"/>
              <a:t> by </a:t>
            </a:r>
            <a:r>
              <a:rPr lang="fr-FR" dirty="0" err="1"/>
              <a:t>developpers</a:t>
            </a:r>
            <a:br>
              <a:rPr lang="fr-FR" dirty="0"/>
            </a:br>
            <a:r>
              <a:rPr lang="fr-FR" dirty="0" err="1"/>
              <a:t>complaining</a:t>
            </a:r>
            <a:r>
              <a:rPr lang="fr-FR" dirty="0"/>
              <a:t> on </a:t>
            </a:r>
            <a:r>
              <a:rPr lang="fr-FR" dirty="0" err="1"/>
              <a:t>same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70462246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846B4A-5880-4295-7C1A-61DD3756DC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1913" y="0"/>
            <a:ext cx="11759821" cy="1533525"/>
          </a:xfrm>
        </p:spPr>
        <p:txBody>
          <a:bodyPr>
            <a:normAutofit/>
          </a:bodyPr>
          <a:lstStyle/>
          <a:p>
            <a:pPr algn="ctr"/>
            <a:r>
              <a:rPr lang="fr-FR" dirty="0"/>
              <a:t>Root cause of all </a:t>
            </a:r>
            <a:r>
              <a:rPr lang="fr-FR" dirty="0" err="1"/>
              <a:t>problems</a:t>
            </a:r>
            <a:r>
              <a:rPr lang="fr-FR" dirty="0"/>
              <a:t>:</a:t>
            </a:r>
            <a:br>
              <a:rPr lang="fr-FR" dirty="0"/>
            </a:br>
            <a:r>
              <a:rPr lang="fr-FR" dirty="0"/>
              <a:t>CSS </a:t>
            </a:r>
            <a:r>
              <a:rPr lang="fr-FR" dirty="0" err="1"/>
              <a:t>depends</a:t>
            </a:r>
            <a:r>
              <a:rPr lang="fr-FR" dirty="0"/>
              <a:t> on JS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BF1B7BCC-5F34-2E72-76FE-62830C63F0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2331" y="1652543"/>
            <a:ext cx="9130639" cy="3552914"/>
          </a:xfrm>
          <a:prstGeom prst="rect">
            <a:avLst/>
          </a:prstGeom>
        </p:spPr>
      </p:pic>
      <p:sp>
        <p:nvSpPr>
          <p:cNvPr id="19" name="Oval 18">
            <a:extLst>
              <a:ext uri="{FF2B5EF4-FFF2-40B4-BE49-F238E27FC236}">
                <a16:creationId xmlns:a16="http://schemas.microsoft.com/office/drawing/2014/main" id="{FA10779C-7BF9-9757-6F92-F103ACF5B3ED}"/>
              </a:ext>
            </a:extLst>
          </p:cNvPr>
          <p:cNvSpPr/>
          <p:nvPr/>
        </p:nvSpPr>
        <p:spPr>
          <a:xfrm>
            <a:off x="3686175" y="4114799"/>
            <a:ext cx="1704975" cy="277883"/>
          </a:xfrm>
          <a:prstGeom prst="ellipse">
            <a:avLst/>
          </a:prstGeom>
          <a:noFill/>
          <a:ln w="3810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0" name="Speech Bubble: Oval 19">
            <a:extLst>
              <a:ext uri="{FF2B5EF4-FFF2-40B4-BE49-F238E27FC236}">
                <a16:creationId xmlns:a16="http://schemas.microsoft.com/office/drawing/2014/main" id="{47031393-5F18-85CD-ED95-363BE8F9879B}"/>
              </a:ext>
            </a:extLst>
          </p:cNvPr>
          <p:cNvSpPr/>
          <p:nvPr/>
        </p:nvSpPr>
        <p:spPr>
          <a:xfrm>
            <a:off x="2012331" y="4229102"/>
            <a:ext cx="1637136" cy="671512"/>
          </a:xfrm>
          <a:prstGeom prst="wedgeEllipseCallout">
            <a:avLst>
              <a:gd name="adj1" fmla="val 55425"/>
              <a:gd name="adj2" fmla="val -33319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 err="1"/>
              <a:t>Finally</a:t>
            </a:r>
            <a:r>
              <a:rPr lang="fr-FR" dirty="0"/>
              <a:t> !!</a:t>
            </a:r>
          </a:p>
        </p:txBody>
      </p:sp>
      <p:sp>
        <p:nvSpPr>
          <p:cNvPr id="22" name="Speech Bubble: Oval 21">
            <a:extLst>
              <a:ext uri="{FF2B5EF4-FFF2-40B4-BE49-F238E27FC236}">
                <a16:creationId xmlns:a16="http://schemas.microsoft.com/office/drawing/2014/main" id="{4DEC90C3-29FE-7395-4C07-F6B18E8F9F7C}"/>
              </a:ext>
            </a:extLst>
          </p:cNvPr>
          <p:cNvSpPr/>
          <p:nvPr/>
        </p:nvSpPr>
        <p:spPr>
          <a:xfrm>
            <a:off x="6351822" y="5072107"/>
            <a:ext cx="2406415" cy="661943"/>
          </a:xfrm>
          <a:prstGeom prst="wedgeEllipseCallout">
            <a:avLst>
              <a:gd name="adj1" fmla="val -50817"/>
              <a:gd name="adj2" fmla="val -114311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But </a:t>
            </a:r>
            <a:r>
              <a:rPr lang="fr-FR" dirty="0" err="1"/>
              <a:t>still</a:t>
            </a:r>
            <a:r>
              <a:rPr lang="fr-FR" dirty="0"/>
              <a:t> </a:t>
            </a:r>
            <a:r>
              <a:rPr lang="fr-FR" dirty="0" err="1"/>
              <a:t>require</a:t>
            </a:r>
            <a:r>
              <a:rPr lang="fr-FR" dirty="0"/>
              <a:t> Popper JS</a:t>
            </a: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B46B46C2-3F8C-F127-A20A-3D3377DE94A1}"/>
              </a:ext>
            </a:extLst>
          </p:cNvPr>
          <p:cNvSpPr/>
          <p:nvPr/>
        </p:nvSpPr>
        <p:spPr>
          <a:xfrm>
            <a:off x="4664476" y="4310807"/>
            <a:ext cx="1913174" cy="325508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9877852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846B4A-5880-4295-7C1A-61DD3756DC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868907"/>
          </a:xfrm>
        </p:spPr>
        <p:txBody>
          <a:bodyPr/>
          <a:lstStyle/>
          <a:p>
            <a:pPr algn="ctr"/>
            <a:r>
              <a:rPr lang="fr-FR" dirty="0"/>
              <a:t>Bootstrap major versions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523D521-6D5D-9654-E230-5661492829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7161" y="1203995"/>
            <a:ext cx="10126639" cy="55101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718968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846B4A-5880-4295-7C1A-61DD3756DC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5699" y="0"/>
            <a:ext cx="11759821" cy="2060812"/>
          </a:xfrm>
        </p:spPr>
        <p:txBody>
          <a:bodyPr>
            <a:normAutofit/>
          </a:bodyPr>
          <a:lstStyle/>
          <a:p>
            <a:pPr algn="ctr"/>
            <a:r>
              <a:rPr lang="fr-FR" dirty="0" err="1"/>
              <a:t>Testing</a:t>
            </a:r>
            <a:r>
              <a:rPr lang="fr-FR" dirty="0"/>
              <a:t> basic </a:t>
            </a:r>
            <a:r>
              <a:rPr lang="fr-FR" dirty="0" err="1"/>
              <a:t>bootstrap</a:t>
            </a:r>
            <a:br>
              <a:rPr lang="fr-FR" dirty="0"/>
            </a:br>
            <a:r>
              <a:rPr lang="fr-FR" dirty="0" err="1"/>
              <a:t>with</a:t>
            </a:r>
            <a:r>
              <a:rPr lang="fr-FR" dirty="0"/>
              <a:t> </a:t>
            </a:r>
            <a:r>
              <a:rPr lang="fr-FR" dirty="0" err="1"/>
              <a:t>dynamic</a:t>
            </a:r>
            <a:r>
              <a:rPr lang="fr-FR" dirty="0"/>
              <a:t> javascript </a:t>
            </a:r>
            <a:r>
              <a:rPr lang="fr-FR" dirty="0" err="1"/>
              <a:t>features</a:t>
            </a:r>
            <a:br>
              <a:rPr lang="fr-FR" dirty="0"/>
            </a:br>
            <a:r>
              <a:rPr lang="fr-FR" dirty="0"/>
              <a:t>=&gt; </a:t>
            </a:r>
            <a:r>
              <a:rPr lang="fr-FR" dirty="0" err="1"/>
              <a:t>using</a:t>
            </a:r>
            <a:r>
              <a:rPr lang="fr-FR" dirty="0"/>
              <a:t> via  « </a:t>
            </a:r>
            <a:r>
              <a:rPr lang="fr-FR" dirty="0" err="1"/>
              <a:t>ng-bootsrap</a:t>
            </a:r>
            <a:r>
              <a:rPr lang="fr-FR" dirty="0"/>
              <a:t> »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156F89E-48CD-740A-333E-26EE79DA4B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27993" y="2135245"/>
            <a:ext cx="6227527" cy="258750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E92E084-E55F-52A4-D381-CF39D34F6FC1}"/>
              </a:ext>
            </a:extLst>
          </p:cNvPr>
          <p:cNvSpPr txBox="1"/>
          <p:nvPr/>
        </p:nvSpPr>
        <p:spPr>
          <a:xfrm>
            <a:off x="1319331" y="5250656"/>
            <a:ext cx="369030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err="1"/>
              <a:t>Some</a:t>
            </a:r>
            <a:r>
              <a:rPr lang="fr-FR" dirty="0"/>
              <a:t> « </a:t>
            </a:r>
            <a:r>
              <a:rPr lang="fr-FR" dirty="0" err="1"/>
              <a:t>Vanilla</a:t>
            </a:r>
            <a:r>
              <a:rPr lang="fr-FR" dirty="0"/>
              <a:t> »  Bootstrap </a:t>
            </a:r>
          </a:p>
          <a:p>
            <a:r>
              <a:rPr lang="fr-FR" dirty="0"/>
              <a:t>Classes + « data-</a:t>
            </a:r>
            <a:r>
              <a:rPr lang="fr-FR" dirty="0" err="1"/>
              <a:t>toggle</a:t>
            </a:r>
            <a:r>
              <a:rPr lang="fr-FR" dirty="0"/>
              <a:t> »=.. </a:t>
            </a:r>
            <a:r>
              <a:rPr lang="fr-FR" dirty="0" err="1"/>
              <a:t>attributes</a:t>
            </a:r>
            <a:endParaRPr lang="fr-FR" dirty="0"/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E2F10BF1-A5B1-0A84-52A3-C71AE930C431}"/>
              </a:ext>
            </a:extLst>
          </p:cNvPr>
          <p:cNvSpPr/>
          <p:nvPr/>
        </p:nvSpPr>
        <p:spPr>
          <a:xfrm>
            <a:off x="5472113" y="5362575"/>
            <a:ext cx="1223962" cy="422494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662C697-124F-E859-98BF-7F06E3E24955}"/>
              </a:ext>
            </a:extLst>
          </p:cNvPr>
          <p:cNvSpPr txBox="1"/>
          <p:nvPr/>
        </p:nvSpPr>
        <p:spPr>
          <a:xfrm>
            <a:off x="5195888" y="4953000"/>
            <a:ext cx="13656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Replace by ..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00907D0E-EBE8-806E-D891-5DE620660F97}"/>
              </a:ext>
            </a:extLst>
          </p:cNvPr>
          <p:cNvSpPr/>
          <p:nvPr/>
        </p:nvSpPr>
        <p:spPr>
          <a:xfrm>
            <a:off x="8639175" y="3038474"/>
            <a:ext cx="1704975" cy="277883"/>
          </a:xfrm>
          <a:prstGeom prst="ellipse">
            <a:avLst/>
          </a:prstGeom>
          <a:noFill/>
          <a:ln w="3810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63D0728-E22D-1DA4-19B7-12930D1431C7}"/>
              </a:ext>
            </a:extLst>
          </p:cNvPr>
          <p:cNvSpPr txBox="1"/>
          <p:nvPr/>
        </p:nvSpPr>
        <p:spPr>
          <a:xfrm>
            <a:off x="7182364" y="5186363"/>
            <a:ext cx="3297698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err="1"/>
              <a:t>simpler</a:t>
            </a:r>
            <a:r>
              <a:rPr lang="fr-FR" dirty="0"/>
              <a:t>  </a:t>
            </a:r>
            <a:r>
              <a:rPr lang="fr-FR" dirty="0" err="1"/>
              <a:t>ng-bootstrap</a:t>
            </a:r>
            <a:r>
              <a:rPr lang="fr-FR" dirty="0"/>
              <a:t>  </a:t>
            </a:r>
            <a:r>
              <a:rPr lang="fr-FR" dirty="0" err="1"/>
              <a:t>equivalent</a:t>
            </a:r>
            <a:endParaRPr lang="fr-FR" dirty="0"/>
          </a:p>
          <a:p>
            <a:endParaRPr lang="fr-FR" dirty="0"/>
          </a:p>
          <a:p>
            <a:r>
              <a:rPr lang="fr-FR" dirty="0" err="1"/>
              <a:t>ngbDropDown</a:t>
            </a:r>
            <a:endParaRPr lang="fr-FR" dirty="0"/>
          </a:p>
          <a:p>
            <a:r>
              <a:rPr lang="fr-FR" dirty="0" err="1"/>
              <a:t>ngbToggle</a:t>
            </a:r>
            <a:endParaRPr lang="fr-FR" dirty="0"/>
          </a:p>
          <a:p>
            <a:r>
              <a:rPr lang="fr-FR" dirty="0" err="1"/>
              <a:t>ngb</a:t>
            </a:r>
            <a:r>
              <a:rPr lang="fr-FR" dirty="0"/>
              <a:t>..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D72113E-8053-E5F9-1CA5-C6D29AEC2BC9}"/>
              </a:ext>
            </a:extLst>
          </p:cNvPr>
          <p:cNvSpPr txBox="1"/>
          <p:nvPr/>
        </p:nvSpPr>
        <p:spPr>
          <a:xfrm>
            <a:off x="9539287" y="6017360"/>
            <a:ext cx="186852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err="1"/>
              <a:t>Ngb</a:t>
            </a:r>
            <a:r>
              <a:rPr lang="fr-FR" dirty="0"/>
              <a:t> = </a:t>
            </a:r>
            <a:r>
              <a:rPr lang="fr-FR" dirty="0" err="1"/>
              <a:t>initials</a:t>
            </a:r>
            <a:r>
              <a:rPr lang="fr-FR" dirty="0"/>
              <a:t> for </a:t>
            </a:r>
            <a:br>
              <a:rPr lang="fr-FR" dirty="0"/>
            </a:br>
            <a:r>
              <a:rPr lang="fr-FR" dirty="0" err="1"/>
              <a:t>a</a:t>
            </a:r>
            <a:r>
              <a:rPr lang="fr-FR" b="1" dirty="0" err="1"/>
              <a:t>ng</a:t>
            </a:r>
            <a:r>
              <a:rPr lang="fr-FR" dirty="0" err="1"/>
              <a:t>ular</a:t>
            </a:r>
            <a:r>
              <a:rPr lang="fr-FR" dirty="0"/>
              <a:t> </a:t>
            </a:r>
            <a:r>
              <a:rPr lang="fr-FR" b="1" dirty="0"/>
              <a:t>B</a:t>
            </a:r>
            <a:r>
              <a:rPr lang="fr-FR" dirty="0"/>
              <a:t>ootstrap</a:t>
            </a:r>
          </a:p>
        </p:txBody>
      </p:sp>
    </p:spTree>
    <p:extLst>
      <p:ext uri="{BB962C8B-B14F-4D97-AF65-F5344CB8AC3E}">
        <p14:creationId xmlns:p14="http://schemas.microsoft.com/office/powerpoint/2010/main" val="315293809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846B4A-5880-4295-7C1A-61DD3756DC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533099"/>
          </a:xfrm>
        </p:spPr>
        <p:txBody>
          <a:bodyPr>
            <a:normAutofit/>
          </a:bodyPr>
          <a:lstStyle/>
          <a:p>
            <a:pPr algn="ctr"/>
            <a:r>
              <a:rPr lang="fr-FR" dirty="0"/>
              <a:t>Bootstrap </a:t>
            </a:r>
            <a:r>
              <a:rPr lang="fr-FR" dirty="0" err="1"/>
              <a:t>demo</a:t>
            </a:r>
            <a:r>
              <a:rPr lang="fr-FR" dirty="0"/>
              <a:t>: </a:t>
            </a:r>
            <a:br>
              <a:rPr lang="fr-FR" dirty="0"/>
            </a:br>
            <a:r>
              <a:rPr lang="fr-FR" dirty="0"/>
              <a:t>Button </a:t>
            </a:r>
            <a:r>
              <a:rPr lang="fr-FR" dirty="0" err="1"/>
              <a:t>dropdown</a:t>
            </a:r>
            <a:endParaRPr lang="fr-FR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B019B2B-E8D6-59F8-CC96-46D01A0EA2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437141"/>
            <a:ext cx="6030161" cy="255444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35D21DA-4B53-F43D-442B-C28BA31965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42900" y="2400747"/>
            <a:ext cx="5817255" cy="2749008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037B7D43-19A1-96C8-9F4A-2C667B35FFCC}"/>
              </a:ext>
            </a:extLst>
          </p:cNvPr>
          <p:cNvSpPr/>
          <p:nvPr/>
        </p:nvSpPr>
        <p:spPr>
          <a:xfrm>
            <a:off x="6860274" y="2437141"/>
            <a:ext cx="1059977" cy="289724"/>
          </a:xfrm>
          <a:prstGeom prst="rect">
            <a:avLst/>
          </a:prstGeom>
          <a:noFill/>
          <a:ln w="3175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602334D-37B8-A3DF-21E9-2CA5118001F6}"/>
              </a:ext>
            </a:extLst>
          </p:cNvPr>
          <p:cNvSpPr/>
          <p:nvPr/>
        </p:nvSpPr>
        <p:spPr>
          <a:xfrm>
            <a:off x="9542060" y="2921637"/>
            <a:ext cx="1571767" cy="289724"/>
          </a:xfrm>
          <a:prstGeom prst="rect">
            <a:avLst/>
          </a:prstGeom>
          <a:noFill/>
          <a:ln w="3175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F9C1BC1-F672-9F48-8E57-44E363429B24}"/>
              </a:ext>
            </a:extLst>
          </p:cNvPr>
          <p:cNvSpPr/>
          <p:nvPr/>
        </p:nvSpPr>
        <p:spPr>
          <a:xfrm>
            <a:off x="6946711" y="3630389"/>
            <a:ext cx="1442113" cy="289724"/>
          </a:xfrm>
          <a:prstGeom prst="rect">
            <a:avLst/>
          </a:prstGeom>
          <a:noFill/>
          <a:ln w="3175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53F6B8A-AFC9-7CFA-266E-4209FC727384}"/>
              </a:ext>
            </a:extLst>
          </p:cNvPr>
          <p:cNvSpPr/>
          <p:nvPr/>
        </p:nvSpPr>
        <p:spPr>
          <a:xfrm>
            <a:off x="7426657" y="3934691"/>
            <a:ext cx="1398895" cy="751039"/>
          </a:xfrm>
          <a:prstGeom prst="rect">
            <a:avLst/>
          </a:prstGeom>
          <a:noFill/>
          <a:ln w="3175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4" name="Arrow: Right 13">
            <a:extLst>
              <a:ext uri="{FF2B5EF4-FFF2-40B4-BE49-F238E27FC236}">
                <a16:creationId xmlns:a16="http://schemas.microsoft.com/office/drawing/2014/main" id="{57D0ADB8-582F-E491-BCA7-284DF06E80A6}"/>
              </a:ext>
            </a:extLst>
          </p:cNvPr>
          <p:cNvSpPr/>
          <p:nvPr/>
        </p:nvSpPr>
        <p:spPr>
          <a:xfrm>
            <a:off x="5782101" y="3275463"/>
            <a:ext cx="851871" cy="1019033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6374046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846B4A-5880-4295-7C1A-61DD3756DC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533099"/>
          </a:xfrm>
        </p:spPr>
        <p:txBody>
          <a:bodyPr>
            <a:normAutofit/>
          </a:bodyPr>
          <a:lstStyle/>
          <a:p>
            <a:pPr algn="ctr"/>
            <a:r>
              <a:rPr lang="fr-FR" dirty="0"/>
              <a:t>Bootstrap </a:t>
            </a:r>
            <a:r>
              <a:rPr lang="fr-FR" dirty="0" err="1"/>
              <a:t>demo</a:t>
            </a:r>
            <a:r>
              <a:rPr lang="fr-FR" dirty="0"/>
              <a:t>: </a:t>
            </a:r>
            <a:br>
              <a:rPr lang="fr-FR" dirty="0"/>
            </a:br>
            <a:r>
              <a:rPr lang="fr-FR" dirty="0"/>
              <a:t>Button </a:t>
            </a:r>
            <a:r>
              <a:rPr lang="fr-FR" dirty="0" err="1"/>
              <a:t>ngbDropdown</a:t>
            </a:r>
            <a:endParaRPr lang="fr-FR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830608E-A2D7-D4FD-5E43-6AEDE85422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2937" y="2238620"/>
            <a:ext cx="9396704" cy="162369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9513365-625E-E4EF-9F08-4BB4C5E4B8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64808" y="4167796"/>
            <a:ext cx="2279615" cy="1955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3222267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846B4A-5880-4295-7C1A-61DD3756DC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533099"/>
          </a:xfrm>
        </p:spPr>
        <p:txBody>
          <a:bodyPr>
            <a:normAutofit/>
          </a:bodyPr>
          <a:lstStyle/>
          <a:p>
            <a:pPr algn="ctr"/>
            <a:r>
              <a:rPr lang="fr-FR" dirty="0"/>
              <a:t>Bootstrap </a:t>
            </a:r>
            <a:r>
              <a:rPr lang="fr-FR" dirty="0" err="1"/>
              <a:t>demo</a:t>
            </a:r>
            <a:r>
              <a:rPr lang="fr-FR" dirty="0"/>
              <a:t>: </a:t>
            </a:r>
            <a:br>
              <a:rPr lang="fr-FR" dirty="0"/>
            </a:br>
            <a:r>
              <a:rPr lang="fr-FR" dirty="0"/>
              <a:t>Nav Tabulations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5E3B03B-F497-51CC-489A-9B1EEF0E01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79764" y="2270631"/>
            <a:ext cx="3859592" cy="153309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82ECFB6-4680-BAEE-2D5B-1AB3B5210D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8896" y="2136602"/>
            <a:ext cx="6623641" cy="343312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81242E28-969B-A546-B506-808CE6E26A2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51813" y="3913063"/>
            <a:ext cx="3749118" cy="1174143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6E74789B-2B8D-B469-F23D-FAED9B2C9EC3}"/>
              </a:ext>
            </a:extLst>
          </p:cNvPr>
          <p:cNvSpPr/>
          <p:nvPr/>
        </p:nvSpPr>
        <p:spPr>
          <a:xfrm>
            <a:off x="1446662" y="2516196"/>
            <a:ext cx="1059977" cy="219769"/>
          </a:xfrm>
          <a:prstGeom prst="rect">
            <a:avLst/>
          </a:prstGeom>
          <a:noFill/>
          <a:ln w="3175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98C4161-0DA9-1CF6-AE83-394074B6123D}"/>
              </a:ext>
            </a:extLst>
          </p:cNvPr>
          <p:cNvSpPr/>
          <p:nvPr/>
        </p:nvSpPr>
        <p:spPr>
          <a:xfrm>
            <a:off x="1271517" y="2258027"/>
            <a:ext cx="666466" cy="238253"/>
          </a:xfrm>
          <a:prstGeom prst="rect">
            <a:avLst/>
          </a:prstGeom>
          <a:noFill/>
          <a:ln w="3175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C2D17A6-D2C9-C974-23D7-101CFD98A682}"/>
              </a:ext>
            </a:extLst>
          </p:cNvPr>
          <p:cNvSpPr/>
          <p:nvPr/>
        </p:nvSpPr>
        <p:spPr>
          <a:xfrm>
            <a:off x="2015317" y="2764979"/>
            <a:ext cx="1059977" cy="238252"/>
          </a:xfrm>
          <a:prstGeom prst="rect">
            <a:avLst/>
          </a:prstGeom>
          <a:noFill/>
          <a:ln w="3175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9146297-F14E-CB22-0997-09707BFDCB74}"/>
              </a:ext>
            </a:extLst>
          </p:cNvPr>
          <p:cNvSpPr/>
          <p:nvPr/>
        </p:nvSpPr>
        <p:spPr>
          <a:xfrm>
            <a:off x="1544469" y="5023683"/>
            <a:ext cx="1931161" cy="238252"/>
          </a:xfrm>
          <a:prstGeom prst="rect">
            <a:avLst/>
          </a:prstGeom>
          <a:noFill/>
          <a:ln w="3175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FC8A5A5-91E7-E0F5-2B1D-3433D0C3B7F2}"/>
              </a:ext>
            </a:extLst>
          </p:cNvPr>
          <p:cNvSpPr/>
          <p:nvPr/>
        </p:nvSpPr>
        <p:spPr>
          <a:xfrm>
            <a:off x="2506639" y="2996433"/>
            <a:ext cx="1241946" cy="238252"/>
          </a:xfrm>
          <a:prstGeom prst="rect">
            <a:avLst/>
          </a:prstGeom>
          <a:noFill/>
          <a:ln w="3175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39026292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846B4A-5880-4295-7C1A-61DD3756DC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533099"/>
          </a:xfrm>
        </p:spPr>
        <p:txBody>
          <a:bodyPr>
            <a:normAutofit/>
          </a:bodyPr>
          <a:lstStyle/>
          <a:p>
            <a:pPr algn="ctr"/>
            <a:r>
              <a:rPr lang="fr-FR" dirty="0"/>
              <a:t>Bootstrap </a:t>
            </a:r>
            <a:r>
              <a:rPr lang="fr-FR" dirty="0" err="1"/>
              <a:t>demo</a:t>
            </a:r>
            <a:r>
              <a:rPr lang="fr-FR" dirty="0"/>
              <a:t>: </a:t>
            </a:r>
            <a:br>
              <a:rPr lang="fr-FR" dirty="0"/>
            </a:br>
            <a:r>
              <a:rPr lang="fr-FR" dirty="0" err="1"/>
              <a:t>Navbar</a:t>
            </a:r>
            <a:r>
              <a:rPr lang="fr-FR" dirty="0"/>
              <a:t> Menu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8A636AD-DFB0-8FFD-344C-C50AAA40BE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43440" y="6080912"/>
            <a:ext cx="6704899" cy="73386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3545877-D9E1-6BCC-5899-BDA83A30AE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71656" y="1464409"/>
            <a:ext cx="8987546" cy="46679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609615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846B4A-5880-4295-7C1A-61DD3756DC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868907"/>
          </a:xfrm>
        </p:spPr>
        <p:txBody>
          <a:bodyPr/>
          <a:lstStyle/>
          <a:p>
            <a:pPr algn="ctr"/>
            <a:r>
              <a:rPr lang="fr-FR" dirty="0" err="1"/>
              <a:t>Summary</a:t>
            </a:r>
            <a:endParaRPr lang="fr-FR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015F7F4-7DB1-73A9-CE5E-8A7BC1C5EE92}"/>
              </a:ext>
            </a:extLst>
          </p:cNvPr>
          <p:cNvSpPr txBox="1"/>
          <p:nvPr/>
        </p:nvSpPr>
        <p:spPr>
          <a:xfrm>
            <a:off x="4367284" y="1201003"/>
            <a:ext cx="5066708" cy="507831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Install node.js   (</a:t>
            </a:r>
            <a:r>
              <a:rPr lang="fr-FR" dirty="0" err="1"/>
              <a:t>npm</a:t>
            </a:r>
            <a:r>
              <a:rPr lang="fr-FR" dirty="0"/>
              <a:t>)</a:t>
            </a:r>
          </a:p>
          <a:p>
            <a:r>
              <a:rPr lang="fr-FR" dirty="0"/>
              <a:t>$ </a:t>
            </a:r>
            <a:r>
              <a:rPr lang="fr-FR" dirty="0" err="1"/>
              <a:t>npm</a:t>
            </a:r>
            <a:r>
              <a:rPr lang="fr-FR" dirty="0"/>
              <a:t> Install –g @angular/cli</a:t>
            </a:r>
            <a:br>
              <a:rPr lang="fr-FR" dirty="0"/>
            </a:br>
            <a:r>
              <a:rPr lang="fr-FR" dirty="0"/>
              <a:t>$ </a:t>
            </a:r>
            <a:r>
              <a:rPr lang="fr-FR" dirty="0" err="1"/>
              <a:t>ng</a:t>
            </a:r>
            <a:r>
              <a:rPr lang="fr-FR" dirty="0"/>
              <a:t> new</a:t>
            </a:r>
            <a:br>
              <a:rPr lang="fr-FR" dirty="0"/>
            </a:br>
            <a:r>
              <a:rPr lang="fr-FR" dirty="0"/>
              <a:t>  =&gt; file:   </a:t>
            </a:r>
            <a:r>
              <a:rPr lang="fr-FR" dirty="0" err="1"/>
              <a:t>package.json</a:t>
            </a:r>
            <a:r>
              <a:rPr lang="fr-FR" dirty="0"/>
              <a:t>,  </a:t>
            </a:r>
            <a:r>
              <a:rPr lang="fr-FR" dirty="0" err="1"/>
              <a:t>angular.json</a:t>
            </a:r>
            <a:br>
              <a:rPr lang="fr-FR" dirty="0"/>
            </a:br>
            <a:r>
              <a:rPr lang="fr-FR" dirty="0"/>
              <a:t>  </a:t>
            </a:r>
            <a:r>
              <a:rPr lang="fr-FR" dirty="0" err="1"/>
              <a:t>app.component</a:t>
            </a:r>
            <a:r>
              <a:rPr lang="fr-FR" dirty="0"/>
              <a:t>.{html | </a:t>
            </a:r>
            <a:r>
              <a:rPr lang="fr-FR" dirty="0" err="1"/>
              <a:t>ts</a:t>
            </a:r>
            <a:r>
              <a:rPr lang="fr-FR" dirty="0"/>
              <a:t>}</a:t>
            </a:r>
            <a:br>
              <a:rPr lang="fr-FR" dirty="0"/>
            </a:br>
            <a:br>
              <a:rPr lang="fr-FR" dirty="0"/>
            </a:br>
            <a:r>
              <a:rPr lang="fr-FR" dirty="0"/>
              <a:t>$ </a:t>
            </a:r>
            <a:r>
              <a:rPr lang="fr-FR" dirty="0" err="1"/>
              <a:t>ng</a:t>
            </a:r>
            <a:r>
              <a:rPr lang="fr-FR" dirty="0"/>
              <a:t> serve</a:t>
            </a:r>
            <a:br>
              <a:rPr lang="fr-FR" dirty="0"/>
            </a:br>
            <a:r>
              <a:rPr lang="fr-FR" dirty="0"/>
              <a:t>$ </a:t>
            </a:r>
            <a:r>
              <a:rPr lang="fr-FR" dirty="0" err="1"/>
              <a:t>ng</a:t>
            </a:r>
            <a:r>
              <a:rPr lang="fr-FR" dirty="0"/>
              <a:t> </a:t>
            </a:r>
            <a:r>
              <a:rPr lang="fr-FR" dirty="0" err="1"/>
              <a:t>add</a:t>
            </a:r>
            <a:r>
              <a:rPr lang="fr-FR" dirty="0"/>
              <a:t> @ng-bootstrap/ng-boostrap</a:t>
            </a:r>
          </a:p>
          <a:p>
            <a:r>
              <a:rPr lang="fr-FR" dirty="0"/>
              <a:t>$ </a:t>
            </a:r>
            <a:r>
              <a:rPr lang="fr-FR" dirty="0" err="1"/>
              <a:t>npm</a:t>
            </a:r>
            <a:r>
              <a:rPr lang="fr-FR" dirty="0"/>
              <a:t> </a:t>
            </a:r>
            <a:r>
              <a:rPr lang="fr-FR" dirty="0" err="1"/>
              <a:t>install</a:t>
            </a:r>
            <a:endParaRPr lang="fr-FR" dirty="0"/>
          </a:p>
          <a:p>
            <a:endParaRPr lang="fr-FR" dirty="0"/>
          </a:p>
          <a:p>
            <a:r>
              <a:rPr lang="fr-FR" dirty="0"/>
              <a:t>&lt;div class=« container »&gt;  </a:t>
            </a:r>
            <a:br>
              <a:rPr lang="fr-FR" dirty="0"/>
            </a:br>
            <a:r>
              <a:rPr lang="fr-FR" dirty="0"/>
              <a:t>    &lt;div class=« </a:t>
            </a:r>
            <a:r>
              <a:rPr lang="fr-FR" dirty="0" err="1"/>
              <a:t>row</a:t>
            </a:r>
            <a:r>
              <a:rPr lang="fr-FR" dirty="0"/>
              <a:t> »&gt;  </a:t>
            </a:r>
            <a:br>
              <a:rPr lang="fr-FR" dirty="0"/>
            </a:br>
            <a:r>
              <a:rPr lang="fr-FR" dirty="0"/>
              <a:t>        &lt;div class=« col-mb-2 »&gt;</a:t>
            </a:r>
          </a:p>
          <a:p>
            <a:endParaRPr lang="fr-FR" dirty="0"/>
          </a:p>
          <a:p>
            <a:r>
              <a:rPr lang="fr-FR" dirty="0"/>
              <a:t>&lt;</a:t>
            </a:r>
            <a:r>
              <a:rPr lang="fr-FR" dirty="0" err="1"/>
              <a:t>button</a:t>
            </a:r>
            <a:r>
              <a:rPr lang="fr-FR" dirty="0"/>
              <a:t> type=« </a:t>
            </a:r>
            <a:r>
              <a:rPr lang="fr-FR" dirty="0" err="1"/>
              <a:t>button</a:t>
            </a:r>
            <a:r>
              <a:rPr lang="fr-FR" dirty="0"/>
              <a:t> » class=« </a:t>
            </a:r>
            <a:r>
              <a:rPr lang="fr-FR" dirty="0" err="1"/>
              <a:t>btn</a:t>
            </a:r>
            <a:r>
              <a:rPr lang="fr-FR" dirty="0"/>
              <a:t> </a:t>
            </a:r>
            <a:r>
              <a:rPr lang="fr-FR" dirty="0" err="1"/>
              <a:t>btn-primary</a:t>
            </a:r>
            <a:r>
              <a:rPr lang="fr-FR" dirty="0"/>
              <a:t> »&gt;</a:t>
            </a:r>
          </a:p>
          <a:p>
            <a:endParaRPr lang="fr-FR" dirty="0"/>
          </a:p>
          <a:p>
            <a:r>
              <a:rPr lang="fr-FR" dirty="0"/>
              <a:t>&lt;</a:t>
            </a:r>
            <a:r>
              <a:rPr lang="fr-FR" dirty="0" err="1"/>
              <a:t>nav</a:t>
            </a:r>
            <a:r>
              <a:rPr lang="fr-FR" dirty="0"/>
              <a:t>&gt;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508203745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846B4A-5880-4295-7C1A-61DD3756DC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868907"/>
          </a:xfrm>
        </p:spPr>
        <p:txBody>
          <a:bodyPr/>
          <a:lstStyle/>
          <a:p>
            <a:pPr algn="ctr"/>
            <a:r>
              <a:rPr lang="fr-FR" dirty="0" err="1"/>
              <a:t>Take</a:t>
            </a:r>
            <a:r>
              <a:rPr lang="fr-FR" dirty="0"/>
              <a:t> </a:t>
            </a:r>
            <a:r>
              <a:rPr lang="fr-FR" dirty="0" err="1"/>
              <a:t>Away</a:t>
            </a:r>
            <a:endParaRPr lang="fr-FR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326B8B1-19F4-A4CD-3CE7-19E0D8E0CC93}"/>
              </a:ext>
            </a:extLst>
          </p:cNvPr>
          <p:cNvSpPr txBox="1"/>
          <p:nvPr/>
        </p:nvSpPr>
        <p:spPr>
          <a:xfrm>
            <a:off x="2834184" y="1777789"/>
            <a:ext cx="7467429" cy="39703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800" dirty="0"/>
              <a:t>$ </a:t>
            </a:r>
            <a:r>
              <a:rPr lang="fr-FR" sz="2800" dirty="0" err="1"/>
              <a:t>ng</a:t>
            </a:r>
            <a:r>
              <a:rPr lang="fr-FR" sz="2800" dirty="0"/>
              <a:t> new + </a:t>
            </a:r>
            <a:r>
              <a:rPr lang="fr-FR" sz="2800" dirty="0" err="1"/>
              <a:t>ng</a:t>
            </a:r>
            <a:r>
              <a:rPr lang="fr-FR" sz="2800" dirty="0"/>
              <a:t> serve  + </a:t>
            </a:r>
            <a:r>
              <a:rPr lang="fr-FR" sz="2800" dirty="0" err="1"/>
              <a:t>ng</a:t>
            </a:r>
            <a:r>
              <a:rPr lang="fr-FR" sz="2800" dirty="0"/>
              <a:t> </a:t>
            </a:r>
            <a:r>
              <a:rPr lang="fr-FR" sz="2800" dirty="0" err="1"/>
              <a:t>generate</a:t>
            </a:r>
            <a:r>
              <a:rPr lang="fr-FR" sz="2800" dirty="0"/>
              <a:t> + … </a:t>
            </a:r>
          </a:p>
          <a:p>
            <a:endParaRPr lang="fr-FR" sz="2800" dirty="0"/>
          </a:p>
          <a:p>
            <a:r>
              <a:rPr lang="fr-FR" sz="2800" dirty="0"/>
              <a:t>=&gt; GET </a:t>
            </a:r>
            <a:r>
              <a:rPr lang="fr-FR" sz="2800" dirty="0" err="1"/>
              <a:t>easily</a:t>
            </a:r>
            <a:r>
              <a:rPr lang="fr-FR" sz="2800" dirty="0"/>
              <a:t> a </a:t>
            </a:r>
            <a:r>
              <a:rPr lang="fr-FR" sz="2800" dirty="0" err="1"/>
              <a:t>complete</a:t>
            </a:r>
            <a:r>
              <a:rPr lang="fr-FR" sz="2800" dirty="0"/>
              <a:t> </a:t>
            </a:r>
            <a:r>
              <a:rPr lang="fr-FR" sz="2800" dirty="0" err="1"/>
              <a:t>Angular</a:t>
            </a:r>
            <a:r>
              <a:rPr lang="fr-FR" sz="2800" dirty="0"/>
              <a:t> </a:t>
            </a:r>
            <a:r>
              <a:rPr lang="fr-FR" sz="2800" dirty="0" err="1"/>
              <a:t>environment</a:t>
            </a:r>
            <a:r>
              <a:rPr lang="fr-FR" sz="2800" dirty="0"/>
              <a:t>  </a:t>
            </a:r>
            <a:br>
              <a:rPr lang="fr-FR" sz="2800" dirty="0"/>
            </a:br>
            <a:r>
              <a:rPr lang="fr-FR" sz="2800" dirty="0"/>
              <a:t>   … </a:t>
            </a:r>
            <a:r>
              <a:rPr lang="fr-FR" sz="2800" dirty="0" err="1"/>
              <a:t>pre</a:t>
            </a:r>
            <a:r>
              <a:rPr lang="fr-FR" sz="2800" dirty="0"/>
              <a:t>-packaging </a:t>
            </a:r>
            <a:r>
              <a:rPr lang="fr-FR" sz="2800" dirty="0" err="1"/>
              <a:t>angular</a:t>
            </a:r>
            <a:r>
              <a:rPr lang="fr-FR" sz="2800" dirty="0"/>
              <a:t> + </a:t>
            </a:r>
            <a:r>
              <a:rPr lang="fr-FR" sz="2800" dirty="0" err="1"/>
              <a:t>npm</a:t>
            </a:r>
            <a:r>
              <a:rPr lang="fr-FR" sz="2800" dirty="0"/>
              <a:t> + </a:t>
            </a:r>
            <a:r>
              <a:rPr lang="fr-FR" sz="2800" dirty="0" err="1"/>
              <a:t>typescript</a:t>
            </a:r>
            <a:r>
              <a:rPr lang="fr-FR" sz="2800" dirty="0"/>
              <a:t> +  …</a:t>
            </a:r>
          </a:p>
          <a:p>
            <a:endParaRPr lang="fr-FR" sz="2800" dirty="0"/>
          </a:p>
          <a:p>
            <a:r>
              <a:rPr lang="fr-FR" sz="2800" dirty="0" err="1"/>
              <a:t>Add</a:t>
            </a:r>
            <a:r>
              <a:rPr lang="fr-FR" sz="2800" dirty="0"/>
              <a:t> (</a:t>
            </a:r>
            <a:r>
              <a:rPr lang="fr-FR" sz="2800" dirty="0" err="1"/>
              <a:t>ng</a:t>
            </a:r>
            <a:r>
              <a:rPr lang="fr-FR" sz="2800" dirty="0"/>
              <a:t>-)</a:t>
            </a:r>
            <a:r>
              <a:rPr lang="fr-FR" sz="2800" dirty="0" err="1"/>
              <a:t>bootstrap</a:t>
            </a:r>
            <a:endParaRPr lang="fr-FR" sz="2800" dirty="0"/>
          </a:p>
          <a:p>
            <a:r>
              <a:rPr lang="fr-FR" sz="2800" dirty="0"/>
              <a:t>=&gt; GET basic CSS + </a:t>
            </a:r>
            <a:r>
              <a:rPr lang="fr-FR" sz="2800" dirty="0" err="1"/>
              <a:t>elements</a:t>
            </a:r>
            <a:br>
              <a:rPr lang="fr-FR" sz="2800" dirty="0"/>
            </a:br>
            <a:r>
              <a:rPr lang="fr-FR" sz="2800" dirty="0"/>
              <a:t>    … 12-columns </a:t>
            </a:r>
            <a:r>
              <a:rPr lang="fr-FR" sz="2800" dirty="0" err="1"/>
              <a:t>layout</a:t>
            </a:r>
            <a:r>
              <a:rPr lang="fr-FR" sz="2800" dirty="0"/>
              <a:t> system</a:t>
            </a:r>
          </a:p>
          <a:p>
            <a:r>
              <a:rPr lang="fr-FR" sz="2800" dirty="0"/>
              <a:t>    + </a:t>
            </a:r>
            <a:r>
              <a:rPr lang="fr-FR" sz="2800" dirty="0" err="1"/>
              <a:t>button</a:t>
            </a:r>
            <a:r>
              <a:rPr lang="fr-FR" sz="2800" dirty="0"/>
              <a:t>, menu </a:t>
            </a:r>
            <a:r>
              <a:rPr lang="fr-FR" sz="2800" dirty="0" err="1"/>
              <a:t>nav</a:t>
            </a:r>
            <a:r>
              <a:rPr lang="fr-FR" sz="2800" dirty="0"/>
              <a:t> bar, tab, etc.</a:t>
            </a:r>
          </a:p>
        </p:txBody>
      </p:sp>
    </p:spTree>
    <p:extLst>
      <p:ext uri="{BB962C8B-B14F-4D97-AF65-F5344CB8AC3E}">
        <p14:creationId xmlns:p14="http://schemas.microsoft.com/office/powerpoint/2010/main" val="2125238486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846B4A-5880-4295-7C1A-61DD3756DC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9143" y="3111689"/>
            <a:ext cx="10515600" cy="868907"/>
          </a:xfrm>
        </p:spPr>
        <p:txBody>
          <a:bodyPr/>
          <a:lstStyle/>
          <a:p>
            <a:pPr algn="ctr"/>
            <a:r>
              <a:rPr lang="fr-FR" dirty="0"/>
              <a:t>Questions</a:t>
            </a:r>
          </a:p>
        </p:txBody>
      </p:sp>
    </p:spTree>
    <p:extLst>
      <p:ext uri="{BB962C8B-B14F-4D97-AF65-F5344CB8AC3E}">
        <p14:creationId xmlns:p14="http://schemas.microsoft.com/office/powerpoint/2010/main" val="1005089976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846B4A-5880-4295-7C1A-61DD3756DC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868907"/>
          </a:xfrm>
        </p:spPr>
        <p:txBody>
          <a:bodyPr/>
          <a:lstStyle/>
          <a:p>
            <a:pPr algn="ctr"/>
            <a:r>
              <a:rPr lang="fr-FR" dirty="0"/>
              <a:t>Next </a:t>
            </a:r>
            <a:r>
              <a:rPr lang="fr-FR" dirty="0" err="1"/>
              <a:t>Step</a:t>
            </a:r>
            <a:endParaRPr lang="fr-FR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B416586-AB5D-2472-BBC9-EE4FA260B847}"/>
              </a:ext>
            </a:extLst>
          </p:cNvPr>
          <p:cNvSpPr txBox="1"/>
          <p:nvPr/>
        </p:nvSpPr>
        <p:spPr>
          <a:xfrm>
            <a:off x="3767919" y="1166842"/>
            <a:ext cx="6240439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600" dirty="0"/>
              <a:t>{{interpolation}}</a:t>
            </a:r>
          </a:p>
          <a:p>
            <a:r>
              <a:rPr lang="fr-FR" sz="3600" dirty="0"/>
              <a:t>*</a:t>
            </a:r>
            <a:r>
              <a:rPr lang="fr-FR" sz="3600" dirty="0" err="1"/>
              <a:t>ngFor</a:t>
            </a:r>
            <a:endParaRPr lang="fr-FR" sz="3600" dirty="0"/>
          </a:p>
          <a:p>
            <a:r>
              <a:rPr lang="fr-FR" sz="3600" dirty="0"/>
              <a:t>*</a:t>
            </a:r>
            <a:r>
              <a:rPr lang="fr-FR" sz="3600" dirty="0" err="1"/>
              <a:t>ngIf</a:t>
            </a:r>
            <a:endParaRPr lang="fr-FR" sz="3600" dirty="0"/>
          </a:p>
          <a:p>
            <a:r>
              <a:rPr lang="fr-FR" sz="3600" dirty="0"/>
              <a:t>@Component</a:t>
            </a:r>
          </a:p>
          <a:p>
            <a:r>
              <a:rPr lang="fr-FR" sz="3600" dirty="0"/>
              <a:t>[] .. @Input   (=One </a:t>
            </a:r>
            <a:r>
              <a:rPr lang="fr-FR" sz="3600" dirty="0" err="1"/>
              <a:t>way</a:t>
            </a:r>
            <a:r>
              <a:rPr lang="fr-FR" sz="3600" dirty="0"/>
              <a:t> binding)</a:t>
            </a:r>
          </a:p>
          <a:p>
            <a:r>
              <a:rPr lang="fr-FR" sz="3600" dirty="0"/>
              <a:t>() .. @Output</a:t>
            </a:r>
          </a:p>
          <a:p>
            <a:r>
              <a:rPr lang="fr-FR" sz="3600" dirty="0"/>
              <a:t>[()] .. 2-Ways binding</a:t>
            </a:r>
          </a:p>
          <a:p>
            <a:r>
              <a:rPr lang="fr-FR" sz="3600" dirty="0"/>
              <a:t>Router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9D2CDF3-F9FA-7A55-3B19-80266C986536}"/>
              </a:ext>
            </a:extLst>
          </p:cNvPr>
          <p:cNvSpPr txBox="1"/>
          <p:nvPr/>
        </p:nvSpPr>
        <p:spPr>
          <a:xfrm>
            <a:off x="586853" y="5923128"/>
            <a:ext cx="11559654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dirty="0" err="1"/>
              <a:t>next</a:t>
            </a:r>
            <a:r>
              <a:rPr lang="fr-FR" sz="2000" dirty="0"/>
              <a:t> document: </a:t>
            </a:r>
            <a:br>
              <a:rPr lang="fr-FR" sz="2000" dirty="0"/>
            </a:br>
            <a:r>
              <a:rPr lang="fr-FR" sz="2000" dirty="0"/>
              <a:t>https://github.com/Arnaud-Nauwynck/presentations/web/angular-demos-2-ngFor-ngIf-component.pdf</a:t>
            </a:r>
          </a:p>
          <a:p>
            <a:endParaRPr lang="fr-FR" sz="2000" dirty="0"/>
          </a:p>
        </p:txBody>
      </p:sp>
    </p:spTree>
    <p:extLst>
      <p:ext uri="{BB962C8B-B14F-4D97-AF65-F5344CB8AC3E}">
        <p14:creationId xmlns:p14="http://schemas.microsoft.com/office/powerpoint/2010/main" val="169640350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37517</TotalTime>
  <Words>801</Words>
  <Application>Microsoft Office PowerPoint</Application>
  <PresentationFormat>Grand écran</PresentationFormat>
  <Paragraphs>110</Paragraphs>
  <Slides>44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44</vt:i4>
      </vt:variant>
    </vt:vector>
  </HeadingPairs>
  <TitlesOfParts>
    <vt:vector size="48" baseType="lpstr">
      <vt:lpstr>Arial</vt:lpstr>
      <vt:lpstr>Calibri</vt:lpstr>
      <vt:lpstr>Calibri Light</vt:lpstr>
      <vt:lpstr>Office Theme</vt:lpstr>
      <vt:lpstr>Angular Demos  ng new,  ng serve,   (ng-)bootstrap library basic elements: button, menu, tab, ..</vt:lpstr>
      <vt:lpstr>2 pre-requisites:  1/ install node.js 2/ $ npm install -g @angular/cli</vt:lpstr>
      <vt:lpstr>(Optional) Using pnpm instead of npm … https://pnpm.io </vt:lpstr>
      <vt:lpstr>Pnpm Motivations</vt:lpstr>
      <vt:lpstr>(Optional) Configuring « ng cli »   to use pnpm instead of npm</vt:lpstr>
      <vt:lpstr>$ ng new</vt:lpstr>
      <vt:lpstr>Upgrade existing @angular/cli .. If needed </vt:lpstr>
      <vt:lpstr>Upgrade existing angular project … if needed  $ ng update</vt:lpstr>
      <vt:lpstr>« ng new » alternatives</vt:lpstr>
      <vt:lpstr>Jhipster = Java springboot(backend) + angular(frontend) app generator</vt:lpstr>
      <vt:lpstr>ng new</vt:lpstr>
      <vt:lpstr>$ ng serve   =&gt; http://localhost:4200 </vt:lpstr>
      <vt:lpstr>Demo IntelliJ (left) + Chrome (right) + ng serve</vt:lpstr>
      <vt:lpstr>Demo … Live reload</vt:lpstr>
      <vt:lpstr>Live Reload …  --watch   (expect 5 seconds delay)  watch File changes =&gt; compile =&gt; refresh page </vt:lpstr>
      <vt:lpstr>Demo live-reload … when compile error</vt:lpstr>
      <vt:lpstr>Adding Bootstrap library</vt:lpstr>
      <vt:lpstr>https://getbootstrap.com/ </vt:lpstr>
      <vt:lpstr>Bootstrap … example: button dropdown</vt:lpstr>
      <vt:lpstr>Adding via ng-bootstrap … NPM module for Bootstrap in Angular</vt:lpstr>
      <vt:lpstr>ng add @ng-bootstrap/ng-bootstrap</vt:lpstr>
      <vt:lpstr>git status ; git diff</vt:lpstr>
      <vt:lpstr>REDO  npm install  + stop &amp; restart   ng server</vt:lpstr>
      <vt:lpstr>Bootstrap Demos</vt:lpstr>
      <vt:lpstr>Bootstrap demo 1:  Container,  12 x columns system</vt:lpstr>
      <vt:lpstr>Bootstrap demo 1:  Container,  12 x columns system</vt:lpstr>
      <vt:lpstr>Demo Bootstrap Carousel</vt:lpstr>
      <vt:lpstr>Bootstrap demo:  Carousel</vt:lpstr>
      <vt:lpstr>Bootstrap Button</vt:lpstr>
      <vt:lpstr>Bootstrap demo:  Button styles</vt:lpstr>
      <vt:lpstr>Bootstrap demo:  Button dropdown</vt:lpstr>
      <vt:lpstr>Bootstrap demo:  Button dropdown</vt:lpstr>
      <vt:lpstr> !!!  Demo may not work ?? You are not alone</vt:lpstr>
      <vt:lpstr>Root cause of all problems: CSS depends on JS</vt:lpstr>
      <vt:lpstr>Bootstrap major versions</vt:lpstr>
      <vt:lpstr>Testing basic bootstrap with dynamic javascript features =&gt; using via  « ng-bootsrap »</vt:lpstr>
      <vt:lpstr>Bootstrap demo:  Button dropdown</vt:lpstr>
      <vt:lpstr>Bootstrap demo:  Button ngbDropdown</vt:lpstr>
      <vt:lpstr>Bootstrap demo:  Nav Tabulations</vt:lpstr>
      <vt:lpstr>Bootstrap demo:  Navbar Menu</vt:lpstr>
      <vt:lpstr>Summary</vt:lpstr>
      <vt:lpstr>Take Away</vt:lpstr>
      <vt:lpstr>Questions</vt:lpstr>
      <vt:lpstr>Next Step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NAUWYNCK Arnaud</dc:creator>
  <cp:lastModifiedBy>arnaud</cp:lastModifiedBy>
  <cp:revision>38</cp:revision>
  <dcterms:created xsi:type="dcterms:W3CDTF">2023-07-09T15:07:58Z</dcterms:created>
  <dcterms:modified xsi:type="dcterms:W3CDTF">2025-11-25T12:29:04Z</dcterms:modified>
</cp:coreProperties>
</file>