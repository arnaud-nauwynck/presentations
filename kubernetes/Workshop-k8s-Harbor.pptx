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340" r:id="rId9"/>
    <p:sldId id="359" r:id="rId10"/>
    <p:sldId id="360" r:id="rId11"/>
    <p:sldId id="361" r:id="rId12"/>
    <p:sldId id="263" r:id="rId13"/>
    <p:sldId id="264" r:id="rId14"/>
    <p:sldId id="337" r:id="rId15"/>
    <p:sldId id="338" r:id="rId16"/>
    <p:sldId id="339" r:id="rId17"/>
    <p:sldId id="296" r:id="rId18"/>
    <p:sldId id="322" r:id="rId19"/>
    <p:sldId id="297" r:id="rId20"/>
    <p:sldId id="299" r:id="rId21"/>
    <p:sldId id="330" r:id="rId22"/>
    <p:sldId id="362" r:id="rId23"/>
    <p:sldId id="363" r:id="rId24"/>
    <p:sldId id="298" r:id="rId25"/>
    <p:sldId id="341" r:id="rId26"/>
    <p:sldId id="288" r:id="rId27"/>
    <p:sldId id="289" r:id="rId28"/>
    <p:sldId id="290" r:id="rId29"/>
    <p:sldId id="279" r:id="rId30"/>
    <p:sldId id="293" r:id="rId31"/>
    <p:sldId id="294" r:id="rId32"/>
    <p:sldId id="291" r:id="rId33"/>
    <p:sldId id="283" r:id="rId34"/>
    <p:sldId id="342" r:id="rId35"/>
    <p:sldId id="343" r:id="rId36"/>
    <p:sldId id="285" r:id="rId37"/>
    <p:sldId id="286" r:id="rId38"/>
    <p:sldId id="281" r:id="rId39"/>
    <p:sldId id="282" r:id="rId40"/>
    <p:sldId id="292" r:id="rId41"/>
    <p:sldId id="265" r:id="rId42"/>
    <p:sldId id="284" r:id="rId43"/>
    <p:sldId id="287" r:id="rId44"/>
    <p:sldId id="266" r:id="rId45"/>
    <p:sldId id="268" r:id="rId46"/>
    <p:sldId id="335" r:id="rId47"/>
    <p:sldId id="272" r:id="rId48"/>
    <p:sldId id="270" r:id="rId49"/>
    <p:sldId id="271" r:id="rId50"/>
    <p:sldId id="273" r:id="rId51"/>
    <p:sldId id="295" r:id="rId52"/>
    <p:sldId id="275" r:id="rId53"/>
    <p:sldId id="356" r:id="rId54"/>
    <p:sldId id="357" r:id="rId55"/>
    <p:sldId id="277" r:id="rId56"/>
    <p:sldId id="274" r:id="rId57"/>
    <p:sldId id="358" r:id="rId58"/>
    <p:sldId id="278" r:id="rId59"/>
    <p:sldId id="349" r:id="rId60"/>
    <p:sldId id="336" r:id="rId61"/>
    <p:sldId id="350" r:id="rId62"/>
    <p:sldId id="348" r:id="rId63"/>
    <p:sldId id="353" r:id="rId64"/>
    <p:sldId id="351" r:id="rId65"/>
    <p:sldId id="352" r:id="rId66"/>
    <p:sldId id="344" r:id="rId67"/>
    <p:sldId id="346" r:id="rId68"/>
    <p:sldId id="345" r:id="rId69"/>
    <p:sldId id="354" r:id="rId70"/>
    <p:sldId id="347" r:id="rId71"/>
    <p:sldId id="355" r:id="rId72"/>
    <p:sldId id="324" r:id="rId73"/>
    <p:sldId id="325" r:id="rId74"/>
    <p:sldId id="280" r:id="rId75"/>
    <p:sldId id="323" r:id="rId76"/>
    <p:sldId id="327" r:id="rId77"/>
    <p:sldId id="326" r:id="rId78"/>
    <p:sldId id="328" r:id="rId79"/>
    <p:sldId id="329" r:id="rId80"/>
    <p:sldId id="365" r:id="rId81"/>
    <p:sldId id="366" r:id="rId82"/>
    <p:sldId id="332" r:id="rId83"/>
    <p:sldId id="334" r:id="rId84"/>
    <p:sldId id="333" r:id="rId85"/>
    <p:sldId id="331" r:id="rId86"/>
    <p:sldId id="364" r:id="rId8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A11EB-702A-4449-8A65-7C793438D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7CCA7D-5D99-4F45-9531-560B798AD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0468FB-6431-4A09-A7B2-79F91CF6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9A44D7-49C5-4C05-A86F-929D8363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79E726-FB53-48BE-BC33-C867A733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05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8DB7E8-C577-4797-8800-265AF563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899FE5-6B4E-42A1-BEEC-A66E69BDB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4BD65F-C39E-4B24-949C-886D2747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7EBE9F-003B-4CD3-994F-647C6043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CDDA6B-6FC0-41D8-8B20-0B37136A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2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0A588-B038-4C48-A06A-C4F4F40AC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27B9A-6B9C-4277-8011-9E5AF064E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789E7B-FB0C-4220-B81B-222DEAB7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D47F6E-5132-4450-800D-B872A181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E4EEB2-34E8-4DE8-9263-B76F2A830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71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B658D-3EB6-40C2-AA81-845D0C2C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FC324B-9D1E-47A6-B1A9-4D9A32169C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9D011E-9266-452F-A612-DF0E7E4A2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7C19FE-D32F-4233-AC02-0CF3D1AF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5F8B72-E662-4B3C-847A-E3712369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D0B2FD-84D0-4D09-B32B-4B39289D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95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B05BC2-BC28-4405-8D86-9D8AEEE9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A51396-2B63-4A26-BC0B-6D685080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AD5E56-3E8B-41C3-8765-6437AE15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1471D8-6B5F-4192-88A8-BB4A1BEB1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EB18030-A3A6-4A83-B8A0-9D0122255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BCA8D4-82B2-405F-8D18-2FAD5C2C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99E1CEA-824E-430E-BB5D-A10E94CA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E965EF-A57A-4171-AFC2-69BD50CA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27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F4CF54-9253-411E-8ED0-49D800B8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E4E7D3-4C56-44BA-91FD-0B9E7C61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E8831A-86C2-48B8-9A42-F69D8DDD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FA569E-2CC7-43BC-8CE4-678A3A2B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25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ED4697-9C9C-4AE2-9E79-D5AC1B5F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7D9C79-36A7-4D10-8C19-B1D39F4F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60A700-F008-474F-8C41-B47934AD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34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A04CE-0CF2-476B-9258-14E656842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63D78F-5792-4B27-9685-7B5FF1BFD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C64FD0-2E35-46FE-8229-D2B557338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EC335D-EF42-4D06-94B9-A9213CCB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25823E-8E48-4675-842C-0861804B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12B188-E54F-4221-BA3A-25AE15FE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70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4EA87-62F7-4E29-AEDE-D9F35D04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8221C8-5FDA-4231-A57A-E5E98800D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3E2E71-A733-4317-AC99-69ACD3F54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8E4FEE-068B-4CB6-B50A-74E88743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D430A4-537D-4712-9202-E7489A5F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3952B9-16C3-4BE7-BDB2-ED9DF40C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2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7B1FD-07A8-4FC9-B0C7-9EC201D7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77050D-2CA6-4DFC-AD89-77C91E30A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578607-A2BC-424A-9515-7DFB3148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79D24-B577-464B-B77F-264B974D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545DC7-A42B-4ADE-9F50-4F94ED43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98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4F92F07-B924-494F-A6D9-5593F7987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59441D8-00B6-4083-88D2-32C5C76FC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02ED3-C1B5-46C4-819E-F3015D39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D0EDAC-6246-4732-916C-21F3F3A6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C53D81-9607-474A-A93B-B0B27802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12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32EBDA-0754-439E-B751-5E1684A3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986970-C17C-4662-B404-95849C77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E56D59-6C23-42A1-9107-878EC36E7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78E1A-2C86-4E04-B670-4F10B62F657E}" type="datetimeFigureOut">
              <a:rPr lang="fr-FR" smtClean="0"/>
              <a:t>15/03/2026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F77556-EA7F-40BD-8CB9-A2A7E94D2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FDF202-9BFC-4BE8-8B47-73AF498CF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77284-6103-4B15-A78E-82D40534D1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57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ttps/goharbor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oharbor/harbo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https/goharbor.i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helm.goharbor.io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goharbor/harbor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oharbor.io/docs/2.14.0/install-config/download-installer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harbor/harbor/releases/download/v2.13.5/harbor-online-installer-v2.13.5.tgz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localhost/harbo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helm.sh/docs/intro/install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podman.io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goharbor/harbor-helm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helm.goharbor.io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k9scli.io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github.com/derailed/k9s/releases/download/v0.50.18/k9s_Linux_amd64.tar.gz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://localhost/harbor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://localhost:9090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://core.harbor.domain:9090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0ABC1-392C-4391-8FD7-6524A3545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791" y="1122363"/>
            <a:ext cx="11381590" cy="3001962"/>
          </a:xfrm>
        </p:spPr>
        <p:txBody>
          <a:bodyPr>
            <a:normAutofit fontScale="90000"/>
          </a:bodyPr>
          <a:lstStyle/>
          <a:p>
            <a:r>
              <a:rPr lang="fr-FR" dirty="0"/>
              <a:t>Workshop </a:t>
            </a:r>
            <a:r>
              <a:rPr lang="fr-FR" dirty="0" err="1"/>
              <a:t>Kubernetes</a:t>
            </a:r>
            <a:r>
              <a:rPr lang="fr-FR" dirty="0"/>
              <a:t> + </a:t>
            </a:r>
            <a:r>
              <a:rPr lang="fr-FR" dirty="0" err="1"/>
              <a:t>Helm</a:t>
            </a:r>
            <a:r>
              <a:rPr lang="fr-FR" dirty="0"/>
              <a:t> + K9s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practice on Harbor Install(s)</a:t>
            </a:r>
            <a:br>
              <a:rPr lang="fr-FR" dirty="0"/>
            </a:br>
            <a:r>
              <a:rPr lang="fr-FR" dirty="0"/>
              <a:t>( vs Docker-Compose 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D8ECA1-B2F0-4A6B-9363-1B2F1B13D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2852"/>
            <a:ext cx="9144000" cy="660748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136016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CED2DC-6FBC-47EB-8752-749613E29705}"/>
              </a:ext>
            </a:extLst>
          </p:cNvPr>
          <p:cNvSpPr txBox="1"/>
          <p:nvPr/>
        </p:nvSpPr>
        <p:spPr>
          <a:xfrm>
            <a:off x="489689" y="1055427"/>
            <a:ext cx="1121262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fr-FR" sz="3600" dirty="0"/>
              <a:t>Discover Harbor</a:t>
            </a:r>
          </a:p>
          <a:p>
            <a:pPr marL="571500" indent="-571500">
              <a:buFontTx/>
              <a:buChar char="-"/>
            </a:pPr>
            <a:r>
              <a:rPr lang="fr-FR" sz="3600" dirty="0"/>
              <a:t>Install…</a:t>
            </a:r>
          </a:p>
          <a:p>
            <a:r>
              <a:rPr lang="fr-FR" sz="3600" dirty="0"/>
              <a:t>	1/ </a:t>
            </a:r>
            <a:r>
              <a:rPr lang="fr-FR" sz="3600" dirty="0" err="1"/>
              <a:t>using</a:t>
            </a:r>
            <a:r>
              <a:rPr lang="fr-FR" sz="3600" dirty="0"/>
              <a:t> « install.sh » =&gt; Docker Compose</a:t>
            </a:r>
            <a:br>
              <a:rPr lang="fr-FR" sz="3600" dirty="0"/>
            </a:br>
            <a:r>
              <a:rPr lang="fr-FR" sz="3600" dirty="0"/>
              <a:t>OR Alternatives, </a:t>
            </a:r>
            <a:r>
              <a:rPr lang="fr-FR" sz="3600" dirty="0" err="1"/>
              <a:t>using</a:t>
            </a:r>
            <a:r>
              <a:rPr lang="fr-FR" sz="3600" dirty="0"/>
              <a:t> </a:t>
            </a:r>
            <a:r>
              <a:rPr lang="fr-FR" sz="3600" dirty="0" err="1"/>
              <a:t>Kubernetes</a:t>
            </a:r>
            <a:r>
              <a:rPr lang="fr-FR" sz="3600" dirty="0"/>
              <a:t> + </a:t>
            </a:r>
            <a:r>
              <a:rPr lang="fr-FR" sz="3600" dirty="0" err="1"/>
              <a:t>Helm</a:t>
            </a:r>
            <a:br>
              <a:rPr lang="fr-FR" sz="3600" dirty="0"/>
            </a:br>
            <a:r>
              <a:rPr lang="fr-FR" sz="3600" dirty="0"/>
              <a:t>	2/ </a:t>
            </a:r>
            <a:r>
              <a:rPr lang="fr-FR" sz="3600" dirty="0" err="1"/>
              <a:t>using</a:t>
            </a:r>
            <a:r>
              <a:rPr lang="fr-FR" sz="3600" dirty="0"/>
              <a:t> </a:t>
            </a:r>
            <a:r>
              <a:rPr lang="fr-FR" sz="3600" dirty="0" err="1"/>
              <a:t>Linux|WSL</a:t>
            </a:r>
            <a:r>
              <a:rPr lang="fr-FR" sz="3600" dirty="0"/>
              <a:t> (Shell </a:t>
            </a:r>
            <a:r>
              <a:rPr lang="fr-FR" sz="3600" dirty="0" err="1"/>
              <a:t>Cmdline</a:t>
            </a:r>
            <a:r>
              <a:rPr lang="fr-FR" sz="3600" dirty="0"/>
              <a:t>) -&gt; Kind  -&gt;  </a:t>
            </a:r>
            <a:r>
              <a:rPr lang="fr-FR" sz="3600" dirty="0" err="1"/>
              <a:t>Helm</a:t>
            </a:r>
            <a:endParaRPr lang="fr-FR" sz="3600" dirty="0"/>
          </a:p>
          <a:p>
            <a:r>
              <a:rPr lang="fr-FR" sz="3600" dirty="0"/>
              <a:t>OR Alternative</a:t>
            </a:r>
            <a:br>
              <a:rPr lang="fr-FR" sz="3600" dirty="0"/>
            </a:br>
            <a:r>
              <a:rPr lang="fr-FR" sz="3600" dirty="0"/>
              <a:t>	3/ </a:t>
            </a:r>
            <a:r>
              <a:rPr lang="fr-FR" sz="3600" dirty="0" err="1"/>
              <a:t>using</a:t>
            </a:r>
            <a:r>
              <a:rPr lang="fr-FR" sz="3600" dirty="0"/>
              <a:t> </a:t>
            </a:r>
            <a:r>
              <a:rPr lang="fr-FR" sz="3600" dirty="0" err="1"/>
              <a:t>Podman</a:t>
            </a:r>
            <a:r>
              <a:rPr lang="fr-FR" sz="3600" dirty="0"/>
              <a:t> (GUI) -&gt; Kind -&gt; </a:t>
            </a:r>
            <a:r>
              <a:rPr lang="fr-FR" sz="3600" dirty="0" err="1"/>
              <a:t>Helm</a:t>
            </a:r>
            <a:br>
              <a:rPr lang="fr-FR" sz="3600" dirty="0"/>
            </a:br>
            <a:br>
              <a:rPr lang="fr-FR" sz="3600" dirty="0"/>
            </a:br>
            <a:r>
              <a:rPr lang="fr-FR" sz="3600" dirty="0"/>
              <a:t>- Discover K8s </a:t>
            </a:r>
            <a:r>
              <a:rPr lang="fr-FR" sz="3600" dirty="0" err="1"/>
              <a:t>internals</a:t>
            </a:r>
            <a:r>
              <a:rPr lang="fr-FR" sz="3600" dirty="0"/>
              <a:t> (</a:t>
            </a:r>
            <a:r>
              <a:rPr lang="fr-FR" sz="3600" dirty="0" err="1"/>
              <a:t>deployment,service,pod,ingress</a:t>
            </a:r>
            <a:r>
              <a:rPr lang="fr-FR" sz="3600" dirty="0"/>
              <a:t>,..)</a:t>
            </a:r>
            <a:br>
              <a:rPr lang="fr-FR" sz="3600" dirty="0"/>
            </a:br>
            <a:r>
              <a:rPr lang="fr-FR" sz="3600" dirty="0"/>
              <a:t>   + use K9s,  and port-</a:t>
            </a:r>
            <a:r>
              <a:rPr lang="fr-FR" sz="3600" dirty="0" err="1"/>
              <a:t>forward</a:t>
            </a:r>
            <a:r>
              <a:rPr lang="fr-FR" sz="3600" dirty="0"/>
              <a:t> / </a:t>
            </a:r>
            <a:r>
              <a:rPr lang="fr-FR" sz="3600" dirty="0" err="1"/>
              <a:t>exec</a:t>
            </a:r>
            <a:r>
              <a:rPr lang="fr-FR" sz="3600" dirty="0"/>
              <a:t> </a:t>
            </a:r>
            <a:r>
              <a:rPr lang="fr-FR" sz="3600" dirty="0" err="1"/>
              <a:t>shell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99852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Discover Harbor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53F1AC-EC96-4E5C-AC5C-328CEA17C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99" y="789140"/>
            <a:ext cx="8435079" cy="598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7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7341"/>
          </a:xfrm>
        </p:spPr>
        <p:txBody>
          <a:bodyPr>
            <a:normAutofit fontScale="90000"/>
          </a:bodyPr>
          <a:lstStyle/>
          <a:p>
            <a:r>
              <a:rPr lang="fr-FR" dirty="0"/>
              <a:t>Discover Harbor (web site)</a:t>
            </a:r>
            <a:br>
              <a:rPr lang="fr-FR" dirty="0"/>
            </a:br>
            <a:r>
              <a:rPr lang="fr-FR" dirty="0">
                <a:hlinkClick r:id="rId2"/>
              </a:rPr>
              <a:t>https://https://goharbor.io/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D47DE1-AEC7-497F-BB49-C6E049D21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17" y="1265129"/>
            <a:ext cx="9971337" cy="55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8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79676"/>
          </a:xfrm>
        </p:spPr>
        <p:txBody>
          <a:bodyPr>
            <a:normAutofit fontScale="90000"/>
          </a:bodyPr>
          <a:lstStyle/>
          <a:p>
            <a:r>
              <a:rPr lang="fr-FR" dirty="0"/>
              <a:t>Discover Harbor (source code)</a:t>
            </a:r>
            <a:br>
              <a:rPr lang="fr-FR" dirty="0"/>
            </a:br>
            <a:r>
              <a:rPr lang="fr-FR" dirty="0">
                <a:hlinkClick r:id="rId2"/>
              </a:rPr>
              <a:t>https://github.com/goharbor/harbor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4279E5-29BB-4618-811B-881645AF4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43" y="1279677"/>
            <a:ext cx="9342930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9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>
                <a:hlinkClick r:id="rId2"/>
              </a:rPr>
              <a:t>https://https://goharbor.io/</a:t>
            </a:r>
            <a:r>
              <a:rPr lang="fr-FR" dirty="0"/>
              <a:t>    </a:t>
            </a:r>
            <a:r>
              <a:rPr lang="fr-FR" dirty="0" err="1"/>
              <a:t>Getting</a:t>
            </a:r>
            <a:r>
              <a:rPr lang="fr-FR" dirty="0"/>
              <a:t> </a:t>
            </a:r>
            <a:r>
              <a:rPr lang="fr-FR" dirty="0" err="1"/>
              <a:t>Started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D9FFBF9-2153-4445-B873-46660749A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986" y="669446"/>
            <a:ext cx="7209965" cy="618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8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2504660"/>
          </a:xfrm>
        </p:spPr>
        <p:txBody>
          <a:bodyPr>
            <a:normAutofit fontScale="90000"/>
          </a:bodyPr>
          <a:lstStyle/>
          <a:p>
            <a:r>
              <a:rPr lang="fr-FR" dirty="0"/>
              <a:t>3 </a:t>
            </a:r>
            <a:r>
              <a:rPr lang="fr-FR" dirty="0" err="1"/>
              <a:t>officials</a:t>
            </a:r>
            <a:r>
              <a:rPr lang="fr-FR" dirty="0"/>
              <a:t> </a:t>
            </a:r>
            <a:r>
              <a:rPr lang="fr-FR" dirty="0" err="1"/>
              <a:t>Ways</a:t>
            </a:r>
            <a:r>
              <a:rPr lang="fr-FR" dirty="0"/>
              <a:t> to </a:t>
            </a:r>
            <a:r>
              <a:rPr lang="fr-FR" dirty="0" err="1"/>
              <a:t>install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1/ Local Offline Installer (=&gt; Docker Compose)</a:t>
            </a:r>
            <a:br>
              <a:rPr lang="fr-FR" dirty="0"/>
            </a:br>
            <a:r>
              <a:rPr lang="fr-FR" dirty="0"/>
              <a:t>2/ Local Online Installer (=&gt; Docker Compose)</a:t>
            </a:r>
            <a:br>
              <a:rPr lang="fr-FR" dirty="0"/>
            </a:br>
            <a:r>
              <a:rPr lang="fr-FR" dirty="0"/>
              <a:t>3/ K8s + </a:t>
            </a:r>
            <a:r>
              <a:rPr lang="fr-FR" dirty="0" err="1"/>
              <a:t>Helm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4DE5969-AB96-46EE-8798-228AF13AAE78}"/>
              </a:ext>
            </a:extLst>
          </p:cNvPr>
          <p:cNvSpPr txBox="1"/>
          <p:nvPr/>
        </p:nvSpPr>
        <p:spPr>
          <a:xfrm>
            <a:off x="2892423" y="3633274"/>
            <a:ext cx="75635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This Workshop </a:t>
            </a:r>
            <a:r>
              <a:rPr lang="fr-FR" sz="2400" dirty="0" err="1"/>
              <a:t>recommmends</a:t>
            </a:r>
            <a:r>
              <a:rPr lang="fr-FR" sz="2400" dirty="0"/>
              <a:t> alternative 3/:  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Helm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also</a:t>
            </a:r>
            <a:r>
              <a:rPr lang="fr-FR" sz="2400" dirty="0"/>
              <a:t> show 2/ … as failover, in case </a:t>
            </a:r>
            <a:r>
              <a:rPr lang="fr-FR" sz="2400" dirty="0" err="1"/>
              <a:t>you</a:t>
            </a:r>
            <a:r>
              <a:rPr lang="fr-FR" sz="2400" dirty="0"/>
              <a:t> are </a:t>
            </a:r>
            <a:r>
              <a:rPr lang="fr-FR" sz="2400" dirty="0" err="1"/>
              <a:t>blocked</a:t>
            </a:r>
            <a:r>
              <a:rPr lang="fr-FR" sz="2400" dirty="0"/>
              <a:t> on 3/</a:t>
            </a:r>
          </a:p>
        </p:txBody>
      </p:sp>
    </p:spTree>
    <p:extLst>
      <p:ext uri="{BB962C8B-B14F-4D97-AF65-F5344CB8AC3E}">
        <p14:creationId xmlns:p14="http://schemas.microsoft.com/office/powerpoint/2010/main" val="243880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E38240-89DD-4425-9A15-8FCFAC2A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Installing</a:t>
            </a:r>
            <a:r>
              <a:rPr lang="fr-FR" dirty="0"/>
              <a:t> Harbor?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89F860-5BA8-4666-B483-4C448C1CC0AE}"/>
              </a:ext>
            </a:extLst>
          </p:cNvPr>
          <p:cNvSpPr txBox="1"/>
          <p:nvPr/>
        </p:nvSpPr>
        <p:spPr>
          <a:xfrm>
            <a:off x="1585471" y="1690688"/>
            <a:ext cx="9267793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Because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It focus on Docker images </a:t>
            </a:r>
            <a:r>
              <a:rPr lang="fr-FR" sz="2400" dirty="0" err="1"/>
              <a:t>managment</a:t>
            </a:r>
            <a:r>
              <a:rPr lang="fr-FR" sz="2400" dirty="0"/>
              <a:t> and </a:t>
            </a:r>
            <a:r>
              <a:rPr lang="fr-FR" sz="2400" dirty="0" err="1"/>
              <a:t>Vulnerabilities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It </a:t>
            </a:r>
            <a:r>
              <a:rPr lang="fr-FR" sz="2400" dirty="0" err="1"/>
              <a:t>organizes</a:t>
            </a:r>
            <a:r>
              <a:rPr lang="fr-FR" sz="2400" dirty="0"/>
              <a:t> Team </a:t>
            </a:r>
            <a:r>
              <a:rPr lang="fr-FR" sz="2400" dirty="0" err="1"/>
              <a:t>read-write</a:t>
            </a:r>
            <a:r>
              <a:rPr lang="fr-FR" sz="2400" dirty="0"/>
              <a:t> permissions for Docker Images pull/push.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used</a:t>
            </a:r>
            <a:r>
              <a:rPr lang="fr-FR" sz="2400" dirty="0"/>
              <a:t> in production in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companies</a:t>
            </a:r>
            <a:br>
              <a:rPr lang="fr-FR" sz="2400" dirty="0"/>
            </a:b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err="1"/>
              <a:t>Internally</a:t>
            </a:r>
            <a:r>
              <a:rPr lang="fr-FR" sz="2400" dirty="0"/>
              <a:t>,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standard </a:t>
            </a:r>
            <a:r>
              <a:rPr lang="fr-FR" sz="2400" dirty="0" err="1"/>
              <a:t>Kubernetes</a:t>
            </a:r>
            <a:r>
              <a:rPr lang="fr-FR" sz="2400" dirty="0"/>
              <a:t> architecture</a:t>
            </a:r>
            <a:br>
              <a:rPr lang="fr-FR" sz="2400" dirty="0"/>
            </a:b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It </a:t>
            </a:r>
            <a:r>
              <a:rPr lang="fr-FR" sz="2400" dirty="0" err="1"/>
              <a:t>offers</a:t>
            </a:r>
            <a:r>
              <a:rPr lang="fr-FR" sz="2400" dirty="0"/>
              <a:t> </a:t>
            </a:r>
            <a:r>
              <a:rPr lang="fr-FR" sz="2400" dirty="0" err="1"/>
              <a:t>easy</a:t>
            </a:r>
            <a:r>
              <a:rPr lang="fr-FR" sz="2400" dirty="0"/>
              <a:t>/standard </a:t>
            </a:r>
            <a:r>
              <a:rPr lang="fr-FR" sz="2400" dirty="0" err="1"/>
              <a:t>deployment</a:t>
            </a:r>
            <a:r>
              <a:rPr lang="fr-FR" sz="2400" dirty="0"/>
              <a:t> solution for </a:t>
            </a:r>
            <a:r>
              <a:rPr lang="fr-FR" sz="2400" dirty="0" err="1"/>
              <a:t>kubernetes</a:t>
            </a:r>
            <a:r>
              <a:rPr lang="fr-FR" sz="2400" dirty="0"/>
              <a:t>,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Helm</a:t>
            </a:r>
            <a:br>
              <a:rPr lang="fr-FR" sz="2400" dirty="0"/>
            </a:b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It </a:t>
            </a:r>
            <a:r>
              <a:rPr lang="fr-FR" sz="2400" dirty="0" err="1"/>
              <a:t>is</a:t>
            </a:r>
            <a:r>
              <a:rPr lang="fr-FR" sz="2400" dirty="0"/>
              <a:t> a </a:t>
            </a:r>
            <a:r>
              <a:rPr lang="fr-FR" sz="2400" dirty="0" err="1"/>
              <a:t>very</a:t>
            </a:r>
            <a:r>
              <a:rPr lang="fr-FR" sz="2400" dirty="0"/>
              <a:t> </a:t>
            </a:r>
            <a:r>
              <a:rPr lang="fr-FR" sz="2400" dirty="0" err="1"/>
              <a:t>complex</a:t>
            </a:r>
            <a:r>
              <a:rPr lang="fr-FR" sz="2400" dirty="0"/>
              <a:t> app,  not a « Hello world »</a:t>
            </a:r>
            <a:br>
              <a:rPr lang="fr-FR" sz="2400" dirty="0"/>
            </a:br>
            <a:r>
              <a:rPr lang="fr-FR" sz="2400" dirty="0"/>
              <a:t>You can not </a:t>
            </a:r>
            <a:r>
              <a:rPr lang="fr-FR" sz="2400" dirty="0" err="1"/>
              <a:t>read</a:t>
            </a:r>
            <a:r>
              <a:rPr lang="fr-FR" sz="2400" dirty="0"/>
              <a:t>/</a:t>
            </a:r>
            <a:r>
              <a:rPr lang="fr-FR" sz="2400" dirty="0" err="1"/>
              <a:t>understand</a:t>
            </a:r>
            <a:r>
              <a:rPr lang="fr-FR" sz="2400" dirty="0"/>
              <a:t> all…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on-</a:t>
            </a:r>
            <a:r>
              <a:rPr lang="fr-FR" sz="2400" dirty="0" err="1"/>
              <a:t>purpose</a:t>
            </a:r>
            <a:r>
              <a:rPr lang="fr-FR" sz="2400" dirty="0"/>
              <a:t> !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You </a:t>
            </a:r>
            <a:r>
              <a:rPr lang="fr-FR" sz="2400" dirty="0" err="1"/>
              <a:t>will</a:t>
            </a:r>
            <a:r>
              <a:rPr lang="fr-FR" sz="2400" dirty="0"/>
              <a:t> struggle at </a:t>
            </a:r>
            <a:r>
              <a:rPr lang="fr-FR" sz="2400" dirty="0" err="1"/>
              <a:t>deploying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…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on-</a:t>
            </a:r>
            <a:r>
              <a:rPr lang="fr-FR" sz="2400" dirty="0" err="1"/>
              <a:t>purpose</a:t>
            </a:r>
            <a:r>
              <a:rPr lang="fr-FR" sz="2400" dirty="0"/>
              <a:t> !</a:t>
            </a:r>
            <a:br>
              <a:rPr lang="fr-FR" sz="2400" dirty="0"/>
            </a:br>
            <a:r>
              <a:rPr lang="fr-FR" sz="2400" dirty="0"/>
              <a:t>A good occasion to </a:t>
            </a:r>
            <a:r>
              <a:rPr lang="fr-FR" sz="2400" dirty="0" err="1"/>
              <a:t>learn</a:t>
            </a:r>
            <a:r>
              <a:rPr lang="fr-FR" sz="2400" dirty="0"/>
              <a:t> </a:t>
            </a:r>
            <a:r>
              <a:rPr lang="fr-FR" sz="2400" dirty="0" err="1"/>
              <a:t>internals</a:t>
            </a:r>
            <a:r>
              <a:rPr lang="fr-FR" sz="2400" dirty="0"/>
              <a:t> of </a:t>
            </a:r>
            <a:r>
              <a:rPr lang="fr-FR" sz="2400" dirty="0" err="1"/>
              <a:t>Kubernetes</a:t>
            </a:r>
            <a:r>
              <a:rPr lang="fr-FR" sz="24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34427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541527-0526-4EB3-BF45-0B0A65B8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Spoiler </a:t>
            </a:r>
            <a:r>
              <a:rPr lang="fr-FR" dirty="0" err="1"/>
              <a:t>Alert</a:t>
            </a:r>
            <a:r>
              <a:rPr lang="fr-FR" dirty="0"/>
              <a:t>: Modern Install </a:t>
            </a:r>
            <a:br>
              <a:rPr lang="fr-FR" dirty="0"/>
            </a:br>
            <a:r>
              <a:rPr lang="fr-FR" dirty="0"/>
              <a:t>= </a:t>
            </a:r>
            <a:r>
              <a:rPr lang="fr-FR" dirty="0" err="1"/>
              <a:t>easy</a:t>
            </a:r>
            <a:r>
              <a:rPr lang="fr-FR" dirty="0"/>
              <a:t> </a:t>
            </a:r>
            <a:r>
              <a:rPr lang="fr-FR" dirty="0" err="1"/>
              <a:t>commands</a:t>
            </a:r>
            <a:r>
              <a:rPr lang="fr-FR" dirty="0"/>
              <a:t> in 3 </a:t>
            </a:r>
            <a:r>
              <a:rPr lang="fr-FR" dirty="0" err="1"/>
              <a:t>lines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B17AD6-9D8B-420B-B703-BFE48A6D548E}"/>
              </a:ext>
            </a:extLst>
          </p:cNvPr>
          <p:cNvSpPr txBox="1"/>
          <p:nvPr/>
        </p:nvSpPr>
        <p:spPr>
          <a:xfrm>
            <a:off x="2800350" y="2553385"/>
            <a:ext cx="78676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helm</a:t>
            </a:r>
            <a:r>
              <a:rPr lang="fr-FR" sz="2400" b="1" dirty="0"/>
              <a:t> repo </a:t>
            </a:r>
            <a:r>
              <a:rPr lang="fr-FR" sz="2400" b="1" dirty="0" err="1"/>
              <a:t>add</a:t>
            </a:r>
            <a:r>
              <a:rPr lang="fr-FR" sz="2400" b="1" dirty="0"/>
              <a:t> </a:t>
            </a:r>
            <a:r>
              <a:rPr lang="fr-FR" sz="2400" b="1" dirty="0" err="1"/>
              <a:t>harbor</a:t>
            </a:r>
            <a:r>
              <a:rPr lang="fr-FR" sz="2400" b="1" dirty="0"/>
              <a:t> </a:t>
            </a:r>
            <a:r>
              <a:rPr lang="fr-FR" sz="2400" b="1" dirty="0">
                <a:hlinkClick r:id="rId2"/>
              </a:rPr>
              <a:t>https://helm.goharbor.io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 err="1"/>
              <a:t>helm</a:t>
            </a:r>
            <a:r>
              <a:rPr lang="fr-FR" sz="2400" b="1" dirty="0"/>
              <a:t> repo update</a:t>
            </a:r>
          </a:p>
          <a:p>
            <a:endParaRPr lang="fr-FR" sz="2400" b="1" dirty="0"/>
          </a:p>
          <a:p>
            <a:r>
              <a:rPr lang="fr-FR" sz="2400" b="1" dirty="0" err="1"/>
              <a:t>helm</a:t>
            </a:r>
            <a:r>
              <a:rPr lang="fr-FR" sz="2400" b="1" dirty="0"/>
              <a:t> </a:t>
            </a:r>
            <a:r>
              <a:rPr lang="fr-FR" sz="2400" b="1" dirty="0" err="1"/>
              <a:t>install</a:t>
            </a:r>
            <a:r>
              <a:rPr lang="fr-FR" sz="2400" b="1" dirty="0"/>
              <a:t> </a:t>
            </a:r>
            <a:r>
              <a:rPr lang="fr-FR" sz="2400" b="1" dirty="0" err="1"/>
              <a:t>my-harbor</a:t>
            </a:r>
            <a:r>
              <a:rPr lang="fr-FR" sz="2400" b="1" dirty="0"/>
              <a:t> </a:t>
            </a:r>
            <a:r>
              <a:rPr lang="fr-FR" sz="2400" b="1" dirty="0" err="1"/>
              <a:t>harbor</a:t>
            </a:r>
            <a:r>
              <a:rPr lang="fr-FR" sz="2400" b="1" dirty="0"/>
              <a:t>/</a:t>
            </a:r>
            <a:r>
              <a:rPr lang="fr-FR" sz="2400" b="1" dirty="0" err="1"/>
              <a:t>harbor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71872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E20DC-3BBE-4672-87AF-8224014B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 </a:t>
            </a:r>
            <a:r>
              <a:rPr lang="fr-FR" dirty="0" err="1"/>
              <a:t>theory</a:t>
            </a:r>
            <a:r>
              <a:rPr lang="fr-FR" dirty="0"/>
              <a:t> …. </a:t>
            </a:r>
            <a:r>
              <a:rPr lang="fr-FR" dirty="0" err="1"/>
              <a:t>That’s</a:t>
            </a:r>
            <a:r>
              <a:rPr lang="fr-FR" dirty="0"/>
              <a:t> All Folks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DC3CAD-FE3C-434C-A698-5EE654262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2" y="1850231"/>
            <a:ext cx="24669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04F9FA51-3341-4726-AF9E-04EDB790AD01}"/>
              </a:ext>
            </a:extLst>
          </p:cNvPr>
          <p:cNvSpPr txBox="1">
            <a:spLocks/>
          </p:cNvSpPr>
          <p:nvPr/>
        </p:nvSpPr>
        <p:spPr>
          <a:xfrm>
            <a:off x="3057525" y="48133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EEE99D-95E1-41E6-B295-6D05FA6DF092}"/>
              </a:ext>
            </a:extLst>
          </p:cNvPr>
          <p:cNvSpPr txBox="1"/>
          <p:nvPr/>
        </p:nvSpPr>
        <p:spPr>
          <a:xfrm>
            <a:off x="4305300" y="5024438"/>
            <a:ext cx="78867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But In practice … </a:t>
            </a:r>
            <a:br>
              <a:rPr lang="fr-FR" sz="2000" b="1" dirty="0"/>
            </a:br>
            <a:r>
              <a:rPr lang="fr-FR" sz="2000" b="1" dirty="0"/>
              <a:t>A Long (</a:t>
            </a:r>
            <a:r>
              <a:rPr lang="fr-FR" sz="2000" b="1" dirty="0" err="1"/>
              <a:t>difficult</a:t>
            </a:r>
            <a:r>
              <a:rPr lang="fr-FR" sz="2000" b="1" dirty="0"/>
              <a:t>) </a:t>
            </a:r>
            <a:r>
              <a:rPr lang="fr-FR" sz="2000" b="1" dirty="0" err="1"/>
              <a:t>journey</a:t>
            </a:r>
            <a:r>
              <a:rPr lang="fr-FR" sz="2000" b="1" dirty="0"/>
              <a:t> for </a:t>
            </a:r>
            <a:r>
              <a:rPr lang="fr-FR" sz="2000" b="1" dirty="0" err="1"/>
              <a:t>your</a:t>
            </a:r>
            <a:r>
              <a:rPr lang="fr-FR" sz="2000" b="1" dirty="0"/>
              <a:t> </a:t>
            </a:r>
            <a:r>
              <a:rPr lang="fr-FR" sz="2000" b="1" dirty="0" err="1"/>
              <a:t>kubernetes</a:t>
            </a:r>
            <a:r>
              <a:rPr lang="fr-FR" sz="2000" b="1" dirty="0"/>
              <a:t> </a:t>
            </a:r>
            <a:r>
              <a:rPr lang="fr-FR" sz="2000" b="1" dirty="0" err="1"/>
              <a:t>baptism</a:t>
            </a:r>
            <a:endParaRPr lang="fr-FR" sz="2000" b="1" dirty="0"/>
          </a:p>
          <a:p>
            <a:endParaRPr lang="fr-FR" sz="2000" b="1" dirty="0"/>
          </a:p>
          <a:p>
            <a:r>
              <a:rPr lang="fr-FR" sz="2000" b="1" dirty="0"/>
              <a:t>Pre-</a:t>
            </a:r>
            <a:r>
              <a:rPr lang="fr-FR" sz="2000" b="1" dirty="0" err="1"/>
              <a:t>Requisites</a:t>
            </a:r>
            <a:r>
              <a:rPr lang="fr-FR" sz="2000" b="1" dirty="0"/>
              <a:t> = Install </a:t>
            </a:r>
            <a:r>
              <a:rPr lang="fr-FR" sz="2000" b="1" dirty="0" err="1"/>
              <a:t>Kube</a:t>
            </a:r>
            <a:r>
              <a:rPr lang="fr-FR" sz="2000" b="1" dirty="0"/>
              <a:t> cluster + Tools (</a:t>
            </a:r>
            <a:r>
              <a:rPr lang="fr-FR" sz="2000" b="1" dirty="0" err="1"/>
              <a:t>Helm</a:t>
            </a:r>
            <a:r>
              <a:rPr lang="fr-FR" sz="2000" b="1" dirty="0"/>
              <a:t> + </a:t>
            </a:r>
            <a:r>
              <a:rPr lang="fr-FR" sz="2000" b="1" dirty="0" err="1"/>
              <a:t>Kubectl</a:t>
            </a:r>
            <a:r>
              <a:rPr lang="fr-FR" sz="2000" b="1" dirty="0"/>
              <a:t> + K9s) </a:t>
            </a:r>
          </a:p>
          <a:p>
            <a:r>
              <a:rPr lang="fr-FR" sz="2000" b="1" dirty="0" err="1"/>
              <a:t>Then</a:t>
            </a:r>
            <a:r>
              <a:rPr lang="fr-FR" sz="2000" b="1" dirty="0"/>
              <a:t> </a:t>
            </a:r>
            <a:r>
              <a:rPr lang="fr-FR" sz="2000" b="1" dirty="0" err="1"/>
              <a:t>Debug</a:t>
            </a:r>
            <a:r>
              <a:rPr lang="fr-FR" sz="2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5950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7927B-D84F-440E-B535-9FEB8DA01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462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 little detour into the past</a:t>
            </a:r>
            <a:br>
              <a:rPr lang="en-US" dirty="0"/>
            </a:br>
            <a:r>
              <a:rPr lang="en-US" dirty="0"/>
              <a:t>… Installing the old style</a:t>
            </a:r>
            <a:br>
              <a:rPr lang="en-US" dirty="0"/>
            </a:b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AE1A38-59EF-462B-8BC0-E63BAE00E75C}"/>
              </a:ext>
            </a:extLst>
          </p:cNvPr>
          <p:cNvSpPr txBox="1"/>
          <p:nvPr/>
        </p:nvSpPr>
        <p:spPr>
          <a:xfrm>
            <a:off x="3686175" y="3429000"/>
            <a:ext cx="65246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Download  </a:t>
            </a:r>
            <a:r>
              <a:rPr lang="fr-FR" sz="2400" dirty="0" err="1"/>
              <a:t>huge</a:t>
            </a:r>
            <a:r>
              <a:rPr lang="fr-FR" sz="2400" dirty="0"/>
              <a:t>  tar.gz  file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Unzip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Copy + </a:t>
            </a:r>
            <a:r>
              <a:rPr lang="fr-FR" sz="2400" dirty="0" err="1"/>
              <a:t>edit</a:t>
            </a:r>
            <a:r>
              <a:rPr lang="fr-FR" sz="2400" dirty="0"/>
              <a:t> configuration files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Generate</a:t>
            </a:r>
            <a:r>
              <a:rPr lang="fr-FR" sz="2400" dirty="0"/>
              <a:t> TLS (https) </a:t>
            </a:r>
            <a:r>
              <a:rPr lang="fr-FR" sz="2400" dirty="0" err="1"/>
              <a:t>certificates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Launch « </a:t>
            </a:r>
            <a:r>
              <a:rPr lang="fr-FR" sz="2400" dirty="0" err="1"/>
              <a:t>sudo</a:t>
            </a:r>
            <a:r>
              <a:rPr lang="fr-FR" sz="2400" dirty="0"/>
              <a:t> ./install.sh »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fix </a:t>
            </a:r>
            <a:r>
              <a:rPr lang="fr-FR" sz="2400" dirty="0" err="1"/>
              <a:t>shell</a:t>
            </a:r>
            <a:r>
              <a:rPr lang="fr-FR" sz="2400" dirty="0"/>
              <a:t> scripts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Discover </a:t>
            </a:r>
            <a:r>
              <a:rPr lang="fr-FR" sz="2400" dirty="0" err="1"/>
              <a:t>Result</a:t>
            </a:r>
            <a:r>
              <a:rPr lang="fr-FR" sz="2400" dirty="0"/>
              <a:t>,  </a:t>
            </a:r>
            <a:r>
              <a:rPr lang="fr-FR" sz="2400" dirty="0" err="1"/>
              <a:t>Debug</a:t>
            </a:r>
            <a:r>
              <a:rPr lang="fr-FR" sz="2400" dirty="0"/>
              <a:t> …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390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15440"/>
          </a:xfrm>
        </p:spPr>
        <p:txBody>
          <a:bodyPr>
            <a:normAutofit/>
          </a:bodyPr>
          <a:lstStyle/>
          <a:p>
            <a:r>
              <a:rPr lang="fr-FR" dirty="0" err="1"/>
              <a:t>Using</a:t>
            </a:r>
            <a:r>
              <a:rPr lang="fr-FR" dirty="0"/>
              <a:t> Releases - Installer</a:t>
            </a:r>
            <a:br>
              <a:rPr lang="fr-FR" dirty="0"/>
            </a:br>
            <a:r>
              <a:rPr lang="fr-FR" dirty="0">
                <a:hlinkClick r:id="rId2"/>
              </a:rPr>
              <a:t>https://github.com/goharbor/harbor/releases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EDCC3C5-076F-4852-A7BE-429F8453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213" y="3646023"/>
            <a:ext cx="6352173" cy="321197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55AD1D2-D956-4834-B260-7C101ED89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91" y="1309806"/>
            <a:ext cx="7061167" cy="186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21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199312" cy="1674458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Donwload</a:t>
            </a:r>
            <a:r>
              <a:rPr lang="fr-FR" dirty="0"/>
              <a:t> Online/Offline Installer</a:t>
            </a:r>
            <a:br>
              <a:rPr lang="fr-FR" dirty="0"/>
            </a:br>
            <a:r>
              <a:rPr lang="fr-FR" sz="3600" dirty="0">
                <a:hlinkClick r:id="rId2"/>
              </a:rPr>
              <a:t>https://goharbor.io/docs/2.14.0/install-config/download-installer/</a:t>
            </a:r>
            <a:r>
              <a:rPr lang="fr-FR" sz="3600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519C0F8-E3B6-4C24-9691-590C5E39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77" y="1674459"/>
            <a:ext cx="6645216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2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A9C660-7924-4D34-93D3-B46B3EC1E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7896"/>
          </a:xfrm>
        </p:spPr>
        <p:txBody>
          <a:bodyPr>
            <a:normAutofit/>
          </a:bodyPr>
          <a:lstStyle/>
          <a:p>
            <a:r>
              <a:rPr lang="fr-FR" dirty="0"/>
              <a:t>Linux/</a:t>
            </a:r>
            <a:r>
              <a:rPr lang="fr-FR" dirty="0" err="1"/>
              <a:t>Wsl</a:t>
            </a:r>
            <a:r>
              <a:rPr lang="fr-FR" dirty="0"/>
              <a:t> Install.sh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27D986-B90E-4FFD-A834-A15E41ABF1F5}"/>
              </a:ext>
            </a:extLst>
          </p:cNvPr>
          <p:cNvSpPr txBox="1"/>
          <p:nvPr/>
        </p:nvSpPr>
        <p:spPr>
          <a:xfrm>
            <a:off x="838200" y="1166842"/>
            <a:ext cx="110622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wsl</a:t>
            </a:r>
            <a:br>
              <a:rPr lang="fr-FR" sz="2400" b="1" dirty="0"/>
            </a:br>
            <a:endParaRPr lang="fr-FR" sz="2400" b="1" dirty="0"/>
          </a:p>
          <a:p>
            <a:r>
              <a:rPr lang="fr-FR" sz="2400" b="1" dirty="0" err="1"/>
              <a:t>wget</a:t>
            </a:r>
            <a:r>
              <a:rPr lang="fr-FR" sz="2400" b="1" dirty="0"/>
              <a:t> </a:t>
            </a:r>
            <a:r>
              <a:rPr lang="fr-FR" sz="2400" b="1" dirty="0">
                <a:hlinkClick r:id="rId2"/>
              </a:rPr>
              <a:t>https://github.com/goharbor/harbor/releases/download/v2.13.5/harbor-online-installer-v2.13.5.tgz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/>
              <a:t>tar </a:t>
            </a:r>
            <a:r>
              <a:rPr lang="fr-FR" sz="2400" b="1" dirty="0" err="1"/>
              <a:t>zxf</a:t>
            </a:r>
            <a:r>
              <a:rPr lang="fr-FR" sz="2400" b="1" dirty="0"/>
              <a:t> harbor*.tgz</a:t>
            </a:r>
            <a:br>
              <a:rPr lang="fr-FR" sz="2400" b="1" dirty="0"/>
            </a:br>
            <a:br>
              <a:rPr lang="fr-FR" sz="2400" b="1" dirty="0"/>
            </a:br>
            <a:r>
              <a:rPr lang="fr-FR" sz="2400" b="1" dirty="0"/>
              <a:t>cd </a:t>
            </a:r>
            <a:r>
              <a:rPr lang="fr-FR" sz="2400" b="1" dirty="0" err="1"/>
              <a:t>harbor</a:t>
            </a:r>
            <a:br>
              <a:rPr lang="fr-FR" sz="2400" b="1" dirty="0"/>
            </a:br>
            <a:br>
              <a:rPr lang="fr-FR" sz="2400" b="1" dirty="0"/>
            </a:br>
            <a:r>
              <a:rPr lang="fr-FR" sz="2400" b="1" dirty="0" err="1"/>
              <a:t>cp</a:t>
            </a:r>
            <a:r>
              <a:rPr lang="fr-FR" sz="2400" b="1" dirty="0"/>
              <a:t> </a:t>
            </a:r>
            <a:r>
              <a:rPr lang="fr-FR" sz="2400" b="1" dirty="0" err="1"/>
              <a:t>harbor.yml.tmpl</a:t>
            </a:r>
            <a:r>
              <a:rPr lang="fr-FR" sz="2400" b="1" dirty="0"/>
              <a:t>   </a:t>
            </a:r>
            <a:r>
              <a:rPr lang="fr-FR" sz="2400" b="1" dirty="0" err="1"/>
              <a:t>harbor.yml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/>
              <a:t>vi </a:t>
            </a:r>
            <a:r>
              <a:rPr lang="fr-FR" sz="2400" b="1" dirty="0" err="1"/>
              <a:t>harbor.yml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854832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68772-E506-4F9C-B869-B06F4BED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/>
          </a:bodyPr>
          <a:lstStyle/>
          <a:p>
            <a:r>
              <a:rPr lang="fr-FR" dirty="0" err="1"/>
              <a:t>Generate</a:t>
            </a:r>
            <a:r>
              <a:rPr lang="fr-FR" dirty="0"/>
              <a:t> </a:t>
            </a:r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Certificate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CA4062-7C80-43B4-8874-6C4B413F3A1D}"/>
              </a:ext>
            </a:extLst>
          </p:cNvPr>
          <p:cNvSpPr txBox="1"/>
          <p:nvPr/>
        </p:nvSpPr>
        <p:spPr>
          <a:xfrm>
            <a:off x="1431235" y="1572542"/>
            <a:ext cx="9607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openssl</a:t>
            </a:r>
            <a:r>
              <a:rPr lang="fr-FR" sz="2400" b="1" dirty="0"/>
              <a:t> </a:t>
            </a:r>
            <a:r>
              <a:rPr lang="fr-FR" sz="2400" b="1" dirty="0" err="1"/>
              <a:t>req</a:t>
            </a:r>
            <a:r>
              <a:rPr lang="fr-FR" sz="2400" b="1" dirty="0"/>
              <a:t> -x509 -sha256 -</a:t>
            </a:r>
            <a:r>
              <a:rPr lang="fr-FR" sz="2400" b="1" dirty="0" err="1"/>
              <a:t>days</a:t>
            </a:r>
            <a:r>
              <a:rPr lang="fr-FR" sz="2400" b="1" dirty="0"/>
              <a:t> 4000 -</a:t>
            </a:r>
            <a:r>
              <a:rPr lang="fr-FR" sz="2400" b="1" dirty="0" err="1"/>
              <a:t>nodes</a:t>
            </a:r>
            <a:r>
              <a:rPr lang="fr-FR" sz="2400" b="1" dirty="0"/>
              <a:t> -</a:t>
            </a:r>
            <a:r>
              <a:rPr lang="fr-FR" sz="2400" b="1" dirty="0" err="1"/>
              <a:t>newkey</a:t>
            </a:r>
            <a:r>
              <a:rPr lang="fr-FR" sz="2400" b="1" dirty="0"/>
              <a:t> rsa:2048 -subj "/CN=</a:t>
            </a:r>
            <a:r>
              <a:rPr lang="fr-FR" sz="2400" b="1" dirty="0" err="1"/>
              <a:t>demo.local</a:t>
            </a:r>
            <a:r>
              <a:rPr lang="fr-FR" sz="2400" b="1" dirty="0"/>
              <a:t>/C=FR" -</a:t>
            </a:r>
            <a:r>
              <a:rPr lang="fr-FR" sz="2400" b="1" dirty="0" err="1"/>
              <a:t>keyout</a:t>
            </a:r>
            <a:r>
              <a:rPr lang="fr-FR" sz="2400" b="1" dirty="0"/>
              <a:t> </a:t>
            </a:r>
            <a:r>
              <a:rPr lang="fr-FR" sz="2400" b="1" dirty="0" err="1"/>
              <a:t>rootCA.key</a:t>
            </a:r>
            <a:r>
              <a:rPr lang="fr-FR" sz="2400" b="1" dirty="0"/>
              <a:t> -out rootCA.crt</a:t>
            </a:r>
          </a:p>
        </p:txBody>
      </p:sp>
    </p:spTree>
    <p:extLst>
      <p:ext uri="{BB962C8B-B14F-4D97-AF65-F5344CB8AC3E}">
        <p14:creationId xmlns:p14="http://schemas.microsoft.com/office/powerpoint/2010/main" val="3212666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970FE7-39BE-41F9-A02D-923C0780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7652"/>
          </a:xfrm>
        </p:spPr>
        <p:txBody>
          <a:bodyPr>
            <a:normAutofit/>
          </a:bodyPr>
          <a:lstStyle/>
          <a:p>
            <a:r>
              <a:rPr lang="fr-FR" dirty="0"/>
              <a:t>Edit file  </a:t>
            </a:r>
            <a:r>
              <a:rPr lang="fr-FR" dirty="0" err="1"/>
              <a:t>harbor.yml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0920A4-8D10-450C-8DAD-FD2673C60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131" y="2645958"/>
            <a:ext cx="7487477" cy="412819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485E89C-D9D7-4C5D-9E5C-FC4D641E6F15}"/>
              </a:ext>
            </a:extLst>
          </p:cNvPr>
          <p:cNvSpPr txBox="1"/>
          <p:nvPr/>
        </p:nvSpPr>
        <p:spPr>
          <a:xfrm>
            <a:off x="397565" y="927653"/>
            <a:ext cx="96078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hostname</a:t>
            </a:r>
            <a:r>
              <a:rPr lang="fr-FR" sz="2400" b="1" dirty="0"/>
              <a:t>: localhost</a:t>
            </a:r>
            <a:br>
              <a:rPr lang="fr-FR" sz="2400" b="1" dirty="0"/>
            </a:br>
            <a:r>
              <a:rPr lang="fr-FR" sz="2400" b="1" dirty="0"/>
              <a:t>https:</a:t>
            </a:r>
          </a:p>
          <a:p>
            <a:r>
              <a:rPr lang="fr-FR" sz="2400" b="1" dirty="0"/>
              <a:t>  </a:t>
            </a:r>
            <a:r>
              <a:rPr lang="fr-FR" sz="2400" b="1" dirty="0" err="1"/>
              <a:t>certificate</a:t>
            </a:r>
            <a:r>
              <a:rPr lang="fr-FR" sz="2400" b="1" dirty="0"/>
              <a:t>: &lt;&lt;YOUR-PATH&gt;&gt;/</a:t>
            </a:r>
            <a:r>
              <a:rPr lang="fr-FR" sz="2400" b="1" dirty="0" err="1"/>
              <a:t>rootCA.key</a:t>
            </a:r>
            <a:r>
              <a:rPr lang="fr-FR" sz="2400" b="1" dirty="0"/>
              <a:t> </a:t>
            </a:r>
            <a:br>
              <a:rPr lang="fr-FR" sz="2400" b="1" dirty="0"/>
            </a:br>
            <a:r>
              <a:rPr lang="fr-FR" sz="2400" b="1" dirty="0"/>
              <a:t>  </a:t>
            </a:r>
            <a:r>
              <a:rPr lang="fr-FR" sz="2400" b="1" dirty="0" err="1"/>
              <a:t>private_key</a:t>
            </a:r>
            <a:r>
              <a:rPr lang="fr-FR" sz="2400" b="1" dirty="0"/>
              <a:t>: &lt;&lt;YOUR-PATH&gt;&gt;/rootCA.crt</a:t>
            </a:r>
          </a:p>
        </p:txBody>
      </p:sp>
    </p:spTree>
    <p:extLst>
      <p:ext uri="{BB962C8B-B14F-4D97-AF65-F5344CB8AC3E}">
        <p14:creationId xmlns:p14="http://schemas.microsoft.com/office/powerpoint/2010/main" val="64915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43CBE-F888-47CF-B4F5-A95FFB5A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60"/>
            <a:ext cx="10515600" cy="749997"/>
          </a:xfrm>
        </p:spPr>
        <p:txBody>
          <a:bodyPr/>
          <a:lstStyle/>
          <a:p>
            <a:r>
              <a:rPr lang="fr-FR" dirty="0" err="1"/>
              <a:t>sudo</a:t>
            </a:r>
            <a:r>
              <a:rPr lang="fr-FR" dirty="0"/>
              <a:t>  ./install.sh  --</a:t>
            </a:r>
            <a:r>
              <a:rPr lang="fr-FR" dirty="0" err="1"/>
              <a:t>with-trivy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B562DAC-D464-4FFD-9D08-7DE0806FB110}"/>
              </a:ext>
            </a:extLst>
          </p:cNvPr>
          <p:cNvSpPr txBox="1"/>
          <p:nvPr/>
        </p:nvSpPr>
        <p:spPr>
          <a:xfrm>
            <a:off x="200721" y="6169709"/>
            <a:ext cx="5113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Notice….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work</a:t>
            </a:r>
            <a:r>
              <a:rPr lang="fr-FR" dirty="0"/>
              <a:t> 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account</a:t>
            </a:r>
            <a:r>
              <a:rPr lang="fr-FR" dirty="0"/>
              <a:t>!!!</a:t>
            </a:r>
          </a:p>
          <a:p>
            <a:r>
              <a:rPr lang="fr-FR" dirty="0"/>
              <a:t>Need run as root?!?!!    « </a:t>
            </a:r>
            <a:r>
              <a:rPr lang="fr-FR" dirty="0" err="1"/>
              <a:t>sudo</a:t>
            </a:r>
            <a:r>
              <a:rPr lang="fr-FR" dirty="0"/>
              <a:t> ./install.sh »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0E0AF44-E1D3-4BCF-A52F-B1C75B0A8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36" y="1056998"/>
            <a:ext cx="7913577" cy="474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90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B0C5E1-63D7-48C8-838F-697DAEB9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9006"/>
          </a:xfrm>
        </p:spPr>
        <p:txBody>
          <a:bodyPr>
            <a:normAutofit/>
          </a:bodyPr>
          <a:lstStyle/>
          <a:p>
            <a:r>
              <a:rPr lang="fr-FR" dirty="0"/>
              <a:t>Install =&gt; docker compose up -d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D426B5-B82A-4A9C-A9EC-D9C493B0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2698"/>
            <a:ext cx="12192000" cy="50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34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A530F-FE2C-4F78-A0CE-8672A0142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15"/>
            <a:ext cx="10515600" cy="1403437"/>
          </a:xfrm>
        </p:spPr>
        <p:txBody>
          <a:bodyPr>
            <a:normAutofit fontScale="90000"/>
          </a:bodyPr>
          <a:lstStyle/>
          <a:p>
            <a:r>
              <a:rPr lang="fr-FR" dirty="0">
                <a:hlinkClick r:id="rId2"/>
              </a:rPr>
              <a:t>https://localhost:443/harbor</a:t>
            </a:r>
            <a:br>
              <a:rPr lang="fr-FR" dirty="0"/>
            </a:br>
            <a:r>
              <a:rPr lang="fr-FR" dirty="0" err="1"/>
              <a:t>Proceed</a:t>
            </a:r>
            <a:r>
              <a:rPr lang="fr-FR" dirty="0"/>
              <a:t> </a:t>
            </a:r>
            <a:r>
              <a:rPr lang="fr-FR" dirty="0" err="1"/>
              <a:t>Unsafe</a:t>
            </a:r>
            <a:r>
              <a:rPr lang="fr-FR" dirty="0"/>
              <a:t> (self-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617CC6-F8B3-46A8-8500-E3E79138C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60" y="1537252"/>
            <a:ext cx="8105680" cy="511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9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DA132-A457-4A3C-A3CB-9A77BF8F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4562"/>
          </a:xfrm>
        </p:spPr>
        <p:txBody>
          <a:bodyPr/>
          <a:lstStyle/>
          <a:p>
            <a:r>
              <a:rPr lang="fr-FR" dirty="0"/>
              <a:t>Login:  admin / Harbor12345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C42F30-0987-4137-B0F3-DF4DF727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690688"/>
            <a:ext cx="9471586" cy="474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86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 err="1"/>
              <a:t>See</a:t>
            </a:r>
            <a:r>
              <a:rPr lang="fr-FR" dirty="0"/>
              <a:t> Config  « admin » / « Harbor12345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9E31DB8-BE80-42FE-A1C9-B4FF8FC4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10" y="2538711"/>
            <a:ext cx="8596105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18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61E41C-C8C4-4007-8312-9F5088A0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"/>
            <a:ext cx="10515600" cy="791766"/>
          </a:xfrm>
        </p:spPr>
        <p:txBody>
          <a:bodyPr>
            <a:normAutofit/>
          </a:bodyPr>
          <a:lstStyle/>
          <a:p>
            <a:r>
              <a:rPr lang="fr-FR" dirty="0"/>
              <a:t>It Works !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28B5886-B7C9-451C-8273-FA834D74B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11" y="1038225"/>
            <a:ext cx="10605126" cy="530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40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7114D-DFDC-4769-BB61-C45EB8D68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 How </a:t>
            </a:r>
            <a:r>
              <a:rPr lang="fr-FR" dirty="0" err="1"/>
              <a:t>Deceptive</a:t>
            </a:r>
            <a:r>
              <a:rPr lang="fr-FR" dirty="0"/>
              <a:t> !!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B736D90-75FD-4D26-A324-B19A1E850D77}"/>
              </a:ext>
            </a:extLst>
          </p:cNvPr>
          <p:cNvSpPr txBox="1"/>
          <p:nvPr/>
        </p:nvSpPr>
        <p:spPr>
          <a:xfrm>
            <a:off x="1752601" y="2462510"/>
            <a:ext cx="88868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only</a:t>
            </a:r>
            <a:r>
              <a:rPr lang="fr-FR" sz="2400" dirty="0"/>
              <a:t> plain-</a:t>
            </a:r>
            <a:r>
              <a:rPr lang="fr-FR" sz="2400" dirty="0" err="1"/>
              <a:t>old</a:t>
            </a:r>
            <a:r>
              <a:rPr lang="fr-FR" sz="2400" dirty="0"/>
              <a:t> </a:t>
            </a:r>
            <a:r>
              <a:rPr lang="fr-FR" sz="2400" dirty="0" err="1"/>
              <a:t>legacy</a:t>
            </a:r>
            <a:r>
              <a:rPr lang="fr-FR" sz="2400" dirty="0"/>
              <a:t> Shell + « Docker-Compose »</a:t>
            </a:r>
          </a:p>
          <a:p>
            <a:br>
              <a:rPr lang="fr-FR" sz="2400" dirty="0"/>
            </a:br>
            <a:r>
              <a:rPr lang="fr-FR" sz="2400" dirty="0" err="1"/>
              <a:t>unmanaged</a:t>
            </a:r>
            <a:r>
              <a:rPr lang="fr-FR" sz="2400" dirty="0"/>
              <a:t> solution,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nobody</a:t>
            </a:r>
            <a:r>
              <a:rPr lang="fr-FR" sz="2400" dirty="0"/>
              <a:t> uses in real PROD !!</a:t>
            </a:r>
          </a:p>
          <a:p>
            <a:r>
              <a:rPr lang="fr-FR" sz="2400" dirty="0"/>
              <a:t>(no cluster / not </a:t>
            </a:r>
            <a:r>
              <a:rPr lang="fr-FR" sz="2400" dirty="0" err="1"/>
              <a:t>distributed</a:t>
            </a:r>
            <a:r>
              <a:rPr lang="fr-FR" sz="2400" dirty="0"/>
              <a:t> / not scalable </a:t>
            </a:r>
          </a:p>
          <a:p>
            <a:r>
              <a:rPr lang="fr-FR" sz="2400" dirty="0"/>
              <a:t>   / no monitoring / no auto-restart / no auto-</a:t>
            </a:r>
            <a:r>
              <a:rPr lang="fr-FR" sz="2400" dirty="0" err="1"/>
              <a:t>scaling</a:t>
            </a:r>
            <a:r>
              <a:rPr lang="fr-FR" sz="2400" dirty="0"/>
              <a:t> </a:t>
            </a:r>
            <a:r>
              <a:rPr lang="fr-FR" sz="2400" dirty="0" err="1"/>
              <a:t>up&amp;down</a:t>
            </a:r>
            <a:r>
              <a:rPr lang="fr-FR" sz="2400" dirty="0"/>
              <a:t> / … )</a:t>
            </a:r>
          </a:p>
          <a:p>
            <a:br>
              <a:rPr lang="fr-FR" sz="2400" dirty="0"/>
            </a:br>
            <a:r>
              <a:rPr lang="fr-FR" sz="2400" dirty="0"/>
              <a:t>And </a:t>
            </a:r>
            <a:r>
              <a:rPr lang="fr-FR" sz="2400" dirty="0" err="1"/>
              <a:t>nothing</a:t>
            </a:r>
            <a:r>
              <a:rPr lang="fr-FR" sz="2400" dirty="0"/>
              <a:t> new,  no </a:t>
            </a:r>
            <a:r>
              <a:rPr lang="fr-FR" sz="2400" dirty="0" err="1"/>
              <a:t>Kubernetes</a:t>
            </a:r>
            <a:r>
              <a:rPr lang="fr-FR" sz="24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73663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15C36-0433-457A-AEF8-4CF0E895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0650"/>
            <a:ext cx="10515600" cy="4000499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Better</a:t>
            </a:r>
            <a:r>
              <a:rPr lang="fr-FR" dirty="0"/>
              <a:t> Install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 </a:t>
            </a:r>
            <a:r>
              <a:rPr lang="fr-FR" dirty="0" err="1"/>
              <a:t>Kubernetes</a:t>
            </a:r>
            <a:r>
              <a:rPr lang="fr-FR" dirty="0"/>
              <a:t> + </a:t>
            </a:r>
            <a:r>
              <a:rPr lang="fr-FR" dirty="0" err="1"/>
              <a:t>Helm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 Linux | Windows WSL &gt; Kind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teminal</a:t>
            </a:r>
            <a:r>
              <a:rPr lang="fr-FR" dirty="0"/>
              <a:t> Shell command </a:t>
            </a:r>
            <a:r>
              <a:rPr lang="fr-FR" dirty="0" err="1"/>
              <a:t>lines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alternative,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Podman</a:t>
            </a:r>
            <a:r>
              <a:rPr lang="fr-FR" dirty="0"/>
              <a:t> GUI)</a:t>
            </a:r>
          </a:p>
        </p:txBody>
      </p:sp>
    </p:spTree>
    <p:extLst>
      <p:ext uri="{BB962C8B-B14F-4D97-AF65-F5344CB8AC3E}">
        <p14:creationId xmlns:p14="http://schemas.microsoft.com/office/powerpoint/2010/main" val="3896980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500975-9C4E-4EC3-8C1D-9C9CF074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3926"/>
          </a:xfrm>
        </p:spPr>
        <p:txBody>
          <a:bodyPr>
            <a:normAutofit/>
          </a:bodyPr>
          <a:lstStyle/>
          <a:p>
            <a:r>
              <a:rPr lang="fr-FR" dirty="0"/>
              <a:t>Linux vs « WSL »   …  </a:t>
            </a:r>
            <a:r>
              <a:rPr lang="fr-FR" dirty="0" err="1"/>
              <a:t>Kubernetes</a:t>
            </a:r>
            <a:r>
              <a:rPr lang="fr-FR" dirty="0"/>
              <a:t> « Kind » ?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C7961F-8DAF-4999-B23A-4C168AD16EF0}"/>
              </a:ext>
            </a:extLst>
          </p:cNvPr>
          <p:cNvSpPr txBox="1"/>
          <p:nvPr/>
        </p:nvSpPr>
        <p:spPr>
          <a:xfrm>
            <a:off x="1790700" y="1490008"/>
            <a:ext cx="97942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Docker  run  </a:t>
            </a:r>
            <a:r>
              <a:rPr lang="fr-FR" sz="2400" dirty="0" err="1"/>
              <a:t>almost</a:t>
            </a:r>
            <a:r>
              <a:rPr lang="fr-FR" sz="2400" dirty="0"/>
              <a:t> « </a:t>
            </a:r>
            <a:r>
              <a:rPr lang="fr-FR" sz="2400" dirty="0" err="1"/>
              <a:t>natively</a:t>
            </a:r>
            <a:r>
              <a:rPr lang="fr-FR" sz="2400" dirty="0"/>
              <a:t> » </a:t>
            </a:r>
            <a:r>
              <a:rPr lang="fr-FR" sz="2400" dirty="0" err="1"/>
              <a:t>under</a:t>
            </a:r>
            <a:r>
              <a:rPr lang="fr-FR" sz="2400" dirty="0"/>
              <a:t> Linux</a:t>
            </a:r>
          </a:p>
          <a:p>
            <a:r>
              <a:rPr lang="fr-FR" sz="2400" dirty="0"/>
              <a:t>On </a:t>
            </a:r>
            <a:r>
              <a:rPr lang="fr-FR" sz="2400" dirty="0" err="1"/>
              <a:t>windows</a:t>
            </a:r>
            <a:r>
              <a:rPr lang="fr-FR" sz="2400" dirty="0"/>
              <a:t> =&gt; </a:t>
            </a:r>
            <a:r>
              <a:rPr lang="fr-FR" sz="2400" dirty="0" err="1"/>
              <a:t>either</a:t>
            </a:r>
            <a:r>
              <a:rPr lang="fr-FR" sz="2400" dirty="0"/>
              <a:t> use  </a:t>
            </a:r>
            <a:br>
              <a:rPr lang="fr-FR" sz="2400" dirty="0"/>
            </a:br>
            <a:r>
              <a:rPr lang="fr-FR" sz="2400" dirty="0"/>
              <a:t>  - « WSL » = Windows </a:t>
            </a:r>
            <a:r>
              <a:rPr lang="fr-FR" sz="2400" dirty="0" err="1"/>
              <a:t>Sub</a:t>
            </a:r>
            <a:r>
              <a:rPr lang="fr-FR" sz="2400" dirty="0"/>
              <a:t>-system for Linux     (=&gt; like SSH + real Linux VM)</a:t>
            </a:r>
          </a:p>
          <a:p>
            <a:r>
              <a:rPr lang="fr-FR" sz="2400" dirty="0"/>
              <a:t>  - </a:t>
            </a:r>
            <a:r>
              <a:rPr lang="fr-FR" sz="2400" dirty="0" err="1"/>
              <a:t>DockerDesktop</a:t>
            </a:r>
            <a:r>
              <a:rPr lang="fr-FR" sz="2400" dirty="0"/>
              <a:t> for Windows… </a:t>
            </a:r>
            <a:r>
              <a:rPr lang="fr-FR" sz="2400" dirty="0" err="1"/>
              <a:t>paid</a:t>
            </a:r>
            <a:r>
              <a:rPr lang="fr-FR" sz="2400" dirty="0"/>
              <a:t> solution, NOT </a:t>
            </a:r>
            <a:r>
              <a:rPr lang="fr-FR" sz="2400" dirty="0" err="1"/>
              <a:t>used</a:t>
            </a:r>
            <a:r>
              <a:rPr lang="fr-FR" sz="2400" dirty="0"/>
              <a:t> </a:t>
            </a:r>
            <a:r>
              <a:rPr lang="fr-FR" sz="2400" dirty="0" err="1"/>
              <a:t>much</a:t>
            </a:r>
            <a:r>
              <a:rPr lang="fr-FR" sz="2400" dirty="0"/>
              <a:t> in </a:t>
            </a:r>
            <a:r>
              <a:rPr lang="fr-FR" sz="2400" dirty="0" err="1"/>
              <a:t>companies</a:t>
            </a:r>
            <a:endParaRPr lang="fr-FR" sz="2400" dirty="0"/>
          </a:p>
          <a:p>
            <a:r>
              <a:rPr lang="fr-FR" sz="2400" dirty="0"/>
              <a:t>  - </a:t>
            </a:r>
            <a:r>
              <a:rPr lang="fr-FR" sz="2400" dirty="0" err="1"/>
              <a:t>Podman</a:t>
            </a: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8D4489-9D2B-4234-BE97-04383F39C17E}"/>
              </a:ext>
            </a:extLst>
          </p:cNvPr>
          <p:cNvSpPr txBox="1"/>
          <p:nvPr/>
        </p:nvSpPr>
        <p:spPr>
          <a:xfrm>
            <a:off x="1790700" y="4100810"/>
            <a:ext cx="93823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Kubernetes</a:t>
            </a:r>
            <a:r>
              <a:rPr lang="fr-FR" sz="2400" dirty="0"/>
              <a:t> can run « </a:t>
            </a:r>
            <a:r>
              <a:rPr lang="fr-FR" sz="2400" dirty="0" err="1"/>
              <a:t>natively</a:t>
            </a:r>
            <a:r>
              <a:rPr lang="fr-FR" sz="2400" dirty="0"/>
              <a:t> » </a:t>
            </a:r>
            <a:r>
              <a:rPr lang="fr-FR" sz="2400" dirty="0" err="1"/>
              <a:t>under</a:t>
            </a:r>
            <a:r>
              <a:rPr lang="fr-FR" sz="2400" dirty="0"/>
              <a:t> linux, but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difficult</a:t>
            </a:r>
            <a:r>
              <a:rPr lang="fr-FR" sz="2400" dirty="0"/>
              <a:t> to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 err="1"/>
              <a:t>example</a:t>
            </a:r>
            <a:r>
              <a:rPr lang="fr-FR" sz="2400" dirty="0"/>
              <a:t> of </a:t>
            </a:r>
            <a:r>
              <a:rPr lang="fr-FR" sz="2400" dirty="0" err="1"/>
              <a:t>packaged</a:t>
            </a:r>
            <a:r>
              <a:rPr lang="fr-FR" sz="2400" dirty="0"/>
              <a:t> solutions:  « </a:t>
            </a:r>
            <a:r>
              <a:rPr lang="fr-FR" sz="2400" dirty="0" err="1"/>
              <a:t>minikube</a:t>
            </a:r>
            <a:r>
              <a:rPr lang="fr-FR" sz="2400" dirty="0"/>
              <a:t> », « k3s », « </a:t>
            </a:r>
            <a:r>
              <a:rPr lang="fr-FR" sz="2400" dirty="0" err="1"/>
              <a:t>kind</a:t>
            </a:r>
            <a:r>
              <a:rPr lang="fr-FR" sz="2400" dirty="0"/>
              <a:t> », …</a:t>
            </a:r>
          </a:p>
          <a:p>
            <a:r>
              <a:rPr lang="fr-FR" sz="2400" dirty="0"/>
              <a:t>« Kind » = « </a:t>
            </a:r>
            <a:r>
              <a:rPr lang="fr-FR" sz="2400" dirty="0" err="1"/>
              <a:t>Kubernetes</a:t>
            </a:r>
            <a:r>
              <a:rPr lang="fr-FR" sz="2400" dirty="0"/>
              <a:t> In Docker »</a:t>
            </a:r>
            <a:br>
              <a:rPr lang="fr-FR" sz="2400" dirty="0"/>
            </a:b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169124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9CC3AF-F663-44CD-8014-0064F339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Windows &gt; WSL &gt; Docker</a:t>
            </a:r>
            <a:br>
              <a:rPr lang="fr-FR" dirty="0"/>
            </a:br>
            <a:r>
              <a:rPr lang="fr-FR" dirty="0"/>
              <a:t>Linux &gt; Docker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409F5D-7A61-4301-8CDC-89822704A790}"/>
              </a:ext>
            </a:extLst>
          </p:cNvPr>
          <p:cNvSpPr txBox="1"/>
          <p:nvPr/>
        </p:nvSpPr>
        <p:spPr>
          <a:xfrm>
            <a:off x="1865041" y="2006548"/>
            <a:ext cx="8873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sudo</a:t>
            </a:r>
            <a:r>
              <a:rPr lang="fr-FR" sz="2400" b="1" dirty="0"/>
              <a:t> </a:t>
            </a:r>
            <a:r>
              <a:rPr lang="fr-FR" sz="2400" b="1" dirty="0" err="1"/>
              <a:t>apt</a:t>
            </a:r>
            <a:r>
              <a:rPr lang="fr-FR" sz="2400" b="1" dirty="0"/>
              <a:t> </a:t>
            </a:r>
            <a:r>
              <a:rPr lang="fr-FR" sz="2400" b="1" dirty="0" err="1"/>
              <a:t>install</a:t>
            </a:r>
            <a:r>
              <a:rPr lang="fr-FR" sz="2400" b="1" dirty="0"/>
              <a:t> -y docker-ce docker-ce-cli containerd.io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0F5754-4280-45C6-858A-29C21E45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2710546"/>
            <a:ext cx="11751058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97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A89472-10BA-4A18-83B5-1460912E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2528"/>
          </a:xfrm>
        </p:spPr>
        <p:txBody>
          <a:bodyPr>
            <a:normAutofit/>
          </a:bodyPr>
          <a:lstStyle/>
          <a:p>
            <a:r>
              <a:rPr lang="fr-FR" dirty="0"/>
              <a:t>WSL &gt; test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E6DDC5-8082-462E-9C1F-2773ABF16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917" y="1710152"/>
            <a:ext cx="8712854" cy="501492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62B66E4-D259-4F11-AC02-37F8AB532C6B}"/>
              </a:ext>
            </a:extLst>
          </p:cNvPr>
          <p:cNvSpPr txBox="1"/>
          <p:nvPr/>
        </p:nvSpPr>
        <p:spPr>
          <a:xfrm>
            <a:off x="838200" y="807793"/>
            <a:ext cx="60941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docker </a:t>
            </a:r>
            <a:r>
              <a:rPr lang="fr-FR" sz="2000" b="1" dirty="0" err="1"/>
              <a:t>ps</a:t>
            </a:r>
            <a:r>
              <a:rPr lang="fr-FR" sz="2000" b="1" dirty="0"/>
              <a:t> -a</a:t>
            </a:r>
          </a:p>
          <a:p>
            <a:r>
              <a:rPr lang="fr-FR" sz="2000" b="1" dirty="0"/>
              <a:t>docker login</a:t>
            </a:r>
          </a:p>
          <a:p>
            <a:r>
              <a:rPr lang="fr-FR" sz="2000" b="1" dirty="0"/>
              <a:t>docker run -</a:t>
            </a:r>
            <a:r>
              <a:rPr lang="fr-FR" sz="2000" b="1" dirty="0" err="1"/>
              <a:t>it</a:t>
            </a:r>
            <a:r>
              <a:rPr lang="fr-FR" sz="2000" b="1" dirty="0"/>
              <a:t> </a:t>
            </a:r>
            <a:r>
              <a:rPr lang="fr-FR" sz="2000" b="1" dirty="0" err="1"/>
              <a:t>busybox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824883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36AA0-D492-4FB7-BAC4-D33B0BAE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1083672"/>
          </a:xfrm>
        </p:spPr>
        <p:txBody>
          <a:bodyPr>
            <a:normAutofit fontScale="90000"/>
          </a:bodyPr>
          <a:lstStyle/>
          <a:p>
            <a:r>
              <a:rPr lang="fr-FR" dirty="0"/>
              <a:t>(WSL | Linux) &gt;  </a:t>
            </a:r>
            <a:r>
              <a:rPr lang="fr-FR" dirty="0" err="1"/>
              <a:t>sudo</a:t>
            </a:r>
            <a:r>
              <a:rPr lang="fr-FR" dirty="0"/>
              <a:t> apt-get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kind</a:t>
            </a:r>
            <a:r>
              <a:rPr lang="fr-FR" dirty="0"/>
              <a:t> </a:t>
            </a:r>
            <a:r>
              <a:rPr lang="fr-FR" dirty="0" err="1"/>
              <a:t>kubectl</a:t>
            </a:r>
            <a:br>
              <a:rPr lang="fr-FR" dirty="0"/>
            </a:br>
            <a:r>
              <a:rPr lang="fr-FR" dirty="0" err="1"/>
              <a:t>kind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cluster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5B2A737-1CA3-4E52-B46B-AC3FA2DA81F5}"/>
              </a:ext>
            </a:extLst>
          </p:cNvPr>
          <p:cNvSpPr txBox="1"/>
          <p:nvPr/>
        </p:nvSpPr>
        <p:spPr>
          <a:xfrm>
            <a:off x="683013" y="1459855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sudo</a:t>
            </a:r>
            <a:r>
              <a:rPr lang="fr-FR" sz="2400" b="1" dirty="0"/>
              <a:t> apt-get </a:t>
            </a:r>
            <a:r>
              <a:rPr lang="fr-FR" sz="2400" b="1" dirty="0" err="1"/>
              <a:t>install</a:t>
            </a:r>
            <a:r>
              <a:rPr lang="fr-FR" sz="2400" b="1" dirty="0"/>
              <a:t> </a:t>
            </a:r>
            <a:r>
              <a:rPr lang="fr-FR" sz="2400" b="1" dirty="0" err="1"/>
              <a:t>kind</a:t>
            </a:r>
            <a:r>
              <a:rPr lang="fr-FR" sz="2400" b="1" dirty="0"/>
              <a:t>  </a:t>
            </a:r>
            <a:r>
              <a:rPr lang="fr-FR" sz="2400" b="1" dirty="0" err="1"/>
              <a:t>kubectl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 err="1"/>
              <a:t>kind</a:t>
            </a:r>
            <a:r>
              <a:rPr lang="fr-FR" sz="2400" b="1" dirty="0"/>
              <a:t>  </a:t>
            </a:r>
            <a:r>
              <a:rPr lang="fr-FR" sz="2400" b="1" dirty="0" err="1"/>
              <a:t>create</a:t>
            </a:r>
            <a:r>
              <a:rPr lang="fr-FR" sz="2400" b="1" dirty="0"/>
              <a:t> cluster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022EF88-A115-4D21-85A3-9B6586B0F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967" y="2300255"/>
            <a:ext cx="6900458" cy="415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5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Having</a:t>
            </a:r>
            <a:r>
              <a:rPr lang="fr-FR" dirty="0"/>
              <a:t>   « 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Open Files » …  ??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5747214-89E7-4D57-A356-A5CCDD89ABC8}"/>
              </a:ext>
            </a:extLst>
          </p:cNvPr>
          <p:cNvSpPr txBox="1"/>
          <p:nvPr/>
        </p:nvSpPr>
        <p:spPr>
          <a:xfrm>
            <a:off x="1262876" y="1398807"/>
            <a:ext cx="60941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 err="1"/>
              <a:t>podman</a:t>
            </a:r>
            <a:r>
              <a:rPr lang="fr-FR" sz="2000" b="1" dirty="0"/>
              <a:t> machine </a:t>
            </a:r>
            <a:r>
              <a:rPr lang="fr-FR" sz="2000" b="1" dirty="0" err="1"/>
              <a:t>ssh</a:t>
            </a:r>
            <a:endParaRPr lang="fr-FR" sz="2000" b="1" dirty="0"/>
          </a:p>
          <a:p>
            <a:endParaRPr lang="fr-FR" sz="2000" b="1" dirty="0"/>
          </a:p>
          <a:p>
            <a:r>
              <a:rPr lang="fr-FR" sz="2000" b="1" dirty="0" err="1"/>
              <a:t>ulimit</a:t>
            </a:r>
            <a:r>
              <a:rPr lang="fr-FR" sz="2000" b="1" dirty="0"/>
              <a:t> –a</a:t>
            </a:r>
          </a:p>
          <a:p>
            <a:endParaRPr lang="fr-FR" sz="2000" b="1" dirty="0"/>
          </a:p>
          <a:p>
            <a:r>
              <a:rPr lang="fr-FR" sz="2000" b="1" dirty="0" err="1"/>
              <a:t>ulimit</a:t>
            </a:r>
            <a:r>
              <a:rPr lang="fr-FR" sz="2000" b="1" dirty="0"/>
              <a:t> –n 4096</a:t>
            </a:r>
          </a:p>
        </p:txBody>
      </p:sp>
    </p:spTree>
    <p:extLst>
      <p:ext uri="{BB962C8B-B14F-4D97-AF65-F5344CB8AC3E}">
        <p14:creationId xmlns:p14="http://schemas.microsoft.com/office/powerpoint/2010/main" val="1865911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1BAC0-1A57-4D26-994E-05B04C2B6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9796"/>
          </a:xfrm>
        </p:spPr>
        <p:txBody>
          <a:bodyPr>
            <a:normAutofit/>
          </a:bodyPr>
          <a:lstStyle/>
          <a:p>
            <a:r>
              <a:rPr lang="fr-FR" dirty="0"/>
              <a:t>Test </a:t>
            </a:r>
            <a:r>
              <a:rPr lang="fr-FR" dirty="0" err="1"/>
              <a:t>Kubectl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606A03-ECE8-491C-9A23-C2E92E88315D}"/>
              </a:ext>
            </a:extLst>
          </p:cNvPr>
          <p:cNvSpPr txBox="1"/>
          <p:nvPr/>
        </p:nvSpPr>
        <p:spPr>
          <a:xfrm>
            <a:off x="838200" y="1348627"/>
            <a:ext cx="77919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config </a:t>
            </a:r>
            <a:r>
              <a:rPr lang="fr-FR" sz="2400" b="1" dirty="0" err="1"/>
              <a:t>get-contexts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get</a:t>
            </a:r>
            <a:r>
              <a:rPr lang="fr-FR" sz="2400" b="1" dirty="0"/>
              <a:t> </a:t>
            </a:r>
            <a:r>
              <a:rPr lang="fr-FR" sz="2400" b="1" dirty="0" err="1"/>
              <a:t>pod</a:t>
            </a:r>
            <a:br>
              <a:rPr lang="fr-FR" sz="2400" b="1" dirty="0"/>
            </a:br>
            <a:br>
              <a:rPr lang="fr-FR" sz="2400" b="1" dirty="0"/>
            </a:br>
            <a:r>
              <a:rPr lang="en-US" sz="2400" b="1" dirty="0" err="1"/>
              <a:t>kubectl</a:t>
            </a:r>
            <a:r>
              <a:rPr lang="en-US" sz="2400" b="1" dirty="0"/>
              <a:t> run </a:t>
            </a:r>
            <a:r>
              <a:rPr lang="en-US" sz="2400" b="1" dirty="0" err="1"/>
              <a:t>mypod</a:t>
            </a:r>
            <a:r>
              <a:rPr lang="en-US" sz="2400" b="1" dirty="0"/>
              <a:t> -it --image=</a:t>
            </a:r>
            <a:r>
              <a:rPr lang="en-US" sz="2400" b="1" dirty="0" err="1"/>
              <a:t>busybox</a:t>
            </a:r>
            <a:r>
              <a:rPr lang="en-US" sz="2400" b="1" dirty="0"/>
              <a:t>  /bin/</a:t>
            </a:r>
            <a:r>
              <a:rPr lang="en-US" sz="2400" b="1" dirty="0" err="1"/>
              <a:t>sh</a:t>
            </a:r>
            <a:endParaRPr lang="en-US" sz="2400" b="1" dirty="0"/>
          </a:p>
          <a:p>
            <a:r>
              <a:rPr lang="en-US" sz="2400" b="1" dirty="0" err="1"/>
              <a:t>kubectl</a:t>
            </a:r>
            <a:r>
              <a:rPr lang="en-US" sz="2400" b="1" dirty="0"/>
              <a:t> delete pod </a:t>
            </a:r>
            <a:r>
              <a:rPr lang="en-US" sz="2400" b="1" dirty="0" err="1"/>
              <a:t>mypod</a:t>
            </a:r>
            <a:endParaRPr lang="en-US" sz="2400" b="1" dirty="0"/>
          </a:p>
          <a:p>
            <a:endParaRPr lang="fr-FR" sz="24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090F0E-E840-439D-A06B-8068D559F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15" y="4373212"/>
            <a:ext cx="10200685" cy="19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82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21FA58-FEB9-4E72-B43E-4A8C125A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26994"/>
          </a:xfrm>
        </p:spPr>
        <p:txBody>
          <a:bodyPr>
            <a:normAutofit/>
          </a:bodyPr>
          <a:lstStyle/>
          <a:p>
            <a:r>
              <a:rPr lang="fr-FR" dirty="0"/>
              <a:t>Install </a:t>
            </a:r>
            <a:r>
              <a:rPr lang="fr-FR" dirty="0" err="1"/>
              <a:t>Helm</a:t>
            </a:r>
            <a:br>
              <a:rPr lang="fr-FR" dirty="0"/>
            </a:br>
            <a:r>
              <a:rPr lang="fr-FR" dirty="0">
                <a:hlinkClick r:id="rId2"/>
              </a:rPr>
              <a:t>https://helm.sh/docs/intro/install/</a:t>
            </a:r>
            <a:r>
              <a:rPr lang="fr-FR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AA1BC9-BA7D-45B7-BB60-17700AAED51C}"/>
              </a:ext>
            </a:extLst>
          </p:cNvPr>
          <p:cNvSpPr txBox="1"/>
          <p:nvPr/>
        </p:nvSpPr>
        <p:spPr>
          <a:xfrm>
            <a:off x="613318" y="1686507"/>
            <a:ext cx="112961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sudo</a:t>
            </a:r>
            <a:r>
              <a:rPr lang="fr-FR" b="1" dirty="0"/>
              <a:t> apt-get </a:t>
            </a:r>
            <a:r>
              <a:rPr lang="fr-FR" b="1" dirty="0" err="1"/>
              <a:t>install</a:t>
            </a:r>
            <a:r>
              <a:rPr lang="fr-FR" b="1" dirty="0"/>
              <a:t> </a:t>
            </a:r>
            <a:r>
              <a:rPr lang="fr-FR" b="1" dirty="0" err="1"/>
              <a:t>curl</a:t>
            </a:r>
            <a:r>
              <a:rPr lang="fr-FR" b="1" dirty="0"/>
              <a:t> </a:t>
            </a:r>
            <a:r>
              <a:rPr lang="fr-FR" b="1" dirty="0" err="1"/>
              <a:t>gpg</a:t>
            </a:r>
            <a:r>
              <a:rPr lang="fr-FR" b="1" dirty="0"/>
              <a:t> </a:t>
            </a:r>
            <a:r>
              <a:rPr lang="fr-FR" b="1" dirty="0" err="1"/>
              <a:t>apt</a:t>
            </a:r>
            <a:r>
              <a:rPr lang="fr-FR" b="1" dirty="0"/>
              <a:t>-transport-https --yes</a:t>
            </a:r>
          </a:p>
          <a:p>
            <a:r>
              <a:rPr lang="fr-FR" b="1" dirty="0" err="1"/>
              <a:t>curl</a:t>
            </a:r>
            <a:r>
              <a:rPr lang="fr-FR" b="1" dirty="0"/>
              <a:t> -</a:t>
            </a:r>
            <a:r>
              <a:rPr lang="fr-FR" b="1" dirty="0" err="1"/>
              <a:t>fsSL</a:t>
            </a:r>
            <a:r>
              <a:rPr lang="fr-FR" b="1" dirty="0"/>
              <a:t> https://packages.buildkite.com/helm-linux/helm-debian/gpgkey | </a:t>
            </a:r>
            <a:r>
              <a:rPr lang="fr-FR" b="1" dirty="0" err="1"/>
              <a:t>gpg</a:t>
            </a:r>
            <a:r>
              <a:rPr lang="fr-FR" b="1" dirty="0"/>
              <a:t> --</a:t>
            </a:r>
            <a:r>
              <a:rPr lang="fr-FR" b="1" dirty="0" err="1"/>
              <a:t>dearmor</a:t>
            </a:r>
            <a:r>
              <a:rPr lang="fr-FR" b="1" dirty="0"/>
              <a:t> | </a:t>
            </a:r>
            <a:r>
              <a:rPr lang="fr-FR" b="1" dirty="0" err="1"/>
              <a:t>sudo</a:t>
            </a:r>
            <a:r>
              <a:rPr lang="fr-FR" b="1" dirty="0"/>
              <a:t> tee /</a:t>
            </a:r>
            <a:r>
              <a:rPr lang="fr-FR" b="1" dirty="0" err="1"/>
              <a:t>usr</a:t>
            </a:r>
            <a:r>
              <a:rPr lang="fr-FR" b="1" dirty="0"/>
              <a:t>/</a:t>
            </a:r>
            <a:r>
              <a:rPr lang="fr-FR" b="1" dirty="0" err="1"/>
              <a:t>share</a:t>
            </a:r>
            <a:r>
              <a:rPr lang="fr-FR" b="1" dirty="0"/>
              <a:t>/</a:t>
            </a:r>
            <a:r>
              <a:rPr lang="fr-FR" b="1" dirty="0" err="1"/>
              <a:t>keyrings</a:t>
            </a:r>
            <a:r>
              <a:rPr lang="fr-FR" b="1" dirty="0"/>
              <a:t>/</a:t>
            </a:r>
            <a:r>
              <a:rPr lang="fr-FR" b="1" dirty="0" err="1"/>
              <a:t>helm.gpg</a:t>
            </a:r>
            <a:r>
              <a:rPr lang="fr-FR" b="1" dirty="0"/>
              <a:t> &gt; /dev/</a:t>
            </a:r>
            <a:r>
              <a:rPr lang="fr-FR" b="1" dirty="0" err="1"/>
              <a:t>null</a:t>
            </a:r>
            <a:endParaRPr lang="fr-FR" b="1" dirty="0"/>
          </a:p>
          <a:p>
            <a:r>
              <a:rPr lang="fr-FR" b="1" dirty="0" err="1"/>
              <a:t>echo</a:t>
            </a:r>
            <a:r>
              <a:rPr lang="fr-FR" b="1" dirty="0"/>
              <a:t> "deb [</a:t>
            </a:r>
            <a:r>
              <a:rPr lang="fr-FR" b="1" dirty="0" err="1"/>
              <a:t>signed</a:t>
            </a:r>
            <a:r>
              <a:rPr lang="fr-FR" b="1" dirty="0"/>
              <a:t>-by=/</a:t>
            </a:r>
            <a:r>
              <a:rPr lang="fr-FR" b="1" dirty="0" err="1"/>
              <a:t>usr</a:t>
            </a:r>
            <a:r>
              <a:rPr lang="fr-FR" b="1" dirty="0"/>
              <a:t>/</a:t>
            </a:r>
            <a:r>
              <a:rPr lang="fr-FR" b="1" dirty="0" err="1"/>
              <a:t>share</a:t>
            </a:r>
            <a:r>
              <a:rPr lang="fr-FR" b="1" dirty="0"/>
              <a:t>/</a:t>
            </a:r>
            <a:r>
              <a:rPr lang="fr-FR" b="1" dirty="0" err="1"/>
              <a:t>keyrings</a:t>
            </a:r>
            <a:r>
              <a:rPr lang="fr-FR" b="1" dirty="0"/>
              <a:t>/</a:t>
            </a:r>
            <a:r>
              <a:rPr lang="fr-FR" b="1" dirty="0" err="1"/>
              <a:t>helm.gpg</a:t>
            </a:r>
            <a:r>
              <a:rPr lang="fr-FR" b="1" dirty="0"/>
              <a:t>] https://packages.buildkite.com/helm-linux/helm-debian/any/ </a:t>
            </a:r>
            <a:r>
              <a:rPr lang="fr-FR" b="1" dirty="0" err="1"/>
              <a:t>any</a:t>
            </a:r>
            <a:r>
              <a:rPr lang="fr-FR" b="1" dirty="0"/>
              <a:t> main" | </a:t>
            </a:r>
            <a:r>
              <a:rPr lang="fr-FR" b="1" dirty="0" err="1"/>
              <a:t>sudo</a:t>
            </a:r>
            <a:r>
              <a:rPr lang="fr-FR" b="1" dirty="0"/>
              <a:t> tee /</a:t>
            </a:r>
            <a:r>
              <a:rPr lang="fr-FR" b="1" dirty="0" err="1"/>
              <a:t>etc</a:t>
            </a:r>
            <a:r>
              <a:rPr lang="fr-FR" b="1" dirty="0"/>
              <a:t>/</a:t>
            </a:r>
            <a:r>
              <a:rPr lang="fr-FR" b="1" dirty="0" err="1"/>
              <a:t>apt</a:t>
            </a:r>
            <a:r>
              <a:rPr lang="fr-FR" b="1" dirty="0"/>
              <a:t>/</a:t>
            </a:r>
            <a:r>
              <a:rPr lang="fr-FR" b="1" dirty="0" err="1"/>
              <a:t>sources.list.d</a:t>
            </a:r>
            <a:r>
              <a:rPr lang="fr-FR" b="1" dirty="0"/>
              <a:t>/</a:t>
            </a:r>
            <a:r>
              <a:rPr lang="fr-FR" b="1" dirty="0" err="1"/>
              <a:t>helm</a:t>
            </a:r>
            <a:r>
              <a:rPr lang="fr-FR" b="1" dirty="0"/>
              <a:t>-stable-</a:t>
            </a:r>
            <a:r>
              <a:rPr lang="fr-FR" b="1" dirty="0" err="1"/>
              <a:t>debian.list</a:t>
            </a:r>
            <a:endParaRPr lang="fr-FR" b="1" dirty="0"/>
          </a:p>
          <a:p>
            <a:r>
              <a:rPr lang="fr-FR" b="1" dirty="0" err="1"/>
              <a:t>sudo</a:t>
            </a:r>
            <a:r>
              <a:rPr lang="fr-FR" b="1" dirty="0"/>
              <a:t> apt-get update</a:t>
            </a:r>
          </a:p>
          <a:p>
            <a:r>
              <a:rPr lang="fr-FR" b="1" dirty="0" err="1"/>
              <a:t>sudo</a:t>
            </a:r>
            <a:r>
              <a:rPr lang="fr-FR" b="1" dirty="0"/>
              <a:t> apt-get </a:t>
            </a:r>
            <a:r>
              <a:rPr lang="fr-FR" b="1" dirty="0" err="1"/>
              <a:t>install</a:t>
            </a:r>
            <a:r>
              <a:rPr lang="fr-FR" b="1" dirty="0"/>
              <a:t> </a:t>
            </a:r>
            <a:r>
              <a:rPr lang="fr-FR" b="1" dirty="0" err="1"/>
              <a:t>helm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B4D9537-9B2D-4D8A-82D0-38C17F59F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166" y="3204206"/>
            <a:ext cx="6735336" cy="357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170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899AFE-B5DF-4A3E-8BA3-02D4522A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0266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Alternative for WSL (+ Kind)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Podman</a:t>
            </a:r>
            <a:r>
              <a:rPr lang="fr-FR" dirty="0"/>
              <a:t> (+ Kind)</a:t>
            </a:r>
          </a:p>
        </p:txBody>
      </p:sp>
    </p:spTree>
    <p:extLst>
      <p:ext uri="{BB962C8B-B14F-4D97-AF65-F5344CB8AC3E}">
        <p14:creationId xmlns:p14="http://schemas.microsoft.com/office/powerpoint/2010/main" val="1759495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7ADCB-436A-42CF-9AD1-0D9CC4ED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9555"/>
          </a:xfrm>
        </p:spPr>
        <p:txBody>
          <a:bodyPr>
            <a:normAutofit fontScale="90000"/>
          </a:bodyPr>
          <a:lstStyle/>
          <a:p>
            <a:r>
              <a:rPr lang="fr-FR" dirty="0"/>
              <a:t>Install </a:t>
            </a:r>
            <a:r>
              <a:rPr lang="fr-FR" dirty="0" err="1"/>
              <a:t>Podman</a:t>
            </a:r>
            <a:br>
              <a:rPr lang="fr-FR" dirty="0"/>
            </a:br>
            <a:r>
              <a:rPr lang="fr-FR" dirty="0">
                <a:hlinkClick r:id="rId2"/>
              </a:rPr>
              <a:t>https://podman.io</a:t>
            </a:r>
            <a:r>
              <a:rPr lang="fr-FR" dirty="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98E9D1-4B9D-4FF3-A533-D1E2F7054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27" y="1161931"/>
            <a:ext cx="9159129" cy="569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44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F99BB-B62E-4217-834D-22E2D532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6360"/>
            <a:ext cx="10515600" cy="885665"/>
          </a:xfrm>
        </p:spPr>
        <p:txBody>
          <a:bodyPr/>
          <a:lstStyle/>
          <a:p>
            <a:r>
              <a:rPr lang="fr-FR" dirty="0" err="1"/>
              <a:t>Podman</a:t>
            </a:r>
            <a:r>
              <a:rPr lang="fr-FR" dirty="0"/>
              <a:t> &gt; </a:t>
            </a:r>
            <a:r>
              <a:rPr lang="fr-FR" dirty="0" err="1"/>
              <a:t>Create</a:t>
            </a:r>
            <a:r>
              <a:rPr lang="fr-FR" dirty="0"/>
              <a:t> « </a:t>
            </a:r>
            <a:r>
              <a:rPr lang="fr-FR" dirty="0" err="1"/>
              <a:t>Podman</a:t>
            </a:r>
            <a:r>
              <a:rPr lang="fr-FR" dirty="0"/>
              <a:t> Machine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268F3F-AB88-4DBB-A71F-DC540E9F3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45" y="1611472"/>
            <a:ext cx="9335309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14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F76F4-850C-4646-A365-879AFD79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2500"/>
          </a:xfrm>
        </p:spPr>
        <p:txBody>
          <a:bodyPr>
            <a:normAutofit/>
          </a:bodyPr>
          <a:lstStyle/>
          <a:p>
            <a:r>
              <a:rPr lang="fr-FR" dirty="0"/>
              <a:t>alias docker=</a:t>
            </a:r>
            <a:r>
              <a:rPr lang="fr-FR" dirty="0" err="1"/>
              <a:t>podman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0DE948-89D0-4227-9751-FC15818FB4FF}"/>
              </a:ext>
            </a:extLst>
          </p:cNvPr>
          <p:cNvSpPr txBox="1"/>
          <p:nvPr/>
        </p:nvSpPr>
        <p:spPr>
          <a:xfrm>
            <a:off x="3052025" y="1445300"/>
            <a:ext cx="61408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« podman.exe »    </a:t>
            </a:r>
            <a:r>
              <a:rPr lang="fr-FR" dirty="0" err="1"/>
              <a:t>is</a:t>
            </a:r>
            <a:r>
              <a:rPr lang="fr-FR" dirty="0"/>
              <a:t> a simple </a:t>
            </a:r>
            <a:r>
              <a:rPr lang="fr-FR" dirty="0" err="1"/>
              <a:t>executable</a:t>
            </a:r>
            <a:r>
              <a:rPr lang="fr-FR" dirty="0"/>
              <a:t> file</a:t>
            </a:r>
          </a:p>
          <a:p>
            <a:endParaRPr lang="fr-FR" dirty="0"/>
          </a:p>
          <a:p>
            <a:r>
              <a:rPr lang="fr-FR" dirty="0"/>
              <a:t> …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backward</a:t>
            </a:r>
            <a:r>
              <a:rPr lang="fr-FR" dirty="0"/>
              <a:t> compatible </a:t>
            </a:r>
            <a:r>
              <a:rPr lang="fr-FR" dirty="0" err="1"/>
              <a:t>with</a:t>
            </a:r>
            <a:r>
              <a:rPr lang="fr-FR" dirty="0"/>
              <a:t> ~all Docker </a:t>
            </a:r>
            <a:r>
              <a:rPr lang="fr-FR" dirty="0" err="1"/>
              <a:t>commands</a:t>
            </a:r>
            <a:endParaRPr lang="fr-FR" dirty="0"/>
          </a:p>
          <a:p>
            <a:endParaRPr lang="fr-FR" dirty="0"/>
          </a:p>
          <a:p>
            <a:r>
              <a:rPr lang="fr-FR" dirty="0"/>
              <a:t>In </a:t>
            </a:r>
            <a:r>
              <a:rPr lang="fr-FR" dirty="0" err="1"/>
              <a:t>your</a:t>
            </a:r>
            <a:r>
              <a:rPr lang="fr-FR" dirty="0"/>
              <a:t>  ${HOME}/.profile  or  ${HOME}.</a:t>
            </a:r>
            <a:r>
              <a:rPr lang="fr-FR" dirty="0" err="1"/>
              <a:t>bashr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can </a:t>
            </a:r>
            <a:r>
              <a:rPr lang="fr-FR" dirty="0" err="1"/>
              <a:t>even</a:t>
            </a:r>
            <a:r>
              <a:rPr lang="fr-FR" dirty="0"/>
              <a:t> use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41F92AD-EF4F-4167-A826-22826D834711}"/>
              </a:ext>
            </a:extLst>
          </p:cNvPr>
          <p:cNvSpPr txBox="1"/>
          <p:nvPr/>
        </p:nvSpPr>
        <p:spPr>
          <a:xfrm>
            <a:off x="4619625" y="30799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alias docker=</a:t>
            </a:r>
            <a:r>
              <a:rPr lang="fr-FR" b="1" dirty="0" err="1"/>
              <a:t>podman</a:t>
            </a:r>
            <a:endParaRPr lang="fr-FR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6F66C2-32BA-4C85-8496-11AAC0D5715D}"/>
              </a:ext>
            </a:extLst>
          </p:cNvPr>
          <p:cNvSpPr txBox="1"/>
          <p:nvPr/>
        </p:nvSpPr>
        <p:spPr>
          <a:xfrm>
            <a:off x="2762250" y="4212371"/>
            <a:ext cx="3257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podman</a:t>
            </a:r>
            <a:r>
              <a:rPr lang="fr-FR" b="1" dirty="0"/>
              <a:t> </a:t>
            </a:r>
            <a:r>
              <a:rPr lang="fr-FR" b="1" dirty="0" err="1"/>
              <a:t>ps</a:t>
            </a:r>
            <a:endParaRPr lang="fr-FR" b="1" dirty="0"/>
          </a:p>
          <a:p>
            <a:r>
              <a:rPr lang="fr-FR" b="1" dirty="0" err="1"/>
              <a:t>podman</a:t>
            </a:r>
            <a:r>
              <a:rPr lang="fr-FR" b="1" dirty="0"/>
              <a:t> run … </a:t>
            </a:r>
          </a:p>
          <a:p>
            <a:r>
              <a:rPr lang="fr-FR" b="1" dirty="0" err="1"/>
              <a:t>podman</a:t>
            </a:r>
            <a:r>
              <a:rPr lang="fr-FR" b="1" dirty="0"/>
              <a:t> </a:t>
            </a:r>
            <a:r>
              <a:rPr lang="fr-FR" b="1" dirty="0" err="1"/>
              <a:t>kill</a:t>
            </a:r>
            <a:r>
              <a:rPr lang="fr-FR" b="1" dirty="0"/>
              <a:t> ${container}</a:t>
            </a:r>
          </a:p>
          <a:p>
            <a:r>
              <a:rPr lang="fr-FR" b="1" dirty="0"/>
              <a:t>…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D7F55D-B4D4-464A-9C85-A5BEEAF95C71}"/>
              </a:ext>
            </a:extLst>
          </p:cNvPr>
          <p:cNvSpPr txBox="1"/>
          <p:nvPr/>
        </p:nvSpPr>
        <p:spPr>
          <a:xfrm>
            <a:off x="6591300" y="4212371"/>
            <a:ext cx="3257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docker </a:t>
            </a:r>
            <a:r>
              <a:rPr lang="fr-FR" b="1" dirty="0" err="1"/>
              <a:t>ps</a:t>
            </a:r>
            <a:endParaRPr lang="fr-FR" b="1" dirty="0"/>
          </a:p>
          <a:p>
            <a:r>
              <a:rPr lang="fr-FR" b="1" dirty="0"/>
              <a:t>docker run …</a:t>
            </a:r>
          </a:p>
          <a:p>
            <a:r>
              <a:rPr lang="fr-FR" b="1" dirty="0"/>
              <a:t>docker </a:t>
            </a:r>
            <a:r>
              <a:rPr lang="fr-FR" b="1" dirty="0" err="1"/>
              <a:t>kill</a:t>
            </a:r>
            <a:r>
              <a:rPr lang="fr-FR" b="1" dirty="0"/>
              <a:t> ${container}</a:t>
            </a:r>
          </a:p>
          <a:p>
            <a:r>
              <a:rPr lang="fr-FR" b="1" dirty="0"/>
              <a:t>…</a:t>
            </a:r>
          </a:p>
        </p:txBody>
      </p:sp>
      <p:sp>
        <p:nvSpPr>
          <p:cNvPr id="9" name="Est égal à 8">
            <a:extLst>
              <a:ext uri="{FF2B5EF4-FFF2-40B4-BE49-F238E27FC236}">
                <a16:creationId xmlns:a16="http://schemas.microsoft.com/office/drawing/2014/main" id="{2055B0FC-C029-42BF-B57A-29DAA6C6E4FD}"/>
              </a:ext>
            </a:extLst>
          </p:cNvPr>
          <p:cNvSpPr/>
          <p:nvPr/>
        </p:nvSpPr>
        <p:spPr>
          <a:xfrm>
            <a:off x="5762625" y="4516160"/>
            <a:ext cx="428625" cy="306138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28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D36E5A-6DD8-43D3-A317-5F0A64397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5520"/>
          </a:xfrm>
        </p:spPr>
        <p:txBody>
          <a:bodyPr>
            <a:normAutofit/>
          </a:bodyPr>
          <a:lstStyle/>
          <a:p>
            <a:r>
              <a:rPr lang="fr-FR" dirty="0" err="1"/>
              <a:t>Step</a:t>
            </a:r>
            <a:r>
              <a:rPr lang="fr-FR" dirty="0"/>
              <a:t> 2: </a:t>
            </a:r>
            <a:r>
              <a:rPr lang="fr-FR" dirty="0" err="1"/>
              <a:t>Podman</a:t>
            </a:r>
            <a:r>
              <a:rPr lang="fr-FR" dirty="0"/>
              <a:t> &gt; </a:t>
            </a:r>
            <a:r>
              <a:rPr lang="fr-FR" dirty="0" err="1"/>
              <a:t>Create</a:t>
            </a:r>
            <a:r>
              <a:rPr lang="fr-FR" dirty="0"/>
              <a:t> Kind cluster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03571D-DF88-4A30-9933-86B04BBA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898" y="855520"/>
            <a:ext cx="7872211" cy="600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10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4162B4-1E36-4C66-A08E-FECB8294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13677"/>
          </a:xfrm>
        </p:spPr>
        <p:txBody>
          <a:bodyPr>
            <a:normAutofit/>
          </a:bodyPr>
          <a:lstStyle/>
          <a:p>
            <a:r>
              <a:rPr lang="fr-FR" dirty="0" err="1"/>
              <a:t>Wait</a:t>
            </a:r>
            <a:r>
              <a:rPr lang="fr-FR" dirty="0"/>
              <a:t> ~3 minutes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326FB9-89C0-4AF7-98B7-0626AE252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793827"/>
            <a:ext cx="7562510" cy="57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10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F4423-6918-4194-9F3C-A76A1DA68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70878"/>
          </a:xfrm>
        </p:spPr>
        <p:txBody>
          <a:bodyPr>
            <a:normAutofit/>
          </a:bodyPr>
          <a:lstStyle/>
          <a:p>
            <a:r>
              <a:rPr lang="fr-FR" dirty="0" err="1"/>
              <a:t>Podman</a:t>
            </a:r>
            <a:r>
              <a:rPr lang="fr-FR" dirty="0"/>
              <a:t> Settings &gt; Kind &gt;  RUNNING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01A7CFE-8856-498F-A3E1-9F8A6902D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27" y="1828621"/>
            <a:ext cx="9312447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3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61C7F5-6A52-44A8-BA40-D440DA8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26"/>
            <a:ext cx="11353800" cy="876822"/>
          </a:xfrm>
        </p:spPr>
        <p:txBody>
          <a:bodyPr>
            <a:normAutofit/>
          </a:bodyPr>
          <a:lstStyle/>
          <a:p>
            <a:r>
              <a:rPr lang="fr-FR" dirty="0"/>
              <a:t>Configure </a:t>
            </a:r>
            <a:r>
              <a:rPr lang="fr-FR" dirty="0" err="1"/>
              <a:t>podman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Dockerhub</a:t>
            </a:r>
            <a:r>
              <a:rPr lang="fr-FR" dirty="0"/>
              <a:t> </a:t>
            </a:r>
            <a:r>
              <a:rPr lang="fr-FR" dirty="0" err="1"/>
              <a:t>account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34E2A0-858D-4B52-9ABC-1240BC8BC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911" y="1111958"/>
            <a:ext cx="8372754" cy="573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04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37A34A-9939-4196-909E-1D405439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024" y="2862998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Installing</a:t>
            </a:r>
            <a:r>
              <a:rPr lang="fr-FR" dirty="0"/>
              <a:t> Harbor </a:t>
            </a:r>
            <a:r>
              <a:rPr lang="fr-FR" dirty="0" err="1"/>
              <a:t>using</a:t>
            </a:r>
            <a:r>
              <a:rPr lang="fr-FR" dirty="0"/>
              <a:t> K8s + </a:t>
            </a:r>
            <a:r>
              <a:rPr lang="fr-FR" dirty="0" err="1"/>
              <a:t>Helm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90145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40284"/>
          </a:xfrm>
        </p:spPr>
        <p:txBody>
          <a:bodyPr>
            <a:normAutofit/>
          </a:bodyPr>
          <a:lstStyle/>
          <a:p>
            <a:r>
              <a:rPr lang="fr-FR" dirty="0" err="1"/>
              <a:t>Helm</a:t>
            </a:r>
            <a:r>
              <a:rPr lang="fr-FR" dirty="0"/>
              <a:t> Chart for Harbor</a:t>
            </a:r>
            <a:br>
              <a:rPr lang="fr-FR" dirty="0"/>
            </a:br>
            <a:r>
              <a:rPr lang="fr-FR" dirty="0">
                <a:hlinkClick r:id="rId2"/>
              </a:rPr>
              <a:t>https://github.com/goharbor/harbor-helm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E281AD0-9B31-45D9-AB54-C7A4AE21B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163" y="1304290"/>
            <a:ext cx="7402884" cy="555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55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3CC69-0673-4184-8999-A126A5A8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2888"/>
          </a:xfrm>
        </p:spPr>
        <p:txBody>
          <a:bodyPr>
            <a:normAutofit/>
          </a:bodyPr>
          <a:lstStyle/>
          <a:p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namespace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FBE0F5-9E57-4A53-B0A9-87A9BFD81552}"/>
              </a:ext>
            </a:extLst>
          </p:cNvPr>
          <p:cNvSpPr txBox="1"/>
          <p:nvPr/>
        </p:nvSpPr>
        <p:spPr>
          <a:xfrm>
            <a:off x="3047071" y="1968778"/>
            <a:ext cx="60941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create</a:t>
            </a:r>
            <a:r>
              <a:rPr lang="fr-FR" sz="2400" b="1" dirty="0"/>
              <a:t> ns </a:t>
            </a:r>
            <a:r>
              <a:rPr lang="fr-FR" sz="2400" b="1" dirty="0" err="1"/>
              <a:t>harbor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get</a:t>
            </a:r>
            <a:r>
              <a:rPr lang="fr-FR" sz="2400" b="1" dirty="0"/>
              <a:t> ns</a:t>
            </a:r>
          </a:p>
          <a:p>
            <a:endParaRPr lang="fr-FR" sz="24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BBF77F-5490-436D-8923-C5AC1617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316" y="3538438"/>
            <a:ext cx="5311600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28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6E8299-763F-455A-AAD9-CC6EC565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2098"/>
          </a:xfrm>
        </p:spPr>
        <p:txBody>
          <a:bodyPr>
            <a:normAutofit fontScale="90000"/>
          </a:bodyPr>
          <a:lstStyle/>
          <a:p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</a:t>
            </a:r>
            <a:r>
              <a:rPr lang="fr-FR" dirty="0" err="1"/>
              <a:t>Kubeconfig</a:t>
            </a:r>
            <a:r>
              <a:rPr lang="fr-FR" dirty="0"/>
              <a:t>… set default </a:t>
            </a:r>
            <a:r>
              <a:rPr lang="fr-FR" dirty="0" err="1"/>
              <a:t>namespace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9E68C8-B220-4E6A-BCF4-DDE141791E43}"/>
              </a:ext>
            </a:extLst>
          </p:cNvPr>
          <p:cNvSpPr txBox="1"/>
          <p:nvPr/>
        </p:nvSpPr>
        <p:spPr>
          <a:xfrm>
            <a:off x="645493" y="1192126"/>
            <a:ext cx="8193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Every</a:t>
            </a:r>
            <a:r>
              <a:rPr lang="fr-FR" sz="2000" dirty="0"/>
              <a:t> </a:t>
            </a:r>
            <a:r>
              <a:rPr lang="fr-FR" sz="2000" dirty="0" err="1"/>
              <a:t>kubectl</a:t>
            </a:r>
            <a:r>
              <a:rPr lang="fr-FR" sz="2000" dirty="0"/>
              <a:t> </a:t>
            </a:r>
            <a:r>
              <a:rPr lang="fr-FR" sz="2000" dirty="0" err="1"/>
              <a:t>commands</a:t>
            </a:r>
            <a:r>
              <a:rPr lang="fr-FR" sz="2000" dirty="0"/>
              <a:t> must  </a:t>
            </a:r>
            <a:r>
              <a:rPr lang="fr-FR" sz="2000" dirty="0" err="1"/>
              <a:t>add</a:t>
            </a:r>
            <a:r>
              <a:rPr lang="fr-FR" sz="2000" dirty="0"/>
              <a:t> option  « </a:t>
            </a:r>
            <a:r>
              <a:rPr lang="fr-FR" sz="2000" b="1" dirty="0"/>
              <a:t>-n </a:t>
            </a:r>
            <a:r>
              <a:rPr lang="fr-FR" sz="2000" b="1" dirty="0" err="1"/>
              <a:t>harbor</a:t>
            </a:r>
            <a:r>
              <a:rPr lang="fr-FR" sz="2000" b="1" dirty="0"/>
              <a:t> </a:t>
            </a:r>
            <a:r>
              <a:rPr lang="fr-FR" sz="2000" dirty="0"/>
              <a:t>»  to set </a:t>
            </a:r>
            <a:r>
              <a:rPr lang="fr-FR" sz="2000" dirty="0" err="1"/>
              <a:t>namespace</a:t>
            </a:r>
            <a:r>
              <a:rPr lang="fr-FR" sz="2000" dirty="0"/>
              <a:t> !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AC59484-7784-4D4A-9110-56E8CB932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307" y="2589382"/>
            <a:ext cx="8001693" cy="118120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97B62EE-D5E9-4AF8-B8A0-F53EB5818C99}"/>
              </a:ext>
            </a:extLst>
          </p:cNvPr>
          <p:cNvSpPr txBox="1"/>
          <p:nvPr/>
        </p:nvSpPr>
        <p:spPr>
          <a:xfrm>
            <a:off x="645494" y="1963394"/>
            <a:ext cx="81935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config set-</a:t>
            </a:r>
            <a:r>
              <a:rPr lang="fr-FR" sz="2400" b="1" dirty="0" err="1"/>
              <a:t>context</a:t>
            </a:r>
            <a:r>
              <a:rPr lang="fr-FR" sz="2400" b="1" dirty="0"/>
              <a:t> --</a:t>
            </a:r>
            <a:r>
              <a:rPr lang="fr-FR" sz="2400" b="1" dirty="0" err="1"/>
              <a:t>current</a:t>
            </a:r>
            <a:r>
              <a:rPr lang="fr-FR" sz="2400" b="1" dirty="0"/>
              <a:t> --</a:t>
            </a:r>
            <a:r>
              <a:rPr lang="fr-FR" sz="2400" b="1" dirty="0" err="1"/>
              <a:t>namespace</a:t>
            </a:r>
            <a:r>
              <a:rPr lang="fr-FR" sz="2400" b="1" dirty="0"/>
              <a:t>=</a:t>
            </a:r>
            <a:r>
              <a:rPr lang="fr-FR" sz="2400" b="1" dirty="0" err="1"/>
              <a:t>harbor</a:t>
            </a:r>
            <a:endParaRPr lang="fr-FR" sz="24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1DE63E0-1890-4D3B-B8E0-14F2C171A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412" y="4600552"/>
            <a:ext cx="8626588" cy="161558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DAF96C9-2702-4B90-AFE1-2E05A5EC446A}"/>
              </a:ext>
            </a:extLst>
          </p:cNvPr>
          <p:cNvSpPr txBox="1"/>
          <p:nvPr/>
        </p:nvSpPr>
        <p:spPr>
          <a:xfrm>
            <a:off x="709849" y="3969334"/>
            <a:ext cx="6094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config </a:t>
            </a:r>
            <a:r>
              <a:rPr lang="fr-FR" sz="2400" b="1" dirty="0" err="1"/>
              <a:t>get-contexts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2992031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in Terminal:   </a:t>
            </a:r>
            <a:r>
              <a:rPr lang="fr-FR" dirty="0" err="1"/>
              <a:t>helm</a:t>
            </a:r>
            <a:r>
              <a:rPr lang="fr-FR" dirty="0"/>
              <a:t> repo </a:t>
            </a:r>
            <a:r>
              <a:rPr lang="fr-FR" dirty="0" err="1"/>
              <a:t>add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C8E29C-1ABD-4CFA-B87B-F576C5E3BD48}"/>
              </a:ext>
            </a:extLst>
          </p:cNvPr>
          <p:cNvSpPr txBox="1"/>
          <p:nvPr/>
        </p:nvSpPr>
        <p:spPr>
          <a:xfrm>
            <a:off x="419232" y="933021"/>
            <a:ext cx="96074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helm</a:t>
            </a:r>
            <a:r>
              <a:rPr lang="fr-FR" sz="2800" b="1" dirty="0"/>
              <a:t> repo </a:t>
            </a:r>
            <a:r>
              <a:rPr lang="fr-FR" sz="2800" b="1" dirty="0" err="1"/>
              <a:t>add</a:t>
            </a:r>
            <a:r>
              <a:rPr lang="fr-FR" sz="2800" b="1" dirty="0"/>
              <a:t> </a:t>
            </a:r>
            <a:r>
              <a:rPr lang="fr-FR" sz="2800" b="1" dirty="0" err="1"/>
              <a:t>harbor</a:t>
            </a:r>
            <a:r>
              <a:rPr lang="fr-FR" sz="2800" b="1" dirty="0"/>
              <a:t> </a:t>
            </a:r>
            <a:r>
              <a:rPr lang="fr-FR" sz="2800" b="1" dirty="0">
                <a:hlinkClick r:id="rId2"/>
              </a:rPr>
              <a:t>https://helm.goharbor.io</a:t>
            </a:r>
            <a:endParaRPr lang="fr-FR" sz="2800" b="1" dirty="0"/>
          </a:p>
          <a:p>
            <a:r>
              <a:rPr lang="fr-FR" sz="2800" b="1" dirty="0" err="1"/>
              <a:t>helm</a:t>
            </a:r>
            <a:r>
              <a:rPr lang="fr-FR" sz="2800" b="1" dirty="0"/>
              <a:t> repo update</a:t>
            </a:r>
          </a:p>
          <a:p>
            <a:endParaRPr lang="fr-FR" sz="2800" b="1" dirty="0"/>
          </a:p>
          <a:p>
            <a:r>
              <a:rPr lang="fr-FR" sz="2800" b="1" dirty="0" err="1"/>
              <a:t>helm</a:t>
            </a:r>
            <a:r>
              <a:rPr lang="fr-FR" sz="2800" b="1" dirty="0"/>
              <a:t> repo </a:t>
            </a:r>
            <a:r>
              <a:rPr lang="fr-FR" sz="2800" b="1" dirty="0" err="1"/>
              <a:t>list</a:t>
            </a:r>
            <a:endParaRPr lang="fr-FR" sz="28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1CFB64-8593-483F-8BA1-C03FF056F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439" y="2857153"/>
            <a:ext cx="8420830" cy="40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29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install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E5FA7E-E253-4B4B-9737-85A882F87A2F}"/>
              </a:ext>
            </a:extLst>
          </p:cNvPr>
          <p:cNvSpPr txBox="1"/>
          <p:nvPr/>
        </p:nvSpPr>
        <p:spPr>
          <a:xfrm>
            <a:off x="539532" y="1145180"/>
            <a:ext cx="6093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helm</a:t>
            </a:r>
            <a:r>
              <a:rPr lang="fr-FR" sz="2800" b="1" dirty="0"/>
              <a:t> </a:t>
            </a:r>
            <a:r>
              <a:rPr lang="fr-FR" sz="2800" b="1" dirty="0" err="1"/>
              <a:t>install</a:t>
            </a:r>
            <a:r>
              <a:rPr lang="fr-FR" sz="2800" b="1" dirty="0"/>
              <a:t> </a:t>
            </a:r>
            <a:r>
              <a:rPr lang="fr-FR" sz="2800" b="1" dirty="0" err="1"/>
              <a:t>my-harbor</a:t>
            </a:r>
            <a:r>
              <a:rPr lang="fr-FR" sz="2800" b="1" dirty="0"/>
              <a:t> </a:t>
            </a:r>
            <a:r>
              <a:rPr lang="fr-FR" sz="2800" b="1" dirty="0" err="1"/>
              <a:t>harbor</a:t>
            </a:r>
            <a:r>
              <a:rPr lang="fr-FR" sz="2800" b="1" dirty="0"/>
              <a:t>/</a:t>
            </a:r>
            <a:r>
              <a:rPr lang="fr-FR" sz="2800" b="1" dirty="0" err="1"/>
              <a:t>harbor</a:t>
            </a:r>
            <a:endParaRPr lang="fr-FR" sz="2800" b="1" dirty="0"/>
          </a:p>
          <a:p>
            <a:endParaRPr lang="fr-FR" sz="2800" b="1" dirty="0"/>
          </a:p>
          <a:p>
            <a:r>
              <a:rPr lang="fr-FR" sz="2800" b="1" dirty="0" err="1"/>
              <a:t>helm</a:t>
            </a:r>
            <a:r>
              <a:rPr lang="fr-FR" sz="2800" b="1" dirty="0"/>
              <a:t> </a:t>
            </a:r>
            <a:r>
              <a:rPr lang="fr-FR" sz="2800" b="1" dirty="0" err="1"/>
              <a:t>list</a:t>
            </a:r>
            <a:endParaRPr lang="fr-FR" sz="2800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1F5CF0-386B-45C6-BE9F-B5ACD26A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3313756"/>
            <a:ext cx="10482739" cy="354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091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1234DD-DAFE-45AC-ACB4-FDEB51F6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8142"/>
          </a:xfrm>
        </p:spPr>
        <p:txBody>
          <a:bodyPr>
            <a:normAutofit/>
          </a:bodyPr>
          <a:lstStyle/>
          <a:p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all    (  </a:t>
            </a:r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--dry-run)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4EF4E77-FD77-4FDB-8E78-C83B44528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2237877"/>
            <a:ext cx="5474420" cy="45600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AF5108A-0C70-45BA-8B71-A4216FAC1D71}"/>
              </a:ext>
            </a:extLst>
          </p:cNvPr>
          <p:cNvSpPr txBox="1"/>
          <p:nvPr/>
        </p:nvSpPr>
        <p:spPr>
          <a:xfrm>
            <a:off x="621580" y="1351400"/>
            <a:ext cx="9525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helm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all </a:t>
            </a:r>
            <a:r>
              <a:rPr lang="fr-FR" sz="2800" b="1" dirty="0" err="1"/>
              <a:t>my-harbor</a:t>
            </a:r>
            <a:r>
              <a:rPr lang="fr-FR" sz="2800" b="1" dirty="0"/>
              <a:t> &gt; </a:t>
            </a:r>
            <a:r>
              <a:rPr lang="fr-FR" sz="2800" b="1" dirty="0" err="1"/>
              <a:t>my-harbor.yaml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71014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Kubectl</a:t>
            </a:r>
            <a:r>
              <a:rPr lang="fr-FR" dirty="0"/>
              <a:t>    …   WAIT ~5 minutes (Image Pull)….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16EE103-3C04-47AB-B630-DB6480B9EB19}"/>
              </a:ext>
            </a:extLst>
          </p:cNvPr>
          <p:cNvSpPr txBox="1"/>
          <p:nvPr/>
        </p:nvSpPr>
        <p:spPr>
          <a:xfrm>
            <a:off x="3049044" y="1985581"/>
            <a:ext cx="6093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all</a:t>
            </a:r>
          </a:p>
          <a:p>
            <a:endParaRPr lang="fr-FR" sz="2800" b="1" dirty="0"/>
          </a:p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</a:t>
            </a:r>
            <a:r>
              <a:rPr lang="fr-FR" sz="2800" b="1" dirty="0" err="1"/>
              <a:t>pod</a:t>
            </a:r>
            <a:endParaRPr lang="fr-FR" sz="2800" b="1" dirty="0"/>
          </a:p>
          <a:p>
            <a:r>
              <a:rPr lang="fr-FR" sz="2800" b="1" dirty="0"/>
              <a:t>	</a:t>
            </a:r>
            <a:r>
              <a:rPr lang="fr-FR" sz="2800" dirty="0"/>
              <a:t>… </a:t>
            </a:r>
            <a:r>
              <a:rPr lang="fr-FR" sz="2800" dirty="0" err="1"/>
              <a:t>Wait</a:t>
            </a:r>
            <a:r>
              <a:rPr lang="fr-FR" sz="2800" dirty="0"/>
              <a:t> </a:t>
            </a:r>
            <a:r>
              <a:rPr lang="fr-FR" sz="2800" dirty="0" err="1"/>
              <a:t>pod</a:t>
            </a:r>
            <a:r>
              <a:rPr lang="fr-FR" sz="2800" dirty="0"/>
              <a:t> « </a:t>
            </a:r>
            <a:r>
              <a:rPr lang="fr-FR" sz="2800" dirty="0" err="1"/>
              <a:t>ContainerCreating</a:t>
            </a:r>
            <a:r>
              <a:rPr lang="fr-FR" sz="2800" dirty="0"/>
              <a:t> »</a:t>
            </a:r>
          </a:p>
          <a:p>
            <a:endParaRPr lang="fr-FR" sz="2800" b="1" dirty="0"/>
          </a:p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</a:t>
            </a:r>
            <a:r>
              <a:rPr lang="fr-FR" sz="2800" b="1" dirty="0" err="1"/>
              <a:t>deployment</a:t>
            </a:r>
            <a:endParaRPr lang="fr-FR" sz="2800" b="1" dirty="0"/>
          </a:p>
          <a:p>
            <a:r>
              <a:rPr lang="fr-FR" sz="2800" dirty="0"/>
              <a:t>	… </a:t>
            </a:r>
            <a:r>
              <a:rPr lang="fr-FR" sz="2800" dirty="0" err="1"/>
              <a:t>Wait</a:t>
            </a:r>
            <a:r>
              <a:rPr lang="fr-FR" sz="2800" dirty="0"/>
              <a:t>   READY 0/1</a:t>
            </a:r>
          </a:p>
          <a:p>
            <a:endParaRPr lang="fr-FR" sz="2800" dirty="0"/>
          </a:p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</a:t>
            </a:r>
            <a:r>
              <a:rPr lang="fr-FR" sz="2800" b="1" dirty="0" err="1"/>
              <a:t>event</a:t>
            </a:r>
            <a:r>
              <a:rPr lang="fr-FR" sz="2800" b="1" dirty="0"/>
              <a:t> -w</a:t>
            </a:r>
          </a:p>
        </p:txBody>
      </p:sp>
    </p:spTree>
    <p:extLst>
      <p:ext uri="{BB962C8B-B14F-4D97-AF65-F5344CB8AC3E}">
        <p14:creationId xmlns:p14="http://schemas.microsoft.com/office/powerpoint/2010/main" val="3542851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Check… </a:t>
            </a:r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all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B368C01-30A4-4E94-891D-EBAB0F069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77" y="1686023"/>
            <a:ext cx="9443070" cy="517197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0758067-3A2A-42C6-9F85-3664ED81FBA0}"/>
              </a:ext>
            </a:extLst>
          </p:cNvPr>
          <p:cNvSpPr txBox="1"/>
          <p:nvPr/>
        </p:nvSpPr>
        <p:spPr>
          <a:xfrm>
            <a:off x="942583" y="975971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all</a:t>
            </a:r>
          </a:p>
        </p:txBody>
      </p:sp>
    </p:spTree>
    <p:extLst>
      <p:ext uri="{BB962C8B-B14F-4D97-AF65-F5344CB8AC3E}">
        <p14:creationId xmlns:p14="http://schemas.microsoft.com/office/powerpoint/2010/main" val="1933588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… WAIT ~5 minutes …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78D84E-F822-4FAC-A605-9B1862F82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43" y="2070823"/>
            <a:ext cx="9853514" cy="459525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FF38ADF-CA6D-418A-89FF-B77BA1977F4F}"/>
              </a:ext>
            </a:extLst>
          </p:cNvPr>
          <p:cNvSpPr txBox="1"/>
          <p:nvPr/>
        </p:nvSpPr>
        <p:spPr>
          <a:xfrm>
            <a:off x="942583" y="975971"/>
            <a:ext cx="60939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</a:t>
            </a:r>
            <a:r>
              <a:rPr lang="fr-FR" sz="2800" b="1" dirty="0" err="1"/>
              <a:t>pod</a:t>
            </a:r>
            <a:endParaRPr lang="fr-FR" sz="2800" b="1" dirty="0"/>
          </a:p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</a:t>
            </a:r>
            <a:r>
              <a:rPr lang="fr-FR" sz="2800" b="1" dirty="0" err="1"/>
              <a:t>deployment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396451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F48F4-4C54-41C5-8902-F2029905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6614"/>
          </a:xfrm>
        </p:spPr>
        <p:txBody>
          <a:bodyPr>
            <a:normAutofit/>
          </a:bodyPr>
          <a:lstStyle/>
          <a:p>
            <a:r>
              <a:rPr lang="fr-FR" dirty="0"/>
              <a:t>WAIT  ~5 minutes…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237AB5-BCFA-4D53-ACCB-B1F4A8ECB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110"/>
            <a:ext cx="12192000" cy="51928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629CB03-5161-4ED6-B1A2-DE5B4585A2F9}"/>
              </a:ext>
            </a:extLst>
          </p:cNvPr>
          <p:cNvSpPr txBox="1"/>
          <p:nvPr/>
        </p:nvSpPr>
        <p:spPr>
          <a:xfrm>
            <a:off x="838200" y="887441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 err="1"/>
              <a:t>kubectl</a:t>
            </a:r>
            <a:r>
              <a:rPr lang="fr-FR" sz="2800" b="1" dirty="0"/>
              <a:t> </a:t>
            </a:r>
            <a:r>
              <a:rPr lang="fr-FR" sz="2800" b="1" dirty="0" err="1"/>
              <a:t>get</a:t>
            </a:r>
            <a:r>
              <a:rPr lang="fr-FR" sz="2800" b="1" dirty="0"/>
              <a:t> </a:t>
            </a:r>
            <a:r>
              <a:rPr lang="fr-FR" sz="2800" b="1" dirty="0" err="1"/>
              <a:t>event</a:t>
            </a:r>
            <a:r>
              <a:rPr lang="fr-FR" sz="2800" b="1" dirty="0"/>
              <a:t> -w</a:t>
            </a:r>
          </a:p>
        </p:txBody>
      </p:sp>
    </p:spTree>
    <p:extLst>
      <p:ext uri="{BB962C8B-B14F-4D97-AF65-F5344CB8AC3E}">
        <p14:creationId xmlns:p14="http://schemas.microsoft.com/office/powerpoint/2010/main" val="38019986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1508FD-2D5B-406F-8538-29DCF31BA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1308"/>
          </a:xfrm>
        </p:spPr>
        <p:txBody>
          <a:bodyPr>
            <a:normAutofit/>
          </a:bodyPr>
          <a:lstStyle/>
          <a:p>
            <a:r>
              <a:rPr lang="fr-FR" dirty="0"/>
              <a:t>All </a:t>
            </a:r>
            <a:r>
              <a:rPr lang="fr-FR" dirty="0" err="1"/>
              <a:t>pods</a:t>
            </a:r>
            <a:r>
              <a:rPr lang="fr-FR" dirty="0"/>
              <a:t>  RUNNING ,  </a:t>
            </a:r>
            <a:r>
              <a:rPr lang="fr-FR" dirty="0" err="1"/>
              <a:t>Deployment</a:t>
            </a:r>
            <a:r>
              <a:rPr lang="fr-FR" dirty="0"/>
              <a:t> 1/1 READY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19D9D32-E1D0-4CC5-AD6E-91910FB9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083" y="1927064"/>
            <a:ext cx="7315834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24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249416" cy="1164920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Waiting</a:t>
            </a:r>
            <a:r>
              <a:rPr lang="fr-FR" dirty="0"/>
              <a:t> … Install K9s  (command line)</a:t>
            </a:r>
            <a:br>
              <a:rPr lang="fr-FR" dirty="0"/>
            </a:br>
            <a:r>
              <a:rPr lang="fr-FR" dirty="0">
                <a:hlinkClick r:id="rId2"/>
              </a:rPr>
              <a:t>https://k9scli.io/</a:t>
            </a:r>
            <a:r>
              <a:rPr lang="fr-FR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75B135-8E9C-413F-BEEE-2D6E11D22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1" y="1131700"/>
            <a:ext cx="6643072" cy="572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0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3C075-819A-4499-A796-78B1F43B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4375"/>
          </a:xfrm>
        </p:spPr>
        <p:txBody>
          <a:bodyPr/>
          <a:lstStyle/>
          <a:p>
            <a:r>
              <a:rPr lang="fr-FR" dirty="0"/>
              <a:t>Install K9S on Windows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0A3689-DEEE-46AE-8B07-CAD752207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375"/>
            <a:ext cx="6195604" cy="43036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7E1F9E-2E0C-4102-BD74-0D6287CFC3A2}"/>
              </a:ext>
            </a:extLst>
          </p:cNvPr>
          <p:cNvSpPr/>
          <p:nvPr/>
        </p:nvSpPr>
        <p:spPr>
          <a:xfrm>
            <a:off x="3950044" y="3806644"/>
            <a:ext cx="888850" cy="279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681A809-3671-45C1-AB85-995888AD1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844" y="1265134"/>
            <a:ext cx="5435729" cy="3589260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E23E1F8D-BFBD-491B-BD86-4C19A3916C20}"/>
              </a:ext>
            </a:extLst>
          </p:cNvPr>
          <p:cNvCxnSpPr/>
          <p:nvPr/>
        </p:nvCxnSpPr>
        <p:spPr>
          <a:xfrm>
            <a:off x="4838894" y="3924300"/>
            <a:ext cx="2752531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E4F1AD2-11C6-438B-8170-F0C0516C575A}"/>
              </a:ext>
            </a:extLst>
          </p:cNvPr>
          <p:cNvCxnSpPr>
            <a:cxnSpLocks/>
          </p:cNvCxnSpPr>
          <p:nvPr/>
        </p:nvCxnSpPr>
        <p:spPr>
          <a:xfrm>
            <a:off x="8601389" y="4854394"/>
            <a:ext cx="0" cy="73249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7194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F12AE9-5A87-4013-B28C-1D5580B1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3900"/>
          </a:xfrm>
        </p:spPr>
        <p:txBody>
          <a:bodyPr>
            <a:normAutofit/>
          </a:bodyPr>
          <a:lstStyle/>
          <a:p>
            <a:r>
              <a:rPr lang="fr-FR" dirty="0"/>
              <a:t>Install K9S on Windows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7B24A3-6F18-438E-980E-B4076DED0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2" y="876079"/>
            <a:ext cx="5982218" cy="51058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7967A2-9B22-44AF-9BFB-237CB7AAB0D1}"/>
              </a:ext>
            </a:extLst>
          </p:cNvPr>
          <p:cNvSpPr/>
          <p:nvPr/>
        </p:nvSpPr>
        <p:spPr>
          <a:xfrm>
            <a:off x="263868" y="4591050"/>
            <a:ext cx="1164881" cy="257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D89815-D9FE-4BF8-877D-A2D60FF16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652" y="2200588"/>
            <a:ext cx="5414942" cy="4657411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F0866BE-FA1D-4CD9-8D8A-864FD6E91C44}"/>
              </a:ext>
            </a:extLst>
          </p:cNvPr>
          <p:cNvCxnSpPr>
            <a:cxnSpLocks/>
          </p:cNvCxnSpPr>
          <p:nvPr/>
        </p:nvCxnSpPr>
        <p:spPr>
          <a:xfrm>
            <a:off x="263868" y="3858560"/>
            <a:ext cx="0" cy="732490"/>
          </a:xfrm>
          <a:prstGeom prst="straightConnector1">
            <a:avLst/>
          </a:prstGeom>
          <a:ln w="317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3A6CB7D-7CFA-4567-88D9-C14AECAB952D}"/>
              </a:ext>
            </a:extLst>
          </p:cNvPr>
          <p:cNvCxnSpPr>
            <a:cxnSpLocks/>
          </p:cNvCxnSpPr>
          <p:nvPr/>
        </p:nvCxnSpPr>
        <p:spPr>
          <a:xfrm>
            <a:off x="1517301" y="4722725"/>
            <a:ext cx="6109398" cy="291402"/>
          </a:xfrm>
          <a:prstGeom prst="straightConnector1">
            <a:avLst/>
          </a:prstGeom>
          <a:ln w="317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D8984DB-9AB5-4467-9030-FC76CA5330C5}"/>
              </a:ext>
            </a:extLst>
          </p:cNvPr>
          <p:cNvSpPr/>
          <p:nvPr/>
        </p:nvSpPr>
        <p:spPr>
          <a:xfrm>
            <a:off x="7753507" y="4885539"/>
            <a:ext cx="1164881" cy="257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78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(On Linux) … Install k9s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7956A2-CF5E-4C74-B54C-539BBDBF8560}"/>
              </a:ext>
            </a:extLst>
          </p:cNvPr>
          <p:cNvSpPr txBox="1"/>
          <p:nvPr/>
        </p:nvSpPr>
        <p:spPr>
          <a:xfrm>
            <a:off x="838200" y="1277926"/>
            <a:ext cx="110378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wget</a:t>
            </a:r>
            <a:r>
              <a:rPr lang="fr-FR" b="1" dirty="0"/>
              <a:t> </a:t>
            </a:r>
            <a:r>
              <a:rPr lang="fr-FR" b="1" dirty="0">
                <a:hlinkClick r:id="rId2"/>
              </a:rPr>
              <a:t>https://github.com/derailed/k9s/releases/download/v0.50.18/k9s_Linux_amd64.tar.gz</a:t>
            </a:r>
            <a:endParaRPr lang="fr-FR" b="1" dirty="0"/>
          </a:p>
          <a:p>
            <a:r>
              <a:rPr lang="fr-FR" b="1" dirty="0"/>
              <a:t>tar </a:t>
            </a:r>
            <a:r>
              <a:rPr lang="fr-FR" b="1" dirty="0" err="1"/>
              <a:t>zxf</a:t>
            </a:r>
            <a:r>
              <a:rPr lang="fr-FR" b="1" dirty="0"/>
              <a:t> k9s_Linux_amd64.tar.gz</a:t>
            </a:r>
            <a:br>
              <a:rPr lang="fr-FR" b="1" dirty="0"/>
            </a:br>
            <a:r>
              <a:rPr lang="fr-FR" b="1" dirty="0" err="1"/>
              <a:t>sudo</a:t>
            </a:r>
            <a:r>
              <a:rPr lang="fr-FR" b="1" dirty="0"/>
              <a:t> </a:t>
            </a:r>
            <a:r>
              <a:rPr lang="en-US" b="1" dirty="0"/>
              <a:t>mv k9s /</a:t>
            </a:r>
            <a:r>
              <a:rPr lang="en-US" b="1" dirty="0" err="1"/>
              <a:t>usr</a:t>
            </a:r>
            <a:r>
              <a:rPr lang="en-US" b="1" dirty="0"/>
              <a:t>/local/bin/</a:t>
            </a:r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BAD45E8-E46F-4B20-B47B-DD620F07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196" y="2334422"/>
            <a:ext cx="8016935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458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/>
              <a:t>In terminal, type « K9s »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B61668F-FEB0-4400-90B4-FE682EB6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90" y="1047910"/>
            <a:ext cx="10901819" cy="557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172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CEABD1-2132-4443-95C2-ECE1F610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686"/>
            <a:ext cx="10515600" cy="4066198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Helm</a:t>
            </a:r>
            <a:r>
              <a:rPr lang="fr-FR" dirty="0"/>
              <a:t> </a:t>
            </a:r>
            <a:r>
              <a:rPr lang="fr-FR" dirty="0" err="1"/>
              <a:t>Installed</a:t>
            </a:r>
            <a:r>
              <a:rPr lang="fr-FR" dirty="0"/>
              <a:t> + </a:t>
            </a:r>
            <a:r>
              <a:rPr lang="fr-FR" dirty="0" err="1"/>
              <a:t>Installed</a:t>
            </a:r>
            <a:r>
              <a:rPr lang="fr-FR" dirty="0"/>
              <a:t> Tools « k9s »</a:t>
            </a:r>
            <a:br>
              <a:rPr lang="fr-FR" dirty="0"/>
            </a:br>
            <a:br>
              <a:rPr lang="fr-FR" dirty="0"/>
            </a:br>
            <a:r>
              <a:rPr lang="fr-FR" dirty="0"/>
              <a:t>…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Now</a:t>
            </a:r>
            <a:r>
              <a:rPr lang="fr-FR" dirty="0"/>
              <a:t> Struggle </a:t>
            </a:r>
            <a:r>
              <a:rPr lang="fr-FR" dirty="0" err="1"/>
              <a:t>with</a:t>
            </a:r>
            <a:r>
              <a:rPr lang="fr-FR" dirty="0"/>
              <a:t> K8s  </a:t>
            </a:r>
            <a:r>
              <a:rPr lang="fr-FR" dirty="0" err="1"/>
              <a:t>internals</a:t>
            </a:r>
            <a:br>
              <a:rPr lang="fr-FR" dirty="0"/>
            </a:br>
            <a:r>
              <a:rPr lang="fr-FR" dirty="0" err="1"/>
              <a:t>understand</a:t>
            </a:r>
            <a:r>
              <a:rPr lang="fr-FR" dirty="0"/>
              <a:t> / </a:t>
            </a:r>
            <a:r>
              <a:rPr lang="fr-FR" dirty="0" err="1"/>
              <a:t>connect</a:t>
            </a:r>
            <a:r>
              <a:rPr lang="fr-FR" dirty="0"/>
              <a:t> to « http://host:port »</a:t>
            </a:r>
          </a:p>
        </p:txBody>
      </p:sp>
    </p:spTree>
    <p:extLst>
      <p:ext uri="{BB962C8B-B14F-4D97-AF65-F5344CB8AC3E}">
        <p14:creationId xmlns:p14="http://schemas.microsoft.com/office/powerpoint/2010/main" val="2558161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kubectl</a:t>
            </a:r>
            <a:r>
              <a:rPr lang="fr-FR" dirty="0"/>
              <a:t>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ingress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5418B7-2E45-4F54-BBA1-34AFE1DB5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3417"/>
            <a:ext cx="12192000" cy="277639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671A60A-2879-4077-B0DE-55EC0036F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874" y="1833265"/>
            <a:ext cx="7049111" cy="123454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FC2DD41-E225-4B47-93B5-7A2D2DDE37C6}"/>
              </a:ext>
            </a:extLst>
          </p:cNvPr>
          <p:cNvSpPr txBox="1"/>
          <p:nvPr/>
        </p:nvSpPr>
        <p:spPr>
          <a:xfrm>
            <a:off x="334537" y="1282038"/>
            <a:ext cx="256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get</a:t>
            </a:r>
            <a:r>
              <a:rPr lang="fr-FR" sz="2400" b="1" dirty="0"/>
              <a:t> </a:t>
            </a:r>
            <a:r>
              <a:rPr lang="fr-FR" sz="2400" b="1" dirty="0" err="1"/>
              <a:t>ingress</a:t>
            </a:r>
            <a:endParaRPr lang="fr-FR" sz="2400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FE1336-F501-47F9-BD39-B0195534C689}"/>
              </a:ext>
            </a:extLst>
          </p:cNvPr>
          <p:cNvSpPr txBox="1"/>
          <p:nvPr/>
        </p:nvSpPr>
        <p:spPr>
          <a:xfrm>
            <a:off x="334537" y="3172420"/>
            <a:ext cx="3841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k9s</a:t>
            </a:r>
            <a:br>
              <a:rPr lang="fr-FR" sz="2400" b="1" dirty="0"/>
            </a:br>
            <a:r>
              <a:rPr lang="fr-FR" sz="2400" b="1" dirty="0"/>
              <a:t>&lt;ESCAPE&gt;  :</a:t>
            </a:r>
            <a:r>
              <a:rPr lang="fr-FR" sz="2400" b="1" dirty="0" err="1"/>
              <a:t>ingress</a:t>
            </a:r>
            <a:r>
              <a:rPr lang="fr-FR" sz="2400" b="1" dirty="0"/>
              <a:t>  &lt;ENTER&gt;</a:t>
            </a:r>
          </a:p>
        </p:txBody>
      </p:sp>
    </p:spTree>
    <p:extLst>
      <p:ext uri="{BB962C8B-B14F-4D97-AF65-F5344CB8AC3E}">
        <p14:creationId xmlns:p14="http://schemas.microsoft.com/office/powerpoint/2010/main" val="8368956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68C9B-033F-409E-AC39-EAB3E5C3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>
                <a:hlinkClick r:id="rId2"/>
              </a:rPr>
              <a:t>http://localhost:80/harbor</a:t>
            </a:r>
            <a:r>
              <a:rPr lang="fr-FR" dirty="0"/>
              <a:t>   </a:t>
            </a:r>
            <a:br>
              <a:rPr lang="fr-FR" dirty="0"/>
            </a:br>
            <a:r>
              <a:rPr lang="fr-FR" dirty="0"/>
              <a:t>=&gt; Connection </a:t>
            </a:r>
            <a:r>
              <a:rPr lang="fr-FR" dirty="0" err="1"/>
              <a:t>Refused</a:t>
            </a:r>
            <a:r>
              <a:rPr lang="fr-FR" dirty="0"/>
              <a:t>  (= </a:t>
            </a:r>
            <a:r>
              <a:rPr lang="fr-FR" dirty="0" err="1"/>
              <a:t>bad</a:t>
            </a:r>
            <a:r>
              <a:rPr lang="fr-FR" dirty="0"/>
              <a:t> port </a:t>
            </a:r>
            <a:r>
              <a:rPr lang="fr-FR" dirty="0" err="1"/>
              <a:t>number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22C36E-6BD1-47E0-B53F-8165117A4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707" y="1543050"/>
            <a:ext cx="5488029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863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52524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Podman</a:t>
            </a:r>
            <a:r>
              <a:rPr lang="fr-FR" dirty="0"/>
              <a:t> … Port 8080 on Localhost ??</a:t>
            </a:r>
            <a:br>
              <a:rPr lang="fr-FR" dirty="0"/>
            </a:br>
            <a:r>
              <a:rPr lang="fr-FR" dirty="0" err="1"/>
              <a:t>Give</a:t>
            </a:r>
            <a:r>
              <a:rPr lang="fr-FR" dirty="0"/>
              <a:t> 404  Page Not </a:t>
            </a:r>
            <a:r>
              <a:rPr lang="fr-FR" dirty="0" err="1"/>
              <a:t>Found</a:t>
            </a:r>
            <a:r>
              <a:rPr lang="fr-FR" dirty="0"/>
              <a:t> ?!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8080B7A-0CBC-4850-A049-2C87DFA1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703" y="2057281"/>
            <a:ext cx="7300593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57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77F87-4333-4105-B830-A4750AFB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20"/>
            <a:ext cx="10515600" cy="2131729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Podman</a:t>
            </a:r>
            <a:r>
              <a:rPr lang="fr-FR" dirty="0"/>
              <a:t> machine … </a:t>
            </a:r>
            <a:r>
              <a:rPr lang="fr-FR" dirty="0" err="1"/>
              <a:t>doing</a:t>
            </a:r>
            <a:r>
              <a:rPr lang="fr-FR" dirty="0"/>
              <a:t> mapping of port !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localhost:9090   -&gt;   </a:t>
            </a:r>
            <a:r>
              <a:rPr lang="fr-FR" dirty="0" err="1"/>
              <a:t>podman</a:t>
            </a:r>
            <a:r>
              <a:rPr lang="fr-FR" dirty="0"/>
              <a:t> machine  80  (http)</a:t>
            </a:r>
            <a:br>
              <a:rPr lang="fr-FR" dirty="0"/>
            </a:br>
            <a:r>
              <a:rPr lang="fr-FR" dirty="0"/>
              <a:t>localhost:9443   -&gt;  </a:t>
            </a:r>
            <a:r>
              <a:rPr lang="fr-FR" dirty="0" err="1"/>
              <a:t>podman</a:t>
            </a:r>
            <a:r>
              <a:rPr lang="fr-FR" dirty="0"/>
              <a:t> machine 443 (https)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A0F8AB-5D51-4A1D-914B-ADD895F25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6147"/>
            <a:ext cx="12192000" cy="13602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7D8789-EFCB-4EC0-A2C9-1C2D8602E3A1}"/>
              </a:ext>
            </a:extLst>
          </p:cNvPr>
          <p:cNvSpPr/>
          <p:nvPr/>
        </p:nvSpPr>
        <p:spPr>
          <a:xfrm>
            <a:off x="4683275" y="4416244"/>
            <a:ext cx="888850" cy="279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88FBE-A165-4DC7-868D-285364135A2F}"/>
              </a:ext>
            </a:extLst>
          </p:cNvPr>
          <p:cNvSpPr/>
          <p:nvPr/>
        </p:nvSpPr>
        <p:spPr>
          <a:xfrm>
            <a:off x="6902599" y="4416244"/>
            <a:ext cx="974575" cy="279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4BC5BE-02C6-4960-B582-A44E752678E4}"/>
              </a:ext>
            </a:extLst>
          </p:cNvPr>
          <p:cNvSpPr txBox="1"/>
          <p:nvPr/>
        </p:nvSpPr>
        <p:spPr>
          <a:xfrm>
            <a:off x="438150" y="2767447"/>
            <a:ext cx="1368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b="1" dirty="0"/>
              <a:t>podman ps</a:t>
            </a:r>
            <a:endParaRPr lang="nb-NO" sz="2000" dirty="0"/>
          </a:p>
        </p:txBody>
      </p:sp>
    </p:spTree>
    <p:extLst>
      <p:ext uri="{BB962C8B-B14F-4D97-AF65-F5344CB8AC3E}">
        <p14:creationId xmlns:p14="http://schemas.microsoft.com/office/powerpoint/2010/main" val="2124686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2D12B-A41B-4B17-8F41-36BDB726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4" y="0"/>
            <a:ext cx="11725275" cy="1655708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Curl</a:t>
            </a:r>
            <a:r>
              <a:rPr lang="fr-FR" dirty="0"/>
              <a:t> http://localhost:9090/ </a:t>
            </a:r>
            <a:br>
              <a:rPr lang="fr-FR" dirty="0"/>
            </a:br>
            <a:r>
              <a:rPr lang="fr-FR" dirty="0"/>
              <a:t>=&gt; 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http Header </a:t>
            </a:r>
            <a:br>
              <a:rPr lang="fr-FR" dirty="0"/>
            </a:br>
            <a:r>
              <a:rPr lang="fr-FR" dirty="0"/>
              <a:t>       for </a:t>
            </a:r>
            <a:r>
              <a:rPr lang="fr-FR" dirty="0" err="1"/>
              <a:t>virtual</a:t>
            </a:r>
            <a:r>
              <a:rPr lang="fr-FR" dirty="0"/>
              <a:t>  Host=« localhost:9090»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4BB33A-6EC2-431C-BE30-09992472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49" y="1655708"/>
            <a:ext cx="8548135" cy="52022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2C0D47-9396-4465-8A63-052DD33F60B6}"/>
              </a:ext>
            </a:extLst>
          </p:cNvPr>
          <p:cNvSpPr/>
          <p:nvPr/>
        </p:nvSpPr>
        <p:spPr>
          <a:xfrm>
            <a:off x="1962149" y="4098013"/>
            <a:ext cx="2371726" cy="216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E99DB-5887-4942-9E2C-3EE44998EB02}"/>
              </a:ext>
            </a:extLst>
          </p:cNvPr>
          <p:cNvSpPr/>
          <p:nvPr/>
        </p:nvSpPr>
        <p:spPr>
          <a:xfrm>
            <a:off x="3057524" y="5151036"/>
            <a:ext cx="1447801" cy="216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65381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0164D-47AC-49B8-9CE4-B47C8B61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7725"/>
          </a:xfrm>
        </p:spPr>
        <p:txBody>
          <a:bodyPr/>
          <a:lstStyle/>
          <a:p>
            <a:r>
              <a:rPr lang="fr-FR" dirty="0">
                <a:hlinkClick r:id="rId2"/>
              </a:rPr>
              <a:t>http://localhost:9090/</a:t>
            </a:r>
            <a:r>
              <a:rPr lang="fr-FR" dirty="0"/>
              <a:t>    … 404 NOT_FOUND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72A3EF-D538-4185-8502-1082817CC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251" y="1487604"/>
            <a:ext cx="7818798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782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ABBDB1-3AD7-4F85-9BB6-19B1B691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2" y="0"/>
            <a:ext cx="11877675" cy="873125"/>
          </a:xfrm>
        </p:spPr>
        <p:txBody>
          <a:bodyPr>
            <a:noAutofit/>
          </a:bodyPr>
          <a:lstStyle/>
          <a:p>
            <a:r>
              <a:rPr lang="fr-FR" sz="3600" dirty="0" err="1"/>
              <a:t>Using</a:t>
            </a:r>
            <a:r>
              <a:rPr lang="fr-FR" sz="3600" dirty="0"/>
              <a:t> </a:t>
            </a:r>
            <a:r>
              <a:rPr lang="fr-FR" sz="3600" dirty="0" err="1"/>
              <a:t>curl</a:t>
            </a:r>
            <a:r>
              <a:rPr lang="fr-FR" sz="3600" dirty="0"/>
              <a:t> http://localhost:9090</a:t>
            </a:r>
            <a:br>
              <a:rPr lang="fr-FR" sz="3600" dirty="0"/>
            </a:br>
            <a:r>
              <a:rPr lang="fr-FR" sz="3600" dirty="0"/>
              <a:t>+ forcing http Header for </a:t>
            </a:r>
            <a:r>
              <a:rPr lang="fr-FR" sz="3600" dirty="0" err="1"/>
              <a:t>virtual</a:t>
            </a:r>
            <a:r>
              <a:rPr lang="fr-FR" sz="3600" dirty="0"/>
              <a:t> Host « </a:t>
            </a:r>
            <a:r>
              <a:rPr lang="fr-FR" sz="3600" dirty="0" err="1"/>
              <a:t>core.harbor.domain</a:t>
            </a:r>
            <a:r>
              <a:rPr lang="fr-FR" sz="3600" dirty="0"/>
              <a:t>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1EC578-8B6A-40CD-ACC8-2D9C3C20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80" y="1690688"/>
            <a:ext cx="10150720" cy="50524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6B4C1D-6552-4BC0-BC04-660EE1DA9185}"/>
              </a:ext>
            </a:extLst>
          </p:cNvPr>
          <p:cNvSpPr/>
          <p:nvPr/>
        </p:nvSpPr>
        <p:spPr>
          <a:xfrm>
            <a:off x="2463950" y="5730694"/>
            <a:ext cx="888850" cy="279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09BDC-DC57-4598-83DF-7D8800CEB43D}"/>
              </a:ext>
            </a:extLst>
          </p:cNvPr>
          <p:cNvSpPr/>
          <p:nvPr/>
        </p:nvSpPr>
        <p:spPr>
          <a:xfrm>
            <a:off x="3178324" y="2215969"/>
            <a:ext cx="1679425" cy="279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3EE9A1-E10F-4AFA-AE28-55EA9BA42468}"/>
              </a:ext>
            </a:extLst>
          </p:cNvPr>
          <p:cNvSpPr/>
          <p:nvPr/>
        </p:nvSpPr>
        <p:spPr>
          <a:xfrm>
            <a:off x="5750074" y="2215969"/>
            <a:ext cx="3089126" cy="279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EFB4C2F-56BE-4E9F-BE19-2B0B37CE04B7}"/>
              </a:ext>
            </a:extLst>
          </p:cNvPr>
          <p:cNvSpPr txBox="1"/>
          <p:nvPr/>
        </p:nvSpPr>
        <p:spPr>
          <a:xfrm>
            <a:off x="168153" y="1131318"/>
            <a:ext cx="9956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curl</a:t>
            </a:r>
            <a:r>
              <a:rPr lang="fr-FR" sz="2400" b="1" dirty="0"/>
              <a:t> -v http://localhost:9090/harbor -H </a:t>
            </a:r>
            <a:r>
              <a:rPr lang="fr-FR" sz="2400" b="1" dirty="0" err="1"/>
              <a:t>Host:core.harbor.domain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0296271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5EA27937-C072-4F7B-B6E6-F4B47C9D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4" y="1679090"/>
            <a:ext cx="7216514" cy="517891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A61FC18-5670-4E5D-BFDA-3BD3E2EE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0"/>
            <a:ext cx="11839575" cy="1114425"/>
          </a:xfrm>
        </p:spPr>
        <p:txBody>
          <a:bodyPr>
            <a:noAutofit/>
          </a:bodyPr>
          <a:lstStyle/>
          <a:p>
            <a:r>
              <a:rPr lang="fr-FR" sz="3600" dirty="0" err="1"/>
              <a:t>Using</a:t>
            </a:r>
            <a:r>
              <a:rPr lang="fr-FR" sz="3600" dirty="0"/>
              <a:t> </a:t>
            </a:r>
            <a:r>
              <a:rPr lang="fr-FR" sz="3600" dirty="0" err="1"/>
              <a:t>curl</a:t>
            </a:r>
            <a:r>
              <a:rPr lang="fr-FR" sz="3600" dirty="0"/>
              <a:t> https://localhost:9443</a:t>
            </a:r>
            <a:br>
              <a:rPr lang="fr-FR" sz="3600" dirty="0"/>
            </a:br>
            <a:r>
              <a:rPr lang="fr-FR" sz="3600" dirty="0"/>
              <a:t>+ forcing http Header for </a:t>
            </a:r>
            <a:r>
              <a:rPr lang="fr-FR" sz="3600" dirty="0" err="1"/>
              <a:t>virtual</a:t>
            </a:r>
            <a:r>
              <a:rPr lang="fr-FR" sz="3600" dirty="0"/>
              <a:t> Host « </a:t>
            </a:r>
            <a:r>
              <a:rPr lang="fr-FR" sz="3600" dirty="0" err="1"/>
              <a:t>core.harbor.domain</a:t>
            </a:r>
            <a:r>
              <a:rPr lang="fr-FR" sz="3600" dirty="0"/>
              <a:t> »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697EEAA-0DB9-4762-ABFA-463C66DE1FDD}"/>
              </a:ext>
            </a:extLst>
          </p:cNvPr>
          <p:cNvSpPr txBox="1"/>
          <p:nvPr/>
        </p:nvSpPr>
        <p:spPr>
          <a:xfrm>
            <a:off x="409575" y="11694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curl</a:t>
            </a:r>
            <a:r>
              <a:rPr lang="fr-FR" b="1" dirty="0"/>
              <a:t> -</a:t>
            </a:r>
            <a:r>
              <a:rPr lang="fr-FR" b="1" dirty="0" err="1"/>
              <a:t>vv</a:t>
            </a:r>
            <a:r>
              <a:rPr lang="fr-FR" b="1" dirty="0"/>
              <a:t> -k https://localhost:9443/ -H </a:t>
            </a:r>
            <a:r>
              <a:rPr lang="fr-FR" b="1" dirty="0" err="1"/>
              <a:t>Host:core.harbor.domain</a:t>
            </a:r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0C5951E-295D-4BCA-8FBB-C834DE9C00B4}"/>
              </a:ext>
            </a:extLst>
          </p:cNvPr>
          <p:cNvSpPr txBox="1"/>
          <p:nvPr/>
        </p:nvSpPr>
        <p:spPr>
          <a:xfrm rot="16839357">
            <a:off x="-603927" y="3899048"/>
            <a:ext cx="3855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???? </a:t>
            </a:r>
            <a:r>
              <a:rPr lang="fr-FR" sz="2800" b="1" dirty="0" err="1"/>
              <a:t>Does</a:t>
            </a:r>
            <a:r>
              <a:rPr lang="fr-FR" sz="2800" b="1" dirty="0"/>
              <a:t> not </a:t>
            </a:r>
            <a:r>
              <a:rPr lang="fr-FR" sz="2800" b="1" dirty="0" err="1"/>
              <a:t>work</a:t>
            </a:r>
            <a:r>
              <a:rPr lang="fr-FR" sz="2800" b="1" dirty="0"/>
              <a:t> ????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94EAB-5929-4D35-A0CD-2C904F588726}"/>
              </a:ext>
            </a:extLst>
          </p:cNvPr>
          <p:cNvSpPr/>
          <p:nvPr/>
        </p:nvSpPr>
        <p:spPr>
          <a:xfrm>
            <a:off x="4730879" y="5494350"/>
            <a:ext cx="5301990" cy="184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0946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D5336F-B5F8-4029-8C92-E3DADA90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"/>
            <a:ext cx="10515600" cy="1325563"/>
          </a:xfrm>
        </p:spPr>
        <p:txBody>
          <a:bodyPr/>
          <a:lstStyle/>
          <a:p>
            <a:r>
              <a:rPr lang="fr-FR" dirty="0"/>
              <a:t>DNS </a:t>
            </a:r>
            <a:r>
              <a:rPr lang="fr-FR" dirty="0" err="1"/>
              <a:t>Hostname</a:t>
            </a:r>
            <a:r>
              <a:rPr lang="fr-FR" dirty="0"/>
              <a:t>  « </a:t>
            </a:r>
            <a:r>
              <a:rPr lang="fr-FR" dirty="0" err="1"/>
              <a:t>core.harbor.domain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expecting</a:t>
            </a:r>
            <a:r>
              <a:rPr lang="fr-FR" dirty="0"/>
              <a:t> localhost IP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B6EA147-3D5F-4F2B-BD99-4E3C69E36525}"/>
              </a:ext>
            </a:extLst>
          </p:cNvPr>
          <p:cNvSpPr txBox="1"/>
          <p:nvPr/>
        </p:nvSpPr>
        <p:spPr>
          <a:xfrm>
            <a:off x="1638300" y="1649690"/>
            <a:ext cx="877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Solution 1/  ….  Force Windows to </a:t>
            </a:r>
            <a:r>
              <a:rPr lang="fr-FR" dirty="0" err="1"/>
              <a:t>resolve</a:t>
            </a:r>
            <a:r>
              <a:rPr lang="fr-FR" dirty="0"/>
              <a:t> « </a:t>
            </a:r>
            <a:r>
              <a:rPr lang="fr-FR" dirty="0" err="1"/>
              <a:t>core.habor.domain</a:t>
            </a:r>
            <a:r>
              <a:rPr lang="fr-FR" dirty="0"/>
              <a:t> »  to  127.0.0.1   (=localhost)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B1E6B6E-E2E1-4E5D-8373-CB560A50F091}"/>
              </a:ext>
            </a:extLst>
          </p:cNvPr>
          <p:cNvSpPr txBox="1"/>
          <p:nvPr/>
        </p:nvSpPr>
        <p:spPr>
          <a:xfrm>
            <a:off x="485775" y="2108993"/>
            <a:ext cx="5230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b="1" dirty="0"/>
              <a:t>launch Notepad as «Admin»</a:t>
            </a:r>
            <a:r>
              <a:rPr lang="nb-NO" dirty="0"/>
              <a:t> !!</a:t>
            </a:r>
            <a:endParaRPr lang="fr-FR" dirty="0"/>
          </a:p>
          <a:p>
            <a:r>
              <a:rPr lang="fr-FR" dirty="0"/>
              <a:t>Edit file  « </a:t>
            </a:r>
            <a:r>
              <a:rPr lang="nb-NO" b="1" dirty="0"/>
              <a:t>C:\Windows\System32\drivers\etc\hosts</a:t>
            </a:r>
            <a:r>
              <a:rPr lang="nb-NO" dirty="0"/>
              <a:t>»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256B7A7-6F7E-407B-B942-C01800B0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560" y="3440588"/>
            <a:ext cx="6294665" cy="279678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9BC59F5-7B14-4AA3-A037-634A4670D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271892"/>
            <a:ext cx="4239134" cy="358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954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EF2B03-BBC0-45C6-BA88-75AF1954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1"/>
            <a:ext cx="11953875" cy="761999"/>
          </a:xfrm>
        </p:spPr>
        <p:txBody>
          <a:bodyPr>
            <a:normAutofit/>
          </a:bodyPr>
          <a:lstStyle/>
          <a:p>
            <a:r>
              <a:rPr lang="fr-FR" dirty="0"/>
              <a:t>Edit as Admin  </a:t>
            </a:r>
            <a:r>
              <a:rPr lang="nb-NO" sz="4000" dirty="0"/>
              <a:t>C:\Windows\System32\drivers\etc\hosts</a:t>
            </a:r>
            <a:endParaRPr lang="fr-FR" sz="4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C60F38-835F-4823-8B91-BCBEC898C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36" y="1952625"/>
            <a:ext cx="6114988" cy="477214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4DE93F2-FA1D-463F-A603-8886BAD1B05F}"/>
              </a:ext>
            </a:extLst>
          </p:cNvPr>
          <p:cNvSpPr txBox="1"/>
          <p:nvPr/>
        </p:nvSpPr>
        <p:spPr>
          <a:xfrm>
            <a:off x="228600" y="846696"/>
            <a:ext cx="4752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/>
              <a:t>Add line</a:t>
            </a:r>
            <a:br>
              <a:rPr lang="nb-NO" sz="2400" dirty="0"/>
            </a:br>
            <a:endParaRPr lang="nb-NO" sz="2400" dirty="0"/>
          </a:p>
          <a:p>
            <a:r>
              <a:rPr lang="nb-NO" sz="2400" b="1" dirty="0"/>
              <a:t>127.0.0.1  core.harbor.domain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6863039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59AE64-4FAB-4347-B1B4-ABF453AE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1050"/>
          </a:xfrm>
        </p:spPr>
        <p:txBody>
          <a:bodyPr>
            <a:normAutofit/>
          </a:bodyPr>
          <a:lstStyle/>
          <a:p>
            <a:r>
              <a:rPr lang="fr-FR" dirty="0"/>
              <a:t>Check </a:t>
            </a:r>
            <a:r>
              <a:rPr lang="fr-FR" dirty="0" err="1"/>
              <a:t>nslookup</a:t>
            </a:r>
            <a:r>
              <a:rPr lang="fr-FR" dirty="0"/>
              <a:t>??   </a:t>
            </a:r>
            <a:r>
              <a:rPr lang="fr-FR" dirty="0" err="1"/>
              <a:t>curl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A53C94-8C4E-435D-8B51-2E4ADA0A58F9}"/>
              </a:ext>
            </a:extLst>
          </p:cNvPr>
          <p:cNvSpPr txBox="1"/>
          <p:nvPr/>
        </p:nvSpPr>
        <p:spPr>
          <a:xfrm>
            <a:off x="438150" y="962025"/>
            <a:ext cx="3872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nslookup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work</a:t>
            </a:r>
            <a:r>
              <a:rPr lang="fr-FR" dirty="0"/>
              <a:t>??  But </a:t>
            </a:r>
            <a:r>
              <a:rPr lang="fr-FR" dirty="0" err="1"/>
              <a:t>curl</a:t>
            </a:r>
            <a:r>
              <a:rPr lang="fr-FR" dirty="0"/>
              <a:t>: OK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3A625A3-D164-4E2C-8EFC-76810775B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82" y="1539055"/>
            <a:ext cx="10341282" cy="494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60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08BE65-1179-46C3-8B13-D7AF29C0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752474"/>
          </a:xfrm>
        </p:spPr>
        <p:txBody>
          <a:bodyPr/>
          <a:lstStyle/>
          <a:p>
            <a:r>
              <a:rPr lang="fr-FR" dirty="0">
                <a:hlinkClick r:id="rId2"/>
              </a:rPr>
              <a:t>http://core.harbor.domain:9090/</a:t>
            </a:r>
            <a:r>
              <a:rPr lang="fr-FR" dirty="0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1178160-B207-4D29-B24C-BB8C6A9838F7}"/>
              </a:ext>
            </a:extLst>
          </p:cNvPr>
          <p:cNvSpPr txBox="1"/>
          <p:nvPr/>
        </p:nvSpPr>
        <p:spPr>
          <a:xfrm>
            <a:off x="390524" y="1143000"/>
            <a:ext cx="3710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It </a:t>
            </a:r>
            <a:r>
              <a:rPr lang="fr-FR" dirty="0" err="1"/>
              <a:t>works</a:t>
            </a:r>
            <a:r>
              <a:rPr lang="fr-FR" dirty="0"/>
              <a:t> !!! … </a:t>
            </a:r>
            <a:r>
              <a:rPr lang="fr-FR" dirty="0" err="1"/>
              <a:t>redirected</a:t>
            </a:r>
            <a:r>
              <a:rPr lang="fr-FR" dirty="0"/>
              <a:t> to login page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43831E-1E8B-4C4C-B9A0-2514EE99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6" y="1586141"/>
            <a:ext cx="10763250" cy="519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445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C5BF1-0494-4EF3-A32E-03858908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"/>
            <a:ext cx="10515600" cy="1190626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possibility</a:t>
            </a:r>
            <a:r>
              <a:rPr lang="fr-FR" dirty="0"/>
              <a:t>… change </a:t>
            </a:r>
            <a:r>
              <a:rPr lang="fr-FR" dirty="0" err="1"/>
              <a:t>ingress</a:t>
            </a:r>
            <a:r>
              <a:rPr lang="fr-FR" dirty="0"/>
              <a:t> </a:t>
            </a:r>
            <a:r>
              <a:rPr lang="fr-FR" dirty="0" err="1"/>
              <a:t>yaml</a:t>
            </a:r>
            <a:br>
              <a:rPr lang="fr-FR" dirty="0"/>
            </a:br>
            <a:r>
              <a:rPr lang="fr-FR" dirty="0"/>
              <a:t>to expose on </a:t>
            </a:r>
            <a:r>
              <a:rPr lang="fr-FR" dirty="0" err="1"/>
              <a:t>hostname</a:t>
            </a:r>
            <a:r>
              <a:rPr lang="fr-FR" dirty="0"/>
              <a:t>: localhost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EE811D-569C-4DB2-A09E-1C1F933F7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844" y="2242748"/>
            <a:ext cx="4061812" cy="347502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0D30207-450C-465D-A303-0623782C99A4}"/>
              </a:ext>
            </a:extLst>
          </p:cNvPr>
          <p:cNvSpPr txBox="1"/>
          <p:nvPr/>
        </p:nvSpPr>
        <p:spPr>
          <a:xfrm>
            <a:off x="504825" y="206323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800" b="1" dirty="0"/>
              <a:t>K9s</a:t>
            </a:r>
          </a:p>
          <a:p>
            <a:r>
              <a:rPr lang="nb-NO" b="1" dirty="0"/>
              <a:t>&lt;ESCAPE&gt; :ing   &lt;e&gt;   (=edit)  </a:t>
            </a:r>
          </a:p>
          <a:p>
            <a:endParaRPr lang="nb-NO" sz="1800" b="1" dirty="0"/>
          </a:p>
          <a:p>
            <a:endParaRPr lang="nb-NO" b="1" dirty="0"/>
          </a:p>
          <a:p>
            <a:r>
              <a:rPr lang="nb-NO" sz="1800" dirty="0"/>
              <a:t>In editor (notepad), change</a:t>
            </a:r>
            <a:br>
              <a:rPr lang="nb-NO" sz="1800" dirty="0"/>
            </a:br>
            <a:r>
              <a:rPr lang="nb-NO" sz="1800" b="1" dirty="0"/>
              <a:t>    host: localhost</a:t>
            </a:r>
          </a:p>
          <a:p>
            <a:r>
              <a:rPr lang="nb-NO" dirty="0"/>
              <a:t>Then save / close</a:t>
            </a:r>
          </a:p>
          <a:p>
            <a:endParaRPr lang="nb-NO" sz="1800" dirty="0"/>
          </a:p>
          <a:p>
            <a:endParaRPr lang="nb-NO" dirty="0"/>
          </a:p>
          <a:p>
            <a:r>
              <a:rPr lang="nb-NO" sz="1800" dirty="0"/>
              <a:t>This is HACK... Should change param value in Helm</a:t>
            </a:r>
            <a:br>
              <a:rPr lang="nb-NO" sz="1800" dirty="0"/>
            </a:br>
            <a:r>
              <a:rPr lang="nb-NO" sz="1800" dirty="0"/>
              <a:t>+ do «helm upgrade»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2365199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65F461-5A5D-4C02-A0F8-2739913F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5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Other</a:t>
            </a:r>
            <a:r>
              <a:rPr lang="fr-FR" dirty="0"/>
              <a:t> Work-</a:t>
            </a:r>
            <a:r>
              <a:rPr lang="fr-FR" dirty="0" err="1"/>
              <a:t>Around</a:t>
            </a:r>
            <a:r>
              <a:rPr lang="fr-FR" dirty="0"/>
              <a:t> Alternative for  </a:t>
            </a:r>
            <a:r>
              <a:rPr lang="fr-FR" dirty="0" err="1"/>
              <a:t>Host:Port</a:t>
            </a:r>
            <a:br>
              <a:rPr lang="fr-FR" dirty="0"/>
            </a:br>
            <a:br>
              <a:rPr lang="fr-FR" dirty="0"/>
            </a:br>
            <a:r>
              <a:rPr lang="fr-FR" dirty="0"/>
              <a:t>… </a:t>
            </a:r>
            <a:r>
              <a:rPr lang="fr-FR" dirty="0" err="1"/>
              <a:t>using</a:t>
            </a:r>
            <a:r>
              <a:rPr lang="fr-FR" dirty="0"/>
              <a:t> Port-</a:t>
            </a:r>
            <a:r>
              <a:rPr lang="fr-FR" dirty="0" err="1"/>
              <a:t>Forward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9126863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2DEFD-9E7F-406C-8108-353B914C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0223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Find</a:t>
            </a:r>
            <a:r>
              <a:rPr lang="fr-FR" dirty="0"/>
              <a:t> service « portal » … </a:t>
            </a:r>
            <a:r>
              <a:rPr lang="fr-FR" dirty="0" err="1"/>
              <a:t>exposing</a:t>
            </a:r>
            <a:r>
              <a:rPr lang="fr-FR" dirty="0"/>
              <a:t> port 8080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956D5E-FDA4-465E-9CE0-06FC4874E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443"/>
            <a:ext cx="12192000" cy="407325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1933783-B2A7-4D82-B261-BC81270E4A60}"/>
              </a:ext>
            </a:extLst>
          </p:cNvPr>
          <p:cNvSpPr txBox="1"/>
          <p:nvPr/>
        </p:nvSpPr>
        <p:spPr>
          <a:xfrm>
            <a:off x="321527" y="847115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k9s</a:t>
            </a:r>
            <a:br>
              <a:rPr lang="fr-FR" b="1" dirty="0"/>
            </a:br>
            <a:r>
              <a:rPr lang="fr-FR" b="1" dirty="0"/>
              <a:t>:</a:t>
            </a:r>
            <a:r>
              <a:rPr lang="fr-FR" b="1" dirty="0" err="1"/>
              <a:t>svc</a:t>
            </a:r>
            <a:r>
              <a:rPr lang="fr-FR" b="1" dirty="0"/>
              <a:t>    &lt;ENTER&gt;   /portal  &lt;ENTER&gt;</a:t>
            </a:r>
          </a:p>
          <a:p>
            <a:endParaRPr lang="fr-FR" b="1" dirty="0"/>
          </a:p>
          <a:p>
            <a:r>
              <a:rPr lang="fr-FR" b="1" dirty="0"/>
              <a:t>Equivalent:  </a:t>
            </a:r>
            <a:r>
              <a:rPr lang="fr-FR" b="1" dirty="0" err="1"/>
              <a:t>kubectl</a:t>
            </a:r>
            <a:r>
              <a:rPr lang="fr-FR" b="1" dirty="0"/>
              <a:t> </a:t>
            </a:r>
            <a:r>
              <a:rPr lang="fr-FR" b="1" dirty="0" err="1"/>
              <a:t>get</a:t>
            </a:r>
            <a:r>
              <a:rPr lang="fr-FR" b="1" dirty="0"/>
              <a:t> </a:t>
            </a:r>
            <a:r>
              <a:rPr lang="fr-FR" b="1" dirty="0" err="1"/>
              <a:t>svc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2136545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DFBE36-C563-430B-BAA1-331F0CC7F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69073"/>
          </a:xfrm>
        </p:spPr>
        <p:txBody>
          <a:bodyPr>
            <a:normAutofit fontScale="90000"/>
          </a:bodyPr>
          <a:lstStyle/>
          <a:p>
            <a:r>
              <a:rPr lang="fr-FR" dirty="0"/>
              <a:t>Service </a:t>
            </a:r>
            <a:r>
              <a:rPr lang="fr-FR" dirty="0" err="1"/>
              <a:t>details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8FD863-EB83-4134-87EF-4F5E5D32C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2" y="1434645"/>
            <a:ext cx="9045498" cy="542335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AF61E4A-A074-4748-932D-A11CD039BDE9}"/>
              </a:ext>
            </a:extLst>
          </p:cNvPr>
          <p:cNvSpPr txBox="1"/>
          <p:nvPr/>
        </p:nvSpPr>
        <p:spPr>
          <a:xfrm>
            <a:off x="370778" y="867193"/>
            <a:ext cx="32201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:</a:t>
            </a:r>
            <a:r>
              <a:rPr lang="fr-FR" sz="2000" b="1" dirty="0" err="1"/>
              <a:t>svc</a:t>
            </a:r>
            <a:r>
              <a:rPr lang="fr-FR" sz="2000" b="1" dirty="0"/>
              <a:t>  /portal &lt;ENTER&gt;</a:t>
            </a:r>
          </a:p>
          <a:p>
            <a:r>
              <a:rPr lang="fr-FR" sz="2000" b="1" dirty="0"/>
              <a:t>&lt;y&gt;   (=</a:t>
            </a:r>
            <a:r>
              <a:rPr lang="fr-FR" sz="2000" b="1" dirty="0" err="1"/>
              <a:t>yaml</a:t>
            </a:r>
            <a:r>
              <a:rPr lang="fr-FR" sz="2000" b="1" dirty="0"/>
              <a:t>)</a:t>
            </a:r>
          </a:p>
          <a:p>
            <a:r>
              <a:rPr lang="fr-FR" sz="2000" b="1" dirty="0"/>
              <a:t>&lt;c&gt;   (=copy)</a:t>
            </a:r>
          </a:p>
          <a:p>
            <a:endParaRPr lang="fr-FR" sz="2000" b="1" dirty="0"/>
          </a:p>
          <a:p>
            <a:endParaRPr lang="fr-FR" sz="2000" b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0808561-412D-4C69-9A55-95C334FAB1E2}"/>
              </a:ext>
            </a:extLst>
          </p:cNvPr>
          <p:cNvSpPr txBox="1"/>
          <p:nvPr/>
        </p:nvSpPr>
        <p:spPr>
          <a:xfrm>
            <a:off x="4362450" y="8671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Equivalent:    </a:t>
            </a:r>
            <a:r>
              <a:rPr lang="fr-FR" sz="1800" b="1" dirty="0" err="1"/>
              <a:t>kubectl</a:t>
            </a:r>
            <a:r>
              <a:rPr lang="fr-FR" sz="1800" b="1" dirty="0"/>
              <a:t> </a:t>
            </a:r>
            <a:r>
              <a:rPr lang="fr-FR" sz="1800" b="1" dirty="0" err="1"/>
              <a:t>get</a:t>
            </a:r>
            <a:r>
              <a:rPr lang="fr-FR" sz="1800" b="1" dirty="0"/>
              <a:t> </a:t>
            </a:r>
            <a:r>
              <a:rPr lang="fr-FR" sz="1800" b="1" dirty="0" err="1"/>
              <a:t>svc</a:t>
            </a:r>
            <a:r>
              <a:rPr lang="fr-FR" sz="1800" b="1" dirty="0"/>
              <a:t> </a:t>
            </a:r>
            <a:r>
              <a:rPr lang="fr-FR" sz="1800" b="1" dirty="0" err="1"/>
              <a:t>my</a:t>
            </a:r>
            <a:r>
              <a:rPr lang="fr-FR" sz="1800" b="1" dirty="0"/>
              <a:t>-</a:t>
            </a:r>
            <a:r>
              <a:rPr lang="fr-FR" sz="1800" b="1" dirty="0" err="1"/>
              <a:t>harboor</a:t>
            </a:r>
            <a:r>
              <a:rPr lang="fr-FR" sz="1800" b="1" dirty="0"/>
              <a:t>-portal  –o </a:t>
            </a:r>
            <a:r>
              <a:rPr lang="fr-FR" sz="1800" b="1" dirty="0" err="1"/>
              <a:t>yaml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17992530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C33F6-34C4-497D-9392-A5166EA7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9139"/>
          </a:xfrm>
        </p:spPr>
        <p:txBody>
          <a:bodyPr>
            <a:normAutofit/>
          </a:bodyPr>
          <a:lstStyle/>
          <a:p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pod</a:t>
            </a:r>
            <a:r>
              <a:rPr lang="fr-FR" dirty="0"/>
              <a:t> </a:t>
            </a:r>
            <a:r>
              <a:rPr lang="fr-FR" dirty="0" err="1"/>
              <a:t>exposing</a:t>
            </a:r>
            <a:r>
              <a:rPr lang="fr-FR" dirty="0"/>
              <a:t> the « portal »  web app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B8F7F3-8125-4D97-9920-0CFF7DD60CB3}"/>
              </a:ext>
            </a:extLst>
          </p:cNvPr>
          <p:cNvSpPr txBox="1"/>
          <p:nvPr/>
        </p:nvSpPr>
        <p:spPr>
          <a:xfrm>
            <a:off x="724829" y="1215483"/>
            <a:ext cx="45626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Either</a:t>
            </a:r>
            <a:r>
              <a:rPr lang="fr-FR" sz="2400" b="1" dirty="0"/>
              <a:t> </a:t>
            </a:r>
            <a:r>
              <a:rPr lang="fr-FR" sz="2400" b="1" dirty="0" err="1"/>
              <a:t>from</a:t>
            </a:r>
            <a:r>
              <a:rPr lang="fr-FR" sz="2400" b="1" dirty="0"/>
              <a:t> service, type &lt;ENTER&gt;</a:t>
            </a:r>
          </a:p>
          <a:p>
            <a:r>
              <a:rPr lang="fr-FR" sz="2400" b="1" dirty="0"/>
              <a:t>Or</a:t>
            </a:r>
          </a:p>
          <a:p>
            <a:r>
              <a:rPr lang="fr-FR" sz="2400" b="1" dirty="0"/>
              <a:t>:</a:t>
            </a:r>
            <a:r>
              <a:rPr lang="fr-FR" sz="2400" b="1" dirty="0" err="1"/>
              <a:t>pod</a:t>
            </a:r>
            <a:r>
              <a:rPr lang="fr-FR" sz="2400" b="1" dirty="0"/>
              <a:t>    &lt;ENTER&gt;   /portal  &lt;ENTER&gt;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B1E107-45D0-4EF5-9699-48311E4B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2155"/>
            <a:ext cx="12192000" cy="269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182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8FEF1-EAC3-48E7-B7A9-EE8C12C7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5189"/>
          </a:xfrm>
        </p:spPr>
        <p:txBody>
          <a:bodyPr>
            <a:normAutofit/>
          </a:bodyPr>
          <a:lstStyle/>
          <a:p>
            <a:r>
              <a:rPr lang="fr-FR" dirty="0"/>
              <a:t>Port-</a:t>
            </a:r>
            <a:r>
              <a:rPr lang="fr-FR" dirty="0" err="1"/>
              <a:t>Forward</a:t>
            </a:r>
            <a:r>
              <a:rPr lang="fr-FR" dirty="0"/>
              <a:t>  8080:8080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028B971-4660-4BBF-9B82-A7A034BAFA9D}"/>
              </a:ext>
            </a:extLst>
          </p:cNvPr>
          <p:cNvSpPr txBox="1"/>
          <p:nvPr/>
        </p:nvSpPr>
        <p:spPr>
          <a:xfrm>
            <a:off x="724829" y="1215483"/>
            <a:ext cx="35089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&lt;shift-F&gt;   (=port-</a:t>
            </a:r>
            <a:r>
              <a:rPr lang="fr-FR" sz="2400" b="1" dirty="0" err="1"/>
              <a:t>forward</a:t>
            </a:r>
            <a:r>
              <a:rPr lang="fr-FR" sz="2400" b="1" dirty="0"/>
              <a:t>)</a:t>
            </a:r>
          </a:p>
          <a:p>
            <a:r>
              <a:rPr lang="fr-FR" sz="2400" b="1" dirty="0"/>
              <a:t>&lt;tab&gt;        (=8080)</a:t>
            </a:r>
          </a:p>
          <a:p>
            <a:r>
              <a:rPr lang="fr-FR" sz="2400" b="1" dirty="0"/>
              <a:t>&lt;tab&gt;        (=8080)</a:t>
            </a:r>
          </a:p>
          <a:p>
            <a:r>
              <a:rPr lang="fr-FR" sz="2400" b="1" dirty="0"/>
              <a:t>&lt;ENTER&gt;  (=OK)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827FF63-9657-48CA-B636-78D91F87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51" y="3486087"/>
            <a:ext cx="6896698" cy="28958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E57218-00A6-4FF6-A62F-920F40357431}"/>
              </a:ext>
            </a:extLst>
          </p:cNvPr>
          <p:cNvSpPr/>
          <p:nvPr/>
        </p:nvSpPr>
        <p:spPr>
          <a:xfrm>
            <a:off x="5988200" y="5740218"/>
            <a:ext cx="836345" cy="3371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C5C660-2737-4EE0-A9FA-DFCF76F93AD2}"/>
              </a:ext>
            </a:extLst>
          </p:cNvPr>
          <p:cNvSpPr/>
          <p:nvPr/>
        </p:nvSpPr>
        <p:spPr>
          <a:xfrm>
            <a:off x="7344932" y="4989372"/>
            <a:ext cx="561283" cy="22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50356D-10A7-4014-8778-893FE546F132}"/>
              </a:ext>
            </a:extLst>
          </p:cNvPr>
          <p:cNvSpPr/>
          <p:nvPr/>
        </p:nvSpPr>
        <p:spPr>
          <a:xfrm>
            <a:off x="6488148" y="5191428"/>
            <a:ext cx="561283" cy="22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A508312-EC5F-4771-AA0A-D111C55D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917" y="1065446"/>
            <a:ext cx="5010849" cy="125747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04B3BE9-D9A4-45C9-8CC6-F750F27FDB9D}"/>
              </a:ext>
            </a:extLst>
          </p:cNvPr>
          <p:cNvSpPr/>
          <p:nvPr/>
        </p:nvSpPr>
        <p:spPr>
          <a:xfrm>
            <a:off x="6788070" y="1668894"/>
            <a:ext cx="2602071" cy="257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3527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/>
              <a:t>Port </a:t>
            </a:r>
            <a:r>
              <a:rPr lang="fr-FR" dirty="0" err="1"/>
              <a:t>Forward</a:t>
            </a:r>
            <a:r>
              <a:rPr lang="fr-FR" dirty="0"/>
              <a:t> </a:t>
            </a:r>
            <a:r>
              <a:rPr lang="fr-FR" dirty="0" err="1"/>
              <a:t>Activated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C067B4-4470-4285-95D2-35EB8006D12A}"/>
              </a:ext>
            </a:extLst>
          </p:cNvPr>
          <p:cNvSpPr txBox="1"/>
          <p:nvPr/>
        </p:nvSpPr>
        <p:spPr>
          <a:xfrm>
            <a:off x="838200" y="1386199"/>
            <a:ext cx="4531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Once </a:t>
            </a:r>
            <a:r>
              <a:rPr lang="fr-FR" dirty="0" err="1"/>
              <a:t>done</a:t>
            </a:r>
            <a:r>
              <a:rPr lang="fr-FR" dirty="0"/>
              <a:t>,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« PF » = « Port-</a:t>
            </a:r>
            <a:r>
              <a:rPr lang="fr-FR" dirty="0" err="1"/>
              <a:t>Forward</a:t>
            </a:r>
            <a:r>
              <a:rPr lang="fr-FR" dirty="0"/>
              <a:t> »)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BA77E2D-00C2-4D6D-A9BF-E33240E4B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3854"/>
            <a:ext cx="12192000" cy="24102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8274FA-849A-4DBD-8A48-FB48C4B7FE4B}"/>
              </a:ext>
            </a:extLst>
          </p:cNvPr>
          <p:cNvSpPr/>
          <p:nvPr/>
        </p:nvSpPr>
        <p:spPr>
          <a:xfrm>
            <a:off x="3430850" y="3780264"/>
            <a:ext cx="394018" cy="493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4291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ECA81-A811-416E-B9BF-B53479E7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959005"/>
          </a:xfrm>
        </p:spPr>
        <p:txBody>
          <a:bodyPr>
            <a:normAutofit fontScale="90000"/>
          </a:bodyPr>
          <a:lstStyle/>
          <a:p>
            <a:r>
              <a:rPr lang="fr-FR" dirty="0"/>
              <a:t>Port-</a:t>
            </a:r>
            <a:r>
              <a:rPr lang="fr-FR" dirty="0" err="1"/>
              <a:t>Forward</a:t>
            </a:r>
            <a:r>
              <a:rPr lang="fr-FR" dirty="0"/>
              <a:t>:  </a:t>
            </a:r>
            <a:r>
              <a:rPr lang="fr-FR" dirty="0" err="1"/>
              <a:t>Activated</a:t>
            </a:r>
            <a:r>
              <a:rPr lang="fr-FR" dirty="0"/>
              <a:t> &lt;-&gt; </a:t>
            </a:r>
            <a:r>
              <a:rPr lang="fr-FR" dirty="0" err="1"/>
              <a:t>Stopped</a:t>
            </a:r>
            <a:r>
              <a:rPr lang="fr-FR" dirty="0"/>
              <a:t> if </a:t>
            </a:r>
            <a:r>
              <a:rPr lang="fr-FR" dirty="0" err="1"/>
              <a:t>stopping</a:t>
            </a:r>
            <a:r>
              <a:rPr lang="fr-FR" dirty="0"/>
              <a:t> k9s !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691ACF-1E45-450E-B0B1-D18DA736C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22" y="2207750"/>
            <a:ext cx="4539283" cy="12317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45058F-C7FD-4DF6-81D7-BAED30B56FB0}"/>
              </a:ext>
            </a:extLst>
          </p:cNvPr>
          <p:cNvSpPr/>
          <p:nvPr/>
        </p:nvSpPr>
        <p:spPr>
          <a:xfrm>
            <a:off x="5155125" y="2642840"/>
            <a:ext cx="394018" cy="493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4A6094A-D03B-4036-B83D-EFAB08308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323" y="4081984"/>
            <a:ext cx="4539283" cy="95900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781DD6-1CDF-46DD-896A-E68A3798234B}"/>
              </a:ext>
            </a:extLst>
          </p:cNvPr>
          <p:cNvSpPr/>
          <p:nvPr/>
        </p:nvSpPr>
        <p:spPr>
          <a:xfrm>
            <a:off x="5155125" y="4364370"/>
            <a:ext cx="394018" cy="493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EC2120C-93B4-4655-9BDF-B01A5EE2D250}"/>
              </a:ext>
            </a:extLst>
          </p:cNvPr>
          <p:cNvCxnSpPr>
            <a:cxnSpLocks/>
          </p:cNvCxnSpPr>
          <p:nvPr/>
        </p:nvCxnSpPr>
        <p:spPr>
          <a:xfrm>
            <a:off x="5352134" y="3136154"/>
            <a:ext cx="0" cy="82124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244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ECA81-A811-416E-B9BF-B53479E7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9005"/>
          </a:xfrm>
        </p:spPr>
        <p:txBody>
          <a:bodyPr>
            <a:normAutofit/>
          </a:bodyPr>
          <a:lstStyle/>
          <a:p>
            <a:r>
              <a:rPr lang="fr-FR" dirty="0"/>
              <a:t>Equivalent command: </a:t>
            </a:r>
            <a:r>
              <a:rPr lang="fr-FR" dirty="0" err="1"/>
              <a:t>kubectl</a:t>
            </a:r>
            <a:r>
              <a:rPr lang="fr-FR" dirty="0"/>
              <a:t> port-</a:t>
            </a:r>
            <a:r>
              <a:rPr lang="fr-FR" dirty="0" err="1"/>
              <a:t>forward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F076578-D4CE-4003-9FA9-326E136557DB}"/>
              </a:ext>
            </a:extLst>
          </p:cNvPr>
          <p:cNvSpPr txBox="1"/>
          <p:nvPr/>
        </p:nvSpPr>
        <p:spPr>
          <a:xfrm>
            <a:off x="2044923" y="2037945"/>
            <a:ext cx="8102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kubectl</a:t>
            </a:r>
            <a:r>
              <a:rPr lang="fr-FR" sz="2800" b="1" dirty="0"/>
              <a:t>  port-</a:t>
            </a:r>
            <a:r>
              <a:rPr lang="fr-FR" sz="2800" b="1" dirty="0" err="1"/>
              <a:t>forward</a:t>
            </a:r>
            <a:r>
              <a:rPr lang="fr-FR" sz="2800" b="1" dirty="0"/>
              <a:t>   </a:t>
            </a:r>
            <a:r>
              <a:rPr lang="fr-FR" sz="2800" b="1" dirty="0" err="1"/>
              <a:t>my</a:t>
            </a:r>
            <a:r>
              <a:rPr lang="fr-FR" sz="2800" b="1" dirty="0"/>
              <a:t>-</a:t>
            </a:r>
            <a:r>
              <a:rPr lang="fr-FR" sz="2800" b="1" dirty="0" err="1"/>
              <a:t>harbor</a:t>
            </a:r>
            <a:r>
              <a:rPr lang="fr-FR" sz="2800" b="1" dirty="0"/>
              <a:t>-portal   8080:8080</a:t>
            </a:r>
            <a:r>
              <a:rPr lang="fr-F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56815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/>
              <a:t>http://localhost:8080/harbor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E5231B-410F-41A3-8CB7-71450A14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917507"/>
            <a:ext cx="8977138" cy="59517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0607E9-5AB4-40BF-870F-960A2FC8C3C8}"/>
              </a:ext>
            </a:extLst>
          </p:cNvPr>
          <p:cNvSpPr/>
          <p:nvPr/>
        </p:nvSpPr>
        <p:spPr>
          <a:xfrm>
            <a:off x="3026521" y="1308715"/>
            <a:ext cx="1065793" cy="3551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0022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A6DE5-9BB0-4484-94D5-9DB900A1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838200"/>
          </a:xfrm>
        </p:spPr>
        <p:txBody>
          <a:bodyPr/>
          <a:lstStyle/>
          <a:p>
            <a:r>
              <a:rPr lang="fr-FR" dirty="0" err="1"/>
              <a:t>Guessing</a:t>
            </a:r>
            <a:r>
              <a:rPr lang="fr-FR" dirty="0"/>
              <a:t> Login / </a:t>
            </a:r>
            <a:r>
              <a:rPr lang="fr-FR" dirty="0" err="1"/>
              <a:t>Password</a:t>
            </a:r>
            <a:r>
              <a:rPr lang="fr-FR" dirty="0"/>
              <a:t>… in k8s secret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7933B7-3A98-4D67-9FDA-0D46FD7143DA}"/>
              </a:ext>
            </a:extLst>
          </p:cNvPr>
          <p:cNvSpPr txBox="1"/>
          <p:nvPr/>
        </p:nvSpPr>
        <p:spPr>
          <a:xfrm>
            <a:off x="441249" y="979191"/>
            <a:ext cx="881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Reminder</a:t>
            </a:r>
            <a:r>
              <a:rPr lang="fr-FR" dirty="0"/>
              <a:t>:    « admin » / « Harbor12345 »      as </a:t>
            </a:r>
            <a:r>
              <a:rPr lang="fr-FR" dirty="0" err="1"/>
              <a:t>seen</a:t>
            </a:r>
            <a:r>
              <a:rPr lang="fr-FR" dirty="0"/>
              <a:t> in install.sh   via   </a:t>
            </a:r>
            <a:r>
              <a:rPr lang="fr-FR" dirty="0" err="1"/>
              <a:t>harbor.yml</a:t>
            </a:r>
            <a:r>
              <a:rPr lang="fr-FR" dirty="0"/>
              <a:t>  config file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70F5C0-0947-41A9-8557-B2493DB3F4F2}"/>
              </a:ext>
            </a:extLst>
          </p:cNvPr>
          <p:cNvSpPr txBox="1"/>
          <p:nvPr/>
        </p:nvSpPr>
        <p:spPr>
          <a:xfrm>
            <a:off x="342900" y="1628013"/>
            <a:ext cx="55824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get</a:t>
            </a:r>
            <a:r>
              <a:rPr lang="fr-FR" sz="2400" b="1" dirty="0"/>
              <a:t> secret</a:t>
            </a:r>
          </a:p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get</a:t>
            </a:r>
            <a:r>
              <a:rPr lang="fr-FR" sz="2400" b="1" dirty="0"/>
              <a:t> secret </a:t>
            </a:r>
            <a:r>
              <a:rPr lang="fr-FR" sz="2400" b="1" dirty="0" err="1"/>
              <a:t>my-harbor-core</a:t>
            </a:r>
            <a:r>
              <a:rPr lang="fr-FR" sz="2400" b="1" dirty="0"/>
              <a:t> –o </a:t>
            </a:r>
            <a:r>
              <a:rPr lang="fr-FR" sz="2400" b="1" dirty="0" err="1"/>
              <a:t>yaml</a:t>
            </a:r>
            <a:endParaRPr lang="fr-FR" sz="2400" b="1" dirty="0"/>
          </a:p>
          <a:p>
            <a:endParaRPr lang="fr-FR" sz="24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6B39AC-60E2-4CF9-BEFE-79665F028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483293"/>
            <a:ext cx="7580378" cy="42794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CB6AA0-8B62-4E59-80D8-E6877BDA9B6E}"/>
              </a:ext>
            </a:extLst>
          </p:cNvPr>
          <p:cNvSpPr/>
          <p:nvPr/>
        </p:nvSpPr>
        <p:spPr>
          <a:xfrm>
            <a:off x="4857750" y="6048375"/>
            <a:ext cx="1657350" cy="238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6299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17441-8C48-4124-9C84-D31A1A58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1200"/>
          </a:xfrm>
        </p:spPr>
        <p:txBody>
          <a:bodyPr/>
          <a:lstStyle/>
          <a:p>
            <a:r>
              <a:rPr lang="fr-FR" dirty="0"/>
              <a:t>Secret … </a:t>
            </a:r>
            <a:r>
              <a:rPr lang="fr-FR" dirty="0" err="1"/>
              <a:t>encoded</a:t>
            </a:r>
            <a:r>
              <a:rPr lang="fr-FR" dirty="0"/>
              <a:t> in base64 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8A0027C-3E3E-42ED-BEDA-2D1F36483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579" y="2171897"/>
            <a:ext cx="4976291" cy="685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06CDFB-2D01-4093-81FA-D05D2C590015}"/>
              </a:ext>
            </a:extLst>
          </p:cNvPr>
          <p:cNvSpPr/>
          <p:nvPr/>
        </p:nvSpPr>
        <p:spPr>
          <a:xfrm>
            <a:off x="2911578" y="2619375"/>
            <a:ext cx="1307997" cy="2383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E65950F-B357-480C-98B0-DB40B716CA67}"/>
              </a:ext>
            </a:extLst>
          </p:cNvPr>
          <p:cNvSpPr txBox="1"/>
          <p:nvPr/>
        </p:nvSpPr>
        <p:spPr>
          <a:xfrm>
            <a:off x="838200" y="13917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echo</a:t>
            </a:r>
            <a:r>
              <a:rPr lang="fr-FR" sz="2400" b="1" dirty="0"/>
              <a:t> -n SGFyYm9yMTIzNDU= | base64 -d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0567234-BFEE-4113-921C-BC83A9549F18}"/>
              </a:ext>
            </a:extLst>
          </p:cNvPr>
          <p:cNvSpPr txBox="1"/>
          <p:nvPr/>
        </p:nvSpPr>
        <p:spPr>
          <a:xfrm>
            <a:off x="847726" y="3352544"/>
            <a:ext cx="11048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kubectl</a:t>
            </a:r>
            <a:r>
              <a:rPr lang="fr-FR" sz="2400" b="1" dirty="0"/>
              <a:t> </a:t>
            </a:r>
            <a:r>
              <a:rPr lang="fr-FR" sz="2400" b="1" dirty="0" err="1"/>
              <a:t>get</a:t>
            </a:r>
            <a:r>
              <a:rPr lang="fr-FR" sz="2400" b="1" dirty="0"/>
              <a:t> secret </a:t>
            </a:r>
            <a:r>
              <a:rPr lang="fr-FR" sz="2400" b="1" dirty="0" err="1"/>
              <a:t>my-harbor-core</a:t>
            </a:r>
            <a:r>
              <a:rPr lang="fr-FR" sz="2400" b="1" dirty="0"/>
              <a:t> -o </a:t>
            </a:r>
            <a:r>
              <a:rPr lang="fr-FR" sz="2400" b="1" dirty="0" err="1"/>
              <a:t>json</a:t>
            </a:r>
            <a:r>
              <a:rPr lang="fr-FR" sz="2400" b="1" dirty="0"/>
              <a:t> | </a:t>
            </a:r>
            <a:r>
              <a:rPr lang="fr-FR" sz="2400" b="1" dirty="0" err="1"/>
              <a:t>jq</a:t>
            </a:r>
            <a:r>
              <a:rPr lang="fr-FR" sz="2400" b="1" dirty="0"/>
              <a:t> -r '.</a:t>
            </a:r>
            <a:r>
              <a:rPr lang="fr-FR" sz="2400" b="1" dirty="0" err="1"/>
              <a:t>data.HARBOR_ADMIN_PASSWORD</a:t>
            </a:r>
            <a:r>
              <a:rPr lang="fr-FR" sz="2400" b="1" dirty="0"/>
              <a:t>'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14D1E86-43AF-4EDE-9AF9-082AC8A99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579" y="4168895"/>
            <a:ext cx="8961897" cy="61727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76E6DB4-6DB9-4972-B5AC-EE196A58A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800" y="5816469"/>
            <a:ext cx="10447925" cy="48010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205A338-0709-407A-9F7F-74B13AE820C1}"/>
              </a:ext>
            </a:extLst>
          </p:cNvPr>
          <p:cNvSpPr txBox="1"/>
          <p:nvPr/>
        </p:nvSpPr>
        <p:spPr>
          <a:xfrm>
            <a:off x="847725" y="5313367"/>
            <a:ext cx="11048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 err="1"/>
              <a:t>kubectl</a:t>
            </a:r>
            <a:r>
              <a:rPr lang="fr-FR" sz="2000" b="1" dirty="0"/>
              <a:t> </a:t>
            </a:r>
            <a:r>
              <a:rPr lang="fr-FR" sz="2000" b="1" dirty="0" err="1"/>
              <a:t>get</a:t>
            </a:r>
            <a:r>
              <a:rPr lang="fr-FR" sz="2000" b="1" dirty="0"/>
              <a:t> secret </a:t>
            </a:r>
            <a:r>
              <a:rPr lang="fr-FR" sz="2000" b="1" dirty="0" err="1"/>
              <a:t>my-harbor-core</a:t>
            </a:r>
            <a:r>
              <a:rPr lang="fr-FR" sz="2000" b="1" dirty="0"/>
              <a:t> -o </a:t>
            </a:r>
            <a:r>
              <a:rPr lang="fr-FR" sz="2000" b="1" dirty="0" err="1"/>
              <a:t>json</a:t>
            </a:r>
            <a:r>
              <a:rPr lang="fr-FR" sz="2000" b="1" dirty="0"/>
              <a:t> | </a:t>
            </a:r>
            <a:r>
              <a:rPr lang="fr-FR" sz="2000" b="1" dirty="0" err="1"/>
              <a:t>jq</a:t>
            </a:r>
            <a:r>
              <a:rPr lang="fr-FR" sz="2000" b="1" dirty="0"/>
              <a:t> -r '.</a:t>
            </a:r>
            <a:r>
              <a:rPr lang="fr-FR" sz="2000" b="1" dirty="0" err="1"/>
              <a:t>data.HARBOR_ADMIN_PASSWORD</a:t>
            </a:r>
            <a:r>
              <a:rPr lang="fr-FR" sz="2000" b="1" dirty="0"/>
              <a:t>' | base64 -i -d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EB6681-D573-4D46-B26D-0467A96282A9}"/>
              </a:ext>
            </a:extLst>
          </p:cNvPr>
          <p:cNvSpPr/>
          <p:nvPr/>
        </p:nvSpPr>
        <p:spPr>
          <a:xfrm>
            <a:off x="2911578" y="4433457"/>
            <a:ext cx="1908071" cy="218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167CB5-7D82-4A08-B15C-714F789CAEBF}"/>
              </a:ext>
            </a:extLst>
          </p:cNvPr>
          <p:cNvSpPr/>
          <p:nvPr/>
        </p:nvSpPr>
        <p:spPr>
          <a:xfrm>
            <a:off x="1448801" y="6071571"/>
            <a:ext cx="1350600" cy="224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2F6DBA-60D5-44C3-91F1-4851CBEAD905}"/>
              </a:ext>
            </a:extLst>
          </p:cNvPr>
          <p:cNvSpPr/>
          <p:nvPr/>
        </p:nvSpPr>
        <p:spPr>
          <a:xfrm>
            <a:off x="4006953" y="2367904"/>
            <a:ext cx="1774722" cy="2514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6994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/>
              <a:t>It Works!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F7736A-83CE-4B3E-9D0C-9CF31928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82" y="791737"/>
            <a:ext cx="8809747" cy="585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916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/>
              <a:t>K9s </a:t>
            </a:r>
            <a:r>
              <a:rPr lang="fr-FR" dirty="0" err="1"/>
              <a:t>pod</a:t>
            </a:r>
            <a:r>
              <a:rPr lang="fr-FR" dirty="0"/>
              <a:t> logs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B82451-8513-48B6-8B2C-10B3E4712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09" y="1817838"/>
            <a:ext cx="10333703" cy="486390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C7E09B3-7CBA-4328-92CD-B15A247781CA}"/>
              </a:ext>
            </a:extLst>
          </p:cNvPr>
          <p:cNvSpPr txBox="1"/>
          <p:nvPr/>
        </p:nvSpPr>
        <p:spPr>
          <a:xfrm>
            <a:off x="356460" y="986841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K9s    :</a:t>
            </a:r>
            <a:r>
              <a:rPr lang="fr-FR" sz="2400" b="1" dirty="0" err="1"/>
              <a:t>pod</a:t>
            </a:r>
            <a:r>
              <a:rPr lang="fr-FR" sz="2400" b="1" dirty="0"/>
              <a:t>  /portal</a:t>
            </a:r>
          </a:p>
          <a:p>
            <a:r>
              <a:rPr lang="fr-FR" sz="2400" b="1" dirty="0"/>
              <a:t>&lt;ENTER&gt;    (container  =&gt; </a:t>
            </a:r>
            <a:r>
              <a:rPr lang="fr-FR" sz="2400" b="1" dirty="0" err="1"/>
              <a:t>child</a:t>
            </a:r>
            <a:r>
              <a:rPr lang="fr-FR" sz="2400" b="1" dirty="0"/>
              <a:t> logs)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EF238D-6A32-421E-8445-EBAE6D7AD342}"/>
              </a:ext>
            </a:extLst>
          </p:cNvPr>
          <p:cNvSpPr txBox="1"/>
          <p:nvPr/>
        </p:nvSpPr>
        <p:spPr>
          <a:xfrm>
            <a:off x="5255342" y="1356173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&lt;ESCAPE&gt; (logs =&gt; parent container)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831366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 err="1"/>
              <a:t>kubectl</a:t>
            </a:r>
            <a:r>
              <a:rPr lang="fr-FR" dirty="0"/>
              <a:t> logs ${</a:t>
            </a:r>
            <a:r>
              <a:rPr lang="fr-FR" dirty="0" err="1"/>
              <a:t>pod</a:t>
            </a:r>
            <a:r>
              <a:rPr lang="fr-FR" dirty="0"/>
              <a:t>}  [–c ${container}]  [-f]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24EB91-ECB9-4D8C-A96E-A17B83515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2" y="2431866"/>
            <a:ext cx="10417443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32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7067A5-0916-4952-A5CF-ED3AB56C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736"/>
          </a:xfrm>
        </p:spPr>
        <p:txBody>
          <a:bodyPr>
            <a:normAutofit/>
          </a:bodyPr>
          <a:lstStyle/>
          <a:p>
            <a:r>
              <a:rPr lang="fr-FR" dirty="0" err="1"/>
              <a:t>Executing</a:t>
            </a:r>
            <a:r>
              <a:rPr lang="fr-FR" dirty="0"/>
              <a:t> Shell </a:t>
            </a:r>
            <a:r>
              <a:rPr lang="fr-FR" dirty="0" err="1"/>
              <a:t>inside</a:t>
            </a:r>
            <a:r>
              <a:rPr lang="fr-FR" dirty="0"/>
              <a:t> </a:t>
            </a:r>
            <a:r>
              <a:rPr lang="fr-FR" dirty="0" err="1"/>
              <a:t>Pod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729D3E-FC1F-48AD-B0CA-2F74DD1A8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112" y="3927424"/>
            <a:ext cx="9801775" cy="222113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371416A-D72A-440A-AFD9-927D74FFB6F0}"/>
              </a:ext>
            </a:extLst>
          </p:cNvPr>
          <p:cNvSpPr txBox="1"/>
          <p:nvPr/>
        </p:nvSpPr>
        <p:spPr>
          <a:xfrm>
            <a:off x="1008089" y="2694325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Equivalent </a:t>
            </a:r>
            <a:r>
              <a:rPr lang="fr-FR" sz="2400" dirty="0" err="1"/>
              <a:t>kubectl</a:t>
            </a:r>
            <a:r>
              <a:rPr lang="fr-FR" sz="2400" dirty="0"/>
              <a:t>:</a:t>
            </a:r>
          </a:p>
          <a:p>
            <a:r>
              <a:rPr lang="fr-FR" sz="2400" b="1" dirty="0" err="1"/>
              <a:t>kubectl</a:t>
            </a:r>
            <a:r>
              <a:rPr lang="fr-FR" sz="2400" b="1" dirty="0"/>
              <a:t>  </a:t>
            </a:r>
            <a:r>
              <a:rPr lang="fr-FR" sz="2400" b="1" dirty="0" err="1"/>
              <a:t>exec</a:t>
            </a:r>
            <a:r>
              <a:rPr lang="fr-FR" sz="2400" b="1" dirty="0"/>
              <a:t> -</a:t>
            </a:r>
            <a:r>
              <a:rPr lang="fr-FR" sz="2400" b="1" dirty="0" err="1"/>
              <a:t>it</a:t>
            </a:r>
            <a:r>
              <a:rPr lang="fr-FR" sz="2400" b="1" dirty="0"/>
              <a:t>   </a:t>
            </a:r>
            <a:r>
              <a:rPr lang="fr-FR" sz="2400" b="1" dirty="0" err="1"/>
              <a:t>my</a:t>
            </a:r>
            <a:r>
              <a:rPr lang="fr-FR" sz="2400" b="1" dirty="0"/>
              <a:t>-</a:t>
            </a:r>
            <a:r>
              <a:rPr lang="fr-FR" sz="2400" b="1" dirty="0" err="1"/>
              <a:t>harbor</a:t>
            </a:r>
            <a:r>
              <a:rPr lang="fr-FR" sz="2400" b="1" dirty="0"/>
              <a:t>-portal  /bin/sh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AA516DB-0BC0-401A-95FF-88005693919F}"/>
              </a:ext>
            </a:extLst>
          </p:cNvPr>
          <p:cNvSpPr txBox="1"/>
          <p:nvPr/>
        </p:nvSpPr>
        <p:spPr>
          <a:xfrm>
            <a:off x="1008089" y="1257306"/>
            <a:ext cx="609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K9s    :</a:t>
            </a:r>
            <a:r>
              <a:rPr lang="fr-FR" sz="2400" b="1" dirty="0" err="1"/>
              <a:t>pod</a:t>
            </a:r>
            <a:r>
              <a:rPr lang="fr-FR" sz="2400" b="1" dirty="0"/>
              <a:t>  /portal</a:t>
            </a:r>
          </a:p>
          <a:p>
            <a:r>
              <a:rPr lang="fr-FR" sz="2400" b="1" dirty="0"/>
              <a:t>&lt;s&gt;   (=</a:t>
            </a:r>
            <a:r>
              <a:rPr lang="fr-FR" sz="2400" b="1" dirty="0" err="1"/>
              <a:t>shell</a:t>
            </a:r>
            <a:r>
              <a:rPr lang="fr-FR" sz="2400" b="1" dirty="0"/>
              <a:t>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F62A549-BFCB-4057-B182-4A68EC247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954" y="973392"/>
            <a:ext cx="6779942" cy="15392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6315E4C-E25D-4788-9933-6F1AD960B8C3}"/>
              </a:ext>
            </a:extLst>
          </p:cNvPr>
          <p:cNvSpPr/>
          <p:nvPr/>
        </p:nvSpPr>
        <p:spPr>
          <a:xfrm>
            <a:off x="7883334" y="2088303"/>
            <a:ext cx="2160318" cy="36537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CE49D6-0143-42FF-8C3D-38C474404238}"/>
              </a:ext>
            </a:extLst>
          </p:cNvPr>
          <p:cNvSpPr/>
          <p:nvPr/>
        </p:nvSpPr>
        <p:spPr>
          <a:xfrm>
            <a:off x="3375244" y="4940077"/>
            <a:ext cx="592072" cy="31035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6584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44BC2-5A45-49B6-AA6F-8155C735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41A7548-D26A-40F8-8BD8-6B43C08C1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-66675"/>
            <a:ext cx="6915150" cy="691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3199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2199</Words>
  <Application>Microsoft Office PowerPoint</Application>
  <PresentationFormat>Grand écran</PresentationFormat>
  <Paragraphs>255</Paragraphs>
  <Slides>86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86</vt:i4>
      </vt:variant>
    </vt:vector>
  </HeadingPairs>
  <TitlesOfParts>
    <vt:vector size="90" baseType="lpstr">
      <vt:lpstr>Arial</vt:lpstr>
      <vt:lpstr>Calibri</vt:lpstr>
      <vt:lpstr>Calibri Light</vt:lpstr>
      <vt:lpstr>Thème Office</vt:lpstr>
      <vt:lpstr>Workshop Kubernetes + Helm + K9s  practice on Harbor Install(s) ( vs Docker-Compose )</vt:lpstr>
      <vt:lpstr>Outline</vt:lpstr>
      <vt:lpstr>Discover Harbor</vt:lpstr>
      <vt:lpstr>Discover Harbor (web site) https://https://goharbor.io/ </vt:lpstr>
      <vt:lpstr>Discover Harbor (source code) https://github.com/goharbor/harbor </vt:lpstr>
      <vt:lpstr>https://https://goharbor.io/    Getting Started</vt:lpstr>
      <vt:lpstr>3 officials Ways to install: 1/ Local Offline Installer (=&gt; Docker Compose) 2/ Local Online Installer (=&gt; Docker Compose) 3/ K8s + Helm</vt:lpstr>
      <vt:lpstr>Why Installing Harbor?</vt:lpstr>
      <vt:lpstr>Spoiler Alert: Modern Install  = easy commands in 3 lines</vt:lpstr>
      <vt:lpstr>In theory …. That’s All Folks</vt:lpstr>
      <vt:lpstr>a little detour into the past … Installing the old style </vt:lpstr>
      <vt:lpstr>Using Releases - Installer https://github.com/goharbor/harbor/releases </vt:lpstr>
      <vt:lpstr>Donwload Online/Offline Installer https://goharbor.io/docs/2.14.0/install-config/download-installer/ </vt:lpstr>
      <vt:lpstr>Linux/Wsl Install.sh</vt:lpstr>
      <vt:lpstr>Generate OpenSSL Certificate</vt:lpstr>
      <vt:lpstr>Edit file  harbor.yml</vt:lpstr>
      <vt:lpstr>sudo  ./install.sh  --with-trivy</vt:lpstr>
      <vt:lpstr>Install =&gt; docker compose up -d</vt:lpstr>
      <vt:lpstr>https://localhost:443/harbor Proceed Unsafe (self-signed certificate)  </vt:lpstr>
      <vt:lpstr>Login:  admin / Harbor12345</vt:lpstr>
      <vt:lpstr>See Config  « admin » / « Harbor12345 »</vt:lpstr>
      <vt:lpstr>It Works !</vt:lpstr>
      <vt:lpstr>But How Deceptive !!</vt:lpstr>
      <vt:lpstr>Better Install Using  Kubernetes + Helm  using  Linux | Windows WSL &gt; Kind … with teminal Shell command lines (see also next alternative, using Podman GUI)</vt:lpstr>
      <vt:lpstr>Linux vs « WSL »   …  Kubernetes « Kind » ? </vt:lpstr>
      <vt:lpstr>Windows &gt; WSL &gt; Docker Linux &gt; Docker</vt:lpstr>
      <vt:lpstr>WSL &gt; test Docker</vt:lpstr>
      <vt:lpstr>(WSL | Linux) &gt;  sudo apt-get install kind kubectl kind create cluster</vt:lpstr>
      <vt:lpstr>Having   « Too Many Open Files » …  ??</vt:lpstr>
      <vt:lpstr>Test Kubectl</vt:lpstr>
      <vt:lpstr>Install Helm https://helm.sh/docs/intro/install/ </vt:lpstr>
      <vt:lpstr>Alternative for WSL (+ Kind) … Using Podman (+ Kind)</vt:lpstr>
      <vt:lpstr>Install Podman https://podman.io </vt:lpstr>
      <vt:lpstr>Podman &gt; Create « Podman Machine »</vt:lpstr>
      <vt:lpstr>alias docker=podman</vt:lpstr>
      <vt:lpstr>Step 2: Podman &gt; Create Kind cluster</vt:lpstr>
      <vt:lpstr>Wait ~3 minutes</vt:lpstr>
      <vt:lpstr>Podman Settings &gt; Kind &gt;  RUNNING</vt:lpstr>
      <vt:lpstr>Configure podman with your Dockerhub account</vt:lpstr>
      <vt:lpstr>Installing Harbor using K8s + Helm</vt:lpstr>
      <vt:lpstr>Helm Chart for Harbor https://github.com/goharbor/harbor-helm </vt:lpstr>
      <vt:lpstr>(optional) Kubectl create namespace</vt:lpstr>
      <vt:lpstr>(optional) Kubeconfig… set default namespace</vt:lpstr>
      <vt:lpstr>in Terminal:   helm repo add</vt:lpstr>
      <vt:lpstr>Helm install</vt:lpstr>
      <vt:lpstr>Helm get all    (  helm install --dry-run)</vt:lpstr>
      <vt:lpstr>Kubectl    …   WAIT ~5 minutes (Image Pull)….</vt:lpstr>
      <vt:lpstr>Check… kubectl get all</vt:lpstr>
      <vt:lpstr>… WAIT ~5 minutes …</vt:lpstr>
      <vt:lpstr>WAIT  ~5 minutes…</vt:lpstr>
      <vt:lpstr>All pods  RUNNING ,  Deployment 1/1 READY</vt:lpstr>
      <vt:lpstr>Still Waiting … Install K9s  (command line) https://k9scli.io/ </vt:lpstr>
      <vt:lpstr>Install K9S on Windows</vt:lpstr>
      <vt:lpstr>Install K9S on Windows</vt:lpstr>
      <vt:lpstr>(On Linux) … Install k9s</vt:lpstr>
      <vt:lpstr>In terminal, type « K9s »</vt:lpstr>
      <vt:lpstr>Helm Installed + Installed Tools « k9s »  …  Now Struggle with K8s  internals understand / connect to « http://host:port »</vt:lpstr>
      <vt:lpstr>kubectl get ingress</vt:lpstr>
      <vt:lpstr>http://localhost:80/harbor    =&gt; Connection Refused  (= bad port number)</vt:lpstr>
      <vt:lpstr>From Podman … Port 8080 on Localhost ?? Give 404  Page Not Found ?!</vt:lpstr>
      <vt:lpstr>Podman machine … doing mapping of port !  localhost:9090   -&gt;   podman machine  80  (http) localhost:9443   -&gt;  podman machine 443 (https)</vt:lpstr>
      <vt:lpstr>Curl http://localhost:9090/  =&gt;  request with http Header         for virtual  Host=« localhost:9090»</vt:lpstr>
      <vt:lpstr>http://localhost:9090/    … 404 NOT_FOUND</vt:lpstr>
      <vt:lpstr>Using curl http://localhost:9090 + forcing http Header for virtual Host « core.harbor.domain »</vt:lpstr>
      <vt:lpstr>Using curl https://localhost:9443 + forcing http Header for virtual Host « core.harbor.domain »</vt:lpstr>
      <vt:lpstr>DNS Hostname  « core.harbor.domain » … expecting localhost IP</vt:lpstr>
      <vt:lpstr>Edit as Admin  C:\Windows\System32\drivers\etc\hosts</vt:lpstr>
      <vt:lpstr>Check nslookup??   curl</vt:lpstr>
      <vt:lpstr>http://core.harbor.domain:9090/ </vt:lpstr>
      <vt:lpstr>Other possibility… change ingress yaml to expose on hostname: localhost</vt:lpstr>
      <vt:lpstr>Other Work-Around Alternative for  Host:Port  … using Port-Forward !</vt:lpstr>
      <vt:lpstr>Find service « portal » … exposing port 8080</vt:lpstr>
      <vt:lpstr>Service details</vt:lpstr>
      <vt:lpstr>Find pod exposing the « portal »  web app</vt:lpstr>
      <vt:lpstr>Port-Forward  8080:8080</vt:lpstr>
      <vt:lpstr>Port Forward Activated</vt:lpstr>
      <vt:lpstr>Port-Forward:  Activated &lt;-&gt; Stopped if stopping k9s !</vt:lpstr>
      <vt:lpstr>Equivalent command: kubectl port-forward</vt:lpstr>
      <vt:lpstr>http://localhost:8080/harbor</vt:lpstr>
      <vt:lpstr>Guessing Login / Password… in k8s secret</vt:lpstr>
      <vt:lpstr>Secret … encoded in base64 !</vt:lpstr>
      <vt:lpstr>It Works! </vt:lpstr>
      <vt:lpstr>K9s pod logs</vt:lpstr>
      <vt:lpstr>kubectl logs ${pod}  [–c ${container}]  [-f]</vt:lpstr>
      <vt:lpstr>Executing Shell inside Pod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Harbor</dc:title>
  <dc:creator>arnaud</dc:creator>
  <cp:lastModifiedBy>arnaud</cp:lastModifiedBy>
  <cp:revision>69</cp:revision>
  <dcterms:created xsi:type="dcterms:W3CDTF">2026-03-14T14:06:29Z</dcterms:created>
  <dcterms:modified xsi:type="dcterms:W3CDTF">2026-03-15T23:19:08Z</dcterms:modified>
</cp:coreProperties>
</file>