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68" r:id="rId6"/>
    <p:sldId id="267" r:id="rId7"/>
    <p:sldId id="269" r:id="rId8"/>
    <p:sldId id="259" r:id="rId9"/>
    <p:sldId id="272" r:id="rId10"/>
    <p:sldId id="282" r:id="rId11"/>
    <p:sldId id="270" r:id="rId12"/>
    <p:sldId id="271" r:id="rId13"/>
    <p:sldId id="273" r:id="rId14"/>
    <p:sldId id="260" r:id="rId15"/>
    <p:sldId id="284" r:id="rId16"/>
    <p:sldId id="261" r:id="rId17"/>
    <p:sldId id="262" r:id="rId18"/>
    <p:sldId id="274" r:id="rId19"/>
    <p:sldId id="265" r:id="rId20"/>
    <p:sldId id="276" r:id="rId21"/>
    <p:sldId id="277" r:id="rId22"/>
    <p:sldId id="278" r:id="rId23"/>
    <p:sldId id="279" r:id="rId24"/>
    <p:sldId id="280" r:id="rId25"/>
    <p:sldId id="281" r:id="rId26"/>
    <p:sldId id="275" r:id="rId27"/>
    <p:sldId id="263" r:id="rId28"/>
    <p:sldId id="283" r:id="rId29"/>
    <p:sldId id="264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6" y="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9E61E-24BC-907B-EE78-0CBBA4E82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1F46C-72F1-9FCF-E788-293145623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1B9C7-C067-322E-C44A-29C6D5AEA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EF2CB-837B-4387-A0FB-31C1D04DA30F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23C91-B203-4298-B124-9AA1994D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C597-4FEC-82F6-C195-87172220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3C90B-B0C1-49A8-AAAF-A461FF516B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586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264F-A21A-2381-DD14-37C062FC4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0F847-9F83-EE7A-D3B8-E8EBE4326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5BF7C-9D0A-1E66-3DD6-F775E72B2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EF2CB-837B-4387-A0FB-31C1D04DA30F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1CA1C-123E-E039-CD66-453B5AB83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711D1-2C92-1B76-D4B3-45C502F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3C90B-B0C1-49A8-AAAF-A461FF516B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4551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D210C-4573-1351-512A-31E5B1BE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27513-A997-7230-3B39-EE5E95B50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3F962-3477-9FDF-9D21-89DBA88C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EF2CB-837B-4387-A0FB-31C1D04DA30F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DCA9B-5721-F14D-F5B4-993AAAF69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E04BF-1429-C223-224F-689E194B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3C90B-B0C1-49A8-AAAF-A461FF516B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41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39757-4703-EF2B-B40D-C19D6392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1EF12-6A82-AF67-3F1B-93A757846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ADA64-3BE5-F646-635A-C23FC3DB1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F41EE-6C3E-086C-F887-134AFC80D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EF2CB-837B-4387-A0FB-31C1D04DA30F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E3EB-FAF0-EA54-C94E-2BB6CE4E9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1B601-474A-3168-95E1-466E4DCCC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3C90B-B0C1-49A8-AAAF-A461FF516B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179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D0E2-25DA-D0F3-8763-FC1AAB2AB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722B0-99C3-0488-D917-7475DF617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24D32-AF3B-D071-63A7-662C89124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19340-D4F7-353C-F8F3-BDA6DB940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A72767-A6FE-AD70-F6C9-AD0CDDBC8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53B197-C7E0-04B0-E09A-106E4F856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EF2CB-837B-4387-A0FB-31C1D04DA30F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0F3ECA-CAD5-77AE-1CBD-A1EA0F837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5E68DB-E547-762E-50E9-ED7CB316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3C90B-B0C1-49A8-AAAF-A461FF516B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2172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8CD75-E691-117B-B3EB-3D87F1F8C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B61DF-B7AF-59FB-C7E5-9408E3718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EF2CB-837B-4387-A0FB-31C1D04DA30F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E0CB9-C11D-7855-48F9-89BDA5B69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4D7E9-E5DB-7B19-AA2F-945A18AD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3C90B-B0C1-49A8-AAAF-A461FF516B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558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83BE20-00B8-ED7A-4183-A80849569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EF2CB-837B-4387-A0FB-31C1D04DA30F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A7330-EC10-2896-ABAB-A32E7EB0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1F421-FFDF-FF53-2B89-324449E9C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3C90B-B0C1-49A8-AAAF-A461FF516B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2335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53613-A27F-5871-C10D-7B8273819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66B06-EB6E-AE1A-9DCB-52AD8B69C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88887-76A5-4E4D-8B9A-F5D70FF8F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00AEF-B977-AAF6-C3C9-61DFB0E5C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EF2CB-837B-4387-A0FB-31C1D04DA30F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8F6BA-8CC5-8288-2892-BD16179E4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4266C-E910-2620-3AAA-5FC06ACAB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3C90B-B0C1-49A8-AAAF-A461FF516B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3390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2A736-5326-CFFA-57B8-94F3381B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BFFC8-9FC4-F024-041F-B21109BACB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8B422-CCA0-7FC6-311A-42DC56AF1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9F205-3FCC-9537-53EA-A6563E259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EF2CB-837B-4387-A0FB-31C1D04DA30F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4234A-AB68-0890-3A31-7535DD6C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E01F6-0A3B-6B76-6537-511949DD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3C90B-B0C1-49A8-AAAF-A461FF516B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085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77B7-B402-172A-91CE-E3B48C4E9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BA5C0-AC39-04F1-8E04-8FF32D66B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9957A-6F44-A709-B7A6-7A90B96B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EF2CB-837B-4387-A0FB-31C1D04DA30F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6813C-429C-C25C-2598-DD5A584EA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93D13-D892-E3E0-6566-8BD60F318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3C90B-B0C1-49A8-AAAF-A461FF516B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338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1186AB-A3BE-79AA-70F9-AF77A7A31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D98A9-E84E-AB2D-8835-01849FAF0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603AC-F477-E46E-F5C6-CD484AE9E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EF2CB-837B-4387-A0FB-31C1D04DA30F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73630-E65E-1518-8CCB-83FB382F5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496FE-5957-4A71-2A8E-DD4C21796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3C90B-B0C1-49A8-AAAF-A461FF516B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168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9D3947-7145-76C9-361B-377C7B34F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3650D-8BDF-76E0-FA5F-562DA826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51EE4-A9DB-F870-94F0-DE20F90201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EF2CB-837B-4387-A0FB-31C1D04DA30F}" type="datetimeFigureOut">
              <a:rPr lang="fr-FR" smtClean="0"/>
              <a:t>24/02/2026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ACC58-EF88-F0F3-DC95-22D6AB7D8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32131-C340-5BDF-41DB-CE2DCBB87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3C90B-B0C1-49A8-AAAF-A461FF516B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0954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D888-0004-C87C-84CA-71A73AAE2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956" y="392624"/>
            <a:ext cx="11386087" cy="2515071"/>
          </a:xfrm>
        </p:spPr>
        <p:txBody>
          <a:bodyPr/>
          <a:lstStyle/>
          <a:p>
            <a:r>
              <a:rPr lang="fr-FR" dirty="0"/>
              <a:t>Security - Hands-On 4</a:t>
            </a:r>
            <a:br>
              <a:rPr lang="fr-FR" dirty="0"/>
            </a:br>
            <a:r>
              <a:rPr lang="fr-FR" dirty="0" err="1"/>
              <a:t>Cryptography</a:t>
            </a:r>
            <a:br>
              <a:rPr lang="fr-FR" dirty="0"/>
            </a:br>
            <a:r>
              <a:rPr lang="fr-FR" dirty="0"/>
              <a:t>Prime Numbers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E337D-0BB6-2AD7-710F-7B91CCECF6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err="1"/>
              <a:t>Esilv</a:t>
            </a:r>
            <a:r>
              <a:rPr lang="fr-FR" dirty="0"/>
              <a:t> 2026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arnaud.nauwynck@gmail.com</a:t>
            </a:r>
          </a:p>
        </p:txBody>
      </p:sp>
    </p:spTree>
    <p:extLst>
      <p:ext uri="{BB962C8B-B14F-4D97-AF65-F5344CB8AC3E}">
        <p14:creationId xmlns:p14="http://schemas.microsoft.com/office/powerpoint/2010/main" val="5671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93BAE-89E7-4984-D0D7-A0012909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Study</a:t>
            </a:r>
            <a:r>
              <a:rPr lang="fr-FR" dirty="0"/>
              <a:t> on Prime-</a:t>
            </a:r>
            <a:r>
              <a:rPr lang="fr-FR" dirty="0" err="1"/>
              <a:t>Number</a:t>
            </a:r>
            <a:br>
              <a:rPr lang="fr-FR" dirty="0"/>
            </a:br>
            <a:r>
              <a:rPr lang="fr-FR" dirty="0"/>
              <a:t>... java code </a:t>
            </a:r>
            <a:r>
              <a:rPr lang="fr-FR" dirty="0" err="1"/>
              <a:t>snippets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8967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C20C0-D2E5-2A10-47CB-F542D0917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1: </a:t>
            </a:r>
            <a:r>
              <a:rPr lang="fr-FR" dirty="0" err="1"/>
              <a:t>Create</a:t>
            </a:r>
            <a:r>
              <a:rPr lang="fr-FR" dirty="0"/>
              <a:t> a new Java (Maven)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99D3F7-9533-20E7-8C96-17E734268231}"/>
              </a:ext>
            </a:extLst>
          </p:cNvPr>
          <p:cNvSpPr txBox="1"/>
          <p:nvPr/>
        </p:nvSpPr>
        <p:spPr>
          <a:xfrm>
            <a:off x="4602996" y="2107769"/>
            <a:ext cx="456503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 &lt;</a:t>
            </a:r>
            <a:r>
              <a:rPr lang="fr-FR" dirty="0" err="1"/>
              <a:t>dependencies</a:t>
            </a:r>
            <a:r>
              <a:rPr lang="fr-FR" dirty="0"/>
              <a:t>&gt;</a:t>
            </a:r>
          </a:p>
          <a:p>
            <a:r>
              <a:rPr lang="fr-FR" dirty="0"/>
              <a:t>        &lt;</a:t>
            </a:r>
            <a:r>
              <a:rPr lang="fr-FR" dirty="0" err="1"/>
              <a:t>dependency</a:t>
            </a:r>
            <a:r>
              <a:rPr lang="fr-FR" dirty="0"/>
              <a:t>&gt;</a:t>
            </a:r>
          </a:p>
          <a:p>
            <a:r>
              <a:rPr lang="fr-FR" dirty="0"/>
              <a:t>            &lt;</a:t>
            </a:r>
            <a:r>
              <a:rPr lang="fr-FR" dirty="0" err="1"/>
              <a:t>groupId</a:t>
            </a:r>
            <a:r>
              <a:rPr lang="fr-FR" dirty="0"/>
              <a:t>&gt;</a:t>
            </a:r>
            <a:r>
              <a:rPr lang="fr-FR" dirty="0" err="1"/>
              <a:t>org.projectlombok</a:t>
            </a:r>
            <a:r>
              <a:rPr lang="fr-FR" dirty="0"/>
              <a:t>&lt;/</a:t>
            </a:r>
            <a:r>
              <a:rPr lang="fr-FR" dirty="0" err="1"/>
              <a:t>groupId</a:t>
            </a:r>
            <a:r>
              <a:rPr lang="fr-FR" dirty="0"/>
              <a:t>&gt;</a:t>
            </a:r>
          </a:p>
          <a:p>
            <a:r>
              <a:rPr lang="fr-FR" dirty="0"/>
              <a:t>            &lt;</a:t>
            </a:r>
            <a:r>
              <a:rPr lang="fr-FR" dirty="0" err="1"/>
              <a:t>artifactId</a:t>
            </a:r>
            <a:r>
              <a:rPr lang="fr-FR" dirty="0"/>
              <a:t>&gt;</a:t>
            </a:r>
            <a:r>
              <a:rPr lang="fr-FR" dirty="0" err="1"/>
              <a:t>lombok</a:t>
            </a:r>
            <a:r>
              <a:rPr lang="fr-FR" dirty="0"/>
              <a:t>&lt;/</a:t>
            </a:r>
            <a:r>
              <a:rPr lang="fr-FR" dirty="0" err="1"/>
              <a:t>artifactId</a:t>
            </a:r>
            <a:r>
              <a:rPr lang="fr-FR" dirty="0"/>
              <a:t>&gt;</a:t>
            </a:r>
          </a:p>
          <a:p>
            <a:r>
              <a:rPr lang="fr-FR" dirty="0"/>
              <a:t>            &lt;version&gt;1.18.36&lt;/version&gt;</a:t>
            </a:r>
          </a:p>
          <a:p>
            <a:r>
              <a:rPr lang="fr-FR" dirty="0"/>
              <a:t>            &lt;scope&gt;</a:t>
            </a:r>
            <a:r>
              <a:rPr lang="fr-FR" dirty="0" err="1"/>
              <a:t>provided</a:t>
            </a:r>
            <a:r>
              <a:rPr lang="fr-FR" dirty="0"/>
              <a:t>&lt;/scope&gt;</a:t>
            </a:r>
          </a:p>
          <a:p>
            <a:r>
              <a:rPr lang="fr-FR" dirty="0"/>
              <a:t>        &lt;/</a:t>
            </a:r>
            <a:r>
              <a:rPr lang="fr-FR" dirty="0" err="1"/>
              <a:t>dependency</a:t>
            </a:r>
            <a:r>
              <a:rPr lang="fr-FR" dirty="0"/>
              <a:t>&gt;</a:t>
            </a:r>
          </a:p>
          <a:p>
            <a:endParaRPr lang="fr-FR" dirty="0"/>
          </a:p>
          <a:p>
            <a:r>
              <a:rPr lang="fr-FR" dirty="0"/>
              <a:t>        &lt;</a:t>
            </a:r>
            <a:r>
              <a:rPr lang="fr-FR" dirty="0" err="1"/>
              <a:t>dependency</a:t>
            </a:r>
            <a:r>
              <a:rPr lang="fr-FR" dirty="0"/>
              <a:t>&gt;</a:t>
            </a:r>
          </a:p>
          <a:p>
            <a:r>
              <a:rPr lang="fr-FR" dirty="0"/>
              <a:t>            &lt;</a:t>
            </a:r>
            <a:r>
              <a:rPr lang="fr-FR" dirty="0" err="1"/>
              <a:t>artifactId</a:t>
            </a:r>
            <a:r>
              <a:rPr lang="fr-FR" dirty="0"/>
              <a:t>&gt;</a:t>
            </a:r>
            <a:r>
              <a:rPr lang="fr-FR" dirty="0" err="1"/>
              <a:t>junit</a:t>
            </a:r>
            <a:r>
              <a:rPr lang="fr-FR" dirty="0"/>
              <a:t>&lt;/</a:t>
            </a:r>
            <a:r>
              <a:rPr lang="fr-FR" dirty="0" err="1"/>
              <a:t>artifactId</a:t>
            </a:r>
            <a:r>
              <a:rPr lang="fr-FR" dirty="0"/>
              <a:t>&gt;</a:t>
            </a:r>
          </a:p>
          <a:p>
            <a:r>
              <a:rPr lang="fr-FR" dirty="0"/>
              <a:t>            &lt;</a:t>
            </a:r>
            <a:r>
              <a:rPr lang="fr-FR" dirty="0" err="1"/>
              <a:t>groupId</a:t>
            </a:r>
            <a:r>
              <a:rPr lang="fr-FR" dirty="0"/>
              <a:t>&gt;</a:t>
            </a:r>
            <a:r>
              <a:rPr lang="fr-FR" dirty="0" err="1"/>
              <a:t>junit</a:t>
            </a:r>
            <a:r>
              <a:rPr lang="fr-FR" dirty="0"/>
              <a:t>&lt;/</a:t>
            </a:r>
            <a:r>
              <a:rPr lang="fr-FR" dirty="0" err="1"/>
              <a:t>groupId</a:t>
            </a:r>
            <a:r>
              <a:rPr lang="fr-FR" dirty="0"/>
              <a:t>&gt;</a:t>
            </a:r>
          </a:p>
          <a:p>
            <a:r>
              <a:rPr lang="fr-FR" dirty="0"/>
              <a:t>            &lt;version&gt;4.13.2&lt;/version&gt;</a:t>
            </a:r>
          </a:p>
          <a:p>
            <a:r>
              <a:rPr lang="fr-FR" dirty="0"/>
              <a:t>            &lt;scope&gt;test&lt;/scope&gt;</a:t>
            </a:r>
          </a:p>
          <a:p>
            <a:r>
              <a:rPr lang="fr-FR" dirty="0"/>
              <a:t>        &lt;/</a:t>
            </a:r>
            <a:r>
              <a:rPr lang="fr-FR" dirty="0" err="1"/>
              <a:t>dependency</a:t>
            </a:r>
            <a:r>
              <a:rPr lang="fr-FR" dirty="0"/>
              <a:t>&gt;</a:t>
            </a:r>
          </a:p>
          <a:p>
            <a:r>
              <a:rPr lang="fr-FR" dirty="0"/>
              <a:t>    &lt;/</a:t>
            </a:r>
            <a:r>
              <a:rPr lang="fr-FR" dirty="0" err="1"/>
              <a:t>dependencies</a:t>
            </a:r>
            <a:r>
              <a:rPr lang="fr-FR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8E0EE-3F6F-339E-663A-67225E23109F}"/>
              </a:ext>
            </a:extLst>
          </p:cNvPr>
          <p:cNvSpPr txBox="1"/>
          <p:nvPr/>
        </p:nvSpPr>
        <p:spPr>
          <a:xfrm>
            <a:off x="1312190" y="3714427"/>
            <a:ext cx="3068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typical</a:t>
            </a:r>
            <a:r>
              <a:rPr lang="fr-FR" dirty="0"/>
              <a:t> </a:t>
            </a:r>
            <a:r>
              <a:rPr lang="fr-FR" dirty="0" err="1"/>
              <a:t>dependencies</a:t>
            </a:r>
            <a:r>
              <a:rPr lang="fr-FR" dirty="0"/>
              <a:t> to use</a:t>
            </a:r>
          </a:p>
          <a:p>
            <a:r>
              <a:rPr lang="fr-FR" dirty="0"/>
              <a:t>in pom.xml &lt;</a:t>
            </a:r>
            <a:r>
              <a:rPr lang="fr-FR" dirty="0" err="1"/>
              <a:t>dependencies</a:t>
            </a:r>
            <a:r>
              <a:rPr lang="fr-FR" dirty="0"/>
              <a:t>&gt;:</a:t>
            </a:r>
          </a:p>
        </p:txBody>
      </p:sp>
    </p:spTree>
    <p:extLst>
      <p:ext uri="{BB962C8B-B14F-4D97-AF65-F5344CB8AC3E}">
        <p14:creationId xmlns:p14="http://schemas.microsoft.com/office/powerpoint/2010/main" val="147097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D38F6-2DF7-E87D-2D09-7B6B3883A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Ex1: </a:t>
            </a:r>
            <a:r>
              <a:rPr lang="fr-FR" dirty="0" err="1"/>
              <a:t>Print</a:t>
            </a:r>
            <a:r>
              <a:rPr lang="fr-FR" dirty="0"/>
              <a:t> </a:t>
            </a:r>
            <a:r>
              <a:rPr lang="fr-FR" dirty="0" err="1"/>
              <a:t>consecutive</a:t>
            </a:r>
            <a:r>
              <a:rPr lang="fr-FR" dirty="0"/>
              <a:t> </a:t>
            </a:r>
            <a:r>
              <a:rPr lang="fr-FR" dirty="0" err="1"/>
              <a:t>powers</a:t>
            </a:r>
            <a:r>
              <a:rPr lang="fr-FR" dirty="0"/>
              <a:t> of a </a:t>
            </a:r>
            <a:r>
              <a:rPr lang="fr-FR" dirty="0" err="1"/>
              <a:t>number</a:t>
            </a:r>
            <a:r>
              <a:rPr lang="fr-FR" dirty="0"/>
              <a:t>,</a:t>
            </a:r>
            <a:br>
              <a:rPr lang="fr-FR" dirty="0"/>
            </a:br>
            <a:r>
              <a:rPr lang="fr-FR" dirty="0"/>
              <a:t>modulo a prime </a:t>
            </a:r>
            <a:r>
              <a:rPr lang="fr-FR" dirty="0" err="1"/>
              <a:t>number</a:t>
            </a:r>
            <a:r>
              <a:rPr lang="fr-FR" dirty="0"/>
              <a:t> (ex: 101)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07C5A-BBDA-890B-AFF9-33D3CADC5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64189"/>
            <a:ext cx="10515600" cy="3612773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display the p first power values modulo P, for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element</a:t>
            </a:r>
            <a:r>
              <a:rPr lang="fr-FR" dirty="0"/>
              <a:t> "i"</a:t>
            </a:r>
            <a:br>
              <a:rPr lang="fr-FR" dirty="0"/>
            </a:br>
            <a:r>
              <a:rPr lang="fr-FR" dirty="0"/>
              <a:t>( </a:t>
            </a:r>
            <a:r>
              <a:rPr lang="fr-FR" dirty="0" err="1"/>
              <a:t>warn</a:t>
            </a:r>
            <a:r>
              <a:rPr lang="fr-FR" dirty="0"/>
              <a:t> to </a:t>
            </a:r>
            <a:r>
              <a:rPr lang="fr-FR" dirty="0" err="1"/>
              <a:t>overflow</a:t>
            </a:r>
            <a:r>
              <a:rPr lang="fr-FR" dirty="0"/>
              <a:t>, use modulo </a:t>
            </a:r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multiply</a:t>
            </a:r>
            <a:r>
              <a:rPr lang="fr-FR" dirty="0"/>
              <a:t> )</a:t>
            </a:r>
            <a:br>
              <a:rPr lang="fr-FR" dirty="0"/>
            </a:br>
            <a:endParaRPr lang="fr-FR" dirty="0"/>
          </a:p>
          <a:p>
            <a:r>
              <a:rPr lang="fr-FR" dirty="0"/>
              <a:t>2, 2^2%p, 2^3%p, 2^4%p ...  2^p%p</a:t>
            </a:r>
          </a:p>
          <a:p>
            <a:r>
              <a:rPr lang="fr-FR" dirty="0"/>
              <a:t>3, 3^2%p, 3^3%p, 3^4%p  ...  3^p%p</a:t>
            </a:r>
          </a:p>
          <a:p>
            <a:r>
              <a:rPr lang="fr-FR" dirty="0"/>
              <a:t>...</a:t>
            </a:r>
          </a:p>
          <a:p>
            <a:r>
              <a:rPr lang="fr-FR" dirty="0"/>
              <a:t>p-1,  (p-1)^2, (p-1)^3, ...(p-1)^p%p</a:t>
            </a:r>
          </a:p>
        </p:txBody>
      </p:sp>
    </p:spTree>
    <p:extLst>
      <p:ext uri="{BB962C8B-B14F-4D97-AF65-F5344CB8AC3E}">
        <p14:creationId xmlns:p14="http://schemas.microsoft.com/office/powerpoint/2010/main" val="178790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29DF9-7852-B62B-DA6B-164DEC6F8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512"/>
            <a:ext cx="10515600" cy="223859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Run </a:t>
            </a:r>
            <a:r>
              <a:rPr lang="fr-FR" dirty="0" err="1"/>
              <a:t>several</a:t>
            </a:r>
            <a:r>
              <a:rPr lang="fr-FR" dirty="0"/>
              <a:t> </a:t>
            </a:r>
            <a:r>
              <a:rPr lang="fr-FR" dirty="0" err="1"/>
              <a:t>samples</a:t>
            </a:r>
            <a:br>
              <a:rPr lang="fr-FR" dirty="0"/>
            </a:br>
            <a:r>
              <a:rPr lang="fr-FR" dirty="0"/>
              <a:t> as JUnit "@Test" </a:t>
            </a:r>
            <a:r>
              <a:rPr lang="fr-FR" dirty="0" err="1"/>
              <a:t>methods</a:t>
            </a:r>
            <a:br>
              <a:rPr lang="fr-FR" dirty="0"/>
            </a:br>
            <a:r>
              <a:rPr lang="fr-FR" dirty="0"/>
              <a:t>for p=7, 11, 13, 17, 101, ..</a:t>
            </a:r>
            <a:br>
              <a:rPr lang="fr-FR" dirty="0"/>
            </a:br>
            <a:r>
              <a:rPr lang="fr-FR" dirty="0" err="1"/>
              <a:t>also</a:t>
            </a:r>
            <a:r>
              <a:rPr lang="fr-FR" dirty="0"/>
              <a:t> run for p not prime, ex: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546C2-B51C-4EE9-5748-D1E76C2D3451}"/>
              </a:ext>
            </a:extLst>
          </p:cNvPr>
          <p:cNvSpPr txBox="1"/>
          <p:nvPr/>
        </p:nvSpPr>
        <p:spPr>
          <a:xfrm>
            <a:off x="9180164" y="2930841"/>
            <a:ext cx="2805192" cy="3635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package fr.esilv.security.td4;</a:t>
            </a:r>
          </a:p>
          <a:p>
            <a:endParaRPr lang="fr-FR" sz="1400" dirty="0"/>
          </a:p>
          <a:p>
            <a:r>
              <a:rPr lang="fr-FR" sz="1400" dirty="0"/>
              <a:t>import </a:t>
            </a:r>
            <a:r>
              <a:rPr lang="fr-FR" sz="1400" dirty="0" err="1"/>
              <a:t>org.junit.Test</a:t>
            </a:r>
            <a:r>
              <a:rPr lang="fr-FR" sz="1400" dirty="0"/>
              <a:t>;</a:t>
            </a:r>
          </a:p>
          <a:p>
            <a:endParaRPr lang="fr-FR" sz="1400" dirty="0"/>
          </a:p>
          <a:p>
            <a:r>
              <a:rPr lang="fr-FR" sz="1400" dirty="0"/>
              <a:t>public class Ex1Test {</a:t>
            </a:r>
          </a:p>
          <a:p>
            <a:endParaRPr lang="fr-FR" sz="1400" dirty="0"/>
          </a:p>
          <a:p>
            <a:r>
              <a:rPr lang="fr-FR" sz="1400" dirty="0"/>
              <a:t>    @Test</a:t>
            </a:r>
          </a:p>
          <a:p>
            <a:r>
              <a:rPr lang="fr-FR" sz="1400" dirty="0"/>
              <a:t>    public </a:t>
            </a:r>
            <a:r>
              <a:rPr lang="fr-FR" sz="1400" dirty="0" err="1"/>
              <a:t>void</a:t>
            </a:r>
            <a:r>
              <a:rPr lang="fr-FR" sz="1400" dirty="0"/>
              <a:t> test6_notPrime() {</a:t>
            </a:r>
          </a:p>
          <a:p>
            <a:r>
              <a:rPr lang="fr-FR" sz="1400" dirty="0"/>
              <a:t>        </a:t>
            </a:r>
            <a:r>
              <a:rPr lang="fr-FR" sz="1400" dirty="0" err="1"/>
              <a:t>doTestPowerModulo</a:t>
            </a:r>
            <a:r>
              <a:rPr lang="fr-FR" sz="1400" dirty="0"/>
              <a:t>(6);</a:t>
            </a:r>
          </a:p>
          <a:p>
            <a:r>
              <a:rPr lang="fr-FR" sz="1400" dirty="0"/>
              <a:t>    }</a:t>
            </a:r>
          </a:p>
          <a:p>
            <a:endParaRPr lang="fr-FR" sz="1400" dirty="0"/>
          </a:p>
          <a:p>
            <a:r>
              <a:rPr lang="fr-FR" sz="1400" dirty="0"/>
              <a:t>    @Test</a:t>
            </a:r>
          </a:p>
          <a:p>
            <a:r>
              <a:rPr lang="fr-FR" sz="1400" dirty="0"/>
              <a:t>    public </a:t>
            </a:r>
            <a:r>
              <a:rPr lang="fr-FR" sz="1400" dirty="0" err="1"/>
              <a:t>void</a:t>
            </a:r>
            <a:r>
              <a:rPr lang="fr-FR" sz="1400" dirty="0"/>
              <a:t> test7() {</a:t>
            </a:r>
          </a:p>
          <a:p>
            <a:r>
              <a:rPr lang="fr-FR" sz="1400" dirty="0"/>
              <a:t>        </a:t>
            </a:r>
            <a:r>
              <a:rPr lang="fr-FR" sz="1400" dirty="0" err="1"/>
              <a:t>doTestPowerModulo</a:t>
            </a:r>
            <a:r>
              <a:rPr lang="fr-FR" sz="1400" dirty="0"/>
              <a:t>(7);</a:t>
            </a:r>
          </a:p>
          <a:p>
            <a:r>
              <a:rPr lang="fr-FR" sz="1400" dirty="0"/>
              <a:t>    }</a:t>
            </a:r>
            <a:br>
              <a:rPr lang="fr-FR" sz="1400" dirty="0"/>
            </a:br>
            <a:r>
              <a:rPr lang="fr-FR" sz="1400" dirty="0"/>
              <a:t>    // ... </a:t>
            </a:r>
            <a:r>
              <a:rPr lang="fr-FR" sz="1400" dirty="0" err="1"/>
              <a:t>complete</a:t>
            </a:r>
            <a:r>
              <a:rPr lang="fr-FR" sz="1400" dirty="0"/>
              <a:t> code </a:t>
            </a:r>
            <a:r>
              <a:rPr lang="fr-FR" sz="1400" dirty="0" err="1"/>
              <a:t>yourself</a:t>
            </a:r>
            <a:endParaRPr lang="fr-FR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12491E-013F-57B2-0EB0-8E857D568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71" y="2516245"/>
            <a:ext cx="8554191" cy="417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295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460E0-7FC2-7F2C-E7DC-8A370C085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63"/>
            <a:ext cx="10515600" cy="1064217"/>
          </a:xfrm>
        </p:spPr>
        <p:txBody>
          <a:bodyPr/>
          <a:lstStyle/>
          <a:p>
            <a:pPr algn="ctr"/>
            <a:r>
              <a:rPr lang="fr-FR" dirty="0"/>
              <a:t>Run/</a:t>
            </a:r>
            <a:r>
              <a:rPr lang="fr-FR" dirty="0" err="1"/>
              <a:t>Debug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Test(s)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18C38B-441D-8310-8864-D6D8296A4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569" y="1773640"/>
            <a:ext cx="3646486" cy="1798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4DB012-6DD7-89A6-2521-C50A5AB62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884" y="1296232"/>
            <a:ext cx="2838696" cy="5906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C4DBD8-99AE-8F43-995C-8DE6DD469983}"/>
              </a:ext>
            </a:extLst>
          </p:cNvPr>
          <p:cNvSpPr txBox="1"/>
          <p:nvPr/>
        </p:nvSpPr>
        <p:spPr>
          <a:xfrm>
            <a:off x="2107770" y="1000076"/>
            <a:ext cx="2502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run all tests </a:t>
            </a:r>
            <a:r>
              <a:rPr lang="fr-FR" dirty="0" err="1"/>
              <a:t>within</a:t>
            </a:r>
            <a:r>
              <a:rPr lang="fr-FR" dirty="0"/>
              <a:t> class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85D68-1F9B-A108-5B12-FB67B8038BB8}"/>
              </a:ext>
            </a:extLst>
          </p:cNvPr>
          <p:cNvSpPr txBox="1"/>
          <p:nvPr/>
        </p:nvSpPr>
        <p:spPr>
          <a:xfrm>
            <a:off x="6341390" y="974215"/>
            <a:ext cx="2848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run a </a:t>
            </a:r>
            <a:r>
              <a:rPr lang="fr-FR" dirty="0" err="1"/>
              <a:t>specific</a:t>
            </a:r>
            <a:r>
              <a:rPr lang="fr-FR" dirty="0"/>
              <a:t> @Test </a:t>
            </a:r>
            <a:r>
              <a:rPr lang="fr-FR" dirty="0" err="1"/>
              <a:t>method</a:t>
            </a:r>
            <a:endParaRPr lang="fr-F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8B64C9-C821-EE5E-EEAD-B2E9F72E2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191" y="1296232"/>
            <a:ext cx="2876799" cy="5220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3915A4-458F-15B6-17D1-95893FACC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1118" y="1956046"/>
            <a:ext cx="3532176" cy="1733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5C31C3-B1D1-2A92-7563-DD07A63851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3192" y="3936331"/>
            <a:ext cx="3105419" cy="28005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26ABE6-B185-2554-E4A3-D49118C261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1004" y="3689746"/>
            <a:ext cx="6085097" cy="31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352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E679-996D-304E-4C92-B9669BBC0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 2 : How to </a:t>
            </a:r>
            <a:r>
              <a:rPr lang="fr-FR" dirty="0" err="1"/>
              <a:t>efficiently</a:t>
            </a:r>
            <a:r>
              <a:rPr lang="fr-FR" dirty="0"/>
              <a:t> </a:t>
            </a:r>
            <a:r>
              <a:rPr lang="fr-FR" dirty="0" err="1"/>
              <a:t>raise</a:t>
            </a:r>
            <a:r>
              <a:rPr lang="fr-FR" dirty="0"/>
              <a:t> </a:t>
            </a:r>
            <a:r>
              <a:rPr lang="fr-FR" dirty="0" err="1"/>
              <a:t>number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to </a:t>
            </a:r>
            <a:r>
              <a:rPr lang="fr-FR" dirty="0" err="1"/>
              <a:t>powers</a:t>
            </a:r>
            <a:r>
              <a:rPr lang="fr-FR" dirty="0"/>
              <a:t> 2, 4, 8, 16 ...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DF783-2BE9-8F44-00C2-9B22892B23C8}"/>
              </a:ext>
            </a:extLst>
          </p:cNvPr>
          <p:cNvSpPr txBox="1"/>
          <p:nvPr/>
        </p:nvSpPr>
        <p:spPr>
          <a:xfrm>
            <a:off x="2970508" y="3135824"/>
            <a:ext cx="491724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Write a Test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raise</a:t>
            </a:r>
            <a:r>
              <a:rPr lang="fr-FR" dirty="0"/>
              <a:t>  n ^ 1048576   modulo P</a:t>
            </a:r>
          </a:p>
          <a:p>
            <a:endParaRPr lang="fr-FR" dirty="0"/>
          </a:p>
          <a:p>
            <a:r>
              <a:rPr lang="fr-FR" dirty="0"/>
              <a:t>1 048 576 = 1 </a:t>
            </a:r>
            <a:r>
              <a:rPr lang="fr-FR" dirty="0" err="1"/>
              <a:t>mega</a:t>
            </a:r>
            <a:r>
              <a:rPr lang="fr-FR" dirty="0"/>
              <a:t> (~1e6) =  1024*1024  = 2^20 </a:t>
            </a:r>
          </a:p>
          <a:p>
            <a:endParaRPr lang="fr-FR" dirty="0"/>
          </a:p>
          <a:p>
            <a:r>
              <a:rPr lang="fr-FR" dirty="0"/>
              <a:t>How </a:t>
            </a:r>
            <a:r>
              <a:rPr lang="fr-FR" dirty="0" err="1"/>
              <a:t>many</a:t>
            </a:r>
            <a:r>
              <a:rPr lang="fr-FR" dirty="0"/>
              <a:t> multiplications and modulos </a:t>
            </a:r>
            <a:r>
              <a:rPr lang="fr-FR" dirty="0" err="1"/>
              <a:t>used</a:t>
            </a:r>
            <a:r>
              <a:rPr lang="fr-FR" dirty="0"/>
              <a:t> ?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858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230A3-6C31-0F8D-A979-9F7C05971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47811"/>
          </a:xfrm>
        </p:spPr>
        <p:txBody>
          <a:bodyPr/>
          <a:lstStyle/>
          <a:p>
            <a:pPr algn="ctr"/>
            <a:r>
              <a:rPr lang="fr-FR" dirty="0"/>
              <a:t>(</a:t>
            </a:r>
            <a:r>
              <a:rPr lang="fr-FR" dirty="0" err="1"/>
              <a:t>Optional</a:t>
            </a:r>
            <a:r>
              <a:rPr lang="fr-FR" dirty="0"/>
              <a:t>) Ex 3: Write code to </a:t>
            </a:r>
            <a:r>
              <a:rPr lang="fr-FR" dirty="0" err="1"/>
              <a:t>efficiently</a:t>
            </a:r>
            <a:r>
              <a:rPr lang="fr-FR" dirty="0"/>
              <a:t> </a:t>
            </a:r>
            <a:r>
              <a:rPr lang="fr-FR" dirty="0" err="1"/>
              <a:t>raise</a:t>
            </a:r>
            <a:r>
              <a:rPr lang="fr-FR" dirty="0"/>
              <a:t> a </a:t>
            </a:r>
            <a:r>
              <a:rPr lang="fr-FR" dirty="0" err="1"/>
              <a:t>number</a:t>
            </a:r>
            <a:r>
              <a:rPr lang="fr-FR" dirty="0"/>
              <a:t> to power N="1000 000 000 000", </a:t>
            </a:r>
            <a:r>
              <a:rPr lang="fr-FR" dirty="0" err="1"/>
              <a:t>with</a:t>
            </a:r>
            <a:r>
              <a:rPr lang="fr-FR" dirty="0"/>
              <a:t> modulo "P"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E723A-9B85-9FD1-7F99-26D1C9F623CA}"/>
              </a:ext>
            </a:extLst>
          </p:cNvPr>
          <p:cNvSpPr txBox="1"/>
          <p:nvPr/>
        </p:nvSpPr>
        <p:spPr>
          <a:xfrm>
            <a:off x="3188305" y="3323771"/>
            <a:ext cx="70878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 1 trillions multiplications ?</a:t>
            </a:r>
          </a:p>
          <a:p>
            <a:endParaRPr lang="fr-FR" dirty="0"/>
          </a:p>
          <a:p>
            <a:r>
              <a:rPr lang="fr-FR" dirty="0" err="1"/>
              <a:t>so</a:t>
            </a:r>
            <a:r>
              <a:rPr lang="fr-FR" dirty="0"/>
              <a:t> how </a:t>
            </a:r>
            <a:r>
              <a:rPr lang="fr-FR" dirty="0" err="1"/>
              <a:t>many</a:t>
            </a:r>
            <a:r>
              <a:rPr lang="fr-FR" dirty="0"/>
              <a:t> multiplications?</a:t>
            </a:r>
          </a:p>
          <a:p>
            <a:endParaRPr lang="fr-FR" dirty="0"/>
          </a:p>
          <a:p>
            <a:r>
              <a:rPr lang="fr-FR" dirty="0" err="1"/>
              <a:t>decompose</a:t>
            </a:r>
            <a:r>
              <a:rPr lang="fr-FR" dirty="0"/>
              <a:t> N in base 2  ( N = a0 + a1 . 2 + a2 2^2 + a3 2^3 + ..  </a:t>
            </a:r>
            <a:r>
              <a:rPr lang="fr-FR" dirty="0" err="1"/>
              <a:t>ak</a:t>
            </a:r>
            <a:r>
              <a:rPr lang="fr-FR" dirty="0"/>
              <a:t> 2^k )</a:t>
            </a:r>
          </a:p>
        </p:txBody>
      </p:sp>
    </p:spTree>
    <p:extLst>
      <p:ext uri="{BB962C8B-B14F-4D97-AF65-F5344CB8AC3E}">
        <p14:creationId xmlns:p14="http://schemas.microsoft.com/office/powerpoint/2010/main" val="2599333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634C2-4C49-F1C3-B2FF-7D3995E88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 4 : code to use java </a:t>
            </a:r>
            <a:r>
              <a:rPr lang="fr-FR" dirty="0" err="1"/>
              <a:t>BigInteger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instead</a:t>
            </a:r>
            <a:r>
              <a:rPr lang="fr-FR" dirty="0"/>
              <a:t> of </a:t>
            </a:r>
            <a:r>
              <a:rPr lang="fr-FR" dirty="0" err="1"/>
              <a:t>int</a:t>
            </a:r>
            <a:r>
              <a:rPr lang="fr-FR" dirty="0"/>
              <a:t>/long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4EFDB4-A003-E1D2-F35D-64F2362A8583}"/>
              </a:ext>
            </a:extLst>
          </p:cNvPr>
          <p:cNvSpPr txBox="1"/>
          <p:nvPr/>
        </p:nvSpPr>
        <p:spPr>
          <a:xfrm>
            <a:off x="2448733" y="2645044"/>
            <a:ext cx="5600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cf</a:t>
            </a:r>
            <a:r>
              <a:rPr lang="fr-FR" dirty="0"/>
              <a:t> </a:t>
            </a:r>
            <a:r>
              <a:rPr lang="fr-FR" dirty="0" err="1"/>
              <a:t>built-in</a:t>
            </a:r>
            <a:r>
              <a:rPr lang="fr-FR" dirty="0"/>
              <a:t> code "</a:t>
            </a:r>
            <a:r>
              <a:rPr lang="fr-FR" dirty="0" err="1"/>
              <a:t>BigInteger.modPow</a:t>
            </a:r>
            <a:r>
              <a:rPr lang="fr-FR" dirty="0"/>
              <a:t>(</a:t>
            </a:r>
            <a:r>
              <a:rPr lang="fr-FR" dirty="0" err="1"/>
              <a:t>exponent</a:t>
            </a:r>
            <a:r>
              <a:rPr lang="fr-FR" dirty="0"/>
              <a:t>, modulo)"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70F83-6DC4-B2C7-9955-291F08D15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746" y="3429000"/>
            <a:ext cx="7456816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49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FF3C6-B2BA-F5D0-8EE4-2D7F1D597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(Ex 4)  </a:t>
            </a: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following</a:t>
            </a:r>
            <a:r>
              <a:rPr lang="fr-FR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B61527-2FF3-1C54-CD05-8D110A18E595}"/>
              </a:ext>
            </a:extLst>
          </p:cNvPr>
          <p:cNvSpPr txBox="1"/>
          <p:nvPr/>
        </p:nvSpPr>
        <p:spPr>
          <a:xfrm>
            <a:off x="1190624" y="2953435"/>
            <a:ext cx="105155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 = 10000000000000000000000000000000000000000000000000000000000000000000000000000001</a:t>
            </a:r>
          </a:p>
          <a:p>
            <a:r>
              <a:rPr lang="fr-FR" dirty="0"/>
              <a:t>a = 20000000000000000000000000000000000000000000000000000000000000000000000000000001</a:t>
            </a:r>
          </a:p>
          <a:p>
            <a:r>
              <a:rPr lang="fr-FR" dirty="0"/>
              <a:t>m = 30000000000000000000000000000000000000000000000000000000000000000000000000000001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a^p</a:t>
            </a:r>
            <a:r>
              <a:rPr lang="fr-FR" dirty="0"/>
              <a:t> % m</a:t>
            </a:r>
          </a:p>
        </p:txBody>
      </p:sp>
    </p:spTree>
    <p:extLst>
      <p:ext uri="{BB962C8B-B14F-4D97-AF65-F5344CB8AC3E}">
        <p14:creationId xmlns:p14="http://schemas.microsoft.com/office/powerpoint/2010/main" val="310805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1947B-CFC0-468B-4279-30F2DA64C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 5: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iterating</a:t>
            </a:r>
            <a:r>
              <a:rPr lang="fr-FR" dirty="0"/>
              <a:t> to check on </a:t>
            </a:r>
            <a:r>
              <a:rPr lang="fr-FR" dirty="0" err="1"/>
              <a:t>divisors</a:t>
            </a:r>
            <a:r>
              <a:rPr lang="fr-FR" dirty="0"/>
              <a:t>,</a:t>
            </a:r>
            <a:br>
              <a:rPr lang="fr-FR" dirty="0"/>
            </a:br>
            <a:r>
              <a:rPr lang="fr-FR" dirty="0"/>
              <a:t>proof </a:t>
            </a:r>
            <a:r>
              <a:rPr lang="fr-FR" dirty="0" err="1"/>
              <a:t>that</a:t>
            </a:r>
            <a:r>
              <a:rPr lang="fr-FR" dirty="0"/>
              <a:t> a </a:t>
            </a:r>
            <a:r>
              <a:rPr lang="fr-FR" dirty="0" err="1"/>
              <a:t>given</a:t>
            </a:r>
            <a:r>
              <a:rPr lang="fr-FR" dirty="0"/>
              <a:t> "P" </a:t>
            </a:r>
            <a:r>
              <a:rPr lang="fr-FR" dirty="0" err="1"/>
              <a:t>is</a:t>
            </a:r>
            <a:r>
              <a:rPr lang="fr-FR" dirty="0"/>
              <a:t> NOT prime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8FE5FE-F611-BF88-0FBC-DEBA417F629B}"/>
              </a:ext>
            </a:extLst>
          </p:cNvPr>
          <p:cNvSpPr txBox="1"/>
          <p:nvPr/>
        </p:nvSpPr>
        <p:spPr>
          <a:xfrm>
            <a:off x="4262034" y="2204168"/>
            <a:ext cx="2747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 = 1000000016000000063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E4948C-FD30-8119-0D36-23F7611F2E6E}"/>
              </a:ext>
            </a:extLst>
          </p:cNvPr>
          <p:cNvSpPr txBox="1"/>
          <p:nvPr/>
        </p:nvSpPr>
        <p:spPr>
          <a:xfrm>
            <a:off x="2190428" y="2835660"/>
            <a:ext cx="875624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Use the Fermat </a:t>
            </a:r>
            <a:r>
              <a:rPr lang="fr-FR" dirty="0" err="1"/>
              <a:t>theorem</a:t>
            </a:r>
            <a:r>
              <a:rPr lang="fr-FR" dirty="0"/>
              <a:t>. If P </a:t>
            </a:r>
            <a:r>
              <a:rPr lang="fr-FR" dirty="0" err="1"/>
              <a:t>was</a:t>
            </a:r>
            <a:r>
              <a:rPr lang="fr-FR" dirty="0"/>
              <a:t> prime, for all a =&gt; "a^(p-1) modulo P = 1";</a:t>
            </a:r>
          </a:p>
          <a:p>
            <a:endParaRPr lang="fr-FR" dirty="0"/>
          </a:p>
          <a:p>
            <a:r>
              <a:rPr lang="fr-FR" dirty="0"/>
              <a:t>test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choosen</a:t>
            </a:r>
            <a:r>
              <a:rPr lang="fr-FR" dirty="0"/>
              <a:t> a =2,  or a=3, .. or a=</a:t>
            </a:r>
            <a:r>
              <a:rPr lang="fr-FR" dirty="0" err="1"/>
              <a:t>random</a:t>
            </a:r>
            <a:endParaRPr lang="fr-FR" dirty="0"/>
          </a:p>
          <a:p>
            <a:endParaRPr lang="fr-FR" dirty="0"/>
          </a:p>
          <a:p>
            <a:r>
              <a:rPr lang="fr-FR" dirty="0"/>
              <a:t>Use </a:t>
            </a:r>
            <a:r>
              <a:rPr lang="fr-FR" dirty="0" err="1"/>
              <a:t>built-in</a:t>
            </a:r>
            <a:r>
              <a:rPr lang="fr-FR" dirty="0"/>
              <a:t> </a:t>
            </a:r>
            <a:r>
              <a:rPr lang="fr-FR" dirty="0" err="1"/>
              <a:t>method</a:t>
            </a:r>
            <a:r>
              <a:rPr lang="fr-FR" dirty="0"/>
              <a:t> : </a:t>
            </a:r>
            <a:r>
              <a:rPr lang="fr-FR" dirty="0" err="1"/>
              <a:t>BigInteger.modPow</a:t>
            </a:r>
            <a:r>
              <a:rPr lang="fr-FR" dirty="0"/>
              <a:t>(</a:t>
            </a:r>
            <a:r>
              <a:rPr lang="fr-FR" dirty="0" err="1"/>
              <a:t>exponent</a:t>
            </a:r>
            <a:r>
              <a:rPr lang="fr-FR" dirty="0"/>
              <a:t>, modulo) </a:t>
            </a:r>
          </a:p>
          <a:p>
            <a:endParaRPr lang="fr-FR" dirty="0"/>
          </a:p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probability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"a^(p-1) modulo P = 1" </a:t>
            </a:r>
            <a:r>
              <a:rPr lang="fr-FR" dirty="0" err="1"/>
              <a:t>despite</a:t>
            </a:r>
            <a:r>
              <a:rPr lang="fr-FR" dirty="0"/>
              <a:t> the </a:t>
            </a:r>
            <a:r>
              <a:rPr lang="fr-FR" dirty="0" err="1"/>
              <a:t>fact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P </a:t>
            </a:r>
            <a:r>
              <a:rPr lang="fr-FR" dirty="0" err="1"/>
              <a:t>were</a:t>
            </a:r>
            <a:r>
              <a:rPr lang="fr-FR" dirty="0"/>
              <a:t> not prime ?</a:t>
            </a:r>
          </a:p>
          <a:p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2E647B-D727-C935-8894-4B34B003A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972" y="5009990"/>
            <a:ext cx="5837426" cy="184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25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EAFB-0294-4800-C5ED-23887951C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27526"/>
          </a:xfrm>
        </p:spPr>
        <p:txBody>
          <a:bodyPr/>
          <a:lstStyle/>
          <a:p>
            <a:r>
              <a:rPr lang="fr-FR" dirty="0"/>
              <a:t>Notice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searching</a:t>
            </a:r>
            <a:r>
              <a:rPr lang="fr-FR" dirty="0"/>
              <a:t>  n1,n2 </a:t>
            </a:r>
            <a:r>
              <a:rPr lang="fr-FR" dirty="0" err="1"/>
              <a:t>with</a:t>
            </a:r>
            <a:r>
              <a:rPr lang="fr-FR" dirty="0"/>
              <a:t> N=n1*n2   </a:t>
            </a:r>
            <a:br>
              <a:rPr lang="fr-FR" dirty="0"/>
            </a:b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much</a:t>
            </a:r>
            <a:r>
              <a:rPr lang="fr-FR" dirty="0"/>
              <a:t> more </a:t>
            </a:r>
            <a:r>
              <a:rPr lang="fr-FR" dirty="0" err="1"/>
              <a:t>complex</a:t>
            </a:r>
            <a:r>
              <a:rPr lang="fr-FR" dirty="0"/>
              <a:t>...</a:t>
            </a:r>
            <a:br>
              <a:rPr lang="fr-FR" dirty="0"/>
            </a:br>
            <a:br>
              <a:rPr lang="fr-FR" dirty="0"/>
            </a:br>
            <a:r>
              <a:rPr lang="fr-FR" dirty="0"/>
              <a:t>But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knowing</a:t>
            </a:r>
            <a:r>
              <a:rPr lang="fr-FR" dirty="0"/>
              <a:t>, checking </a:t>
            </a:r>
            <a:r>
              <a:rPr lang="fr-FR" dirty="0" err="1"/>
              <a:t>is</a:t>
            </a:r>
            <a:r>
              <a:rPr lang="fr-FR" dirty="0"/>
              <a:t> trivial</a:t>
            </a:r>
            <a:br>
              <a:rPr lang="fr-FR" dirty="0"/>
            </a:br>
            <a:r>
              <a:rPr lang="fr-FR" dirty="0"/>
              <a:t>n1=1000000007 x n2=1000000009</a:t>
            </a:r>
          </a:p>
        </p:txBody>
      </p:sp>
    </p:spTree>
    <p:extLst>
      <p:ext uri="{BB962C8B-B14F-4D97-AF65-F5344CB8AC3E}">
        <p14:creationId xmlns:p14="http://schemas.microsoft.com/office/powerpoint/2010/main" val="764930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4B4AB-7B7F-C836-BD1E-01526D039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993"/>
            <a:ext cx="10515600" cy="1031771"/>
          </a:xfrm>
        </p:spPr>
        <p:txBody>
          <a:bodyPr/>
          <a:lstStyle/>
          <a:p>
            <a:pPr algn="ctr"/>
            <a:r>
              <a:rPr lang="fr-FR" dirty="0"/>
              <a:t>Ex5 : </a:t>
            </a:r>
            <a:r>
              <a:rPr lang="fr-FR" dirty="0" err="1"/>
              <a:t>repeat</a:t>
            </a:r>
            <a:r>
              <a:rPr lang="fr-FR" dirty="0"/>
              <a:t> </a:t>
            </a:r>
            <a:r>
              <a:rPr lang="fr-FR" dirty="0" err="1"/>
              <a:t>primality</a:t>
            </a:r>
            <a:r>
              <a:rPr lang="fr-FR" dirty="0"/>
              <a:t> test on n1, n2</a:t>
            </a:r>
            <a:br>
              <a:rPr lang="fr-FR" dirty="0"/>
            </a:br>
            <a:r>
              <a:rPr lang="fr-FR" dirty="0" err="1"/>
              <a:t>compute</a:t>
            </a:r>
            <a:r>
              <a:rPr lang="fr-FR" dirty="0"/>
              <a:t>  2^(n1-1) modulo n1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4A2B5E-1150-8EF3-2CA6-2F3839C84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149" y="4698647"/>
            <a:ext cx="5791702" cy="1924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AEFD4E-7AB4-0868-793B-D6672D41A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149" y="1272909"/>
            <a:ext cx="6229890" cy="29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157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FD79B-7655-FCAE-A1BE-468F88306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Write the Fermat </a:t>
            </a:r>
            <a:r>
              <a:rPr lang="fr-FR" dirty="0" err="1"/>
              <a:t>Primality</a:t>
            </a:r>
            <a:r>
              <a:rPr lang="fr-FR" dirty="0"/>
              <a:t> test,</a:t>
            </a:r>
            <a:br>
              <a:rPr lang="fr-FR" dirty="0"/>
            </a:br>
            <a:r>
              <a:rPr lang="fr-FR" dirty="0" err="1"/>
              <a:t>with</a:t>
            </a:r>
            <a:r>
              <a:rPr lang="fr-FR" dirty="0"/>
              <a:t> 5 </a:t>
            </a:r>
            <a:r>
              <a:rPr lang="fr-FR" dirty="0" err="1"/>
              <a:t>internal</a:t>
            </a:r>
            <a:r>
              <a:rPr lang="fr-FR" dirty="0"/>
              <a:t> </a:t>
            </a:r>
            <a:r>
              <a:rPr lang="fr-FR" dirty="0" err="1"/>
              <a:t>number</a:t>
            </a:r>
            <a:r>
              <a:rPr lang="fr-FR" dirty="0"/>
              <a:t> tries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3A95E-7E41-C949-4363-237366828998}"/>
              </a:ext>
            </a:extLst>
          </p:cNvPr>
          <p:cNvSpPr txBox="1"/>
          <p:nvPr/>
        </p:nvSpPr>
        <p:spPr>
          <a:xfrm>
            <a:off x="2815525" y="2810360"/>
            <a:ext cx="2732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</a:t>
            </a:r>
            <a:r>
              <a:rPr lang="fr-FR" dirty="0" err="1"/>
              <a:t>also</a:t>
            </a:r>
            <a:r>
              <a:rPr lang="fr-FR" dirty="0"/>
              <a:t> call Miller-Rabin test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BC6FC3-BF50-D0E1-53D8-672F6827A4F7}"/>
              </a:ext>
            </a:extLst>
          </p:cNvPr>
          <p:cNvSpPr txBox="1"/>
          <p:nvPr/>
        </p:nvSpPr>
        <p:spPr>
          <a:xfrm>
            <a:off x="2815525" y="3493643"/>
            <a:ext cx="718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See</a:t>
            </a:r>
            <a:r>
              <a:rPr lang="fr-FR" dirty="0"/>
              <a:t> source java </a:t>
            </a:r>
            <a:r>
              <a:rPr lang="fr-FR" dirty="0" err="1"/>
              <a:t>built-in</a:t>
            </a:r>
            <a:r>
              <a:rPr lang="fr-FR" dirty="0"/>
              <a:t> source code: </a:t>
            </a:r>
            <a:r>
              <a:rPr lang="fr-FR" dirty="0" err="1"/>
              <a:t>BigInteger.isProbablePrime</a:t>
            </a:r>
            <a:r>
              <a:rPr lang="fr-FR" dirty="0"/>
              <a:t>(</a:t>
            </a:r>
            <a:r>
              <a:rPr lang="fr-FR" dirty="0" err="1"/>
              <a:t>certainty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31998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65E6-EA76-0E43-25EF-73E4F712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 5: use java </a:t>
            </a:r>
            <a:r>
              <a:rPr lang="fr-FR" dirty="0" err="1"/>
              <a:t>BigInteger.nextProbablePrime</a:t>
            </a:r>
            <a:r>
              <a:rPr lang="fr-FR" dirty="0"/>
              <a:t>()</a:t>
            </a:r>
            <a:br>
              <a:rPr lang="fr-FR" dirty="0"/>
            </a:br>
            <a:r>
              <a:rPr lang="fr-FR" dirty="0"/>
              <a:t>to </a:t>
            </a:r>
            <a:r>
              <a:rPr lang="fr-FR" dirty="0" err="1"/>
              <a:t>print</a:t>
            </a:r>
            <a:r>
              <a:rPr lang="fr-FR" dirty="0"/>
              <a:t> the </a:t>
            </a:r>
            <a:r>
              <a:rPr lang="fr-FR" dirty="0" err="1"/>
              <a:t>consecutive</a:t>
            </a:r>
            <a:r>
              <a:rPr lang="fr-FR" dirty="0"/>
              <a:t> 1000 primes, </a:t>
            </a:r>
            <a:r>
              <a:rPr lang="fr-FR" dirty="0" err="1"/>
              <a:t>after</a:t>
            </a:r>
            <a:r>
              <a:rPr lang="fr-FR" dirty="0"/>
              <a:t> a </a:t>
            </a:r>
            <a:r>
              <a:rPr lang="fr-FR" dirty="0" err="1"/>
              <a:t>given</a:t>
            </a:r>
            <a:r>
              <a:rPr lang="fr-FR" dirty="0"/>
              <a:t> 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D9531-36B4-1252-5C8C-FBA922AC6572}"/>
              </a:ext>
            </a:extLst>
          </p:cNvPr>
          <p:cNvSpPr txBox="1"/>
          <p:nvPr/>
        </p:nvSpPr>
        <p:spPr>
          <a:xfrm>
            <a:off x="2238374" y="2633960"/>
            <a:ext cx="86153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N = 10000000000000000000000000000000000000000000000000000000000000000000000000000000000000000000000000000000000000000000000000000000000000001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5FEA50-3440-F4B4-5AC9-133FE5AB2B90}"/>
              </a:ext>
            </a:extLst>
          </p:cNvPr>
          <p:cNvSpPr txBox="1"/>
          <p:nvPr/>
        </p:nvSpPr>
        <p:spPr>
          <a:xfrm>
            <a:off x="2328863" y="4138613"/>
            <a:ext cx="32285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nextPrime</a:t>
            </a:r>
            <a:r>
              <a:rPr lang="fr-FR" dirty="0"/>
              <a:t>?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next</a:t>
            </a:r>
            <a:r>
              <a:rPr lang="fr-FR" dirty="0"/>
              <a:t> </a:t>
            </a:r>
            <a:r>
              <a:rPr lang="fr-FR" dirty="0" err="1"/>
              <a:t>nextPrime</a:t>
            </a:r>
            <a:r>
              <a:rPr lang="fr-FR" dirty="0"/>
              <a:t> ?</a:t>
            </a:r>
          </a:p>
          <a:p>
            <a:r>
              <a:rPr lang="fr-FR" dirty="0"/>
              <a:t>...</a:t>
            </a:r>
          </a:p>
          <a:p>
            <a:r>
              <a:rPr lang="fr-FR" dirty="0" err="1"/>
              <a:t>next</a:t>
            </a:r>
            <a:r>
              <a:rPr lang="fr-FR" dirty="0"/>
              <a:t> </a:t>
            </a:r>
            <a:r>
              <a:rPr lang="fr-FR" dirty="0" err="1"/>
              <a:t>next</a:t>
            </a:r>
            <a:r>
              <a:rPr lang="fr-FR" dirty="0"/>
              <a:t>  ...(1000)  </a:t>
            </a:r>
            <a:r>
              <a:rPr lang="fr-FR" dirty="0" err="1"/>
              <a:t>next</a:t>
            </a:r>
            <a:r>
              <a:rPr lang="fr-FR" dirty="0"/>
              <a:t> Prime ?</a:t>
            </a:r>
          </a:p>
        </p:txBody>
      </p:sp>
    </p:spTree>
    <p:extLst>
      <p:ext uri="{BB962C8B-B14F-4D97-AF65-F5344CB8AC3E}">
        <p14:creationId xmlns:p14="http://schemas.microsoft.com/office/powerpoint/2010/main" val="1091991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4B6BF-4AF4-F859-EA1F-C6AF34362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77" y="2219755"/>
            <a:ext cx="10515600" cy="3199486"/>
          </a:xfrm>
        </p:spPr>
        <p:txBody>
          <a:bodyPr/>
          <a:lstStyle/>
          <a:p>
            <a:pPr algn="ctr"/>
            <a:r>
              <a:rPr lang="fr-FR" dirty="0" err="1"/>
              <a:t>using</a:t>
            </a:r>
            <a:r>
              <a:rPr lang="fr-FR" dirty="0"/>
              <a:t> standard java.security.*  package</a:t>
            </a:r>
            <a:br>
              <a:rPr lang="fr-FR" dirty="0"/>
            </a:br>
            <a:r>
              <a:rPr lang="fr-FR" dirty="0"/>
              <a:t>(class </a:t>
            </a:r>
            <a:r>
              <a:rPr lang="fr-FR" dirty="0" err="1"/>
              <a:t>MessageDigest</a:t>
            </a:r>
            <a:r>
              <a:rPr lang="fr-FR" dirty="0"/>
              <a:t>, .. )</a:t>
            </a:r>
            <a:br>
              <a:rPr lang="fr-FR" dirty="0"/>
            </a:br>
            <a:br>
              <a:rPr lang="fr-FR" dirty="0"/>
            </a:br>
            <a:r>
              <a:rPr lang="fr-FR" dirty="0"/>
              <a:t>compare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bash</a:t>
            </a:r>
            <a:r>
              <a:rPr lang="fr-FR" dirty="0"/>
              <a:t> command line </a:t>
            </a:r>
            <a:r>
              <a:rPr lang="fr-FR" dirty="0" err="1"/>
              <a:t>tools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0264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F7A9B-943A-8AAF-9530-1E64E60E0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655"/>
            <a:ext cx="10515600" cy="1916624"/>
          </a:xfrm>
        </p:spPr>
        <p:txBody>
          <a:bodyPr/>
          <a:lstStyle/>
          <a:p>
            <a:pPr algn="ctr"/>
            <a:r>
              <a:rPr lang="fr-FR" dirty="0"/>
              <a:t>Ex 6: Use Java API to </a:t>
            </a:r>
            <a:r>
              <a:rPr lang="fr-FR" dirty="0" err="1"/>
              <a:t>compute</a:t>
            </a:r>
            <a:r>
              <a:rPr lang="fr-FR" dirty="0"/>
              <a:t> "SHA-256"</a:t>
            </a:r>
            <a:br>
              <a:rPr lang="fr-FR" dirty="0"/>
            </a:br>
            <a:r>
              <a:rPr lang="fr-FR" dirty="0"/>
              <a:t>of </a:t>
            </a:r>
            <a:r>
              <a:rPr lang="fr-FR" dirty="0" err="1"/>
              <a:t>text</a:t>
            </a:r>
            <a:r>
              <a:rPr lang="fr-FR" dirty="0"/>
              <a:t>  (ex: "Hello World")</a:t>
            </a:r>
            <a:br>
              <a:rPr lang="fr-FR" dirty="0"/>
            </a:br>
            <a:r>
              <a:rPr lang="fr-FR" dirty="0" err="1"/>
              <a:t>print</a:t>
            </a:r>
            <a:r>
              <a:rPr lang="fr-FR" dirty="0"/>
              <a:t> </a:t>
            </a:r>
            <a:r>
              <a:rPr lang="fr-FR" dirty="0" err="1"/>
              <a:t>result</a:t>
            </a:r>
            <a:r>
              <a:rPr lang="fr-FR" dirty="0"/>
              <a:t> in Hexa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7703B-3ADB-3821-6D04-80C3EE8A9DC5}"/>
              </a:ext>
            </a:extLst>
          </p:cNvPr>
          <p:cNvSpPr txBox="1"/>
          <p:nvPr/>
        </p:nvSpPr>
        <p:spPr>
          <a:xfrm>
            <a:off x="3305013" y="3125712"/>
            <a:ext cx="796096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public </a:t>
            </a:r>
            <a:r>
              <a:rPr lang="fr-FR" dirty="0" err="1"/>
              <a:t>void</a:t>
            </a:r>
            <a:r>
              <a:rPr lang="fr-FR" dirty="0"/>
              <a:t> doTestSha256(byte[] data) </a:t>
            </a:r>
            <a:r>
              <a:rPr lang="fr-FR" dirty="0" err="1"/>
              <a:t>throws</a:t>
            </a:r>
            <a:r>
              <a:rPr lang="fr-FR" dirty="0"/>
              <a:t> Exception {</a:t>
            </a:r>
          </a:p>
          <a:p>
            <a:r>
              <a:rPr lang="fr-FR" dirty="0"/>
              <a:t>        // **** </a:t>
            </a:r>
            <a:r>
              <a:rPr lang="fr-FR" dirty="0" err="1"/>
              <a:t>complete</a:t>
            </a:r>
            <a:r>
              <a:rPr lang="fr-FR" dirty="0"/>
              <a:t> code </a:t>
            </a:r>
            <a:r>
              <a:rPr lang="fr-FR" dirty="0" err="1"/>
              <a:t>yourself</a:t>
            </a:r>
            <a:r>
              <a:rPr lang="fr-FR" dirty="0"/>
              <a:t> ****</a:t>
            </a:r>
          </a:p>
          <a:p>
            <a:r>
              <a:rPr lang="fr-FR" dirty="0"/>
              <a:t>        byte[] digest =  ****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       </a:t>
            </a:r>
            <a:r>
              <a:rPr lang="fr-FR" dirty="0" err="1"/>
              <a:t>System.out.println</a:t>
            </a:r>
            <a:r>
              <a:rPr lang="fr-FR" dirty="0"/>
              <a:t>("SHA-256 </a:t>
            </a:r>
            <a:r>
              <a:rPr lang="fr-FR" dirty="0" err="1"/>
              <a:t>printed</a:t>
            </a:r>
            <a:r>
              <a:rPr lang="fr-FR" dirty="0"/>
              <a:t> (</a:t>
            </a:r>
            <a:r>
              <a:rPr lang="fr-FR" dirty="0" err="1"/>
              <a:t>binary</a:t>
            </a:r>
            <a:r>
              <a:rPr lang="fr-FR" dirty="0"/>
              <a:t>, non </a:t>
            </a:r>
            <a:r>
              <a:rPr lang="fr-FR" dirty="0" err="1"/>
              <a:t>asci</a:t>
            </a:r>
            <a:r>
              <a:rPr lang="fr-FR" dirty="0"/>
              <a:t>)");</a:t>
            </a:r>
          </a:p>
          <a:p>
            <a:r>
              <a:rPr lang="fr-FR" dirty="0"/>
              <a:t>        </a:t>
            </a:r>
            <a:r>
              <a:rPr lang="fr-FR" dirty="0" err="1"/>
              <a:t>System.out.println</a:t>
            </a:r>
            <a:r>
              <a:rPr lang="fr-FR" dirty="0"/>
              <a:t>(new String(digest));</a:t>
            </a:r>
          </a:p>
          <a:p>
            <a:endParaRPr lang="fr-FR" dirty="0"/>
          </a:p>
          <a:p>
            <a:r>
              <a:rPr lang="fr-FR" dirty="0"/>
              <a:t>        String </a:t>
            </a:r>
            <a:r>
              <a:rPr lang="fr-FR" dirty="0" err="1"/>
              <a:t>hex</a:t>
            </a:r>
            <a:r>
              <a:rPr lang="fr-FR" dirty="0"/>
              <a:t> = </a:t>
            </a:r>
            <a:r>
              <a:rPr lang="fr-FR" dirty="0" err="1"/>
              <a:t>HexFormat.of</a:t>
            </a:r>
            <a:r>
              <a:rPr lang="fr-FR" dirty="0"/>
              <a:t>().</a:t>
            </a:r>
            <a:r>
              <a:rPr lang="fr-FR" dirty="0" err="1"/>
              <a:t>formatHex</a:t>
            </a:r>
            <a:r>
              <a:rPr lang="fr-FR" dirty="0"/>
              <a:t>(digest);</a:t>
            </a:r>
          </a:p>
          <a:p>
            <a:r>
              <a:rPr lang="fr-FR" dirty="0"/>
              <a:t>        </a:t>
            </a:r>
            <a:r>
              <a:rPr lang="fr-FR" dirty="0" err="1"/>
              <a:t>System.out.println</a:t>
            </a:r>
            <a:r>
              <a:rPr lang="fr-FR" dirty="0"/>
              <a:t>("SHA-256 </a:t>
            </a:r>
            <a:r>
              <a:rPr lang="fr-FR" dirty="0" err="1"/>
              <a:t>printed</a:t>
            </a:r>
            <a:r>
              <a:rPr lang="fr-FR" dirty="0"/>
              <a:t> (</a:t>
            </a:r>
            <a:r>
              <a:rPr lang="fr-FR" dirty="0" err="1"/>
              <a:t>hex</a:t>
            </a:r>
            <a:r>
              <a:rPr lang="fr-FR" dirty="0"/>
              <a:t>)");</a:t>
            </a:r>
          </a:p>
          <a:p>
            <a:r>
              <a:rPr lang="fr-FR" dirty="0"/>
              <a:t>        </a:t>
            </a:r>
            <a:r>
              <a:rPr lang="fr-FR" dirty="0" err="1"/>
              <a:t>System.out.println</a:t>
            </a:r>
            <a:r>
              <a:rPr lang="fr-FR" dirty="0"/>
              <a:t>(</a:t>
            </a:r>
            <a:r>
              <a:rPr lang="fr-FR" dirty="0" err="1"/>
              <a:t>hex</a:t>
            </a:r>
            <a:r>
              <a:rPr lang="fr-FR" dirty="0"/>
              <a:t>);</a:t>
            </a:r>
          </a:p>
          <a:p>
            <a:r>
              <a:rPr lang="fr-FR" dirty="0"/>
              <a:t>  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3D470-FB81-E1C4-DB92-0D410F92648E}"/>
              </a:ext>
            </a:extLst>
          </p:cNvPr>
          <p:cNvSpPr txBox="1"/>
          <p:nvPr/>
        </p:nvSpPr>
        <p:spPr>
          <a:xfrm>
            <a:off x="0" y="182888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    @Test</a:t>
            </a:r>
          </a:p>
          <a:p>
            <a:r>
              <a:rPr lang="fr-FR" dirty="0"/>
              <a:t>    public </a:t>
            </a:r>
            <a:r>
              <a:rPr lang="fr-FR" dirty="0" err="1"/>
              <a:t>void</a:t>
            </a:r>
            <a:r>
              <a:rPr lang="fr-FR" dirty="0"/>
              <a:t> </a:t>
            </a:r>
            <a:r>
              <a:rPr lang="fr-FR" dirty="0" err="1"/>
              <a:t>testMessageDigest</a:t>
            </a:r>
            <a:r>
              <a:rPr lang="fr-FR" dirty="0"/>
              <a:t>() </a:t>
            </a:r>
            <a:r>
              <a:rPr lang="fr-FR" dirty="0" err="1"/>
              <a:t>throws</a:t>
            </a:r>
            <a:r>
              <a:rPr lang="fr-FR" dirty="0"/>
              <a:t> Exception {</a:t>
            </a:r>
          </a:p>
          <a:p>
            <a:r>
              <a:rPr lang="fr-FR" dirty="0"/>
              <a:t>        byte[] data = "Hello World".</a:t>
            </a:r>
            <a:r>
              <a:rPr lang="fr-FR" dirty="0" err="1"/>
              <a:t>getBytes</a:t>
            </a:r>
            <a:r>
              <a:rPr lang="fr-FR" dirty="0"/>
              <a:t>();</a:t>
            </a:r>
          </a:p>
          <a:p>
            <a:r>
              <a:rPr lang="fr-FR" dirty="0"/>
              <a:t>        doTestSha256(data);</a:t>
            </a:r>
          </a:p>
          <a:p>
            <a:r>
              <a:rPr lang="fr-FR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872483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7351D-BC8D-0461-B1C6-4B321255B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495"/>
            <a:ext cx="10515600" cy="1090047"/>
          </a:xfrm>
        </p:spPr>
        <p:txBody>
          <a:bodyPr/>
          <a:lstStyle/>
          <a:p>
            <a:pPr algn="ctr"/>
            <a:r>
              <a:rPr lang="fr-FR" dirty="0"/>
              <a:t>Ex 7: compare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bash</a:t>
            </a:r>
            <a:r>
              <a:rPr lang="fr-FR" dirty="0"/>
              <a:t> </a:t>
            </a:r>
            <a:r>
              <a:rPr lang="fr-FR" dirty="0" err="1"/>
              <a:t>tool</a:t>
            </a:r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4990B7-56BA-96F0-53C8-EDD9C375A752}"/>
              </a:ext>
            </a:extLst>
          </p:cNvPr>
          <p:cNvSpPr txBox="1"/>
          <p:nvPr/>
        </p:nvSpPr>
        <p:spPr>
          <a:xfrm>
            <a:off x="2863312" y="378683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    @Test</a:t>
            </a:r>
          </a:p>
          <a:p>
            <a:r>
              <a:rPr lang="fr-FR" dirty="0"/>
              <a:t>    public </a:t>
            </a:r>
            <a:r>
              <a:rPr lang="fr-FR" dirty="0" err="1"/>
              <a:t>void</a:t>
            </a:r>
            <a:r>
              <a:rPr lang="fr-FR" dirty="0"/>
              <a:t> </a:t>
            </a:r>
            <a:r>
              <a:rPr lang="fr-FR" dirty="0" err="1"/>
              <a:t>testMessageDigest</a:t>
            </a:r>
            <a:r>
              <a:rPr lang="fr-FR" dirty="0"/>
              <a:t>() </a:t>
            </a:r>
            <a:r>
              <a:rPr lang="fr-FR" dirty="0" err="1"/>
              <a:t>throws</a:t>
            </a:r>
            <a:r>
              <a:rPr lang="fr-FR" dirty="0"/>
              <a:t> Exception {</a:t>
            </a:r>
          </a:p>
          <a:p>
            <a:r>
              <a:rPr lang="fr-FR" dirty="0"/>
              <a:t>        byte[] data = "Hello World".</a:t>
            </a:r>
            <a:r>
              <a:rPr lang="fr-FR" dirty="0" err="1"/>
              <a:t>getBytes</a:t>
            </a:r>
            <a:r>
              <a:rPr lang="fr-FR" dirty="0"/>
              <a:t>();</a:t>
            </a:r>
          </a:p>
          <a:p>
            <a:r>
              <a:rPr lang="fr-FR" dirty="0"/>
              <a:t>        doTestSha256(data);</a:t>
            </a:r>
          </a:p>
          <a:p>
            <a:r>
              <a:rPr lang="fr-FR" dirty="0"/>
              <a:t>    }</a:t>
            </a:r>
          </a:p>
          <a:p>
            <a:r>
              <a:rPr lang="fr-FR" dirty="0"/>
              <a:t>   @Test</a:t>
            </a:r>
          </a:p>
          <a:p>
            <a:r>
              <a:rPr lang="fr-FR" dirty="0"/>
              <a:t>    public </a:t>
            </a:r>
            <a:r>
              <a:rPr lang="fr-FR" dirty="0" err="1"/>
              <a:t>void</a:t>
            </a:r>
            <a:r>
              <a:rPr lang="fr-FR" dirty="0"/>
              <a:t> </a:t>
            </a:r>
            <a:r>
              <a:rPr lang="fr-FR" dirty="0" err="1"/>
              <a:t>testMessageDigest_newline</a:t>
            </a:r>
            <a:r>
              <a:rPr lang="fr-FR" dirty="0"/>
              <a:t>() </a:t>
            </a:r>
            <a:r>
              <a:rPr lang="fr-FR" dirty="0" err="1"/>
              <a:t>throws</a:t>
            </a:r>
            <a:r>
              <a:rPr lang="fr-FR" dirty="0"/>
              <a:t> Exception {</a:t>
            </a:r>
          </a:p>
          <a:p>
            <a:r>
              <a:rPr lang="fr-FR" dirty="0"/>
              <a:t>        byte[] data = "Hello World\n".</a:t>
            </a:r>
            <a:r>
              <a:rPr lang="fr-FR" dirty="0" err="1"/>
              <a:t>getBytes</a:t>
            </a:r>
            <a:r>
              <a:rPr lang="fr-FR" dirty="0"/>
              <a:t>();</a:t>
            </a:r>
          </a:p>
          <a:p>
            <a:r>
              <a:rPr lang="fr-FR" dirty="0"/>
              <a:t>        doTestSha256(data);</a:t>
            </a:r>
          </a:p>
          <a:p>
            <a:r>
              <a:rPr lang="fr-FR" dirty="0"/>
              <a:t>   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32DC02-B167-6751-072F-D1F0543C613F}"/>
              </a:ext>
            </a:extLst>
          </p:cNvPr>
          <p:cNvSpPr txBox="1"/>
          <p:nvPr/>
        </p:nvSpPr>
        <p:spPr>
          <a:xfrm>
            <a:off x="2863312" y="1883505"/>
            <a:ext cx="87087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$ </a:t>
            </a:r>
            <a:r>
              <a:rPr lang="fr-FR" dirty="0" err="1"/>
              <a:t>echo</a:t>
            </a:r>
            <a:r>
              <a:rPr lang="fr-FR" dirty="0"/>
              <a:t> -n "Hello World" | sha256sum</a:t>
            </a:r>
          </a:p>
          <a:p>
            <a:r>
              <a:rPr lang="fr-FR" dirty="0"/>
              <a:t>a591a6d40bf420404a011733cfb7b190d62c65bf0bcda32b57b277d9ad9f146e *-</a:t>
            </a:r>
          </a:p>
          <a:p>
            <a:endParaRPr lang="fr-FR" dirty="0"/>
          </a:p>
          <a:p>
            <a:r>
              <a:rPr lang="fr-FR" dirty="0"/>
              <a:t>$ </a:t>
            </a:r>
            <a:r>
              <a:rPr lang="fr-FR" dirty="0" err="1"/>
              <a:t>echo</a:t>
            </a:r>
            <a:r>
              <a:rPr lang="fr-FR" dirty="0"/>
              <a:t> "Hello World" | sha256sum</a:t>
            </a:r>
          </a:p>
          <a:p>
            <a:r>
              <a:rPr lang="fr-FR" dirty="0"/>
              <a:t>d2a84f4b8b650937ec8f73cd8be2c74add5a911ba64df27458ed8229da804a26 *-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1662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8C4D1-2243-AF58-1C7F-E9537F75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E8B4C-8161-151E-AE97-07A1F55EE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 8: Use Java API to </a:t>
            </a:r>
            <a:r>
              <a:rPr lang="fr-FR" dirty="0" err="1"/>
              <a:t>encrypt</a:t>
            </a:r>
            <a:r>
              <a:rPr lang="fr-FR" dirty="0"/>
              <a:t> a </a:t>
            </a:r>
            <a:r>
              <a:rPr lang="fr-FR" dirty="0" err="1"/>
              <a:t>text</a:t>
            </a:r>
            <a:r>
              <a:rPr lang="fr-FR" dirty="0"/>
              <a:t>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decrypt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RSA </a:t>
            </a:r>
            <a:r>
              <a:rPr lang="fr-FR" dirty="0" err="1"/>
              <a:t>Assymetric</a:t>
            </a:r>
            <a:r>
              <a:rPr lang="fr-FR" dirty="0"/>
              <a:t> </a:t>
            </a:r>
            <a:r>
              <a:rPr lang="fr-FR" dirty="0" err="1"/>
              <a:t>algorithm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3161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8CFE4-357D-49AE-3D8B-CD9A8A769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 9: Use </a:t>
            </a:r>
            <a:r>
              <a:rPr lang="fr-FR" dirty="0" err="1"/>
              <a:t>jdk</a:t>
            </a:r>
            <a:r>
              <a:rPr lang="fr-FR" dirty="0"/>
              <a:t>/bin/</a:t>
            </a:r>
            <a:r>
              <a:rPr lang="fr-FR" dirty="0" err="1"/>
              <a:t>keytool</a:t>
            </a:r>
            <a:r>
              <a:rPr lang="fr-FR" dirty="0"/>
              <a:t>  </a:t>
            </a:r>
            <a:br>
              <a:rPr lang="fr-FR" dirty="0"/>
            </a:br>
            <a:r>
              <a:rPr lang="fr-FR" dirty="0"/>
              <a:t>to </a:t>
            </a:r>
            <a:r>
              <a:rPr lang="fr-FR" dirty="0" err="1"/>
              <a:t>generate</a:t>
            </a:r>
            <a:r>
              <a:rPr lang="fr-FR" dirty="0"/>
              <a:t> a </a:t>
            </a:r>
            <a:r>
              <a:rPr lang="fr-FR" dirty="0" err="1"/>
              <a:t>PrivateKey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5451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92DD-924F-409C-4F88-1CB70106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 10: Install java </a:t>
            </a:r>
            <a:r>
              <a:rPr lang="fr-FR" dirty="0" err="1"/>
              <a:t>KeyStore</a:t>
            </a:r>
            <a:r>
              <a:rPr lang="fr-FR" dirty="0"/>
              <a:t> Explorer (UI)</a:t>
            </a:r>
            <a:br>
              <a:rPr lang="fr-FR" dirty="0"/>
            </a:br>
            <a:r>
              <a:rPr lang="fr-FR" dirty="0"/>
              <a:t>https://keystore-explorer.org/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0BBC4-A49C-109F-7D02-A36072049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953" y="1607048"/>
            <a:ext cx="9097095" cy="512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254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E1046-851C-02C9-B693-4E354AD88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189"/>
            <a:ext cx="10515600" cy="1325563"/>
          </a:xfrm>
        </p:spPr>
        <p:txBody>
          <a:bodyPr/>
          <a:lstStyle/>
          <a:p>
            <a:r>
              <a:rPr lang="fr-FR" dirty="0"/>
              <a:t>Launch "kse.exe"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59A721-9E6D-7C32-418F-BFFC02F1A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45" y="1056274"/>
            <a:ext cx="3165449" cy="2843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3D827F-4909-6F94-A622-D41F43510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508" y="1484066"/>
            <a:ext cx="6668078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05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48FF7-78DB-F8F0-5D17-F20227A2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402"/>
            <a:ext cx="10515600" cy="1325563"/>
          </a:xfrm>
        </p:spPr>
        <p:txBody>
          <a:bodyPr/>
          <a:lstStyle/>
          <a:p>
            <a:r>
              <a:rPr lang="fr-FR" dirty="0" err="1"/>
              <a:t>Create</a:t>
            </a:r>
            <a:r>
              <a:rPr lang="fr-FR" dirty="0"/>
              <a:t> a new </a:t>
            </a:r>
            <a:r>
              <a:rPr lang="fr-FR" dirty="0" err="1"/>
              <a:t>KeyStore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( or open an </a:t>
            </a:r>
            <a:r>
              <a:rPr lang="fr-FR" dirty="0" err="1"/>
              <a:t>existing</a:t>
            </a:r>
            <a:r>
              <a:rPr lang="fr-FR" dirty="0"/>
              <a:t> *.p12 / *.</a:t>
            </a:r>
            <a:r>
              <a:rPr lang="fr-FR" dirty="0" err="1"/>
              <a:t>jks</a:t>
            </a:r>
            <a:r>
              <a:rPr lang="fr-FR" dirty="0"/>
              <a:t> file)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B87CE8-EA26-BA30-D9F4-6FC8B06A8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971" y="1627910"/>
            <a:ext cx="6649026" cy="50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569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BAB4B-C42B-A5C1-9B4C-0C5B55287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28"/>
            <a:ext cx="10515600" cy="935314"/>
          </a:xfrm>
        </p:spPr>
        <p:txBody>
          <a:bodyPr/>
          <a:lstStyle/>
          <a:p>
            <a:r>
              <a:rPr lang="fr-FR" dirty="0" err="1"/>
              <a:t>Generate</a:t>
            </a:r>
            <a:r>
              <a:rPr lang="fr-FR" dirty="0"/>
              <a:t> a "Secret Key"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5E820D-183E-5F04-E0AB-9DF2BA8BF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2" y="959093"/>
            <a:ext cx="6675698" cy="5067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4AF6D5-F651-3C4F-B98D-491B1149F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775" y="2710753"/>
            <a:ext cx="2141406" cy="14364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63793D7-68FE-8D96-91D2-4CC9CD6D8502}"/>
              </a:ext>
            </a:extLst>
          </p:cNvPr>
          <p:cNvSpPr/>
          <p:nvPr/>
        </p:nvSpPr>
        <p:spPr>
          <a:xfrm>
            <a:off x="1487422" y="1427835"/>
            <a:ext cx="2360908" cy="32546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AE4DD5-CC35-DBB0-C840-93F3C2C3E88A}"/>
              </a:ext>
            </a:extLst>
          </p:cNvPr>
          <p:cNvSpPr/>
          <p:nvPr/>
        </p:nvSpPr>
        <p:spPr>
          <a:xfrm>
            <a:off x="5303398" y="3429000"/>
            <a:ext cx="317816" cy="24521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71B237-7325-3BDD-DEB8-B131B8C57234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929873" y="1674390"/>
            <a:ext cx="656902" cy="1754610"/>
          </a:xfrm>
          <a:prstGeom prst="straightConnector1">
            <a:avLst/>
          </a:prstGeom>
          <a:ln w="28575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E0EB3F-D9E3-BACF-936E-89028F5C90B1}"/>
              </a:ext>
            </a:extLst>
          </p:cNvPr>
          <p:cNvCxnSpPr>
            <a:cxnSpLocks/>
          </p:cNvCxnSpPr>
          <p:nvPr/>
        </p:nvCxnSpPr>
        <p:spPr>
          <a:xfrm>
            <a:off x="843026" y="830460"/>
            <a:ext cx="644396" cy="246283"/>
          </a:xfrm>
          <a:prstGeom prst="straightConnector1">
            <a:avLst/>
          </a:prstGeom>
          <a:ln w="28575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8662E8C-3210-5D66-6255-E1990A21B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082" y="3873315"/>
            <a:ext cx="2552921" cy="1200254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20C34EA-8643-B9EA-E28A-3018A6C3FD68}"/>
              </a:ext>
            </a:extLst>
          </p:cNvPr>
          <p:cNvCxnSpPr>
            <a:cxnSpLocks/>
          </p:cNvCxnSpPr>
          <p:nvPr/>
        </p:nvCxnSpPr>
        <p:spPr>
          <a:xfrm>
            <a:off x="5902108" y="4002919"/>
            <a:ext cx="1150127" cy="365881"/>
          </a:xfrm>
          <a:prstGeom prst="straightConnector1">
            <a:avLst/>
          </a:prstGeom>
          <a:ln w="28575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1FD4D25-9B85-DFC2-8F50-CCA3D3B90832}"/>
              </a:ext>
            </a:extLst>
          </p:cNvPr>
          <p:cNvCxnSpPr>
            <a:cxnSpLocks/>
          </p:cNvCxnSpPr>
          <p:nvPr/>
        </p:nvCxnSpPr>
        <p:spPr>
          <a:xfrm>
            <a:off x="5507661" y="3674213"/>
            <a:ext cx="113553" cy="199102"/>
          </a:xfrm>
          <a:prstGeom prst="straightConnector1">
            <a:avLst/>
          </a:prstGeom>
          <a:ln w="28575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89C4FEB8-3D12-2D34-A287-E85857EC8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5291" y="5283817"/>
            <a:ext cx="3227350" cy="1486029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B2DF5E8-60A1-64AC-E452-5E10003B0728}"/>
              </a:ext>
            </a:extLst>
          </p:cNvPr>
          <p:cNvCxnSpPr>
            <a:cxnSpLocks/>
          </p:cNvCxnSpPr>
          <p:nvPr/>
        </p:nvCxnSpPr>
        <p:spPr>
          <a:xfrm>
            <a:off x="8522447" y="4972424"/>
            <a:ext cx="1464235" cy="836705"/>
          </a:xfrm>
          <a:prstGeom prst="straightConnector1">
            <a:avLst/>
          </a:prstGeom>
          <a:ln w="28575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A48AE95-5602-E2A8-58CB-3D67621EBEE7}"/>
              </a:ext>
            </a:extLst>
          </p:cNvPr>
          <p:cNvCxnSpPr>
            <a:cxnSpLocks/>
          </p:cNvCxnSpPr>
          <p:nvPr/>
        </p:nvCxnSpPr>
        <p:spPr>
          <a:xfrm>
            <a:off x="10273553" y="6172678"/>
            <a:ext cx="101600" cy="449251"/>
          </a:xfrm>
          <a:prstGeom prst="straightConnector1">
            <a:avLst/>
          </a:prstGeom>
          <a:ln w="28575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91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015AA-7132-9281-82E5-D0DDCA3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36706"/>
          </a:xfrm>
        </p:spPr>
        <p:txBody>
          <a:bodyPr/>
          <a:lstStyle/>
          <a:p>
            <a:r>
              <a:rPr lang="fr-FR" dirty="0" err="1"/>
              <a:t>Created</a:t>
            </a:r>
            <a:r>
              <a:rPr lang="fr-FR" dirty="0"/>
              <a:t> AES Key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E1F84-6DE4-EA80-C31B-AC61A562F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73" y="1389608"/>
            <a:ext cx="5888419" cy="4477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995740-4F04-BA6D-3F64-25C8379F0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089" y="1713753"/>
            <a:ext cx="3360711" cy="235097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E614BB-626E-79DC-3ED8-22C111CD920C}"/>
              </a:ext>
            </a:extLst>
          </p:cNvPr>
          <p:cNvCxnSpPr>
            <a:cxnSpLocks/>
          </p:cNvCxnSpPr>
          <p:nvPr/>
        </p:nvCxnSpPr>
        <p:spPr>
          <a:xfrm>
            <a:off x="6485341" y="2502824"/>
            <a:ext cx="1460904" cy="204516"/>
          </a:xfrm>
          <a:prstGeom prst="straightConnector1">
            <a:avLst/>
          </a:prstGeom>
          <a:ln w="28575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466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F68D-5749-1490-ECF6-553804C7B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6652"/>
            <a:ext cx="10515600" cy="1325563"/>
          </a:xfrm>
        </p:spPr>
        <p:txBody>
          <a:bodyPr/>
          <a:lstStyle/>
          <a:p>
            <a:r>
              <a:rPr lang="fr-FR" dirty="0"/>
              <a:t>Ex 11: compare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gpg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DEF2A-2B59-0C77-D069-08349594C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529" y="1168911"/>
            <a:ext cx="7361558" cy="533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021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05303-E801-D6FD-3924-9D011357F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19" y="55159"/>
            <a:ext cx="11219481" cy="1804638"/>
          </a:xfrm>
        </p:spPr>
        <p:txBody>
          <a:bodyPr/>
          <a:lstStyle/>
          <a:p>
            <a:pPr algn="ctr"/>
            <a:r>
              <a:rPr lang="fr-FR" dirty="0"/>
              <a:t>Ex 12: Use </a:t>
            </a:r>
            <a:r>
              <a:rPr lang="fr-FR" dirty="0" err="1"/>
              <a:t>java.security.Cipher</a:t>
            </a:r>
            <a:r>
              <a:rPr lang="fr-FR" dirty="0"/>
              <a:t> and </a:t>
            </a:r>
            <a:r>
              <a:rPr lang="fr-FR" dirty="0" err="1"/>
              <a:t>KeyGenerator</a:t>
            </a:r>
            <a:br>
              <a:rPr lang="fr-FR" dirty="0"/>
            </a:br>
            <a:r>
              <a:rPr lang="fr-FR" dirty="0"/>
              <a:t>to </a:t>
            </a:r>
            <a:r>
              <a:rPr lang="fr-FR" dirty="0" err="1"/>
              <a:t>encrypt</a:t>
            </a:r>
            <a:r>
              <a:rPr lang="fr-FR" dirty="0"/>
              <a:t> a </a:t>
            </a:r>
            <a:r>
              <a:rPr lang="fr-FR" dirty="0" err="1"/>
              <a:t>text</a:t>
            </a:r>
            <a:r>
              <a:rPr lang="fr-FR" dirty="0"/>
              <a:t>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decrypt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a </a:t>
            </a:r>
            <a:r>
              <a:rPr lang="fr-FR" dirty="0" err="1"/>
              <a:t>Symmetric</a:t>
            </a:r>
            <a:r>
              <a:rPr lang="fr-FR" dirty="0"/>
              <a:t> key </a:t>
            </a:r>
            <a:r>
              <a:rPr lang="fr-FR" dirty="0" err="1"/>
              <a:t>algorithm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1354DC-7F71-CF6D-6771-129C7D7E908A}"/>
              </a:ext>
            </a:extLst>
          </p:cNvPr>
          <p:cNvSpPr txBox="1"/>
          <p:nvPr/>
        </p:nvSpPr>
        <p:spPr>
          <a:xfrm>
            <a:off x="3213314" y="1746141"/>
            <a:ext cx="646279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    // </a:t>
            </a:r>
            <a:r>
              <a:rPr lang="fr-FR" sz="1200" dirty="0" err="1"/>
              <a:t>encrypt</a:t>
            </a:r>
            <a:r>
              <a:rPr lang="fr-FR" sz="1200" dirty="0"/>
              <a:t> </a:t>
            </a:r>
            <a:r>
              <a:rPr lang="fr-FR" sz="1200" dirty="0" err="1"/>
              <a:t>then</a:t>
            </a:r>
            <a:r>
              <a:rPr lang="fr-FR" sz="1200" dirty="0"/>
              <a:t> </a:t>
            </a:r>
            <a:r>
              <a:rPr lang="fr-FR" sz="1200" dirty="0" err="1"/>
              <a:t>decrypt</a:t>
            </a:r>
            <a:r>
              <a:rPr lang="fr-FR" sz="1200" dirty="0"/>
              <a:t> </a:t>
            </a:r>
            <a:r>
              <a:rPr lang="fr-FR" sz="1200" dirty="0" err="1"/>
              <a:t>using</a:t>
            </a:r>
            <a:r>
              <a:rPr lang="fr-FR" sz="1200" dirty="0"/>
              <a:t> </a:t>
            </a:r>
            <a:r>
              <a:rPr lang="fr-FR" sz="1200" dirty="0" err="1"/>
              <a:t>symmetric</a:t>
            </a:r>
            <a:r>
              <a:rPr lang="fr-FR" sz="1200" dirty="0"/>
              <a:t> key </a:t>
            </a:r>
            <a:r>
              <a:rPr lang="fr-FR" sz="1200" dirty="0" err="1"/>
              <a:t>algorithm</a:t>
            </a:r>
            <a:r>
              <a:rPr lang="fr-FR" sz="1200" dirty="0"/>
              <a:t> AES-256</a:t>
            </a:r>
          </a:p>
          <a:p>
            <a:r>
              <a:rPr lang="fr-FR" sz="1200" dirty="0"/>
              <a:t>    @Test</a:t>
            </a:r>
          </a:p>
          <a:p>
            <a:r>
              <a:rPr lang="fr-FR" sz="1200" dirty="0"/>
              <a:t>    public </a:t>
            </a:r>
            <a:r>
              <a:rPr lang="fr-FR" sz="1200" dirty="0" err="1"/>
              <a:t>void</a:t>
            </a:r>
            <a:r>
              <a:rPr lang="fr-FR" sz="1200" dirty="0"/>
              <a:t> </a:t>
            </a:r>
            <a:r>
              <a:rPr lang="fr-FR" sz="1200" dirty="0" err="1"/>
              <a:t>testEncryptDecrypt</a:t>
            </a:r>
            <a:r>
              <a:rPr lang="fr-FR" sz="1200" dirty="0"/>
              <a:t>() {</a:t>
            </a:r>
          </a:p>
          <a:p>
            <a:r>
              <a:rPr lang="fr-FR" sz="1200" dirty="0"/>
              <a:t>        String data = "Hello World".</a:t>
            </a:r>
            <a:r>
              <a:rPr lang="fr-FR" sz="1200" dirty="0" err="1"/>
              <a:t>getBytes</a:t>
            </a:r>
            <a:r>
              <a:rPr lang="fr-FR" sz="1200" dirty="0"/>
              <a:t>();</a:t>
            </a:r>
          </a:p>
          <a:p>
            <a:r>
              <a:rPr lang="fr-FR" sz="1200" dirty="0"/>
              <a:t>        String key = "1234567890123456";</a:t>
            </a:r>
          </a:p>
          <a:p>
            <a:r>
              <a:rPr lang="fr-FR" sz="1200" dirty="0"/>
              <a:t>        String iv = "1234567890123456";</a:t>
            </a:r>
          </a:p>
          <a:p>
            <a:r>
              <a:rPr lang="fr-FR" sz="1200" dirty="0"/>
              <a:t>        </a:t>
            </a:r>
            <a:r>
              <a:rPr lang="fr-FR" sz="1200" dirty="0" err="1"/>
              <a:t>System.out.println</a:t>
            </a:r>
            <a:r>
              <a:rPr lang="fr-FR" sz="1200" dirty="0"/>
              <a:t>("</a:t>
            </a:r>
            <a:r>
              <a:rPr lang="fr-FR" sz="1200" dirty="0" err="1"/>
              <a:t>plainText</a:t>
            </a:r>
            <a:r>
              <a:rPr lang="fr-FR" sz="1200" dirty="0"/>
              <a:t>: " + </a:t>
            </a:r>
            <a:r>
              <a:rPr lang="fr-FR" sz="1200" dirty="0" err="1"/>
              <a:t>plainText</a:t>
            </a:r>
            <a:r>
              <a:rPr lang="fr-FR" sz="1200" dirty="0"/>
              <a:t> + ", key: " + key + ", iv:" + iv);</a:t>
            </a:r>
          </a:p>
          <a:p>
            <a:endParaRPr lang="fr-FR" sz="1200" dirty="0"/>
          </a:p>
          <a:p>
            <a:r>
              <a:rPr lang="fr-FR" sz="1200" dirty="0"/>
              <a:t>        // </a:t>
            </a:r>
            <a:r>
              <a:rPr lang="fr-FR" sz="1200" dirty="0" err="1"/>
              <a:t>encrypt</a:t>
            </a:r>
            <a:endParaRPr lang="fr-FR" sz="1200" dirty="0"/>
          </a:p>
          <a:p>
            <a:r>
              <a:rPr lang="fr-FR" sz="1200" dirty="0"/>
              <a:t>        byte[] </a:t>
            </a:r>
            <a:r>
              <a:rPr lang="fr-FR" sz="1200" dirty="0" err="1"/>
              <a:t>encrypted</a:t>
            </a:r>
            <a:r>
              <a:rPr lang="fr-FR" sz="1200" dirty="0"/>
              <a:t> = </a:t>
            </a:r>
            <a:r>
              <a:rPr lang="fr-FR" sz="1200" dirty="0" err="1"/>
              <a:t>encryptAES</a:t>
            </a:r>
            <a:r>
              <a:rPr lang="fr-FR" sz="1200" dirty="0"/>
              <a:t>(data, key, iv);</a:t>
            </a:r>
          </a:p>
          <a:p>
            <a:r>
              <a:rPr lang="fr-FR" sz="1200" dirty="0"/>
              <a:t>        </a:t>
            </a:r>
            <a:r>
              <a:rPr lang="fr-FR" sz="1200" dirty="0" err="1"/>
              <a:t>System.out.println</a:t>
            </a:r>
            <a:r>
              <a:rPr lang="fr-FR" sz="1200" dirty="0"/>
              <a:t>("</a:t>
            </a:r>
            <a:r>
              <a:rPr lang="fr-FR" sz="1200" dirty="0" err="1"/>
              <a:t>encrypted</a:t>
            </a:r>
            <a:r>
              <a:rPr lang="fr-FR" sz="1200" dirty="0"/>
              <a:t>: " + </a:t>
            </a:r>
            <a:r>
              <a:rPr lang="fr-FR" sz="1200" dirty="0" err="1"/>
              <a:t>encrypted</a:t>
            </a:r>
            <a:r>
              <a:rPr lang="fr-FR" sz="1200" dirty="0"/>
              <a:t>);</a:t>
            </a:r>
          </a:p>
          <a:p>
            <a:endParaRPr lang="fr-FR" sz="1200" dirty="0"/>
          </a:p>
          <a:p>
            <a:r>
              <a:rPr lang="fr-FR" sz="1200" dirty="0"/>
              <a:t>        // </a:t>
            </a:r>
            <a:r>
              <a:rPr lang="fr-FR" sz="1200" dirty="0" err="1"/>
              <a:t>decrypt</a:t>
            </a:r>
            <a:endParaRPr lang="fr-FR" sz="1200" dirty="0"/>
          </a:p>
          <a:p>
            <a:r>
              <a:rPr lang="fr-FR" sz="1200" dirty="0"/>
              <a:t>        String </a:t>
            </a:r>
            <a:r>
              <a:rPr lang="fr-FR" sz="1200" dirty="0" err="1"/>
              <a:t>decrypted</a:t>
            </a:r>
            <a:r>
              <a:rPr lang="fr-FR" sz="1200" dirty="0"/>
              <a:t> = </a:t>
            </a:r>
            <a:r>
              <a:rPr lang="fr-FR" sz="1200" dirty="0" err="1"/>
              <a:t>decryptAES</a:t>
            </a:r>
            <a:r>
              <a:rPr lang="fr-FR" sz="1200" dirty="0"/>
              <a:t>(</a:t>
            </a:r>
            <a:r>
              <a:rPr lang="fr-FR" sz="1200" dirty="0" err="1"/>
              <a:t>encrypted</a:t>
            </a:r>
            <a:r>
              <a:rPr lang="fr-FR" sz="1200" dirty="0"/>
              <a:t>, key, iv);</a:t>
            </a:r>
          </a:p>
          <a:p>
            <a:r>
              <a:rPr lang="fr-FR" sz="1200" dirty="0"/>
              <a:t>        </a:t>
            </a:r>
            <a:r>
              <a:rPr lang="fr-FR" sz="1200" dirty="0" err="1"/>
              <a:t>System.out.println</a:t>
            </a:r>
            <a:r>
              <a:rPr lang="fr-FR" sz="1200" dirty="0"/>
              <a:t>("</a:t>
            </a:r>
            <a:r>
              <a:rPr lang="fr-FR" sz="1200" dirty="0" err="1"/>
              <a:t>decrypted</a:t>
            </a:r>
            <a:r>
              <a:rPr lang="fr-FR" sz="1200" dirty="0"/>
              <a:t>: " + </a:t>
            </a:r>
            <a:r>
              <a:rPr lang="fr-FR" sz="1200" dirty="0" err="1"/>
              <a:t>decrypted</a:t>
            </a:r>
            <a:r>
              <a:rPr lang="fr-FR" sz="1200" dirty="0"/>
              <a:t>);</a:t>
            </a:r>
          </a:p>
          <a:p>
            <a:r>
              <a:rPr lang="fr-FR" sz="1200" dirty="0"/>
              <a:t>    }</a:t>
            </a:r>
          </a:p>
          <a:p>
            <a:endParaRPr lang="fr-FR" sz="1200" dirty="0"/>
          </a:p>
          <a:p>
            <a:r>
              <a:rPr lang="fr-FR" sz="1200" dirty="0"/>
              <a:t>    </a:t>
            </a:r>
            <a:r>
              <a:rPr lang="fr-FR" sz="1200" dirty="0" err="1"/>
              <a:t>private</a:t>
            </a:r>
            <a:r>
              <a:rPr lang="fr-FR" sz="1200" dirty="0"/>
              <a:t> byte[] </a:t>
            </a:r>
            <a:r>
              <a:rPr lang="fr-FR" sz="1200" dirty="0" err="1"/>
              <a:t>encryptAES</a:t>
            </a:r>
            <a:r>
              <a:rPr lang="fr-FR" sz="1200" dirty="0"/>
              <a:t>(byte[] data, String key, String iv) {</a:t>
            </a:r>
          </a:p>
          <a:p>
            <a:r>
              <a:rPr lang="fr-FR" sz="1200" dirty="0"/>
              <a:t>        // ***** </a:t>
            </a:r>
            <a:r>
              <a:rPr lang="fr-FR" sz="1200" dirty="0" err="1"/>
              <a:t>complete</a:t>
            </a:r>
            <a:r>
              <a:rPr lang="fr-FR" sz="1200" dirty="0"/>
              <a:t> code </a:t>
            </a:r>
            <a:r>
              <a:rPr lang="fr-FR" sz="1200" dirty="0" err="1"/>
              <a:t>yourself</a:t>
            </a:r>
            <a:r>
              <a:rPr lang="fr-FR" sz="1200" dirty="0"/>
              <a:t> ******</a:t>
            </a:r>
          </a:p>
          <a:p>
            <a:r>
              <a:rPr lang="fr-FR" sz="1200" dirty="0"/>
              <a:t>        return </a:t>
            </a:r>
            <a:r>
              <a:rPr lang="fr-FR" sz="1200" dirty="0" err="1"/>
              <a:t>null</a:t>
            </a:r>
            <a:r>
              <a:rPr lang="fr-FR" sz="1200" dirty="0"/>
              <a:t>;</a:t>
            </a:r>
          </a:p>
          <a:p>
            <a:r>
              <a:rPr lang="fr-FR" sz="1200" dirty="0"/>
              <a:t>    }</a:t>
            </a:r>
          </a:p>
          <a:p>
            <a:r>
              <a:rPr lang="fr-FR" sz="1200" dirty="0"/>
              <a:t>    </a:t>
            </a:r>
            <a:r>
              <a:rPr lang="fr-FR" sz="1200" dirty="0" err="1"/>
              <a:t>private</a:t>
            </a:r>
            <a:r>
              <a:rPr lang="fr-FR" sz="1200" dirty="0"/>
              <a:t> String </a:t>
            </a:r>
            <a:r>
              <a:rPr lang="fr-FR" sz="1200" dirty="0" err="1"/>
              <a:t>decryptAES</a:t>
            </a:r>
            <a:r>
              <a:rPr lang="fr-FR" sz="1200" dirty="0"/>
              <a:t>(byte[] </a:t>
            </a:r>
            <a:r>
              <a:rPr lang="fr-FR" sz="1200" dirty="0" err="1"/>
              <a:t>encrypted</a:t>
            </a:r>
            <a:r>
              <a:rPr lang="fr-FR" sz="1200" dirty="0"/>
              <a:t>, String key, String iv) {</a:t>
            </a:r>
          </a:p>
          <a:p>
            <a:r>
              <a:rPr lang="fr-FR" sz="1200" dirty="0"/>
              <a:t>        // ***** </a:t>
            </a:r>
            <a:r>
              <a:rPr lang="fr-FR" sz="1200" dirty="0" err="1"/>
              <a:t>complete</a:t>
            </a:r>
            <a:r>
              <a:rPr lang="fr-FR" sz="1200" dirty="0"/>
              <a:t> code </a:t>
            </a:r>
            <a:r>
              <a:rPr lang="fr-FR" sz="1200" dirty="0" err="1"/>
              <a:t>yourself</a:t>
            </a:r>
            <a:r>
              <a:rPr lang="fr-FR" sz="1200" dirty="0"/>
              <a:t> *****</a:t>
            </a:r>
          </a:p>
          <a:p>
            <a:r>
              <a:rPr lang="fr-FR" sz="1200" dirty="0"/>
              <a:t>        return </a:t>
            </a:r>
            <a:r>
              <a:rPr lang="fr-FR" sz="1200" dirty="0" err="1"/>
              <a:t>null</a:t>
            </a:r>
            <a:r>
              <a:rPr lang="fr-FR" sz="1200" dirty="0"/>
              <a:t>;</a:t>
            </a:r>
          </a:p>
          <a:p>
            <a:r>
              <a:rPr lang="fr-FR" sz="1200" dirty="0"/>
              <a:t>    }</a:t>
            </a:r>
          </a:p>
          <a:p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6996220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D3D18-2398-087B-F369-5F9E83264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 13: </a:t>
            </a:r>
            <a:r>
              <a:rPr lang="fr-FR" dirty="0" err="1"/>
              <a:t>repeat</a:t>
            </a:r>
            <a:r>
              <a:rPr lang="fr-FR" dirty="0"/>
              <a:t> ex12, but use java class </a:t>
            </a:r>
            <a:r>
              <a:rPr lang="fr-FR" dirty="0" err="1"/>
              <a:t>KeyStore</a:t>
            </a:r>
            <a:r>
              <a:rPr lang="fr-FR" dirty="0"/>
              <a:t> to </a:t>
            </a:r>
            <a:r>
              <a:rPr lang="fr-FR" dirty="0" err="1"/>
              <a:t>load</a:t>
            </a:r>
            <a:r>
              <a:rPr lang="fr-FR" dirty="0"/>
              <a:t> the key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keystore</a:t>
            </a:r>
            <a:r>
              <a:rPr lang="fr-FR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2658126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DC5FA-3D9F-4301-7504-60803885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957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Question ?</a:t>
            </a:r>
          </a:p>
        </p:txBody>
      </p:sp>
    </p:spTree>
    <p:extLst>
      <p:ext uri="{BB962C8B-B14F-4D97-AF65-F5344CB8AC3E}">
        <p14:creationId xmlns:p14="http://schemas.microsoft.com/office/powerpoint/2010/main" val="2199169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1841</TotalTime>
  <Words>1315</Words>
  <Application>Microsoft Office PowerPoint</Application>
  <PresentationFormat>Grand écran</PresentationFormat>
  <Paragraphs>157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Security - Hands-On 4 Cryptography Prime Numbers</vt:lpstr>
      <vt:lpstr>Study on Prime-Number ... java code snippets</vt:lpstr>
      <vt:lpstr>Step 1: Create a new Java (Maven) Project</vt:lpstr>
      <vt:lpstr>Ex1: Print consecutive powers of a number, modulo a prime number (ex: 101)</vt:lpstr>
      <vt:lpstr>Run several samples  as JUnit "@Test" methods for p=7, 11, 13, 17, 101, .. also run for p not prime, ex: 6</vt:lpstr>
      <vt:lpstr>Run/Debug your Test(s)</vt:lpstr>
      <vt:lpstr>Ex 2 : How to efficiently raise number  to powers 2, 4, 8, 16 ... ?</vt:lpstr>
      <vt:lpstr>(Optional) Ex 3: Write code to efficiently raise a number to power N="1000 000 000 000", with modulo "P"</vt:lpstr>
      <vt:lpstr>Ex 4 : code to use java BigInteger  instead of int/long</vt:lpstr>
      <vt:lpstr>(Ex 4)  Compute following:</vt:lpstr>
      <vt:lpstr>Ex 5: Without iterating to check on divisors, proof that a given "P" is NOT prime</vt:lpstr>
      <vt:lpstr>Notice that searching  n1,n2 with N=n1*n2    is much more complex...  But when knowing, checking is trivial n1=1000000007 x n2=1000000009</vt:lpstr>
      <vt:lpstr>Ex5 : repeat primality test on n1, n2 compute  2^(n1-1) modulo n1</vt:lpstr>
      <vt:lpstr>Write the Fermat Primality test, with 5 internal number tries</vt:lpstr>
      <vt:lpstr>Ex 5: use java BigInteger.nextProbablePrime() to print the consecutive 1000 primes, after a given N</vt:lpstr>
      <vt:lpstr>using standard java.security.*  package (class MessageDigest, .. )  compare with bash command line tools</vt:lpstr>
      <vt:lpstr>Ex 6: Use Java API to compute "SHA-256" of text  (ex: "Hello World") print result in Hexa</vt:lpstr>
      <vt:lpstr>Ex 7: compare with bash tool</vt:lpstr>
      <vt:lpstr>Ex 8: Use Java API to encrypt a text then decrypt, with RSA Assymetric algorithm</vt:lpstr>
      <vt:lpstr>Ex 9: Use jdk/bin/keytool   to generate a PrivateKey</vt:lpstr>
      <vt:lpstr>Ex 10: Install java KeyStore Explorer (UI) https://keystore-explorer.org/</vt:lpstr>
      <vt:lpstr>Launch "kse.exe"</vt:lpstr>
      <vt:lpstr>Create a new KeyStore  ( or open an existing *.p12 / *.jks file)</vt:lpstr>
      <vt:lpstr>Generate a "Secret Key"</vt:lpstr>
      <vt:lpstr>Created AES Key</vt:lpstr>
      <vt:lpstr>Ex 11: compare with gpg</vt:lpstr>
      <vt:lpstr>Ex 12: Use java.security.Cipher and KeyGenerator to encrypt a text then decrypt, with a Symmetric key algorithm</vt:lpstr>
      <vt:lpstr>Ex 13: repeat ex12, but use java class KeyStore to load the key from your keystore file</vt:lpstr>
      <vt:lpstr>Question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- Hands-On 4 Cryptography Prime Numbers</dc:title>
  <dc:creator>NAUWYNCK Arnaud</dc:creator>
  <cp:lastModifiedBy>arnaud</cp:lastModifiedBy>
  <cp:revision>22</cp:revision>
  <dcterms:created xsi:type="dcterms:W3CDTF">2025-03-07T11:41:58Z</dcterms:created>
  <dcterms:modified xsi:type="dcterms:W3CDTF">2026-02-24T19:14:14Z</dcterms:modified>
</cp:coreProperties>
</file>