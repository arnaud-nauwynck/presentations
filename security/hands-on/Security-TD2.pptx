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374" r:id="rId4"/>
    <p:sldId id="320" r:id="rId5"/>
    <p:sldId id="321" r:id="rId6"/>
    <p:sldId id="259" r:id="rId7"/>
    <p:sldId id="323" r:id="rId8"/>
    <p:sldId id="260" r:id="rId9"/>
    <p:sldId id="261" r:id="rId10"/>
    <p:sldId id="258" r:id="rId11"/>
    <p:sldId id="262" r:id="rId12"/>
    <p:sldId id="263" r:id="rId13"/>
    <p:sldId id="266" r:id="rId14"/>
    <p:sldId id="264" r:id="rId15"/>
    <p:sldId id="265" r:id="rId16"/>
    <p:sldId id="364" r:id="rId17"/>
    <p:sldId id="369" r:id="rId18"/>
    <p:sldId id="370" r:id="rId19"/>
    <p:sldId id="371" r:id="rId20"/>
    <p:sldId id="343" r:id="rId21"/>
    <p:sldId id="361" r:id="rId22"/>
    <p:sldId id="363" r:id="rId23"/>
    <p:sldId id="373" r:id="rId24"/>
    <p:sldId id="372" r:id="rId25"/>
    <p:sldId id="324" r:id="rId26"/>
    <p:sldId id="267" r:id="rId27"/>
    <p:sldId id="268" r:id="rId28"/>
    <p:sldId id="269" r:id="rId29"/>
    <p:sldId id="270" r:id="rId30"/>
    <p:sldId id="329" r:id="rId31"/>
    <p:sldId id="330" r:id="rId32"/>
    <p:sldId id="331" r:id="rId33"/>
    <p:sldId id="271" r:id="rId34"/>
    <p:sldId id="332" r:id="rId35"/>
    <p:sldId id="333" r:id="rId36"/>
    <p:sldId id="334" r:id="rId37"/>
    <p:sldId id="335" r:id="rId38"/>
    <p:sldId id="325" r:id="rId39"/>
    <p:sldId id="272" r:id="rId40"/>
    <p:sldId id="336" r:id="rId41"/>
    <p:sldId id="273" r:id="rId42"/>
    <p:sldId id="337" r:id="rId43"/>
    <p:sldId id="338" r:id="rId44"/>
    <p:sldId id="344" r:id="rId45"/>
    <p:sldId id="345" r:id="rId46"/>
    <p:sldId id="339" r:id="rId47"/>
    <p:sldId id="346" r:id="rId48"/>
    <p:sldId id="347" r:id="rId49"/>
    <p:sldId id="348" r:id="rId50"/>
    <p:sldId id="349" r:id="rId51"/>
    <p:sldId id="350" r:id="rId52"/>
    <p:sldId id="351" r:id="rId53"/>
    <p:sldId id="340" r:id="rId54"/>
    <p:sldId id="341" r:id="rId55"/>
    <p:sldId id="326" r:id="rId56"/>
    <p:sldId id="358" r:id="rId57"/>
    <p:sldId id="342" r:id="rId58"/>
    <p:sldId id="359" r:id="rId59"/>
    <p:sldId id="362" r:id="rId60"/>
    <p:sldId id="353" r:id="rId61"/>
    <p:sldId id="352" r:id="rId62"/>
    <p:sldId id="360" r:id="rId63"/>
    <p:sldId id="327" r:id="rId64"/>
    <p:sldId id="354" r:id="rId65"/>
    <p:sldId id="366" r:id="rId66"/>
    <p:sldId id="367" r:id="rId67"/>
    <p:sldId id="368" r:id="rId68"/>
    <p:sldId id="365" r:id="rId69"/>
    <p:sldId id="355" r:id="rId7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2" autoAdjust="0"/>
    <p:restoredTop sz="94660"/>
  </p:normalViewPr>
  <p:slideViewPr>
    <p:cSldViewPr snapToGrid="0">
      <p:cViewPr varScale="1">
        <p:scale>
          <a:sx n="81" d="100"/>
          <a:sy n="81" d="100"/>
        </p:scale>
        <p:origin x="7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531430-F929-40EE-8D19-16696AB89329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172B1-CC20-4749-99E7-D9F9BCE84E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312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3172B1-CC20-4749-99E7-D9F9BCE84ED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6985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A7BDE-1714-AC62-3F3E-631C2FED9E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6B9DFF-259D-AF6F-77A0-CB6383B817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844E2-C136-8B3B-D877-568559C6A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A2794F-190B-3EA2-C99E-E598FBE3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72540-1CA4-3108-F80A-E13021099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5543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FE966-7CA8-73CA-961F-40CB0F260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6CD58-C469-A0A1-A200-5C0C1C61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A7B4DC-08C6-1FC7-0E25-23C15C1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14C33-3D30-733D-3554-748A75638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F5D917-AAF6-8B45-F32E-CAF91939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622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3F4DC-6A0A-FA46-A415-3CD0F0F47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5C2CC-4572-F053-1895-020F55EFE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1BA05-E359-0CA2-4102-BA7028B36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24861-1A36-8562-C88B-37A5C1CA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DCE66-74F3-B22E-BA37-384992160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739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C504F-327C-A845-48D2-366592FC8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61487-A1EC-6F2A-CFB3-192A3DBA78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420019-C0FD-08F7-AED3-52C051F1B9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4813EE-5E70-436B-BA66-6ADDB7F4A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9377C-0F19-5B6B-9B46-2E81FA4FE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CAC87D-E076-BA56-E4AC-D4193F7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0120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27BB0-E04D-F75C-1BE9-B00036290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54D0B-AAAC-B7D7-94B5-4B6754208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10465-1D2D-6B01-D35E-6A82B5F727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028280-BFD4-942E-9020-F0388D8CBD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6C3A8B-5581-4227-B84D-8379327BE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80C877-74F8-BF3B-5C6D-CB74F997A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B7C04B-DD45-C738-795D-147E0BE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1D7D42-1EBB-49D8-1618-17B8D375C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9098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6007C-B06F-11BB-26A1-1B83EF786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55BD3E-051F-4496-192E-9B706A158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8F2D04-DC5A-A7E2-3601-5DDAA3391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7621E-BF69-DCD3-2E16-045D2D1DA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6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29CC0-698E-B58D-0C9B-DD3B00F22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9AC28-CCD8-6B43-7362-DF2082136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87218-F1F4-2C86-FD90-DAEE0038C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7380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EA3A6-0F6F-D277-6CA0-E5A14683C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A9085-8EEE-6928-5864-E23ECC734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AA54F-A4EA-0B85-DE42-9FC272711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8ED38-A994-8D06-C1CA-E4F07119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14F21E-564E-C275-2B34-ED9809B28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21E79E-A1FD-0C10-58CB-C7FA1FF3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0798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FCC5-7B11-72A7-D199-2EEC1CD02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F15D93-1622-97F2-26EF-C72C99EF18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F9E819-A4F0-3D28-B3C6-DF0A30065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5955-646A-90DE-98A6-F9A1733A8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3E1AB5-306F-DDE2-83A3-3E1495C4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778A8-37EF-AA38-20E4-3B8B4BABE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3286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B478-D2CE-575F-6C2A-9852CA9E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77F175-E5D5-796F-5D06-B8EE63CFF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E3FE3-E44E-3A8F-5F29-EE9C320D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EC2F1-0571-ED16-A516-EB73300F2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BB824-85EA-D6FD-702B-1A0786B8E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7983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3C1720-0492-55F2-D164-E31E36CB04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10194E-8A8F-5FD5-0230-3B9F466C6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95E88-5F58-E807-8D72-DF78ED082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792D5-8187-379A-56DA-A79ADEC48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3C830-01B0-83C0-D032-8B6B0F00E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2298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88FD4B-2D13-91F8-53AB-B1946FB10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FF81F-97CC-24AB-FF61-74915BD3E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FCF4D-BC61-67B6-6F76-36F5E03A1E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DC8E9-C304-4BB3-AFBF-C08C2C3BFF58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32B90-0B33-D02D-C71F-13913409D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CC605-9778-5E90-1585-E3BB5F0019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97A8E-8007-40B8-A109-3A3D5474E1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1438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4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08BDB-65E8-11C2-166B-9DBB13CBDE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8121" y="1833965"/>
            <a:ext cx="11318929" cy="981559"/>
          </a:xfrm>
        </p:spPr>
        <p:txBody>
          <a:bodyPr>
            <a:noAutofit/>
          </a:bodyPr>
          <a:lstStyle/>
          <a:p>
            <a:r>
              <a:rPr lang="fr-FR" sz="5400" dirty="0"/>
              <a:t>TD2 (</a:t>
            </a:r>
            <a:r>
              <a:rPr lang="fr-FR" sz="5400" dirty="0" err="1"/>
              <a:t>Password</a:t>
            </a:r>
            <a:r>
              <a:rPr lang="fr-FR" sz="5400" dirty="0"/>
              <a:t> Management)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22598-3214-48C7-7B1A-7C4FB6829B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Esilv</a:t>
            </a:r>
            <a:r>
              <a:rPr lang="fr-FR" dirty="0"/>
              <a:t> 2026</a:t>
            </a:r>
          </a:p>
          <a:p>
            <a:endParaRPr lang="fr-FR" dirty="0"/>
          </a:p>
          <a:p>
            <a:r>
              <a:rPr lang="fr-FR" dirty="0"/>
              <a:t>arnaud.nauwynck@gmail.com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8414EE-877C-5AEC-B6A0-E2BC51C252CC}"/>
              </a:ext>
            </a:extLst>
          </p:cNvPr>
          <p:cNvSpPr txBox="1"/>
          <p:nvPr/>
        </p:nvSpPr>
        <p:spPr>
          <a:xfrm>
            <a:off x="4506270" y="599268"/>
            <a:ext cx="317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Security &amp; </a:t>
            </a:r>
            <a:r>
              <a:rPr lang="fr-FR" sz="3200" dirty="0" err="1"/>
              <a:t>Privacy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3248424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5A6C-45FA-262D-8217-BCF9E878F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Outline</a:t>
            </a:r>
            <a:r>
              <a:rPr lang="fr-FR" dirty="0"/>
              <a:t>  ( = </a:t>
            </a:r>
            <a:r>
              <a:rPr lang="fr-FR" dirty="0" err="1"/>
              <a:t>Same</a:t>
            </a:r>
            <a:r>
              <a:rPr lang="fr-FR" dirty="0"/>
              <a:t> as Course)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14D350-EA92-BA05-2AB1-F40D49E144B4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51079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FB10-FBAF-B0A1-4B79-B1F1ADCD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E787C-C368-1AC4-09EB-96BDB5F5E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Summary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AF3A23-57B5-FEC3-89A2-97D3C2311E74}"/>
              </a:ext>
            </a:extLst>
          </p:cNvPr>
          <p:cNvSpPr txBox="1"/>
          <p:nvPr/>
        </p:nvSpPr>
        <p:spPr>
          <a:xfrm>
            <a:off x="278081" y="1514684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C1743-CD02-7CCD-9F0C-164DEC893D99}"/>
              </a:ext>
            </a:extLst>
          </p:cNvPr>
          <p:cNvSpPr txBox="1"/>
          <p:nvPr/>
        </p:nvSpPr>
        <p:spPr>
          <a:xfrm>
            <a:off x="6357147" y="1577580"/>
            <a:ext cx="4629024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Transmit </a:t>
            </a:r>
            <a:r>
              <a:rPr lang="fr-FR" sz="2400" dirty="0" err="1"/>
              <a:t>Password</a:t>
            </a:r>
            <a:r>
              <a:rPr lang="fr-FR" sz="2400" dirty="0"/>
              <a:t> to Http</a:t>
            </a:r>
          </a:p>
          <a:p>
            <a:endParaRPr lang="fr-FR" sz="2400" dirty="0"/>
          </a:p>
          <a:p>
            <a:r>
              <a:rPr lang="en-US" sz="2400" dirty="0"/>
              <a:t>password=&gt;authentication=&gt;role</a:t>
            </a:r>
          </a:p>
          <a:p>
            <a:endParaRPr lang="fr-FR" sz="2400" dirty="0"/>
          </a:p>
          <a:p>
            <a:r>
              <a:rPr lang="fr-FR" sz="2400" dirty="0" err="1"/>
              <a:t>password</a:t>
            </a:r>
            <a:r>
              <a:rPr lang="fr-FR" sz="2400" dirty="0"/>
              <a:t> not in </a:t>
            </a:r>
            <a:r>
              <a:rPr lang="fr-FR" sz="2400" dirty="0" err="1"/>
              <a:t>clear</a:t>
            </a:r>
            <a:r>
              <a:rPr lang="fr-FR" sz="2400" dirty="0"/>
              <a:t> over internet</a:t>
            </a:r>
          </a:p>
          <a:p>
            <a:endParaRPr lang="fr-FR" sz="2400" dirty="0"/>
          </a:p>
          <a:p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...</a:t>
            </a:r>
          </a:p>
          <a:p>
            <a:endParaRPr lang="fr-FR" sz="2400" dirty="0"/>
          </a:p>
          <a:p>
            <a:r>
              <a:rPr lang="fr-FR" sz="2400" dirty="0"/>
              <a:t>  ...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hashed+salted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finding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hashed</a:t>
            </a:r>
            <a:endParaRPr lang="fr-FR" sz="2400" dirty="0"/>
          </a:p>
        </p:txBody>
      </p:sp>
      <p:sp>
        <p:nvSpPr>
          <p:cNvPr id="5" name="Equals 4">
            <a:extLst>
              <a:ext uri="{FF2B5EF4-FFF2-40B4-BE49-F238E27FC236}">
                <a16:creationId xmlns:a16="http://schemas.microsoft.com/office/drawing/2014/main" id="{409B36DA-F99D-E14A-112B-3357CE3A5234}"/>
              </a:ext>
            </a:extLst>
          </p:cNvPr>
          <p:cNvSpPr/>
          <p:nvPr/>
        </p:nvSpPr>
        <p:spPr>
          <a:xfrm>
            <a:off x="5557858" y="1577580"/>
            <a:ext cx="672495" cy="488648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8506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2EEEC-21DB-C97B-CD65-53CCE0184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5B8AF-5981-DD48-62A1-D1DA85BBA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3937B-1E73-1B53-8759-A531AB83F316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C4FF59A-6C77-F7C6-819F-0C6134C126E8}"/>
              </a:ext>
            </a:extLst>
          </p:cNvPr>
          <p:cNvSpPr/>
          <p:nvPr/>
        </p:nvSpPr>
        <p:spPr>
          <a:xfrm>
            <a:off x="2524836" y="1528549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E139B2-FD37-0336-B853-D6B146C0B6AD}"/>
              </a:ext>
            </a:extLst>
          </p:cNvPr>
          <p:cNvSpPr/>
          <p:nvPr/>
        </p:nvSpPr>
        <p:spPr>
          <a:xfrm>
            <a:off x="3663144" y="2062588"/>
            <a:ext cx="6587320" cy="432634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385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26EC3-AE57-5BBF-260B-3361E5BCC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34112-972E-5841-3C61-5739E7140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73676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Step1: </a:t>
            </a:r>
            <a:r>
              <a:rPr lang="fr-FR" dirty="0" err="1"/>
              <a:t>relaunch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IDE</a:t>
            </a:r>
            <a:br>
              <a:rPr lang="fr-FR" dirty="0"/>
            </a:br>
            <a:r>
              <a:rPr lang="fr-FR" dirty="0" err="1"/>
              <a:t>reopen</a:t>
            </a:r>
            <a:r>
              <a:rPr lang="fr-FR" dirty="0"/>
              <a:t> </a:t>
            </a:r>
            <a:r>
              <a:rPr lang="fr-FR" dirty="0" err="1"/>
              <a:t>project</a:t>
            </a:r>
            <a:r>
              <a:rPr lang="fr-FR" dirty="0"/>
              <a:t> c:\security-course\demo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BAF9C-D653-8288-6AED-31EAF2562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95" y="1415594"/>
            <a:ext cx="1066892" cy="9983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84CF21A-554D-4582-C911-5464CBF3260D}"/>
              </a:ext>
            </a:extLst>
          </p:cNvPr>
          <p:cNvSpPr/>
          <p:nvPr/>
        </p:nvSpPr>
        <p:spPr>
          <a:xfrm>
            <a:off x="120253" y="1372516"/>
            <a:ext cx="1211124" cy="11402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97396A-B8D0-6132-7881-1F0AE1B6E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064" y="1501613"/>
            <a:ext cx="9732936" cy="515794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BA49645-B0E8-1004-89B7-AEA5F06BAEC7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331377" y="1942629"/>
            <a:ext cx="1463484" cy="180639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856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0B6F1-60F5-C227-0A1F-49571781B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27965-ACC0-DC1F-C2A1-294171174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"/>
            <a:ext cx="10515600" cy="2767388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</a:t>
            </a:r>
            <a:r>
              <a:rPr lang="fr-FR" dirty="0" err="1"/>
              <a:t>Step</a:t>
            </a:r>
            <a:r>
              <a:rPr lang="fr-FR" dirty="0"/>
              <a:t> 2: check file</a:t>
            </a:r>
            <a:br>
              <a:rPr lang="fr-FR" dirty="0"/>
            </a:br>
            <a:r>
              <a:rPr lang="fr-FR" dirty="0"/>
              <a:t>src/main/</a:t>
            </a:r>
            <a:r>
              <a:rPr lang="fr-FR" dirty="0" err="1"/>
              <a:t>resources</a:t>
            </a:r>
            <a:r>
              <a:rPr lang="fr-FR" dirty="0"/>
              <a:t>/</a:t>
            </a:r>
            <a:r>
              <a:rPr lang="fr-FR" dirty="0" err="1"/>
              <a:t>application.properties</a:t>
            </a:r>
            <a:br>
              <a:rPr lang="fr-FR" dirty="0"/>
            </a:br>
            <a:r>
              <a:rPr lang="fr-FR" dirty="0"/>
              <a:t>for "user" / "password123" </a:t>
            </a:r>
            <a:br>
              <a:rPr lang="fr-FR" dirty="0"/>
            </a:br>
            <a:r>
              <a:rPr lang="fr-FR" dirty="0"/>
              <a:t>       </a:t>
            </a:r>
            <a:r>
              <a:rPr lang="fr-FR" dirty="0" err="1"/>
              <a:t>roles</a:t>
            </a:r>
            <a:r>
              <a:rPr lang="fr-FR" dirty="0"/>
              <a:t>: ROLE_ADMIN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CD3B49-DBA6-0F46-E553-389F00509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448" y="3482263"/>
            <a:ext cx="8904742" cy="245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83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652B6-F84B-B722-1E07-279C5DEAF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0809D-42A9-A643-D5AA-C1F3C7832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43375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</a:t>
            </a:r>
            <a:r>
              <a:rPr lang="fr-FR" dirty="0" err="1"/>
              <a:t>Step</a:t>
            </a:r>
            <a:r>
              <a:rPr lang="fr-FR" dirty="0"/>
              <a:t> 3: </a:t>
            </a:r>
            <a:r>
              <a:rPr lang="fr-FR" dirty="0" err="1"/>
              <a:t>relaunch</a:t>
            </a:r>
            <a:r>
              <a:rPr lang="fr-FR" dirty="0"/>
              <a:t> </a:t>
            </a:r>
            <a:r>
              <a:rPr lang="fr-FR" dirty="0" err="1"/>
              <a:t>webapp</a:t>
            </a:r>
            <a:r>
              <a:rPr lang="fr-FR" dirty="0"/>
              <a:t> 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4174CE-3AD0-EAC5-D01E-4D749A6F2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386" y="1637653"/>
            <a:ext cx="8966251" cy="476405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0657D6-0DDD-5726-E13B-1CD05A08C252}"/>
              </a:ext>
            </a:extLst>
          </p:cNvPr>
          <p:cNvSpPr/>
          <p:nvPr/>
        </p:nvSpPr>
        <p:spPr>
          <a:xfrm>
            <a:off x="7537342" y="1573992"/>
            <a:ext cx="1470863" cy="3684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20BE47-D71C-501D-FFAE-CB5C6814FDDB}"/>
              </a:ext>
            </a:extLst>
          </p:cNvPr>
          <p:cNvSpPr/>
          <p:nvPr/>
        </p:nvSpPr>
        <p:spPr>
          <a:xfrm>
            <a:off x="4424766" y="3060540"/>
            <a:ext cx="405539" cy="2302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A1A74-E63B-3F83-D0EF-E09CCC50743F}"/>
              </a:ext>
            </a:extLst>
          </p:cNvPr>
          <p:cNvSpPr/>
          <p:nvPr/>
        </p:nvSpPr>
        <p:spPr>
          <a:xfrm>
            <a:off x="2200759" y="3977523"/>
            <a:ext cx="266054" cy="2070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491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59DA1-86BF-A6FC-3E67-01F6096A6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51D3-A836-8535-FB95-42CD35092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00014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: Install (</a:t>
            </a:r>
            <a:r>
              <a:rPr lang="fr-FR" dirty="0" err="1"/>
              <a:t>unix</a:t>
            </a:r>
            <a:r>
              <a:rPr lang="fr-FR" dirty="0"/>
              <a:t>) </a:t>
            </a:r>
            <a:r>
              <a:rPr lang="fr-FR" dirty="0" err="1"/>
              <a:t>shell</a:t>
            </a:r>
            <a:r>
              <a:rPr lang="fr-FR" dirty="0"/>
              <a:t> </a:t>
            </a:r>
            <a:r>
              <a:rPr lang="fr-FR" dirty="0" err="1"/>
              <a:t>tools</a:t>
            </a:r>
            <a:br>
              <a:rPr lang="fr-FR" dirty="0"/>
            </a:br>
            <a:r>
              <a:rPr lang="fr-FR" dirty="0"/>
              <a:t>"</a:t>
            </a:r>
            <a:r>
              <a:rPr lang="fr-FR" dirty="0" err="1"/>
              <a:t>curl</a:t>
            </a:r>
            <a:r>
              <a:rPr lang="fr-FR" dirty="0"/>
              <a:t>" and "base64"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A6A07B-A8D2-6A01-F7FE-47DE400B24B0}"/>
              </a:ext>
            </a:extLst>
          </p:cNvPr>
          <p:cNvSpPr txBox="1"/>
          <p:nvPr/>
        </p:nvSpPr>
        <p:spPr>
          <a:xfrm>
            <a:off x="787650" y="1709371"/>
            <a:ext cx="73227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on linux =&gt;  </a:t>
            </a:r>
            <a:r>
              <a:rPr lang="fr-FR" sz="2400" dirty="0" err="1"/>
              <a:t>built-in</a:t>
            </a:r>
            <a:r>
              <a:rPr lang="fr-FR" sz="2400" dirty="0"/>
              <a:t> </a:t>
            </a:r>
            <a:r>
              <a:rPr lang="fr-FR" sz="2400" dirty="0" err="1"/>
              <a:t>tools</a:t>
            </a:r>
            <a:r>
              <a:rPr lang="fr-FR" sz="2400" dirty="0"/>
              <a:t> on system</a:t>
            </a:r>
          </a:p>
          <a:p>
            <a:endParaRPr lang="fr-FR" sz="2400" dirty="0"/>
          </a:p>
          <a:p>
            <a:r>
              <a:rPr lang="fr-FR" sz="2400" dirty="0"/>
              <a:t>on mac =&gt; </a:t>
            </a:r>
            <a:r>
              <a:rPr lang="fr-FR" sz="2400" dirty="0" err="1"/>
              <a:t>same</a:t>
            </a:r>
            <a:r>
              <a:rPr lang="fr-FR" sz="2400" dirty="0"/>
              <a:t>  (or use "</a:t>
            </a:r>
            <a:r>
              <a:rPr lang="fr-FR" sz="2400" dirty="0" err="1"/>
              <a:t>brew</a:t>
            </a:r>
            <a:r>
              <a:rPr lang="fr-FR" sz="2400" dirty="0"/>
              <a:t> </a:t>
            </a:r>
            <a:r>
              <a:rPr lang="fr-FR" sz="2400" dirty="0" err="1"/>
              <a:t>install</a:t>
            </a:r>
            <a:r>
              <a:rPr lang="fr-FR" sz="2400" dirty="0"/>
              <a:t>" ?)</a:t>
            </a:r>
          </a:p>
          <a:p>
            <a:endParaRPr lang="fr-FR" sz="2400" dirty="0"/>
          </a:p>
          <a:p>
            <a:r>
              <a:rPr lang="fr-FR" sz="2400" dirty="0"/>
              <a:t>on </a:t>
            </a:r>
            <a:r>
              <a:rPr lang="fr-FR" sz="2400" dirty="0" err="1"/>
              <a:t>windows</a:t>
            </a:r>
            <a:r>
              <a:rPr lang="fr-FR" sz="2400" dirty="0"/>
              <a:t> =&gt;  </a:t>
            </a:r>
            <a:r>
              <a:rPr lang="fr-FR" sz="2400" dirty="0" err="1"/>
              <a:t>recommended</a:t>
            </a:r>
            <a:r>
              <a:rPr lang="fr-FR" sz="2400" dirty="0"/>
              <a:t> solution:  </a:t>
            </a:r>
            <a:r>
              <a:rPr lang="fr-FR" sz="2400" dirty="0" err="1"/>
              <a:t>install</a:t>
            </a:r>
            <a:r>
              <a:rPr lang="fr-FR" sz="2400" dirty="0"/>
              <a:t> "</a:t>
            </a:r>
            <a:r>
              <a:rPr lang="fr-FR" sz="2400" dirty="0" err="1"/>
              <a:t>cmder</a:t>
            </a:r>
            <a:r>
              <a:rPr lang="fr-FR" sz="2400" dirty="0"/>
              <a:t>"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11D1C-EC45-2D30-707B-E99201022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35" y="4141382"/>
            <a:ext cx="4630370" cy="2030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859E26C-0C2C-CF99-7F9E-399BD30C3C22}"/>
              </a:ext>
            </a:extLst>
          </p:cNvPr>
          <p:cNvSpPr txBox="1"/>
          <p:nvPr/>
        </p:nvSpPr>
        <p:spPr>
          <a:xfrm>
            <a:off x="8273459" y="3063588"/>
            <a:ext cx="35818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https://cmder.app/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77E981-564D-BE6D-1300-E65D1DE606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00" y="4013894"/>
            <a:ext cx="4143800" cy="277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54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BF495-F17E-C839-BDCD-463C3292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7577-EA99-E762-0F30-AD7D4579F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Launch </a:t>
            </a:r>
            <a:r>
              <a:rPr lang="fr-FR" dirty="0" err="1"/>
              <a:t>cmder</a:t>
            </a:r>
            <a:r>
              <a:rPr lang="fr-FR" dirty="0"/>
              <a:t> console, test "</a:t>
            </a:r>
            <a:r>
              <a:rPr lang="fr-FR" dirty="0" err="1"/>
              <a:t>curl</a:t>
            </a:r>
            <a:r>
              <a:rPr lang="fr-FR" dirty="0"/>
              <a:t> --help"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463ABF-B02C-AFCC-4B3E-2564A2F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46" y="1825763"/>
            <a:ext cx="788738" cy="78873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23CB5E-04C4-EB00-A4FE-0C09CF72A14F}"/>
              </a:ext>
            </a:extLst>
          </p:cNvPr>
          <p:cNvSpPr/>
          <p:nvPr/>
        </p:nvSpPr>
        <p:spPr>
          <a:xfrm>
            <a:off x="572145" y="1781929"/>
            <a:ext cx="998349" cy="8937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20EF12-3889-727B-449F-A63BE5949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003" y="1093233"/>
            <a:ext cx="6017895" cy="30425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52329F-1FC6-E5EC-AEFC-93EDFC2F4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504" y="2526224"/>
            <a:ext cx="8217564" cy="412789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3360E38-275C-5329-DE20-540E05F1AD4F}"/>
              </a:ext>
            </a:extLst>
          </p:cNvPr>
          <p:cNvCxnSpPr>
            <a:cxnSpLocks/>
          </p:cNvCxnSpPr>
          <p:nvPr/>
        </p:nvCxnSpPr>
        <p:spPr>
          <a:xfrm flipV="1">
            <a:off x="1587285" y="1781929"/>
            <a:ext cx="1083590" cy="35654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1F9D3D2-E0DA-0486-2842-F050493F2F4B}"/>
              </a:ext>
            </a:extLst>
          </p:cNvPr>
          <p:cNvSpPr/>
          <p:nvPr/>
        </p:nvSpPr>
        <p:spPr>
          <a:xfrm>
            <a:off x="4020517" y="3177906"/>
            <a:ext cx="1119754" cy="2510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E22166-FE15-764D-4D95-BF7C8E497B0D}"/>
              </a:ext>
            </a:extLst>
          </p:cNvPr>
          <p:cNvCxnSpPr>
            <a:cxnSpLocks/>
          </p:cNvCxnSpPr>
          <p:nvPr/>
        </p:nvCxnSpPr>
        <p:spPr>
          <a:xfrm>
            <a:off x="3058332" y="1825763"/>
            <a:ext cx="1172705" cy="1263566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789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6BCC-1C99-E6CE-3FC8-B21722892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5152F-A3BB-DDE3-88DD-F4DE29CE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1353800" cy="893736"/>
          </a:xfrm>
        </p:spPr>
        <p:txBody>
          <a:bodyPr/>
          <a:lstStyle/>
          <a:p>
            <a:r>
              <a:rPr lang="fr-FR" dirty="0" err="1"/>
              <a:t>curl</a:t>
            </a:r>
            <a:r>
              <a:rPr lang="fr-FR" dirty="0"/>
              <a:t>  main arguments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E7066F-D28B-3D86-8E46-31CB9720F441}"/>
              </a:ext>
            </a:extLst>
          </p:cNvPr>
          <p:cNvSpPr txBox="1"/>
          <p:nvPr/>
        </p:nvSpPr>
        <p:spPr>
          <a:xfrm>
            <a:off x="1952787" y="1870129"/>
            <a:ext cx="841185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curl</a:t>
            </a:r>
            <a:r>
              <a:rPr lang="fr-FR" sz="2800" dirty="0"/>
              <a:t>  -v                                     &lt;= for </a:t>
            </a:r>
            <a:r>
              <a:rPr lang="fr-FR" sz="2800" dirty="0" err="1"/>
              <a:t>verbose</a:t>
            </a:r>
            <a:endParaRPr lang="fr-FR" sz="2800" dirty="0"/>
          </a:p>
          <a:p>
            <a:r>
              <a:rPr lang="fr-FR" sz="2800" dirty="0"/>
              <a:t>        -k                                      &lt;= </a:t>
            </a:r>
            <a:r>
              <a:rPr lang="fr-FR" sz="2800" dirty="0" err="1"/>
              <a:t>accept</a:t>
            </a:r>
            <a:r>
              <a:rPr lang="fr-FR" sz="2800" dirty="0"/>
              <a:t> all https </a:t>
            </a:r>
            <a:r>
              <a:rPr lang="fr-FR" sz="2800" dirty="0" err="1"/>
              <a:t>certificate</a:t>
            </a:r>
            <a:endParaRPr lang="fr-FR" sz="2800" dirty="0"/>
          </a:p>
          <a:p>
            <a:r>
              <a:rPr lang="fr-FR" sz="2800" dirty="0"/>
              <a:t>         -u   "</a:t>
            </a:r>
            <a:r>
              <a:rPr lang="fr-FR" sz="2800" dirty="0" err="1"/>
              <a:t>user:password</a:t>
            </a:r>
            <a:r>
              <a:rPr lang="fr-FR" sz="2800" dirty="0"/>
              <a:t>"    &lt;=  basic user </a:t>
            </a:r>
            <a:r>
              <a:rPr lang="fr-FR" sz="2800" dirty="0" err="1"/>
              <a:t>authentication</a:t>
            </a:r>
            <a:endParaRPr lang="fr-FR" sz="2800" dirty="0"/>
          </a:p>
          <a:p>
            <a:r>
              <a:rPr lang="fr-FR" sz="2800" dirty="0"/>
              <a:t>        -x POST, PUT, DELETE    &lt;= http </a:t>
            </a:r>
            <a:r>
              <a:rPr lang="fr-FR" sz="2800" dirty="0" err="1"/>
              <a:t>verb</a:t>
            </a:r>
            <a:endParaRPr lang="fr-FR" sz="2800" dirty="0"/>
          </a:p>
          <a:p>
            <a:r>
              <a:rPr lang="fr-FR" sz="2800" dirty="0"/>
              <a:t>        -H  "</a:t>
            </a:r>
            <a:r>
              <a:rPr lang="fr-FR" sz="2800" dirty="0" err="1"/>
              <a:t>header:value</a:t>
            </a:r>
            <a:r>
              <a:rPr lang="fr-FR" sz="2800" dirty="0"/>
              <a:t>"        &lt;= http header</a:t>
            </a:r>
          </a:p>
          <a:p>
            <a:r>
              <a:rPr lang="fr-FR" sz="2800" dirty="0"/>
              <a:t>        url                                     &lt;= http url</a:t>
            </a:r>
          </a:p>
          <a:p>
            <a:r>
              <a:rPr lang="fr-FR" sz="2800" dirty="0"/>
              <a:t>        -d                                      &lt;= http </a:t>
            </a:r>
            <a:r>
              <a:rPr lang="fr-FR" sz="2800" dirty="0" err="1"/>
              <a:t>request</a:t>
            </a:r>
            <a:r>
              <a:rPr lang="fr-FR" sz="2800" dirty="0"/>
              <a:t> body data</a:t>
            </a:r>
          </a:p>
        </p:txBody>
      </p:sp>
    </p:spTree>
    <p:extLst>
      <p:ext uri="{BB962C8B-B14F-4D97-AF65-F5344CB8AC3E}">
        <p14:creationId xmlns:p14="http://schemas.microsoft.com/office/powerpoint/2010/main" val="3843571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5A10E-8412-15E9-B269-006122D02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63BE-DAC8-6E4C-D7B3-E0805724A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394846"/>
          </a:xfrm>
        </p:spPr>
        <p:txBody>
          <a:bodyPr/>
          <a:lstStyle/>
          <a:p>
            <a:r>
              <a:rPr lang="fr-FR" dirty="0"/>
              <a:t>Test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curl</a:t>
            </a:r>
            <a:r>
              <a:rPr lang="fr-FR" dirty="0"/>
              <a:t> </a:t>
            </a:r>
            <a:r>
              <a:rPr lang="fr-FR" dirty="0" err="1"/>
              <a:t>requests</a:t>
            </a:r>
            <a:r>
              <a:rPr lang="fr-FR" dirty="0"/>
              <a:t>..  http://localhost:8080/index.html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2FDD31-52BE-C262-FD7E-6AD2A66A93F8}"/>
              </a:ext>
            </a:extLst>
          </p:cNvPr>
          <p:cNvSpPr txBox="1"/>
          <p:nvPr/>
        </p:nvSpPr>
        <p:spPr>
          <a:xfrm>
            <a:off x="1057459" y="2240197"/>
            <a:ext cx="1071569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curl</a:t>
            </a:r>
            <a:r>
              <a:rPr lang="fr-FR" sz="2400" dirty="0"/>
              <a:t> -v http://localhost:8080/index.html</a:t>
            </a:r>
          </a:p>
          <a:p>
            <a:endParaRPr lang="fr-FR" sz="2400" dirty="0"/>
          </a:p>
          <a:p>
            <a:r>
              <a:rPr lang="fr-FR" sz="2400" dirty="0" err="1"/>
              <a:t>curl</a:t>
            </a:r>
            <a:r>
              <a:rPr lang="fr-FR" sz="2400" dirty="0"/>
              <a:t> -v -u user:password123 http://localhost:8080/index.html</a:t>
            </a:r>
          </a:p>
          <a:p>
            <a:endParaRPr lang="fr-FR" sz="2400" dirty="0"/>
          </a:p>
          <a:p>
            <a:r>
              <a:rPr lang="fr-FR" sz="2400" dirty="0" err="1"/>
              <a:t>curl</a:t>
            </a:r>
            <a:r>
              <a:rPr lang="fr-FR" sz="2400" dirty="0"/>
              <a:t> -v -u user:password123 -H "</a:t>
            </a:r>
            <a:r>
              <a:rPr lang="fr-FR" sz="2400" dirty="0" err="1"/>
              <a:t>accept</a:t>
            </a:r>
            <a:r>
              <a:rPr lang="fr-FR" sz="2400" dirty="0"/>
              <a:t>: </a:t>
            </a:r>
            <a:r>
              <a:rPr lang="fr-FR" sz="2400" dirty="0" err="1"/>
              <a:t>text</a:t>
            </a:r>
            <a:r>
              <a:rPr lang="fr-FR" sz="2400" dirty="0"/>
              <a:t>/html"  http://localhost:8080/index.html</a:t>
            </a:r>
          </a:p>
          <a:p>
            <a:endParaRPr lang="fr-FR" sz="2400" dirty="0"/>
          </a:p>
          <a:p>
            <a:r>
              <a:rPr lang="fr-FR" sz="2400" dirty="0" err="1"/>
              <a:t>curl</a:t>
            </a:r>
            <a:r>
              <a:rPr lang="fr-FR" sz="2400" dirty="0"/>
              <a:t> -v -H "Cookie: JSESSIONID=..." \</a:t>
            </a:r>
          </a:p>
          <a:p>
            <a:r>
              <a:rPr lang="fr-FR" sz="2400" dirty="0"/>
              <a:t>            -H "</a:t>
            </a:r>
            <a:r>
              <a:rPr lang="fr-FR" sz="2400" dirty="0" err="1"/>
              <a:t>accept</a:t>
            </a:r>
            <a:r>
              <a:rPr lang="fr-FR" sz="2400" dirty="0"/>
              <a:t>: </a:t>
            </a:r>
            <a:r>
              <a:rPr lang="fr-FR" sz="2400" dirty="0" err="1"/>
              <a:t>text</a:t>
            </a:r>
            <a:r>
              <a:rPr lang="fr-FR" sz="2400" dirty="0"/>
              <a:t>/html"  http://localhost:8080/index.html</a:t>
            </a:r>
          </a:p>
        </p:txBody>
      </p:sp>
    </p:spTree>
    <p:extLst>
      <p:ext uri="{BB962C8B-B14F-4D97-AF65-F5344CB8AC3E}">
        <p14:creationId xmlns:p14="http://schemas.microsoft.com/office/powerpoint/2010/main" val="1057580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A2A8E-07F0-67E5-1CD7-0BDC0E365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C6DE1-F9CF-8C0C-97E0-B93639744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51343"/>
          </a:xfrm>
        </p:spPr>
        <p:txBody>
          <a:bodyPr/>
          <a:lstStyle/>
          <a:p>
            <a:r>
              <a:rPr lang="fr-FR" dirty="0" err="1"/>
              <a:t>Explain</a:t>
            </a:r>
            <a:r>
              <a:rPr lang="fr-FR" dirty="0"/>
              <a:t> </a:t>
            </a:r>
            <a:r>
              <a:rPr lang="fr-FR" dirty="0" err="1"/>
              <a:t>different</a:t>
            </a:r>
            <a:r>
              <a:rPr lang="fr-FR" dirty="0"/>
              <a:t> Http </a:t>
            </a:r>
            <a:r>
              <a:rPr lang="fr-FR" dirty="0" err="1"/>
              <a:t>response</a:t>
            </a:r>
            <a:r>
              <a:rPr lang="fr-FR" dirty="0"/>
              <a:t> </a:t>
            </a:r>
            <a:r>
              <a:rPr lang="fr-FR" dirty="0" err="1"/>
              <a:t>status</a:t>
            </a:r>
            <a:br>
              <a:rPr lang="fr-FR" dirty="0"/>
            </a:br>
            <a:r>
              <a:rPr lang="fr-FR" dirty="0"/>
              <a:t>200, 301, 400, 403, 404, ...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226894-1C4E-0A78-2EBE-8D220EFDF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2618" y="1547079"/>
            <a:ext cx="4875746" cy="5217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BF9043-3206-D678-3E74-A7099C8063F9}"/>
              </a:ext>
            </a:extLst>
          </p:cNvPr>
          <p:cNvSpPr txBox="1"/>
          <p:nvPr/>
        </p:nvSpPr>
        <p:spPr>
          <a:xfrm>
            <a:off x="940981" y="3141921"/>
            <a:ext cx="2990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example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http </a:t>
            </a:r>
            <a:r>
              <a:rPr lang="fr-FR" sz="2400" b="1" dirty="0"/>
              <a:t>200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11C597-8C41-15D4-B7C5-98A1F18F50FF}"/>
              </a:ext>
            </a:extLst>
          </p:cNvPr>
          <p:cNvSpPr/>
          <p:nvPr/>
        </p:nvSpPr>
        <p:spPr>
          <a:xfrm>
            <a:off x="4976246" y="4081673"/>
            <a:ext cx="1158740" cy="2245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1419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676F0-908A-76BE-CFA7-38175E32B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FD161-0D1C-2DD0-1CB8-212B050C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374182"/>
          </a:xfrm>
        </p:spPr>
        <p:txBody>
          <a:bodyPr/>
          <a:lstStyle/>
          <a:p>
            <a:r>
              <a:rPr lang="fr-FR" dirty="0" err="1"/>
              <a:t>curl</a:t>
            </a:r>
            <a:r>
              <a:rPr lang="fr-FR" dirty="0"/>
              <a:t> -v -u "user:password123"</a:t>
            </a:r>
            <a:br>
              <a:rPr lang="fr-FR" dirty="0"/>
            </a:br>
            <a:r>
              <a:rPr lang="fr-FR" dirty="0"/>
              <a:t>=&gt; </a:t>
            </a:r>
            <a:r>
              <a:rPr lang="fr-FR" dirty="0" err="1"/>
              <a:t>see</a:t>
            </a:r>
            <a:r>
              <a:rPr lang="fr-FR" dirty="0"/>
              <a:t> Http Header "</a:t>
            </a:r>
            <a:r>
              <a:rPr lang="fr-FR" dirty="0" err="1"/>
              <a:t>Authorization</a:t>
            </a:r>
            <a:r>
              <a:rPr lang="fr-FR" dirty="0"/>
              <a:t>: Basic ..."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092197-D5A5-43F4-4CDB-17A56D793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423" y="2005895"/>
            <a:ext cx="6306096" cy="384843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AE690B-577C-3E0C-99A4-2A336DCADE03}"/>
              </a:ext>
            </a:extLst>
          </p:cNvPr>
          <p:cNvSpPr/>
          <p:nvPr/>
        </p:nvSpPr>
        <p:spPr>
          <a:xfrm>
            <a:off x="3206424" y="4582332"/>
            <a:ext cx="4413576" cy="2456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8115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9D20-9493-75CB-9530-A8DDAFCA1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6C95C-BBE0-EBAA-7AEC-7B7473EFC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420678"/>
          </a:xfrm>
        </p:spPr>
        <p:txBody>
          <a:bodyPr/>
          <a:lstStyle/>
          <a:p>
            <a:r>
              <a:rPr lang="fr-FR" dirty="0"/>
              <a:t>Encode / </a:t>
            </a:r>
            <a:r>
              <a:rPr lang="fr-FR" dirty="0" err="1"/>
              <a:t>Decode</a:t>
            </a:r>
            <a:r>
              <a:rPr lang="fr-FR" dirty="0"/>
              <a:t> base64 </a:t>
            </a:r>
            <a:r>
              <a:rPr lang="fr-FR" dirty="0" err="1"/>
              <a:t>password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"base64 -d"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6C8AB9-CD07-ECE1-726D-B516953ED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971" y="4985627"/>
            <a:ext cx="7241067" cy="1776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4F6242-A513-3B88-A6AB-2ADF31AE9FAE}"/>
              </a:ext>
            </a:extLst>
          </p:cNvPr>
          <p:cNvSpPr txBox="1"/>
          <p:nvPr/>
        </p:nvSpPr>
        <p:spPr>
          <a:xfrm>
            <a:off x="838200" y="4500609"/>
            <a:ext cx="6305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echo</a:t>
            </a:r>
            <a:r>
              <a:rPr lang="fr-FR" sz="2400" b="1" dirty="0"/>
              <a:t> dXNlcjpwYXNzd29yZDEyMw== | base64 -d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DCBA22-9C14-FAD2-ACED-5DFEC30B5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971" y="2237106"/>
            <a:ext cx="7210160" cy="193209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51A5B2E-E0C3-CE50-455B-7D51E939D00D}"/>
              </a:ext>
            </a:extLst>
          </p:cNvPr>
          <p:cNvSpPr txBox="1"/>
          <p:nvPr/>
        </p:nvSpPr>
        <p:spPr>
          <a:xfrm>
            <a:off x="838200" y="172103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 err="1"/>
              <a:t>echo</a:t>
            </a:r>
            <a:r>
              <a:rPr lang="fr-FR" sz="2400" b="1" dirty="0"/>
              <a:t> user:password123 | base64</a:t>
            </a:r>
          </a:p>
        </p:txBody>
      </p:sp>
    </p:spTree>
    <p:extLst>
      <p:ext uri="{BB962C8B-B14F-4D97-AF65-F5344CB8AC3E}">
        <p14:creationId xmlns:p14="http://schemas.microsoft.com/office/powerpoint/2010/main" val="10693008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FFD57-A1C5-5039-AADE-7453011B9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AB66-4628-26A5-513C-15F5D774C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43185"/>
          </a:xfrm>
        </p:spPr>
        <p:txBody>
          <a:bodyPr/>
          <a:lstStyle/>
          <a:p>
            <a:r>
              <a:rPr lang="fr-FR" dirty="0"/>
              <a:t>Test </a:t>
            </a:r>
            <a:r>
              <a:rPr lang="fr-FR" dirty="0" err="1"/>
              <a:t>curl</a:t>
            </a:r>
            <a:r>
              <a:rPr lang="fr-FR" dirty="0"/>
              <a:t> Basic </a:t>
            </a:r>
            <a:r>
              <a:rPr lang="fr-FR" dirty="0" err="1"/>
              <a:t>Authorization</a:t>
            </a:r>
            <a:r>
              <a:rPr lang="fr-FR" dirty="0"/>
              <a:t> Header </a:t>
            </a:r>
            <a:br>
              <a:rPr lang="fr-FR" dirty="0"/>
            </a:br>
            <a:r>
              <a:rPr lang="fr-FR" dirty="0"/>
              <a:t>(base64)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71381A-EC0C-6BC8-D477-058A7F22AFF0}"/>
              </a:ext>
            </a:extLst>
          </p:cNvPr>
          <p:cNvSpPr txBox="1"/>
          <p:nvPr/>
        </p:nvSpPr>
        <p:spPr>
          <a:xfrm>
            <a:off x="2087105" y="2368614"/>
            <a:ext cx="89373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 err="1"/>
              <a:t>curl</a:t>
            </a:r>
            <a:r>
              <a:rPr lang="fr-FR" sz="2400" dirty="0"/>
              <a:t> -v -H "</a:t>
            </a:r>
            <a:r>
              <a:rPr lang="fr-FR" sz="2400" dirty="0" err="1"/>
              <a:t>Authorization</a:t>
            </a:r>
            <a:r>
              <a:rPr lang="fr-FR" sz="2400" dirty="0"/>
              <a:t>: Basic dXNlcjpwYXNzd29yZDEyMw==" \</a:t>
            </a:r>
          </a:p>
          <a:p>
            <a:r>
              <a:rPr lang="fr-FR" sz="2400" dirty="0"/>
              <a:t>            -H "</a:t>
            </a:r>
            <a:r>
              <a:rPr lang="fr-FR" sz="2400" dirty="0" err="1"/>
              <a:t>accept</a:t>
            </a:r>
            <a:r>
              <a:rPr lang="fr-FR" sz="2400" dirty="0"/>
              <a:t>: </a:t>
            </a:r>
            <a:r>
              <a:rPr lang="fr-FR" sz="2400" dirty="0" err="1"/>
              <a:t>text</a:t>
            </a:r>
            <a:r>
              <a:rPr lang="fr-FR" sz="2400" dirty="0"/>
              <a:t>/html"  http://localhost:8080/index.html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E4D095-8093-1C00-330C-183F94BA39FA}"/>
              </a:ext>
            </a:extLst>
          </p:cNvPr>
          <p:cNvSpPr txBox="1"/>
          <p:nvPr/>
        </p:nvSpPr>
        <p:spPr>
          <a:xfrm>
            <a:off x="2412720" y="5398576"/>
            <a:ext cx="97792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Remember</a:t>
            </a:r>
            <a:r>
              <a:rPr lang="fr-FR" sz="2400" dirty="0"/>
              <a:t> ...</a:t>
            </a:r>
          </a:p>
          <a:p>
            <a:r>
              <a:rPr lang="fr-FR" sz="2400" dirty="0" err="1"/>
              <a:t>When</a:t>
            </a:r>
            <a:r>
              <a:rPr lang="fr-FR" sz="2400" dirty="0"/>
              <a:t> </a:t>
            </a:r>
            <a:r>
              <a:rPr lang="fr-FR" sz="2400" dirty="0" err="1"/>
              <a:t>taking</a:t>
            </a:r>
            <a:r>
              <a:rPr lang="fr-FR" sz="2400" dirty="0"/>
              <a:t> Http </a:t>
            </a:r>
            <a:r>
              <a:rPr lang="fr-FR" sz="2400" dirty="0" err="1"/>
              <a:t>Request</a:t>
            </a:r>
            <a:r>
              <a:rPr lang="fr-FR" sz="2400" dirty="0"/>
              <a:t> </a:t>
            </a:r>
            <a:r>
              <a:rPr lang="fr-FR" sz="2400" dirty="0" err="1"/>
              <a:t>screenshots</a:t>
            </a:r>
            <a:r>
              <a:rPr lang="fr-FR" sz="2400" dirty="0"/>
              <a:t>, or sharing screens to have IT support</a:t>
            </a:r>
          </a:p>
          <a:p>
            <a:r>
              <a:rPr lang="fr-FR" sz="2400" dirty="0"/>
              <a:t>... Do not </a:t>
            </a:r>
            <a:r>
              <a:rPr lang="fr-FR" sz="2400" dirty="0" err="1"/>
              <a:t>reveal</a:t>
            </a:r>
            <a:r>
              <a:rPr lang="fr-FR" sz="2400" dirty="0"/>
              <a:t> </a:t>
            </a:r>
            <a:r>
              <a:rPr lang="fr-FR" sz="2400" dirty="0" err="1"/>
              <a:t>your</a:t>
            </a:r>
            <a:r>
              <a:rPr lang="fr-FR" sz="2400" dirty="0"/>
              <a:t> "base64 </a:t>
            </a:r>
            <a:r>
              <a:rPr lang="fr-FR" sz="2400" dirty="0" err="1"/>
              <a:t>encoded</a:t>
            </a:r>
            <a:r>
              <a:rPr lang="fr-FR" sz="2400" dirty="0"/>
              <a:t>" </a:t>
            </a:r>
            <a:r>
              <a:rPr lang="fr-FR" sz="2400" dirty="0" err="1"/>
              <a:t>password</a:t>
            </a:r>
            <a:r>
              <a:rPr lang="fr-FR" sz="2400" dirty="0"/>
              <a:t> !!!</a:t>
            </a:r>
          </a:p>
        </p:txBody>
      </p:sp>
      <p:pic>
        <p:nvPicPr>
          <p:cNvPr id="1026" name="Picture 2" descr="Order Warning Signs for Workplace Safety | VKF Renzel">
            <a:extLst>
              <a:ext uri="{FF2B5EF4-FFF2-40B4-BE49-F238E27FC236}">
                <a16:creationId xmlns:a16="http://schemas.microsoft.com/office/drawing/2014/main" id="{3F521AA7-164C-0E12-3564-D8B7326F6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008" y="5293890"/>
            <a:ext cx="18573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6782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73A51-2983-4B1E-21D0-6D11AE122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ED80-A92A-EEA7-10DC-61DEC4D1A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20BE1A-7E03-E5E2-727C-B6E845F35612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1718B70-EA05-32B2-FA55-266E29A5E2FD}"/>
              </a:ext>
            </a:extLst>
          </p:cNvPr>
          <p:cNvSpPr/>
          <p:nvPr/>
        </p:nvSpPr>
        <p:spPr>
          <a:xfrm>
            <a:off x="2649970" y="2258610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9D484E-DED6-5DC8-E8F5-41B4C92B4D60}"/>
              </a:ext>
            </a:extLst>
          </p:cNvPr>
          <p:cNvSpPr/>
          <p:nvPr/>
        </p:nvSpPr>
        <p:spPr>
          <a:xfrm>
            <a:off x="3663144" y="2733524"/>
            <a:ext cx="6587320" cy="3655405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05D001-07D9-BFA9-238A-DA0F286E453A}"/>
              </a:ext>
            </a:extLst>
          </p:cNvPr>
          <p:cNvSpPr/>
          <p:nvPr/>
        </p:nvSpPr>
        <p:spPr>
          <a:xfrm>
            <a:off x="3758716" y="1118461"/>
            <a:ext cx="6587320" cy="891655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5754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EC578-645E-C53B-4AF5-909EE5BF4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1252200" cy="948268"/>
          </a:xfrm>
        </p:spPr>
        <p:txBody>
          <a:bodyPr/>
          <a:lstStyle/>
          <a:p>
            <a:r>
              <a:rPr lang="fr-FR" dirty="0"/>
              <a:t>Target: pages*.html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Roles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C4BE58-3018-9DED-35C0-A1F7286CD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854" y="952285"/>
            <a:ext cx="9476291" cy="495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523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9AA3B-31D4-9CDA-CB23-251828193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03124"/>
          </a:xfrm>
        </p:spPr>
        <p:txBody>
          <a:bodyPr/>
          <a:lstStyle/>
          <a:p>
            <a:r>
              <a:rPr lang="fr-FR" dirty="0"/>
              <a:t>"/index.html"   menu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anonymous</a:t>
            </a:r>
            <a:r>
              <a:rPr lang="fr-FR" dirty="0"/>
              <a:t> </a:t>
            </a:r>
            <a:r>
              <a:rPr lang="fr-FR" dirty="0" err="1"/>
              <a:t>access</a:t>
            </a:r>
            <a:r>
              <a:rPr lang="fr-FR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115D9B-5555-AAB1-6A80-9D35F00AC86B}"/>
              </a:ext>
            </a:extLst>
          </p:cNvPr>
          <p:cNvSpPr txBox="1"/>
          <p:nvPr/>
        </p:nvSpPr>
        <p:spPr>
          <a:xfrm>
            <a:off x="5883124" y="1130540"/>
            <a:ext cx="6096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&lt;H1&gt;Home page&lt;/H1&gt;</a:t>
            </a:r>
          </a:p>
          <a:p>
            <a:r>
              <a:rPr lang="fr-FR" dirty="0"/>
              <a:t>&lt;BR/&gt;</a:t>
            </a:r>
          </a:p>
          <a:p>
            <a:r>
              <a:rPr lang="fr-FR" dirty="0"/>
              <a:t>&lt;BR/&gt;</a:t>
            </a:r>
          </a:p>
          <a:p>
            <a:endParaRPr lang="fr-FR" dirty="0"/>
          </a:p>
          <a:p>
            <a:r>
              <a:rPr lang="fr-FR" dirty="0"/>
              <a:t>&lt;A href="/page-user.html"&gt;page-user&lt;/A&gt;</a:t>
            </a:r>
          </a:p>
          <a:p>
            <a:r>
              <a:rPr lang="fr-FR" dirty="0"/>
              <a:t>&lt;BR/&gt;</a:t>
            </a:r>
          </a:p>
          <a:p>
            <a:r>
              <a:rPr lang="fr-FR" dirty="0"/>
              <a:t>&lt;A href="/page-manager.html"&gt;page-manager&lt;/A&gt;</a:t>
            </a:r>
          </a:p>
          <a:p>
            <a:r>
              <a:rPr lang="fr-FR" dirty="0"/>
              <a:t>&lt;BR/&gt;</a:t>
            </a:r>
          </a:p>
          <a:p>
            <a:r>
              <a:rPr lang="fr-FR" dirty="0"/>
              <a:t>&lt;A href="/page-authenticated.html"&gt;page-</a:t>
            </a:r>
            <a:r>
              <a:rPr lang="fr-FR" dirty="0" err="1"/>
              <a:t>authenticated</a:t>
            </a:r>
            <a:r>
              <a:rPr lang="fr-FR" dirty="0"/>
              <a:t>&lt;/A&gt;</a:t>
            </a:r>
          </a:p>
          <a:p>
            <a:r>
              <a:rPr lang="fr-FR" dirty="0"/>
              <a:t>&lt;BR/&gt;</a:t>
            </a:r>
          </a:p>
          <a:p>
            <a:r>
              <a:rPr lang="fr-FR" dirty="0"/>
              <a:t>&lt;A href="/page-anonymous.html"&gt;page-</a:t>
            </a:r>
            <a:r>
              <a:rPr lang="fr-FR" dirty="0" err="1"/>
              <a:t>anonymous</a:t>
            </a:r>
            <a:r>
              <a:rPr lang="fr-FR" dirty="0"/>
              <a:t>&lt;/A&gt;</a:t>
            </a:r>
          </a:p>
          <a:p>
            <a:r>
              <a:rPr lang="fr-FR" dirty="0"/>
              <a:t>&lt;BR/&gt;</a:t>
            </a:r>
          </a:p>
          <a:p>
            <a:r>
              <a:rPr lang="fr-FR" dirty="0"/>
              <a:t>&lt;A href="/page-admin.html"&gt;page-admin&lt;/A&gt;</a:t>
            </a:r>
          </a:p>
          <a:p>
            <a:r>
              <a:rPr lang="fr-FR" dirty="0"/>
              <a:t>&lt;BR/&gt;</a:t>
            </a:r>
          </a:p>
          <a:p>
            <a:r>
              <a:rPr lang="fr-FR" dirty="0"/>
              <a:t>&lt;BR/&gt;</a:t>
            </a:r>
          </a:p>
          <a:p>
            <a:endParaRPr lang="fr-FR" dirty="0"/>
          </a:p>
          <a:p>
            <a:r>
              <a:rPr lang="fr-FR" dirty="0"/>
              <a:t>&lt;A href="/h2-console"&gt;h2-console&lt;/A&gt;  (ADMIN)</a:t>
            </a:r>
          </a:p>
          <a:p>
            <a:r>
              <a:rPr lang="fr-FR" dirty="0"/>
              <a:t>&lt;BR/&gt;</a:t>
            </a:r>
          </a:p>
          <a:p>
            <a:endParaRPr lang="fr-FR" dirty="0"/>
          </a:p>
          <a:p>
            <a:r>
              <a:rPr lang="fr-FR" dirty="0"/>
              <a:t>&lt;A href="/</a:t>
            </a:r>
            <a:r>
              <a:rPr lang="fr-FR" dirty="0" err="1"/>
              <a:t>logout</a:t>
            </a:r>
            <a:r>
              <a:rPr lang="fr-FR" dirty="0"/>
              <a:t>"&gt;</a:t>
            </a:r>
            <a:r>
              <a:rPr lang="fr-FR" dirty="0" err="1"/>
              <a:t>logout</a:t>
            </a:r>
            <a:r>
              <a:rPr lang="fr-FR" dirty="0"/>
              <a:t>&lt;/A&gt;</a:t>
            </a:r>
          </a:p>
          <a:p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BEED37-DBA3-47D2-AD38-FF336A8B1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505" y="1719791"/>
            <a:ext cx="2876799" cy="3505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4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DBD8E-1FE3-A5E2-1AA7-BCD9A9DA5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1165114" cy="996648"/>
          </a:xfrm>
        </p:spPr>
        <p:txBody>
          <a:bodyPr/>
          <a:lstStyle/>
          <a:p>
            <a:r>
              <a:rPr lang="fr-FR" dirty="0"/>
              <a:t>Page-XYZ ... accessible </a:t>
            </a:r>
            <a:r>
              <a:rPr lang="fr-FR" dirty="0" err="1"/>
              <a:t>only</a:t>
            </a:r>
            <a:r>
              <a:rPr lang="fr-FR" dirty="0"/>
              <a:t> if user has </a:t>
            </a:r>
            <a:r>
              <a:rPr lang="fr-FR" dirty="0" err="1"/>
              <a:t>role</a:t>
            </a:r>
            <a:r>
              <a:rPr lang="fr-FR" dirty="0"/>
              <a:t> XYZ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01604-BD56-AE2D-220B-6F32856B14C3}"/>
              </a:ext>
            </a:extLst>
          </p:cNvPr>
          <p:cNvSpPr txBox="1"/>
          <p:nvPr/>
        </p:nvSpPr>
        <p:spPr>
          <a:xfrm>
            <a:off x="5946019" y="1680463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&lt;H1&gt;Page Admin&lt;/H1&gt;</a:t>
            </a:r>
          </a:p>
          <a:p>
            <a:endParaRPr lang="fr-FR" dirty="0"/>
          </a:p>
          <a:p>
            <a:r>
              <a:rPr lang="fr-FR" dirty="0"/>
              <a:t>&lt;A href="/"&gt;Home&lt;/A&gt;</a:t>
            </a:r>
          </a:p>
          <a:p>
            <a:r>
              <a:rPr lang="fr-FR" dirty="0"/>
              <a:t>&lt;BR/&gt;</a:t>
            </a:r>
          </a:p>
          <a:p>
            <a:endParaRPr lang="fr-FR" dirty="0"/>
          </a:p>
          <a:p>
            <a:r>
              <a:rPr lang="fr-FR" dirty="0"/>
              <a:t>...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if </a:t>
            </a:r>
            <a:r>
              <a:rPr lang="fr-FR" dirty="0" err="1"/>
              <a:t>you</a:t>
            </a:r>
            <a:r>
              <a:rPr lang="fr-FR" dirty="0"/>
              <a:t> have </a:t>
            </a:r>
            <a:r>
              <a:rPr lang="fr-FR" dirty="0" err="1"/>
              <a:t>role</a:t>
            </a:r>
            <a:r>
              <a:rPr lang="fr-FR" dirty="0"/>
              <a:t> "ADMIN"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B85ED1-CDF2-8B6A-297D-762B46C9C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899" y="1878196"/>
            <a:ext cx="3562659" cy="15508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7E3EEE-3D67-156D-EB67-2D38CC787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985" y="4567076"/>
            <a:ext cx="5544030" cy="198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482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AEBE4-3999-6C57-E2E8-945396C7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95214"/>
          </a:xfrm>
        </p:spPr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SecurityConf</a:t>
            </a:r>
            <a:r>
              <a:rPr lang="fr-FR" dirty="0"/>
              <a:t>  [1/3]</a:t>
            </a:r>
            <a:br>
              <a:rPr lang="fr-FR" dirty="0"/>
            </a:br>
            <a:r>
              <a:rPr lang="fr-FR" dirty="0"/>
              <a:t>to configure ... (and </a:t>
            </a:r>
            <a:r>
              <a:rPr lang="fr-FR" dirty="0" err="1"/>
              <a:t>disable</a:t>
            </a:r>
            <a:r>
              <a:rPr lang="fr-FR" dirty="0"/>
              <a:t> cors &amp; </a:t>
            </a:r>
            <a:r>
              <a:rPr lang="fr-FR" dirty="0" err="1"/>
              <a:t>csrf</a:t>
            </a:r>
            <a:r>
              <a:rPr lang="fr-FR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4965CC-7F6B-4B6E-0C88-EFA46882E4A2}"/>
              </a:ext>
            </a:extLst>
          </p:cNvPr>
          <p:cNvSpPr txBox="1"/>
          <p:nvPr/>
        </p:nvSpPr>
        <p:spPr>
          <a:xfrm>
            <a:off x="678542" y="1211329"/>
            <a:ext cx="11295743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package </a:t>
            </a:r>
            <a:r>
              <a:rPr lang="fr-FR" sz="1400" dirty="0" err="1"/>
              <a:t>com.example.demo</a:t>
            </a:r>
            <a:r>
              <a:rPr lang="fr-FR" sz="1400" dirty="0"/>
              <a:t>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org.springframework.context.annotation.Bean</a:t>
            </a:r>
            <a:r>
              <a:rPr lang="fr-FR" sz="1400" dirty="0"/>
              <a:t>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org.springframework.context.annotation.Configuration</a:t>
            </a:r>
            <a:r>
              <a:rPr lang="fr-FR" sz="1400" dirty="0"/>
              <a:t>;</a:t>
            </a:r>
          </a:p>
          <a:p>
            <a:r>
              <a:rPr lang="fr-FR" sz="1400" dirty="0"/>
              <a:t>import org.springframework.security.config.annotation.web.builders.HttpSecurity;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org.springframework.security.web.SecurityFilterChain</a:t>
            </a:r>
            <a:r>
              <a:rPr lang="fr-FR" sz="1400" dirty="0"/>
              <a:t>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org.springframework.web.cors.CorsConfiguration</a:t>
            </a:r>
            <a:r>
              <a:rPr lang="fr-FR" sz="1400" dirty="0"/>
              <a:t>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org.springframework.web.cors.UrlBasedCorsConfigurationSource</a:t>
            </a:r>
            <a:r>
              <a:rPr lang="fr-FR" sz="1400" dirty="0"/>
              <a:t>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org.springframework.web.filter.CorsFilter</a:t>
            </a:r>
            <a:r>
              <a:rPr lang="fr-FR" sz="1400" dirty="0"/>
              <a:t>;</a:t>
            </a:r>
          </a:p>
          <a:p>
            <a:r>
              <a:rPr lang="fr-FR" sz="1400" dirty="0"/>
              <a:t>import </a:t>
            </a:r>
            <a:r>
              <a:rPr lang="fr-FR" sz="1400" dirty="0" err="1"/>
              <a:t>java.util.List</a:t>
            </a:r>
            <a:r>
              <a:rPr lang="fr-FR" sz="1400" dirty="0"/>
              <a:t>;</a:t>
            </a:r>
          </a:p>
          <a:p>
            <a:endParaRPr lang="fr-FR" sz="1400" dirty="0"/>
          </a:p>
          <a:p>
            <a:r>
              <a:rPr lang="fr-FR" sz="1400" dirty="0"/>
              <a:t>@Configuration</a:t>
            </a:r>
          </a:p>
          <a:p>
            <a:r>
              <a:rPr lang="fr-FR" sz="1400" dirty="0"/>
              <a:t>@EnableWebSecurity</a:t>
            </a:r>
          </a:p>
          <a:p>
            <a:r>
              <a:rPr lang="fr-FR" sz="1400" dirty="0"/>
              <a:t>public class </a:t>
            </a:r>
            <a:r>
              <a:rPr lang="fr-FR" sz="1400" dirty="0" err="1"/>
              <a:t>SecurityConfig</a:t>
            </a:r>
            <a:r>
              <a:rPr lang="fr-FR" sz="1400" dirty="0"/>
              <a:t> {</a:t>
            </a:r>
          </a:p>
          <a:p>
            <a:r>
              <a:rPr lang="fr-FR" sz="1400" dirty="0"/>
              <a:t>    @Bean</a:t>
            </a:r>
          </a:p>
          <a:p>
            <a:r>
              <a:rPr lang="fr-FR" sz="1400" dirty="0"/>
              <a:t>    public </a:t>
            </a:r>
            <a:r>
              <a:rPr lang="fr-FR" sz="1400" dirty="0" err="1"/>
              <a:t>SecurityFilterChain</a:t>
            </a:r>
            <a:r>
              <a:rPr lang="fr-FR" sz="1400" dirty="0"/>
              <a:t> </a:t>
            </a:r>
            <a:r>
              <a:rPr lang="fr-FR" sz="1400" dirty="0" err="1"/>
              <a:t>securityFilterChain</a:t>
            </a:r>
            <a:r>
              <a:rPr lang="fr-FR" sz="1400" dirty="0"/>
              <a:t>(</a:t>
            </a:r>
            <a:r>
              <a:rPr lang="fr-FR" sz="1400" dirty="0" err="1"/>
              <a:t>HttpSecurity</a:t>
            </a:r>
            <a:r>
              <a:rPr lang="fr-FR" sz="1400" dirty="0"/>
              <a:t> http) </a:t>
            </a:r>
            <a:r>
              <a:rPr lang="fr-FR" sz="1400" dirty="0" err="1"/>
              <a:t>throws</a:t>
            </a:r>
            <a:r>
              <a:rPr lang="fr-FR" sz="1400" dirty="0"/>
              <a:t> Exception {</a:t>
            </a:r>
          </a:p>
          <a:p>
            <a:r>
              <a:rPr lang="fr-FR" sz="1400" dirty="0"/>
              <a:t>        return http</a:t>
            </a:r>
          </a:p>
          <a:p>
            <a:r>
              <a:rPr lang="fr-FR" sz="1400" dirty="0"/>
              <a:t>                .</a:t>
            </a:r>
            <a:r>
              <a:rPr lang="fr-FR" sz="1400" dirty="0" err="1"/>
              <a:t>formLogin</a:t>
            </a:r>
            <a:r>
              <a:rPr lang="fr-FR" sz="1400" dirty="0"/>
              <a:t>(</a:t>
            </a:r>
            <a:r>
              <a:rPr lang="fr-FR" sz="1400" dirty="0" err="1"/>
              <a:t>withDefaults</a:t>
            </a:r>
            <a:r>
              <a:rPr lang="fr-FR" sz="1400" dirty="0"/>
              <a:t>())</a:t>
            </a:r>
          </a:p>
          <a:p>
            <a:r>
              <a:rPr lang="fr-FR" sz="1400" dirty="0"/>
              <a:t>                .</a:t>
            </a:r>
            <a:r>
              <a:rPr lang="fr-FR" sz="1400" dirty="0" err="1"/>
              <a:t>logout</a:t>
            </a:r>
            <a:r>
              <a:rPr lang="fr-FR" sz="1400" dirty="0"/>
              <a:t>(</a:t>
            </a:r>
            <a:r>
              <a:rPr lang="fr-FR" sz="1400" dirty="0" err="1"/>
              <a:t>withDefaults</a:t>
            </a:r>
            <a:r>
              <a:rPr lang="fr-FR" sz="1400" dirty="0"/>
              <a:t>())</a:t>
            </a:r>
          </a:p>
          <a:p>
            <a:r>
              <a:rPr lang="fr-FR" sz="1400" dirty="0"/>
              <a:t>                .</a:t>
            </a:r>
            <a:r>
              <a:rPr lang="fr-FR" sz="1400" dirty="0" err="1"/>
              <a:t>authorizeHttpRequests</a:t>
            </a:r>
            <a:r>
              <a:rPr lang="fr-FR" sz="1400" dirty="0"/>
              <a:t>((</a:t>
            </a:r>
            <a:r>
              <a:rPr lang="fr-FR" sz="1400" dirty="0" err="1"/>
              <a:t>requests</a:t>
            </a:r>
            <a:r>
              <a:rPr lang="fr-FR" sz="1400" dirty="0"/>
              <a:t>) -&gt; </a:t>
            </a:r>
            <a:r>
              <a:rPr lang="fr-FR" sz="1400" dirty="0" err="1"/>
              <a:t>configureHttpAuth</a:t>
            </a:r>
            <a:r>
              <a:rPr lang="fr-FR" sz="1400" dirty="0"/>
              <a:t>(</a:t>
            </a:r>
            <a:r>
              <a:rPr lang="fr-FR" sz="1400" dirty="0" err="1"/>
              <a:t>requests</a:t>
            </a:r>
            <a:r>
              <a:rPr lang="fr-FR" sz="1400" dirty="0"/>
              <a:t>))</a:t>
            </a:r>
          </a:p>
          <a:p>
            <a:r>
              <a:rPr lang="fr-FR" sz="1400" dirty="0"/>
              <a:t>                .cors(cors -&gt; </a:t>
            </a:r>
            <a:r>
              <a:rPr lang="fr-FR" sz="1400" dirty="0" err="1"/>
              <a:t>cors.configurationSource</a:t>
            </a:r>
            <a:r>
              <a:rPr lang="fr-FR" sz="1400" dirty="0"/>
              <a:t>(</a:t>
            </a:r>
            <a:r>
              <a:rPr lang="fr-FR" sz="1400" dirty="0" err="1"/>
              <a:t>corsConfigurationSource</a:t>
            </a:r>
            <a:r>
              <a:rPr lang="fr-FR" sz="1400" dirty="0"/>
              <a:t>()))</a:t>
            </a:r>
          </a:p>
          <a:p>
            <a:r>
              <a:rPr lang="fr-FR" sz="1400" dirty="0"/>
              <a:t>                .</a:t>
            </a:r>
            <a:r>
              <a:rPr lang="fr-FR" sz="1400" dirty="0" err="1"/>
              <a:t>csrf</a:t>
            </a:r>
            <a:r>
              <a:rPr lang="fr-FR" sz="1400" dirty="0"/>
              <a:t>(</a:t>
            </a:r>
            <a:r>
              <a:rPr lang="fr-FR" sz="1400" dirty="0" err="1"/>
              <a:t>csrf</a:t>
            </a:r>
            <a:r>
              <a:rPr lang="fr-FR" sz="1400" dirty="0"/>
              <a:t> -&gt; </a:t>
            </a:r>
            <a:r>
              <a:rPr lang="fr-FR" sz="1400" dirty="0" err="1"/>
              <a:t>csrf</a:t>
            </a:r>
            <a:endParaRPr lang="fr-FR" sz="1400" dirty="0"/>
          </a:p>
          <a:p>
            <a:r>
              <a:rPr lang="fr-FR" sz="1400" dirty="0"/>
              <a:t>                        .</a:t>
            </a:r>
            <a:r>
              <a:rPr lang="fr-FR" sz="1400" dirty="0" err="1"/>
              <a:t>ignoringRequestMatchers</a:t>
            </a:r>
            <a:r>
              <a:rPr lang="fr-FR" sz="1400" dirty="0"/>
              <a:t>("/h2-console/**")</a:t>
            </a:r>
          </a:p>
          <a:p>
            <a:r>
              <a:rPr lang="fr-FR" sz="1400" dirty="0"/>
              <a:t>                        .</a:t>
            </a:r>
            <a:r>
              <a:rPr lang="fr-FR" sz="1400" dirty="0" err="1"/>
              <a:t>disable</a:t>
            </a:r>
            <a:r>
              <a:rPr lang="fr-FR" sz="1400" dirty="0"/>
              <a:t>()) // TODO </a:t>
            </a:r>
            <a:r>
              <a:rPr lang="fr-FR" sz="1400" dirty="0" err="1"/>
              <a:t>ugly</a:t>
            </a:r>
            <a:r>
              <a:rPr lang="fr-FR" sz="1400" dirty="0"/>
              <a:t> conf ....  </a:t>
            </a:r>
            <a:r>
              <a:rPr lang="fr-FR" sz="1400" dirty="0" err="1"/>
              <a:t>Disable</a:t>
            </a:r>
            <a:r>
              <a:rPr lang="fr-FR" sz="1400" dirty="0"/>
              <a:t> CSRF for API </a:t>
            </a:r>
            <a:r>
              <a:rPr lang="fr-FR" sz="1400" dirty="0" err="1"/>
              <a:t>requests</a:t>
            </a:r>
            <a:endParaRPr lang="fr-FR" sz="1400" dirty="0"/>
          </a:p>
          <a:p>
            <a:r>
              <a:rPr lang="fr-FR" sz="1400" dirty="0"/>
              <a:t>                .headers(headers -&gt; </a:t>
            </a:r>
            <a:r>
              <a:rPr lang="fr-FR" sz="1400" dirty="0" err="1"/>
              <a:t>headers.frameOptions</a:t>
            </a:r>
            <a:r>
              <a:rPr lang="fr-FR" sz="1400" dirty="0"/>
              <a:t>(frame -&gt; </a:t>
            </a:r>
            <a:r>
              <a:rPr lang="fr-FR" sz="1400" dirty="0" err="1"/>
              <a:t>frame.sameOrigin</a:t>
            </a:r>
            <a:r>
              <a:rPr lang="fr-FR" sz="1400" dirty="0"/>
              <a:t>()))</a:t>
            </a:r>
          </a:p>
          <a:p>
            <a:r>
              <a:rPr lang="fr-FR" sz="1400" dirty="0"/>
              <a:t>                .</a:t>
            </a:r>
            <a:r>
              <a:rPr lang="fr-FR" sz="1400" dirty="0" err="1"/>
              <a:t>build</a:t>
            </a:r>
            <a:r>
              <a:rPr lang="fr-FR" sz="1400" dirty="0"/>
              <a:t>();</a:t>
            </a:r>
          </a:p>
          <a:p>
            <a:r>
              <a:rPr lang="fr-FR" sz="1400" dirty="0"/>
              <a:t>   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7C954E-5D34-2ABC-4FB2-3DBFB3C7B831}"/>
              </a:ext>
            </a:extLst>
          </p:cNvPr>
          <p:cNvSpPr txBox="1"/>
          <p:nvPr/>
        </p:nvSpPr>
        <p:spPr>
          <a:xfrm>
            <a:off x="9463314" y="6424122"/>
            <a:ext cx="2510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// ... continue </a:t>
            </a:r>
            <a:r>
              <a:rPr lang="fr-FR" dirty="0" err="1"/>
              <a:t>next</a:t>
            </a:r>
            <a:r>
              <a:rPr lang="fr-FR" dirty="0"/>
              <a:t> page</a:t>
            </a:r>
          </a:p>
        </p:txBody>
      </p:sp>
    </p:spTree>
    <p:extLst>
      <p:ext uri="{BB962C8B-B14F-4D97-AF65-F5344CB8AC3E}">
        <p14:creationId xmlns:p14="http://schemas.microsoft.com/office/powerpoint/2010/main" val="29004516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22274-7AA9-6899-53CB-F958F6537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38589"/>
          </a:xfrm>
        </p:spPr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SecurityConf</a:t>
            </a:r>
            <a:r>
              <a:rPr lang="fr-FR" dirty="0"/>
              <a:t> [2/3]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97A26A-CC52-BA1D-D16D-A53BAC4EAAD1}"/>
              </a:ext>
            </a:extLst>
          </p:cNvPr>
          <p:cNvSpPr txBox="1"/>
          <p:nvPr/>
        </p:nvSpPr>
        <p:spPr>
          <a:xfrm>
            <a:off x="609600" y="1253066"/>
            <a:ext cx="1086152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 </a:t>
            </a:r>
            <a:r>
              <a:rPr lang="fr-FR" sz="1600" dirty="0" err="1"/>
              <a:t>private</a:t>
            </a:r>
            <a:r>
              <a:rPr lang="fr-FR" sz="1600" dirty="0"/>
              <a:t> </a:t>
            </a:r>
            <a:r>
              <a:rPr lang="fr-FR" sz="1600" dirty="0" err="1"/>
              <a:t>static</a:t>
            </a:r>
            <a:r>
              <a:rPr lang="fr-FR" sz="1600" dirty="0"/>
              <a:t> </a:t>
            </a:r>
            <a:r>
              <a:rPr lang="fr-FR" sz="1600" dirty="0" err="1"/>
              <a:t>void</a:t>
            </a:r>
            <a:r>
              <a:rPr lang="fr-FR" sz="1600" dirty="0"/>
              <a:t> </a:t>
            </a:r>
            <a:r>
              <a:rPr lang="fr-FR" sz="1600" dirty="0" err="1"/>
              <a:t>configureHttpAuth</a:t>
            </a:r>
            <a:r>
              <a:rPr lang="fr-FR" sz="1600" dirty="0"/>
              <a:t>(</a:t>
            </a:r>
          </a:p>
          <a:p>
            <a:r>
              <a:rPr lang="fr-FR" sz="1600" dirty="0"/>
              <a:t>            </a:t>
            </a:r>
            <a:r>
              <a:rPr lang="fr-FR" sz="1600" dirty="0" err="1"/>
              <a:t>AuthorizeHttpRequestsConfigurer</a:t>
            </a:r>
            <a:r>
              <a:rPr lang="fr-FR" sz="1600" dirty="0"/>
              <a:t>&lt;</a:t>
            </a:r>
            <a:r>
              <a:rPr lang="fr-FR" sz="1600" dirty="0" err="1"/>
              <a:t>HttpSecurity</a:t>
            </a:r>
            <a:r>
              <a:rPr lang="fr-FR" sz="1600" dirty="0"/>
              <a:t>&gt;.</a:t>
            </a:r>
            <a:r>
              <a:rPr lang="fr-FR" sz="1600" dirty="0" err="1"/>
              <a:t>AuthorizationManagerRequestMatcherRegistry</a:t>
            </a:r>
            <a:r>
              <a:rPr lang="fr-FR" sz="1600" dirty="0"/>
              <a:t> </a:t>
            </a:r>
            <a:r>
              <a:rPr lang="fr-FR" sz="1600" dirty="0" err="1"/>
              <a:t>requests</a:t>
            </a:r>
            <a:r>
              <a:rPr lang="fr-FR" sz="1600" dirty="0"/>
              <a:t>) {</a:t>
            </a:r>
          </a:p>
          <a:p>
            <a:r>
              <a:rPr lang="fr-FR" sz="1600" dirty="0"/>
              <a:t>        </a:t>
            </a:r>
            <a:r>
              <a:rPr lang="fr-FR" sz="1600" dirty="0" err="1"/>
              <a:t>requests</a:t>
            </a:r>
            <a:endParaRPr lang="fr-FR" sz="1600" dirty="0"/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</a:t>
            </a:r>
            <a:r>
              <a:rPr lang="fr-FR" sz="1600" dirty="0" err="1"/>
              <a:t>HttpMethod.GET</a:t>
            </a:r>
            <a:r>
              <a:rPr lang="fr-FR" sz="1600" dirty="0"/>
              <a:t>, "*.</a:t>
            </a:r>
            <a:r>
              <a:rPr lang="fr-FR" sz="1600" dirty="0" err="1"/>
              <a:t>css</a:t>
            </a:r>
            <a:r>
              <a:rPr lang="fr-FR" sz="1600" dirty="0"/>
              <a:t>", "*.</a:t>
            </a:r>
            <a:r>
              <a:rPr lang="fr-FR" sz="1600" dirty="0" err="1"/>
              <a:t>js</a:t>
            </a:r>
            <a:r>
              <a:rPr lang="fr-FR" sz="1600" dirty="0"/>
              <a:t>", "*.png").</a:t>
            </a:r>
            <a:r>
              <a:rPr lang="fr-FR" sz="1600" dirty="0" err="1"/>
              <a:t>permitAll</a:t>
            </a:r>
            <a:r>
              <a:rPr lang="fr-FR" sz="1600" dirty="0"/>
              <a:t>()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("/", "/index.html").</a:t>
            </a:r>
            <a:r>
              <a:rPr lang="fr-FR" sz="1600" dirty="0" err="1"/>
              <a:t>permitAll</a:t>
            </a:r>
            <a:r>
              <a:rPr lang="fr-FR" sz="1600" dirty="0"/>
              <a:t>()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("/page-admin.html").</a:t>
            </a:r>
            <a:r>
              <a:rPr lang="fr-FR" sz="1600" dirty="0" err="1"/>
              <a:t>hasRole</a:t>
            </a:r>
            <a:r>
              <a:rPr lang="fr-FR" sz="1600" dirty="0"/>
              <a:t>("ADMIN")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("/page-user.html").</a:t>
            </a:r>
            <a:r>
              <a:rPr lang="fr-FR" sz="1600" dirty="0" err="1"/>
              <a:t>hasRole</a:t>
            </a:r>
            <a:r>
              <a:rPr lang="fr-FR" sz="1600" dirty="0"/>
              <a:t>("USER")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("/page-manager.html").</a:t>
            </a:r>
            <a:r>
              <a:rPr lang="fr-FR" sz="1600" dirty="0" err="1"/>
              <a:t>hasRole</a:t>
            </a:r>
            <a:r>
              <a:rPr lang="fr-FR" sz="1600" dirty="0"/>
              <a:t>("MANAGER")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("/page-anonymous.html").</a:t>
            </a:r>
            <a:r>
              <a:rPr lang="fr-FR" sz="1600" dirty="0" err="1"/>
              <a:t>permitAll</a:t>
            </a:r>
            <a:r>
              <a:rPr lang="fr-FR" sz="1600" dirty="0"/>
              <a:t>()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("/page-authenticated.html").</a:t>
            </a:r>
            <a:r>
              <a:rPr lang="fr-FR" sz="1600" dirty="0" err="1"/>
              <a:t>authenticated</a:t>
            </a:r>
            <a:r>
              <a:rPr lang="fr-FR" sz="1600" dirty="0"/>
              <a:t>()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("/h2-console/**")</a:t>
            </a:r>
          </a:p>
          <a:p>
            <a:r>
              <a:rPr lang="fr-FR" sz="1600" dirty="0"/>
              <a:t>                    .</a:t>
            </a:r>
            <a:r>
              <a:rPr lang="fr-FR" sz="1600" dirty="0" err="1"/>
              <a:t>authenticated</a:t>
            </a:r>
            <a:r>
              <a:rPr lang="fr-FR" sz="1600" dirty="0"/>
              <a:t>() // TODO .. </a:t>
            </a:r>
            <a:r>
              <a:rPr lang="fr-FR" sz="1600" dirty="0" err="1"/>
              <a:t>should</a:t>
            </a:r>
            <a:r>
              <a:rPr lang="fr-FR" sz="1600" dirty="0"/>
              <a:t> </a:t>
            </a:r>
            <a:r>
              <a:rPr lang="fr-FR" sz="1600" dirty="0" err="1"/>
              <a:t>be</a:t>
            </a:r>
            <a:r>
              <a:rPr lang="fr-FR" sz="1600" dirty="0"/>
              <a:t> .</a:t>
            </a:r>
            <a:r>
              <a:rPr lang="fr-FR" sz="1600" dirty="0" err="1"/>
              <a:t>hasRole</a:t>
            </a:r>
            <a:r>
              <a:rPr lang="fr-FR" sz="1600" dirty="0"/>
              <a:t>("ADMIN")</a:t>
            </a:r>
          </a:p>
          <a:p>
            <a:r>
              <a:rPr lang="fr-FR" sz="1600" dirty="0"/>
              <a:t>                    // .</a:t>
            </a:r>
            <a:r>
              <a:rPr lang="fr-FR" sz="1600" dirty="0" err="1"/>
              <a:t>hasRole</a:t>
            </a:r>
            <a:r>
              <a:rPr lang="fr-FR" sz="1600" dirty="0"/>
              <a:t>("ADMIN")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requestMatchers</a:t>
            </a:r>
            <a:r>
              <a:rPr lang="fr-FR" sz="1600" dirty="0"/>
              <a:t>("/api/**").</a:t>
            </a:r>
            <a:r>
              <a:rPr lang="fr-FR" sz="1600" dirty="0" err="1"/>
              <a:t>authenticated</a:t>
            </a:r>
            <a:r>
              <a:rPr lang="fr-FR" sz="1600" dirty="0"/>
              <a:t>()</a:t>
            </a:r>
          </a:p>
          <a:p>
            <a:r>
              <a:rPr lang="fr-FR" sz="1600" dirty="0"/>
              <a:t>                .</a:t>
            </a:r>
            <a:r>
              <a:rPr lang="fr-FR" sz="1600" dirty="0" err="1"/>
              <a:t>anyRequest</a:t>
            </a:r>
            <a:r>
              <a:rPr lang="fr-FR" sz="1600" dirty="0"/>
              <a:t>().</a:t>
            </a:r>
            <a:r>
              <a:rPr lang="fr-FR" sz="1600" dirty="0" err="1"/>
              <a:t>permitAll</a:t>
            </a:r>
            <a:r>
              <a:rPr lang="fr-FR" sz="1600" dirty="0"/>
              <a:t>(); // TODO </a:t>
            </a:r>
            <a:r>
              <a:rPr lang="fr-FR" sz="1600" dirty="0" err="1"/>
              <a:t>remove</a:t>
            </a:r>
            <a:r>
              <a:rPr lang="fr-FR" sz="1600" dirty="0"/>
              <a:t> </a:t>
            </a:r>
            <a:r>
              <a:rPr lang="fr-FR" sz="1600" dirty="0" err="1"/>
              <a:t>ugly</a:t>
            </a:r>
            <a:r>
              <a:rPr lang="fr-FR" sz="1600" dirty="0"/>
              <a:t> conf !!!!</a:t>
            </a:r>
          </a:p>
          <a:p>
            <a:r>
              <a:rPr lang="fr-FR" sz="1600" dirty="0"/>
              <a:t>    }</a:t>
            </a:r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4999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A1A4-12A5-B08C-9786-7B8233D0A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SecurityConf</a:t>
            </a:r>
            <a:r>
              <a:rPr lang="fr-FR" dirty="0"/>
              <a:t> [3/3]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3A5E59-D422-AE76-6462-E260C76E56EA}"/>
              </a:ext>
            </a:extLst>
          </p:cNvPr>
          <p:cNvSpPr txBox="1"/>
          <p:nvPr/>
        </p:nvSpPr>
        <p:spPr>
          <a:xfrm>
            <a:off x="764419" y="1598764"/>
            <a:ext cx="11132457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   @Bean</a:t>
            </a:r>
          </a:p>
          <a:p>
            <a:r>
              <a:rPr lang="fr-FR" sz="1400" dirty="0"/>
              <a:t>    public </a:t>
            </a:r>
            <a:r>
              <a:rPr lang="fr-FR" sz="1400" dirty="0" err="1"/>
              <a:t>CorsFilter</a:t>
            </a:r>
            <a:r>
              <a:rPr lang="fr-FR" sz="1400" dirty="0"/>
              <a:t> </a:t>
            </a:r>
            <a:r>
              <a:rPr lang="fr-FR" sz="1400" dirty="0" err="1"/>
              <a:t>corsFilter</a:t>
            </a:r>
            <a:r>
              <a:rPr lang="fr-FR" sz="1400" dirty="0"/>
              <a:t>() {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CorsConfiguration</a:t>
            </a:r>
            <a:r>
              <a:rPr lang="fr-FR" sz="1400" dirty="0"/>
              <a:t> config = new </a:t>
            </a:r>
            <a:r>
              <a:rPr lang="fr-FR" sz="1400" dirty="0" err="1"/>
              <a:t>CorsConfiguration</a:t>
            </a:r>
            <a:r>
              <a:rPr lang="fr-FR" sz="1400" dirty="0"/>
              <a:t>();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config.setAllowCredentials</a:t>
            </a:r>
            <a:r>
              <a:rPr lang="fr-FR" sz="1400" dirty="0"/>
              <a:t>(</a:t>
            </a:r>
            <a:r>
              <a:rPr lang="fr-FR" sz="1400" dirty="0" err="1"/>
              <a:t>true</a:t>
            </a:r>
            <a:r>
              <a:rPr lang="fr-FR" sz="1400" dirty="0"/>
              <a:t>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config.setAllowedOrigins</a:t>
            </a:r>
            <a:r>
              <a:rPr lang="fr-FR" sz="1400" dirty="0"/>
              <a:t>(</a:t>
            </a:r>
            <a:r>
              <a:rPr lang="fr-FR" sz="1400" dirty="0" err="1"/>
              <a:t>List.of</a:t>
            </a:r>
            <a:r>
              <a:rPr lang="fr-FR" sz="1400" dirty="0"/>
              <a:t>("*"));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config.setAllowedHeaders</a:t>
            </a:r>
            <a:r>
              <a:rPr lang="fr-FR" sz="1400" dirty="0"/>
              <a:t>(</a:t>
            </a:r>
            <a:r>
              <a:rPr lang="fr-FR" sz="1400" dirty="0" err="1"/>
              <a:t>List.of</a:t>
            </a:r>
            <a:r>
              <a:rPr lang="fr-FR" sz="1400" dirty="0"/>
              <a:t>("*"));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config.setAllowedMethods</a:t>
            </a:r>
            <a:r>
              <a:rPr lang="fr-FR" sz="1400" dirty="0"/>
              <a:t>(</a:t>
            </a:r>
            <a:r>
              <a:rPr lang="fr-FR" sz="1400" dirty="0" err="1"/>
              <a:t>List.of</a:t>
            </a:r>
            <a:r>
              <a:rPr lang="fr-FR" sz="1400" dirty="0"/>
              <a:t>("GET", "POST", "PUT", "DELETE", "HEAD", "OPTIONS"));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UrlBasedCorsConfigurationSource</a:t>
            </a:r>
            <a:r>
              <a:rPr lang="fr-FR" sz="1400" dirty="0"/>
              <a:t> source = new </a:t>
            </a:r>
            <a:r>
              <a:rPr lang="fr-FR" sz="1400" dirty="0" err="1"/>
              <a:t>UrlBasedCorsConfigurationSource</a:t>
            </a:r>
            <a:r>
              <a:rPr lang="fr-FR" sz="1400" dirty="0"/>
              <a:t>();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source.registerCorsConfiguration</a:t>
            </a:r>
            <a:r>
              <a:rPr lang="fr-FR" sz="1400" dirty="0"/>
              <a:t>("/**", config);</a:t>
            </a:r>
          </a:p>
          <a:p>
            <a:r>
              <a:rPr lang="fr-FR" sz="1400" dirty="0"/>
              <a:t>        return new </a:t>
            </a:r>
            <a:r>
              <a:rPr lang="fr-FR" sz="1400" dirty="0" err="1"/>
              <a:t>CorsFilter</a:t>
            </a:r>
            <a:r>
              <a:rPr lang="fr-FR" sz="1400" dirty="0"/>
              <a:t>(source);</a:t>
            </a:r>
          </a:p>
          <a:p>
            <a:r>
              <a:rPr lang="fr-FR" sz="1400" dirty="0"/>
              <a:t>    }</a:t>
            </a:r>
          </a:p>
          <a:p>
            <a:endParaRPr lang="fr-FR" sz="1400" dirty="0"/>
          </a:p>
          <a:p>
            <a:r>
              <a:rPr lang="fr-FR" sz="1400" dirty="0"/>
              <a:t>    </a:t>
            </a:r>
            <a:r>
              <a:rPr lang="fr-FR" sz="1400" dirty="0" err="1"/>
              <a:t>private</a:t>
            </a:r>
            <a:r>
              <a:rPr lang="fr-FR" sz="1400" dirty="0"/>
              <a:t> </a:t>
            </a:r>
            <a:r>
              <a:rPr lang="fr-FR" sz="1400" dirty="0" err="1"/>
              <a:t>UrlBasedCorsConfigurationSource</a:t>
            </a:r>
            <a:r>
              <a:rPr lang="fr-FR" sz="1400" dirty="0"/>
              <a:t> </a:t>
            </a:r>
            <a:r>
              <a:rPr lang="fr-FR" sz="1400" dirty="0" err="1"/>
              <a:t>corsConfigurationSource</a:t>
            </a:r>
            <a:r>
              <a:rPr lang="fr-FR" sz="1400" dirty="0"/>
              <a:t>() {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UrlBasedCorsConfigurationSource</a:t>
            </a:r>
            <a:r>
              <a:rPr lang="fr-FR" sz="1400" dirty="0"/>
              <a:t> source = new </a:t>
            </a:r>
            <a:r>
              <a:rPr lang="fr-FR" sz="1400" dirty="0" err="1"/>
              <a:t>UrlBasedCorsConfigurationSource</a:t>
            </a:r>
            <a:r>
              <a:rPr lang="fr-FR" sz="1400" dirty="0"/>
              <a:t>();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CorsConfiguration</a:t>
            </a:r>
            <a:r>
              <a:rPr lang="fr-FR" sz="1400" dirty="0"/>
              <a:t> config = new </a:t>
            </a:r>
            <a:r>
              <a:rPr lang="fr-FR" sz="1400" dirty="0" err="1"/>
              <a:t>CorsConfiguration</a:t>
            </a:r>
            <a:r>
              <a:rPr lang="fr-FR" sz="1400" dirty="0"/>
              <a:t>();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config.setAllowCredentials</a:t>
            </a:r>
            <a:r>
              <a:rPr lang="fr-FR" sz="1400" dirty="0"/>
              <a:t>(</a:t>
            </a:r>
            <a:r>
              <a:rPr lang="fr-FR" sz="1400" dirty="0" err="1"/>
              <a:t>true</a:t>
            </a:r>
            <a:r>
              <a:rPr lang="fr-FR" sz="1400" dirty="0"/>
              <a:t>);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config.setAllowedOrigins</a:t>
            </a:r>
            <a:r>
              <a:rPr lang="fr-FR" sz="1400" dirty="0"/>
              <a:t>(</a:t>
            </a:r>
            <a:r>
              <a:rPr lang="fr-FR" sz="1400" dirty="0" err="1"/>
              <a:t>List.of</a:t>
            </a:r>
            <a:r>
              <a:rPr lang="fr-FR" sz="1400" dirty="0"/>
              <a:t>("*")); // </a:t>
            </a:r>
            <a:r>
              <a:rPr lang="fr-FR" sz="1400" dirty="0" err="1"/>
              <a:t>Allow</a:t>
            </a:r>
            <a:r>
              <a:rPr lang="fr-FR" sz="1400" dirty="0"/>
              <a:t> all </a:t>
            </a:r>
            <a:r>
              <a:rPr lang="fr-FR" sz="1400" dirty="0" err="1"/>
              <a:t>origins</a:t>
            </a:r>
            <a:endParaRPr lang="fr-FR" sz="1400" dirty="0"/>
          </a:p>
          <a:p>
            <a:r>
              <a:rPr lang="fr-FR" sz="1400" dirty="0"/>
              <a:t>        </a:t>
            </a:r>
            <a:r>
              <a:rPr lang="fr-FR" sz="1400" dirty="0" err="1"/>
              <a:t>config.setAllowedHeaders</a:t>
            </a:r>
            <a:r>
              <a:rPr lang="fr-FR" sz="1400" dirty="0"/>
              <a:t>(</a:t>
            </a:r>
            <a:r>
              <a:rPr lang="fr-FR" sz="1400" dirty="0" err="1"/>
              <a:t>List.of</a:t>
            </a:r>
            <a:r>
              <a:rPr lang="fr-FR" sz="1400" dirty="0"/>
              <a:t>("*")); // </a:t>
            </a:r>
            <a:r>
              <a:rPr lang="fr-FR" sz="1400" dirty="0" err="1"/>
              <a:t>Allow</a:t>
            </a:r>
            <a:r>
              <a:rPr lang="fr-FR" sz="1400" dirty="0"/>
              <a:t> all headers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config.setAllowedMethods</a:t>
            </a:r>
            <a:r>
              <a:rPr lang="fr-FR" sz="1400" dirty="0"/>
              <a:t>(</a:t>
            </a:r>
            <a:r>
              <a:rPr lang="fr-FR" sz="1400" dirty="0" err="1"/>
              <a:t>List.of</a:t>
            </a:r>
            <a:r>
              <a:rPr lang="fr-FR" sz="1400" dirty="0"/>
              <a:t>("*")); // </a:t>
            </a:r>
            <a:r>
              <a:rPr lang="fr-FR" sz="1400" dirty="0" err="1"/>
              <a:t>Allow</a:t>
            </a:r>
            <a:r>
              <a:rPr lang="fr-FR" sz="1400" dirty="0"/>
              <a:t> all HTTP </a:t>
            </a:r>
            <a:r>
              <a:rPr lang="fr-FR" sz="1400" dirty="0" err="1"/>
              <a:t>methods</a:t>
            </a:r>
            <a:endParaRPr lang="fr-FR" sz="1400" dirty="0"/>
          </a:p>
          <a:p>
            <a:r>
              <a:rPr lang="fr-FR" sz="1400" dirty="0"/>
              <a:t>        </a:t>
            </a:r>
            <a:r>
              <a:rPr lang="fr-FR" sz="1400" dirty="0" err="1"/>
              <a:t>source.registerCorsConfiguration</a:t>
            </a:r>
            <a:r>
              <a:rPr lang="fr-FR" sz="1400" dirty="0"/>
              <a:t>("/**", config);</a:t>
            </a:r>
          </a:p>
          <a:p>
            <a:r>
              <a:rPr lang="fr-FR" sz="1400" dirty="0"/>
              <a:t>        return source;</a:t>
            </a:r>
          </a:p>
          <a:p>
            <a:r>
              <a:rPr lang="fr-FR" sz="1400" dirty="0"/>
              <a:t>    }</a:t>
            </a:r>
          </a:p>
          <a:p>
            <a:r>
              <a:rPr lang="fr-FR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77059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7E23F-AA10-9E0A-4CF2-AF1EFAAAD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07924"/>
          </a:xfrm>
        </p:spPr>
        <p:txBody>
          <a:bodyPr/>
          <a:lstStyle/>
          <a:p>
            <a:r>
              <a:rPr lang="fr-FR" dirty="0" err="1"/>
              <a:t>Relaunch</a:t>
            </a:r>
            <a:r>
              <a:rPr lang="fr-FR" dirty="0"/>
              <a:t> &amp; Test navigation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0DE092-5990-21C3-8598-0F6D5A4E60BB}"/>
              </a:ext>
            </a:extLst>
          </p:cNvPr>
          <p:cNvSpPr txBox="1"/>
          <p:nvPr/>
        </p:nvSpPr>
        <p:spPr>
          <a:xfrm>
            <a:off x="1344991" y="1586297"/>
            <a:ext cx="14723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/index.html</a:t>
            </a:r>
          </a:p>
          <a:p>
            <a:r>
              <a:rPr lang="fr-FR" dirty="0"/>
              <a:t>( </a:t>
            </a:r>
            <a:r>
              <a:rPr lang="fr-FR" dirty="0" err="1"/>
              <a:t>anonymous</a:t>
            </a:r>
            <a:r>
              <a:rPr lang="fr-FR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B45E0B-CBAA-8FF5-9F08-CF8574456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029" y="2232628"/>
            <a:ext cx="2876799" cy="35055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6FD2D5-2446-9434-6B20-46CEE1066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510" y="2766084"/>
            <a:ext cx="3562659" cy="15508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A4DFFB-48CF-B010-C982-3883C9B4C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9852" y="4707381"/>
            <a:ext cx="5544030" cy="1981372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25782016-8139-F9FC-15ED-11ED3EC420BA}"/>
              </a:ext>
            </a:extLst>
          </p:cNvPr>
          <p:cNvSpPr/>
          <p:nvPr/>
        </p:nvSpPr>
        <p:spPr>
          <a:xfrm>
            <a:off x="4228495" y="3159276"/>
            <a:ext cx="846667" cy="3822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AB6855A7-9147-1148-CED9-96207C94F343}"/>
              </a:ext>
            </a:extLst>
          </p:cNvPr>
          <p:cNvSpPr/>
          <p:nvPr/>
        </p:nvSpPr>
        <p:spPr>
          <a:xfrm rot="2483472">
            <a:off x="4182821" y="4666342"/>
            <a:ext cx="846667" cy="3822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Curved Left 9">
            <a:extLst>
              <a:ext uri="{FF2B5EF4-FFF2-40B4-BE49-F238E27FC236}">
                <a16:creationId xmlns:a16="http://schemas.microsoft.com/office/drawing/2014/main" id="{802B0BD2-48AA-323F-C4BD-219E6128BCCC}"/>
              </a:ext>
            </a:extLst>
          </p:cNvPr>
          <p:cNvSpPr/>
          <p:nvPr/>
        </p:nvSpPr>
        <p:spPr>
          <a:xfrm>
            <a:off x="1635276" y="5442857"/>
            <a:ext cx="566057" cy="58541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83E6826-68EB-072B-6664-D1FD43DE297B}"/>
              </a:ext>
            </a:extLst>
          </p:cNvPr>
          <p:cNvSpPr/>
          <p:nvPr/>
        </p:nvSpPr>
        <p:spPr>
          <a:xfrm rot="19505075">
            <a:off x="4170255" y="1785179"/>
            <a:ext cx="846667" cy="3822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A5C7493-7371-50AE-4431-17A268845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744" y="779515"/>
            <a:ext cx="2577311" cy="1521372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3153C31-741B-DB91-EF4C-746B41ADA003}"/>
              </a:ext>
            </a:extLst>
          </p:cNvPr>
          <p:cNvSpPr/>
          <p:nvPr/>
        </p:nvSpPr>
        <p:spPr>
          <a:xfrm rot="7937533">
            <a:off x="8456430" y="2342380"/>
            <a:ext cx="513429" cy="3822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1725F4D9-91DA-64C9-DB0A-5D2C3D39DD45}"/>
              </a:ext>
            </a:extLst>
          </p:cNvPr>
          <p:cNvSpPr/>
          <p:nvPr/>
        </p:nvSpPr>
        <p:spPr>
          <a:xfrm rot="4084705">
            <a:off x="8404361" y="3250402"/>
            <a:ext cx="2254284" cy="3822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2882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6399B-E4DB-E9B3-D35C-BD78DB5DA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17600"/>
          </a:xfrm>
        </p:spPr>
        <p:txBody>
          <a:bodyPr/>
          <a:lstStyle/>
          <a:p>
            <a:r>
              <a:rPr lang="fr-FR" dirty="0" err="1"/>
              <a:t>Reminder</a:t>
            </a:r>
            <a:r>
              <a:rPr lang="fr-FR" dirty="0"/>
              <a:t>..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BAC-2A3D-16A5-51A6-0AD303973BD1}"/>
              </a:ext>
            </a:extLst>
          </p:cNvPr>
          <p:cNvSpPr txBox="1"/>
          <p:nvPr/>
        </p:nvSpPr>
        <p:spPr>
          <a:xfrm>
            <a:off x="483810" y="2641600"/>
            <a:ext cx="24717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Credentials</a:t>
            </a:r>
            <a:endParaRPr lang="fr-FR" sz="2400" dirty="0"/>
          </a:p>
          <a:p>
            <a:r>
              <a:rPr lang="fr-FR" sz="2400" dirty="0"/>
              <a:t>ex: user/</a:t>
            </a:r>
            <a:r>
              <a:rPr lang="fr-FR" sz="2400" dirty="0" err="1"/>
              <a:t>password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91B430-73BA-0879-B3F2-031D830B3F46}"/>
              </a:ext>
            </a:extLst>
          </p:cNvPr>
          <p:cNvSpPr txBox="1"/>
          <p:nvPr/>
        </p:nvSpPr>
        <p:spPr>
          <a:xfrm>
            <a:off x="3551162" y="2641600"/>
            <a:ext cx="20438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r>
              <a:rPr lang="fr-FR" sz="2400" dirty="0"/>
              <a:t>(=Identity)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A86F55-B4D8-03DF-511F-9D546C75DE88}"/>
              </a:ext>
            </a:extLst>
          </p:cNvPr>
          <p:cNvSpPr txBox="1"/>
          <p:nvPr/>
        </p:nvSpPr>
        <p:spPr>
          <a:xfrm>
            <a:off x="6108095" y="1652209"/>
            <a:ext cx="18979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Group</a:t>
            </a:r>
          </a:p>
          <a:p>
            <a:r>
              <a:rPr lang="fr-FR" sz="2400" dirty="0" err="1"/>
              <a:t>Memberships</a:t>
            </a:r>
            <a:endParaRPr lang="fr-FR" sz="24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05D35FE-22DB-8CFA-E44B-9ED7777F4F46}"/>
              </a:ext>
            </a:extLst>
          </p:cNvPr>
          <p:cNvSpPr/>
          <p:nvPr/>
        </p:nvSpPr>
        <p:spPr>
          <a:xfrm>
            <a:off x="3048000" y="2975428"/>
            <a:ext cx="459619" cy="212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FF2825F-B994-D9E5-2D58-EC64DB9776C0}"/>
              </a:ext>
            </a:extLst>
          </p:cNvPr>
          <p:cNvSpPr/>
          <p:nvPr/>
        </p:nvSpPr>
        <p:spPr>
          <a:xfrm rot="19270710">
            <a:off x="5678950" y="2433562"/>
            <a:ext cx="459619" cy="212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F4074B-50B9-99C0-364D-7C59EA9615A0}"/>
              </a:ext>
            </a:extLst>
          </p:cNvPr>
          <p:cNvSpPr txBox="1"/>
          <p:nvPr/>
        </p:nvSpPr>
        <p:spPr>
          <a:xfrm>
            <a:off x="8403770" y="1787675"/>
            <a:ext cx="1085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Groups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2D4B95F2-BA51-B01C-9C9B-86568046B745}"/>
              </a:ext>
            </a:extLst>
          </p:cNvPr>
          <p:cNvSpPr/>
          <p:nvPr/>
        </p:nvSpPr>
        <p:spPr>
          <a:xfrm>
            <a:off x="7944151" y="1912069"/>
            <a:ext cx="459619" cy="212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4EC3103-DA9D-A75A-7309-F611A7B111AA}"/>
              </a:ext>
            </a:extLst>
          </p:cNvPr>
          <p:cNvSpPr/>
          <p:nvPr/>
        </p:nvSpPr>
        <p:spPr>
          <a:xfrm>
            <a:off x="5740398" y="2998907"/>
            <a:ext cx="3693888" cy="1659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8A3047-22F4-6C3B-CEFC-98127C062C59}"/>
              </a:ext>
            </a:extLst>
          </p:cNvPr>
          <p:cNvSpPr txBox="1"/>
          <p:nvPr/>
        </p:nvSpPr>
        <p:spPr>
          <a:xfrm>
            <a:off x="9691685" y="2578651"/>
            <a:ext cx="25718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Roles</a:t>
            </a:r>
            <a:endParaRPr lang="fr-FR" sz="2400" dirty="0"/>
          </a:p>
          <a:p>
            <a:r>
              <a:rPr lang="fr-FR" sz="2400" dirty="0"/>
              <a:t>(=</a:t>
            </a:r>
            <a:r>
              <a:rPr lang="fr-FR" sz="2400" dirty="0" err="1"/>
              <a:t>Authority</a:t>
            </a:r>
            <a:r>
              <a:rPr lang="fr-FR" sz="2400" dirty="0"/>
              <a:t>)</a:t>
            </a:r>
          </a:p>
          <a:p>
            <a:r>
              <a:rPr lang="fr-FR" sz="2400" dirty="0"/>
              <a:t>ex: "ROLE_ADMIN"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C8CB49F-F6E1-AA8D-DAD2-854DC6E6606B}"/>
              </a:ext>
            </a:extLst>
          </p:cNvPr>
          <p:cNvSpPr/>
          <p:nvPr/>
        </p:nvSpPr>
        <p:spPr>
          <a:xfrm rot="2640192">
            <a:off x="9093931" y="2472212"/>
            <a:ext cx="459619" cy="212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5721F25D-344F-DACC-3C37-CA74C949E77F}"/>
              </a:ext>
            </a:extLst>
          </p:cNvPr>
          <p:cNvSpPr/>
          <p:nvPr/>
        </p:nvSpPr>
        <p:spPr>
          <a:xfrm rot="5400000">
            <a:off x="9865607" y="3853489"/>
            <a:ext cx="459619" cy="212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E2927B-300F-FC07-1140-D1D2F783C770}"/>
              </a:ext>
            </a:extLst>
          </p:cNvPr>
          <p:cNvSpPr txBox="1"/>
          <p:nvPr/>
        </p:nvSpPr>
        <p:spPr>
          <a:xfrm>
            <a:off x="8994770" y="4455199"/>
            <a:ext cx="326127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Permissions</a:t>
            </a:r>
          </a:p>
          <a:p>
            <a:r>
              <a:rPr lang="fr-FR" sz="2400" dirty="0"/>
              <a:t>(</a:t>
            </a:r>
            <a:r>
              <a:rPr lang="fr-FR" sz="2400" dirty="0" err="1"/>
              <a:t>Subject</a:t>
            </a:r>
            <a:r>
              <a:rPr lang="fr-FR" sz="2400" dirty="0"/>
              <a:t>/</a:t>
            </a:r>
            <a:r>
              <a:rPr lang="fr-FR" sz="2400" dirty="0" err="1"/>
              <a:t>Verb</a:t>
            </a:r>
            <a:r>
              <a:rPr lang="fr-FR" sz="2400" dirty="0"/>
              <a:t>/Resource)</a:t>
            </a:r>
          </a:p>
          <a:p>
            <a:r>
              <a:rPr lang="fr-FR" sz="2400" dirty="0"/>
              <a:t>ex: "ADMIN"</a:t>
            </a:r>
            <a:br>
              <a:rPr lang="fr-FR" sz="2400" dirty="0"/>
            </a:br>
            <a:r>
              <a:rPr lang="fr-FR" sz="2400" dirty="0"/>
              <a:t>         can "GET"</a:t>
            </a:r>
            <a:br>
              <a:rPr lang="fr-FR" sz="2400" dirty="0"/>
            </a:br>
            <a:r>
              <a:rPr lang="fr-FR" sz="2400" dirty="0"/>
              <a:t>         page-admin.html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8B06CE-CC9A-F2D9-1DEF-1D73F80B1A51}"/>
              </a:ext>
            </a:extLst>
          </p:cNvPr>
          <p:cNvSpPr txBox="1"/>
          <p:nvPr/>
        </p:nvSpPr>
        <p:spPr>
          <a:xfrm>
            <a:off x="4573076" y="4455199"/>
            <a:ext cx="33244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Resource</a:t>
            </a:r>
          </a:p>
          <a:p>
            <a:r>
              <a:rPr lang="fr-FR" sz="2400" dirty="0"/>
              <a:t>Web </a:t>
            </a:r>
            <a:r>
              <a:rPr lang="fr-FR" sz="2400" dirty="0" err="1"/>
              <a:t>Page,Rest</a:t>
            </a:r>
            <a:r>
              <a:rPr lang="fr-FR" sz="2400" dirty="0"/>
              <a:t> </a:t>
            </a:r>
            <a:r>
              <a:rPr lang="fr-FR" sz="2400" dirty="0" err="1"/>
              <a:t>method</a:t>
            </a:r>
            <a:r>
              <a:rPr lang="fr-FR" sz="2400" dirty="0"/>
              <a:t>,..</a:t>
            </a:r>
          </a:p>
          <a:p>
            <a:r>
              <a:rPr lang="fr-FR" sz="2400" dirty="0"/>
              <a:t>ex: "page-admin.html"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6BBFFB5-601B-320D-B98E-267B7E360C09}"/>
              </a:ext>
            </a:extLst>
          </p:cNvPr>
          <p:cNvSpPr/>
          <p:nvPr/>
        </p:nvSpPr>
        <p:spPr>
          <a:xfrm>
            <a:off x="8159444" y="4846374"/>
            <a:ext cx="459619" cy="2128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1920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EB17D-592F-AF2D-6DE5-35E2F5689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B51CA-E06F-32BE-3435-42E3BA2C7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4B98B-B3E4-10EF-94FE-E57E1FA930E0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CE7F3E6-EE70-13ED-B388-6902EC70C1C4}"/>
              </a:ext>
            </a:extLst>
          </p:cNvPr>
          <p:cNvSpPr/>
          <p:nvPr/>
        </p:nvSpPr>
        <p:spPr>
          <a:xfrm>
            <a:off x="2417860" y="3018191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E2795B-C65C-D96D-BFA6-D8C1996E7E9C}"/>
              </a:ext>
            </a:extLst>
          </p:cNvPr>
          <p:cNvSpPr/>
          <p:nvPr/>
        </p:nvSpPr>
        <p:spPr>
          <a:xfrm>
            <a:off x="3663144" y="3493105"/>
            <a:ext cx="6587320" cy="289582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54D264-817A-816B-C49B-9D084B6437E0}"/>
              </a:ext>
            </a:extLst>
          </p:cNvPr>
          <p:cNvSpPr/>
          <p:nvPr/>
        </p:nvSpPr>
        <p:spPr>
          <a:xfrm>
            <a:off x="3758716" y="1118461"/>
            <a:ext cx="6587320" cy="169731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41286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B978C-C549-9BF0-6C2C-2EEBB38D8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0C0F1-46A5-0A14-00FA-1EC00D9DE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Generate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Https self-</a:t>
            </a:r>
            <a:r>
              <a:rPr lang="fr-FR" dirty="0" err="1"/>
              <a:t>signed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5E055-23CF-F47A-B729-62676C96036C}"/>
              </a:ext>
            </a:extLst>
          </p:cNvPr>
          <p:cNvSpPr txBox="1"/>
          <p:nvPr/>
        </p:nvSpPr>
        <p:spPr>
          <a:xfrm>
            <a:off x="312547" y="1807425"/>
            <a:ext cx="117967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 err="1"/>
              <a:t>keytool</a:t>
            </a:r>
            <a:r>
              <a:rPr lang="fr-FR" sz="2000" b="1" dirty="0"/>
              <a:t> -</a:t>
            </a:r>
            <a:r>
              <a:rPr lang="fr-FR" sz="2000" b="1" dirty="0" err="1"/>
              <a:t>genkeypair</a:t>
            </a:r>
            <a:r>
              <a:rPr lang="fr-FR" sz="2000" b="1" dirty="0"/>
              <a:t> -alias </a:t>
            </a:r>
            <a:r>
              <a:rPr lang="fr-FR" sz="2000" b="1" dirty="0" err="1"/>
              <a:t>mycert</a:t>
            </a:r>
            <a:r>
              <a:rPr lang="fr-FR" sz="2000" b="1" dirty="0"/>
              <a:t> -</a:t>
            </a:r>
            <a:r>
              <a:rPr lang="fr-FR" sz="2000" b="1" dirty="0" err="1"/>
              <a:t>keyalg</a:t>
            </a:r>
            <a:r>
              <a:rPr lang="fr-FR" sz="2000" b="1" dirty="0"/>
              <a:t> RSA -</a:t>
            </a:r>
            <a:r>
              <a:rPr lang="fr-FR" sz="2000" b="1" dirty="0" err="1"/>
              <a:t>keysize</a:t>
            </a:r>
            <a:r>
              <a:rPr lang="fr-FR" sz="2000" b="1" dirty="0"/>
              <a:t> 2048 -</a:t>
            </a:r>
            <a:r>
              <a:rPr lang="fr-FR" sz="2000" b="1" dirty="0" err="1"/>
              <a:t>storetype</a:t>
            </a:r>
            <a:r>
              <a:rPr lang="fr-FR" sz="2000" b="1" dirty="0"/>
              <a:t> PKCS12 -</a:t>
            </a:r>
            <a:r>
              <a:rPr lang="fr-FR" sz="2000" b="1" dirty="0" err="1"/>
              <a:t>keystore</a:t>
            </a:r>
            <a:r>
              <a:rPr lang="fr-FR" sz="2000" b="1" dirty="0"/>
              <a:t> mycert.p12 </a:t>
            </a:r>
            <a:br>
              <a:rPr lang="fr-FR" sz="2000" b="1" dirty="0"/>
            </a:br>
            <a:r>
              <a:rPr lang="fr-FR" sz="2000" b="1" dirty="0"/>
              <a:t>               -</a:t>
            </a:r>
            <a:r>
              <a:rPr lang="fr-FR" sz="2000" b="1" dirty="0" err="1"/>
              <a:t>validity</a:t>
            </a:r>
            <a:r>
              <a:rPr lang="fr-FR" sz="2000" b="1" dirty="0"/>
              <a:t> 3650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F96D54-022D-6873-EDEA-17C2027DA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153" y="5095986"/>
            <a:ext cx="5094411" cy="11812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16E97D-C519-DD59-E21C-58DE33E67B4D}"/>
              </a:ext>
            </a:extLst>
          </p:cNvPr>
          <p:cNvSpPr txBox="1"/>
          <p:nvPr/>
        </p:nvSpPr>
        <p:spPr>
          <a:xfrm>
            <a:off x="790412" y="3429000"/>
            <a:ext cx="104708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Troubleshooting ?</a:t>
            </a:r>
          </a:p>
          <a:p>
            <a:r>
              <a:rPr lang="fr-FR" dirty="0"/>
              <a:t>"</a:t>
            </a:r>
            <a:r>
              <a:rPr lang="fr-FR" dirty="0" err="1"/>
              <a:t>keytool</a:t>
            </a:r>
            <a:r>
              <a:rPr lang="fr-FR" dirty="0"/>
              <a:t>"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tool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jdk</a:t>
            </a:r>
            <a:r>
              <a:rPr lang="fr-FR" dirty="0"/>
              <a:t>/bin directory</a:t>
            </a:r>
          </a:p>
          <a:p>
            <a:r>
              <a:rPr lang="fr-FR" dirty="0"/>
              <a:t>check  "</a:t>
            </a:r>
            <a:r>
              <a:rPr lang="fr-FR" dirty="0" err="1"/>
              <a:t>where</a:t>
            </a:r>
            <a:r>
              <a:rPr lang="fr-FR" dirty="0"/>
              <a:t> </a:t>
            </a:r>
            <a:r>
              <a:rPr lang="fr-FR" dirty="0" err="1"/>
              <a:t>keytool</a:t>
            </a:r>
            <a:r>
              <a:rPr lang="fr-FR" dirty="0"/>
              <a:t>" =&gt;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"PATH" </a:t>
            </a:r>
            <a:r>
              <a:rPr lang="fr-FR" dirty="0" err="1"/>
              <a:t>environment</a:t>
            </a:r>
            <a:r>
              <a:rPr lang="fr-FR" dirty="0"/>
              <a:t> variable</a:t>
            </a:r>
          </a:p>
          <a:p>
            <a:r>
              <a:rPr lang="fr-FR" dirty="0"/>
              <a:t>check "</a:t>
            </a:r>
            <a:r>
              <a:rPr lang="fr-FR" dirty="0" err="1"/>
              <a:t>echo</a:t>
            </a:r>
            <a:r>
              <a:rPr lang="fr-FR" dirty="0"/>
              <a:t> $PATH"</a:t>
            </a:r>
          </a:p>
          <a:p>
            <a:r>
              <a:rPr lang="fr-FR" dirty="0"/>
              <a:t>... to fix, use </a:t>
            </a:r>
            <a:r>
              <a:rPr lang="fr-FR" dirty="0" err="1"/>
              <a:t>windows</a:t>
            </a:r>
            <a:r>
              <a:rPr lang="fr-FR" dirty="0"/>
              <a:t> "</a:t>
            </a:r>
            <a:r>
              <a:rPr lang="fr-FR" dirty="0" err="1"/>
              <a:t>env</a:t>
            </a:r>
            <a:r>
              <a:rPr lang="fr-FR" dirty="0"/>
              <a:t>" to </a:t>
            </a:r>
            <a:r>
              <a:rPr lang="fr-FR" dirty="0" err="1"/>
              <a:t>edit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environement</a:t>
            </a:r>
            <a:r>
              <a:rPr lang="fr-FR" dirty="0"/>
              <a:t> variables, or  export PATH="$PATH:$JAVA_HOME/bin"</a:t>
            </a:r>
          </a:p>
        </p:txBody>
      </p:sp>
    </p:spTree>
    <p:extLst>
      <p:ext uri="{BB962C8B-B14F-4D97-AF65-F5344CB8AC3E}">
        <p14:creationId xmlns:p14="http://schemas.microsoft.com/office/powerpoint/2010/main" val="75721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34F59-F552-837A-2762-AF5103CF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9DDB6-ECF0-4B52-0E1F-7D9D9A6F2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16926"/>
          </a:xfrm>
        </p:spPr>
        <p:txBody>
          <a:bodyPr/>
          <a:lstStyle/>
          <a:p>
            <a:r>
              <a:rPr lang="fr-FR" dirty="0"/>
              <a:t>interactive </a:t>
            </a:r>
            <a:r>
              <a:rPr lang="fr-FR" dirty="0" err="1"/>
              <a:t>answer</a:t>
            </a:r>
            <a:r>
              <a:rPr lang="fr-FR" dirty="0"/>
              <a:t> to prompt (</a:t>
            </a:r>
            <a:r>
              <a:rPr lang="fr-FR" dirty="0" err="1"/>
              <a:t>any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ok)</a:t>
            </a:r>
            <a:br>
              <a:rPr lang="fr-FR" dirty="0"/>
            </a:br>
            <a:r>
              <a:rPr lang="fr-FR" dirty="0" err="1"/>
              <a:t>lastly</a:t>
            </a:r>
            <a:r>
              <a:rPr lang="fr-FR" dirty="0"/>
              <a:t> "Is </a:t>
            </a:r>
            <a:r>
              <a:rPr lang="fr-FR" dirty="0" err="1"/>
              <a:t>it</a:t>
            </a:r>
            <a:r>
              <a:rPr lang="fr-FR" dirty="0"/>
              <a:t> CN=.... ? " [no]:   type yes !!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592720-0C33-8533-2830-52286A8CC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668" y="1116927"/>
            <a:ext cx="7430686" cy="561753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CF442C7-9648-964A-0DBD-9927FDC40188}"/>
              </a:ext>
            </a:extLst>
          </p:cNvPr>
          <p:cNvSpPr/>
          <p:nvPr/>
        </p:nvSpPr>
        <p:spPr>
          <a:xfrm>
            <a:off x="2979115" y="5741073"/>
            <a:ext cx="1241590" cy="205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73945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1E10-0DD0-7776-3A64-038A3A41C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1DEDE-7B87-3B2C-1D46-DC2346FD4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32853"/>
          </a:xfrm>
        </p:spPr>
        <p:txBody>
          <a:bodyPr/>
          <a:lstStyle/>
          <a:p>
            <a:r>
              <a:rPr lang="fr-FR" dirty="0"/>
              <a:t>Check </a:t>
            </a:r>
            <a:r>
              <a:rPr lang="fr-FR" dirty="0" err="1"/>
              <a:t>created</a:t>
            </a:r>
            <a:r>
              <a:rPr lang="fr-FR" dirty="0"/>
              <a:t> file "mycert.p12" in </a:t>
            </a:r>
            <a:r>
              <a:rPr lang="fr-FR" dirty="0" err="1"/>
              <a:t>project</a:t>
            </a:r>
            <a:br>
              <a:rPr lang="fr-FR" dirty="0"/>
            </a:br>
            <a:r>
              <a:rPr lang="fr-FR" dirty="0"/>
              <a:t>(or move </a:t>
            </a:r>
            <a:r>
              <a:rPr lang="fr-FR" dirty="0" err="1"/>
              <a:t>it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project</a:t>
            </a:r>
            <a:r>
              <a:rPr lang="fr-FR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A0E32A-5A8B-E902-033B-9B56F7C2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111" y="1736496"/>
            <a:ext cx="3894157" cy="429424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4C8308-910D-FE39-6DF1-17F369F669CF}"/>
              </a:ext>
            </a:extLst>
          </p:cNvPr>
          <p:cNvSpPr/>
          <p:nvPr/>
        </p:nvSpPr>
        <p:spPr>
          <a:xfrm>
            <a:off x="4706319" y="4825139"/>
            <a:ext cx="1250196" cy="27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22481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98508-B227-AC7A-6D9E-9F92CCA6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7F11A-BE21-88A2-A85F-32EA62008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"/>
            <a:ext cx="11307305" cy="1172704"/>
          </a:xfrm>
        </p:spPr>
        <p:txBody>
          <a:bodyPr/>
          <a:lstStyle/>
          <a:p>
            <a:r>
              <a:rPr lang="fr-FR" dirty="0"/>
              <a:t>Edit src/main/</a:t>
            </a:r>
            <a:r>
              <a:rPr lang="fr-FR" dirty="0" err="1"/>
              <a:t>resources</a:t>
            </a:r>
            <a:r>
              <a:rPr lang="fr-FR" dirty="0"/>
              <a:t>/</a:t>
            </a:r>
            <a:r>
              <a:rPr lang="fr-FR" dirty="0" err="1"/>
              <a:t>application.properties</a:t>
            </a:r>
            <a:br>
              <a:rPr lang="fr-FR" dirty="0"/>
            </a:br>
            <a:r>
              <a:rPr lang="fr-FR" dirty="0"/>
              <a:t>to configure SSL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143D87-7020-2D9A-412E-AE99226DA373}"/>
              </a:ext>
            </a:extLst>
          </p:cNvPr>
          <p:cNvSpPr txBox="1"/>
          <p:nvPr/>
        </p:nvSpPr>
        <p:spPr>
          <a:xfrm>
            <a:off x="7031064" y="3429000"/>
            <a:ext cx="6096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 err="1"/>
              <a:t>server.port</a:t>
            </a:r>
            <a:r>
              <a:rPr lang="fr-FR" sz="2400" b="1" dirty="0"/>
              <a:t>=8443</a:t>
            </a:r>
          </a:p>
          <a:p>
            <a:endParaRPr lang="fr-FR" sz="2400" b="1" dirty="0"/>
          </a:p>
          <a:p>
            <a:r>
              <a:rPr lang="fr-FR" sz="2400" b="1" dirty="0" err="1"/>
              <a:t>server.ssl.enabled</a:t>
            </a:r>
            <a:r>
              <a:rPr lang="fr-FR" sz="2400" b="1" dirty="0"/>
              <a:t>=</a:t>
            </a:r>
            <a:r>
              <a:rPr lang="fr-FR" sz="2400" b="1" dirty="0" err="1"/>
              <a:t>true</a:t>
            </a:r>
            <a:endParaRPr lang="fr-FR" sz="2400" b="1" dirty="0"/>
          </a:p>
          <a:p>
            <a:r>
              <a:rPr lang="fr-FR" sz="2400" b="1" dirty="0" err="1"/>
              <a:t>server.ssl.key</a:t>
            </a:r>
            <a:r>
              <a:rPr lang="fr-FR" sz="2400" b="1" dirty="0"/>
              <a:t>-store-type=PKCS12</a:t>
            </a:r>
          </a:p>
          <a:p>
            <a:r>
              <a:rPr lang="fr-FR" sz="2400" b="1" dirty="0" err="1"/>
              <a:t>server.ssl.key</a:t>
            </a:r>
            <a:r>
              <a:rPr lang="fr-FR" sz="2400" b="1" dirty="0"/>
              <a:t>-store=mycert.p12</a:t>
            </a:r>
          </a:p>
          <a:p>
            <a:r>
              <a:rPr lang="fr-FR" sz="2400" b="1" dirty="0" err="1"/>
              <a:t>server.ssl.key</a:t>
            </a:r>
            <a:r>
              <a:rPr lang="fr-FR" sz="2400" b="1" dirty="0"/>
              <a:t>-store-</a:t>
            </a:r>
            <a:r>
              <a:rPr lang="fr-FR" sz="2400" b="1" dirty="0" err="1"/>
              <a:t>password</a:t>
            </a:r>
            <a:r>
              <a:rPr lang="fr-FR" sz="2400" b="1" dirty="0"/>
              <a:t>=</a:t>
            </a:r>
            <a:r>
              <a:rPr lang="fr-FR" sz="2400" b="1" dirty="0" err="1"/>
              <a:t>password</a:t>
            </a:r>
            <a:endParaRPr lang="fr-FR" sz="2400" b="1" dirty="0"/>
          </a:p>
          <a:p>
            <a:r>
              <a:rPr lang="fr-FR" sz="2400" b="1" dirty="0" err="1"/>
              <a:t>server.ssl.key</a:t>
            </a:r>
            <a:r>
              <a:rPr lang="fr-FR" sz="2400" b="1" dirty="0"/>
              <a:t>-alias=</a:t>
            </a:r>
            <a:r>
              <a:rPr lang="fr-FR" sz="2400" b="1" dirty="0" err="1"/>
              <a:t>mycert</a:t>
            </a:r>
            <a:endParaRPr lang="fr-FR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4C9E9C-00DE-574F-AAC1-15C0E84D3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9" y="2050454"/>
            <a:ext cx="6686821" cy="267765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C6E5B16-1253-B0BF-72B7-3DAC457E5D94}"/>
              </a:ext>
            </a:extLst>
          </p:cNvPr>
          <p:cNvSpPr/>
          <p:nvPr/>
        </p:nvSpPr>
        <p:spPr>
          <a:xfrm>
            <a:off x="3475062" y="3678265"/>
            <a:ext cx="2564111" cy="9557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B733FA-05C5-E4C7-86E4-E01BDD455F0B}"/>
              </a:ext>
            </a:extLst>
          </p:cNvPr>
          <p:cNvSpPr/>
          <p:nvPr/>
        </p:nvSpPr>
        <p:spPr>
          <a:xfrm>
            <a:off x="1062491" y="4241369"/>
            <a:ext cx="1453401" cy="235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8CB9DF-AFDE-E58F-2FB8-70EFCD9716C5}"/>
              </a:ext>
            </a:extLst>
          </p:cNvPr>
          <p:cNvCxnSpPr>
            <a:cxnSpLocks/>
          </p:cNvCxnSpPr>
          <p:nvPr/>
        </p:nvCxnSpPr>
        <p:spPr>
          <a:xfrm flipV="1">
            <a:off x="2594675" y="4107051"/>
            <a:ext cx="801954" cy="25196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72594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57EA-40F7-3282-B2DD-E147B9FB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CE939-AB16-DA2A-6933-4A12D8165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Relaunch</a:t>
            </a:r>
            <a:r>
              <a:rPr lang="fr-FR" dirty="0"/>
              <a:t> server, check new console log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03238E-38F6-B16E-3205-3E55C209E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891" y="996958"/>
            <a:ext cx="10652502" cy="568579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33F697B-C156-C744-9DE9-C7440F6F0A0B}"/>
              </a:ext>
            </a:extLst>
          </p:cNvPr>
          <p:cNvSpPr/>
          <p:nvPr/>
        </p:nvSpPr>
        <p:spPr>
          <a:xfrm>
            <a:off x="4348133" y="5770536"/>
            <a:ext cx="7005667" cy="4132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88D522-2892-0844-3845-83726A52D06B}"/>
              </a:ext>
            </a:extLst>
          </p:cNvPr>
          <p:cNvSpPr/>
          <p:nvPr/>
        </p:nvSpPr>
        <p:spPr>
          <a:xfrm>
            <a:off x="8901193" y="893737"/>
            <a:ext cx="470116" cy="4132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BBFBFA-0A83-FD71-1122-A3E9344D5208}"/>
              </a:ext>
            </a:extLst>
          </p:cNvPr>
          <p:cNvCxnSpPr>
            <a:cxnSpLocks/>
          </p:cNvCxnSpPr>
          <p:nvPr/>
        </p:nvCxnSpPr>
        <p:spPr>
          <a:xfrm flipH="1">
            <a:off x="7702658" y="1369017"/>
            <a:ext cx="1420678" cy="432402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5981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13D02-B03A-6574-A920-75A8A6CBB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EE3CA-4D74-28A5-216D-11C663BFF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43185"/>
          </a:xfrm>
        </p:spPr>
        <p:txBody>
          <a:bodyPr/>
          <a:lstStyle/>
          <a:p>
            <a:r>
              <a:rPr lang="fr-FR" dirty="0"/>
              <a:t>port </a:t>
            </a:r>
            <a:r>
              <a:rPr lang="fr-FR" dirty="0" err="1"/>
              <a:t>changed</a:t>
            </a:r>
            <a:r>
              <a:rPr lang="fr-FR" dirty="0"/>
              <a:t> 8080 (default for http) </a:t>
            </a:r>
            <a:br>
              <a:rPr lang="fr-FR" dirty="0"/>
            </a:br>
            <a:r>
              <a:rPr lang="fr-FR" dirty="0"/>
              <a:t>-&gt; 8443 (default for https)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FE9424-399D-8D9F-A694-2CBF34464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014" y="1657295"/>
            <a:ext cx="4261872" cy="45818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A46E1C-1F88-3DBE-4D93-C7B906E23A8D}"/>
              </a:ext>
            </a:extLst>
          </p:cNvPr>
          <p:cNvSpPr txBox="1"/>
          <p:nvPr/>
        </p:nvSpPr>
        <p:spPr>
          <a:xfrm>
            <a:off x="909234" y="3089329"/>
            <a:ext cx="31829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</a:t>
            </a:r>
            <a:r>
              <a:rPr lang="fr-FR" dirty="0" err="1"/>
              <a:t>previous</a:t>
            </a:r>
            <a:r>
              <a:rPr lang="fr-FR" dirty="0"/>
              <a:t> port 8080</a:t>
            </a:r>
          </a:p>
          <a:p>
            <a:r>
              <a:rPr lang="fr-FR" dirty="0"/>
              <a:t>=&gt; "ERROR Connection </a:t>
            </a:r>
            <a:r>
              <a:rPr lang="fr-FR" dirty="0" err="1"/>
              <a:t>refused</a:t>
            </a:r>
            <a:r>
              <a:rPr lang="fr-FR" dirty="0"/>
              <a:t>"</a:t>
            </a:r>
          </a:p>
          <a:p>
            <a:endParaRPr lang="fr-FR" dirty="0"/>
          </a:p>
          <a:p>
            <a:r>
              <a:rPr lang="fr-FR" dirty="0"/>
              <a:t>OK, Normal !!</a:t>
            </a:r>
          </a:p>
        </p:txBody>
      </p:sp>
    </p:spTree>
    <p:extLst>
      <p:ext uri="{BB962C8B-B14F-4D97-AF65-F5344CB8AC3E}">
        <p14:creationId xmlns:p14="http://schemas.microsoft.com/office/powerpoint/2010/main" val="12603804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2786-E1CF-4075-3E2F-B93B6923B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23BD8-E16F-FF2B-D9C6-2A2CF5687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"/>
            <a:ext cx="11209149" cy="1245030"/>
          </a:xfrm>
        </p:spPr>
        <p:txBody>
          <a:bodyPr/>
          <a:lstStyle/>
          <a:p>
            <a:r>
              <a:rPr lang="fr-FR" dirty="0"/>
              <a:t>https://localhost:8443   (self-</a:t>
            </a:r>
            <a:r>
              <a:rPr lang="fr-FR" dirty="0" err="1"/>
              <a:t>signed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CERT_AUTHORITY_INVALID   ... 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2C7ABD-5BE9-9098-BE6D-7E22F943A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80" y="1385475"/>
            <a:ext cx="9389976" cy="5167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0729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949B6-8561-B172-0842-FC25280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113A-55FF-A685-B831-DB98A1082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2391904"/>
          </a:xfrm>
        </p:spPr>
        <p:txBody>
          <a:bodyPr/>
          <a:lstStyle/>
          <a:p>
            <a:r>
              <a:rPr lang="fr-FR" dirty="0" err="1"/>
              <a:t>Why</a:t>
            </a:r>
            <a:r>
              <a:rPr lang="fr-FR" dirty="0"/>
              <a:t> ?</a:t>
            </a:r>
            <a:br>
              <a:rPr lang="fr-FR" dirty="0"/>
            </a:br>
            <a:r>
              <a:rPr lang="fr-FR" dirty="0"/>
              <a:t>... </a:t>
            </a:r>
            <a:r>
              <a:rPr lang="fr-FR" dirty="0" err="1"/>
              <a:t>because</a:t>
            </a:r>
            <a:r>
              <a:rPr lang="fr-FR" dirty="0"/>
              <a:t> of self-</a:t>
            </a:r>
            <a:r>
              <a:rPr lang="fr-FR" dirty="0" err="1"/>
              <a:t>signed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br>
              <a:rPr lang="fr-FR" dirty="0"/>
            </a:br>
            <a:r>
              <a:rPr lang="fr-FR" dirty="0"/>
              <a:t>NOT </a:t>
            </a:r>
            <a:r>
              <a:rPr lang="fr-FR" dirty="0" err="1"/>
              <a:t>built-in</a:t>
            </a:r>
            <a:r>
              <a:rPr lang="fr-FR" dirty="0"/>
              <a:t> </a:t>
            </a:r>
            <a:r>
              <a:rPr lang="fr-FR" dirty="0" err="1"/>
              <a:t>recognized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Chrome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70051-8CC3-D680-916D-800BE1F69CB2}"/>
              </a:ext>
            </a:extLst>
          </p:cNvPr>
          <p:cNvSpPr txBox="1"/>
          <p:nvPr/>
        </p:nvSpPr>
        <p:spPr>
          <a:xfrm>
            <a:off x="2288582" y="3332136"/>
            <a:ext cx="790812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Alternatives ?</a:t>
            </a:r>
          </a:p>
          <a:p>
            <a:endParaRPr lang="fr-FR" dirty="0"/>
          </a:p>
          <a:p>
            <a:r>
              <a:rPr lang="fr-FR" dirty="0"/>
              <a:t>=&gt; </a:t>
            </a:r>
            <a:r>
              <a:rPr lang="fr-FR" dirty="0" err="1"/>
              <a:t>pay</a:t>
            </a:r>
            <a:r>
              <a:rPr lang="fr-FR" dirty="0"/>
              <a:t> 200 EURO/</a:t>
            </a:r>
            <a:r>
              <a:rPr lang="fr-FR" dirty="0" err="1"/>
              <a:t>year</a:t>
            </a:r>
            <a:r>
              <a:rPr lang="fr-FR" dirty="0"/>
              <a:t> to have a </a:t>
            </a:r>
            <a:r>
              <a:rPr lang="fr-FR" dirty="0" err="1"/>
              <a:t>valid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endParaRPr lang="fr-FR" dirty="0"/>
          </a:p>
          <a:p>
            <a:r>
              <a:rPr lang="fr-FR" dirty="0"/>
              <a:t>=&gt; use GO-DADDY   or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signing</a:t>
            </a:r>
            <a:r>
              <a:rPr lang="fr-FR" dirty="0"/>
              <a:t> </a:t>
            </a:r>
            <a:r>
              <a:rPr lang="fr-FR" dirty="0" err="1"/>
              <a:t>Authority</a:t>
            </a:r>
            <a:r>
              <a:rPr lang="fr-FR" dirty="0"/>
              <a:t> on internet  (</a:t>
            </a:r>
            <a:r>
              <a:rPr lang="fr-FR" dirty="0" err="1"/>
              <a:t>recognized</a:t>
            </a:r>
            <a:r>
              <a:rPr lang="fr-FR" dirty="0"/>
              <a:t> by Chrome)</a:t>
            </a:r>
          </a:p>
          <a:p>
            <a:endParaRPr lang="fr-FR" dirty="0"/>
          </a:p>
          <a:p>
            <a:r>
              <a:rPr lang="fr-FR" dirty="0"/>
              <a:t>=&gt; recompile chrome to know "</a:t>
            </a:r>
            <a:r>
              <a:rPr lang="fr-FR" dirty="0" err="1"/>
              <a:t>yourself</a:t>
            </a:r>
            <a:r>
              <a:rPr lang="fr-FR" dirty="0"/>
              <a:t>" as </a:t>
            </a:r>
            <a:r>
              <a:rPr lang="fr-FR" dirty="0" err="1"/>
              <a:t>valid</a:t>
            </a:r>
            <a:r>
              <a:rPr lang="fr-FR" dirty="0"/>
              <a:t> </a:t>
            </a:r>
            <a:r>
              <a:rPr lang="fr-FR" dirty="0" err="1"/>
              <a:t>authority</a:t>
            </a:r>
            <a:r>
              <a:rPr lang="fr-FR" dirty="0"/>
              <a:t> </a:t>
            </a:r>
          </a:p>
          <a:p>
            <a:endParaRPr lang="fr-FR" dirty="0"/>
          </a:p>
          <a:p>
            <a:r>
              <a:rPr lang="fr-FR" dirty="0"/>
              <a:t>=&gt; click on "ADVANCED" </a:t>
            </a:r>
            <a:r>
              <a:rPr lang="fr-FR" dirty="0" err="1"/>
              <a:t>button</a:t>
            </a:r>
            <a:r>
              <a:rPr lang="fr-FR" dirty="0"/>
              <a:t> to </a:t>
            </a:r>
            <a:r>
              <a:rPr lang="fr-FR" dirty="0" err="1"/>
              <a:t>accept</a:t>
            </a:r>
            <a:r>
              <a:rPr lang="fr-FR" dirty="0"/>
              <a:t> self-</a:t>
            </a:r>
            <a:r>
              <a:rPr lang="fr-FR" dirty="0" err="1"/>
              <a:t>signed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89316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8F91E-8743-39CA-4B21-F43B29C88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AEBAF-94A3-7625-12D1-819CF5345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Advanced &gt; </a:t>
            </a:r>
            <a:r>
              <a:rPr lang="fr-FR" dirty="0" err="1"/>
              <a:t>Proceed</a:t>
            </a:r>
            <a:r>
              <a:rPr lang="fr-FR" dirty="0"/>
              <a:t> to (</a:t>
            </a:r>
            <a:r>
              <a:rPr lang="fr-FR" dirty="0" err="1"/>
              <a:t>unsafe</a:t>
            </a:r>
            <a:r>
              <a:rPr lang="fr-FR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2E0689-6DBF-7FAA-0852-580965ACBD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765"/>
          <a:stretch/>
        </p:blipFill>
        <p:spPr>
          <a:xfrm>
            <a:off x="0" y="755211"/>
            <a:ext cx="6416299" cy="40016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D71F9A-BE14-D723-9C1E-C2585CA1A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1396" y="869685"/>
            <a:ext cx="6612678" cy="48130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7F647F-95C7-0612-96A5-4D3AE177D624}"/>
              </a:ext>
            </a:extLst>
          </p:cNvPr>
          <p:cNvSpPr/>
          <p:nvPr/>
        </p:nvSpPr>
        <p:spPr>
          <a:xfrm>
            <a:off x="3381365" y="4615351"/>
            <a:ext cx="45719" cy="6044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7748C-4282-7F69-F556-09D4AE4E071E}"/>
              </a:ext>
            </a:extLst>
          </p:cNvPr>
          <p:cNvSpPr/>
          <p:nvPr/>
        </p:nvSpPr>
        <p:spPr>
          <a:xfrm>
            <a:off x="576879" y="4060555"/>
            <a:ext cx="807638" cy="392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7A4E0D-A91B-8879-036D-6806A93329E3}"/>
              </a:ext>
            </a:extLst>
          </p:cNvPr>
          <p:cNvCxnSpPr>
            <a:cxnSpLocks/>
          </p:cNvCxnSpPr>
          <p:nvPr/>
        </p:nvCxnSpPr>
        <p:spPr>
          <a:xfrm>
            <a:off x="1384517" y="4227283"/>
            <a:ext cx="1837588" cy="116483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D24A258-FEC6-938E-D024-33F19F0E3824}"/>
              </a:ext>
            </a:extLst>
          </p:cNvPr>
          <p:cNvSpPr/>
          <p:nvPr/>
        </p:nvSpPr>
        <p:spPr>
          <a:xfrm>
            <a:off x="3359006" y="5222928"/>
            <a:ext cx="1424986" cy="3383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4204249-7A5F-D575-3F6D-0CB532AC6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0012" y="4287850"/>
            <a:ext cx="3733832" cy="220406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DB1F4A-1617-C80A-8D86-B0A64118AED5}"/>
              </a:ext>
            </a:extLst>
          </p:cNvPr>
          <p:cNvCxnSpPr>
            <a:cxnSpLocks/>
          </p:cNvCxnSpPr>
          <p:nvPr/>
        </p:nvCxnSpPr>
        <p:spPr>
          <a:xfrm flipV="1">
            <a:off x="4835653" y="4756860"/>
            <a:ext cx="4329011" cy="63525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26FDB6-C531-5C0D-B570-3B2A2221AC73}"/>
              </a:ext>
            </a:extLst>
          </p:cNvPr>
          <p:cNvSpPr/>
          <p:nvPr/>
        </p:nvSpPr>
        <p:spPr>
          <a:xfrm>
            <a:off x="9204267" y="4615351"/>
            <a:ext cx="2238647" cy="2821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352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E4D28-F118-174A-C4C1-D1D3C81F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D29C-3009-105C-BDA5-781212982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98535"/>
          </a:xfrm>
        </p:spPr>
        <p:txBody>
          <a:bodyPr/>
          <a:lstStyle/>
          <a:p>
            <a:r>
              <a:rPr lang="fr-FR" dirty="0"/>
              <a:t>Chrome </a:t>
            </a:r>
            <a:r>
              <a:rPr lang="fr-FR" dirty="0" err="1"/>
              <a:t>DevTools</a:t>
            </a:r>
            <a:r>
              <a:rPr lang="fr-FR" dirty="0"/>
              <a:t> Network </a:t>
            </a:r>
            <a:r>
              <a:rPr lang="fr-FR" dirty="0" err="1"/>
              <a:t>requests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... </a:t>
            </a:r>
            <a:r>
              <a:rPr lang="fr-FR" dirty="0" err="1"/>
              <a:t>same</a:t>
            </a:r>
            <a:r>
              <a:rPr lang="fr-FR" dirty="0"/>
              <a:t> on "https://"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73D3D-239B-13FF-94FC-B77FC99A6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266" y="1348353"/>
            <a:ext cx="7710188" cy="544248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46AD940-B728-5BB0-3D63-673CCEA00D9F}"/>
              </a:ext>
            </a:extLst>
          </p:cNvPr>
          <p:cNvSpPr/>
          <p:nvPr/>
        </p:nvSpPr>
        <p:spPr>
          <a:xfrm>
            <a:off x="6747360" y="3120325"/>
            <a:ext cx="1079284" cy="222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35210-2C61-C743-A743-F1D72B80EC98}"/>
              </a:ext>
            </a:extLst>
          </p:cNvPr>
          <p:cNvSpPr/>
          <p:nvPr/>
        </p:nvSpPr>
        <p:spPr>
          <a:xfrm>
            <a:off x="5061055" y="1477504"/>
            <a:ext cx="807638" cy="392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BD240F-9F48-9265-3F60-E434B0EBF479}"/>
              </a:ext>
            </a:extLst>
          </p:cNvPr>
          <p:cNvCxnSpPr>
            <a:cxnSpLocks/>
          </p:cNvCxnSpPr>
          <p:nvPr/>
        </p:nvCxnSpPr>
        <p:spPr>
          <a:xfrm flipH="1">
            <a:off x="4055390" y="1870128"/>
            <a:ext cx="1379349" cy="107455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9122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7B66A-50EE-5D47-DD66-BDB6731AE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2C6C7-6574-CBEC-EDF4-F20ACC2F4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Chrome </a:t>
            </a:r>
            <a:r>
              <a:rPr lang="fr-FR" dirty="0" err="1"/>
              <a:t>DevTools</a:t>
            </a:r>
            <a:r>
              <a:rPr lang="fr-FR" dirty="0"/>
              <a:t> "Security" tab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43FC3-70F6-F293-D374-B238B1112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2536" y="964313"/>
            <a:ext cx="7921119" cy="55886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CA1AE25-CFB1-599B-54CD-BA10FA3DE04C}"/>
              </a:ext>
            </a:extLst>
          </p:cNvPr>
          <p:cNvSpPr/>
          <p:nvPr/>
        </p:nvSpPr>
        <p:spPr>
          <a:xfrm>
            <a:off x="7644106" y="1141707"/>
            <a:ext cx="807638" cy="392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9428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923E-6F04-AB55-EA9C-8443394B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F9D8-65DB-D0D7-2940-2033B65F5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Chrome -&gt; </a:t>
            </a:r>
            <a:r>
              <a:rPr lang="fr-FR" dirty="0" err="1"/>
              <a:t>Certificate</a:t>
            </a:r>
            <a:r>
              <a:rPr lang="fr-FR" dirty="0"/>
              <a:t> Details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A054F4-66E0-BF53-C1E2-DA0B22077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85" y="1315950"/>
            <a:ext cx="4496190" cy="412277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623DEAD-F25D-F541-8BF2-1C37CE9A1B47}"/>
              </a:ext>
            </a:extLst>
          </p:cNvPr>
          <p:cNvSpPr/>
          <p:nvPr/>
        </p:nvSpPr>
        <p:spPr>
          <a:xfrm flipH="1">
            <a:off x="4427348" y="4236203"/>
            <a:ext cx="379861" cy="2769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2C264-C74E-75E8-1C8F-22F52F0F28C1}"/>
              </a:ext>
            </a:extLst>
          </p:cNvPr>
          <p:cNvSpPr/>
          <p:nvPr/>
        </p:nvSpPr>
        <p:spPr>
          <a:xfrm>
            <a:off x="1827075" y="1735809"/>
            <a:ext cx="988449" cy="392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B988B6-6082-2C6B-182F-AA27EC3D642D}"/>
              </a:ext>
            </a:extLst>
          </p:cNvPr>
          <p:cNvCxnSpPr>
            <a:cxnSpLocks/>
          </p:cNvCxnSpPr>
          <p:nvPr/>
        </p:nvCxnSpPr>
        <p:spPr>
          <a:xfrm>
            <a:off x="2252420" y="2236922"/>
            <a:ext cx="743919" cy="199928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6A338A-4F7D-7C8A-49D4-3A856D963026}"/>
              </a:ext>
            </a:extLst>
          </p:cNvPr>
          <p:cNvCxnSpPr>
            <a:cxnSpLocks/>
          </p:cNvCxnSpPr>
          <p:nvPr/>
        </p:nvCxnSpPr>
        <p:spPr>
          <a:xfrm>
            <a:off x="4990349" y="4439086"/>
            <a:ext cx="826682" cy="18457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4AFEA29-7F3F-9658-DB15-BFBC46C8E4DD}"/>
              </a:ext>
            </a:extLst>
          </p:cNvPr>
          <p:cNvSpPr txBox="1"/>
          <p:nvPr/>
        </p:nvSpPr>
        <p:spPr>
          <a:xfrm>
            <a:off x="6079343" y="4374677"/>
            <a:ext cx="5274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Suggestion ...</a:t>
            </a:r>
          </a:p>
          <a:p>
            <a:r>
              <a:rPr lang="fr-FR" dirty="0"/>
              <a:t>open </a:t>
            </a:r>
            <a:r>
              <a:rPr lang="fr-FR" dirty="0" err="1"/>
              <a:t>view</a:t>
            </a:r>
            <a:r>
              <a:rPr lang="fr-FR" dirty="0"/>
              <a:t> on a real web-site, "https://www.google.fr"</a:t>
            </a:r>
          </a:p>
          <a:p>
            <a:r>
              <a:rPr lang="fr-FR" dirty="0"/>
              <a:t>to </a:t>
            </a:r>
            <a:r>
              <a:rPr lang="fr-FR" dirty="0" err="1"/>
              <a:t>see</a:t>
            </a:r>
            <a:r>
              <a:rPr lang="fr-FR" dirty="0"/>
              <a:t> a </a:t>
            </a:r>
            <a:r>
              <a:rPr lang="fr-FR" dirty="0" err="1"/>
              <a:t>valid</a:t>
            </a:r>
            <a:r>
              <a:rPr lang="fr-FR" dirty="0"/>
              <a:t> </a:t>
            </a:r>
            <a:r>
              <a:rPr lang="fr-FR" dirty="0" err="1"/>
              <a:t>signed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03281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0FC3D-E6BF-2CBF-0BA0-C05FD8371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89403-CFBB-E145-487A-C8DB4F31F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20C44-60FA-B61A-FB83-6788C6F4B36C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2AE677A6-8025-E719-9EE7-244B7A47DE8A}"/>
              </a:ext>
            </a:extLst>
          </p:cNvPr>
          <p:cNvSpPr/>
          <p:nvPr/>
        </p:nvSpPr>
        <p:spPr>
          <a:xfrm>
            <a:off x="2518528" y="3704270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D7F50E-E6A0-03FD-A55F-5C85348528C4}"/>
              </a:ext>
            </a:extLst>
          </p:cNvPr>
          <p:cNvSpPr/>
          <p:nvPr/>
        </p:nvSpPr>
        <p:spPr>
          <a:xfrm>
            <a:off x="3663144" y="4252686"/>
            <a:ext cx="6587320" cy="213624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9DB9E-037E-36D0-D79F-368AE18B5469}"/>
              </a:ext>
            </a:extLst>
          </p:cNvPr>
          <p:cNvSpPr/>
          <p:nvPr/>
        </p:nvSpPr>
        <p:spPr>
          <a:xfrm>
            <a:off x="3758716" y="1118461"/>
            <a:ext cx="6587320" cy="231053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66353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CF98C-DBE5-B493-82DC-84F07458F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4A768-E98C-6CBC-D4C4-6F09B90EB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833966"/>
          </a:xfrm>
        </p:spPr>
        <p:txBody>
          <a:bodyPr/>
          <a:lstStyle/>
          <a:p>
            <a:r>
              <a:rPr lang="fr-FR" dirty="0"/>
              <a:t>Edit pom.xml</a:t>
            </a:r>
            <a:br>
              <a:rPr lang="fr-FR" dirty="0"/>
            </a:b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maven</a:t>
            </a:r>
            <a:r>
              <a:rPr lang="fr-FR" dirty="0"/>
              <a:t> </a:t>
            </a:r>
            <a:r>
              <a:rPr lang="fr-FR" dirty="0" err="1"/>
              <a:t>dependency</a:t>
            </a:r>
            <a:r>
              <a:rPr lang="fr-FR" dirty="0"/>
              <a:t> for </a:t>
            </a:r>
            <a:r>
              <a:rPr lang="fr-FR" dirty="0" err="1"/>
              <a:t>Database</a:t>
            </a:r>
            <a:br>
              <a:rPr lang="fr-FR" dirty="0"/>
            </a:br>
            <a:r>
              <a:rPr lang="fr-FR" dirty="0" err="1"/>
              <a:t>inside</a:t>
            </a:r>
            <a:r>
              <a:rPr lang="fr-FR" dirty="0"/>
              <a:t> &lt;</a:t>
            </a:r>
            <a:r>
              <a:rPr lang="fr-FR" dirty="0" err="1"/>
              <a:t>dependencies</a:t>
            </a:r>
            <a:r>
              <a:rPr lang="fr-FR" dirty="0"/>
              <a:t>&gt; 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E02700-AC5B-6B5C-2670-10E92E08E0F5}"/>
              </a:ext>
            </a:extLst>
          </p:cNvPr>
          <p:cNvSpPr txBox="1"/>
          <p:nvPr/>
        </p:nvSpPr>
        <p:spPr>
          <a:xfrm>
            <a:off x="3766088" y="2347163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org.springframework.boot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b="1" dirty="0" err="1"/>
              <a:t>spring</a:t>
            </a:r>
            <a:r>
              <a:rPr lang="fr-FR" b="1" dirty="0"/>
              <a:t>-boot-starter-data-</a:t>
            </a:r>
            <a:r>
              <a:rPr lang="fr-FR" b="1" dirty="0" err="1"/>
              <a:t>jpa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groupId</a:t>
            </a:r>
            <a:r>
              <a:rPr lang="fr-FR" dirty="0"/>
              <a:t>&gt;com.h2database&lt;/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b="1" dirty="0"/>
              <a:t>h2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07F7A8-7B48-5D9C-EA6B-769DCC013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703" y="4975268"/>
            <a:ext cx="2057578" cy="17222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1C99B0-7CC1-41DC-FCA4-76C7DE2C208F}"/>
              </a:ext>
            </a:extLst>
          </p:cNvPr>
          <p:cNvSpPr txBox="1"/>
          <p:nvPr/>
        </p:nvSpPr>
        <p:spPr>
          <a:xfrm>
            <a:off x="6726264" y="6065004"/>
            <a:ext cx="2776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then</a:t>
            </a:r>
            <a:r>
              <a:rPr lang="fr-FR" dirty="0"/>
              <a:t> click on </a:t>
            </a:r>
            <a:r>
              <a:rPr lang="fr-FR" dirty="0" err="1"/>
              <a:t>refresh</a:t>
            </a:r>
            <a:r>
              <a:rPr lang="fr-FR" dirty="0"/>
              <a:t> </a:t>
            </a:r>
            <a:r>
              <a:rPr lang="fr-FR" dirty="0" err="1"/>
              <a:t>maven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B4EE72-EA40-2DF1-451A-5A2FFB4A6427}"/>
              </a:ext>
            </a:extLst>
          </p:cNvPr>
          <p:cNvSpPr/>
          <p:nvPr/>
        </p:nvSpPr>
        <p:spPr>
          <a:xfrm flipH="1">
            <a:off x="10174834" y="6111196"/>
            <a:ext cx="658480" cy="3231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1AAD37-4507-3672-7D0E-E967216339D4}"/>
              </a:ext>
            </a:extLst>
          </p:cNvPr>
          <p:cNvCxnSpPr>
            <a:cxnSpLocks/>
          </p:cNvCxnSpPr>
          <p:nvPr/>
        </p:nvCxnSpPr>
        <p:spPr>
          <a:xfrm>
            <a:off x="9241422" y="5972716"/>
            <a:ext cx="826682" cy="18457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A3EE4721-D2DB-3E37-1461-17D2FA5F0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68" y="2035443"/>
            <a:ext cx="3010161" cy="3589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774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47A7C-6DFA-DB37-DE4E-E67BFAF7A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373FC-5C2E-E1BF-6786-1FEF8014A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415512"/>
          </a:xfrm>
        </p:spPr>
        <p:txBody>
          <a:bodyPr/>
          <a:lstStyle/>
          <a:p>
            <a:r>
              <a:rPr lang="fr-FR" dirty="0"/>
              <a:t>Edit </a:t>
            </a:r>
            <a:r>
              <a:rPr lang="fr-FR" dirty="0" err="1"/>
              <a:t>application.properties</a:t>
            </a:r>
            <a:br>
              <a:rPr lang="fr-FR" dirty="0"/>
            </a:br>
            <a:r>
              <a:rPr lang="fr-FR" dirty="0" err="1"/>
              <a:t>add</a:t>
            </a:r>
            <a:r>
              <a:rPr lang="fr-FR" dirty="0"/>
              <a:t> H2 config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056AE-4DE6-4E6F-5B66-134E4F8885DA}"/>
              </a:ext>
            </a:extLst>
          </p:cNvPr>
          <p:cNvSpPr txBox="1"/>
          <p:nvPr/>
        </p:nvSpPr>
        <p:spPr>
          <a:xfrm>
            <a:off x="6096000" y="2559038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# </a:t>
            </a:r>
            <a:r>
              <a:rPr lang="fr-FR" dirty="0" err="1"/>
              <a:t>Database</a:t>
            </a:r>
            <a:r>
              <a:rPr lang="fr-FR" dirty="0"/>
              <a:t> configuration</a:t>
            </a:r>
          </a:p>
          <a:p>
            <a:r>
              <a:rPr lang="fr-FR" dirty="0"/>
              <a:t>spring.datasource.url=jdbc:h2:file:./</a:t>
            </a:r>
            <a:r>
              <a:rPr lang="fr-FR" dirty="0" err="1"/>
              <a:t>db</a:t>
            </a:r>
            <a:endParaRPr lang="fr-FR" dirty="0"/>
          </a:p>
          <a:p>
            <a:r>
              <a:rPr lang="fr-FR" dirty="0" err="1"/>
              <a:t>spring.datasource.driverClassName</a:t>
            </a:r>
            <a:r>
              <a:rPr lang="fr-FR" dirty="0"/>
              <a:t>=org.h2.Driver</a:t>
            </a:r>
          </a:p>
          <a:p>
            <a:r>
              <a:rPr lang="fr-FR" dirty="0" err="1"/>
              <a:t>spring.datasource.username</a:t>
            </a:r>
            <a:r>
              <a:rPr lang="fr-FR" dirty="0"/>
              <a:t>=sa</a:t>
            </a:r>
          </a:p>
          <a:p>
            <a:r>
              <a:rPr lang="fr-FR" dirty="0" err="1"/>
              <a:t>spring.datasource.password</a:t>
            </a:r>
            <a:r>
              <a:rPr lang="fr-FR" dirty="0"/>
              <a:t>=</a:t>
            </a:r>
          </a:p>
          <a:p>
            <a:endParaRPr lang="fr-FR" dirty="0"/>
          </a:p>
          <a:p>
            <a:r>
              <a:rPr lang="fr-FR" dirty="0"/>
              <a:t># web console, </a:t>
            </a:r>
            <a:r>
              <a:rPr lang="fr-FR" dirty="0" err="1"/>
              <a:t>see</a:t>
            </a:r>
            <a:r>
              <a:rPr lang="fr-FR" dirty="0"/>
              <a:t> https://localhost:8443/h2-console</a:t>
            </a:r>
          </a:p>
          <a:p>
            <a:r>
              <a:rPr lang="fr-FR" dirty="0"/>
              <a:t>spring.h2.console.enabled=</a:t>
            </a:r>
            <a:r>
              <a:rPr lang="fr-FR" dirty="0" err="1"/>
              <a:t>true</a:t>
            </a:r>
            <a:endParaRPr lang="fr-FR" dirty="0"/>
          </a:p>
          <a:p>
            <a:r>
              <a:rPr lang="fr-FR" dirty="0"/>
              <a:t>spring.h2.console.path=/h2-console</a:t>
            </a:r>
          </a:p>
          <a:p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979CD5-EB25-FD3F-9645-8DF592A09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60" y="1633091"/>
            <a:ext cx="5797174" cy="2696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8705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8C37-DC03-AE62-E1CD-2D3BB4A8C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B07C1-1DDC-FF69-556C-C313ED045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Create</a:t>
            </a:r>
            <a:r>
              <a:rPr lang="fr-FR" dirty="0"/>
              <a:t> java class </a:t>
            </a:r>
            <a:r>
              <a:rPr lang="fr-FR" dirty="0" err="1"/>
              <a:t>SecurityDbConfiguration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CE3516-2267-4EBB-24DB-AEDF61C2F5E8}"/>
              </a:ext>
            </a:extLst>
          </p:cNvPr>
          <p:cNvSpPr txBox="1"/>
          <p:nvPr/>
        </p:nvSpPr>
        <p:spPr>
          <a:xfrm>
            <a:off x="1498170" y="1766808"/>
            <a:ext cx="99705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import </a:t>
            </a:r>
            <a:r>
              <a:rPr lang="fr-FR" dirty="0" err="1"/>
              <a:t>org.springframework.context.annotation.Bean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org.springframework.context.annotation.Configuration</a:t>
            </a:r>
            <a:r>
              <a:rPr lang="fr-FR" dirty="0"/>
              <a:t>;</a:t>
            </a:r>
          </a:p>
          <a:p>
            <a:r>
              <a:rPr lang="fr-FR" dirty="0"/>
              <a:t>import org.springframework.security.provisioning.JdbcUserDetailsManager;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org.springframework.security.provisioning.UserDetailsManager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javax.sql.DataSource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@Configuration</a:t>
            </a:r>
          </a:p>
          <a:p>
            <a:r>
              <a:rPr lang="fr-FR" dirty="0"/>
              <a:t>public class </a:t>
            </a:r>
            <a:r>
              <a:rPr lang="fr-FR" dirty="0" err="1"/>
              <a:t>SecurityDbConfiguration</a:t>
            </a:r>
            <a:r>
              <a:rPr lang="fr-FR" dirty="0"/>
              <a:t> {</a:t>
            </a:r>
          </a:p>
          <a:p>
            <a:endParaRPr lang="fr-FR" dirty="0"/>
          </a:p>
          <a:p>
            <a:r>
              <a:rPr lang="fr-FR" dirty="0"/>
              <a:t>    @Bean</a:t>
            </a:r>
          </a:p>
          <a:p>
            <a:r>
              <a:rPr lang="fr-FR" dirty="0"/>
              <a:t>    </a:t>
            </a:r>
            <a:r>
              <a:rPr lang="fr-FR" dirty="0" err="1"/>
              <a:t>UserDetailsManager</a:t>
            </a:r>
            <a:r>
              <a:rPr lang="fr-FR" dirty="0"/>
              <a:t> </a:t>
            </a:r>
            <a:r>
              <a:rPr lang="fr-FR" dirty="0" err="1"/>
              <a:t>users</a:t>
            </a:r>
            <a:r>
              <a:rPr lang="fr-FR" dirty="0"/>
              <a:t>(</a:t>
            </a:r>
            <a:r>
              <a:rPr lang="fr-FR" dirty="0" err="1"/>
              <a:t>DataSource</a:t>
            </a:r>
            <a:r>
              <a:rPr lang="fr-FR" dirty="0"/>
              <a:t> </a:t>
            </a:r>
            <a:r>
              <a:rPr lang="fr-FR" dirty="0" err="1"/>
              <a:t>dataSource</a:t>
            </a:r>
            <a:r>
              <a:rPr lang="fr-FR" dirty="0"/>
              <a:t>) {</a:t>
            </a:r>
          </a:p>
          <a:p>
            <a:r>
              <a:rPr lang="fr-FR" dirty="0"/>
              <a:t>       </a:t>
            </a:r>
            <a:r>
              <a:rPr lang="fr-FR" dirty="0" err="1"/>
              <a:t>JdbcUserDetailsManager</a:t>
            </a:r>
            <a:r>
              <a:rPr lang="fr-FR" dirty="0"/>
              <a:t> </a:t>
            </a:r>
            <a:r>
              <a:rPr lang="fr-FR" dirty="0" err="1"/>
              <a:t>users</a:t>
            </a:r>
            <a:r>
              <a:rPr lang="fr-FR" dirty="0"/>
              <a:t> = new </a:t>
            </a:r>
            <a:r>
              <a:rPr lang="fr-FR" dirty="0" err="1"/>
              <a:t>JdbcUserDetailsManager</a:t>
            </a:r>
            <a:r>
              <a:rPr lang="fr-FR" dirty="0"/>
              <a:t>(</a:t>
            </a:r>
            <a:r>
              <a:rPr lang="fr-FR" dirty="0" err="1"/>
              <a:t>dataSource</a:t>
            </a:r>
            <a:r>
              <a:rPr lang="fr-FR" dirty="0"/>
              <a:t>);</a:t>
            </a:r>
          </a:p>
          <a:p>
            <a:r>
              <a:rPr lang="fr-FR" dirty="0"/>
              <a:t>       return </a:t>
            </a:r>
            <a:r>
              <a:rPr lang="fr-FR" dirty="0" err="1"/>
              <a:t>users</a:t>
            </a:r>
            <a:r>
              <a:rPr lang="fr-FR" dirty="0"/>
              <a:t>;</a:t>
            </a:r>
          </a:p>
          <a:p>
            <a:r>
              <a:rPr lang="fr-FR" dirty="0"/>
              <a:t>    }</a:t>
            </a:r>
          </a:p>
          <a:p>
            <a:endParaRPr lang="fr-FR" dirty="0"/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39439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BEDB5-82AB-4922-BA78-0CF64379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BC0D9-7F86-3901-E948-8891ABED8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250196"/>
          </a:xfrm>
        </p:spPr>
        <p:txBody>
          <a:bodyPr/>
          <a:lstStyle/>
          <a:p>
            <a:r>
              <a:rPr lang="fr-FR" dirty="0" err="1"/>
              <a:t>Relaunch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Open http://localhost:8443/h2-console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54E608-54C5-75C3-A74B-AE9A18283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300" y="1335436"/>
            <a:ext cx="5761195" cy="5089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601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4EE37-EBBC-9CCF-703B-0E0E8070A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0F7A3-3A3E-0448-DBB9-2BA52E1E0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Click "</a:t>
            </a:r>
            <a:r>
              <a:rPr lang="fr-FR" dirty="0" err="1"/>
              <a:t>Connect</a:t>
            </a:r>
            <a:r>
              <a:rPr lang="fr-FR" dirty="0"/>
              <a:t>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590F96-D2B6-4EF4-EFD2-1CE578D8C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184" r="28425"/>
          <a:stretch/>
        </p:blipFill>
        <p:spPr>
          <a:xfrm>
            <a:off x="0" y="1239660"/>
            <a:ext cx="4123541" cy="13139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9BE95B-1596-4069-A838-F8B512B07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6900" y="1466969"/>
            <a:ext cx="7897393" cy="533420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2018684-2E40-6137-EE93-BB35B6003B54}"/>
              </a:ext>
            </a:extLst>
          </p:cNvPr>
          <p:cNvSpPr/>
          <p:nvPr/>
        </p:nvSpPr>
        <p:spPr>
          <a:xfrm flipH="1">
            <a:off x="1314969" y="1735049"/>
            <a:ext cx="756637" cy="3675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B507967-3780-AD2D-6871-9710F1D1EE95}"/>
              </a:ext>
            </a:extLst>
          </p:cNvPr>
          <p:cNvCxnSpPr>
            <a:cxnSpLocks/>
          </p:cNvCxnSpPr>
          <p:nvPr/>
        </p:nvCxnSpPr>
        <p:spPr>
          <a:xfrm>
            <a:off x="2182571" y="1918826"/>
            <a:ext cx="1692005" cy="73655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1536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D9364-9D1F-9FEA-F89A-293B0A08E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886D2-2378-BD40-CCE9-0A8E348D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Copy&amp;Paste</a:t>
            </a:r>
            <a:r>
              <a:rPr lang="fr-FR" dirty="0"/>
              <a:t>  </a:t>
            </a:r>
            <a:r>
              <a:rPr lang="fr-FR" dirty="0" err="1"/>
              <a:t>Create</a:t>
            </a:r>
            <a:r>
              <a:rPr lang="fr-FR" dirty="0"/>
              <a:t> Tables DDL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AA99F5-1053-2FC5-84C5-00E061B06710}"/>
              </a:ext>
            </a:extLst>
          </p:cNvPr>
          <p:cNvSpPr txBox="1"/>
          <p:nvPr/>
        </p:nvSpPr>
        <p:spPr>
          <a:xfrm>
            <a:off x="2660543" y="1582340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create table users(</a:t>
            </a:r>
          </a:p>
          <a:p>
            <a:r>
              <a:rPr lang="en-US" dirty="0"/>
              <a:t>	username </a:t>
            </a:r>
            <a:r>
              <a:rPr lang="en-US" dirty="0" err="1"/>
              <a:t>varchar_ignorecase</a:t>
            </a:r>
            <a:r>
              <a:rPr lang="en-US" dirty="0"/>
              <a:t>(50) not null primary key,</a:t>
            </a:r>
          </a:p>
          <a:p>
            <a:r>
              <a:rPr lang="en-US" dirty="0"/>
              <a:t>	password </a:t>
            </a:r>
            <a:r>
              <a:rPr lang="en-US" dirty="0" err="1"/>
              <a:t>varchar_ignorecase</a:t>
            </a:r>
            <a:r>
              <a:rPr lang="en-US" dirty="0"/>
              <a:t>(500) not null,</a:t>
            </a:r>
          </a:p>
          <a:p>
            <a:r>
              <a:rPr lang="en-US" dirty="0"/>
              <a:t>	enabled </a:t>
            </a:r>
            <a:r>
              <a:rPr lang="en-US" dirty="0" err="1"/>
              <a:t>boolean</a:t>
            </a:r>
            <a:r>
              <a:rPr lang="en-US" dirty="0"/>
              <a:t> not null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create table authorities (</a:t>
            </a:r>
          </a:p>
          <a:p>
            <a:r>
              <a:rPr lang="en-US" dirty="0"/>
              <a:t>	username </a:t>
            </a:r>
            <a:r>
              <a:rPr lang="en-US" dirty="0" err="1"/>
              <a:t>varchar_ignorecase</a:t>
            </a:r>
            <a:r>
              <a:rPr lang="en-US" dirty="0"/>
              <a:t>(50) not null,</a:t>
            </a:r>
          </a:p>
          <a:p>
            <a:r>
              <a:rPr lang="en-US" dirty="0"/>
              <a:t>	authority </a:t>
            </a:r>
            <a:r>
              <a:rPr lang="en-US" dirty="0" err="1"/>
              <a:t>varchar_ignorecase</a:t>
            </a:r>
            <a:r>
              <a:rPr lang="en-US" dirty="0"/>
              <a:t>(50) not null,</a:t>
            </a:r>
          </a:p>
          <a:p>
            <a:r>
              <a:rPr lang="en-US" dirty="0"/>
              <a:t>	constraint </a:t>
            </a:r>
            <a:r>
              <a:rPr lang="en-US" dirty="0" err="1"/>
              <a:t>fk_authorities_users</a:t>
            </a:r>
            <a:r>
              <a:rPr lang="en-US" dirty="0"/>
              <a:t> foreign key(username) references users(username)</a:t>
            </a:r>
          </a:p>
          <a:p>
            <a:r>
              <a:rPr lang="en-US" dirty="0"/>
              <a:t>);</a:t>
            </a:r>
          </a:p>
          <a:p>
            <a:r>
              <a:rPr lang="en-US" dirty="0"/>
              <a:t>create unique index </a:t>
            </a:r>
            <a:r>
              <a:rPr lang="en-US" dirty="0" err="1"/>
              <a:t>ix_auth_username</a:t>
            </a:r>
            <a:r>
              <a:rPr lang="en-US" dirty="0"/>
              <a:t> on authorities (</a:t>
            </a:r>
            <a:r>
              <a:rPr lang="en-US" dirty="0" err="1"/>
              <a:t>username,authority</a:t>
            </a:r>
            <a:r>
              <a:rPr lang="en-US" dirty="0"/>
              <a:t>);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136160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A3D85-EBC3-4D03-1001-65EB40CC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7DA65-6583-A21E-7D5E-D33F8D89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1172986" cy="1968284"/>
          </a:xfrm>
        </p:spPr>
        <p:txBody>
          <a:bodyPr/>
          <a:lstStyle/>
          <a:p>
            <a:r>
              <a:rPr lang="fr-FR" dirty="0" err="1"/>
              <a:t>cf</a:t>
            </a:r>
            <a:r>
              <a:rPr lang="fr-FR" dirty="0"/>
              <a:t> doc</a:t>
            </a:r>
            <a:br>
              <a:rPr lang="fr-FR" dirty="0"/>
            </a:br>
            <a:r>
              <a:rPr lang="fr-FR" sz="2800" dirty="0"/>
              <a:t>https://docs.spring.io/spring-security/reference/servlet/authentication/passwords/jdbc.html</a:t>
            </a:r>
            <a:br>
              <a:rPr lang="fr-FR" sz="2800" dirty="0"/>
            </a:b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B61F2-4306-8271-ACE8-057E94CE9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183" y="1440079"/>
            <a:ext cx="7242964" cy="537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7445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3CAD-8D75-FC8A-E0DA-E903AE014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92CE-859C-6392-64DE-E9C077B6E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Create</a:t>
            </a:r>
            <a:r>
              <a:rPr lang="fr-FR" dirty="0"/>
              <a:t> Table DDL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D32853-6C05-2E34-2739-02004BF52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517" y="1243502"/>
            <a:ext cx="8096952" cy="5486875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30E100C-DAF3-ACED-E149-534A40486E28}"/>
              </a:ext>
            </a:extLst>
          </p:cNvPr>
          <p:cNvCxnSpPr>
            <a:cxnSpLocks/>
          </p:cNvCxnSpPr>
          <p:nvPr/>
        </p:nvCxnSpPr>
        <p:spPr>
          <a:xfrm flipH="1" flipV="1">
            <a:off x="4052699" y="2625099"/>
            <a:ext cx="524252" cy="25534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A9A41E1-D53D-39DE-8C41-8CC1369B9218}"/>
              </a:ext>
            </a:extLst>
          </p:cNvPr>
          <p:cNvSpPr/>
          <p:nvPr/>
        </p:nvSpPr>
        <p:spPr>
          <a:xfrm flipH="1">
            <a:off x="3528446" y="2298915"/>
            <a:ext cx="524253" cy="3188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5804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A85EA-F21B-2A6A-33DF-8E54F99EF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B52EC-9861-F063-373B-3E27099D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(</a:t>
            </a:r>
            <a:r>
              <a:rPr lang="fr-FR" dirty="0" err="1"/>
              <a:t>Optionnal</a:t>
            </a:r>
            <a:r>
              <a:rPr lang="fr-FR" dirty="0"/>
              <a:t>) DDL for Groups &amp; </a:t>
            </a:r>
            <a:r>
              <a:rPr lang="fr-FR" dirty="0" err="1"/>
              <a:t>Members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682DBB-4F32-C351-DFA1-BF98DD5E9761}"/>
              </a:ext>
            </a:extLst>
          </p:cNvPr>
          <p:cNvSpPr txBox="1"/>
          <p:nvPr/>
        </p:nvSpPr>
        <p:spPr>
          <a:xfrm>
            <a:off x="1177872" y="1493003"/>
            <a:ext cx="1067316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create</a:t>
            </a:r>
            <a:r>
              <a:rPr lang="fr-FR" dirty="0"/>
              <a:t> table groups (</a:t>
            </a:r>
          </a:p>
          <a:p>
            <a:r>
              <a:rPr lang="fr-FR" dirty="0"/>
              <a:t>	id </a:t>
            </a:r>
            <a:r>
              <a:rPr lang="fr-FR" dirty="0" err="1"/>
              <a:t>bigint</a:t>
            </a:r>
            <a:r>
              <a:rPr lang="fr-FR" dirty="0"/>
              <a:t> </a:t>
            </a:r>
            <a:r>
              <a:rPr lang="fr-FR" dirty="0" err="1"/>
              <a:t>generated</a:t>
            </a:r>
            <a:r>
              <a:rPr lang="fr-FR" dirty="0"/>
              <a:t> by default as </a:t>
            </a:r>
            <a:r>
              <a:rPr lang="fr-FR" dirty="0" err="1"/>
              <a:t>identity</a:t>
            </a:r>
            <a:r>
              <a:rPr lang="fr-FR" dirty="0"/>
              <a:t>(start </a:t>
            </a:r>
            <a:r>
              <a:rPr lang="fr-FR" dirty="0" err="1"/>
              <a:t>with</a:t>
            </a:r>
            <a:r>
              <a:rPr lang="fr-FR" dirty="0"/>
              <a:t> 0) </a:t>
            </a:r>
            <a:r>
              <a:rPr lang="fr-FR" dirty="0" err="1"/>
              <a:t>primary</a:t>
            </a:r>
            <a:r>
              <a:rPr lang="fr-FR" dirty="0"/>
              <a:t> key,</a:t>
            </a:r>
          </a:p>
          <a:p>
            <a:r>
              <a:rPr lang="fr-FR" dirty="0"/>
              <a:t>	</a:t>
            </a:r>
            <a:r>
              <a:rPr lang="fr-FR" dirty="0" err="1"/>
              <a:t>group_name</a:t>
            </a:r>
            <a:r>
              <a:rPr lang="fr-FR" dirty="0"/>
              <a:t> </a:t>
            </a:r>
            <a:r>
              <a:rPr lang="fr-FR" dirty="0" err="1"/>
              <a:t>varchar_ignorecase</a:t>
            </a:r>
            <a:r>
              <a:rPr lang="fr-FR" dirty="0"/>
              <a:t>(50) not </a:t>
            </a:r>
            <a:r>
              <a:rPr lang="fr-FR" dirty="0" err="1"/>
              <a:t>null</a:t>
            </a:r>
            <a:endParaRPr lang="fr-FR" dirty="0"/>
          </a:p>
          <a:p>
            <a:r>
              <a:rPr lang="fr-FR" dirty="0"/>
              <a:t>);</a:t>
            </a:r>
          </a:p>
          <a:p>
            <a:endParaRPr lang="fr-FR" dirty="0"/>
          </a:p>
          <a:p>
            <a:r>
              <a:rPr lang="fr-FR" dirty="0" err="1"/>
              <a:t>create</a:t>
            </a:r>
            <a:r>
              <a:rPr lang="fr-FR" dirty="0"/>
              <a:t> table </a:t>
            </a:r>
            <a:r>
              <a:rPr lang="fr-FR" dirty="0" err="1"/>
              <a:t>group_authorities</a:t>
            </a:r>
            <a:r>
              <a:rPr lang="fr-FR" dirty="0"/>
              <a:t> (</a:t>
            </a:r>
          </a:p>
          <a:p>
            <a:r>
              <a:rPr lang="fr-FR" dirty="0"/>
              <a:t>	</a:t>
            </a:r>
            <a:r>
              <a:rPr lang="fr-FR" dirty="0" err="1"/>
              <a:t>group_id</a:t>
            </a:r>
            <a:r>
              <a:rPr lang="fr-FR" dirty="0"/>
              <a:t> </a:t>
            </a:r>
            <a:r>
              <a:rPr lang="fr-FR" dirty="0" err="1"/>
              <a:t>bigint</a:t>
            </a:r>
            <a:r>
              <a:rPr lang="fr-FR" dirty="0"/>
              <a:t> not </a:t>
            </a:r>
            <a:r>
              <a:rPr lang="fr-FR" dirty="0" err="1"/>
              <a:t>null</a:t>
            </a:r>
            <a:r>
              <a:rPr lang="fr-FR" dirty="0"/>
              <a:t>,</a:t>
            </a:r>
          </a:p>
          <a:p>
            <a:r>
              <a:rPr lang="fr-FR" dirty="0"/>
              <a:t>	</a:t>
            </a:r>
            <a:r>
              <a:rPr lang="fr-FR" dirty="0" err="1"/>
              <a:t>authority</a:t>
            </a:r>
            <a:r>
              <a:rPr lang="fr-FR" dirty="0"/>
              <a:t> varchar(50) not </a:t>
            </a:r>
            <a:r>
              <a:rPr lang="fr-FR" dirty="0" err="1"/>
              <a:t>null</a:t>
            </a:r>
            <a:r>
              <a:rPr lang="fr-FR" dirty="0"/>
              <a:t>,</a:t>
            </a:r>
          </a:p>
          <a:p>
            <a:r>
              <a:rPr lang="fr-FR" dirty="0"/>
              <a:t>	</a:t>
            </a:r>
            <a:r>
              <a:rPr lang="fr-FR" dirty="0" err="1"/>
              <a:t>constraint</a:t>
            </a:r>
            <a:r>
              <a:rPr lang="fr-FR" dirty="0"/>
              <a:t> </a:t>
            </a:r>
            <a:r>
              <a:rPr lang="fr-FR" dirty="0" err="1"/>
              <a:t>fk_group_authorities_group</a:t>
            </a:r>
            <a:r>
              <a:rPr lang="fr-FR" dirty="0"/>
              <a:t> </a:t>
            </a:r>
            <a:r>
              <a:rPr lang="fr-FR" dirty="0" err="1"/>
              <a:t>foreign</a:t>
            </a:r>
            <a:r>
              <a:rPr lang="fr-FR" dirty="0"/>
              <a:t> key(</a:t>
            </a:r>
            <a:r>
              <a:rPr lang="fr-FR" dirty="0" err="1"/>
              <a:t>group_id</a:t>
            </a:r>
            <a:r>
              <a:rPr lang="fr-FR" dirty="0"/>
              <a:t>) </a:t>
            </a:r>
            <a:r>
              <a:rPr lang="fr-FR" dirty="0" err="1"/>
              <a:t>references</a:t>
            </a:r>
            <a:r>
              <a:rPr lang="fr-FR" dirty="0"/>
              <a:t> groups(id)</a:t>
            </a:r>
          </a:p>
          <a:p>
            <a:r>
              <a:rPr lang="fr-FR" dirty="0"/>
              <a:t>);</a:t>
            </a:r>
          </a:p>
          <a:p>
            <a:endParaRPr lang="fr-FR" dirty="0"/>
          </a:p>
          <a:p>
            <a:r>
              <a:rPr lang="fr-FR" dirty="0" err="1"/>
              <a:t>create</a:t>
            </a:r>
            <a:r>
              <a:rPr lang="fr-FR" dirty="0"/>
              <a:t> table </a:t>
            </a:r>
            <a:r>
              <a:rPr lang="fr-FR" dirty="0" err="1"/>
              <a:t>group_members</a:t>
            </a:r>
            <a:r>
              <a:rPr lang="fr-FR" dirty="0"/>
              <a:t> (</a:t>
            </a:r>
          </a:p>
          <a:p>
            <a:r>
              <a:rPr lang="fr-FR" dirty="0"/>
              <a:t>	id </a:t>
            </a:r>
            <a:r>
              <a:rPr lang="fr-FR" dirty="0" err="1"/>
              <a:t>bigint</a:t>
            </a:r>
            <a:r>
              <a:rPr lang="fr-FR" dirty="0"/>
              <a:t> </a:t>
            </a:r>
            <a:r>
              <a:rPr lang="fr-FR" dirty="0" err="1"/>
              <a:t>generated</a:t>
            </a:r>
            <a:r>
              <a:rPr lang="fr-FR" dirty="0"/>
              <a:t> by default as </a:t>
            </a:r>
            <a:r>
              <a:rPr lang="fr-FR" dirty="0" err="1"/>
              <a:t>identity</a:t>
            </a:r>
            <a:r>
              <a:rPr lang="fr-FR" dirty="0"/>
              <a:t>(start </a:t>
            </a:r>
            <a:r>
              <a:rPr lang="fr-FR" dirty="0" err="1"/>
              <a:t>with</a:t>
            </a:r>
            <a:r>
              <a:rPr lang="fr-FR" dirty="0"/>
              <a:t> 0) </a:t>
            </a:r>
            <a:r>
              <a:rPr lang="fr-FR" dirty="0" err="1"/>
              <a:t>primary</a:t>
            </a:r>
            <a:r>
              <a:rPr lang="fr-FR" dirty="0"/>
              <a:t> key,</a:t>
            </a:r>
          </a:p>
          <a:p>
            <a:r>
              <a:rPr lang="fr-FR" dirty="0"/>
              <a:t>	</a:t>
            </a:r>
            <a:r>
              <a:rPr lang="fr-FR" dirty="0" err="1"/>
              <a:t>username</a:t>
            </a:r>
            <a:r>
              <a:rPr lang="fr-FR" dirty="0"/>
              <a:t> varchar(50) not </a:t>
            </a:r>
            <a:r>
              <a:rPr lang="fr-FR" dirty="0" err="1"/>
              <a:t>null</a:t>
            </a:r>
            <a:r>
              <a:rPr lang="fr-FR" dirty="0"/>
              <a:t>,</a:t>
            </a:r>
          </a:p>
          <a:p>
            <a:r>
              <a:rPr lang="fr-FR" dirty="0"/>
              <a:t>	</a:t>
            </a:r>
            <a:r>
              <a:rPr lang="fr-FR" dirty="0" err="1"/>
              <a:t>group_id</a:t>
            </a:r>
            <a:r>
              <a:rPr lang="fr-FR" dirty="0"/>
              <a:t> </a:t>
            </a:r>
            <a:r>
              <a:rPr lang="fr-FR" dirty="0" err="1"/>
              <a:t>bigint</a:t>
            </a:r>
            <a:r>
              <a:rPr lang="fr-FR" dirty="0"/>
              <a:t> not </a:t>
            </a:r>
            <a:r>
              <a:rPr lang="fr-FR" dirty="0" err="1"/>
              <a:t>null</a:t>
            </a:r>
            <a:r>
              <a:rPr lang="fr-FR" dirty="0"/>
              <a:t>,</a:t>
            </a:r>
          </a:p>
          <a:p>
            <a:r>
              <a:rPr lang="fr-FR" dirty="0"/>
              <a:t>	</a:t>
            </a:r>
            <a:r>
              <a:rPr lang="fr-FR" dirty="0" err="1"/>
              <a:t>constraint</a:t>
            </a:r>
            <a:r>
              <a:rPr lang="fr-FR" dirty="0"/>
              <a:t> </a:t>
            </a:r>
            <a:r>
              <a:rPr lang="fr-FR" dirty="0" err="1"/>
              <a:t>fk_group_members_group</a:t>
            </a:r>
            <a:r>
              <a:rPr lang="fr-FR" dirty="0"/>
              <a:t> </a:t>
            </a:r>
            <a:r>
              <a:rPr lang="fr-FR" dirty="0" err="1"/>
              <a:t>foreign</a:t>
            </a:r>
            <a:r>
              <a:rPr lang="fr-FR" dirty="0"/>
              <a:t> key(</a:t>
            </a:r>
            <a:r>
              <a:rPr lang="fr-FR" dirty="0" err="1"/>
              <a:t>group_id</a:t>
            </a:r>
            <a:r>
              <a:rPr lang="fr-FR" dirty="0"/>
              <a:t>) </a:t>
            </a:r>
            <a:r>
              <a:rPr lang="fr-FR" dirty="0" err="1"/>
              <a:t>references</a:t>
            </a:r>
            <a:r>
              <a:rPr lang="fr-FR" dirty="0"/>
              <a:t> groups(id)</a:t>
            </a:r>
          </a:p>
          <a:p>
            <a:r>
              <a:rPr lang="fr-FR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1007736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1E53A-BE8C-9572-6FE0-894E13AF6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4D8F4-D4ED-D3C6-4F76-BCEDA9E5C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35879"/>
          </a:xfrm>
        </p:spPr>
        <p:txBody>
          <a:bodyPr/>
          <a:lstStyle/>
          <a:p>
            <a:r>
              <a:rPr lang="fr-FR" dirty="0"/>
              <a:t>Insert </a:t>
            </a:r>
            <a:r>
              <a:rPr lang="fr-FR" dirty="0" err="1"/>
              <a:t>users</a:t>
            </a:r>
            <a:r>
              <a:rPr lang="fr-FR" dirty="0"/>
              <a:t> in </a:t>
            </a:r>
            <a:r>
              <a:rPr lang="fr-FR" dirty="0" err="1"/>
              <a:t>database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H2  "New Row",  </a:t>
            </a:r>
            <a:r>
              <a:rPr lang="fr-FR" dirty="0" err="1"/>
              <a:t>edit</a:t>
            </a:r>
            <a:r>
              <a:rPr lang="fr-FR" dirty="0"/>
              <a:t>,  commit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94989E-C029-A919-6855-9415C8DC35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785"/>
          <a:stretch/>
        </p:blipFill>
        <p:spPr>
          <a:xfrm>
            <a:off x="4269522" y="2266977"/>
            <a:ext cx="3788737" cy="26769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C38C79-78CE-2951-7E3C-9A1856D1C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993" y="1084186"/>
            <a:ext cx="3524555" cy="296062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CDAC485-0666-94D1-B3C6-D0EBD0603485}"/>
              </a:ext>
            </a:extLst>
          </p:cNvPr>
          <p:cNvSpPr/>
          <p:nvPr/>
        </p:nvSpPr>
        <p:spPr>
          <a:xfrm flipH="1">
            <a:off x="262563" y="1672494"/>
            <a:ext cx="827484" cy="1976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D83DE0-2F59-84AD-3902-E98448CF3B14}"/>
              </a:ext>
            </a:extLst>
          </p:cNvPr>
          <p:cNvSpPr/>
          <p:nvPr/>
        </p:nvSpPr>
        <p:spPr>
          <a:xfrm flipH="1">
            <a:off x="1861471" y="3721512"/>
            <a:ext cx="427112" cy="3233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0A0C07-21FF-E555-DFFB-087D4826D546}"/>
              </a:ext>
            </a:extLst>
          </p:cNvPr>
          <p:cNvSpPr/>
          <p:nvPr/>
        </p:nvSpPr>
        <p:spPr>
          <a:xfrm flipH="1">
            <a:off x="5668888" y="4468014"/>
            <a:ext cx="427112" cy="3233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60E541-D4FD-0178-B0EC-13F0EE1E939F}"/>
              </a:ext>
            </a:extLst>
          </p:cNvPr>
          <p:cNvCxnSpPr>
            <a:cxnSpLocks/>
          </p:cNvCxnSpPr>
          <p:nvPr/>
        </p:nvCxnSpPr>
        <p:spPr>
          <a:xfrm>
            <a:off x="1167539" y="1766807"/>
            <a:ext cx="635430" cy="182363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3ACA46B-AC9D-0B74-B3B5-831715ADE745}"/>
              </a:ext>
            </a:extLst>
          </p:cNvPr>
          <p:cNvCxnSpPr>
            <a:cxnSpLocks/>
          </p:cNvCxnSpPr>
          <p:nvPr/>
        </p:nvCxnSpPr>
        <p:spPr>
          <a:xfrm>
            <a:off x="2567553" y="3905573"/>
            <a:ext cx="3053166" cy="68709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878C88-8D4C-E973-1539-18A608846B38}"/>
              </a:ext>
            </a:extLst>
          </p:cNvPr>
          <p:cNvSpPr txBox="1"/>
          <p:nvPr/>
        </p:nvSpPr>
        <p:spPr>
          <a:xfrm>
            <a:off x="2470381" y="6055082"/>
            <a:ext cx="43427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NOTICE: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prefix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/>
              <a:t>{</a:t>
            </a:r>
            <a:r>
              <a:rPr lang="fr-FR" b="1" dirty="0" err="1"/>
              <a:t>noop</a:t>
            </a:r>
            <a:r>
              <a:rPr lang="fr-FR" b="1" dirty="0"/>
              <a:t>}</a:t>
            </a:r>
          </a:p>
          <a:p>
            <a:r>
              <a:rPr lang="fr-FR" dirty="0"/>
              <a:t>(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next</a:t>
            </a:r>
            <a:r>
              <a:rPr lang="fr-FR" dirty="0"/>
              <a:t> </a:t>
            </a:r>
            <a:r>
              <a:rPr lang="fr-FR" dirty="0" err="1"/>
              <a:t>lesson</a:t>
            </a:r>
            <a:r>
              <a:rPr lang="fr-FR" dirty="0"/>
              <a:t> for Hash and </a:t>
            </a:r>
            <a:r>
              <a:rPr lang="fr-FR" dirty="0" err="1"/>
              <a:t>Salting</a:t>
            </a:r>
            <a:r>
              <a:rPr lang="fr-FR" dirty="0"/>
              <a:t>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16777C6-A96C-6591-47FB-AB4C4A406F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224" y="4791315"/>
            <a:ext cx="4561384" cy="151446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DB7353C-5443-D7DA-E32E-56E336FBBDB5}"/>
              </a:ext>
            </a:extLst>
          </p:cNvPr>
          <p:cNvSpPr/>
          <p:nvPr/>
        </p:nvSpPr>
        <p:spPr>
          <a:xfrm flipH="1">
            <a:off x="9141152" y="5603865"/>
            <a:ext cx="1340867" cy="3233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135625-AAE7-9F47-8B2C-62802A51E371}"/>
              </a:ext>
            </a:extLst>
          </p:cNvPr>
          <p:cNvCxnSpPr>
            <a:cxnSpLocks/>
          </p:cNvCxnSpPr>
          <p:nvPr/>
        </p:nvCxnSpPr>
        <p:spPr>
          <a:xfrm>
            <a:off x="6212238" y="4600412"/>
            <a:ext cx="2998921" cy="94813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F111E58-CBAB-626A-5AFF-336918DA217F}"/>
              </a:ext>
            </a:extLst>
          </p:cNvPr>
          <p:cNvSpPr/>
          <p:nvPr/>
        </p:nvSpPr>
        <p:spPr>
          <a:xfrm flipH="1">
            <a:off x="7550223" y="5616613"/>
            <a:ext cx="333563" cy="3233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6" name="Picture 2" descr="Order Warning Signs for Workplace Safety | VKF Renzel">
            <a:extLst>
              <a:ext uri="{FF2B5EF4-FFF2-40B4-BE49-F238E27FC236}">
                <a16:creationId xmlns:a16="http://schemas.microsoft.com/office/drawing/2014/main" id="{29CAF16D-5B97-9B6C-FC94-A8E4FB494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683" y="6126996"/>
            <a:ext cx="759700" cy="57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12663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DB2D7-A2F1-F6A6-154F-0FF5BF7A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B1191-7125-20D9-9F54-C4CA0B7F3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INSERT INTO </a:t>
            </a:r>
            <a:r>
              <a:rPr lang="fr-FR" dirty="0" err="1"/>
              <a:t>users</a:t>
            </a:r>
            <a:r>
              <a:rPr lang="fr-FR" dirty="0"/>
              <a:t>... </a:t>
            </a:r>
            <a:r>
              <a:rPr lang="fr-FR" dirty="0" err="1"/>
              <a:t>using</a:t>
            </a:r>
            <a:r>
              <a:rPr lang="fr-FR" dirty="0"/>
              <a:t> SQL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C6FBA2-25C9-F643-10F3-ABEBF0C680E4}"/>
              </a:ext>
            </a:extLst>
          </p:cNvPr>
          <p:cNvSpPr txBox="1"/>
          <p:nvPr/>
        </p:nvSpPr>
        <p:spPr>
          <a:xfrm>
            <a:off x="1046135" y="1784604"/>
            <a:ext cx="100997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INSERT INTO </a:t>
            </a:r>
            <a:r>
              <a:rPr lang="fr-FR" sz="2000" b="1" dirty="0" err="1"/>
              <a:t>users</a:t>
            </a:r>
            <a:r>
              <a:rPr lang="fr-FR" sz="2000" b="1" dirty="0"/>
              <a:t> (</a:t>
            </a:r>
            <a:r>
              <a:rPr lang="fr-FR" sz="2000" b="1" dirty="0" err="1"/>
              <a:t>username</a:t>
            </a:r>
            <a:r>
              <a:rPr lang="fr-FR" sz="2000" b="1" dirty="0"/>
              <a:t>, </a:t>
            </a:r>
            <a:r>
              <a:rPr lang="fr-FR" sz="2000" b="1" dirty="0" err="1"/>
              <a:t>password</a:t>
            </a:r>
            <a:r>
              <a:rPr lang="fr-FR" sz="2000" b="1" dirty="0"/>
              <a:t>, </a:t>
            </a:r>
            <a:r>
              <a:rPr lang="fr-FR" sz="2000" b="1" dirty="0" err="1"/>
              <a:t>enabled</a:t>
            </a:r>
            <a:r>
              <a:rPr lang="fr-FR" sz="2000" b="1" dirty="0"/>
              <a:t>) VALUES ('user2', '{</a:t>
            </a:r>
            <a:r>
              <a:rPr lang="fr-FR" sz="2000" b="1" dirty="0" err="1"/>
              <a:t>noop</a:t>
            </a:r>
            <a:r>
              <a:rPr lang="fr-FR" sz="2000" b="1" dirty="0"/>
              <a:t>}password2', </a:t>
            </a:r>
            <a:r>
              <a:rPr lang="fr-FR" sz="2000" b="1" dirty="0" err="1"/>
              <a:t>true</a:t>
            </a:r>
            <a:r>
              <a:rPr lang="fr-FR" sz="2000" b="1" dirty="0"/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190B6-A395-5EF0-8BF5-5E6A60F96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588" y="2904344"/>
            <a:ext cx="7342506" cy="310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4285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D52C1-A9F9-B9E2-B76B-6571C20C7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5CFC7-C023-ABE4-A2AA-86FDBA887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users</a:t>
            </a:r>
            <a:r>
              <a:rPr lang="fr-FR" dirty="0"/>
              <a:t> a "</a:t>
            </a:r>
            <a:r>
              <a:rPr lang="fr-FR" dirty="0" err="1"/>
              <a:t>role</a:t>
            </a:r>
            <a:r>
              <a:rPr lang="fr-FR" dirty="0"/>
              <a:t>" (= AUTHORITY)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373B83-3488-7B0D-40C3-1A3594CE2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508" y="1289774"/>
            <a:ext cx="4198984" cy="31625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C0670C-A18B-510D-9C3E-43B6BA451CFF}"/>
              </a:ext>
            </a:extLst>
          </p:cNvPr>
          <p:cNvSpPr txBox="1"/>
          <p:nvPr/>
        </p:nvSpPr>
        <p:spPr>
          <a:xfrm>
            <a:off x="2050943" y="4995620"/>
            <a:ext cx="910800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INSERT INTO  </a:t>
            </a:r>
            <a:r>
              <a:rPr lang="fr-FR" sz="2000" b="1" dirty="0" err="1"/>
              <a:t>authorities</a:t>
            </a:r>
            <a:r>
              <a:rPr lang="fr-FR" sz="2000" b="1" dirty="0"/>
              <a:t> (</a:t>
            </a:r>
            <a:r>
              <a:rPr lang="fr-FR" sz="2000" b="1" dirty="0" err="1"/>
              <a:t>username</a:t>
            </a:r>
            <a:r>
              <a:rPr lang="fr-FR" sz="2000" b="1" dirty="0"/>
              <a:t>, </a:t>
            </a:r>
            <a:r>
              <a:rPr lang="fr-FR" sz="2000" b="1" dirty="0" err="1"/>
              <a:t>authority</a:t>
            </a:r>
            <a:r>
              <a:rPr lang="fr-FR" sz="2000" b="1" dirty="0"/>
              <a:t>)  VALUES ('user1', 'ROLE_USER')</a:t>
            </a:r>
          </a:p>
          <a:p>
            <a:endParaRPr lang="fr-FR" sz="2000" b="1" dirty="0"/>
          </a:p>
          <a:p>
            <a:r>
              <a:rPr lang="fr-FR" sz="2000" b="1" dirty="0"/>
              <a:t>INSERT INTO  </a:t>
            </a:r>
            <a:r>
              <a:rPr lang="fr-FR" sz="2000" b="1" dirty="0" err="1"/>
              <a:t>authorities</a:t>
            </a:r>
            <a:r>
              <a:rPr lang="fr-FR" sz="2000" b="1" dirty="0"/>
              <a:t> (</a:t>
            </a:r>
            <a:r>
              <a:rPr lang="fr-FR" sz="2000" b="1" dirty="0" err="1"/>
              <a:t>username</a:t>
            </a:r>
            <a:r>
              <a:rPr lang="fr-FR" sz="2000" b="1" dirty="0"/>
              <a:t>, </a:t>
            </a:r>
            <a:r>
              <a:rPr lang="fr-FR" sz="2000" b="1" dirty="0" err="1"/>
              <a:t>authority</a:t>
            </a:r>
            <a:r>
              <a:rPr lang="fr-FR" sz="2000" b="1" dirty="0"/>
              <a:t>)  VALUES ('user2', 'ROLE_MANAGER')</a:t>
            </a:r>
          </a:p>
          <a:p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38920861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11B0F-553B-3D29-9701-508DF2D57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C0AF9-20C9-5177-B91F-A34E4FCE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705"/>
            <a:ext cx="11353800" cy="1294149"/>
          </a:xfrm>
        </p:spPr>
        <p:txBody>
          <a:bodyPr/>
          <a:lstStyle/>
          <a:p>
            <a:r>
              <a:rPr lang="fr-FR" dirty="0"/>
              <a:t>If NO </a:t>
            </a:r>
            <a:r>
              <a:rPr lang="fr-FR" dirty="0" err="1"/>
              <a:t>role</a:t>
            </a:r>
            <a:r>
              <a:rPr lang="fr-FR" dirty="0"/>
              <a:t> =&gt; user </a:t>
            </a:r>
            <a:r>
              <a:rPr lang="fr-FR" dirty="0" err="1"/>
              <a:t>treated</a:t>
            </a:r>
            <a:r>
              <a:rPr lang="fr-FR" dirty="0"/>
              <a:t> as 'Not </a:t>
            </a:r>
            <a:r>
              <a:rPr lang="fr-FR" dirty="0" err="1"/>
              <a:t>Found</a:t>
            </a:r>
            <a:r>
              <a:rPr lang="fr-FR" dirty="0"/>
              <a:t>' !</a:t>
            </a:r>
            <a:br>
              <a:rPr lang="fr-FR" dirty="0"/>
            </a:br>
            <a:r>
              <a:rPr lang="fr-FR" dirty="0" err="1"/>
              <a:t>cf</a:t>
            </a:r>
            <a:r>
              <a:rPr lang="fr-FR" dirty="0"/>
              <a:t> source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2A92B-3643-3BAC-93DA-46E92E2E73FD}"/>
              </a:ext>
            </a:extLst>
          </p:cNvPr>
          <p:cNvSpPr txBox="1"/>
          <p:nvPr/>
        </p:nvSpPr>
        <p:spPr>
          <a:xfrm>
            <a:off x="191144" y="1387800"/>
            <a:ext cx="11210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https://github.com/spring-projects/spring-security/blob/main/core/src/main/java/org/springframework/security/core/userdetails/jdbc/JdbcDaoImpl.java#L200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AB7F57-69ED-A3D7-0F0F-18D77A2FD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16" y="2089077"/>
            <a:ext cx="7219201" cy="4592536"/>
          </a:xfrm>
          <a:prstGeom prst="rect">
            <a:avLst/>
          </a:prstGeom>
        </p:spPr>
      </p:pic>
      <p:pic>
        <p:nvPicPr>
          <p:cNvPr id="7" name="Picture 2" descr="Order Warning Signs for Workplace Safety | VKF Renzel">
            <a:extLst>
              <a:ext uri="{FF2B5EF4-FFF2-40B4-BE49-F238E27FC236}">
                <a16:creationId xmlns:a16="http://schemas.microsoft.com/office/drawing/2014/main" id="{3EC1201F-256A-688D-2219-D63D245331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0970"/>
            <a:ext cx="851585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2203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C72F4-177B-1F7A-0766-F0A094228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19481" cy="1325563"/>
          </a:xfrm>
        </p:spPr>
        <p:txBody>
          <a:bodyPr/>
          <a:lstStyle/>
          <a:p>
            <a:r>
              <a:rPr lang="fr-FR" dirty="0" err="1"/>
              <a:t>Springboot</a:t>
            </a:r>
            <a:r>
              <a:rPr lang="fr-FR" dirty="0"/>
              <a:t> refuse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without</a:t>
            </a:r>
            <a:r>
              <a:rPr lang="fr-FR" dirty="0"/>
              <a:t> "Encoder"</a:t>
            </a:r>
            <a:br>
              <a:rPr lang="fr-FR" dirty="0"/>
            </a:br>
            <a:r>
              <a:rPr lang="fr-FR" dirty="0"/>
              <a:t>... or use </a:t>
            </a:r>
            <a:r>
              <a:rPr lang="fr-FR" dirty="0" err="1"/>
              <a:t>explicitly</a:t>
            </a:r>
            <a:r>
              <a:rPr lang="fr-FR" dirty="0"/>
              <a:t> "{</a:t>
            </a:r>
            <a:r>
              <a:rPr lang="fr-FR" dirty="0" err="1"/>
              <a:t>noop</a:t>
            </a:r>
            <a:r>
              <a:rPr lang="fr-FR" dirty="0"/>
              <a:t>}"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05DF7F-6524-02F4-A71E-6CB1FEBD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8353"/>
            <a:ext cx="12192000" cy="30212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92113F-6036-335E-92CA-CE584AA1ABD1}"/>
              </a:ext>
            </a:extLst>
          </p:cNvPr>
          <p:cNvSpPr txBox="1"/>
          <p:nvPr/>
        </p:nvSpPr>
        <p:spPr>
          <a:xfrm>
            <a:off x="738751" y="5492776"/>
            <a:ext cx="110916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Given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no default </a:t>
            </a:r>
            <a:r>
              <a:rPr lang="fr-FR" dirty="0" err="1"/>
              <a:t>password</a:t>
            </a:r>
            <a:r>
              <a:rPr lang="fr-FR" dirty="0"/>
              <a:t> encoder </a:t>
            </a:r>
            <a:r>
              <a:rPr lang="fr-FR" dirty="0" err="1"/>
              <a:t>configured</a:t>
            </a:r>
            <a:r>
              <a:rPr lang="fr-FR" dirty="0"/>
              <a:t>, 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must have a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encoding</a:t>
            </a:r>
            <a:r>
              <a:rPr lang="fr-FR" dirty="0"/>
              <a:t> </a:t>
            </a:r>
            <a:r>
              <a:rPr lang="fr-FR" dirty="0" err="1"/>
              <a:t>prefix</a:t>
            </a:r>
            <a:r>
              <a:rPr lang="fr-FR" dirty="0"/>
              <a:t>. </a:t>
            </a:r>
          </a:p>
          <a:p>
            <a:r>
              <a:rPr lang="fr-FR" dirty="0" err="1"/>
              <a:t>Please</a:t>
            </a:r>
            <a:r>
              <a:rPr lang="fr-FR" dirty="0"/>
              <a:t> </a:t>
            </a:r>
            <a:r>
              <a:rPr lang="fr-FR" dirty="0" err="1"/>
              <a:t>either</a:t>
            </a:r>
            <a:r>
              <a:rPr lang="fr-FR" dirty="0"/>
              <a:t> </a:t>
            </a:r>
            <a:r>
              <a:rPr lang="fr-FR" dirty="0" err="1"/>
              <a:t>prefix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'{</a:t>
            </a:r>
            <a:r>
              <a:rPr lang="fr-FR" dirty="0" err="1"/>
              <a:t>noop</a:t>
            </a:r>
            <a:r>
              <a:rPr lang="fr-FR" dirty="0"/>
              <a:t>}' or set a default </a:t>
            </a:r>
            <a:r>
              <a:rPr lang="fr-FR" dirty="0" err="1"/>
              <a:t>password</a:t>
            </a:r>
            <a:r>
              <a:rPr lang="fr-FR" dirty="0"/>
              <a:t> encoder in `</a:t>
            </a:r>
            <a:r>
              <a:rPr lang="fr-FR" dirty="0" err="1"/>
              <a:t>DelegatingPasswordEncoder</a:t>
            </a:r>
            <a:r>
              <a:rPr lang="fr-FR" dirty="0"/>
              <a:t>`.</a:t>
            </a:r>
          </a:p>
        </p:txBody>
      </p:sp>
      <p:pic>
        <p:nvPicPr>
          <p:cNvPr id="8" name="Picture 2" descr="Order Warning Signs for Workplace Safety | VKF Renzel">
            <a:extLst>
              <a:ext uri="{FF2B5EF4-FFF2-40B4-BE49-F238E27FC236}">
                <a16:creationId xmlns:a16="http://schemas.microsoft.com/office/drawing/2014/main" id="{768B4893-E0CD-5E81-56E7-9E01C06D8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0970"/>
            <a:ext cx="851585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51653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CD41-1EE9-36C7-7365-D771C8746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48C36-3A0C-43ED-1522-C0AE1467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1353800" cy="893736"/>
          </a:xfrm>
        </p:spPr>
        <p:txBody>
          <a:bodyPr/>
          <a:lstStyle/>
          <a:p>
            <a:r>
              <a:rPr lang="fr-FR" dirty="0"/>
              <a:t>Check (update) </a:t>
            </a:r>
            <a:r>
              <a:rPr lang="fr-FR" dirty="0" err="1"/>
              <a:t>password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"{</a:t>
            </a:r>
            <a:r>
              <a:rPr lang="fr-FR" dirty="0" err="1"/>
              <a:t>noop</a:t>
            </a:r>
            <a:r>
              <a:rPr lang="fr-FR" dirty="0"/>
              <a:t>}</a:t>
            </a:r>
            <a:r>
              <a:rPr lang="fr-FR" dirty="0" err="1"/>
              <a:t>password</a:t>
            </a:r>
            <a:r>
              <a:rPr lang="fr-FR" dirty="0"/>
              <a:t>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F85D86-F334-1139-4E03-DFDA10EFA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3639" y="3029850"/>
            <a:ext cx="5331452" cy="25734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B8E2D7-BBCE-B2F9-E8D1-823C80D4C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6" y="977749"/>
            <a:ext cx="4603809" cy="315947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520FE01-09FA-3DA5-7D6A-D3C9E51CE049}"/>
              </a:ext>
            </a:extLst>
          </p:cNvPr>
          <p:cNvSpPr/>
          <p:nvPr/>
        </p:nvSpPr>
        <p:spPr>
          <a:xfrm flipH="1">
            <a:off x="2521214" y="3498355"/>
            <a:ext cx="309649" cy="2528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B1307A-85B1-E527-1D6B-D45B976B2E2B}"/>
              </a:ext>
            </a:extLst>
          </p:cNvPr>
          <p:cNvCxnSpPr>
            <a:cxnSpLocks/>
          </p:cNvCxnSpPr>
          <p:nvPr/>
        </p:nvCxnSpPr>
        <p:spPr>
          <a:xfrm>
            <a:off x="2958810" y="3624778"/>
            <a:ext cx="6004376" cy="1489663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2FFCDD3-A811-6621-3006-83C3D727AE5A}"/>
              </a:ext>
            </a:extLst>
          </p:cNvPr>
          <p:cNvSpPr/>
          <p:nvPr/>
        </p:nvSpPr>
        <p:spPr>
          <a:xfrm flipH="1">
            <a:off x="7883470" y="5157560"/>
            <a:ext cx="245388" cy="2565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6561BB-D039-110D-C5FD-3AA8D24A939A}"/>
              </a:ext>
            </a:extLst>
          </p:cNvPr>
          <p:cNvSpPr/>
          <p:nvPr/>
        </p:nvSpPr>
        <p:spPr>
          <a:xfrm flipH="1">
            <a:off x="9128850" y="5165809"/>
            <a:ext cx="1156858" cy="3045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C421E62-1392-9732-BD27-AC86946A2635}"/>
              </a:ext>
            </a:extLst>
          </p:cNvPr>
          <p:cNvCxnSpPr>
            <a:cxnSpLocks/>
          </p:cNvCxnSpPr>
          <p:nvPr/>
        </p:nvCxnSpPr>
        <p:spPr>
          <a:xfrm flipH="1">
            <a:off x="8281261" y="5266841"/>
            <a:ext cx="681925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2" descr="Order Warning Signs for Workplace Safety | VKF Renzel">
            <a:extLst>
              <a:ext uri="{FF2B5EF4-FFF2-40B4-BE49-F238E27FC236}">
                <a16:creationId xmlns:a16="http://schemas.microsoft.com/office/drawing/2014/main" id="{DF0542E5-7D51-C477-C7C9-C19D76F31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0970"/>
            <a:ext cx="851585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35525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5B834-56DA-810C-923E-DECA80915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B21C-58D1-77F6-1312-AADE40AFF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Relaunch</a:t>
            </a:r>
            <a:r>
              <a:rPr lang="fr-FR" dirty="0"/>
              <a:t> &amp; Test 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0F5FB7-E712-41D4-A996-BF777A9AF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224" y="2253513"/>
            <a:ext cx="4629551" cy="23509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8D1072-A870-A29F-27EA-A2D1009F24B8}"/>
              </a:ext>
            </a:extLst>
          </p:cNvPr>
          <p:cNvSpPr txBox="1"/>
          <p:nvPr/>
        </p:nvSpPr>
        <p:spPr>
          <a:xfrm>
            <a:off x="5961681" y="6008177"/>
            <a:ext cx="56153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next</a:t>
            </a:r>
            <a:r>
              <a:rPr lang="fr-FR" sz="2000" dirty="0"/>
              <a:t> </a:t>
            </a:r>
            <a:r>
              <a:rPr lang="fr-FR" sz="2000" dirty="0" err="1"/>
              <a:t>lesson</a:t>
            </a:r>
            <a:r>
              <a:rPr lang="fr-FR" sz="2000" dirty="0"/>
              <a:t> ...    for </a:t>
            </a:r>
            <a:r>
              <a:rPr lang="fr-FR" sz="2000" dirty="0" err="1"/>
              <a:t>activating</a:t>
            </a:r>
            <a:r>
              <a:rPr lang="fr-FR" sz="2000" dirty="0"/>
              <a:t> the "HASH" + "</a:t>
            </a:r>
            <a:r>
              <a:rPr lang="fr-FR" sz="2000" dirty="0" err="1"/>
              <a:t>Salting</a:t>
            </a:r>
            <a:r>
              <a:rPr lang="fr-FR" sz="2000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42892491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92D5B-5C37-CEA8-FB5E-4EA745CB5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4EABB-52DB-8379-55A8-2424DBCD1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1656DD-CFFF-66A3-482A-1B8663E8AF39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2DF6AADB-D71A-23EF-1C77-7282AF614433}"/>
              </a:ext>
            </a:extLst>
          </p:cNvPr>
          <p:cNvSpPr/>
          <p:nvPr/>
        </p:nvSpPr>
        <p:spPr>
          <a:xfrm>
            <a:off x="2470742" y="4425010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58C465-A201-858D-310B-920C9814EE35}"/>
              </a:ext>
            </a:extLst>
          </p:cNvPr>
          <p:cNvSpPr/>
          <p:nvPr/>
        </p:nvSpPr>
        <p:spPr>
          <a:xfrm>
            <a:off x="3663144" y="4988075"/>
            <a:ext cx="6587320" cy="140085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A5E1F-6E6B-079D-9130-CF55ADD01DAC}"/>
              </a:ext>
            </a:extLst>
          </p:cNvPr>
          <p:cNvSpPr/>
          <p:nvPr/>
        </p:nvSpPr>
        <p:spPr>
          <a:xfrm>
            <a:off x="3758716" y="1118460"/>
            <a:ext cx="6587320" cy="312454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79905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A9B94-2B59-48A7-66C4-E99E6532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0163F-4FF1-AE53-9650-AC49B53A4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Re-</a:t>
            </a:r>
            <a:r>
              <a:rPr lang="fr-FR" dirty="0" err="1"/>
              <a:t>Salting</a:t>
            </a:r>
            <a:r>
              <a:rPr lang="fr-FR" dirty="0"/>
              <a:t> an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saved</a:t>
            </a:r>
            <a:r>
              <a:rPr lang="fr-FR" dirty="0"/>
              <a:t> {</a:t>
            </a:r>
            <a:r>
              <a:rPr lang="fr-FR" dirty="0" err="1"/>
              <a:t>noop</a:t>
            </a:r>
            <a:r>
              <a:rPr lang="fr-FR" dirty="0"/>
              <a:t>}</a:t>
            </a:r>
            <a:r>
              <a:rPr lang="fr-FR" dirty="0" err="1"/>
              <a:t>password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8A672B-A68E-B9A4-CCFA-B2B71A44D4E6}"/>
              </a:ext>
            </a:extLst>
          </p:cNvPr>
          <p:cNvSpPr txBox="1"/>
          <p:nvPr/>
        </p:nvSpPr>
        <p:spPr>
          <a:xfrm>
            <a:off x="986808" y="2556647"/>
            <a:ext cx="1068055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by default, </a:t>
            </a:r>
            <a:r>
              <a:rPr lang="fr-FR" sz="2000" dirty="0" err="1"/>
              <a:t>springboot</a:t>
            </a:r>
            <a:r>
              <a:rPr lang="fr-FR" sz="2000" dirty="0"/>
              <a:t> "</a:t>
            </a:r>
            <a:r>
              <a:rPr lang="fr-FR" sz="2000" dirty="0" err="1"/>
              <a:t>BCryptPasswordEncoder</a:t>
            </a:r>
            <a:r>
              <a:rPr lang="fr-FR" sz="2000" dirty="0"/>
              <a:t>"  </a:t>
            </a:r>
            <a:r>
              <a:rPr lang="fr-FR" sz="2000" dirty="0" err="1"/>
              <a:t>already</a:t>
            </a:r>
            <a:r>
              <a:rPr lang="fr-FR" sz="2000" dirty="0"/>
              <a:t> </a:t>
            </a:r>
            <a:r>
              <a:rPr lang="fr-FR" sz="2000" dirty="0" err="1"/>
              <a:t>generates</a:t>
            </a:r>
            <a:r>
              <a:rPr lang="fr-FR" sz="2000" dirty="0"/>
              <a:t> a </a:t>
            </a:r>
            <a:r>
              <a:rPr lang="fr-FR" sz="2000" dirty="0" err="1"/>
              <a:t>random</a:t>
            </a:r>
            <a:r>
              <a:rPr lang="fr-FR" sz="2000" dirty="0"/>
              <a:t> Salt for </a:t>
            </a:r>
            <a:r>
              <a:rPr lang="fr-FR" sz="2000" dirty="0" err="1"/>
              <a:t>each</a:t>
            </a:r>
            <a:r>
              <a:rPr lang="fr-FR" sz="2000" dirty="0"/>
              <a:t> </a:t>
            </a:r>
            <a:r>
              <a:rPr lang="fr-FR" sz="2000" dirty="0" err="1"/>
              <a:t>encoding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It encode </a:t>
            </a:r>
            <a:r>
              <a:rPr lang="fr-FR" sz="2000" dirty="0" err="1"/>
              <a:t>both</a:t>
            </a:r>
            <a:r>
              <a:rPr lang="fr-FR" sz="2000" dirty="0"/>
              <a:t> </a:t>
            </a:r>
            <a:r>
              <a:rPr lang="fr-FR" sz="2000" dirty="0" err="1"/>
              <a:t>salt</a:t>
            </a:r>
            <a:r>
              <a:rPr lang="fr-FR" sz="2000" dirty="0"/>
              <a:t> + </a:t>
            </a:r>
            <a:r>
              <a:rPr lang="fr-FR" sz="2000" dirty="0" err="1"/>
              <a:t>hashed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 in </a:t>
            </a:r>
            <a:r>
              <a:rPr lang="fr-FR" sz="2000" dirty="0" err="1"/>
              <a:t>field</a:t>
            </a:r>
            <a:r>
              <a:rPr lang="fr-FR" sz="2000" dirty="0"/>
              <a:t> "</a:t>
            </a:r>
            <a:r>
              <a:rPr lang="fr-FR" sz="2000" dirty="0" err="1"/>
              <a:t>password</a:t>
            </a:r>
            <a:r>
              <a:rPr lang="fr-FR" sz="2000" dirty="0"/>
              <a:t>"</a:t>
            </a:r>
          </a:p>
          <a:p>
            <a:endParaRPr lang="fr-FR" sz="2000" dirty="0"/>
          </a:p>
          <a:p>
            <a:r>
              <a:rPr lang="fr-FR" sz="2000" dirty="0"/>
              <a:t>(no </a:t>
            </a:r>
            <a:r>
              <a:rPr lang="fr-FR" sz="2000" dirty="0" err="1"/>
              <a:t>need</a:t>
            </a:r>
            <a:r>
              <a:rPr lang="fr-FR" sz="2000" dirty="0"/>
              <a:t> to </a:t>
            </a:r>
            <a:r>
              <a:rPr lang="fr-FR" sz="2000" dirty="0" err="1"/>
              <a:t>save</a:t>
            </a:r>
            <a:r>
              <a:rPr lang="fr-FR" sz="2000" dirty="0"/>
              <a:t> in a </a:t>
            </a:r>
            <a:r>
              <a:rPr lang="fr-FR" sz="2000" dirty="0" err="1"/>
              <a:t>different</a:t>
            </a:r>
            <a:r>
              <a:rPr lang="fr-FR" sz="2000" dirty="0"/>
              <a:t> </a:t>
            </a:r>
            <a:r>
              <a:rPr lang="fr-FR" sz="2000" dirty="0" err="1"/>
              <a:t>column</a:t>
            </a:r>
            <a:r>
              <a:rPr lang="fr-FR" sz="2000" dirty="0"/>
              <a:t> in </a:t>
            </a:r>
            <a:r>
              <a:rPr lang="fr-FR" sz="2000" dirty="0" err="1"/>
              <a:t>database</a:t>
            </a:r>
            <a:r>
              <a:rPr lang="fr-FR" sz="2000" dirty="0"/>
              <a:t> table)</a:t>
            </a:r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560578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C4810-F72F-4974-FC4F-5C39977D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4309A-298C-1DEC-C7D4-6D7AB52CF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Adding</a:t>
            </a:r>
            <a:r>
              <a:rPr lang="fr-FR" dirty="0"/>
              <a:t> java class for </a:t>
            </a:r>
            <a:r>
              <a:rPr lang="fr-FR" dirty="0" err="1"/>
              <a:t>Updating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[1/2]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AA1526-6A39-5922-482F-8BBD9851E2BC}"/>
              </a:ext>
            </a:extLst>
          </p:cNvPr>
          <p:cNvSpPr txBox="1"/>
          <p:nvPr/>
        </p:nvSpPr>
        <p:spPr>
          <a:xfrm>
            <a:off x="702590" y="1100380"/>
            <a:ext cx="844141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package </a:t>
            </a:r>
            <a:r>
              <a:rPr lang="fr-FR" dirty="0" err="1"/>
              <a:t>com.example.demo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import </a:t>
            </a:r>
            <a:r>
              <a:rPr lang="fr-FR" dirty="0" err="1"/>
              <a:t>org.springframework.security.core.userdetails.User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org.springframework.security.core.userdetails.UserDetails</a:t>
            </a:r>
            <a:r>
              <a:rPr lang="fr-FR" dirty="0"/>
              <a:t>;</a:t>
            </a:r>
          </a:p>
          <a:p>
            <a:r>
              <a:rPr lang="fr-FR" dirty="0"/>
              <a:t>import org.springframework.security.crypto.bcrypt.BCryptPasswordEncoder;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org.springframework.security.crypto.password.PasswordEncoder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org.springframework.security.provisioning.UserDetailsManager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org.springframework.web.bind.annotation.PutMapping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org.springframework.web.bind.annotation.RequestBody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org.springframework.web.bind.annotation.RequestMapping</a:t>
            </a:r>
            <a:r>
              <a:rPr lang="fr-FR" dirty="0"/>
              <a:t>;</a:t>
            </a:r>
          </a:p>
          <a:p>
            <a:r>
              <a:rPr lang="fr-FR" dirty="0"/>
              <a:t>import </a:t>
            </a:r>
            <a:r>
              <a:rPr lang="fr-FR" dirty="0" err="1"/>
              <a:t>org.springframework.web.bind.annotation.RestController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@RestController</a:t>
            </a:r>
          </a:p>
          <a:p>
            <a:r>
              <a:rPr lang="fr-FR" dirty="0"/>
              <a:t>@RequestMapping("/api/v1/users")</a:t>
            </a:r>
          </a:p>
          <a:p>
            <a:r>
              <a:rPr lang="fr-FR" dirty="0"/>
              <a:t>public class </a:t>
            </a:r>
            <a:r>
              <a:rPr lang="fr-FR" dirty="0" err="1"/>
              <a:t>UserUpdateRestController</a:t>
            </a:r>
            <a:r>
              <a:rPr lang="fr-FR" dirty="0"/>
              <a:t> {</a:t>
            </a:r>
          </a:p>
          <a:p>
            <a:endParaRPr lang="fr-FR" dirty="0"/>
          </a:p>
          <a:p>
            <a:r>
              <a:rPr lang="fr-FR" dirty="0"/>
              <a:t>    </a:t>
            </a:r>
            <a:r>
              <a:rPr lang="fr-FR" dirty="0" err="1"/>
              <a:t>private</a:t>
            </a:r>
            <a:r>
              <a:rPr lang="fr-FR" dirty="0"/>
              <a:t> final </a:t>
            </a:r>
            <a:r>
              <a:rPr lang="fr-FR" dirty="0" err="1"/>
              <a:t>UserDetailsManager</a:t>
            </a:r>
            <a:r>
              <a:rPr lang="fr-FR" dirty="0"/>
              <a:t> </a:t>
            </a:r>
            <a:r>
              <a:rPr lang="fr-FR" dirty="0" err="1"/>
              <a:t>userDetailsManager</a:t>
            </a:r>
            <a:r>
              <a:rPr lang="fr-FR" dirty="0"/>
              <a:t>;</a:t>
            </a:r>
          </a:p>
          <a:p>
            <a:endParaRPr lang="fr-FR" dirty="0"/>
          </a:p>
          <a:p>
            <a:r>
              <a:rPr lang="fr-FR" dirty="0"/>
              <a:t>    </a:t>
            </a:r>
            <a:r>
              <a:rPr lang="fr-FR" dirty="0" err="1"/>
              <a:t>private</a:t>
            </a:r>
            <a:r>
              <a:rPr lang="fr-FR" dirty="0"/>
              <a:t> final </a:t>
            </a:r>
            <a:r>
              <a:rPr lang="fr-FR" dirty="0" err="1"/>
              <a:t>PasswordEncoder</a:t>
            </a:r>
            <a:r>
              <a:rPr lang="fr-FR" dirty="0"/>
              <a:t> </a:t>
            </a:r>
            <a:r>
              <a:rPr lang="fr-FR" dirty="0" err="1"/>
              <a:t>passwordEncoder</a:t>
            </a:r>
            <a:r>
              <a:rPr lang="fr-FR" dirty="0"/>
              <a:t> = new </a:t>
            </a:r>
            <a:r>
              <a:rPr lang="fr-FR" dirty="0" err="1"/>
              <a:t>BCryptPasswordEncoder</a:t>
            </a:r>
            <a:r>
              <a:rPr lang="fr-FR" dirty="0"/>
              <a:t>();</a:t>
            </a:r>
          </a:p>
          <a:p>
            <a:r>
              <a:rPr lang="fr-FR" dirty="0"/>
              <a:t>    </a:t>
            </a:r>
            <a:r>
              <a:rPr lang="fr-FR" dirty="0" err="1"/>
              <a:t>private</a:t>
            </a:r>
            <a:r>
              <a:rPr lang="fr-FR" dirty="0"/>
              <a:t> </a:t>
            </a:r>
            <a:r>
              <a:rPr lang="fr-FR" dirty="0" err="1"/>
              <a:t>static</a:t>
            </a:r>
            <a:r>
              <a:rPr lang="fr-FR" dirty="0"/>
              <a:t> final String ENCODE_PREFIX = "{</a:t>
            </a:r>
            <a:r>
              <a:rPr lang="fr-FR" dirty="0" err="1"/>
              <a:t>bcrypt</a:t>
            </a:r>
            <a:r>
              <a:rPr lang="fr-FR" dirty="0"/>
              <a:t>}"; // </a:t>
            </a: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PasswordEncoderFactories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853338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FFF7F-FF77-60AC-76BA-42FA732AE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EED8E-D04D-BF7D-AA60-2EDB44A42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(...</a:t>
            </a:r>
            <a:r>
              <a:rPr lang="fr-FR" dirty="0" err="1"/>
              <a:t>next</a:t>
            </a:r>
            <a:r>
              <a:rPr lang="fr-F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C6DB83-CEB2-7C54-C206-3887F96A75E8}"/>
              </a:ext>
            </a:extLst>
          </p:cNvPr>
          <p:cNvSpPr txBox="1"/>
          <p:nvPr/>
        </p:nvSpPr>
        <p:spPr>
          <a:xfrm>
            <a:off x="382292" y="1007389"/>
            <a:ext cx="1180970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public </a:t>
            </a:r>
            <a:r>
              <a:rPr lang="fr-FR" dirty="0" err="1"/>
              <a:t>UserUpdateRestController</a:t>
            </a:r>
            <a:r>
              <a:rPr lang="fr-FR" dirty="0"/>
              <a:t>(</a:t>
            </a:r>
            <a:r>
              <a:rPr lang="fr-FR" dirty="0" err="1"/>
              <a:t>UserDetailsManager</a:t>
            </a:r>
            <a:r>
              <a:rPr lang="fr-FR" dirty="0"/>
              <a:t> </a:t>
            </a:r>
            <a:r>
              <a:rPr lang="fr-FR" dirty="0" err="1"/>
              <a:t>userDetailsManager</a:t>
            </a:r>
            <a:r>
              <a:rPr lang="fr-FR" dirty="0"/>
              <a:t>) {</a:t>
            </a:r>
          </a:p>
          <a:p>
            <a:r>
              <a:rPr lang="fr-FR" dirty="0"/>
              <a:t>        </a:t>
            </a:r>
            <a:r>
              <a:rPr lang="fr-FR" dirty="0" err="1"/>
              <a:t>this.userDetailsManager</a:t>
            </a:r>
            <a:r>
              <a:rPr lang="fr-FR" dirty="0"/>
              <a:t> = </a:t>
            </a:r>
            <a:r>
              <a:rPr lang="fr-FR" dirty="0" err="1"/>
              <a:t>userDetailsManager</a:t>
            </a:r>
            <a:r>
              <a:rPr lang="fr-FR" dirty="0"/>
              <a:t>;</a:t>
            </a:r>
          </a:p>
          <a:p>
            <a:r>
              <a:rPr lang="en-US" dirty="0"/>
              <a:t>        // for debug (uncomment to execute once, or use curl</a:t>
            </a:r>
          </a:p>
          <a:p>
            <a:r>
              <a:rPr lang="en-US" dirty="0"/>
              <a:t>        // </a:t>
            </a:r>
            <a:r>
              <a:rPr lang="en-US" dirty="0" err="1"/>
              <a:t>updateResaltPassword</a:t>
            </a:r>
            <a:r>
              <a:rPr lang="en-US" dirty="0"/>
              <a:t>(new </a:t>
            </a:r>
            <a:r>
              <a:rPr lang="fr-FR" dirty="0" err="1"/>
              <a:t>UserPasswordRequestDTO</a:t>
            </a:r>
            <a:r>
              <a:rPr lang="fr-FR" dirty="0"/>
              <a:t>(</a:t>
            </a:r>
            <a:r>
              <a:rPr lang="en-US" dirty="0"/>
              <a:t>"user2", "password2"));</a:t>
            </a:r>
          </a:p>
          <a:p>
            <a:r>
              <a:rPr lang="fr-FR" dirty="0"/>
              <a:t>   }</a:t>
            </a:r>
          </a:p>
          <a:p>
            <a:endParaRPr lang="fr-FR" dirty="0"/>
          </a:p>
          <a:p>
            <a:r>
              <a:rPr lang="fr-FR" dirty="0"/>
              <a:t>   record </a:t>
            </a:r>
            <a:r>
              <a:rPr lang="fr-FR" dirty="0" err="1"/>
              <a:t>UserPasswordRequestDTO</a:t>
            </a:r>
            <a:r>
              <a:rPr lang="fr-FR" dirty="0"/>
              <a:t>(String </a:t>
            </a:r>
            <a:r>
              <a:rPr lang="fr-FR" dirty="0" err="1"/>
              <a:t>username</a:t>
            </a:r>
            <a:r>
              <a:rPr lang="fr-FR" dirty="0"/>
              <a:t>, String </a:t>
            </a:r>
            <a:r>
              <a:rPr lang="fr-FR" dirty="0" err="1"/>
              <a:t>newPassword</a:t>
            </a:r>
            <a:r>
              <a:rPr lang="fr-FR" dirty="0"/>
              <a:t>) {}</a:t>
            </a:r>
          </a:p>
          <a:p>
            <a:endParaRPr lang="fr-FR" dirty="0"/>
          </a:p>
          <a:p>
            <a:r>
              <a:rPr lang="fr-FR" dirty="0"/>
              <a:t>   @PostMapping("/update-password")</a:t>
            </a:r>
          </a:p>
          <a:p>
            <a:r>
              <a:rPr lang="fr-FR" dirty="0"/>
              <a:t>    public </a:t>
            </a:r>
            <a:r>
              <a:rPr lang="fr-FR" dirty="0" err="1"/>
              <a:t>void</a:t>
            </a:r>
            <a:r>
              <a:rPr lang="fr-FR" dirty="0"/>
              <a:t> </a:t>
            </a:r>
            <a:r>
              <a:rPr lang="fr-FR" dirty="0" err="1"/>
              <a:t>updatePassword</a:t>
            </a:r>
            <a:r>
              <a:rPr lang="fr-FR" dirty="0"/>
              <a:t>(@RequestBody </a:t>
            </a:r>
            <a:r>
              <a:rPr lang="fr-FR" dirty="0" err="1"/>
              <a:t>UserPasswordRequestDTO</a:t>
            </a:r>
            <a:r>
              <a:rPr lang="fr-FR" dirty="0"/>
              <a:t> </a:t>
            </a:r>
            <a:r>
              <a:rPr lang="fr-FR" dirty="0" err="1"/>
              <a:t>req</a:t>
            </a:r>
            <a:r>
              <a:rPr lang="fr-FR" dirty="0"/>
              <a:t>) {</a:t>
            </a:r>
          </a:p>
          <a:p>
            <a:r>
              <a:rPr lang="fr-FR" dirty="0"/>
              <a:t>        </a:t>
            </a:r>
            <a:r>
              <a:rPr lang="fr-FR" dirty="0" err="1"/>
              <a:t>UserDetails</a:t>
            </a:r>
            <a:r>
              <a:rPr lang="fr-FR" dirty="0"/>
              <a:t> </a:t>
            </a:r>
            <a:r>
              <a:rPr lang="fr-FR" dirty="0" err="1"/>
              <a:t>userDetails</a:t>
            </a:r>
            <a:r>
              <a:rPr lang="fr-FR" dirty="0"/>
              <a:t> = </a:t>
            </a:r>
            <a:r>
              <a:rPr lang="fr-FR" dirty="0" err="1"/>
              <a:t>userDetailsManager.loadUserByUsername</a:t>
            </a:r>
            <a:r>
              <a:rPr lang="fr-FR" dirty="0"/>
              <a:t>(</a:t>
            </a:r>
            <a:r>
              <a:rPr lang="fr-FR" dirty="0" err="1"/>
              <a:t>req.username</a:t>
            </a:r>
            <a:r>
              <a:rPr lang="fr-FR" dirty="0"/>
              <a:t>);</a:t>
            </a:r>
          </a:p>
          <a:p>
            <a:r>
              <a:rPr lang="fr-FR" dirty="0"/>
              <a:t>        String </a:t>
            </a:r>
            <a:r>
              <a:rPr lang="fr-FR" dirty="0" err="1"/>
              <a:t>oldPassword</a:t>
            </a:r>
            <a:r>
              <a:rPr lang="fr-FR" dirty="0"/>
              <a:t> = </a:t>
            </a:r>
            <a:r>
              <a:rPr lang="fr-FR" dirty="0" err="1"/>
              <a:t>userDetails.getPassword</a:t>
            </a:r>
            <a:r>
              <a:rPr lang="fr-FR" dirty="0"/>
              <a:t>();</a:t>
            </a:r>
          </a:p>
          <a:p>
            <a:endParaRPr lang="fr-FR" dirty="0"/>
          </a:p>
          <a:p>
            <a:r>
              <a:rPr lang="fr-FR" dirty="0"/>
              <a:t>        String </a:t>
            </a:r>
            <a:r>
              <a:rPr lang="fr-FR" dirty="0" err="1"/>
              <a:t>hashedPassword</a:t>
            </a:r>
            <a:r>
              <a:rPr lang="fr-FR" dirty="0"/>
              <a:t> = ENCODE_PREFIX + </a:t>
            </a:r>
            <a:r>
              <a:rPr lang="fr-FR" dirty="0" err="1"/>
              <a:t>passwordEncoder.encode</a:t>
            </a:r>
            <a:r>
              <a:rPr lang="fr-FR" dirty="0"/>
              <a:t>(</a:t>
            </a:r>
            <a:r>
              <a:rPr lang="fr-FR" dirty="0" err="1"/>
              <a:t>req.newPassword</a:t>
            </a:r>
            <a:r>
              <a:rPr lang="fr-FR" dirty="0"/>
              <a:t>);</a:t>
            </a:r>
          </a:p>
          <a:p>
            <a:endParaRPr lang="fr-FR" dirty="0"/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</a:t>
            </a:r>
            <a:r>
              <a:rPr lang="fr-FR" dirty="0" err="1"/>
              <a:t>updating</a:t>
            </a:r>
            <a:r>
              <a:rPr lang="fr-FR" dirty="0"/>
              <a:t> user </a:t>
            </a:r>
            <a:r>
              <a:rPr lang="fr-FR" dirty="0" err="1"/>
              <a:t>password</a:t>
            </a:r>
            <a:r>
              <a:rPr lang="fr-FR" dirty="0"/>
              <a:t>: </a:t>
            </a:r>
            <a:r>
              <a:rPr lang="fr-FR" dirty="0" err="1"/>
              <a:t>old</a:t>
            </a:r>
            <a:r>
              <a:rPr lang="fr-FR" dirty="0"/>
              <a:t> </a:t>
            </a:r>
            <a:r>
              <a:rPr lang="fr-FR" dirty="0" err="1"/>
              <a:t>hashed</a:t>
            </a:r>
            <a:r>
              <a:rPr lang="fr-FR" dirty="0"/>
              <a:t> '" + </a:t>
            </a:r>
            <a:r>
              <a:rPr lang="fr-FR" dirty="0" err="1"/>
              <a:t>oldPassword</a:t>
            </a:r>
            <a:r>
              <a:rPr lang="fr-FR" dirty="0"/>
              <a:t> + "' =&gt; new '" + </a:t>
            </a:r>
            <a:r>
              <a:rPr lang="fr-FR" dirty="0" err="1"/>
              <a:t>hashedPassword</a:t>
            </a:r>
            <a:r>
              <a:rPr lang="fr-FR" dirty="0"/>
              <a:t> + "'");</a:t>
            </a:r>
          </a:p>
          <a:p>
            <a:r>
              <a:rPr lang="fr-FR" dirty="0"/>
              <a:t>        </a:t>
            </a:r>
            <a:r>
              <a:rPr lang="fr-FR" dirty="0" err="1"/>
              <a:t>UserDetails</a:t>
            </a:r>
            <a:r>
              <a:rPr lang="fr-FR" dirty="0"/>
              <a:t> </a:t>
            </a:r>
            <a:r>
              <a:rPr lang="fr-FR" dirty="0" err="1"/>
              <a:t>updatedUser</a:t>
            </a:r>
            <a:r>
              <a:rPr lang="fr-FR" dirty="0"/>
              <a:t> = </a:t>
            </a:r>
            <a:r>
              <a:rPr lang="fr-FR" dirty="0" err="1"/>
              <a:t>User.withUserDetails</a:t>
            </a:r>
            <a:r>
              <a:rPr lang="fr-FR" dirty="0"/>
              <a:t>(</a:t>
            </a:r>
            <a:r>
              <a:rPr lang="fr-FR" dirty="0" err="1"/>
              <a:t>userDetails</a:t>
            </a:r>
            <a:r>
              <a:rPr lang="fr-FR" dirty="0"/>
              <a:t>).</a:t>
            </a:r>
            <a:r>
              <a:rPr lang="fr-FR" dirty="0" err="1"/>
              <a:t>password</a:t>
            </a:r>
            <a:r>
              <a:rPr lang="fr-FR" dirty="0"/>
              <a:t>(</a:t>
            </a:r>
            <a:r>
              <a:rPr lang="fr-FR" dirty="0" err="1"/>
              <a:t>hashedPassword</a:t>
            </a:r>
            <a:r>
              <a:rPr lang="fr-FR" dirty="0"/>
              <a:t>).</a:t>
            </a:r>
            <a:r>
              <a:rPr lang="fr-FR" dirty="0" err="1"/>
              <a:t>build</a:t>
            </a:r>
            <a:r>
              <a:rPr lang="fr-FR" dirty="0"/>
              <a:t>();</a:t>
            </a:r>
          </a:p>
          <a:p>
            <a:r>
              <a:rPr lang="fr-FR" dirty="0"/>
              <a:t>        </a:t>
            </a:r>
            <a:r>
              <a:rPr lang="fr-FR" dirty="0" err="1"/>
              <a:t>userDetailsManager.updateUser</a:t>
            </a:r>
            <a:r>
              <a:rPr lang="fr-FR" dirty="0"/>
              <a:t>(</a:t>
            </a:r>
            <a:r>
              <a:rPr lang="fr-FR" dirty="0" err="1"/>
              <a:t>updatedUser</a:t>
            </a:r>
            <a:r>
              <a:rPr lang="fr-FR" dirty="0"/>
              <a:t>);</a:t>
            </a:r>
          </a:p>
          <a:p>
            <a:r>
              <a:rPr lang="fr-FR" dirty="0"/>
              <a:t>    }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083439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A160C47B-C9DB-AD03-204E-4575868E5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315" y="2876502"/>
            <a:ext cx="8371295" cy="110499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08635DB-6E7D-CD17-2D3E-656EFBDDA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87" y="1716334"/>
            <a:ext cx="6953853" cy="1150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58FBA7-A6AA-F615-DC13-54ADFA7B4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80533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update </a:t>
            </a:r>
            <a:r>
              <a:rPr lang="fr-FR" dirty="0" err="1"/>
              <a:t>password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790B3-A37E-E016-6A96-03CCF3CF320D}"/>
              </a:ext>
            </a:extLst>
          </p:cNvPr>
          <p:cNvSpPr txBox="1"/>
          <p:nvPr/>
        </p:nvSpPr>
        <p:spPr>
          <a:xfrm>
            <a:off x="411239" y="1170819"/>
            <a:ext cx="61889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Either</a:t>
            </a:r>
            <a:r>
              <a:rPr lang="fr-FR" sz="2000" dirty="0"/>
              <a:t> Launch ONCE in debugger </a:t>
            </a:r>
            <a:r>
              <a:rPr lang="fr-FR" sz="2000" dirty="0" err="1"/>
              <a:t>with</a:t>
            </a:r>
            <a:r>
              <a:rPr lang="fr-FR" sz="2000" dirty="0"/>
              <a:t> un-</a:t>
            </a:r>
            <a:r>
              <a:rPr lang="fr-FR" sz="2000" dirty="0" err="1"/>
              <a:t>commented</a:t>
            </a:r>
            <a:r>
              <a:rPr lang="fr-FR" sz="2000" dirty="0"/>
              <a:t> 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B9EA57-C58D-AF52-5295-059B9F39902B}"/>
              </a:ext>
            </a:extLst>
          </p:cNvPr>
          <p:cNvSpPr/>
          <p:nvPr/>
        </p:nvSpPr>
        <p:spPr>
          <a:xfrm flipH="1">
            <a:off x="2032567" y="2420419"/>
            <a:ext cx="309649" cy="2528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2D7CE3-4AC0-A011-E310-7CF32BADD6C7}"/>
              </a:ext>
            </a:extLst>
          </p:cNvPr>
          <p:cNvCxnSpPr>
            <a:cxnSpLocks/>
          </p:cNvCxnSpPr>
          <p:nvPr/>
        </p:nvCxnSpPr>
        <p:spPr>
          <a:xfrm>
            <a:off x="2392753" y="2546842"/>
            <a:ext cx="2629190" cy="1156013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F0B719-3B71-4B3A-5DC9-5B04D8007EA5}"/>
              </a:ext>
            </a:extLst>
          </p:cNvPr>
          <p:cNvSpPr txBox="1"/>
          <p:nvPr/>
        </p:nvSpPr>
        <p:spPr>
          <a:xfrm>
            <a:off x="411239" y="4211562"/>
            <a:ext cx="19325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Or </a:t>
            </a:r>
            <a:r>
              <a:rPr lang="fr-FR" sz="2000" dirty="0" err="1"/>
              <a:t>using</a:t>
            </a:r>
            <a:r>
              <a:rPr lang="fr-FR" sz="2000" dirty="0"/>
              <a:t> </a:t>
            </a:r>
            <a:r>
              <a:rPr lang="fr-FR" sz="2000" dirty="0" err="1"/>
              <a:t>Rest</a:t>
            </a:r>
            <a:r>
              <a:rPr lang="fr-FR" sz="2000" dirty="0"/>
              <a:t>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678402-AA2C-EA72-7B1C-245D9AC35221}"/>
              </a:ext>
            </a:extLst>
          </p:cNvPr>
          <p:cNvSpPr txBox="1"/>
          <p:nvPr/>
        </p:nvSpPr>
        <p:spPr>
          <a:xfrm>
            <a:off x="1156305" y="4754305"/>
            <a:ext cx="107986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/>
              <a:t>curl</a:t>
            </a:r>
            <a:r>
              <a:rPr lang="fr-FR" b="1" dirty="0"/>
              <a:t> -v -k -u "user1:password1" -H 'Content-Type: application/</a:t>
            </a:r>
            <a:r>
              <a:rPr lang="fr-FR" b="1" dirty="0" err="1"/>
              <a:t>json</a:t>
            </a:r>
            <a:r>
              <a:rPr lang="fr-FR" b="1" dirty="0"/>
              <a:t>' \</a:t>
            </a:r>
            <a:br>
              <a:rPr lang="fr-FR" b="1" dirty="0"/>
            </a:br>
            <a:r>
              <a:rPr lang="fr-FR" b="1" dirty="0"/>
              <a:t>       -X POST https://localhost:8443/api/v1/users/update-resalt-password \</a:t>
            </a:r>
          </a:p>
          <a:p>
            <a:r>
              <a:rPr lang="fr-FR" b="1" dirty="0"/>
              <a:t>      -d '{"</a:t>
            </a:r>
            <a:r>
              <a:rPr lang="fr-FR" b="1" dirty="0" err="1"/>
              <a:t>username</a:t>
            </a:r>
            <a:r>
              <a:rPr lang="fr-FR" b="1" dirty="0"/>
              <a:t>": "user1", "</a:t>
            </a:r>
            <a:r>
              <a:rPr lang="fr-FR" b="1" dirty="0" err="1"/>
              <a:t>newPassword</a:t>
            </a:r>
            <a:r>
              <a:rPr lang="fr-FR" b="1" dirty="0"/>
              <a:t>": "password1"}'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E0C476-C116-EF2E-E8F6-F97FD58664B7}"/>
              </a:ext>
            </a:extLst>
          </p:cNvPr>
          <p:cNvSpPr txBox="1"/>
          <p:nvPr/>
        </p:nvSpPr>
        <p:spPr>
          <a:xfrm>
            <a:off x="411239" y="6057059"/>
            <a:ext cx="4435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check HTTP 200  + Check in </a:t>
            </a:r>
            <a:r>
              <a:rPr lang="fr-FR" dirty="0" err="1"/>
              <a:t>Debug</a:t>
            </a:r>
            <a:r>
              <a:rPr lang="fr-FR" dirty="0"/>
              <a:t> Console :</a:t>
            </a:r>
          </a:p>
        </p:txBody>
      </p:sp>
    </p:spTree>
    <p:extLst>
      <p:ext uri="{BB962C8B-B14F-4D97-AF65-F5344CB8AC3E}">
        <p14:creationId xmlns:p14="http://schemas.microsoft.com/office/powerpoint/2010/main" val="38570329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A343-0B3A-1AC8-5489-09E58203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4952D-EE92-B46A-DC81-61ECB93F1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 err="1"/>
              <a:t>Showing</a:t>
            </a:r>
            <a:r>
              <a:rPr lang="fr-FR" dirty="0"/>
              <a:t> </a:t>
            </a:r>
            <a:r>
              <a:rPr lang="fr-FR" dirty="0" err="1"/>
              <a:t>encoded</a:t>
            </a:r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C7577-70D0-EDA6-FA45-57B5277A5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308" y="1628619"/>
            <a:ext cx="7887383" cy="360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8897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CB2AD-B215-2CA6-7B10-6641BD753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317C6-D990-7CEA-B6A6-B2F774F5C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ANNEXE... Screenshot </a:t>
            </a:r>
            <a:r>
              <a:rPr lang="fr-FR" dirty="0" err="1"/>
              <a:t>Debugging</a:t>
            </a:r>
            <a:r>
              <a:rPr lang="fr-FR" dirty="0"/>
              <a:t> "</a:t>
            </a:r>
            <a:r>
              <a:rPr lang="fr-FR" dirty="0" err="1"/>
              <a:t>encoders</a:t>
            </a:r>
            <a:r>
              <a:rPr lang="fr-FR" dirty="0"/>
              <a:t>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999320-6842-69E4-34C1-49CF10DC3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7" y="1327523"/>
            <a:ext cx="11117451" cy="504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1363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21C2-8B09-36C7-E593-A96B53DD8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1116159" cy="919566"/>
          </a:xfrm>
        </p:spPr>
        <p:txBody>
          <a:bodyPr/>
          <a:lstStyle/>
          <a:p>
            <a:r>
              <a:rPr lang="fr-FR" dirty="0"/>
              <a:t>ANNEXE Screenshot </a:t>
            </a:r>
            <a:r>
              <a:rPr lang="fr-FR" dirty="0" err="1"/>
              <a:t>Debugging</a:t>
            </a:r>
            <a:r>
              <a:rPr lang="fr-FR" dirty="0"/>
              <a:t> </a:t>
            </a:r>
            <a:r>
              <a:rPr lang="fr-FR" dirty="0" err="1"/>
              <a:t>authentication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CC6DFC-CE92-4FB8-C188-AC69AB912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40" y="919566"/>
            <a:ext cx="10637003" cy="563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09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F3783-3898-39AD-B61C-082A65B9F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05B92-192C-35E2-05EE-FCC29328D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66412A-5167-187C-1E81-0D351A8B46CD}"/>
              </a:ext>
            </a:extLst>
          </p:cNvPr>
          <p:cNvSpPr txBox="1"/>
          <p:nvPr/>
        </p:nvSpPr>
        <p:spPr>
          <a:xfrm>
            <a:off x="3926005" y="1442113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DA9C2BC7-33D1-718A-887F-3643FCDE65D3}"/>
              </a:ext>
            </a:extLst>
          </p:cNvPr>
          <p:cNvSpPr/>
          <p:nvPr/>
        </p:nvSpPr>
        <p:spPr>
          <a:xfrm>
            <a:off x="2470742" y="5230512"/>
            <a:ext cx="882555" cy="300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EB347B-D526-58B7-1490-8E917D53B0C4}"/>
              </a:ext>
            </a:extLst>
          </p:cNvPr>
          <p:cNvSpPr/>
          <p:nvPr/>
        </p:nvSpPr>
        <p:spPr>
          <a:xfrm>
            <a:off x="3663144" y="5815390"/>
            <a:ext cx="6587320" cy="57353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8BB2C8-C7BE-8E0D-4D69-7785603D5C22}"/>
              </a:ext>
            </a:extLst>
          </p:cNvPr>
          <p:cNvSpPr/>
          <p:nvPr/>
        </p:nvSpPr>
        <p:spPr>
          <a:xfrm>
            <a:off x="3758716" y="1118460"/>
            <a:ext cx="6587320" cy="385132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66994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CCD15-C9E4-5817-AD6C-19D00208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7C3AF-167F-C9D0-8DD8-7F32F8DC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3736"/>
          </a:xfrm>
        </p:spPr>
        <p:txBody>
          <a:bodyPr/>
          <a:lstStyle/>
          <a:p>
            <a:r>
              <a:rPr lang="fr-FR" dirty="0"/>
              <a:t>Download John The Ripper / </a:t>
            </a:r>
            <a:r>
              <a:rPr lang="fr-FR" dirty="0" err="1"/>
              <a:t>HashSuite</a:t>
            </a:r>
            <a:endParaRPr lang="fr-FR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40E497D-0CBC-011B-9A53-340A4A283F25}"/>
              </a:ext>
            </a:extLst>
          </p:cNvPr>
          <p:cNvSpPr txBox="1">
            <a:spLocks/>
          </p:cNvSpPr>
          <p:nvPr/>
        </p:nvSpPr>
        <p:spPr>
          <a:xfrm>
            <a:off x="2668512" y="967032"/>
            <a:ext cx="8782050" cy="8916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/>
              <a:t>https://hashsuite.openwall.net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2DB53-9A33-DC28-41A2-247E62B1D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15" y="1075646"/>
            <a:ext cx="2865368" cy="6744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0E5C52-26FC-9628-A85E-CD315C242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0725" y="1693333"/>
            <a:ext cx="7396599" cy="504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9803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EE936-0225-A8BA-147C-F1BABD6E6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8EBA4-4FC5-1867-FFAD-B99858B67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1198981" cy="1586895"/>
          </a:xfrm>
        </p:spPr>
        <p:txBody>
          <a:bodyPr/>
          <a:lstStyle/>
          <a:p>
            <a:r>
              <a:rPr lang="fr-FR" dirty="0" err="1"/>
              <a:t>Step</a:t>
            </a:r>
            <a:r>
              <a:rPr lang="fr-FR" dirty="0"/>
              <a:t> 1/ Import </a:t>
            </a:r>
            <a:r>
              <a:rPr lang="fr-FR" dirty="0" err="1"/>
              <a:t>Your</a:t>
            </a:r>
            <a:r>
              <a:rPr lang="fr-FR" dirty="0"/>
              <a:t> Windows </a:t>
            </a:r>
            <a:r>
              <a:rPr lang="fr-FR" dirty="0" err="1"/>
              <a:t>Hashed</a:t>
            </a:r>
            <a:r>
              <a:rPr lang="fr-FR" dirty="0"/>
              <a:t> </a:t>
            </a:r>
            <a:r>
              <a:rPr lang="fr-FR" dirty="0" err="1"/>
              <a:t>Password</a:t>
            </a:r>
            <a:br>
              <a:rPr lang="fr-FR" dirty="0"/>
            </a:br>
            <a:r>
              <a:rPr lang="fr-FR" dirty="0" err="1"/>
              <a:t>From</a:t>
            </a:r>
            <a:r>
              <a:rPr lang="fr-FR" dirty="0"/>
              <a:t> Memory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63A57C-48AA-E384-0D37-35E205821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494" y="1964184"/>
            <a:ext cx="6105936" cy="442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152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FCB31-B750-0680-7138-D8600BE66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3DEF1-BEF8-BF9E-9FB1-D4C1BAE66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99810"/>
          </a:xfrm>
        </p:spPr>
        <p:txBody>
          <a:bodyPr/>
          <a:lstStyle/>
          <a:p>
            <a:r>
              <a:rPr lang="fr-FR" dirty="0" err="1"/>
              <a:t>Step</a:t>
            </a:r>
            <a:r>
              <a:rPr lang="fr-FR" dirty="0"/>
              <a:t> 2/ Test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strength</a:t>
            </a:r>
            <a:br>
              <a:rPr lang="fr-FR" dirty="0"/>
            </a:br>
            <a:r>
              <a:rPr lang="fr-FR" dirty="0"/>
              <a:t>Run 5-10mn  (default settings)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88F524-953B-E135-58CA-1AFB7AF93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876" y="2281238"/>
            <a:ext cx="7468247" cy="149364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0A17A5B-5248-B8B8-2B4C-C2BA3F39E544}"/>
              </a:ext>
            </a:extLst>
          </p:cNvPr>
          <p:cNvCxnSpPr>
            <a:cxnSpLocks/>
          </p:cNvCxnSpPr>
          <p:nvPr/>
        </p:nvCxnSpPr>
        <p:spPr>
          <a:xfrm>
            <a:off x="1785964" y="2887147"/>
            <a:ext cx="504800" cy="281829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E138F9C-AA22-787C-5448-04488DF13CD6}"/>
              </a:ext>
            </a:extLst>
          </p:cNvPr>
          <p:cNvSpPr/>
          <p:nvPr/>
        </p:nvSpPr>
        <p:spPr>
          <a:xfrm flipH="1" flipV="1">
            <a:off x="2400301" y="2940905"/>
            <a:ext cx="361950" cy="5253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7203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BF7A1-C629-EFBB-61DD-6A44D02CF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C4DD9-89F0-18B4-6688-5356C0A4A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1242524" cy="1940150"/>
          </a:xfrm>
        </p:spPr>
        <p:txBody>
          <a:bodyPr/>
          <a:lstStyle/>
          <a:p>
            <a:r>
              <a:rPr lang="fr-FR" dirty="0" err="1"/>
              <a:t>Step</a:t>
            </a:r>
            <a:r>
              <a:rPr lang="fr-FR" dirty="0"/>
              <a:t> 3/ Edit "</a:t>
            </a:r>
            <a:r>
              <a:rPr lang="fr-FR" dirty="0" err="1"/>
              <a:t>word.lst</a:t>
            </a:r>
            <a:r>
              <a:rPr lang="fr-FR" dirty="0"/>
              <a:t>" </a:t>
            </a:r>
            <a:r>
              <a:rPr lang="fr-FR" dirty="0" err="1"/>
              <a:t>containing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words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maybe</a:t>
            </a:r>
            <a:r>
              <a:rPr lang="fr-FR" dirty="0"/>
              <a:t> </a:t>
            </a:r>
            <a:r>
              <a:rPr lang="fr-FR" dirty="0" err="1"/>
              <a:t>known</a:t>
            </a:r>
            <a:r>
              <a:rPr lang="fr-FR" dirty="0"/>
              <a:t> internet </a:t>
            </a:r>
            <a:r>
              <a:rPr lang="fr-FR" dirty="0" err="1"/>
              <a:t>password</a:t>
            </a:r>
            <a:r>
              <a:rPr lang="fr-FR" dirty="0"/>
              <a:t> </a:t>
            </a:r>
            <a:r>
              <a:rPr lang="fr-FR" dirty="0" err="1"/>
              <a:t>databases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RE-Run 5-10mn </a:t>
            </a:r>
            <a:r>
              <a:rPr lang="fr-FR" dirty="0" err="1"/>
              <a:t>with</a:t>
            </a:r>
            <a:r>
              <a:rPr lang="fr-FR" dirty="0"/>
              <a:t> custom </a:t>
            </a:r>
            <a:r>
              <a:rPr lang="fr-FR" dirty="0" err="1"/>
              <a:t>rules</a:t>
            </a:r>
            <a:r>
              <a:rPr lang="fr-FR" dirty="0"/>
              <a:t> + </a:t>
            </a:r>
            <a:r>
              <a:rPr lang="fr-FR" dirty="0" err="1"/>
              <a:t>wordlist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C16F68-47FD-2127-9C46-9FF8FA5C4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246" y="1781085"/>
            <a:ext cx="7129128" cy="426375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685CA-A192-8AA4-E424-75F97671215C}"/>
              </a:ext>
            </a:extLst>
          </p:cNvPr>
          <p:cNvSpPr/>
          <p:nvPr/>
        </p:nvSpPr>
        <p:spPr>
          <a:xfrm flipH="1" flipV="1">
            <a:off x="3639758" y="3912963"/>
            <a:ext cx="1385886" cy="1969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8EAD3-20D0-532D-CFF6-617FA8E59E15}"/>
              </a:ext>
            </a:extLst>
          </p:cNvPr>
          <p:cNvSpPr/>
          <p:nvPr/>
        </p:nvSpPr>
        <p:spPr>
          <a:xfrm flipH="1" flipV="1">
            <a:off x="3639756" y="4917850"/>
            <a:ext cx="1385885" cy="1969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EBD8DA-832A-72EA-7D8F-985D93185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208" y="4762318"/>
            <a:ext cx="3048264" cy="2095682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E37D39-DB63-1F39-9C72-598405BE9447}"/>
              </a:ext>
            </a:extLst>
          </p:cNvPr>
          <p:cNvCxnSpPr>
            <a:cxnSpLocks/>
          </p:cNvCxnSpPr>
          <p:nvPr/>
        </p:nvCxnSpPr>
        <p:spPr>
          <a:xfrm>
            <a:off x="5106610" y="5029110"/>
            <a:ext cx="1981200" cy="16192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5A4ABA5-43C0-DB1A-A513-99BE7BFA1E33}"/>
              </a:ext>
            </a:extLst>
          </p:cNvPr>
          <p:cNvSpPr txBox="1"/>
          <p:nvPr/>
        </p:nvSpPr>
        <p:spPr>
          <a:xfrm>
            <a:off x="1127447" y="3227874"/>
            <a:ext cx="18744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Restrict</a:t>
            </a:r>
            <a:r>
              <a:rPr lang="fr-FR" dirty="0"/>
              <a:t> </a:t>
            </a:r>
            <a:r>
              <a:rPr lang="fr-FR" dirty="0" err="1"/>
              <a:t>searches</a:t>
            </a:r>
            <a:r>
              <a:rPr lang="fr-FR" dirty="0"/>
              <a:t> 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hypothesis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known</a:t>
            </a:r>
            <a:r>
              <a:rPr lang="fr-FR" dirty="0"/>
              <a:t> </a:t>
            </a:r>
            <a:r>
              <a:rPr lang="fr-FR" dirty="0" err="1"/>
              <a:t>words</a:t>
            </a:r>
            <a:endParaRPr lang="fr-FR" dirty="0"/>
          </a:p>
          <a:p>
            <a:r>
              <a:rPr lang="fr-FR" dirty="0"/>
              <a:t>in </a:t>
            </a:r>
            <a:r>
              <a:rPr lang="fr-FR" dirty="0" err="1"/>
              <a:t>dictionary</a:t>
            </a:r>
            <a:endParaRPr lang="fr-FR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B89E1F9-0C76-4D79-2C25-825E8C63EEB6}"/>
              </a:ext>
            </a:extLst>
          </p:cNvPr>
          <p:cNvCxnSpPr>
            <a:cxnSpLocks/>
          </p:cNvCxnSpPr>
          <p:nvPr/>
        </p:nvCxnSpPr>
        <p:spPr>
          <a:xfrm>
            <a:off x="8216523" y="5310097"/>
            <a:ext cx="557212" cy="56197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6220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496F5-C20E-3C81-BA9B-98A6691C4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B2F8B-9D46-5395-3B14-9E3FAC520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379"/>
            <a:ext cx="10515600" cy="891655"/>
          </a:xfrm>
        </p:spPr>
        <p:txBody>
          <a:bodyPr/>
          <a:lstStyle/>
          <a:p>
            <a:pPr algn="ctr"/>
            <a:r>
              <a:rPr lang="fr-FR" dirty="0" err="1"/>
              <a:t>Summary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6C8560-A0D2-540F-D276-20921BD1C379}"/>
              </a:ext>
            </a:extLst>
          </p:cNvPr>
          <p:cNvSpPr txBox="1"/>
          <p:nvPr/>
        </p:nvSpPr>
        <p:spPr>
          <a:xfrm>
            <a:off x="278081" y="1514684"/>
            <a:ext cx="56160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Authentication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Authorization</a:t>
            </a:r>
            <a:r>
              <a:rPr lang="fr-FR" sz="2400" dirty="0"/>
              <a:t> - Permission</a:t>
            </a:r>
          </a:p>
          <a:p>
            <a:endParaRPr lang="fr-FR" sz="2400" dirty="0"/>
          </a:p>
          <a:p>
            <a:r>
              <a:rPr lang="fr-FR" sz="2400" dirty="0" err="1"/>
              <a:t>Confidentiality</a:t>
            </a:r>
            <a:r>
              <a:rPr lang="fr-FR" sz="2400" dirty="0"/>
              <a:t>/</a:t>
            </a:r>
            <a:r>
              <a:rPr lang="fr-FR" sz="2400" dirty="0" err="1"/>
              <a:t>Encryption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Backend-end: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in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Cryptographic</a:t>
            </a:r>
            <a:r>
              <a:rPr lang="fr-FR" sz="2400" dirty="0"/>
              <a:t> "Hash" </a:t>
            </a:r>
            <a:r>
              <a:rPr lang="fr-FR" sz="2400" dirty="0" err="1"/>
              <a:t>function</a:t>
            </a:r>
            <a:r>
              <a:rPr lang="fr-FR" sz="2400" dirty="0"/>
              <a:t>, Salt</a:t>
            </a:r>
          </a:p>
          <a:p>
            <a:endParaRPr lang="fr-FR" sz="2400" dirty="0"/>
          </a:p>
          <a:p>
            <a:r>
              <a:rPr lang="fr-FR" sz="2400" dirty="0" err="1"/>
              <a:t>Who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"John The Ripper" ?</a:t>
            </a:r>
          </a:p>
          <a:p>
            <a:endParaRPr lang="fr-FR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3C4215-E938-06B1-A699-A18362498F55}"/>
              </a:ext>
            </a:extLst>
          </p:cNvPr>
          <p:cNvSpPr txBox="1"/>
          <p:nvPr/>
        </p:nvSpPr>
        <p:spPr>
          <a:xfrm>
            <a:off x="6357147" y="1577580"/>
            <a:ext cx="4629024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Transmit </a:t>
            </a:r>
            <a:r>
              <a:rPr lang="fr-FR" sz="2400" dirty="0" err="1"/>
              <a:t>Password</a:t>
            </a:r>
            <a:r>
              <a:rPr lang="fr-FR" sz="2400" dirty="0"/>
              <a:t> to Http</a:t>
            </a:r>
          </a:p>
          <a:p>
            <a:endParaRPr lang="fr-FR" sz="2400" dirty="0"/>
          </a:p>
          <a:p>
            <a:r>
              <a:rPr lang="en-US" sz="2400" dirty="0"/>
              <a:t>password=&gt;authentication=&gt;role</a:t>
            </a:r>
          </a:p>
          <a:p>
            <a:endParaRPr lang="fr-FR" sz="2400" dirty="0"/>
          </a:p>
          <a:p>
            <a:r>
              <a:rPr lang="fr-FR" sz="2400" dirty="0" err="1"/>
              <a:t>password</a:t>
            </a:r>
            <a:r>
              <a:rPr lang="fr-FR" sz="2400" dirty="0"/>
              <a:t> not in </a:t>
            </a:r>
            <a:r>
              <a:rPr lang="fr-FR" sz="2400" dirty="0" err="1"/>
              <a:t>clear</a:t>
            </a:r>
            <a:r>
              <a:rPr lang="fr-FR" sz="2400" dirty="0"/>
              <a:t> over internet</a:t>
            </a:r>
          </a:p>
          <a:p>
            <a:endParaRPr lang="fr-FR" sz="2400" dirty="0"/>
          </a:p>
          <a:p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...</a:t>
            </a:r>
          </a:p>
          <a:p>
            <a:endParaRPr lang="fr-FR" sz="2400" dirty="0"/>
          </a:p>
          <a:p>
            <a:r>
              <a:rPr lang="fr-FR" sz="2400" dirty="0"/>
              <a:t>  ... </a:t>
            </a:r>
            <a:r>
              <a:rPr lang="fr-FR" sz="2400" dirty="0" err="1"/>
              <a:t>storing</a:t>
            </a:r>
            <a:r>
              <a:rPr lang="fr-FR" sz="2400" dirty="0"/>
              <a:t> </a:t>
            </a:r>
            <a:r>
              <a:rPr lang="fr-FR" sz="2400" dirty="0" err="1"/>
              <a:t>hashed+salted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finding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hashed</a:t>
            </a:r>
            <a:endParaRPr lang="fr-FR" sz="2400" dirty="0"/>
          </a:p>
        </p:txBody>
      </p:sp>
      <p:sp>
        <p:nvSpPr>
          <p:cNvPr id="8" name="Equals 7">
            <a:extLst>
              <a:ext uri="{FF2B5EF4-FFF2-40B4-BE49-F238E27FC236}">
                <a16:creationId xmlns:a16="http://schemas.microsoft.com/office/drawing/2014/main" id="{C6F90040-05D8-4C5C-56A2-69D6AB280FCE}"/>
              </a:ext>
            </a:extLst>
          </p:cNvPr>
          <p:cNvSpPr/>
          <p:nvPr/>
        </p:nvSpPr>
        <p:spPr>
          <a:xfrm>
            <a:off x="5557858" y="1577580"/>
            <a:ext cx="672495" cy="488648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56966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B4B1-E342-F10D-7F0F-56B0BC07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8EB4E-781C-240A-5623-4F2B36F07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0934"/>
            <a:ext cx="10515600" cy="893736"/>
          </a:xfrm>
        </p:spPr>
        <p:txBody>
          <a:bodyPr/>
          <a:lstStyle/>
          <a:p>
            <a:pPr algn="ctr"/>
            <a:r>
              <a:rPr lang="fr-FR" dirty="0"/>
              <a:t>Questions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F7323-BB7B-61B3-71D3-A871A47F8D0D}"/>
              </a:ext>
            </a:extLst>
          </p:cNvPr>
          <p:cNvSpPr txBox="1"/>
          <p:nvPr/>
        </p:nvSpPr>
        <p:spPr>
          <a:xfrm>
            <a:off x="4578885" y="4363962"/>
            <a:ext cx="3034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arnaud.nauwynck@gmail.com</a:t>
            </a:r>
          </a:p>
        </p:txBody>
      </p:sp>
    </p:spTree>
    <p:extLst>
      <p:ext uri="{BB962C8B-B14F-4D97-AF65-F5344CB8AC3E}">
        <p14:creationId xmlns:p14="http://schemas.microsoft.com/office/powerpoint/2010/main" val="4048441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7355</TotalTime>
  <Words>3254</Words>
  <Application>Microsoft Office PowerPoint</Application>
  <PresentationFormat>Grand écran</PresentationFormat>
  <Paragraphs>493</Paragraphs>
  <Slides>69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69</vt:i4>
      </vt:variant>
    </vt:vector>
  </HeadingPairs>
  <TitlesOfParts>
    <vt:vector size="73" baseType="lpstr">
      <vt:lpstr>Arial</vt:lpstr>
      <vt:lpstr>Calibri</vt:lpstr>
      <vt:lpstr>Calibri Light</vt:lpstr>
      <vt:lpstr>Office Theme</vt:lpstr>
      <vt:lpstr>TD2 (Password Management)</vt:lpstr>
      <vt:lpstr>Outline  ( = Same as Course)</vt:lpstr>
      <vt:lpstr>Summary</vt:lpstr>
      <vt:lpstr>Outline</vt:lpstr>
      <vt:lpstr>Pre-Requisite Step1: relaunch your IntelliJ IDE reopen project c:\security-course\demo</vt:lpstr>
      <vt:lpstr>Pre-Requisite Step 2: check file src/main/resources/application.properties for "user" / "password123"         roles: ROLE_ADMIN</vt:lpstr>
      <vt:lpstr>Pre-Requisite Step 3: relaunch webapp server</vt:lpstr>
      <vt:lpstr>Pre-Requisite : Install (unix) shell tools "curl" and "base64"</vt:lpstr>
      <vt:lpstr>Launch cmder console, test "curl --help"</vt:lpstr>
      <vt:lpstr>curl  main arguments</vt:lpstr>
      <vt:lpstr>Test different curl requests..  http://localhost:8080/index.html</vt:lpstr>
      <vt:lpstr>Explain different Http response status 200, 301, 400, 403, 404, ...</vt:lpstr>
      <vt:lpstr>curl -v -u "user:password123" =&gt; see Http Header "Authorization: Basic ..."</vt:lpstr>
      <vt:lpstr>Encode / Decode base64 password,  using "base64 -d"</vt:lpstr>
      <vt:lpstr>Test curl Basic Authorization Header  (base64)</vt:lpstr>
      <vt:lpstr>Outline</vt:lpstr>
      <vt:lpstr>Target: pages*.html with different Roles</vt:lpstr>
      <vt:lpstr>"/index.html"   menu with anonymous access </vt:lpstr>
      <vt:lpstr>Page-XYZ ... accessible only if user has role XYZ</vt:lpstr>
      <vt:lpstr>class SecurityConf  [1/3] to configure ... (and disable cors &amp; csrf)</vt:lpstr>
      <vt:lpstr>class SecurityConf [2/3]</vt:lpstr>
      <vt:lpstr>class SecurityConf [3/3]</vt:lpstr>
      <vt:lpstr>Relaunch &amp; Test navigation</vt:lpstr>
      <vt:lpstr>Reminder..</vt:lpstr>
      <vt:lpstr>Outline</vt:lpstr>
      <vt:lpstr>Generate your Https self-signed certificate</vt:lpstr>
      <vt:lpstr>interactive answer to prompt (any is ok) lastly "Is it CN=.... ? " [no]:   type yes !!</vt:lpstr>
      <vt:lpstr>Check created file "mycert.p12" in project (or move it in your project)</vt:lpstr>
      <vt:lpstr>Edit src/main/resources/application.properties to configure SSL</vt:lpstr>
      <vt:lpstr>Relaunch server, check new console log</vt:lpstr>
      <vt:lpstr>port changed 8080 (default for http)  -&gt; 8443 (default for https)</vt:lpstr>
      <vt:lpstr>https://localhost:8443   (self-signed certificate) CERT_AUTHORITY_INVALID   ... OK</vt:lpstr>
      <vt:lpstr>Why ? ... because of self-signed certificate NOT built-in recognized in your Chrome</vt:lpstr>
      <vt:lpstr>Advanced &gt; Proceed to (unsafe)</vt:lpstr>
      <vt:lpstr>Chrome DevTools Network requests  ... same on "https://"</vt:lpstr>
      <vt:lpstr>Chrome DevTools "Security" tab</vt:lpstr>
      <vt:lpstr>See Also Chrome -&gt; Certificate Details</vt:lpstr>
      <vt:lpstr>Outline</vt:lpstr>
      <vt:lpstr>Edit pom.xml Add maven dependency for Database inside &lt;dependencies&gt; ..</vt:lpstr>
      <vt:lpstr>Edit application.properties add H2 config</vt:lpstr>
      <vt:lpstr>Create java class SecurityDbConfiguration</vt:lpstr>
      <vt:lpstr>Relaunch,  Open http://localhost:8443/h2-console</vt:lpstr>
      <vt:lpstr>Click "Connect"</vt:lpstr>
      <vt:lpstr>Copy&amp;Paste  Create Tables DDL</vt:lpstr>
      <vt:lpstr>cf doc https://docs.spring.io/spring-security/reference/servlet/authentication/passwords/jdbc.html </vt:lpstr>
      <vt:lpstr>Execute Create Table DDL</vt:lpstr>
      <vt:lpstr>(Optionnal) DDL for Groups &amp; Members</vt:lpstr>
      <vt:lpstr>Insert users in database Using H2  "New Row",  edit,  commit</vt:lpstr>
      <vt:lpstr>INSERT INTO users... using SQL</vt:lpstr>
      <vt:lpstr>Also add users a "role" (= AUTHORITY)</vt:lpstr>
      <vt:lpstr>If NO role =&gt; user treated as 'Not Found' ! cf source code</vt:lpstr>
      <vt:lpstr>Springboot refuse password without "Encoder" ... or use explicitly "{noop}"</vt:lpstr>
      <vt:lpstr>Check (update) password to be "{noop}password"</vt:lpstr>
      <vt:lpstr>Relaunch &amp; Test ..</vt:lpstr>
      <vt:lpstr>Outline</vt:lpstr>
      <vt:lpstr>Re-Salting an already saved {noop}password</vt:lpstr>
      <vt:lpstr>Adding java class for Updating Password [1/2]</vt:lpstr>
      <vt:lpstr>(...next)</vt:lpstr>
      <vt:lpstr>Execute update password</vt:lpstr>
      <vt:lpstr>Showing encoded password</vt:lpstr>
      <vt:lpstr>ANNEXE... Screenshot Debugging "encoders"</vt:lpstr>
      <vt:lpstr>ANNEXE Screenshot Debugging authentication</vt:lpstr>
      <vt:lpstr>Outline</vt:lpstr>
      <vt:lpstr>Download John The Ripper / HashSuite</vt:lpstr>
      <vt:lpstr>Step 1/ Import Your Windows Hashed Password From Memory</vt:lpstr>
      <vt:lpstr>Step 2/ Test your password strength Run 5-10mn  (default settings)</vt:lpstr>
      <vt:lpstr>Step 3/ Edit "word.lst" containing some words (maybe known internet password databases) RE-Run 5-10mn with custom rules + wordlist</vt:lpstr>
      <vt:lpstr>Summary</vt:lpstr>
      <vt:lpstr>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TD2 (Password Management)</dc:title>
  <dc:creator>NAUWYNCK Arnaud</dc:creator>
  <cp:lastModifiedBy>arnaud</cp:lastModifiedBy>
  <cp:revision>22</cp:revision>
  <dcterms:created xsi:type="dcterms:W3CDTF">2025-01-30T08:52:48Z</dcterms:created>
  <dcterms:modified xsi:type="dcterms:W3CDTF">2026-03-31T18:00:29Z</dcterms:modified>
</cp:coreProperties>
</file>