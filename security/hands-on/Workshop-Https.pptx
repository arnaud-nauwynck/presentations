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69"/>
  </p:notesMasterIdLst>
  <p:sldIdLst>
    <p:sldId id="256" r:id="rId3"/>
    <p:sldId id="356" r:id="rId4"/>
    <p:sldId id="354" r:id="rId5"/>
    <p:sldId id="336" r:id="rId6"/>
    <p:sldId id="337" r:id="rId7"/>
    <p:sldId id="338" r:id="rId8"/>
    <p:sldId id="342" r:id="rId9"/>
    <p:sldId id="343" r:id="rId10"/>
    <p:sldId id="344" r:id="rId11"/>
    <p:sldId id="339" r:id="rId12"/>
    <p:sldId id="340" r:id="rId13"/>
    <p:sldId id="341" r:id="rId14"/>
    <p:sldId id="345" r:id="rId15"/>
    <p:sldId id="355" r:id="rId16"/>
    <p:sldId id="346" r:id="rId17"/>
    <p:sldId id="348" r:id="rId18"/>
    <p:sldId id="347" r:id="rId19"/>
    <p:sldId id="351" r:id="rId20"/>
    <p:sldId id="349" r:id="rId21"/>
    <p:sldId id="352" r:id="rId22"/>
    <p:sldId id="370" r:id="rId23"/>
    <p:sldId id="350" r:id="rId24"/>
    <p:sldId id="371" r:id="rId25"/>
    <p:sldId id="372" r:id="rId26"/>
    <p:sldId id="373" r:id="rId27"/>
    <p:sldId id="374" r:id="rId28"/>
    <p:sldId id="375" r:id="rId29"/>
    <p:sldId id="376" r:id="rId30"/>
    <p:sldId id="377" r:id="rId31"/>
    <p:sldId id="378" r:id="rId32"/>
    <p:sldId id="379" r:id="rId33"/>
    <p:sldId id="380" r:id="rId34"/>
    <p:sldId id="353" r:id="rId35"/>
    <p:sldId id="357" r:id="rId36"/>
    <p:sldId id="358" r:id="rId37"/>
    <p:sldId id="359" r:id="rId38"/>
    <p:sldId id="362" r:id="rId39"/>
    <p:sldId id="360" r:id="rId40"/>
    <p:sldId id="363" r:id="rId41"/>
    <p:sldId id="364" r:id="rId42"/>
    <p:sldId id="365" r:id="rId43"/>
    <p:sldId id="366" r:id="rId44"/>
    <p:sldId id="267" r:id="rId45"/>
    <p:sldId id="268" r:id="rId46"/>
    <p:sldId id="269" r:id="rId47"/>
    <p:sldId id="367" r:id="rId48"/>
    <p:sldId id="388" r:id="rId49"/>
    <p:sldId id="368" r:id="rId50"/>
    <p:sldId id="361" r:id="rId51"/>
    <p:sldId id="270" r:id="rId52"/>
    <p:sldId id="329" r:id="rId53"/>
    <p:sldId id="330" r:id="rId54"/>
    <p:sldId id="331" r:id="rId55"/>
    <p:sldId id="271" r:id="rId56"/>
    <p:sldId id="332" r:id="rId57"/>
    <p:sldId id="333" r:id="rId58"/>
    <p:sldId id="334" r:id="rId59"/>
    <p:sldId id="335" r:id="rId60"/>
    <p:sldId id="381" r:id="rId61"/>
    <p:sldId id="386" r:id="rId62"/>
    <p:sldId id="382" r:id="rId63"/>
    <p:sldId id="383" r:id="rId64"/>
    <p:sldId id="384" r:id="rId65"/>
    <p:sldId id="385" r:id="rId66"/>
    <p:sldId id="387" r:id="rId67"/>
    <p:sldId id="369" r:id="rId6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0" autoAdjust="0"/>
    <p:restoredTop sz="94660"/>
  </p:normalViewPr>
  <p:slideViewPr>
    <p:cSldViewPr snapToGrid="0">
      <p:cViewPr varScale="1">
        <p:scale>
          <a:sx n="85" d="100"/>
          <a:sy n="85" d="100"/>
        </p:scale>
        <p:origin x="45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7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C2E620-0BB9-474A-8DE6-D6530DEBB55F}" type="datetimeFigureOut">
              <a:rPr lang="fr-FR" smtClean="0"/>
              <a:t>07/03/2026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7C6FC0-7BC2-4F77-AB8A-190EC665DF6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22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3172B1-CC20-4749-99E7-D9F9BCE84EDE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69856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066761-B6CC-4E22-816E-868B627996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1D0DCD2-62C0-4FBD-82C2-FBB6BF31D5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67051E3-578F-439E-8ED8-1566A5CED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3BABD-D751-4903-AA59-1B10F31EAC97}" type="datetimeFigureOut">
              <a:rPr lang="fr-FR" smtClean="0"/>
              <a:t>07/03/2026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02F0DF8-C74C-4D19-B159-5DE91BC14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7BA5815-DF94-4DD8-8E91-52A2A2E9A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E6CAB-9F44-4318-9734-A6498A02A4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5751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3DA4B1-C71D-476A-8FDD-D5EA659BE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C01A06F-3BF6-435A-B397-A9BEA7E4CD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D3F4C10-77AD-437C-9BB7-6C80F5786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3BABD-D751-4903-AA59-1B10F31EAC97}" type="datetimeFigureOut">
              <a:rPr lang="fr-FR" smtClean="0"/>
              <a:t>07/03/2026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5EEA53E-3409-4418-9317-7C5DA625E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4951370-9431-4E60-9393-8FD028578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E6CAB-9F44-4318-9734-A6498A02A4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1153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CFA961E-53AD-416A-BEE8-D5ECEF8B8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404C013-7F14-4DA7-92C2-0B3460FCB6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3F42687-6293-4446-A882-0472DC3C4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3BABD-D751-4903-AA59-1B10F31EAC97}" type="datetimeFigureOut">
              <a:rPr lang="fr-FR" smtClean="0"/>
              <a:t>07/03/2026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1DAF6A2-2D7A-46B8-90E9-78BEB727B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D483AB9-15E5-4666-95EA-4A40663CF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E6CAB-9F44-4318-9734-A6498A02A4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6905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E00A38-7490-4EA4-B530-DB125E444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88325A1-86A2-41F2-9BC7-971BE7F127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EC79221-0EA9-4F04-9BB9-5D4F83BB84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25421FA-143A-4AB2-AA54-84C9914A0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3BABD-D751-4903-AA59-1B10F31EAC97}" type="datetimeFigureOut">
              <a:rPr lang="fr-FR" smtClean="0"/>
              <a:t>07/03/2026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4516B83-ABED-4C5E-A427-B54B713CA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749C5E5-C2F5-411F-AB9C-0D81C0454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E6CAB-9F44-4318-9734-A6498A02A4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9919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6F2554B-A979-4597-84A5-6DE8DDD0B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14715E3-30EE-4DD2-B81F-57EB04129D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C6F8D1E-749D-45A1-9417-0F5A2B5061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5078EA6-3BE5-4904-AD20-0930D330E8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81899D8-6EF8-4890-87CF-9747FF5D9D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C6B2754-5ABE-4CC4-B908-2F1EFE19A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3BABD-D751-4903-AA59-1B10F31EAC97}" type="datetimeFigureOut">
              <a:rPr lang="fr-FR" smtClean="0"/>
              <a:t>07/03/2026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0C42005-BC57-4F4C-89AD-3C64E0112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6FF9273-BEF0-4D33-80D4-1E1F77F03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E6CAB-9F44-4318-9734-A6498A02A4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0453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ADFED5-B5E6-47B0-AEF7-A2978F780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3618C2C-6B2C-404B-90CA-91ACF209F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3BABD-D751-4903-AA59-1B10F31EAC97}" type="datetimeFigureOut">
              <a:rPr lang="fr-FR" smtClean="0"/>
              <a:t>07/03/2026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E8DC4DA-878B-40B0-A2AD-2BEB17574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3F3F9A2-247F-4C33-8F9E-8265952F5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E6CAB-9F44-4318-9734-A6498A02A4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1943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5958B5F-07B1-4409-B83B-5FE6CF46A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3BABD-D751-4903-AA59-1B10F31EAC97}" type="datetimeFigureOut">
              <a:rPr lang="fr-FR" smtClean="0"/>
              <a:t>07/03/2026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97A5482-0460-419D-9439-AEAC211EE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FEE7D4D-DAE2-4585-9EA4-8635DE716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E6CAB-9F44-4318-9734-A6498A02A4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6156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337D7D-5F58-4C13-9297-7BB236DC0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8937EAE-0336-409A-8863-6BB6E6282A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6DA4FA3-4F46-47BF-B12C-EE29474EDD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7A447EF-0489-476F-B8AF-4BBB0A33A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3BABD-D751-4903-AA59-1B10F31EAC97}" type="datetimeFigureOut">
              <a:rPr lang="fr-FR" smtClean="0"/>
              <a:t>07/03/2026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98BBDD1-C690-40EC-8822-BA03288F7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32C0025-5C04-491D-A53E-C4234D869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E6CAB-9F44-4318-9734-A6498A02A4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5781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F0242C-B979-4DCB-9DB3-A77AACADF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D61191AC-76F8-49CE-9F34-AD533622E3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2BE387D-A6AB-41E8-8E65-ABCBF42E2B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027D5FD-AEBF-47E4-A6B8-6313FDA85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3BABD-D751-4903-AA59-1B10F31EAC97}" type="datetimeFigureOut">
              <a:rPr lang="fr-FR" smtClean="0"/>
              <a:t>07/03/2026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71C9486-1656-4820-998D-59BD2B574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09AA862-92AC-479D-ABCE-81C541FB6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E6CAB-9F44-4318-9734-A6498A02A4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8735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532944-C3E1-4F71-88FE-34A0F3D14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C29E6A9-F44F-4EC0-9396-732202640A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4899830-7A48-4B49-92AD-BC0904436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3BABD-D751-4903-AA59-1B10F31EAC97}" type="datetimeFigureOut">
              <a:rPr lang="fr-FR" smtClean="0"/>
              <a:t>07/03/2026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7AD0D8B-0BFE-4A4F-95FD-94132E035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B7343D9-F445-4207-8E0B-8272D34F6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E6CAB-9F44-4318-9734-A6498A02A4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0049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77ACAA1-29E4-45DE-81D7-B22F32513A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975A977-4A14-4604-A917-7B26C47FAA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62E3382-4487-468F-9570-04DB3494C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3BABD-D751-4903-AA59-1B10F31EAC97}" type="datetimeFigureOut">
              <a:rPr lang="fr-FR" smtClean="0"/>
              <a:t>07/03/2026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9C2DDA9-AE06-4D7D-9385-8B9900016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B4E6208-9FC7-4DC4-91C5-B06B6E489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E6CAB-9F44-4318-9734-A6498A02A4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11835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A7BDE-1714-AC62-3F3E-631C2FED9E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6B9DFF-259D-AF6F-77A0-CB6383B817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5844E2-C136-8B3B-D877-568559C6A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DC8E9-C304-4BB3-AFBF-C08C2C3BFF58}" type="datetimeFigureOut">
              <a:rPr lang="fr-FR" smtClean="0"/>
              <a:t>07/03/2026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A2794F-190B-3EA2-C99E-E598FBE3D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272540-1CA4-3108-F80A-E13021099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97A8E-8007-40B8-A109-3A3D5474E11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3160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FE966-7CA8-73CA-961F-40CB0F260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96CD58-C469-A0A1-A200-5C0C1C613E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A7B4DC-08C6-1FC7-0E25-23C15C1D0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DC8E9-C304-4BB3-AFBF-C08C2C3BFF58}" type="datetimeFigureOut">
              <a:rPr lang="fr-FR" smtClean="0"/>
              <a:t>07/03/2026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C14C33-3D30-733D-3554-748A75638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F5D917-AAF6-8B45-F32E-CAF919390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97A8E-8007-40B8-A109-3A3D5474E11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69876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3F4DC-6A0A-FA46-A415-3CD0F0F47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45C2CC-4572-F053-1895-020F55EFE8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1BA05-E359-0CA2-4102-BA7028B36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DC8E9-C304-4BB3-AFBF-C08C2C3BFF58}" type="datetimeFigureOut">
              <a:rPr lang="fr-FR" smtClean="0"/>
              <a:t>07/03/2026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124861-1A36-8562-C88B-37A5C1CA3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9DCE66-74F3-B22E-BA37-384992160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97A8E-8007-40B8-A109-3A3D5474E11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51167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C504F-327C-A845-48D2-366592FC8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61487-A1EC-6F2A-CFB3-192A3DBA78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420019-C0FD-08F7-AED3-52C051F1B9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4813EE-5E70-436B-BA66-6ADDB7F4A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DC8E9-C304-4BB3-AFBF-C08C2C3BFF58}" type="datetimeFigureOut">
              <a:rPr lang="fr-FR" smtClean="0"/>
              <a:t>07/03/2026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39377C-0F19-5B6B-9B46-2E81FA4FE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CAC87D-E076-BA56-E4AC-D4193F7DE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97A8E-8007-40B8-A109-3A3D5474E11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33969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27BB0-E04D-F75C-1BE9-B00036290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B54D0B-AAAC-B7D7-94B5-4B6754208D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A10465-1D2D-6B01-D35E-6A82B5F727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028280-BFD4-942E-9020-F0388D8CBD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6C3A8B-5581-4227-B84D-8379327BE9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80C877-74F8-BF3B-5C6D-CB74F997A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DC8E9-C304-4BB3-AFBF-C08C2C3BFF58}" type="datetimeFigureOut">
              <a:rPr lang="fr-FR" smtClean="0"/>
              <a:t>07/03/2026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B7C04B-DD45-C738-795D-147E0BEB2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1D7D42-1EBB-49D8-1618-17B8D375C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97A8E-8007-40B8-A109-3A3D5474E11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37100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6007C-B06F-11BB-26A1-1B83EF786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55BD3E-051F-4496-192E-9B706A158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DC8E9-C304-4BB3-AFBF-C08C2C3BFF58}" type="datetimeFigureOut">
              <a:rPr lang="fr-FR" smtClean="0"/>
              <a:t>07/03/2026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8F2D04-DC5A-A7E2-3601-5DDAA3391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17621E-BF69-DCD3-2E16-045D2D1DA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97A8E-8007-40B8-A109-3A3D5474E11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32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129CC0-698E-B58D-0C9B-DD3B00F22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DC8E9-C304-4BB3-AFBF-C08C2C3BFF58}" type="datetimeFigureOut">
              <a:rPr lang="fr-FR" smtClean="0"/>
              <a:t>07/03/2026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E9AC28-CCD8-6B43-7362-DF2082136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F87218-F1F4-2C86-FD90-DAEE0038C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97A8E-8007-40B8-A109-3A3D5474E11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72181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EA3A6-0F6F-D277-6CA0-E5A14683C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A9085-8EEE-6928-5864-E23ECC7340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AA54F-A4EA-0B85-DE42-9FC272711C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C8ED38-A994-8D06-C1CA-E4F071196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DC8E9-C304-4BB3-AFBF-C08C2C3BFF58}" type="datetimeFigureOut">
              <a:rPr lang="fr-FR" smtClean="0"/>
              <a:t>07/03/2026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14F21E-564E-C275-2B34-ED9809B28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21E79E-A1FD-0C10-58CB-C7FA1FF3A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97A8E-8007-40B8-A109-3A3D5474E11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894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FFCC5-7B11-72A7-D199-2EEC1CD02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F15D93-1622-97F2-26EF-C72C99EF18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F9E819-A4F0-3D28-B3C6-DF0A300659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B65955-646A-90DE-98A6-F9A1733A8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DC8E9-C304-4BB3-AFBF-C08C2C3BFF58}" type="datetimeFigureOut">
              <a:rPr lang="fr-FR" smtClean="0"/>
              <a:t>07/03/2026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3E1AB5-306F-DDE2-83A3-3E1495C4E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2778A8-37EF-AA38-20E4-3B8B4BABE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97A8E-8007-40B8-A109-3A3D5474E11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017966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9B478-D2CE-575F-6C2A-9852CA9E5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77F175-E5D5-796F-5D06-B8EE63CFFD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EE3FE3-E44E-3A8F-5F29-EE9C320DD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DC8E9-C304-4BB3-AFBF-C08C2C3BFF58}" type="datetimeFigureOut">
              <a:rPr lang="fr-FR" smtClean="0"/>
              <a:t>07/03/2026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CEC2F1-0571-ED16-A516-EB73300F2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BB824-85EA-D6FD-702B-1A0786B8E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97A8E-8007-40B8-A109-3A3D5474E11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84398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3C1720-0492-55F2-D164-E31E36CB04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10194E-8A8F-5FD5-0230-3B9F466C66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95E88-5F58-E807-8D72-DF78ED082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DC8E9-C304-4BB3-AFBF-C08C2C3BFF58}" type="datetimeFigureOut">
              <a:rPr lang="fr-FR" smtClean="0"/>
              <a:t>07/03/2026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A792D5-8187-379A-56DA-A79ADEC48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E3C830-01B0-83C0-D032-8B6B0F00E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97A8E-8007-40B8-A109-3A3D5474E11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4619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990E76B-7B2C-43CD-9895-02B2F02B1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A3B3F72-B5E2-4947-8B0E-FD190F8EDA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FD828ED-190A-405D-B055-99EC4A382B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D3BABD-D751-4903-AA59-1B10F31EAC97}" type="datetimeFigureOut">
              <a:rPr lang="fr-FR" smtClean="0"/>
              <a:t>07/03/2026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5E40073-D3F8-482B-B0A8-786D1712F1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9D6FFC6-B67B-4668-A9F9-B5F365CB98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5E6CAB-9F44-4318-9734-A6498A02A4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5198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88FD4B-2D13-91F8-53AB-B1946FB10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4FF81F-97CC-24AB-FF61-74915BD3E5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4FCF4D-BC61-67B6-6F76-36F5E03A1E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9DC8E9-C304-4BB3-AFBF-C08C2C3BFF58}" type="datetimeFigureOut">
              <a:rPr lang="fr-FR" smtClean="0"/>
              <a:t>07/03/2026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832B90-0B33-D02D-C71F-13913409D3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CC605-9778-5E90-1585-E3BB5F0019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197A8E-8007-40B8-A109-3A3D5474E11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3406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y.devinci.fr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oogle.com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://chrome/settings/security" TargetMode="Externa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keystore-explorer.org/" TargetMode="Externa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letsencrypt.org/" TargetMode="External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3.xml"/><Relationship Id="rId5" Type="http://schemas.openxmlformats.org/officeDocument/2006/relationships/hyperlink" Target="https://www.godaddy.com/" TargetMode="External"/><Relationship Id="rId4" Type="http://schemas.openxmlformats.org/officeDocument/2006/relationships/image" Target="../media/image52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8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7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0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hyperlink" Target="https://localhost/" TargetMode="External"/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DFFE8E-80AE-4882-BF51-6870737D8F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Workshop Https </a:t>
            </a:r>
            <a:r>
              <a:rPr lang="fr-FR" dirty="0" err="1"/>
              <a:t>Certificate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FEE40AC-8BFD-4A1F-BC2F-E520A6B2E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85062"/>
            <a:ext cx="9144000" cy="672737"/>
          </a:xfrm>
        </p:spPr>
        <p:txBody>
          <a:bodyPr/>
          <a:lstStyle/>
          <a:p>
            <a:r>
              <a:rPr lang="fr-FR" dirty="0" err="1"/>
              <a:t>Esilv</a:t>
            </a:r>
            <a:r>
              <a:rPr lang="fr-FR" dirty="0"/>
              <a:t> 2026</a:t>
            </a:r>
          </a:p>
        </p:txBody>
      </p:sp>
    </p:spTree>
    <p:extLst>
      <p:ext uri="{BB962C8B-B14F-4D97-AF65-F5344CB8AC3E}">
        <p14:creationId xmlns:p14="http://schemas.microsoft.com/office/powerpoint/2010/main" val="38374351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55C023-555D-4667-8837-EC8142275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Outline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2753CBC-7DB2-4012-A350-7C460CA748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8740" y="2393576"/>
            <a:ext cx="8875059" cy="3263434"/>
          </a:xfrm>
        </p:spPr>
        <p:txBody>
          <a:bodyPr>
            <a:normAutofit fontScale="55000" lnSpcReduction="20000"/>
          </a:bodyPr>
          <a:lstStyle/>
          <a:p>
            <a:r>
              <a:rPr lang="fr-FR" sz="3200" dirty="0"/>
              <a:t>Part 1 : Https </a:t>
            </a:r>
            <a:r>
              <a:rPr lang="fr-FR" sz="3200" dirty="0" err="1"/>
              <a:t>Certificate</a:t>
            </a:r>
            <a:r>
              <a:rPr lang="fr-FR" sz="3200" dirty="0"/>
              <a:t> on Client-</a:t>
            </a:r>
            <a:r>
              <a:rPr lang="fr-FR" sz="3200" dirty="0" err="1"/>
              <a:t>Side</a:t>
            </a:r>
            <a:endParaRPr lang="fr-FR" sz="3200" dirty="0"/>
          </a:p>
          <a:p>
            <a:pPr lvl="1"/>
            <a:r>
              <a:rPr lang="fr-FR" sz="2800" dirty="0"/>
              <a:t>A/ </a:t>
            </a:r>
            <a:r>
              <a:rPr lang="fr-FR" sz="2800" dirty="0" err="1"/>
              <a:t>using</a:t>
            </a:r>
            <a:r>
              <a:rPr lang="fr-FR" sz="2800" dirty="0"/>
              <a:t> Web Browser</a:t>
            </a:r>
          </a:p>
          <a:p>
            <a:pPr lvl="1"/>
            <a:r>
              <a:rPr lang="fr-FR" sz="2800" dirty="0"/>
              <a:t>B/ </a:t>
            </a:r>
            <a:r>
              <a:rPr lang="fr-FR" sz="2800" dirty="0" err="1"/>
              <a:t>using</a:t>
            </a:r>
            <a:r>
              <a:rPr lang="fr-FR" sz="2800" dirty="0"/>
              <a:t> Command Line</a:t>
            </a:r>
          </a:p>
          <a:p>
            <a:pPr lvl="1"/>
            <a:endParaRPr lang="fr-FR" sz="2800" dirty="0"/>
          </a:p>
          <a:p>
            <a:r>
              <a:rPr lang="fr-FR" sz="3200" dirty="0"/>
              <a:t>Part 2 : </a:t>
            </a:r>
            <a:r>
              <a:rPr lang="fr-FR" sz="3200" dirty="0" err="1"/>
              <a:t>Trusted</a:t>
            </a:r>
            <a:r>
              <a:rPr lang="fr-FR" sz="3200" dirty="0"/>
              <a:t> Certificates</a:t>
            </a:r>
          </a:p>
          <a:p>
            <a:pPr lvl="1"/>
            <a:r>
              <a:rPr lang="fr-FR" sz="2800" dirty="0" err="1"/>
              <a:t>Trusted</a:t>
            </a:r>
            <a:r>
              <a:rPr lang="fr-FR" sz="2800" dirty="0"/>
              <a:t> on OS-system (Chrome -&gt; in Windows)</a:t>
            </a:r>
          </a:p>
          <a:p>
            <a:pPr lvl="1"/>
            <a:r>
              <a:rPr lang="fr-FR" sz="2800" dirty="0" err="1"/>
              <a:t>Trusted</a:t>
            </a:r>
            <a:r>
              <a:rPr lang="fr-FR" sz="2800" dirty="0"/>
              <a:t> by application,  ex: java</a:t>
            </a:r>
            <a:br>
              <a:rPr lang="fr-FR" sz="2800" dirty="0"/>
            </a:br>
            <a:endParaRPr lang="fr-FR" sz="2800" dirty="0"/>
          </a:p>
          <a:p>
            <a:r>
              <a:rPr lang="fr-FR" sz="3200" dirty="0"/>
              <a:t>Part 3 : Https </a:t>
            </a:r>
            <a:r>
              <a:rPr lang="fr-FR" sz="3200" dirty="0" err="1"/>
              <a:t>Certificate</a:t>
            </a:r>
            <a:r>
              <a:rPr lang="fr-FR" sz="3200" dirty="0"/>
              <a:t> on Server-</a:t>
            </a:r>
            <a:r>
              <a:rPr lang="fr-FR" sz="3200" dirty="0" err="1"/>
              <a:t>Side</a:t>
            </a:r>
            <a:endParaRPr lang="fr-FR" sz="3200" dirty="0"/>
          </a:p>
          <a:p>
            <a:pPr lvl="1"/>
            <a:r>
              <a:rPr lang="fr-FR" sz="2800" dirty="0" err="1"/>
              <a:t>Generating</a:t>
            </a:r>
            <a:r>
              <a:rPr lang="fr-FR" sz="2800" dirty="0"/>
              <a:t> a Self-</a:t>
            </a:r>
            <a:r>
              <a:rPr lang="fr-FR" sz="2800" dirty="0" err="1"/>
              <a:t>signed</a:t>
            </a:r>
            <a:r>
              <a:rPr lang="fr-FR" sz="2800" dirty="0"/>
              <a:t> </a:t>
            </a:r>
            <a:r>
              <a:rPr lang="fr-FR" sz="2800" dirty="0" err="1"/>
              <a:t>certificate</a:t>
            </a:r>
            <a:r>
              <a:rPr lang="fr-FR" sz="2800" dirty="0"/>
              <a:t>   (</a:t>
            </a:r>
            <a:r>
              <a:rPr lang="fr-FR" sz="2800" dirty="0" err="1"/>
              <a:t>KeyStore</a:t>
            </a:r>
            <a:r>
              <a:rPr lang="fr-FR" sz="2800" dirty="0"/>
              <a:t> Explorer UI)</a:t>
            </a:r>
          </a:p>
          <a:p>
            <a:pPr lvl="1"/>
            <a:r>
              <a:rPr lang="fr-FR" sz="2800" dirty="0" err="1"/>
              <a:t>Generating</a:t>
            </a:r>
            <a:r>
              <a:rPr lang="fr-FR" sz="2800" dirty="0"/>
              <a:t> a Self-</a:t>
            </a:r>
            <a:r>
              <a:rPr lang="fr-FR" sz="2800" dirty="0" err="1"/>
              <a:t>signed</a:t>
            </a:r>
            <a:r>
              <a:rPr lang="fr-FR" sz="2800" dirty="0"/>
              <a:t> </a:t>
            </a:r>
            <a:r>
              <a:rPr lang="fr-FR" sz="2800" dirty="0" err="1"/>
              <a:t>certificate</a:t>
            </a:r>
            <a:r>
              <a:rPr lang="fr-FR" sz="2800" dirty="0"/>
              <a:t>   (command line)</a:t>
            </a:r>
          </a:p>
          <a:p>
            <a:pPr lvl="1"/>
            <a:r>
              <a:rPr lang="fr-FR" sz="2800" dirty="0" err="1"/>
              <a:t>Certificate</a:t>
            </a:r>
            <a:r>
              <a:rPr lang="fr-FR" sz="2800" dirty="0"/>
              <a:t> Chain &amp; </a:t>
            </a:r>
            <a:r>
              <a:rPr lang="fr-FR" sz="2800" dirty="0" err="1"/>
              <a:t>Issuer</a:t>
            </a:r>
            <a:endParaRPr lang="fr-FR" sz="2800" dirty="0"/>
          </a:p>
          <a:p>
            <a:pPr lvl="1"/>
            <a:r>
              <a:rPr lang="fr-FR" sz="2800" dirty="0" err="1"/>
              <a:t>Exposing</a:t>
            </a:r>
            <a:r>
              <a:rPr lang="fr-FR" sz="2800" dirty="0"/>
              <a:t> https in </a:t>
            </a:r>
            <a:r>
              <a:rPr lang="fr-FR" sz="2800" dirty="0" err="1"/>
              <a:t>springboot</a:t>
            </a:r>
            <a:r>
              <a:rPr lang="fr-FR" sz="2800" dirty="0"/>
              <a:t> web server</a:t>
            </a:r>
          </a:p>
        </p:txBody>
      </p:sp>
    </p:spTree>
    <p:extLst>
      <p:ext uri="{BB962C8B-B14F-4D97-AF65-F5344CB8AC3E}">
        <p14:creationId xmlns:p14="http://schemas.microsoft.com/office/powerpoint/2010/main" val="1522459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B4B594-C322-4270-BC70-B85998053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78019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Part 1 … Https  </a:t>
            </a:r>
            <a:r>
              <a:rPr lang="fr-FR" dirty="0" err="1"/>
              <a:t>Certificate</a:t>
            </a:r>
            <a:r>
              <a:rPr lang="fr-FR" dirty="0"/>
              <a:t> on Client-</a:t>
            </a:r>
            <a:r>
              <a:rPr lang="fr-FR" dirty="0" err="1"/>
              <a:t>Side</a:t>
            </a:r>
            <a:br>
              <a:rPr lang="fr-FR" dirty="0"/>
            </a:br>
            <a:r>
              <a:rPr lang="fr-FR" dirty="0"/>
              <a:t>  (</a:t>
            </a:r>
            <a:r>
              <a:rPr lang="fr-FR" dirty="0" err="1"/>
              <a:t>using</a:t>
            </a:r>
            <a:r>
              <a:rPr lang="fr-FR" dirty="0"/>
              <a:t> Web Browser)</a:t>
            </a:r>
          </a:p>
        </p:txBody>
      </p:sp>
    </p:spTree>
    <p:extLst>
      <p:ext uri="{BB962C8B-B14F-4D97-AF65-F5344CB8AC3E}">
        <p14:creationId xmlns:p14="http://schemas.microsoft.com/office/powerpoint/2010/main" val="6924787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3F6024-71B5-45E5-B339-847475617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88894"/>
          </a:xfrm>
        </p:spPr>
        <p:txBody>
          <a:bodyPr>
            <a:normAutofit/>
          </a:bodyPr>
          <a:lstStyle/>
          <a:p>
            <a:pPr algn="ctr"/>
            <a:r>
              <a:rPr lang="fr-FR" dirty="0"/>
              <a:t>Open a Https://  web site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5EDD073-5632-4212-927C-819D4D4A46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0444" y="3672324"/>
            <a:ext cx="4610500" cy="1539373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E285EFB7-95BC-435C-A545-EFC72E27B340}"/>
              </a:ext>
            </a:extLst>
          </p:cNvPr>
          <p:cNvSpPr txBox="1"/>
          <p:nvPr/>
        </p:nvSpPr>
        <p:spPr>
          <a:xfrm>
            <a:off x="838200" y="1559858"/>
            <a:ext cx="473777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example</a:t>
            </a:r>
            <a:r>
              <a:rPr lang="fr-FR" dirty="0"/>
              <a:t>:  </a:t>
            </a:r>
            <a:r>
              <a:rPr lang="fr-FR" dirty="0">
                <a:hlinkClick r:id="rId3"/>
              </a:rPr>
              <a:t>https://www.google.com</a:t>
            </a:r>
            <a:r>
              <a:rPr lang="fr-FR" dirty="0"/>
              <a:t> </a:t>
            </a:r>
          </a:p>
          <a:p>
            <a:endParaRPr lang="fr-FR" dirty="0"/>
          </a:p>
          <a:p>
            <a:r>
              <a:rPr lang="fr-FR" dirty="0"/>
              <a:t>( </a:t>
            </a:r>
            <a:r>
              <a:rPr lang="fr-FR" dirty="0" err="1"/>
              <a:t>equivalent</a:t>
            </a:r>
            <a:r>
              <a:rPr lang="fr-FR" dirty="0"/>
              <a:t> to   </a:t>
            </a:r>
            <a:r>
              <a:rPr lang="fr-FR" dirty="0">
                <a:hlinkClick r:id="rId3"/>
              </a:rPr>
              <a:t>https://www.google.com:443/</a:t>
            </a:r>
            <a:r>
              <a:rPr lang="fr-FR" dirty="0"/>
              <a:t>  )</a:t>
            </a:r>
          </a:p>
          <a:p>
            <a:endParaRPr lang="fr-FR" dirty="0"/>
          </a:p>
          <a:p>
            <a:r>
              <a:rPr lang="fr-FR" dirty="0" err="1"/>
              <a:t>Other</a:t>
            </a:r>
            <a:r>
              <a:rPr lang="fr-FR" dirty="0"/>
              <a:t> </a:t>
            </a:r>
            <a:r>
              <a:rPr lang="fr-FR" dirty="0" err="1"/>
              <a:t>example</a:t>
            </a:r>
            <a:r>
              <a:rPr lang="fr-FR" dirty="0"/>
              <a:t>: </a:t>
            </a:r>
            <a:r>
              <a:rPr lang="fr-FR" dirty="0">
                <a:hlinkClick r:id="rId4"/>
              </a:rPr>
              <a:t>https://my.devinci.fr/</a:t>
            </a:r>
            <a:r>
              <a:rPr lang="fr-F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067815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9911EF5-8A6A-4D72-8DF2-27B6D7CCA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906" y="156917"/>
            <a:ext cx="11860306" cy="891953"/>
          </a:xfrm>
        </p:spPr>
        <p:txBody>
          <a:bodyPr>
            <a:normAutofit fontScale="90000"/>
          </a:bodyPr>
          <a:lstStyle/>
          <a:p>
            <a:r>
              <a:rPr lang="fr-FR" dirty="0" err="1"/>
              <a:t>Using</a:t>
            </a:r>
            <a:r>
              <a:rPr lang="fr-FR" dirty="0"/>
              <a:t> </a:t>
            </a:r>
            <a:r>
              <a:rPr lang="fr-FR" dirty="0" err="1"/>
              <a:t>ChromeDev</a:t>
            </a:r>
            <a:r>
              <a:rPr lang="fr-FR" dirty="0"/>
              <a:t> </a:t>
            </a:r>
            <a:r>
              <a:rPr lang="fr-FR" dirty="0" err="1"/>
              <a:t>tool</a:t>
            </a:r>
            <a:r>
              <a:rPr lang="fr-FR" dirty="0"/>
              <a:t>, check the TCP port </a:t>
            </a:r>
            <a:r>
              <a:rPr lang="fr-FR" dirty="0" err="1"/>
              <a:t>is</a:t>
            </a:r>
            <a:r>
              <a:rPr lang="fr-FR" dirty="0"/>
              <a:t> 443</a:t>
            </a:r>
            <a:br>
              <a:rPr lang="fr-FR" dirty="0"/>
            </a:br>
            <a:r>
              <a:rPr lang="fr-FR" dirty="0"/>
              <a:t>(http =&gt; 80, or 8080   /   https =&gt; 443)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6982E29-4885-4507-8219-87964929FF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592" y="1806426"/>
            <a:ext cx="9335309" cy="432091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9E64DEC-1BEC-4F91-8E8A-824CE3D44674}"/>
              </a:ext>
            </a:extLst>
          </p:cNvPr>
          <p:cNvSpPr/>
          <p:nvPr/>
        </p:nvSpPr>
        <p:spPr>
          <a:xfrm>
            <a:off x="8220635" y="4760259"/>
            <a:ext cx="367553" cy="21515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9352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9911EF5-8A6A-4D72-8DF2-27B6D7CCA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35105"/>
          </a:xfrm>
        </p:spPr>
        <p:txBody>
          <a:bodyPr>
            <a:normAutofit/>
          </a:bodyPr>
          <a:lstStyle/>
          <a:p>
            <a:pPr algn="ctr"/>
            <a:r>
              <a:rPr lang="fr-FR" dirty="0" err="1"/>
              <a:t>View</a:t>
            </a:r>
            <a:r>
              <a:rPr lang="fr-FR" dirty="0"/>
              <a:t> the </a:t>
            </a:r>
            <a:r>
              <a:rPr lang="fr-FR" dirty="0" err="1"/>
              <a:t>Certificate</a:t>
            </a:r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FD61050-99F8-472D-895F-584880AF52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5253" y="1829031"/>
            <a:ext cx="4656223" cy="46638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0E6D0D1-C3F0-4F78-BDEA-4231AD4E42FF}"/>
              </a:ext>
            </a:extLst>
          </p:cNvPr>
          <p:cNvSpPr/>
          <p:nvPr/>
        </p:nvSpPr>
        <p:spPr>
          <a:xfrm>
            <a:off x="3541059" y="2254014"/>
            <a:ext cx="313765" cy="3048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985A0A3-DA0D-4EB3-B47E-4FBBC70B7197}"/>
              </a:ext>
            </a:extLst>
          </p:cNvPr>
          <p:cNvSpPr/>
          <p:nvPr/>
        </p:nvSpPr>
        <p:spPr>
          <a:xfrm>
            <a:off x="3697941" y="3154594"/>
            <a:ext cx="2783541" cy="3048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907EA497-0AE3-4F1E-81D1-9B2EAAAD6C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2250" y="1829031"/>
            <a:ext cx="4305673" cy="310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860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95637D-5E95-4087-8445-973F15257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682"/>
            <a:ext cx="10515600" cy="60063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err="1"/>
              <a:t>Certificate</a:t>
            </a:r>
            <a:r>
              <a:rPr lang="fr-FR" dirty="0"/>
              <a:t> </a:t>
            </a:r>
            <a:r>
              <a:rPr lang="fr-FR" dirty="0" err="1"/>
              <a:t>View</a:t>
            </a:r>
            <a:r>
              <a:rPr lang="fr-FR" dirty="0"/>
              <a:t> (Tab: General)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420821D-A1B9-4C40-8713-B0165BE8D9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6987" y="767328"/>
            <a:ext cx="7549091" cy="609067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9FDFE0D-20E6-4482-9831-EE6501934248}"/>
              </a:ext>
            </a:extLst>
          </p:cNvPr>
          <p:cNvSpPr/>
          <p:nvPr/>
        </p:nvSpPr>
        <p:spPr>
          <a:xfrm>
            <a:off x="5638800" y="1836783"/>
            <a:ext cx="618564" cy="3048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09054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8A5603-3A68-4122-8F38-98041C8EC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33718"/>
          </a:xfrm>
        </p:spPr>
        <p:txBody>
          <a:bodyPr>
            <a:normAutofit/>
          </a:bodyPr>
          <a:lstStyle/>
          <a:p>
            <a:pPr algn="ctr"/>
            <a:r>
              <a:rPr lang="fr-FR" dirty="0" err="1"/>
              <a:t>Certificate</a:t>
            </a:r>
            <a:r>
              <a:rPr lang="fr-FR" dirty="0"/>
              <a:t> Details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6EC9161-4253-4D14-B731-16CBA145A8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511" y="833719"/>
            <a:ext cx="7069989" cy="586291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0A042C2-D8A2-43B0-B5AC-24E29C0FD43F}"/>
              </a:ext>
            </a:extLst>
          </p:cNvPr>
          <p:cNvSpPr/>
          <p:nvPr/>
        </p:nvSpPr>
        <p:spPr>
          <a:xfrm>
            <a:off x="5921189" y="1863677"/>
            <a:ext cx="560294" cy="3048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29024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A237C7-A682-4803-972F-1799D38D0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681"/>
            <a:ext cx="10515600" cy="600355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err="1"/>
              <a:t>Certificate</a:t>
            </a:r>
            <a:r>
              <a:rPr lang="fr-FR" dirty="0"/>
              <a:t> </a:t>
            </a:r>
            <a:r>
              <a:rPr lang="fr-FR" dirty="0" err="1"/>
              <a:t>Hierarchy</a:t>
            </a:r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89A6727-632F-49C5-8A43-35A877D1AB8B}"/>
              </a:ext>
            </a:extLst>
          </p:cNvPr>
          <p:cNvSpPr txBox="1"/>
          <p:nvPr/>
        </p:nvSpPr>
        <p:spPr>
          <a:xfrm>
            <a:off x="493058" y="1021977"/>
            <a:ext cx="82098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Look at </a:t>
            </a:r>
            <a:r>
              <a:rPr lang="fr-FR" dirty="0" err="1"/>
              <a:t>other</a:t>
            </a:r>
            <a:r>
              <a:rPr lang="fr-FR" dirty="0"/>
              <a:t> web sites…   </a:t>
            </a:r>
            <a:r>
              <a:rPr lang="fr-FR" dirty="0" err="1"/>
              <a:t>Hierarchy</a:t>
            </a:r>
            <a:r>
              <a:rPr lang="fr-FR" dirty="0"/>
              <a:t> of 1 / 2 / 3 </a:t>
            </a:r>
            <a:r>
              <a:rPr lang="fr-FR" dirty="0" err="1"/>
              <a:t>Issuers</a:t>
            </a:r>
            <a:endParaRPr lang="fr-FR" dirty="0"/>
          </a:p>
          <a:p>
            <a:r>
              <a:rPr lang="fr-FR" dirty="0"/>
              <a:t>Example of </a:t>
            </a:r>
            <a:r>
              <a:rPr lang="fr-FR" dirty="0" err="1"/>
              <a:t>Issuers</a:t>
            </a:r>
            <a:r>
              <a:rPr lang="fr-FR" dirty="0"/>
              <a:t>: « Google Trust Services »,  « </a:t>
            </a:r>
            <a:r>
              <a:rPr lang="fr-FR" dirty="0" err="1"/>
              <a:t>Let’s</a:t>
            </a:r>
            <a:r>
              <a:rPr lang="fr-FR" dirty="0"/>
              <a:t> </a:t>
            </a:r>
            <a:r>
              <a:rPr lang="fr-FR" dirty="0" err="1"/>
              <a:t>Encrypt</a:t>
            </a:r>
            <a:r>
              <a:rPr lang="fr-FR" dirty="0"/>
              <a:t> », « </a:t>
            </a:r>
            <a:r>
              <a:rPr lang="fr-FR" dirty="0" err="1"/>
              <a:t>GlobalSign</a:t>
            </a:r>
            <a:r>
              <a:rPr lang="fr-FR" dirty="0"/>
              <a:t> RSA », …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BE31BFF3-0B0D-4568-AF4A-4DF9CDC9C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8554" y="2009249"/>
            <a:ext cx="3790388" cy="4640724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ECE69C75-2CAF-4010-8821-3E75AA2064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5177" y="2009249"/>
            <a:ext cx="3770242" cy="4640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016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9911EF5-8A6A-4D72-8DF2-27B6D7CCA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err="1"/>
              <a:t>Remark</a:t>
            </a:r>
            <a:r>
              <a:rPr lang="fr-FR" dirty="0"/>
              <a:t>:  Can </a:t>
            </a:r>
            <a:r>
              <a:rPr lang="fr-FR" dirty="0" err="1"/>
              <a:t>also</a:t>
            </a:r>
            <a:r>
              <a:rPr lang="fr-FR" dirty="0"/>
              <a:t> </a:t>
            </a:r>
            <a:r>
              <a:rPr lang="fr-FR" dirty="0" err="1"/>
              <a:t>view</a:t>
            </a:r>
            <a:r>
              <a:rPr lang="fr-FR" dirty="0"/>
              <a:t> </a:t>
            </a:r>
            <a:r>
              <a:rPr lang="fr-FR" dirty="0" err="1"/>
              <a:t>certificate</a:t>
            </a:r>
            <a:r>
              <a:rPr lang="fr-FR" dirty="0"/>
              <a:t> </a:t>
            </a:r>
            <a:r>
              <a:rPr lang="fr-FR" dirty="0" err="1"/>
              <a:t>from</a:t>
            </a:r>
            <a:br>
              <a:rPr lang="fr-FR" dirty="0"/>
            </a:br>
            <a:r>
              <a:rPr lang="fr-FR" dirty="0" err="1"/>
              <a:t>DevTool</a:t>
            </a:r>
            <a:r>
              <a:rPr lang="fr-FR" dirty="0"/>
              <a:t> &gt; </a:t>
            </a:r>
            <a:r>
              <a:rPr lang="fr-FR" dirty="0" err="1"/>
              <a:t>Privacy</a:t>
            </a:r>
            <a:r>
              <a:rPr lang="fr-FR" dirty="0"/>
              <a:t> and </a:t>
            </a:r>
            <a:r>
              <a:rPr lang="fr-FR" dirty="0" err="1"/>
              <a:t>security</a:t>
            </a:r>
            <a:r>
              <a:rPr lang="fr-FR" dirty="0"/>
              <a:t> &gt; </a:t>
            </a:r>
            <a:r>
              <a:rPr lang="fr-FR" dirty="0" err="1"/>
              <a:t>View</a:t>
            </a:r>
            <a:r>
              <a:rPr lang="fr-FR" dirty="0"/>
              <a:t> </a:t>
            </a:r>
            <a:r>
              <a:rPr lang="fr-FR" dirty="0" err="1"/>
              <a:t>Certificate</a:t>
            </a:r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A0365A3-C512-4183-B244-CE82BBF319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1152" y="1723598"/>
            <a:ext cx="6894033" cy="476927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AB16FE3-08A2-417E-B926-7F72D4936182}"/>
              </a:ext>
            </a:extLst>
          </p:cNvPr>
          <p:cNvSpPr/>
          <p:nvPr/>
        </p:nvSpPr>
        <p:spPr>
          <a:xfrm>
            <a:off x="4231340" y="3621741"/>
            <a:ext cx="995084" cy="2958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93C70A-AE3C-48BF-9AC0-CBF05B3BC1E1}"/>
              </a:ext>
            </a:extLst>
          </p:cNvPr>
          <p:cNvSpPr/>
          <p:nvPr/>
        </p:nvSpPr>
        <p:spPr>
          <a:xfrm>
            <a:off x="6893857" y="1882589"/>
            <a:ext cx="1272989" cy="2958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048102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9911EF5-8A6A-4D72-8DF2-27B6D7CCA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118" y="80682"/>
            <a:ext cx="11815482" cy="645459"/>
          </a:xfrm>
        </p:spPr>
        <p:txBody>
          <a:bodyPr>
            <a:normAutofit fontScale="90000"/>
          </a:bodyPr>
          <a:lstStyle/>
          <a:p>
            <a:r>
              <a:rPr lang="fr-FR" dirty="0"/>
              <a:t>Export the </a:t>
            </a:r>
            <a:r>
              <a:rPr lang="fr-FR" dirty="0" err="1"/>
              <a:t>Certificate</a:t>
            </a:r>
            <a:r>
              <a:rPr lang="fr-FR" dirty="0"/>
              <a:t> as a single </a:t>
            </a:r>
            <a:r>
              <a:rPr lang="fr-FR" dirty="0" err="1"/>
              <a:t>certificate</a:t>
            </a:r>
            <a:r>
              <a:rPr lang="fr-FR" dirty="0"/>
              <a:t> *.</a:t>
            </a:r>
            <a:r>
              <a:rPr lang="fr-FR" dirty="0" err="1"/>
              <a:t>pem</a:t>
            </a:r>
            <a:r>
              <a:rPr lang="fr-FR" dirty="0"/>
              <a:t> file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E6ACD92-2264-44B8-A155-A83A02863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3482" y="851646"/>
            <a:ext cx="6381730" cy="5529028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0DE3C99E-BBA7-4109-B489-850A4E92D7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9769" y="4879404"/>
            <a:ext cx="2149026" cy="150127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7EC7F26-DA47-4FE3-9522-6CF156FAB6DB}"/>
              </a:ext>
            </a:extLst>
          </p:cNvPr>
          <p:cNvSpPr/>
          <p:nvPr/>
        </p:nvSpPr>
        <p:spPr>
          <a:xfrm>
            <a:off x="2411505" y="5898775"/>
            <a:ext cx="708213" cy="28687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393534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9911EF5-8A6A-4D72-8DF2-27B6D7CCA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17175"/>
          </a:xfrm>
        </p:spPr>
        <p:txBody>
          <a:bodyPr>
            <a:normAutofit/>
          </a:bodyPr>
          <a:lstStyle/>
          <a:p>
            <a:pPr algn="ctr"/>
            <a:r>
              <a:rPr lang="fr-FR" dirty="0" err="1"/>
              <a:t>View</a:t>
            </a:r>
            <a:r>
              <a:rPr lang="fr-FR" dirty="0"/>
              <a:t> (base64 = </a:t>
            </a:r>
            <a:r>
              <a:rPr lang="fr-FR" dirty="0" err="1"/>
              <a:t>text</a:t>
            </a:r>
            <a:r>
              <a:rPr lang="fr-FR" dirty="0"/>
              <a:t> file)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82733DB0-9F10-450F-9807-5770B6A61337}"/>
              </a:ext>
            </a:extLst>
          </p:cNvPr>
          <p:cNvSpPr txBox="1"/>
          <p:nvPr/>
        </p:nvSpPr>
        <p:spPr>
          <a:xfrm>
            <a:off x="304800" y="1221484"/>
            <a:ext cx="517712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Check 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a single section of </a:t>
            </a:r>
            <a:r>
              <a:rPr lang="fr-FR" dirty="0" err="1"/>
              <a:t>text</a:t>
            </a:r>
            <a:r>
              <a:rPr lang="fr-FR" dirty="0"/>
              <a:t>, </a:t>
            </a:r>
            <a:r>
              <a:rPr lang="fr-FR" dirty="0" err="1"/>
              <a:t>wrapped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</a:t>
            </a:r>
            <a:br>
              <a:rPr lang="fr-FR" dirty="0"/>
            </a:br>
            <a:br>
              <a:rPr lang="fr-FR" dirty="0"/>
            </a:br>
            <a:r>
              <a:rPr lang="fr-FR" dirty="0"/>
              <a:t>-----BEGIN CERTIFICATE-----</a:t>
            </a:r>
            <a:br>
              <a:rPr lang="fr-FR" dirty="0"/>
            </a:br>
            <a:r>
              <a:rPr lang="fr-FR" dirty="0"/>
              <a:t>&lt;&lt;base64&gt;&gt;</a:t>
            </a:r>
            <a:br>
              <a:rPr lang="fr-FR" dirty="0"/>
            </a:br>
            <a:r>
              <a:rPr lang="fr-FR" dirty="0"/>
              <a:t>-----END CERTIFICATE-----</a:t>
            </a:r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3DF1124-8DD9-4157-A7D4-E09E52BE25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4506" y="1317812"/>
            <a:ext cx="5437204" cy="4899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9421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4F0DAE-6F22-4E25-9C80-FFE9C9BC1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79928"/>
          </a:xfrm>
        </p:spPr>
        <p:txBody>
          <a:bodyPr>
            <a:normAutofit/>
          </a:bodyPr>
          <a:lstStyle/>
          <a:p>
            <a:r>
              <a:rPr lang="fr-FR" dirty="0"/>
              <a:t>Compare </a:t>
            </a:r>
            <a:r>
              <a:rPr lang="fr-FR" dirty="0" err="1"/>
              <a:t>with</a:t>
            </a:r>
            <a:r>
              <a:rPr lang="fr-FR" dirty="0"/>
              <a:t> full </a:t>
            </a:r>
            <a:r>
              <a:rPr lang="fr-FR" dirty="0" err="1"/>
              <a:t>certificate</a:t>
            </a:r>
            <a:r>
              <a:rPr lang="fr-FR" dirty="0"/>
              <a:t> Chain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F157E0F-29FC-4B9D-B61B-09DEC07766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9" y="872871"/>
            <a:ext cx="5880251" cy="1327589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0E6A3096-B0BC-4661-98F5-3EC40BA220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1245" y="704587"/>
            <a:ext cx="4740051" cy="6058425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BF6FBB80-AB43-4F80-AC68-18A0C37B1B8F}"/>
              </a:ext>
            </a:extLst>
          </p:cNvPr>
          <p:cNvSpPr txBox="1"/>
          <p:nvPr/>
        </p:nvSpPr>
        <p:spPr>
          <a:xfrm>
            <a:off x="448236" y="2967335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Check 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</a:p>
          <a:p>
            <a:r>
              <a:rPr lang="fr-FR" dirty="0"/>
              <a:t>(</a:t>
            </a:r>
            <a:r>
              <a:rPr lang="fr-FR" dirty="0" err="1"/>
              <a:t>written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reverse </a:t>
            </a:r>
            <a:r>
              <a:rPr lang="fr-FR" dirty="0" err="1"/>
              <a:t>order</a:t>
            </a:r>
            <a:r>
              <a:rPr lang="fr-FR" dirty="0"/>
              <a:t> </a:t>
            </a:r>
            <a:r>
              <a:rPr lang="fr-FR" dirty="0" err="1"/>
              <a:t>compared</a:t>
            </a:r>
            <a:r>
              <a:rPr lang="fr-FR" dirty="0"/>
              <a:t> to UI)</a:t>
            </a:r>
          </a:p>
          <a:p>
            <a:endParaRPr lang="fr-FR" dirty="0"/>
          </a:p>
          <a:p>
            <a:r>
              <a:rPr lang="fr-FR" dirty="0"/>
              <a:t>-----BEGIN CERTIFICATE-----</a:t>
            </a:r>
            <a:br>
              <a:rPr lang="fr-FR" dirty="0"/>
            </a:br>
            <a:r>
              <a:rPr lang="fr-FR" dirty="0"/>
              <a:t>&lt;&lt;base64&gt;&gt;</a:t>
            </a:r>
            <a:br>
              <a:rPr lang="fr-FR" dirty="0"/>
            </a:br>
            <a:r>
              <a:rPr lang="fr-FR" dirty="0"/>
              <a:t>-----END CERTIFICATE-----</a:t>
            </a:r>
          </a:p>
          <a:p>
            <a:r>
              <a:rPr lang="fr-FR" dirty="0"/>
              <a:t>-----BEGIN CERTIFICATE-----</a:t>
            </a:r>
            <a:br>
              <a:rPr lang="fr-FR" dirty="0"/>
            </a:br>
            <a:r>
              <a:rPr lang="fr-FR" dirty="0"/>
              <a:t>&lt;&lt;base64&gt;&gt;   (parent… root </a:t>
            </a:r>
            <a:r>
              <a:rPr lang="fr-FR" dirty="0" err="1"/>
              <a:t>certificate</a:t>
            </a:r>
            <a:r>
              <a:rPr lang="fr-FR" dirty="0"/>
              <a:t>)</a:t>
            </a:r>
            <a:br>
              <a:rPr lang="fr-FR" dirty="0"/>
            </a:br>
            <a:r>
              <a:rPr lang="fr-FR" dirty="0"/>
              <a:t>-----END CERTIFICATE-----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319892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B4B594-C322-4270-BC70-B85998053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78019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Part 1 b/ … Https  </a:t>
            </a:r>
            <a:r>
              <a:rPr lang="fr-FR" dirty="0" err="1"/>
              <a:t>Certificate</a:t>
            </a:r>
            <a:r>
              <a:rPr lang="fr-FR" dirty="0"/>
              <a:t> on Client-</a:t>
            </a:r>
            <a:r>
              <a:rPr lang="fr-FR" dirty="0" err="1"/>
              <a:t>Side</a:t>
            </a:r>
            <a:br>
              <a:rPr lang="fr-FR" dirty="0"/>
            </a:br>
            <a:r>
              <a:rPr lang="fr-FR" dirty="0"/>
              <a:t>  (</a:t>
            </a:r>
            <a:r>
              <a:rPr lang="fr-FR" dirty="0" err="1"/>
              <a:t>using</a:t>
            </a:r>
            <a:r>
              <a:rPr lang="fr-FR" dirty="0"/>
              <a:t> Shell </a:t>
            </a:r>
            <a:r>
              <a:rPr lang="fr-FR" dirty="0" err="1"/>
              <a:t>Commands</a:t>
            </a:r>
            <a:r>
              <a:rPr lang="fr-FR" dirty="0"/>
              <a:t> Line)</a:t>
            </a:r>
          </a:p>
        </p:txBody>
      </p:sp>
    </p:spTree>
    <p:extLst>
      <p:ext uri="{BB962C8B-B14F-4D97-AF65-F5344CB8AC3E}">
        <p14:creationId xmlns:p14="http://schemas.microsoft.com/office/powerpoint/2010/main" val="5472184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955E4D-A536-4C6B-9FDE-784AB8599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7576"/>
            <a:ext cx="10515600" cy="708212"/>
          </a:xfrm>
        </p:spPr>
        <p:txBody>
          <a:bodyPr>
            <a:normAutofit fontScale="90000"/>
          </a:bodyPr>
          <a:lstStyle/>
          <a:p>
            <a:r>
              <a:rPr lang="fr-FR" dirty="0"/>
              <a:t>Https  </a:t>
            </a:r>
            <a:r>
              <a:rPr lang="fr-FR" dirty="0" err="1"/>
              <a:t>connection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Shell Command Line(</a:t>
            </a:r>
            <a:r>
              <a:rPr lang="fr-FR" dirty="0" err="1"/>
              <a:t>curl</a:t>
            </a:r>
            <a:r>
              <a:rPr lang="fr-FR" dirty="0"/>
              <a:t>)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77C6274-910B-4E31-8B92-DAEF6B4B05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078"/>
            <a:ext cx="12192000" cy="5891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1233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5BF200-147C-4CA6-9703-A1E903155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44072"/>
          </a:xfrm>
        </p:spPr>
        <p:txBody>
          <a:bodyPr>
            <a:normAutofit/>
          </a:bodyPr>
          <a:lstStyle/>
          <a:p>
            <a:pPr algn="ctr"/>
            <a:r>
              <a:rPr lang="fr-FR" dirty="0"/>
              <a:t>Https </a:t>
            </a:r>
            <a:r>
              <a:rPr lang="fr-FR" dirty="0" err="1"/>
              <a:t>From</a:t>
            </a:r>
            <a:r>
              <a:rPr lang="fr-FR" dirty="0"/>
              <a:t> </a:t>
            </a:r>
            <a:r>
              <a:rPr lang="fr-FR" dirty="0" err="1"/>
              <a:t>Curl</a:t>
            </a:r>
            <a:r>
              <a:rPr lang="fr-FR" dirty="0"/>
              <a:t> -</a:t>
            </a:r>
            <a:r>
              <a:rPr lang="fr-FR" dirty="0" err="1"/>
              <a:t>vv</a:t>
            </a:r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E521D22-46A5-4FD1-AC67-B32C1D5434DF}"/>
              </a:ext>
            </a:extLst>
          </p:cNvPr>
          <p:cNvSpPr txBox="1"/>
          <p:nvPr/>
        </p:nvSpPr>
        <p:spPr>
          <a:xfrm>
            <a:off x="277906" y="74407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 err="1"/>
              <a:t>curl</a:t>
            </a:r>
            <a:r>
              <a:rPr lang="fr-FR" dirty="0"/>
              <a:t> –</a:t>
            </a:r>
            <a:r>
              <a:rPr lang="fr-FR" dirty="0" err="1"/>
              <a:t>vv</a:t>
            </a:r>
            <a:r>
              <a:rPr lang="fr-FR" dirty="0"/>
              <a:t> </a:t>
            </a:r>
            <a:r>
              <a:rPr lang="fr-FR" dirty="0">
                <a:hlinkClick r:id="rId2"/>
              </a:rPr>
              <a:t>https://www.google.com</a:t>
            </a:r>
            <a:endParaRPr lang="fr-FR" dirty="0"/>
          </a:p>
          <a:p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D75720C-2E0D-4315-BA5C-A703F793543C}"/>
              </a:ext>
            </a:extLst>
          </p:cNvPr>
          <p:cNvSpPr txBox="1"/>
          <p:nvPr/>
        </p:nvSpPr>
        <p:spPr>
          <a:xfrm>
            <a:off x="188259" y="1156447"/>
            <a:ext cx="8453718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/>
              <a:t>10:27:07.638000 [0-0] * Host www.google.com:443 </a:t>
            </a:r>
            <a:r>
              <a:rPr lang="fr-FR" sz="1200" dirty="0" err="1"/>
              <a:t>was</a:t>
            </a:r>
            <a:r>
              <a:rPr lang="fr-FR" sz="1200" dirty="0"/>
              <a:t> </a:t>
            </a:r>
            <a:r>
              <a:rPr lang="fr-FR" sz="1200" dirty="0" err="1"/>
              <a:t>resolved</a:t>
            </a:r>
            <a:r>
              <a:rPr lang="fr-FR" sz="1200" dirty="0"/>
              <a:t>.</a:t>
            </a:r>
          </a:p>
          <a:p>
            <a:r>
              <a:rPr lang="fr-FR" sz="1200" dirty="0"/>
              <a:t>10:27:07.654000 [0-0] * IPv6: 2a00:1450:4007:80f::2004</a:t>
            </a:r>
          </a:p>
          <a:p>
            <a:r>
              <a:rPr lang="fr-FR" sz="1200" dirty="0"/>
              <a:t>10:27:07.654000 [0-0] * IPv4: 142.251.142.4</a:t>
            </a:r>
          </a:p>
          <a:p>
            <a:r>
              <a:rPr lang="fr-FR" sz="1200" dirty="0"/>
              <a:t>10:27:07.662000 [0-0] * [HTTPS-CONNECT] </a:t>
            </a:r>
            <a:r>
              <a:rPr lang="fr-FR" sz="1200" dirty="0" err="1"/>
              <a:t>adding</a:t>
            </a:r>
            <a:r>
              <a:rPr lang="fr-FR" sz="1200" dirty="0"/>
              <a:t> </a:t>
            </a:r>
            <a:r>
              <a:rPr lang="fr-FR" sz="1200" dirty="0" err="1"/>
              <a:t>wanted</a:t>
            </a:r>
            <a:r>
              <a:rPr lang="fr-FR" sz="1200" dirty="0"/>
              <a:t> h2</a:t>
            </a:r>
          </a:p>
          <a:p>
            <a:r>
              <a:rPr lang="fr-FR" sz="1200" dirty="0"/>
              <a:t>10:27:07.662000 [0-0] * [HTTPS-CONNECT] </a:t>
            </a:r>
            <a:r>
              <a:rPr lang="fr-FR" sz="1200" dirty="0" err="1"/>
              <a:t>added</a:t>
            </a:r>
            <a:endParaRPr lang="fr-FR" sz="1200" dirty="0"/>
          </a:p>
          <a:p>
            <a:r>
              <a:rPr lang="fr-FR" sz="1200" dirty="0"/>
              <a:t>10:27:07.662000 [0-0] * [HTTPS-CONNECT] </a:t>
            </a:r>
            <a:r>
              <a:rPr lang="fr-FR" sz="1200" dirty="0" err="1"/>
              <a:t>connect</a:t>
            </a:r>
            <a:r>
              <a:rPr lang="fr-FR" sz="1200" dirty="0"/>
              <a:t>, init</a:t>
            </a:r>
          </a:p>
          <a:p>
            <a:r>
              <a:rPr lang="fr-FR" sz="1200" dirty="0"/>
              <a:t>10:27:07.669000 [0-0] *   </a:t>
            </a:r>
            <a:r>
              <a:rPr lang="fr-FR" sz="1200" dirty="0" err="1"/>
              <a:t>Trying</a:t>
            </a:r>
            <a:r>
              <a:rPr lang="fr-FR" sz="1200" dirty="0"/>
              <a:t> [2a00:1450:4007:80f::2004]:443...</a:t>
            </a:r>
          </a:p>
          <a:p>
            <a:r>
              <a:rPr lang="fr-FR" sz="1200" dirty="0"/>
              <a:t>10:27:07.669000 [0-0] * [HTTPS-CONNECT] </a:t>
            </a:r>
            <a:r>
              <a:rPr lang="fr-FR" sz="1200" dirty="0" err="1"/>
              <a:t>connect</a:t>
            </a:r>
            <a:r>
              <a:rPr lang="fr-FR" sz="1200" dirty="0"/>
              <a:t> -&gt; 0, </a:t>
            </a:r>
            <a:r>
              <a:rPr lang="fr-FR" sz="1200" dirty="0" err="1"/>
              <a:t>done</a:t>
            </a:r>
            <a:r>
              <a:rPr lang="fr-FR" sz="1200" dirty="0"/>
              <a:t>=0</a:t>
            </a:r>
          </a:p>
          <a:p>
            <a:r>
              <a:rPr lang="fr-FR" sz="1200" dirty="0"/>
              <a:t>10:27:07.669000 [0-0] * [HTTPS-CONNECT] </a:t>
            </a:r>
            <a:r>
              <a:rPr lang="fr-FR" sz="1200" dirty="0" err="1"/>
              <a:t>Curl_conn_connect</a:t>
            </a:r>
            <a:r>
              <a:rPr lang="fr-FR" sz="1200" dirty="0"/>
              <a:t>(block=0) -&gt; 0, </a:t>
            </a:r>
            <a:r>
              <a:rPr lang="fr-FR" sz="1200" dirty="0" err="1"/>
              <a:t>done</a:t>
            </a:r>
            <a:r>
              <a:rPr lang="fr-FR" sz="1200" dirty="0"/>
              <a:t>=0</a:t>
            </a:r>
          </a:p>
          <a:p>
            <a:r>
              <a:rPr lang="fr-FR" sz="1200" dirty="0"/>
              <a:t>10:27:07.669000 [0-0] * [HTTPS-CONNECT] </a:t>
            </a:r>
            <a:r>
              <a:rPr lang="fr-FR" sz="1200" dirty="0" err="1"/>
              <a:t>adjust_pollset</a:t>
            </a:r>
            <a:r>
              <a:rPr lang="fr-FR" sz="1200" dirty="0"/>
              <a:t> -&gt; 0, 1 </a:t>
            </a:r>
            <a:r>
              <a:rPr lang="fr-FR" sz="1200" dirty="0" err="1"/>
              <a:t>socks</a:t>
            </a:r>
            <a:endParaRPr lang="fr-FR" sz="1200" dirty="0"/>
          </a:p>
          <a:p>
            <a:r>
              <a:rPr lang="fr-FR" sz="1200" dirty="0"/>
              <a:t>10:27:07.685000 [0-0] * </a:t>
            </a:r>
            <a:r>
              <a:rPr lang="fr-FR" sz="1200" dirty="0" err="1"/>
              <a:t>schannel</a:t>
            </a:r>
            <a:r>
              <a:rPr lang="fr-FR" sz="1200" dirty="0"/>
              <a:t>: </a:t>
            </a:r>
            <a:r>
              <a:rPr lang="fr-FR" sz="1200" dirty="0" err="1"/>
              <a:t>disabled</a:t>
            </a:r>
            <a:r>
              <a:rPr lang="fr-FR" sz="1200" dirty="0"/>
              <a:t> </a:t>
            </a:r>
            <a:r>
              <a:rPr lang="fr-FR" sz="1200" dirty="0" err="1"/>
              <a:t>automatic</a:t>
            </a:r>
            <a:r>
              <a:rPr lang="fr-FR" sz="1200" dirty="0"/>
              <a:t> use of client </a:t>
            </a:r>
            <a:r>
              <a:rPr lang="fr-FR" sz="1200" dirty="0" err="1"/>
              <a:t>certificate</a:t>
            </a:r>
            <a:endParaRPr lang="fr-FR" sz="1200" dirty="0"/>
          </a:p>
          <a:p>
            <a:r>
              <a:rPr lang="fr-FR" sz="1200" dirty="0"/>
              <a:t>10:27:07.693000 [0-0] * ALPN: </a:t>
            </a:r>
            <a:r>
              <a:rPr lang="fr-FR" sz="1200" dirty="0" err="1"/>
              <a:t>curl</a:t>
            </a:r>
            <a:r>
              <a:rPr lang="fr-FR" sz="1200" dirty="0"/>
              <a:t> </a:t>
            </a:r>
            <a:r>
              <a:rPr lang="fr-FR" sz="1200" dirty="0" err="1"/>
              <a:t>offers</a:t>
            </a:r>
            <a:r>
              <a:rPr lang="fr-FR" sz="1200" dirty="0"/>
              <a:t> http/1.1</a:t>
            </a:r>
          </a:p>
          <a:p>
            <a:r>
              <a:rPr lang="fr-FR" sz="1200" dirty="0"/>
              <a:t>10:27:07.693000 [0-0] * [HTTPS-CONNECT] </a:t>
            </a:r>
            <a:r>
              <a:rPr lang="fr-FR" sz="1200" dirty="0" err="1"/>
              <a:t>connect</a:t>
            </a:r>
            <a:r>
              <a:rPr lang="fr-FR" sz="1200" dirty="0"/>
              <a:t> -&gt; 0, </a:t>
            </a:r>
            <a:r>
              <a:rPr lang="fr-FR" sz="1200" dirty="0" err="1"/>
              <a:t>done</a:t>
            </a:r>
            <a:r>
              <a:rPr lang="fr-FR" sz="1200" dirty="0"/>
              <a:t>=0</a:t>
            </a:r>
          </a:p>
          <a:p>
            <a:r>
              <a:rPr lang="fr-FR" sz="1200" dirty="0"/>
              <a:t>10:27:07.701000 [0-0] * [HTTPS-CONNECT] </a:t>
            </a:r>
            <a:r>
              <a:rPr lang="fr-FR" sz="1200" dirty="0" err="1"/>
              <a:t>Curl_conn_connect</a:t>
            </a:r>
            <a:r>
              <a:rPr lang="fr-FR" sz="1200" dirty="0"/>
              <a:t>(block=0) -&gt; 0, </a:t>
            </a:r>
            <a:r>
              <a:rPr lang="fr-FR" sz="1200" dirty="0" err="1"/>
              <a:t>done</a:t>
            </a:r>
            <a:r>
              <a:rPr lang="fr-FR" sz="1200" dirty="0"/>
              <a:t>=0</a:t>
            </a:r>
          </a:p>
          <a:p>
            <a:r>
              <a:rPr lang="fr-FR" sz="1200" dirty="0"/>
              <a:t>10:27:07.706000 [0-0] * [HTTPS-CONNECT] </a:t>
            </a:r>
            <a:r>
              <a:rPr lang="fr-FR" sz="1200" dirty="0" err="1"/>
              <a:t>adjust_pollset</a:t>
            </a:r>
            <a:r>
              <a:rPr lang="fr-FR" sz="1200" dirty="0"/>
              <a:t> -&gt; 0, 1 </a:t>
            </a:r>
            <a:r>
              <a:rPr lang="fr-FR" sz="1200" dirty="0" err="1"/>
              <a:t>socks</a:t>
            </a:r>
            <a:endParaRPr lang="fr-FR" sz="1200" dirty="0"/>
          </a:p>
          <a:p>
            <a:r>
              <a:rPr lang="fr-FR" sz="1200" dirty="0"/>
              <a:t>10:27:07.708000 [0-0] * [HTTPS-CONNECT] </a:t>
            </a:r>
            <a:r>
              <a:rPr lang="fr-FR" sz="1200" dirty="0" err="1"/>
              <a:t>connect</a:t>
            </a:r>
            <a:r>
              <a:rPr lang="fr-FR" sz="1200" dirty="0"/>
              <a:t> -&gt; 0, </a:t>
            </a:r>
            <a:r>
              <a:rPr lang="fr-FR" sz="1200" dirty="0" err="1"/>
              <a:t>done</a:t>
            </a:r>
            <a:r>
              <a:rPr lang="fr-FR" sz="1200" dirty="0"/>
              <a:t>=0</a:t>
            </a:r>
          </a:p>
          <a:p>
            <a:r>
              <a:rPr lang="fr-FR" sz="1200" dirty="0"/>
              <a:t>10:27:07.708000 [0-0] * [HTTPS-CONNECT] </a:t>
            </a:r>
            <a:r>
              <a:rPr lang="fr-FR" sz="1200" dirty="0" err="1"/>
              <a:t>Curl_conn_connect</a:t>
            </a:r>
            <a:r>
              <a:rPr lang="fr-FR" sz="1200" dirty="0"/>
              <a:t>(block=0) -&gt; 0, </a:t>
            </a:r>
            <a:r>
              <a:rPr lang="fr-FR" sz="1200" dirty="0" err="1"/>
              <a:t>done</a:t>
            </a:r>
            <a:r>
              <a:rPr lang="fr-FR" sz="1200" dirty="0"/>
              <a:t>=0</a:t>
            </a:r>
          </a:p>
          <a:p>
            <a:r>
              <a:rPr lang="fr-FR" sz="1200" dirty="0"/>
              <a:t>10:27:07.717000 [0-0] * [HTTPS-CONNECT] </a:t>
            </a:r>
            <a:r>
              <a:rPr lang="fr-FR" sz="1200" dirty="0" err="1"/>
              <a:t>adjust_pollset</a:t>
            </a:r>
            <a:r>
              <a:rPr lang="fr-FR" sz="1200" dirty="0"/>
              <a:t> -&gt; 0, 1 </a:t>
            </a:r>
            <a:r>
              <a:rPr lang="fr-FR" sz="1200" dirty="0" err="1"/>
              <a:t>socks</a:t>
            </a:r>
            <a:endParaRPr lang="fr-FR" sz="1200" dirty="0"/>
          </a:p>
          <a:p>
            <a:r>
              <a:rPr lang="fr-FR" sz="1200" dirty="0"/>
              <a:t>10:27:07.717000 [0-0] * ALPN: server </a:t>
            </a:r>
            <a:r>
              <a:rPr lang="fr-FR" sz="1200" dirty="0" err="1"/>
              <a:t>accepted</a:t>
            </a:r>
            <a:r>
              <a:rPr lang="fr-FR" sz="1200" dirty="0"/>
              <a:t> http/1.1</a:t>
            </a:r>
          </a:p>
          <a:p>
            <a:r>
              <a:rPr lang="fr-FR" sz="1200" dirty="0"/>
              <a:t>10:27:07.717000 [0-0] * [HTTPS-CONNECT] </a:t>
            </a:r>
            <a:r>
              <a:rPr lang="fr-FR" sz="1200" dirty="0" err="1"/>
              <a:t>connect+handshake</a:t>
            </a:r>
            <a:r>
              <a:rPr lang="fr-FR" sz="1200" dirty="0"/>
              <a:t> h2: 60ms, 1st data: 40ms</a:t>
            </a:r>
          </a:p>
          <a:p>
            <a:r>
              <a:rPr lang="fr-FR" sz="1200" dirty="0"/>
              <a:t>10:27:07.733000 [0-0] * [HTTPS-CONNECT] </a:t>
            </a:r>
            <a:r>
              <a:rPr lang="fr-FR" sz="1200" dirty="0" err="1"/>
              <a:t>connect</a:t>
            </a:r>
            <a:r>
              <a:rPr lang="fr-FR" sz="1200" dirty="0"/>
              <a:t> -&gt; 0, </a:t>
            </a:r>
            <a:r>
              <a:rPr lang="fr-FR" sz="1200" dirty="0" err="1"/>
              <a:t>done</a:t>
            </a:r>
            <a:r>
              <a:rPr lang="fr-FR" sz="1200" dirty="0"/>
              <a:t>=1</a:t>
            </a:r>
          </a:p>
          <a:p>
            <a:r>
              <a:rPr lang="fr-FR" sz="1200" dirty="0"/>
              <a:t>10:27:07.733000 [0-0] * [HTTPS-CONNECT] </a:t>
            </a:r>
            <a:r>
              <a:rPr lang="fr-FR" sz="1200" dirty="0" err="1"/>
              <a:t>Curl_conn_connect</a:t>
            </a:r>
            <a:r>
              <a:rPr lang="fr-FR" sz="1200" dirty="0"/>
              <a:t>(block=0) -&gt; 0, </a:t>
            </a:r>
            <a:r>
              <a:rPr lang="fr-FR" sz="1200" dirty="0" err="1"/>
              <a:t>done</a:t>
            </a:r>
            <a:r>
              <a:rPr lang="fr-FR" sz="1200" dirty="0"/>
              <a:t>=1</a:t>
            </a:r>
          </a:p>
          <a:p>
            <a:r>
              <a:rPr lang="fr-FR" sz="1200" dirty="0"/>
              <a:t>10:27:07.733000 [0-0] * </a:t>
            </a:r>
            <a:r>
              <a:rPr lang="fr-FR" sz="1200" dirty="0" err="1"/>
              <a:t>Established</a:t>
            </a:r>
            <a:r>
              <a:rPr lang="fr-FR" sz="1200" dirty="0"/>
              <a:t> </a:t>
            </a:r>
            <a:r>
              <a:rPr lang="fr-FR" sz="1200" dirty="0" err="1"/>
              <a:t>connection</a:t>
            </a:r>
            <a:r>
              <a:rPr lang="fr-FR" sz="1200" dirty="0"/>
              <a:t> to www.google.com (2a00:1450:4007:80f::2004 port 443) </a:t>
            </a:r>
            <a:r>
              <a:rPr lang="fr-FR" sz="1200" dirty="0" err="1"/>
              <a:t>from</a:t>
            </a:r>
            <a:r>
              <a:rPr lang="fr-FR" sz="1200" dirty="0"/>
              <a:t> 2a01:e0a:1f7:1940:18da:b269:a2e9:36f7 port 57855</a:t>
            </a:r>
          </a:p>
          <a:p>
            <a:r>
              <a:rPr lang="fr-FR" sz="1200" dirty="0"/>
              <a:t>10:27:07.749000 [0-0] * [HTTPS-CONNECT] </a:t>
            </a:r>
            <a:r>
              <a:rPr lang="fr-FR" sz="1200" dirty="0" err="1"/>
              <a:t>query</a:t>
            </a:r>
            <a:r>
              <a:rPr lang="fr-FR" sz="1200" dirty="0"/>
              <a:t> ALPN</a:t>
            </a:r>
          </a:p>
          <a:p>
            <a:r>
              <a:rPr lang="fr-FR" sz="1200" dirty="0"/>
              <a:t>10:27:07.749000 [0-0] * </a:t>
            </a:r>
            <a:r>
              <a:rPr lang="fr-FR" sz="1200" dirty="0" err="1"/>
              <a:t>using</a:t>
            </a:r>
            <a:r>
              <a:rPr lang="fr-FR" sz="1200" dirty="0"/>
              <a:t> HTTP/1.x</a:t>
            </a:r>
          </a:p>
          <a:p>
            <a:r>
              <a:rPr lang="fr-FR" sz="1200" dirty="0"/>
              <a:t>10:27:07.749000 [0-0] &gt; GET / HTTP/1.1</a:t>
            </a:r>
          </a:p>
          <a:p>
            <a:r>
              <a:rPr lang="fr-FR" sz="1200" dirty="0"/>
              <a:t>10:27:07.749000 [0-0] &gt; Host: www.google.com</a:t>
            </a:r>
          </a:p>
        </p:txBody>
      </p:sp>
    </p:spTree>
    <p:extLst>
      <p:ext uri="{BB962C8B-B14F-4D97-AF65-F5344CB8AC3E}">
        <p14:creationId xmlns:p14="http://schemas.microsoft.com/office/powerpoint/2010/main" val="39157952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5BF200-147C-4CA6-9703-A1E903155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44072"/>
          </a:xfrm>
        </p:spPr>
        <p:txBody>
          <a:bodyPr>
            <a:normAutofit/>
          </a:bodyPr>
          <a:lstStyle/>
          <a:p>
            <a:pPr algn="ctr"/>
            <a:r>
              <a:rPr lang="fr-FR" dirty="0" err="1"/>
              <a:t>Certificate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</a:t>
            </a:r>
            <a:r>
              <a:rPr lang="fr-FR" dirty="0" err="1"/>
              <a:t>OpenSSL</a:t>
            </a:r>
            <a:r>
              <a:rPr lang="fr-FR" dirty="0"/>
              <a:t> command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E521D22-46A5-4FD1-AC67-B32C1D5434DF}"/>
              </a:ext>
            </a:extLst>
          </p:cNvPr>
          <p:cNvSpPr txBox="1"/>
          <p:nvPr/>
        </p:nvSpPr>
        <p:spPr>
          <a:xfrm>
            <a:off x="439270" y="744072"/>
            <a:ext cx="86688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 err="1"/>
              <a:t>openssl</a:t>
            </a:r>
            <a:r>
              <a:rPr lang="fr-FR" dirty="0"/>
              <a:t> </a:t>
            </a:r>
            <a:r>
              <a:rPr lang="fr-FR" dirty="0" err="1"/>
              <a:t>s_client</a:t>
            </a:r>
            <a:r>
              <a:rPr lang="fr-FR" dirty="0"/>
              <a:t> -</a:t>
            </a:r>
            <a:r>
              <a:rPr lang="fr-FR" dirty="0" err="1"/>
              <a:t>connect</a:t>
            </a:r>
            <a:r>
              <a:rPr lang="fr-FR" dirty="0"/>
              <a:t> www.google.com:443 -</a:t>
            </a:r>
            <a:r>
              <a:rPr lang="fr-FR" dirty="0" err="1"/>
              <a:t>servername</a:t>
            </a:r>
            <a:r>
              <a:rPr lang="fr-FR" dirty="0"/>
              <a:t> www.google.com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084EC892-A159-4B02-9794-7BAC28513D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1365" y="1272847"/>
            <a:ext cx="7082578" cy="5585153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B976F30E-EE87-4382-A59B-C10ECE3C4E00}"/>
              </a:ext>
            </a:extLst>
          </p:cNvPr>
          <p:cNvSpPr txBox="1"/>
          <p:nvPr/>
        </p:nvSpPr>
        <p:spPr>
          <a:xfrm>
            <a:off x="304800" y="3245224"/>
            <a:ext cx="31194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Certificate</a:t>
            </a:r>
            <a:r>
              <a:rPr lang="fr-FR" dirty="0"/>
              <a:t> </a:t>
            </a:r>
            <a:r>
              <a:rPr lang="fr-FR" dirty="0" err="1"/>
              <a:t>chain</a:t>
            </a:r>
            <a:r>
              <a:rPr lang="fr-FR" dirty="0"/>
              <a:t> has 3 </a:t>
            </a:r>
            <a:r>
              <a:rPr lang="fr-FR" dirty="0" err="1"/>
              <a:t>levels</a:t>
            </a:r>
            <a:r>
              <a:rPr lang="fr-FR" dirty="0"/>
              <a:t> ??</a:t>
            </a:r>
          </a:p>
          <a:p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saw</a:t>
            </a:r>
            <a:r>
              <a:rPr lang="fr-FR" dirty="0"/>
              <a:t> 2 in Chrome ??</a:t>
            </a:r>
          </a:p>
        </p:txBody>
      </p:sp>
    </p:spTree>
    <p:extLst>
      <p:ext uri="{BB962C8B-B14F-4D97-AF65-F5344CB8AC3E}">
        <p14:creationId xmlns:p14="http://schemas.microsoft.com/office/powerpoint/2010/main" val="37395663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661A16-2308-4295-8544-45DF32D0E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27528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err="1"/>
              <a:t>Openssl</a:t>
            </a:r>
            <a:r>
              <a:rPr lang="fr-FR" dirty="0"/>
              <a:t> … </a:t>
            </a:r>
            <a:r>
              <a:rPr lang="fr-FR" dirty="0" err="1"/>
              <a:t>see</a:t>
            </a:r>
            <a:r>
              <a:rPr lang="fr-FR" dirty="0"/>
              <a:t> </a:t>
            </a:r>
            <a:r>
              <a:rPr lang="fr-FR" dirty="0" err="1"/>
              <a:t>also</a:t>
            </a:r>
            <a:r>
              <a:rPr lang="fr-FR" dirty="0"/>
              <a:t> option « -</a:t>
            </a:r>
            <a:r>
              <a:rPr lang="fr-FR" dirty="0" err="1"/>
              <a:t>showcerts</a:t>
            </a:r>
            <a:r>
              <a:rPr lang="fr-FR" dirty="0"/>
              <a:t> »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D65C9D6-CCC2-48D9-8A26-4C1F18CF8229}"/>
              </a:ext>
            </a:extLst>
          </p:cNvPr>
          <p:cNvSpPr txBox="1"/>
          <p:nvPr/>
        </p:nvSpPr>
        <p:spPr>
          <a:xfrm>
            <a:off x="403412" y="1012123"/>
            <a:ext cx="101121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 err="1"/>
              <a:t>echo</a:t>
            </a:r>
            <a:r>
              <a:rPr lang="fr-FR" dirty="0"/>
              <a:t> | </a:t>
            </a:r>
            <a:r>
              <a:rPr lang="fr-FR" dirty="0" err="1"/>
              <a:t>openssl</a:t>
            </a:r>
            <a:r>
              <a:rPr lang="fr-FR" dirty="0"/>
              <a:t> </a:t>
            </a:r>
            <a:r>
              <a:rPr lang="fr-FR" dirty="0" err="1"/>
              <a:t>s_client</a:t>
            </a:r>
            <a:r>
              <a:rPr lang="fr-FR" dirty="0"/>
              <a:t> -</a:t>
            </a:r>
            <a:r>
              <a:rPr lang="fr-FR" dirty="0" err="1"/>
              <a:t>connect</a:t>
            </a:r>
            <a:r>
              <a:rPr lang="fr-FR" dirty="0"/>
              <a:t> www.google.com:443 -</a:t>
            </a:r>
            <a:r>
              <a:rPr lang="fr-FR" dirty="0" err="1"/>
              <a:t>servername</a:t>
            </a:r>
            <a:r>
              <a:rPr lang="fr-FR" dirty="0"/>
              <a:t> www.google.com </a:t>
            </a:r>
            <a:r>
              <a:rPr lang="fr-FR" b="1" dirty="0"/>
              <a:t>-</a:t>
            </a:r>
            <a:r>
              <a:rPr lang="fr-FR" b="1" dirty="0" err="1"/>
              <a:t>showcerts</a:t>
            </a:r>
            <a:endParaRPr lang="fr-FR" b="1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3FDA661-AA3E-4F24-8C6B-1A13BD42DB8D}"/>
              </a:ext>
            </a:extLst>
          </p:cNvPr>
          <p:cNvSpPr txBox="1"/>
          <p:nvPr/>
        </p:nvSpPr>
        <p:spPr>
          <a:xfrm>
            <a:off x="107575" y="1993810"/>
            <a:ext cx="1148378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$ </a:t>
            </a:r>
            <a:r>
              <a:rPr lang="fr-FR" dirty="0" err="1"/>
              <a:t>echo</a:t>
            </a:r>
            <a:r>
              <a:rPr lang="fr-FR" dirty="0"/>
              <a:t> | </a:t>
            </a:r>
            <a:r>
              <a:rPr lang="fr-FR" dirty="0" err="1"/>
              <a:t>openssl</a:t>
            </a:r>
            <a:r>
              <a:rPr lang="fr-FR" dirty="0"/>
              <a:t> </a:t>
            </a:r>
            <a:r>
              <a:rPr lang="fr-FR" dirty="0" err="1"/>
              <a:t>s_client</a:t>
            </a:r>
            <a:r>
              <a:rPr lang="fr-FR" dirty="0"/>
              <a:t> -</a:t>
            </a:r>
            <a:r>
              <a:rPr lang="fr-FR" dirty="0" err="1"/>
              <a:t>connect</a:t>
            </a:r>
            <a:r>
              <a:rPr lang="fr-FR" dirty="0"/>
              <a:t> www.google.com:443 -</a:t>
            </a:r>
            <a:r>
              <a:rPr lang="fr-FR" dirty="0" err="1"/>
              <a:t>servername</a:t>
            </a:r>
            <a:r>
              <a:rPr lang="fr-FR" dirty="0"/>
              <a:t> www.google.com -</a:t>
            </a:r>
            <a:r>
              <a:rPr lang="fr-FR" dirty="0" err="1"/>
              <a:t>showcerts</a:t>
            </a:r>
            <a:r>
              <a:rPr lang="fr-FR" dirty="0"/>
              <a:t> \</a:t>
            </a:r>
          </a:p>
          <a:p>
            <a:r>
              <a:rPr lang="fr-FR" dirty="0"/>
              <a:t>  &gt;  /</a:t>
            </a:r>
            <a:r>
              <a:rPr lang="fr-FR" dirty="0" err="1"/>
              <a:t>cygdrive</a:t>
            </a:r>
            <a:r>
              <a:rPr lang="fr-FR" dirty="0"/>
              <a:t>/c/</a:t>
            </a:r>
            <a:r>
              <a:rPr lang="fr-FR" dirty="0" err="1"/>
              <a:t>security</a:t>
            </a:r>
            <a:r>
              <a:rPr lang="fr-FR" dirty="0"/>
              <a:t>-course/workshop-https/openssl_client_showcert.txt</a:t>
            </a:r>
            <a:br>
              <a:rPr lang="fr-FR" dirty="0"/>
            </a:br>
            <a:endParaRPr lang="fr-FR" dirty="0"/>
          </a:p>
          <a:p>
            <a:r>
              <a:rPr lang="fr-FR" dirty="0" err="1"/>
              <a:t>depth</a:t>
            </a:r>
            <a:r>
              <a:rPr lang="fr-FR" dirty="0"/>
              <a:t>=2 C = US, O = Google Trust Services LLC, CN = GTS Root R1</a:t>
            </a:r>
          </a:p>
          <a:p>
            <a:r>
              <a:rPr lang="fr-FR" dirty="0" err="1"/>
              <a:t>verify</a:t>
            </a:r>
            <a:r>
              <a:rPr lang="fr-FR" dirty="0"/>
              <a:t> return:1</a:t>
            </a:r>
          </a:p>
          <a:p>
            <a:r>
              <a:rPr lang="fr-FR" dirty="0" err="1"/>
              <a:t>depth</a:t>
            </a:r>
            <a:r>
              <a:rPr lang="fr-FR" dirty="0"/>
              <a:t>=1 C = US, O = Google Trust Services, CN = WR2</a:t>
            </a:r>
          </a:p>
          <a:p>
            <a:r>
              <a:rPr lang="fr-FR" dirty="0" err="1"/>
              <a:t>verify</a:t>
            </a:r>
            <a:r>
              <a:rPr lang="fr-FR" dirty="0"/>
              <a:t> return:1</a:t>
            </a:r>
          </a:p>
          <a:p>
            <a:r>
              <a:rPr lang="fr-FR" dirty="0" err="1"/>
              <a:t>depth</a:t>
            </a:r>
            <a:r>
              <a:rPr lang="fr-FR" dirty="0"/>
              <a:t>=0 CN = www.google.com</a:t>
            </a:r>
          </a:p>
          <a:p>
            <a:r>
              <a:rPr lang="fr-FR" dirty="0" err="1"/>
              <a:t>verify</a:t>
            </a:r>
            <a:r>
              <a:rPr lang="fr-FR" dirty="0"/>
              <a:t> return:1</a:t>
            </a:r>
          </a:p>
          <a:p>
            <a:r>
              <a:rPr lang="fr-FR" dirty="0"/>
              <a:t>DONE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341D0ABC-884B-4B19-BEF7-62ACF2DB59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8208" y="2411506"/>
            <a:ext cx="3231003" cy="4330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7649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5BF200-147C-4CA6-9703-A1E903155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44072"/>
          </a:xfrm>
        </p:spPr>
        <p:txBody>
          <a:bodyPr>
            <a:normAutofit/>
          </a:bodyPr>
          <a:lstStyle/>
          <a:p>
            <a:pPr algn="ctr"/>
            <a:r>
              <a:rPr lang="fr-FR" dirty="0" err="1"/>
              <a:t>Saving</a:t>
            </a:r>
            <a:r>
              <a:rPr lang="fr-FR" dirty="0"/>
              <a:t> </a:t>
            </a:r>
            <a:r>
              <a:rPr lang="fr-FR" dirty="0" err="1"/>
              <a:t>Certificate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</a:t>
            </a:r>
            <a:r>
              <a:rPr lang="fr-FR" dirty="0" err="1"/>
              <a:t>openssl</a:t>
            </a:r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E44A34D-EB55-4958-AE90-29C49A6AC662}"/>
              </a:ext>
            </a:extLst>
          </p:cNvPr>
          <p:cNvSpPr txBox="1"/>
          <p:nvPr/>
        </p:nvSpPr>
        <p:spPr>
          <a:xfrm>
            <a:off x="582706" y="1030051"/>
            <a:ext cx="1077109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 err="1"/>
              <a:t>echo</a:t>
            </a:r>
            <a:r>
              <a:rPr lang="fr-FR" dirty="0"/>
              <a:t>  \</a:t>
            </a:r>
            <a:br>
              <a:rPr lang="fr-FR" dirty="0"/>
            </a:br>
            <a:r>
              <a:rPr lang="fr-FR" dirty="0"/>
              <a:t>| </a:t>
            </a:r>
            <a:r>
              <a:rPr lang="fr-FR" dirty="0" err="1"/>
              <a:t>openssl</a:t>
            </a:r>
            <a:r>
              <a:rPr lang="fr-FR" dirty="0"/>
              <a:t> </a:t>
            </a:r>
            <a:r>
              <a:rPr lang="fr-FR" dirty="0" err="1"/>
              <a:t>s_client</a:t>
            </a:r>
            <a:r>
              <a:rPr lang="fr-FR" dirty="0"/>
              <a:t> -</a:t>
            </a:r>
            <a:r>
              <a:rPr lang="fr-FR" dirty="0" err="1"/>
              <a:t>connect</a:t>
            </a:r>
            <a:r>
              <a:rPr lang="fr-FR" dirty="0"/>
              <a:t> www.google.com:443 -</a:t>
            </a:r>
            <a:r>
              <a:rPr lang="fr-FR" dirty="0" err="1"/>
              <a:t>servername</a:t>
            </a:r>
            <a:r>
              <a:rPr lang="fr-FR" dirty="0"/>
              <a:t> www.google.com 2&gt;/dev/</a:t>
            </a:r>
            <a:r>
              <a:rPr lang="fr-FR" dirty="0" err="1"/>
              <a:t>null</a:t>
            </a:r>
            <a:r>
              <a:rPr lang="fr-FR" dirty="0"/>
              <a:t>  \</a:t>
            </a:r>
            <a:br>
              <a:rPr lang="fr-FR" dirty="0"/>
            </a:br>
            <a:r>
              <a:rPr lang="fr-FR" dirty="0"/>
              <a:t>| </a:t>
            </a:r>
            <a:r>
              <a:rPr lang="fr-FR" dirty="0" err="1"/>
              <a:t>openssl</a:t>
            </a:r>
            <a:r>
              <a:rPr lang="fr-FR" dirty="0"/>
              <a:t> x509 -</a:t>
            </a:r>
            <a:r>
              <a:rPr lang="fr-FR" dirty="0" err="1"/>
              <a:t>outform</a:t>
            </a:r>
            <a:r>
              <a:rPr lang="fr-FR" dirty="0"/>
              <a:t> </a:t>
            </a:r>
            <a:r>
              <a:rPr lang="fr-FR" dirty="0" err="1"/>
              <a:t>pem</a:t>
            </a:r>
            <a:r>
              <a:rPr lang="fr-FR" dirty="0"/>
              <a:t>  \</a:t>
            </a:r>
            <a:br>
              <a:rPr lang="fr-FR" dirty="0"/>
            </a:br>
            <a:r>
              <a:rPr lang="fr-FR" dirty="0"/>
              <a:t>&gt; /</a:t>
            </a:r>
            <a:r>
              <a:rPr lang="fr-FR" dirty="0" err="1"/>
              <a:t>cygdrive</a:t>
            </a:r>
            <a:r>
              <a:rPr lang="fr-FR" dirty="0"/>
              <a:t>/c/</a:t>
            </a:r>
            <a:r>
              <a:rPr lang="fr-FR" dirty="0" err="1"/>
              <a:t>security</a:t>
            </a:r>
            <a:r>
              <a:rPr lang="fr-FR" dirty="0"/>
              <a:t>-course/workshop-https/</a:t>
            </a:r>
            <a:r>
              <a:rPr lang="fr-FR" dirty="0" err="1"/>
              <a:t>cert.pem</a:t>
            </a:r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CD86134-839E-4B10-ABC1-E9299EBD1012}"/>
              </a:ext>
            </a:extLst>
          </p:cNvPr>
          <p:cNvSpPr txBox="1"/>
          <p:nvPr/>
        </p:nvSpPr>
        <p:spPr>
          <a:xfrm>
            <a:off x="582706" y="2590800"/>
            <a:ext cx="8602483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Explanation</a:t>
            </a:r>
            <a:r>
              <a:rPr lang="fr-FR" dirty="0"/>
              <a:t> notes:</a:t>
            </a:r>
          </a:p>
          <a:p>
            <a:r>
              <a:rPr lang="fr-FR" dirty="0"/>
              <a:t>« </a:t>
            </a:r>
            <a:r>
              <a:rPr lang="fr-FR" dirty="0" err="1"/>
              <a:t>echo</a:t>
            </a:r>
            <a:r>
              <a:rPr lang="fr-FR" dirty="0"/>
              <a:t> | »   to force non interactive </a:t>
            </a:r>
            <a:r>
              <a:rPr lang="fr-FR" dirty="0" err="1"/>
              <a:t>connect</a:t>
            </a:r>
            <a:r>
              <a:rPr lang="fr-FR" dirty="0"/>
              <a:t> </a:t>
            </a:r>
            <a:r>
              <a:rPr lang="fr-FR" dirty="0" err="1"/>
              <a:t>then</a:t>
            </a:r>
            <a:r>
              <a:rPr lang="fr-FR" dirty="0"/>
              <a:t> close</a:t>
            </a:r>
          </a:p>
          <a:p>
            <a:r>
              <a:rPr lang="fr-FR" dirty="0"/>
              <a:t>« </a:t>
            </a:r>
            <a:r>
              <a:rPr lang="fr-FR" dirty="0" err="1"/>
              <a:t>openssl</a:t>
            </a:r>
            <a:r>
              <a:rPr lang="fr-FR" dirty="0"/>
              <a:t> </a:t>
            </a:r>
            <a:r>
              <a:rPr lang="fr-FR" dirty="0" err="1"/>
              <a:t>s_client</a:t>
            </a:r>
            <a:r>
              <a:rPr lang="fr-FR" dirty="0"/>
              <a:t> -</a:t>
            </a:r>
            <a:r>
              <a:rPr lang="fr-FR" dirty="0" err="1"/>
              <a:t>connect</a:t>
            </a:r>
            <a:r>
              <a:rPr lang="fr-FR" dirty="0"/>
              <a:t>»  to </a:t>
            </a:r>
            <a:r>
              <a:rPr lang="fr-FR" dirty="0" err="1"/>
              <a:t>establish</a:t>
            </a:r>
            <a:r>
              <a:rPr lang="fr-FR" dirty="0"/>
              <a:t> TLS handshake     2&gt;/dev/</a:t>
            </a:r>
            <a:r>
              <a:rPr lang="fr-FR" dirty="0" err="1"/>
              <a:t>null</a:t>
            </a:r>
            <a:r>
              <a:rPr lang="fr-FR" dirty="0"/>
              <a:t> ignore </a:t>
            </a:r>
            <a:r>
              <a:rPr lang="fr-FR" dirty="0" err="1"/>
              <a:t>other</a:t>
            </a:r>
            <a:r>
              <a:rPr lang="fr-FR" dirty="0"/>
              <a:t> logs</a:t>
            </a:r>
          </a:p>
          <a:p>
            <a:r>
              <a:rPr lang="fr-FR" dirty="0"/>
              <a:t>« </a:t>
            </a:r>
            <a:r>
              <a:rPr lang="fr-FR" dirty="0" err="1"/>
              <a:t>openssl</a:t>
            </a:r>
            <a:r>
              <a:rPr lang="fr-FR" dirty="0"/>
              <a:t> x509… »  to </a:t>
            </a:r>
            <a:r>
              <a:rPr lang="fr-FR" dirty="0" err="1"/>
              <a:t>convert</a:t>
            </a:r>
            <a:r>
              <a:rPr lang="fr-FR" dirty="0"/>
              <a:t> to PEM file</a:t>
            </a:r>
          </a:p>
          <a:p>
            <a:endParaRPr lang="fr-FR" dirty="0"/>
          </a:p>
          <a:p>
            <a:r>
              <a:rPr lang="fr-FR" dirty="0"/>
              <a:t>… </a:t>
            </a:r>
            <a:r>
              <a:rPr lang="fr-FR" dirty="0" err="1"/>
              <a:t>Strangely</a:t>
            </a:r>
            <a:r>
              <a:rPr lang="fr-FR" dirty="0"/>
              <a:t>, </a:t>
            </a: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not </a:t>
            </a:r>
            <a:r>
              <a:rPr lang="fr-FR" dirty="0" err="1"/>
              <a:t>exactly</a:t>
            </a:r>
            <a:r>
              <a:rPr lang="fr-FR" dirty="0"/>
              <a:t> the </a:t>
            </a:r>
            <a:r>
              <a:rPr lang="fr-FR" dirty="0" err="1"/>
              <a:t>same</a:t>
            </a:r>
            <a:r>
              <a:rPr lang="fr-FR" dirty="0"/>
              <a:t> file (format/</a:t>
            </a:r>
            <a:r>
              <a:rPr lang="fr-FR" dirty="0" err="1"/>
              <a:t>encoding</a:t>
            </a:r>
            <a:r>
              <a:rPr lang="fr-FR" dirty="0"/>
              <a:t>?) as </a:t>
            </a:r>
            <a:r>
              <a:rPr lang="fr-FR" dirty="0" err="1"/>
              <a:t>exported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Chrome ?!</a:t>
            </a:r>
          </a:p>
          <a:p>
            <a:r>
              <a:rPr lang="fr-FR" dirty="0"/>
              <a:t>Chrome export in « DER »</a:t>
            </a:r>
          </a:p>
        </p:txBody>
      </p:sp>
    </p:spTree>
    <p:extLst>
      <p:ext uri="{BB962C8B-B14F-4D97-AF65-F5344CB8AC3E}">
        <p14:creationId xmlns:p14="http://schemas.microsoft.com/office/powerpoint/2010/main" val="18695231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57DA6B-0404-442E-A9DC-7C4B17AD8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Converting</a:t>
            </a:r>
            <a:r>
              <a:rPr lang="fr-FR" dirty="0"/>
              <a:t> </a:t>
            </a:r>
            <a:r>
              <a:rPr lang="fr-FR" dirty="0" err="1"/>
              <a:t>between</a:t>
            </a:r>
            <a:r>
              <a:rPr lang="fr-FR" dirty="0"/>
              <a:t> DER &lt;-&gt; PEM ..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268CDFF-40F5-4405-B766-8AF344B5F1E9}"/>
              </a:ext>
            </a:extLst>
          </p:cNvPr>
          <p:cNvSpPr txBox="1"/>
          <p:nvPr/>
        </p:nvSpPr>
        <p:spPr>
          <a:xfrm>
            <a:off x="3388658" y="2218800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 err="1"/>
              <a:t>openssl</a:t>
            </a:r>
            <a:r>
              <a:rPr lang="fr-FR" dirty="0"/>
              <a:t> x509 -in </a:t>
            </a:r>
            <a:r>
              <a:rPr lang="fr-FR" dirty="0" err="1"/>
              <a:t>cert.pem</a:t>
            </a:r>
            <a:r>
              <a:rPr lang="fr-FR" dirty="0"/>
              <a:t> -</a:t>
            </a:r>
            <a:r>
              <a:rPr lang="fr-FR" dirty="0" err="1"/>
              <a:t>outform</a:t>
            </a:r>
            <a:r>
              <a:rPr lang="fr-FR" dirty="0"/>
              <a:t> der -out </a:t>
            </a:r>
            <a:r>
              <a:rPr lang="fr-FR" dirty="0" err="1"/>
              <a:t>cert.der</a:t>
            </a:r>
            <a:endParaRPr lang="fr-FR" dirty="0"/>
          </a:p>
          <a:p>
            <a:endParaRPr lang="fr-FR" dirty="0"/>
          </a:p>
          <a:p>
            <a:r>
              <a:rPr lang="fr-FR" dirty="0" err="1"/>
              <a:t>openssl</a:t>
            </a:r>
            <a:r>
              <a:rPr lang="fr-FR" dirty="0"/>
              <a:t> x509 -in </a:t>
            </a:r>
            <a:r>
              <a:rPr lang="fr-FR" dirty="0" err="1"/>
              <a:t>cert.der</a:t>
            </a:r>
            <a:r>
              <a:rPr lang="fr-FR" dirty="0"/>
              <a:t> -</a:t>
            </a:r>
            <a:r>
              <a:rPr lang="fr-FR" dirty="0" err="1"/>
              <a:t>inform</a:t>
            </a:r>
            <a:r>
              <a:rPr lang="fr-FR" dirty="0"/>
              <a:t> der -out </a:t>
            </a:r>
            <a:r>
              <a:rPr lang="fr-FR" dirty="0" err="1"/>
              <a:t>cert.pem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431355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1D48A3-EA51-4D43-86A4-6847D42C4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Part 2 :  </a:t>
            </a:r>
            <a:r>
              <a:rPr lang="fr-FR" dirty="0" err="1"/>
              <a:t>Trusted</a:t>
            </a:r>
            <a:r>
              <a:rPr lang="fr-FR" dirty="0"/>
              <a:t> </a:t>
            </a:r>
            <a:r>
              <a:rPr lang="fr-FR" dirty="0" err="1"/>
              <a:t>Certificate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312338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F8F98C7-BF1A-4E3B-902C-F775F0E21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594" y="0"/>
            <a:ext cx="11604812" cy="1470212"/>
          </a:xfrm>
        </p:spPr>
        <p:txBody>
          <a:bodyPr>
            <a:normAutofit/>
          </a:bodyPr>
          <a:lstStyle/>
          <a:p>
            <a:pPr algn="ctr"/>
            <a:r>
              <a:rPr lang="fr-FR" dirty="0" err="1"/>
              <a:t>Converting</a:t>
            </a:r>
            <a:r>
              <a:rPr lang="fr-FR" dirty="0"/>
              <a:t> *.</a:t>
            </a:r>
            <a:r>
              <a:rPr lang="fr-FR" dirty="0" err="1"/>
              <a:t>pem</a:t>
            </a:r>
            <a:r>
              <a:rPr lang="fr-FR" dirty="0"/>
              <a:t> to Java « </a:t>
            </a:r>
            <a:r>
              <a:rPr lang="fr-FR" dirty="0" err="1"/>
              <a:t>trustore</a:t>
            </a:r>
            <a:r>
              <a:rPr lang="fr-FR" dirty="0"/>
              <a:t> » JKS format</a:t>
            </a:r>
            <a:br>
              <a:rPr lang="fr-FR" dirty="0"/>
            </a:br>
            <a:r>
              <a:rPr lang="fr-FR" dirty="0"/>
              <a:t>&amp;&amp; Running java </a:t>
            </a:r>
            <a:r>
              <a:rPr lang="fr-FR" dirty="0" err="1"/>
              <a:t>with</a:t>
            </a:r>
            <a:r>
              <a:rPr lang="fr-FR" dirty="0"/>
              <a:t> Trust Store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A01668D-86C3-48A0-AA30-1E13E1A4F736}"/>
              </a:ext>
            </a:extLst>
          </p:cNvPr>
          <p:cNvSpPr txBox="1"/>
          <p:nvPr/>
        </p:nvSpPr>
        <p:spPr>
          <a:xfrm>
            <a:off x="2371165" y="2329916"/>
            <a:ext cx="89198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 err="1"/>
              <a:t>keytool</a:t>
            </a:r>
            <a:r>
              <a:rPr lang="fr-FR" dirty="0"/>
              <a:t> -</a:t>
            </a:r>
            <a:r>
              <a:rPr lang="fr-FR" dirty="0" err="1"/>
              <a:t>importcert</a:t>
            </a:r>
            <a:r>
              <a:rPr lang="fr-FR" dirty="0"/>
              <a:t>    -alias </a:t>
            </a:r>
            <a:r>
              <a:rPr lang="fr-FR" dirty="0" err="1"/>
              <a:t>mycert</a:t>
            </a:r>
            <a:r>
              <a:rPr lang="fr-FR" dirty="0"/>
              <a:t>   -file </a:t>
            </a:r>
            <a:r>
              <a:rPr lang="fr-FR" dirty="0" err="1"/>
              <a:t>cert.pem</a:t>
            </a:r>
            <a:r>
              <a:rPr lang="fr-FR" dirty="0"/>
              <a:t>   -</a:t>
            </a:r>
            <a:r>
              <a:rPr lang="fr-FR" dirty="0" err="1"/>
              <a:t>keystore</a:t>
            </a:r>
            <a:r>
              <a:rPr lang="fr-FR" dirty="0"/>
              <a:t> </a:t>
            </a:r>
            <a:r>
              <a:rPr lang="fr-FR" dirty="0" err="1"/>
              <a:t>truststore.jks</a:t>
            </a:r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7C79F94-48AC-4287-87DD-95B1BC314BF1}"/>
              </a:ext>
            </a:extLst>
          </p:cNvPr>
          <p:cNvSpPr txBox="1"/>
          <p:nvPr/>
        </p:nvSpPr>
        <p:spPr>
          <a:xfrm>
            <a:off x="2371165" y="3429000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java \</a:t>
            </a:r>
          </a:p>
          <a:p>
            <a:r>
              <a:rPr lang="fr-FR" dirty="0"/>
              <a:t>    </a:t>
            </a:r>
            <a:r>
              <a:rPr lang="fr-FR" b="1" dirty="0"/>
              <a:t>-</a:t>
            </a:r>
            <a:r>
              <a:rPr lang="fr-FR" b="1" dirty="0" err="1"/>
              <a:t>Djavax.net.ssl.trustStore</a:t>
            </a:r>
            <a:r>
              <a:rPr lang="fr-FR" b="1" dirty="0"/>
              <a:t>=</a:t>
            </a:r>
            <a:r>
              <a:rPr lang="fr-FR" b="1" dirty="0" err="1"/>
              <a:t>truststore.jks</a:t>
            </a:r>
            <a:r>
              <a:rPr lang="fr-FR" dirty="0"/>
              <a:t> \</a:t>
            </a:r>
          </a:p>
          <a:p>
            <a:r>
              <a:rPr lang="fr-FR" dirty="0"/>
              <a:t>    -</a:t>
            </a:r>
            <a:r>
              <a:rPr lang="fr-FR" dirty="0" err="1"/>
              <a:t>Djavax.net.ssl.trustStorePassword</a:t>
            </a:r>
            <a:r>
              <a:rPr lang="fr-FR" dirty="0"/>
              <a:t>=</a:t>
            </a:r>
            <a:r>
              <a:rPr lang="fr-FR" dirty="0" err="1"/>
              <a:t>changeit</a:t>
            </a:r>
            <a:r>
              <a:rPr lang="fr-FR" dirty="0"/>
              <a:t> \</a:t>
            </a:r>
            <a:br>
              <a:rPr lang="fr-FR" dirty="0"/>
            </a:br>
            <a:r>
              <a:rPr lang="fr-FR" dirty="0"/>
              <a:t>   -jar app.jar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9FF9A24-607F-4841-A7B4-40A66951412F}"/>
              </a:ext>
            </a:extLst>
          </p:cNvPr>
          <p:cNvSpPr txBox="1"/>
          <p:nvPr/>
        </p:nvSpPr>
        <p:spPr>
          <a:xfrm>
            <a:off x="663388" y="5181600"/>
            <a:ext cx="1057186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If the http </a:t>
            </a:r>
            <a:r>
              <a:rPr lang="fr-FR" dirty="0" err="1"/>
              <a:t>Certificate</a:t>
            </a:r>
            <a:r>
              <a:rPr lang="fr-FR" dirty="0"/>
              <a:t> Chain </a:t>
            </a:r>
            <a:r>
              <a:rPr lang="fr-FR" dirty="0" err="1"/>
              <a:t>is</a:t>
            </a:r>
            <a:r>
              <a:rPr lang="fr-FR" dirty="0"/>
              <a:t> not </a:t>
            </a:r>
            <a:r>
              <a:rPr lang="fr-FR" dirty="0" err="1"/>
              <a:t>trusted</a:t>
            </a:r>
            <a:r>
              <a:rPr lang="fr-FR" dirty="0"/>
              <a:t> by java   =&gt;  You </a:t>
            </a:r>
            <a:r>
              <a:rPr lang="fr-FR" dirty="0" err="1"/>
              <a:t>get</a:t>
            </a:r>
            <a:r>
              <a:rPr lang="fr-FR" dirty="0"/>
              <a:t> </a:t>
            </a:r>
            <a:r>
              <a:rPr lang="fr-FR" dirty="0" err="1"/>
              <a:t>error</a:t>
            </a:r>
            <a:br>
              <a:rPr lang="fr-FR" dirty="0"/>
            </a:br>
            <a:br>
              <a:rPr lang="fr-FR" dirty="0"/>
            </a:br>
            <a:r>
              <a:rPr lang="fr-FR" dirty="0" err="1"/>
              <a:t>javax.net.ssl.SSLHandshakeException</a:t>
            </a:r>
            <a:r>
              <a:rPr lang="fr-FR" dirty="0"/>
              <a:t>:  </a:t>
            </a:r>
            <a:r>
              <a:rPr lang="fr-FR" dirty="0" err="1"/>
              <a:t>sun.security.validator.ValidatorException</a:t>
            </a:r>
            <a:r>
              <a:rPr lang="fr-FR" dirty="0"/>
              <a:t>:    PKIX </a:t>
            </a:r>
            <a:r>
              <a:rPr lang="fr-FR" dirty="0" err="1"/>
              <a:t>path</a:t>
            </a:r>
            <a:r>
              <a:rPr lang="fr-FR" dirty="0"/>
              <a:t> building </a:t>
            </a:r>
            <a:r>
              <a:rPr lang="fr-FR" dirty="0" err="1"/>
              <a:t>failed</a:t>
            </a:r>
            <a:r>
              <a:rPr lang="fr-FR" dirty="0"/>
              <a:t>:      </a:t>
            </a:r>
          </a:p>
          <a:p>
            <a:r>
              <a:rPr lang="fr-FR" dirty="0" err="1"/>
              <a:t>sun.security.provider.certpath.SunCertPathBuilderException</a:t>
            </a:r>
            <a:r>
              <a:rPr lang="fr-FR" dirty="0"/>
              <a:t>:        </a:t>
            </a:r>
          </a:p>
          <a:p>
            <a:r>
              <a:rPr lang="fr-FR" dirty="0" err="1"/>
              <a:t>unable</a:t>
            </a:r>
            <a:r>
              <a:rPr lang="fr-FR" dirty="0"/>
              <a:t> to </a:t>
            </a:r>
            <a:r>
              <a:rPr lang="fr-FR" dirty="0" err="1"/>
              <a:t>find</a:t>
            </a:r>
            <a:r>
              <a:rPr lang="fr-FR" dirty="0"/>
              <a:t> </a:t>
            </a:r>
            <a:r>
              <a:rPr lang="fr-FR" dirty="0" err="1"/>
              <a:t>valid</a:t>
            </a:r>
            <a:r>
              <a:rPr lang="fr-FR" dirty="0"/>
              <a:t> certification </a:t>
            </a:r>
            <a:r>
              <a:rPr lang="fr-FR" dirty="0" err="1"/>
              <a:t>path</a:t>
            </a:r>
            <a:r>
              <a:rPr lang="fr-FR" dirty="0"/>
              <a:t> to </a:t>
            </a:r>
            <a:r>
              <a:rPr lang="fr-FR" dirty="0" err="1"/>
              <a:t>requested</a:t>
            </a:r>
            <a:r>
              <a:rPr lang="fr-FR" dirty="0"/>
              <a:t> </a:t>
            </a:r>
            <a:r>
              <a:rPr lang="fr-FR" dirty="0" err="1"/>
              <a:t>target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819067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D9D624E-8652-4C2F-82D1-772F829B6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13012"/>
          </a:xfrm>
        </p:spPr>
        <p:txBody>
          <a:bodyPr>
            <a:normAutofit/>
          </a:bodyPr>
          <a:lstStyle/>
          <a:p>
            <a:pPr algn="ctr"/>
            <a:r>
              <a:rPr lang="fr-FR" dirty="0" err="1"/>
              <a:t>Certificate</a:t>
            </a:r>
            <a:r>
              <a:rPr lang="fr-FR" dirty="0"/>
              <a:t>/</a:t>
            </a:r>
            <a:r>
              <a:rPr lang="fr-FR" dirty="0" err="1"/>
              <a:t>Issuers</a:t>
            </a:r>
            <a:r>
              <a:rPr lang="fr-FR" dirty="0"/>
              <a:t>  </a:t>
            </a:r>
            <a:r>
              <a:rPr lang="fr-FR" dirty="0" err="1"/>
              <a:t>Trusted</a:t>
            </a:r>
            <a:r>
              <a:rPr lang="fr-FR" dirty="0"/>
              <a:t> by default in Java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E8C7280-31F1-4FBA-98C1-077980A46B2C}"/>
              </a:ext>
            </a:extLst>
          </p:cNvPr>
          <p:cNvSpPr txBox="1"/>
          <p:nvPr/>
        </p:nvSpPr>
        <p:spPr>
          <a:xfrm>
            <a:off x="1021976" y="149621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By default, java trust all </a:t>
            </a:r>
            <a:r>
              <a:rPr lang="fr-FR" dirty="0" err="1"/>
              <a:t>certificates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</a:t>
            </a:r>
            <a:r>
              <a:rPr lang="fr-FR" dirty="0" err="1"/>
              <a:t>built-in</a:t>
            </a:r>
            <a:r>
              <a:rPr lang="fr-FR" dirty="0"/>
              <a:t> trust store : </a:t>
            </a:r>
          </a:p>
          <a:p>
            <a:r>
              <a:rPr lang="fr-FR" dirty="0"/>
              <a:t>          </a:t>
            </a:r>
            <a:r>
              <a:rPr lang="fr-FR" b="1" dirty="0"/>
              <a:t>{</a:t>
            </a:r>
            <a:r>
              <a:rPr lang="fr-FR" b="1" dirty="0" err="1"/>
              <a:t>java.home</a:t>
            </a:r>
            <a:r>
              <a:rPr lang="fr-FR" b="1" dirty="0"/>
              <a:t>}/lib/</a:t>
            </a:r>
            <a:r>
              <a:rPr lang="fr-FR" b="1" dirty="0" err="1"/>
              <a:t>security</a:t>
            </a:r>
            <a:r>
              <a:rPr lang="fr-FR" b="1" dirty="0"/>
              <a:t>/</a:t>
            </a:r>
            <a:r>
              <a:rPr lang="fr-FR" b="1" dirty="0" err="1"/>
              <a:t>cacerts</a:t>
            </a:r>
            <a:endParaRPr lang="fr-FR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6DA0F0B6-4697-42C6-A5E3-711C208D0F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7611" y="2597304"/>
            <a:ext cx="7130806" cy="276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2975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0C3E2F-B202-46A5-AE1B-B5F424ECE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129554"/>
          </a:xfrm>
        </p:spPr>
        <p:txBody>
          <a:bodyPr/>
          <a:lstStyle/>
          <a:p>
            <a:pPr algn="ctr"/>
            <a:r>
              <a:rPr lang="fr-FR" dirty="0"/>
              <a:t>Listing all </a:t>
            </a:r>
            <a:r>
              <a:rPr lang="fr-FR" dirty="0" err="1"/>
              <a:t>Trusted</a:t>
            </a:r>
            <a:r>
              <a:rPr lang="fr-FR" dirty="0"/>
              <a:t> </a:t>
            </a:r>
            <a:r>
              <a:rPr lang="fr-FR" dirty="0" err="1"/>
              <a:t>Certs</a:t>
            </a:r>
            <a:r>
              <a:rPr lang="fr-FR" dirty="0"/>
              <a:t>  (=&gt; 152 in </a:t>
            </a:r>
            <a:r>
              <a:rPr lang="fr-FR" dirty="0" err="1"/>
              <a:t>jdk</a:t>
            </a:r>
            <a:r>
              <a:rPr lang="fr-FR" dirty="0"/>
              <a:t> 21)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628C4B4-71D4-4CBE-901F-781424182209}"/>
              </a:ext>
            </a:extLst>
          </p:cNvPr>
          <p:cNvSpPr txBox="1"/>
          <p:nvPr/>
        </p:nvSpPr>
        <p:spPr>
          <a:xfrm>
            <a:off x="358588" y="1129554"/>
            <a:ext cx="1144793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dirty="0" err="1"/>
              <a:t>keytool</a:t>
            </a:r>
            <a:r>
              <a:rPr lang="fr-FR" sz="2000" dirty="0"/>
              <a:t> -</a:t>
            </a:r>
            <a:r>
              <a:rPr lang="fr-FR" sz="2000" dirty="0" err="1"/>
              <a:t>list</a:t>
            </a:r>
            <a:r>
              <a:rPr lang="fr-FR" sz="2000" dirty="0"/>
              <a:t> -</a:t>
            </a:r>
            <a:r>
              <a:rPr lang="fr-FR" sz="2000" dirty="0" err="1"/>
              <a:t>keystore</a:t>
            </a:r>
            <a:r>
              <a:rPr lang="fr-FR" sz="2000" dirty="0"/>
              <a:t>  ${JAVA_HOME}/lib/</a:t>
            </a:r>
            <a:r>
              <a:rPr lang="fr-FR" sz="2000" dirty="0" err="1"/>
              <a:t>security</a:t>
            </a:r>
            <a:r>
              <a:rPr lang="fr-FR" sz="2000" dirty="0"/>
              <a:t>/</a:t>
            </a:r>
            <a:r>
              <a:rPr lang="fr-FR" sz="2000" dirty="0" err="1"/>
              <a:t>cacerts</a:t>
            </a:r>
            <a:endParaRPr lang="fr-FR" sz="2000" dirty="0"/>
          </a:p>
          <a:p>
            <a:endParaRPr lang="fr-FR" sz="2000" dirty="0"/>
          </a:p>
          <a:p>
            <a:r>
              <a:rPr lang="fr-FR" sz="2000" dirty="0" err="1"/>
              <a:t>keytool</a:t>
            </a:r>
            <a:r>
              <a:rPr lang="fr-FR" sz="2000" dirty="0"/>
              <a:t> -</a:t>
            </a:r>
            <a:r>
              <a:rPr lang="fr-FR" sz="2000" dirty="0" err="1"/>
              <a:t>list</a:t>
            </a:r>
            <a:r>
              <a:rPr lang="fr-FR" sz="2000" dirty="0"/>
              <a:t> -</a:t>
            </a:r>
            <a:r>
              <a:rPr lang="fr-FR" sz="2000" dirty="0" err="1"/>
              <a:t>keystore</a:t>
            </a:r>
            <a:r>
              <a:rPr lang="fr-FR" sz="2000" dirty="0"/>
              <a:t>  ${JAVA_HOME}/lib/</a:t>
            </a:r>
            <a:r>
              <a:rPr lang="fr-FR" sz="2000" dirty="0" err="1"/>
              <a:t>security</a:t>
            </a:r>
            <a:r>
              <a:rPr lang="fr-FR" sz="2000" dirty="0"/>
              <a:t>/</a:t>
            </a:r>
            <a:r>
              <a:rPr lang="fr-FR" sz="2000" dirty="0" err="1"/>
              <a:t>cacerts</a:t>
            </a:r>
            <a:r>
              <a:rPr lang="fr-FR" sz="2000" dirty="0"/>
              <a:t> | </a:t>
            </a:r>
            <a:r>
              <a:rPr lang="fr-FR" sz="2000" dirty="0" err="1"/>
              <a:t>grep</a:t>
            </a:r>
            <a:r>
              <a:rPr lang="fr-FR" sz="2000" dirty="0"/>
              <a:t> </a:t>
            </a:r>
            <a:r>
              <a:rPr lang="fr-FR" sz="2000" dirty="0" err="1"/>
              <a:t>trustedCertEntry</a:t>
            </a:r>
            <a:r>
              <a:rPr lang="fr-FR" sz="2000" dirty="0"/>
              <a:t> | </a:t>
            </a:r>
            <a:r>
              <a:rPr lang="fr-FR" sz="2000" dirty="0" err="1"/>
              <a:t>wc</a:t>
            </a:r>
            <a:r>
              <a:rPr lang="fr-FR" sz="2000" dirty="0"/>
              <a:t> -l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BF850AF9-AA04-4C90-9482-F534690156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5906" y="2076489"/>
            <a:ext cx="6148399" cy="4781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36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0EE486-45D0-423D-9AA5-1CB752C31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228166"/>
          </a:xfrm>
        </p:spPr>
        <p:txBody>
          <a:bodyPr>
            <a:normAutofit/>
          </a:bodyPr>
          <a:lstStyle/>
          <a:p>
            <a:pPr algn="ctr"/>
            <a:r>
              <a:rPr lang="fr-FR" dirty="0" err="1"/>
              <a:t>Trusted</a:t>
            </a:r>
            <a:r>
              <a:rPr lang="fr-FR" dirty="0"/>
              <a:t> </a:t>
            </a:r>
            <a:r>
              <a:rPr lang="fr-FR" dirty="0" err="1"/>
              <a:t>Certificate</a:t>
            </a:r>
            <a:r>
              <a:rPr lang="fr-FR" dirty="0"/>
              <a:t> by </a:t>
            </a:r>
            <a:r>
              <a:rPr lang="fr-FR" dirty="0" err="1"/>
              <a:t>Your</a:t>
            </a:r>
            <a:r>
              <a:rPr lang="fr-FR" dirty="0"/>
              <a:t> Browser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B076596-0EDB-47E4-B619-A7C98FDEDD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5623" y="1739254"/>
            <a:ext cx="7522426" cy="5118746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B2AC2F0C-F710-45B0-8035-DD9CE009E2F4}"/>
              </a:ext>
            </a:extLst>
          </p:cNvPr>
          <p:cNvSpPr txBox="1"/>
          <p:nvPr/>
        </p:nvSpPr>
        <p:spPr>
          <a:xfrm>
            <a:off x="349624" y="1277589"/>
            <a:ext cx="35500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>
                <a:hlinkClick r:id="rId3"/>
              </a:rPr>
              <a:t>chrome://settings/security</a:t>
            </a:r>
            <a:r>
              <a:rPr lang="fr-FR" sz="2400" dirty="0"/>
              <a:t> 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1CC912-F18B-4798-9AEC-DD42E3F213FC}"/>
              </a:ext>
            </a:extLst>
          </p:cNvPr>
          <p:cNvSpPr/>
          <p:nvPr/>
        </p:nvSpPr>
        <p:spPr>
          <a:xfrm>
            <a:off x="5504329" y="5782235"/>
            <a:ext cx="4653720" cy="457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3AAF0B-01B4-49D1-952E-E40FAF53F26E}"/>
              </a:ext>
            </a:extLst>
          </p:cNvPr>
          <p:cNvSpPr/>
          <p:nvPr/>
        </p:nvSpPr>
        <p:spPr>
          <a:xfrm>
            <a:off x="2635623" y="3034552"/>
            <a:ext cx="1900518" cy="30031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16763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8343EE-7F74-479D-BB99-A3B07FF37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=&gt; </a:t>
            </a:r>
            <a:r>
              <a:rPr lang="fr-FR" dirty="0" err="1"/>
              <a:t>rely</a:t>
            </a:r>
            <a:r>
              <a:rPr lang="fr-FR" dirty="0"/>
              <a:t> on </a:t>
            </a:r>
            <a:r>
              <a:rPr lang="fr-FR" dirty="0" err="1"/>
              <a:t>your</a:t>
            </a:r>
            <a:r>
              <a:rPr lang="fr-FR" dirty="0"/>
              <a:t> OS (Windows / Mac / …)  </a:t>
            </a:r>
            <a:br>
              <a:rPr lang="fr-FR" dirty="0"/>
            </a:br>
            <a:r>
              <a:rPr lang="fr-FR" dirty="0"/>
              <a:t>52 Certificates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546C90B-DA1F-452C-A31A-17A65D2FFD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367" y="1829247"/>
            <a:ext cx="11827265" cy="518967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5DA1E58-3938-4634-974A-8BAF34604BFA}"/>
              </a:ext>
            </a:extLst>
          </p:cNvPr>
          <p:cNvSpPr/>
          <p:nvPr/>
        </p:nvSpPr>
        <p:spPr>
          <a:xfrm>
            <a:off x="5468472" y="4258234"/>
            <a:ext cx="6400798" cy="39444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48481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13B2AB-56C0-4419-BF27-4D245AA1C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69576"/>
          </a:xfrm>
        </p:spPr>
        <p:txBody>
          <a:bodyPr>
            <a:normAutofit/>
          </a:bodyPr>
          <a:lstStyle/>
          <a:p>
            <a:pPr algn="ctr"/>
            <a:r>
              <a:rPr lang="fr-FR" dirty="0" err="1"/>
              <a:t>Trusted</a:t>
            </a:r>
            <a:r>
              <a:rPr lang="fr-FR" dirty="0"/>
              <a:t> Certificates …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FCF5750-BDFE-460B-9D14-48A64BD5B6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166" y="1497022"/>
            <a:ext cx="9179186" cy="5360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9163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DC45FE-067E-4C2D-BD85-55E11FF1C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Open Windows  </a:t>
            </a:r>
            <a:r>
              <a:rPr lang="fr-FR" dirty="0" err="1"/>
              <a:t>Trusted</a:t>
            </a:r>
            <a:r>
              <a:rPr lang="fr-FR" dirty="0"/>
              <a:t> Cert « </a:t>
            </a:r>
            <a:r>
              <a:rPr lang="fr-FR" dirty="0" err="1"/>
              <a:t>certmgr</a:t>
            </a:r>
            <a:r>
              <a:rPr lang="fr-FR" dirty="0"/>
              <a:t> »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D4D406A-4813-430D-80E4-1FF00609AF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7165" y="2108424"/>
            <a:ext cx="5661852" cy="4102948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E273A83A-F4A5-400D-B9C6-E04D3E8F9E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651" y="2108424"/>
            <a:ext cx="5491185" cy="294938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3FC82D8-8298-4CB1-B9BE-596518802E19}"/>
              </a:ext>
            </a:extLst>
          </p:cNvPr>
          <p:cNvSpPr/>
          <p:nvPr/>
        </p:nvSpPr>
        <p:spPr>
          <a:xfrm>
            <a:off x="546846" y="3940260"/>
            <a:ext cx="1712260" cy="2958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DC74D4-E77B-4180-B2BF-E2B60C32F530}"/>
              </a:ext>
            </a:extLst>
          </p:cNvPr>
          <p:cNvSpPr/>
          <p:nvPr/>
        </p:nvSpPr>
        <p:spPr>
          <a:xfrm>
            <a:off x="7548281" y="2510118"/>
            <a:ext cx="708214" cy="2958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F4BBAB-B119-40DA-B25E-F9A58224326E}"/>
              </a:ext>
            </a:extLst>
          </p:cNvPr>
          <p:cNvSpPr/>
          <p:nvPr/>
        </p:nvSpPr>
        <p:spPr>
          <a:xfrm>
            <a:off x="546846" y="2196353"/>
            <a:ext cx="654425" cy="2958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84334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D10C7C-950E-4D0F-BE83-0F5F2AEC6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92710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Windows </a:t>
            </a:r>
            <a:r>
              <a:rPr lang="fr-FR" dirty="0" err="1"/>
              <a:t>CertMgr</a:t>
            </a:r>
            <a:r>
              <a:rPr lang="fr-FR" dirty="0"/>
              <a:t>  (57 </a:t>
            </a:r>
            <a:r>
              <a:rPr lang="fr-FR" dirty="0" err="1"/>
              <a:t>certs</a:t>
            </a:r>
            <a:r>
              <a:rPr lang="fr-FR" dirty="0"/>
              <a:t>)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714C38B-108B-427E-AF66-E90834FAEB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441" y="849551"/>
            <a:ext cx="10182359" cy="5881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7227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AC2458-6E96-4A30-8296-D0899876D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33718"/>
          </a:xfrm>
        </p:spPr>
        <p:txBody>
          <a:bodyPr>
            <a:normAutofit/>
          </a:bodyPr>
          <a:lstStyle/>
          <a:p>
            <a:pPr algn="ctr"/>
            <a:r>
              <a:rPr lang="fr-FR" dirty="0" err="1"/>
              <a:t>Certificate</a:t>
            </a:r>
            <a:r>
              <a:rPr lang="fr-FR" dirty="0"/>
              <a:t> Details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283042A-3BEC-4CCF-BA1B-20AD629D13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9841" y="833719"/>
            <a:ext cx="5189670" cy="599746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23C3D9A9-AAE3-4DE6-A206-C079DC6E3679}"/>
              </a:ext>
            </a:extLst>
          </p:cNvPr>
          <p:cNvSpPr txBox="1"/>
          <p:nvPr/>
        </p:nvSpPr>
        <p:spPr>
          <a:xfrm>
            <a:off x="8945867" y="6059268"/>
            <a:ext cx="30320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See</a:t>
            </a:r>
            <a:r>
              <a:rPr lang="fr-FR" dirty="0"/>
              <a:t> </a:t>
            </a:r>
            <a:r>
              <a:rPr lang="fr-FR" dirty="0" err="1"/>
              <a:t>next</a:t>
            </a:r>
            <a:r>
              <a:rPr lang="fr-FR" dirty="0"/>
              <a:t>… </a:t>
            </a:r>
            <a:br>
              <a:rPr lang="fr-FR" dirty="0"/>
            </a:br>
            <a:r>
              <a:rPr lang="fr-FR" dirty="0" err="1"/>
              <a:t>certificate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stupid</a:t>
            </a:r>
            <a:r>
              <a:rPr lang="fr-FR" dirty="0"/>
              <a:t> !  (</a:t>
            </a:r>
            <a:r>
              <a:rPr lang="fr-FR" dirty="0" err="1"/>
              <a:t>expired</a:t>
            </a:r>
            <a:r>
              <a:rPr lang="fr-F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45796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BB917A-1C30-4476-8CD5-EA2A7E8FD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04048"/>
          </a:xfrm>
        </p:spPr>
        <p:txBody>
          <a:bodyPr>
            <a:normAutofit/>
          </a:bodyPr>
          <a:lstStyle/>
          <a:p>
            <a:pPr algn="ctr"/>
            <a:r>
              <a:rPr lang="fr-FR" dirty="0"/>
              <a:t>Example of a </a:t>
            </a:r>
            <a:r>
              <a:rPr lang="fr-FR" dirty="0" err="1"/>
              <a:t>Deprecated</a:t>
            </a:r>
            <a:r>
              <a:rPr lang="fr-FR" dirty="0"/>
              <a:t>/</a:t>
            </a:r>
            <a:r>
              <a:rPr lang="fr-FR" dirty="0" err="1"/>
              <a:t>Unsafe</a:t>
            </a:r>
            <a:r>
              <a:rPr lang="fr-FR" dirty="0"/>
              <a:t> </a:t>
            </a:r>
            <a:r>
              <a:rPr lang="fr-FR" dirty="0" err="1"/>
              <a:t>Certificate</a:t>
            </a:r>
            <a:r>
              <a:rPr lang="fr-FR" dirty="0"/>
              <a:t> …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E07675A-4A00-4BC5-9083-CC74DE46A5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8236" y="2301142"/>
            <a:ext cx="3825572" cy="1127858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A473F703-8C65-428F-9BE3-7700052663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9031" y="5004760"/>
            <a:ext cx="5083422" cy="431321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C1BEA2BC-25E6-4310-9ACC-AD52D8CFB86E}"/>
              </a:ext>
            </a:extLst>
          </p:cNvPr>
          <p:cNvSpPr txBox="1"/>
          <p:nvPr/>
        </p:nvSpPr>
        <p:spPr>
          <a:xfrm>
            <a:off x="3459031" y="4356762"/>
            <a:ext cx="6421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Fortunatly</a:t>
            </a:r>
            <a:r>
              <a:rPr lang="fr-FR" dirty="0"/>
              <a:t>…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expired</a:t>
            </a:r>
            <a:r>
              <a:rPr lang="fr-FR" dirty="0"/>
              <a:t> !!   (but 3 </a:t>
            </a:r>
            <a:r>
              <a:rPr lang="fr-FR" dirty="0" err="1"/>
              <a:t>years</a:t>
            </a:r>
            <a:r>
              <a:rPr lang="fr-FR" dirty="0"/>
              <a:t> </a:t>
            </a:r>
            <a:r>
              <a:rPr lang="fr-FR" dirty="0" err="1"/>
              <a:t>ago</a:t>
            </a:r>
            <a:r>
              <a:rPr lang="fr-FR" dirty="0"/>
              <a:t>, </a:t>
            </a: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was</a:t>
            </a:r>
            <a:r>
              <a:rPr lang="fr-FR" dirty="0"/>
              <a:t> </a:t>
            </a:r>
            <a:r>
              <a:rPr lang="fr-FR" dirty="0" err="1"/>
              <a:t>already</a:t>
            </a:r>
            <a:r>
              <a:rPr lang="fr-FR" dirty="0"/>
              <a:t> </a:t>
            </a:r>
            <a:r>
              <a:rPr lang="fr-FR" dirty="0" err="1"/>
              <a:t>stupid</a:t>
            </a:r>
            <a:r>
              <a:rPr lang="fr-FR" dirty="0"/>
              <a:t>)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5EEAF18-1917-4F84-B07B-9A6071006E55}"/>
              </a:ext>
            </a:extLst>
          </p:cNvPr>
          <p:cNvSpPr txBox="1"/>
          <p:nvPr/>
        </p:nvSpPr>
        <p:spPr>
          <a:xfrm>
            <a:off x="6669814" y="1437633"/>
            <a:ext cx="41424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Using</a:t>
            </a:r>
            <a:r>
              <a:rPr lang="fr-FR" dirty="0"/>
              <a:t> </a:t>
            </a:r>
            <a:r>
              <a:rPr lang="fr-FR" dirty="0" err="1"/>
              <a:t>only</a:t>
            </a:r>
            <a:r>
              <a:rPr lang="fr-FR" dirty="0"/>
              <a:t> 2028 bits ???!!!!!</a:t>
            </a:r>
          </a:p>
          <a:p>
            <a:r>
              <a:rPr lang="fr-FR" dirty="0"/>
              <a:t>Recommandation as-of 2026: &gt;= 4096 bits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D5AF84A6-DCF6-4CCE-914C-6BE7C2A623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715" y="2301142"/>
            <a:ext cx="5787041" cy="747901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762742D0-BEAC-49C9-9A29-FFC878DCE888}"/>
              </a:ext>
            </a:extLst>
          </p:cNvPr>
          <p:cNvSpPr txBox="1"/>
          <p:nvPr/>
        </p:nvSpPr>
        <p:spPr>
          <a:xfrm>
            <a:off x="1003253" y="1496779"/>
            <a:ext cx="38538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Using</a:t>
            </a:r>
            <a:r>
              <a:rPr lang="fr-FR" dirty="0"/>
              <a:t> SHA-1 ???!!!!!</a:t>
            </a:r>
          </a:p>
          <a:p>
            <a:r>
              <a:rPr lang="fr-FR" dirty="0"/>
              <a:t>Recommandation as-of 2026:  SHA-256</a:t>
            </a:r>
          </a:p>
        </p:txBody>
      </p:sp>
    </p:spTree>
    <p:extLst>
      <p:ext uri="{BB962C8B-B14F-4D97-AF65-F5344CB8AC3E}">
        <p14:creationId xmlns:p14="http://schemas.microsoft.com/office/powerpoint/2010/main" val="9448135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9EA165-693C-4804-A1B0-F1D223666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Find</a:t>
            </a:r>
            <a:r>
              <a:rPr lang="fr-FR" dirty="0"/>
              <a:t> a </a:t>
            </a:r>
            <a:r>
              <a:rPr lang="fr-FR" dirty="0" err="1"/>
              <a:t>valid</a:t>
            </a:r>
            <a:r>
              <a:rPr lang="fr-FR" dirty="0"/>
              <a:t> (as-of 2026),  but </a:t>
            </a:r>
            <a:r>
              <a:rPr lang="fr-FR" dirty="0" err="1"/>
              <a:t>still</a:t>
            </a:r>
            <a:r>
              <a:rPr lang="fr-FR" dirty="0"/>
              <a:t> </a:t>
            </a:r>
            <a:r>
              <a:rPr lang="fr-FR" dirty="0" err="1"/>
              <a:t>stupid</a:t>
            </a:r>
            <a:r>
              <a:rPr lang="fr-FR" dirty="0"/>
              <a:t>:</a:t>
            </a:r>
            <a:br>
              <a:rPr lang="fr-FR" dirty="0"/>
            </a:br>
            <a:r>
              <a:rPr lang="fr-FR" dirty="0"/>
              <a:t>2048 bits and </a:t>
            </a:r>
            <a:r>
              <a:rPr lang="fr-FR" dirty="0" err="1"/>
              <a:t>using</a:t>
            </a:r>
            <a:r>
              <a:rPr lang="fr-FR" dirty="0"/>
              <a:t> SHA-1  ???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B49315B-DEF2-4440-AF58-5A5D801DE8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3963" y="1629205"/>
            <a:ext cx="5002585" cy="3902017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13F57008-193E-4D84-A843-7E3DEBC01573}"/>
              </a:ext>
            </a:extLst>
          </p:cNvPr>
          <p:cNvSpPr txBox="1"/>
          <p:nvPr/>
        </p:nvSpPr>
        <p:spPr>
          <a:xfrm>
            <a:off x="457200" y="6077253"/>
            <a:ext cx="114031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Windows, Chrome, Firefox, and Java </a:t>
            </a:r>
            <a:r>
              <a:rPr lang="fr-FR" dirty="0" err="1"/>
              <a:t>reject</a:t>
            </a:r>
            <a:r>
              <a:rPr lang="fr-FR" dirty="0"/>
              <a:t> SHA-1 </a:t>
            </a:r>
            <a:r>
              <a:rPr lang="fr-FR" dirty="0" err="1"/>
              <a:t>signed</a:t>
            </a:r>
            <a:r>
              <a:rPr lang="fr-FR" dirty="0"/>
              <a:t> </a:t>
            </a:r>
            <a:r>
              <a:rPr lang="fr-FR" dirty="0" err="1"/>
              <a:t>certificates</a:t>
            </a:r>
            <a:r>
              <a:rPr lang="fr-FR" dirty="0"/>
              <a:t> </a:t>
            </a:r>
            <a:r>
              <a:rPr lang="fr-FR" dirty="0" err="1"/>
              <a:t>issued</a:t>
            </a:r>
            <a:r>
              <a:rPr lang="fr-FR" dirty="0"/>
              <a:t> </a:t>
            </a:r>
            <a:r>
              <a:rPr lang="fr-FR" dirty="0" err="1"/>
              <a:t>after</a:t>
            </a:r>
            <a:r>
              <a:rPr lang="fr-FR" dirty="0"/>
              <a:t> 2016–2017.</a:t>
            </a:r>
          </a:p>
          <a:p>
            <a:r>
              <a:rPr lang="fr-FR" dirty="0"/>
              <a:t>So </a:t>
            </a:r>
            <a:r>
              <a:rPr lang="fr-FR" dirty="0" err="1"/>
              <a:t>why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still</a:t>
            </a:r>
            <a:r>
              <a:rPr lang="fr-FR" dirty="0"/>
              <a:t> </a:t>
            </a:r>
            <a:r>
              <a:rPr lang="fr-FR" dirty="0" err="1"/>
              <a:t>present</a:t>
            </a:r>
            <a:r>
              <a:rPr lang="fr-FR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8335003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B4B594-C322-4270-BC70-B85998053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78019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Part 3 … Https  </a:t>
            </a:r>
            <a:r>
              <a:rPr lang="fr-FR" dirty="0" err="1"/>
              <a:t>Certificate</a:t>
            </a:r>
            <a:r>
              <a:rPr lang="fr-FR" dirty="0"/>
              <a:t> on Server-</a:t>
            </a:r>
            <a:r>
              <a:rPr lang="fr-FR" dirty="0" err="1"/>
              <a:t>Side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997196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841A9B-0FFE-4424-ACF9-93923B983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Generate</a:t>
            </a:r>
            <a:r>
              <a:rPr lang="fr-FR" dirty="0"/>
              <a:t> </a:t>
            </a:r>
            <a:r>
              <a:rPr lang="fr-FR" dirty="0" err="1"/>
              <a:t>your</a:t>
            </a:r>
            <a:r>
              <a:rPr lang="fr-FR" dirty="0"/>
              <a:t> Https Self-</a:t>
            </a:r>
            <a:r>
              <a:rPr lang="fr-FR" dirty="0" err="1"/>
              <a:t>signed</a:t>
            </a:r>
            <a:r>
              <a:rPr lang="fr-FR" dirty="0"/>
              <a:t> </a:t>
            </a:r>
            <a:r>
              <a:rPr lang="fr-FR" dirty="0" err="1"/>
              <a:t>certificate</a:t>
            </a:r>
            <a:br>
              <a:rPr lang="fr-FR" dirty="0"/>
            </a:br>
            <a:r>
              <a:rPr lang="fr-FR" dirty="0" err="1"/>
              <a:t>Using</a:t>
            </a:r>
            <a:r>
              <a:rPr lang="fr-FR" dirty="0"/>
              <a:t> </a:t>
            </a:r>
            <a:r>
              <a:rPr lang="fr-FR" dirty="0" err="1"/>
              <a:t>KeyStore</a:t>
            </a:r>
            <a:r>
              <a:rPr lang="fr-FR" dirty="0"/>
              <a:t> Explorer UI app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60AAF469-56F7-4C63-B4CD-EED86DB89F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800" y="2658764"/>
            <a:ext cx="6534012" cy="4064764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A3329513-F65D-47CB-B399-920D4EE35FF1}"/>
              </a:ext>
            </a:extLst>
          </p:cNvPr>
          <p:cNvSpPr txBox="1"/>
          <p:nvPr/>
        </p:nvSpPr>
        <p:spPr>
          <a:xfrm>
            <a:off x="941294" y="205428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>
                <a:hlinkClick r:id="rId3"/>
              </a:rPr>
              <a:t>https://keystore-explorer.org/</a:t>
            </a:r>
            <a:r>
              <a:rPr lang="fr-FR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38206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7643DA-EBD4-4AD1-AEBF-77D3E7097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60612"/>
          </a:xfrm>
        </p:spPr>
        <p:txBody>
          <a:bodyPr>
            <a:normAutofit/>
          </a:bodyPr>
          <a:lstStyle/>
          <a:p>
            <a:pPr algn="ctr"/>
            <a:r>
              <a:rPr lang="fr-FR" dirty="0"/>
              <a:t>Install, Launch kse.exe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4AF977D-86C1-414B-974F-616F00FEFB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9245" y="1426541"/>
            <a:ext cx="6485182" cy="443522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2660C87-9E4F-428D-8AE9-E951C61DC7FD}"/>
              </a:ext>
            </a:extLst>
          </p:cNvPr>
          <p:cNvSpPr/>
          <p:nvPr/>
        </p:nvSpPr>
        <p:spPr>
          <a:xfrm>
            <a:off x="3312459" y="3644152"/>
            <a:ext cx="927847" cy="34514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83413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60B366-B7CA-4C87-8BEB-7FB8AE8E5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Step</a:t>
            </a:r>
            <a:r>
              <a:rPr lang="fr-FR" dirty="0"/>
              <a:t> 1: </a:t>
            </a:r>
            <a:r>
              <a:rPr lang="fr-FR" dirty="0" err="1"/>
              <a:t>Create</a:t>
            </a:r>
            <a:r>
              <a:rPr lang="fr-FR" dirty="0"/>
              <a:t> a New </a:t>
            </a:r>
            <a:r>
              <a:rPr lang="fr-FR" dirty="0" err="1"/>
              <a:t>KeyStore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933E404-D92B-401B-ACBC-1A0215BE74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577" y="1690688"/>
            <a:ext cx="7102022" cy="4828914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77CC485C-1F24-4365-877A-346A86B0C8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4897" y="3244727"/>
            <a:ext cx="2019475" cy="264436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67066DA-7612-4FFF-829A-6FEC7C61DC28}"/>
              </a:ext>
            </a:extLst>
          </p:cNvPr>
          <p:cNvSpPr/>
          <p:nvPr/>
        </p:nvSpPr>
        <p:spPr>
          <a:xfrm>
            <a:off x="2792507" y="3952744"/>
            <a:ext cx="757518" cy="53857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4A946E6-209C-492A-BFC3-22651E6ADAFE}"/>
              </a:ext>
            </a:extLst>
          </p:cNvPr>
          <p:cNvSpPr txBox="1"/>
          <p:nvPr/>
        </p:nvSpPr>
        <p:spPr>
          <a:xfrm>
            <a:off x="8061382" y="2398900"/>
            <a:ext cx="41306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Choose</a:t>
            </a:r>
            <a:r>
              <a:rPr lang="fr-FR" dirty="0"/>
              <a:t> default PKCS#12</a:t>
            </a:r>
          </a:p>
          <a:p>
            <a:r>
              <a:rPr lang="fr-FR" dirty="0"/>
              <a:t>(</a:t>
            </a:r>
            <a:r>
              <a:rPr lang="fr-FR" dirty="0" err="1"/>
              <a:t>else</a:t>
            </a:r>
            <a:r>
              <a:rPr lang="fr-FR" dirty="0"/>
              <a:t> « JKS » for </a:t>
            </a:r>
            <a:r>
              <a:rPr lang="fr-FR" dirty="0" err="1"/>
              <a:t>very</a:t>
            </a:r>
            <a:r>
              <a:rPr lang="fr-FR" dirty="0"/>
              <a:t> </a:t>
            </a:r>
            <a:r>
              <a:rPr lang="fr-FR" dirty="0" err="1"/>
              <a:t>old</a:t>
            </a:r>
            <a:r>
              <a:rPr lang="fr-FR" dirty="0"/>
              <a:t> java version &lt;=8 )</a:t>
            </a:r>
          </a:p>
        </p:txBody>
      </p:sp>
    </p:spTree>
    <p:extLst>
      <p:ext uri="{BB962C8B-B14F-4D97-AF65-F5344CB8AC3E}">
        <p14:creationId xmlns:p14="http://schemas.microsoft.com/office/powerpoint/2010/main" val="113237924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8D1697-27BB-4B09-A9DD-416CDA210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536"/>
            <a:ext cx="10515600" cy="1185699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Save </a:t>
            </a:r>
            <a:r>
              <a:rPr lang="fr-FR" dirty="0" err="1"/>
              <a:t>your</a:t>
            </a:r>
            <a:r>
              <a:rPr lang="fr-FR" dirty="0"/>
              <a:t> PKCS#12 file  </a:t>
            </a:r>
            <a:br>
              <a:rPr lang="fr-FR" dirty="0"/>
            </a:br>
            <a:r>
              <a:rPr lang="fr-FR" dirty="0"/>
              <a:t>(prompt for </a:t>
            </a:r>
            <a:r>
              <a:rPr lang="fr-FR" dirty="0" err="1"/>
              <a:t>password</a:t>
            </a:r>
            <a:r>
              <a:rPr lang="fr-FR" dirty="0"/>
              <a:t>, </a:t>
            </a:r>
            <a:r>
              <a:rPr lang="fr-FR" dirty="0" err="1"/>
              <a:t>example</a:t>
            </a:r>
            <a:r>
              <a:rPr lang="fr-FR" dirty="0"/>
              <a:t>: </a:t>
            </a:r>
            <a:r>
              <a:rPr lang="fr-FR" dirty="0" err="1"/>
              <a:t>changeit</a:t>
            </a:r>
            <a:r>
              <a:rPr lang="fr-FR" dirty="0"/>
              <a:t> »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835E944-43A5-4EEF-866F-FCA18043FD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940" y="1539899"/>
            <a:ext cx="6938191" cy="4757294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1D08E758-3511-4FC2-BDD6-09DE6B7672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0329" y="3583290"/>
            <a:ext cx="4186519" cy="2713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9171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68943E-4851-4799-ABBC-7B13D2EB0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120588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err="1"/>
              <a:t>Generate</a:t>
            </a:r>
            <a:r>
              <a:rPr lang="fr-FR" dirty="0"/>
              <a:t> a New </a:t>
            </a:r>
            <a:r>
              <a:rPr lang="fr-FR" dirty="0" err="1"/>
              <a:t>KeyPair</a:t>
            </a:r>
            <a:r>
              <a:rPr lang="fr-FR" dirty="0"/>
              <a:t> </a:t>
            </a:r>
            <a:br>
              <a:rPr lang="fr-FR" dirty="0"/>
            </a:br>
            <a:r>
              <a:rPr lang="fr-FR" dirty="0"/>
              <a:t>(</a:t>
            </a:r>
            <a:r>
              <a:rPr lang="fr-FR" dirty="0" err="1"/>
              <a:t>private</a:t>
            </a:r>
            <a:r>
              <a:rPr lang="fr-FR" dirty="0"/>
              <a:t> + public part of </a:t>
            </a:r>
            <a:r>
              <a:rPr lang="fr-FR" dirty="0" err="1"/>
              <a:t>Certificate</a:t>
            </a:r>
            <a:r>
              <a:rPr lang="fr-FR" dirty="0"/>
              <a:t>)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76FC722-CBBB-4269-BDD1-E2DB0B0AE0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855" y="1241009"/>
            <a:ext cx="3734124" cy="3551228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6D21AC14-910F-448E-AEEE-A93C9D3679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4575" y="2183022"/>
            <a:ext cx="2728196" cy="2491956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69A4B95D-DB79-4ABA-A7E0-C7DD485867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121" y="2763000"/>
            <a:ext cx="4922947" cy="3375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33604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0F83AA-4A30-48FB-921F-E7D19CF19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81317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Edit « </a:t>
            </a:r>
            <a:r>
              <a:rPr lang="fr-FR" dirty="0" err="1"/>
              <a:t>Names</a:t>
            </a:r>
            <a:r>
              <a:rPr lang="fr-FR" dirty="0"/>
              <a:t> »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525357DB-C4FB-467B-94AF-7DEC28059D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7613" y="1497177"/>
            <a:ext cx="6195597" cy="3558848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5B0C1552-BE54-479D-87B9-F4E0B5BC56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2084" y="3809999"/>
            <a:ext cx="3889246" cy="2712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43995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6E94534-BDCB-4643-81AB-3054EC3FD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Enter « alias »  </a:t>
            </a:r>
            <a:br>
              <a:rPr lang="fr-FR" dirty="0"/>
            </a:br>
            <a:r>
              <a:rPr lang="fr-FR" dirty="0"/>
              <a:t>(</a:t>
            </a:r>
            <a:r>
              <a:rPr lang="fr-FR" dirty="0" err="1"/>
              <a:t>name</a:t>
            </a:r>
            <a:r>
              <a:rPr lang="fr-FR" dirty="0"/>
              <a:t> of </a:t>
            </a:r>
            <a:r>
              <a:rPr lang="fr-FR" dirty="0" err="1"/>
              <a:t>KeyPair</a:t>
            </a:r>
            <a:r>
              <a:rPr lang="fr-FR" dirty="0"/>
              <a:t> entry in </a:t>
            </a:r>
            <a:r>
              <a:rPr lang="fr-FR" dirty="0" err="1"/>
              <a:t>KeyStore</a:t>
            </a:r>
            <a:r>
              <a:rPr lang="fr-FR" dirty="0"/>
              <a:t>)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2605943-12BF-41A6-A8A8-8820962304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0005" y="2792675"/>
            <a:ext cx="2651990" cy="127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74626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364C9B-A7FA-49E4-B1FA-206687F96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Optional</a:t>
            </a:r>
            <a:r>
              <a:rPr lang="fr-FR" dirty="0"/>
              <a:t>… Enter a </a:t>
            </a:r>
            <a:r>
              <a:rPr lang="fr-FR" dirty="0" err="1"/>
              <a:t>passphrase</a:t>
            </a:r>
            <a:r>
              <a:rPr lang="fr-FR" dirty="0"/>
              <a:t> for </a:t>
            </a:r>
            <a:r>
              <a:rPr lang="fr-FR" dirty="0" err="1"/>
              <a:t>this</a:t>
            </a:r>
            <a:r>
              <a:rPr lang="fr-FR" dirty="0"/>
              <a:t> Entry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B9FEFAF-4E4B-483C-BFA3-D533865FFE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178" y="2674554"/>
            <a:ext cx="3261643" cy="1508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75806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822577-6119-4AB2-8E22-1265C1141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KeyStore</a:t>
            </a:r>
            <a:r>
              <a:rPr lang="fr-FR" dirty="0"/>
              <a:t> </a:t>
            </a:r>
            <a:r>
              <a:rPr lang="fr-FR" dirty="0" err="1"/>
              <a:t>now</a:t>
            </a:r>
            <a:r>
              <a:rPr lang="fr-FR" dirty="0"/>
              <a:t> </a:t>
            </a:r>
            <a:r>
              <a:rPr lang="fr-FR" dirty="0" err="1"/>
              <a:t>contains</a:t>
            </a:r>
            <a:r>
              <a:rPr lang="fr-FR" dirty="0"/>
              <a:t> a RSA </a:t>
            </a:r>
            <a:r>
              <a:rPr lang="fr-FR" dirty="0" err="1"/>
              <a:t>KeyPair</a:t>
            </a:r>
            <a:r>
              <a:rPr lang="fr-FR" dirty="0"/>
              <a:t> Entry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6DC32E5-75B7-49A0-A862-A0FC5F98E6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5483" y="2240177"/>
            <a:ext cx="9381033" cy="2377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38254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B978C-C549-9BF0-6C2C-2EEBB38D8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0C0F1-46A5-0A14-00FA-1EC00D9DE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11" y="1"/>
            <a:ext cx="12010731" cy="161776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Alternative: </a:t>
            </a:r>
            <a:br>
              <a:rPr lang="fr-FR" dirty="0"/>
            </a:br>
            <a:r>
              <a:rPr lang="fr-FR" dirty="0" err="1"/>
              <a:t>Generate</a:t>
            </a:r>
            <a:r>
              <a:rPr lang="fr-FR" dirty="0"/>
              <a:t> self-</a:t>
            </a:r>
            <a:r>
              <a:rPr lang="fr-FR" dirty="0" err="1"/>
              <a:t>signed</a:t>
            </a:r>
            <a:r>
              <a:rPr lang="fr-FR" dirty="0"/>
              <a:t> </a:t>
            </a:r>
            <a:r>
              <a:rPr lang="fr-FR" dirty="0" err="1"/>
              <a:t>certificate</a:t>
            </a:r>
            <a:br>
              <a:rPr lang="fr-FR" dirty="0"/>
            </a:br>
            <a:r>
              <a:rPr lang="fr-FR" dirty="0" err="1"/>
              <a:t>From</a:t>
            </a:r>
            <a:r>
              <a:rPr lang="fr-FR" dirty="0"/>
              <a:t> java </a:t>
            </a:r>
            <a:r>
              <a:rPr lang="fr-FR" dirty="0" err="1"/>
              <a:t>KeyTool</a:t>
            </a:r>
            <a:r>
              <a:rPr lang="fr-FR" dirty="0"/>
              <a:t> Command Line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25E055-23CF-F47A-B729-62676C96036C}"/>
              </a:ext>
            </a:extLst>
          </p:cNvPr>
          <p:cNvSpPr txBox="1"/>
          <p:nvPr/>
        </p:nvSpPr>
        <p:spPr>
          <a:xfrm>
            <a:off x="312547" y="1807425"/>
            <a:ext cx="1179679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keytool</a:t>
            </a: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-</a:t>
            </a:r>
            <a:r>
              <a:rPr kumimoji="0" lang="fr-FR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genkeypair</a:t>
            </a: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-alias </a:t>
            </a:r>
            <a:r>
              <a:rPr kumimoji="0" lang="fr-FR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mycert</a:t>
            </a: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-</a:t>
            </a:r>
            <a:r>
              <a:rPr kumimoji="0" lang="fr-FR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keyalg</a:t>
            </a: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RSA -</a:t>
            </a:r>
            <a:r>
              <a:rPr kumimoji="0" lang="fr-FR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keysize</a:t>
            </a: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2048 -</a:t>
            </a:r>
            <a:r>
              <a:rPr kumimoji="0" lang="fr-FR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storetype</a:t>
            </a: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PKCS12 -</a:t>
            </a:r>
            <a:r>
              <a:rPr kumimoji="0" lang="fr-FR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keystore</a:t>
            </a: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mycert.p12 </a:t>
            </a:r>
            <a:b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      -</a:t>
            </a:r>
            <a:r>
              <a:rPr kumimoji="0" lang="fr-FR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validity</a:t>
            </a: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3650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F96D54-022D-6873-EDEA-17C2027DA6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1153" y="5095986"/>
            <a:ext cx="5094411" cy="118120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C16E97D-C519-DD59-E21C-58DE33E67B4D}"/>
              </a:ext>
            </a:extLst>
          </p:cNvPr>
          <p:cNvSpPr txBox="1"/>
          <p:nvPr/>
        </p:nvSpPr>
        <p:spPr>
          <a:xfrm>
            <a:off x="790412" y="3429000"/>
            <a:ext cx="1047081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Troubleshooting 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"</a:t>
            </a:r>
            <a:r>
              <a:rPr kumimoji="0" lang="fr-F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keytool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" </a:t>
            </a:r>
            <a:r>
              <a:rPr kumimoji="0" lang="fr-F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 </a:t>
            </a:r>
            <a:r>
              <a:rPr kumimoji="0" lang="fr-F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tool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in </a:t>
            </a:r>
            <a:r>
              <a:rPr kumimoji="0" lang="fr-F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your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fr-F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jdk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/bin directory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check  "</a:t>
            </a:r>
            <a:r>
              <a:rPr kumimoji="0" lang="fr-F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where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fr-F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keytool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" =&gt; </a:t>
            </a:r>
            <a:r>
              <a:rPr kumimoji="0" lang="fr-F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it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fr-F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should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fr-F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fr-F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found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in </a:t>
            </a:r>
            <a:r>
              <a:rPr kumimoji="0" lang="fr-F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your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"PATH" </a:t>
            </a:r>
            <a:r>
              <a:rPr kumimoji="0" lang="fr-F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environment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variable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check "</a:t>
            </a:r>
            <a:r>
              <a:rPr kumimoji="0" lang="fr-F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echo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$PATH"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... to fix, use </a:t>
            </a:r>
            <a:r>
              <a:rPr kumimoji="0" lang="fr-F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windows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"</a:t>
            </a:r>
            <a:r>
              <a:rPr kumimoji="0" lang="fr-F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env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" to </a:t>
            </a:r>
            <a:r>
              <a:rPr kumimoji="0" lang="fr-F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edit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fr-F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your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fr-F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environement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variables, or  export PATH="$PATH:$JAVA_HOME/bin"</a:t>
            </a:r>
          </a:p>
        </p:txBody>
      </p:sp>
    </p:spTree>
    <p:extLst>
      <p:ext uri="{BB962C8B-B14F-4D97-AF65-F5344CB8AC3E}">
        <p14:creationId xmlns:p14="http://schemas.microsoft.com/office/powerpoint/2010/main" val="7572101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34F59-F552-837A-2762-AF5103CF0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9DDB6-ECF0-4B52-0E1F-7D9D9A6F2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116926"/>
          </a:xfrm>
        </p:spPr>
        <p:txBody>
          <a:bodyPr>
            <a:normAutofit fontScale="90000"/>
          </a:bodyPr>
          <a:lstStyle/>
          <a:p>
            <a:r>
              <a:rPr lang="fr-FR" dirty="0"/>
              <a:t>interactive </a:t>
            </a:r>
            <a:r>
              <a:rPr lang="fr-FR" dirty="0" err="1"/>
              <a:t>answer</a:t>
            </a:r>
            <a:r>
              <a:rPr lang="fr-FR" dirty="0"/>
              <a:t> to prompt (</a:t>
            </a:r>
            <a:r>
              <a:rPr lang="fr-FR" dirty="0" err="1"/>
              <a:t>any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ok)</a:t>
            </a:r>
            <a:br>
              <a:rPr lang="fr-FR" dirty="0"/>
            </a:br>
            <a:r>
              <a:rPr lang="fr-FR" dirty="0" err="1"/>
              <a:t>lastly</a:t>
            </a:r>
            <a:r>
              <a:rPr lang="fr-FR" dirty="0"/>
              <a:t> "Is </a:t>
            </a:r>
            <a:r>
              <a:rPr lang="fr-FR" dirty="0" err="1"/>
              <a:t>it</a:t>
            </a:r>
            <a:r>
              <a:rPr lang="fr-FR" dirty="0"/>
              <a:t> CN=.... ? " [no]:   type yes !!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592720-0C33-8533-2830-52286A8CC2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7668" y="1116927"/>
            <a:ext cx="7430686" cy="561753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CF442C7-9648-964A-0DBD-9927FDC40188}"/>
              </a:ext>
            </a:extLst>
          </p:cNvPr>
          <p:cNvSpPr/>
          <p:nvPr/>
        </p:nvSpPr>
        <p:spPr>
          <a:xfrm>
            <a:off x="2979115" y="5741073"/>
            <a:ext cx="1241590" cy="2051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739458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B1E10-0DD0-7776-3A64-038A3A41C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1DEDE-7B87-3B2C-1D46-DC2346FD4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14400"/>
          </a:xfrm>
        </p:spPr>
        <p:txBody>
          <a:bodyPr/>
          <a:lstStyle/>
          <a:p>
            <a:r>
              <a:rPr lang="fr-FR" dirty="0"/>
              <a:t>Copy file "mycert.p12" in </a:t>
            </a:r>
            <a:r>
              <a:rPr lang="fr-FR" dirty="0" err="1"/>
              <a:t>project</a:t>
            </a:r>
            <a:endParaRPr lang="fr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A0E32A-5A8B-E902-033B-9B56F7C25F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7111" y="1736496"/>
            <a:ext cx="3894157" cy="429424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34C8308-910D-FE39-6DF1-17F369F669CF}"/>
              </a:ext>
            </a:extLst>
          </p:cNvPr>
          <p:cNvSpPr/>
          <p:nvPr/>
        </p:nvSpPr>
        <p:spPr>
          <a:xfrm>
            <a:off x="4706319" y="4825139"/>
            <a:ext cx="1250196" cy="27896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224813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251B95-90E6-40BB-9885-D0E4AC543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11458"/>
          </a:xfrm>
        </p:spPr>
        <p:txBody>
          <a:bodyPr>
            <a:normAutofit/>
          </a:bodyPr>
          <a:lstStyle/>
          <a:p>
            <a:pPr algn="ctr"/>
            <a:r>
              <a:rPr lang="fr-FR" dirty="0"/>
              <a:t>Notice… </a:t>
            </a:r>
            <a:r>
              <a:rPr lang="fr-FR" dirty="0" err="1"/>
              <a:t>Certificate</a:t>
            </a:r>
            <a:r>
              <a:rPr lang="fr-FR" dirty="0"/>
              <a:t> (self-</a:t>
            </a:r>
            <a:r>
              <a:rPr lang="fr-FR" dirty="0" err="1"/>
              <a:t>signed</a:t>
            </a:r>
            <a:r>
              <a:rPr lang="fr-FR" dirty="0"/>
              <a:t>) =&gt; Chain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91A05958-C264-413D-BC3F-1B2C758ACC8D}"/>
              </a:ext>
            </a:extLst>
          </p:cNvPr>
          <p:cNvSpPr txBox="1"/>
          <p:nvPr/>
        </p:nvSpPr>
        <p:spPr>
          <a:xfrm>
            <a:off x="3881719" y="1373431"/>
            <a:ext cx="45970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/>
              <a:t>More </a:t>
            </a:r>
            <a:r>
              <a:rPr lang="fr-FR" sz="2400" b="1" dirty="0" err="1"/>
              <a:t>complex</a:t>
            </a:r>
            <a:r>
              <a:rPr lang="fr-FR" sz="2400" b="1" dirty="0"/>
              <a:t>…   Not </a:t>
            </a:r>
            <a:r>
              <a:rPr lang="fr-FR" sz="2400" b="1" dirty="0" err="1"/>
              <a:t>studied</a:t>
            </a:r>
            <a:r>
              <a:rPr lang="fr-FR" sz="2400" b="1" dirty="0"/>
              <a:t> </a:t>
            </a:r>
            <a:r>
              <a:rPr lang="fr-FR" sz="2400" b="1" dirty="0" err="1"/>
              <a:t>here</a:t>
            </a:r>
            <a:endParaRPr lang="fr-FR" sz="2400" b="1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5C60C7E-BBAA-4654-8D42-5FAFAAD80C32}"/>
              </a:ext>
            </a:extLst>
          </p:cNvPr>
          <p:cNvSpPr txBox="1"/>
          <p:nvPr/>
        </p:nvSpPr>
        <p:spPr>
          <a:xfrm>
            <a:off x="1183339" y="2236346"/>
            <a:ext cx="1051559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 err="1"/>
              <a:t>Step</a:t>
            </a:r>
            <a:r>
              <a:rPr lang="fr-FR" dirty="0"/>
              <a:t> 1/   </a:t>
            </a:r>
            <a:r>
              <a:rPr lang="fr-FR" dirty="0" err="1"/>
              <a:t>generate</a:t>
            </a:r>
            <a:r>
              <a:rPr lang="fr-FR" dirty="0"/>
              <a:t> a CA = « </a:t>
            </a:r>
            <a:r>
              <a:rPr lang="fr-FR" b="1" dirty="0" err="1"/>
              <a:t>Certificate</a:t>
            </a:r>
            <a:r>
              <a:rPr lang="fr-FR" b="1" dirty="0"/>
              <a:t> </a:t>
            </a:r>
            <a:r>
              <a:rPr lang="fr-FR" b="1" dirty="0" err="1"/>
              <a:t>Authority</a:t>
            </a:r>
            <a:r>
              <a:rPr lang="fr-FR" dirty="0"/>
              <a:t> »</a:t>
            </a:r>
          </a:p>
          <a:p>
            <a:r>
              <a:rPr lang="fr-FR" dirty="0" err="1"/>
              <a:t>openssl</a:t>
            </a:r>
            <a:r>
              <a:rPr lang="fr-FR" dirty="0"/>
              <a:t> </a:t>
            </a:r>
            <a:r>
              <a:rPr lang="fr-FR" dirty="0" err="1"/>
              <a:t>genrsa</a:t>
            </a:r>
            <a:r>
              <a:rPr lang="fr-FR" dirty="0"/>
              <a:t> -out </a:t>
            </a:r>
            <a:r>
              <a:rPr lang="fr-FR" dirty="0" err="1"/>
              <a:t>ca.key</a:t>
            </a:r>
            <a:r>
              <a:rPr lang="fr-FR" dirty="0"/>
              <a:t> 4096</a:t>
            </a:r>
          </a:p>
          <a:p>
            <a:endParaRPr lang="fr-FR" dirty="0"/>
          </a:p>
          <a:p>
            <a:r>
              <a:rPr lang="fr-FR" dirty="0" err="1"/>
              <a:t>Step</a:t>
            </a:r>
            <a:r>
              <a:rPr lang="fr-FR" dirty="0"/>
              <a:t> 2/ </a:t>
            </a:r>
            <a:r>
              <a:rPr lang="fr-FR" dirty="0" err="1"/>
              <a:t>Generate</a:t>
            </a:r>
            <a:r>
              <a:rPr lang="fr-FR" dirty="0"/>
              <a:t> a « CA </a:t>
            </a:r>
            <a:r>
              <a:rPr lang="fr-FR" dirty="0" err="1"/>
              <a:t>Certificate</a:t>
            </a:r>
            <a:r>
              <a:rPr lang="fr-FR" dirty="0"/>
              <a:t> »   (self-</a:t>
            </a:r>
            <a:r>
              <a:rPr lang="fr-FR" dirty="0" err="1"/>
              <a:t>signed</a:t>
            </a:r>
            <a:r>
              <a:rPr lang="fr-FR" dirty="0"/>
              <a:t> … </a:t>
            </a:r>
            <a:r>
              <a:rPr lang="fr-FR" dirty="0" err="1"/>
              <a:t>chicken</a:t>
            </a:r>
            <a:r>
              <a:rPr lang="fr-FR" dirty="0"/>
              <a:t> &amp; </a:t>
            </a:r>
            <a:r>
              <a:rPr lang="fr-FR" dirty="0" err="1"/>
              <a:t>egg</a:t>
            </a:r>
            <a:r>
              <a:rPr lang="fr-FR" dirty="0"/>
              <a:t> </a:t>
            </a:r>
            <a:r>
              <a:rPr lang="fr-FR" dirty="0" err="1"/>
              <a:t>problem</a:t>
            </a:r>
            <a:r>
              <a:rPr lang="fr-FR" dirty="0"/>
              <a:t>)</a:t>
            </a:r>
          </a:p>
          <a:p>
            <a:r>
              <a:rPr lang="en-US" dirty="0" err="1"/>
              <a:t>openssl</a:t>
            </a:r>
            <a:r>
              <a:rPr lang="en-US" dirty="0"/>
              <a:t> req -x509 -new -nodes  -key </a:t>
            </a:r>
            <a:r>
              <a:rPr lang="en-US" dirty="0" err="1"/>
              <a:t>ca.key</a:t>
            </a:r>
            <a:r>
              <a:rPr lang="en-US" dirty="0"/>
              <a:t>  -sha256  -days 3650   -out ca.crt</a:t>
            </a:r>
            <a:endParaRPr lang="fr-FR" dirty="0"/>
          </a:p>
          <a:p>
            <a:endParaRPr lang="fr-FR" dirty="0"/>
          </a:p>
          <a:p>
            <a:r>
              <a:rPr lang="fr-FR" dirty="0" err="1"/>
              <a:t>Step</a:t>
            </a:r>
            <a:r>
              <a:rPr lang="fr-FR" dirty="0"/>
              <a:t> 3/ </a:t>
            </a:r>
            <a:r>
              <a:rPr lang="fr-FR" dirty="0" err="1"/>
              <a:t>Generate</a:t>
            </a:r>
            <a:r>
              <a:rPr lang="fr-FR" dirty="0"/>
              <a:t> a CSR = « </a:t>
            </a:r>
            <a:r>
              <a:rPr lang="fr-FR" b="1" dirty="0" err="1"/>
              <a:t>Certificate</a:t>
            </a:r>
            <a:r>
              <a:rPr lang="fr-FR" b="1" dirty="0"/>
              <a:t> </a:t>
            </a:r>
            <a:r>
              <a:rPr lang="fr-FR" b="1" dirty="0" err="1"/>
              <a:t>Signing</a:t>
            </a:r>
            <a:r>
              <a:rPr lang="fr-FR" b="1" dirty="0"/>
              <a:t> </a:t>
            </a:r>
            <a:r>
              <a:rPr lang="fr-FR" b="1" dirty="0" err="1"/>
              <a:t>Request</a:t>
            </a:r>
            <a:r>
              <a:rPr lang="fr-FR" dirty="0"/>
              <a:t> »</a:t>
            </a:r>
          </a:p>
          <a:p>
            <a:r>
              <a:rPr lang="en-US" dirty="0" err="1"/>
              <a:t>openssl</a:t>
            </a:r>
            <a:r>
              <a:rPr lang="en-US" dirty="0"/>
              <a:t> req -new -key </a:t>
            </a:r>
            <a:r>
              <a:rPr lang="en-US" dirty="0" err="1"/>
              <a:t>server.key</a:t>
            </a:r>
            <a:r>
              <a:rPr lang="en-US" dirty="0"/>
              <a:t> -out </a:t>
            </a:r>
            <a:r>
              <a:rPr lang="en-US" dirty="0" err="1"/>
              <a:t>server.csr</a:t>
            </a:r>
            <a:endParaRPr lang="en-US" dirty="0"/>
          </a:p>
          <a:p>
            <a:endParaRPr lang="fr-FR" dirty="0"/>
          </a:p>
          <a:p>
            <a:r>
              <a:rPr lang="fr-FR" dirty="0" err="1"/>
              <a:t>Step</a:t>
            </a:r>
            <a:r>
              <a:rPr lang="fr-FR" dirty="0"/>
              <a:t> 4/ </a:t>
            </a:r>
            <a:r>
              <a:rPr lang="fr-FR" b="1" dirty="0" err="1"/>
              <a:t>Sign</a:t>
            </a:r>
            <a:r>
              <a:rPr lang="fr-FR" b="1" dirty="0"/>
              <a:t> the CSR </a:t>
            </a:r>
            <a:r>
              <a:rPr lang="fr-FR" b="1" dirty="0" err="1"/>
              <a:t>With</a:t>
            </a:r>
            <a:r>
              <a:rPr lang="fr-FR" b="1" dirty="0"/>
              <a:t> the CA, </a:t>
            </a:r>
            <a:r>
              <a:rPr lang="fr-FR" b="1" dirty="0" err="1"/>
              <a:t>with</a:t>
            </a:r>
            <a:r>
              <a:rPr lang="fr-FR" b="1" dirty="0"/>
              <a:t> </a:t>
            </a:r>
            <a:r>
              <a:rPr lang="fr-FR" b="1" dirty="0" err="1"/>
              <a:t>Alternate</a:t>
            </a:r>
            <a:r>
              <a:rPr lang="fr-FR" b="1" dirty="0"/>
              <a:t> </a:t>
            </a:r>
            <a:r>
              <a:rPr lang="fr-FR" b="1" dirty="0" err="1"/>
              <a:t>Subject</a:t>
            </a:r>
            <a:r>
              <a:rPr lang="fr-FR" b="1" dirty="0"/>
              <a:t> </a:t>
            </a:r>
            <a:r>
              <a:rPr lang="fr-FR" b="1" dirty="0" err="1"/>
              <a:t>Names</a:t>
            </a:r>
            <a:r>
              <a:rPr lang="fr-FR" b="1" dirty="0"/>
              <a:t> =&gt; CRT</a:t>
            </a:r>
            <a:br>
              <a:rPr lang="fr-FR" dirty="0"/>
            </a:br>
            <a:r>
              <a:rPr lang="fr-FR" dirty="0" err="1"/>
              <a:t>openssl</a:t>
            </a:r>
            <a:r>
              <a:rPr lang="fr-FR" dirty="0"/>
              <a:t> x509 -</a:t>
            </a:r>
            <a:r>
              <a:rPr lang="fr-FR" dirty="0" err="1"/>
              <a:t>req</a:t>
            </a:r>
            <a:r>
              <a:rPr lang="fr-FR" dirty="0"/>
              <a:t>  -in </a:t>
            </a:r>
            <a:r>
              <a:rPr lang="fr-FR" dirty="0" err="1"/>
              <a:t>server.csr</a:t>
            </a:r>
            <a:r>
              <a:rPr lang="fr-FR" dirty="0"/>
              <a:t> -CA ca.crt -</a:t>
            </a:r>
            <a:r>
              <a:rPr lang="fr-FR" dirty="0" err="1"/>
              <a:t>CAkey</a:t>
            </a:r>
            <a:r>
              <a:rPr lang="fr-FR" dirty="0"/>
              <a:t> </a:t>
            </a:r>
            <a:r>
              <a:rPr lang="fr-FR" dirty="0" err="1"/>
              <a:t>ca.key</a:t>
            </a:r>
            <a:r>
              <a:rPr lang="fr-FR" dirty="0"/>
              <a:t> -</a:t>
            </a:r>
            <a:r>
              <a:rPr lang="fr-FR" dirty="0" err="1"/>
              <a:t>CAcreateserial</a:t>
            </a:r>
            <a:r>
              <a:rPr lang="fr-FR" dirty="0"/>
              <a:t> -out server.crt -</a:t>
            </a:r>
            <a:r>
              <a:rPr lang="fr-FR" dirty="0" err="1"/>
              <a:t>days</a:t>
            </a:r>
            <a:r>
              <a:rPr lang="fr-FR" dirty="0"/>
              <a:t> 365 -sha256  -</a:t>
            </a:r>
            <a:r>
              <a:rPr lang="fr-FR" dirty="0" err="1"/>
              <a:t>extfile</a:t>
            </a:r>
            <a:r>
              <a:rPr lang="fr-FR" dirty="0"/>
              <a:t> </a:t>
            </a:r>
            <a:r>
              <a:rPr lang="fr-FR" dirty="0" err="1"/>
              <a:t>san.cnf</a:t>
            </a:r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4FCFF9E-EA59-4132-B97B-BB9F1DFBCF87}"/>
              </a:ext>
            </a:extLst>
          </p:cNvPr>
          <p:cNvSpPr txBox="1"/>
          <p:nvPr/>
        </p:nvSpPr>
        <p:spPr>
          <a:xfrm>
            <a:off x="389965" y="1835096"/>
            <a:ext cx="22591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For </a:t>
            </a:r>
            <a:r>
              <a:rPr lang="fr-FR" dirty="0" err="1"/>
              <a:t>curious</a:t>
            </a:r>
            <a:r>
              <a:rPr lang="fr-FR" dirty="0"/>
              <a:t> </a:t>
            </a:r>
            <a:r>
              <a:rPr lang="fr-FR" dirty="0" err="1"/>
              <a:t>students</a:t>
            </a:r>
            <a:r>
              <a:rPr lang="fr-FR" dirty="0"/>
              <a:t> : </a:t>
            </a:r>
          </a:p>
        </p:txBody>
      </p:sp>
    </p:spTree>
    <p:extLst>
      <p:ext uri="{BB962C8B-B14F-4D97-AF65-F5344CB8AC3E}">
        <p14:creationId xmlns:p14="http://schemas.microsoft.com/office/powerpoint/2010/main" val="21516933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63F055-1763-4140-A0A4-3582742EE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2753"/>
            <a:ext cx="10515600" cy="1255059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Manual Interactive   CA + CSR + </a:t>
            </a:r>
            <a:r>
              <a:rPr lang="fr-FR" dirty="0" err="1"/>
              <a:t>Sign</a:t>
            </a:r>
            <a:r>
              <a:rPr lang="fr-FR" dirty="0"/>
              <a:t>  </a:t>
            </a:r>
            <a:br>
              <a:rPr lang="fr-FR" dirty="0"/>
            </a:b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KeyStoreExplorer</a:t>
            </a:r>
            <a:r>
              <a:rPr lang="fr-FR" dirty="0"/>
              <a:t>?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8A9F799-2D7E-4693-BFA6-BB55D5C50B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8667" y="1315544"/>
            <a:ext cx="4690204" cy="2232118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1E56053D-945C-4983-868E-3038693B28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509" y="1315544"/>
            <a:ext cx="3452159" cy="3482642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B38590BF-C6FF-4E7D-8C48-07B6EB62DD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5298" y="3573333"/>
            <a:ext cx="5646702" cy="322191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ED2C34F-EDB1-4044-BBAD-0189D7640C8E}"/>
              </a:ext>
            </a:extLst>
          </p:cNvPr>
          <p:cNvSpPr/>
          <p:nvPr/>
        </p:nvSpPr>
        <p:spPr>
          <a:xfrm>
            <a:off x="1739001" y="3540766"/>
            <a:ext cx="1631728" cy="30509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1" name="Straight Arrow Connector 8">
            <a:extLst>
              <a:ext uri="{FF2B5EF4-FFF2-40B4-BE49-F238E27FC236}">
                <a16:creationId xmlns:a16="http://schemas.microsoft.com/office/drawing/2014/main" id="{C4693D2F-7ECD-4C5A-9839-FD8963649276}"/>
              </a:ext>
            </a:extLst>
          </p:cNvPr>
          <p:cNvCxnSpPr>
            <a:cxnSpLocks/>
          </p:cNvCxnSpPr>
          <p:nvPr/>
        </p:nvCxnSpPr>
        <p:spPr>
          <a:xfrm>
            <a:off x="1255059" y="2635624"/>
            <a:ext cx="331694" cy="1039905"/>
          </a:xfrm>
          <a:prstGeom prst="straightConnector1">
            <a:avLst/>
          </a:prstGeom>
          <a:ln w="381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8">
            <a:extLst>
              <a:ext uri="{FF2B5EF4-FFF2-40B4-BE49-F238E27FC236}">
                <a16:creationId xmlns:a16="http://schemas.microsoft.com/office/drawing/2014/main" id="{7AAA6FEE-18FD-42B5-BDED-0A8CF7053C8B}"/>
              </a:ext>
            </a:extLst>
          </p:cNvPr>
          <p:cNvCxnSpPr>
            <a:cxnSpLocks/>
          </p:cNvCxnSpPr>
          <p:nvPr/>
        </p:nvCxnSpPr>
        <p:spPr>
          <a:xfrm flipV="1">
            <a:off x="3469341" y="3065929"/>
            <a:ext cx="1030941" cy="609600"/>
          </a:xfrm>
          <a:prstGeom prst="straightConnector1">
            <a:avLst/>
          </a:prstGeom>
          <a:ln w="381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8">
            <a:extLst>
              <a:ext uri="{FF2B5EF4-FFF2-40B4-BE49-F238E27FC236}">
                <a16:creationId xmlns:a16="http://schemas.microsoft.com/office/drawing/2014/main" id="{614BC376-48E9-4DA7-A6D3-919C9F3205EA}"/>
              </a:ext>
            </a:extLst>
          </p:cNvPr>
          <p:cNvCxnSpPr>
            <a:cxnSpLocks/>
          </p:cNvCxnSpPr>
          <p:nvPr/>
        </p:nvCxnSpPr>
        <p:spPr>
          <a:xfrm>
            <a:off x="6096000" y="3675529"/>
            <a:ext cx="331694" cy="1039905"/>
          </a:xfrm>
          <a:prstGeom prst="straightConnector1">
            <a:avLst/>
          </a:prstGeom>
          <a:ln w="381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973866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FBA258-20D3-4565-879D-D4FD74F4D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290917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Example of </a:t>
            </a:r>
            <a:r>
              <a:rPr lang="fr-FR" dirty="0" err="1"/>
              <a:t>Issuers</a:t>
            </a:r>
            <a:r>
              <a:rPr lang="fr-FR" dirty="0"/>
              <a:t>: </a:t>
            </a:r>
            <a:br>
              <a:rPr lang="fr-FR" dirty="0"/>
            </a:br>
            <a:r>
              <a:rPr lang="fr-FR" dirty="0"/>
              <a:t>  « </a:t>
            </a:r>
            <a:r>
              <a:rPr lang="fr-FR" dirty="0" err="1"/>
              <a:t>Let’s</a:t>
            </a:r>
            <a:r>
              <a:rPr lang="fr-FR" dirty="0"/>
              <a:t> </a:t>
            </a:r>
            <a:r>
              <a:rPr lang="fr-FR" dirty="0" err="1"/>
              <a:t>Encrypt</a:t>
            </a:r>
            <a:r>
              <a:rPr lang="fr-FR" dirty="0"/>
              <a:t> », « Go Daddy », etc.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FE5B0FE-3347-4619-84BF-7229BCBA74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436" y="2619675"/>
            <a:ext cx="5224442" cy="2965841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3F4DB190-6596-4F42-BA6C-EA175792B91F}"/>
              </a:ext>
            </a:extLst>
          </p:cNvPr>
          <p:cNvSpPr txBox="1"/>
          <p:nvPr/>
        </p:nvSpPr>
        <p:spPr>
          <a:xfrm>
            <a:off x="519953" y="177419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>
                <a:hlinkClick r:id="rId3"/>
              </a:rPr>
              <a:t>https://letsencrypt.org/</a:t>
            </a:r>
            <a:r>
              <a:rPr lang="fr-FR" sz="2400" dirty="0"/>
              <a:t> 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DAD136E9-FAA8-4FAE-A2C0-2BDAF1B9C5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0470" y="2619675"/>
            <a:ext cx="5381649" cy="3115264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A78A6237-1DFE-4972-983F-92ADC7DA3ADF}"/>
              </a:ext>
            </a:extLst>
          </p:cNvPr>
          <p:cNvSpPr txBox="1"/>
          <p:nvPr/>
        </p:nvSpPr>
        <p:spPr>
          <a:xfrm>
            <a:off x="6230470" y="1774193"/>
            <a:ext cx="39444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>
                <a:hlinkClick r:id="rId5"/>
              </a:rPr>
              <a:t>https://www.godaddy.com/</a:t>
            </a:r>
            <a:r>
              <a:rPr lang="fr-FR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2355944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22F5F0-8370-4ADA-AE29-6D80B11D1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00"/>
            <a:ext cx="10515600" cy="1344706"/>
          </a:xfrm>
        </p:spPr>
        <p:txBody>
          <a:bodyPr/>
          <a:lstStyle/>
          <a:p>
            <a:pPr algn="ctr"/>
            <a:r>
              <a:rPr lang="fr-FR" dirty="0"/>
              <a:t>Re-Open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springboot</a:t>
            </a:r>
            <a:br>
              <a:rPr lang="fr-FR" dirty="0"/>
            </a:br>
            <a:r>
              <a:rPr lang="fr-FR" dirty="0"/>
              <a:t> « web » </a:t>
            </a:r>
            <a:r>
              <a:rPr lang="fr-FR" dirty="0" err="1"/>
              <a:t>demo</a:t>
            </a:r>
            <a:r>
              <a:rPr lang="fr-FR" dirty="0"/>
              <a:t> </a:t>
            </a:r>
            <a:r>
              <a:rPr lang="fr-FR" dirty="0" err="1"/>
              <a:t>project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7571951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98508-B227-AC7A-6D9E-9F92CCA6A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7F11A-BE21-88A2-A85F-32EA62008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"/>
            <a:ext cx="11307305" cy="1172704"/>
          </a:xfrm>
        </p:spPr>
        <p:txBody>
          <a:bodyPr>
            <a:normAutofit fontScale="90000"/>
          </a:bodyPr>
          <a:lstStyle/>
          <a:p>
            <a:r>
              <a:rPr lang="fr-FR" dirty="0"/>
              <a:t>Edit src/main/</a:t>
            </a:r>
            <a:r>
              <a:rPr lang="fr-FR" dirty="0" err="1"/>
              <a:t>resources</a:t>
            </a:r>
            <a:r>
              <a:rPr lang="fr-FR" dirty="0"/>
              <a:t>/</a:t>
            </a:r>
            <a:r>
              <a:rPr lang="fr-FR" dirty="0" err="1"/>
              <a:t>application.properties</a:t>
            </a:r>
            <a:br>
              <a:rPr lang="fr-FR" dirty="0"/>
            </a:br>
            <a:r>
              <a:rPr lang="fr-FR" dirty="0"/>
              <a:t>to configure SSL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143D87-7020-2D9A-412E-AE99226DA373}"/>
              </a:ext>
            </a:extLst>
          </p:cNvPr>
          <p:cNvSpPr txBox="1"/>
          <p:nvPr/>
        </p:nvSpPr>
        <p:spPr>
          <a:xfrm>
            <a:off x="7031064" y="3429000"/>
            <a:ext cx="6096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server.port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=8443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server.ssl.enabled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</a:t>
            </a:r>
            <a:r>
              <a:rPr kumimoji="0" lang="fr-FR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true</a:t>
            </a: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server.ssl.key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-store-type=PKCS12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server.ssl.key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-store=mycert.p12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server.ssl.key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-store-</a:t>
            </a:r>
            <a:r>
              <a:rPr kumimoji="0" lang="fr-FR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password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</a:t>
            </a:r>
            <a:r>
              <a:rPr kumimoji="0" lang="fr-FR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password</a:t>
            </a: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server.ssl.key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-alias=</a:t>
            </a:r>
            <a:r>
              <a:rPr kumimoji="0" lang="fr-FR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mycert</a:t>
            </a: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4C9E9C-00DE-574F-AAC1-15C0E84D35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19" y="2050454"/>
            <a:ext cx="6686821" cy="267765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C6E5B16-1253-B0BF-72B7-3DAC457E5D94}"/>
              </a:ext>
            </a:extLst>
          </p:cNvPr>
          <p:cNvSpPr/>
          <p:nvPr/>
        </p:nvSpPr>
        <p:spPr>
          <a:xfrm>
            <a:off x="3475062" y="3678265"/>
            <a:ext cx="2564111" cy="95572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AB733FA-05C5-E4C7-86E4-E01BDD455F0B}"/>
              </a:ext>
            </a:extLst>
          </p:cNvPr>
          <p:cNvSpPr/>
          <p:nvPr/>
        </p:nvSpPr>
        <p:spPr>
          <a:xfrm>
            <a:off x="1062491" y="4241369"/>
            <a:ext cx="1453401" cy="2353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D8CB9DF-AFDE-E58F-2FB8-70EFCD9716C5}"/>
              </a:ext>
            </a:extLst>
          </p:cNvPr>
          <p:cNvCxnSpPr>
            <a:cxnSpLocks/>
          </p:cNvCxnSpPr>
          <p:nvPr/>
        </p:nvCxnSpPr>
        <p:spPr>
          <a:xfrm flipV="1">
            <a:off x="2594675" y="4107051"/>
            <a:ext cx="801954" cy="251968"/>
          </a:xfrm>
          <a:prstGeom prst="straightConnector1">
            <a:avLst/>
          </a:prstGeom>
          <a:ln w="381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725946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457EA-40F7-3282-B2DD-E147B9FB3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CE939-AB16-DA2A-6933-4A12D8165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93736"/>
          </a:xfrm>
        </p:spPr>
        <p:txBody>
          <a:bodyPr/>
          <a:lstStyle/>
          <a:p>
            <a:r>
              <a:rPr lang="fr-FR" dirty="0" err="1"/>
              <a:t>Relaunch</a:t>
            </a:r>
            <a:r>
              <a:rPr lang="fr-FR" dirty="0"/>
              <a:t> server, check new console log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03238E-38F6-B16E-3205-3E55C209E8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891" y="996958"/>
            <a:ext cx="10652502" cy="568579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33F697B-C156-C744-9DE9-C7440F6F0A0B}"/>
              </a:ext>
            </a:extLst>
          </p:cNvPr>
          <p:cNvSpPr/>
          <p:nvPr/>
        </p:nvSpPr>
        <p:spPr>
          <a:xfrm>
            <a:off x="4348133" y="5770536"/>
            <a:ext cx="7005667" cy="41328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588D522-2892-0844-3845-83726A52D06B}"/>
              </a:ext>
            </a:extLst>
          </p:cNvPr>
          <p:cNvSpPr/>
          <p:nvPr/>
        </p:nvSpPr>
        <p:spPr>
          <a:xfrm>
            <a:off x="8901193" y="893737"/>
            <a:ext cx="470116" cy="41328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ABBFBFA-0A83-FD71-1122-A3E9344D5208}"/>
              </a:ext>
            </a:extLst>
          </p:cNvPr>
          <p:cNvCxnSpPr>
            <a:cxnSpLocks/>
          </p:cNvCxnSpPr>
          <p:nvPr/>
        </p:nvCxnSpPr>
        <p:spPr>
          <a:xfrm flipH="1">
            <a:off x="7702658" y="1369017"/>
            <a:ext cx="1420678" cy="4324027"/>
          </a:xfrm>
          <a:prstGeom prst="straightConnector1">
            <a:avLst/>
          </a:prstGeom>
          <a:ln w="381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859811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13D02-B03A-6574-A920-75A8A6CBB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EE3CA-4D74-28A5-216D-11C663BFF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43185"/>
          </a:xfrm>
        </p:spPr>
        <p:txBody>
          <a:bodyPr/>
          <a:lstStyle/>
          <a:p>
            <a:r>
              <a:rPr lang="fr-FR" dirty="0"/>
              <a:t>port </a:t>
            </a:r>
            <a:r>
              <a:rPr lang="fr-FR" dirty="0" err="1"/>
              <a:t>changed</a:t>
            </a:r>
            <a:r>
              <a:rPr lang="fr-FR" dirty="0"/>
              <a:t> 8080 (default for http) </a:t>
            </a:r>
            <a:br>
              <a:rPr lang="fr-FR" dirty="0"/>
            </a:br>
            <a:r>
              <a:rPr lang="fr-FR" dirty="0"/>
              <a:t>-&gt; 8443 (default for https)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FE9424-399D-8D9F-A694-2CBF344645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8014" y="1657295"/>
            <a:ext cx="4261872" cy="458182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7A46E1C-1F88-3DBE-4D93-C7B906E23A8D}"/>
              </a:ext>
            </a:extLst>
          </p:cNvPr>
          <p:cNvSpPr txBox="1"/>
          <p:nvPr/>
        </p:nvSpPr>
        <p:spPr>
          <a:xfrm>
            <a:off x="909234" y="3089329"/>
            <a:ext cx="318298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on </a:t>
            </a:r>
            <a:r>
              <a:rPr kumimoji="0" lang="fr-F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previous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port 8080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=&gt; "ERROR Connection </a:t>
            </a:r>
            <a:r>
              <a:rPr kumimoji="0" lang="fr-F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refused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"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OK, Normal !!</a:t>
            </a:r>
          </a:p>
        </p:txBody>
      </p:sp>
    </p:spTree>
    <p:extLst>
      <p:ext uri="{BB962C8B-B14F-4D97-AF65-F5344CB8AC3E}">
        <p14:creationId xmlns:p14="http://schemas.microsoft.com/office/powerpoint/2010/main" val="126038045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C2786-E1CF-4075-3E2F-B93B6923B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23BD8-E16F-FF2B-D9C6-2A2CF5687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"/>
            <a:ext cx="11209149" cy="1245030"/>
          </a:xfrm>
        </p:spPr>
        <p:txBody>
          <a:bodyPr>
            <a:normAutofit fontScale="90000"/>
          </a:bodyPr>
          <a:lstStyle/>
          <a:p>
            <a:r>
              <a:rPr lang="fr-FR" dirty="0"/>
              <a:t>https://localhost:8443   (self-</a:t>
            </a:r>
            <a:r>
              <a:rPr lang="fr-FR" dirty="0" err="1"/>
              <a:t>signed</a:t>
            </a:r>
            <a:r>
              <a:rPr lang="fr-FR" dirty="0"/>
              <a:t> </a:t>
            </a:r>
            <a:r>
              <a:rPr lang="fr-FR" dirty="0" err="1"/>
              <a:t>certificate</a:t>
            </a:r>
            <a:r>
              <a:rPr lang="fr-FR" dirty="0"/>
              <a:t>)</a:t>
            </a:r>
            <a:br>
              <a:rPr lang="fr-FR" dirty="0"/>
            </a:br>
            <a:r>
              <a:rPr lang="fr-FR" dirty="0"/>
              <a:t>CERT_AUTHORITY_INVALID   ... OK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2C7ABD-5BE9-9098-BE6D-7E22F943AF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980" y="1385475"/>
            <a:ext cx="9389976" cy="5167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07294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949B6-8561-B172-0842-FC252806F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5113A-55FF-A685-B831-DB98A1082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2391904"/>
          </a:xfrm>
        </p:spPr>
        <p:txBody>
          <a:bodyPr/>
          <a:lstStyle/>
          <a:p>
            <a:r>
              <a:rPr lang="fr-FR" dirty="0" err="1"/>
              <a:t>Why</a:t>
            </a:r>
            <a:r>
              <a:rPr lang="fr-FR" dirty="0"/>
              <a:t> ?</a:t>
            </a:r>
            <a:br>
              <a:rPr lang="fr-FR" dirty="0"/>
            </a:br>
            <a:r>
              <a:rPr lang="fr-FR" dirty="0"/>
              <a:t>... </a:t>
            </a:r>
            <a:r>
              <a:rPr lang="fr-FR" dirty="0" err="1"/>
              <a:t>because</a:t>
            </a:r>
            <a:r>
              <a:rPr lang="fr-FR" dirty="0"/>
              <a:t> of self-</a:t>
            </a:r>
            <a:r>
              <a:rPr lang="fr-FR" dirty="0" err="1"/>
              <a:t>signed</a:t>
            </a:r>
            <a:r>
              <a:rPr lang="fr-FR" dirty="0"/>
              <a:t> </a:t>
            </a:r>
            <a:r>
              <a:rPr lang="fr-FR" dirty="0" err="1"/>
              <a:t>certificate</a:t>
            </a:r>
            <a:br>
              <a:rPr lang="fr-FR" dirty="0"/>
            </a:br>
            <a:r>
              <a:rPr lang="fr-FR" dirty="0"/>
              <a:t>NOT </a:t>
            </a:r>
            <a:r>
              <a:rPr lang="fr-FR" dirty="0" err="1"/>
              <a:t>built-in</a:t>
            </a:r>
            <a:r>
              <a:rPr lang="fr-FR" dirty="0"/>
              <a:t> </a:t>
            </a:r>
            <a:r>
              <a:rPr lang="fr-FR" dirty="0" err="1"/>
              <a:t>recognized</a:t>
            </a:r>
            <a:r>
              <a:rPr lang="fr-FR" dirty="0"/>
              <a:t> in </a:t>
            </a:r>
            <a:r>
              <a:rPr lang="fr-FR" dirty="0" err="1"/>
              <a:t>your</a:t>
            </a:r>
            <a:r>
              <a:rPr lang="fr-FR" dirty="0"/>
              <a:t> Chrome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C70051-8CC3-D680-916D-800BE1F69CB2}"/>
              </a:ext>
            </a:extLst>
          </p:cNvPr>
          <p:cNvSpPr txBox="1"/>
          <p:nvPr/>
        </p:nvSpPr>
        <p:spPr>
          <a:xfrm>
            <a:off x="2288582" y="3332136"/>
            <a:ext cx="7908127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Alternatives 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=&gt; click on "ADVANCED" </a:t>
            </a:r>
            <a:r>
              <a:rPr kumimoji="0" lang="fr-F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button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to </a:t>
            </a:r>
            <a:r>
              <a:rPr kumimoji="0" lang="fr-F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accept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self-</a:t>
            </a:r>
            <a:r>
              <a:rPr kumimoji="0" lang="fr-F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signed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fr-F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certificate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=&gt; </a:t>
            </a:r>
            <a:r>
              <a:rPr kumimoji="0" lang="fr-F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Add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in Windows (</a:t>
            </a:r>
            <a:r>
              <a:rPr kumimoji="0" lang="fr-F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CertMgr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User-</a:t>
            </a:r>
            <a:r>
              <a:rPr kumimoji="0" lang="fr-F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defined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fr-F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certificates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=&gt; </a:t>
            </a:r>
            <a:r>
              <a:rPr kumimoji="0" lang="fr-F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pay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200 EURO/</a:t>
            </a:r>
            <a:r>
              <a:rPr kumimoji="0" lang="fr-F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year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to have a </a:t>
            </a:r>
            <a:r>
              <a:rPr kumimoji="0" lang="fr-F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valid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fr-F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certificate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=&gt; use GO-DADDY   or </a:t>
            </a:r>
            <a:r>
              <a:rPr kumimoji="0" lang="fr-F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other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fr-F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signing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fr-F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Authority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on internet  (</a:t>
            </a:r>
            <a:r>
              <a:rPr kumimoji="0" lang="fr-F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recognized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by Chrome)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893163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8F91E-8743-39CA-4B21-F43B29C88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AEBAF-94A3-7625-12D1-819CF5345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93736"/>
          </a:xfrm>
        </p:spPr>
        <p:txBody>
          <a:bodyPr/>
          <a:lstStyle/>
          <a:p>
            <a:r>
              <a:rPr lang="fr-FR" dirty="0"/>
              <a:t>Advanced &gt; </a:t>
            </a:r>
            <a:r>
              <a:rPr lang="fr-FR" dirty="0" err="1"/>
              <a:t>Proceed</a:t>
            </a:r>
            <a:r>
              <a:rPr lang="fr-FR" dirty="0"/>
              <a:t> to (</a:t>
            </a:r>
            <a:r>
              <a:rPr lang="fr-FR" dirty="0" err="1"/>
              <a:t>unsafe</a:t>
            </a:r>
            <a:r>
              <a:rPr lang="fr-FR" dirty="0"/>
              <a:t>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2E0689-6DBF-7FAA-0852-580965ACBD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765"/>
          <a:stretch/>
        </p:blipFill>
        <p:spPr>
          <a:xfrm>
            <a:off x="0" y="755211"/>
            <a:ext cx="6416299" cy="400164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ED71F9A-BE14-D723-9C1E-C2585CA1AD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1396" y="869685"/>
            <a:ext cx="6612678" cy="481302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B7F647F-95C7-0612-96A5-4D3AE177D624}"/>
              </a:ext>
            </a:extLst>
          </p:cNvPr>
          <p:cNvSpPr/>
          <p:nvPr/>
        </p:nvSpPr>
        <p:spPr>
          <a:xfrm>
            <a:off x="3381365" y="4615351"/>
            <a:ext cx="45719" cy="60443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57748C-4282-7F69-F556-09D4AE4E071E}"/>
              </a:ext>
            </a:extLst>
          </p:cNvPr>
          <p:cNvSpPr/>
          <p:nvPr/>
        </p:nvSpPr>
        <p:spPr>
          <a:xfrm>
            <a:off x="576879" y="4060555"/>
            <a:ext cx="807638" cy="3926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97A4E0D-A91B-8879-036D-6806A93329E3}"/>
              </a:ext>
            </a:extLst>
          </p:cNvPr>
          <p:cNvCxnSpPr>
            <a:cxnSpLocks/>
          </p:cNvCxnSpPr>
          <p:nvPr/>
        </p:nvCxnSpPr>
        <p:spPr>
          <a:xfrm>
            <a:off x="1384517" y="4227283"/>
            <a:ext cx="1837588" cy="1164835"/>
          </a:xfrm>
          <a:prstGeom prst="straightConnector1">
            <a:avLst/>
          </a:prstGeom>
          <a:ln w="381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2D24A258-FEC6-938E-D024-33F19F0E3824}"/>
              </a:ext>
            </a:extLst>
          </p:cNvPr>
          <p:cNvSpPr/>
          <p:nvPr/>
        </p:nvSpPr>
        <p:spPr>
          <a:xfrm>
            <a:off x="3359006" y="5222928"/>
            <a:ext cx="1424986" cy="3383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4204249-7A5F-D575-3F6D-0CB532AC69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0012" y="4287850"/>
            <a:ext cx="3733832" cy="2204060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BDB1F4A-1617-C80A-8D86-B0A64118AED5}"/>
              </a:ext>
            </a:extLst>
          </p:cNvPr>
          <p:cNvCxnSpPr>
            <a:cxnSpLocks/>
          </p:cNvCxnSpPr>
          <p:nvPr/>
        </p:nvCxnSpPr>
        <p:spPr>
          <a:xfrm flipV="1">
            <a:off x="4835653" y="4756860"/>
            <a:ext cx="4329011" cy="635258"/>
          </a:xfrm>
          <a:prstGeom prst="straightConnector1">
            <a:avLst/>
          </a:prstGeom>
          <a:ln w="381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D726FDB6-C531-5C0D-B570-3B2A2221AC73}"/>
              </a:ext>
            </a:extLst>
          </p:cNvPr>
          <p:cNvSpPr/>
          <p:nvPr/>
        </p:nvSpPr>
        <p:spPr>
          <a:xfrm>
            <a:off x="9204267" y="4615351"/>
            <a:ext cx="2238647" cy="28211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352276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E4D28-F118-174A-C4C1-D1D3C81F9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3D29C-3009-105C-BDA5-781212982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198535"/>
          </a:xfrm>
        </p:spPr>
        <p:txBody>
          <a:bodyPr>
            <a:normAutofit fontScale="90000"/>
          </a:bodyPr>
          <a:lstStyle/>
          <a:p>
            <a:r>
              <a:rPr lang="fr-FR" dirty="0"/>
              <a:t>Chrome </a:t>
            </a:r>
            <a:r>
              <a:rPr lang="fr-FR" dirty="0" err="1"/>
              <a:t>DevTools</a:t>
            </a:r>
            <a:r>
              <a:rPr lang="fr-FR" dirty="0"/>
              <a:t> Network </a:t>
            </a:r>
            <a:r>
              <a:rPr lang="fr-FR" dirty="0" err="1"/>
              <a:t>requests</a:t>
            </a:r>
            <a:r>
              <a:rPr lang="fr-FR" dirty="0"/>
              <a:t> </a:t>
            </a:r>
            <a:br>
              <a:rPr lang="fr-FR" dirty="0"/>
            </a:br>
            <a:r>
              <a:rPr lang="fr-FR" dirty="0"/>
              <a:t>... </a:t>
            </a:r>
            <a:r>
              <a:rPr lang="fr-FR" dirty="0" err="1"/>
              <a:t>same</a:t>
            </a:r>
            <a:r>
              <a:rPr lang="fr-FR" dirty="0"/>
              <a:t> on "https://"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873D3D-239B-13FF-94FC-B77FC99A63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2266" y="1348353"/>
            <a:ext cx="7710188" cy="544248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46AD940-B728-5BB0-3D63-673CCEA00D9F}"/>
              </a:ext>
            </a:extLst>
          </p:cNvPr>
          <p:cNvSpPr/>
          <p:nvPr/>
        </p:nvSpPr>
        <p:spPr>
          <a:xfrm>
            <a:off x="6747360" y="3120325"/>
            <a:ext cx="1079284" cy="22214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135210-2C61-C743-A743-F1D72B80EC98}"/>
              </a:ext>
            </a:extLst>
          </p:cNvPr>
          <p:cNvSpPr/>
          <p:nvPr/>
        </p:nvSpPr>
        <p:spPr>
          <a:xfrm>
            <a:off x="5061055" y="1477504"/>
            <a:ext cx="807638" cy="3926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5BD240F-9F48-9265-3F60-E434B0EBF479}"/>
              </a:ext>
            </a:extLst>
          </p:cNvPr>
          <p:cNvCxnSpPr>
            <a:cxnSpLocks/>
          </p:cNvCxnSpPr>
          <p:nvPr/>
        </p:nvCxnSpPr>
        <p:spPr>
          <a:xfrm flipH="1">
            <a:off x="4055390" y="1870128"/>
            <a:ext cx="1379349" cy="1074550"/>
          </a:xfrm>
          <a:prstGeom prst="straightConnector1">
            <a:avLst/>
          </a:prstGeom>
          <a:ln w="381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191222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7B66A-50EE-5D47-DD66-BDB6731AE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2C6C7-6574-CBEC-EDF4-F20ACC2F4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93736"/>
          </a:xfrm>
        </p:spPr>
        <p:txBody>
          <a:bodyPr/>
          <a:lstStyle/>
          <a:p>
            <a:r>
              <a:rPr lang="fr-FR" dirty="0"/>
              <a:t>Chrome </a:t>
            </a:r>
            <a:r>
              <a:rPr lang="fr-FR" dirty="0" err="1"/>
              <a:t>DevTools</a:t>
            </a:r>
            <a:r>
              <a:rPr lang="fr-FR" dirty="0"/>
              <a:t> "Security" tab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343FC3-70F6-F293-D374-B238B11126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2536" y="964313"/>
            <a:ext cx="7921119" cy="558863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CA1AE25-CFB1-599B-54CD-BA10FA3DE04C}"/>
              </a:ext>
            </a:extLst>
          </p:cNvPr>
          <p:cNvSpPr/>
          <p:nvPr/>
        </p:nvSpPr>
        <p:spPr>
          <a:xfrm>
            <a:off x="7644106" y="1141707"/>
            <a:ext cx="807638" cy="3926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94283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8923E-6F04-AB55-EA9C-8443394BF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F9D8-65DB-D0D7-2940-2033B65F5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93736"/>
          </a:xfrm>
        </p:spPr>
        <p:txBody>
          <a:bodyPr/>
          <a:lstStyle/>
          <a:p>
            <a:r>
              <a:rPr lang="fr-FR" dirty="0" err="1"/>
              <a:t>See</a:t>
            </a:r>
            <a:r>
              <a:rPr lang="fr-FR" dirty="0"/>
              <a:t> </a:t>
            </a:r>
            <a:r>
              <a:rPr lang="fr-FR" dirty="0" err="1"/>
              <a:t>Also</a:t>
            </a:r>
            <a:r>
              <a:rPr lang="fr-FR" dirty="0"/>
              <a:t> Chrome -&gt; </a:t>
            </a:r>
            <a:r>
              <a:rPr lang="fr-FR" dirty="0" err="1"/>
              <a:t>Certificate</a:t>
            </a:r>
            <a:r>
              <a:rPr lang="fr-FR" dirty="0"/>
              <a:t> Details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A054F4-66E0-BF53-C1E2-DA0B22077B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085" y="1315950"/>
            <a:ext cx="4496190" cy="412277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623DEAD-F25D-F541-8BF2-1C37CE9A1B47}"/>
              </a:ext>
            </a:extLst>
          </p:cNvPr>
          <p:cNvSpPr/>
          <p:nvPr/>
        </p:nvSpPr>
        <p:spPr>
          <a:xfrm flipH="1">
            <a:off x="4427348" y="4236203"/>
            <a:ext cx="379861" cy="2769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42C264-C74E-75E8-1C8F-22F52F0F28C1}"/>
              </a:ext>
            </a:extLst>
          </p:cNvPr>
          <p:cNvSpPr/>
          <p:nvPr/>
        </p:nvSpPr>
        <p:spPr>
          <a:xfrm>
            <a:off x="1827075" y="1735809"/>
            <a:ext cx="988449" cy="3926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1B988B6-6082-2C6B-182F-AA27EC3D642D}"/>
              </a:ext>
            </a:extLst>
          </p:cNvPr>
          <p:cNvCxnSpPr>
            <a:cxnSpLocks/>
          </p:cNvCxnSpPr>
          <p:nvPr/>
        </p:nvCxnSpPr>
        <p:spPr>
          <a:xfrm>
            <a:off x="2252420" y="2236922"/>
            <a:ext cx="743919" cy="1999281"/>
          </a:xfrm>
          <a:prstGeom prst="straightConnector1">
            <a:avLst/>
          </a:prstGeom>
          <a:ln w="381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C6A338A-4F7D-7C8A-49D4-3A856D963026}"/>
              </a:ext>
            </a:extLst>
          </p:cNvPr>
          <p:cNvCxnSpPr>
            <a:cxnSpLocks/>
          </p:cNvCxnSpPr>
          <p:nvPr/>
        </p:nvCxnSpPr>
        <p:spPr>
          <a:xfrm>
            <a:off x="4990349" y="4439086"/>
            <a:ext cx="826682" cy="184575"/>
          </a:xfrm>
          <a:prstGeom prst="straightConnector1">
            <a:avLst/>
          </a:prstGeom>
          <a:ln w="381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4AFEA29-7F3F-9658-DB15-BFBC46C8E4DD}"/>
              </a:ext>
            </a:extLst>
          </p:cNvPr>
          <p:cNvSpPr txBox="1"/>
          <p:nvPr/>
        </p:nvSpPr>
        <p:spPr>
          <a:xfrm>
            <a:off x="6079343" y="4374677"/>
            <a:ext cx="527445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Suggestion ...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open </a:t>
            </a:r>
            <a:r>
              <a:rPr kumimoji="0" lang="fr-F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view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on a real web-site, "https://www.google.fr"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</a:t>
            </a:r>
            <a:r>
              <a:rPr kumimoji="0" lang="fr-F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see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 </a:t>
            </a:r>
            <a:r>
              <a:rPr kumimoji="0" lang="fr-F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valid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fr-F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signed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fr-F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certificate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032816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42B63F-A976-43B5-8239-7297C5CD9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109" y="0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Importing</a:t>
            </a:r>
            <a:r>
              <a:rPr lang="fr-FR" dirty="0"/>
              <a:t> </a:t>
            </a:r>
            <a:r>
              <a:rPr lang="fr-FR" dirty="0" err="1"/>
              <a:t>your</a:t>
            </a:r>
            <a:r>
              <a:rPr lang="fr-FR" dirty="0"/>
              <a:t> Self-</a:t>
            </a:r>
            <a:r>
              <a:rPr lang="fr-FR" dirty="0" err="1"/>
              <a:t>Signed</a:t>
            </a:r>
            <a:r>
              <a:rPr lang="fr-FR" dirty="0"/>
              <a:t> Cert in Windows</a:t>
            </a:r>
            <a:br>
              <a:rPr lang="fr-FR" dirty="0"/>
            </a:br>
            <a:r>
              <a:rPr lang="fr-FR" dirty="0"/>
              <a:t>(</a:t>
            </a:r>
            <a:r>
              <a:rPr lang="fr-FR" dirty="0" err="1"/>
              <a:t>Using</a:t>
            </a:r>
            <a:r>
              <a:rPr lang="fr-FR" dirty="0"/>
              <a:t> </a:t>
            </a:r>
            <a:r>
              <a:rPr lang="fr-FR" dirty="0" err="1"/>
              <a:t>KeyStore</a:t>
            </a:r>
            <a:r>
              <a:rPr lang="fr-FR" dirty="0"/>
              <a:t> Explorer)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9328156-AFE0-432A-8835-64D0251F6E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9908" y="3780706"/>
            <a:ext cx="6027129" cy="2856505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AAADA203-3E93-446A-828E-B480F85E31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172" y="1495859"/>
            <a:ext cx="5730737" cy="2933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82804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1EF681-D302-4118-B0CE-A2E2BCFCE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Alternative… </a:t>
            </a:r>
            <a:r>
              <a:rPr lang="fr-FR" dirty="0" err="1"/>
              <a:t>Importing</a:t>
            </a:r>
            <a:r>
              <a:rPr lang="fr-FR" dirty="0"/>
              <a:t> </a:t>
            </a:r>
            <a:r>
              <a:rPr lang="fr-FR" dirty="0" err="1"/>
              <a:t>directly</a:t>
            </a:r>
            <a:r>
              <a:rPr lang="fr-FR" dirty="0"/>
              <a:t> in Windows</a:t>
            </a:r>
            <a:br>
              <a:rPr lang="fr-FR" dirty="0"/>
            </a:br>
            <a:r>
              <a:rPr lang="fr-FR" dirty="0"/>
              <a:t>( 20 Clicks)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AC0C0B4-2CEB-4D46-B00B-B99AF2794639}"/>
              </a:ext>
            </a:extLst>
          </p:cNvPr>
          <p:cNvSpPr txBox="1"/>
          <p:nvPr/>
        </p:nvSpPr>
        <p:spPr>
          <a:xfrm>
            <a:off x="3460377" y="2770366"/>
            <a:ext cx="63918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Notice </a:t>
            </a:r>
            <a:r>
              <a:rPr lang="fr-FR" dirty="0" err="1"/>
              <a:t>old</a:t>
            </a:r>
            <a:r>
              <a:rPr lang="fr-FR" dirty="0"/>
              <a:t> versions of Windows </a:t>
            </a:r>
            <a:r>
              <a:rPr lang="fr-FR" dirty="0" err="1"/>
              <a:t>used</a:t>
            </a:r>
            <a:r>
              <a:rPr lang="fr-FR" dirty="0"/>
              <a:t> to support </a:t>
            </a:r>
            <a:r>
              <a:rPr lang="fr-FR" dirty="0" err="1"/>
              <a:t>only</a:t>
            </a:r>
            <a:r>
              <a:rPr lang="fr-FR" dirty="0"/>
              <a:t> « *.</a:t>
            </a:r>
            <a:r>
              <a:rPr lang="fr-FR" dirty="0" err="1"/>
              <a:t>pfx</a:t>
            </a:r>
            <a:r>
              <a:rPr lang="fr-FR" dirty="0"/>
              <a:t> » file</a:t>
            </a:r>
          </a:p>
          <a:p>
            <a:r>
              <a:rPr lang="fr-FR" dirty="0"/>
              <a:t>(</a:t>
            </a:r>
            <a:r>
              <a:rPr lang="fr-FR" dirty="0" err="1"/>
              <a:t>need</a:t>
            </a:r>
            <a:r>
              <a:rPr lang="fr-FR" dirty="0"/>
              <a:t> to do conversion  PEM / PKCS12 -&gt;  .</a:t>
            </a:r>
            <a:r>
              <a:rPr lang="fr-FR" dirty="0" err="1"/>
              <a:t>pfx</a:t>
            </a:r>
            <a:r>
              <a:rPr lang="fr-FR" dirty="0"/>
              <a:t> )</a:t>
            </a:r>
          </a:p>
          <a:p>
            <a:endParaRPr lang="fr-FR" dirty="0"/>
          </a:p>
          <a:p>
            <a:r>
              <a:rPr lang="fr-FR" dirty="0" err="1"/>
              <a:t>Now</a:t>
            </a:r>
            <a:r>
              <a:rPr lang="fr-FR" dirty="0"/>
              <a:t> OK,  can import </a:t>
            </a:r>
            <a:r>
              <a:rPr lang="fr-FR" dirty="0" err="1"/>
              <a:t>directly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PKCS12   (but not </a:t>
            </a:r>
            <a:r>
              <a:rPr lang="fr-FR" dirty="0" err="1"/>
              <a:t>jks</a:t>
            </a:r>
            <a:r>
              <a:rPr lang="fr-F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7117630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 16">
            <a:extLst>
              <a:ext uri="{FF2B5EF4-FFF2-40B4-BE49-F238E27FC236}">
                <a16:creationId xmlns:a16="http://schemas.microsoft.com/office/drawing/2014/main" id="{BB32D6B6-D386-4DB6-BEBC-AD7CCA8CDC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900" y="1180905"/>
            <a:ext cx="10844200" cy="449619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7E0C5667-110A-4C25-9933-1BC621F86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96472"/>
          </a:xfrm>
        </p:spPr>
        <p:txBody>
          <a:bodyPr>
            <a:normAutofit/>
          </a:bodyPr>
          <a:lstStyle/>
          <a:p>
            <a:pPr algn="ctr"/>
            <a:r>
              <a:rPr lang="fr-FR" dirty="0" err="1"/>
              <a:t>Importing</a:t>
            </a:r>
            <a:r>
              <a:rPr lang="fr-FR" dirty="0"/>
              <a:t> </a:t>
            </a:r>
            <a:r>
              <a:rPr lang="fr-FR" dirty="0" err="1"/>
              <a:t>Certificate</a:t>
            </a:r>
            <a:r>
              <a:rPr lang="fr-FR" dirty="0"/>
              <a:t> in Windows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24ABE5-34C1-41F5-8BBE-FB87457D54F7}"/>
              </a:ext>
            </a:extLst>
          </p:cNvPr>
          <p:cNvSpPr/>
          <p:nvPr/>
        </p:nvSpPr>
        <p:spPr>
          <a:xfrm>
            <a:off x="1100934" y="2330822"/>
            <a:ext cx="808548" cy="24098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A2921BE-E0CC-4953-B574-A7F41BF2310A}"/>
              </a:ext>
            </a:extLst>
          </p:cNvPr>
          <p:cNvCxnSpPr>
            <a:cxnSpLocks/>
          </p:cNvCxnSpPr>
          <p:nvPr/>
        </p:nvCxnSpPr>
        <p:spPr>
          <a:xfrm>
            <a:off x="3512441" y="2612077"/>
            <a:ext cx="259977" cy="197223"/>
          </a:xfrm>
          <a:prstGeom prst="straightConnector1">
            <a:avLst/>
          </a:prstGeom>
          <a:ln w="381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7A521142-D32C-4BF3-A70A-2D31DC8FC71D}"/>
              </a:ext>
            </a:extLst>
          </p:cNvPr>
          <p:cNvSpPr/>
          <p:nvPr/>
        </p:nvSpPr>
        <p:spPr>
          <a:xfrm>
            <a:off x="1983958" y="2431874"/>
            <a:ext cx="1516761" cy="24098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539ABF-DA24-4448-BE32-2DE8605F5443}"/>
              </a:ext>
            </a:extLst>
          </p:cNvPr>
          <p:cNvSpPr/>
          <p:nvPr/>
        </p:nvSpPr>
        <p:spPr>
          <a:xfrm>
            <a:off x="3794831" y="2672856"/>
            <a:ext cx="618564" cy="2191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678988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E44CB1-C7BF-4BD4-8A38-8F23BBF67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528918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err="1"/>
              <a:t>Importing</a:t>
            </a:r>
            <a:r>
              <a:rPr lang="fr-FR" dirty="0"/>
              <a:t> …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6DC5830-2BB2-47E0-B43A-671C188128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368" y="1174377"/>
            <a:ext cx="3287344" cy="339561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B5DAB78B-49B1-49E8-A105-EFDAD6F3B9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8936" y="2005024"/>
            <a:ext cx="3694127" cy="3832795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987EF983-B460-44BA-AF29-43A19F9E5D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1287" y="3021105"/>
            <a:ext cx="3532298" cy="3659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72779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ABC4E6-E3EC-4389-BD9C-E9F48CA60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62000"/>
          </a:xfrm>
        </p:spPr>
        <p:txBody>
          <a:bodyPr>
            <a:normAutofit/>
          </a:bodyPr>
          <a:lstStyle/>
          <a:p>
            <a:pPr algn="ctr"/>
            <a:r>
              <a:rPr lang="fr-FR" dirty="0" err="1"/>
              <a:t>Importing</a:t>
            </a:r>
            <a:r>
              <a:rPr lang="fr-FR" dirty="0"/>
              <a:t>…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E7FEBBB-37A8-406A-8A7C-A7815CAD64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452" y="762001"/>
            <a:ext cx="3953790" cy="4078272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08388386-856A-45AB-B352-6857455D1B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013" y="1622611"/>
            <a:ext cx="4039350" cy="4197279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5F8AF41E-E464-46D6-94D3-F23171353E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2675" y="4483623"/>
            <a:ext cx="2209992" cy="1691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51562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56645E-41D2-4DF3-B48B-1669FE20D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Imported</a:t>
            </a:r>
            <a:r>
              <a:rPr lang="fr-FR" dirty="0"/>
              <a:t> !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C02551B-F728-4F8B-88B6-1C25701174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710" y="1638145"/>
            <a:ext cx="10836579" cy="358171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87547E9-70FF-45A7-AFBD-816D78CFEC6F}"/>
              </a:ext>
            </a:extLst>
          </p:cNvPr>
          <p:cNvSpPr/>
          <p:nvPr/>
        </p:nvSpPr>
        <p:spPr>
          <a:xfrm>
            <a:off x="3463136" y="3056965"/>
            <a:ext cx="8173052" cy="21150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934188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400A033-F245-4C6B-89A9-4095702A1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… Check </a:t>
            </a:r>
            <a:r>
              <a:rPr lang="fr-FR" dirty="0" err="1"/>
              <a:t>Your</a:t>
            </a:r>
            <a:r>
              <a:rPr lang="fr-FR" dirty="0"/>
              <a:t> web page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now</a:t>
            </a:r>
            <a:r>
              <a:rPr lang="fr-FR" dirty="0"/>
              <a:t> « </a:t>
            </a:r>
            <a:r>
              <a:rPr lang="fr-FR" dirty="0" err="1"/>
              <a:t>Secured</a:t>
            </a:r>
            <a:r>
              <a:rPr lang="fr-FR" dirty="0"/>
              <a:t> »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9B77BC7-2D59-4B06-9ACF-2729A0F96B74}"/>
              </a:ext>
            </a:extLst>
          </p:cNvPr>
          <p:cNvSpPr txBox="1"/>
          <p:nvPr/>
        </p:nvSpPr>
        <p:spPr>
          <a:xfrm>
            <a:off x="3281083" y="2814917"/>
            <a:ext cx="610987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Relaunch</a:t>
            </a:r>
            <a:r>
              <a:rPr lang="fr-FR" dirty="0"/>
              <a:t> </a:t>
            </a:r>
            <a:r>
              <a:rPr lang="fr-FR" dirty="0" err="1"/>
              <a:t>your</a:t>
            </a:r>
            <a:r>
              <a:rPr lang="fr-FR" dirty="0"/>
              <a:t> Web Browser  (re-import  Windows-&gt;Chrome??)</a:t>
            </a:r>
            <a:br>
              <a:rPr lang="fr-FR" dirty="0"/>
            </a:br>
            <a:br>
              <a:rPr lang="fr-FR" dirty="0"/>
            </a:br>
            <a:r>
              <a:rPr lang="fr-FR" dirty="0"/>
              <a:t>Re-open   </a:t>
            </a:r>
            <a:r>
              <a:rPr lang="fr-FR" dirty="0">
                <a:hlinkClick r:id="rId2"/>
              </a:rPr>
              <a:t>https://localhost:443</a:t>
            </a:r>
            <a:r>
              <a:rPr lang="fr-FR" dirty="0"/>
              <a:t> </a:t>
            </a:r>
            <a:br>
              <a:rPr lang="fr-FR" dirty="0"/>
            </a:br>
            <a:br>
              <a:rPr lang="fr-FR" dirty="0"/>
            </a:br>
            <a:r>
              <a:rPr lang="fr-FR" dirty="0"/>
              <a:t>Check </a:t>
            </a:r>
            <a:r>
              <a:rPr lang="fr-FR" dirty="0" err="1"/>
              <a:t>that</a:t>
            </a:r>
            <a:r>
              <a:rPr lang="fr-FR" dirty="0"/>
              <a:t> Web site </a:t>
            </a:r>
            <a:r>
              <a:rPr lang="fr-FR" dirty="0" err="1"/>
              <a:t>is</a:t>
            </a:r>
            <a:r>
              <a:rPr lang="fr-FR" dirty="0"/>
              <a:t> « </a:t>
            </a:r>
            <a:r>
              <a:rPr lang="fr-FR" dirty="0" err="1"/>
              <a:t>Secured</a:t>
            </a:r>
            <a:r>
              <a:rPr lang="fr-FR" dirty="0"/>
              <a:t> »   … </a:t>
            </a:r>
            <a:r>
              <a:rPr lang="fr-FR" dirty="0" err="1"/>
              <a:t>take</a:t>
            </a:r>
            <a:r>
              <a:rPr lang="fr-FR" dirty="0"/>
              <a:t> </a:t>
            </a:r>
            <a:r>
              <a:rPr lang="fr-FR" dirty="0" err="1"/>
              <a:t>screenshot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7449816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1C2B7C-B656-4A7A-990B-45BFFD014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482" y="320301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Questions ?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9DD3974F-E239-4A18-9658-C3339AEE14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393" y="1768870"/>
            <a:ext cx="9271214" cy="4728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0392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316</TotalTime>
  <Words>2247</Words>
  <Application>Microsoft Office PowerPoint</Application>
  <PresentationFormat>Grand écran</PresentationFormat>
  <Paragraphs>216</Paragraphs>
  <Slides>66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66</vt:i4>
      </vt:variant>
    </vt:vector>
  </HeadingPairs>
  <TitlesOfParts>
    <vt:vector size="71" baseType="lpstr">
      <vt:lpstr>Arial</vt:lpstr>
      <vt:lpstr>Calibri</vt:lpstr>
      <vt:lpstr>Calibri Light</vt:lpstr>
      <vt:lpstr>Thème Office</vt:lpstr>
      <vt:lpstr>Office Theme</vt:lpstr>
      <vt:lpstr>Workshop Https Certificate</vt:lpstr>
      <vt:lpstr>Outline</vt:lpstr>
      <vt:lpstr>Part 1 … Https  Certificate on Client-Side   (using Web Browser)</vt:lpstr>
      <vt:lpstr>Open a Https://  web site</vt:lpstr>
      <vt:lpstr>Using ChromeDev tool, check the TCP port is 443 (http =&gt; 80, or 8080   /   https =&gt; 443)</vt:lpstr>
      <vt:lpstr>View the Certificate</vt:lpstr>
      <vt:lpstr>Certificate View (Tab: General)</vt:lpstr>
      <vt:lpstr>Certificate Details</vt:lpstr>
      <vt:lpstr>Certificate Hierarchy</vt:lpstr>
      <vt:lpstr>Remark:  Can also view certificate from DevTool &gt; Privacy and security &gt; View Certificate</vt:lpstr>
      <vt:lpstr>Export the Certificate as a single certificate *.pem file</vt:lpstr>
      <vt:lpstr>View (base64 = text file)</vt:lpstr>
      <vt:lpstr>Compare with full certificate Chain</vt:lpstr>
      <vt:lpstr>Part 1 b/ … Https  Certificate on Client-Side   (using Shell Commands Line)</vt:lpstr>
      <vt:lpstr>Https  connection from Shell Command Line(curl)</vt:lpstr>
      <vt:lpstr>Https From Curl -vv</vt:lpstr>
      <vt:lpstr>Certificate From OpenSSL command</vt:lpstr>
      <vt:lpstr>Openssl … see also option « -showcerts »</vt:lpstr>
      <vt:lpstr>Saving Certificate From openssl</vt:lpstr>
      <vt:lpstr>Converting between DER &lt;-&gt; PEM ..</vt:lpstr>
      <vt:lpstr>Part 2 :  Trusted Certificate</vt:lpstr>
      <vt:lpstr>Converting *.pem to Java « trustore » JKS format &amp;&amp; Running java with Trust Store</vt:lpstr>
      <vt:lpstr>Certificate/Issuers  Trusted by default in Java</vt:lpstr>
      <vt:lpstr>Listing all Trusted Certs  (=&gt; 152 in jdk 21)</vt:lpstr>
      <vt:lpstr>Trusted Certificate by Your Browser </vt:lpstr>
      <vt:lpstr>=&gt; rely on your OS (Windows / Mac / …)   52 Certificates</vt:lpstr>
      <vt:lpstr>Trusted Certificates …</vt:lpstr>
      <vt:lpstr>Open Windows  Trusted Cert « certmgr »</vt:lpstr>
      <vt:lpstr>Windows CertMgr  (57 certs)</vt:lpstr>
      <vt:lpstr>Certificate Details</vt:lpstr>
      <vt:lpstr>Example of a Deprecated/Unsafe Certificate …</vt:lpstr>
      <vt:lpstr>Find a valid (as-of 2026),  but still stupid: 2048 bits and using SHA-1  ???</vt:lpstr>
      <vt:lpstr>Part 3 … Https  Certificate on Server-Side</vt:lpstr>
      <vt:lpstr>Generate your Https Self-signed certificate Using KeyStore Explorer UI app</vt:lpstr>
      <vt:lpstr>Install, Launch kse.exe</vt:lpstr>
      <vt:lpstr>Step 1: Create a New KeyStore</vt:lpstr>
      <vt:lpstr>Save your PKCS#12 file   (prompt for password, example: changeit »</vt:lpstr>
      <vt:lpstr>Generate a New KeyPair  (private + public part of Certificate)</vt:lpstr>
      <vt:lpstr>Edit « Names »</vt:lpstr>
      <vt:lpstr>Enter « alias »   (name of KeyPair entry in KeyStore)</vt:lpstr>
      <vt:lpstr>Optional… Enter a passphrase for this Entry</vt:lpstr>
      <vt:lpstr>KeyStore now contains a RSA KeyPair Entry</vt:lpstr>
      <vt:lpstr>Alternative:  Generate self-signed certificate From java KeyTool Command Line</vt:lpstr>
      <vt:lpstr>interactive answer to prompt (any is ok) lastly "Is it CN=.... ? " [no]:   type yes !!</vt:lpstr>
      <vt:lpstr>Copy file "mycert.p12" in project</vt:lpstr>
      <vt:lpstr>Notice… Certificate (self-signed) =&gt; Chain</vt:lpstr>
      <vt:lpstr>Manual Interactive   CA + CSR + Sign   with KeyStoreExplorer?</vt:lpstr>
      <vt:lpstr>Example of Issuers:    « Let’s Encrypt », « Go Daddy », etc.</vt:lpstr>
      <vt:lpstr>Re-Open your springboot  « web » demo project</vt:lpstr>
      <vt:lpstr>Edit src/main/resources/application.properties to configure SSL</vt:lpstr>
      <vt:lpstr>Relaunch server, check new console log</vt:lpstr>
      <vt:lpstr>port changed 8080 (default for http)  -&gt; 8443 (default for https)</vt:lpstr>
      <vt:lpstr>https://localhost:8443   (self-signed certificate) CERT_AUTHORITY_INVALID   ... OK</vt:lpstr>
      <vt:lpstr>Why ? ... because of self-signed certificate NOT built-in recognized in your Chrome</vt:lpstr>
      <vt:lpstr>Advanced &gt; Proceed to (unsafe)</vt:lpstr>
      <vt:lpstr>Chrome DevTools Network requests  ... same on "https://"</vt:lpstr>
      <vt:lpstr>Chrome DevTools "Security" tab</vt:lpstr>
      <vt:lpstr>See Also Chrome -&gt; Certificate Details</vt:lpstr>
      <vt:lpstr>Importing your Self-Signed Cert in Windows (Using KeyStore Explorer)</vt:lpstr>
      <vt:lpstr>Alternative… Importing directly in Windows ( 20 Clicks)</vt:lpstr>
      <vt:lpstr>Importing Certificate in Windows</vt:lpstr>
      <vt:lpstr>Importing …</vt:lpstr>
      <vt:lpstr>Importing…</vt:lpstr>
      <vt:lpstr>Imported !</vt:lpstr>
      <vt:lpstr>… Check Your web page is now « Secured »</vt:lpstr>
      <vt:lpstr>Questions 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Workshop Https</dc:title>
  <dc:creator>arnaud</dc:creator>
  <cp:lastModifiedBy>arnaud</cp:lastModifiedBy>
  <cp:revision>35</cp:revision>
  <dcterms:created xsi:type="dcterms:W3CDTF">2026-03-07T09:35:23Z</dcterms:created>
  <dcterms:modified xsi:type="dcterms:W3CDTF">2026-03-07T14:51:24Z</dcterms:modified>
</cp:coreProperties>
</file>