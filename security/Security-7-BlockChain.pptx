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0"/>
  </p:notesMasterIdLst>
  <p:sldIdLst>
    <p:sldId id="256" r:id="rId2"/>
    <p:sldId id="268" r:id="rId3"/>
    <p:sldId id="339" r:id="rId4"/>
    <p:sldId id="340" r:id="rId5"/>
    <p:sldId id="341" r:id="rId6"/>
    <p:sldId id="342" r:id="rId7"/>
    <p:sldId id="269" r:id="rId8"/>
    <p:sldId id="344" r:id="rId9"/>
    <p:sldId id="343" r:id="rId10"/>
    <p:sldId id="345" r:id="rId11"/>
    <p:sldId id="346" r:id="rId12"/>
    <p:sldId id="347" r:id="rId13"/>
    <p:sldId id="349" r:id="rId14"/>
    <p:sldId id="348" r:id="rId15"/>
    <p:sldId id="351" r:id="rId16"/>
    <p:sldId id="350" r:id="rId17"/>
    <p:sldId id="257" r:id="rId18"/>
    <p:sldId id="324" r:id="rId19"/>
    <p:sldId id="325" r:id="rId20"/>
    <p:sldId id="326" r:id="rId21"/>
    <p:sldId id="287" r:id="rId22"/>
    <p:sldId id="352" r:id="rId23"/>
    <p:sldId id="353" r:id="rId24"/>
    <p:sldId id="286" r:id="rId25"/>
    <p:sldId id="258" r:id="rId26"/>
    <p:sldId id="262" r:id="rId27"/>
    <p:sldId id="261" r:id="rId28"/>
    <p:sldId id="263" r:id="rId29"/>
    <p:sldId id="264" r:id="rId30"/>
    <p:sldId id="260" r:id="rId31"/>
    <p:sldId id="265" r:id="rId32"/>
    <p:sldId id="266" r:id="rId33"/>
    <p:sldId id="267" r:id="rId34"/>
    <p:sldId id="354" r:id="rId35"/>
    <p:sldId id="271" r:id="rId36"/>
    <p:sldId id="273" r:id="rId37"/>
    <p:sldId id="329" r:id="rId38"/>
    <p:sldId id="328" r:id="rId39"/>
    <p:sldId id="274" r:id="rId40"/>
    <p:sldId id="259" r:id="rId41"/>
    <p:sldId id="330" r:id="rId42"/>
    <p:sldId id="327" r:id="rId43"/>
    <p:sldId id="332" r:id="rId44"/>
    <p:sldId id="333" r:id="rId45"/>
    <p:sldId id="331" r:id="rId46"/>
    <p:sldId id="335" r:id="rId47"/>
    <p:sldId id="337" r:id="rId48"/>
    <p:sldId id="338" r:id="rId49"/>
    <p:sldId id="272" r:id="rId50"/>
    <p:sldId id="334" r:id="rId51"/>
    <p:sldId id="336" r:id="rId52"/>
    <p:sldId id="270" r:id="rId53"/>
    <p:sldId id="396" r:id="rId54"/>
    <p:sldId id="275" r:id="rId55"/>
    <p:sldId id="278" r:id="rId56"/>
    <p:sldId id="370" r:id="rId57"/>
    <p:sldId id="276" r:id="rId58"/>
    <p:sldId id="279" r:id="rId59"/>
    <p:sldId id="281" r:id="rId60"/>
    <p:sldId id="280" r:id="rId61"/>
    <p:sldId id="282" r:id="rId62"/>
    <p:sldId id="283" r:id="rId63"/>
    <p:sldId id="369" r:id="rId64"/>
    <p:sldId id="284" r:id="rId65"/>
    <p:sldId id="285" r:id="rId66"/>
    <p:sldId id="355" r:id="rId67"/>
    <p:sldId id="360" r:id="rId68"/>
    <p:sldId id="356" r:id="rId69"/>
    <p:sldId id="357" r:id="rId70"/>
    <p:sldId id="359" r:id="rId71"/>
    <p:sldId id="358" r:id="rId72"/>
    <p:sldId id="277" r:id="rId73"/>
    <p:sldId id="361" r:id="rId74"/>
    <p:sldId id="362" r:id="rId75"/>
    <p:sldId id="366" r:id="rId76"/>
    <p:sldId id="367" r:id="rId77"/>
    <p:sldId id="393" r:id="rId78"/>
    <p:sldId id="394" r:id="rId79"/>
    <p:sldId id="395" r:id="rId80"/>
    <p:sldId id="398" r:id="rId81"/>
    <p:sldId id="397" r:id="rId82"/>
    <p:sldId id="400" r:id="rId83"/>
    <p:sldId id="399" r:id="rId84"/>
    <p:sldId id="363" r:id="rId85"/>
    <p:sldId id="365" r:id="rId86"/>
    <p:sldId id="377" r:id="rId87"/>
    <p:sldId id="368" r:id="rId88"/>
    <p:sldId id="371" r:id="rId89"/>
    <p:sldId id="378" r:id="rId90"/>
    <p:sldId id="375" r:id="rId91"/>
    <p:sldId id="376" r:id="rId92"/>
    <p:sldId id="380" r:id="rId93"/>
    <p:sldId id="427" r:id="rId94"/>
    <p:sldId id="429" r:id="rId95"/>
    <p:sldId id="428" r:id="rId96"/>
    <p:sldId id="372" r:id="rId97"/>
    <p:sldId id="379" r:id="rId98"/>
    <p:sldId id="402" r:id="rId99"/>
    <p:sldId id="403" r:id="rId100"/>
    <p:sldId id="404" r:id="rId101"/>
    <p:sldId id="405" r:id="rId102"/>
    <p:sldId id="406" r:id="rId103"/>
    <p:sldId id="407" r:id="rId104"/>
    <p:sldId id="408" r:id="rId105"/>
    <p:sldId id="409" r:id="rId106"/>
    <p:sldId id="401" r:id="rId107"/>
    <p:sldId id="413" r:id="rId108"/>
    <p:sldId id="414" r:id="rId109"/>
    <p:sldId id="426" r:id="rId110"/>
    <p:sldId id="412" r:id="rId111"/>
    <p:sldId id="410" r:id="rId112"/>
    <p:sldId id="411" r:id="rId113"/>
    <p:sldId id="415" r:id="rId114"/>
    <p:sldId id="416" r:id="rId115"/>
    <p:sldId id="425" r:id="rId116"/>
    <p:sldId id="423" r:id="rId117"/>
    <p:sldId id="424" r:id="rId118"/>
    <p:sldId id="422" r:id="rId119"/>
    <p:sldId id="417" r:id="rId120"/>
    <p:sldId id="418" r:id="rId121"/>
    <p:sldId id="421" r:id="rId122"/>
    <p:sldId id="419" r:id="rId123"/>
    <p:sldId id="420" r:id="rId124"/>
    <p:sldId id="364" r:id="rId125"/>
    <p:sldId id="385" r:id="rId126"/>
    <p:sldId id="386" r:id="rId127"/>
    <p:sldId id="384" r:id="rId128"/>
    <p:sldId id="383" r:id="rId129"/>
    <p:sldId id="387" r:id="rId130"/>
    <p:sldId id="373" r:id="rId131"/>
    <p:sldId id="388" r:id="rId132"/>
    <p:sldId id="381" r:id="rId133"/>
    <p:sldId id="389" r:id="rId134"/>
    <p:sldId id="390" r:id="rId135"/>
    <p:sldId id="391" r:id="rId136"/>
    <p:sldId id="392" r:id="rId137"/>
    <p:sldId id="382" r:id="rId138"/>
    <p:sldId id="374" r:id="rId13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viewProps" Target="view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3B9389-B1E2-41CD-A6C4-FD50F54E707E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E8B69E-1AAF-4AF9-A4C8-9EE523425C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0427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7A8C0-14C0-FFE7-7572-EA8B841E1EC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46AAE779-0DED-4437-AE8E-0A8AB1DA52E5}" type="slidenum">
              <a:t>18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8E81B9-EEFF-E5AF-53D9-78F3D75AC55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30A7BB-C864-C2DE-A346-3D127047FB1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F1D0D1-102F-3882-0A55-4ADCF905FF1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786034B7-A0A9-42F4-AC29-0912E85602A1}" type="slidenum">
              <a:t>19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57FE2D-44B5-38DD-6D87-1CF26E42ED8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53DD2D-118D-2257-A50B-4D93D116AF1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1D015-7EA1-604D-0B06-CBA5A225C6E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lIns="0" tIns="0" rIns="0" bIns="0" anchor="b" anchorCtr="0">
            <a:noAutofit/>
          </a:bodyPr>
          <a:lstStyle/>
          <a:p>
            <a:pPr lvl="0"/>
            <a:fld id="{9BC4F8C1-5CE1-45AF-903C-0C29A716DDF5}" type="slidenum">
              <a:t>20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B1F7EB-9003-E117-CAB6-E28DA7AFF3F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265258-2EA4-CE40-9095-78D1AF2ED8C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 sz="264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E922D-94DD-3F15-D0E9-98B4926146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5A9A42-F744-E62B-ED2E-2DE7B58828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FD6A1-CA11-4C2A-7354-2B1B977F1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F9BB-AA4A-49DF-9954-CB96B7BF1F80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BEA05-C323-6D6B-259A-06DC69154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361DE-DCF7-321B-5157-22F89099D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CD357-0933-4B64-A6DE-F14EE551FA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2313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316FD-59F6-F872-3779-11068E6C6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DD25F-39EA-08F1-29F5-F623D8766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B3D4C-1B27-78B1-135E-734AFE9F5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F9BB-AA4A-49DF-9954-CB96B7BF1F80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C50BF-2F95-BB9A-B8DB-200DB7DA2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C9D3D-9CDF-2E95-A193-F6C042C5F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CD357-0933-4B64-A6DE-F14EE551FA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3634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98EA7-5C82-CDDC-EEA2-799A29E2E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51E668-88DF-1F22-25E6-D4657B660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BC8EF-BC70-E8EC-AF43-9A4ECB168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F9BB-AA4A-49DF-9954-CB96B7BF1F80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4BEAB-BAA9-CF96-E842-3236422FF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34B07-4B04-8957-D625-45CA07462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CD357-0933-4B64-A6DE-F14EE551FA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1153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15D56-DB81-6BAA-8E46-5C7DF81F1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4F649-1C2D-4810-8A79-7CE1C45A70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792E8A-44FA-7379-14C3-A8D81032C1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E9528-A453-D2D3-D1BA-F1D6859C4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F9BB-AA4A-49DF-9954-CB96B7BF1F80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9F3446-D8E9-CD51-6F85-5E22B66A1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616D36-0AFC-FB1A-1AA4-E8DE0B542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CD357-0933-4B64-A6DE-F14EE551FA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3141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FA8E7-633E-7E72-2292-7F61E535C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CEFE30-80D1-CB68-4593-B5E766086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6F68EE-CF52-7546-E69B-726C96A695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789FBB-286D-FFA4-83C0-95080D3005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C28DA7-A52C-7CA8-7E9A-47F5D96B8F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DF3D69-862B-009F-A53A-FA2141B1C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F9BB-AA4A-49DF-9954-CB96B7BF1F80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79DDD6-54D5-524A-A26D-F012A1D2B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E72F3B-5402-B6DA-6140-F4C42CB8F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CD357-0933-4B64-A6DE-F14EE551FA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2872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D08B3-CB41-EB47-1CFD-291FF642B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EC3C97-D29F-F434-04AF-7B55501DE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F9BB-AA4A-49DF-9954-CB96B7BF1F80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9BF972-BCE8-C7D1-DC4D-A733552BF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6ED3A7-0326-F581-8C09-DD656B2E1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CD357-0933-4B64-A6DE-F14EE551FA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0324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A51895-0532-F01A-1B5D-28720EA40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F9BB-AA4A-49DF-9954-CB96B7BF1F80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2F69FF-D3AF-36EE-3EFF-E02CFAA77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7C193-CFA1-4673-6E6B-977259101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CD357-0933-4B64-A6DE-F14EE551FA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8449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8AF62-9107-85DD-4DA1-544FEF637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96685-4980-B188-A52D-2E462C86A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E9422D-8358-03CB-EB71-7CC8493186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3B7371-681B-464D-1604-24B250497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F9BB-AA4A-49DF-9954-CB96B7BF1F80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C53678-0C31-9EC9-B2B7-9D4A614D6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A65BF1-2051-DF2A-172E-7A7D62522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CD357-0933-4B64-A6DE-F14EE551FA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5299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5FB45-FCDB-D77C-EAE3-6139F7969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6C67B0-9823-8A46-599D-B354AD210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A8FC1-4DAC-9556-DD6A-6A063A45ED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6670A2-B0EE-03B2-6A4C-367799422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F9BB-AA4A-49DF-9954-CB96B7BF1F80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431148-9B0C-F781-690C-4121CA314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A3D80B-4754-C033-DE5C-2A28E1C6C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CD357-0933-4B64-A6DE-F14EE551FA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3357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7489E-0CE9-2EC4-E31D-34161B09E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D21227-06A9-728B-1CF9-85616DD948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C8262-9EC9-A53D-B869-779E1320E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F9BB-AA4A-49DF-9954-CB96B7BF1F80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00151-B0D2-A93D-293E-4FC91A31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57213-852B-A915-323D-5D39692DD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CD357-0933-4B64-A6DE-F14EE551FA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2011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F580A6-ACCF-351C-94CA-14F197E959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EA9D28-5E4E-DB43-CD9B-4AFE0FBF96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E65CA-9CD9-FBA1-4D9B-7CF554BB7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F9BB-AA4A-49DF-9954-CB96B7BF1F80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92ACF-0830-2867-FEBA-EB5D34990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367C5-AA1F-2F03-7EFD-2E922ADA0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CD357-0933-4B64-A6DE-F14EE551FA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3004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B09DDF-EEFC-4E32-034D-0EECD3B26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CA4194-62E6-6617-2BD3-29FFE179F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8281C-E6DF-3690-C1B0-2AD85BB26F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CF9BB-AA4A-49DF-9954-CB96B7BF1F80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41E05-4F07-D311-21C3-41308D31CD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EAC8E-431C-2C03-EC79-6B3A1AB722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DCD357-0933-4B64-A6DE-F14EE551FA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5176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jpe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hyperlink" Target="https://tokenterminal.com/explorer/projects/ethereum/metrics/transactions-per-second?interval=1825d" TargetMode="Externa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https://tokenterminal.com/explorer/projects/ethereum/metrics/block-time?interval=1825d" TargetMode="Externa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hyperlink" Target="https://onchain.org/magazine/where-to-build-dapps-monolithic-vs-modular-blockchains/" TargetMode="External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hyperlink" Target="https://l2beat.com/scaling/costs" TargetMode="External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ociete-generale/smartcoin-solana/tree/main" TargetMode="External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hyperlink" Target="https://defillama.com/stablecoins" TargetMode="Externa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hyperlink" Target="https://defillama.com/stablecoin/tether" TargetMode="External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hyperlink" Target="https://tether.to/en/how-it-works" TargetMode="External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hyperlink" Target="https://tether.to/en/transparency/?tab=usdt" TargetMode="External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hyperlink" Target="https://tether.to/en/transparency/?tab=reports" TargetMode="External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hyperlink" Target="https://home.treasury.gov/resource-center/data-chart-center/interest-rates/TextView?type=daily_treasury_bill_rates&amp;field_tdr_date_value=2026" TargetMode="External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gforge.com/" TargetMode="External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gforge.com/product/coinvertible/" TargetMode="External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hyperlink" Target="https://solscan.io/token/DghpMkatCiUsofbTmid3M3kAbDTPqDwKiYHnudXeGG52?page_size=100" TargetMode="External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hyperlink" Target="https://etherscan.io/token/0x5F7827FDeb7c20b443265Fc2F40845B715385Ff2" TargetMode="External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hyperlink" Target="https://etherscan.io/address/0xf4ccc80c4b831a0d8d1414f2aca82a3d760ff05b#code" TargetMode="External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FB8B7-8371-35DC-1254-7DC1CF483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10374284" cy="2387600"/>
          </a:xfrm>
        </p:spPr>
        <p:txBody>
          <a:bodyPr/>
          <a:lstStyle/>
          <a:p>
            <a:r>
              <a:rPr lang="fr-FR" dirty="0" err="1"/>
              <a:t>BlockChain</a:t>
            </a:r>
            <a:r>
              <a:rPr lang="fr-FR" dirty="0"/>
              <a:t> &amp; </a:t>
            </a:r>
            <a:r>
              <a:rPr lang="fr-FR" dirty="0" err="1"/>
              <a:t>CryptoCurrencies</a:t>
            </a:r>
            <a:br>
              <a:rPr lang="fr-FR" dirty="0"/>
            </a:br>
            <a:r>
              <a:rPr lang="fr-FR" dirty="0"/>
              <a:t>  (</a:t>
            </a:r>
            <a:r>
              <a:rPr lang="fr-FR" dirty="0" err="1"/>
              <a:t>BitCoin</a:t>
            </a:r>
            <a:r>
              <a:rPr lang="fr-FR" dirty="0"/>
              <a:t>, </a:t>
            </a:r>
            <a:r>
              <a:rPr lang="fr-FR" dirty="0" err="1"/>
              <a:t>Ethereum</a:t>
            </a:r>
            <a:r>
              <a:rPr lang="fr-FR" dirty="0"/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EE334B-B9BD-8882-15B9-B6979BB29A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99462"/>
            <a:ext cx="9144000" cy="558338"/>
          </a:xfrm>
        </p:spPr>
        <p:txBody>
          <a:bodyPr/>
          <a:lstStyle/>
          <a:p>
            <a:r>
              <a:rPr lang="fr-FR" dirty="0"/>
              <a:t>arnaud.nauwynck@gmail.com</a:t>
            </a:r>
          </a:p>
        </p:txBody>
      </p:sp>
    </p:spTree>
    <p:extLst>
      <p:ext uri="{BB962C8B-B14F-4D97-AF65-F5344CB8AC3E}">
        <p14:creationId xmlns:p14="http://schemas.microsoft.com/office/powerpoint/2010/main" val="3025566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5D38-6C76-B487-60C2-40D702CB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44436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Traditional</a:t>
            </a:r>
            <a:r>
              <a:rPr lang="fr-FR" dirty="0"/>
              <a:t> e-Trading </a:t>
            </a:r>
            <a:r>
              <a:rPr lang="fr-FR" dirty="0" err="1"/>
              <a:t>Database</a:t>
            </a:r>
            <a:br>
              <a:rPr lang="fr-FR" dirty="0"/>
            </a:br>
            <a:r>
              <a:rPr lang="fr-FR" dirty="0"/>
              <a:t>"Transaction (Commit) Log"</a:t>
            </a:r>
          </a:p>
        </p:txBody>
      </p:sp>
    </p:spTree>
    <p:extLst>
      <p:ext uri="{BB962C8B-B14F-4D97-AF65-F5344CB8AC3E}">
        <p14:creationId xmlns:p14="http://schemas.microsoft.com/office/powerpoint/2010/main" val="3451544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422E4-C483-9552-91C1-1E797501E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278" y="11781"/>
            <a:ext cx="11242964" cy="1984606"/>
          </a:xfrm>
        </p:spPr>
        <p:txBody>
          <a:bodyPr/>
          <a:lstStyle/>
          <a:p>
            <a:pPr algn="ctr"/>
            <a:r>
              <a:rPr lang="fr-FR" dirty="0"/>
              <a:t>Transaction</a:t>
            </a:r>
            <a:br>
              <a:rPr lang="fr-FR" dirty="0"/>
            </a:br>
            <a:r>
              <a:rPr lang="fr-FR" dirty="0"/>
              <a:t> =  Flow exchanges </a:t>
            </a:r>
            <a:r>
              <a:rPr lang="fr-FR" dirty="0" err="1"/>
              <a:t>between</a:t>
            </a:r>
            <a:r>
              <a:rPr lang="fr-FR" dirty="0"/>
              <a:t> </a:t>
            </a:r>
            <a:r>
              <a:rPr lang="fr-FR" dirty="0" err="1"/>
              <a:t>Counterparties</a:t>
            </a:r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4D90CF-C18A-C74C-5ECF-586F8FEA3B48}"/>
              </a:ext>
            </a:extLst>
          </p:cNvPr>
          <p:cNvSpPr/>
          <p:nvPr/>
        </p:nvSpPr>
        <p:spPr>
          <a:xfrm>
            <a:off x="2698866" y="3223258"/>
            <a:ext cx="1529541" cy="11208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45FE7D-57C8-9134-1D17-317DA1338804}"/>
              </a:ext>
            </a:extLst>
          </p:cNvPr>
          <p:cNvSpPr/>
          <p:nvPr/>
        </p:nvSpPr>
        <p:spPr>
          <a:xfrm>
            <a:off x="8370917" y="3223951"/>
            <a:ext cx="1529541" cy="11208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FD2CDD-7A11-7CC2-BF2B-F7A21307C6BA}"/>
              </a:ext>
            </a:extLst>
          </p:cNvPr>
          <p:cNvSpPr txBox="1"/>
          <p:nvPr/>
        </p:nvSpPr>
        <p:spPr>
          <a:xfrm>
            <a:off x="2698866" y="2853926"/>
            <a:ext cx="2094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Counterparty</a:t>
            </a:r>
            <a:r>
              <a:rPr lang="fr-FR" b="1" dirty="0"/>
              <a:t> #1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81258C-B5D3-7F05-1D49-3D504E0DD3F4}"/>
              </a:ext>
            </a:extLst>
          </p:cNvPr>
          <p:cNvSpPr txBox="1"/>
          <p:nvPr/>
        </p:nvSpPr>
        <p:spPr>
          <a:xfrm>
            <a:off x="8370917" y="2773570"/>
            <a:ext cx="2094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Counterparty</a:t>
            </a:r>
            <a:r>
              <a:rPr lang="fr-FR" b="1" dirty="0"/>
              <a:t> #2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DD0023-B9E0-F269-BAB2-FF8CD4F19FE3}"/>
              </a:ext>
            </a:extLst>
          </p:cNvPr>
          <p:cNvSpPr txBox="1"/>
          <p:nvPr/>
        </p:nvSpPr>
        <p:spPr>
          <a:xfrm>
            <a:off x="796464" y="4389118"/>
            <a:ext cx="44168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Account</a:t>
            </a:r>
            <a:r>
              <a:rPr lang="fr-FR" b="1" dirty="0"/>
              <a:t> Position</a:t>
            </a:r>
          </a:p>
          <a:p>
            <a:r>
              <a:rPr lang="fr-FR" dirty="0"/>
              <a:t>= </a:t>
            </a:r>
            <a:r>
              <a:rPr lang="fr-FR" dirty="0" err="1"/>
              <a:t>sum</a:t>
            </a:r>
            <a:r>
              <a:rPr lang="fr-FR" dirty="0"/>
              <a:t> of all in/out </a:t>
            </a:r>
          </a:p>
          <a:p>
            <a:endParaRPr lang="fr-FR" dirty="0"/>
          </a:p>
          <a:p>
            <a:r>
              <a:rPr lang="fr-FR" dirty="0"/>
              <a:t>Position (EUR)   </a:t>
            </a:r>
            <a:r>
              <a:rPr lang="fr-FR" b="1" dirty="0"/>
              <a:t>-= 10 </a:t>
            </a:r>
            <a:r>
              <a:rPr lang="fr-FR" b="1" dirty="0" err="1"/>
              <a:t>EUROs</a:t>
            </a:r>
            <a:endParaRPr lang="fr-FR" b="1" dirty="0"/>
          </a:p>
          <a:p>
            <a:endParaRPr lang="fr-FR" dirty="0"/>
          </a:p>
          <a:p>
            <a:r>
              <a:rPr lang="fr-FR" dirty="0"/>
              <a:t>Position(</a:t>
            </a:r>
            <a:r>
              <a:rPr lang="fr-FR" dirty="0" err="1"/>
              <a:t>Stawberry</a:t>
            </a:r>
            <a:r>
              <a:rPr lang="fr-FR" dirty="0"/>
              <a:t>) += 2Kg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DE43EB3-D3A0-E533-8BFF-C742A295F3DF}"/>
              </a:ext>
            </a:extLst>
          </p:cNvPr>
          <p:cNvSpPr/>
          <p:nvPr/>
        </p:nvSpPr>
        <p:spPr>
          <a:xfrm>
            <a:off x="5043055" y="3541220"/>
            <a:ext cx="2715490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FB10D7-0456-16EB-E99E-A19F00EACC4C}"/>
              </a:ext>
            </a:extLst>
          </p:cNvPr>
          <p:cNvSpPr/>
          <p:nvPr/>
        </p:nvSpPr>
        <p:spPr>
          <a:xfrm>
            <a:off x="5562601" y="2737948"/>
            <a:ext cx="1539931" cy="7431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3AF0BC-7E41-3B61-CBE7-B17552D8A4D4}"/>
              </a:ext>
            </a:extLst>
          </p:cNvPr>
          <p:cNvSpPr txBox="1"/>
          <p:nvPr/>
        </p:nvSpPr>
        <p:spPr>
          <a:xfrm>
            <a:off x="5414357" y="2321966"/>
            <a:ext cx="2094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Transaction Flows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DDD9CE-69AF-DAAC-7D9E-41CE10D04DB2}"/>
              </a:ext>
            </a:extLst>
          </p:cNvPr>
          <p:cNvSpPr txBox="1"/>
          <p:nvPr/>
        </p:nvSpPr>
        <p:spPr>
          <a:xfrm>
            <a:off x="5724698" y="2912970"/>
            <a:ext cx="1712422" cy="376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10 EUROS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1F9AB6DE-FC83-A767-B37C-56344BC2278B}"/>
              </a:ext>
            </a:extLst>
          </p:cNvPr>
          <p:cNvSpPr/>
          <p:nvPr/>
        </p:nvSpPr>
        <p:spPr>
          <a:xfrm flipH="1">
            <a:off x="5048598" y="3891047"/>
            <a:ext cx="2665612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F048AD-36A2-7958-5A04-39A912D01894}"/>
              </a:ext>
            </a:extLst>
          </p:cNvPr>
          <p:cNvSpPr/>
          <p:nvPr/>
        </p:nvSpPr>
        <p:spPr>
          <a:xfrm>
            <a:off x="5630834" y="4295704"/>
            <a:ext cx="1539931" cy="7431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23345B-60D6-9E2D-735D-96E67C53C345}"/>
              </a:ext>
            </a:extLst>
          </p:cNvPr>
          <p:cNvSpPr txBox="1"/>
          <p:nvPr/>
        </p:nvSpPr>
        <p:spPr>
          <a:xfrm>
            <a:off x="5677594" y="4331057"/>
            <a:ext cx="17124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2Kg of </a:t>
            </a:r>
            <a:r>
              <a:rPr lang="fr-FR" b="1" dirty="0" err="1"/>
              <a:t>Strawberries</a:t>
            </a:r>
            <a:endParaRPr lang="fr-FR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480EB3-1D77-3783-79F5-5C6A24AF7ED3}"/>
              </a:ext>
            </a:extLst>
          </p:cNvPr>
          <p:cNvSpPr txBox="1"/>
          <p:nvPr/>
        </p:nvSpPr>
        <p:spPr>
          <a:xfrm>
            <a:off x="8668617" y="4389118"/>
            <a:ext cx="34125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Account</a:t>
            </a:r>
            <a:r>
              <a:rPr lang="fr-FR" b="1" dirty="0"/>
              <a:t> Position</a:t>
            </a:r>
          </a:p>
          <a:p>
            <a:r>
              <a:rPr lang="fr-FR" dirty="0"/>
              <a:t>= </a:t>
            </a:r>
            <a:r>
              <a:rPr lang="fr-FR" dirty="0" err="1"/>
              <a:t>sum</a:t>
            </a:r>
            <a:r>
              <a:rPr lang="fr-FR" dirty="0"/>
              <a:t> of all in/out </a:t>
            </a:r>
          </a:p>
          <a:p>
            <a:endParaRPr lang="fr-FR" dirty="0"/>
          </a:p>
          <a:p>
            <a:r>
              <a:rPr lang="fr-FR" dirty="0"/>
              <a:t>Position (EUR)   </a:t>
            </a:r>
            <a:r>
              <a:rPr lang="fr-FR" b="1" dirty="0"/>
              <a:t>+= 10 </a:t>
            </a:r>
            <a:r>
              <a:rPr lang="fr-FR" b="1" dirty="0" err="1"/>
              <a:t>EUROs</a:t>
            </a:r>
            <a:endParaRPr lang="fr-FR" b="1" dirty="0"/>
          </a:p>
          <a:p>
            <a:endParaRPr lang="fr-FR" dirty="0"/>
          </a:p>
          <a:p>
            <a:r>
              <a:rPr lang="fr-FR" dirty="0"/>
              <a:t>Position(</a:t>
            </a:r>
            <a:r>
              <a:rPr lang="fr-FR" dirty="0" err="1"/>
              <a:t>Stawberry</a:t>
            </a:r>
            <a:r>
              <a:rPr lang="fr-FR" dirty="0"/>
              <a:t>) -= 2Kg</a:t>
            </a:r>
          </a:p>
        </p:txBody>
      </p:sp>
    </p:spTree>
    <p:extLst>
      <p:ext uri="{BB962C8B-B14F-4D97-AF65-F5344CB8AC3E}">
        <p14:creationId xmlns:p14="http://schemas.microsoft.com/office/powerpoint/2010/main" val="654517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422E4-C483-9552-91C1-1E797501E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242964" cy="1984606"/>
          </a:xfrm>
        </p:spPr>
        <p:txBody>
          <a:bodyPr/>
          <a:lstStyle/>
          <a:p>
            <a:pPr algn="ctr"/>
            <a:r>
              <a:rPr lang="fr-FR" dirty="0" err="1"/>
              <a:t>Payment</a:t>
            </a:r>
            <a:r>
              <a:rPr lang="fr-FR" dirty="0"/>
              <a:t> =  Flow of Currency </a:t>
            </a:r>
            <a:r>
              <a:rPr lang="fr-FR" dirty="0" err="1"/>
              <a:t>only</a:t>
            </a:r>
            <a:br>
              <a:rPr lang="fr-FR" dirty="0"/>
            </a:br>
            <a:r>
              <a:rPr lang="fr-FR" dirty="0" err="1"/>
              <a:t>between</a:t>
            </a:r>
            <a:r>
              <a:rPr lang="fr-FR" dirty="0"/>
              <a:t> </a:t>
            </a:r>
            <a:r>
              <a:rPr lang="fr-FR" dirty="0" err="1"/>
              <a:t>Accounts</a:t>
            </a:r>
            <a:r>
              <a:rPr lang="fr-FR" dirty="0"/>
              <a:t> of </a:t>
            </a:r>
            <a:r>
              <a:rPr lang="fr-FR" dirty="0" err="1"/>
              <a:t>Counterparties</a:t>
            </a:r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4D90CF-C18A-C74C-5ECF-586F8FEA3B48}"/>
              </a:ext>
            </a:extLst>
          </p:cNvPr>
          <p:cNvSpPr/>
          <p:nvPr/>
        </p:nvSpPr>
        <p:spPr>
          <a:xfrm>
            <a:off x="2698866" y="3782983"/>
            <a:ext cx="1529541" cy="11208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45FE7D-57C8-9134-1D17-317DA1338804}"/>
              </a:ext>
            </a:extLst>
          </p:cNvPr>
          <p:cNvSpPr/>
          <p:nvPr/>
        </p:nvSpPr>
        <p:spPr>
          <a:xfrm>
            <a:off x="8370917" y="3783676"/>
            <a:ext cx="1529541" cy="11208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FD2CDD-7A11-7CC2-BF2B-F7A21307C6BA}"/>
              </a:ext>
            </a:extLst>
          </p:cNvPr>
          <p:cNvSpPr txBox="1"/>
          <p:nvPr/>
        </p:nvSpPr>
        <p:spPr>
          <a:xfrm>
            <a:off x="2698866" y="3413651"/>
            <a:ext cx="2094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Account</a:t>
            </a:r>
            <a:r>
              <a:rPr lang="fr-FR" b="1" dirty="0"/>
              <a:t> #1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81258C-B5D3-7F05-1D49-3D504E0DD3F4}"/>
              </a:ext>
            </a:extLst>
          </p:cNvPr>
          <p:cNvSpPr txBox="1"/>
          <p:nvPr/>
        </p:nvSpPr>
        <p:spPr>
          <a:xfrm>
            <a:off x="8370917" y="3333295"/>
            <a:ext cx="2094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Account</a:t>
            </a:r>
            <a:r>
              <a:rPr lang="fr-FR" b="1" dirty="0"/>
              <a:t> #2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DD0023-B9E0-F269-BAB2-FF8CD4F19FE3}"/>
              </a:ext>
            </a:extLst>
          </p:cNvPr>
          <p:cNvSpPr txBox="1"/>
          <p:nvPr/>
        </p:nvSpPr>
        <p:spPr>
          <a:xfrm>
            <a:off x="838200" y="4948843"/>
            <a:ext cx="44168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Account</a:t>
            </a:r>
            <a:r>
              <a:rPr lang="fr-FR" b="1" dirty="0"/>
              <a:t> Position</a:t>
            </a:r>
          </a:p>
          <a:p>
            <a:r>
              <a:rPr lang="fr-FR" dirty="0"/>
              <a:t>= </a:t>
            </a:r>
            <a:r>
              <a:rPr lang="fr-FR" dirty="0" err="1"/>
              <a:t>sum</a:t>
            </a:r>
            <a:r>
              <a:rPr lang="fr-FR" dirty="0"/>
              <a:t> of all in/out </a:t>
            </a:r>
          </a:p>
          <a:p>
            <a:endParaRPr lang="fr-FR" dirty="0"/>
          </a:p>
          <a:p>
            <a:r>
              <a:rPr lang="fr-FR" dirty="0"/>
              <a:t>Position (EUR)   </a:t>
            </a:r>
            <a:r>
              <a:rPr lang="fr-FR" b="1" dirty="0"/>
              <a:t>-= 10 </a:t>
            </a:r>
            <a:r>
              <a:rPr lang="fr-FR" b="1" dirty="0" err="1"/>
              <a:t>EUROs</a:t>
            </a:r>
            <a:endParaRPr lang="fr-FR" b="1" dirty="0"/>
          </a:p>
          <a:p>
            <a:endParaRPr lang="fr-FR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DE43EB3-D3A0-E533-8BFF-C742A295F3DF}"/>
              </a:ext>
            </a:extLst>
          </p:cNvPr>
          <p:cNvSpPr/>
          <p:nvPr/>
        </p:nvSpPr>
        <p:spPr>
          <a:xfrm>
            <a:off x="5043055" y="4100945"/>
            <a:ext cx="2715490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FB10D7-0456-16EB-E99E-A19F00EACC4C}"/>
              </a:ext>
            </a:extLst>
          </p:cNvPr>
          <p:cNvSpPr/>
          <p:nvPr/>
        </p:nvSpPr>
        <p:spPr>
          <a:xfrm>
            <a:off x="5562601" y="3297673"/>
            <a:ext cx="1539931" cy="7431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3AF0BC-7E41-3B61-CBE7-B17552D8A4D4}"/>
              </a:ext>
            </a:extLst>
          </p:cNvPr>
          <p:cNvSpPr txBox="1"/>
          <p:nvPr/>
        </p:nvSpPr>
        <p:spPr>
          <a:xfrm>
            <a:off x="5414357" y="2881691"/>
            <a:ext cx="2094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Transaction Flows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DDD9CE-69AF-DAAC-7D9E-41CE10D04DB2}"/>
              </a:ext>
            </a:extLst>
          </p:cNvPr>
          <p:cNvSpPr txBox="1"/>
          <p:nvPr/>
        </p:nvSpPr>
        <p:spPr>
          <a:xfrm>
            <a:off x="5724698" y="3472695"/>
            <a:ext cx="1712422" cy="376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10 EUROS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480EB3-1D77-3783-79F5-5C6A24AF7ED3}"/>
              </a:ext>
            </a:extLst>
          </p:cNvPr>
          <p:cNvSpPr txBox="1"/>
          <p:nvPr/>
        </p:nvSpPr>
        <p:spPr>
          <a:xfrm>
            <a:off x="8668617" y="4948843"/>
            <a:ext cx="34125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Account</a:t>
            </a:r>
            <a:r>
              <a:rPr lang="fr-FR" b="1" dirty="0"/>
              <a:t> Position</a:t>
            </a:r>
          </a:p>
          <a:p>
            <a:r>
              <a:rPr lang="fr-FR" dirty="0"/>
              <a:t>= </a:t>
            </a:r>
            <a:r>
              <a:rPr lang="fr-FR" dirty="0" err="1"/>
              <a:t>sum</a:t>
            </a:r>
            <a:r>
              <a:rPr lang="fr-FR" dirty="0"/>
              <a:t> of all in/out </a:t>
            </a:r>
          </a:p>
          <a:p>
            <a:endParaRPr lang="fr-FR" dirty="0"/>
          </a:p>
          <a:p>
            <a:r>
              <a:rPr lang="fr-FR" dirty="0"/>
              <a:t>Position (EUR)   </a:t>
            </a:r>
            <a:r>
              <a:rPr lang="fr-FR" b="1" dirty="0"/>
              <a:t>+= 10 </a:t>
            </a:r>
            <a:r>
              <a:rPr lang="fr-FR" b="1" dirty="0" err="1"/>
              <a:t>EUROs</a:t>
            </a:r>
            <a:endParaRPr lang="fr-FR" b="1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22964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3EFCF-CCAA-0DEC-CF7D-4213D81B3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296940"/>
          </a:xfrm>
        </p:spPr>
        <p:txBody>
          <a:bodyPr/>
          <a:lstStyle/>
          <a:p>
            <a:pPr algn="ctr"/>
            <a:r>
              <a:rPr lang="fr-FR" dirty="0"/>
              <a:t>Example </a:t>
            </a:r>
            <a:r>
              <a:rPr lang="fr-FR" dirty="0" err="1"/>
              <a:t>Database</a:t>
            </a:r>
            <a:r>
              <a:rPr lang="fr-FR" dirty="0"/>
              <a:t> Tables(Class) </a:t>
            </a:r>
            <a:r>
              <a:rPr lang="fr-FR" dirty="0" err="1"/>
              <a:t>Modelisation</a:t>
            </a:r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7DADFA-059A-91A9-41EB-2E9ECD5508D4}"/>
              </a:ext>
            </a:extLst>
          </p:cNvPr>
          <p:cNvSpPr/>
          <p:nvPr/>
        </p:nvSpPr>
        <p:spPr>
          <a:xfrm>
            <a:off x="9487593" y="1981199"/>
            <a:ext cx="1529541" cy="11208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1368A8-B516-1D46-0428-8C5B271CF636}"/>
              </a:ext>
            </a:extLst>
          </p:cNvPr>
          <p:cNvSpPr txBox="1"/>
          <p:nvPr/>
        </p:nvSpPr>
        <p:spPr>
          <a:xfrm>
            <a:off x="9487593" y="1611867"/>
            <a:ext cx="20948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err="1"/>
              <a:t>Counterparty</a:t>
            </a:r>
            <a:endParaRPr lang="fr-FR" sz="20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66409F-7823-6C06-B234-C59A585633DF}"/>
              </a:ext>
            </a:extLst>
          </p:cNvPr>
          <p:cNvSpPr/>
          <p:nvPr/>
        </p:nvSpPr>
        <p:spPr>
          <a:xfrm>
            <a:off x="7257013" y="2720371"/>
            <a:ext cx="1529541" cy="11208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07DA09-75BE-217A-E972-CCF093DA0FD7}"/>
              </a:ext>
            </a:extLst>
          </p:cNvPr>
          <p:cNvSpPr txBox="1"/>
          <p:nvPr/>
        </p:nvSpPr>
        <p:spPr>
          <a:xfrm>
            <a:off x="7525789" y="2356949"/>
            <a:ext cx="20948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err="1"/>
              <a:t>Account</a:t>
            </a:r>
            <a:endParaRPr lang="fr-FR" sz="2000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A29BE4-AC73-027D-1AEB-AC02AD9FB1D1}"/>
              </a:ext>
            </a:extLst>
          </p:cNvPr>
          <p:cNvSpPr/>
          <p:nvPr/>
        </p:nvSpPr>
        <p:spPr>
          <a:xfrm>
            <a:off x="1983467" y="2562295"/>
            <a:ext cx="1529541" cy="11208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D5ED3B-4B0C-5053-0DEF-396846DF04B2}"/>
              </a:ext>
            </a:extLst>
          </p:cNvPr>
          <p:cNvSpPr txBox="1"/>
          <p:nvPr/>
        </p:nvSpPr>
        <p:spPr>
          <a:xfrm>
            <a:off x="1837115" y="2119728"/>
            <a:ext cx="2094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Transaction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D539F5-3998-8FEE-25C8-2DE93F18B482}"/>
              </a:ext>
            </a:extLst>
          </p:cNvPr>
          <p:cNvSpPr/>
          <p:nvPr/>
        </p:nvSpPr>
        <p:spPr>
          <a:xfrm>
            <a:off x="3937463" y="4191706"/>
            <a:ext cx="1555647" cy="144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202F06-4FF1-3B9C-0777-F7F3CAF9A876}"/>
              </a:ext>
            </a:extLst>
          </p:cNvPr>
          <p:cNvSpPr txBox="1"/>
          <p:nvPr/>
        </p:nvSpPr>
        <p:spPr>
          <a:xfrm>
            <a:off x="3513008" y="3462770"/>
            <a:ext cx="233636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/>
              <a:t>Flow </a:t>
            </a:r>
          </a:p>
          <a:p>
            <a:pPr algn="ctr"/>
            <a:r>
              <a:rPr lang="fr-FR" b="1" dirty="0"/>
              <a:t>(</a:t>
            </a:r>
            <a:r>
              <a:rPr lang="fr-FR" b="1" dirty="0" err="1"/>
              <a:t>Operation</a:t>
            </a:r>
            <a:r>
              <a:rPr lang="fr-FR" b="1" dirty="0"/>
              <a:t>, Trade)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22C4CF5-695E-2111-B35A-C88BF4B1DE0F}"/>
              </a:ext>
            </a:extLst>
          </p:cNvPr>
          <p:cNvSpPr/>
          <p:nvPr/>
        </p:nvSpPr>
        <p:spPr>
          <a:xfrm>
            <a:off x="6223463" y="5011752"/>
            <a:ext cx="1529541" cy="6206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06AFA6-D36C-F414-390C-0E7E83C3418A}"/>
              </a:ext>
            </a:extLst>
          </p:cNvPr>
          <p:cNvSpPr txBox="1"/>
          <p:nvPr/>
        </p:nvSpPr>
        <p:spPr>
          <a:xfrm>
            <a:off x="5968538" y="4615191"/>
            <a:ext cx="6123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Instrument (Asset, </a:t>
            </a:r>
            <a:r>
              <a:rPr lang="fr-FR" sz="2400" b="1" dirty="0" err="1"/>
              <a:t>Underlying</a:t>
            </a:r>
            <a:r>
              <a:rPr lang="fr-FR" sz="2400" b="1" dirty="0"/>
              <a:t>, Value)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C3830AE-1787-DBF6-4C6C-7129910FE740}"/>
              </a:ext>
            </a:extLst>
          </p:cNvPr>
          <p:cNvCxnSpPr/>
          <p:nvPr/>
        </p:nvCxnSpPr>
        <p:spPr>
          <a:xfrm flipV="1">
            <a:off x="8786554" y="2660072"/>
            <a:ext cx="628995" cy="429631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637DED6-65BC-6E98-932B-D2160C3859C2}"/>
              </a:ext>
            </a:extLst>
          </p:cNvPr>
          <p:cNvCxnSpPr>
            <a:cxnSpLocks/>
          </p:cNvCxnSpPr>
          <p:nvPr/>
        </p:nvCxnSpPr>
        <p:spPr>
          <a:xfrm flipV="1">
            <a:off x="5545978" y="3475265"/>
            <a:ext cx="1525382" cy="79636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DA04249-8587-623B-6335-CD5118D56F1D}"/>
              </a:ext>
            </a:extLst>
          </p:cNvPr>
          <p:cNvCxnSpPr>
            <a:cxnSpLocks/>
          </p:cNvCxnSpPr>
          <p:nvPr/>
        </p:nvCxnSpPr>
        <p:spPr>
          <a:xfrm flipV="1">
            <a:off x="5545978" y="3793525"/>
            <a:ext cx="1525382" cy="796362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0C192E1-AD54-ED51-2D20-0033AB188F04}"/>
              </a:ext>
            </a:extLst>
          </p:cNvPr>
          <p:cNvSpPr txBox="1"/>
          <p:nvPr/>
        </p:nvSpPr>
        <p:spPr>
          <a:xfrm>
            <a:off x="6032270" y="3255392"/>
            <a:ext cx="807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 </a:t>
            </a:r>
            <a:r>
              <a:rPr lang="fr-FR" dirty="0" err="1"/>
              <a:t>from</a:t>
            </a:r>
            <a:endParaRPr lang="fr-FR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07BCBB-25E6-F435-AE53-2DCC98F52EA9}"/>
              </a:ext>
            </a:extLst>
          </p:cNvPr>
          <p:cNvSpPr txBox="1"/>
          <p:nvPr/>
        </p:nvSpPr>
        <p:spPr>
          <a:xfrm>
            <a:off x="6757785" y="3979786"/>
            <a:ext cx="551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 to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A0783EE-FB39-68C2-1D0D-FAC93FF3BEB4}"/>
              </a:ext>
            </a:extLst>
          </p:cNvPr>
          <p:cNvCxnSpPr>
            <a:cxnSpLocks/>
          </p:cNvCxnSpPr>
          <p:nvPr/>
        </p:nvCxnSpPr>
        <p:spPr>
          <a:xfrm>
            <a:off x="5588923" y="4900589"/>
            <a:ext cx="523703" cy="517163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4C2ED60-7066-284D-0BE8-423E1FF0A30A}"/>
              </a:ext>
            </a:extLst>
          </p:cNvPr>
          <p:cNvSpPr txBox="1"/>
          <p:nvPr/>
        </p:nvSpPr>
        <p:spPr>
          <a:xfrm>
            <a:off x="5608665" y="526305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4771FE-DD42-C021-2711-DD406E693BE0}"/>
              </a:ext>
            </a:extLst>
          </p:cNvPr>
          <p:cNvSpPr txBox="1"/>
          <p:nvPr/>
        </p:nvSpPr>
        <p:spPr>
          <a:xfrm>
            <a:off x="2045814" y="2889833"/>
            <a:ext cx="1403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txTimestamp</a:t>
            </a:r>
            <a:endParaRPr lang="fr-FR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154534-EE4A-7D7F-2365-E71D0DCB6E91}"/>
              </a:ext>
            </a:extLst>
          </p:cNvPr>
          <p:cNvSpPr txBox="1"/>
          <p:nvPr/>
        </p:nvSpPr>
        <p:spPr>
          <a:xfrm>
            <a:off x="2045814" y="2589331"/>
            <a:ext cx="54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txId</a:t>
            </a:r>
            <a:endParaRPr lang="fr-FR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96FD4CF-504F-747B-6026-6FFB54D1DCAF}"/>
              </a:ext>
            </a:extLst>
          </p:cNvPr>
          <p:cNvCxnSpPr>
            <a:cxnSpLocks/>
          </p:cNvCxnSpPr>
          <p:nvPr/>
        </p:nvCxnSpPr>
        <p:spPr>
          <a:xfrm>
            <a:off x="2802268" y="3769014"/>
            <a:ext cx="1082327" cy="897196"/>
          </a:xfrm>
          <a:prstGeom prst="straightConnector1">
            <a:avLst/>
          </a:prstGeom>
          <a:ln w="38100"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C1CB784-B284-0EE3-36CB-3C4696310E6C}"/>
              </a:ext>
            </a:extLst>
          </p:cNvPr>
          <p:cNvSpPr txBox="1"/>
          <p:nvPr/>
        </p:nvSpPr>
        <p:spPr>
          <a:xfrm>
            <a:off x="2525861" y="371971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759FEED-1E31-0043-FEA2-A956479B3DC0}"/>
              </a:ext>
            </a:extLst>
          </p:cNvPr>
          <p:cNvSpPr txBox="1"/>
          <p:nvPr/>
        </p:nvSpPr>
        <p:spPr>
          <a:xfrm>
            <a:off x="3452607" y="460001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*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D53117-14C5-13CD-E6C5-DC18604F8EB9}"/>
              </a:ext>
            </a:extLst>
          </p:cNvPr>
          <p:cNvSpPr txBox="1"/>
          <p:nvPr/>
        </p:nvSpPr>
        <p:spPr>
          <a:xfrm>
            <a:off x="3956351" y="4289197"/>
            <a:ext cx="114165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date</a:t>
            </a:r>
          </a:p>
          <a:p>
            <a:r>
              <a:rPr lang="fr-FR" dirty="0"/>
              <a:t>(</a:t>
            </a:r>
            <a:r>
              <a:rPr lang="fr-FR" dirty="0" err="1"/>
              <a:t>payment</a:t>
            </a:r>
            <a:r>
              <a:rPr lang="fr-FR" dirty="0"/>
              <a:t>,</a:t>
            </a:r>
          </a:p>
          <a:p>
            <a:r>
              <a:rPr lang="fr-FR" dirty="0" err="1"/>
              <a:t>delivery</a:t>
            </a:r>
            <a:r>
              <a:rPr lang="fr-FR" dirty="0"/>
              <a:t>..)</a:t>
            </a:r>
          </a:p>
          <a:p>
            <a:r>
              <a:rPr lang="fr-FR" dirty="0" err="1"/>
              <a:t>quantity</a:t>
            </a:r>
            <a:endParaRPr lang="fr-FR" dirty="0"/>
          </a:p>
          <a:p>
            <a:endParaRPr lang="fr-FR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30F5912-1012-FE38-F2EF-0A63576E383C}"/>
              </a:ext>
            </a:extLst>
          </p:cNvPr>
          <p:cNvSpPr txBox="1"/>
          <p:nvPr/>
        </p:nvSpPr>
        <p:spPr>
          <a:xfrm>
            <a:off x="9069483" y="29483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5121F12-853A-B3E6-435F-5CCB99BB0C92}"/>
              </a:ext>
            </a:extLst>
          </p:cNvPr>
          <p:cNvSpPr txBox="1"/>
          <p:nvPr/>
        </p:nvSpPr>
        <p:spPr>
          <a:xfrm>
            <a:off x="5608665" y="60174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Currency, </a:t>
            </a:r>
            <a:r>
              <a:rPr lang="fr-FR" sz="1800" b="1" dirty="0" err="1"/>
              <a:t>Commodity</a:t>
            </a:r>
            <a:r>
              <a:rPr lang="fr-FR" sz="1800" b="1" dirty="0"/>
              <a:t>, </a:t>
            </a:r>
            <a:r>
              <a:rPr lang="fr-FR" sz="1800" b="1" dirty="0" err="1"/>
              <a:t>Equity</a:t>
            </a:r>
            <a:r>
              <a:rPr lang="fr-FR" sz="1800" b="1" dirty="0"/>
              <a:t>, Bond, Option, ..</a:t>
            </a:r>
            <a:endParaRPr lang="fr-FR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DADDCC5-87A6-D654-BA9D-F5DF81E64DED}"/>
              </a:ext>
            </a:extLst>
          </p:cNvPr>
          <p:cNvCxnSpPr>
            <a:cxnSpLocks/>
          </p:cNvCxnSpPr>
          <p:nvPr/>
        </p:nvCxnSpPr>
        <p:spPr>
          <a:xfrm flipV="1">
            <a:off x="6173763" y="5719682"/>
            <a:ext cx="542921" cy="344973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B74BCE5-2133-A1D3-3D76-AF71CD5DF0C2}"/>
              </a:ext>
            </a:extLst>
          </p:cNvPr>
          <p:cNvCxnSpPr>
            <a:cxnSpLocks/>
          </p:cNvCxnSpPr>
          <p:nvPr/>
        </p:nvCxnSpPr>
        <p:spPr>
          <a:xfrm flipH="1" flipV="1">
            <a:off x="6899564" y="5719682"/>
            <a:ext cx="88669" cy="422464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DEA5DB4-9AFD-FD24-BD60-38AABC1A2821}"/>
              </a:ext>
            </a:extLst>
          </p:cNvPr>
          <p:cNvCxnSpPr>
            <a:cxnSpLocks/>
          </p:cNvCxnSpPr>
          <p:nvPr/>
        </p:nvCxnSpPr>
        <p:spPr>
          <a:xfrm flipH="1" flipV="1">
            <a:off x="7140633" y="5719682"/>
            <a:ext cx="612371" cy="344973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BE35BAF-D961-52B5-6A95-0016F9017525}"/>
              </a:ext>
            </a:extLst>
          </p:cNvPr>
          <p:cNvCxnSpPr>
            <a:cxnSpLocks/>
          </p:cNvCxnSpPr>
          <p:nvPr/>
        </p:nvCxnSpPr>
        <p:spPr>
          <a:xfrm flipH="1" flipV="1">
            <a:off x="7446818" y="5728627"/>
            <a:ext cx="871451" cy="336028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6843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6EFDC-DB1D-FC85-2660-A5B27F272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Simplified</a:t>
            </a:r>
            <a:r>
              <a:rPr lang="fr-FR" dirty="0"/>
              <a:t> Transaction Log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9DF6DD-739B-F04B-599F-C2328CBCB762}"/>
              </a:ext>
            </a:extLst>
          </p:cNvPr>
          <p:cNvSpPr txBox="1"/>
          <p:nvPr/>
        </p:nvSpPr>
        <p:spPr>
          <a:xfrm>
            <a:off x="3230881" y="2599112"/>
            <a:ext cx="599606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at </a:t>
            </a:r>
            <a:r>
              <a:rPr lang="fr-FR" dirty="0" err="1"/>
              <a:t>yyyy</a:t>
            </a:r>
            <a:r>
              <a:rPr lang="fr-FR" dirty="0"/>
              <a:t>/mm/dd    Account#1   </a:t>
            </a:r>
            <a:r>
              <a:rPr lang="fr-FR" dirty="0" err="1"/>
              <a:t>pay</a:t>
            </a:r>
            <a:r>
              <a:rPr lang="fr-FR" dirty="0"/>
              <a:t>  10 </a:t>
            </a:r>
            <a:r>
              <a:rPr lang="fr-FR" dirty="0" err="1"/>
              <a:t>EUROs</a:t>
            </a:r>
            <a:r>
              <a:rPr lang="fr-FR" dirty="0"/>
              <a:t>  to  Account#2</a:t>
            </a:r>
          </a:p>
          <a:p>
            <a:endParaRPr lang="fr-FR" dirty="0"/>
          </a:p>
          <a:p>
            <a:r>
              <a:rPr lang="fr-FR" dirty="0"/>
              <a:t>at </a:t>
            </a:r>
            <a:r>
              <a:rPr lang="fr-FR" dirty="0" err="1"/>
              <a:t>yyyy</a:t>
            </a:r>
            <a:r>
              <a:rPr lang="fr-FR" dirty="0"/>
              <a:t>/mm/dd    Account#25   </a:t>
            </a:r>
            <a:r>
              <a:rPr lang="fr-FR" dirty="0" err="1"/>
              <a:t>pay</a:t>
            </a:r>
            <a:r>
              <a:rPr lang="fr-FR" dirty="0"/>
              <a:t>  20 </a:t>
            </a:r>
            <a:r>
              <a:rPr lang="fr-FR" dirty="0" err="1"/>
              <a:t>EUROs</a:t>
            </a:r>
            <a:r>
              <a:rPr lang="fr-FR" dirty="0"/>
              <a:t>  to  Account#7</a:t>
            </a:r>
          </a:p>
          <a:p>
            <a:endParaRPr lang="fr-FR" dirty="0"/>
          </a:p>
          <a:p>
            <a:r>
              <a:rPr lang="fr-FR" dirty="0"/>
              <a:t>at </a:t>
            </a:r>
            <a:r>
              <a:rPr lang="fr-FR" dirty="0" err="1"/>
              <a:t>yyyy</a:t>
            </a:r>
            <a:r>
              <a:rPr lang="fr-FR" dirty="0"/>
              <a:t>/mm/dd    Account#14   </a:t>
            </a:r>
            <a:r>
              <a:rPr lang="fr-FR" dirty="0" err="1"/>
              <a:t>pay</a:t>
            </a:r>
            <a:r>
              <a:rPr lang="fr-FR" dirty="0"/>
              <a:t>  600 </a:t>
            </a:r>
            <a:r>
              <a:rPr lang="fr-FR" dirty="0" err="1"/>
              <a:t>EUROs</a:t>
            </a:r>
            <a:r>
              <a:rPr lang="fr-FR" dirty="0"/>
              <a:t>  to  Account#9</a:t>
            </a:r>
          </a:p>
          <a:p>
            <a:endParaRPr lang="fr-FR" dirty="0"/>
          </a:p>
          <a:p>
            <a:r>
              <a:rPr lang="fr-FR" dirty="0"/>
              <a:t>at </a:t>
            </a:r>
            <a:r>
              <a:rPr lang="fr-FR" dirty="0" err="1"/>
              <a:t>yyyy</a:t>
            </a:r>
            <a:r>
              <a:rPr lang="fr-FR" dirty="0"/>
              <a:t>/mm/dd    Account#14   </a:t>
            </a:r>
            <a:r>
              <a:rPr lang="fr-FR" dirty="0" err="1"/>
              <a:t>pay</a:t>
            </a:r>
            <a:r>
              <a:rPr lang="fr-FR" dirty="0"/>
              <a:t>  600 </a:t>
            </a:r>
            <a:r>
              <a:rPr lang="fr-FR" dirty="0" err="1"/>
              <a:t>EUROs</a:t>
            </a:r>
            <a:r>
              <a:rPr lang="fr-FR" dirty="0"/>
              <a:t>  to  Account#9</a:t>
            </a:r>
          </a:p>
          <a:p>
            <a:endParaRPr lang="fr-FR" dirty="0"/>
          </a:p>
          <a:p>
            <a:r>
              <a:rPr lang="fr-FR" dirty="0"/>
              <a:t>...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5B7E900C-1C38-A6B5-4515-1618FC5CA527}"/>
              </a:ext>
            </a:extLst>
          </p:cNvPr>
          <p:cNvSpPr/>
          <p:nvPr/>
        </p:nvSpPr>
        <p:spPr>
          <a:xfrm>
            <a:off x="3796146" y="4815904"/>
            <a:ext cx="343593" cy="53195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EE90DE34-D461-CD88-4250-D9BC33882ABE}"/>
              </a:ext>
            </a:extLst>
          </p:cNvPr>
          <p:cNvSpPr/>
          <p:nvPr/>
        </p:nvSpPr>
        <p:spPr>
          <a:xfrm>
            <a:off x="2455025" y="2554778"/>
            <a:ext cx="221673" cy="476597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E5BB8BD3-33CA-685A-1EB9-4AFBD6857FFA}"/>
              </a:ext>
            </a:extLst>
          </p:cNvPr>
          <p:cNvSpPr/>
          <p:nvPr/>
        </p:nvSpPr>
        <p:spPr>
          <a:xfrm>
            <a:off x="2468879" y="3138177"/>
            <a:ext cx="221673" cy="476597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C237E9-3E62-0F66-D9FD-38B6A4CB90D1}"/>
              </a:ext>
            </a:extLst>
          </p:cNvPr>
          <p:cNvSpPr txBox="1"/>
          <p:nvPr/>
        </p:nvSpPr>
        <p:spPr>
          <a:xfrm>
            <a:off x="194058" y="2599112"/>
            <a:ext cx="22095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Transaction Record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512B32-FC82-BAC7-C57E-1CE95537C388}"/>
              </a:ext>
            </a:extLst>
          </p:cNvPr>
          <p:cNvSpPr txBox="1"/>
          <p:nvPr/>
        </p:nvSpPr>
        <p:spPr>
          <a:xfrm>
            <a:off x="3161607" y="5470759"/>
            <a:ext cx="49598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append-</a:t>
            </a:r>
            <a:r>
              <a:rPr lang="fr-FR" sz="2000" b="1" dirty="0" err="1"/>
              <a:t>only</a:t>
            </a:r>
            <a:r>
              <a:rPr lang="fr-FR" sz="2000" b="1" dirty="0"/>
              <a:t>,   </a:t>
            </a:r>
            <a:r>
              <a:rPr lang="fr-FR" sz="2000" b="1" dirty="0" err="1"/>
              <a:t>then</a:t>
            </a:r>
            <a:r>
              <a:rPr lang="fr-FR" sz="2000" b="1" dirty="0"/>
              <a:t> immutable </a:t>
            </a:r>
            <a:r>
              <a:rPr lang="fr-FR" sz="2000" b="1" dirty="0" err="1"/>
              <a:t>when</a:t>
            </a:r>
            <a:r>
              <a:rPr lang="fr-FR" sz="2000" b="1" dirty="0"/>
              <a:t> </a:t>
            </a:r>
            <a:r>
              <a:rPr lang="fr-FR" sz="2000" b="1" dirty="0" err="1"/>
              <a:t>written</a:t>
            </a:r>
            <a:endParaRPr lang="fr-FR" sz="2000" b="1" dirty="0"/>
          </a:p>
          <a:p>
            <a:r>
              <a:rPr lang="fr-FR" sz="2000" b="1" dirty="0"/>
              <a:t>(Time </a:t>
            </a:r>
            <a:r>
              <a:rPr lang="fr-FR" sz="2000" b="1" dirty="0" err="1"/>
              <a:t>increase</a:t>
            </a:r>
            <a:r>
              <a:rPr lang="fr-FR" sz="2000" b="1" dirty="0"/>
              <a:t>)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A7D7F756-1482-FDBB-616F-965535733311}"/>
              </a:ext>
            </a:extLst>
          </p:cNvPr>
          <p:cNvSpPr/>
          <p:nvPr/>
        </p:nvSpPr>
        <p:spPr>
          <a:xfrm flipH="1">
            <a:off x="9448619" y="1817716"/>
            <a:ext cx="332510" cy="2737660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C9131B-188B-7EBA-0686-707A135570A4}"/>
              </a:ext>
            </a:extLst>
          </p:cNvPr>
          <p:cNvSpPr txBox="1"/>
          <p:nvPr/>
        </p:nvSpPr>
        <p:spPr>
          <a:xfrm>
            <a:off x="9884032" y="2608410"/>
            <a:ext cx="17266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/>
              <a:t>Current</a:t>
            </a:r>
            <a:endParaRPr lang="fr-FR" sz="2400" b="1" dirty="0"/>
          </a:p>
          <a:p>
            <a:r>
              <a:rPr lang="fr-FR" sz="2400" b="1" dirty="0" err="1"/>
              <a:t>Committed</a:t>
            </a:r>
            <a:r>
              <a:rPr lang="fr-FR" sz="2400" b="1" dirty="0"/>
              <a:t> </a:t>
            </a:r>
          </a:p>
          <a:p>
            <a:r>
              <a:rPr lang="fr-FR" sz="2400" b="1" dirty="0"/>
              <a:t>Transaction </a:t>
            </a:r>
          </a:p>
          <a:p>
            <a:r>
              <a:rPr lang="fr-FR" sz="2400" b="1" dirty="0"/>
              <a:t>Log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1FA917A-C431-63D4-7449-FA81EFFF4C9D}"/>
              </a:ext>
            </a:extLst>
          </p:cNvPr>
          <p:cNvSpPr/>
          <p:nvPr/>
        </p:nvSpPr>
        <p:spPr>
          <a:xfrm>
            <a:off x="9049790" y="4782591"/>
            <a:ext cx="590403" cy="4517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??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341399-68D9-E953-B88A-8063FE4B24EB}"/>
              </a:ext>
            </a:extLst>
          </p:cNvPr>
          <p:cNvSpPr txBox="1"/>
          <p:nvPr/>
        </p:nvSpPr>
        <p:spPr>
          <a:xfrm>
            <a:off x="9675844" y="4841643"/>
            <a:ext cx="24826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lock </a:t>
            </a:r>
            <a:r>
              <a:rPr lang="fr-FR" sz="2000" b="1" dirty="0" err="1"/>
              <a:t>uncommitted</a:t>
            </a:r>
            <a:r>
              <a:rPr lang="fr-FR" sz="2000" dirty="0"/>
              <a:t> </a:t>
            </a:r>
            <a:r>
              <a:rPr lang="fr-FR" sz="2000" dirty="0" err="1"/>
              <a:t>yet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1723487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5D38-6C76-B487-60C2-40D702CB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SQL .. INSERT INTO Transaction VALUES (?,?,?)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D3556D-F558-6C25-4B4B-8E64D62AC1A9}"/>
              </a:ext>
            </a:extLst>
          </p:cNvPr>
          <p:cNvSpPr txBox="1"/>
          <p:nvPr/>
        </p:nvSpPr>
        <p:spPr>
          <a:xfrm>
            <a:off x="3394106" y="1928554"/>
            <a:ext cx="5403787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begin</a:t>
            </a:r>
            <a:r>
              <a:rPr lang="fr-FR" sz="2400" dirty="0"/>
              <a:t> XA Commit</a:t>
            </a:r>
          </a:p>
          <a:p>
            <a:endParaRPr lang="fr-FR" sz="2400" dirty="0"/>
          </a:p>
          <a:p>
            <a:r>
              <a:rPr lang="fr-FR" sz="2400" dirty="0"/>
              <a:t>   INSERT INTO Transaction VALUES (?,?,?);</a:t>
            </a:r>
          </a:p>
          <a:p>
            <a:endParaRPr lang="fr-FR" sz="2400" dirty="0"/>
          </a:p>
          <a:p>
            <a:r>
              <a:rPr lang="fr-FR" sz="2400" dirty="0"/>
              <a:t>   INSERT INTO Flow VALUES (?,?,?,?);</a:t>
            </a:r>
          </a:p>
          <a:p>
            <a:r>
              <a:rPr lang="fr-FR" sz="2400" dirty="0"/>
              <a:t>   INSERT INTO Flow VALUES (?,?,?,?);</a:t>
            </a:r>
          </a:p>
          <a:p>
            <a:r>
              <a:rPr lang="fr-FR" sz="2400" dirty="0"/>
              <a:t>   INSERT INTO Flow VALUES (?,?,?,?);</a:t>
            </a:r>
          </a:p>
          <a:p>
            <a:endParaRPr lang="fr-FR" sz="2400" dirty="0"/>
          </a:p>
          <a:p>
            <a:r>
              <a:rPr lang="fr-FR" sz="2400" dirty="0" err="1"/>
              <a:t>prepare</a:t>
            </a:r>
            <a:r>
              <a:rPr lang="fr-FR" sz="2400" dirty="0"/>
              <a:t> XA Commit</a:t>
            </a:r>
          </a:p>
          <a:p>
            <a:r>
              <a:rPr lang="fr-FR" sz="2400" dirty="0"/>
              <a:t>do XA Commit</a:t>
            </a:r>
          </a:p>
        </p:txBody>
      </p:sp>
    </p:spTree>
    <p:extLst>
      <p:ext uri="{BB962C8B-B14F-4D97-AF65-F5344CB8AC3E}">
        <p14:creationId xmlns:p14="http://schemas.microsoft.com/office/powerpoint/2010/main" val="3696121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62CC6-BF83-10C2-494F-E39EC7C7E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SQL : re-</a:t>
            </a:r>
            <a:r>
              <a:rPr lang="fr-FR" dirty="0" err="1"/>
              <a:t>compute</a:t>
            </a:r>
            <a:r>
              <a:rPr lang="fr-FR" dirty="0"/>
              <a:t> Position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Account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9E7E0B-E44A-9453-CE33-B7A1C7911E2B}"/>
              </a:ext>
            </a:extLst>
          </p:cNvPr>
          <p:cNvSpPr txBox="1"/>
          <p:nvPr/>
        </p:nvSpPr>
        <p:spPr>
          <a:xfrm>
            <a:off x="4904508" y="2050473"/>
            <a:ext cx="4056880" cy="37240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SELECT  </a:t>
            </a:r>
            <a:r>
              <a:rPr lang="fr-FR" sz="2800" b="1" dirty="0"/>
              <a:t>-</a:t>
            </a:r>
            <a:r>
              <a:rPr lang="fr-FR" dirty="0"/>
              <a:t> </a:t>
            </a:r>
            <a:r>
              <a:rPr lang="fr-FR" dirty="0" err="1"/>
              <a:t>sum</a:t>
            </a:r>
            <a:r>
              <a:rPr lang="fr-FR" dirty="0"/>
              <a:t>(</a:t>
            </a:r>
            <a:r>
              <a:rPr lang="fr-FR" dirty="0" err="1"/>
              <a:t>f.quantity</a:t>
            </a:r>
            <a:r>
              <a:rPr lang="fr-FR" dirty="0"/>
              <a:t>),  </a:t>
            </a:r>
            <a:r>
              <a:rPr lang="fr-FR" dirty="0" err="1"/>
              <a:t>f.underlying</a:t>
            </a:r>
            <a:r>
              <a:rPr lang="fr-FR" dirty="0"/>
              <a:t>   </a:t>
            </a:r>
          </a:p>
          <a:p>
            <a:r>
              <a:rPr lang="fr-FR" dirty="0"/>
              <a:t>FROM    Flow  f</a:t>
            </a:r>
          </a:p>
          <a:p>
            <a:r>
              <a:rPr lang="fr-FR" dirty="0"/>
              <a:t>WHERE </a:t>
            </a:r>
            <a:r>
              <a:rPr lang="fr-FR" dirty="0" err="1"/>
              <a:t>f.from</a:t>
            </a:r>
            <a:r>
              <a:rPr lang="fr-FR" dirty="0"/>
              <a:t> = ?</a:t>
            </a:r>
          </a:p>
          <a:p>
            <a:r>
              <a:rPr lang="fr-FR" dirty="0"/>
              <a:t>GROUPBY </a:t>
            </a:r>
            <a:r>
              <a:rPr lang="fr-FR" dirty="0" err="1"/>
              <a:t>f.underlying</a:t>
            </a:r>
            <a:endParaRPr lang="fr-FR" dirty="0"/>
          </a:p>
          <a:p>
            <a:endParaRPr lang="fr-FR" dirty="0"/>
          </a:p>
          <a:p>
            <a:r>
              <a:rPr lang="fr-FR" dirty="0"/>
              <a:t>UNION</a:t>
            </a:r>
          </a:p>
          <a:p>
            <a:endParaRPr lang="fr-FR" dirty="0"/>
          </a:p>
          <a:p>
            <a:r>
              <a:rPr lang="fr-FR" dirty="0"/>
              <a:t>SELECT  </a:t>
            </a:r>
            <a:r>
              <a:rPr lang="fr-FR" sz="2800" b="1" dirty="0"/>
              <a:t>+</a:t>
            </a:r>
            <a:r>
              <a:rPr lang="fr-FR" dirty="0"/>
              <a:t> </a:t>
            </a:r>
            <a:r>
              <a:rPr lang="fr-FR" dirty="0" err="1"/>
              <a:t>sum</a:t>
            </a:r>
            <a:r>
              <a:rPr lang="fr-FR" dirty="0"/>
              <a:t>(</a:t>
            </a:r>
            <a:r>
              <a:rPr lang="fr-FR" dirty="0" err="1"/>
              <a:t>f.quantity</a:t>
            </a:r>
            <a:r>
              <a:rPr lang="fr-FR" dirty="0"/>
              <a:t>),  </a:t>
            </a:r>
            <a:r>
              <a:rPr lang="fr-FR" dirty="0" err="1"/>
              <a:t>f.underlying</a:t>
            </a:r>
            <a:r>
              <a:rPr lang="fr-FR" dirty="0"/>
              <a:t>   </a:t>
            </a:r>
          </a:p>
          <a:p>
            <a:r>
              <a:rPr lang="fr-FR" dirty="0"/>
              <a:t>FROM    Flow  f</a:t>
            </a:r>
          </a:p>
          <a:p>
            <a:r>
              <a:rPr lang="fr-FR" dirty="0"/>
              <a:t>WHERE f.to = ?</a:t>
            </a:r>
          </a:p>
          <a:p>
            <a:r>
              <a:rPr lang="fr-FR" dirty="0"/>
              <a:t>GROUPBY </a:t>
            </a:r>
            <a:r>
              <a:rPr lang="fr-FR" dirty="0" err="1"/>
              <a:t>f.underlying</a:t>
            </a:r>
            <a:endParaRPr lang="fr-FR" dirty="0"/>
          </a:p>
          <a:p>
            <a:r>
              <a:rPr lang="fr-FR" dirty="0"/>
              <a:t> </a:t>
            </a: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D6FCCB28-B472-4F46-F0D0-E00A27FE35DE}"/>
              </a:ext>
            </a:extLst>
          </p:cNvPr>
          <p:cNvSpPr/>
          <p:nvPr/>
        </p:nvSpPr>
        <p:spPr>
          <a:xfrm>
            <a:off x="4480559" y="2229319"/>
            <a:ext cx="213362" cy="1094387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3D7C129E-F5BF-AF99-3353-D28A79454A50}"/>
              </a:ext>
            </a:extLst>
          </p:cNvPr>
          <p:cNvSpPr/>
          <p:nvPr/>
        </p:nvSpPr>
        <p:spPr>
          <a:xfrm>
            <a:off x="4479172" y="4310272"/>
            <a:ext cx="213362" cy="1094387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E725B2-A809-D2A5-806D-40433AA37482}"/>
              </a:ext>
            </a:extLst>
          </p:cNvPr>
          <p:cNvSpPr txBox="1"/>
          <p:nvPr/>
        </p:nvSpPr>
        <p:spPr>
          <a:xfrm>
            <a:off x="2121627" y="2453346"/>
            <a:ext cx="20479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substract</a:t>
            </a:r>
            <a:r>
              <a:rPr lang="fr-FR" dirty="0"/>
              <a:t> </a:t>
            </a:r>
            <a:r>
              <a:rPr lang="fr-FR" dirty="0" err="1"/>
              <a:t>quantity</a:t>
            </a:r>
            <a:r>
              <a:rPr lang="fr-FR" dirty="0"/>
              <a:t>  :</a:t>
            </a:r>
          </a:p>
          <a:p>
            <a:r>
              <a:rPr lang="fr-FR" dirty="0"/>
              <a:t>flow out of </a:t>
            </a:r>
            <a:r>
              <a:rPr lang="fr-FR" dirty="0" err="1"/>
              <a:t>account</a:t>
            </a:r>
            <a:endParaRPr lang="fr-F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B25580-6C39-1875-5C87-051D1E854537}"/>
              </a:ext>
            </a:extLst>
          </p:cNvPr>
          <p:cNvSpPr txBox="1"/>
          <p:nvPr/>
        </p:nvSpPr>
        <p:spPr>
          <a:xfrm>
            <a:off x="2118853" y="4573092"/>
            <a:ext cx="18136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quantity</a:t>
            </a:r>
            <a:r>
              <a:rPr lang="fr-FR" dirty="0"/>
              <a:t>  :</a:t>
            </a:r>
          </a:p>
          <a:p>
            <a:r>
              <a:rPr lang="fr-FR" dirty="0"/>
              <a:t>flow </a:t>
            </a:r>
            <a:r>
              <a:rPr lang="fr-FR" dirty="0" err="1"/>
              <a:t>into</a:t>
            </a:r>
            <a:r>
              <a:rPr lang="fr-FR" dirty="0"/>
              <a:t> </a:t>
            </a:r>
            <a:r>
              <a:rPr lang="fr-FR" dirty="0" err="1"/>
              <a:t>account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20046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2ED07-6C81-6351-59BE-51922F917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Problems</a:t>
            </a:r>
            <a:r>
              <a:rPr lang="fr-FR" dirty="0"/>
              <a:t> of Trust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93B539-6A0C-C88F-7168-21648F708CEF}"/>
              </a:ext>
            </a:extLst>
          </p:cNvPr>
          <p:cNvSpPr txBox="1"/>
          <p:nvPr/>
        </p:nvSpPr>
        <p:spPr>
          <a:xfrm>
            <a:off x="1017985" y="1568335"/>
            <a:ext cx="10253769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Confident for ??</a:t>
            </a:r>
          </a:p>
          <a:p>
            <a:endParaRPr lang="fr-FR" sz="2000" dirty="0"/>
          </a:p>
          <a:p>
            <a:r>
              <a:rPr lang="fr-FR" sz="2000" dirty="0"/>
              <a:t>1/ </a:t>
            </a:r>
            <a:r>
              <a:rPr lang="fr-FR" sz="2000" dirty="0" err="1"/>
              <a:t>keeping</a:t>
            </a:r>
            <a:r>
              <a:rPr lang="fr-FR" sz="2000" dirty="0"/>
              <a:t> ALL  </a:t>
            </a:r>
            <a:r>
              <a:rPr lang="fr-FR" sz="2000" dirty="0" err="1"/>
              <a:t>history</a:t>
            </a:r>
            <a:r>
              <a:rPr lang="fr-FR" sz="2000" dirty="0"/>
              <a:t>  </a:t>
            </a:r>
            <a:r>
              <a:rPr lang="fr-FR" sz="2000" dirty="0" err="1"/>
              <a:t>since</a:t>
            </a:r>
            <a:r>
              <a:rPr lang="fr-FR" sz="2000" dirty="0"/>
              <a:t> </a:t>
            </a:r>
            <a:r>
              <a:rPr lang="fr-FR" sz="2000" dirty="0" err="1"/>
              <a:t>day</a:t>
            </a:r>
            <a:r>
              <a:rPr lang="fr-FR" sz="2000" dirty="0"/>
              <a:t> 0   (no Data </a:t>
            </a:r>
            <a:r>
              <a:rPr lang="fr-FR" sz="2000" dirty="0" err="1"/>
              <a:t>Loss</a:t>
            </a:r>
            <a:r>
              <a:rPr lang="fr-FR" sz="2000" dirty="0"/>
              <a:t> ... can </a:t>
            </a:r>
            <a:r>
              <a:rPr lang="fr-FR" sz="2000" dirty="0" err="1"/>
              <a:t>be</a:t>
            </a:r>
            <a:r>
              <a:rPr lang="fr-FR" sz="2000" dirty="0"/>
              <a:t> </a:t>
            </a:r>
            <a:r>
              <a:rPr lang="fr-FR" sz="2000" dirty="0" err="1"/>
              <a:t>Terabytes</a:t>
            </a:r>
            <a:r>
              <a:rPr lang="fr-FR" sz="2000" dirty="0"/>
              <a:t>)</a:t>
            </a:r>
          </a:p>
          <a:p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2/ </a:t>
            </a:r>
            <a:r>
              <a:rPr lang="fr-FR" sz="2000" dirty="0" err="1"/>
              <a:t>keeping</a:t>
            </a:r>
            <a:r>
              <a:rPr lang="fr-FR" sz="2000" dirty="0"/>
              <a:t> ALL </a:t>
            </a:r>
            <a:r>
              <a:rPr lang="fr-FR" sz="2000" dirty="0" err="1"/>
              <a:t>past</a:t>
            </a:r>
            <a:r>
              <a:rPr lang="fr-FR" sz="2000" dirty="0"/>
              <a:t> data IMMUTABLE ( no </a:t>
            </a:r>
            <a:r>
              <a:rPr lang="fr-FR" sz="2000" dirty="0" err="1"/>
              <a:t>alteration</a:t>
            </a:r>
            <a:r>
              <a:rPr lang="fr-FR" sz="2000" dirty="0"/>
              <a:t> of </a:t>
            </a:r>
            <a:r>
              <a:rPr lang="fr-FR" sz="2000" dirty="0" err="1"/>
              <a:t>past</a:t>
            </a:r>
            <a:r>
              <a:rPr lang="fr-FR" sz="2000" dirty="0"/>
              <a:t> )</a:t>
            </a:r>
          </a:p>
          <a:p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3/ ACID transactions   (Atomic, Consistent, </a:t>
            </a:r>
            <a:r>
              <a:rPr lang="fr-FR" sz="2000" dirty="0" err="1"/>
              <a:t>Isolated</a:t>
            </a:r>
            <a:r>
              <a:rPr lang="fr-FR" sz="2000" dirty="0"/>
              <a:t>, durable )</a:t>
            </a:r>
          </a:p>
          <a:p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4/ Permission to </a:t>
            </a:r>
            <a:r>
              <a:rPr lang="fr-FR" sz="2000" dirty="0" err="1"/>
              <a:t>who</a:t>
            </a:r>
            <a:r>
              <a:rPr lang="fr-FR" sz="2000" dirty="0"/>
              <a:t> Append records</a:t>
            </a:r>
          </a:p>
          <a:p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5/ </a:t>
            </a:r>
            <a:r>
              <a:rPr lang="fr-FR" sz="2000" dirty="0" err="1"/>
              <a:t>Recomputing</a:t>
            </a:r>
            <a:r>
              <a:rPr lang="fr-FR" sz="2000" dirty="0"/>
              <a:t> all position balance </a:t>
            </a:r>
            <a:r>
              <a:rPr lang="fr-FR" sz="2000" dirty="0" err="1"/>
              <a:t>accounts</a:t>
            </a:r>
            <a:r>
              <a:rPr lang="fr-FR" sz="2000" dirty="0"/>
              <a:t> </a:t>
            </a:r>
            <a:r>
              <a:rPr lang="fr-FR" sz="2000" dirty="0" err="1"/>
              <a:t>correctly</a:t>
            </a:r>
            <a:r>
              <a:rPr lang="fr-FR" sz="2000" dirty="0"/>
              <a:t>  (exact millions of addition/</a:t>
            </a:r>
            <a:r>
              <a:rPr lang="fr-FR" sz="2000" dirty="0" err="1"/>
              <a:t>substractions</a:t>
            </a:r>
            <a:r>
              <a:rPr lang="fr-FR" sz="2000" dirty="0"/>
              <a:t>)</a:t>
            </a:r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664057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10A0E-7DFD-CA47-6A9C-4D9BCC94F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Full </a:t>
            </a:r>
            <a:r>
              <a:rPr lang="fr-FR" dirty="0" err="1"/>
              <a:t>History</a:t>
            </a:r>
            <a:r>
              <a:rPr lang="fr-FR" dirty="0"/>
              <a:t> -&gt; </a:t>
            </a:r>
            <a:r>
              <a:rPr lang="fr-FR" dirty="0" err="1"/>
              <a:t>Incremental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 err="1"/>
              <a:t>Netting</a:t>
            </a:r>
            <a:r>
              <a:rPr lang="fr-FR" dirty="0"/>
              <a:t>, Compensation, Balance per </a:t>
            </a:r>
            <a:r>
              <a:rPr lang="fr-FR" dirty="0" err="1"/>
              <a:t>Month</a:t>
            </a:r>
            <a:r>
              <a:rPr lang="fr-FR" dirty="0"/>
              <a:t> 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7EF431-A8A0-0330-041B-6469E307EDBB}"/>
              </a:ext>
            </a:extLst>
          </p:cNvPr>
          <p:cNvSpPr txBox="1"/>
          <p:nvPr/>
        </p:nvSpPr>
        <p:spPr>
          <a:xfrm>
            <a:off x="1579419" y="2765368"/>
            <a:ext cx="10268324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You </a:t>
            </a:r>
            <a:r>
              <a:rPr lang="fr-FR" sz="2800" dirty="0" err="1"/>
              <a:t>receive</a:t>
            </a:r>
            <a:r>
              <a:rPr lang="fr-FR" sz="2800" dirty="0"/>
              <a:t> </a:t>
            </a:r>
            <a:r>
              <a:rPr lang="fr-FR" sz="2800" dirty="0" err="1"/>
              <a:t>your</a:t>
            </a:r>
            <a:r>
              <a:rPr lang="fr-FR" sz="2800" dirty="0"/>
              <a:t> </a:t>
            </a:r>
            <a:r>
              <a:rPr lang="fr-FR" sz="2800" dirty="0" err="1"/>
              <a:t>bank</a:t>
            </a:r>
            <a:r>
              <a:rPr lang="fr-FR" sz="2800" dirty="0"/>
              <a:t> </a:t>
            </a:r>
            <a:r>
              <a:rPr lang="fr-FR" sz="2800" dirty="0" err="1"/>
              <a:t>account</a:t>
            </a:r>
            <a:r>
              <a:rPr lang="fr-FR" sz="2800" dirty="0"/>
              <a:t> </a:t>
            </a:r>
            <a:r>
              <a:rPr lang="fr-FR" sz="2800" dirty="0" err="1"/>
              <a:t>every</a:t>
            </a:r>
            <a:r>
              <a:rPr lang="fr-FR" sz="2800" dirty="0"/>
              <a:t> </a:t>
            </a:r>
            <a:r>
              <a:rPr lang="fr-FR" sz="2800" dirty="0" err="1"/>
              <a:t>month</a:t>
            </a:r>
            <a:endParaRPr lang="fr-FR" sz="2800" dirty="0"/>
          </a:p>
          <a:p>
            <a:r>
              <a:rPr lang="fr-FR" sz="2800" dirty="0" err="1"/>
              <a:t>with</a:t>
            </a:r>
            <a:r>
              <a:rPr lang="fr-FR" sz="2800" dirty="0"/>
              <a:t> </a:t>
            </a:r>
          </a:p>
          <a:p>
            <a:r>
              <a:rPr lang="fr-FR" sz="2800" dirty="0"/>
              <a:t>"</a:t>
            </a:r>
            <a:r>
              <a:rPr lang="fr-FR" sz="2800" dirty="0" err="1"/>
              <a:t>previous</a:t>
            </a:r>
            <a:r>
              <a:rPr lang="fr-FR" sz="2800" dirty="0"/>
              <a:t> </a:t>
            </a:r>
            <a:r>
              <a:rPr lang="fr-FR" sz="2800" dirty="0" err="1"/>
              <a:t>month</a:t>
            </a:r>
            <a:r>
              <a:rPr lang="fr-FR" sz="2800" dirty="0"/>
              <a:t> balance"</a:t>
            </a:r>
          </a:p>
          <a:p>
            <a:r>
              <a:rPr lang="fr-FR" sz="2800" dirty="0"/>
              <a:t>+ </a:t>
            </a:r>
            <a:r>
              <a:rPr lang="fr-FR" sz="2800" dirty="0" err="1"/>
              <a:t>operations</a:t>
            </a:r>
            <a:r>
              <a:rPr lang="fr-FR" sz="2800" dirty="0"/>
              <a:t> of the </a:t>
            </a:r>
            <a:r>
              <a:rPr lang="fr-FR" sz="2800" dirty="0" err="1"/>
              <a:t>month</a:t>
            </a:r>
            <a:endParaRPr lang="fr-FR" sz="2800" dirty="0"/>
          </a:p>
          <a:p>
            <a:r>
              <a:rPr lang="fr-FR" sz="2800" dirty="0"/>
              <a:t>=&gt; "new </a:t>
            </a:r>
            <a:r>
              <a:rPr lang="fr-FR" sz="2800" dirty="0" err="1"/>
              <a:t>result</a:t>
            </a:r>
            <a:r>
              <a:rPr lang="fr-FR" sz="2800" dirty="0"/>
              <a:t> </a:t>
            </a:r>
            <a:r>
              <a:rPr lang="fr-FR" sz="2800" dirty="0" err="1"/>
              <a:t>month</a:t>
            </a:r>
            <a:r>
              <a:rPr lang="fr-FR" sz="2800" dirty="0"/>
              <a:t> balance"</a:t>
            </a:r>
          </a:p>
          <a:p>
            <a:endParaRPr lang="fr-FR" sz="2800" dirty="0"/>
          </a:p>
          <a:p>
            <a:r>
              <a:rPr lang="fr-FR" sz="2800" dirty="0" err="1"/>
              <a:t>Behind</a:t>
            </a:r>
            <a:r>
              <a:rPr lang="fr-FR" sz="2800" dirty="0"/>
              <a:t> the </a:t>
            </a:r>
            <a:r>
              <a:rPr lang="fr-FR" sz="2800" dirty="0" err="1"/>
              <a:t>scene</a:t>
            </a:r>
            <a:r>
              <a:rPr lang="fr-FR" sz="2800" dirty="0"/>
              <a:t>, </a:t>
            </a:r>
            <a:r>
              <a:rPr lang="fr-FR" sz="2800" dirty="0" err="1"/>
              <a:t>Database</a:t>
            </a:r>
            <a:r>
              <a:rPr lang="fr-FR" sz="2800" dirty="0"/>
              <a:t> can </a:t>
            </a:r>
            <a:r>
              <a:rPr lang="fr-FR" sz="2800" dirty="0" err="1"/>
              <a:t>be</a:t>
            </a:r>
            <a:r>
              <a:rPr lang="fr-FR" sz="2800" dirty="0"/>
              <a:t> </a:t>
            </a:r>
            <a:r>
              <a:rPr lang="fr-FR" sz="2800" dirty="0" err="1"/>
              <a:t>optimized</a:t>
            </a:r>
            <a:r>
              <a:rPr lang="fr-FR" sz="2800" dirty="0"/>
              <a:t>, </a:t>
            </a:r>
            <a:r>
              <a:rPr lang="fr-FR" sz="2800" dirty="0" err="1"/>
              <a:t>partitioned</a:t>
            </a:r>
            <a:r>
              <a:rPr lang="fr-FR" sz="2800" dirty="0"/>
              <a:t>, backup, ...</a:t>
            </a:r>
          </a:p>
        </p:txBody>
      </p:sp>
    </p:spTree>
    <p:extLst>
      <p:ext uri="{BB962C8B-B14F-4D97-AF65-F5344CB8AC3E}">
        <p14:creationId xmlns:p14="http://schemas.microsoft.com/office/powerpoint/2010/main" val="2709453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27C5C-D3AF-B4BF-1121-2147BE23D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Trust  Single </a:t>
            </a:r>
            <a:r>
              <a:rPr lang="fr-FR" dirty="0" err="1"/>
              <a:t>Database</a:t>
            </a:r>
            <a:r>
              <a:rPr lang="fr-FR" dirty="0"/>
              <a:t> </a:t>
            </a:r>
            <a:r>
              <a:rPr lang="fr-FR" dirty="0" err="1"/>
              <a:t>Owner</a:t>
            </a:r>
            <a:r>
              <a:rPr lang="fr-FR" dirty="0"/>
              <a:t> ?</a:t>
            </a:r>
            <a:br>
              <a:rPr lang="fr-FR" dirty="0"/>
            </a:br>
            <a:r>
              <a:rPr lang="fr-FR" dirty="0" err="1"/>
              <a:t>want</a:t>
            </a:r>
            <a:r>
              <a:rPr lang="fr-FR" dirty="0"/>
              <a:t> Distributed </a:t>
            </a:r>
            <a:r>
              <a:rPr lang="fr-FR" dirty="0" err="1"/>
              <a:t>Database</a:t>
            </a:r>
            <a:r>
              <a:rPr lang="fr-FR" dirty="0"/>
              <a:t>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4094EE-67FF-9737-0043-FCFF60368020}"/>
              </a:ext>
            </a:extLst>
          </p:cNvPr>
          <p:cNvSpPr txBox="1"/>
          <p:nvPr/>
        </p:nvSpPr>
        <p:spPr>
          <a:xfrm>
            <a:off x="2995353" y="2929898"/>
            <a:ext cx="67937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The 2-Phase commit </a:t>
            </a:r>
            <a:r>
              <a:rPr lang="fr-FR" sz="2400" dirty="0" err="1"/>
              <a:t>protocol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difficult</a:t>
            </a:r>
            <a:r>
              <a:rPr lang="fr-FR" sz="2400" dirty="0"/>
              <a:t> (impossible) </a:t>
            </a:r>
          </a:p>
          <a:p>
            <a:r>
              <a:rPr lang="fr-FR" sz="2400" dirty="0"/>
              <a:t>to </a:t>
            </a:r>
            <a:r>
              <a:rPr lang="fr-FR" sz="2400" dirty="0" err="1"/>
              <a:t>really</a:t>
            </a:r>
            <a:r>
              <a:rPr lang="fr-FR" sz="2400" dirty="0"/>
              <a:t> </a:t>
            </a:r>
            <a:r>
              <a:rPr lang="fr-FR" sz="2400" dirty="0" err="1"/>
              <a:t>be</a:t>
            </a:r>
            <a:r>
              <a:rPr lang="fr-FR" sz="2400" dirty="0"/>
              <a:t> ACID in a </a:t>
            </a:r>
            <a:r>
              <a:rPr lang="fr-FR" sz="2400" b="1" dirty="0"/>
              <a:t>Distributed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0D8CB8-D2A6-5921-46EF-E6FC80F2A717}"/>
              </a:ext>
            </a:extLst>
          </p:cNvPr>
          <p:cNvSpPr txBox="1"/>
          <p:nvPr/>
        </p:nvSpPr>
        <p:spPr>
          <a:xfrm>
            <a:off x="2995353" y="4680065"/>
            <a:ext cx="68470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Easy</a:t>
            </a:r>
            <a:r>
              <a:rPr lang="fr-FR" sz="2400" dirty="0"/>
              <a:t> to have a Active-Standby </a:t>
            </a:r>
            <a:r>
              <a:rPr lang="fr-FR" sz="2400" dirty="0" err="1"/>
              <a:t>replication</a:t>
            </a:r>
            <a:endParaRPr lang="fr-FR" sz="2400" dirty="0"/>
          </a:p>
          <a:p>
            <a:r>
              <a:rPr lang="fr-FR" sz="2400" dirty="0"/>
              <a:t>(1 </a:t>
            </a:r>
            <a:r>
              <a:rPr lang="fr-FR" sz="2400" dirty="0" err="1"/>
              <a:t>write</a:t>
            </a:r>
            <a:r>
              <a:rPr lang="fr-FR" sz="2400" dirty="0"/>
              <a:t> "master",  N  </a:t>
            </a:r>
            <a:r>
              <a:rPr lang="fr-FR" sz="2400" dirty="0" err="1"/>
              <a:t>readonly</a:t>
            </a:r>
            <a:r>
              <a:rPr lang="fr-FR" sz="2400" dirty="0"/>
              <a:t> </a:t>
            </a:r>
            <a:r>
              <a:rPr lang="fr-FR" sz="2400" dirty="0" err="1"/>
              <a:t>synchronized</a:t>
            </a:r>
            <a:r>
              <a:rPr lang="fr-FR" sz="2400" dirty="0"/>
              <a:t> "slaves")</a:t>
            </a:r>
          </a:p>
          <a:p>
            <a:endParaRPr lang="fr-FR" sz="2400" dirty="0"/>
          </a:p>
          <a:p>
            <a:r>
              <a:rPr lang="fr-FR" sz="2400" dirty="0"/>
              <a:t>There must </a:t>
            </a:r>
            <a:r>
              <a:rPr lang="fr-FR" sz="2400" dirty="0" err="1"/>
              <a:t>be</a:t>
            </a:r>
            <a:r>
              <a:rPr lang="fr-FR" sz="2400" dirty="0"/>
              <a:t> a "master" </a:t>
            </a:r>
          </a:p>
        </p:txBody>
      </p:sp>
    </p:spTree>
    <p:extLst>
      <p:ext uri="{BB962C8B-B14F-4D97-AF65-F5344CB8AC3E}">
        <p14:creationId xmlns:p14="http://schemas.microsoft.com/office/powerpoint/2010/main" val="3936405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FF51E-2EDF-C24C-8DAF-C62C6A057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926590"/>
          </a:xfrm>
        </p:spPr>
        <p:txBody>
          <a:bodyPr/>
          <a:lstStyle/>
          <a:p>
            <a:pPr algn="ctr"/>
            <a:r>
              <a:rPr lang="fr-FR" dirty="0"/>
              <a:t>CAP </a:t>
            </a:r>
            <a:r>
              <a:rPr lang="fr-FR" dirty="0" err="1"/>
              <a:t>Theorem</a:t>
            </a:r>
            <a:br>
              <a:rPr lang="fr-FR" dirty="0"/>
            </a:br>
            <a:r>
              <a:rPr lang="fr-FR" dirty="0"/>
              <a:t>Consistent- </a:t>
            </a:r>
            <a:r>
              <a:rPr lang="fr-FR" dirty="0" err="1"/>
              <a:t>Available</a:t>
            </a:r>
            <a:r>
              <a:rPr lang="fr-FR" dirty="0"/>
              <a:t> - </a:t>
            </a:r>
            <a:r>
              <a:rPr lang="fr-FR" dirty="0" err="1"/>
              <a:t>PartitionTolerance</a:t>
            </a:r>
            <a:br>
              <a:rPr lang="fr-FR" dirty="0"/>
            </a:br>
            <a:r>
              <a:rPr lang="fr-FR" dirty="0"/>
              <a:t> .. </a:t>
            </a:r>
            <a:r>
              <a:rPr lang="fr-FR" dirty="0" err="1"/>
              <a:t>choose</a:t>
            </a:r>
            <a:r>
              <a:rPr lang="fr-FR" dirty="0"/>
              <a:t> 2 out of 3</a:t>
            </a: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EB1BC493-870E-E811-3335-415CAA463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0718" y="2145423"/>
            <a:ext cx="4296468" cy="4276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1805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6965C7-9B8C-94D2-B22F-DFC50A3BD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742" y="794350"/>
            <a:ext cx="10459356" cy="477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766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2631E-5A44-35E5-3093-FEE9C3E9D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85100"/>
          </a:xfrm>
        </p:spPr>
        <p:txBody>
          <a:bodyPr/>
          <a:lstStyle/>
          <a:p>
            <a:pPr algn="ctr"/>
            <a:r>
              <a:rPr lang="fr-FR" dirty="0"/>
              <a:t>CA  or  CP ?</a:t>
            </a:r>
            <a:br>
              <a:rPr lang="fr-FR" dirty="0"/>
            </a:br>
            <a:r>
              <a:rPr lang="fr-FR" dirty="0"/>
              <a:t>Not </a:t>
            </a:r>
            <a:r>
              <a:rPr lang="fr-FR" dirty="0" err="1"/>
              <a:t>PartitionTolerant</a:t>
            </a:r>
            <a:r>
              <a:rPr lang="fr-FR" dirty="0"/>
              <a:t>,  or Not </a:t>
            </a:r>
            <a:r>
              <a:rPr lang="fr-FR" dirty="0" err="1"/>
              <a:t>Available</a:t>
            </a:r>
            <a:r>
              <a:rPr lang="fr-FR" dirty="0"/>
              <a:t> 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C63953-B2D7-C63E-F8E4-9E8533261781}"/>
              </a:ext>
            </a:extLst>
          </p:cNvPr>
          <p:cNvSpPr txBox="1"/>
          <p:nvPr/>
        </p:nvSpPr>
        <p:spPr>
          <a:xfrm>
            <a:off x="4610792" y="2827927"/>
            <a:ext cx="407323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/>
              <a:t>remember</a:t>
            </a:r>
            <a:r>
              <a:rPr lang="fr-FR" sz="2800" dirty="0"/>
              <a:t> the CIA </a:t>
            </a:r>
            <a:r>
              <a:rPr lang="fr-FR" sz="2800" dirty="0" err="1"/>
              <a:t>Triad</a:t>
            </a:r>
            <a:r>
              <a:rPr lang="fr-FR" sz="2800" dirty="0"/>
              <a:t> ?</a:t>
            </a:r>
          </a:p>
          <a:p>
            <a:r>
              <a:rPr lang="fr-FR" sz="2800" dirty="0"/>
              <a:t>C = </a:t>
            </a:r>
            <a:r>
              <a:rPr lang="fr-FR" sz="2800" dirty="0" err="1"/>
              <a:t>Confidential</a:t>
            </a:r>
            <a:endParaRPr lang="fr-FR" sz="2800" dirty="0"/>
          </a:p>
          <a:p>
            <a:r>
              <a:rPr lang="fr-FR" sz="2800" dirty="0"/>
              <a:t>I = </a:t>
            </a:r>
            <a:r>
              <a:rPr lang="fr-FR" sz="2800" dirty="0" err="1"/>
              <a:t>Integrity</a:t>
            </a:r>
            <a:endParaRPr lang="fr-FR" sz="2800" dirty="0"/>
          </a:p>
          <a:p>
            <a:r>
              <a:rPr lang="fr-FR" sz="2800" b="1" dirty="0"/>
              <a:t>A = </a:t>
            </a:r>
            <a:r>
              <a:rPr lang="fr-FR" sz="2800" b="1" dirty="0" err="1"/>
              <a:t>Available</a:t>
            </a:r>
            <a:endParaRPr lang="fr-FR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3B39ED-8304-1F1A-6533-959DC859C593}"/>
              </a:ext>
            </a:extLst>
          </p:cNvPr>
          <p:cNvSpPr txBox="1"/>
          <p:nvPr/>
        </p:nvSpPr>
        <p:spPr>
          <a:xfrm>
            <a:off x="2903911" y="5275343"/>
            <a:ext cx="73207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/>
              <a:t>Eventually</a:t>
            </a:r>
            <a:r>
              <a:rPr lang="fr-FR" sz="2400" b="1" dirty="0"/>
              <a:t> Consistent</a:t>
            </a:r>
            <a:r>
              <a:rPr lang="fr-FR" sz="2400" dirty="0"/>
              <a:t> ...  </a:t>
            </a:r>
            <a:r>
              <a:rPr lang="fr-FR" sz="2400" dirty="0" err="1"/>
              <a:t>means</a:t>
            </a:r>
            <a:r>
              <a:rPr lang="fr-FR" sz="2400" dirty="0"/>
              <a:t> </a:t>
            </a:r>
            <a:r>
              <a:rPr lang="fr-FR" sz="2400" dirty="0" err="1"/>
              <a:t>will</a:t>
            </a:r>
            <a:r>
              <a:rPr lang="fr-FR" sz="2400" dirty="0"/>
              <a:t> </a:t>
            </a:r>
            <a:r>
              <a:rPr lang="fr-FR" sz="2400" dirty="0" err="1"/>
              <a:t>be</a:t>
            </a:r>
            <a:r>
              <a:rPr lang="fr-FR" sz="2400" dirty="0"/>
              <a:t> consistent </a:t>
            </a:r>
            <a:r>
              <a:rPr lang="fr-FR" sz="2400" dirty="0" err="1"/>
              <a:t>when</a:t>
            </a:r>
            <a:r>
              <a:rPr lang="fr-FR" sz="2400" dirty="0"/>
              <a:t> the network </a:t>
            </a:r>
            <a:r>
              <a:rPr lang="fr-FR" sz="2400" dirty="0" err="1"/>
              <a:t>will</a:t>
            </a:r>
            <a:r>
              <a:rPr lang="fr-FR" sz="2400" dirty="0"/>
              <a:t> </a:t>
            </a:r>
            <a:r>
              <a:rPr lang="fr-FR" sz="2400" dirty="0" err="1"/>
              <a:t>be</a:t>
            </a:r>
            <a:r>
              <a:rPr lang="fr-FR" sz="2400" dirty="0"/>
              <a:t> </a:t>
            </a:r>
            <a:r>
              <a:rPr lang="fr-FR" sz="2400" dirty="0" err="1"/>
              <a:t>available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550320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B5671-2C90-ACFB-48A8-8E0270C38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Concensius</a:t>
            </a:r>
            <a:r>
              <a:rPr lang="fr-FR" dirty="0"/>
              <a:t>,  </a:t>
            </a:r>
            <a:r>
              <a:rPr lang="fr-FR" dirty="0" err="1"/>
              <a:t>Replication</a:t>
            </a:r>
            <a:r>
              <a:rPr lang="fr-FR" dirty="0"/>
              <a:t>, etc...</a:t>
            </a:r>
            <a:br>
              <a:rPr lang="fr-FR" dirty="0"/>
            </a:br>
            <a:r>
              <a:rPr lang="fr-FR" dirty="0"/>
              <a:t>HA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421266-3D9B-F443-3738-9567F64BF26A}"/>
              </a:ext>
            </a:extLst>
          </p:cNvPr>
          <p:cNvSpPr txBox="1"/>
          <p:nvPr/>
        </p:nvSpPr>
        <p:spPr>
          <a:xfrm>
            <a:off x="1121428" y="1607346"/>
            <a:ext cx="10176953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All modern Distributed DB are </a:t>
            </a:r>
            <a:r>
              <a:rPr lang="fr-FR" sz="2800" dirty="0" err="1"/>
              <a:t>using</a:t>
            </a:r>
            <a:endParaRPr lang="fr-FR" sz="2800" dirty="0"/>
          </a:p>
          <a:p>
            <a:r>
              <a:rPr lang="fr-FR" sz="2800" dirty="0"/>
              <a:t>- master </a:t>
            </a:r>
            <a:r>
              <a:rPr lang="fr-FR" sz="2800" dirty="0" err="1"/>
              <a:t>election</a:t>
            </a:r>
            <a:r>
              <a:rPr lang="fr-FR" sz="2800" dirty="0"/>
              <a:t> </a:t>
            </a:r>
            <a:r>
              <a:rPr lang="fr-FR" sz="2800" dirty="0" err="1"/>
              <a:t>protocol</a:t>
            </a:r>
            <a:r>
              <a:rPr lang="fr-FR" sz="2800" dirty="0"/>
              <a:t>  (Raft, </a:t>
            </a:r>
            <a:r>
              <a:rPr lang="fr-FR" sz="2800" dirty="0" err="1"/>
              <a:t>Gossip</a:t>
            </a:r>
            <a:r>
              <a:rPr lang="fr-FR" sz="2800" dirty="0"/>
              <a:t>, ..)  as a </a:t>
            </a:r>
            <a:r>
              <a:rPr lang="fr-FR" sz="2800" dirty="0" err="1"/>
              <a:t>Concensius</a:t>
            </a:r>
            <a:r>
              <a:rPr lang="fr-FR" sz="2800" dirty="0"/>
              <a:t> </a:t>
            </a:r>
            <a:r>
              <a:rPr lang="fr-FR" sz="2800" dirty="0" err="1"/>
              <a:t>protocol</a:t>
            </a:r>
            <a:endParaRPr lang="fr-FR" sz="2800" dirty="0"/>
          </a:p>
          <a:p>
            <a:r>
              <a:rPr lang="fr-FR" sz="2800" dirty="0"/>
              <a:t>- </a:t>
            </a:r>
            <a:r>
              <a:rPr lang="fr-FR" sz="2800" dirty="0" err="1"/>
              <a:t>replication</a:t>
            </a:r>
            <a:r>
              <a:rPr lang="fr-FR" sz="2800" dirty="0"/>
              <a:t> </a:t>
            </a:r>
            <a:r>
              <a:rPr lang="fr-FR" sz="2800" dirty="0" err="1"/>
              <a:t>factors</a:t>
            </a:r>
            <a:endParaRPr lang="fr-FR" sz="2800" dirty="0"/>
          </a:p>
          <a:p>
            <a:r>
              <a:rPr lang="fr-FR" sz="2800" dirty="0"/>
              <a:t>- </a:t>
            </a:r>
            <a:r>
              <a:rPr lang="fr-FR" sz="2800" dirty="0" err="1"/>
              <a:t>choose</a:t>
            </a:r>
            <a:r>
              <a:rPr lang="fr-FR" sz="2800" dirty="0"/>
              <a:t> </a:t>
            </a:r>
            <a:r>
              <a:rPr lang="fr-FR" sz="2800" dirty="0" err="1"/>
              <a:t>between</a:t>
            </a:r>
            <a:r>
              <a:rPr lang="fr-FR" sz="2800" dirty="0"/>
              <a:t> CA, CP, AP  </a:t>
            </a:r>
          </a:p>
          <a:p>
            <a:r>
              <a:rPr lang="fr-FR" sz="2800" dirty="0"/>
              <a:t>   for </a:t>
            </a:r>
            <a:r>
              <a:rPr lang="fr-FR" sz="2800" dirty="0" err="1"/>
              <a:t>read-write</a:t>
            </a:r>
            <a:r>
              <a:rPr lang="fr-FR" sz="2800" dirty="0"/>
              <a:t>  transaction logs</a:t>
            </a:r>
          </a:p>
          <a:p>
            <a:r>
              <a:rPr lang="fr-FR" sz="2800" dirty="0"/>
              <a:t>  </a:t>
            </a:r>
          </a:p>
          <a:p>
            <a:r>
              <a:rPr lang="fr-FR" sz="2800" dirty="0"/>
              <a:t> </a:t>
            </a:r>
            <a:r>
              <a:rPr lang="fr-FR" sz="2800" dirty="0" err="1"/>
              <a:t>preferably</a:t>
            </a:r>
            <a:r>
              <a:rPr lang="fr-FR" sz="2800" dirty="0"/>
              <a:t> </a:t>
            </a:r>
          </a:p>
          <a:p>
            <a:r>
              <a:rPr lang="fr-FR" sz="2800" dirty="0"/>
              <a:t>  "Strict Consistent"</a:t>
            </a:r>
          </a:p>
          <a:p>
            <a:r>
              <a:rPr lang="fr-FR" sz="2800" dirty="0"/>
              <a:t>or</a:t>
            </a:r>
          </a:p>
          <a:p>
            <a:r>
              <a:rPr lang="fr-FR" sz="2800" dirty="0"/>
              <a:t>  "</a:t>
            </a:r>
            <a:r>
              <a:rPr lang="fr-FR" sz="2800" dirty="0" err="1"/>
              <a:t>Eventually</a:t>
            </a:r>
            <a:r>
              <a:rPr lang="fr-FR" sz="2800" dirty="0"/>
              <a:t> Consistent"</a:t>
            </a:r>
          </a:p>
        </p:txBody>
      </p:sp>
      <p:pic>
        <p:nvPicPr>
          <p:cNvPr id="16390" name="Picture 6">
            <a:extLst>
              <a:ext uri="{FF2B5EF4-FFF2-40B4-BE49-F238E27FC236}">
                <a16:creationId xmlns:a16="http://schemas.microsoft.com/office/drawing/2014/main" id="{0E3AA243-C69D-92B3-F3F8-773770386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0645" y="2425929"/>
            <a:ext cx="5196957" cy="440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8281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E54E2-CBDC-CDF3-FF9A-DF9A527E5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446"/>
            <a:ext cx="10515600" cy="1325563"/>
          </a:xfrm>
        </p:spPr>
        <p:txBody>
          <a:bodyPr/>
          <a:lstStyle/>
          <a:p>
            <a:r>
              <a:rPr lang="fr-FR" dirty="0"/>
              <a:t>Link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BlockChain</a:t>
            </a:r>
            <a:r>
              <a:rPr lang="fr-FR" dirty="0"/>
              <a:t> &amp; Crypto </a:t>
            </a:r>
            <a:r>
              <a:rPr lang="fr-FR" dirty="0" err="1"/>
              <a:t>currencies</a:t>
            </a:r>
            <a:r>
              <a:rPr lang="fr-FR" dirty="0"/>
              <a:t>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FC9A8A-26CE-D3EF-2C51-197F23EBAC42}"/>
              </a:ext>
            </a:extLst>
          </p:cNvPr>
          <p:cNvSpPr txBox="1"/>
          <p:nvPr/>
        </p:nvSpPr>
        <p:spPr>
          <a:xfrm>
            <a:off x="1296876" y="2378506"/>
            <a:ext cx="599606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at </a:t>
            </a:r>
            <a:r>
              <a:rPr lang="fr-FR" dirty="0" err="1"/>
              <a:t>yyyy</a:t>
            </a:r>
            <a:r>
              <a:rPr lang="fr-FR" dirty="0"/>
              <a:t>/mm/dd    Account#1   </a:t>
            </a:r>
            <a:r>
              <a:rPr lang="fr-FR" dirty="0" err="1"/>
              <a:t>pay</a:t>
            </a:r>
            <a:r>
              <a:rPr lang="fr-FR" dirty="0"/>
              <a:t>  10 </a:t>
            </a:r>
            <a:r>
              <a:rPr lang="fr-FR" dirty="0" err="1"/>
              <a:t>EUROs</a:t>
            </a:r>
            <a:r>
              <a:rPr lang="fr-FR" dirty="0"/>
              <a:t>  to  Account#2</a:t>
            </a:r>
          </a:p>
          <a:p>
            <a:endParaRPr lang="fr-FR" dirty="0"/>
          </a:p>
          <a:p>
            <a:r>
              <a:rPr lang="fr-FR" dirty="0"/>
              <a:t>at </a:t>
            </a:r>
            <a:r>
              <a:rPr lang="fr-FR" dirty="0" err="1"/>
              <a:t>yyyy</a:t>
            </a:r>
            <a:r>
              <a:rPr lang="fr-FR" dirty="0"/>
              <a:t>/mm/dd    Account#25   </a:t>
            </a:r>
            <a:r>
              <a:rPr lang="fr-FR" dirty="0" err="1"/>
              <a:t>pay</a:t>
            </a:r>
            <a:r>
              <a:rPr lang="fr-FR" dirty="0"/>
              <a:t>  20 </a:t>
            </a:r>
            <a:r>
              <a:rPr lang="fr-FR" dirty="0" err="1"/>
              <a:t>EUROs</a:t>
            </a:r>
            <a:r>
              <a:rPr lang="fr-FR" dirty="0"/>
              <a:t>  to  Account#7</a:t>
            </a:r>
          </a:p>
          <a:p>
            <a:endParaRPr lang="fr-FR" dirty="0"/>
          </a:p>
          <a:p>
            <a:r>
              <a:rPr lang="fr-FR" dirty="0"/>
              <a:t>at </a:t>
            </a:r>
            <a:r>
              <a:rPr lang="fr-FR" dirty="0" err="1"/>
              <a:t>yyyy</a:t>
            </a:r>
            <a:r>
              <a:rPr lang="fr-FR" dirty="0"/>
              <a:t>/mm/dd    Account#14   </a:t>
            </a:r>
            <a:r>
              <a:rPr lang="fr-FR" dirty="0" err="1"/>
              <a:t>pay</a:t>
            </a:r>
            <a:r>
              <a:rPr lang="fr-FR" dirty="0"/>
              <a:t>  600 </a:t>
            </a:r>
            <a:r>
              <a:rPr lang="fr-FR" dirty="0" err="1"/>
              <a:t>EUROs</a:t>
            </a:r>
            <a:r>
              <a:rPr lang="fr-FR" dirty="0"/>
              <a:t>  to  Account#9</a:t>
            </a:r>
          </a:p>
          <a:p>
            <a:endParaRPr lang="fr-FR" dirty="0"/>
          </a:p>
          <a:p>
            <a:r>
              <a:rPr lang="fr-FR" dirty="0"/>
              <a:t>at </a:t>
            </a:r>
            <a:r>
              <a:rPr lang="fr-FR" dirty="0" err="1"/>
              <a:t>yyyy</a:t>
            </a:r>
            <a:r>
              <a:rPr lang="fr-FR" dirty="0"/>
              <a:t>/mm/dd    Account#14   </a:t>
            </a:r>
            <a:r>
              <a:rPr lang="fr-FR" dirty="0" err="1"/>
              <a:t>pay</a:t>
            </a:r>
            <a:r>
              <a:rPr lang="fr-FR" dirty="0"/>
              <a:t>  600 </a:t>
            </a:r>
            <a:r>
              <a:rPr lang="fr-FR" dirty="0" err="1"/>
              <a:t>EUROs</a:t>
            </a:r>
            <a:r>
              <a:rPr lang="fr-FR" dirty="0"/>
              <a:t>  to  Account#9</a:t>
            </a:r>
          </a:p>
          <a:p>
            <a:endParaRPr lang="fr-FR" dirty="0"/>
          </a:p>
          <a:p>
            <a:r>
              <a:rPr lang="fr-FR" dirty="0"/>
              <a:t>...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33D93E8A-692E-DAE3-91BC-7F89FF55C83D}"/>
              </a:ext>
            </a:extLst>
          </p:cNvPr>
          <p:cNvSpPr/>
          <p:nvPr/>
        </p:nvSpPr>
        <p:spPr>
          <a:xfrm>
            <a:off x="1740131" y="5066289"/>
            <a:ext cx="382385" cy="6286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0902F232-345F-0296-5399-BEB4D4122ECA}"/>
              </a:ext>
            </a:extLst>
          </p:cNvPr>
          <p:cNvSpPr/>
          <p:nvPr/>
        </p:nvSpPr>
        <p:spPr>
          <a:xfrm flipH="1">
            <a:off x="7647528" y="1774449"/>
            <a:ext cx="332510" cy="2737660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53109D-8F16-5B7C-6245-38C8E1DD40CE}"/>
              </a:ext>
            </a:extLst>
          </p:cNvPr>
          <p:cNvSpPr txBox="1"/>
          <p:nvPr/>
        </p:nvSpPr>
        <p:spPr>
          <a:xfrm>
            <a:off x="8132817" y="2033128"/>
            <a:ext cx="352391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/>
              <a:t>Current</a:t>
            </a:r>
            <a:endParaRPr lang="fr-FR" sz="2400" b="1" dirty="0"/>
          </a:p>
          <a:p>
            <a:r>
              <a:rPr lang="fr-FR" sz="2400" b="1" dirty="0" err="1"/>
              <a:t>Committed</a:t>
            </a:r>
            <a:r>
              <a:rPr lang="fr-FR" sz="2400" b="1" dirty="0"/>
              <a:t> </a:t>
            </a:r>
          </a:p>
          <a:p>
            <a:r>
              <a:rPr lang="fr-FR" sz="2400" b="1" dirty="0"/>
              <a:t>Transaction </a:t>
            </a:r>
          </a:p>
          <a:p>
            <a:r>
              <a:rPr lang="fr-FR" sz="2400" b="1" dirty="0"/>
              <a:t>Log ... must </a:t>
            </a:r>
            <a:r>
              <a:rPr lang="fr-FR" sz="2400" b="1" dirty="0" err="1"/>
              <a:t>be</a:t>
            </a:r>
            <a:r>
              <a:rPr lang="fr-FR" sz="2400" b="1" dirty="0"/>
              <a:t> PUBLIC </a:t>
            </a:r>
          </a:p>
          <a:p>
            <a:r>
              <a:rPr lang="fr-FR" sz="2400" b="1" dirty="0"/>
              <a:t>&amp; IMMUTABLE (</a:t>
            </a:r>
            <a:r>
              <a:rPr lang="fr-FR" sz="2400" b="1" dirty="0" err="1"/>
              <a:t>verifiable</a:t>
            </a:r>
            <a:r>
              <a:rPr lang="fr-FR" sz="2400" b="1" dirty="0"/>
              <a:t>)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DB939A4D-6021-0683-4368-F23098DE21AA}"/>
              </a:ext>
            </a:extLst>
          </p:cNvPr>
          <p:cNvSpPr/>
          <p:nvPr/>
        </p:nvSpPr>
        <p:spPr>
          <a:xfrm flipH="1">
            <a:off x="7647528" y="5143875"/>
            <a:ext cx="332510" cy="1188784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18161C-058F-E3DD-7DAE-26E954075D45}"/>
              </a:ext>
            </a:extLst>
          </p:cNvPr>
          <p:cNvSpPr txBox="1"/>
          <p:nvPr/>
        </p:nvSpPr>
        <p:spPr>
          <a:xfrm>
            <a:off x="8132817" y="4768771"/>
            <a:ext cx="398153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Append records must </a:t>
            </a:r>
            <a:r>
              <a:rPr lang="fr-FR" sz="2400" b="1" dirty="0" err="1"/>
              <a:t>be</a:t>
            </a:r>
            <a:r>
              <a:rPr lang="fr-FR" sz="2400" b="1" dirty="0"/>
              <a:t> </a:t>
            </a:r>
            <a:r>
              <a:rPr lang="fr-FR" sz="2400" b="1" dirty="0" err="1"/>
              <a:t>valid</a:t>
            </a:r>
            <a:endParaRPr lang="fr-FR" sz="2400" b="1" dirty="0"/>
          </a:p>
          <a:p>
            <a:r>
              <a:rPr lang="fr-FR" sz="2400" b="1" dirty="0"/>
              <a:t>but NO Single Writer </a:t>
            </a:r>
          </a:p>
          <a:p>
            <a:r>
              <a:rPr lang="fr-FR" sz="2400" b="1" dirty="0"/>
              <a:t>Source of Trust</a:t>
            </a:r>
          </a:p>
          <a:p>
            <a:endParaRPr lang="fr-FR" sz="2400" b="1" dirty="0"/>
          </a:p>
          <a:p>
            <a:r>
              <a:rPr lang="fr-FR" sz="2400" b="1" dirty="0" err="1"/>
              <a:t>Eventually</a:t>
            </a:r>
            <a:r>
              <a:rPr lang="fr-FR" sz="2400" b="1" dirty="0"/>
              <a:t> consistent ?? </a:t>
            </a:r>
          </a:p>
        </p:txBody>
      </p:sp>
    </p:spTree>
    <p:extLst>
      <p:ext uri="{BB962C8B-B14F-4D97-AF65-F5344CB8AC3E}">
        <p14:creationId xmlns:p14="http://schemas.microsoft.com/office/powerpoint/2010/main" val="33816546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5D38-6C76-B487-60C2-40D702CB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411" y="2410691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Reminder</a:t>
            </a:r>
            <a:r>
              <a:rPr lang="fr-FR" dirty="0"/>
              <a:t> </a:t>
            </a:r>
            <a:r>
              <a:rPr lang="fr-FR" dirty="0" err="1"/>
              <a:t>Hashing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411580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0EC44-300D-1AC8-B466-962CDE0AA60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Hashing ...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0DF0F8-19B4-FF88-A04F-B535F43F256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 flipH="1">
            <a:off x="4592771" y="1540177"/>
            <a:ext cx="2341291" cy="19438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7895BBF-7905-E518-B834-90B1EF7B8886}"/>
              </a:ext>
            </a:extLst>
          </p:cNvPr>
          <p:cNvSpPr/>
          <p:nvPr/>
        </p:nvSpPr>
        <p:spPr>
          <a:xfrm>
            <a:off x="4924581" y="4190745"/>
            <a:ext cx="2405629" cy="248858"/>
          </a:xfrm>
          <a:custGeom>
            <a:avLst>
              <a:gd name="f0" fmla="val 54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21600 f7 1"/>
              <a:gd name="f17" fmla="*/ f12 f11 1"/>
              <a:gd name="f18" fmla="*/ f13 f8 1"/>
              <a:gd name="f19" fmla="*/ f11 f8 1"/>
              <a:gd name="f20" fmla="*/ f17 1 10800"/>
              <a:gd name="f21" fmla="+- f12 0 f20"/>
              <a:gd name="f22" fmla="*/ f21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2" t="f19" r="f16" b="f18"/>
            <a:pathLst>
              <a:path w="21600" h="21600">
                <a:moveTo>
                  <a:pt x="f5" y="f11"/>
                </a:moveTo>
                <a:lnTo>
                  <a:pt x="f12" y="f11"/>
                </a:lnTo>
                <a:lnTo>
                  <a:pt x="f12" y="f4"/>
                </a:lnTo>
                <a:lnTo>
                  <a:pt x="f4" y="f6"/>
                </a:lnTo>
                <a:lnTo>
                  <a:pt x="f12" y="f5"/>
                </a:lnTo>
                <a:lnTo>
                  <a:pt x="f12" y="f13"/>
                </a:lnTo>
                <a:lnTo>
                  <a:pt x="f5" y="f13"/>
                </a:lnTo>
                <a:close/>
              </a:path>
            </a:pathLst>
          </a:custGeom>
          <a:solidFill>
            <a:srgbClr val="DC0F0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hangingPunct="0"/>
            <a:endParaRPr lang="en-US" sz="1633"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7A441CCE-D718-BD72-98C2-87C15F6A1AF0}"/>
              </a:ext>
            </a:extLst>
          </p:cNvPr>
          <p:cNvSpPr/>
          <p:nvPr/>
        </p:nvSpPr>
        <p:spPr>
          <a:xfrm>
            <a:off x="6749541" y="2571534"/>
            <a:ext cx="995433" cy="414764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hangingPunct="0"/>
            <a:endParaRPr lang="en-US" sz="1633"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BEFE1BB-AE42-9323-E539-1CCE3FF682BE}"/>
              </a:ext>
            </a:extLst>
          </p:cNvPr>
          <p:cNvSpPr/>
          <p:nvPr/>
        </p:nvSpPr>
        <p:spPr>
          <a:xfrm>
            <a:off x="5090487" y="1327243"/>
            <a:ext cx="1078384" cy="580669"/>
          </a:xfrm>
          <a:custGeom>
            <a:avLst>
              <a:gd name="f0" fmla="val 720000"/>
              <a:gd name="f1" fmla="val 5400000"/>
              <a:gd name="f2" fmla="val 5500"/>
            </a:avLst>
            <a:gdLst>
              <a:gd name="f3" fmla="val 21600000"/>
              <a:gd name="f4" fmla="val 10800000"/>
              <a:gd name="f5" fmla="val 5400000"/>
              <a:gd name="f6" fmla="val 180"/>
              <a:gd name="f7" fmla="val w"/>
              <a:gd name="f8" fmla="val h"/>
              <a:gd name="f9" fmla="val 0"/>
              <a:gd name="f10" fmla="*/ 5419351 1 1725033"/>
              <a:gd name="f11" fmla="sqrt 2"/>
              <a:gd name="f12" fmla="*/ 10800 10800 1"/>
              <a:gd name="f13" fmla="val 10800"/>
              <a:gd name="f14" fmla="val 21599999"/>
              <a:gd name="f15" fmla="min 0 21600"/>
              <a:gd name="f16" fmla="max 0 21600"/>
              <a:gd name="f17" fmla="*/ f10 1 2"/>
              <a:gd name="f18" fmla="*/ f7 1 21600"/>
              <a:gd name="f19" fmla="*/ f8 1 21600"/>
              <a:gd name="f20" fmla="*/ f10 1 180"/>
              <a:gd name="f21" fmla="*/ f11 1 2"/>
              <a:gd name="f22" fmla="pin 0 f0 21599999"/>
              <a:gd name="f23" fmla="pin 0 f2 10800"/>
              <a:gd name="f24" fmla="pin 0 f1 21599999"/>
              <a:gd name="f25" fmla="+- f16 0 f15"/>
              <a:gd name="f26" fmla="+- 10800 f23 0"/>
              <a:gd name="f27" fmla="+- f23 0 2700"/>
              <a:gd name="f28" fmla="+- 0 0 f22"/>
              <a:gd name="f29" fmla="+- 0 0 f24"/>
              <a:gd name="f30" fmla="*/ f23 f23 1"/>
              <a:gd name="f31" fmla="*/ 0 f18 1"/>
              <a:gd name="f32" fmla="*/ 21600 f18 1"/>
              <a:gd name="f33" fmla="*/ 21600 f19 1"/>
              <a:gd name="f34" fmla="*/ 0 f19 1"/>
              <a:gd name="f35" fmla="*/ f25 1 2"/>
              <a:gd name="f36" fmla="+- 21600 0 f26"/>
              <a:gd name="f37" fmla="+- f28 f5 0"/>
              <a:gd name="f38" fmla="+- f29 f5 0"/>
              <a:gd name="f39" fmla="+- f15 f35 0"/>
              <a:gd name="f40" fmla="*/ f35 f35 1"/>
              <a:gd name="f41" fmla="*/ f37 f6 1"/>
              <a:gd name="f42" fmla="*/ f38 f6 1"/>
              <a:gd name="f43" fmla="min f26 f36"/>
              <a:gd name="f44" fmla="max f26 f36"/>
              <a:gd name="f45" fmla="*/ f41 1 f4"/>
              <a:gd name="f46" fmla="*/ f42 1 f4"/>
              <a:gd name="f47" fmla="+- f44 0 f43"/>
              <a:gd name="f48" fmla="+- 0 0 f45"/>
              <a:gd name="f49" fmla="+- 0 0 f46"/>
              <a:gd name="f50" fmla="*/ f47 1 2"/>
              <a:gd name="f51" fmla="val f48"/>
              <a:gd name="f52" fmla="val f49"/>
              <a:gd name="f53" fmla="+- f43 f50 0"/>
              <a:gd name="f54" fmla="*/ f50 f50 1"/>
              <a:gd name="f55" fmla="*/ f51 f20 1"/>
              <a:gd name="f56" fmla="*/ f52 f20 1"/>
              <a:gd name="f57" fmla="+- f52 45 0"/>
              <a:gd name="f58" fmla="*/ f51 f10 1"/>
              <a:gd name="f59" fmla="*/ f52 f10 1"/>
              <a:gd name="f60" fmla="+- 0 0 f55"/>
              <a:gd name="f61" fmla="+- 0 0 f56"/>
              <a:gd name="f62" fmla="*/ f57 f10 1"/>
              <a:gd name="f63" fmla="*/ f58 1 f6"/>
              <a:gd name="f64" fmla="*/ f59 1 f6"/>
              <a:gd name="f65" fmla="*/ f60 f4 1"/>
              <a:gd name="f66" fmla="*/ f61 f4 1"/>
              <a:gd name="f67" fmla="*/ f62 1 180"/>
              <a:gd name="f68" fmla="+- 0 0 f63"/>
              <a:gd name="f69" fmla="+- 0 0 f64"/>
              <a:gd name="f70" fmla="*/ f65 1 f10"/>
              <a:gd name="f71" fmla="*/ f66 1 f10"/>
              <a:gd name="f72" fmla="+- 0 0 f67"/>
              <a:gd name="f73" fmla="+- f68 f10 0"/>
              <a:gd name="f74" fmla="+- f69 f10 0"/>
              <a:gd name="f75" fmla="+- f70 0 f5"/>
              <a:gd name="f76" fmla="+- f71 0 f5"/>
              <a:gd name="f77" fmla="*/ f72 f4 1"/>
              <a:gd name="f78" fmla="+- f73 f17 0"/>
              <a:gd name="f79" fmla="+- f74 f17 0"/>
              <a:gd name="f80" fmla="cos 1 f75"/>
              <a:gd name="f81" fmla="sin 1 f75"/>
              <a:gd name="f82" fmla="cos 1 f76"/>
              <a:gd name="f83" fmla="sin 1 f76"/>
              <a:gd name="f84" fmla="*/ f77 1 f10"/>
              <a:gd name="f85" fmla="+- 0 0 f78"/>
              <a:gd name="f86" fmla="+- 0 0 f79"/>
              <a:gd name="f87" fmla="+- 0 0 f80"/>
              <a:gd name="f88" fmla="+- 0 0 f81"/>
              <a:gd name="f89" fmla="+- 0 0 f82"/>
              <a:gd name="f90" fmla="+- 0 0 f83"/>
              <a:gd name="f91" fmla="+- f84 0 f5"/>
              <a:gd name="f92" fmla="*/ f85 f4 1"/>
              <a:gd name="f93" fmla="*/ f86 f4 1"/>
              <a:gd name="f94" fmla="*/ 10800 f87 1"/>
              <a:gd name="f95" fmla="*/ 10800 f88 1"/>
              <a:gd name="f96" fmla="*/ 10800 f89 1"/>
              <a:gd name="f97" fmla="*/ 10800 f90 1"/>
              <a:gd name="f98" fmla="*/ f26 f87 1"/>
              <a:gd name="f99" fmla="*/ f26 f88 1"/>
              <a:gd name="f100" fmla="*/ f26 f89 1"/>
              <a:gd name="f101" fmla="*/ f26 f90 1"/>
              <a:gd name="f102" fmla="*/ 13500 f89 1"/>
              <a:gd name="f103" fmla="*/ 13500 f90 1"/>
              <a:gd name="f104" fmla="*/ f27 f89 1"/>
              <a:gd name="f105" fmla="*/ f27 f90 1"/>
              <a:gd name="f106" fmla="cos 1 f91"/>
              <a:gd name="f107" fmla="sin 1 f91"/>
              <a:gd name="f108" fmla="*/ f92 1 f10"/>
              <a:gd name="f109" fmla="*/ f93 1 f10"/>
              <a:gd name="f110" fmla="+- f94 10800 0"/>
              <a:gd name="f111" fmla="+- f95 10800 0"/>
              <a:gd name="f112" fmla="+- f96 10800 0"/>
              <a:gd name="f113" fmla="+- f97 10800 0"/>
              <a:gd name="f114" fmla="+- f98 10800 0"/>
              <a:gd name="f115" fmla="+- f99 10800 0"/>
              <a:gd name="f116" fmla="+- f100 10800 0"/>
              <a:gd name="f117" fmla="+- f101 10800 0"/>
              <a:gd name="f118" fmla="+- f102 10800 0"/>
              <a:gd name="f119" fmla="+- f103 10800 0"/>
              <a:gd name="f120" fmla="+- f104 10800 0"/>
              <a:gd name="f121" fmla="+- f105 10800 0"/>
              <a:gd name="f122" fmla="+- 0 0 f106"/>
              <a:gd name="f123" fmla="+- 0 0 f107"/>
              <a:gd name="f124" fmla="+- f108 0 f5"/>
              <a:gd name="f125" fmla="+- f109 0 f5"/>
              <a:gd name="f126" fmla="+- f121 0 f119"/>
              <a:gd name="f127" fmla="+- f120 0 f118"/>
              <a:gd name="f128" fmla="cos 1 f124"/>
              <a:gd name="f129" fmla="sin 1 f124"/>
              <a:gd name="f130" fmla="cos 1 f125"/>
              <a:gd name="f131" fmla="sin 1 f125"/>
              <a:gd name="f132" fmla="+- f117 0 f53"/>
              <a:gd name="f133" fmla="+- f116 0 f53"/>
              <a:gd name="f134" fmla="+- f115 0 f53"/>
              <a:gd name="f135" fmla="+- f114 0 f53"/>
              <a:gd name="f136" fmla="+- f111 0 f39"/>
              <a:gd name="f137" fmla="+- f110 0 f39"/>
              <a:gd name="f138" fmla="+- f113 0 f39"/>
              <a:gd name="f139" fmla="+- f112 0 f39"/>
              <a:gd name="f140" fmla="*/ f126 f126 1"/>
              <a:gd name="f141" fmla="*/ f127 f127 1"/>
              <a:gd name="f142" fmla="+- 0 0 f128"/>
              <a:gd name="f143" fmla="+- 0 0 f129"/>
              <a:gd name="f144" fmla="+- 0 0 f130"/>
              <a:gd name="f145" fmla="+- 0 0 f131"/>
              <a:gd name="f146" fmla="at2 f132 f133"/>
              <a:gd name="f147" fmla="at2 f134 f135"/>
              <a:gd name="f148" fmla="at2 f136 f137"/>
              <a:gd name="f149" fmla="at2 f138 f139"/>
              <a:gd name="f150" fmla="+- f140 f141 0"/>
              <a:gd name="f151" fmla="*/ 10800 f142 1"/>
              <a:gd name="f152" fmla="*/ 10800 f143 1"/>
              <a:gd name="f153" fmla="*/ f23 f144 1"/>
              <a:gd name="f154" fmla="*/ f23 f145 1"/>
              <a:gd name="f155" fmla="+- f146 f5 0"/>
              <a:gd name="f156" fmla="+- f147 f5 0"/>
              <a:gd name="f157" fmla="+- f148 f5 0"/>
              <a:gd name="f158" fmla="+- f149 f5 0"/>
              <a:gd name="f159" fmla="sqrt f150"/>
              <a:gd name="f160" fmla="*/ f151 f151 1"/>
              <a:gd name="f161" fmla="*/ f152 f152 1"/>
              <a:gd name="f162" fmla="*/ f153 f153 1"/>
              <a:gd name="f163" fmla="*/ f154 f154 1"/>
              <a:gd name="f164" fmla="*/ f155 f10 1"/>
              <a:gd name="f165" fmla="*/ f156 f10 1"/>
              <a:gd name="f166" fmla="*/ f157 f10 1"/>
              <a:gd name="f167" fmla="*/ f158 f10 1"/>
              <a:gd name="f168" fmla="*/ f21 f159 1"/>
              <a:gd name="f169" fmla="+- f160 f161 0"/>
              <a:gd name="f170" fmla="+- f162 f163 0"/>
              <a:gd name="f171" fmla="*/ f164 1 f4"/>
              <a:gd name="f172" fmla="*/ f165 1 f4"/>
              <a:gd name="f173" fmla="*/ f166 1 f4"/>
              <a:gd name="f174" fmla="*/ f167 1 f4"/>
              <a:gd name="f175" fmla="*/ f168 f122 1"/>
              <a:gd name="f176" fmla="*/ f168 f123 1"/>
              <a:gd name="f177" fmla="sqrt f169"/>
              <a:gd name="f178" fmla="sqrt f170"/>
              <a:gd name="f179" fmla="+- 0 0 f171"/>
              <a:gd name="f180" fmla="+- 0 0 f172"/>
              <a:gd name="f181" fmla="+- 0 0 f173"/>
              <a:gd name="f182" fmla="+- 0 0 f174"/>
              <a:gd name="f183" fmla="+- f120 f175 0"/>
              <a:gd name="f184" fmla="+- f121 f176 0"/>
              <a:gd name="f185" fmla="*/ f12 1 f177"/>
              <a:gd name="f186" fmla="*/ f30 1 f178"/>
              <a:gd name="f187" fmla="+- 0 0 f179"/>
              <a:gd name="f188" fmla="+- 0 0 f180"/>
              <a:gd name="f189" fmla="+- 0 0 f181"/>
              <a:gd name="f190" fmla="+- 0 0 f182"/>
              <a:gd name="f191" fmla="*/ f142 f185 1"/>
              <a:gd name="f192" fmla="*/ f143 f185 1"/>
              <a:gd name="f193" fmla="*/ f144 f186 1"/>
              <a:gd name="f194" fmla="*/ f145 f186 1"/>
              <a:gd name="f195" fmla="*/ f187 f4 1"/>
              <a:gd name="f196" fmla="*/ f188 f4 1"/>
              <a:gd name="f197" fmla="*/ f189 f4 1"/>
              <a:gd name="f198" fmla="*/ f190 f4 1"/>
              <a:gd name="f199" fmla="+- 10800 0 f191"/>
              <a:gd name="f200" fmla="+- 10800 0 f192"/>
              <a:gd name="f201" fmla="+- 10800 0 f193"/>
              <a:gd name="f202" fmla="+- 10800 0 f194"/>
              <a:gd name="f203" fmla="*/ f195 1 f10"/>
              <a:gd name="f204" fmla="*/ f196 1 f10"/>
              <a:gd name="f205" fmla="*/ f197 1 f10"/>
              <a:gd name="f206" fmla="*/ f198 1 f10"/>
              <a:gd name="f207" fmla="*/ f199 f18 1"/>
              <a:gd name="f208" fmla="*/ f200 f19 1"/>
              <a:gd name="f209" fmla="*/ f201 f18 1"/>
              <a:gd name="f210" fmla="*/ f202 f19 1"/>
              <a:gd name="f211" fmla="+- f203 0 f5"/>
              <a:gd name="f212" fmla="+- f204 0 f5"/>
              <a:gd name="f213" fmla="+- f205 0 f5"/>
              <a:gd name="f214" fmla="+- f206 0 f5"/>
              <a:gd name="f215" fmla="cos 1 f211"/>
              <a:gd name="f216" fmla="sin 1 f211"/>
              <a:gd name="f217" fmla="+- f212 0 f211"/>
              <a:gd name="f218" fmla="cos 1 f213"/>
              <a:gd name="f219" fmla="sin 1 f213"/>
              <a:gd name="f220" fmla="+- f214 0 f213"/>
              <a:gd name="f221" fmla="+- 0 0 f215"/>
              <a:gd name="f222" fmla="+- 0 0 f216"/>
              <a:gd name="f223" fmla="+- f217 0 f3"/>
              <a:gd name="f224" fmla="+- 0 0 f218"/>
              <a:gd name="f225" fmla="+- 0 0 f219"/>
              <a:gd name="f226" fmla="+- f220 f3 0"/>
              <a:gd name="f227" fmla="*/ f50 f221 1"/>
              <a:gd name="f228" fmla="*/ f50 f222 1"/>
              <a:gd name="f229" fmla="?: f217 f223 f217"/>
              <a:gd name="f230" fmla="*/ f35 f224 1"/>
              <a:gd name="f231" fmla="*/ f35 f225 1"/>
              <a:gd name="f232" fmla="?: f220 f220 f226"/>
              <a:gd name="f233" fmla="*/ f227 f227 1"/>
              <a:gd name="f234" fmla="*/ f228 f228 1"/>
              <a:gd name="f235" fmla="*/ f230 f230 1"/>
              <a:gd name="f236" fmla="*/ f231 f231 1"/>
              <a:gd name="f237" fmla="+- f233 f234 0"/>
              <a:gd name="f238" fmla="+- f235 f236 0"/>
              <a:gd name="f239" fmla="sqrt f237"/>
              <a:gd name="f240" fmla="sqrt f238"/>
              <a:gd name="f241" fmla="*/ f54 1 f239"/>
              <a:gd name="f242" fmla="*/ f40 1 f240"/>
              <a:gd name="f243" fmla="*/ f221 f241 1"/>
              <a:gd name="f244" fmla="*/ f222 f241 1"/>
              <a:gd name="f245" fmla="*/ f224 f242 1"/>
              <a:gd name="f246" fmla="*/ f225 f242 1"/>
              <a:gd name="f247" fmla="+- f53 0 f243"/>
              <a:gd name="f248" fmla="+- f53 0 f244"/>
              <a:gd name="f249" fmla="+- f39 0 f245"/>
              <a:gd name="f250" fmla="+- f39 0 f246"/>
            </a:gdLst>
            <a:ahLst>
              <a:ahPolar gdRefAng="f0" minAng="f9" maxAng="f14">
                <a:pos x="f207" y="f208"/>
              </a:ahPolar>
              <a:ahPolar gdRefR="f2" minR="f9" maxR="f13" gdRefAng="f1" minAng="f9" maxAng="f14">
                <a:pos x="f209" y="f210"/>
              </a:ahPolar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1" t="f34" r="f32" b="f33"/>
            <a:pathLst>
              <a:path w="21600" h="21600">
                <a:moveTo>
                  <a:pt x="f247" y="f248"/>
                </a:moveTo>
                <a:arcTo wR="f50" hR="f50" stAng="f211" swAng="f229"/>
                <a:lnTo>
                  <a:pt x="f249" y="f250"/>
                </a:lnTo>
                <a:arcTo wR="f35" hR="f35" stAng="f213" swAng="f232"/>
                <a:lnTo>
                  <a:pt x="f119" y="f118"/>
                </a:lnTo>
                <a:lnTo>
                  <a:pt x="f184" y="f183"/>
                </a:lnTo>
                <a:lnTo>
                  <a:pt x="f121" y="f1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hangingPunct="0"/>
            <a:endParaRPr lang="en-US" sz="1633"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5A1E53-678F-86BE-D104-A7C1AFDBEDCC}"/>
              </a:ext>
            </a:extLst>
          </p:cNvPr>
          <p:cNvSpPr txBox="1"/>
          <p:nvPr/>
        </p:nvSpPr>
        <p:spPr>
          <a:xfrm>
            <a:off x="3680290" y="3683231"/>
            <a:ext cx="4945426" cy="430295"/>
          </a:xfrm>
          <a:prstGeom prst="rect">
            <a:avLst/>
          </a:prstGeom>
          <a:noFill/>
          <a:ln>
            <a:noFill/>
          </a:ln>
        </p:spPr>
        <p:txBody>
          <a:bodyPr vert="horz" wrap="none" lIns="81646" tIns="40823" rIns="81646" bIns="40823" anchorCtr="0" compatLnSpc="0">
            <a:spAutoFit/>
          </a:bodyPr>
          <a:lstStyle/>
          <a:p>
            <a:pPr hangingPunct="0">
              <a:defRPr sz="2600"/>
            </a:pPr>
            <a:r>
              <a:rPr lang="en-US" sz="2359">
                <a:latin typeface="Liberation Sans" pitchFamily="18"/>
                <a:ea typeface="Droid Sans Fallback" pitchFamily="2"/>
                <a:cs typeface="FreeSans" pitchFamily="2"/>
              </a:rPr>
              <a:t>Hashing is One-Way transformation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44E65D5-3B0A-0861-A69B-6280E79ACC11}"/>
              </a:ext>
            </a:extLst>
          </p:cNvPr>
          <p:cNvSpPr/>
          <p:nvPr/>
        </p:nvSpPr>
        <p:spPr>
          <a:xfrm>
            <a:off x="5982718" y="4062724"/>
            <a:ext cx="580669" cy="580669"/>
          </a:xfrm>
          <a:custGeom>
            <a:avLst>
              <a:gd name="f0" fmla="val 2700"/>
            </a:avLst>
            <a:gdLst>
              <a:gd name="f1" fmla="val 21600000"/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*/ 5419351 1 1725033"/>
              <a:gd name="f9" fmla="val 7200"/>
              <a:gd name="f10" fmla="val -2147483647"/>
              <a:gd name="f11" fmla="val 2147483647"/>
              <a:gd name="f12" fmla="*/ 10800 10800 1"/>
              <a:gd name="f13" fmla="+- 0 0 0"/>
              <a:gd name="f14" fmla="+- 0 0 360"/>
              <a:gd name="f15" fmla="val 10800"/>
              <a:gd name="f16" fmla="*/ f5 1 21600"/>
              <a:gd name="f17" fmla="*/ f6 1 21600"/>
              <a:gd name="f18" fmla="*/ f8 1 180"/>
              <a:gd name="f19" fmla="pin 0 f0 7200"/>
              <a:gd name="f20" fmla="*/ 0 f8 1"/>
              <a:gd name="f21" fmla="*/ f13 f2 1"/>
              <a:gd name="f22" fmla="*/ f14 f2 1"/>
              <a:gd name="f23" fmla="val f19"/>
              <a:gd name="f24" fmla="+- 21600 0 f19"/>
              <a:gd name="f25" fmla="+- 10800 0 f19"/>
              <a:gd name="f26" fmla="*/ f19 1 2"/>
              <a:gd name="f27" fmla="*/ 45 f18 1"/>
              <a:gd name="f28" fmla="*/ f19 f16 1"/>
              <a:gd name="f29" fmla="*/ 10800 f17 1"/>
              <a:gd name="f30" fmla="*/ 3163 f16 1"/>
              <a:gd name="f31" fmla="*/ 18437 f16 1"/>
              <a:gd name="f32" fmla="*/ 18437 f17 1"/>
              <a:gd name="f33" fmla="*/ 3163 f17 1"/>
              <a:gd name="f34" fmla="*/ f20 1 f4"/>
              <a:gd name="f35" fmla="*/ f21 1 f4"/>
              <a:gd name="f36" fmla="*/ f22 1 f4"/>
              <a:gd name="f37" fmla="*/ 10800 f16 1"/>
              <a:gd name="f38" fmla="*/ 0 f17 1"/>
              <a:gd name="f39" fmla="*/ 0 f16 1"/>
              <a:gd name="f40" fmla="*/ 21600 f17 1"/>
              <a:gd name="f41" fmla="*/ 21600 f16 1"/>
              <a:gd name="f42" fmla="*/ f25 f25 1"/>
              <a:gd name="f43" fmla="*/ f26 f26 1"/>
              <a:gd name="f44" fmla="+- 10800 0 f26"/>
              <a:gd name="f45" fmla="+- 10800 f26 0"/>
              <a:gd name="f46" fmla="+- 0 0 f27"/>
              <a:gd name="f47" fmla="+- 0 0 f34"/>
              <a:gd name="f48" fmla="+- f35 0 f3"/>
              <a:gd name="f49" fmla="+- f36 0 f3"/>
              <a:gd name="f50" fmla="min f23 f24"/>
              <a:gd name="f51" fmla="max f23 f24"/>
              <a:gd name="f52" fmla="+- f42 0 f43"/>
              <a:gd name="f53" fmla="+- f44 0 10800"/>
              <a:gd name="f54" fmla="*/ f46 f2 1"/>
              <a:gd name="f55" fmla="+- f45 0 10800"/>
              <a:gd name="f56" fmla="*/ f47 f2 1"/>
              <a:gd name="f57" fmla="+- f49 0 f48"/>
              <a:gd name="f58" fmla="+- f51 0 f50"/>
              <a:gd name="f59" fmla="sqrt f52"/>
              <a:gd name="f60" fmla="*/ f54 1 f8"/>
              <a:gd name="f61" fmla="*/ f56 1 f8"/>
              <a:gd name="f62" fmla="*/ f58 1 2"/>
              <a:gd name="f63" fmla="+- 10800 0 f59"/>
              <a:gd name="f64" fmla="+- 10800 f59 0"/>
              <a:gd name="f65" fmla="+- f60 0 f3"/>
              <a:gd name="f66" fmla="+- f61 0 f3"/>
              <a:gd name="f67" fmla="+- f50 f62 0"/>
              <a:gd name="f68" fmla="*/ f62 f62 1"/>
              <a:gd name="f69" fmla="+- f63 0 10800"/>
              <a:gd name="f70" fmla="sin 1 f65"/>
              <a:gd name="f71" fmla="cos 1 f65"/>
              <a:gd name="f72" fmla="+- f64 0 10800"/>
              <a:gd name="f73" fmla="cos 1 f66"/>
              <a:gd name="f74" fmla="sin 1 f66"/>
              <a:gd name="f75" fmla="+- 0 0 f70"/>
              <a:gd name="f76" fmla="+- 0 0 f71"/>
              <a:gd name="f77" fmla="+- 0 0 f73"/>
              <a:gd name="f78" fmla="+- 0 0 f74"/>
              <a:gd name="f79" fmla="*/ f75 f53 1"/>
              <a:gd name="f80" fmla="*/ f76 f69 1"/>
              <a:gd name="f81" fmla="*/ f76 f53 1"/>
              <a:gd name="f82" fmla="*/ f75 f69 1"/>
              <a:gd name="f83" fmla="*/ f76 f72 1"/>
              <a:gd name="f84" fmla="*/ f75 f72 1"/>
              <a:gd name="f85" fmla="*/ f75 f55 1"/>
              <a:gd name="f86" fmla="*/ f76 f55 1"/>
              <a:gd name="f87" fmla="*/ 10800 f77 1"/>
              <a:gd name="f88" fmla="*/ 10800 f78 1"/>
              <a:gd name="f89" fmla="+- f79 f80 0"/>
              <a:gd name="f90" fmla="+- f81 0 f82"/>
              <a:gd name="f91" fmla="+- f79 f83 0"/>
              <a:gd name="f92" fmla="+- f81 0 f84"/>
              <a:gd name="f93" fmla="+- f85 f83 0"/>
              <a:gd name="f94" fmla="+- f86 0 f84"/>
              <a:gd name="f95" fmla="+- f85 f80 0"/>
              <a:gd name="f96" fmla="+- f86 0 f82"/>
              <a:gd name="f97" fmla="*/ f87 f87 1"/>
              <a:gd name="f98" fmla="*/ f88 f88 1"/>
              <a:gd name="f99" fmla="+- f89 10800 0"/>
              <a:gd name="f100" fmla="+- 0 0 f90"/>
              <a:gd name="f101" fmla="+- f91 10800 0"/>
              <a:gd name="f102" fmla="+- 0 0 f92"/>
              <a:gd name="f103" fmla="+- f93 10800 0"/>
              <a:gd name="f104" fmla="+- 0 0 f94"/>
              <a:gd name="f105" fmla="+- f95 10800 0"/>
              <a:gd name="f106" fmla="+- 0 0 f96"/>
              <a:gd name="f107" fmla="+- f97 f98 0"/>
              <a:gd name="f108" fmla="+- f100 10800 0"/>
              <a:gd name="f109" fmla="+- f102 10800 0"/>
              <a:gd name="f110" fmla="+- f104 10800 0"/>
              <a:gd name="f111" fmla="+- f106 10800 0"/>
              <a:gd name="f112" fmla="sqrt f107"/>
              <a:gd name="f113" fmla="+- f99 0 f67"/>
              <a:gd name="f114" fmla="+- f101 0 f67"/>
              <a:gd name="f115" fmla="+- f103 0 f67"/>
              <a:gd name="f116" fmla="+- f105 0 f67"/>
              <a:gd name="f117" fmla="*/ f12 1 f112"/>
              <a:gd name="f118" fmla="+- f108 0 f67"/>
              <a:gd name="f119" fmla="+- f109 0 f67"/>
              <a:gd name="f120" fmla="+- f110 0 f67"/>
              <a:gd name="f121" fmla="+- f111 0 f67"/>
              <a:gd name="f122" fmla="*/ f77 f117 1"/>
              <a:gd name="f123" fmla="*/ f78 f117 1"/>
              <a:gd name="f124" fmla="at2 f113 f118"/>
              <a:gd name="f125" fmla="at2 f114 f119"/>
              <a:gd name="f126" fmla="at2 f115 f120"/>
              <a:gd name="f127" fmla="at2 f116 f121"/>
              <a:gd name="f128" fmla="+- 10800 0 f122"/>
              <a:gd name="f129" fmla="+- 10800 0 f123"/>
              <a:gd name="f130" fmla="+- f124 f3 0"/>
              <a:gd name="f131" fmla="+- f125 f3 0"/>
              <a:gd name="f132" fmla="+- f126 f3 0"/>
              <a:gd name="f133" fmla="+- f127 f3 0"/>
              <a:gd name="f134" fmla="*/ f130 f8 1"/>
              <a:gd name="f135" fmla="*/ f131 f8 1"/>
              <a:gd name="f136" fmla="*/ f132 f8 1"/>
              <a:gd name="f137" fmla="*/ f133 f8 1"/>
              <a:gd name="f138" fmla="*/ f134 1 f2"/>
              <a:gd name="f139" fmla="*/ f135 1 f2"/>
              <a:gd name="f140" fmla="*/ f136 1 f2"/>
              <a:gd name="f141" fmla="*/ f137 1 f2"/>
              <a:gd name="f142" fmla="+- 0 0 f138"/>
              <a:gd name="f143" fmla="+- 0 0 f139"/>
              <a:gd name="f144" fmla="+- 0 0 f140"/>
              <a:gd name="f145" fmla="+- 0 0 f141"/>
              <a:gd name="f146" fmla="+- 0 0 f142"/>
              <a:gd name="f147" fmla="+- 0 0 f143"/>
              <a:gd name="f148" fmla="+- 0 0 f144"/>
              <a:gd name="f149" fmla="+- 0 0 f145"/>
              <a:gd name="f150" fmla="*/ f146 f2 1"/>
              <a:gd name="f151" fmla="*/ f147 f2 1"/>
              <a:gd name="f152" fmla="*/ f148 f2 1"/>
              <a:gd name="f153" fmla="*/ f149 f2 1"/>
              <a:gd name="f154" fmla="*/ f150 1 f8"/>
              <a:gd name="f155" fmla="*/ f151 1 f8"/>
              <a:gd name="f156" fmla="*/ f152 1 f8"/>
              <a:gd name="f157" fmla="*/ f153 1 f8"/>
              <a:gd name="f158" fmla="+- f154 0 f3"/>
              <a:gd name="f159" fmla="+- f155 0 f3"/>
              <a:gd name="f160" fmla="+- f156 0 f3"/>
              <a:gd name="f161" fmla="+- f157 0 f3"/>
              <a:gd name="f162" fmla="cos 1 f158"/>
              <a:gd name="f163" fmla="sin 1 f158"/>
              <a:gd name="f164" fmla="+- f159 0 f158"/>
              <a:gd name="f165" fmla="cos 1 f160"/>
              <a:gd name="f166" fmla="sin 1 f160"/>
              <a:gd name="f167" fmla="+- f161 0 f160"/>
              <a:gd name="f168" fmla="+- 0 0 f162"/>
              <a:gd name="f169" fmla="+- 0 0 f163"/>
              <a:gd name="f170" fmla="+- f164 0 f1"/>
              <a:gd name="f171" fmla="+- 0 0 f165"/>
              <a:gd name="f172" fmla="+- 0 0 f166"/>
              <a:gd name="f173" fmla="+- f167 0 f1"/>
              <a:gd name="f174" fmla="*/ f62 f168 1"/>
              <a:gd name="f175" fmla="*/ f62 f169 1"/>
              <a:gd name="f176" fmla="?: f164 f170 f164"/>
              <a:gd name="f177" fmla="*/ f62 f171 1"/>
              <a:gd name="f178" fmla="*/ f62 f172 1"/>
              <a:gd name="f179" fmla="?: f167 f173 f167"/>
              <a:gd name="f180" fmla="*/ f174 f174 1"/>
              <a:gd name="f181" fmla="*/ f175 f175 1"/>
              <a:gd name="f182" fmla="*/ f177 f177 1"/>
              <a:gd name="f183" fmla="*/ f178 f178 1"/>
              <a:gd name="f184" fmla="+- f180 f181 0"/>
              <a:gd name="f185" fmla="+- f182 f183 0"/>
              <a:gd name="f186" fmla="sqrt f184"/>
              <a:gd name="f187" fmla="sqrt f185"/>
              <a:gd name="f188" fmla="*/ f68 1 f186"/>
              <a:gd name="f189" fmla="*/ f68 1 f187"/>
              <a:gd name="f190" fmla="*/ f168 f188 1"/>
              <a:gd name="f191" fmla="*/ f169 f188 1"/>
              <a:gd name="f192" fmla="*/ f171 f189 1"/>
              <a:gd name="f193" fmla="*/ f172 f189 1"/>
              <a:gd name="f194" fmla="+- f67 0 f190"/>
              <a:gd name="f195" fmla="+- f67 0 f191"/>
              <a:gd name="f196" fmla="+- f67 0 f192"/>
              <a:gd name="f197" fmla="+- f67 0 f193"/>
            </a:gdLst>
            <a:ahLst>
              <a:ahXY gdRefX="f0" minX="f7" maxX="f9">
                <a:pos x="f28" y="f29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8">
                <a:pos x="f37" y="f38"/>
              </a:cxn>
              <a:cxn ang="f48">
                <a:pos x="f30" y="f33"/>
              </a:cxn>
              <a:cxn ang="f48">
                <a:pos x="f39" y="f29"/>
              </a:cxn>
              <a:cxn ang="f48">
                <a:pos x="f30" y="f32"/>
              </a:cxn>
              <a:cxn ang="f48">
                <a:pos x="f37" y="f40"/>
              </a:cxn>
              <a:cxn ang="f48">
                <a:pos x="f31" y="f32"/>
              </a:cxn>
              <a:cxn ang="f48">
                <a:pos x="f41" y="f29"/>
              </a:cxn>
              <a:cxn ang="f48">
                <a:pos x="f31" y="f33"/>
              </a:cxn>
            </a:cxnLst>
            <a:rect l="f30" t="f33" r="f31" b="f32"/>
            <a:pathLst>
              <a:path w="21600" h="21600">
                <a:moveTo>
                  <a:pt x="f128" y="f129"/>
                </a:moveTo>
                <a:arcTo wR="f15" hR="f15" stAng="f48" swAng="f57"/>
                <a:close/>
                <a:moveTo>
                  <a:pt x="f194" y="f195"/>
                </a:moveTo>
                <a:arcTo wR="f62" hR="f62" stAng="f158" swAng="f176"/>
                <a:close/>
                <a:moveTo>
                  <a:pt x="f196" y="f197"/>
                </a:moveTo>
                <a:arcTo wR="f62" hR="f62" stAng="f160" swAng="f179"/>
                <a:close/>
              </a:path>
            </a:pathLst>
          </a:custGeom>
          <a:solidFill>
            <a:srgbClr val="DC0F0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hangingPunct="0"/>
            <a:endParaRPr lang="en-US" sz="1633"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9965CC-4316-19B8-BE0E-E9A6FA94045B}"/>
              </a:ext>
            </a:extLst>
          </p:cNvPr>
          <p:cNvSpPr txBox="1"/>
          <p:nvPr/>
        </p:nvSpPr>
        <p:spPr>
          <a:xfrm>
            <a:off x="2051282" y="5060116"/>
            <a:ext cx="7300751" cy="430295"/>
          </a:xfrm>
          <a:prstGeom prst="rect">
            <a:avLst/>
          </a:prstGeom>
          <a:noFill/>
          <a:ln>
            <a:noFill/>
          </a:ln>
        </p:spPr>
        <p:txBody>
          <a:bodyPr vert="horz" wrap="none" lIns="81646" tIns="40823" rIns="81646" bIns="40823" anchorCtr="0" compatLnSpc="0">
            <a:spAutoFit/>
          </a:bodyPr>
          <a:lstStyle/>
          <a:p>
            <a:pPr hangingPunct="0">
              <a:defRPr sz="2600"/>
            </a:pPr>
            <a:r>
              <a:rPr lang="en-US" sz="2359">
                <a:latin typeface="Liberation Sans" pitchFamily="18"/>
                <a:ea typeface="Droid Sans Fallback" pitchFamily="2"/>
                <a:cs typeface="FreeSans" pitchFamily="2"/>
              </a:rPr>
              <a:t>Hashing different product </a:t>
            </a:r>
            <a:r>
              <a:rPr lang="en-US" sz="2359" b="1">
                <a:latin typeface="Liberation Sans" pitchFamily="18"/>
                <a:ea typeface="Droid Sans Fallback" pitchFamily="2"/>
                <a:cs typeface="FreeSans" pitchFamily="2"/>
              </a:rPr>
              <a:t>usually</a:t>
            </a:r>
            <a:r>
              <a:rPr lang="en-US" sz="2359">
                <a:latin typeface="Liberation Sans" pitchFamily="18"/>
                <a:ea typeface="Droid Sans Fallback" pitchFamily="2"/>
                <a:cs typeface="FreeSans" pitchFamily="2"/>
              </a:rPr>
              <a:t> give different result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6C061BC-BB63-5E51-B765-DBDF65ED7AD3}"/>
              </a:ext>
            </a:extLst>
          </p:cNvPr>
          <p:cNvSpPr/>
          <p:nvPr/>
        </p:nvSpPr>
        <p:spPr>
          <a:xfrm>
            <a:off x="5349142" y="5662993"/>
            <a:ext cx="1493149" cy="329851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hangingPunct="0"/>
            <a:endParaRPr lang="en-US" sz="1633"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E7A2AF1-0B63-73A6-49AF-A089BED5E3BA}"/>
              </a:ext>
            </a:extLst>
          </p:cNvPr>
          <p:cNvSpPr/>
          <p:nvPr/>
        </p:nvSpPr>
        <p:spPr>
          <a:xfrm>
            <a:off x="5349469" y="6316490"/>
            <a:ext cx="1493149" cy="329851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hangingPunct="0"/>
            <a:endParaRPr lang="en-US" sz="1633"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329CEBF-B4CB-2A9A-9C89-9CAE5F06E543}"/>
              </a:ext>
            </a:extLst>
          </p:cNvPr>
          <p:cNvSpPr/>
          <p:nvPr/>
        </p:nvSpPr>
        <p:spPr>
          <a:xfrm>
            <a:off x="7174103" y="5662993"/>
            <a:ext cx="663621" cy="32985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99FFCC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hangingPunct="0"/>
            <a:endParaRPr lang="en-US" sz="1633"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4B2E0B6-A40A-4386-EC4E-B8CA73E05269}"/>
              </a:ext>
            </a:extLst>
          </p:cNvPr>
          <p:cNvSpPr/>
          <p:nvPr/>
        </p:nvSpPr>
        <p:spPr>
          <a:xfrm>
            <a:off x="4104852" y="5662992"/>
            <a:ext cx="912480" cy="412804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99FFCC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hangingPunct="0"/>
            <a:endParaRPr lang="en-US" sz="1633"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58683FC-64A3-D847-5B00-184BE5C86C3F}"/>
              </a:ext>
            </a:extLst>
          </p:cNvPr>
          <p:cNvSpPr/>
          <p:nvPr/>
        </p:nvSpPr>
        <p:spPr>
          <a:xfrm>
            <a:off x="7174429" y="6316164"/>
            <a:ext cx="663621" cy="32985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CCCCF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hangingPunct="0"/>
            <a:endParaRPr lang="en-US" sz="1633"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DCF89D-E075-EFE5-CFF4-B411F838CD7F}"/>
              </a:ext>
            </a:extLst>
          </p:cNvPr>
          <p:cNvSpPr/>
          <p:nvPr/>
        </p:nvSpPr>
        <p:spPr>
          <a:xfrm>
            <a:off x="4105178" y="6316163"/>
            <a:ext cx="912480" cy="412804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CCF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hangingPunct="0"/>
            <a:endParaRPr lang="en-US" sz="1633"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600F2E-22AA-1885-9600-CD3BEFFA693E}"/>
              </a:ext>
            </a:extLst>
          </p:cNvPr>
          <p:cNvSpPr txBox="1"/>
          <p:nvPr/>
        </p:nvSpPr>
        <p:spPr>
          <a:xfrm>
            <a:off x="3763243" y="6055547"/>
            <a:ext cx="356927" cy="323278"/>
          </a:xfrm>
          <a:prstGeom prst="rect">
            <a:avLst/>
          </a:prstGeom>
          <a:noFill/>
          <a:ln>
            <a:noFill/>
          </a:ln>
        </p:spPr>
        <p:txBody>
          <a:bodyPr vert="horz" wrap="none" lIns="81646" tIns="40823" rIns="81646" bIns="40823" anchorCtr="0" compatLnSpc="0">
            <a:spAutoFit/>
          </a:bodyPr>
          <a:lstStyle/>
          <a:p>
            <a:pPr hangingPunct="0"/>
            <a:r>
              <a:rPr lang="en-US" sz="1633" b="1">
                <a:latin typeface="Liberation Sans" pitchFamily="18"/>
                <a:ea typeface="Droid Sans Fallback" pitchFamily="2"/>
                <a:cs typeface="FreeSans" pitchFamily="2"/>
              </a:rPr>
              <a:t>!=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A65107-7DD0-24C3-7D14-6CE67144C6F3}"/>
              </a:ext>
            </a:extLst>
          </p:cNvPr>
          <p:cNvSpPr txBox="1"/>
          <p:nvPr/>
        </p:nvSpPr>
        <p:spPr>
          <a:xfrm>
            <a:off x="7029098" y="6055547"/>
            <a:ext cx="356927" cy="323278"/>
          </a:xfrm>
          <a:prstGeom prst="rect">
            <a:avLst/>
          </a:prstGeom>
          <a:noFill/>
          <a:ln>
            <a:noFill/>
          </a:ln>
        </p:spPr>
        <p:txBody>
          <a:bodyPr vert="horz" wrap="none" lIns="81646" tIns="40823" rIns="81646" bIns="40823" anchorCtr="0" compatLnSpc="0">
            <a:spAutoFit/>
          </a:bodyPr>
          <a:lstStyle/>
          <a:p>
            <a:pPr hangingPunct="0"/>
            <a:r>
              <a:rPr lang="en-US" sz="1633" b="1">
                <a:latin typeface="Liberation Sans" pitchFamily="18"/>
                <a:ea typeface="Droid Sans Fallback" pitchFamily="2"/>
                <a:cs typeface="FreeSans" pitchFamily="2"/>
              </a:rPr>
              <a:t>!=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B8753-22F0-E8BB-2D5E-B5190693D25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Hashing … must be equi-distributed</a:t>
            </a:r>
            <a:br>
              <a:rPr lang="en-US"/>
            </a:br>
            <a:r>
              <a:rPr lang="en-US"/>
              <a:t>minimise “Collisions”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2101CF-D72C-BF34-C936-21140E8E114C}"/>
              </a:ext>
            </a:extLst>
          </p:cNvPr>
          <p:cNvSpPr txBox="1"/>
          <p:nvPr/>
        </p:nvSpPr>
        <p:spPr>
          <a:xfrm>
            <a:off x="2518953" y="2194655"/>
            <a:ext cx="2771306" cy="430295"/>
          </a:xfrm>
          <a:prstGeom prst="rect">
            <a:avLst/>
          </a:prstGeom>
          <a:noFill/>
          <a:ln>
            <a:noFill/>
          </a:ln>
        </p:spPr>
        <p:txBody>
          <a:bodyPr vert="horz" wrap="none" lIns="81646" tIns="40823" rIns="81646" bIns="40823" anchorCtr="0" compatLnSpc="0">
            <a:spAutoFit/>
          </a:bodyPr>
          <a:lstStyle/>
          <a:p>
            <a:pPr hangingPunct="0">
              <a:defRPr sz="2600"/>
            </a:pPr>
            <a:r>
              <a:rPr lang="en-US" sz="2359">
                <a:latin typeface="Liberation Sans" pitchFamily="18"/>
                <a:ea typeface="Droid Sans Fallback" pitchFamily="2"/>
                <a:cs typeface="FreeSans" pitchFamily="2"/>
              </a:rPr>
              <a:t>A Hashing Collision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BF4B483-C527-A6B1-4D84-4E955E87697C}"/>
              </a:ext>
            </a:extLst>
          </p:cNvPr>
          <p:cNvSpPr/>
          <p:nvPr/>
        </p:nvSpPr>
        <p:spPr>
          <a:xfrm>
            <a:off x="5919687" y="2787734"/>
            <a:ext cx="1493149" cy="329851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hangingPunct="0"/>
            <a:endParaRPr lang="en-US" sz="1633"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C88F50F-5614-727B-23A6-205BB54C22C9}"/>
              </a:ext>
            </a:extLst>
          </p:cNvPr>
          <p:cNvSpPr/>
          <p:nvPr/>
        </p:nvSpPr>
        <p:spPr>
          <a:xfrm>
            <a:off x="5920014" y="3441231"/>
            <a:ext cx="1493149" cy="329851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hangingPunct="0"/>
            <a:endParaRPr lang="en-US" sz="1633"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AD14EB9-050F-5425-9ED3-AB45E2186415}"/>
              </a:ext>
            </a:extLst>
          </p:cNvPr>
          <p:cNvSpPr/>
          <p:nvPr/>
        </p:nvSpPr>
        <p:spPr>
          <a:xfrm>
            <a:off x="7744647" y="2787734"/>
            <a:ext cx="663621" cy="32985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99FFCC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hangingPunct="0"/>
            <a:endParaRPr lang="en-US" sz="1633"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043047C-1B4D-9F20-E434-A2C7DF10833C}"/>
              </a:ext>
            </a:extLst>
          </p:cNvPr>
          <p:cNvSpPr/>
          <p:nvPr/>
        </p:nvSpPr>
        <p:spPr>
          <a:xfrm>
            <a:off x="4675397" y="2787734"/>
            <a:ext cx="912480" cy="412804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99FFCC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hangingPunct="0"/>
            <a:endParaRPr lang="en-US" sz="1633"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D2BA94D-306D-8535-F461-1CDEE7DFD4FC}"/>
              </a:ext>
            </a:extLst>
          </p:cNvPr>
          <p:cNvSpPr/>
          <p:nvPr/>
        </p:nvSpPr>
        <p:spPr>
          <a:xfrm>
            <a:off x="4675723" y="3440905"/>
            <a:ext cx="912480" cy="412804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CCCCF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hangingPunct="0"/>
            <a:endParaRPr lang="en-US" sz="1633"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3359B7-EBAD-CC08-BEE1-9EACABCBE65F}"/>
              </a:ext>
            </a:extLst>
          </p:cNvPr>
          <p:cNvSpPr txBox="1"/>
          <p:nvPr/>
        </p:nvSpPr>
        <p:spPr>
          <a:xfrm>
            <a:off x="4333788" y="3180289"/>
            <a:ext cx="356927" cy="323278"/>
          </a:xfrm>
          <a:prstGeom prst="rect">
            <a:avLst/>
          </a:prstGeom>
          <a:noFill/>
          <a:ln>
            <a:noFill/>
          </a:ln>
        </p:spPr>
        <p:txBody>
          <a:bodyPr vert="horz" wrap="none" lIns="81646" tIns="40823" rIns="81646" bIns="40823" anchorCtr="0" compatLnSpc="0">
            <a:spAutoFit/>
          </a:bodyPr>
          <a:lstStyle/>
          <a:p>
            <a:pPr hangingPunct="0"/>
            <a:r>
              <a:rPr lang="en-US" sz="1633" b="1">
                <a:latin typeface="Liberation Sans" pitchFamily="18"/>
                <a:ea typeface="Droid Sans Fallback" pitchFamily="2"/>
                <a:cs typeface="FreeSans" pitchFamily="2"/>
              </a:rPr>
              <a:t>!=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B43B97-42BB-CC43-D1AD-463FE7A42A2A}"/>
              </a:ext>
            </a:extLst>
          </p:cNvPr>
          <p:cNvSpPr txBox="1"/>
          <p:nvPr/>
        </p:nvSpPr>
        <p:spPr>
          <a:xfrm>
            <a:off x="7599643" y="3180289"/>
            <a:ext cx="409441" cy="323278"/>
          </a:xfrm>
          <a:prstGeom prst="rect">
            <a:avLst/>
          </a:prstGeom>
          <a:noFill/>
          <a:ln>
            <a:noFill/>
          </a:ln>
        </p:spPr>
        <p:txBody>
          <a:bodyPr vert="horz" wrap="none" lIns="81646" tIns="40823" rIns="81646" bIns="40823" anchorCtr="0" compatLnSpc="0">
            <a:spAutoFit/>
          </a:bodyPr>
          <a:lstStyle/>
          <a:p>
            <a:pPr hangingPunct="0"/>
            <a:r>
              <a:rPr lang="en-US" sz="1633" b="1">
                <a:latin typeface="Liberation Sans" pitchFamily="18"/>
                <a:ea typeface="Droid Sans Fallback" pitchFamily="2"/>
                <a:cs typeface="FreeSans" pitchFamily="2"/>
              </a:rPr>
              <a:t>==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E92397-6AB7-13AE-1FF9-614A0C17A8EC}"/>
              </a:ext>
            </a:extLst>
          </p:cNvPr>
          <p:cNvSpPr/>
          <p:nvPr/>
        </p:nvSpPr>
        <p:spPr>
          <a:xfrm>
            <a:off x="7744974" y="3441231"/>
            <a:ext cx="663621" cy="32985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99FFCC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hangingPunct="0"/>
            <a:endParaRPr lang="en-US" sz="1633"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9F9083-1867-9833-9E08-EFA0CC575853}"/>
              </a:ext>
            </a:extLst>
          </p:cNvPr>
          <p:cNvSpPr txBox="1"/>
          <p:nvPr/>
        </p:nvSpPr>
        <p:spPr>
          <a:xfrm>
            <a:off x="1772379" y="4562399"/>
            <a:ext cx="8396371" cy="1821702"/>
          </a:xfrm>
          <a:prstGeom prst="rect">
            <a:avLst/>
          </a:prstGeom>
          <a:noFill/>
          <a:ln>
            <a:noFill/>
          </a:ln>
        </p:spPr>
        <p:txBody>
          <a:bodyPr vert="horz" wrap="none" lIns="81646" tIns="40823" rIns="81646" bIns="40823" anchorCtr="0" compatLnSpc="0">
            <a:spAutoFit/>
          </a:bodyPr>
          <a:lstStyle/>
          <a:p>
            <a:pPr hangingPunct="0">
              <a:defRPr sz="2600"/>
            </a:pPr>
            <a:r>
              <a:rPr lang="en-US" sz="2359">
                <a:latin typeface="Liberation Sans" pitchFamily="18"/>
                <a:ea typeface="Droid Sans Fallback" pitchFamily="2"/>
                <a:cs typeface="FreeSans" pitchFamily="2"/>
              </a:rPr>
              <a:t>Of course if can happen … example in java:  </a:t>
            </a:r>
            <a:br>
              <a:rPr lang="en-US" sz="2359"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359">
                <a:latin typeface="Liberation Sans" pitchFamily="18"/>
                <a:ea typeface="Droid Sans Fallback" pitchFamily="2"/>
                <a:cs typeface="FreeSans" pitchFamily="2"/>
              </a:rPr>
              <a:t>“public int hashCode()”</a:t>
            </a:r>
            <a:br>
              <a:rPr lang="en-US" sz="2359"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359">
                <a:latin typeface="Liberation Sans" pitchFamily="18"/>
                <a:ea typeface="Droid Sans Fallback" pitchFamily="2"/>
                <a:cs typeface="FreeSans" pitchFamily="2"/>
              </a:rPr>
              <a:t>by default   Object.hashCode = System.identityHashCode(x)</a:t>
            </a:r>
          </a:p>
          <a:p>
            <a:pPr hangingPunct="0">
              <a:defRPr sz="2600"/>
            </a:pPr>
            <a:r>
              <a:rPr lang="en-US" sz="2359">
                <a:latin typeface="Liberation Sans" pitchFamily="18"/>
                <a:ea typeface="Droid Sans Fallback" pitchFamily="2"/>
                <a:cs typeface="FreeSans" pitchFamily="2"/>
              </a:rPr>
              <a:t>=   …  64bits pointer (when first hashed) → hashed to 32 bits </a:t>
            </a:r>
            <a:br>
              <a:rPr lang="en-US" sz="2359">
                <a:latin typeface="Liberation Sans" pitchFamily="18"/>
                <a:ea typeface="Droid Sans Fallback" pitchFamily="2"/>
                <a:cs typeface="FreeSans" pitchFamily="2"/>
              </a:rPr>
            </a:br>
            <a:r>
              <a:rPr lang="en-US" sz="2359">
                <a:latin typeface="Liberation Sans" pitchFamily="18"/>
                <a:ea typeface="Droid Sans Fallback" pitchFamily="2"/>
                <a:cs typeface="FreeSans" pitchFamily="2"/>
              </a:rPr>
              <a:t>=  ( hashPtr64 ^ (hashPtr64 &gt;&gt;&gt;32))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32858-5A96-2378-0191-5157C9D37D5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980739" y="110060"/>
            <a:ext cx="8229627" cy="1145009"/>
          </a:xfrm>
        </p:spPr>
        <p:txBody>
          <a:bodyPr>
            <a:normAutofit fontScale="90000"/>
          </a:bodyPr>
          <a:lstStyle/>
          <a:p>
            <a:pPr lvl="0"/>
            <a:r>
              <a:rPr lang="en-US"/>
              <a:t>Hashing : </a:t>
            </a:r>
            <a:r>
              <a:rPr lang="en-US" strike="sngStrike"/>
              <a:t>MD5, SHA-1</a:t>
            </a:r>
            <a:r>
              <a:rPr lang="en-US"/>
              <a:t>, SHA-256, SHA-512 ..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EDD6F8-5748-DE2A-3FDD-BB5B0631EBA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772379" y="1256047"/>
            <a:ext cx="6506235" cy="5555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2FB041E-E2A4-9176-F5DC-EC3CC4772BD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763244" y="2083616"/>
            <a:ext cx="6860581" cy="3637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5D38-6C76-B487-60C2-40D702CB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Hashing</a:t>
            </a:r>
            <a:r>
              <a:rPr lang="fr-FR" dirty="0"/>
              <a:t> for Proof of </a:t>
            </a:r>
            <a:r>
              <a:rPr lang="fr-FR" dirty="0" err="1"/>
              <a:t>Ownership</a:t>
            </a:r>
            <a:r>
              <a:rPr lang="fr-FR" dirty="0"/>
              <a:t>/</a:t>
            </a:r>
            <a:r>
              <a:rPr lang="fr-FR" dirty="0" err="1"/>
              <a:t>Authenticity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574B20-9207-A1E5-8E9A-BA235918D8E3}"/>
              </a:ext>
            </a:extLst>
          </p:cNvPr>
          <p:cNvSpPr txBox="1"/>
          <p:nvPr/>
        </p:nvSpPr>
        <p:spPr>
          <a:xfrm>
            <a:off x="2648990" y="1773381"/>
            <a:ext cx="70291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Proof </a:t>
            </a:r>
            <a:r>
              <a:rPr lang="fr-FR" sz="2800" dirty="0" err="1"/>
              <a:t>author</a:t>
            </a:r>
            <a:r>
              <a:rPr lang="fr-FR" sz="2800" dirty="0"/>
              <a:t> (</a:t>
            </a:r>
            <a:r>
              <a:rPr lang="fr-FR" sz="2800" dirty="0" err="1"/>
              <a:t>ownership</a:t>
            </a:r>
            <a:r>
              <a:rPr lang="fr-FR" sz="2800" dirty="0"/>
              <a:t>) of a file for Copyright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DEAA689-4F6C-D636-3DCC-2D698AF0EE54}"/>
              </a:ext>
            </a:extLst>
          </p:cNvPr>
          <p:cNvSpPr/>
          <p:nvPr/>
        </p:nvSpPr>
        <p:spPr>
          <a:xfrm>
            <a:off x="2461593" y="3801887"/>
            <a:ext cx="1493149" cy="329851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hangingPunct="0"/>
            <a:endParaRPr lang="en-US" sz="1633"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48EE4BB-1E0B-BBF2-4840-8CCCB2E83B0C}"/>
              </a:ext>
            </a:extLst>
          </p:cNvPr>
          <p:cNvSpPr/>
          <p:nvPr/>
        </p:nvSpPr>
        <p:spPr>
          <a:xfrm>
            <a:off x="4286553" y="3801887"/>
            <a:ext cx="663621" cy="32985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99FFCC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hangingPunct="0"/>
            <a:endParaRPr lang="en-US" sz="1633"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A0F31A2-B6FB-BFE8-9F3E-1637512B4BAC}"/>
              </a:ext>
            </a:extLst>
          </p:cNvPr>
          <p:cNvSpPr/>
          <p:nvPr/>
        </p:nvSpPr>
        <p:spPr>
          <a:xfrm>
            <a:off x="640953" y="2974116"/>
            <a:ext cx="993883" cy="128306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99FFCC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hangingPunct="0"/>
            <a:endParaRPr lang="en-US" sz="1633"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94E168D-B124-3BB2-4574-193D9DACC6F4}"/>
              </a:ext>
            </a:extLst>
          </p:cNvPr>
          <p:cNvSpPr/>
          <p:nvPr/>
        </p:nvSpPr>
        <p:spPr>
          <a:xfrm>
            <a:off x="793353" y="3126516"/>
            <a:ext cx="993883" cy="128306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99FFCC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hangingPunct="0"/>
            <a:endParaRPr lang="en-US" sz="1633"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38ECDA0-C330-5DB3-60C6-A11A5F2E3278}"/>
              </a:ext>
            </a:extLst>
          </p:cNvPr>
          <p:cNvSpPr/>
          <p:nvPr/>
        </p:nvSpPr>
        <p:spPr>
          <a:xfrm>
            <a:off x="945753" y="3278916"/>
            <a:ext cx="993883" cy="128306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99FFCC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hangingPunct="0"/>
            <a:endParaRPr lang="en-US" sz="1633"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9D2276-76C6-E4CE-2677-651D6E1D8345}"/>
              </a:ext>
            </a:extLst>
          </p:cNvPr>
          <p:cNvSpPr txBox="1"/>
          <p:nvPr/>
        </p:nvSpPr>
        <p:spPr>
          <a:xfrm>
            <a:off x="2407915" y="3331852"/>
            <a:ext cx="1600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compute</a:t>
            </a:r>
            <a:r>
              <a:rPr lang="fr-FR" dirty="0"/>
              <a:t> HASH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3C6A67-00A4-466A-9D7F-2866430B8CEA}"/>
              </a:ext>
            </a:extLst>
          </p:cNvPr>
          <p:cNvSpPr/>
          <p:nvPr/>
        </p:nvSpPr>
        <p:spPr>
          <a:xfrm>
            <a:off x="5495738" y="3801887"/>
            <a:ext cx="1493149" cy="329851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hangingPunct="0"/>
            <a:endParaRPr lang="en-US" sz="1633"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135248-4B5B-37FE-D907-DC45C68F79E4}"/>
              </a:ext>
            </a:extLst>
          </p:cNvPr>
          <p:cNvSpPr txBox="1"/>
          <p:nvPr/>
        </p:nvSpPr>
        <p:spPr>
          <a:xfrm>
            <a:off x="5447608" y="3208712"/>
            <a:ext cx="25233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give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HASH</a:t>
            </a:r>
          </a:p>
          <a:p>
            <a:r>
              <a:rPr lang="fr-FR" dirty="0"/>
              <a:t>to a </a:t>
            </a:r>
            <a:r>
              <a:rPr lang="fr-FR" dirty="0" err="1"/>
              <a:t>depository</a:t>
            </a:r>
            <a:r>
              <a:rPr lang="fr-FR" dirty="0"/>
              <a:t> </a:t>
            </a:r>
            <a:r>
              <a:rPr lang="fr-FR" dirty="0" err="1"/>
              <a:t>authority</a:t>
            </a:r>
            <a:endParaRPr lang="fr-FR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8936FC4-BCF4-6749-1A5E-235C42BDBC74}"/>
              </a:ext>
            </a:extLst>
          </p:cNvPr>
          <p:cNvSpPr/>
          <p:nvPr/>
        </p:nvSpPr>
        <p:spPr>
          <a:xfrm>
            <a:off x="9271566" y="3801886"/>
            <a:ext cx="1493149" cy="329851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hangingPunct="0"/>
            <a:endParaRPr lang="en-US" sz="1633"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87AE5F-6A89-16C2-0757-B96FCF73311B}"/>
              </a:ext>
            </a:extLst>
          </p:cNvPr>
          <p:cNvSpPr txBox="1"/>
          <p:nvPr/>
        </p:nvSpPr>
        <p:spPr>
          <a:xfrm>
            <a:off x="9179695" y="2964963"/>
            <a:ext cx="27281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later</a:t>
            </a:r>
            <a:r>
              <a:rPr lang="fr-FR" dirty="0"/>
              <a:t>..</a:t>
            </a:r>
          </a:p>
          <a:p>
            <a:r>
              <a:rPr lang="fr-FR" dirty="0"/>
              <a:t>check HASH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authority</a:t>
            </a:r>
            <a:endParaRPr lang="fr-FR" dirty="0"/>
          </a:p>
          <a:p>
            <a:r>
              <a:rPr lang="fr-FR" dirty="0"/>
              <a:t>+ data</a:t>
            </a:r>
          </a:p>
        </p:txBody>
      </p:sp>
      <p:sp>
        <p:nvSpPr>
          <p:cNvPr id="17" name="AutoShape 4" descr="Coffre de sécurité Essential Security">
            <a:extLst>
              <a:ext uri="{FF2B5EF4-FFF2-40B4-BE49-F238E27FC236}">
                <a16:creationId xmlns:a16="http://schemas.microsoft.com/office/drawing/2014/main" id="{231E0CE9-D756-917D-ED23-117129DEC5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83135" y="268916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2E02782-DA2E-CAC2-1B6C-B8760EE6A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8887" y="4487026"/>
            <a:ext cx="2452479" cy="1723965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ECF752-B6F2-5467-0EE0-1D9B436A0ABD}"/>
              </a:ext>
            </a:extLst>
          </p:cNvPr>
          <p:cNvSpPr/>
          <p:nvPr/>
        </p:nvSpPr>
        <p:spPr>
          <a:xfrm>
            <a:off x="8636185" y="5559255"/>
            <a:ext cx="663621" cy="32985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99FFCC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hangingPunct="0"/>
            <a:endParaRPr lang="en-US" sz="1633"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EBBE406-32ED-F372-FF15-48917E610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903" y="4944302"/>
            <a:ext cx="4370561" cy="122990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1D81DC6-40FD-D528-FBD0-4BB6C28129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5840" y="3533209"/>
            <a:ext cx="1143099" cy="87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3919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val 34">
            <a:extLst>
              <a:ext uri="{FF2B5EF4-FFF2-40B4-BE49-F238E27FC236}">
                <a16:creationId xmlns:a16="http://schemas.microsoft.com/office/drawing/2014/main" id="{A83B3C14-EC4A-2639-69CD-C9DA12FF777C}"/>
              </a:ext>
            </a:extLst>
          </p:cNvPr>
          <p:cNvSpPr/>
          <p:nvPr/>
        </p:nvSpPr>
        <p:spPr>
          <a:xfrm>
            <a:off x="6334256" y="6065240"/>
            <a:ext cx="1289554" cy="458367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141ADD0-9BDF-5240-7DD1-BA76C127AC33}"/>
              </a:ext>
            </a:extLst>
          </p:cNvPr>
          <p:cNvSpPr/>
          <p:nvPr/>
        </p:nvSpPr>
        <p:spPr>
          <a:xfrm>
            <a:off x="9528976" y="6117262"/>
            <a:ext cx="417195" cy="2785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235A592-F3D8-17F1-A31A-F3CA8CE62569}"/>
              </a:ext>
            </a:extLst>
          </p:cNvPr>
          <p:cNvSpPr/>
          <p:nvPr/>
        </p:nvSpPr>
        <p:spPr>
          <a:xfrm>
            <a:off x="8779572" y="6117262"/>
            <a:ext cx="417195" cy="2785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9E23FFF-54B2-EC22-6CB0-0F3106EEF663}"/>
              </a:ext>
            </a:extLst>
          </p:cNvPr>
          <p:cNvSpPr/>
          <p:nvPr/>
        </p:nvSpPr>
        <p:spPr>
          <a:xfrm>
            <a:off x="8313420" y="6122740"/>
            <a:ext cx="417195" cy="2785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7B312BE-D1FE-C8C8-3772-C49AA0CFECB8}"/>
              </a:ext>
            </a:extLst>
          </p:cNvPr>
          <p:cNvSpPr/>
          <p:nvPr/>
        </p:nvSpPr>
        <p:spPr>
          <a:xfrm>
            <a:off x="5924550" y="5505416"/>
            <a:ext cx="417195" cy="2785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AE4BC83-155E-1060-0DCC-3D6A1912F680}"/>
              </a:ext>
            </a:extLst>
          </p:cNvPr>
          <p:cNvSpPr/>
          <p:nvPr/>
        </p:nvSpPr>
        <p:spPr>
          <a:xfrm>
            <a:off x="7097246" y="5513564"/>
            <a:ext cx="680869" cy="26176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D7513BF-8159-D908-BA9E-B2AB7BB849B9}"/>
              </a:ext>
            </a:extLst>
          </p:cNvPr>
          <p:cNvSpPr/>
          <p:nvPr/>
        </p:nvSpPr>
        <p:spPr>
          <a:xfrm>
            <a:off x="3709035" y="5535896"/>
            <a:ext cx="417195" cy="2785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457B4FA-E06F-0363-76C3-ACEC31BDDCD6}"/>
              </a:ext>
            </a:extLst>
          </p:cNvPr>
          <p:cNvSpPr/>
          <p:nvPr/>
        </p:nvSpPr>
        <p:spPr>
          <a:xfrm>
            <a:off x="4959068" y="5504039"/>
            <a:ext cx="653061" cy="3103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1FBA82-BDE9-3445-7623-0B88D1798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79" y="365125"/>
            <a:ext cx="11903825" cy="1325563"/>
          </a:xfrm>
        </p:spPr>
        <p:txBody>
          <a:bodyPr/>
          <a:lstStyle/>
          <a:p>
            <a:pPr algn="ctr"/>
            <a:r>
              <a:rPr lang="fr-FR" dirty="0" err="1"/>
              <a:t>Ensure</a:t>
            </a:r>
            <a:r>
              <a:rPr lang="fr-FR" dirty="0"/>
              <a:t> </a:t>
            </a:r>
            <a:r>
              <a:rPr lang="fr-FR" dirty="0" err="1"/>
              <a:t>Immutability</a:t>
            </a:r>
            <a:r>
              <a:rPr lang="fr-FR" dirty="0"/>
              <a:t> </a:t>
            </a:r>
            <a:r>
              <a:rPr lang="fr-FR" dirty="0" err="1"/>
              <a:t>Verifiable</a:t>
            </a:r>
            <a:r>
              <a:rPr lang="fr-FR" dirty="0"/>
              <a:t> of Past data </a:t>
            </a:r>
            <a:br>
              <a:rPr lang="fr-FR" dirty="0"/>
            </a:br>
            <a:r>
              <a:rPr lang="fr-FR" dirty="0"/>
              <a:t>... simple </a:t>
            </a:r>
            <a:r>
              <a:rPr lang="fr-FR" dirty="0" err="1"/>
              <a:t>with</a:t>
            </a:r>
            <a:r>
              <a:rPr lang="fr-FR" dirty="0"/>
              <a:t> Block </a:t>
            </a:r>
            <a:r>
              <a:rPr lang="fr-FR" dirty="0" err="1"/>
              <a:t>Hashing</a:t>
            </a:r>
            <a:r>
              <a:rPr lang="fr-FR" dirty="0"/>
              <a:t> (+ P2P </a:t>
            </a:r>
            <a:r>
              <a:rPr lang="fr-FR" dirty="0" err="1"/>
              <a:t>Replication</a:t>
            </a:r>
            <a:r>
              <a:rPr lang="fr-FR" dirty="0"/>
              <a:t>)</a:t>
            </a:r>
          </a:p>
        </p:txBody>
      </p:sp>
      <p:pic>
        <p:nvPicPr>
          <p:cNvPr id="17410" name="Picture 2" descr="Three point database vector icon | Free SVG">
            <a:extLst>
              <a:ext uri="{FF2B5EF4-FFF2-40B4-BE49-F238E27FC236}">
                <a16:creationId xmlns:a16="http://schemas.microsoft.com/office/drawing/2014/main" id="{17B376A0-8881-5601-43BF-30DACB75D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684" y="2854200"/>
            <a:ext cx="1413068" cy="1413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0B5F6825-A700-4F3B-B244-7A4BB098CDA3}"/>
              </a:ext>
            </a:extLst>
          </p:cNvPr>
          <p:cNvSpPr/>
          <p:nvPr/>
        </p:nvSpPr>
        <p:spPr>
          <a:xfrm rot="19702901">
            <a:off x="6572168" y="2961670"/>
            <a:ext cx="902302" cy="2892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6C682AB5-9F6E-104E-E1C1-5FD1E02727DD}"/>
              </a:ext>
            </a:extLst>
          </p:cNvPr>
          <p:cNvSpPr/>
          <p:nvPr/>
        </p:nvSpPr>
        <p:spPr>
          <a:xfrm rot="21349865">
            <a:off x="6716002" y="3471094"/>
            <a:ext cx="793002" cy="2739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142D324-D759-1908-0A76-D2B045EFEBB9}"/>
              </a:ext>
            </a:extLst>
          </p:cNvPr>
          <p:cNvSpPr/>
          <p:nvPr/>
        </p:nvSpPr>
        <p:spPr>
          <a:xfrm rot="2009628">
            <a:off x="6631946" y="4047609"/>
            <a:ext cx="856152" cy="240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5443E5-D9D2-EC39-38A2-47D8378606AB}"/>
              </a:ext>
            </a:extLst>
          </p:cNvPr>
          <p:cNvSpPr txBox="1"/>
          <p:nvPr/>
        </p:nvSpPr>
        <p:spPr>
          <a:xfrm>
            <a:off x="95519" y="2349486"/>
            <a:ext cx="2389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Database</a:t>
            </a:r>
            <a:r>
              <a:rPr lang="fr-FR" dirty="0"/>
              <a:t>, can </a:t>
            </a:r>
            <a:r>
              <a:rPr lang="fr-FR" dirty="0" err="1"/>
              <a:t>be</a:t>
            </a:r>
            <a:r>
              <a:rPr lang="fr-FR" dirty="0"/>
              <a:t> HUGE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EEFFCD-7E69-CCB0-F182-8D6DE48297AE}"/>
              </a:ext>
            </a:extLst>
          </p:cNvPr>
          <p:cNvSpPr txBox="1"/>
          <p:nvPr/>
        </p:nvSpPr>
        <p:spPr>
          <a:xfrm>
            <a:off x="2605724" y="2696017"/>
            <a:ext cx="17132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split </a:t>
            </a:r>
            <a:r>
              <a:rPr lang="fr-FR" sz="2000" dirty="0" err="1"/>
              <a:t>Database</a:t>
            </a:r>
            <a:r>
              <a:rPr lang="fr-FR" sz="2000" dirty="0"/>
              <a:t> </a:t>
            </a:r>
          </a:p>
          <a:p>
            <a:r>
              <a:rPr lang="fr-FR" sz="2000" dirty="0"/>
              <a:t>in "</a:t>
            </a:r>
            <a:r>
              <a:rPr lang="fr-FR" sz="2800" b="1" dirty="0"/>
              <a:t>Blocks</a:t>
            </a:r>
            <a:r>
              <a:rPr lang="fr-FR" sz="2000" dirty="0"/>
              <a:t>"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144C24-E2DC-DAB4-4B2D-4E292F10DA94}"/>
              </a:ext>
            </a:extLst>
          </p:cNvPr>
          <p:cNvSpPr txBox="1"/>
          <p:nvPr/>
        </p:nvSpPr>
        <p:spPr>
          <a:xfrm>
            <a:off x="5871161" y="2077908"/>
            <a:ext cx="2965219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distributed</a:t>
            </a:r>
            <a:r>
              <a:rPr lang="fr-FR" dirty="0"/>
              <a:t> </a:t>
            </a:r>
            <a:r>
              <a:rPr lang="fr-FR" sz="2000" b="1" dirty="0" err="1"/>
              <a:t>replication</a:t>
            </a:r>
            <a:endParaRPr lang="fr-FR" b="1" dirty="0"/>
          </a:p>
          <a:p>
            <a:r>
              <a:rPr lang="fr-FR" dirty="0"/>
              <a:t>ex </a:t>
            </a:r>
            <a:r>
              <a:rPr lang="fr-FR" dirty="0" err="1"/>
              <a:t>using</a:t>
            </a:r>
            <a:r>
              <a:rPr lang="fr-FR" dirty="0"/>
              <a:t> Peer-To-Peer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F7EF6FB8-2DD7-C6CC-5597-4E3437D1A871}"/>
              </a:ext>
            </a:extLst>
          </p:cNvPr>
          <p:cNvSpPr/>
          <p:nvPr/>
        </p:nvSpPr>
        <p:spPr>
          <a:xfrm>
            <a:off x="2865385" y="3446282"/>
            <a:ext cx="868480" cy="2488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6E7627-F677-7E18-3965-F82D996426DC}"/>
              </a:ext>
            </a:extLst>
          </p:cNvPr>
          <p:cNvSpPr txBox="1"/>
          <p:nvPr/>
        </p:nvSpPr>
        <p:spPr>
          <a:xfrm>
            <a:off x="3709035" y="5143534"/>
            <a:ext cx="652774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compute</a:t>
            </a:r>
            <a:r>
              <a:rPr lang="fr-FR" sz="2000" b="1" dirty="0"/>
              <a:t> all blocks HASH</a:t>
            </a:r>
          </a:p>
          <a:p>
            <a:r>
              <a:rPr lang="fr-FR" sz="2000" b="1" dirty="0"/>
              <a:t>h1 =  hash(block1),    h2 = hash(block2), ...</a:t>
            </a:r>
          </a:p>
          <a:p>
            <a:endParaRPr lang="fr-FR" sz="2000" b="1" dirty="0"/>
          </a:p>
          <a:p>
            <a:r>
              <a:rPr lang="fr-FR" sz="2000" b="1" dirty="0" err="1"/>
              <a:t>then</a:t>
            </a:r>
            <a:r>
              <a:rPr lang="fr-FR" sz="2000" b="1" dirty="0"/>
              <a:t> HASH of </a:t>
            </a:r>
            <a:r>
              <a:rPr lang="fr-FR" sz="2000" b="1" dirty="0" err="1"/>
              <a:t>HASHes</a:t>
            </a:r>
            <a:r>
              <a:rPr lang="fr-FR" sz="2000" b="1" dirty="0"/>
              <a:t>:    </a:t>
            </a:r>
            <a:r>
              <a:rPr lang="fr-FR" sz="2000" b="1" dirty="0" err="1"/>
              <a:t>GlobalHash</a:t>
            </a:r>
            <a:r>
              <a:rPr lang="fr-FR" sz="2000" b="1" dirty="0"/>
              <a:t>=hash( h1,   h2, ..., </a:t>
            </a:r>
            <a:r>
              <a:rPr lang="fr-FR" sz="2000" b="1" dirty="0" err="1"/>
              <a:t>hN</a:t>
            </a:r>
            <a:r>
              <a:rPr lang="fr-FR" sz="2000" b="1" dirty="0"/>
              <a:t>  )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FA759224-4720-E7CD-9CF0-8F7DFFC8268F}"/>
              </a:ext>
            </a:extLst>
          </p:cNvPr>
          <p:cNvSpPr/>
          <p:nvPr/>
        </p:nvSpPr>
        <p:spPr>
          <a:xfrm rot="5400000">
            <a:off x="5001513" y="4467800"/>
            <a:ext cx="620209" cy="24860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8E36718-5AF0-ED85-6714-B3F57D89027A}"/>
              </a:ext>
            </a:extLst>
          </p:cNvPr>
          <p:cNvSpPr/>
          <p:nvPr/>
        </p:nvSpPr>
        <p:spPr>
          <a:xfrm>
            <a:off x="4646295" y="2992956"/>
            <a:ext cx="637226" cy="3159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3F51808-AF38-BF08-D5FC-50D7835AD46E}"/>
              </a:ext>
            </a:extLst>
          </p:cNvPr>
          <p:cNvSpPr/>
          <p:nvPr/>
        </p:nvSpPr>
        <p:spPr>
          <a:xfrm>
            <a:off x="4798695" y="3145356"/>
            <a:ext cx="637226" cy="3159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26DE095-D816-3B82-89D0-61CDC7362453}"/>
              </a:ext>
            </a:extLst>
          </p:cNvPr>
          <p:cNvSpPr/>
          <p:nvPr/>
        </p:nvSpPr>
        <p:spPr>
          <a:xfrm>
            <a:off x="4951095" y="3297756"/>
            <a:ext cx="637226" cy="3159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A2DF9BE-4980-39B9-BA49-F880454292CE}"/>
              </a:ext>
            </a:extLst>
          </p:cNvPr>
          <p:cNvSpPr/>
          <p:nvPr/>
        </p:nvSpPr>
        <p:spPr>
          <a:xfrm>
            <a:off x="5103495" y="3450156"/>
            <a:ext cx="637226" cy="3159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3F08D5F-717C-B709-0A31-52293AFE5990}"/>
              </a:ext>
            </a:extLst>
          </p:cNvPr>
          <p:cNvSpPr/>
          <p:nvPr/>
        </p:nvSpPr>
        <p:spPr>
          <a:xfrm>
            <a:off x="5255895" y="3602556"/>
            <a:ext cx="637226" cy="3159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FCA29B0-BFB1-5CFF-1DE7-ECBF958E5049}"/>
              </a:ext>
            </a:extLst>
          </p:cNvPr>
          <p:cNvSpPr/>
          <p:nvPr/>
        </p:nvSpPr>
        <p:spPr>
          <a:xfrm>
            <a:off x="5408295" y="3754956"/>
            <a:ext cx="637226" cy="3159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391C8B5-A82B-88D7-1A31-F5CFB1A820BB}"/>
              </a:ext>
            </a:extLst>
          </p:cNvPr>
          <p:cNvSpPr/>
          <p:nvPr/>
        </p:nvSpPr>
        <p:spPr>
          <a:xfrm>
            <a:off x="9323604" y="2892414"/>
            <a:ext cx="637226" cy="3159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F7D0044-7353-07DB-6BE9-A62E1C16FF1F}"/>
              </a:ext>
            </a:extLst>
          </p:cNvPr>
          <p:cNvSpPr/>
          <p:nvPr/>
        </p:nvSpPr>
        <p:spPr>
          <a:xfrm>
            <a:off x="8691927" y="3691832"/>
            <a:ext cx="637226" cy="3159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DF7B6A5-0225-DF53-141C-EF4DBF0D9157}"/>
              </a:ext>
            </a:extLst>
          </p:cNvPr>
          <p:cNvSpPr/>
          <p:nvPr/>
        </p:nvSpPr>
        <p:spPr>
          <a:xfrm>
            <a:off x="10364517" y="4046324"/>
            <a:ext cx="637226" cy="3159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6EF94AB-D329-B398-2628-0CD55846DA95}"/>
              </a:ext>
            </a:extLst>
          </p:cNvPr>
          <p:cNvSpPr/>
          <p:nvPr/>
        </p:nvSpPr>
        <p:spPr>
          <a:xfrm>
            <a:off x="10294032" y="3246906"/>
            <a:ext cx="637226" cy="3159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96D8B6C-8528-F6D5-6154-910E4CFAD9B7}"/>
              </a:ext>
            </a:extLst>
          </p:cNvPr>
          <p:cNvSpPr/>
          <p:nvPr/>
        </p:nvSpPr>
        <p:spPr>
          <a:xfrm>
            <a:off x="9646810" y="3556486"/>
            <a:ext cx="637226" cy="3159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7414" name="Picture 6" descr="undefined">
            <a:extLst>
              <a:ext uri="{FF2B5EF4-FFF2-40B4-BE49-F238E27FC236}">
                <a16:creationId xmlns:a16="http://schemas.microsoft.com/office/drawing/2014/main" id="{7171BDD6-E6C4-E118-E59F-5C10CF37B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6337" y="2053196"/>
            <a:ext cx="3651042" cy="3179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C2FB606E-CFE4-F3ED-77BD-7B5114F172F0}"/>
              </a:ext>
            </a:extLst>
          </p:cNvPr>
          <p:cNvSpPr/>
          <p:nvPr/>
        </p:nvSpPr>
        <p:spPr>
          <a:xfrm>
            <a:off x="10514063" y="4226397"/>
            <a:ext cx="417195" cy="2785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BD81AFB-B7E6-5353-5093-89F3548B8D8F}"/>
              </a:ext>
            </a:extLst>
          </p:cNvPr>
          <p:cNvSpPr/>
          <p:nvPr/>
        </p:nvSpPr>
        <p:spPr>
          <a:xfrm>
            <a:off x="10524059" y="3336151"/>
            <a:ext cx="417195" cy="2785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B257A9D6-DC1E-F653-34CE-5FC390BF4049}"/>
              </a:ext>
            </a:extLst>
          </p:cNvPr>
          <p:cNvSpPr/>
          <p:nvPr/>
        </p:nvSpPr>
        <p:spPr>
          <a:xfrm>
            <a:off x="9574954" y="3008342"/>
            <a:ext cx="417195" cy="2785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65F568A-CDD5-2B2B-1BFE-17DF2DE82479}"/>
              </a:ext>
            </a:extLst>
          </p:cNvPr>
          <p:cNvSpPr/>
          <p:nvPr/>
        </p:nvSpPr>
        <p:spPr>
          <a:xfrm>
            <a:off x="9095923" y="3766406"/>
            <a:ext cx="417195" cy="2785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AA1AC0B-208F-C598-106C-55FAE0AB3C55}"/>
              </a:ext>
            </a:extLst>
          </p:cNvPr>
          <p:cNvSpPr/>
          <p:nvPr/>
        </p:nvSpPr>
        <p:spPr>
          <a:xfrm>
            <a:off x="9837576" y="3718925"/>
            <a:ext cx="417195" cy="278510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25494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77D5B-5846-8EC7-CA13-7498F1F85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fr-FR" dirty="0" err="1"/>
              <a:t>Merkle</a:t>
            </a:r>
            <a:r>
              <a:rPr lang="fr-FR" dirty="0"/>
              <a:t> </a:t>
            </a:r>
            <a:r>
              <a:rPr lang="fr-FR" dirty="0" err="1"/>
              <a:t>Tree</a:t>
            </a:r>
            <a:br>
              <a:rPr lang="fr-FR" dirty="0"/>
            </a:br>
            <a:r>
              <a:rPr lang="fr-FR" sz="4000" dirty="0" err="1"/>
              <a:t>Hashing</a:t>
            </a:r>
            <a:r>
              <a:rPr lang="fr-FR" sz="4000" dirty="0"/>
              <a:t> </a:t>
            </a:r>
            <a:r>
              <a:rPr lang="fr-FR" sz="4000" dirty="0" err="1"/>
              <a:t>Efficiently</a:t>
            </a:r>
            <a:r>
              <a:rPr lang="fr-FR" sz="4000" dirty="0"/>
              <a:t> </a:t>
            </a:r>
            <a:r>
              <a:rPr lang="fr-FR" sz="4000" dirty="0" err="1"/>
              <a:t>Huge</a:t>
            </a:r>
            <a:r>
              <a:rPr lang="fr-FR" sz="4000" dirty="0"/>
              <a:t> Blocks, Blocks of Blocks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5F6B5F-B40A-9074-B876-F8E929572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178" y="1534131"/>
            <a:ext cx="8981999" cy="5225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409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5D38-6C76-B487-60C2-40D702CB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6946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Appending</a:t>
            </a:r>
            <a:r>
              <a:rPr lang="fr-FR" dirty="0"/>
              <a:t> Blocks (commit transaction log) =</a:t>
            </a:r>
            <a:br>
              <a:rPr lang="fr-FR" dirty="0"/>
            </a:br>
            <a:r>
              <a:rPr lang="fr-FR" dirty="0"/>
              <a:t>Mining  new Blocks </a:t>
            </a:r>
            <a:r>
              <a:rPr lang="fr-FR" dirty="0" err="1"/>
              <a:t>Hashes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42665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1ED55F-DDE6-9EBE-64FB-30B913481024}"/>
              </a:ext>
            </a:extLst>
          </p:cNvPr>
          <p:cNvSpPr/>
          <p:nvPr/>
        </p:nvSpPr>
        <p:spPr>
          <a:xfrm>
            <a:off x="1806633" y="2854355"/>
            <a:ext cx="1607127" cy="42672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3A5D38-6C76-B487-60C2-40D702CB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Mining Nonce - </a:t>
            </a:r>
            <a:r>
              <a:rPr lang="fr-FR" dirty="0" err="1"/>
              <a:t>Difficulty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A42990F-D6A9-D772-81ED-BC05E6F4BF96}"/>
              </a:ext>
            </a:extLst>
          </p:cNvPr>
          <p:cNvSpPr/>
          <p:nvPr/>
        </p:nvSpPr>
        <p:spPr>
          <a:xfrm>
            <a:off x="2084596" y="3510607"/>
            <a:ext cx="993883" cy="128306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99FFCC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hangingPunct="0"/>
            <a:endParaRPr lang="en-US" sz="1633"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42AA32-FBD2-5C36-A482-2094EA54026E}"/>
              </a:ext>
            </a:extLst>
          </p:cNvPr>
          <p:cNvSpPr txBox="1"/>
          <p:nvPr/>
        </p:nvSpPr>
        <p:spPr>
          <a:xfrm>
            <a:off x="1823260" y="2830802"/>
            <a:ext cx="14253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&lt;&lt;</a:t>
            </a:r>
            <a:r>
              <a:rPr lang="fr-FR" sz="2400" b="1" dirty="0"/>
              <a:t>nonce</a:t>
            </a:r>
            <a:r>
              <a:rPr lang="fr-FR" dirty="0"/>
              <a:t>&gt;&gt;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7785524-AD3D-9761-3467-A7F017B5FCBC}"/>
              </a:ext>
            </a:extLst>
          </p:cNvPr>
          <p:cNvSpPr/>
          <p:nvPr/>
        </p:nvSpPr>
        <p:spPr>
          <a:xfrm>
            <a:off x="4140764" y="3908887"/>
            <a:ext cx="1493149" cy="329851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hangingPunct="0"/>
            <a:endParaRPr lang="en-US" sz="1633"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7AC9875-3ABD-3FE9-350F-E0A13861359E}"/>
              </a:ext>
            </a:extLst>
          </p:cNvPr>
          <p:cNvSpPr/>
          <p:nvPr/>
        </p:nvSpPr>
        <p:spPr>
          <a:xfrm>
            <a:off x="5965724" y="3908887"/>
            <a:ext cx="663621" cy="32985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99FFCC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hangingPunct="0"/>
            <a:endParaRPr lang="en-US" sz="1633"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F9C310-C5FD-9CB0-3E5B-0FA3AFF49C19}"/>
              </a:ext>
            </a:extLst>
          </p:cNvPr>
          <p:cNvSpPr txBox="1"/>
          <p:nvPr/>
        </p:nvSpPr>
        <p:spPr>
          <a:xfrm>
            <a:off x="4087086" y="3438852"/>
            <a:ext cx="1600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compute</a:t>
            </a:r>
            <a:r>
              <a:rPr lang="fr-FR" dirty="0"/>
              <a:t> HASH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225CB78-70BE-F810-C230-9F5388A16F42}"/>
              </a:ext>
            </a:extLst>
          </p:cNvPr>
          <p:cNvSpPr/>
          <p:nvPr/>
        </p:nvSpPr>
        <p:spPr>
          <a:xfrm rot="1747049">
            <a:off x="7104502" y="4239424"/>
            <a:ext cx="1052273" cy="329851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hangingPunct="0"/>
            <a:endParaRPr lang="en-US" sz="1633"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98D7C0-FC06-7D7A-0180-B59E7AEDFBDF}"/>
              </a:ext>
            </a:extLst>
          </p:cNvPr>
          <p:cNvSpPr/>
          <p:nvPr/>
        </p:nvSpPr>
        <p:spPr>
          <a:xfrm rot="19445728">
            <a:off x="7088337" y="3381472"/>
            <a:ext cx="1043360" cy="329851"/>
          </a:xfrm>
          <a:custGeom>
            <a:avLst>
              <a:gd name="f0" fmla="val 16200"/>
              <a:gd name="f1" fmla="val 5400"/>
            </a:avLst>
            <a:gdLst>
              <a:gd name="f2" fmla="val w"/>
              <a:gd name="f3" fmla="val h"/>
              <a:gd name="f4" fmla="val 0"/>
              <a:gd name="f5" fmla="val 21600"/>
              <a:gd name="f6" fmla="val 10800"/>
              <a:gd name="f7" fmla="*/ f2 1 21600"/>
              <a:gd name="f8" fmla="*/ f3 1 21600"/>
              <a:gd name="f9" fmla="pin 0 f0 21600"/>
              <a:gd name="f10" fmla="pin 0 f1 10800"/>
              <a:gd name="f11" fmla="val f10"/>
              <a:gd name="f12" fmla="val f9"/>
              <a:gd name="f13" fmla="+- 21600 0 f10"/>
              <a:gd name="f14" fmla="*/ f9 f7 1"/>
              <a:gd name="f15" fmla="*/ f10 f8 1"/>
              <a:gd name="f16" fmla="*/ 0 f7 1"/>
              <a:gd name="f17" fmla="+- 21600 0 f12"/>
              <a:gd name="f18" fmla="*/ f13 f8 1"/>
              <a:gd name="f19" fmla="*/ f11 f8 1"/>
              <a:gd name="f20" fmla="*/ f17 f11 1"/>
              <a:gd name="f21" fmla="*/ f20 1 10800"/>
              <a:gd name="f22" fmla="+- f12 f21 0"/>
              <a:gd name="f23" fmla="*/ f22 f7 1"/>
            </a:gdLst>
            <a:ahLst>
              <a:ahXY gdRefX="f0" minX="f4" maxX="f5" gdRefY="f1" minY="f4" maxY="f6">
                <a:pos x="f14" y="f15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23" b="f18"/>
            <a:pathLst>
              <a:path w="21600" h="21600">
                <a:moveTo>
                  <a:pt x="f4" y="f11"/>
                </a:moveTo>
                <a:lnTo>
                  <a:pt x="f12" y="f11"/>
                </a:lnTo>
                <a:lnTo>
                  <a:pt x="f12" y="f4"/>
                </a:lnTo>
                <a:lnTo>
                  <a:pt x="f5" y="f6"/>
                </a:lnTo>
                <a:lnTo>
                  <a:pt x="f12" y="f5"/>
                </a:lnTo>
                <a:lnTo>
                  <a:pt x="f12" y="f13"/>
                </a:lnTo>
                <a:lnTo>
                  <a:pt x="f4" y="f13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none" lIns="81646" tIns="40823" rIns="81646" bIns="40823" anchor="ctr" anchorCtr="0" compatLnSpc="0">
            <a:noAutofit/>
          </a:bodyPr>
          <a:lstStyle/>
          <a:p>
            <a:pPr hangingPunct="0"/>
            <a:endParaRPr lang="en-US" sz="1633">
              <a:latin typeface="Liberation Sans" pitchFamily="18"/>
              <a:ea typeface="Droid Sans Fallback" pitchFamily="2"/>
              <a:cs typeface="FreeSans" pitchFamily="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6602D8-2B1A-E4FA-B390-E209D9DF85EF}"/>
              </a:ext>
            </a:extLst>
          </p:cNvPr>
          <p:cNvSpPr txBox="1"/>
          <p:nvPr/>
        </p:nvSpPr>
        <p:spPr>
          <a:xfrm>
            <a:off x="5687589" y="4378177"/>
            <a:ext cx="17063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hash</a:t>
            </a:r>
          </a:p>
          <a:p>
            <a:r>
              <a:rPr lang="fr-FR" sz="2400" dirty="0"/>
              <a:t>00ac3b28f...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8AA4FFD0-3941-5404-288E-3920B97A12F5}"/>
              </a:ext>
            </a:extLst>
          </p:cNvPr>
          <p:cNvSpPr/>
          <p:nvPr/>
        </p:nvSpPr>
        <p:spPr>
          <a:xfrm rot="16200000">
            <a:off x="5828575" y="5212597"/>
            <a:ext cx="274298" cy="360080"/>
          </a:xfrm>
          <a:prstGeom prst="leftBrace">
            <a:avLst/>
          </a:prstGeom>
          <a:ln w="539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8485DD-F17C-8B46-DFCB-B78C8D33B995}"/>
              </a:ext>
            </a:extLst>
          </p:cNvPr>
          <p:cNvSpPr txBox="1"/>
          <p:nvPr/>
        </p:nvSpPr>
        <p:spPr>
          <a:xfrm>
            <a:off x="3823214" y="5575960"/>
            <a:ext cx="456766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number</a:t>
            </a:r>
            <a:r>
              <a:rPr lang="fr-FR" sz="2800" dirty="0"/>
              <a:t> of </a:t>
            </a:r>
            <a:r>
              <a:rPr lang="fr-FR" sz="2800" dirty="0" err="1"/>
              <a:t>starting</a:t>
            </a:r>
            <a:r>
              <a:rPr lang="fr-FR" sz="2800" dirty="0"/>
              <a:t> 0s </a:t>
            </a:r>
            <a:r>
              <a:rPr lang="fr-FR" sz="2800" dirty="0" err="1"/>
              <a:t>zeros</a:t>
            </a:r>
            <a:r>
              <a:rPr lang="fr-FR" sz="2800" dirty="0"/>
              <a:t> </a:t>
            </a:r>
          </a:p>
          <a:p>
            <a:r>
              <a:rPr lang="fr-FR" sz="2800" dirty="0"/>
              <a:t>          value &lt;=  </a:t>
            </a:r>
            <a:r>
              <a:rPr lang="fr-FR" sz="2800" dirty="0" err="1"/>
              <a:t>difficultyLevel</a:t>
            </a:r>
            <a:r>
              <a:rPr lang="fr-FR" sz="2800" dirty="0"/>
              <a:t>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7948E1-D11D-64BF-DF33-4C82E957AF5B}"/>
              </a:ext>
            </a:extLst>
          </p:cNvPr>
          <p:cNvSpPr txBox="1"/>
          <p:nvPr/>
        </p:nvSpPr>
        <p:spPr>
          <a:xfrm>
            <a:off x="6888481" y="2632035"/>
            <a:ext cx="2482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loop</a:t>
            </a:r>
            <a:r>
              <a:rPr lang="fr-FR" sz="2400" dirty="0"/>
              <a:t> </a:t>
            </a:r>
            <a:r>
              <a:rPr lang="fr-FR" sz="2400" dirty="0" err="1"/>
              <a:t>retry</a:t>
            </a:r>
            <a:r>
              <a:rPr lang="fr-FR" sz="2400" dirty="0"/>
              <a:t> </a:t>
            </a:r>
            <a:r>
              <a:rPr lang="fr-FR" sz="2400" dirty="0" err="1"/>
              <a:t>another</a:t>
            </a:r>
            <a:endParaRPr lang="fr-FR" sz="2400" dirty="0"/>
          </a:p>
        </p:txBody>
      </p:sp>
      <p:sp>
        <p:nvSpPr>
          <p:cNvPr id="15" name="Arrow: Curved Down 14">
            <a:extLst>
              <a:ext uri="{FF2B5EF4-FFF2-40B4-BE49-F238E27FC236}">
                <a16:creationId xmlns:a16="http://schemas.microsoft.com/office/drawing/2014/main" id="{5309BB0F-CFEB-5266-C4F7-9B6FF46A260D}"/>
              </a:ext>
            </a:extLst>
          </p:cNvPr>
          <p:cNvSpPr/>
          <p:nvPr/>
        </p:nvSpPr>
        <p:spPr>
          <a:xfrm flipH="1">
            <a:off x="2532611" y="1371737"/>
            <a:ext cx="5370022" cy="1208754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A9E878-EDF5-5F24-0239-0676F6101DA9}"/>
              </a:ext>
            </a:extLst>
          </p:cNvPr>
          <p:cNvSpPr/>
          <p:nvPr/>
        </p:nvSpPr>
        <p:spPr>
          <a:xfrm>
            <a:off x="9370827" y="2668424"/>
            <a:ext cx="1607127" cy="42672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BD551D-AAD2-9431-A461-8BA4E88F7EAC}"/>
              </a:ext>
            </a:extLst>
          </p:cNvPr>
          <p:cNvSpPr txBox="1"/>
          <p:nvPr/>
        </p:nvSpPr>
        <p:spPr>
          <a:xfrm>
            <a:off x="9387454" y="2644871"/>
            <a:ext cx="14291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=nonce++</a:t>
            </a:r>
            <a:endParaRPr lang="fr-FR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3D7FB5-9DC9-952F-52DB-59A24806FAC5}"/>
              </a:ext>
            </a:extLst>
          </p:cNvPr>
          <p:cNvSpPr txBox="1"/>
          <p:nvPr/>
        </p:nvSpPr>
        <p:spPr>
          <a:xfrm>
            <a:off x="8312728" y="4445684"/>
            <a:ext cx="12079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Found</a:t>
            </a:r>
            <a:r>
              <a:rPr lang="fr-FR" sz="2400" dirty="0"/>
              <a:t> ! </a:t>
            </a:r>
          </a:p>
        </p:txBody>
      </p:sp>
      <p:pic>
        <p:nvPicPr>
          <p:cNvPr id="2050" name="Picture 2" descr="Happy mining workers : plus de 3 577 illustrations et dessins de stock  libres de droits proposés sous licence | Shutterstock">
            <a:extLst>
              <a:ext uri="{FF2B5EF4-FFF2-40B4-BE49-F238E27FC236}">
                <a16:creationId xmlns:a16="http://schemas.microsoft.com/office/drawing/2014/main" id="{8540CBAC-D9F3-3687-DA28-6C034B39AD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883" y="1588959"/>
            <a:ext cx="1650290" cy="1780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00EDE5E-F61A-7C68-967B-59010FF42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2381" y="4948774"/>
            <a:ext cx="878756" cy="887723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625031CB-F85D-6F29-5CB6-250E4B8EB68F}"/>
              </a:ext>
            </a:extLst>
          </p:cNvPr>
          <p:cNvSpPr/>
          <p:nvPr/>
        </p:nvSpPr>
        <p:spPr>
          <a:xfrm>
            <a:off x="9468196" y="4469237"/>
            <a:ext cx="1607127" cy="42672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BD00A4-2814-B48A-A9EB-01FB60730E09}"/>
              </a:ext>
            </a:extLst>
          </p:cNvPr>
          <p:cNvSpPr txBox="1"/>
          <p:nvPr/>
        </p:nvSpPr>
        <p:spPr>
          <a:xfrm>
            <a:off x="9484823" y="4445684"/>
            <a:ext cx="14253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&lt;&lt;</a:t>
            </a:r>
            <a:r>
              <a:rPr lang="fr-FR" sz="2400" b="1" dirty="0"/>
              <a:t>nonce</a:t>
            </a:r>
            <a:r>
              <a:rPr lang="fr-FR" dirty="0"/>
              <a:t>&gt;&gt;</a:t>
            </a:r>
          </a:p>
        </p:txBody>
      </p:sp>
    </p:spTree>
    <p:extLst>
      <p:ext uri="{BB962C8B-B14F-4D97-AF65-F5344CB8AC3E}">
        <p14:creationId xmlns:p14="http://schemas.microsoft.com/office/powerpoint/2010/main" val="10550939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5D38-6C76-B487-60C2-40D702CB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Proof Of 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A28C78-1DF7-328B-DAF5-427885C3A759}"/>
              </a:ext>
            </a:extLst>
          </p:cNvPr>
          <p:cNvSpPr txBox="1"/>
          <p:nvPr/>
        </p:nvSpPr>
        <p:spPr>
          <a:xfrm>
            <a:off x="2466108" y="2787535"/>
            <a:ext cx="783547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Find</a:t>
            </a:r>
            <a:r>
              <a:rPr lang="fr-FR" sz="2800" dirty="0"/>
              <a:t> me a </a:t>
            </a:r>
            <a:r>
              <a:rPr lang="fr-FR" sz="2800" dirty="0" err="1"/>
              <a:t>nounce</a:t>
            </a:r>
            <a:r>
              <a:rPr lang="fr-FR" sz="2800" dirty="0"/>
              <a:t> </a:t>
            </a:r>
            <a:r>
              <a:rPr lang="fr-FR" sz="2800" dirty="0" err="1"/>
              <a:t>giving</a:t>
            </a:r>
            <a:r>
              <a:rPr lang="fr-FR" sz="2800" dirty="0"/>
              <a:t> 6 </a:t>
            </a:r>
            <a:r>
              <a:rPr lang="fr-FR" sz="2800" dirty="0" err="1"/>
              <a:t>zeros</a:t>
            </a:r>
            <a:r>
              <a:rPr lang="fr-FR" sz="2800" dirty="0"/>
              <a:t> in the hash for "</a:t>
            </a:r>
            <a:r>
              <a:rPr lang="fr-FR" sz="2800" dirty="0" err="1"/>
              <a:t>xyz</a:t>
            </a:r>
            <a:r>
              <a:rPr lang="fr-FR" sz="2800" dirty="0"/>
              <a:t>"</a:t>
            </a:r>
          </a:p>
          <a:p>
            <a:endParaRPr lang="fr-FR" sz="2800" dirty="0"/>
          </a:p>
          <a:p>
            <a:r>
              <a:rPr lang="fr-FR" sz="2800" dirty="0" err="1"/>
              <a:t>it</a:t>
            </a:r>
            <a:r>
              <a:rPr lang="fr-FR" sz="2800" dirty="0"/>
              <a:t> </a:t>
            </a:r>
            <a:r>
              <a:rPr lang="fr-FR" sz="2800" dirty="0" err="1"/>
              <a:t>will</a:t>
            </a:r>
            <a:r>
              <a:rPr lang="fr-FR" sz="2800" dirty="0"/>
              <a:t> </a:t>
            </a:r>
            <a:r>
              <a:rPr lang="fr-FR" sz="2800" dirty="0" err="1"/>
              <a:t>prove</a:t>
            </a:r>
            <a:r>
              <a:rPr lang="fr-FR" sz="2800" dirty="0"/>
              <a:t> </a:t>
            </a:r>
            <a:r>
              <a:rPr lang="fr-FR" sz="2800" dirty="0" err="1"/>
              <a:t>you</a:t>
            </a:r>
            <a:r>
              <a:rPr lang="fr-FR" sz="2800" dirty="0"/>
              <a:t> </a:t>
            </a:r>
            <a:r>
              <a:rPr lang="fr-FR" sz="2800" dirty="0" err="1"/>
              <a:t>did</a:t>
            </a:r>
            <a:r>
              <a:rPr lang="fr-FR" sz="2800" dirty="0"/>
              <a:t> computation </a:t>
            </a:r>
            <a:r>
              <a:rPr lang="fr-FR" sz="2800" dirty="0" err="1"/>
              <a:t>work</a:t>
            </a:r>
            <a:endParaRPr lang="fr-FR" sz="2800" dirty="0"/>
          </a:p>
          <a:p>
            <a:r>
              <a:rPr lang="fr-FR" sz="2800" dirty="0"/>
              <a:t>( proof </a:t>
            </a:r>
            <a:r>
              <a:rPr lang="fr-FR" sz="2800" dirty="0" err="1"/>
              <a:t>you</a:t>
            </a:r>
            <a:r>
              <a:rPr lang="fr-FR" sz="2800" dirty="0"/>
              <a:t> </a:t>
            </a:r>
            <a:r>
              <a:rPr lang="fr-FR" sz="2800" dirty="0" err="1"/>
              <a:t>spend</a:t>
            </a:r>
            <a:r>
              <a:rPr lang="fr-FR" sz="2800" dirty="0"/>
              <a:t> time and </a:t>
            </a:r>
            <a:r>
              <a:rPr lang="fr-FR" sz="2800" dirty="0" err="1"/>
              <a:t>energy</a:t>
            </a:r>
            <a:r>
              <a:rPr lang="fr-FR" sz="2800" dirty="0"/>
              <a:t>, money)</a:t>
            </a:r>
          </a:p>
        </p:txBody>
      </p:sp>
    </p:spTree>
    <p:extLst>
      <p:ext uri="{BB962C8B-B14F-4D97-AF65-F5344CB8AC3E}">
        <p14:creationId xmlns:p14="http://schemas.microsoft.com/office/powerpoint/2010/main" val="32494257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5D38-6C76-B487-60C2-40D702CB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BlockChain</a:t>
            </a:r>
            <a:r>
              <a:rPr lang="fr-FR" dirty="0"/>
              <a:t> =</a:t>
            </a:r>
            <a:br>
              <a:rPr lang="fr-FR" dirty="0"/>
            </a:br>
            <a:r>
              <a:rPr lang="fr-FR" dirty="0" err="1"/>
              <a:t>Chaining</a:t>
            </a:r>
            <a:r>
              <a:rPr lang="fr-FR" dirty="0"/>
              <a:t> Blocks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previous</a:t>
            </a:r>
            <a:r>
              <a:rPr lang="fr-FR" dirty="0"/>
              <a:t> Hash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E1F71A5-678E-4D0A-DFE9-889DF0D7A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0306" y="2072641"/>
            <a:ext cx="8545605" cy="352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DFA91A-6CDF-4D8C-4D65-24B90B2912D2}"/>
              </a:ext>
            </a:extLst>
          </p:cNvPr>
          <p:cNvSpPr txBox="1"/>
          <p:nvPr/>
        </p:nvSpPr>
        <p:spPr>
          <a:xfrm>
            <a:off x="127461" y="6434051"/>
            <a:ext cx="6835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credits</a:t>
            </a:r>
            <a:r>
              <a:rPr lang="fr-FR" dirty="0"/>
              <a:t>: https://www.geeksforgeeks.org/blockchain-resolving-conflicts/</a:t>
            </a:r>
          </a:p>
        </p:txBody>
      </p:sp>
    </p:spTree>
    <p:extLst>
      <p:ext uri="{BB962C8B-B14F-4D97-AF65-F5344CB8AC3E}">
        <p14:creationId xmlns:p14="http://schemas.microsoft.com/office/powerpoint/2010/main" val="13770701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5D38-6C76-B487-60C2-40D702CB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Adding</a:t>
            </a:r>
            <a:r>
              <a:rPr lang="fr-FR" dirty="0"/>
              <a:t> a block at the end of a </a:t>
            </a:r>
            <a:r>
              <a:rPr lang="fr-FR" dirty="0" err="1"/>
              <a:t>chain</a:t>
            </a:r>
            <a:endParaRPr lang="fr-FR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CC7F07A2-6815-EF59-690F-BE2AE78CB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430" y="1636135"/>
            <a:ext cx="8453902" cy="4598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DE192B9-20BB-3A5D-E0CA-6069684086D7}"/>
              </a:ext>
            </a:extLst>
          </p:cNvPr>
          <p:cNvSpPr txBox="1"/>
          <p:nvPr/>
        </p:nvSpPr>
        <p:spPr>
          <a:xfrm>
            <a:off x="127461" y="6434051"/>
            <a:ext cx="6835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credits</a:t>
            </a:r>
            <a:r>
              <a:rPr lang="fr-FR" dirty="0"/>
              <a:t>: https://www.geeksforgeeks.org/blockchain-resolving-conflicts/</a:t>
            </a:r>
          </a:p>
        </p:txBody>
      </p:sp>
    </p:spTree>
    <p:extLst>
      <p:ext uri="{BB962C8B-B14F-4D97-AF65-F5344CB8AC3E}">
        <p14:creationId xmlns:p14="http://schemas.microsoft.com/office/powerpoint/2010/main" val="17344529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5D38-6C76-B487-60C2-40D702CB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Conflict</a:t>
            </a:r>
            <a:r>
              <a:rPr lang="fr-FR" dirty="0"/>
              <a:t> </a:t>
            </a:r>
            <a:r>
              <a:rPr lang="fr-FR" dirty="0" err="1"/>
              <a:t>Appending</a:t>
            </a:r>
            <a:r>
              <a:rPr lang="fr-FR" dirty="0"/>
              <a:t> Blocks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Tree</a:t>
            </a:r>
            <a:r>
              <a:rPr lang="fr-FR" dirty="0"/>
              <a:t> .. not List Chain)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56088C74-B12C-B55D-A4F5-DAD6CC601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4110" y="1933401"/>
            <a:ext cx="7729190" cy="3841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494A2BD-2882-AA41-B420-32482A566E01}"/>
              </a:ext>
            </a:extLst>
          </p:cNvPr>
          <p:cNvSpPr txBox="1"/>
          <p:nvPr/>
        </p:nvSpPr>
        <p:spPr>
          <a:xfrm>
            <a:off x="127461" y="6434051"/>
            <a:ext cx="6835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credits</a:t>
            </a:r>
            <a:r>
              <a:rPr lang="fr-FR" dirty="0"/>
              <a:t>: https://www.geeksforgeeks.org/blockchain-resolving-conflicts/</a:t>
            </a:r>
          </a:p>
        </p:txBody>
      </p:sp>
    </p:spTree>
    <p:extLst>
      <p:ext uri="{BB962C8B-B14F-4D97-AF65-F5344CB8AC3E}">
        <p14:creationId xmlns:p14="http://schemas.microsoft.com/office/powerpoint/2010/main" val="25285119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5D38-6C76-B487-60C2-40D702CB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Longest</a:t>
            </a:r>
            <a:r>
              <a:rPr lang="fr-FR" dirty="0"/>
              <a:t> Chain </a:t>
            </a:r>
            <a:r>
              <a:rPr lang="fr-FR" dirty="0" err="1"/>
              <a:t>Concensius</a:t>
            </a:r>
            <a:endParaRPr lang="fr-FR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0F8D558F-638F-85E9-43E6-51515E1BC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049" y="1967951"/>
            <a:ext cx="8205902" cy="356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7F6EAC-E016-5779-783C-80D9AA1C010C}"/>
              </a:ext>
            </a:extLst>
          </p:cNvPr>
          <p:cNvSpPr txBox="1"/>
          <p:nvPr/>
        </p:nvSpPr>
        <p:spPr>
          <a:xfrm>
            <a:off x="127461" y="6434051"/>
            <a:ext cx="6835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credits</a:t>
            </a:r>
            <a:r>
              <a:rPr lang="fr-FR" dirty="0"/>
              <a:t>: https://www.geeksforgeeks.org/blockchain-resolving-conflicts/</a:t>
            </a:r>
          </a:p>
        </p:txBody>
      </p:sp>
    </p:spTree>
    <p:extLst>
      <p:ext uri="{BB962C8B-B14F-4D97-AF65-F5344CB8AC3E}">
        <p14:creationId xmlns:p14="http://schemas.microsoft.com/office/powerpoint/2010/main" val="33128583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5D38-6C76-B487-60C2-40D702CB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Conscencius</a:t>
            </a:r>
            <a:r>
              <a:rPr lang="fr-FR" dirty="0"/>
              <a:t> : </a:t>
            </a:r>
            <a:r>
              <a:rPr lang="fr-FR" dirty="0" err="1"/>
              <a:t>retain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the </a:t>
            </a:r>
            <a:r>
              <a:rPr lang="fr-FR" dirty="0" err="1"/>
              <a:t>longest</a:t>
            </a:r>
            <a:r>
              <a:rPr lang="fr-FR" dirty="0"/>
              <a:t> </a:t>
            </a:r>
            <a:r>
              <a:rPr lang="fr-FR" dirty="0" err="1"/>
              <a:t>chain</a:t>
            </a:r>
            <a:r>
              <a:rPr lang="fr-FR" dirty="0"/>
              <a:t>(s)</a:t>
            </a:r>
            <a:br>
              <a:rPr lang="fr-FR" dirty="0"/>
            </a:br>
            <a:r>
              <a:rPr lang="fr-FR" dirty="0" err="1"/>
              <a:t>eliminate</a:t>
            </a:r>
            <a:r>
              <a:rPr lang="fr-FR" dirty="0"/>
              <a:t> </a:t>
            </a:r>
            <a:r>
              <a:rPr lang="fr-FR" dirty="0" err="1"/>
              <a:t>smaller</a:t>
            </a:r>
            <a:r>
              <a:rPr lang="fr-FR" dirty="0"/>
              <a:t> </a:t>
            </a:r>
            <a:r>
              <a:rPr lang="fr-FR" dirty="0" err="1"/>
              <a:t>old</a:t>
            </a:r>
            <a:r>
              <a:rPr lang="fr-FR" dirty="0"/>
              <a:t> </a:t>
            </a:r>
            <a:r>
              <a:rPr lang="fr-FR" dirty="0" err="1"/>
              <a:t>chains</a:t>
            </a:r>
            <a:endParaRPr lang="fr-FR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B5B7DBA4-8C2E-A53C-C695-EB17CEE33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7295" y="2421169"/>
            <a:ext cx="9193448" cy="2688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E4CDEB-E5D6-AB4A-027F-7C65C9B3B7A7}"/>
              </a:ext>
            </a:extLst>
          </p:cNvPr>
          <p:cNvSpPr txBox="1"/>
          <p:nvPr/>
        </p:nvSpPr>
        <p:spPr>
          <a:xfrm>
            <a:off x="127461" y="6434051"/>
            <a:ext cx="6835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credits</a:t>
            </a:r>
            <a:r>
              <a:rPr lang="fr-FR" dirty="0"/>
              <a:t>: https://www.geeksforgeeks.org/blockchain-resolving-conflicts/</a:t>
            </a:r>
          </a:p>
        </p:txBody>
      </p:sp>
    </p:spTree>
    <p:extLst>
      <p:ext uri="{BB962C8B-B14F-4D97-AF65-F5344CB8AC3E}">
        <p14:creationId xmlns:p14="http://schemas.microsoft.com/office/powerpoint/2010/main" val="32286085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5D38-6C76-B487-60C2-40D702CB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Orphan</a:t>
            </a:r>
            <a:r>
              <a:rPr lang="fr-FR" dirty="0"/>
              <a:t> Blocks ... Waste Mining for </a:t>
            </a:r>
            <a:r>
              <a:rPr lang="fr-FR" dirty="0" err="1"/>
              <a:t>nothing</a:t>
            </a:r>
            <a:endParaRPr lang="fr-FR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09CB211F-61FB-3D66-11F6-72D690047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415" y="2187978"/>
            <a:ext cx="7837170" cy="34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7C11C36-9970-59F5-9160-BD6388BB0A19}"/>
              </a:ext>
            </a:extLst>
          </p:cNvPr>
          <p:cNvSpPr txBox="1"/>
          <p:nvPr/>
        </p:nvSpPr>
        <p:spPr>
          <a:xfrm>
            <a:off x="127461" y="6434051"/>
            <a:ext cx="6835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credits</a:t>
            </a:r>
            <a:r>
              <a:rPr lang="fr-FR" dirty="0"/>
              <a:t>: https://www.geeksforgeeks.org/blockchain-resolving-conflicts/</a:t>
            </a:r>
          </a:p>
        </p:txBody>
      </p:sp>
    </p:spTree>
    <p:extLst>
      <p:ext uri="{BB962C8B-B14F-4D97-AF65-F5344CB8AC3E}">
        <p14:creationId xmlns:p14="http://schemas.microsoft.com/office/powerpoint/2010/main" val="16209278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5D38-6C76-B487-60C2-40D702CB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Put back </a:t>
            </a:r>
            <a:r>
              <a:rPr lang="fr-FR" dirty="0" err="1"/>
              <a:t>valid</a:t>
            </a:r>
            <a:r>
              <a:rPr lang="fr-FR" dirty="0"/>
              <a:t> Transactions in Pool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7C92E1-823B-6004-9FE8-008090397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4877" y="1174079"/>
            <a:ext cx="7837170" cy="346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Curved Down 3">
            <a:extLst>
              <a:ext uri="{FF2B5EF4-FFF2-40B4-BE49-F238E27FC236}">
                <a16:creationId xmlns:a16="http://schemas.microsoft.com/office/drawing/2014/main" id="{B75276AD-27EA-8EF3-605B-D84BD1CFE704}"/>
              </a:ext>
            </a:extLst>
          </p:cNvPr>
          <p:cNvSpPr/>
          <p:nvPr/>
        </p:nvSpPr>
        <p:spPr>
          <a:xfrm rot="6378968">
            <a:off x="6234545" y="4749338"/>
            <a:ext cx="1878677" cy="91440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7489722-36F0-DDA6-82A7-AD7AF86DB22B}"/>
              </a:ext>
            </a:extLst>
          </p:cNvPr>
          <p:cNvSpPr/>
          <p:nvPr/>
        </p:nvSpPr>
        <p:spPr>
          <a:xfrm>
            <a:off x="4516582" y="5206538"/>
            <a:ext cx="1097280" cy="3740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C557D97-3CC4-0B37-78BE-15DBED750900}"/>
              </a:ext>
            </a:extLst>
          </p:cNvPr>
          <p:cNvSpPr/>
          <p:nvPr/>
        </p:nvSpPr>
        <p:spPr>
          <a:xfrm>
            <a:off x="4668982" y="5358938"/>
            <a:ext cx="1097280" cy="3740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7FE0BE6-D1E2-B6D1-FFA2-C02873C1D71A}"/>
              </a:ext>
            </a:extLst>
          </p:cNvPr>
          <p:cNvSpPr/>
          <p:nvPr/>
        </p:nvSpPr>
        <p:spPr>
          <a:xfrm>
            <a:off x="4821382" y="5511338"/>
            <a:ext cx="1097280" cy="3740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82234EF-2893-3975-14B7-B208999D187B}"/>
              </a:ext>
            </a:extLst>
          </p:cNvPr>
          <p:cNvSpPr/>
          <p:nvPr/>
        </p:nvSpPr>
        <p:spPr>
          <a:xfrm>
            <a:off x="4973782" y="5663738"/>
            <a:ext cx="1097280" cy="3740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6DD9290-9B78-21EA-247D-9BC50083F925}"/>
              </a:ext>
            </a:extLst>
          </p:cNvPr>
          <p:cNvSpPr/>
          <p:nvPr/>
        </p:nvSpPr>
        <p:spPr>
          <a:xfrm>
            <a:off x="5126182" y="5816138"/>
            <a:ext cx="1097280" cy="3740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33EB6A-0D97-3C86-7BCD-FDB31DD816C7}"/>
              </a:ext>
            </a:extLst>
          </p:cNvPr>
          <p:cNvSpPr/>
          <p:nvPr/>
        </p:nvSpPr>
        <p:spPr>
          <a:xfrm>
            <a:off x="3794503" y="5029200"/>
            <a:ext cx="2676698" cy="14076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F97CD3-D782-C271-D9C5-858D5F21174D}"/>
              </a:ext>
            </a:extLst>
          </p:cNvPr>
          <p:cNvSpPr txBox="1"/>
          <p:nvPr/>
        </p:nvSpPr>
        <p:spPr>
          <a:xfrm>
            <a:off x="2807978" y="4624110"/>
            <a:ext cx="33869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Waiting</a:t>
            </a:r>
            <a:r>
              <a:rPr lang="fr-FR" sz="2400" dirty="0"/>
              <a:t> Transactions Pool</a:t>
            </a:r>
          </a:p>
        </p:txBody>
      </p:sp>
      <p:sp>
        <p:nvSpPr>
          <p:cNvPr id="12" name="Arrow: Curved Down 11">
            <a:extLst>
              <a:ext uri="{FF2B5EF4-FFF2-40B4-BE49-F238E27FC236}">
                <a16:creationId xmlns:a16="http://schemas.microsoft.com/office/drawing/2014/main" id="{E22E8E03-AFC1-CE4B-640C-5B4B38655C81}"/>
              </a:ext>
            </a:extLst>
          </p:cNvPr>
          <p:cNvSpPr/>
          <p:nvPr/>
        </p:nvSpPr>
        <p:spPr>
          <a:xfrm rot="6378968" flipH="1">
            <a:off x="7619126" y="3205382"/>
            <a:ext cx="1067421" cy="914400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A02F8F-FCFD-9516-2C21-9B3745D10138}"/>
              </a:ext>
            </a:extLst>
          </p:cNvPr>
          <p:cNvSpPr txBox="1"/>
          <p:nvPr/>
        </p:nvSpPr>
        <p:spPr>
          <a:xfrm>
            <a:off x="8719331" y="3656912"/>
            <a:ext cx="32840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OK Transaction </a:t>
            </a:r>
          </a:p>
          <a:p>
            <a:r>
              <a:rPr lang="fr-FR" sz="2400" dirty="0" err="1"/>
              <a:t>already</a:t>
            </a:r>
            <a:r>
              <a:rPr lang="fr-FR" sz="2400" dirty="0"/>
              <a:t> </a:t>
            </a:r>
            <a:r>
              <a:rPr lang="fr-FR" sz="2400" dirty="0" err="1"/>
              <a:t>included</a:t>
            </a:r>
            <a:r>
              <a:rPr lang="fr-FR" sz="2400" dirty="0"/>
              <a:t> in block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CE4874-3A17-C58B-9CA9-F652F41E4F64}"/>
              </a:ext>
            </a:extLst>
          </p:cNvPr>
          <p:cNvSpPr txBox="1"/>
          <p:nvPr/>
        </p:nvSpPr>
        <p:spPr>
          <a:xfrm>
            <a:off x="8018291" y="4791039"/>
            <a:ext cx="32840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Remaining</a:t>
            </a:r>
            <a:r>
              <a:rPr lang="fr-FR" sz="2400" dirty="0"/>
              <a:t> Transactions </a:t>
            </a:r>
          </a:p>
          <a:p>
            <a:r>
              <a:rPr lang="fr-FR" sz="2400" dirty="0"/>
              <a:t>put back in Pool</a:t>
            </a:r>
          </a:p>
        </p:txBody>
      </p:sp>
    </p:spTree>
    <p:extLst>
      <p:ext uri="{BB962C8B-B14F-4D97-AF65-F5344CB8AC3E}">
        <p14:creationId xmlns:p14="http://schemas.microsoft.com/office/powerpoint/2010/main" val="18719023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7435A-88D2-3D79-9CFD-DB589D9B4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Your</a:t>
            </a:r>
            <a:r>
              <a:rPr lang="fr-FR" dirty="0"/>
              <a:t> Transaction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added</a:t>
            </a:r>
            <a:r>
              <a:rPr lang="fr-FR" dirty="0"/>
              <a:t> in Block? OK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BB9E6A-8C7F-106D-00BE-09007C81DFFD}"/>
              </a:ext>
            </a:extLst>
          </p:cNvPr>
          <p:cNvSpPr txBox="1"/>
          <p:nvPr/>
        </p:nvSpPr>
        <p:spPr>
          <a:xfrm>
            <a:off x="2504903" y="1968560"/>
            <a:ext cx="793781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to </a:t>
            </a:r>
            <a:r>
              <a:rPr lang="fr-FR" sz="2400" dirty="0" err="1"/>
              <a:t>pass</a:t>
            </a:r>
            <a:r>
              <a:rPr lang="fr-FR" sz="2400" dirty="0"/>
              <a:t> a transaction </a:t>
            </a:r>
            <a:r>
              <a:rPr lang="fr-FR" sz="2400" dirty="0" err="1"/>
              <a:t>payment</a:t>
            </a:r>
            <a:r>
              <a:rPr lang="fr-FR" sz="2400" dirty="0"/>
              <a:t>, </a:t>
            </a:r>
            <a:r>
              <a:rPr lang="fr-FR" sz="2400" dirty="0" err="1"/>
              <a:t>you</a:t>
            </a:r>
            <a:r>
              <a:rPr lang="fr-FR" sz="2400" dirty="0"/>
              <a:t> must: </a:t>
            </a:r>
          </a:p>
          <a:p>
            <a:endParaRPr lang="fr-FR" sz="2400" dirty="0"/>
          </a:p>
          <a:p>
            <a:r>
              <a:rPr lang="fr-FR" sz="2400" dirty="0"/>
              <a:t>1/ propose </a:t>
            </a:r>
            <a:r>
              <a:rPr lang="fr-FR" sz="2400" dirty="0" err="1"/>
              <a:t>your</a:t>
            </a:r>
            <a:r>
              <a:rPr lang="fr-FR" sz="2400" dirty="0"/>
              <a:t> RAW transaction, </a:t>
            </a:r>
            <a:r>
              <a:rPr lang="fr-FR" sz="2400" dirty="0" err="1"/>
              <a:t>sign</a:t>
            </a:r>
            <a:r>
              <a:rPr lang="fr-FR" sz="2400" dirty="0"/>
              <a:t> </a:t>
            </a:r>
            <a:r>
              <a:rPr lang="fr-FR" sz="2400" dirty="0" err="1"/>
              <a:t>it</a:t>
            </a:r>
            <a:r>
              <a:rPr lang="fr-FR" sz="2400" dirty="0"/>
              <a:t> </a:t>
            </a:r>
            <a:r>
              <a:rPr lang="fr-FR" sz="2400" dirty="0" err="1"/>
              <a:t>with</a:t>
            </a:r>
            <a:r>
              <a:rPr lang="fr-FR" sz="2400" dirty="0"/>
              <a:t> </a:t>
            </a:r>
            <a:r>
              <a:rPr lang="fr-FR" sz="2400" dirty="0" err="1"/>
              <a:t>your</a:t>
            </a:r>
            <a:r>
              <a:rPr lang="fr-FR" sz="2400" dirty="0"/>
              <a:t> </a:t>
            </a:r>
            <a:r>
              <a:rPr lang="fr-FR" sz="2400" dirty="0" err="1"/>
              <a:t>Private</a:t>
            </a:r>
            <a:r>
              <a:rPr lang="fr-FR" sz="2400" dirty="0"/>
              <a:t> Key</a:t>
            </a:r>
          </a:p>
          <a:p>
            <a:r>
              <a:rPr lang="fr-FR" sz="2400" dirty="0"/>
              <a:t>     (</a:t>
            </a:r>
            <a:r>
              <a:rPr lang="fr-FR" sz="2400" dirty="0" err="1"/>
              <a:t>connect</a:t>
            </a:r>
            <a:r>
              <a:rPr lang="fr-FR" sz="2400" dirty="0"/>
              <a:t> to network, </a:t>
            </a:r>
            <a:r>
              <a:rPr lang="fr-FR" sz="2400" dirty="0" err="1"/>
              <a:t>add</a:t>
            </a:r>
            <a:r>
              <a:rPr lang="fr-FR" sz="2400" dirty="0"/>
              <a:t> in Pool of Transactions)</a:t>
            </a:r>
          </a:p>
          <a:p>
            <a:endParaRPr lang="fr-FR" sz="2400" dirty="0"/>
          </a:p>
          <a:p>
            <a:r>
              <a:rPr lang="fr-FR" sz="2400" dirty="0"/>
              <a:t>2/ </a:t>
            </a:r>
            <a:r>
              <a:rPr lang="fr-FR" sz="2400" dirty="0" err="1"/>
              <a:t>your</a:t>
            </a:r>
            <a:r>
              <a:rPr lang="fr-FR" sz="2400" dirty="0"/>
              <a:t> transaction </a:t>
            </a:r>
            <a:r>
              <a:rPr lang="fr-FR" sz="2400" dirty="0" err="1"/>
              <a:t>should</a:t>
            </a:r>
            <a:r>
              <a:rPr lang="fr-FR" sz="2400" dirty="0"/>
              <a:t> </a:t>
            </a:r>
            <a:r>
              <a:rPr lang="fr-FR" sz="2400" dirty="0" err="1"/>
              <a:t>include</a:t>
            </a:r>
            <a:r>
              <a:rPr lang="fr-FR" sz="2400" dirty="0"/>
              <a:t> a </a:t>
            </a:r>
            <a:r>
              <a:rPr lang="fr-FR" sz="2400" dirty="0" err="1"/>
              <a:t>Fee</a:t>
            </a:r>
            <a:r>
              <a:rPr lang="fr-FR" sz="2400" dirty="0"/>
              <a:t> </a:t>
            </a:r>
            <a:r>
              <a:rPr lang="fr-FR" sz="2400" dirty="0" err="1"/>
              <a:t>reward</a:t>
            </a:r>
            <a:r>
              <a:rPr lang="fr-FR" sz="2400" dirty="0"/>
              <a:t> to </a:t>
            </a:r>
            <a:r>
              <a:rPr lang="fr-FR" sz="2400" dirty="0" err="1"/>
              <a:t>Miners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3/ </a:t>
            </a:r>
            <a:r>
              <a:rPr lang="fr-FR" sz="2400" dirty="0" err="1"/>
              <a:t>wait</a:t>
            </a:r>
            <a:r>
              <a:rPr lang="fr-FR" sz="2400" dirty="0"/>
              <a:t> for </a:t>
            </a:r>
            <a:r>
              <a:rPr lang="fr-FR" sz="2400" dirty="0" err="1"/>
              <a:t>miners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4/ &amp; </a:t>
            </a:r>
            <a:r>
              <a:rPr lang="fr-FR" sz="2400" dirty="0" err="1"/>
              <a:t>wait</a:t>
            </a:r>
            <a:r>
              <a:rPr lang="fr-FR" sz="2400" dirty="0"/>
              <a:t> MORE .... </a:t>
            </a:r>
            <a:r>
              <a:rPr lang="fr-FR" sz="2400" dirty="0" err="1"/>
              <a:t>you</a:t>
            </a:r>
            <a:r>
              <a:rPr lang="fr-FR" sz="2400" dirty="0"/>
              <a:t> must </a:t>
            </a:r>
            <a:r>
              <a:rPr lang="fr-FR" sz="2400" dirty="0" err="1"/>
              <a:t>wait</a:t>
            </a:r>
            <a:r>
              <a:rPr lang="fr-FR" sz="2400" dirty="0"/>
              <a:t> &gt;= 2-3 blocks </a:t>
            </a:r>
            <a:r>
              <a:rPr lang="fr-FR" sz="2400" dirty="0" err="1"/>
              <a:t>chain</a:t>
            </a:r>
            <a:endParaRPr lang="fr-FR" sz="2400" dirty="0"/>
          </a:p>
          <a:p>
            <a:r>
              <a:rPr lang="fr-FR" sz="2400" dirty="0"/>
              <a:t>     ( </a:t>
            </a:r>
            <a:r>
              <a:rPr lang="fr-FR" sz="2400" dirty="0" err="1"/>
              <a:t>because</a:t>
            </a:r>
            <a:r>
              <a:rPr lang="fr-FR" sz="2400" dirty="0"/>
              <a:t> 1 block </a:t>
            </a:r>
            <a:r>
              <a:rPr lang="fr-FR" sz="2400" dirty="0" err="1"/>
              <a:t>is</a:t>
            </a:r>
            <a:r>
              <a:rPr lang="fr-FR" sz="2400" dirty="0"/>
              <a:t> NOT </a:t>
            </a:r>
            <a:r>
              <a:rPr lang="fr-FR" sz="2400" dirty="0" err="1"/>
              <a:t>enough</a:t>
            </a:r>
            <a:r>
              <a:rPr lang="fr-FR" sz="2400" dirty="0"/>
              <a:t> for "commit" </a:t>
            </a:r>
            <a:r>
              <a:rPr lang="fr-FR" sz="2400" dirty="0" err="1"/>
              <a:t>garantee</a:t>
            </a:r>
            <a:r>
              <a:rPr lang="fr-FR" sz="2400" dirty="0"/>
              <a:t> !  )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40083519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5D38-6C76-B487-60C2-40D702CB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CONS  of  Proof Of 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97CC23-19B4-B406-6F00-B04F4080DA26}"/>
              </a:ext>
            </a:extLst>
          </p:cNvPr>
          <p:cNvSpPr txBox="1"/>
          <p:nvPr/>
        </p:nvSpPr>
        <p:spPr>
          <a:xfrm>
            <a:off x="4233951" y="1568554"/>
            <a:ext cx="630788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SLOW</a:t>
            </a:r>
          </a:p>
          <a:p>
            <a:endParaRPr lang="fr-FR" sz="3200" dirty="0"/>
          </a:p>
          <a:p>
            <a:r>
              <a:rPr lang="fr-FR" sz="3200" dirty="0" err="1"/>
              <a:t>Eventually</a:t>
            </a:r>
            <a:r>
              <a:rPr lang="fr-FR" sz="3200" dirty="0"/>
              <a:t> Consistent </a:t>
            </a:r>
            <a:r>
              <a:rPr lang="fr-FR" sz="3200" dirty="0" err="1"/>
              <a:t>after</a:t>
            </a:r>
            <a:r>
              <a:rPr lang="fr-FR" sz="3200" dirty="0"/>
              <a:t> long time</a:t>
            </a:r>
          </a:p>
          <a:p>
            <a:endParaRPr lang="fr-FR" sz="3200" dirty="0"/>
          </a:p>
          <a:p>
            <a:r>
              <a:rPr lang="fr-FR" sz="3200" dirty="0"/>
              <a:t>Energy </a:t>
            </a:r>
            <a:r>
              <a:rPr lang="fr-FR" sz="3200" dirty="0" err="1"/>
              <a:t>inneficient</a:t>
            </a:r>
            <a:endParaRPr lang="fr-FR" sz="3200" dirty="0"/>
          </a:p>
          <a:p>
            <a:endParaRPr lang="fr-FR" sz="3200" dirty="0"/>
          </a:p>
          <a:p>
            <a:r>
              <a:rPr lang="fr-FR" sz="3200" dirty="0"/>
              <a:t>High </a:t>
            </a:r>
            <a:r>
              <a:rPr lang="fr-FR" sz="3200" dirty="0" err="1"/>
              <a:t>Cost</a:t>
            </a:r>
            <a:r>
              <a:rPr lang="fr-FR" sz="3200" dirty="0"/>
              <a:t> of Transactions</a:t>
            </a:r>
          </a:p>
          <a:p>
            <a:endParaRPr lang="fr-FR" sz="3200" dirty="0"/>
          </a:p>
          <a:p>
            <a:r>
              <a:rPr lang="fr-FR" sz="3200" dirty="0"/>
              <a:t>Risk of 51% Attack</a:t>
            </a:r>
          </a:p>
        </p:txBody>
      </p:sp>
    </p:spTree>
    <p:extLst>
      <p:ext uri="{BB962C8B-B14F-4D97-AF65-F5344CB8AC3E}">
        <p14:creationId xmlns:p14="http://schemas.microsoft.com/office/powerpoint/2010/main" val="25809817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5D38-6C76-B487-60C2-40D702CB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BlockChain</a:t>
            </a:r>
            <a:r>
              <a:rPr lang="fr-FR" dirty="0"/>
              <a:t> </a:t>
            </a:r>
            <a:r>
              <a:rPr lang="fr-FR" dirty="0" err="1"/>
              <a:t>weaks</a:t>
            </a:r>
            <a:r>
              <a:rPr lang="fr-FR" dirty="0"/>
              <a:t> [1/4] :  </a:t>
            </a:r>
            <a:r>
              <a:rPr lang="fr-FR" b="1" dirty="0" err="1"/>
              <a:t>Slowness</a:t>
            </a:r>
            <a:endParaRPr lang="fr-FR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528D9A-8A0A-F462-9701-A601308CC816}"/>
              </a:ext>
            </a:extLst>
          </p:cNvPr>
          <p:cNvSpPr txBox="1"/>
          <p:nvPr/>
        </p:nvSpPr>
        <p:spPr>
          <a:xfrm>
            <a:off x="1170190" y="1931843"/>
            <a:ext cx="10353155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Proof Of Work  (ex: </a:t>
            </a:r>
            <a:r>
              <a:rPr lang="fr-FR" sz="3200" dirty="0" err="1"/>
              <a:t>BitCoin</a:t>
            </a:r>
            <a:r>
              <a:rPr lang="fr-FR" sz="3200" dirty="0"/>
              <a:t>)</a:t>
            </a:r>
          </a:p>
          <a:p>
            <a:endParaRPr lang="fr-FR" sz="3200" dirty="0"/>
          </a:p>
          <a:p>
            <a:r>
              <a:rPr lang="fr-FR" sz="3200" dirty="0"/>
              <a:t>can NOT </a:t>
            </a:r>
            <a:r>
              <a:rPr lang="fr-FR" sz="3200" dirty="0" err="1"/>
              <a:t>handle</a:t>
            </a:r>
            <a:r>
              <a:rPr lang="fr-FR" sz="3200" dirty="0"/>
              <a:t> </a:t>
            </a:r>
          </a:p>
          <a:p>
            <a:r>
              <a:rPr lang="fr-FR" sz="3200" dirty="0"/>
              <a:t>High Volumes of Transactions</a:t>
            </a:r>
          </a:p>
          <a:p>
            <a:r>
              <a:rPr lang="fr-FR" sz="3200" dirty="0"/>
              <a:t>High Frequency </a:t>
            </a:r>
            <a:r>
              <a:rPr lang="fr-FR" sz="3200" dirty="0" err="1"/>
              <a:t>Order</a:t>
            </a:r>
            <a:r>
              <a:rPr lang="fr-FR" sz="3200" dirty="0"/>
              <a:t> (like in modern Banks / Trading Places)</a:t>
            </a:r>
          </a:p>
          <a:p>
            <a:endParaRPr lang="fr-FR" sz="3200" dirty="0"/>
          </a:p>
          <a:p>
            <a:r>
              <a:rPr lang="fr-FR" sz="3200" dirty="0"/>
              <a:t>So NOT </a:t>
            </a:r>
            <a:r>
              <a:rPr lang="fr-FR" sz="3200" dirty="0" err="1"/>
              <a:t>suitable</a:t>
            </a:r>
            <a:r>
              <a:rPr lang="fr-FR" sz="3200" dirty="0"/>
              <a:t> for Modern e-Trading Economy</a:t>
            </a:r>
          </a:p>
        </p:txBody>
      </p:sp>
    </p:spTree>
    <p:extLst>
      <p:ext uri="{BB962C8B-B14F-4D97-AF65-F5344CB8AC3E}">
        <p14:creationId xmlns:p14="http://schemas.microsoft.com/office/powerpoint/2010/main" val="1521313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2679B-0410-0B5E-E84B-569F5A51F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SLOW ...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18363E-9153-39F4-3C07-657A4B9223B8}"/>
              </a:ext>
            </a:extLst>
          </p:cNvPr>
          <p:cNvSpPr txBox="1"/>
          <p:nvPr/>
        </p:nvSpPr>
        <p:spPr>
          <a:xfrm>
            <a:off x="2349730" y="2693323"/>
            <a:ext cx="923054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difficulty</a:t>
            </a:r>
            <a:r>
              <a:rPr lang="fr-FR" sz="2800" dirty="0"/>
              <a:t> </a:t>
            </a:r>
            <a:r>
              <a:rPr lang="fr-FR" sz="2800" dirty="0" err="1"/>
              <a:t>level</a:t>
            </a:r>
            <a:r>
              <a:rPr lang="fr-FR" sz="2800" dirty="0"/>
              <a:t> </a:t>
            </a:r>
            <a:r>
              <a:rPr lang="fr-FR" sz="2800" dirty="0" err="1"/>
              <a:t>adjusted</a:t>
            </a:r>
            <a:r>
              <a:rPr lang="fr-FR" sz="2800" dirty="0"/>
              <a:t> (~2weeks) </a:t>
            </a:r>
            <a:r>
              <a:rPr lang="fr-FR" sz="2800" dirty="0" err="1"/>
              <a:t>so</a:t>
            </a:r>
            <a:r>
              <a:rPr lang="fr-FR" sz="2800" dirty="0"/>
              <a:t> </a:t>
            </a:r>
            <a:r>
              <a:rPr lang="fr-FR" sz="2800" dirty="0" err="1"/>
              <a:t>that</a:t>
            </a:r>
            <a:r>
              <a:rPr lang="fr-FR" sz="2800" dirty="0"/>
              <a:t> 1 block ~10 minutes</a:t>
            </a:r>
          </a:p>
          <a:p>
            <a:endParaRPr lang="fr-FR" sz="2800" dirty="0"/>
          </a:p>
          <a:p>
            <a:r>
              <a:rPr lang="fr-FR" sz="2800" dirty="0"/>
              <a:t>must </a:t>
            </a:r>
            <a:r>
              <a:rPr lang="fr-FR" sz="2800" dirty="0" err="1"/>
              <a:t>wait</a:t>
            </a:r>
            <a:r>
              <a:rPr lang="fr-FR" sz="2800" dirty="0"/>
              <a:t> </a:t>
            </a:r>
            <a:r>
              <a:rPr lang="fr-FR" sz="2800" dirty="0" err="1"/>
              <a:t>several</a:t>
            </a:r>
            <a:r>
              <a:rPr lang="fr-FR" sz="2800" dirty="0"/>
              <a:t> blocks (</a:t>
            </a:r>
            <a:r>
              <a:rPr lang="fr-FR" sz="2800" dirty="0" err="1"/>
              <a:t>longest</a:t>
            </a:r>
            <a:r>
              <a:rPr lang="fr-FR" sz="2800" dirty="0"/>
              <a:t> </a:t>
            </a:r>
            <a:r>
              <a:rPr lang="fr-FR" sz="2800" dirty="0" err="1"/>
              <a:t>chain</a:t>
            </a:r>
            <a:r>
              <a:rPr lang="fr-FR" sz="2800" dirty="0"/>
              <a:t>)</a:t>
            </a:r>
          </a:p>
          <a:p>
            <a:endParaRPr lang="fr-FR" sz="2800" dirty="0"/>
          </a:p>
          <a:p>
            <a:r>
              <a:rPr lang="fr-FR" sz="2800" dirty="0"/>
              <a:t>1 block (=1MB) </a:t>
            </a:r>
            <a:r>
              <a:rPr lang="fr-FR" sz="2800" dirty="0" err="1"/>
              <a:t>contains</a:t>
            </a:r>
            <a:r>
              <a:rPr lang="fr-FR" sz="2800" dirty="0"/>
              <a:t> few transactions</a:t>
            </a:r>
          </a:p>
        </p:txBody>
      </p:sp>
    </p:spTree>
    <p:extLst>
      <p:ext uri="{BB962C8B-B14F-4D97-AF65-F5344CB8AC3E}">
        <p14:creationId xmlns:p14="http://schemas.microsoft.com/office/powerpoint/2010/main" val="2649337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5D38-6C76-B487-60C2-40D702CB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BitCoin</a:t>
            </a:r>
            <a:r>
              <a:rPr lang="fr-FR" dirty="0"/>
              <a:t>  transaction rate as of 2024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EB4B95-989A-3238-A7D7-A2E21479B903}"/>
              </a:ext>
            </a:extLst>
          </p:cNvPr>
          <p:cNvSpPr txBox="1"/>
          <p:nvPr/>
        </p:nvSpPr>
        <p:spPr>
          <a:xfrm>
            <a:off x="3319548" y="2433784"/>
            <a:ext cx="62788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/>
              <a:t>between</a:t>
            </a:r>
            <a:r>
              <a:rPr lang="fr-FR" sz="2800" dirty="0"/>
              <a:t>  3 to 7 transactions per second (world-</a:t>
            </a:r>
            <a:r>
              <a:rPr lang="fr-FR" sz="2800" dirty="0" err="1"/>
              <a:t>wide</a:t>
            </a:r>
            <a:r>
              <a:rPr lang="fr-FR" sz="2800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CF6851-8546-0C13-E3C0-6E96E3B463AA}"/>
              </a:ext>
            </a:extLst>
          </p:cNvPr>
          <p:cNvSpPr txBox="1"/>
          <p:nvPr/>
        </p:nvSpPr>
        <p:spPr>
          <a:xfrm>
            <a:off x="3319548" y="3947162"/>
            <a:ext cx="77807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err="1"/>
              <a:t>example</a:t>
            </a:r>
            <a:r>
              <a:rPr lang="fr-FR" sz="2800" dirty="0"/>
              <a:t> </a:t>
            </a:r>
            <a:r>
              <a:rPr lang="fr-FR" sz="2800" dirty="0" err="1"/>
              <a:t>comparison</a:t>
            </a:r>
            <a:r>
              <a:rPr lang="fr-FR" sz="2800" dirty="0"/>
              <a:t> modern e-trading Bank</a:t>
            </a:r>
          </a:p>
          <a:p>
            <a:r>
              <a:rPr lang="fr-FR" sz="2800" dirty="0"/>
              <a:t>&gt; 1000 per seconds, per place</a:t>
            </a:r>
          </a:p>
        </p:txBody>
      </p:sp>
    </p:spTree>
    <p:extLst>
      <p:ext uri="{BB962C8B-B14F-4D97-AF65-F5344CB8AC3E}">
        <p14:creationId xmlns:p14="http://schemas.microsoft.com/office/powerpoint/2010/main" val="513005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5D38-6C76-B487-60C2-40D702CB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BlockChain</a:t>
            </a:r>
            <a:r>
              <a:rPr lang="fr-FR" dirty="0"/>
              <a:t> </a:t>
            </a:r>
            <a:r>
              <a:rPr lang="fr-FR" dirty="0" err="1"/>
              <a:t>weaks</a:t>
            </a:r>
            <a:r>
              <a:rPr lang="fr-FR" dirty="0"/>
              <a:t> [2/4] : </a:t>
            </a:r>
            <a:r>
              <a:rPr lang="fr-FR" b="1" dirty="0"/>
              <a:t>Energy </a:t>
            </a:r>
            <a:r>
              <a:rPr lang="fr-FR" b="1" dirty="0" err="1"/>
              <a:t>Inneficient</a:t>
            </a:r>
            <a:endParaRPr lang="fr-FR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644496-F28D-96E1-3F01-593211A1CE91}"/>
              </a:ext>
            </a:extLst>
          </p:cNvPr>
          <p:cNvSpPr txBox="1"/>
          <p:nvPr/>
        </p:nvSpPr>
        <p:spPr>
          <a:xfrm>
            <a:off x="1230284" y="2632363"/>
            <a:ext cx="10332509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as of 2024, </a:t>
            </a:r>
            <a:r>
              <a:rPr lang="fr-FR" sz="3200" dirty="0" err="1"/>
              <a:t>BitCoin</a:t>
            </a:r>
            <a:r>
              <a:rPr lang="fr-FR" sz="3200" dirty="0"/>
              <a:t> consumes ~0.4% of world-</a:t>
            </a:r>
            <a:r>
              <a:rPr lang="fr-FR" sz="3200" dirty="0" err="1"/>
              <a:t>wide</a:t>
            </a:r>
            <a:r>
              <a:rPr lang="fr-FR" sz="3200" dirty="0"/>
              <a:t> </a:t>
            </a:r>
            <a:r>
              <a:rPr lang="fr-FR" sz="3200" dirty="0" err="1"/>
              <a:t>electricity</a:t>
            </a:r>
            <a:endParaRPr lang="fr-FR" sz="3200" dirty="0"/>
          </a:p>
          <a:p>
            <a:r>
              <a:rPr lang="fr-FR" sz="3200" dirty="0"/>
              <a:t>(~120 </a:t>
            </a:r>
            <a:r>
              <a:rPr lang="fr-FR" sz="3200" dirty="0" err="1"/>
              <a:t>Tera</a:t>
            </a:r>
            <a:r>
              <a:rPr lang="fr-FR" sz="3200" dirty="0"/>
              <a:t> Watt </a:t>
            </a:r>
            <a:r>
              <a:rPr lang="fr-FR" sz="3200" dirty="0" err="1"/>
              <a:t>Hour</a:t>
            </a:r>
            <a:r>
              <a:rPr lang="fr-FR" sz="3200" dirty="0"/>
              <a:t>)</a:t>
            </a:r>
          </a:p>
          <a:p>
            <a:endParaRPr lang="fr-FR" sz="3200" dirty="0"/>
          </a:p>
          <a:p>
            <a:r>
              <a:rPr lang="fr-FR" sz="3200" dirty="0" err="1"/>
              <a:t>similar</a:t>
            </a:r>
            <a:r>
              <a:rPr lang="fr-FR" sz="3200" dirty="0"/>
              <a:t> to a country like </a:t>
            </a:r>
            <a:r>
              <a:rPr lang="fr-FR" sz="3200" dirty="0" err="1"/>
              <a:t>Greece</a:t>
            </a:r>
            <a:r>
              <a:rPr lang="fr-FR" sz="32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F061B7-9EAC-EEC9-1A84-4A698A114A69}"/>
              </a:ext>
            </a:extLst>
          </p:cNvPr>
          <p:cNvSpPr txBox="1"/>
          <p:nvPr/>
        </p:nvSpPr>
        <p:spPr>
          <a:xfrm>
            <a:off x="321425" y="6445135"/>
            <a:ext cx="5577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https://www.eia.gov/todayinenergy/detail.php?id=61364</a:t>
            </a:r>
          </a:p>
        </p:txBody>
      </p:sp>
    </p:spTree>
    <p:extLst>
      <p:ext uri="{BB962C8B-B14F-4D97-AF65-F5344CB8AC3E}">
        <p14:creationId xmlns:p14="http://schemas.microsoft.com/office/powerpoint/2010/main" val="16980770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5D38-6C76-B487-60C2-40D702CB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229" y="487681"/>
            <a:ext cx="10515600" cy="1873134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Mining </a:t>
            </a:r>
            <a:r>
              <a:rPr lang="fr-FR" dirty="0" err="1"/>
              <a:t>is</a:t>
            </a:r>
            <a:r>
              <a:rPr lang="fr-FR" dirty="0"/>
              <a:t> CPU (Energy </a:t>
            </a:r>
            <a:r>
              <a:rPr lang="fr-FR" dirty="0" err="1"/>
              <a:t>Consuming</a:t>
            </a:r>
            <a:r>
              <a:rPr lang="fr-FR" dirty="0"/>
              <a:t>)</a:t>
            </a:r>
            <a:br>
              <a:rPr lang="fr-FR" dirty="0"/>
            </a:br>
            <a:br>
              <a:rPr lang="fr-FR" dirty="0"/>
            </a:br>
            <a:r>
              <a:rPr lang="fr-FR" dirty="0"/>
              <a:t> </a:t>
            </a:r>
            <a:r>
              <a:rPr lang="fr-FR" dirty="0" err="1"/>
              <a:t>Absurd</a:t>
            </a:r>
            <a:r>
              <a:rPr lang="fr-FR" dirty="0"/>
              <a:t> in a </a:t>
            </a:r>
            <a:r>
              <a:rPr lang="fr-FR" dirty="0" err="1"/>
              <a:t>Climate</a:t>
            </a:r>
            <a:r>
              <a:rPr lang="fr-FR" dirty="0"/>
              <a:t> </a:t>
            </a:r>
            <a:r>
              <a:rPr lang="fr-FR" dirty="0" err="1"/>
              <a:t>Changing</a:t>
            </a:r>
            <a:r>
              <a:rPr lang="fr-FR" dirty="0"/>
              <a:t> World</a:t>
            </a:r>
          </a:p>
        </p:txBody>
      </p:sp>
      <p:pic>
        <p:nvPicPr>
          <p:cNvPr id="3074" name="Picture 2" descr="What Is Climate Change? | Facts – Climate Change: Vital Signs of the Planet">
            <a:extLst>
              <a:ext uri="{FF2B5EF4-FFF2-40B4-BE49-F238E27FC236}">
                <a16:creationId xmlns:a16="http://schemas.microsoft.com/office/drawing/2014/main" id="{7581AD8E-3C83-ACD6-4AE5-F11452922A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0509" y="2720495"/>
            <a:ext cx="6035040" cy="3375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8CD2BF8-BA14-B123-A7FE-7EFF34D6B190}"/>
              </a:ext>
            </a:extLst>
          </p:cNvPr>
          <p:cNvSpPr txBox="1"/>
          <p:nvPr/>
        </p:nvSpPr>
        <p:spPr>
          <a:xfrm>
            <a:off x="360218" y="6317673"/>
            <a:ext cx="4083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https://science.nasa.gov/climate-change/</a:t>
            </a:r>
          </a:p>
        </p:txBody>
      </p:sp>
    </p:spTree>
    <p:extLst>
      <p:ext uri="{BB962C8B-B14F-4D97-AF65-F5344CB8AC3E}">
        <p14:creationId xmlns:p14="http://schemas.microsoft.com/office/powerpoint/2010/main" val="14205606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5D38-6C76-B487-60C2-40D702CB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9876" y="0"/>
            <a:ext cx="12241876" cy="243840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BlockChain</a:t>
            </a:r>
            <a:r>
              <a:rPr lang="fr-FR" dirty="0"/>
              <a:t> </a:t>
            </a:r>
            <a:r>
              <a:rPr lang="fr-FR" dirty="0" err="1"/>
              <a:t>weaks</a:t>
            </a:r>
            <a:r>
              <a:rPr lang="fr-FR" dirty="0"/>
              <a:t> [3/4] :</a:t>
            </a:r>
            <a:br>
              <a:rPr lang="fr-FR" dirty="0"/>
            </a:br>
            <a:r>
              <a:rPr lang="fr-FR" dirty="0"/>
              <a:t>high transaction </a:t>
            </a:r>
            <a:r>
              <a:rPr lang="fr-FR" dirty="0" err="1"/>
              <a:t>costs</a:t>
            </a:r>
            <a:br>
              <a:rPr lang="fr-FR" dirty="0"/>
            </a:br>
            <a:r>
              <a:rPr lang="fr-FR" dirty="0"/>
              <a:t>( cause: slow + </a:t>
            </a:r>
            <a:r>
              <a:rPr lang="fr-FR" dirty="0" err="1"/>
              <a:t>small</a:t>
            </a:r>
            <a:r>
              <a:rPr lang="fr-FR" dirty="0"/>
              <a:t> block + high </a:t>
            </a:r>
            <a:r>
              <a:rPr lang="fr-FR" dirty="0" err="1"/>
              <a:t>energy</a:t>
            </a:r>
            <a:r>
              <a:rPr lang="fr-FR" dirty="0"/>
              <a:t> + </a:t>
            </a:r>
            <a:r>
              <a:rPr lang="fr-FR" dirty="0" err="1"/>
              <a:t>fees</a:t>
            </a:r>
            <a:r>
              <a:rPr lang="fr-FR" dirty="0"/>
              <a:t> )</a:t>
            </a:r>
            <a:br>
              <a:rPr lang="fr-FR" dirty="0"/>
            </a:b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B09BD9-E27B-8B65-D7DE-DD430AFF6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839" y="2062742"/>
            <a:ext cx="6020322" cy="457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0053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8EB30-74C8-D726-F3A5-1B8E1E0CE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252452"/>
          </a:xfrm>
        </p:spPr>
        <p:txBody>
          <a:bodyPr/>
          <a:lstStyle/>
          <a:p>
            <a:pPr algn="ctr"/>
            <a:r>
              <a:rPr lang="fr-FR" dirty="0" err="1"/>
              <a:t>BlockChain</a:t>
            </a:r>
            <a:r>
              <a:rPr lang="fr-FR" dirty="0"/>
              <a:t> </a:t>
            </a:r>
            <a:r>
              <a:rPr lang="fr-FR" dirty="0" err="1"/>
              <a:t>weaks</a:t>
            </a:r>
            <a:r>
              <a:rPr lang="fr-FR" dirty="0"/>
              <a:t> [4/4] : 51% Attack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0B7E12-3E37-C50A-6EC7-F99127B8C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593" y="1436903"/>
            <a:ext cx="8035201" cy="527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2474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9F63A-5F5A-A3E4-C5B4-FD25510DB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877"/>
            <a:ext cx="10515600" cy="1036320"/>
          </a:xfrm>
        </p:spPr>
        <p:txBody>
          <a:bodyPr/>
          <a:lstStyle/>
          <a:p>
            <a:pPr algn="ctr"/>
            <a:r>
              <a:rPr lang="fr-FR" dirty="0" err="1"/>
              <a:t>Dedicated</a:t>
            </a:r>
            <a:r>
              <a:rPr lang="fr-FR" dirty="0"/>
              <a:t> Hardware</a:t>
            </a:r>
          </a:p>
        </p:txBody>
      </p:sp>
      <p:pic>
        <p:nvPicPr>
          <p:cNvPr id="10244" name="Picture 4" descr="undefined">
            <a:extLst>
              <a:ext uri="{FF2B5EF4-FFF2-40B4-BE49-F238E27FC236}">
                <a16:creationId xmlns:a16="http://schemas.microsoft.com/office/drawing/2014/main" id="{E254B28B-1B0C-5D26-ADD3-E14DBEA2A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4995" y="1212272"/>
            <a:ext cx="6810895" cy="5108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27054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2F919-36D6-189A-5CFF-779C16E3B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241368"/>
          </a:xfrm>
        </p:spPr>
        <p:txBody>
          <a:bodyPr/>
          <a:lstStyle/>
          <a:p>
            <a:pPr algn="ctr"/>
            <a:r>
              <a:rPr lang="fr-FR" dirty="0"/>
              <a:t>Can (</a:t>
            </a:r>
            <a:r>
              <a:rPr lang="fr-FR" dirty="0" err="1"/>
              <a:t>Did</a:t>
            </a:r>
            <a:r>
              <a:rPr lang="fr-FR" dirty="0"/>
              <a:t>) It </a:t>
            </a:r>
            <a:r>
              <a:rPr lang="fr-FR" dirty="0" err="1"/>
              <a:t>Occur</a:t>
            </a:r>
            <a:r>
              <a:rPr lang="fr-FR" dirty="0"/>
              <a:t> 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191E4-D388-AF1C-01BB-57CC5C5D7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64" y="2172391"/>
            <a:ext cx="11725683" cy="30424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EE53E4-3BD9-AFFD-9F33-1AE921CE9B3F}"/>
              </a:ext>
            </a:extLst>
          </p:cNvPr>
          <p:cNvSpPr txBox="1"/>
          <p:nvPr/>
        </p:nvSpPr>
        <p:spPr>
          <a:xfrm>
            <a:off x="193964" y="133933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https://en.wikipedia.org/wiki/Bitcoin</a:t>
            </a:r>
          </a:p>
        </p:txBody>
      </p:sp>
    </p:spTree>
    <p:extLst>
      <p:ext uri="{BB962C8B-B14F-4D97-AF65-F5344CB8AC3E}">
        <p14:creationId xmlns:p14="http://schemas.microsoft.com/office/powerpoint/2010/main" val="8101807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2F919-36D6-189A-5CFF-779C16E3B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241368"/>
          </a:xfrm>
        </p:spPr>
        <p:txBody>
          <a:bodyPr/>
          <a:lstStyle/>
          <a:p>
            <a:pPr algn="ctr"/>
            <a:r>
              <a:rPr lang="fr-FR" dirty="0"/>
              <a:t>Mining Pool 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CDD358-180E-7B19-1FE8-3BD5BD662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645" y="1607892"/>
            <a:ext cx="5057086" cy="354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2775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88371-98B9-BC3F-6D76-3F2DD4DBD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418"/>
            <a:ext cx="10515600" cy="1318954"/>
          </a:xfrm>
        </p:spPr>
        <p:txBody>
          <a:bodyPr/>
          <a:lstStyle/>
          <a:p>
            <a:pPr algn="ctr"/>
            <a:r>
              <a:rPr lang="fr-FR" dirty="0"/>
              <a:t>Public -&gt; </a:t>
            </a:r>
            <a:r>
              <a:rPr lang="fr-FR" dirty="0" err="1"/>
              <a:t>Private</a:t>
            </a:r>
            <a:r>
              <a:rPr lang="fr-FR" dirty="0"/>
              <a:t> (</a:t>
            </a:r>
            <a:r>
              <a:rPr lang="fr-FR" dirty="0" err="1"/>
              <a:t>Permissioned</a:t>
            </a:r>
            <a:r>
              <a:rPr lang="fr-FR" dirty="0"/>
              <a:t>) Block </a:t>
            </a:r>
            <a:r>
              <a:rPr lang="fr-FR" dirty="0" err="1"/>
              <a:t>Chains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FD34B9-BC7D-4748-7B63-518265AD0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492" y="1645765"/>
            <a:ext cx="5056308" cy="35664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44FD82-3B59-C88E-45DE-22914E1BA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17" y="1757139"/>
            <a:ext cx="5265876" cy="31663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79AEEFF-26FD-6E52-D5A4-6577228040BE}"/>
              </a:ext>
            </a:extLst>
          </p:cNvPr>
          <p:cNvSpPr txBox="1"/>
          <p:nvPr/>
        </p:nvSpPr>
        <p:spPr>
          <a:xfrm>
            <a:off x="49877" y="6488668"/>
            <a:ext cx="11743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credits</a:t>
            </a:r>
            <a:r>
              <a:rPr lang="fr-FR" dirty="0"/>
              <a:t>: https://blockchainlion.com/public-vs-private-blockchain-and-consortium/</a:t>
            </a:r>
          </a:p>
        </p:txBody>
      </p:sp>
    </p:spTree>
    <p:extLst>
      <p:ext uri="{BB962C8B-B14F-4D97-AF65-F5344CB8AC3E}">
        <p14:creationId xmlns:p14="http://schemas.microsoft.com/office/powerpoint/2010/main" val="13860488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0E834-A186-9DDD-7684-5B8D4FE25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Hybrid</a:t>
            </a:r>
            <a:r>
              <a:rPr lang="fr-FR" dirty="0"/>
              <a:t> </a:t>
            </a:r>
            <a:r>
              <a:rPr lang="fr-FR" dirty="0" err="1"/>
              <a:t>BlockChain</a:t>
            </a:r>
            <a:endParaRPr lang="fr-FR" dirty="0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F1313BA3-31A5-A10A-0C83-63496E490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022" y="1690688"/>
            <a:ext cx="7274415" cy="4956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3664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0E834-A186-9DDD-7684-5B8D4FE25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793"/>
            <a:ext cx="10515600" cy="1086197"/>
          </a:xfrm>
        </p:spPr>
        <p:txBody>
          <a:bodyPr/>
          <a:lstStyle/>
          <a:p>
            <a:pPr algn="ctr"/>
            <a:r>
              <a:rPr lang="fr-FR" dirty="0"/>
              <a:t>Consortium (</a:t>
            </a:r>
            <a:r>
              <a:rPr lang="fr-FR" dirty="0" err="1"/>
              <a:t>Federation</a:t>
            </a:r>
            <a:r>
              <a:rPr lang="fr-FR" dirty="0"/>
              <a:t>) </a:t>
            </a:r>
            <a:r>
              <a:rPr lang="fr-FR" dirty="0" err="1"/>
              <a:t>BlockChain</a:t>
            </a:r>
            <a:endParaRPr lang="fr-FR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86F1847B-13D9-14D6-766D-6F9A3E1BE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5184" y="959904"/>
            <a:ext cx="5201631" cy="5177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8D202A-9F3E-3F67-C87E-8B15D5D88109}"/>
              </a:ext>
            </a:extLst>
          </p:cNvPr>
          <p:cNvSpPr txBox="1"/>
          <p:nvPr/>
        </p:nvSpPr>
        <p:spPr>
          <a:xfrm>
            <a:off x="0" y="6449875"/>
            <a:ext cx="96981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https://medium.com/techskill-brew/types-of-blockchain-part-4-blockchain-basics-c0b2e40c1780</a:t>
            </a:r>
          </a:p>
        </p:txBody>
      </p:sp>
    </p:spTree>
    <p:extLst>
      <p:ext uri="{BB962C8B-B14F-4D97-AF65-F5344CB8AC3E}">
        <p14:creationId xmlns:p14="http://schemas.microsoft.com/office/powerpoint/2010/main" val="42509800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5D38-6C76-B487-60C2-40D702CB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22" y="2660073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Proof Of </a:t>
            </a:r>
            <a:r>
              <a:rPr lang="fr-FR" dirty="0" err="1"/>
              <a:t>Stake</a:t>
            </a:r>
            <a:br>
              <a:rPr lang="fr-FR" dirty="0"/>
            </a:br>
            <a:r>
              <a:rPr lang="fr-FR" dirty="0" err="1"/>
              <a:t>Ethereum</a:t>
            </a:r>
            <a:r>
              <a:rPr lang="fr-FR" dirty="0"/>
              <a:t> switch (2015)</a:t>
            </a:r>
            <a:br>
              <a:rPr lang="fr-FR" dirty="0"/>
            </a:br>
            <a:br>
              <a:rPr lang="fr-FR" dirty="0"/>
            </a:br>
            <a:r>
              <a:rPr lang="fr-FR" dirty="0"/>
              <a:t>the « Merge »  (15 sept 2022)</a:t>
            </a:r>
          </a:p>
        </p:txBody>
      </p:sp>
    </p:spTree>
    <p:extLst>
      <p:ext uri="{BB962C8B-B14F-4D97-AF65-F5344CB8AC3E}">
        <p14:creationId xmlns:p14="http://schemas.microsoft.com/office/powerpoint/2010/main" val="35919836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BC04A-5226-5A34-F775-A3408C11A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PoW</a:t>
            </a:r>
            <a:r>
              <a:rPr lang="fr-FR" dirty="0"/>
              <a:t> -&gt; </a:t>
            </a:r>
            <a:r>
              <a:rPr lang="fr-FR" dirty="0" err="1"/>
              <a:t>PoS</a:t>
            </a:r>
            <a:r>
              <a:rPr lang="fr-FR" dirty="0"/>
              <a:t> (Proof Of </a:t>
            </a:r>
            <a:r>
              <a:rPr lang="fr-FR" dirty="0" err="1"/>
              <a:t>Stake</a:t>
            </a:r>
            <a:r>
              <a:rPr lang="fr-FR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993DCF-FCF3-E837-4352-D6260BFAF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747" y="2281569"/>
            <a:ext cx="10991194" cy="244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8562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CA3CE-2C74-A0A9-DA8F-64A516586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323" y="-227849"/>
            <a:ext cx="10515600" cy="1142249"/>
          </a:xfrm>
        </p:spPr>
        <p:txBody>
          <a:bodyPr/>
          <a:lstStyle/>
          <a:p>
            <a:pPr algn="ctr"/>
            <a:r>
              <a:rPr lang="fr-FR" dirty="0" err="1"/>
              <a:t>PoS</a:t>
            </a:r>
            <a:r>
              <a:rPr lang="fr-FR" dirty="0"/>
              <a:t> Variants : Chain-</a:t>
            </a:r>
            <a:r>
              <a:rPr lang="fr-FR" dirty="0" err="1"/>
              <a:t>based</a:t>
            </a:r>
            <a:r>
              <a:rPr lang="fr-FR" dirty="0"/>
              <a:t>, </a:t>
            </a:r>
            <a:r>
              <a:rPr lang="fr-FR" dirty="0" err="1"/>
              <a:t>Nominated</a:t>
            </a:r>
            <a:r>
              <a:rPr lang="fr-FR" dirty="0"/>
              <a:t>, ...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80C517-2056-DBA8-68B7-EC4A09824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030" y="768277"/>
            <a:ext cx="7601654" cy="6089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23861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5D38-6C76-B487-60C2-40D702CB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19942"/>
          </a:xfrm>
        </p:spPr>
        <p:txBody>
          <a:bodyPr/>
          <a:lstStyle/>
          <a:p>
            <a:pPr algn="ctr"/>
            <a:r>
              <a:rPr lang="fr-FR" dirty="0"/>
              <a:t>Proof of Work vs </a:t>
            </a:r>
            <a:r>
              <a:rPr lang="fr-FR" dirty="0" err="1"/>
              <a:t>Stake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D3F720-6CD8-3364-01DD-FACDE87A8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277" y="773002"/>
            <a:ext cx="6135388" cy="6033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9646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504A3C-1539-4528-A534-22CF55207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082" y="0"/>
            <a:ext cx="11958918" cy="1325563"/>
          </a:xfrm>
        </p:spPr>
        <p:txBody>
          <a:bodyPr/>
          <a:lstStyle/>
          <a:p>
            <a:r>
              <a:rPr lang="fr-FR" dirty="0"/>
              <a:t> </a:t>
            </a:r>
            <a:r>
              <a:rPr lang="fr-FR" dirty="0" err="1"/>
              <a:t>Miners</a:t>
            </a:r>
            <a:r>
              <a:rPr lang="fr-FR" dirty="0"/>
              <a:t> </a:t>
            </a:r>
            <a:r>
              <a:rPr lang="fr-FR" dirty="0" err="1"/>
              <a:t>competing</a:t>
            </a:r>
            <a:r>
              <a:rPr lang="fr-FR" dirty="0"/>
              <a:t> </a:t>
            </a:r>
            <a:r>
              <a:rPr lang="fr-FR" dirty="0">
                <a:sym typeface="Wingdings" panose="05000000000000000000" pitchFamily="2" charset="2"/>
              </a:rPr>
              <a:t>  </a:t>
            </a:r>
            <a:r>
              <a:rPr lang="fr-FR" dirty="0" err="1">
                <a:sym typeface="Wingdings" panose="05000000000000000000" pitchFamily="2" charset="2"/>
              </a:rPr>
              <a:t>Validators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randomly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choosen</a:t>
            </a:r>
            <a:br>
              <a:rPr lang="fr-FR" dirty="0">
                <a:sym typeface="Wingdings" panose="05000000000000000000" pitchFamily="2" charset="2"/>
              </a:rPr>
            </a:br>
            <a:r>
              <a:rPr lang="fr-FR" dirty="0">
                <a:sym typeface="Wingdings" panose="05000000000000000000" pitchFamily="2" charset="2"/>
              </a:rPr>
              <a:t>(</a:t>
            </a:r>
            <a:r>
              <a:rPr lang="fr-FR" dirty="0" err="1">
                <a:sym typeface="Wingdings" panose="05000000000000000000" pitchFamily="2" charset="2"/>
              </a:rPr>
              <a:t>secure</a:t>
            </a:r>
            <a:r>
              <a:rPr lang="fr-FR" dirty="0">
                <a:sym typeface="Wingdings" panose="05000000000000000000" pitchFamily="2" charset="2"/>
              </a:rPr>
              <a:t> by </a:t>
            </a:r>
            <a:r>
              <a:rPr lang="fr-FR" dirty="0" err="1">
                <a:sym typeface="Wingdings" panose="05000000000000000000" pitchFamily="2" charset="2"/>
              </a:rPr>
              <a:t>energy</a:t>
            </a:r>
            <a:r>
              <a:rPr lang="fr-FR" dirty="0">
                <a:sym typeface="Wingdings" panose="05000000000000000000" pitchFamily="2" charset="2"/>
              </a:rPr>
              <a:t>)           (</a:t>
            </a:r>
            <a:r>
              <a:rPr lang="fr-FR" dirty="0" err="1">
                <a:sym typeface="Wingdings" panose="05000000000000000000" pitchFamily="2" charset="2"/>
              </a:rPr>
              <a:t>secure</a:t>
            </a:r>
            <a:r>
              <a:rPr lang="fr-FR" dirty="0">
                <a:sym typeface="Wingdings" panose="05000000000000000000" pitchFamily="2" charset="2"/>
              </a:rPr>
              <a:t> by </a:t>
            </a:r>
            <a:r>
              <a:rPr lang="fr-FR" dirty="0" err="1">
                <a:sym typeface="Wingdings" panose="05000000000000000000" pitchFamily="2" charset="2"/>
              </a:rPr>
              <a:t>financial</a:t>
            </a: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err="1">
                <a:sym typeface="Wingdings" panose="05000000000000000000" pitchFamily="2" charset="2"/>
              </a:rPr>
              <a:t>risk</a:t>
            </a:r>
            <a:r>
              <a:rPr lang="fr-FR" dirty="0">
                <a:sym typeface="Wingdings" panose="05000000000000000000" pitchFamily="2" charset="2"/>
              </a:rPr>
              <a:t>)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187792E-11C7-4F0C-B8B3-BC315A626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182" y="1687403"/>
            <a:ext cx="5029636" cy="464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6453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5D38-6C76-B487-60C2-40D702CB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778" y="2626822"/>
            <a:ext cx="7568738" cy="1325563"/>
          </a:xfrm>
        </p:spPr>
        <p:txBody>
          <a:bodyPr>
            <a:normAutofit/>
          </a:bodyPr>
          <a:lstStyle/>
          <a:p>
            <a:pPr algn="ctr"/>
            <a:r>
              <a:rPr lang="fr-FR" sz="4800" dirty="0" err="1"/>
              <a:t>BitCoin</a:t>
            </a:r>
            <a:endParaRPr lang="fr-FR" sz="4800" dirty="0"/>
          </a:p>
        </p:txBody>
      </p:sp>
      <p:pic>
        <p:nvPicPr>
          <p:cNvPr id="19458" name="Picture 2" descr="Bitcoin - Wikipedia">
            <a:extLst>
              <a:ext uri="{FF2B5EF4-FFF2-40B4-BE49-F238E27FC236}">
                <a16:creationId xmlns:a16="http://schemas.microsoft.com/office/drawing/2014/main" id="{3415EEE7-BAD8-770D-2D21-CDA6BCE33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4204" y="2785832"/>
            <a:ext cx="1166553" cy="1166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>
            <a:extLst>
              <a:ext uri="{FF2B5EF4-FFF2-40B4-BE49-F238E27FC236}">
                <a16:creationId xmlns:a16="http://schemas.microsoft.com/office/drawing/2014/main" id="{673EBA81-8BFB-93D1-1625-6EBD0A270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2127" y="2761288"/>
            <a:ext cx="1204480" cy="1191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654073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5D38-6C76-B487-60C2-40D702CB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422" y="0"/>
            <a:ext cx="12064538" cy="1325563"/>
          </a:xfrm>
        </p:spPr>
        <p:txBody>
          <a:bodyPr/>
          <a:lstStyle/>
          <a:p>
            <a:pPr algn="ctr"/>
            <a:r>
              <a:rPr lang="fr-FR" dirty="0" err="1"/>
              <a:t>BitCoin</a:t>
            </a:r>
            <a:r>
              <a:rPr lang="fr-FR" dirty="0"/>
              <a:t> = first crypto money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BDBBB3-2FA3-71B7-D4BD-251660B0C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287" y="1024991"/>
            <a:ext cx="9666808" cy="563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4548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6E8D2-3293-CF76-9DEC-78C020C83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BitCoin</a:t>
            </a:r>
            <a:r>
              <a:rPr lang="fr-FR" dirty="0"/>
              <a:t> Origin / (</a:t>
            </a:r>
            <a:r>
              <a:rPr lang="fr-FR" dirty="0" err="1"/>
              <a:t>fictious</a:t>
            </a:r>
            <a:r>
              <a:rPr lang="fr-FR" dirty="0"/>
              <a:t>) </a:t>
            </a:r>
            <a:r>
              <a:rPr lang="fr-FR" dirty="0" err="1"/>
              <a:t>Author</a:t>
            </a:r>
            <a:r>
              <a:rPr lang="fr-FR" dirty="0"/>
              <a:t> ?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17CD99-8301-ADC7-C571-8E55469B85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396" y="1499537"/>
            <a:ext cx="8192635" cy="513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0544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5D38-6C76-B487-60C2-40D702CB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Legal ... but </a:t>
            </a:r>
            <a:r>
              <a:rPr lang="fr-FR" dirty="0" err="1"/>
              <a:t>controversial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946DF2-ACE9-6A9C-0CC0-32723D7D45B3}"/>
              </a:ext>
            </a:extLst>
          </p:cNvPr>
          <p:cNvSpPr txBox="1"/>
          <p:nvPr/>
        </p:nvSpPr>
        <p:spPr>
          <a:xfrm>
            <a:off x="3574472" y="1723505"/>
            <a:ext cx="7078413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legal</a:t>
            </a:r>
            <a:r>
              <a:rPr lang="fr-FR" sz="2400" dirty="0"/>
              <a:t> in </a:t>
            </a:r>
            <a:r>
              <a:rPr lang="fr-FR" sz="2400" dirty="0" err="1"/>
              <a:t>many</a:t>
            </a:r>
            <a:r>
              <a:rPr lang="fr-FR" sz="2400" dirty="0"/>
              <a:t> countries</a:t>
            </a:r>
          </a:p>
          <a:p>
            <a:endParaRPr lang="fr-FR" sz="2400" dirty="0"/>
          </a:p>
          <a:p>
            <a:r>
              <a:rPr lang="fr-FR" sz="2400" dirty="0" err="1"/>
              <a:t>still</a:t>
            </a:r>
            <a:r>
              <a:rPr lang="fr-FR" sz="2400" dirty="0"/>
              <a:t> </a:t>
            </a:r>
            <a:r>
              <a:rPr lang="fr-FR" sz="2400" dirty="0" err="1"/>
              <a:t>controversial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 err="1"/>
              <a:t>used</a:t>
            </a:r>
            <a:r>
              <a:rPr lang="fr-FR" sz="2400" dirty="0"/>
              <a:t> by </a:t>
            </a:r>
            <a:r>
              <a:rPr lang="fr-FR" sz="2400" dirty="0" err="1"/>
              <a:t>too</a:t>
            </a:r>
            <a:r>
              <a:rPr lang="fr-FR" sz="2400" dirty="0"/>
              <a:t> </a:t>
            </a:r>
            <a:r>
              <a:rPr lang="fr-FR" sz="2400" dirty="0" err="1"/>
              <a:t>many</a:t>
            </a:r>
            <a:r>
              <a:rPr lang="fr-FR" sz="2400" dirty="0"/>
              <a:t> </a:t>
            </a:r>
            <a:r>
              <a:rPr lang="fr-FR" sz="2400" dirty="0" err="1"/>
              <a:t>illegal</a:t>
            </a:r>
            <a:r>
              <a:rPr lang="fr-FR" sz="2400" dirty="0"/>
              <a:t> parties (for </a:t>
            </a:r>
            <a:r>
              <a:rPr lang="fr-FR" sz="2400" dirty="0" err="1"/>
              <a:t>anonymous</a:t>
            </a:r>
            <a:r>
              <a:rPr lang="fr-FR" sz="2400" dirty="0"/>
              <a:t> </a:t>
            </a:r>
            <a:r>
              <a:rPr lang="fr-FR" sz="2400" dirty="0" err="1"/>
              <a:t>safety</a:t>
            </a:r>
            <a:r>
              <a:rPr lang="fr-FR" sz="2400" dirty="0"/>
              <a:t>)</a:t>
            </a:r>
          </a:p>
          <a:p>
            <a:endParaRPr lang="fr-FR" sz="2400" dirty="0"/>
          </a:p>
          <a:p>
            <a:r>
              <a:rPr lang="fr-FR" sz="2400" dirty="0" err="1"/>
              <a:t>authorized</a:t>
            </a:r>
            <a:r>
              <a:rPr lang="fr-FR" sz="2400" dirty="0"/>
              <a:t> as ETF </a:t>
            </a:r>
            <a:r>
              <a:rPr lang="fr-FR" sz="2400" dirty="0" err="1"/>
              <a:t>since</a:t>
            </a:r>
            <a:r>
              <a:rPr lang="fr-FR" sz="2400" dirty="0"/>
              <a:t> 2024</a:t>
            </a:r>
          </a:p>
          <a:p>
            <a:endParaRPr lang="fr-FR" sz="2400" dirty="0"/>
          </a:p>
          <a:p>
            <a:r>
              <a:rPr lang="fr-FR" sz="2400" dirty="0" err="1"/>
              <a:t>used</a:t>
            </a:r>
            <a:r>
              <a:rPr lang="fr-FR" sz="2400" dirty="0"/>
              <a:t> as </a:t>
            </a:r>
            <a:r>
              <a:rPr lang="fr-FR" sz="2400" dirty="0" err="1"/>
              <a:t>investment</a:t>
            </a:r>
            <a:r>
              <a:rPr lang="fr-FR" sz="2400" dirty="0"/>
              <a:t> more </a:t>
            </a:r>
            <a:r>
              <a:rPr lang="fr-FR" sz="2400" dirty="0" err="1"/>
              <a:t>than</a:t>
            </a:r>
            <a:r>
              <a:rPr lang="fr-FR" sz="2400" dirty="0"/>
              <a:t> </a:t>
            </a:r>
            <a:r>
              <a:rPr lang="fr-FR" sz="2400" dirty="0" err="1"/>
              <a:t>payment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 err="1"/>
              <a:t>economic</a:t>
            </a:r>
            <a:r>
              <a:rPr lang="fr-FR" sz="2400" dirty="0"/>
              <a:t> </a:t>
            </a:r>
            <a:r>
              <a:rPr lang="fr-FR" sz="2400" dirty="0" err="1"/>
              <a:t>speculative</a:t>
            </a:r>
            <a:r>
              <a:rPr lang="fr-FR" sz="2400" dirty="0"/>
              <a:t> </a:t>
            </a:r>
            <a:r>
              <a:rPr lang="fr-FR" sz="2400" dirty="0" err="1"/>
              <a:t>bubble</a:t>
            </a:r>
            <a:r>
              <a:rPr lang="fr-FR" sz="24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2431507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5D38-6C76-B487-60C2-40D702CB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14895"/>
          </a:xfrm>
        </p:spPr>
        <p:txBody>
          <a:bodyPr/>
          <a:lstStyle/>
          <a:p>
            <a:pPr algn="ctr"/>
            <a:r>
              <a:rPr lang="fr-FR" dirty="0"/>
              <a:t>Dev  Reference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7A8967-3579-86D6-1609-24960F4A6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42" y="582386"/>
            <a:ext cx="11724386" cy="627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68440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5D38-6C76-B487-60C2-40D702CB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64771"/>
          </a:xfrm>
        </p:spPr>
        <p:txBody>
          <a:bodyPr/>
          <a:lstStyle/>
          <a:p>
            <a:pPr algn="ctr"/>
            <a:r>
              <a:rPr lang="fr-FR" dirty="0"/>
              <a:t>Block Header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33861C-1F11-E76D-358D-6937F17AD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376" y="689603"/>
            <a:ext cx="6763336" cy="57993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47A0F1-7B11-80D8-85D9-A3D33935A497}"/>
              </a:ext>
            </a:extLst>
          </p:cNvPr>
          <p:cNvSpPr txBox="1"/>
          <p:nvPr/>
        </p:nvSpPr>
        <p:spPr>
          <a:xfrm>
            <a:off x="127461" y="6413758"/>
            <a:ext cx="5590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https://developer.bitcoin.org/reference/block_chain.html</a:t>
            </a:r>
          </a:p>
        </p:txBody>
      </p:sp>
    </p:spTree>
    <p:extLst>
      <p:ext uri="{BB962C8B-B14F-4D97-AF65-F5344CB8AC3E}">
        <p14:creationId xmlns:p14="http://schemas.microsoft.com/office/powerpoint/2010/main" val="419386445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5D38-6C76-B487-60C2-40D702CB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Example Block Header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F8B700-B5A1-A0D3-50D3-8038F6FEC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355" y="1782821"/>
            <a:ext cx="10021040" cy="2983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9923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5D38-6C76-B487-60C2-40D702CB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Block = Header + Transactions (+ </a:t>
            </a:r>
            <a:r>
              <a:rPr lang="fr-FR" dirty="0" err="1"/>
              <a:t>Reward</a:t>
            </a:r>
            <a:r>
              <a:rPr lang="fr-FR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5FE3C0-7724-AAF2-AD0B-077BB4266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967" y="1130313"/>
            <a:ext cx="7270804" cy="5573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7990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5D38-6C76-B487-60C2-40D702CB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490749"/>
          </a:xfrm>
        </p:spPr>
        <p:txBody>
          <a:bodyPr/>
          <a:lstStyle/>
          <a:p>
            <a:pPr algn="ctr"/>
            <a:r>
              <a:rPr lang="fr-FR" dirty="0"/>
              <a:t>Transactions in </a:t>
            </a:r>
            <a:r>
              <a:rPr lang="fr-FR" dirty="0" err="1"/>
              <a:t>Merkle</a:t>
            </a:r>
            <a:r>
              <a:rPr lang="fr-FR" dirty="0"/>
              <a:t> </a:t>
            </a:r>
            <a:r>
              <a:rPr lang="fr-FR" dirty="0" err="1"/>
              <a:t>Tree</a:t>
            </a:r>
            <a:br>
              <a:rPr lang="fr-FR" dirty="0"/>
            </a:br>
            <a:r>
              <a:rPr lang="fr-FR" dirty="0" err="1"/>
              <a:t>using</a:t>
            </a:r>
            <a:r>
              <a:rPr lang="fr-FR" dirty="0"/>
              <a:t> double SHA256(SHA256(...))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01C78F-4A8D-283B-5C66-26B61BC83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052" y="2215772"/>
            <a:ext cx="8927896" cy="3132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94436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B6638-5F24-7839-A5CB-810A42947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Example </a:t>
            </a:r>
            <a:r>
              <a:rPr lang="fr-FR" dirty="0" err="1"/>
              <a:t>Merkle</a:t>
            </a:r>
            <a:r>
              <a:rPr lang="fr-FR" dirty="0"/>
              <a:t> </a:t>
            </a:r>
            <a:r>
              <a:rPr lang="fr-FR" dirty="0" err="1"/>
              <a:t>Tree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A47184-300B-530B-7B4E-75257E946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5381" y="1820130"/>
            <a:ext cx="6515665" cy="42485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56C472-F15E-2C29-410A-3C4877C00280}"/>
              </a:ext>
            </a:extLst>
          </p:cNvPr>
          <p:cNvSpPr txBox="1"/>
          <p:nvPr/>
        </p:nvSpPr>
        <p:spPr>
          <a:xfrm>
            <a:off x="133004" y="63990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https://developer.bitcoin.org/reference/p2p_networking.html</a:t>
            </a:r>
          </a:p>
        </p:txBody>
      </p:sp>
    </p:spTree>
    <p:extLst>
      <p:ext uri="{BB962C8B-B14F-4D97-AF65-F5344CB8AC3E}">
        <p14:creationId xmlns:p14="http://schemas.microsoft.com/office/powerpoint/2010/main" val="378660388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5D38-6C76-B487-60C2-40D702CB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Transactions:  Inputs, Outputs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801B62-82EA-982B-7D1C-43A6A3C78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305" y="1826772"/>
            <a:ext cx="6561389" cy="283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25092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5D38-6C76-B487-60C2-40D702CB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Tx</a:t>
            </a:r>
            <a:r>
              <a:rPr lang="fr-FR" dirty="0"/>
              <a:t> Input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6868C3-C6FC-ADFA-750F-19015AAB9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645" y="1909359"/>
            <a:ext cx="6572820" cy="3284505"/>
          </a:xfrm>
          <a:prstGeom prst="rect">
            <a:avLst/>
          </a:prstGeom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A1CB81D5-E407-1516-2F05-F8E2AE3F01DA}"/>
              </a:ext>
            </a:extLst>
          </p:cNvPr>
          <p:cNvSpPr/>
          <p:nvPr/>
        </p:nvSpPr>
        <p:spPr>
          <a:xfrm rot="3247365">
            <a:off x="7753261" y="2919681"/>
            <a:ext cx="416948" cy="67160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F1D31D-33F3-C2E2-9AE4-B2283D6C594C}"/>
              </a:ext>
            </a:extLst>
          </p:cNvPr>
          <p:cNvSpPr txBox="1"/>
          <p:nvPr/>
        </p:nvSpPr>
        <p:spPr>
          <a:xfrm>
            <a:off x="8498879" y="2685185"/>
            <a:ext cx="20020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How </a:t>
            </a:r>
            <a:r>
              <a:rPr lang="fr-FR" dirty="0" err="1"/>
              <a:t>manyBitCoins</a:t>
            </a:r>
            <a:r>
              <a:rPr lang="fr-FR" dirty="0"/>
              <a:t> </a:t>
            </a:r>
          </a:p>
          <a:p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had</a:t>
            </a:r>
            <a:r>
              <a:rPr lang="fr-FR" dirty="0"/>
              <a:t> </a:t>
            </a:r>
            <a:r>
              <a:rPr lang="fr-FR" dirty="0" err="1"/>
              <a:t>before</a:t>
            </a:r>
            <a:r>
              <a:rPr lang="fr-FR" dirty="0"/>
              <a:t> ?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D6BDB94D-E8A3-F5CF-19C8-7C6F711EB2ED}"/>
              </a:ext>
            </a:extLst>
          </p:cNvPr>
          <p:cNvSpPr/>
          <p:nvPr/>
        </p:nvSpPr>
        <p:spPr>
          <a:xfrm rot="5400000">
            <a:off x="7855785" y="3863256"/>
            <a:ext cx="416948" cy="67160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2F2E13-E8D7-8A5C-6C97-583D921ABCBD}"/>
              </a:ext>
            </a:extLst>
          </p:cNvPr>
          <p:cNvSpPr txBox="1"/>
          <p:nvPr/>
        </p:nvSpPr>
        <p:spPr>
          <a:xfrm>
            <a:off x="8561053" y="3962118"/>
            <a:ext cx="28831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dirty="0" err="1"/>
              <a:t>BitCoin</a:t>
            </a:r>
            <a:r>
              <a:rPr lang="fr-FR" dirty="0"/>
              <a:t> "</a:t>
            </a:r>
            <a:r>
              <a:rPr lang="fr-FR" dirty="0" err="1"/>
              <a:t>Address</a:t>
            </a:r>
            <a:r>
              <a:rPr lang="fr-FR" dirty="0"/>
              <a:t>"</a:t>
            </a:r>
          </a:p>
          <a:p>
            <a:r>
              <a:rPr lang="fr-FR" dirty="0"/>
              <a:t>i.e. </a:t>
            </a:r>
            <a:r>
              <a:rPr lang="fr-FR" dirty="0" err="1"/>
              <a:t>your</a:t>
            </a:r>
            <a:r>
              <a:rPr lang="fr-FR" dirty="0"/>
              <a:t> </a:t>
            </a:r>
            <a:r>
              <a:rPr lang="fr-FR" b="1" dirty="0" err="1"/>
              <a:t>publick</a:t>
            </a:r>
            <a:r>
              <a:rPr lang="fr-FR" b="1" dirty="0"/>
              <a:t> Key  </a:t>
            </a:r>
            <a:r>
              <a:rPr lang="fr-FR" b="1" dirty="0" err="1"/>
              <a:t>hashed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383506307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5D38-6C76-B487-60C2-40D702CB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TxOutput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E141EC-E419-5BFA-9150-414FBC197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98" y="1486344"/>
            <a:ext cx="6534716" cy="11888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BB3039-5D2C-483D-AA9F-CBCFBF0F9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72" y="3223576"/>
            <a:ext cx="6649026" cy="2789162"/>
          </a:xfrm>
          <a:prstGeom prst="rect">
            <a:avLst/>
          </a:prstGeom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2FD85E20-EF04-23B4-1208-19EDB015FAE0}"/>
              </a:ext>
            </a:extLst>
          </p:cNvPr>
          <p:cNvSpPr/>
          <p:nvPr/>
        </p:nvSpPr>
        <p:spPr>
          <a:xfrm rot="3247365">
            <a:off x="7456081" y="4142691"/>
            <a:ext cx="416948" cy="67160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6CB877-5304-4F02-2552-8338BBE77C68}"/>
              </a:ext>
            </a:extLst>
          </p:cNvPr>
          <p:cNvSpPr txBox="1"/>
          <p:nvPr/>
        </p:nvSpPr>
        <p:spPr>
          <a:xfrm>
            <a:off x="8201699" y="3908195"/>
            <a:ext cx="20020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How </a:t>
            </a:r>
            <a:r>
              <a:rPr lang="fr-FR" dirty="0" err="1"/>
              <a:t>manyBitCoins</a:t>
            </a:r>
            <a:r>
              <a:rPr lang="fr-FR" dirty="0"/>
              <a:t> </a:t>
            </a:r>
          </a:p>
          <a:p>
            <a:r>
              <a:rPr lang="fr-FR" dirty="0"/>
              <a:t>to </a:t>
            </a:r>
            <a:r>
              <a:rPr lang="fr-FR" dirty="0" err="1"/>
              <a:t>spend</a:t>
            </a:r>
            <a:endParaRPr lang="fr-FR" dirty="0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7C086FFE-84E1-C5AE-3AAB-FE46064A3A9E}"/>
              </a:ext>
            </a:extLst>
          </p:cNvPr>
          <p:cNvSpPr/>
          <p:nvPr/>
        </p:nvSpPr>
        <p:spPr>
          <a:xfrm rot="5400000">
            <a:off x="7558605" y="5086266"/>
            <a:ext cx="416948" cy="67160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66B7BD-72A2-509B-4958-3524C430E4A5}"/>
              </a:ext>
            </a:extLst>
          </p:cNvPr>
          <p:cNvSpPr txBox="1"/>
          <p:nvPr/>
        </p:nvSpPr>
        <p:spPr>
          <a:xfrm>
            <a:off x="8263873" y="5185128"/>
            <a:ext cx="29790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Destination </a:t>
            </a:r>
            <a:r>
              <a:rPr lang="fr-FR" dirty="0" err="1"/>
              <a:t>BitCoin</a:t>
            </a:r>
            <a:r>
              <a:rPr lang="fr-FR" dirty="0"/>
              <a:t> "</a:t>
            </a:r>
            <a:r>
              <a:rPr lang="fr-FR" dirty="0" err="1"/>
              <a:t>Address</a:t>
            </a:r>
            <a:r>
              <a:rPr lang="fr-FR" dirty="0"/>
              <a:t>"</a:t>
            </a:r>
          </a:p>
          <a:p>
            <a:r>
              <a:rPr lang="fr-FR" dirty="0"/>
              <a:t>i.e. </a:t>
            </a:r>
            <a:r>
              <a:rPr lang="fr-FR" b="1" dirty="0" err="1"/>
              <a:t>publick</a:t>
            </a:r>
            <a:r>
              <a:rPr lang="fr-FR" b="1" dirty="0"/>
              <a:t> Key  </a:t>
            </a:r>
            <a:r>
              <a:rPr lang="fr-FR" b="1" dirty="0" err="1"/>
              <a:t>hashed</a:t>
            </a:r>
            <a:endParaRPr lang="fr-FR" b="1" dirty="0"/>
          </a:p>
          <a:p>
            <a:r>
              <a:rPr lang="fr-FR" b="1" dirty="0"/>
              <a:t>... </a:t>
            </a:r>
            <a:r>
              <a:rPr lang="fr-FR" b="1" dirty="0" err="1"/>
              <a:t>signed</a:t>
            </a:r>
            <a:r>
              <a:rPr lang="fr-FR" b="1" dirty="0"/>
              <a:t> by </a:t>
            </a:r>
            <a:r>
              <a:rPr lang="fr-FR" b="1" dirty="0" err="1"/>
              <a:t>your</a:t>
            </a:r>
            <a:r>
              <a:rPr lang="fr-FR" b="1" dirty="0"/>
              <a:t> </a:t>
            </a:r>
            <a:r>
              <a:rPr lang="fr-FR" b="1" dirty="0" err="1"/>
              <a:t>Private</a:t>
            </a:r>
            <a:r>
              <a:rPr lang="fr-FR" b="1" dirty="0"/>
              <a:t> Key</a:t>
            </a:r>
          </a:p>
        </p:txBody>
      </p:sp>
    </p:spTree>
    <p:extLst>
      <p:ext uri="{BB962C8B-B14F-4D97-AF65-F5344CB8AC3E}">
        <p14:creationId xmlns:p14="http://schemas.microsoft.com/office/powerpoint/2010/main" val="223323406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5A5C0D-CB55-323F-9993-CBD91CA3A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8368"/>
            <a:ext cx="12192000" cy="24534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0B109C-6AD8-C83B-BBFF-DA27929C5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335" y="1"/>
            <a:ext cx="10515600" cy="1202574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2 Types of Transactions:</a:t>
            </a:r>
            <a:br>
              <a:rPr lang="fr-FR" dirty="0"/>
            </a:br>
            <a:r>
              <a:rPr lang="fr-FR" dirty="0" err="1"/>
              <a:t>Pay</a:t>
            </a:r>
            <a:r>
              <a:rPr lang="fr-FR" dirty="0"/>
              <a:t> to {</a:t>
            </a:r>
            <a:r>
              <a:rPr lang="fr-FR" dirty="0" err="1"/>
              <a:t>PubKey</a:t>
            </a:r>
            <a:r>
              <a:rPr lang="fr-FR" dirty="0"/>
              <a:t> | Script}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1AD20F-0664-BFB8-1BC3-557BB8636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" y="3666019"/>
            <a:ext cx="12192000" cy="3094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16225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5D38-6C76-B487-60C2-40D702CB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https://en.bitcoin.it/wiki/Transaction</a:t>
            </a:r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A208EFF1-69C0-CECA-C119-FC8599911E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5720" y="1276985"/>
            <a:ext cx="12192000" cy="532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357217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109C-6AD8-C83B-BBFF-DA27929C5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335" y="1"/>
            <a:ext cx="10515600" cy="1584959"/>
          </a:xfrm>
        </p:spPr>
        <p:txBody>
          <a:bodyPr/>
          <a:lstStyle/>
          <a:p>
            <a:pPr algn="ctr"/>
            <a:r>
              <a:rPr lang="fr-FR" dirty="0" err="1"/>
              <a:t>BitCoin</a:t>
            </a:r>
            <a:r>
              <a:rPr lang="fr-FR" dirty="0"/>
              <a:t> "</a:t>
            </a:r>
            <a:r>
              <a:rPr lang="fr-FR" dirty="0" err="1"/>
              <a:t>Address</a:t>
            </a:r>
            <a:r>
              <a:rPr lang="fr-FR" dirty="0"/>
              <a:t>"</a:t>
            </a:r>
            <a:br>
              <a:rPr lang="fr-FR" dirty="0"/>
            </a:br>
            <a:r>
              <a:rPr lang="fr-FR" dirty="0"/>
              <a:t>= Public Key Hash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23AD25-DF63-3179-2AC6-E36E03C2C227}"/>
              </a:ext>
            </a:extLst>
          </p:cNvPr>
          <p:cNvSpPr txBox="1"/>
          <p:nvPr/>
        </p:nvSpPr>
        <p:spPr>
          <a:xfrm>
            <a:off x="2360815" y="2801620"/>
            <a:ext cx="31718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Generate</a:t>
            </a:r>
            <a:r>
              <a:rPr lang="fr-FR" sz="2400" dirty="0"/>
              <a:t> a </a:t>
            </a:r>
            <a:r>
              <a:rPr lang="fr-FR" sz="2400" dirty="0" err="1"/>
              <a:t>Private</a:t>
            </a:r>
            <a:r>
              <a:rPr lang="fr-FR" sz="2400" dirty="0"/>
              <a:t>/Pub </a:t>
            </a:r>
          </a:p>
          <a:p>
            <a:r>
              <a:rPr lang="fr-FR" sz="2400" dirty="0"/>
              <a:t>Key Pair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127718A-8210-ED8A-ADC7-B8A6A0A5FDAA}"/>
              </a:ext>
            </a:extLst>
          </p:cNvPr>
          <p:cNvSpPr/>
          <p:nvPr/>
        </p:nvSpPr>
        <p:spPr>
          <a:xfrm>
            <a:off x="5757949" y="2950665"/>
            <a:ext cx="1124989" cy="3879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DE96B6-AE84-F923-8BFC-99F51F2CCE44}"/>
              </a:ext>
            </a:extLst>
          </p:cNvPr>
          <p:cNvSpPr txBox="1"/>
          <p:nvPr/>
        </p:nvSpPr>
        <p:spPr>
          <a:xfrm>
            <a:off x="7362306" y="2737194"/>
            <a:ext cx="34905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HASH </a:t>
            </a:r>
            <a:r>
              <a:rPr lang="fr-FR" sz="2400" dirty="0" err="1"/>
              <a:t>your</a:t>
            </a:r>
            <a:r>
              <a:rPr lang="fr-FR" sz="2400" dirty="0"/>
              <a:t> </a:t>
            </a:r>
            <a:r>
              <a:rPr lang="fr-FR" sz="2400" dirty="0" err="1"/>
              <a:t>PubKey</a:t>
            </a:r>
            <a:endParaRPr lang="fr-FR" sz="2400" dirty="0"/>
          </a:p>
          <a:p>
            <a:r>
              <a:rPr lang="fr-FR" sz="2400" dirty="0" err="1"/>
              <a:t>it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your</a:t>
            </a:r>
            <a:r>
              <a:rPr lang="fr-FR" sz="2400" dirty="0"/>
              <a:t> bitcoin "</a:t>
            </a:r>
            <a:r>
              <a:rPr lang="fr-FR" sz="2400" dirty="0" err="1"/>
              <a:t>Address</a:t>
            </a:r>
            <a:r>
              <a:rPr lang="fr-FR" sz="2400" dirty="0"/>
              <a:t>"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9B5650E-2308-3DD5-B53B-77BE72A16A15}"/>
              </a:ext>
            </a:extLst>
          </p:cNvPr>
          <p:cNvSpPr/>
          <p:nvPr/>
        </p:nvSpPr>
        <p:spPr>
          <a:xfrm rot="5400000">
            <a:off x="3305694" y="4032579"/>
            <a:ext cx="692727" cy="3990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FFE9DA-5DA4-8C5B-5F1A-CC036F35DEE0}"/>
              </a:ext>
            </a:extLst>
          </p:cNvPr>
          <p:cNvSpPr txBox="1"/>
          <p:nvPr/>
        </p:nvSpPr>
        <p:spPr>
          <a:xfrm>
            <a:off x="2360815" y="4704297"/>
            <a:ext cx="667304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save</a:t>
            </a:r>
            <a:r>
              <a:rPr lang="fr-FR" sz="2400" dirty="0"/>
              <a:t> </a:t>
            </a:r>
            <a:r>
              <a:rPr lang="fr-FR" sz="2400" dirty="0" err="1"/>
              <a:t>your</a:t>
            </a:r>
            <a:r>
              <a:rPr lang="fr-FR" sz="2400" dirty="0"/>
              <a:t> </a:t>
            </a:r>
            <a:r>
              <a:rPr lang="fr-FR" sz="2400" dirty="0" err="1"/>
              <a:t>Private</a:t>
            </a:r>
            <a:r>
              <a:rPr lang="fr-FR" sz="2400" dirty="0"/>
              <a:t> Key</a:t>
            </a:r>
          </a:p>
          <a:p>
            <a:r>
              <a:rPr lang="fr-FR" sz="2400" dirty="0"/>
              <a:t>in </a:t>
            </a:r>
            <a:r>
              <a:rPr lang="fr-FR" sz="2400" dirty="0" err="1"/>
              <a:t>your</a:t>
            </a:r>
            <a:r>
              <a:rPr lang="fr-FR" sz="2400" dirty="0"/>
              <a:t> "WALLET"</a:t>
            </a:r>
          </a:p>
          <a:p>
            <a:r>
              <a:rPr lang="fr-FR" sz="2400" dirty="0"/>
              <a:t>(and do </a:t>
            </a:r>
            <a:r>
              <a:rPr lang="fr-FR" sz="2400" dirty="0" err="1"/>
              <a:t>several</a:t>
            </a:r>
            <a:r>
              <a:rPr lang="fr-FR" sz="2400" dirty="0"/>
              <a:t> </a:t>
            </a:r>
            <a:r>
              <a:rPr lang="fr-FR" sz="2400" dirty="0" err="1"/>
              <a:t>encrypted</a:t>
            </a:r>
            <a:r>
              <a:rPr lang="fr-FR" sz="2400" dirty="0"/>
              <a:t> backups)</a:t>
            </a:r>
          </a:p>
          <a:p>
            <a:endParaRPr lang="fr-FR" sz="2400" dirty="0"/>
          </a:p>
          <a:p>
            <a:r>
              <a:rPr lang="fr-FR" sz="2400" dirty="0"/>
              <a:t>NO </a:t>
            </a:r>
            <a:r>
              <a:rPr lang="fr-FR" sz="2400" dirty="0" err="1"/>
              <a:t>recovery</a:t>
            </a:r>
            <a:r>
              <a:rPr lang="fr-FR" sz="2400" dirty="0"/>
              <a:t> </a:t>
            </a:r>
            <a:r>
              <a:rPr lang="fr-FR" sz="2400" dirty="0" err="1"/>
              <a:t>mecanism</a:t>
            </a:r>
            <a:r>
              <a:rPr lang="fr-FR" sz="2400" dirty="0"/>
              <a:t> if </a:t>
            </a:r>
            <a:r>
              <a:rPr lang="fr-FR" sz="2400" dirty="0" err="1"/>
              <a:t>you</a:t>
            </a:r>
            <a:r>
              <a:rPr lang="fr-FR" sz="2400" dirty="0"/>
              <a:t> loose </a:t>
            </a:r>
            <a:r>
              <a:rPr lang="fr-FR" sz="2400" dirty="0" err="1"/>
              <a:t>your</a:t>
            </a:r>
            <a:r>
              <a:rPr lang="fr-FR" sz="2400" dirty="0"/>
              <a:t> </a:t>
            </a:r>
            <a:r>
              <a:rPr lang="fr-FR" sz="2400" dirty="0" err="1"/>
              <a:t>private</a:t>
            </a:r>
            <a:r>
              <a:rPr lang="fr-FR" sz="2400" dirty="0"/>
              <a:t> Key</a:t>
            </a:r>
          </a:p>
        </p:txBody>
      </p:sp>
    </p:spTree>
    <p:extLst>
      <p:ext uri="{BB962C8B-B14F-4D97-AF65-F5344CB8AC3E}">
        <p14:creationId xmlns:p14="http://schemas.microsoft.com/office/powerpoint/2010/main" val="280499398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109C-6AD8-C83B-BBFF-DA27929C5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335" y="1"/>
            <a:ext cx="10515600" cy="777240"/>
          </a:xfrm>
        </p:spPr>
        <p:txBody>
          <a:bodyPr/>
          <a:lstStyle/>
          <a:p>
            <a:pPr algn="ctr"/>
            <a:r>
              <a:rPr lang="fr-FR" dirty="0" err="1"/>
              <a:t>Lost</a:t>
            </a:r>
            <a:r>
              <a:rPr lang="fr-FR" dirty="0"/>
              <a:t> </a:t>
            </a:r>
            <a:r>
              <a:rPr lang="fr-FR" dirty="0" err="1"/>
              <a:t>Private</a:t>
            </a:r>
            <a:r>
              <a:rPr lang="fr-FR" dirty="0"/>
              <a:t> Key 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114475-3036-AD90-AEA3-8DE7B941E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60" y="2044931"/>
            <a:ext cx="11707709" cy="22557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EB9F58-02F4-E3D4-14D1-B0F38433F2E5}"/>
              </a:ext>
            </a:extLst>
          </p:cNvPr>
          <p:cNvSpPr txBox="1"/>
          <p:nvPr/>
        </p:nvSpPr>
        <p:spPr>
          <a:xfrm>
            <a:off x="327049" y="63907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https://en.wikipedia.org/wiki/Bitcoin</a:t>
            </a:r>
          </a:p>
        </p:txBody>
      </p:sp>
    </p:spTree>
    <p:extLst>
      <p:ext uri="{BB962C8B-B14F-4D97-AF65-F5344CB8AC3E}">
        <p14:creationId xmlns:p14="http://schemas.microsoft.com/office/powerpoint/2010/main" val="308427125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109C-6AD8-C83B-BBFF-DA27929C5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335" y="0"/>
            <a:ext cx="10515600" cy="1147155"/>
          </a:xfrm>
        </p:spPr>
        <p:txBody>
          <a:bodyPr/>
          <a:lstStyle/>
          <a:p>
            <a:pPr algn="ctr"/>
            <a:r>
              <a:rPr lang="fr-FR" dirty="0" err="1"/>
              <a:t>pseudonymous</a:t>
            </a:r>
            <a:r>
              <a:rPr lang="fr-FR" dirty="0"/>
              <a:t> 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C3D531-C52F-33AE-78F3-9BF9E1F7CB3F}"/>
              </a:ext>
            </a:extLst>
          </p:cNvPr>
          <p:cNvSpPr txBox="1"/>
          <p:nvPr/>
        </p:nvSpPr>
        <p:spPr>
          <a:xfrm>
            <a:off x="3081251" y="1920254"/>
            <a:ext cx="6957995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Public Key are "</a:t>
            </a:r>
            <a:r>
              <a:rPr lang="fr-FR" sz="2400" dirty="0" err="1"/>
              <a:t>anonymous</a:t>
            </a:r>
            <a:r>
              <a:rPr lang="fr-FR" sz="2400" dirty="0"/>
              <a:t>"</a:t>
            </a:r>
          </a:p>
          <a:p>
            <a:r>
              <a:rPr lang="fr-FR" sz="2400" dirty="0"/>
              <a:t>                   </a:t>
            </a:r>
            <a:r>
              <a:rPr lang="fr-FR" sz="2400" dirty="0" err="1"/>
              <a:t>may</a:t>
            </a:r>
            <a:r>
              <a:rPr lang="fr-FR" sz="2400" dirty="0"/>
              <a:t> </a:t>
            </a:r>
            <a:r>
              <a:rPr lang="fr-FR" sz="2400" dirty="0" err="1"/>
              <a:t>need</a:t>
            </a:r>
            <a:r>
              <a:rPr lang="fr-FR" sz="2400" dirty="0"/>
              <a:t> to </a:t>
            </a:r>
            <a:r>
              <a:rPr lang="fr-FR" sz="2400" dirty="0" err="1"/>
              <a:t>be</a:t>
            </a:r>
            <a:r>
              <a:rPr lang="fr-FR" sz="2400" dirty="0"/>
              <a:t> </a:t>
            </a:r>
            <a:r>
              <a:rPr lang="fr-FR" sz="2400" dirty="0" err="1"/>
              <a:t>declared</a:t>
            </a:r>
            <a:r>
              <a:rPr lang="fr-FR" sz="2400" dirty="0"/>
              <a:t> in </a:t>
            </a:r>
            <a:r>
              <a:rPr lang="fr-FR" sz="2400" dirty="0" err="1"/>
              <a:t>some</a:t>
            </a:r>
            <a:r>
              <a:rPr lang="fr-FR" sz="2400" dirty="0"/>
              <a:t> countries</a:t>
            </a:r>
          </a:p>
          <a:p>
            <a:endParaRPr lang="fr-FR" sz="2400" dirty="0"/>
          </a:p>
          <a:p>
            <a:r>
              <a:rPr lang="fr-FR" sz="2400" dirty="0" err="1"/>
              <a:t>someone</a:t>
            </a:r>
            <a:r>
              <a:rPr lang="fr-FR" sz="2400" dirty="0"/>
              <a:t> </a:t>
            </a:r>
            <a:r>
              <a:rPr lang="fr-FR" sz="2400" dirty="0" err="1"/>
              <a:t>may</a:t>
            </a:r>
            <a:r>
              <a:rPr lang="fr-FR" sz="2400" dirty="0"/>
              <a:t> re-</a:t>
            </a:r>
            <a:r>
              <a:rPr lang="fr-FR" sz="2400" dirty="0" err="1"/>
              <a:t>create</a:t>
            </a:r>
            <a:r>
              <a:rPr lang="fr-FR" sz="2400" dirty="0"/>
              <a:t> </a:t>
            </a:r>
            <a:r>
              <a:rPr lang="fr-FR" sz="2400" dirty="0" err="1"/>
              <a:t>several</a:t>
            </a:r>
            <a:r>
              <a:rPr lang="fr-FR" sz="2400" dirty="0"/>
              <a:t> new public keys</a:t>
            </a:r>
          </a:p>
          <a:p>
            <a:endParaRPr lang="fr-FR" sz="2400" dirty="0"/>
          </a:p>
          <a:p>
            <a:endParaRPr lang="fr-FR" sz="2400" dirty="0"/>
          </a:p>
          <a:p>
            <a:r>
              <a:rPr lang="fr-FR" sz="2400" dirty="0" err="1"/>
              <a:t>Difficult</a:t>
            </a:r>
            <a:r>
              <a:rPr lang="fr-FR" sz="2400" dirty="0"/>
              <a:t> to trace </a:t>
            </a:r>
            <a:r>
              <a:rPr lang="fr-FR" sz="2400" dirty="0" err="1"/>
              <a:t>identities</a:t>
            </a:r>
            <a:r>
              <a:rPr lang="fr-FR" sz="2400" dirty="0"/>
              <a:t> </a:t>
            </a:r>
            <a:r>
              <a:rPr lang="fr-FR" sz="2400" dirty="0" err="1"/>
              <a:t>from</a:t>
            </a:r>
            <a:r>
              <a:rPr lang="fr-FR" sz="2400" dirty="0"/>
              <a:t> </a:t>
            </a:r>
            <a:r>
              <a:rPr lang="fr-FR" sz="2400" dirty="0" err="1"/>
              <a:t>history</a:t>
            </a:r>
            <a:r>
              <a:rPr lang="fr-FR" sz="2400" dirty="0"/>
              <a:t> of transactions</a:t>
            </a:r>
          </a:p>
          <a:p>
            <a:endParaRPr lang="fr-FR" sz="2400" dirty="0"/>
          </a:p>
          <a:p>
            <a:r>
              <a:rPr lang="fr-FR" sz="2400" dirty="0"/>
              <a:t> </a:t>
            </a:r>
            <a:r>
              <a:rPr lang="fr-FR" sz="2400" dirty="0" err="1"/>
              <a:t>so</a:t>
            </a:r>
            <a:r>
              <a:rPr lang="fr-FR" sz="2400" dirty="0"/>
              <a:t>  "</a:t>
            </a:r>
            <a:r>
              <a:rPr lang="fr-FR" sz="2400" dirty="0" err="1"/>
              <a:t>pseudonymous</a:t>
            </a:r>
            <a:r>
              <a:rPr lang="fr-FR" sz="2400" dirty="0"/>
              <a:t>"   (but not "</a:t>
            </a:r>
            <a:r>
              <a:rPr lang="fr-FR" sz="2400" dirty="0" err="1"/>
              <a:t>anonymous</a:t>
            </a:r>
            <a:r>
              <a:rPr lang="fr-FR" sz="2400" dirty="0"/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356435607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A5D38-6C76-B487-60C2-40D702CB6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8153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Ethereum</a:t>
            </a:r>
            <a:br>
              <a:rPr lang="fr-FR" dirty="0"/>
            </a:br>
            <a:r>
              <a:rPr lang="fr-FR" dirty="0" err="1"/>
              <a:t>SmartContract</a:t>
            </a:r>
            <a:endParaRPr lang="fr-FR" dirty="0"/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7CDE6928-0B16-880B-AFB6-4EA418216E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489" y="1958716"/>
            <a:ext cx="1143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050264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109C-6AD8-C83B-BBFF-DA27929C5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335" y="1"/>
            <a:ext cx="10515600" cy="777240"/>
          </a:xfrm>
        </p:spPr>
        <p:txBody>
          <a:bodyPr/>
          <a:lstStyle/>
          <a:p>
            <a:pPr algn="ctr"/>
            <a:r>
              <a:rPr lang="fr-FR" dirty="0" err="1"/>
              <a:t>Ethereum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927638-7BCD-9807-400B-0307A1FA7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984" y="592546"/>
            <a:ext cx="9602032" cy="589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4497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109C-6AD8-C83B-BBFF-DA27929C5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335" y="1"/>
            <a:ext cx="10515600" cy="777240"/>
          </a:xfrm>
        </p:spPr>
        <p:txBody>
          <a:bodyPr/>
          <a:lstStyle/>
          <a:p>
            <a:pPr algn="ctr"/>
            <a:r>
              <a:rPr lang="fr-FR" dirty="0" err="1"/>
              <a:t>Ethereum</a:t>
            </a:r>
            <a:r>
              <a:rPr lang="fr-FR" dirty="0"/>
              <a:t> ... </a:t>
            </a:r>
            <a:r>
              <a:rPr lang="fr-FR" dirty="0" err="1"/>
              <a:t>compared</a:t>
            </a:r>
            <a:r>
              <a:rPr lang="fr-FR" dirty="0"/>
              <a:t> to </a:t>
            </a:r>
            <a:r>
              <a:rPr lang="fr-FR" dirty="0" err="1"/>
              <a:t>BitCoin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B0BA84-03C7-2DF5-0938-754E2498E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786" y="1225034"/>
            <a:ext cx="10116427" cy="52392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AAF3C50-1BF2-3DFF-5897-FA8DEA2C55E3}"/>
              </a:ext>
            </a:extLst>
          </p:cNvPr>
          <p:cNvSpPr/>
          <p:nvPr/>
        </p:nvSpPr>
        <p:spPr>
          <a:xfrm>
            <a:off x="3762895" y="2438401"/>
            <a:ext cx="2116973" cy="277092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1A8F21-B1F0-4ADB-D87F-EE726439A089}"/>
              </a:ext>
            </a:extLst>
          </p:cNvPr>
          <p:cNvSpPr/>
          <p:nvPr/>
        </p:nvSpPr>
        <p:spPr>
          <a:xfrm>
            <a:off x="6312134" y="2662846"/>
            <a:ext cx="1512913" cy="277092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121ADE-D985-DFC6-2DDB-B45DE3894336}"/>
              </a:ext>
            </a:extLst>
          </p:cNvPr>
          <p:cNvSpPr/>
          <p:nvPr/>
        </p:nvSpPr>
        <p:spPr>
          <a:xfrm>
            <a:off x="1077888" y="6001789"/>
            <a:ext cx="1449182" cy="221676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94D72F-A094-66B0-DD68-EB28F20FE252}"/>
              </a:ext>
            </a:extLst>
          </p:cNvPr>
          <p:cNvSpPr/>
          <p:nvPr/>
        </p:nvSpPr>
        <p:spPr>
          <a:xfrm>
            <a:off x="1077888" y="5746861"/>
            <a:ext cx="1698563" cy="221676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83ED06-25BF-092C-7A21-6A07D1289E21}"/>
              </a:ext>
            </a:extLst>
          </p:cNvPr>
          <p:cNvSpPr/>
          <p:nvPr/>
        </p:nvSpPr>
        <p:spPr>
          <a:xfrm>
            <a:off x="7104610" y="5996247"/>
            <a:ext cx="1028008" cy="221676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906379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109C-6AD8-C83B-BBFF-DA27929C5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335" y="0"/>
            <a:ext cx="10515600" cy="1529541"/>
          </a:xfrm>
        </p:spPr>
        <p:txBody>
          <a:bodyPr/>
          <a:lstStyle/>
          <a:p>
            <a:pPr algn="ctr"/>
            <a:r>
              <a:rPr lang="fr-FR" dirty="0"/>
              <a:t>Ether  (ETH)  &lt;--&gt; </a:t>
            </a:r>
            <a:r>
              <a:rPr lang="fr-FR" dirty="0" err="1"/>
              <a:t>BitCoin</a:t>
            </a:r>
            <a:br>
              <a:rPr lang="fr-FR" dirty="0"/>
            </a:br>
            <a:r>
              <a:rPr lang="fr-FR" dirty="0" err="1"/>
              <a:t>Ethereum</a:t>
            </a:r>
            <a:r>
              <a:rPr lang="fr-FR" dirty="0"/>
              <a:t>  &lt;--&gt;  </a:t>
            </a:r>
            <a:r>
              <a:rPr lang="fr-FR" dirty="0" err="1"/>
              <a:t>BitCoin</a:t>
            </a:r>
            <a:r>
              <a:rPr lang="fr-FR" dirty="0"/>
              <a:t> network</a:t>
            </a:r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0CB9E80A-9AE0-303A-C1C4-AF75FC18B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3129" y="3050166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08" name="Picture 4" descr="Ethereum - Wikipedia">
            <a:extLst>
              <a:ext uri="{FF2B5EF4-FFF2-40B4-BE49-F238E27FC236}">
                <a16:creationId xmlns:a16="http://schemas.microsoft.com/office/drawing/2014/main" id="{826ACE52-ABE1-7BC9-A801-8DCC6A0F2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891" y="3009958"/>
            <a:ext cx="1399309" cy="233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10" name="Picture 6" descr="Amazon.com: Cryptochips | Ethereum 2021 Edition (ETH) Physical ...">
            <a:extLst>
              <a:ext uri="{FF2B5EF4-FFF2-40B4-BE49-F238E27FC236}">
                <a16:creationId xmlns:a16="http://schemas.microsoft.com/office/drawing/2014/main" id="{D457C0D4-364B-07D7-1183-44521AB86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6183" y="3077555"/>
            <a:ext cx="2375010" cy="3056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600904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109C-6AD8-C83B-BBFF-DA27929C5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335" y="1"/>
            <a:ext cx="10515600" cy="1440872"/>
          </a:xfrm>
        </p:spPr>
        <p:txBody>
          <a:bodyPr/>
          <a:lstStyle/>
          <a:p>
            <a:pPr algn="ctr"/>
            <a:r>
              <a:rPr lang="fr-FR" dirty="0" err="1"/>
              <a:t>Ethereum</a:t>
            </a:r>
            <a:r>
              <a:rPr lang="fr-FR" dirty="0"/>
              <a:t> Transactions rate per sec</a:t>
            </a:r>
            <a:br>
              <a:rPr lang="fr-FR" dirty="0"/>
            </a:br>
            <a:r>
              <a:rPr lang="fr-FR" dirty="0"/>
              <a:t>~1 Million per Day    ( &gt;=  Bitcoin 7 per sec)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B2A9A69-06B4-4D07-843D-6EC7937A119B}"/>
              </a:ext>
            </a:extLst>
          </p:cNvPr>
          <p:cNvSpPr txBox="1"/>
          <p:nvPr/>
        </p:nvSpPr>
        <p:spPr>
          <a:xfrm>
            <a:off x="995083" y="1613211"/>
            <a:ext cx="10945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hlinkClick r:id="rId2"/>
              </a:rPr>
              <a:t>https://tokenterminal.com/explorer/projects/ethereum/metrics/transactions-per-second?interval=1825d</a:t>
            </a:r>
            <a:r>
              <a:rPr lang="fr-FR" dirty="0"/>
              <a:t>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1C35F36-96BB-40E6-8EDE-5534F4CEC6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236" y="2081759"/>
            <a:ext cx="9475694" cy="450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51977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D7A94C-A97E-4231-B28E-E07BBFEA6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682"/>
            <a:ext cx="10515600" cy="995084"/>
          </a:xfrm>
        </p:spPr>
        <p:txBody>
          <a:bodyPr/>
          <a:lstStyle/>
          <a:p>
            <a:pPr algn="ctr"/>
            <a:r>
              <a:rPr lang="fr-FR" dirty="0"/>
              <a:t>Block Time : 1 block </a:t>
            </a:r>
            <a:r>
              <a:rPr lang="fr-FR" dirty="0" err="1"/>
              <a:t>every</a:t>
            </a:r>
            <a:r>
              <a:rPr lang="fr-FR" dirty="0"/>
              <a:t> ~13s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2C3E213-BDBE-4D0B-85FF-0552F43CB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988992" cy="4701947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70F41B5-6D3A-4D39-A2ED-E939BA17FEF1}"/>
              </a:ext>
            </a:extLst>
          </p:cNvPr>
          <p:cNvSpPr txBox="1"/>
          <p:nvPr/>
        </p:nvSpPr>
        <p:spPr>
          <a:xfrm>
            <a:off x="1210235" y="1259106"/>
            <a:ext cx="97446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hlinkClick r:id="rId3"/>
              </a:rPr>
              <a:t>https://tokenterminal.com/explorer/projects/ethereum/metrics/block-time?interval=1825d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4553848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BC589C-658E-46AD-8E3E-8E3D59736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dirty="0"/>
              <a:t>Transaction </a:t>
            </a:r>
            <a:r>
              <a:rPr lang="fr-FR" dirty="0" err="1"/>
              <a:t>Fee</a:t>
            </a:r>
            <a:r>
              <a:rPr lang="fr-FR" dirty="0"/>
              <a:t>  … &gt;=20 USD </a:t>
            </a:r>
            <a:br>
              <a:rPr lang="fr-FR" dirty="0"/>
            </a:br>
            <a:r>
              <a:rPr lang="fr-FR" dirty="0" err="1"/>
              <a:t>before</a:t>
            </a:r>
            <a:r>
              <a:rPr lang="fr-FR" dirty="0"/>
              <a:t> the « Merge »,  </a:t>
            </a:r>
            <a:r>
              <a:rPr lang="fr-FR" dirty="0" err="1"/>
              <a:t>now</a:t>
            </a:r>
            <a:r>
              <a:rPr lang="fr-FR" dirty="0"/>
              <a:t> ~0.20 USD  (1/100)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A084658-6089-425C-BA3F-0F85D5AE7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282" y="1815155"/>
            <a:ext cx="11126164" cy="457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33971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946AE7-5E4F-4FE8-B3FF-F27806141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Faster</a:t>
            </a:r>
            <a:r>
              <a:rPr lang="fr-FR" dirty="0"/>
              <a:t> / </a:t>
            </a:r>
            <a:r>
              <a:rPr lang="fr-FR" dirty="0" err="1"/>
              <a:t>Cheaper</a:t>
            </a:r>
            <a:r>
              <a:rPr lang="fr-FR" dirty="0"/>
              <a:t> </a:t>
            </a:r>
            <a:r>
              <a:rPr lang="fr-FR" dirty="0" err="1"/>
              <a:t>costs</a:t>
            </a:r>
            <a:r>
              <a:rPr lang="fr-FR" dirty="0"/>
              <a:t>?</a:t>
            </a:r>
            <a:br>
              <a:rPr lang="fr-FR" dirty="0"/>
            </a:br>
            <a:r>
              <a:rPr lang="fr-FR" dirty="0" err="1"/>
              <a:t>From</a:t>
            </a:r>
            <a:r>
              <a:rPr lang="fr-FR" dirty="0"/>
              <a:t> « L1 »   to « L2 » </a:t>
            </a:r>
            <a:r>
              <a:rPr lang="fr-FR" dirty="0" err="1"/>
              <a:t>chain</a:t>
            </a:r>
            <a:endParaRPr lang="fr-FR" dirty="0"/>
          </a:p>
        </p:txBody>
      </p:sp>
      <p:pic>
        <p:nvPicPr>
          <p:cNvPr id="1026" name="Picture 2" descr="Blockchain Breakdown: What is a Layer 2?">
            <a:extLst>
              <a:ext uri="{FF2B5EF4-FFF2-40B4-BE49-F238E27FC236}">
                <a16:creationId xmlns:a16="http://schemas.microsoft.com/office/drawing/2014/main" id="{A120E206-27A0-467D-B94B-E97CC163D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4259" y="2066095"/>
            <a:ext cx="7451632" cy="4426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875919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8006DA-E6A5-4F59-B65B-E2F4BB812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L2 Block  -&gt;  proof in L1 Block</a:t>
            </a:r>
          </a:p>
        </p:txBody>
      </p:sp>
      <p:pic>
        <p:nvPicPr>
          <p:cNvPr id="3074" name="Picture 2" descr="Image depicting validity proof transaction from layer-2 to layer-1">
            <a:extLst>
              <a:ext uri="{FF2B5EF4-FFF2-40B4-BE49-F238E27FC236}">
                <a16:creationId xmlns:a16="http://schemas.microsoft.com/office/drawing/2014/main" id="{084476F4-8C5D-47D1-9586-142177F57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3498" y="1564999"/>
            <a:ext cx="8945003" cy="5077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048031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1074E0-42BD-4B2D-8C8E-A64C29EDF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613"/>
            <a:ext cx="10515600" cy="735105"/>
          </a:xfrm>
        </p:spPr>
        <p:txBody>
          <a:bodyPr/>
          <a:lstStyle/>
          <a:p>
            <a:pPr algn="ctr"/>
            <a:r>
              <a:rPr lang="fr-FR" dirty="0"/>
              <a:t>Batch of Transactions on L2</a:t>
            </a:r>
          </a:p>
        </p:txBody>
      </p:sp>
      <p:pic>
        <p:nvPicPr>
          <p:cNvPr id="2050" name="Picture 2" descr="Where to Build dApps - Monolithic vs Modular Blockchains | Onchain Magazine">
            <a:extLst>
              <a:ext uri="{FF2B5EF4-FFF2-40B4-BE49-F238E27FC236}">
                <a16:creationId xmlns:a16="http://schemas.microsoft.com/office/drawing/2014/main" id="{1C8255E5-32A2-402D-98A9-906015ABE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6753" y="1690688"/>
            <a:ext cx="9368118" cy="5191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C0FC35D-E4F5-4DE6-9890-349C99E6C6B1}"/>
              </a:ext>
            </a:extLst>
          </p:cNvPr>
          <p:cNvSpPr txBox="1"/>
          <p:nvPr/>
        </p:nvSpPr>
        <p:spPr>
          <a:xfrm>
            <a:off x="421341" y="1321356"/>
            <a:ext cx="8655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hlinkClick r:id="rId3"/>
              </a:rPr>
              <a:t>https://onchain.org/magazine/where-to-build-dapps-monolithic-vs-modular-blockchains/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9683171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69B388-F3DE-4099-B07F-CB144F43A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L1 vs L2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2180D9B-08B4-4CAC-80F8-5E34348D3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421" y="1844272"/>
            <a:ext cx="7795936" cy="464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95375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1DBD56-69B2-477D-B9B1-B0C92DBD6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507"/>
            <a:ext cx="10515600" cy="717175"/>
          </a:xfrm>
        </p:spPr>
        <p:txBody>
          <a:bodyPr/>
          <a:lstStyle/>
          <a:p>
            <a:pPr algn="ctr"/>
            <a:r>
              <a:rPr lang="fr-FR" dirty="0"/>
              <a:t>Transaction </a:t>
            </a:r>
            <a:r>
              <a:rPr lang="fr-FR" dirty="0" err="1"/>
              <a:t>Costs</a:t>
            </a:r>
            <a:r>
              <a:rPr lang="fr-FR" dirty="0"/>
              <a:t> on L2 </a:t>
            </a:r>
            <a:r>
              <a:rPr lang="fr-FR" dirty="0" err="1"/>
              <a:t>chains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72DF82D-67D0-467D-ACFC-1F9A1C9EB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32502"/>
            <a:ext cx="10883153" cy="4861786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DC626F9-20DE-4227-9300-6FC54DB94809}"/>
              </a:ext>
            </a:extLst>
          </p:cNvPr>
          <p:cNvSpPr txBox="1"/>
          <p:nvPr/>
        </p:nvSpPr>
        <p:spPr>
          <a:xfrm>
            <a:off x="838200" y="100292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hlinkClick r:id="rId3"/>
              </a:rPr>
              <a:t>https://l2beat.com/scaling/costs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508859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109C-6AD8-C83B-BBFF-DA27929C5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335" y="1"/>
            <a:ext cx="10515600" cy="777240"/>
          </a:xfrm>
        </p:spPr>
        <p:txBody>
          <a:bodyPr/>
          <a:lstStyle/>
          <a:p>
            <a:pPr algn="ctr"/>
            <a:r>
              <a:rPr lang="fr-FR" dirty="0"/>
              <a:t>Smart </a:t>
            </a:r>
            <a:r>
              <a:rPr lang="fr-FR" dirty="0" err="1"/>
              <a:t>Contract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7C9F89-76A5-C850-45ED-3C5D795F6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192" y="1525566"/>
            <a:ext cx="10669349" cy="40495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157102-8FC9-5004-536F-E0EB16999328}"/>
              </a:ext>
            </a:extLst>
          </p:cNvPr>
          <p:cNvSpPr txBox="1"/>
          <p:nvPr/>
        </p:nvSpPr>
        <p:spPr>
          <a:xfrm>
            <a:off x="205048" y="640178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https://en.wikipedia.org/wiki/Smart_contract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642835-5C10-4118-33A3-150E988FA333}"/>
              </a:ext>
            </a:extLst>
          </p:cNvPr>
          <p:cNvSpPr/>
          <p:nvPr/>
        </p:nvSpPr>
        <p:spPr>
          <a:xfrm>
            <a:off x="4796683" y="3868189"/>
            <a:ext cx="6783857" cy="260466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9191F8-CDDE-B389-EC96-DC2E55D93807}"/>
              </a:ext>
            </a:extLst>
          </p:cNvPr>
          <p:cNvSpPr/>
          <p:nvPr/>
        </p:nvSpPr>
        <p:spPr>
          <a:xfrm>
            <a:off x="775335" y="4128655"/>
            <a:ext cx="2039909" cy="260466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989565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109C-6AD8-C83B-BBFF-DA27929C5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4334" y="0"/>
            <a:ext cx="12108872" cy="1402079"/>
          </a:xfrm>
        </p:spPr>
        <p:txBody>
          <a:bodyPr/>
          <a:lstStyle/>
          <a:p>
            <a:pPr algn="ctr"/>
            <a:r>
              <a:rPr lang="fr-FR" dirty="0"/>
              <a:t>Smart </a:t>
            </a:r>
            <a:r>
              <a:rPr lang="fr-FR" dirty="0" err="1"/>
              <a:t>Contract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... Not </a:t>
            </a:r>
            <a:r>
              <a:rPr lang="fr-FR" dirty="0" err="1"/>
              <a:t>Only</a:t>
            </a:r>
            <a:r>
              <a:rPr lang="fr-FR" dirty="0"/>
              <a:t> "</a:t>
            </a:r>
            <a:r>
              <a:rPr lang="fr-FR" dirty="0" err="1"/>
              <a:t>Payment</a:t>
            </a:r>
            <a:r>
              <a:rPr lang="fr-FR" dirty="0"/>
              <a:t>" Transactions / No Human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21A5C8-E8CA-2BB1-44F1-49D2D3C71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794" y="2249979"/>
            <a:ext cx="7436616" cy="42727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97FBC3-7E95-8479-A0E8-977958954CCB}"/>
              </a:ext>
            </a:extLst>
          </p:cNvPr>
          <p:cNvSpPr txBox="1"/>
          <p:nvPr/>
        </p:nvSpPr>
        <p:spPr>
          <a:xfrm>
            <a:off x="133004" y="6412869"/>
            <a:ext cx="6118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https://youtu.be/pWGLtjG-F5c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4839D7-A427-B720-0A43-0966F1DEADE4}"/>
              </a:ext>
            </a:extLst>
          </p:cNvPr>
          <p:cNvSpPr txBox="1"/>
          <p:nvPr/>
        </p:nvSpPr>
        <p:spPr>
          <a:xfrm>
            <a:off x="415635" y="1671843"/>
            <a:ext cx="86840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https://ethereum.org/en/smart-contracts/</a:t>
            </a:r>
          </a:p>
        </p:txBody>
      </p:sp>
    </p:spTree>
    <p:extLst>
      <p:ext uri="{BB962C8B-B14F-4D97-AF65-F5344CB8AC3E}">
        <p14:creationId xmlns:p14="http://schemas.microsoft.com/office/powerpoint/2010/main" val="288618304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7AD216-1DD7-490E-00E2-9A7369260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407"/>
            <a:ext cx="12192000" cy="682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53669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109C-6AD8-C83B-BBFF-DA27929C5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335" y="1"/>
            <a:ext cx="10515600" cy="1507374"/>
          </a:xfrm>
        </p:spPr>
        <p:txBody>
          <a:bodyPr/>
          <a:lstStyle/>
          <a:p>
            <a:pPr algn="ctr"/>
            <a:r>
              <a:rPr lang="fr-FR" dirty="0"/>
              <a:t>Solid  &amp; EVM (</a:t>
            </a:r>
            <a:r>
              <a:rPr lang="fr-FR" dirty="0" err="1"/>
              <a:t>Ethereum</a:t>
            </a:r>
            <a:r>
              <a:rPr lang="fr-FR" dirty="0"/>
              <a:t> Virtual Machine)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6FB3AB-7368-2089-2787-E3F9A2986767}"/>
              </a:ext>
            </a:extLst>
          </p:cNvPr>
          <p:cNvSpPr txBox="1"/>
          <p:nvPr/>
        </p:nvSpPr>
        <p:spPr>
          <a:xfrm>
            <a:off x="2510443" y="2371897"/>
            <a:ext cx="815120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Solid = a Turing Complete </a:t>
            </a:r>
            <a:r>
              <a:rPr lang="fr-FR" sz="3200" dirty="0" err="1"/>
              <a:t>programming</a:t>
            </a:r>
            <a:r>
              <a:rPr lang="fr-FR" sz="3200" dirty="0"/>
              <a:t> langage</a:t>
            </a:r>
          </a:p>
          <a:p>
            <a:endParaRPr lang="fr-FR" sz="3200" dirty="0"/>
          </a:p>
          <a:p>
            <a:r>
              <a:rPr lang="fr-FR" sz="3200" dirty="0"/>
              <a:t>run on a EVM</a:t>
            </a:r>
          </a:p>
          <a:p>
            <a:endParaRPr lang="fr-FR" sz="3200" dirty="0"/>
          </a:p>
          <a:p>
            <a:r>
              <a:rPr lang="fr-FR" sz="3200" dirty="0"/>
              <a:t>consume "GAS"</a:t>
            </a:r>
          </a:p>
        </p:txBody>
      </p:sp>
    </p:spTree>
    <p:extLst>
      <p:ext uri="{BB962C8B-B14F-4D97-AF65-F5344CB8AC3E}">
        <p14:creationId xmlns:p14="http://schemas.microsoft.com/office/powerpoint/2010/main" val="19183396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109C-6AD8-C83B-BBFF-DA27929C5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335" y="1"/>
            <a:ext cx="10515600" cy="777240"/>
          </a:xfrm>
        </p:spPr>
        <p:txBody>
          <a:bodyPr/>
          <a:lstStyle/>
          <a:p>
            <a:pPr algn="ctr"/>
            <a:r>
              <a:rPr lang="fr-FR" dirty="0" err="1"/>
              <a:t>Ethereum</a:t>
            </a:r>
            <a:r>
              <a:rPr lang="fr-FR" dirty="0"/>
              <a:t> GAS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EBC435-6F18-2378-D4BA-5ECF74F90D2B}"/>
              </a:ext>
            </a:extLst>
          </p:cNvPr>
          <p:cNvSpPr txBox="1"/>
          <p:nvPr/>
        </p:nvSpPr>
        <p:spPr>
          <a:xfrm>
            <a:off x="2031861" y="2371898"/>
            <a:ext cx="851201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GAS = </a:t>
            </a:r>
            <a:r>
              <a:rPr lang="fr-FR" sz="2400" dirty="0" err="1"/>
              <a:t>Fee</a:t>
            </a:r>
            <a:r>
              <a:rPr lang="fr-FR" sz="2400" dirty="0"/>
              <a:t> </a:t>
            </a:r>
            <a:r>
              <a:rPr lang="fr-FR" sz="2400" dirty="0" err="1"/>
              <a:t>you</a:t>
            </a:r>
            <a:r>
              <a:rPr lang="fr-FR" sz="2400" dirty="0"/>
              <a:t> must </a:t>
            </a:r>
            <a:r>
              <a:rPr lang="fr-FR" sz="2400" dirty="0" err="1"/>
              <a:t>pay</a:t>
            </a:r>
            <a:r>
              <a:rPr lang="fr-FR" sz="2400" dirty="0"/>
              <a:t> in ETH unit to </a:t>
            </a:r>
            <a:r>
              <a:rPr lang="fr-FR" sz="2400" dirty="0" err="1"/>
              <a:t>ask</a:t>
            </a:r>
            <a:r>
              <a:rPr lang="fr-FR" sz="2400" dirty="0"/>
              <a:t> </a:t>
            </a:r>
            <a:r>
              <a:rPr lang="fr-FR" sz="2400" dirty="0" err="1"/>
              <a:t>Minters</a:t>
            </a:r>
            <a:r>
              <a:rPr lang="fr-FR" sz="2400" dirty="0"/>
              <a:t> </a:t>
            </a:r>
          </a:p>
          <a:p>
            <a:endParaRPr lang="fr-FR" sz="2400" dirty="0"/>
          </a:p>
          <a:p>
            <a:r>
              <a:rPr lang="fr-FR" sz="2400" dirty="0"/>
              <a:t>              to </a:t>
            </a:r>
            <a:r>
              <a:rPr lang="fr-FR" sz="2400" dirty="0" err="1"/>
              <a:t>add</a:t>
            </a:r>
            <a:r>
              <a:rPr lang="fr-FR" sz="2400" dirty="0"/>
              <a:t> </a:t>
            </a:r>
            <a:r>
              <a:rPr lang="fr-FR" sz="2400" dirty="0" err="1"/>
              <a:t>your</a:t>
            </a:r>
            <a:r>
              <a:rPr lang="fr-FR" sz="2400" dirty="0"/>
              <a:t> transaction</a:t>
            </a:r>
          </a:p>
          <a:p>
            <a:r>
              <a:rPr lang="fr-FR" sz="2400" dirty="0"/>
              <a:t>              to run </a:t>
            </a:r>
            <a:r>
              <a:rPr lang="fr-FR" sz="2400" dirty="0" err="1"/>
              <a:t>each</a:t>
            </a:r>
            <a:r>
              <a:rPr lang="fr-FR" sz="2400" dirty="0"/>
              <a:t> </a:t>
            </a:r>
            <a:r>
              <a:rPr lang="fr-FR" sz="2400" dirty="0" err="1"/>
              <a:t>operation</a:t>
            </a:r>
            <a:r>
              <a:rPr lang="fr-FR" sz="2400" dirty="0"/>
              <a:t> code of </a:t>
            </a:r>
            <a:r>
              <a:rPr lang="fr-FR" sz="2400" dirty="0" err="1"/>
              <a:t>your</a:t>
            </a:r>
            <a:r>
              <a:rPr lang="fr-FR" sz="2400" dirty="0"/>
              <a:t> </a:t>
            </a:r>
            <a:r>
              <a:rPr lang="fr-FR" sz="2400" dirty="0" err="1"/>
              <a:t>SmartContract</a:t>
            </a:r>
            <a:r>
              <a:rPr lang="fr-FR" sz="2400" dirty="0"/>
              <a:t> program</a:t>
            </a:r>
          </a:p>
          <a:p>
            <a:r>
              <a:rPr lang="fr-FR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3273556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6437B-0348-8260-BA5A-4A94B9632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03069"/>
          </a:xfrm>
        </p:spPr>
        <p:txBody>
          <a:bodyPr/>
          <a:lstStyle/>
          <a:p>
            <a:pPr algn="ctr"/>
            <a:r>
              <a:rPr lang="fr-FR" dirty="0" err="1"/>
              <a:t>Solidity</a:t>
            </a:r>
            <a:r>
              <a:rPr lang="fr-FR" dirty="0"/>
              <a:t> Code </a:t>
            </a:r>
            <a:r>
              <a:rPr lang="fr-FR" dirty="0" err="1"/>
              <a:t>example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D2A115-A4C3-F0E4-FA41-C22EFAFAA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35" y="923207"/>
            <a:ext cx="5193166" cy="54869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3ACEDC-34E6-3A40-AE75-8F125E29B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515" y="3428072"/>
            <a:ext cx="4874108" cy="34299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45725BB-A8D4-C77C-CA00-56969B965E91}"/>
              </a:ext>
            </a:extLst>
          </p:cNvPr>
          <p:cNvSpPr txBox="1"/>
          <p:nvPr/>
        </p:nvSpPr>
        <p:spPr>
          <a:xfrm>
            <a:off x="144087" y="641011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https://en.wikipedia.org/wiki/Solidity</a:t>
            </a:r>
          </a:p>
        </p:txBody>
      </p:sp>
    </p:spTree>
    <p:extLst>
      <p:ext uri="{BB962C8B-B14F-4D97-AF65-F5344CB8AC3E}">
        <p14:creationId xmlns:p14="http://schemas.microsoft.com/office/powerpoint/2010/main" val="232126696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109C-6AD8-C83B-BBFF-DA27929C5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335" y="1"/>
            <a:ext cx="10515600" cy="777240"/>
          </a:xfrm>
        </p:spPr>
        <p:txBody>
          <a:bodyPr/>
          <a:lstStyle/>
          <a:p>
            <a:pPr algn="ctr"/>
            <a:r>
              <a:rPr lang="fr-FR" dirty="0"/>
              <a:t>https://ethereum.org/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B9D311-8D62-0EB8-AB41-BA0B6B423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047" y="930712"/>
            <a:ext cx="10257905" cy="583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98663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109C-6AD8-C83B-BBFF-DA27929C5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335" y="1"/>
            <a:ext cx="10515600" cy="777240"/>
          </a:xfrm>
        </p:spPr>
        <p:txBody>
          <a:bodyPr/>
          <a:lstStyle/>
          <a:p>
            <a:pPr algn="ctr"/>
            <a:r>
              <a:rPr lang="fr-FR" dirty="0"/>
              <a:t>https://ethereum.org/en/learn/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D63E8D-425F-D7A1-A65D-4C5DD2FDE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451" y="1068484"/>
            <a:ext cx="7380610" cy="508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89894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70940-D2D2-E39A-817F-E0C5211B7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783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Ethereum</a:t>
            </a:r>
            <a:r>
              <a:rPr lang="fr-FR" dirty="0"/>
              <a:t> Use Cases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079E95-E2B4-7AFA-E34E-C41722743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761" y="1524433"/>
            <a:ext cx="9401534" cy="512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67832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47A27F-DE97-438B-AE51-01E5072A8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dirty="0"/>
              <a:t>Code on L2 … proof on L1</a:t>
            </a:r>
            <a:br>
              <a:rPr lang="fr-FR" dirty="0"/>
            </a:br>
            <a:br>
              <a:rPr lang="fr-FR" dirty="0"/>
            </a:br>
            <a:r>
              <a:rPr lang="fr-FR" dirty="0" err="1"/>
              <a:t>Solidity</a:t>
            </a:r>
            <a:r>
              <a:rPr lang="fr-FR" dirty="0"/>
              <a:t>,  Rust, …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FB45F09-A3FF-4733-854D-220B1DC1A2E5}"/>
              </a:ext>
            </a:extLst>
          </p:cNvPr>
          <p:cNvSpPr txBox="1"/>
          <p:nvPr/>
        </p:nvSpPr>
        <p:spPr>
          <a:xfrm>
            <a:off x="3012141" y="2935942"/>
            <a:ext cx="657955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Computing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done</a:t>
            </a:r>
            <a:r>
              <a:rPr lang="fr-FR" dirty="0"/>
              <a:t> on the L2 </a:t>
            </a:r>
            <a:r>
              <a:rPr lang="fr-FR" dirty="0" err="1"/>
              <a:t>BlockChain</a:t>
            </a:r>
            <a:r>
              <a:rPr lang="fr-FR" dirty="0"/>
              <a:t>   </a:t>
            </a:r>
          </a:p>
          <a:p>
            <a:endParaRPr lang="fr-FR" dirty="0"/>
          </a:p>
          <a:p>
            <a:r>
              <a:rPr lang="fr-FR" dirty="0" err="1"/>
              <a:t>Does</a:t>
            </a:r>
            <a:r>
              <a:rPr lang="fr-FR" dirty="0"/>
              <a:t> not consume « GAS » on L1 … </a:t>
            </a:r>
            <a:r>
              <a:rPr lang="fr-FR" dirty="0" err="1"/>
              <a:t>only</a:t>
            </a:r>
            <a:r>
              <a:rPr lang="fr-FR" dirty="0"/>
              <a:t> a  proof signature !</a:t>
            </a:r>
          </a:p>
          <a:p>
            <a:endParaRPr lang="fr-FR" dirty="0"/>
          </a:p>
          <a:p>
            <a:r>
              <a:rPr lang="fr-FR" dirty="0"/>
              <a:t>On L2, </a:t>
            </a:r>
            <a:r>
              <a:rPr lang="fr-FR" dirty="0" err="1"/>
              <a:t>other</a:t>
            </a:r>
            <a:r>
              <a:rPr lang="fr-FR" dirty="0"/>
              <a:t> langages </a:t>
            </a:r>
            <a:r>
              <a:rPr lang="fr-FR" dirty="0" err="1"/>
              <a:t>than</a:t>
            </a:r>
            <a:r>
              <a:rPr lang="fr-FR" dirty="0"/>
              <a:t> « </a:t>
            </a:r>
            <a:r>
              <a:rPr lang="fr-FR" dirty="0" err="1"/>
              <a:t>solidity</a:t>
            </a:r>
            <a:r>
              <a:rPr lang="fr-FR" dirty="0"/>
              <a:t> »,  </a:t>
            </a:r>
            <a:r>
              <a:rPr lang="fr-FR" dirty="0" err="1"/>
              <a:t>example</a:t>
            </a:r>
            <a:r>
              <a:rPr lang="fr-FR" dirty="0"/>
              <a:t>: « RUST »</a:t>
            </a:r>
          </a:p>
          <a:p>
            <a:endParaRPr lang="fr-FR" dirty="0"/>
          </a:p>
          <a:p>
            <a:r>
              <a:rPr lang="fr-FR" dirty="0"/>
              <a:t>L3 on L2 : </a:t>
            </a:r>
            <a:r>
              <a:rPr lang="fr-FR" dirty="0" err="1"/>
              <a:t>even</a:t>
            </a:r>
            <a:r>
              <a:rPr lang="fr-FR" dirty="0"/>
              <a:t> more </a:t>
            </a:r>
            <a:r>
              <a:rPr lang="fr-FR" dirty="0" err="1"/>
              <a:t>specialized</a:t>
            </a:r>
            <a:r>
              <a:rPr lang="fr-FR" dirty="0"/>
              <a:t> applications  (</a:t>
            </a:r>
            <a:r>
              <a:rPr lang="fr-FR" dirty="0" err="1"/>
              <a:t>faster</a:t>
            </a:r>
            <a:r>
              <a:rPr lang="fr-FR" dirty="0"/>
              <a:t> transactions..)</a:t>
            </a:r>
          </a:p>
        </p:txBody>
      </p:sp>
    </p:spTree>
    <p:extLst>
      <p:ext uri="{BB962C8B-B14F-4D97-AF65-F5344CB8AC3E}">
        <p14:creationId xmlns:p14="http://schemas.microsoft.com/office/powerpoint/2010/main" val="131516123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5FD4D1-5104-465A-8DA8-9476CD041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0235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Example of Rust Code</a:t>
            </a:r>
            <a:br>
              <a:rPr lang="fr-FR" dirty="0"/>
            </a:br>
            <a:r>
              <a:rPr lang="fr-FR" dirty="0"/>
              <a:t>SG-Forge  EURCV Stable Coin, on Solana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348C6CD-A101-4464-A65D-AF81365C6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555" y="1567415"/>
            <a:ext cx="8050890" cy="5290585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56FC018-442F-4664-B3BA-7FB3FB264BA4}"/>
              </a:ext>
            </a:extLst>
          </p:cNvPr>
          <p:cNvSpPr txBox="1"/>
          <p:nvPr/>
        </p:nvSpPr>
        <p:spPr>
          <a:xfrm>
            <a:off x="161364" y="1198083"/>
            <a:ext cx="80508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hlinkClick r:id="rId3"/>
              </a:rPr>
              <a:t>https://github.com/societe-generale/smartcoin-solana/tree/main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1848463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FAED37-6702-4255-B647-8CF6C6AE8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80796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DeFI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7445298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109C-6AD8-C83B-BBFF-DA27929C5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335" y="1"/>
            <a:ext cx="10515600" cy="777240"/>
          </a:xfrm>
        </p:spPr>
        <p:txBody>
          <a:bodyPr/>
          <a:lstStyle/>
          <a:p>
            <a:pPr algn="ctr"/>
            <a:r>
              <a:rPr lang="fr-FR" dirty="0"/>
              <a:t>Example of </a:t>
            </a:r>
            <a:r>
              <a:rPr lang="fr-FR" dirty="0" err="1"/>
              <a:t>DeFi</a:t>
            </a:r>
            <a:r>
              <a:rPr lang="fr-FR" dirty="0"/>
              <a:t> (</a:t>
            </a:r>
            <a:r>
              <a:rPr lang="fr-FR" dirty="0" err="1"/>
              <a:t>Decentralized</a:t>
            </a:r>
            <a:r>
              <a:rPr lang="fr-FR" dirty="0"/>
              <a:t> Finance)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AEDE5E-9D22-B931-FEE1-4981302CA5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838" y="1548602"/>
            <a:ext cx="10078323" cy="376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72224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D603C-D902-B6D5-CDBC-28BE77D16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DAI ... stable coin ~1 USD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540C8F-1ED4-F9FC-2930-9F99BF712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046" y="1635539"/>
            <a:ext cx="8282623" cy="448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357017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7DCEE9-2C4B-45A4-BA59-6D958BF4F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435"/>
            <a:ext cx="10515600" cy="797859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Stable Coins… 300 Billions USD as of 2026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EA96AF9-FAF9-4AC2-96C3-E5270C26FCFD}"/>
              </a:ext>
            </a:extLst>
          </p:cNvPr>
          <p:cNvSpPr txBox="1"/>
          <p:nvPr/>
        </p:nvSpPr>
        <p:spPr>
          <a:xfrm>
            <a:off x="457200" y="9412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hlinkClick r:id="rId2"/>
              </a:rPr>
              <a:t>https://defillama.com/stablecoins</a:t>
            </a:r>
            <a:r>
              <a:rPr lang="fr-FR" dirty="0"/>
              <a:t>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4EA50A5-1A9C-4C03-90EF-6B75CB83C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88" y="1609084"/>
            <a:ext cx="11277600" cy="510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53498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453A8F-C2F4-441D-8156-3DE925D4F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57836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Top 5 </a:t>
            </a:r>
            <a:r>
              <a:rPr lang="fr-FR" dirty="0" err="1"/>
              <a:t>repartition</a:t>
            </a:r>
            <a:r>
              <a:rPr lang="fr-FR" dirty="0"/>
              <a:t> of stable coins USD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E4E9554-3F2C-43B5-9660-AFB81756A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7638"/>
            <a:ext cx="12192000" cy="3195899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72C75095-88DB-4425-AA68-C712634788AC}"/>
              </a:ext>
            </a:extLst>
          </p:cNvPr>
          <p:cNvSpPr txBox="1"/>
          <p:nvPr/>
        </p:nvSpPr>
        <p:spPr>
          <a:xfrm>
            <a:off x="1281953" y="5199529"/>
            <a:ext cx="70925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More </a:t>
            </a:r>
            <a:r>
              <a:rPr lang="fr-FR" sz="2400" dirty="0" err="1"/>
              <a:t>than</a:t>
            </a:r>
            <a:r>
              <a:rPr lang="fr-FR" sz="2400" dirty="0"/>
              <a:t> 60% on  </a:t>
            </a:r>
            <a:r>
              <a:rPr lang="fr-FR" sz="2400" dirty="0" err="1"/>
              <a:t>Tether</a:t>
            </a:r>
            <a:r>
              <a:rPr lang="fr-FR" sz="2400" dirty="0"/>
              <a:t>   (182 Billions USD    /  307 B)</a:t>
            </a:r>
          </a:p>
        </p:txBody>
      </p:sp>
    </p:spTree>
    <p:extLst>
      <p:ext uri="{BB962C8B-B14F-4D97-AF65-F5344CB8AC3E}">
        <p14:creationId xmlns:p14="http://schemas.microsoft.com/office/powerpoint/2010/main" val="78285757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9C537D-6803-4579-9B71-DA6E94261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Tether</a:t>
            </a:r>
            <a:br>
              <a:rPr lang="fr-FR" dirty="0"/>
            </a:br>
            <a:r>
              <a:rPr lang="fr-FR" dirty="0"/>
              <a:t>USD Stable Coins </a:t>
            </a:r>
            <a:r>
              <a:rPr lang="fr-FR" dirty="0" err="1"/>
              <a:t>repartition</a:t>
            </a:r>
            <a:r>
              <a:rPr lang="fr-FR" dirty="0"/>
              <a:t> per </a:t>
            </a:r>
            <a:r>
              <a:rPr lang="fr-FR" dirty="0" err="1"/>
              <a:t>BlockChains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8E1134A-213F-4A5A-AD54-13B186F47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718" y="1995488"/>
            <a:ext cx="10139082" cy="4439991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E02EB9D-0283-43FF-B629-882C8E609232}"/>
              </a:ext>
            </a:extLst>
          </p:cNvPr>
          <p:cNvSpPr txBox="1"/>
          <p:nvPr/>
        </p:nvSpPr>
        <p:spPr>
          <a:xfrm>
            <a:off x="376518" y="12183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hlinkClick r:id="rId3"/>
              </a:rPr>
              <a:t>https://defillama.com/stablecoin/tether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268898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2C6EB8-7046-40B0-ADDC-295DFEF29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051299"/>
          </a:xfrm>
        </p:spPr>
        <p:txBody>
          <a:bodyPr/>
          <a:lstStyle/>
          <a:p>
            <a:pPr algn="ctr"/>
            <a:r>
              <a:rPr lang="fr-FR" dirty="0" err="1"/>
              <a:t>Tether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EB0A0F7-1E8C-4271-A394-BE66F8558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363" y="1995885"/>
            <a:ext cx="9617273" cy="2453853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BDD75F6-76FC-4397-BD3F-D764C348E02A}"/>
              </a:ext>
            </a:extLst>
          </p:cNvPr>
          <p:cNvSpPr txBox="1"/>
          <p:nvPr/>
        </p:nvSpPr>
        <p:spPr>
          <a:xfrm>
            <a:off x="726141" y="107268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hlinkClick r:id="rId3"/>
              </a:rPr>
              <a:t>https://tether.to/en/how-it-works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3756227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FC3C0E-1C67-4D57-9EE2-08E53CCF8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68188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Tether</a:t>
            </a:r>
            <a:r>
              <a:rPr lang="fr-FR" dirty="0"/>
              <a:t> </a:t>
            </a:r>
            <a:r>
              <a:rPr lang="fr-FR" dirty="0" err="1"/>
              <a:t>Transparency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EEF742F-1651-4D67-8E5D-946BDAC3B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247" y="1414938"/>
            <a:ext cx="8519399" cy="502176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20471F1A-7271-4399-9E97-F7ADC62ADCF1}"/>
              </a:ext>
            </a:extLst>
          </p:cNvPr>
          <p:cNvSpPr txBox="1"/>
          <p:nvPr/>
        </p:nvSpPr>
        <p:spPr>
          <a:xfrm>
            <a:off x="386946" y="82223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hlinkClick r:id="rId3"/>
              </a:rPr>
              <a:t>https://tether.to/en/transparency/?tab=usdt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245163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4596A1-4E82-4269-8ED6-743B6CB37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541"/>
            <a:ext cx="10515600" cy="959225"/>
          </a:xfrm>
        </p:spPr>
        <p:txBody>
          <a:bodyPr/>
          <a:lstStyle/>
          <a:p>
            <a:pPr algn="ctr"/>
            <a:r>
              <a:rPr lang="fr-FR" dirty="0" err="1"/>
              <a:t>Tether</a:t>
            </a:r>
            <a:r>
              <a:rPr lang="fr-FR" dirty="0"/>
              <a:t> </a:t>
            </a:r>
            <a:r>
              <a:rPr lang="fr-FR" dirty="0" err="1"/>
              <a:t>Reserves</a:t>
            </a:r>
            <a:r>
              <a:rPr lang="fr-FR" dirty="0"/>
              <a:t> -&gt;  83% in US </a:t>
            </a:r>
            <a:r>
              <a:rPr lang="fr-FR" dirty="0" err="1"/>
              <a:t>Treasy</a:t>
            </a:r>
            <a:r>
              <a:rPr lang="fr-FR" dirty="0"/>
              <a:t> Bills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633F803-888C-447E-960C-86C06B26E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390" y="1873249"/>
            <a:ext cx="8824725" cy="345215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E34B6741-9579-4D7C-A5A7-F0742F184C2D}"/>
              </a:ext>
            </a:extLst>
          </p:cNvPr>
          <p:cNvSpPr txBox="1"/>
          <p:nvPr/>
        </p:nvSpPr>
        <p:spPr>
          <a:xfrm>
            <a:off x="430306" y="137482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hlinkClick r:id="rId3"/>
              </a:rPr>
              <a:t>https://tether.to/en/transparency/?tab=reports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1573183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EC2443-AB91-482C-BFA5-388E24925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US </a:t>
            </a:r>
            <a:r>
              <a:rPr lang="fr-FR" dirty="0" err="1"/>
              <a:t>Treasury</a:t>
            </a:r>
            <a:r>
              <a:rPr lang="fr-FR" dirty="0"/>
              <a:t> Bills … ~3.5% revenue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303861D-6083-4FDB-AF58-2F71CADE1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9525" y="1873666"/>
            <a:ext cx="7392950" cy="4903651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8A93F4C9-6E39-483B-B63A-4F39E99F61E0}"/>
              </a:ext>
            </a:extLst>
          </p:cNvPr>
          <p:cNvSpPr txBox="1"/>
          <p:nvPr/>
        </p:nvSpPr>
        <p:spPr>
          <a:xfrm>
            <a:off x="170329" y="1098497"/>
            <a:ext cx="115734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hlinkClick r:id="rId3"/>
              </a:rPr>
              <a:t>https://home.treasury.gov/resource-center/data-chart-center/interest-rates/TextView?type=daily_treasury_bill_rates&amp;field_tdr_date_value=2026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2399144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4DE8F0-8E5C-4223-8797-92427B889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42681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Tether</a:t>
            </a:r>
            <a:r>
              <a:rPr lang="fr-FR" dirty="0"/>
              <a:t>.. A profitable </a:t>
            </a:r>
            <a:r>
              <a:rPr lang="fr-FR" dirty="0" err="1"/>
              <a:t>company</a:t>
            </a:r>
            <a:r>
              <a:rPr lang="fr-FR" dirty="0"/>
              <a:t> ?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E0FF1C4-7148-487B-877E-6B4CF62F5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9917" y="2097742"/>
            <a:ext cx="6341905" cy="453729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395FAB6-62DE-47F3-8CCB-5B05D7F98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0" y="842682"/>
            <a:ext cx="4936399" cy="410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90772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DD5471-7BE9-4781-9CB0-BE51C9531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7323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SG-Forge</a:t>
            </a:r>
          </a:p>
        </p:txBody>
      </p:sp>
      <p:pic>
        <p:nvPicPr>
          <p:cNvPr id="6148" name="Picture 4" descr="Disclaimer… – Looking Joli Good">
            <a:extLst>
              <a:ext uri="{FF2B5EF4-FFF2-40B4-BE49-F238E27FC236}">
                <a16:creationId xmlns:a16="http://schemas.microsoft.com/office/drawing/2014/main" id="{33863A20-A770-4D1E-B9DF-594DD14392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756" y="5109883"/>
            <a:ext cx="1577412" cy="1641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77B1D7B-EAA5-4306-97B6-6752CC8D679F}"/>
              </a:ext>
            </a:extLst>
          </p:cNvPr>
          <p:cNvSpPr txBox="1"/>
          <p:nvPr/>
        </p:nvSpPr>
        <p:spPr>
          <a:xfrm>
            <a:off x="2456330" y="5316070"/>
            <a:ext cx="75763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 </a:t>
            </a:r>
            <a:r>
              <a:rPr lang="fr-FR" dirty="0" err="1"/>
              <a:t>work</a:t>
            </a:r>
            <a:r>
              <a:rPr lang="fr-FR" dirty="0"/>
              <a:t> at SG, but not at SG-Forge</a:t>
            </a:r>
            <a:br>
              <a:rPr lang="fr-FR" dirty="0"/>
            </a:br>
            <a:r>
              <a:rPr lang="fr-FR" dirty="0"/>
              <a:t>I know </a:t>
            </a:r>
            <a:r>
              <a:rPr lang="fr-FR" dirty="0" err="1"/>
              <a:t>only</a:t>
            </a:r>
            <a:r>
              <a:rPr lang="fr-FR" dirty="0"/>
              <a:t> few about SG-Forge </a:t>
            </a:r>
            <a:r>
              <a:rPr lang="fr-FR" dirty="0" err="1"/>
              <a:t>internals</a:t>
            </a:r>
            <a:endParaRPr lang="fr-FR" dirty="0"/>
          </a:p>
          <a:p>
            <a:r>
              <a:rPr lang="fr-FR" dirty="0"/>
              <a:t>The </a:t>
            </a:r>
            <a:r>
              <a:rPr lang="fr-FR" dirty="0" err="1"/>
              <a:t>view</a:t>
            </a:r>
            <a:r>
              <a:rPr lang="fr-FR" dirty="0"/>
              <a:t>/opinion/information do NOT state or </a:t>
            </a:r>
            <a:r>
              <a:rPr lang="fr-FR" dirty="0" err="1"/>
              <a:t>reflect</a:t>
            </a:r>
            <a:r>
              <a:rPr lang="fr-FR" dirty="0"/>
              <a:t> </a:t>
            </a:r>
            <a:r>
              <a:rPr lang="fr-FR" dirty="0" err="1"/>
              <a:t>those</a:t>
            </a:r>
            <a:r>
              <a:rPr lang="fr-FR" dirty="0"/>
              <a:t> of the </a:t>
            </a:r>
            <a:r>
              <a:rPr lang="fr-FR" dirty="0" err="1"/>
              <a:t>companies</a:t>
            </a:r>
            <a:r>
              <a:rPr lang="fr-FR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189743053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9A363B-628D-4A25-B497-EBF4FE973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51648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SG-Forge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1A2E2E4-BD01-453B-AC39-BB2F90BA5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4282" y="1218213"/>
            <a:ext cx="5136805" cy="556543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986300BE-C8F6-4AB9-8BCD-9D8DBBCA252C}"/>
              </a:ext>
            </a:extLst>
          </p:cNvPr>
          <p:cNvSpPr txBox="1"/>
          <p:nvPr/>
        </p:nvSpPr>
        <p:spPr>
          <a:xfrm>
            <a:off x="762000" y="6655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hlinkClick r:id="rId3"/>
              </a:rPr>
              <a:t>https://www.sgforge.com/</a:t>
            </a:r>
            <a:r>
              <a:rPr lang="fr-FR" dirty="0"/>
              <a:t>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78A6001-CEBE-41C0-A50A-55DDADAA9A54}"/>
              </a:ext>
            </a:extLst>
          </p:cNvPr>
          <p:cNvSpPr txBox="1"/>
          <p:nvPr/>
        </p:nvSpPr>
        <p:spPr>
          <a:xfrm>
            <a:off x="340659" y="2277035"/>
            <a:ext cx="348544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 startup ~50 </a:t>
            </a:r>
            <a:r>
              <a:rPr lang="fr-FR" dirty="0" err="1"/>
              <a:t>employees</a:t>
            </a:r>
            <a:r>
              <a:rPr lang="fr-FR" dirty="0"/>
              <a:t>, </a:t>
            </a:r>
            <a:r>
              <a:rPr lang="fr-FR" dirty="0" err="1"/>
              <a:t>inside</a:t>
            </a:r>
            <a:r>
              <a:rPr lang="fr-FR" dirty="0"/>
              <a:t> SG</a:t>
            </a:r>
          </a:p>
          <a:p>
            <a:r>
              <a:rPr lang="fr-FR" dirty="0" err="1"/>
              <a:t>Created</a:t>
            </a:r>
            <a:r>
              <a:rPr lang="fr-FR" dirty="0"/>
              <a:t> in 2020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6442676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21477B-6777-4D1F-8DF6-6D27B52EA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Bank-grade </a:t>
            </a:r>
            <a:r>
              <a:rPr lang="fr-FR" dirty="0" err="1"/>
              <a:t>security</a:t>
            </a:r>
            <a:r>
              <a:rPr lang="fr-FR" dirty="0"/>
              <a:t>, </a:t>
            </a:r>
            <a:r>
              <a:rPr lang="fr-FR" dirty="0" err="1"/>
              <a:t>Regulated</a:t>
            </a:r>
            <a:r>
              <a:rPr lang="fr-FR" dirty="0"/>
              <a:t>..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7883E50-3682-4ED7-89DF-3A4DAB80B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603" y="1873693"/>
            <a:ext cx="8702794" cy="355884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256AE119-C12C-4009-93A0-2F9920378A1F}"/>
              </a:ext>
            </a:extLst>
          </p:cNvPr>
          <p:cNvSpPr txBox="1"/>
          <p:nvPr/>
        </p:nvSpPr>
        <p:spPr>
          <a:xfrm>
            <a:off x="4625789" y="5649626"/>
            <a:ext cx="5582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MICA =  </a:t>
            </a:r>
            <a:r>
              <a:rPr lang="fr-FR" dirty="0" err="1"/>
              <a:t>European</a:t>
            </a:r>
            <a:r>
              <a:rPr lang="fr-FR" dirty="0"/>
              <a:t> Union </a:t>
            </a:r>
            <a:r>
              <a:rPr lang="fr-FR" dirty="0" err="1"/>
              <a:t>regulation</a:t>
            </a:r>
            <a:r>
              <a:rPr lang="fr-FR" dirty="0"/>
              <a:t>,  </a:t>
            </a:r>
            <a:r>
              <a:rPr lang="fr-FR" dirty="0" err="1"/>
              <a:t>applied</a:t>
            </a:r>
            <a:r>
              <a:rPr lang="fr-FR" dirty="0"/>
              <a:t> </a:t>
            </a:r>
            <a:r>
              <a:rPr lang="fr-FR" dirty="0" err="1"/>
              <a:t>since</a:t>
            </a:r>
            <a:r>
              <a:rPr lang="fr-FR" dirty="0"/>
              <a:t> ~2024 </a:t>
            </a:r>
          </a:p>
        </p:txBody>
      </p:sp>
    </p:spTree>
    <p:extLst>
      <p:ext uri="{BB962C8B-B14F-4D97-AF65-F5344CB8AC3E}">
        <p14:creationId xmlns:p14="http://schemas.microsoft.com/office/powerpoint/2010/main" val="61314338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7752EE-51D1-43BE-9A78-2D7FF3044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79928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SG-Forge </a:t>
            </a:r>
            <a:r>
              <a:rPr lang="fr-FR" dirty="0" err="1"/>
              <a:t>Partners</a:t>
            </a:r>
            <a:r>
              <a:rPr lang="fr-FR" dirty="0"/>
              <a:t> -&gt; </a:t>
            </a:r>
            <a:r>
              <a:rPr lang="fr-FR" dirty="0" err="1"/>
              <a:t>Distributer</a:t>
            </a:r>
            <a:r>
              <a:rPr lang="fr-FR" dirty="0"/>
              <a:t> -&gt; </a:t>
            </a:r>
            <a:r>
              <a:rPr lang="fr-FR" dirty="0" err="1"/>
              <a:t>BlockChains</a:t>
            </a:r>
            <a:r>
              <a:rPr lang="fr-FR" dirty="0"/>
              <a:t> ..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C87D9FC-6CE3-42D4-A8A9-0797C5D05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6295" y="898488"/>
            <a:ext cx="6266064" cy="2165977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57F34E0-E96C-4101-B6E8-9ED18E8DEEBC}"/>
              </a:ext>
            </a:extLst>
          </p:cNvPr>
          <p:cNvSpPr txBox="1"/>
          <p:nvPr/>
        </p:nvSpPr>
        <p:spPr>
          <a:xfrm>
            <a:off x="2012578" y="5647760"/>
            <a:ext cx="1667435" cy="367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End clients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AC7D122-7E17-4E96-AEDB-5860E3D8FFAD}"/>
              </a:ext>
            </a:extLst>
          </p:cNvPr>
          <p:cNvSpPr txBox="1"/>
          <p:nvPr/>
        </p:nvSpPr>
        <p:spPr>
          <a:xfrm>
            <a:off x="4665998" y="3920979"/>
            <a:ext cx="5060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SG-Forge  = </a:t>
            </a:r>
            <a:r>
              <a:rPr lang="fr-FR" dirty="0" err="1"/>
              <a:t>minter</a:t>
            </a:r>
            <a:r>
              <a:rPr lang="fr-FR" dirty="0"/>
              <a:t> + </a:t>
            </a:r>
            <a:r>
              <a:rPr lang="fr-FR" dirty="0" err="1"/>
              <a:t>regulatory</a:t>
            </a:r>
            <a:br>
              <a:rPr lang="fr-FR" dirty="0"/>
            </a:br>
            <a:r>
              <a:rPr lang="fr-FR" dirty="0"/>
              <a:t>( =</a:t>
            </a:r>
            <a:r>
              <a:rPr lang="en-US" dirty="0"/>
              <a:t>EU-authorized EMI (Electronic Money  Institution)</a:t>
            </a:r>
            <a:endParaRPr lang="fr-FR" dirty="0"/>
          </a:p>
        </p:txBody>
      </p:sp>
      <p:sp>
        <p:nvSpPr>
          <p:cNvPr id="8" name="Flèche : bas 7">
            <a:extLst>
              <a:ext uri="{FF2B5EF4-FFF2-40B4-BE49-F238E27FC236}">
                <a16:creationId xmlns:a16="http://schemas.microsoft.com/office/drawing/2014/main" id="{32F5291A-6540-4D7E-9893-DE97944EA9D6}"/>
              </a:ext>
            </a:extLst>
          </p:cNvPr>
          <p:cNvSpPr/>
          <p:nvPr/>
        </p:nvSpPr>
        <p:spPr>
          <a:xfrm rot="16200000">
            <a:off x="3491755" y="5526737"/>
            <a:ext cx="197223" cy="609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658F14D-836F-4EF5-AF63-7F373BD3BE4B}"/>
              </a:ext>
            </a:extLst>
          </p:cNvPr>
          <p:cNvSpPr txBox="1"/>
          <p:nvPr/>
        </p:nvSpPr>
        <p:spPr>
          <a:xfrm>
            <a:off x="4401406" y="5647763"/>
            <a:ext cx="20260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Distributers</a:t>
            </a:r>
            <a:br>
              <a:rPr lang="fr-FR" dirty="0"/>
            </a:br>
            <a:r>
              <a:rPr lang="fr-FR" dirty="0"/>
              <a:t>( = Crypto-Asset Service Providers)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80435F3-0CD7-4725-A7AD-322F8BCCAEF2}"/>
              </a:ext>
            </a:extLst>
          </p:cNvPr>
          <p:cNvSpPr txBox="1"/>
          <p:nvPr/>
        </p:nvSpPr>
        <p:spPr>
          <a:xfrm>
            <a:off x="7109012" y="4922512"/>
            <a:ext cx="1460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Mint, Burn, …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3EEE68C-6ED6-4D87-9A2A-DA8055472407}"/>
              </a:ext>
            </a:extLst>
          </p:cNvPr>
          <p:cNvSpPr txBox="1"/>
          <p:nvPr/>
        </p:nvSpPr>
        <p:spPr>
          <a:xfrm>
            <a:off x="6642582" y="5647762"/>
            <a:ext cx="1667435" cy="367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L2 </a:t>
            </a:r>
            <a:r>
              <a:rPr lang="fr-FR" dirty="0" err="1"/>
              <a:t>BlockChain</a:t>
            </a:r>
            <a:endParaRPr lang="fr-FR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EB3AED7-CB6A-4F59-BD7C-543F807A4575}"/>
              </a:ext>
            </a:extLst>
          </p:cNvPr>
          <p:cNvSpPr txBox="1"/>
          <p:nvPr/>
        </p:nvSpPr>
        <p:spPr>
          <a:xfrm>
            <a:off x="7225288" y="6185644"/>
            <a:ext cx="1667435" cy="367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L1 </a:t>
            </a:r>
            <a:r>
              <a:rPr lang="fr-FR" dirty="0" err="1"/>
              <a:t>BlockChain</a:t>
            </a:r>
            <a:endParaRPr lang="fr-FR" dirty="0"/>
          </a:p>
        </p:txBody>
      </p:sp>
      <p:sp>
        <p:nvSpPr>
          <p:cNvPr id="13" name="Flèche : bas 12">
            <a:extLst>
              <a:ext uri="{FF2B5EF4-FFF2-40B4-BE49-F238E27FC236}">
                <a16:creationId xmlns:a16="http://schemas.microsoft.com/office/drawing/2014/main" id="{7AF72F4C-60BB-4740-BF47-E222E5A384C0}"/>
              </a:ext>
            </a:extLst>
          </p:cNvPr>
          <p:cNvSpPr/>
          <p:nvPr/>
        </p:nvSpPr>
        <p:spPr>
          <a:xfrm rot="16200000">
            <a:off x="6096001" y="5524490"/>
            <a:ext cx="197223" cy="609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Flèche : double flèche horizontale 15">
            <a:extLst>
              <a:ext uri="{FF2B5EF4-FFF2-40B4-BE49-F238E27FC236}">
                <a16:creationId xmlns:a16="http://schemas.microsoft.com/office/drawing/2014/main" id="{7D623DAA-83BE-4087-A0D9-FC6272217B4F}"/>
              </a:ext>
            </a:extLst>
          </p:cNvPr>
          <p:cNvSpPr/>
          <p:nvPr/>
        </p:nvSpPr>
        <p:spPr>
          <a:xfrm rot="5400000">
            <a:off x="4755782" y="5069797"/>
            <a:ext cx="723093" cy="19722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Flèche : double flèche horizontale 16">
            <a:extLst>
              <a:ext uri="{FF2B5EF4-FFF2-40B4-BE49-F238E27FC236}">
                <a16:creationId xmlns:a16="http://schemas.microsoft.com/office/drawing/2014/main" id="{4614C65B-98BA-4FC6-A4D6-45CC3E445731}"/>
              </a:ext>
            </a:extLst>
          </p:cNvPr>
          <p:cNvSpPr/>
          <p:nvPr/>
        </p:nvSpPr>
        <p:spPr>
          <a:xfrm rot="5400000">
            <a:off x="6648853" y="5080506"/>
            <a:ext cx="723093" cy="197224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814410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7973CC-6649-4251-A2AC-5B2D39F8B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33718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SG-Forge   EUR Stable Coin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6BE8503-0222-4273-AB3C-38CF18B9D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163" y="833719"/>
            <a:ext cx="5390283" cy="5775304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BD88B864-C12D-48AD-B004-586AEEDA57EC}"/>
              </a:ext>
            </a:extLst>
          </p:cNvPr>
          <p:cNvSpPr txBox="1"/>
          <p:nvPr/>
        </p:nvSpPr>
        <p:spPr>
          <a:xfrm>
            <a:off x="322729" y="97178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hlinkClick r:id="rId3"/>
              </a:rPr>
              <a:t>https://www.sgforge.com/product/coinvertible/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6455331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B01E6F-5155-4954-99F3-0AD59036C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78541"/>
          </a:xfrm>
        </p:spPr>
        <p:txBody>
          <a:bodyPr/>
          <a:lstStyle/>
          <a:p>
            <a:pPr algn="ctr"/>
            <a:r>
              <a:rPr lang="fr-FR" dirty="0"/>
              <a:t>SG-Forge  EUR Stable Coin on </a:t>
            </a:r>
            <a:r>
              <a:rPr lang="fr-FR" dirty="0" err="1"/>
              <a:t>Solscan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8E77D4F-F13B-401A-8EBD-4F199B02C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025" y="1776893"/>
            <a:ext cx="9735950" cy="492217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5AC6F8D8-E488-4846-8132-76B66DED3816}"/>
              </a:ext>
            </a:extLst>
          </p:cNvPr>
          <p:cNvSpPr txBox="1"/>
          <p:nvPr/>
        </p:nvSpPr>
        <p:spPr>
          <a:xfrm>
            <a:off x="251011" y="1049375"/>
            <a:ext cx="10712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hlinkClick r:id="rId3"/>
              </a:rPr>
              <a:t>https://solscan.io/token/DghpMkatCiUsofbTmid3M3kAbDTPqDwKiYHnudXeGG52?page_size=100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508622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42A353-B20E-45E1-96DF-5E200A7D4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576"/>
            <a:ext cx="10515600" cy="744072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EUR Stable Coins - </a:t>
            </a:r>
            <a:r>
              <a:rPr lang="fr-FR" dirty="0" err="1"/>
              <a:t>Transfers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4D90B88-14AD-485C-9F78-75993338E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865" y="2524515"/>
            <a:ext cx="10722269" cy="392464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D27B6AF-434F-46A4-9E40-DC12FC347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85" y="851648"/>
            <a:ext cx="10714649" cy="1295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22922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06CCC5-0054-4F7C-9218-C5DC39C97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Mint -&gt; Transfer -&gt; Burn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6646CD5-1D70-42AE-BE34-A6DAC8E04597}"/>
              </a:ext>
            </a:extLst>
          </p:cNvPr>
          <p:cNvSpPr txBox="1"/>
          <p:nvPr/>
        </p:nvSpPr>
        <p:spPr>
          <a:xfrm>
            <a:off x="838200" y="1690688"/>
            <a:ext cx="618053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Mint</a:t>
            </a:r>
            <a:r>
              <a:rPr lang="fr-FR" dirty="0"/>
              <a:t> = </a:t>
            </a:r>
            <a:r>
              <a:rPr lang="fr-FR" dirty="0" err="1"/>
              <a:t>creation</a:t>
            </a:r>
            <a:r>
              <a:rPr lang="fr-FR" dirty="0"/>
              <a:t> of a new </a:t>
            </a:r>
            <a:r>
              <a:rPr lang="fr-FR" dirty="0" err="1"/>
              <a:t>token</a:t>
            </a:r>
            <a:r>
              <a:rPr lang="fr-FR" dirty="0"/>
              <a:t>  « 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nothing</a:t>
            </a:r>
            <a:r>
              <a:rPr lang="fr-FR" dirty="0"/>
              <a:t>»  (on the </a:t>
            </a:r>
            <a:r>
              <a:rPr lang="fr-FR" dirty="0" err="1"/>
              <a:t>chain</a:t>
            </a:r>
            <a:r>
              <a:rPr lang="fr-FR" dirty="0"/>
              <a:t> )</a:t>
            </a:r>
          </a:p>
          <a:p>
            <a:r>
              <a:rPr lang="fr-FR" dirty="0"/>
              <a:t>             … </a:t>
            </a:r>
            <a:r>
              <a:rPr lang="fr-FR" dirty="0" err="1"/>
              <a:t>from</a:t>
            </a:r>
            <a:r>
              <a:rPr lang="fr-FR" dirty="0"/>
              <a:t> real EUR </a:t>
            </a:r>
            <a:r>
              <a:rPr lang="fr-FR" dirty="0" err="1"/>
              <a:t>bank</a:t>
            </a:r>
            <a:r>
              <a:rPr lang="fr-FR" dirty="0"/>
              <a:t> </a:t>
            </a:r>
            <a:r>
              <a:rPr lang="fr-FR" dirty="0" err="1"/>
              <a:t>customer</a:t>
            </a:r>
            <a:endParaRPr lang="fr-FR" dirty="0"/>
          </a:p>
          <a:p>
            <a:br>
              <a:rPr lang="fr-FR" dirty="0"/>
            </a:br>
            <a:r>
              <a:rPr lang="fr-FR" dirty="0"/>
              <a:t>=&gt; EUR move to a « </a:t>
            </a:r>
            <a:r>
              <a:rPr lang="fr-FR" dirty="0" err="1"/>
              <a:t>Custodian</a:t>
            </a:r>
            <a:r>
              <a:rPr lang="fr-FR" dirty="0"/>
              <a:t> »  (in french: « Dépositaire »)</a:t>
            </a:r>
            <a:br>
              <a:rPr lang="fr-FR" dirty="0"/>
            </a:br>
            <a:r>
              <a:rPr lang="fr-FR" dirty="0" err="1"/>
              <a:t>amount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« </a:t>
            </a:r>
            <a:r>
              <a:rPr lang="fr-FR" dirty="0" err="1"/>
              <a:t>locked</a:t>
            </a:r>
            <a:r>
              <a:rPr lang="fr-FR" dirty="0"/>
              <a:t> » / « </a:t>
            </a:r>
            <a:r>
              <a:rPr lang="fr-FR" dirty="0" err="1"/>
              <a:t>held</a:t>
            </a:r>
            <a:r>
              <a:rPr lang="fr-FR" dirty="0"/>
              <a:t> »</a:t>
            </a:r>
            <a:br>
              <a:rPr lang="fr-FR" dirty="0"/>
            </a:br>
            <a:br>
              <a:rPr lang="fr-FR" dirty="0"/>
            </a:br>
            <a:r>
              <a:rPr lang="fr-FR" dirty="0"/>
              <a:t>must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liquid</a:t>
            </a:r>
            <a:r>
              <a:rPr lang="fr-FR" dirty="0"/>
              <a:t> for future </a:t>
            </a:r>
            <a:r>
              <a:rPr lang="fr-FR" dirty="0" err="1"/>
              <a:t>Remptions</a:t>
            </a:r>
            <a:r>
              <a:rPr lang="fr-FR" dirty="0"/>
              <a:t>, </a:t>
            </a:r>
            <a:r>
              <a:rPr lang="fr-FR" dirty="0" err="1"/>
              <a:t>be</a:t>
            </a:r>
            <a:r>
              <a:rPr lang="fr-FR" dirty="0"/>
              <a:t> un-</a:t>
            </a:r>
            <a:r>
              <a:rPr lang="fr-FR" dirty="0" err="1"/>
              <a:t>risky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7662315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37E780-9F3B-44DC-88E7-ED03A91A0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541"/>
            <a:ext cx="10515600" cy="743169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Mint – Transfer - Burn</a:t>
            </a:r>
          </a:p>
        </p:txBody>
      </p: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0E4081C8-5395-4353-A83C-B88700597D5F}"/>
              </a:ext>
            </a:extLst>
          </p:cNvPr>
          <p:cNvCxnSpPr/>
          <p:nvPr/>
        </p:nvCxnSpPr>
        <p:spPr>
          <a:xfrm>
            <a:off x="2303928" y="2662519"/>
            <a:ext cx="64725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F9711D1C-FA5C-4B43-85AF-C2DB65F70261}"/>
              </a:ext>
            </a:extLst>
          </p:cNvPr>
          <p:cNvSpPr txBox="1"/>
          <p:nvPr/>
        </p:nvSpPr>
        <p:spPr>
          <a:xfrm>
            <a:off x="9009528" y="2477853"/>
            <a:ext cx="2515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On </a:t>
            </a:r>
            <a:r>
              <a:rPr lang="fr-FR" dirty="0" err="1"/>
              <a:t>BlockChain</a:t>
            </a:r>
            <a:r>
              <a:rPr lang="fr-FR" dirty="0"/>
              <a:t>  Address1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1A5366-15A6-4B83-90D5-976E1038DFC3}"/>
              </a:ext>
            </a:extLst>
          </p:cNvPr>
          <p:cNvSpPr/>
          <p:nvPr/>
        </p:nvSpPr>
        <p:spPr>
          <a:xfrm>
            <a:off x="3621740" y="2524376"/>
            <a:ext cx="2259105" cy="13812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87AFCC5F-B317-4FC3-959D-2B681A0E6A1B}"/>
              </a:ext>
            </a:extLst>
          </p:cNvPr>
          <p:cNvCxnSpPr/>
          <p:nvPr/>
        </p:nvCxnSpPr>
        <p:spPr>
          <a:xfrm>
            <a:off x="2303928" y="1869995"/>
            <a:ext cx="64725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11A47519-3D59-4A00-A573-3C37708B5DF1}"/>
              </a:ext>
            </a:extLst>
          </p:cNvPr>
          <p:cNvSpPr/>
          <p:nvPr/>
        </p:nvSpPr>
        <p:spPr>
          <a:xfrm>
            <a:off x="2366681" y="1727443"/>
            <a:ext cx="1255059" cy="1425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6CB9ECC-0DF4-44E6-A8C5-88F043BCC92A}"/>
              </a:ext>
            </a:extLst>
          </p:cNvPr>
          <p:cNvSpPr txBox="1"/>
          <p:nvPr/>
        </p:nvSpPr>
        <p:spPr>
          <a:xfrm>
            <a:off x="3657599" y="1878022"/>
            <a:ext cx="26423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-1 EUR  on client1 </a:t>
            </a:r>
            <a:r>
              <a:rPr lang="fr-FR" dirty="0" err="1"/>
              <a:t>account</a:t>
            </a:r>
            <a:endParaRPr lang="fr-FR" dirty="0"/>
          </a:p>
          <a:p>
            <a:r>
              <a:rPr lang="fr-FR" dirty="0"/>
              <a:t>+1 EUR-CV on Address1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4C16073-786E-4C62-B97E-03F7F8065307}"/>
              </a:ext>
            </a:extLst>
          </p:cNvPr>
          <p:cNvSpPr txBox="1"/>
          <p:nvPr/>
        </p:nvSpPr>
        <p:spPr>
          <a:xfrm>
            <a:off x="9009527" y="1606343"/>
            <a:ext cx="2451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On </a:t>
            </a:r>
            <a:r>
              <a:rPr lang="fr-FR" dirty="0" err="1"/>
              <a:t>BankAccount</a:t>
            </a:r>
            <a:r>
              <a:rPr lang="fr-FR" dirty="0"/>
              <a:t> Client1</a:t>
            </a:r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6A1D6862-4DA1-4844-BD34-7F07239D4C37}"/>
              </a:ext>
            </a:extLst>
          </p:cNvPr>
          <p:cNvCxnSpPr/>
          <p:nvPr/>
        </p:nvCxnSpPr>
        <p:spPr>
          <a:xfrm>
            <a:off x="2303927" y="3648656"/>
            <a:ext cx="64725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2D457E28-8F38-4FB7-B9F8-13A8D1829E63}"/>
              </a:ext>
            </a:extLst>
          </p:cNvPr>
          <p:cNvSpPr txBox="1"/>
          <p:nvPr/>
        </p:nvSpPr>
        <p:spPr>
          <a:xfrm>
            <a:off x="9009527" y="3463990"/>
            <a:ext cx="2515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On </a:t>
            </a:r>
            <a:r>
              <a:rPr lang="fr-FR" dirty="0" err="1"/>
              <a:t>BlockChain</a:t>
            </a:r>
            <a:r>
              <a:rPr lang="fr-FR" dirty="0"/>
              <a:t>  Address2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2CEF1E-619A-4D99-94EC-748602AE9208}"/>
              </a:ext>
            </a:extLst>
          </p:cNvPr>
          <p:cNvSpPr/>
          <p:nvPr/>
        </p:nvSpPr>
        <p:spPr>
          <a:xfrm>
            <a:off x="5880846" y="3487311"/>
            <a:ext cx="1694330" cy="1613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31BA1CF-5AA0-402C-8A79-006C922BD0C2}"/>
              </a:ext>
            </a:extLst>
          </p:cNvPr>
          <p:cNvSpPr txBox="1"/>
          <p:nvPr/>
        </p:nvSpPr>
        <p:spPr>
          <a:xfrm>
            <a:off x="923365" y="1993604"/>
            <a:ext cx="644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Mint</a:t>
            </a:r>
          </a:p>
        </p:txBody>
      </p:sp>
      <p:sp>
        <p:nvSpPr>
          <p:cNvPr id="18" name="Flèche : courbe vers la droite 17">
            <a:extLst>
              <a:ext uri="{FF2B5EF4-FFF2-40B4-BE49-F238E27FC236}">
                <a16:creationId xmlns:a16="http://schemas.microsoft.com/office/drawing/2014/main" id="{EDBF1B67-065F-4589-8F1B-089A368129AD}"/>
              </a:ext>
            </a:extLst>
          </p:cNvPr>
          <p:cNvSpPr/>
          <p:nvPr/>
        </p:nvSpPr>
        <p:spPr>
          <a:xfrm>
            <a:off x="1684121" y="2043954"/>
            <a:ext cx="224117" cy="43389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D46C9DE-B3A5-4A9B-8408-B00183935151}"/>
              </a:ext>
            </a:extLst>
          </p:cNvPr>
          <p:cNvSpPr txBox="1"/>
          <p:nvPr/>
        </p:nvSpPr>
        <p:spPr>
          <a:xfrm>
            <a:off x="692639" y="2976094"/>
            <a:ext cx="956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Transfer</a:t>
            </a:r>
          </a:p>
        </p:txBody>
      </p:sp>
      <p:sp>
        <p:nvSpPr>
          <p:cNvPr id="20" name="Flèche : courbe vers la droite 19">
            <a:extLst>
              <a:ext uri="{FF2B5EF4-FFF2-40B4-BE49-F238E27FC236}">
                <a16:creationId xmlns:a16="http://schemas.microsoft.com/office/drawing/2014/main" id="{D1FADAC6-950F-425F-92BA-0951F8E136FB}"/>
              </a:ext>
            </a:extLst>
          </p:cNvPr>
          <p:cNvSpPr/>
          <p:nvPr/>
        </p:nvSpPr>
        <p:spPr>
          <a:xfrm>
            <a:off x="1649506" y="2976094"/>
            <a:ext cx="224117" cy="43389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4EF546C0-69B7-4B4E-98C9-83574B9B32F9}"/>
              </a:ext>
            </a:extLst>
          </p:cNvPr>
          <p:cNvSpPr txBox="1"/>
          <p:nvPr/>
        </p:nvSpPr>
        <p:spPr>
          <a:xfrm>
            <a:off x="923365" y="3856590"/>
            <a:ext cx="6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Burn</a:t>
            </a:r>
          </a:p>
        </p:txBody>
      </p:sp>
      <p:sp>
        <p:nvSpPr>
          <p:cNvPr id="22" name="Flèche : courbe vers la droite 21">
            <a:extLst>
              <a:ext uri="{FF2B5EF4-FFF2-40B4-BE49-F238E27FC236}">
                <a16:creationId xmlns:a16="http://schemas.microsoft.com/office/drawing/2014/main" id="{1D2671F8-33C5-4621-950B-1A037CFEE847}"/>
              </a:ext>
            </a:extLst>
          </p:cNvPr>
          <p:cNvSpPr/>
          <p:nvPr/>
        </p:nvSpPr>
        <p:spPr>
          <a:xfrm>
            <a:off x="1614528" y="3869127"/>
            <a:ext cx="224117" cy="433899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B19D45FD-B76F-4558-9802-0A70B380C488}"/>
              </a:ext>
            </a:extLst>
          </p:cNvPr>
          <p:cNvCxnSpPr/>
          <p:nvPr/>
        </p:nvCxnSpPr>
        <p:spPr>
          <a:xfrm>
            <a:off x="2303928" y="4541520"/>
            <a:ext cx="64725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8FC6BF23-BDBB-44F5-BDE7-BA8ACFDC86B7}"/>
              </a:ext>
            </a:extLst>
          </p:cNvPr>
          <p:cNvSpPr/>
          <p:nvPr/>
        </p:nvSpPr>
        <p:spPr>
          <a:xfrm>
            <a:off x="7575174" y="4398988"/>
            <a:ext cx="1004051" cy="1335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15286E98-6940-48DE-8F55-FA667DB1FD26}"/>
              </a:ext>
            </a:extLst>
          </p:cNvPr>
          <p:cNvSpPr txBox="1"/>
          <p:nvPr/>
        </p:nvSpPr>
        <p:spPr>
          <a:xfrm>
            <a:off x="7126941" y="5314468"/>
            <a:ext cx="2687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+1 EUR  on client2 </a:t>
            </a:r>
            <a:r>
              <a:rPr lang="fr-FR" dirty="0" err="1"/>
              <a:t>account</a:t>
            </a:r>
            <a:endParaRPr lang="fr-FR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A6ABC9DC-90E1-4D27-8FC9-32CE64965F99}"/>
              </a:ext>
            </a:extLst>
          </p:cNvPr>
          <p:cNvSpPr txBox="1"/>
          <p:nvPr/>
        </p:nvSpPr>
        <p:spPr>
          <a:xfrm>
            <a:off x="9009527" y="4277868"/>
            <a:ext cx="2451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On </a:t>
            </a:r>
            <a:r>
              <a:rPr lang="fr-FR" dirty="0" err="1"/>
              <a:t>BankAccount</a:t>
            </a:r>
            <a:r>
              <a:rPr lang="fr-FR" dirty="0"/>
              <a:t> Client2</a:t>
            </a:r>
          </a:p>
        </p:txBody>
      </p: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E12BE6D2-C6C4-483B-AE88-D1D903F10FBA}"/>
              </a:ext>
            </a:extLst>
          </p:cNvPr>
          <p:cNvCxnSpPr/>
          <p:nvPr/>
        </p:nvCxnSpPr>
        <p:spPr>
          <a:xfrm>
            <a:off x="2303927" y="5832558"/>
            <a:ext cx="64725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9C55426C-8B3E-455F-8077-5212DDA2E213}"/>
              </a:ext>
            </a:extLst>
          </p:cNvPr>
          <p:cNvSpPr/>
          <p:nvPr/>
        </p:nvSpPr>
        <p:spPr>
          <a:xfrm>
            <a:off x="3621739" y="5683800"/>
            <a:ext cx="3953436" cy="1487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1661E370-96A5-46BC-84FF-0096DAA61C3A}"/>
              </a:ext>
            </a:extLst>
          </p:cNvPr>
          <p:cNvSpPr txBox="1"/>
          <p:nvPr/>
        </p:nvSpPr>
        <p:spPr>
          <a:xfrm>
            <a:off x="2818992" y="5889027"/>
            <a:ext cx="1514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+1 EUR </a:t>
            </a:r>
            <a:r>
              <a:rPr lang="fr-FR" dirty="0" err="1"/>
              <a:t>locked</a:t>
            </a:r>
            <a:endParaRPr lang="fr-FR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34898BCB-B9BD-4678-8078-CC46A0B14A8A}"/>
              </a:ext>
            </a:extLst>
          </p:cNvPr>
          <p:cNvSpPr txBox="1"/>
          <p:nvPr/>
        </p:nvSpPr>
        <p:spPr>
          <a:xfrm>
            <a:off x="5927868" y="2754004"/>
            <a:ext cx="2395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-1 EUR-CV  on Adress1</a:t>
            </a:r>
          </a:p>
          <a:p>
            <a:r>
              <a:rPr lang="fr-FR" dirty="0"/>
              <a:t>+1 EUR-CV on Address2</a:t>
            </a:r>
          </a:p>
        </p:txBody>
      </p:sp>
      <p:sp>
        <p:nvSpPr>
          <p:cNvPr id="31" name="Flèche : bas 30">
            <a:extLst>
              <a:ext uri="{FF2B5EF4-FFF2-40B4-BE49-F238E27FC236}">
                <a16:creationId xmlns:a16="http://schemas.microsoft.com/office/drawing/2014/main" id="{FC34FE56-02F1-46BD-8E95-05F700A9B04C}"/>
              </a:ext>
            </a:extLst>
          </p:cNvPr>
          <p:cNvSpPr/>
          <p:nvPr/>
        </p:nvSpPr>
        <p:spPr>
          <a:xfrm>
            <a:off x="3509680" y="1975675"/>
            <a:ext cx="224117" cy="418828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Flèche : bas 31">
            <a:extLst>
              <a:ext uri="{FF2B5EF4-FFF2-40B4-BE49-F238E27FC236}">
                <a16:creationId xmlns:a16="http://schemas.microsoft.com/office/drawing/2014/main" id="{3D5C94A3-4FB6-4903-B8A9-9F994CC456A1}"/>
              </a:ext>
            </a:extLst>
          </p:cNvPr>
          <p:cNvSpPr/>
          <p:nvPr/>
        </p:nvSpPr>
        <p:spPr>
          <a:xfrm>
            <a:off x="5768786" y="2881060"/>
            <a:ext cx="224117" cy="418828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Flèche : bas 32">
            <a:extLst>
              <a:ext uri="{FF2B5EF4-FFF2-40B4-BE49-F238E27FC236}">
                <a16:creationId xmlns:a16="http://schemas.microsoft.com/office/drawing/2014/main" id="{B0E1F279-6ED0-424F-8545-0D0114FE6F5E}"/>
              </a:ext>
            </a:extLst>
          </p:cNvPr>
          <p:cNvSpPr/>
          <p:nvPr/>
        </p:nvSpPr>
        <p:spPr>
          <a:xfrm>
            <a:off x="7463115" y="3829695"/>
            <a:ext cx="224117" cy="418828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2A51170C-5570-4CC4-B997-DD9098DBC4D7}"/>
              </a:ext>
            </a:extLst>
          </p:cNvPr>
          <p:cNvSpPr txBox="1"/>
          <p:nvPr/>
        </p:nvSpPr>
        <p:spPr>
          <a:xfrm>
            <a:off x="7618177" y="3724304"/>
            <a:ext cx="22815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-1 EUR-CV  on Adress2</a:t>
            </a:r>
          </a:p>
          <a:p>
            <a:r>
              <a:rPr lang="fr-FR" dirty="0"/>
              <a:t>+1 EUR on client2</a:t>
            </a:r>
          </a:p>
        </p:txBody>
      </p:sp>
      <p:sp>
        <p:nvSpPr>
          <p:cNvPr id="35" name="Flèche : bas 34">
            <a:extLst>
              <a:ext uri="{FF2B5EF4-FFF2-40B4-BE49-F238E27FC236}">
                <a16:creationId xmlns:a16="http://schemas.microsoft.com/office/drawing/2014/main" id="{A23173DE-4A68-4FD2-BAF5-FCE097A3B155}"/>
              </a:ext>
            </a:extLst>
          </p:cNvPr>
          <p:cNvSpPr/>
          <p:nvPr/>
        </p:nvSpPr>
        <p:spPr>
          <a:xfrm>
            <a:off x="3316941" y="1959897"/>
            <a:ext cx="224117" cy="372389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Flèche : bas 35">
            <a:extLst>
              <a:ext uri="{FF2B5EF4-FFF2-40B4-BE49-F238E27FC236}">
                <a16:creationId xmlns:a16="http://schemas.microsoft.com/office/drawing/2014/main" id="{C735A609-0B46-4B2D-9B9B-ABA82B2ACAD7}"/>
              </a:ext>
            </a:extLst>
          </p:cNvPr>
          <p:cNvSpPr/>
          <p:nvPr/>
        </p:nvSpPr>
        <p:spPr>
          <a:xfrm flipV="1">
            <a:off x="7463114" y="4697535"/>
            <a:ext cx="224117" cy="6526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673C2130-6A30-40E5-8468-B63300178E80}"/>
              </a:ext>
            </a:extLst>
          </p:cNvPr>
          <p:cNvSpPr txBox="1"/>
          <p:nvPr/>
        </p:nvSpPr>
        <p:spPr>
          <a:xfrm>
            <a:off x="6830778" y="5895597"/>
            <a:ext cx="1712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-1 EUR </a:t>
            </a:r>
            <a:r>
              <a:rPr lang="fr-FR" dirty="0" err="1"/>
              <a:t>unlocked</a:t>
            </a:r>
            <a:endParaRPr lang="fr-FR" dirty="0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EC2727CA-4240-40E3-AD01-599BD5F5E9D2}"/>
              </a:ext>
            </a:extLst>
          </p:cNvPr>
          <p:cNvSpPr txBox="1"/>
          <p:nvPr/>
        </p:nvSpPr>
        <p:spPr>
          <a:xfrm>
            <a:off x="9009527" y="5647892"/>
            <a:ext cx="18886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 On </a:t>
            </a:r>
            <a:r>
              <a:rPr lang="fr-FR" dirty="0" err="1"/>
              <a:t>Custodian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0715436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6A34D3-D881-48EA-BBE2-7F542499D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18981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Notice.. Client </a:t>
            </a:r>
            <a:r>
              <a:rPr lang="fr-FR" dirty="0" err="1"/>
              <a:t>ask</a:t>
            </a:r>
            <a:r>
              <a:rPr lang="fr-FR" dirty="0"/>
              <a:t> for « </a:t>
            </a:r>
            <a:r>
              <a:rPr lang="fr-FR" dirty="0" err="1"/>
              <a:t>transfer</a:t>
            </a:r>
            <a:r>
              <a:rPr lang="fr-FR" dirty="0"/>
              <a:t> »</a:t>
            </a:r>
            <a:br>
              <a:rPr lang="fr-FR" dirty="0"/>
            </a:br>
            <a:r>
              <a:rPr lang="fr-FR" dirty="0"/>
              <a:t>SG-Forge </a:t>
            </a:r>
            <a:r>
              <a:rPr lang="fr-FR" dirty="0" err="1"/>
              <a:t>validate</a:t>
            </a:r>
            <a:r>
              <a:rPr lang="fr-FR" dirty="0"/>
              <a:t> </a:t>
            </a:r>
            <a:r>
              <a:rPr lang="fr-FR" dirty="0" err="1"/>
              <a:t>transfers</a:t>
            </a:r>
            <a:r>
              <a:rPr lang="fr-FR" dirty="0"/>
              <a:t>  </a:t>
            </a:r>
            <a:br>
              <a:rPr lang="fr-FR" dirty="0"/>
            </a:br>
            <a:br>
              <a:rPr lang="fr-FR" dirty="0"/>
            </a:br>
            <a:r>
              <a:rPr lang="fr-FR" dirty="0"/>
              <a:t>client do not </a:t>
            </a:r>
            <a:r>
              <a:rPr lang="fr-FR" dirty="0" err="1"/>
              <a:t>even</a:t>
            </a:r>
            <a:r>
              <a:rPr lang="fr-FR" dirty="0"/>
              <a:t> have </a:t>
            </a:r>
            <a:r>
              <a:rPr lang="fr-FR" dirty="0" err="1"/>
              <a:t>their</a:t>
            </a:r>
            <a:r>
              <a:rPr lang="fr-FR" dirty="0"/>
              <a:t> </a:t>
            </a:r>
            <a:r>
              <a:rPr lang="fr-FR" dirty="0" err="1"/>
              <a:t>PrivateKey</a:t>
            </a:r>
            <a:r>
              <a:rPr lang="fr-FR" dirty="0"/>
              <a:t>!</a:t>
            </a:r>
          </a:p>
        </p:txBody>
      </p:sp>
      <p:pic>
        <p:nvPicPr>
          <p:cNvPr id="5122" name="Picture 2" descr="Hardware Security Module">
            <a:extLst>
              <a:ext uri="{FF2B5EF4-FFF2-40B4-BE49-F238E27FC236}">
                <a16:creationId xmlns:a16="http://schemas.microsoft.com/office/drawing/2014/main" id="{487F4B74-E194-4079-865B-BE35172EC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0711" y="4803240"/>
            <a:ext cx="1449474" cy="92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81E6BF4-3BD6-4479-971D-5009AD66B422}"/>
              </a:ext>
            </a:extLst>
          </p:cNvPr>
          <p:cNvSpPr txBox="1"/>
          <p:nvPr/>
        </p:nvSpPr>
        <p:spPr>
          <a:xfrm>
            <a:off x="5186816" y="3738317"/>
            <a:ext cx="48678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HSM</a:t>
            </a:r>
            <a:br>
              <a:rPr lang="fr-FR" dirty="0"/>
            </a:br>
            <a:r>
              <a:rPr lang="fr-FR" dirty="0"/>
              <a:t>= </a:t>
            </a:r>
            <a:r>
              <a:rPr lang="fr-FR" dirty="0" err="1"/>
              <a:t>Hardward</a:t>
            </a:r>
            <a:r>
              <a:rPr lang="fr-FR" dirty="0"/>
              <a:t> Security Module</a:t>
            </a:r>
            <a:br>
              <a:rPr lang="fr-FR" dirty="0"/>
            </a:br>
            <a:r>
              <a:rPr lang="fr-FR" dirty="0"/>
              <a:t>= </a:t>
            </a:r>
            <a:r>
              <a:rPr lang="fr-FR" dirty="0" err="1"/>
              <a:t>KeyVault</a:t>
            </a:r>
            <a:r>
              <a:rPr lang="fr-FR" dirty="0"/>
              <a:t> to </a:t>
            </a:r>
            <a:r>
              <a:rPr lang="fr-FR" dirty="0" err="1"/>
              <a:t>save</a:t>
            </a:r>
            <a:r>
              <a:rPr lang="fr-FR" dirty="0"/>
              <a:t> all </a:t>
            </a:r>
            <a:r>
              <a:rPr lang="fr-FR" dirty="0" err="1"/>
              <a:t>privateKeys</a:t>
            </a:r>
            <a:r>
              <a:rPr lang="fr-FR" dirty="0"/>
              <a:t>… and use to </a:t>
            </a:r>
            <a:r>
              <a:rPr lang="fr-FR" dirty="0" err="1"/>
              <a:t>sign</a:t>
            </a:r>
            <a:endParaRPr lang="fr-FR" dirty="0"/>
          </a:p>
        </p:txBody>
      </p:sp>
      <p:pic>
        <p:nvPicPr>
          <p:cNvPr id="5124" name="Picture 4" descr="User Persona Icon SVG Vector &amp; PNG Free ...">
            <a:extLst>
              <a:ext uri="{FF2B5EF4-FFF2-40B4-BE49-F238E27FC236}">
                <a16:creationId xmlns:a16="http://schemas.microsoft.com/office/drawing/2014/main" id="{43F77C6C-4817-4D87-88F0-7A9B3C543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623" y="4661647"/>
            <a:ext cx="905716" cy="905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147748C1-D917-480C-834C-C4A544087116}"/>
              </a:ext>
            </a:extLst>
          </p:cNvPr>
          <p:cNvSpPr txBox="1"/>
          <p:nvPr/>
        </p:nvSpPr>
        <p:spPr>
          <a:xfrm>
            <a:off x="1075765" y="4043082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End-user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D098412-59CB-4CC7-9874-5B0382FE71B9}"/>
              </a:ext>
            </a:extLst>
          </p:cNvPr>
          <p:cNvSpPr txBox="1"/>
          <p:nvPr/>
        </p:nvSpPr>
        <p:spPr>
          <a:xfrm>
            <a:off x="3663350" y="4029794"/>
            <a:ext cx="1030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SG-Forge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AB08B4C-303B-4032-A562-B80A4A6CECF6}"/>
              </a:ext>
            </a:extLst>
          </p:cNvPr>
          <p:cNvSpPr txBox="1"/>
          <p:nvPr/>
        </p:nvSpPr>
        <p:spPr>
          <a:xfrm>
            <a:off x="10745300" y="3858416"/>
            <a:ext cx="121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BlockChain</a:t>
            </a:r>
            <a:endParaRPr lang="fr-FR" dirty="0"/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79BB4DE0-BA43-40D6-8535-E7D4A9C0E1FA}"/>
              </a:ext>
            </a:extLst>
          </p:cNvPr>
          <p:cNvCxnSpPr/>
          <p:nvPr/>
        </p:nvCxnSpPr>
        <p:spPr>
          <a:xfrm>
            <a:off x="8301318" y="5208494"/>
            <a:ext cx="22680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 11">
            <a:extLst>
              <a:ext uri="{FF2B5EF4-FFF2-40B4-BE49-F238E27FC236}">
                <a16:creationId xmlns:a16="http://schemas.microsoft.com/office/drawing/2014/main" id="{5FFFB4D2-4E13-438E-AFA1-6CADDE1C1B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6034" y="4925997"/>
            <a:ext cx="1699407" cy="556308"/>
          </a:xfrm>
          <a:prstGeom prst="rect">
            <a:avLst/>
          </a:prstGeom>
        </p:spPr>
      </p:pic>
      <p:pic>
        <p:nvPicPr>
          <p:cNvPr id="5128" name="Picture 8" descr="Solana (blockchain platform) - Wikipedia">
            <a:extLst>
              <a:ext uri="{FF2B5EF4-FFF2-40B4-BE49-F238E27FC236}">
                <a16:creationId xmlns:a16="http://schemas.microsoft.com/office/drawing/2014/main" id="{09636227-177B-4C43-8BFE-0159721298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014" y="4722708"/>
            <a:ext cx="971571" cy="971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02C698C4-4668-43D5-A386-F387135853C0}"/>
              </a:ext>
            </a:extLst>
          </p:cNvPr>
          <p:cNvCxnSpPr>
            <a:cxnSpLocks/>
          </p:cNvCxnSpPr>
          <p:nvPr/>
        </p:nvCxnSpPr>
        <p:spPr>
          <a:xfrm>
            <a:off x="2372433" y="5204151"/>
            <a:ext cx="9176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7F5E6AD3-9A4F-4322-9958-9265038C3BD6}"/>
              </a:ext>
            </a:extLst>
          </p:cNvPr>
          <p:cNvCxnSpPr>
            <a:cxnSpLocks/>
          </p:cNvCxnSpPr>
          <p:nvPr/>
        </p:nvCxnSpPr>
        <p:spPr>
          <a:xfrm>
            <a:off x="5321821" y="5204151"/>
            <a:ext cx="9176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0167071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4B1A10E-A88A-4F98-B437-B72712AE2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59224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SmartContract</a:t>
            </a:r>
            <a:r>
              <a:rPr lang="fr-FR" dirty="0"/>
              <a:t> - </a:t>
            </a:r>
            <a:r>
              <a:rPr lang="fr-FR" dirty="0" err="1"/>
              <a:t>permanentDelegate</a:t>
            </a:r>
            <a:r>
              <a:rPr lang="fr-FR" dirty="0"/>
              <a:t> ??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61E9002-275F-4942-B42A-505CCA3D8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7552" y="1061245"/>
            <a:ext cx="5147211" cy="55278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0F9D9CD-0C7F-4D27-A4D6-6BC94D534F0E}"/>
              </a:ext>
            </a:extLst>
          </p:cNvPr>
          <p:cNvSpPr/>
          <p:nvPr/>
        </p:nvSpPr>
        <p:spPr>
          <a:xfrm>
            <a:off x="4616823" y="5675731"/>
            <a:ext cx="1308847" cy="24204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6E18523D-7C93-431D-946A-CC232E9EBE4F}"/>
              </a:ext>
            </a:extLst>
          </p:cNvPr>
          <p:cNvCxnSpPr>
            <a:cxnSpLocks/>
          </p:cNvCxnSpPr>
          <p:nvPr/>
        </p:nvCxnSpPr>
        <p:spPr>
          <a:xfrm flipH="1" flipV="1">
            <a:off x="3926541" y="4276165"/>
            <a:ext cx="645460" cy="15240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18164179-C6ED-476E-B363-4B8D2A708C40}"/>
              </a:ext>
            </a:extLst>
          </p:cNvPr>
          <p:cNvSpPr txBox="1"/>
          <p:nvPr/>
        </p:nvSpPr>
        <p:spPr>
          <a:xfrm>
            <a:off x="412376" y="3096015"/>
            <a:ext cx="347830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To respect MICA… </a:t>
            </a:r>
            <a:br>
              <a:rPr lang="fr-FR" dirty="0"/>
            </a:br>
            <a:br>
              <a:rPr lang="fr-FR" dirty="0"/>
            </a:br>
            <a:r>
              <a:rPr lang="fr-FR" dirty="0"/>
              <a:t>SG-Forge a right to </a:t>
            </a:r>
            <a:r>
              <a:rPr lang="fr-FR" dirty="0" err="1"/>
              <a:t>take</a:t>
            </a:r>
            <a:r>
              <a:rPr lang="fr-FR" dirty="0"/>
              <a:t> </a:t>
            </a:r>
            <a:r>
              <a:rPr lang="fr-FR" dirty="0" err="1"/>
              <a:t>this</a:t>
            </a:r>
            <a:br>
              <a:rPr lang="fr-FR" dirty="0"/>
            </a:br>
            <a:r>
              <a:rPr lang="fr-FR" dirty="0"/>
              <a:t> EUR-CV </a:t>
            </a:r>
            <a:r>
              <a:rPr lang="fr-FR" dirty="0" err="1"/>
              <a:t>token</a:t>
            </a:r>
            <a:r>
              <a:rPr lang="fr-FR" dirty="0"/>
              <a:t>,</a:t>
            </a:r>
          </a:p>
          <a:p>
            <a:r>
              <a:rPr lang="fr-FR" dirty="0" err="1"/>
              <a:t>even</a:t>
            </a:r>
            <a:r>
              <a:rPr lang="fr-FR" dirty="0"/>
              <a:t> </a:t>
            </a:r>
            <a:r>
              <a:rPr lang="fr-FR" dirty="0" err="1"/>
              <a:t>without</a:t>
            </a:r>
            <a:r>
              <a:rPr lang="fr-FR" dirty="0"/>
              <a:t> the </a:t>
            </a:r>
            <a:r>
              <a:rPr lang="fr-FR" dirty="0" err="1"/>
              <a:t>privateKey</a:t>
            </a:r>
            <a:r>
              <a:rPr lang="fr-FR" dirty="0"/>
              <a:t> of the </a:t>
            </a:r>
            <a:r>
              <a:rPr lang="fr-FR" dirty="0" err="1"/>
              <a:t>customer</a:t>
            </a:r>
            <a:r>
              <a:rPr lang="fr-FR" dirty="0"/>
              <a:t>!</a:t>
            </a:r>
          </a:p>
          <a:p>
            <a:endParaRPr lang="fr-FR" dirty="0"/>
          </a:p>
          <a:p>
            <a:r>
              <a:rPr lang="fr-FR" dirty="0"/>
              <a:t>Ex: for </a:t>
            </a:r>
            <a:r>
              <a:rPr lang="fr-FR" dirty="0" err="1"/>
              <a:t>legal</a:t>
            </a:r>
            <a:r>
              <a:rPr lang="fr-FR" dirty="0"/>
              <a:t> </a:t>
            </a:r>
            <a:r>
              <a:rPr lang="fr-FR" dirty="0" err="1"/>
              <a:t>reason</a:t>
            </a:r>
            <a:r>
              <a:rPr lang="fr-FR" dirty="0"/>
              <a:t>, </a:t>
            </a:r>
            <a:br>
              <a:rPr lang="fr-FR" dirty="0"/>
            </a:br>
            <a:r>
              <a:rPr lang="fr-FR" dirty="0"/>
              <a:t>a</a:t>
            </a:r>
            <a:r>
              <a:rPr lang="en-US" dirty="0"/>
              <a:t> bailiff is allowed to take money directly from your bank account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7673968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AD4F40-F975-4605-B0A7-3063C4CBA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KYC   (=Know </a:t>
            </a:r>
            <a:r>
              <a:rPr lang="fr-FR" dirty="0" err="1"/>
              <a:t>Your</a:t>
            </a:r>
            <a:r>
              <a:rPr lang="fr-FR" dirty="0"/>
              <a:t> Client) ?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FBB5A30-8CA7-4F05-BF26-798CAE2D5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173" y="2271963"/>
            <a:ext cx="5357324" cy="324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313345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BB1D30-A5E3-4BB8-AB25-39BC23F20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80796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Sample</a:t>
            </a:r>
            <a:r>
              <a:rPr lang="fr-FR" dirty="0"/>
              <a:t> </a:t>
            </a:r>
            <a:r>
              <a:rPr lang="fr-FR" dirty="0" err="1"/>
              <a:t>SmartContract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SG-Forge   EUR-CV on </a:t>
            </a:r>
            <a:r>
              <a:rPr lang="fr-FR" dirty="0" err="1"/>
              <a:t>Ethereum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9206572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E2B794-80BC-4ADE-A2CA-C86DC07CB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577"/>
            <a:ext cx="10515600" cy="860612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SG-Forge EUR-CV,  on </a:t>
            </a:r>
            <a:r>
              <a:rPr lang="fr-FR" dirty="0" err="1"/>
              <a:t>Etherscan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3A1EA07-892A-436C-A79F-A73548533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047" y="2117766"/>
            <a:ext cx="8659906" cy="437510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51D0019C-9515-44A4-AB93-E3AC35EA5C29}"/>
              </a:ext>
            </a:extLst>
          </p:cNvPr>
          <p:cNvSpPr txBox="1"/>
          <p:nvPr/>
        </p:nvSpPr>
        <p:spPr>
          <a:xfrm>
            <a:off x="340659" y="1690688"/>
            <a:ext cx="79965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hlinkClick r:id="rId3"/>
              </a:rPr>
              <a:t>https://etherscan.io/token/0x5F7827FDeb7c20b443265Fc2F40845B715385Ff2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972512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2053DD-8D39-4CA3-A2F4-A2A495C0C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SG-Forge EUR-CV … Smart </a:t>
            </a:r>
            <a:r>
              <a:rPr lang="fr-FR" dirty="0" err="1"/>
              <a:t>Contract</a:t>
            </a:r>
            <a:r>
              <a:rPr lang="fr-FR" dirty="0"/>
              <a:t> source code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1DE1FBC-18AF-4DB4-B2AE-A5AE39E23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971902"/>
            <a:ext cx="9614934" cy="469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911225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367270-2A99-42A7-937D-C4380E3F1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507"/>
            <a:ext cx="10515600" cy="55553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Proxy to …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760B9A5-F327-4F39-9B36-6177A9FC8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670" y="1162485"/>
            <a:ext cx="9637534" cy="5695515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F24AAAD7-DFD5-41A8-B770-E6D9A6523DA3}"/>
              </a:ext>
            </a:extLst>
          </p:cNvPr>
          <p:cNvSpPr txBox="1"/>
          <p:nvPr/>
        </p:nvSpPr>
        <p:spPr>
          <a:xfrm>
            <a:off x="188259" y="681037"/>
            <a:ext cx="90453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hlinkClick r:id="rId3"/>
              </a:rPr>
              <a:t>https://etherscan.io/address/0xf4ccc80c4b831a0d8d1414f2aca82a3d760ff05b#code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340948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2F00DD-1598-4392-BEBA-4E6D3790B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259" y="1"/>
            <a:ext cx="11770659" cy="968187"/>
          </a:xfrm>
        </p:spPr>
        <p:txBody>
          <a:bodyPr>
            <a:noAutofit/>
          </a:bodyPr>
          <a:lstStyle/>
          <a:p>
            <a:pPr algn="ctr"/>
            <a:r>
              <a:rPr lang="fr-FR" sz="3200" dirty="0"/>
              <a:t>Proxy … source-code:</a:t>
            </a:r>
            <a:br>
              <a:rPr lang="fr-FR" sz="3200" dirty="0"/>
            </a:br>
            <a:r>
              <a:rPr lang="fr-FR" sz="3200" dirty="0"/>
              <a:t>https://github.com/societe-generale/smartcoin-ethereum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151A229-DFDA-442D-8090-DACB57C20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130" y="1190120"/>
            <a:ext cx="8533236" cy="5667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849682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A145DF-D6E2-484B-B69C-4DE6ECCD8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97860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EUR-CV … </a:t>
            </a:r>
            <a:r>
              <a:rPr lang="fr-FR" dirty="0" err="1"/>
              <a:t>solidity</a:t>
            </a:r>
            <a:r>
              <a:rPr lang="fr-FR" dirty="0"/>
              <a:t> code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CC35330-4C02-4A64-A9C0-A1AD45E69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10" y="1066799"/>
            <a:ext cx="6087828" cy="500281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07F6535-087D-4218-8D01-E692857B7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6" y="2938040"/>
            <a:ext cx="5044877" cy="327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29193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109C-6AD8-C83B-BBFF-DA27929C5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124" y="2948248"/>
            <a:ext cx="10515600" cy="777240"/>
          </a:xfrm>
        </p:spPr>
        <p:txBody>
          <a:bodyPr/>
          <a:lstStyle/>
          <a:p>
            <a:pPr algn="ctr"/>
            <a:r>
              <a:rPr lang="fr-FR" dirty="0" err="1"/>
              <a:t>Electronic</a:t>
            </a:r>
            <a:r>
              <a:rPr lang="fr-FR" dirty="0"/>
              <a:t> Vote &lt;-?-&gt; </a:t>
            </a:r>
            <a:r>
              <a:rPr lang="fr-FR" dirty="0" err="1"/>
              <a:t>BlockChain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1298886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CFCF9-30B4-92D3-356A-B7C196473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Voting</a:t>
            </a:r>
            <a:r>
              <a:rPr lang="fr-FR" dirty="0"/>
              <a:t> ...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8AD1A7-E8DA-8BF9-E393-F5AB97E56444}"/>
              </a:ext>
            </a:extLst>
          </p:cNvPr>
          <p:cNvSpPr txBox="1"/>
          <p:nvPr/>
        </p:nvSpPr>
        <p:spPr>
          <a:xfrm>
            <a:off x="3971072" y="2266603"/>
            <a:ext cx="4982774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Limited to basic question "YES / NO"</a:t>
            </a:r>
          </a:p>
          <a:p>
            <a:endParaRPr lang="fr-FR" sz="2000" dirty="0"/>
          </a:p>
          <a:p>
            <a:r>
              <a:rPr lang="fr-FR" sz="2000" dirty="0" err="1"/>
              <a:t>Occurs</a:t>
            </a:r>
            <a:r>
              <a:rPr lang="fr-FR" sz="2000" dirty="0"/>
              <a:t> once </a:t>
            </a:r>
            <a:r>
              <a:rPr lang="fr-FR" sz="2000" dirty="0" err="1"/>
              <a:t>every</a:t>
            </a:r>
            <a:r>
              <a:rPr lang="fr-FR" sz="2000" dirty="0"/>
              <a:t> N (=5) </a:t>
            </a:r>
            <a:r>
              <a:rPr lang="fr-FR" sz="2000" dirty="0" err="1"/>
              <a:t>years</a:t>
            </a:r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Small participation rates</a:t>
            </a:r>
          </a:p>
          <a:p>
            <a:endParaRPr lang="fr-FR" sz="2000" dirty="0"/>
          </a:p>
          <a:p>
            <a:r>
              <a:rPr lang="fr-FR" sz="2000" dirty="0"/>
              <a:t>Stop the world </a:t>
            </a:r>
            <a:r>
              <a:rPr lang="fr-FR" sz="2000" dirty="0" err="1"/>
              <a:t>campaign</a:t>
            </a:r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Survey / Fake News </a:t>
            </a:r>
            <a:r>
              <a:rPr lang="fr-FR" sz="2000" dirty="0" err="1"/>
              <a:t>inferences</a:t>
            </a:r>
            <a:endParaRPr lang="fr-FR" sz="2000" dirty="0"/>
          </a:p>
          <a:p>
            <a:endParaRPr lang="fr-FR" sz="2000" dirty="0"/>
          </a:p>
          <a:p>
            <a:r>
              <a:rPr lang="fr-FR" sz="2000" dirty="0" err="1"/>
              <a:t>Huge</a:t>
            </a:r>
            <a:r>
              <a:rPr lang="fr-FR" sz="2000" dirty="0"/>
              <a:t> </a:t>
            </a:r>
            <a:r>
              <a:rPr lang="fr-FR" sz="2000" dirty="0" err="1"/>
              <a:t>Cost</a:t>
            </a:r>
            <a:r>
              <a:rPr lang="fr-FR" sz="2000" dirty="0"/>
              <a:t> </a:t>
            </a:r>
          </a:p>
          <a:p>
            <a:r>
              <a:rPr lang="fr-FR" sz="2000" dirty="0"/>
              <a:t>   (</a:t>
            </a:r>
            <a:r>
              <a:rPr lang="fr-FR" sz="2000" dirty="0" err="1"/>
              <a:t>example</a:t>
            </a:r>
            <a:r>
              <a:rPr lang="fr-FR" sz="2000" dirty="0"/>
              <a:t>: 40% for </a:t>
            </a:r>
            <a:r>
              <a:rPr lang="fr-FR" sz="2000" dirty="0" err="1"/>
              <a:t>paper</a:t>
            </a:r>
            <a:r>
              <a:rPr lang="fr-FR" sz="2000" dirty="0"/>
              <a:t>  in french </a:t>
            </a:r>
            <a:r>
              <a:rPr lang="fr-FR" sz="2000" dirty="0" err="1"/>
              <a:t>election</a:t>
            </a:r>
            <a:r>
              <a:rPr lang="fr-FR" sz="2000" dirty="0"/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2188383089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3AD13-44DE-5048-C0B7-F8C166C94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e-</a:t>
            </a:r>
            <a:r>
              <a:rPr lang="fr-FR" dirty="0" err="1"/>
              <a:t>Voting</a:t>
            </a:r>
            <a:endParaRPr lang="fr-FR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C510A2-FE56-DF1E-5319-16FE9E27ED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5576" y="3115125"/>
            <a:ext cx="10278224" cy="1325564"/>
          </a:xfrm>
        </p:spPr>
      </p:pic>
    </p:spTree>
    <p:extLst>
      <p:ext uri="{BB962C8B-B14F-4D97-AF65-F5344CB8AC3E}">
        <p14:creationId xmlns:p14="http://schemas.microsoft.com/office/powerpoint/2010/main" val="1823988431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017B3-6CC6-3D02-ADC3-7CE3EECE5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555413"/>
          </a:xfrm>
        </p:spPr>
        <p:txBody>
          <a:bodyPr/>
          <a:lstStyle/>
          <a:p>
            <a:pPr algn="ctr"/>
            <a:r>
              <a:rPr lang="fr-FR" dirty="0"/>
              <a:t>e-</a:t>
            </a:r>
            <a:r>
              <a:rPr lang="fr-FR" dirty="0" err="1"/>
              <a:t>Voting</a:t>
            </a:r>
            <a:r>
              <a:rPr lang="fr-FR" dirty="0"/>
              <a:t>  </a:t>
            </a:r>
            <a:r>
              <a:rPr lang="fr-FR" dirty="0" err="1"/>
              <a:t>Mathematical</a:t>
            </a:r>
            <a:r>
              <a:rPr lang="fr-FR" dirty="0"/>
              <a:t> </a:t>
            </a:r>
            <a:r>
              <a:rPr lang="fr-FR" dirty="0" err="1"/>
              <a:t>Criteria</a:t>
            </a:r>
            <a:r>
              <a:rPr lang="fr-FR" dirty="0"/>
              <a:t>  </a:t>
            </a:r>
            <a:br>
              <a:rPr lang="fr-FR" dirty="0"/>
            </a:br>
            <a:br>
              <a:rPr lang="fr-FR" dirty="0"/>
            </a:br>
            <a:r>
              <a:rPr lang="fr-FR" dirty="0"/>
              <a:t>!= </a:t>
            </a:r>
            <a:r>
              <a:rPr lang="fr-FR" dirty="0" err="1"/>
              <a:t>using</a:t>
            </a:r>
            <a:r>
              <a:rPr lang="fr-FR" dirty="0"/>
              <a:t> an </a:t>
            </a:r>
            <a:r>
              <a:rPr lang="fr-FR" dirty="0" err="1"/>
              <a:t>Electronic</a:t>
            </a:r>
            <a:r>
              <a:rPr lang="fr-FR" dirty="0"/>
              <a:t> </a:t>
            </a:r>
            <a:r>
              <a:rPr lang="fr-FR" dirty="0" err="1"/>
              <a:t>Voting</a:t>
            </a:r>
            <a:r>
              <a:rPr lang="fr-FR" dirty="0"/>
              <a:t> Machine</a:t>
            </a:r>
            <a:br>
              <a:rPr lang="fr-FR" dirty="0"/>
            </a:br>
            <a:r>
              <a:rPr lang="fr-FR" dirty="0"/>
              <a:t>!= </a:t>
            </a:r>
            <a:r>
              <a:rPr lang="fr-FR" dirty="0" err="1"/>
              <a:t>Voting</a:t>
            </a:r>
            <a:r>
              <a:rPr lang="fr-FR" dirty="0"/>
              <a:t> on Internet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90C14A-A1E3-5AC3-C321-04E0905B66B2}"/>
              </a:ext>
            </a:extLst>
          </p:cNvPr>
          <p:cNvSpPr txBox="1"/>
          <p:nvPr/>
        </p:nvSpPr>
        <p:spPr>
          <a:xfrm>
            <a:off x="2227809" y="3323705"/>
            <a:ext cx="9521902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individual</a:t>
            </a:r>
            <a:r>
              <a:rPr lang="fr-FR" sz="2400" dirty="0"/>
              <a:t> votes must </a:t>
            </a:r>
            <a:r>
              <a:rPr lang="fr-FR" sz="2400" dirty="0" err="1"/>
              <a:t>be</a:t>
            </a:r>
            <a:r>
              <a:rPr lang="fr-FR" sz="2400" dirty="0"/>
              <a:t> secret  ("</a:t>
            </a:r>
            <a:r>
              <a:rPr lang="fr-FR" sz="2400" dirty="0" err="1"/>
              <a:t>cast</a:t>
            </a:r>
            <a:r>
              <a:rPr lang="fr-FR" sz="2400" dirty="0"/>
              <a:t>" </a:t>
            </a:r>
            <a:r>
              <a:rPr lang="fr-FR" sz="2400" dirty="0" err="1"/>
              <a:t>your</a:t>
            </a:r>
            <a:r>
              <a:rPr lang="fr-FR" sz="2400" dirty="0"/>
              <a:t> vote  = </a:t>
            </a:r>
            <a:r>
              <a:rPr lang="fr-FR" sz="2400" dirty="0" err="1"/>
              <a:t>encrypt</a:t>
            </a:r>
            <a:r>
              <a:rPr lang="fr-FR" sz="2400" dirty="0"/>
              <a:t> </a:t>
            </a:r>
            <a:r>
              <a:rPr lang="fr-FR" sz="2400" dirty="0" err="1"/>
              <a:t>it</a:t>
            </a:r>
            <a:r>
              <a:rPr lang="fr-FR" sz="2400" dirty="0"/>
              <a:t>)</a:t>
            </a:r>
          </a:p>
          <a:p>
            <a:endParaRPr lang="fr-FR" sz="2400" dirty="0"/>
          </a:p>
          <a:p>
            <a:r>
              <a:rPr lang="fr-FR" sz="2400" dirty="0" err="1"/>
              <a:t>individual</a:t>
            </a:r>
            <a:r>
              <a:rPr lang="fr-FR" sz="2400" dirty="0"/>
              <a:t> can check </a:t>
            </a:r>
            <a:r>
              <a:rPr lang="fr-FR" sz="2400" dirty="0" err="1"/>
              <a:t>their</a:t>
            </a:r>
            <a:r>
              <a:rPr lang="fr-FR" sz="2400" dirty="0"/>
              <a:t> vote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included</a:t>
            </a:r>
            <a:r>
              <a:rPr lang="fr-FR" sz="2400" dirty="0"/>
              <a:t> (</a:t>
            </a:r>
            <a:r>
              <a:rPr lang="fr-FR" sz="2400" dirty="0" err="1"/>
              <a:t>unaltered</a:t>
            </a:r>
            <a:r>
              <a:rPr lang="fr-FR" sz="2400" dirty="0"/>
              <a:t>) in the ballot</a:t>
            </a:r>
          </a:p>
          <a:p>
            <a:endParaRPr lang="fr-FR" sz="2400" dirty="0"/>
          </a:p>
          <a:p>
            <a:r>
              <a:rPr lang="fr-FR" sz="2400" dirty="0"/>
              <a:t>can not replace/</a:t>
            </a:r>
            <a:r>
              <a:rPr lang="fr-FR" sz="2400" dirty="0" err="1"/>
              <a:t>stole</a:t>
            </a:r>
            <a:r>
              <a:rPr lang="fr-FR" sz="2400" dirty="0"/>
              <a:t> a vote</a:t>
            </a:r>
          </a:p>
          <a:p>
            <a:endParaRPr lang="fr-FR" sz="2400" dirty="0"/>
          </a:p>
          <a:p>
            <a:r>
              <a:rPr lang="fr-FR" sz="2400" dirty="0" err="1"/>
              <a:t>validators</a:t>
            </a:r>
            <a:r>
              <a:rPr lang="fr-FR" sz="2400" dirty="0"/>
              <a:t> (</a:t>
            </a:r>
            <a:r>
              <a:rPr lang="fr-FR" sz="2400" dirty="0" err="1"/>
              <a:t>anyone</a:t>
            </a:r>
            <a:r>
              <a:rPr lang="fr-FR" sz="2400" dirty="0"/>
              <a:t>) can do the </a:t>
            </a:r>
            <a:r>
              <a:rPr lang="fr-FR" sz="2400" dirty="0" err="1"/>
              <a:t>voting</a:t>
            </a:r>
            <a:r>
              <a:rPr lang="fr-FR" sz="2400" dirty="0"/>
              <a:t> ballots  (count </a:t>
            </a:r>
            <a:r>
              <a:rPr lang="fr-FR" sz="2400" dirty="0" err="1"/>
              <a:t>even</a:t>
            </a:r>
            <a:r>
              <a:rPr lang="fr-FR" sz="2400" dirty="0"/>
              <a:t> </a:t>
            </a:r>
            <a:r>
              <a:rPr lang="fr-FR" sz="2400" dirty="0" err="1"/>
              <a:t>when</a:t>
            </a:r>
            <a:r>
              <a:rPr lang="fr-FR" sz="2400" dirty="0"/>
              <a:t> </a:t>
            </a:r>
            <a:r>
              <a:rPr lang="fr-FR" sz="2400" dirty="0" err="1"/>
              <a:t>encrypted</a:t>
            </a:r>
            <a:r>
              <a:rPr lang="fr-FR" sz="2400" dirty="0"/>
              <a:t>)</a:t>
            </a:r>
          </a:p>
          <a:p>
            <a:endParaRPr lang="fr-FR" sz="2400" dirty="0"/>
          </a:p>
          <a:p>
            <a:r>
              <a:rPr lang="fr-FR" sz="2400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531452451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109C-6AD8-C83B-BBFF-DA27929C5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335" y="1"/>
            <a:ext cx="10515600" cy="777240"/>
          </a:xfrm>
        </p:spPr>
        <p:txBody>
          <a:bodyPr/>
          <a:lstStyle/>
          <a:p>
            <a:pPr algn="ctr"/>
            <a:r>
              <a:rPr lang="fr-FR" dirty="0" err="1"/>
              <a:t>Homomorphic</a:t>
            </a:r>
            <a:r>
              <a:rPr lang="fr-FR" dirty="0"/>
              <a:t> </a:t>
            </a:r>
            <a:r>
              <a:rPr lang="fr-FR" dirty="0" err="1"/>
              <a:t>Encryption</a:t>
            </a:r>
            <a:endParaRPr lang="fr-F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119A30-DFD6-80C4-2BBD-1ACF086DD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944" y="1473405"/>
            <a:ext cx="9550991" cy="309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149437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BF3D5-13BF-FDCE-C8F7-2DF227E49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215" y="38793"/>
            <a:ext cx="11776363" cy="1197033"/>
          </a:xfrm>
        </p:spPr>
        <p:txBody>
          <a:bodyPr/>
          <a:lstStyle/>
          <a:p>
            <a:pPr algn="ctr"/>
            <a:r>
              <a:rPr lang="fr-FR" dirty="0"/>
              <a:t>Example </a:t>
            </a:r>
            <a:r>
              <a:rPr lang="fr-FR" dirty="0" err="1"/>
              <a:t>Homomorphic</a:t>
            </a:r>
            <a:r>
              <a:rPr lang="fr-FR" dirty="0"/>
              <a:t> </a:t>
            </a:r>
            <a:r>
              <a:rPr lang="fr-FR" dirty="0" err="1"/>
              <a:t>Encryption</a:t>
            </a:r>
            <a:r>
              <a:rPr lang="fr-FR" dirty="0"/>
              <a:t>/Operations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93F760-F769-4DF2-D9BF-C999FA0E7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145" y="1801794"/>
            <a:ext cx="9497797" cy="4454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234442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109C-6AD8-C83B-BBFF-DA27929C5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335" y="1"/>
            <a:ext cx="10515600" cy="777240"/>
          </a:xfrm>
        </p:spPr>
        <p:txBody>
          <a:bodyPr/>
          <a:lstStyle/>
          <a:p>
            <a:pPr algn="ctr"/>
            <a:r>
              <a:rPr lang="fr-FR" dirty="0"/>
              <a:t>e-</a:t>
            </a:r>
            <a:r>
              <a:rPr lang="fr-FR" dirty="0" err="1"/>
              <a:t>Voting</a:t>
            </a:r>
            <a:r>
              <a:rPr lang="fr-FR" dirty="0"/>
              <a:t> 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72DCDD-7654-4C92-DD96-56B146125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835" y="617755"/>
            <a:ext cx="6542337" cy="58107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2CDBDD-6443-ED72-F0B9-5C1C3C6869D2}"/>
              </a:ext>
            </a:extLst>
          </p:cNvPr>
          <p:cNvSpPr txBox="1"/>
          <p:nvPr/>
        </p:nvSpPr>
        <p:spPr>
          <a:xfrm>
            <a:off x="288174" y="6428509"/>
            <a:ext cx="9849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https://www.europarl.europa.eu/RegData/etudes/ATAG/2016/581918/EPRS_ATA(2016)581918_EN.pdf</a:t>
            </a:r>
          </a:p>
        </p:txBody>
      </p:sp>
    </p:spTree>
    <p:extLst>
      <p:ext uri="{BB962C8B-B14F-4D97-AF65-F5344CB8AC3E}">
        <p14:creationId xmlns:p14="http://schemas.microsoft.com/office/powerpoint/2010/main" val="959691957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FA1E0-97B3-0F37-C082-9D03C3B8D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242"/>
            <a:ext cx="10515600" cy="1020330"/>
          </a:xfrm>
        </p:spPr>
        <p:txBody>
          <a:bodyPr/>
          <a:lstStyle/>
          <a:p>
            <a:pPr algn="ctr"/>
            <a:r>
              <a:rPr lang="fr-FR" dirty="0" err="1"/>
              <a:t>Privacy-Preserving</a:t>
            </a:r>
            <a:r>
              <a:rPr lang="fr-FR" dirty="0"/>
              <a:t> </a:t>
            </a:r>
            <a:r>
              <a:rPr lang="fr-FR" dirty="0" err="1"/>
              <a:t>Voting</a:t>
            </a:r>
            <a:r>
              <a:rPr lang="fr-FR" dirty="0"/>
              <a:t> 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EA9CE8-FF2A-D0B2-68AB-1EEB38BB5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12" y="983105"/>
            <a:ext cx="6299217" cy="5635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2D46AE-C457-1DE3-8CB4-F65EC5AC2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122" y="1231087"/>
            <a:ext cx="5685013" cy="544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391439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109C-6AD8-C83B-BBFF-DA27929C5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335" y="1"/>
            <a:ext cx="11372330" cy="1246908"/>
          </a:xfrm>
        </p:spPr>
        <p:txBody>
          <a:bodyPr/>
          <a:lstStyle/>
          <a:p>
            <a:pPr algn="ctr"/>
            <a:r>
              <a:rPr lang="fr-FR" dirty="0"/>
              <a:t>ZKP : </a:t>
            </a:r>
            <a:r>
              <a:rPr lang="fr-FR" dirty="0" err="1"/>
              <a:t>Zero-Knowledge</a:t>
            </a:r>
            <a:r>
              <a:rPr lang="fr-FR" dirty="0"/>
              <a:t> Proof 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E435B6-1725-CD0C-BCA6-4F42DC2C7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555" y="1511114"/>
            <a:ext cx="7481009" cy="383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704712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D0868-B08F-EC55-5850-929CBE121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954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NIZKP : Non-Interactive </a:t>
            </a:r>
            <a:r>
              <a:rPr lang="fr-FR" dirty="0" err="1"/>
              <a:t>Zero</a:t>
            </a:r>
            <a:r>
              <a:rPr lang="fr-FR" dirty="0"/>
              <a:t> </a:t>
            </a:r>
            <a:r>
              <a:rPr lang="fr-FR" dirty="0" err="1"/>
              <a:t>Kowledge</a:t>
            </a:r>
            <a:r>
              <a:rPr lang="fr-FR" dirty="0"/>
              <a:t> Proof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7A8732-C29D-6584-8140-486B93846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885" y="1458506"/>
            <a:ext cx="5856478" cy="4705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42402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D2129-ED07-73EF-3CE7-393C81AD4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Auditable / </a:t>
            </a:r>
            <a:r>
              <a:rPr lang="fr-FR" dirty="0" err="1"/>
              <a:t>BlockChain</a:t>
            </a:r>
            <a:r>
              <a:rPr lang="fr-FR" dirty="0"/>
              <a:t>  e-</a:t>
            </a:r>
            <a:r>
              <a:rPr lang="fr-FR" dirty="0" err="1"/>
              <a:t>Voting</a:t>
            </a:r>
            <a:r>
              <a:rPr lang="fr-FR" dirty="0"/>
              <a:t>  </a:t>
            </a:r>
            <a:r>
              <a:rPr lang="fr-FR" dirty="0" err="1"/>
              <a:t>Examples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E1F0A8-CE53-2010-E137-E90027B36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705" y="2245191"/>
            <a:ext cx="5410669" cy="25338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601210-153B-E3BB-33A5-0EA38547E640}"/>
              </a:ext>
            </a:extLst>
          </p:cNvPr>
          <p:cNvSpPr txBox="1"/>
          <p:nvPr/>
        </p:nvSpPr>
        <p:spPr>
          <a:xfrm>
            <a:off x="205046" y="5567787"/>
            <a:ext cx="49322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https://en.wikipedia.org/wiki/</a:t>
            </a:r>
            <a:br>
              <a:rPr lang="fr-FR" dirty="0"/>
            </a:br>
            <a:r>
              <a:rPr lang="fr-FR" dirty="0"/>
              <a:t>     End-to-</a:t>
            </a:r>
            <a:r>
              <a:rPr lang="fr-FR" dirty="0" err="1"/>
              <a:t>end_auditable_voting_systems</a:t>
            </a:r>
            <a:endParaRPr lang="fr-F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8D0505-8E43-DABA-D61E-05F6FC43C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7282" y="2310009"/>
            <a:ext cx="6818897" cy="25338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9970C2E-792C-DA01-61F3-E838DE481020}"/>
              </a:ext>
            </a:extLst>
          </p:cNvPr>
          <p:cNvSpPr txBox="1"/>
          <p:nvPr/>
        </p:nvSpPr>
        <p:spPr>
          <a:xfrm>
            <a:off x="5932516" y="5761751"/>
            <a:ext cx="49322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https://github.com/topics/blockchain-voting</a:t>
            </a:r>
          </a:p>
        </p:txBody>
      </p:sp>
    </p:spTree>
    <p:extLst>
      <p:ext uri="{BB962C8B-B14F-4D97-AF65-F5344CB8AC3E}">
        <p14:creationId xmlns:p14="http://schemas.microsoft.com/office/powerpoint/2010/main" val="3952200384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37599-4AEB-5491-3D73-C68000EEC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Example : https://agora.vote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EA3E2A-4451-4355-EDA3-5546A85F3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935" y="1421939"/>
            <a:ext cx="7701160" cy="515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273612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27F70-83D5-734C-E806-56247F640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01" y="0"/>
            <a:ext cx="12049533" cy="1325563"/>
          </a:xfrm>
        </p:spPr>
        <p:txBody>
          <a:bodyPr/>
          <a:lstStyle/>
          <a:p>
            <a:pPr algn="ctr"/>
            <a:r>
              <a:rPr lang="fr-FR" dirty="0"/>
              <a:t>Agora </a:t>
            </a:r>
            <a:r>
              <a:rPr lang="fr-FR" dirty="0" err="1"/>
              <a:t>BlockChain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... mixed </a:t>
            </a:r>
            <a:r>
              <a:rPr lang="fr-FR" dirty="0" err="1"/>
              <a:t>Hashes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BitCoin</a:t>
            </a:r>
            <a:r>
              <a:rPr lang="fr-FR" dirty="0"/>
              <a:t> </a:t>
            </a:r>
            <a:r>
              <a:rPr lang="fr-FR" dirty="0" err="1"/>
              <a:t>BlockChain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E0CA52-A9DE-C49E-844C-EC3884C76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9645" y="1256779"/>
            <a:ext cx="8292178" cy="54682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0DDE7E-9811-F655-FB1E-687488891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89717"/>
            <a:ext cx="2389077" cy="4381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BCC8D3B-B798-5125-52DB-5D50F4633E51}"/>
              </a:ext>
            </a:extLst>
          </p:cNvPr>
          <p:cNvSpPr txBox="1"/>
          <p:nvPr/>
        </p:nvSpPr>
        <p:spPr>
          <a:xfrm>
            <a:off x="66502" y="1997444"/>
            <a:ext cx="35689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https://www.agora.vote/technology</a:t>
            </a:r>
          </a:p>
        </p:txBody>
      </p:sp>
    </p:spTree>
    <p:extLst>
      <p:ext uri="{BB962C8B-B14F-4D97-AF65-F5344CB8AC3E}">
        <p14:creationId xmlns:p14="http://schemas.microsoft.com/office/powerpoint/2010/main" val="2508266301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109C-6AD8-C83B-BBFF-DA27929C5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335" y="1"/>
            <a:ext cx="10515600" cy="777240"/>
          </a:xfrm>
        </p:spPr>
        <p:txBody>
          <a:bodyPr/>
          <a:lstStyle/>
          <a:p>
            <a:pPr algn="ctr"/>
            <a:r>
              <a:rPr lang="fr-FR" dirty="0"/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BE9103-C09C-43AD-6A34-F1E3C082C4B7}"/>
              </a:ext>
            </a:extLst>
          </p:cNvPr>
          <p:cNvSpPr txBox="1"/>
          <p:nvPr/>
        </p:nvSpPr>
        <p:spPr>
          <a:xfrm>
            <a:off x="1008611" y="2094808"/>
            <a:ext cx="1091106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"Trust"  </a:t>
            </a:r>
            <a:r>
              <a:rPr lang="fr-FR" sz="2400" dirty="0" err="1"/>
              <a:t>is</a:t>
            </a:r>
            <a:r>
              <a:rPr lang="fr-FR" sz="2400" dirty="0"/>
              <a:t> at the </a:t>
            </a:r>
            <a:r>
              <a:rPr lang="fr-FR" sz="2400" dirty="0" err="1"/>
              <a:t>core</a:t>
            </a:r>
            <a:r>
              <a:rPr lang="fr-FR" sz="2400" dirty="0"/>
              <a:t> of commerce / </a:t>
            </a:r>
            <a:r>
              <a:rPr lang="fr-FR" sz="2400" dirty="0" err="1"/>
              <a:t>bank</a:t>
            </a:r>
            <a:r>
              <a:rPr lang="fr-FR" sz="2400" dirty="0"/>
              <a:t> / </a:t>
            </a:r>
            <a:r>
              <a:rPr lang="fr-FR" sz="2400" dirty="0" err="1"/>
              <a:t>insurance</a:t>
            </a:r>
            <a:r>
              <a:rPr lang="fr-FR" sz="2400" dirty="0"/>
              <a:t> / </a:t>
            </a:r>
            <a:r>
              <a:rPr lang="fr-FR" sz="2400" dirty="0" err="1"/>
              <a:t>risks</a:t>
            </a:r>
            <a:r>
              <a:rPr lang="fr-FR" sz="2400" dirty="0"/>
              <a:t> / votes / ...</a:t>
            </a:r>
          </a:p>
          <a:p>
            <a:endParaRPr lang="fr-FR" sz="2400" dirty="0"/>
          </a:p>
          <a:p>
            <a:r>
              <a:rPr lang="fr-FR" sz="2400" dirty="0"/>
              <a:t>"De-</a:t>
            </a:r>
            <a:r>
              <a:rPr lang="fr-FR" sz="2400" dirty="0" err="1"/>
              <a:t>Centralized</a:t>
            </a:r>
            <a:r>
              <a:rPr lang="fr-FR" sz="2400" dirty="0"/>
              <a:t>" Trust model </a:t>
            </a:r>
            <a:r>
              <a:rPr lang="fr-FR" sz="2400" dirty="0" err="1"/>
              <a:t>may</a:t>
            </a:r>
            <a:r>
              <a:rPr lang="fr-FR" sz="2400" dirty="0"/>
              <a:t> </a:t>
            </a:r>
            <a:r>
              <a:rPr lang="fr-FR" sz="2400" dirty="0" err="1"/>
              <a:t>be</a:t>
            </a:r>
            <a:r>
              <a:rPr lang="fr-FR" sz="2400" dirty="0"/>
              <a:t> a 2.0 disruptive change</a:t>
            </a:r>
          </a:p>
          <a:p>
            <a:endParaRPr lang="fr-FR" sz="2400" dirty="0"/>
          </a:p>
          <a:p>
            <a:r>
              <a:rPr lang="fr-FR" sz="2400" dirty="0" err="1"/>
              <a:t>Traditional</a:t>
            </a:r>
            <a:r>
              <a:rPr lang="fr-FR" sz="2400" dirty="0"/>
              <a:t> institutions </a:t>
            </a:r>
            <a:r>
              <a:rPr lang="fr-FR" sz="2400" dirty="0" err="1"/>
              <a:t>did</a:t>
            </a:r>
            <a:r>
              <a:rPr lang="fr-FR" sz="2400" dirty="0"/>
              <a:t> not enter the </a:t>
            </a:r>
            <a:r>
              <a:rPr lang="fr-FR" sz="2400" dirty="0" err="1"/>
              <a:t>game</a:t>
            </a:r>
            <a:r>
              <a:rPr lang="fr-FR" sz="2400" dirty="0"/>
              <a:t> </a:t>
            </a:r>
            <a:r>
              <a:rPr lang="fr-FR" sz="2400" dirty="0" err="1"/>
              <a:t>yet</a:t>
            </a:r>
            <a:r>
              <a:rPr lang="fr-FR" sz="2400" dirty="0"/>
              <a:t> of Crypto Money &amp; Smart </a:t>
            </a:r>
            <a:r>
              <a:rPr lang="fr-FR" sz="2400" dirty="0" err="1"/>
              <a:t>Contracts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 err="1"/>
              <a:t>Only</a:t>
            </a:r>
            <a:r>
              <a:rPr lang="fr-FR" sz="2400" dirty="0"/>
              <a:t> </a:t>
            </a:r>
            <a:r>
              <a:rPr lang="fr-FR" sz="2400" dirty="0" err="1"/>
              <a:t>small</a:t>
            </a:r>
            <a:r>
              <a:rPr lang="fr-FR" sz="2400" dirty="0"/>
              <a:t> </a:t>
            </a:r>
            <a:r>
              <a:rPr lang="fr-FR" sz="2400" dirty="0" err="1"/>
              <a:t>projects</a:t>
            </a:r>
            <a:r>
              <a:rPr lang="fr-FR" sz="2400" dirty="0"/>
              <a:t>, </a:t>
            </a:r>
            <a:r>
              <a:rPr lang="fr-FR" sz="2400" dirty="0" err="1"/>
              <a:t>only</a:t>
            </a:r>
            <a:r>
              <a:rPr lang="fr-FR" sz="2400" dirty="0"/>
              <a:t> the </a:t>
            </a:r>
            <a:r>
              <a:rPr lang="fr-FR" sz="2400" dirty="0" err="1"/>
              <a:t>beginning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 err="1"/>
              <a:t>BitCoin</a:t>
            </a:r>
            <a:r>
              <a:rPr lang="fr-FR" sz="2400" dirty="0"/>
              <a:t> </a:t>
            </a:r>
            <a:r>
              <a:rPr lang="fr-FR" sz="2400" dirty="0" err="1"/>
              <a:t>may</a:t>
            </a:r>
            <a:r>
              <a:rPr lang="fr-FR" sz="2400" dirty="0"/>
              <a:t> </a:t>
            </a:r>
            <a:r>
              <a:rPr lang="fr-FR" sz="2400" dirty="0" err="1"/>
              <a:t>be</a:t>
            </a:r>
            <a:r>
              <a:rPr lang="fr-FR" sz="2400" dirty="0"/>
              <a:t> a </a:t>
            </a:r>
            <a:r>
              <a:rPr lang="fr-FR" sz="2400" dirty="0" err="1"/>
              <a:t>investment</a:t>
            </a:r>
            <a:r>
              <a:rPr lang="fr-FR" sz="2400" dirty="0"/>
              <a:t> </a:t>
            </a:r>
            <a:r>
              <a:rPr lang="fr-FR" sz="2400" dirty="0" err="1"/>
              <a:t>speculative</a:t>
            </a:r>
            <a:r>
              <a:rPr lang="fr-FR" sz="2400" dirty="0"/>
              <a:t> </a:t>
            </a:r>
            <a:r>
              <a:rPr lang="fr-FR" sz="2400" dirty="0" err="1"/>
              <a:t>bubble</a:t>
            </a:r>
            <a:r>
              <a:rPr lang="fr-FR" sz="2400" dirty="0"/>
              <a:t>,  but </a:t>
            </a:r>
            <a:r>
              <a:rPr lang="fr-FR" sz="2400" dirty="0" err="1"/>
              <a:t>there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more</a:t>
            </a:r>
          </a:p>
        </p:txBody>
      </p:sp>
    </p:spTree>
    <p:extLst>
      <p:ext uri="{BB962C8B-B14F-4D97-AF65-F5344CB8AC3E}">
        <p14:creationId xmlns:p14="http://schemas.microsoft.com/office/powerpoint/2010/main" val="2862693604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109C-6AD8-C83B-BBFF-DA27929C5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750" y="2651760"/>
            <a:ext cx="10515600" cy="777240"/>
          </a:xfrm>
        </p:spPr>
        <p:txBody>
          <a:bodyPr/>
          <a:lstStyle/>
          <a:p>
            <a:pPr algn="ctr"/>
            <a:r>
              <a:rPr lang="fr-FR" dirty="0"/>
              <a:t>Questions 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F878BE-C95E-16B2-BCEE-A77FC7FA25BD}"/>
              </a:ext>
            </a:extLst>
          </p:cNvPr>
          <p:cNvSpPr txBox="1"/>
          <p:nvPr/>
        </p:nvSpPr>
        <p:spPr>
          <a:xfrm>
            <a:off x="3966447" y="4062153"/>
            <a:ext cx="3978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arnaud.nauwynck@gmail.com</a:t>
            </a:r>
          </a:p>
        </p:txBody>
      </p:sp>
    </p:spTree>
    <p:extLst>
      <p:ext uri="{BB962C8B-B14F-4D97-AF65-F5344CB8AC3E}">
        <p14:creationId xmlns:p14="http://schemas.microsoft.com/office/powerpoint/2010/main" val="2924257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2243</TotalTime>
  <Words>3224</Words>
  <Application>Microsoft Office PowerPoint</Application>
  <PresentationFormat>Grand écran</PresentationFormat>
  <Paragraphs>542</Paragraphs>
  <Slides>138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138</vt:i4>
      </vt:variant>
    </vt:vector>
  </HeadingPairs>
  <TitlesOfParts>
    <vt:vector size="143" baseType="lpstr">
      <vt:lpstr>Arial</vt:lpstr>
      <vt:lpstr>Calibri</vt:lpstr>
      <vt:lpstr>Calibri Light</vt:lpstr>
      <vt:lpstr>Liberation Sans</vt:lpstr>
      <vt:lpstr>Office Theme</vt:lpstr>
      <vt:lpstr>BlockChain &amp; CryptoCurrencies   (BitCoin, Ethereum)</vt:lpstr>
      <vt:lpstr>Traditional e-Trading Database "Transaction (Commit) Log"</vt:lpstr>
      <vt:lpstr>Transaction  =  Flow exchanges between Counterparties</vt:lpstr>
      <vt:lpstr>Payment =  Flow of Currency only between Accounts of Counterparties</vt:lpstr>
      <vt:lpstr>Example Database Tables(Class) Modelisation</vt:lpstr>
      <vt:lpstr>Simplified Transaction Log</vt:lpstr>
      <vt:lpstr>SQL .. INSERT INTO Transaction VALUES (?,?,?)</vt:lpstr>
      <vt:lpstr>SQL : re-compute Position from Account</vt:lpstr>
      <vt:lpstr>Problems of Trust</vt:lpstr>
      <vt:lpstr>Full History -&gt; Incremental  Netting, Compensation, Balance per Month ..</vt:lpstr>
      <vt:lpstr>Trust  Single Database Owner ? want Distributed Database ?</vt:lpstr>
      <vt:lpstr>CAP Theorem Consistent- Available - PartitionTolerance  .. choose 2 out of 3</vt:lpstr>
      <vt:lpstr>Présentation PowerPoint</vt:lpstr>
      <vt:lpstr>CA  or  CP ? Not PartitionTolerant,  or Not Available ?</vt:lpstr>
      <vt:lpstr>Concensius,  Replication, etc... HA Architecture</vt:lpstr>
      <vt:lpstr>Link with BlockChain &amp; Crypto currencies ?</vt:lpstr>
      <vt:lpstr>Reminder Hashing</vt:lpstr>
      <vt:lpstr>Hashing ...</vt:lpstr>
      <vt:lpstr>Hashing … must be equi-distributed minimise “Collisions”</vt:lpstr>
      <vt:lpstr>Hashing : MD5, SHA-1, SHA-256, SHA-512 ..</vt:lpstr>
      <vt:lpstr>Hashing for Proof of Ownership/Authenticity</vt:lpstr>
      <vt:lpstr>Ensure Immutability Verifiable of Past data  ... simple with Block Hashing (+ P2P Replication)</vt:lpstr>
      <vt:lpstr>Merkle Tree Hashing Efficiently Huge Blocks, Blocks of Blocks</vt:lpstr>
      <vt:lpstr>Appending Blocks (commit transaction log) = Mining  new Blocks Hashes</vt:lpstr>
      <vt:lpstr>Mining Nonce - Difficulty Level</vt:lpstr>
      <vt:lpstr>Proof Of Work</vt:lpstr>
      <vt:lpstr>BlockChain = Chaining Blocks with previous Hash</vt:lpstr>
      <vt:lpstr>Adding a block at the end of a chain</vt:lpstr>
      <vt:lpstr>Conflict Appending Blocks (Tree .. not List Chain)</vt:lpstr>
      <vt:lpstr>Longest Chain Concensius</vt:lpstr>
      <vt:lpstr>Conscencius : retain only the longest chain(s) eliminate smaller old chains</vt:lpstr>
      <vt:lpstr>Orphan Blocks ... Waste Mining for nothing</vt:lpstr>
      <vt:lpstr>Put back valid Transactions in Pool</vt:lpstr>
      <vt:lpstr>Your Transaction is added in Block? OK ?</vt:lpstr>
      <vt:lpstr>CONS  of  Proof Of Work</vt:lpstr>
      <vt:lpstr>BlockChain weaks [1/4] :  Slowness</vt:lpstr>
      <vt:lpstr>SLOW ...</vt:lpstr>
      <vt:lpstr>BitCoin  transaction rate as of 2024</vt:lpstr>
      <vt:lpstr>BlockChain weaks [2/4] : Energy Inneficient</vt:lpstr>
      <vt:lpstr>Mining is CPU (Energy Consuming)   Absurd in a Climate Changing World</vt:lpstr>
      <vt:lpstr>BlockChain weaks [3/4] : high transaction costs ( cause: slow + small block + high energy + fees ) </vt:lpstr>
      <vt:lpstr>BlockChain weaks [4/4] : 51% Attack</vt:lpstr>
      <vt:lpstr>Dedicated Hardware</vt:lpstr>
      <vt:lpstr>Can (Did) It Occur ?</vt:lpstr>
      <vt:lpstr>Mining Pool ?</vt:lpstr>
      <vt:lpstr>Public -&gt; Private (Permissioned) Block Chains</vt:lpstr>
      <vt:lpstr>Hybrid BlockChain</vt:lpstr>
      <vt:lpstr>Consortium (Federation) BlockChain</vt:lpstr>
      <vt:lpstr>Proof Of Stake Ethereum switch (2015)  the « Merge »  (15 sept 2022)</vt:lpstr>
      <vt:lpstr>PoW -&gt; PoS (Proof Of Stake)</vt:lpstr>
      <vt:lpstr>PoS Variants : Chain-based, Nominated, ...</vt:lpstr>
      <vt:lpstr>Proof of Work vs Stake</vt:lpstr>
      <vt:lpstr> Miners competing   Validators randomly choosen (secure by energy)           (secure by financial risk)</vt:lpstr>
      <vt:lpstr>BitCoin</vt:lpstr>
      <vt:lpstr>BitCoin = first crypto money</vt:lpstr>
      <vt:lpstr>BitCoin Origin / (fictious) Author ? </vt:lpstr>
      <vt:lpstr>Legal ... but controversial</vt:lpstr>
      <vt:lpstr>Dev  Reference</vt:lpstr>
      <vt:lpstr>Block Header</vt:lpstr>
      <vt:lpstr>Example Block Header</vt:lpstr>
      <vt:lpstr>Block = Header + Transactions (+ Reward)</vt:lpstr>
      <vt:lpstr>Transactions in Merkle Tree using double SHA256(SHA256(...))</vt:lpstr>
      <vt:lpstr>Example Merkle Tree</vt:lpstr>
      <vt:lpstr>Transactions:  Inputs, Outputs</vt:lpstr>
      <vt:lpstr>Tx Input</vt:lpstr>
      <vt:lpstr>TxOutput</vt:lpstr>
      <vt:lpstr>2 Types of Transactions: Pay to {PubKey | Script} </vt:lpstr>
      <vt:lpstr>https://en.bitcoin.it/wiki/Transaction</vt:lpstr>
      <vt:lpstr>BitCoin "Address" = Public Key Hash</vt:lpstr>
      <vt:lpstr>Lost Private Key ?</vt:lpstr>
      <vt:lpstr>pseudonymous ?</vt:lpstr>
      <vt:lpstr>Ethereum SmartContract</vt:lpstr>
      <vt:lpstr>Ethereum</vt:lpstr>
      <vt:lpstr>Ethereum ... compared to BitCoin</vt:lpstr>
      <vt:lpstr>Ether  (ETH)  &lt;--&gt; BitCoin Ethereum  &lt;--&gt;  BitCoin network</vt:lpstr>
      <vt:lpstr>Ethereum Transactions rate per sec ~1 Million per Day    ( &gt;=  Bitcoin 7 per sec)</vt:lpstr>
      <vt:lpstr>Block Time : 1 block every ~13s</vt:lpstr>
      <vt:lpstr>Transaction Fee  … &gt;=20 USD  before the « Merge »,  now ~0.20 USD  (1/100)</vt:lpstr>
      <vt:lpstr>Faster / Cheaper costs? From « L1 »   to « L2 » chain</vt:lpstr>
      <vt:lpstr>L2 Block  -&gt;  proof in L1 Block</vt:lpstr>
      <vt:lpstr>Batch of Transactions on L2</vt:lpstr>
      <vt:lpstr>L1 vs L2</vt:lpstr>
      <vt:lpstr>Transaction Costs on L2 chains</vt:lpstr>
      <vt:lpstr>Smart Contract</vt:lpstr>
      <vt:lpstr>Smart Contract  ... Not Only "Payment" Transactions / No Human</vt:lpstr>
      <vt:lpstr>Présentation PowerPoint</vt:lpstr>
      <vt:lpstr>Solid  &amp; EVM (Ethereum Virtual Machine)</vt:lpstr>
      <vt:lpstr>Ethereum GAS</vt:lpstr>
      <vt:lpstr>Solidity Code example</vt:lpstr>
      <vt:lpstr>https://ethereum.org/</vt:lpstr>
      <vt:lpstr>https://ethereum.org/en/learn/</vt:lpstr>
      <vt:lpstr>Ethereum Use Cases</vt:lpstr>
      <vt:lpstr>Code on L2 … proof on L1  Solidity,  Rust, …</vt:lpstr>
      <vt:lpstr>Example of Rust Code SG-Forge  EURCV Stable Coin, on Solana</vt:lpstr>
      <vt:lpstr>DeFI</vt:lpstr>
      <vt:lpstr>Example of DeFi (Decentralized Finance)</vt:lpstr>
      <vt:lpstr>DAI ... stable coin ~1 USD</vt:lpstr>
      <vt:lpstr>Stable Coins… 300 Billions USD as of 2026</vt:lpstr>
      <vt:lpstr>Top 5 repartition of stable coins USD</vt:lpstr>
      <vt:lpstr>Tether USD Stable Coins repartition per BlockChains</vt:lpstr>
      <vt:lpstr>Tether</vt:lpstr>
      <vt:lpstr>Tether Transparency</vt:lpstr>
      <vt:lpstr>Tether Reserves -&gt;  83% in US Treasy Bills</vt:lpstr>
      <vt:lpstr>US Treasury Bills … ~3.5% revenue</vt:lpstr>
      <vt:lpstr>Tether.. A profitable company ?</vt:lpstr>
      <vt:lpstr>SG-Forge</vt:lpstr>
      <vt:lpstr>SG-Forge</vt:lpstr>
      <vt:lpstr>Bank-grade security, Regulated..</vt:lpstr>
      <vt:lpstr>SG-Forge Partners -&gt; Distributer -&gt; BlockChains ..</vt:lpstr>
      <vt:lpstr>SG-Forge   EUR Stable Coin</vt:lpstr>
      <vt:lpstr>SG-Forge  EUR Stable Coin on Solscan</vt:lpstr>
      <vt:lpstr>EUR Stable Coins - Transfers</vt:lpstr>
      <vt:lpstr>Mint -&gt; Transfer -&gt; Burn</vt:lpstr>
      <vt:lpstr>Mint – Transfer - Burn</vt:lpstr>
      <vt:lpstr>Notice.. Client ask for « transfer » SG-Forge validate transfers    client do not even have their PrivateKey!</vt:lpstr>
      <vt:lpstr>SmartContract - permanentDelegate ??</vt:lpstr>
      <vt:lpstr>KYC   (=Know Your Client) ?</vt:lpstr>
      <vt:lpstr>Sample SmartContract  SG-Forge   EUR-CV on Ethereum</vt:lpstr>
      <vt:lpstr>SG-Forge EUR-CV,  on Etherscan</vt:lpstr>
      <vt:lpstr>SG-Forge EUR-CV … Smart Contract source code</vt:lpstr>
      <vt:lpstr>Proxy to …</vt:lpstr>
      <vt:lpstr>Proxy … source-code: https://github.com/societe-generale/smartcoin-ethereum</vt:lpstr>
      <vt:lpstr>EUR-CV … solidity code</vt:lpstr>
      <vt:lpstr>Electronic Vote &lt;-?-&gt; BlockChain</vt:lpstr>
      <vt:lpstr>Voting ...</vt:lpstr>
      <vt:lpstr>e-Voting</vt:lpstr>
      <vt:lpstr>e-Voting  Mathematical Criteria    != using an Electronic Voting Machine != Voting on Internet</vt:lpstr>
      <vt:lpstr>Homomorphic Encryption</vt:lpstr>
      <vt:lpstr>Example Homomorphic Encryption/Operations</vt:lpstr>
      <vt:lpstr>e-Voting ?</vt:lpstr>
      <vt:lpstr>Privacy-Preserving Voting ?</vt:lpstr>
      <vt:lpstr>ZKP : Zero-Knowledge Proof ?</vt:lpstr>
      <vt:lpstr>NIZKP : Non-Interactive Zero Kowledge Proof</vt:lpstr>
      <vt:lpstr>Auditable / BlockChain  e-Voting  Examples</vt:lpstr>
      <vt:lpstr>Example : https://agora.vote</vt:lpstr>
      <vt:lpstr>Agora BlockChain  ... mixed Hashes with BitCoin BlockChain</vt:lpstr>
      <vt:lpstr>Conclusion</vt:lpstr>
      <vt:lpstr>Questions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NAUWYNCK Arnaud</dc:creator>
  <cp:lastModifiedBy>arnaud</cp:lastModifiedBy>
  <cp:revision>49</cp:revision>
  <dcterms:created xsi:type="dcterms:W3CDTF">2024-03-22T10:44:35Z</dcterms:created>
  <dcterms:modified xsi:type="dcterms:W3CDTF">2026-02-21T18:53:39Z</dcterms:modified>
</cp:coreProperties>
</file>